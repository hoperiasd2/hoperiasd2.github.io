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01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6부작 구성 소개. 각 부는 이전 부에서 자연스럽게 이어지는 질문으로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DNA 구조가 밝혀지며 "어떻게 정보를 저장하는가"의 물리적 근거가 마련되었다.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중심원리 자체의 정의. PKU·겸상적혈구빈혈증 연구가 이 흐름을 규명하는 데 기여했다는 역사적 배경은 다음 슬라이드에서.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중심원리는 추상적 이론이 아니라 실제 유전질환 연구에서 귀납적으로 정립된 원리임을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브레너 등의 대장균-T4 바이러스 감염 실험이 mRNA 개념 확립에 기여.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유전암호가 3염기(코돈) 단위임을 밝힌 두 결정적 실험.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센트럴 도그마의 "예외적 흐름"이자, 뒤에서 다룰 RNA 분석 기법의 실험적 토대.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센트럴 도그마 = 오믹스 지도의 뼈대. 이후 2~4부에서 이 세 층위를 순서대로 심화한다.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서열분석의 전제: DNA가 정확하게 복제·보존되는 안정적 정보 매체라는 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HGP와 NGS 사이의 극적인 비용 절감을 시각적으로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대체 스플라이싱, 조절 네트워크, 번역후변형 — 이후 4부에서 다시 다룰 주제로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GWAS로 자연스럽게 이어지는 배경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5부의 상관관계-인과관계 논의를 미리 예고하는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3부에서 4부로 넘어가는 다리 역할을 하는 핵심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전사체 → 단백체 섹션으로의 전환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진행형 트렌드이므로 향후 계속 변화할 수 있음을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54896" y="356616"/>
            <a:ext cx="292608" cy="292608"/>
          </a:xfrm>
          <a:prstGeom prst="ellipse">
            <a:avLst/>
          </a:prstGeom>
          <a:solidFill>
            <a:srgbClr val="A8DADC">
              <a:alpha val="8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16184" y="786384"/>
            <a:ext cx="164592" cy="164592"/>
          </a:xfrm>
          <a:prstGeom prst="ellipse">
            <a:avLst/>
          </a:prstGeom>
          <a:solidFill>
            <a:srgbClr val="A8DADC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356848" y="429768"/>
            <a:ext cx="237744" cy="237744"/>
          </a:xfrm>
          <a:prstGeom prst="ellipse">
            <a:avLst/>
          </a:prstGeom>
          <a:solidFill>
            <a:srgbClr val="A8DADC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951976" y="1179576"/>
            <a:ext cx="109728" cy="109728"/>
          </a:xfrm>
          <a:prstGeom prst="ellipse">
            <a:avLst/>
          </a:prstGeom>
          <a:solidFill>
            <a:srgbClr val="A8DADC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36224" y="1380744"/>
            <a:ext cx="347472" cy="347472"/>
          </a:xfrm>
          <a:prstGeom prst="ellipse">
            <a:avLst/>
          </a:prstGeom>
          <a:solidFill>
            <a:srgbClr val="A8DADC">
              <a:alpha val="8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893808" y="1801368"/>
            <a:ext cx="146304" cy="146304"/>
          </a:xfrm>
          <a:prstGeom prst="ellipse">
            <a:avLst/>
          </a:prstGeom>
          <a:solidFill>
            <a:srgbClr val="A8DADC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649456" y="2048256"/>
            <a:ext cx="201168" cy="201168"/>
          </a:xfrm>
          <a:prstGeom prst="ellipse">
            <a:avLst/>
          </a:prstGeom>
          <a:solidFill>
            <a:srgbClr val="A8DADC">
              <a:alpha val="7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682228" y="2281428"/>
            <a:ext cx="100584" cy="100584"/>
          </a:xfrm>
          <a:prstGeom prst="ellipse">
            <a:avLst/>
          </a:prstGeom>
          <a:solidFill>
            <a:srgbClr val="A8DADC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250424" y="2523744"/>
            <a:ext cx="256032" cy="256032"/>
          </a:xfrm>
          <a:prstGeom prst="ellipse">
            <a:avLst/>
          </a:prstGeom>
          <a:solidFill>
            <a:srgbClr val="A8DADC">
              <a:alpha val="7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452860" y="2903220"/>
            <a:ext cx="137160" cy="137160"/>
          </a:xfrm>
          <a:prstGeom prst="ellipse">
            <a:avLst/>
          </a:prstGeom>
          <a:solidFill>
            <a:srgbClr val="A8DADC">
              <a:alpha val="6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1600200"/>
            <a:ext cx="9326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센트럴 도그마에서 정밀의료까지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947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9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생물학의 중심원리에서 출발해 유전체·전사체·단백체 분석, 멀티오믹스, 그리고 오늘날 의료 현장에서 오믹스가 쓰이는 방식까지 하나의 흐름으로 정리한다.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6016752"/>
            <a:ext cx="82296" cy="82296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구성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1부 — 센트럴 도그마의 기본 개념: DNA가 유전물질임이 증명된 과정과 전사·번역의 원리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2부 — 유전자 분석의 시작: Sanger 시퀀싱에서 인간 유전체 프로젝트(HGP), 차세대 시퀀싱(NGS)까지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3부 — 유전체 분석의 의미: 유전체 비교가 알려주는 것과 그 한계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4부 — 전사체·단백체 분석의 필요성: 유전체만으로는 부족한 이유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5부 — 멀티오믹스 시대로의 확장: 여러 층위의 통합과 인과관계 검증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6부 — 의료와 오믹스의 현재: 정밀의료 임상 현장에서의 활용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0" y="548640"/>
            <a:ext cx="512064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0" b="1" dirty="0">
                <a:solidFill>
                  <a:srgbClr val="243F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000" dirty="0"/>
          </a:p>
        </p:txBody>
      </p:sp>
      <p:sp>
        <p:nvSpPr>
          <p:cNvPr id="3" name="Shape 1"/>
          <p:cNvSpPr/>
          <p:nvPr/>
        </p:nvSpPr>
        <p:spPr>
          <a:xfrm>
            <a:off x="9454896" y="356616"/>
            <a:ext cx="292608" cy="292608"/>
          </a:xfrm>
          <a:prstGeom prst="ellipse">
            <a:avLst/>
          </a:prstGeom>
          <a:solidFill>
            <a:srgbClr val="A8DADC">
              <a:alpha val="8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16184" y="786384"/>
            <a:ext cx="164592" cy="164592"/>
          </a:xfrm>
          <a:prstGeom prst="ellipse">
            <a:avLst/>
          </a:prstGeom>
          <a:solidFill>
            <a:srgbClr val="A8DADC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356848" y="429768"/>
            <a:ext cx="237744" cy="237744"/>
          </a:xfrm>
          <a:prstGeom prst="ellipse">
            <a:avLst/>
          </a:prstGeom>
          <a:solidFill>
            <a:srgbClr val="A8DADC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51976" y="1179576"/>
            <a:ext cx="109728" cy="109728"/>
          </a:xfrm>
          <a:prstGeom prst="ellipse">
            <a:avLst/>
          </a:prstGeom>
          <a:solidFill>
            <a:srgbClr val="A8DADC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36224" y="1380744"/>
            <a:ext cx="347472" cy="347472"/>
          </a:xfrm>
          <a:prstGeom prst="ellipse">
            <a:avLst/>
          </a:prstGeom>
          <a:solidFill>
            <a:srgbClr val="A8DADC">
              <a:alpha val="8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893808" y="1801368"/>
            <a:ext cx="146304" cy="146304"/>
          </a:xfrm>
          <a:prstGeom prst="ellipse">
            <a:avLst/>
          </a:prstGeom>
          <a:solidFill>
            <a:srgbClr val="A8DADC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649456" y="2048256"/>
            <a:ext cx="201168" cy="201168"/>
          </a:xfrm>
          <a:prstGeom prst="ellipse">
            <a:avLst/>
          </a:prstGeom>
          <a:solidFill>
            <a:srgbClr val="A8DADC">
              <a:alpha val="7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2228" y="2281428"/>
            <a:ext cx="100584" cy="100584"/>
          </a:xfrm>
          <a:prstGeom prst="ellipse">
            <a:avLst/>
          </a:prstGeom>
          <a:solidFill>
            <a:srgbClr val="A8DADC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250424" y="2523744"/>
            <a:ext cx="256032" cy="256032"/>
          </a:xfrm>
          <a:prstGeom prst="ellipse">
            <a:avLst/>
          </a:prstGeom>
          <a:solidFill>
            <a:srgbClr val="A8DADC">
              <a:alpha val="7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452860" y="2903220"/>
            <a:ext cx="137160" cy="137160"/>
          </a:xfrm>
          <a:prstGeom prst="ellipse">
            <a:avLst/>
          </a:prstGeom>
          <a:solidFill>
            <a:srgbClr val="A8DADC">
              <a:alpha val="6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22960" y="2487168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24128" y="23591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852928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센트럴 도그마의 기본 개념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센트럴 도그마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왓슨과 크릭의 DNA 이중나선 구조 (1953)</a:t>
            </a:r>
            <a:endParaRPr lang="en-US" sz="2700" dirty="0"/>
          </a:p>
        </p:txBody>
      </p:sp>
      <p:pic>
        <p:nvPicPr>
          <p:cNvPr id="5" name="Image 0" descr="/tmp/repo-check/assets/omics-figures/g1-dna-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214495"/>
            <a:ext cx="4709160" cy="3023369"/>
          </a:xfrm>
          <a:prstGeom prst="rect">
            <a:avLst/>
          </a:prstGeom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766560" y="5329305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4.5 — 당-인산 뼈대가 바깥쪽에, 염기가 안쪽에 놓인 이중나선 구조.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5760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4개의 핵산 염기(A, G, C, T)가 상보적으로 짝을 이루며 이중나선을 형성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A-T는 두 개, G-C는 세 개의 수소결합으로 결합 → 샤가프의 법칙(A=T, G=C)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가닥은 서로 반대 방향(5′→3′, 3′→5′)으로 뻗어 있다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프랭클린·윌킨스의 X선 결정학 데이터를 해석해 구성한 모형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센트럴 도그마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 → RNA → 단백질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DNA는 핵 안의 4개 염기 조합, 단백질을 구성하는 아미노산은 세포질 내 20가지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 속 유전자와 세포질 리보솜의 단백질 합성 장소를 잇는 중개물질이 필요했다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RNA는 DNA와 구조가 비슷해 직접 합성될 수 있고, 세포질에 존재해 핵의 정보를 전달하기에 적합했다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분자생물학의 중심원리(central dogma): DNA에서 RNA로, RNA에서 단백질로 정보가 흐른다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DNA→RNA 과정을 전사(transcription), RNA→단백질 과정을 번역(translation)이라 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07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센트럴 도그마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중심원리가 밝혀진 역사적 배경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20세기 초 개로드(Garrod) — 알캅톤뇨증 등 선천성 대사이상 연구에서 "유전물질이 효소 단백질의 구조를 결정한다"는 생각이 처음 제기됨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페닐케톤뇨증(PKU) 등 여러 유전질환 연구로 이 가설이 뒷받침됨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1957년 — 겸상적혈구빈혈증 환자의 헤모글로빈 구조가 정상인과 다르다는 사실 확인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유전자의 서열이 아미노산의 종류를 결정한다는 것이 추정됨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센트럴 도그마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전사(Transcription) — DNA를 주형으로 RNA를 합성</a:t>
            </a:r>
            <a:endParaRPr lang="en-US" sz="2700" dirty="0"/>
          </a:p>
        </p:txBody>
      </p:sp>
      <p:pic>
        <p:nvPicPr>
          <p:cNvPr id="5" name="Image 0" descr="/tmp/repo-check/assets/omics-figures/c1-central-do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770" y="1645920"/>
            <a:ext cx="1366741" cy="4160520"/>
          </a:xfrm>
          <a:prstGeom prst="rect">
            <a:avLst/>
          </a:prstGeom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766560" y="5897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4.8 — DNA 두 가닥 중 한 가닥을 주형으로 상보적 RNA가 합성된다.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5760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전령 RNA(mRNA) — 유전정보 흐름에서 DNA와 단백질을 잇는 중간 산물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중합효소(RNA polymerase)가 DNA 이중나선을 국소적으로 풀어 주형 가닥을 따라 RNA를 합성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합성은 5′→3′ 방향으로 진행되며, 합성이 끝난 자리는 다시 이중나선으로 되감긴다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센트럴 도그마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유전암호는 왜 3염기 단위인가</a:t>
            </a:r>
            <a:endParaRPr lang="en-US" sz="2700" dirty="0"/>
          </a:p>
        </p:txBody>
      </p:sp>
      <p:pic>
        <p:nvPicPr>
          <p:cNvPr id="5" name="Image 0" descr="/tmp/repo-check/assets/omics-figures/c2-genetic-code-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893" y="1760220"/>
            <a:ext cx="2068493" cy="3931920"/>
          </a:xfrm>
          <a:prstGeom prst="rect">
            <a:avLst/>
          </a:prstGeom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766560" y="57835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4.10, 4.11 — 프레임시프트 돌연변이 실험과 poly-U 실험.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5760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바이러스 rII 유전자에 1~2개 염기 삽입 → 해독틀이 어긋나 단백질이 크게 변화 (프레임시프트)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단위로 삽입하면 아미노산 하나만 바뀌는 경우가 많음 → 3염기 단위 해독의 근거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poly-U(우라실 반복) 인공 RNA로 번역 실험 → 페닐알라닌만으로 이루어진 폴리펩타이드 생성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RNA 서열(코돈)이 특정 아미노산에 대응한다는 사실을 최초로 입증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센트럴 도그마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유전암호표와 그 보편성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789920" cy="37947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89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코돈 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64개 (61개 아미노산 암호화 + 3개 종결코돈 UAA·UAG·UGA)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축퇴성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대부분의 아미노산이 하나 이상의 코돈으로 암호화됨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개시코돈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(메싸이오닌) — 단백질 합성의 시작 지점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보편성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세균에서 인간까지 사실상 동일한 암호 체계를 공유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58521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생명체가 같은 유전암호를 공유한다는 것은 공통 조상에서 진화했다는 강력한 정황 증거이며, 유전공학(타 생물에 유전자 발현)이 가능한 이유이기도 하다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센트럴 도그마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RNA 바이러스와 역전사</a:t>
            </a:r>
            <a:endParaRPr lang="en-US" sz="2700" dirty="0"/>
          </a:p>
        </p:txBody>
      </p:sp>
      <p:pic>
        <p:nvPicPr>
          <p:cNvPr id="5" name="Image 0" descr="/tmp/repo-check/assets/omics-figures/c3-reverse-transcri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195" y="1760220"/>
            <a:ext cx="2895890" cy="3931920"/>
          </a:xfrm>
          <a:prstGeom prst="rect">
            <a:avLst/>
          </a:prstGeom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766560" y="57835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4.12 — 레트로바이러스는 역전사효소로 RNA를 DNA로 바꾸어 숙주 염색체에 통합시킨다.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5760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바이러스는 RNA를 유전물질로 사용 (예: 담배모자이크 바이러스)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1970년, 테민과 볼티모어 — 레트로바이러스가 역전사효소로 RNA→DNA를 합성한다는 사실을 규명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역전사효소는 진핵생물에도 존재하며 DNA 위치 이동(transposition)에 관여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실험적으로도 RT-PCR의 기반으로 널리 활용됨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센트럴 도그마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층위와 오믹스 명명법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→ RNA → 단백질의 세 단계는 각각 하나의 "오믹스" 층위에 대응한다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전체 = 유전체(genome) → 유전체학(genomics)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전체 = 전사체(transcriptome) → 전사체학(transcriptomics)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단백질 전체 = 단백체(proteome) → 단백체학(proteomics)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"-ome"은 총체를, "-omics"는 그 총체를 측정·분석하는 학문을 가리키는 접미사다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1부 요약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센트럴 도그마 요약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DNA가 유전물질이라는 사실은 그리피스·에이버리의 형질전환 실험으로 증명되었다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DNA는 이중나선 구조이며, 유전정보는 DNA→RNA→단백질 순으로 흐른다(중심원리)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유전암호는 3염기(코돈) 단위로 해독되며, 사실상 모든 생명체가 이를 공유한다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세 층위(DNA·RNA·단백질)가 곧 유전체학·전사체학·단백체학이라는 오믹스 분야의 뼈대를 이룬다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0" y="548640"/>
            <a:ext cx="512064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0" b="1" dirty="0">
                <a:solidFill>
                  <a:srgbClr val="243F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000" dirty="0"/>
          </a:p>
        </p:txBody>
      </p:sp>
      <p:sp>
        <p:nvSpPr>
          <p:cNvPr id="3" name="Shape 1"/>
          <p:cNvSpPr/>
          <p:nvPr/>
        </p:nvSpPr>
        <p:spPr>
          <a:xfrm>
            <a:off x="9454896" y="356616"/>
            <a:ext cx="292608" cy="292608"/>
          </a:xfrm>
          <a:prstGeom prst="ellipse">
            <a:avLst/>
          </a:prstGeom>
          <a:solidFill>
            <a:srgbClr val="A8DADC">
              <a:alpha val="8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16184" y="786384"/>
            <a:ext cx="164592" cy="164592"/>
          </a:xfrm>
          <a:prstGeom prst="ellipse">
            <a:avLst/>
          </a:prstGeom>
          <a:solidFill>
            <a:srgbClr val="A8DADC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356848" y="429768"/>
            <a:ext cx="237744" cy="237744"/>
          </a:xfrm>
          <a:prstGeom prst="ellipse">
            <a:avLst/>
          </a:prstGeom>
          <a:solidFill>
            <a:srgbClr val="A8DADC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51976" y="1179576"/>
            <a:ext cx="109728" cy="109728"/>
          </a:xfrm>
          <a:prstGeom prst="ellipse">
            <a:avLst/>
          </a:prstGeom>
          <a:solidFill>
            <a:srgbClr val="A8DADC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36224" y="1380744"/>
            <a:ext cx="347472" cy="347472"/>
          </a:xfrm>
          <a:prstGeom prst="ellipse">
            <a:avLst/>
          </a:prstGeom>
          <a:solidFill>
            <a:srgbClr val="A8DADC">
              <a:alpha val="8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893808" y="1801368"/>
            <a:ext cx="146304" cy="146304"/>
          </a:xfrm>
          <a:prstGeom prst="ellipse">
            <a:avLst/>
          </a:prstGeom>
          <a:solidFill>
            <a:srgbClr val="A8DADC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649456" y="2048256"/>
            <a:ext cx="201168" cy="201168"/>
          </a:xfrm>
          <a:prstGeom prst="ellipse">
            <a:avLst/>
          </a:prstGeom>
          <a:solidFill>
            <a:srgbClr val="A8DADC">
              <a:alpha val="7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2228" y="2281428"/>
            <a:ext cx="100584" cy="100584"/>
          </a:xfrm>
          <a:prstGeom prst="ellipse">
            <a:avLst/>
          </a:prstGeom>
          <a:solidFill>
            <a:srgbClr val="A8DADC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250424" y="2523744"/>
            <a:ext cx="256032" cy="256032"/>
          </a:xfrm>
          <a:prstGeom prst="ellipse">
            <a:avLst/>
          </a:prstGeom>
          <a:solidFill>
            <a:srgbClr val="A8DADC">
              <a:alpha val="7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452860" y="2903220"/>
            <a:ext cx="137160" cy="137160"/>
          </a:xfrm>
          <a:prstGeom prst="ellipse">
            <a:avLst/>
          </a:prstGeom>
          <a:solidFill>
            <a:srgbClr val="A8DADC">
              <a:alpha val="6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22960" y="2487168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24128" y="23591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852928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유전자 분석의 시작 — Sanger에서 HGP까지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시퀀싱의 시작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 복제 — 정보를 보존하며 두 배로</a:t>
            </a:r>
            <a:endParaRPr lang="en-US" sz="2700" dirty="0"/>
          </a:p>
        </p:txBody>
      </p:sp>
      <p:pic>
        <p:nvPicPr>
          <p:cNvPr id="5" name="Image 0" descr="/tmp/repo-check/assets/omics-figures/g2-dna-repl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063954"/>
            <a:ext cx="4709160" cy="1324451"/>
          </a:xfrm>
          <a:prstGeom prst="rect">
            <a:avLst/>
          </a:prstGeom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766560" y="447984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4.6, 4.7 — 반보존적 복제 개념도와 메셀슨-스탈 실험.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5760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복제는 반보존적(semi-conservative) 방식 — 두 가닥이 분리되어 각각 새 가닥의 주형이 된다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1958년 메셀슨-스탈 실험 — 질소 동위원소로 표지한 DNA를 추적해 반보존적 복제를 직접 증명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유전정보가 "읽히기" 전에 먼저 정확히 "보존·복제"되어야 한다는 전제 조건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시퀀싱의 시작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유전자를 "읽는다"는 발상이 필요했나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DNA가 유전물질이고 특정 서열이 특정 형질·질병과 관련된다는 것이 밝혀지자,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서열이 정확히 무엇인가"를 직접 읽어내려는 시도가 이어졌다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유전질환의 원인 유전자를 찾고, 종 간 유전체를 비교하려면 서열 자체를 확보해야 한다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필요에서 등장한 것이 DNA 시퀀싱(sequencing) 기술이다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시퀀싱의 시작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Sanger 시퀀싱 — 사슬종결법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1977년, 프레더릭 생어(Frederick Sanger)가 개발한 사슬종결(chain-termination) 방식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형광표지된 사슬종결 뉴클레오타이드(ddNTP)를 이용해 합성을 무작위로 종결시킴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길이별로 분리된 조각을 읽어 정확한 서열을 얻는다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수십 년간 시퀀싱의 표준 기법으로 자리잡음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시퀀싱의 시작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인간 유전체 프로젝트(HGP)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 시퀀싱을 대량으로 적용해 인간 유전체 전체를 읽어내려는 국제 프로젝트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전략: 유전체를 조각내 세균인공염색체(BAC)에 클로닝 → 클론 지도화 → 잘게 나누어(shotgun) 시퀀싱 → 컴퓨터로 재조립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2003년 완성 — 약 15년, 약 30억 달러의 비용이 소요됨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"인간의 설계도"를 처음으로 통째로 읽어낸 사건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시퀀싱의 시작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HGP에서 NGS로 — 비용과 시간의 혁신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017520" cy="3017520"/>
          </a:xfrm>
          <a:prstGeom prst="ellipse">
            <a:avLst/>
          </a:prstGeom>
          <a:solidFill>
            <a:srgbClr val="1D3557"/>
          </a:solidFill>
          <a:ln/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15년 → 며칠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51846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 하나를 읽는 데 걸리는 시간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965960"/>
            <a:ext cx="3017520" cy="3017520"/>
          </a:xfrm>
          <a:prstGeom prst="ellipse">
            <a:avLst/>
          </a:prstGeom>
          <a:solidFill>
            <a:srgbClr val="E76F51"/>
          </a:solidFill>
          <a:ln/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4709160" y="28803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30억 달러 → 약 1,000달러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51846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 하나를 읽는 비용 (2015년 기준)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58200" y="1965960"/>
            <a:ext cx="3017520" cy="3017520"/>
          </a:xfrm>
          <a:prstGeom prst="ellipse">
            <a:avLst/>
          </a:prstGeom>
          <a:solidFill>
            <a:srgbClr val="1D3557"/>
          </a:solidFill>
          <a:ln/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595360" y="28803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2005년~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51846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차세대 시퀀싱(NGS)이 본격 등장한 시점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●"/>
            </a:pPr>
            <a:r>
              <a:rPr lang="en-US" sz="115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수치는 대표적인 사례를 예시로 든 것이며, 실제 비용·기간은 기술과 시점에 따라 달라진다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시퀀싱의 시작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차세대 시퀀싱(NGS)의 원리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수백만 개의 DNA 조각을 동시에 병렬로 읽어 속도와 비용을 획기적으로 개선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DNA를 짧은 조각으로 자르고 ② 양 끝에 어댑터를 붙인 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고체 표면에서 PCR로 증폭해 클러스터를 만들고 ④ 형광 신호로 서열을 읽어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짧은 서열(read)들을 참조 유전체에 정렬·조립한다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시퀀싱의 시작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롱리드 시퀀싱과 그 이후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 read를 컴퓨터로 재조합하는 NGS 방식은 반복서열이 많거나 접근이 어려운 영역에서 한계를 보임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read를 직접 읽는 롱리드 시퀀싱(long-read sequencing)으로 이를 보완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오늘날 NGS는 암 유전체 분석, 자가면역질환 분석, 소아 유전질환 진단 등 임상 현장에서도 광범위하게 활용된다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시퀀싱의 시작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유전체 비교가 열어준 것 — 종간 서열 보존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시퀀싱 기술 발전으로 여러 종의 유전체를 나란히 비교할 수 있게 되었다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인간과 척추동물 전체 — 서열의 약 50% 동일, 포유류끼리는 약 90% 동일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인간과 영장류 — 98~99% 동일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인간과 네안데르탈인 — 99.9% 이상 동일 (일부 현생 인류는 네안데르탈인 유래 DNA를 보유)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서열 보존은 해당 서열이 생존에 중요한 기능을 담당함을 시사하는 단서가 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2부 요약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유전자 분석의 시작 요약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복제가 반보존적으로 정확히 이루어진다는 전제 위에서, 그 서열을 직접 "읽는" 시도가 시작되었다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 시퀀싱과 이를 대량 적용한 인간 유전체 프로젝트(HGP, 2003년 완성)로 인간 유전체 전체가 처음 해독되었다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차세대 시퀀싱(NGS)은 속도와 비용을 획기적으로 낮추어 시퀀싱을 연구실 밖 임상 현장으로 확산시켰다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 비교는 종간 진화적 유사성과 기능적으로 중요한 서열을 추정하는 단서를 제공한다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0" y="548640"/>
            <a:ext cx="512064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0" b="1" dirty="0">
                <a:solidFill>
                  <a:srgbClr val="243F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000" dirty="0"/>
          </a:p>
        </p:txBody>
      </p:sp>
      <p:sp>
        <p:nvSpPr>
          <p:cNvPr id="3" name="Shape 1"/>
          <p:cNvSpPr/>
          <p:nvPr/>
        </p:nvSpPr>
        <p:spPr>
          <a:xfrm>
            <a:off x="9454896" y="356616"/>
            <a:ext cx="292608" cy="292608"/>
          </a:xfrm>
          <a:prstGeom prst="ellipse">
            <a:avLst/>
          </a:prstGeom>
          <a:solidFill>
            <a:srgbClr val="A8DADC">
              <a:alpha val="8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16184" y="786384"/>
            <a:ext cx="164592" cy="164592"/>
          </a:xfrm>
          <a:prstGeom prst="ellipse">
            <a:avLst/>
          </a:prstGeom>
          <a:solidFill>
            <a:srgbClr val="A8DADC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356848" y="429768"/>
            <a:ext cx="237744" cy="237744"/>
          </a:xfrm>
          <a:prstGeom prst="ellipse">
            <a:avLst/>
          </a:prstGeom>
          <a:solidFill>
            <a:srgbClr val="A8DADC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51976" y="1179576"/>
            <a:ext cx="109728" cy="109728"/>
          </a:xfrm>
          <a:prstGeom prst="ellipse">
            <a:avLst/>
          </a:prstGeom>
          <a:solidFill>
            <a:srgbClr val="A8DADC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36224" y="1380744"/>
            <a:ext cx="347472" cy="347472"/>
          </a:xfrm>
          <a:prstGeom prst="ellipse">
            <a:avLst/>
          </a:prstGeom>
          <a:solidFill>
            <a:srgbClr val="A8DADC">
              <a:alpha val="8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893808" y="1801368"/>
            <a:ext cx="146304" cy="146304"/>
          </a:xfrm>
          <a:prstGeom prst="ellipse">
            <a:avLst/>
          </a:prstGeom>
          <a:solidFill>
            <a:srgbClr val="A8DADC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649456" y="2048256"/>
            <a:ext cx="201168" cy="201168"/>
          </a:xfrm>
          <a:prstGeom prst="ellipse">
            <a:avLst/>
          </a:prstGeom>
          <a:solidFill>
            <a:srgbClr val="A8DADC">
              <a:alpha val="7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2228" y="2281428"/>
            <a:ext cx="100584" cy="100584"/>
          </a:xfrm>
          <a:prstGeom prst="ellipse">
            <a:avLst/>
          </a:prstGeom>
          <a:solidFill>
            <a:srgbClr val="A8DADC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250424" y="2523744"/>
            <a:ext cx="256032" cy="256032"/>
          </a:xfrm>
          <a:prstGeom prst="ellipse">
            <a:avLst/>
          </a:prstGeom>
          <a:solidFill>
            <a:srgbClr val="A8DADC">
              <a:alpha val="7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452860" y="2903220"/>
            <a:ext cx="137160" cy="137160"/>
          </a:xfrm>
          <a:prstGeom prst="ellipse">
            <a:avLst/>
          </a:prstGeom>
          <a:solidFill>
            <a:srgbClr val="A8DADC">
              <a:alpha val="6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22960" y="2487168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24128" y="23591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852928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유전체 분석의 의미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유전체 분석의 의미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유전체(genome)란 무엇인가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 = 한 생물이 가진 DNA 서열 전체(모든 염색체의 총합)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유전체를 하나의 전체로 다루면 "이 생물의 유전체는 몇 염기쌍이고, 몇 개가 유전자를 암호화하는가"라는 새로운 질문이 가능해진다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유전자 하나하나가 아니라, 유전체 "전체 지형"을 보는 관점 — 이것이 유전체학(genomics)이다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유전체 분석의 의미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유전체 지도 읽기 — 세균 유전체 사례</a:t>
            </a:r>
            <a:endParaRPr lang="en-US" sz="2700" dirty="0"/>
          </a:p>
        </p:txBody>
      </p:sp>
      <p:pic>
        <p:nvPicPr>
          <p:cNvPr id="5" name="Image 0" descr="/tmp/repo-check/assets/omics-figures/g4-genome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710067"/>
            <a:ext cx="4709160" cy="2032227"/>
          </a:xfrm>
          <a:prstGeom prst="rect">
            <a:avLst/>
          </a:prstGeom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766560" y="4833733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5.1 — Haemophilus influenzae의 원형 유전체 지도. 색깔 막대는 예측된 단백질 암호화 영역.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5760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Haemophilus influenzae — 최초로 전체 유전체가 해독된 자유생활 생물(1995)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1.8 Mb 크기, 약 1,700개의 유전자가 촘촘하게 배열되어 전체의 약 90%가 코딩 영역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 지도는 유전자의 물리적 위치와 밀도를 한눈에 보여준다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유전체 분석의 의미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생물종 간 유전체 크기·유전자 밀도 비교</a:t>
            </a:r>
            <a:endParaRPr lang="en-US" sz="2700" dirty="0"/>
          </a:p>
        </p:txBody>
      </p:sp>
      <p:pic>
        <p:nvPicPr>
          <p:cNvPr id="5" name="Image 0" descr="/tmp/repo-check/assets/omics-figures/g5-genome-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221122"/>
            <a:ext cx="4709160" cy="3010116"/>
          </a:xfrm>
          <a:prstGeom prst="rect">
            <a:avLst/>
          </a:prstGeom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766560" y="532267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5.1 — 대표적인 생물종의 유전체 크기, 유전자 수, 코딩 서열 비율 비교.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5760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세균·효모 — 유전체가 작고 유전자가 촘촘해 코딩 비율이 높다 (88~90%)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선충·초파리·식물 — 유전체는 커지지만 코딩 비율은 오히려 낮아진다 (10~25%)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— 약 3,000 Mb, 약 20,000개 유전자, 코딩 서열은 전체의 약 1%뿐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유전체 분석의 의미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유전자 개수는 복잡도를 설명하지 못한다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고등생물로 갈수록 유전체 내 "유전자 밀도"는 낮아지고, 비코딩 영역이 확장된다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개체의 복잡도와 유전자 개수는 단순 비례 관계가 아니다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애기장대(식물)는 초파리·선충보다 오히려 더 많은 단백질 암호화 유전자를 가진다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생물학적 복잡성은 유전자 "개수"보다 같은 유전자를 얼마나 다양하게 조절·조합해 쓰는가에서 비롯된다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29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유전체 분석의 의미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유전체 안정성 — 텔로미어와 말단 복제 문제</a:t>
            </a:r>
            <a:endParaRPr lang="en-US" sz="2700" dirty="0"/>
          </a:p>
        </p:txBody>
      </p:sp>
      <p:pic>
        <p:nvPicPr>
          <p:cNvPr id="5" name="Image 0" descr="/tmp/repo-check/assets/omics-figures/g3-telom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168002"/>
            <a:ext cx="4709160" cy="3116356"/>
          </a:xfrm>
          <a:prstGeom prst="rect">
            <a:avLst/>
          </a:prstGeom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766560" y="537579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염색체 말단의 텔로미어 반복서열(TTAGGG)과 텔로머라아제 복합체(TERT/TERC).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5760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지연가닥 복제 특성상 염색체 말단은 매 복제마다 조금씩 짧아진다 (말단 복제 문제)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텔로미어(telomere) — 말단의 반복서열이 중요한 유전정보 손실을 완충한다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체세포는 텔로머라아제 발현이 억제되어 약 50~70회 분열 후 정지(Hayflick 한계)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대부분의 암세포는 텔로머라아제를 재활성화해 무한 분열 능력(불멸화)을 획득한다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유전체 분석의 의미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유전체 변이의 종류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단일염기다형성(SNP) — 개인 간 유전체에서 가장 흔한 한 염기 단위 차이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카피수 변이(CNV) — 특정 구간이 정상보다 많거나 적게 반복된 변이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구조변이 — 삽입·결실·역위·전좌 등 더 큰 규모의 재배열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이러한 변이들의 위치와 빈도를 파악하는 것이 개인 유전체 분석의 핵심 목표 중 하나다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31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유전체 분석의 의미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GWAS — 유전체 수준에서 질병 연관 변이 찾기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전장유전체연관분석(genome-wide association study, GWAS)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수많은 사람의 유전체에서 특정 SNP가 특정 질병·형질과 통계적으로 유의하게 함께 나타나는지를 비교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당뇨, 심혈관질환, 정신질환 등 여러 유전자와 환경이 함께 작용하는 다인자성 질환 연구에 널리 쓰인다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GWAS가 찾아내는 것은 "연관성"이며, 그 변이가 질병의 직접적 원인이라는 뜻은 아니다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32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유전체 분석의 의미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유전체가 답하는 것, 답하지 못하는 것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유전체는 한 개체가 "가질 수 있는 가능성의 목록"을 알려준다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그 목록 중 무엇이 실제로 "사용되고 있는지"는 유전체 서열만으로 알 수 없다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 — 한 사람의 신경세포와 간세포는 거의 동일한 DNA를 갖지만 기능은 전혀 다르다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차이를 설명하려면 어떤 유전자가 실제로 발현되는지를 봐야 한다 → 전사체·단백체 분석으로 연결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33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3부 요약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유전체 분석의 의미 요약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유전체는 한 생물의 DNA 서열 전체이며, 유전체학은 이를 "전체 지형"으로 다루는 학문이다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생물종 간 유전체 크기·유전자 밀도 비교는 유전자 개수가 복잡도를 설명하지 않음을 보여준다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텔로미어는 유전체 말단의 안정성을, SNP·CNV 등 변이 분석은 개인 간 차이를 설명하는 단서를 제공한다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유전체는 "가능성의 목록"일 뿐 — 실제 발현 여부는 전사체·단백체 수준의 관찰이 필요하다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34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0" y="548640"/>
            <a:ext cx="512064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0" b="1" dirty="0">
                <a:solidFill>
                  <a:srgbClr val="243F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5000" dirty="0"/>
          </a:p>
        </p:txBody>
      </p:sp>
      <p:sp>
        <p:nvSpPr>
          <p:cNvPr id="3" name="Shape 1"/>
          <p:cNvSpPr/>
          <p:nvPr/>
        </p:nvSpPr>
        <p:spPr>
          <a:xfrm>
            <a:off x="9454896" y="356616"/>
            <a:ext cx="292608" cy="292608"/>
          </a:xfrm>
          <a:prstGeom prst="ellipse">
            <a:avLst/>
          </a:prstGeom>
          <a:solidFill>
            <a:srgbClr val="A8DADC">
              <a:alpha val="8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16184" y="786384"/>
            <a:ext cx="164592" cy="164592"/>
          </a:xfrm>
          <a:prstGeom prst="ellipse">
            <a:avLst/>
          </a:prstGeom>
          <a:solidFill>
            <a:srgbClr val="A8DADC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356848" y="429768"/>
            <a:ext cx="237744" cy="237744"/>
          </a:xfrm>
          <a:prstGeom prst="ellipse">
            <a:avLst/>
          </a:prstGeom>
          <a:solidFill>
            <a:srgbClr val="A8DADC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51976" y="1179576"/>
            <a:ext cx="109728" cy="109728"/>
          </a:xfrm>
          <a:prstGeom prst="ellipse">
            <a:avLst/>
          </a:prstGeom>
          <a:solidFill>
            <a:srgbClr val="A8DADC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36224" y="1380744"/>
            <a:ext cx="347472" cy="347472"/>
          </a:xfrm>
          <a:prstGeom prst="ellipse">
            <a:avLst/>
          </a:prstGeom>
          <a:solidFill>
            <a:srgbClr val="A8DADC">
              <a:alpha val="8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893808" y="1801368"/>
            <a:ext cx="146304" cy="146304"/>
          </a:xfrm>
          <a:prstGeom prst="ellipse">
            <a:avLst/>
          </a:prstGeom>
          <a:solidFill>
            <a:srgbClr val="A8DADC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649456" y="2048256"/>
            <a:ext cx="201168" cy="201168"/>
          </a:xfrm>
          <a:prstGeom prst="ellipse">
            <a:avLst/>
          </a:prstGeom>
          <a:solidFill>
            <a:srgbClr val="A8DADC">
              <a:alpha val="7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2228" y="2281428"/>
            <a:ext cx="100584" cy="100584"/>
          </a:xfrm>
          <a:prstGeom prst="ellipse">
            <a:avLst/>
          </a:prstGeom>
          <a:solidFill>
            <a:srgbClr val="A8DADC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250424" y="2523744"/>
            <a:ext cx="256032" cy="256032"/>
          </a:xfrm>
          <a:prstGeom prst="ellipse">
            <a:avLst/>
          </a:prstGeom>
          <a:solidFill>
            <a:srgbClr val="A8DADC">
              <a:alpha val="7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452860" y="2903220"/>
            <a:ext cx="137160" cy="137160"/>
          </a:xfrm>
          <a:prstGeom prst="ellipse">
            <a:avLst/>
          </a:prstGeom>
          <a:solidFill>
            <a:srgbClr val="A8DADC">
              <a:alpha val="6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22960" y="2487168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24128" y="23591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852928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유전체에서 나타난 전사체·단백체 분석의 필요성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35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전사체·단백체 분석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유전체만으로는 부족한가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신경세포와 간세포는 거의 동일한 DNA 서열을 갖지만, 형태·기능·대사 방식이 전혀 다르다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유전체는 그 세포가 "가질 수 있는 가능성의 목록"을 알려줄 뿐, 실제로 무엇이 쓰이는지는 알려주지 않는다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사용되는 유전자를 확인하려면 전사체(RNA) 수준의 관찰이 필요하다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36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전사체학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전사체학이란 무엇인가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전사체(transcriptome) = 특정 시점·세포·조직에 존재하는 RNA 전체의 종류와 양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RNA는 세포의 종류, 발달 단계, 외부 자극에 따라 계속 달라진다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전사체학(transcriptomics)은 "지금 이 세포에서 어떤 유전자가 활성화되어 있는가"라는 질문에 답한다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37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전사체학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마이크로어레이에서 RNA-seq으로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마이크로어레이(microarray) — mRNA를 형광표지 cDNA로 바꾸어 알려진 유전자 칩에 혼성화, 형광 세기로 발현량 추정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 — cDNA를 차세대 시퀀싱으로 직접 읽어, 정해진 유전자 목록에 의존하지 않고 모든 전사체를 포괄적으로 검출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RNA-seq은 새로운 전사체와 비암호화 RNA까지 발견할 수 있다는 점이 마이크로어레이와의 핵심 차이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세포 전사체 분석 결과, 단백질 암호화 유전자보다 훨씬 많은 RNA가 전사되며, 다수의 비암호화 RNA가 유전자 조절에 중요하다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38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전사체학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단일세포 전사체 분석(scRNA-seq)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bulk RNA-seq은 수많은 세포의 평균적인 RNA 정보만 제공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scRNA-seq은 개별 세포 하나하나의 발현을 분석 — 같은 조직 안에서도 세포마다 다른 특성을 밝혀낸다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종양 미세환경, 뇌와 같은 복잡한 조직, 다양한 면역세포 아형 연구에 특히 유용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세포를 개별 액적에 분리해 고유 바코드를 붙인 뒤 함께 시퀀싱하는 방식이 널리 쓰인다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39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전사체학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전사체만으로도 부족한 이유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RNA의 양이 많다고 해서 그에 대응하는 단백질이 반드시 많이, 혹은 활성 상태로 존재하는 것은 아니다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번역 효율, 단백질 안정성(분해 속도), 번역후변형 등 추가적인 조절 단계가 존재하기 때문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"지금 세포에서 실제로 기능하고 있는 것이 무엇인가"에 답하려면 단백체 수준의 관찰까지 필요하다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40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단백체학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단백체학이란 무엇인가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단백질은 세포 활동의 대부분을 직접 수행 — 효소반응, 구조형성, 신호전달, 물질수송 등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진핵세포의 단백질 종류는 유전자 수보다 훨씬 많다 — 대체 스플라이싱과 번역후변형(인산화·당화·지질화 등) 때문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단백체학(proteomics) = 특정 시점에 존재하는 단백질의 종류·양·화학적 변형을 측정하는 학문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41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단백체학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표적 분석 vs 포괄적 분석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EEF3F8"/>
          </a:solidFill>
          <a:ln/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978408" y="2130552"/>
            <a:ext cx="4626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표적 분석 (특정 단백질)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834640"/>
            <a:ext cx="462686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웨스턴 블롯(Western blot) — 항체로 특정 단백질의 존재·크기 확인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ELISA — 항원-항체 반응을 효소 신호로 정량화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면역조직화학(IHC)/면역세포화학(ICC) — 조직·세포 내 위치·발현 패턴 확인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강점: 정밀하고 민감 / 한계: 한 번에 소수의 단백질만 분석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FBEEEA"/>
          </a:solidFill>
          <a:ln/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56248" y="2130552"/>
            <a:ext cx="4626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B9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포괄적 분석 (단백체 전체)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56248" y="2834640"/>
            <a:ext cx="462686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질량분석(mass spectrometry) 기반 단백체학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세포에서 발현되는 많은 단백질을 동시에 식별·정량화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강점: 포괄적, 새로운 단백질도 발견 가능 / 한계: 상대적으로 낮은 민감도, 높은 비용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42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단백체학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질량분석 기반 단백질 동정</a:t>
            </a:r>
            <a:endParaRPr lang="en-US" sz="2700" dirty="0"/>
          </a:p>
        </p:txBody>
      </p:sp>
      <p:pic>
        <p:nvPicPr>
          <p:cNvPr id="5" name="Image 0" descr="/tmp/repo-check/assets/omics-figures/c4-mass-sp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526" y="1760220"/>
            <a:ext cx="3123227" cy="3931920"/>
          </a:xfrm>
          <a:prstGeom prst="rect">
            <a:avLst/>
          </a:prstGeom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766560" y="57835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5.8, 5.9 — 단백질을 펩타이드로 분해·이온화한 뒤 질량 스펙트럼을 얻어 데이터베이스와 대조한다.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5760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단백질을 프로테아제로 펩타이드 단편으로 분해 → 이온화 → 질량 대 전하비(m/z)로 분리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얻어진 질량 스펙트럼을 알려진 단백질의 이론적 스펙트럼 데이터베이스와 대조해 동정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탠덤 질량분석(MS/MS) — 특정 이온을 다시 쪼개어 아미노산 서열까지 유추</a:t>
            </a:r>
            <a:endParaRPr lang="en-US" sz="14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LC-MS와 결합하면 복잡한 혼합물 속 수천 개 단백질을 동시에 동정·정량할 수 있다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43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단백체학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단백질의 세포 내 위치 분석</a:t>
            </a:r>
            <a:endParaRPr lang="en-US" sz="2700" dirty="0"/>
          </a:p>
        </p:txBody>
      </p:sp>
      <p:pic>
        <p:nvPicPr>
          <p:cNvPr id="5" name="Image 0" descr="/tmp/repo-check/assets/omics-figures/c5-subcellular-prote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862" y="1783080"/>
            <a:ext cx="8579796" cy="2743200"/>
          </a:xfrm>
          <a:prstGeom prst="rect">
            <a:avLst/>
          </a:prstGeom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85800" y="45994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5.10 — 면역형광 이미지를 이용한 세포소기관별 단백질 매핑.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056632"/>
            <a:ext cx="10789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면역형광 분석 — 형광표지 항체로 단백질들의 세포 내 위치를 광범위하게 매핑</a:t>
            </a:r>
            <a:endParaRPr lang="en-US" sz="13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세포 내 분획화 — 원심분리로 소기관을 물리적으로 분리한 뒤 질량분석으로 확인</a:t>
            </a:r>
            <a:endParaRPr lang="en-US" sz="13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정보는 단백질 기능을 추론하는 중요한 단서 (예: 미토콘드리아 국소화 → 에너지대사 관련 가능성)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44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단백체학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단백질 상호작용 분석</a:t>
            </a:r>
            <a:endParaRPr lang="en-US" sz="2700" dirty="0"/>
          </a:p>
        </p:txBody>
      </p:sp>
      <p:pic>
        <p:nvPicPr>
          <p:cNvPr id="5" name="Image 0" descr="/tmp/repo-check/assets/omics-figures/c6-immunoprecipi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85" y="1783080"/>
            <a:ext cx="10645951" cy="2743200"/>
          </a:xfrm>
          <a:prstGeom prst="rect">
            <a:avLst/>
          </a:prstGeom>
          <a:effectLst>
            <a:outerShdw blurRad="88900" dist="25400" dir="5400000" algn="bl" rotWithShape="0">
              <a:srgbClr val="1D3557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85800" y="45994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면역침전법(Immunoprecipitation) — 항체로 표적 단백질과 결합된 복합체를 분리한다.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056632"/>
            <a:ext cx="10789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단백질은 거의 단독으로 작용하지 않으며 복합체·네트워크를 이루어 기능한다</a:t>
            </a:r>
            <a:endParaRPr lang="en-US" sz="13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면역침전법 — 관심 단백질에 대한 항체로 세포 추출물에서 그 단백질과 결합된 복합체를 함께 분리</a:t>
            </a:r>
            <a:endParaRPr lang="en-US" sz="13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효모 두잡종 분석(Yeast Two-Hybrid), FRET 등도 단백질 상호작용을 확인하는 대표적 방법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45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4부 요약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전사체·단백체 분석의 필요성 요약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유전체를 가진 세포들이 서로 다른 기능을 하는 이유는 유전체만으로 설명할 수 없다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전사체학(RNA-seq, scRNA-seq)은 "무엇이 실제로 발현되는가"를, 단백체학(질량분석 등)은 "무엇이 실제로 기능하는가"를 측정한다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RNA와 단백질의 양은 항상 비례하지 않으며, 이는 세 층위를 모두 봐야 하는 근본적 이유다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 → 전사체 → 단백체로 이어지는 관찰이 곧 오믹스적 사고방식의 핵심이다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46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0" y="548640"/>
            <a:ext cx="512064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0" b="1" dirty="0">
                <a:solidFill>
                  <a:srgbClr val="243F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5000" dirty="0"/>
          </a:p>
        </p:txBody>
      </p:sp>
      <p:sp>
        <p:nvSpPr>
          <p:cNvPr id="3" name="Shape 1"/>
          <p:cNvSpPr/>
          <p:nvPr/>
        </p:nvSpPr>
        <p:spPr>
          <a:xfrm>
            <a:off x="9454896" y="356616"/>
            <a:ext cx="292608" cy="292608"/>
          </a:xfrm>
          <a:prstGeom prst="ellipse">
            <a:avLst/>
          </a:prstGeom>
          <a:solidFill>
            <a:srgbClr val="A8DADC">
              <a:alpha val="8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16184" y="786384"/>
            <a:ext cx="164592" cy="164592"/>
          </a:xfrm>
          <a:prstGeom prst="ellipse">
            <a:avLst/>
          </a:prstGeom>
          <a:solidFill>
            <a:srgbClr val="A8DADC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356848" y="429768"/>
            <a:ext cx="237744" cy="237744"/>
          </a:xfrm>
          <a:prstGeom prst="ellipse">
            <a:avLst/>
          </a:prstGeom>
          <a:solidFill>
            <a:srgbClr val="A8DADC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51976" y="1179576"/>
            <a:ext cx="109728" cy="109728"/>
          </a:xfrm>
          <a:prstGeom prst="ellipse">
            <a:avLst/>
          </a:prstGeom>
          <a:solidFill>
            <a:srgbClr val="A8DADC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36224" y="1380744"/>
            <a:ext cx="347472" cy="347472"/>
          </a:xfrm>
          <a:prstGeom prst="ellipse">
            <a:avLst/>
          </a:prstGeom>
          <a:solidFill>
            <a:srgbClr val="A8DADC">
              <a:alpha val="8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893808" y="1801368"/>
            <a:ext cx="146304" cy="146304"/>
          </a:xfrm>
          <a:prstGeom prst="ellipse">
            <a:avLst/>
          </a:prstGeom>
          <a:solidFill>
            <a:srgbClr val="A8DADC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649456" y="2048256"/>
            <a:ext cx="201168" cy="201168"/>
          </a:xfrm>
          <a:prstGeom prst="ellipse">
            <a:avLst/>
          </a:prstGeom>
          <a:solidFill>
            <a:srgbClr val="A8DADC">
              <a:alpha val="7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2228" y="2281428"/>
            <a:ext cx="100584" cy="100584"/>
          </a:xfrm>
          <a:prstGeom prst="ellipse">
            <a:avLst/>
          </a:prstGeom>
          <a:solidFill>
            <a:srgbClr val="A8DADC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250424" y="2523744"/>
            <a:ext cx="256032" cy="256032"/>
          </a:xfrm>
          <a:prstGeom prst="ellipse">
            <a:avLst/>
          </a:prstGeom>
          <a:solidFill>
            <a:srgbClr val="A8DADC">
              <a:alpha val="7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452860" y="2903220"/>
            <a:ext cx="137160" cy="137160"/>
          </a:xfrm>
          <a:prstGeom prst="ellipse">
            <a:avLst/>
          </a:prstGeom>
          <a:solidFill>
            <a:srgbClr val="A8DADC">
              <a:alpha val="6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22960" y="2487168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24128" y="23591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852928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멀티오믹스 시대로의 확장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47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확장 오믹스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센트럴 도그마를 넘어서는 오믹스 층위</a:t>
            </a:r>
            <a:endParaRPr lang="en-US" sz="27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789920" cy="3794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8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층위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무엇의 총합인가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질문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8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대사체 (Metabolome)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세포 안팎의 저분자 대사산물(포도당, 젖산, 아미노산, 지질 등) 전체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세포가 지금 어떤 대사 상태에 있는가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8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후성유전체 (Epigenome)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메틸화 등 서열 변화 없이 발현에 영향을 주는 화학적 표지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서열인데 왜 이 유전자만 꺼져 있는가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8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마이크로바이옴 (Microbiome)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인체 안팎 미생물 군집의 유전체 총합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미생물 군집이 숙주 생리에 어떤 영향을 주는가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58521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DNA·RNA·단백질이 "세포가 무엇을 만들 수 있고, 만들고 있는가"를 보여준다면, 대사체는 그 결과 세포의 화학적 상태를, 후성유전체는 같은 서열이 다르게 쓰이는 이유를 설명한다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48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멀티오믹스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멀티오믹스란 무엇인가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멀티오믹스(multi-omics) = 동일한 샘플에서 여러 오믹스 층위를 동시에 측정하고 통합 해석하는 접근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층위만으로 설명할 수 없는 현상도, 여러 층위를 겹쳐 보면 더 설득력 있는 서사를 구성할 수 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단위와 잡음 구조가 층위마다 달라, 통합 자체가 방법론적으로 까다롭다는 한계도 있다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49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멀티오믹스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사례 — 암 연구에서의 멀티오믹스 통합</a:t>
            </a:r>
            <a:endParaRPr lang="en-US" sz="27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789920" cy="3794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8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층위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확인하는 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8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1단계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유전체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어떤 돌연변이가 존재하는가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8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2단계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전사체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 돌연변이가 있는 유전자가 실제로 발현에 영향을 받는가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8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3단계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단백체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 결과 단백질 기능이 실제로 변화하는가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58521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층위가 일관되게 같은 방향을 가리킬 때, "이 돌연변이가 특정 표현형과 관련이 있다"는 주장이 비로소 설득력을 갖는다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50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멀티오믹스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상관관계와 인과관계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오믹스 분석은 본질적으로 컴퓨터 위에서 이루어지는 "관찰"이다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"유전자 X의 발현이 두 조건 사이에서 유의하게 다르다" = 상관관계이지, 인과관계가 아니다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상관관계를 인과관계로 성급히 해석하면 잘못된 치료 표적 선정, 재현 불가능한 결론 등으로 이어질 수 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오믹스 분석에서 발견된 패턴은 항상 "검증 가능한 가설"로 취급해야 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51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멀티오믹스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발견에서 검증으로 — 4단계</a:t>
            </a:r>
            <a:endParaRPr lang="en-US" sz="27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789920" cy="4343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인포매틱스 발견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오믹스 데이터 분석으로 조건 간 통계적으로 유의한 차이를 발견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가설 수립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"이 변화가 관찰된 표현형의 원인일 것이다"라는 검증 가능한 가설 설정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실험적 검증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핵산 정제, PCR/qPCR, 단백 검출법 등 독립적인 습식 실험으로 재확인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인과적 결론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발현을 인위적으로 억제(knockdown)·과발현(overexpression)시켜 표현형 변화까지 확인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52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5부 요약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멀티오믹스 시대 요약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오믹스 지도는 대사체·후성유전체·마이크로바이옴 등으로 계속 확장되고 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멀티오믹스는 여러 층위를 통합해 더 설득력 있는 결론을 만들지만, 결과는 여전히 상관관계에 머무른다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발견을 인과관계로 확립하려면 독립적인 실험적 검증이 반드시 뒤따라야 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53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0" y="548640"/>
            <a:ext cx="512064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0" b="1" dirty="0">
                <a:solidFill>
                  <a:srgbClr val="243F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5000" dirty="0"/>
          </a:p>
        </p:txBody>
      </p:sp>
      <p:sp>
        <p:nvSpPr>
          <p:cNvPr id="3" name="Shape 1"/>
          <p:cNvSpPr/>
          <p:nvPr/>
        </p:nvSpPr>
        <p:spPr>
          <a:xfrm>
            <a:off x="9454896" y="356616"/>
            <a:ext cx="292608" cy="292608"/>
          </a:xfrm>
          <a:prstGeom prst="ellipse">
            <a:avLst/>
          </a:prstGeom>
          <a:solidFill>
            <a:srgbClr val="A8DADC">
              <a:alpha val="8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16184" y="786384"/>
            <a:ext cx="164592" cy="164592"/>
          </a:xfrm>
          <a:prstGeom prst="ellipse">
            <a:avLst/>
          </a:prstGeom>
          <a:solidFill>
            <a:srgbClr val="A8DADC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356848" y="429768"/>
            <a:ext cx="237744" cy="237744"/>
          </a:xfrm>
          <a:prstGeom prst="ellipse">
            <a:avLst/>
          </a:prstGeom>
          <a:solidFill>
            <a:srgbClr val="A8DADC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51976" y="1179576"/>
            <a:ext cx="109728" cy="109728"/>
          </a:xfrm>
          <a:prstGeom prst="ellipse">
            <a:avLst/>
          </a:prstGeom>
          <a:solidFill>
            <a:srgbClr val="A8DADC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36224" y="1380744"/>
            <a:ext cx="347472" cy="347472"/>
          </a:xfrm>
          <a:prstGeom prst="ellipse">
            <a:avLst/>
          </a:prstGeom>
          <a:solidFill>
            <a:srgbClr val="A8DADC">
              <a:alpha val="8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893808" y="1801368"/>
            <a:ext cx="146304" cy="146304"/>
          </a:xfrm>
          <a:prstGeom prst="ellipse">
            <a:avLst/>
          </a:prstGeom>
          <a:solidFill>
            <a:srgbClr val="A8DADC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649456" y="2048256"/>
            <a:ext cx="201168" cy="201168"/>
          </a:xfrm>
          <a:prstGeom prst="ellipse">
            <a:avLst/>
          </a:prstGeom>
          <a:solidFill>
            <a:srgbClr val="A8DADC">
              <a:alpha val="7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2228" y="2281428"/>
            <a:ext cx="100584" cy="100584"/>
          </a:xfrm>
          <a:prstGeom prst="ellipse">
            <a:avLst/>
          </a:prstGeom>
          <a:solidFill>
            <a:srgbClr val="A8DADC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250424" y="2523744"/>
            <a:ext cx="256032" cy="256032"/>
          </a:xfrm>
          <a:prstGeom prst="ellipse">
            <a:avLst/>
          </a:prstGeom>
          <a:solidFill>
            <a:srgbClr val="A8DADC">
              <a:alpha val="7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452860" y="2903220"/>
            <a:ext cx="137160" cy="137160"/>
          </a:xfrm>
          <a:prstGeom prst="ellipse">
            <a:avLst/>
          </a:prstGeom>
          <a:solidFill>
            <a:srgbClr val="A8DADC">
              <a:alpha val="6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22960" y="2487168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24128" y="23591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852928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의료와 오믹스의 현재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54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오믹스와 의료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오믹스가 임상으로 들어오다 — 정밀의료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정밀의료(precision medicine) — 환자 개인의 유전체·분자 정보를 바탕으로 진단·치료를 맞추는 접근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"평균적인 환자"가 아니라 "이 환자"의 분자적 특성에 맞춘 치료를 지향한다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비용 하락과 분석 파이프라인의 표준화가 정밀의료를 연구실에서 진료실로 옮겨오는 원동력이 되었다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55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오믹스와 의료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암 유전체 프로파일링과 표적치료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종양 조직을 NGS 패널로 분석해 어떤 유전자 변이가 암을 구동하는지 확인 (동반진단, companion diagnostics)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변이가 확인되면 그 변이를 표적으로 하는 약물을 선택 — "돌연변이에 맞춘 치료"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오늘날 다수의 암종에서 포괄적 유전체 프로파일링이 표준 진료 과정에 편입되고 있다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56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오믹스와 의료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액체생검(Liquid biopsy)과 순환종양DNA(ctDNA)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혈액 등 체액에서 종양이 흘려보낸 순환종양DNA(ctDNA)를 검출·분석하는 비침습적 검사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생검이 어려운 상황에서 종양의 분자적 특성을 파악하거나, 치료 반응·재발을 추적하는 데 활용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수술 후 미세잔존질환(MRD) 검출과 조기 재발 모니터링에서 임상 적용이 확대되고 있다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57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오믹스와 의료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약물유전체학(Pharmacogenomics)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개인의 유전형에 따라 약물 대사·반응·부작용 위험이 달라질 수 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유전자형에서 표준 용량이 독성을 일으키거나 효과가 없을 수 있음을 미리 예측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CPIC(Clinical Pharmacogenetics Implementation Consortium) 등에서 유전형 기반 처방 가이드라인을 제공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수술 전 마취제, 항응고제, 일부 항암제 등에서 이미 임상에 적용되고 있다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58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오믹스와 의료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출생 전후의 유전체 검사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비침습적 산전검사(NIPT) — 임산부 혈액 속 태아 유래 DNA 조각을 분석해 염색체 이상을 선별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 분석의 대중화를 보여주는 대표적 사례 — 침습적 검사 없이 조기 선별이 가능해짐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신생아 유전체 스크리닝 — 빠른 시퀀싱으로 희귀 유전질환을 조기에 진단해 치료 시기를 앞당기려는 시도가 확대되고 있다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59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오믹스와 의료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단일세포·공간오믹스와 면역항암치료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단일세포 분석으로 종양 안의 다양한 면역세포 아형과 그 비율을 파악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공간전사체학(spatial transcriptomics) — 조직 내 위치 정보를 유지한 채 발현을 측정해, 종양-면역세포 간 공간적 배치까지 관찰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이러한 정보는 면역항암치료(면역관문억제제 등) 반응을 예측하는 바이오마커 개발에 활용된다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60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오믹스와 의료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멀티오믹스와 인공지능의 결합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유전체·전사체·단백체·영상 등 이질적인 대규모 데이터를 인공지능으로 통합 분석하는 시도가 확산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병리·영상 판독을 보조하는 AI 모델, 대규모 오믹스 데이터에서 새로운 바이오마커 후보를 찾는 모델 등이 개발되고 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간 협업을 위해 데이터를 한곳에 모으지 않고도 공동 분석하는 연합학습(federated analytics) 방식도 함께 논의된다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61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오믹스와 의료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마이크로바이옴과 개인 맞춤 건강관리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장내 미생물 군집(마이크로바이옴) 구성이 대사, 면역, 약물 반응에 영향을 준다는 연구가 축적되고 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마이크로바이옴 분석을 바탕으로 한 맞춤형 영양·생활습관 권고가 시도되고 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이는 유전체가 고정된 정보인 것과 달리, 환경적으로 조절 가능한 오믹스 층위라는 점에서 주목받는다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62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오믹스와 의료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오믹스 시대의 과제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비용과 접근성 — 정밀의료 기술이 모든 환자·모든 지역에 균등하게 제공되지 못하는 형평성 문제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프라이버시 — 유전체 정보는 재식별 위험이 있는 민감정보로, 보호와 활용 사이의 균형이 필요하다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불확실한 의미의 변이(VUS) — 발견된 변이 중 상당수는 아직 임상적 의미가 명확하지 않다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상관관계를 인과관계로 오인해 근거가 약한 치료를 제공할 위험 — 5부에서 다룬 검증 원칙이 임상에서도 그대로 적용된다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63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6부 요약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의료와 오믹스의 현재 요약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정밀의료는 유전체·전사체·단백체 정보를 환자 개인의 진단·치료에 직접 연결하는 시도다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 유전체 프로파일링, 액체생검, 약물유전체학, 산전·신생아 유전체 검사 등이 이미 임상에 자리잡고 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단일세포·공간오믹스와 AI의 결합은 현재 가장 빠르게 발전하고 있는 영역이다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가능성이 커질수록, 비용·프라이버시·근거의 확실성이라는 과제도 함께 커진다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64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요약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센트럴 도그마에서 정밀의료까지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1부 — DNA가 유전물질임이 증명되고, 중심원리(DNA→RNA→단백질)가 정립되었다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2부 — 그 DNA를 직접 읽어내는 시퀀싱 기술이 Sanger에서 NGS로 발전했다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3부 — 유전체 비교는 진화적 유사성과 기능적 단서를 제공하지만, 그 자체로는 "가능성의 목록"일 뿐이다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4부 — 무엇이 실제로 발현·기능하는지 알려면 전사체·단백체 분석이 필요하다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5부 — 멀티오믹스는 여러 층위를 통합하지만, 그 결과는 실험적 검증을 거쳐야 인과관계가 된다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6부 — 이 모든 원리와 기술이 오늘날 정밀의료라는 이름으로 임상 현장에 들어와 있다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65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00584" cy="100584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9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맺음말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다음으로 이어지는 질문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오믹스 분석으로 발견한 패턴은 여전히 가설이며, 이를 인과관계로 </a:t>
            </a:r>
            <a:r>
              <a:rPr lang="en-US" sz="1500" dirty="0" err="1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확립하려면</a:t>
            </a: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분자생물학 실험이 필요하다</a:t>
            </a:r>
            <a:endParaRPr lang="en-US" sz="1500" dirty="0"/>
          </a:p>
          <a:p>
            <a:pPr marL="203200" indent="-203200">
              <a:lnSpc>
                <a:spcPct val="12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 err="1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핵산</a:t>
            </a: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정제, PCR, 핵산·단백 검출법, library prep 등 그 검증에 실제로 쓰이는 실험 </a:t>
            </a:r>
            <a:r>
              <a:rPr lang="en-US" sz="1500" dirty="0" err="1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기법을</a:t>
            </a:r>
            <a:r>
              <a:rPr 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5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필요로 한</a:t>
            </a:r>
            <a:r>
              <a:rPr lang="en-US" sz="150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6473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Omics Notes  ·  66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4407</Words>
  <Application>Microsoft Office PowerPoint</Application>
  <PresentationFormat>와이드스크린</PresentationFormat>
  <Paragraphs>540</Paragraphs>
  <Slides>64</Slides>
  <Notes>64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68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kimjintaehyu.github.io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센트럴 도그마에서 정밀의료까지</dc:title>
  <dc:subject>Omics Notes</dc:subject>
  <dc:creator>기초의학실습캠프</dc:creator>
  <cp:lastModifiedBy>jt k</cp:lastModifiedBy>
  <cp:revision>2</cp:revision>
  <dcterms:created xsi:type="dcterms:W3CDTF">2026-09-03T14:42:26Z</dcterms:created>
  <dcterms:modified xsi:type="dcterms:W3CDTF">2026-09-08T13:40:51Z</dcterms:modified>
</cp:coreProperties>
</file>