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유전체를 가진 세포가 다른 일을 하는 이유. 간세포와 신경세포에서 동일한 유전자 집합 가운데 발현되는 유전자가 다르다는 점, 항시 발현 유전자와 조절 유전자의 구분, 그리고 발현이 바뀌어야 하는 세 상황의 시간 규모를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발현 조절이 가능한 여덟 단계와 각 단계의 성질. 전사 개시가 주된 조절 지점이 되는 자원 절약의 논리, 그리고 뒤쪽 단계가 가지는 속도의 이점을 비용–속도 교환으로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Promoter와 operator의 위치와 결합 분자. 전사 개시점을 +1로 삼는 좌표계, 세균 promoter의 −10·−35 보존 서열, σ 인자에 의한 인식, 그리고 operator에 조절 단백질이 결합해 전사 개시를 방해하는 관계를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Operon의 구조와 동시 조절. Lac operon의 lacZ·lacY·lacA 배열과 공통 promoter, polycistronic mRNA, 별도의 promoter를 가진 lacI, 유전자와 단백질의 표기 관례, 그리고 진핵세포가 같은 목표를 조절서열 공유로 달성하는 방식을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Lac operon의 음성 조절. 젖당이 없을 때 LacI가 operator에 결합해 전사를 억제하는 상태, 기저 발현으로 존재하는 소량의 LacY와 LacZ, 젖당에서 allolactose가 만들어지는 경로, allolactose의 allosteric 결합에 의한 LacI의 해리, 그리고 전사 증가를 순서대로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cAMP–CAP에 의한 양성 조절과 네 조건의 비교. 포도당 농도에서 cAMP를 거쳐 CAP에 이르는 경로, CAP가 RNA polymerase의 개시 확률을 높이는 작용, 그리고 포도당·젖당의 네 조합에서 LacI와 CAP의 상태와 최종 발현량을 한 표로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Cis 작용 요소와 trans 작용 인자의 차이. 같은 DNA에 연결된 표적에만 작용하는 operator와 확산해 다른 DNA에도 도달하는 LacI 단백질, 그리고 두 번째 DNA 사본을 넣는 보완 실험에서 lacI 결함은 보완되고 operator 결함은 보완되지 않는 비대칭을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Trp operon의 억제 조절과 lac operon과의 대응. TrpR이 tryptophan을 corepressor로 받아 operator에 결합하는 과정, LacI와의 구조 변화 방향 비교, 그리고 이화 경로와 생합성 경로의 조절 목표 차이가 기본 상태를 정하는 관계를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Trp operon의 attenuation 기전. 리더 영역의 두 tryptophan codon, tryptophan이 충분할 때 ribosome이 빠르게 전진해 종결 구조가 만들어지는 경로, 부족할 때 ribosome이 멈춰 항종결 구조가 만들어지는 경로, 그리고 전사와 번역이 동시에 일어나는 세균의 조건을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원핵세포와 진핵세포 조절의 네 가지 조건 차이. Chromatin에 의한 접근 제한, 전사와 번역의 공간 분리, 멀리 떨어진 enhancer와 DNA 고리, 여러 전사인자의 조합 조절이 각각 추가하는 조절 층위, 그리고 두 계통에 공통된 세 가지 원리를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세포의 차이는 가진 유전자가 다르기 때문이 아니라 어떤 유전자를 얼마나 발현하는지가 다르기 때문이다. 간세포는 albumin을, 신경세포는 이온 통로와 수용체를 주로 만들지만 두 유전자가 양쪽 세포에 모두 존재한다. 여기서 나오는 기본 구별은 유전자가 유전체에 존재하는 것과 그 유전자가 발현되는 것이 별개의 사실이라는 점이다. 세포 분화에서 달라지는 것은 염기서열이 아니라 그 정보를 읽는 방식이다.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앞 단계에서 끄면 뒤따르는 모든 비용이 함께 줄어든다. 필요하지 않은 효소의 mRNA를 만들지 않으면 번역에 쓸 주형이 없으므로 아미노산과 ATP도 쓰이지 않는다. 반대로 뒤쪽 단계의 조절은 빠르다. 전사부터 시작하면 수십 분이 걸리지만 저장된 mRNA의 번역을 켜거나 저장된 단백질을 활성화하면 수 초에서 수 분이다. 조절 단계의 선택에는 비용과 속도의 교환이 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Promoter는 RNA polymerase의 σ 인자가 인식하는 자리이며 전사 개시의 위치를 지정한다. Operator는 조절 단백질이 인식하는 자리이며 전사 개시의 빈도를 조절한다. 둘 다 DNA의 특정 위치에 있는 서열이므로 자신과 같은 DNA 분자에 연결된 유전자에만 작용할 수 있고, 다른 DNA의 정상 서열이 옮겨 와서 대신할 수 없다. 그래서 둘 다 cis 조절서열이다.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Operon은 하나의 promoter에서 함께 전사되고 함께 조절되는 유전자들의 단위이며, 그 산물은 여러 단백질의 정보를 담은 polycistronic mRNA다. 이점은 동시 조절로, 하나의 신호로 함께 필요한 기능을 한꺼번에 켜고 끌 수 있다. 젖당의 유입(LacY)과 분해(LacZ)처럼 함께 있어야 쓸모가 있는 기능이 그 예다. 한계는 각 단백질의 최종 양이 반드시 같아지지 않는다는 점이며, 번역 개시 자리의 효율과 각 단백질의 반감기가 다르기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세포 안에 들어온 젖당의 일부가 LacZ의 작용으로 allolactose로 바뀌고, 이 allolactose가 LacI에 결합해 구조를 바꾸어 DNA 결합을 약화시킨다. 실제 신호는 allolactose다. 그런데 젖당을 들여오는 LacY와 allolactose를 만드는 LacZ가 모두 lac operon의 산물이므로, 발현이 완전히 0이면 처음 신호를 만들 수 없다. 억제 상태에서도 소량의 LacY와 LacZ가 존재하는 기저 발현이 유도의 출발점을 제공한다.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음성 조절은 조절인자의 직접 작용이 전사를 감소시키는 방식이다. LacI가 operator에 결합하면 전사가 낮아지므로 LacI의 직접 작용은 억제다. Allolactose가 하는 일은 그 억제를 푸는 것이고 전사를 직접 돕는 것이 아니므로, 결과적으로 발현이 올라가더라도 LacI를 활성인자라 부를 수 없다. 조절 단백질의 작용 방향과 외부 신호가 가져오는 결과를 구분해야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젖당이 없으면 LacI가 operator를 막고 있으므로 포도당 상태와 무관하게 발현이 낮다(포도당 많음·젖당 없음은 매우 낮음, 포도당 없음·젖당 없음은 낮음). 젖당이 있으면 LacI는 떨어지지만, 포도당이 많으면 cAMP가 낮아 CAP가 작용하지 못해 발현이 낮게 머문다. 포도당이 없고 젖당이 있을 때만 cAMP가 높아 CAP가 전사 개시 확률을 높여 발현이 높아진다. 두 조건의 차이는 양성 조절의 작동 여부에서 온다.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Cis 작용 요소는 자신과 같은 DNA 분자에 연결된 표적에만 작용하는 요소로 promoter와 operator가 대표적이다. Trans 작용 인자는 확산해 다른 DNA 분자에도 도달할 수 있는 요소로 LacI 같은 단백질이 대표적이다. 두 번째 DNA 사본을 넣었을 때, lacI 결함은 새로 만들어진 LacI가 기존 operator에 결합해 회복되므로 trans 보완이 된다. Operator 서열 변이는 결합 자리 자체가 없어진 것이므로 정상 LacI를 더 공급해도 복구되지 않는다. 보완되면 trans 인자의 결함, 보완되지 않으면 cis 요소의 결함이다.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Lac operon은 이화 경로를 담당하므로 기질인 젖당이 생겼을 때 켜는 것이 목표이고, 기본 상태는 억제다. Trp operon은 생합성 경로를 담당하므로 최종 산물인 tryptophan이 충분할 때 끄는 것이 목표이고, tryptophan은 단백질 합성에 항상 필요하므로 기본 상태는 발현이다. Allolactose처럼 조절 단백질에 결합해 억제를 푸는 작은 분자가 inducer이고, tryptophan처럼 억제인자에 결합해 DNA에 결합할 수 있게 만드는 작은 분자가 corepressor다. 둘 다 allosteric 조절이지만 구조 변화의 방향이 반대다.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조건은 첫째 핵막이 없어 전사와 번역이 같은 공간에서 동시에 일어나 ribosome이 합성 중인 RNA를 바로 번역할 수 있다는 것, 둘째 전사 단위 앞에 연속된 두 tryptophan codon을 가진 리더 영역이 있다는 것이다. Tryptophan이 충분하면 그것을 실은 tRNA가 많아 ribosome이 두 codon을 막힘 없이 지나 전진하고, 특정 영역을 덮어 남은 영역들이 종결 구조를 만들어 전사가 리더에서 끝난다. 부족하면 ribosome이 두 codon에서 멈춰 상류에 머물고, 하류 영역들이 자유롭게 짝지어 항종결 구조를 만들어 전사가 계속된다.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TrpR에 의한 억제는 전사 개시 단계에서 작용하며 tryptophan 분자 자체를 억제인자의 allosteric 변화로 감지한다. Attenuation은 전사 신장과 종결 단계에서 작용하며 tryptophan을 실은 tRNA의 양을 ribosome의 진행 속도로 감지한다. Pol II 일시정지도 전사 개시 뒤의 조절이지만, NELF와 DSIF 같은 단백질 인자가 유지하고 P-TEFb의 인산화가 푸는 기전이며 RNA의 2차 구조나 ribosome의 위치와 무관하다. 같은 범주에 들어가도 분자 기전을 공유하지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DNA가 histone과 결합해 nucleosome을 이루므로 접근 가능성 자체가 조절 대상이 되고, chromatin 재구성·histone 수식·DNA methylation 층위가 생긴다. 둘째 전사와 번역이 핵과 세포질로 분리되어 attenuation은 불가능해지지만 splicing·capping·polyadenylation·핵 수송이 조절 지점으로 추가된다. 셋째 enhancer가 수천에서 수십만 염기쌍 떨어져 있을 수 있어 DNA 고리와 mediator, chromatin domain 층위가 생긴다. 넷째 하나의 유전자가 세포 종류·발달 단계·호르몬·이웃 세포의 신호를 통합해야 하므로 여러 전사인자의 조합 조절이 필요해진다.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M03  분자유전학과 계통별 의학생화학특론</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유전자 발현 조절의 원리와 조절 단위</a:t>
            </a:r>
          </a:p>
          <a:p>
            <a:r>
              <a:rPr sz="1500" b="0" i="0">
                <a:solidFill>
                  <a:srgbClr val="B9D2E8"/>
                </a:solidFill>
                <a:latin typeface="Malgun Gothic"/>
                <a:ea typeface="Malgun Gothic"/>
                <a:cs typeface="Malgun Gothic"/>
              </a:rPr>
              <a:t>Principles of Gene Expression Control and the Units of Regulation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M03-W04-L02</a:t>
            </a:r>
          </a:p>
          <a:p>
            <a:r>
              <a:rPr sz="1100" b="0" i="0">
                <a:solidFill>
                  <a:srgbClr val="9FBEDA"/>
                </a:solidFill>
                <a:latin typeface="Malgun Gothic"/>
                <a:ea typeface="Malgun Gothic"/>
                <a:cs typeface="Malgun Gothic"/>
              </a:rPr>
              <a:t>4주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1.  </a:t>
            </a:r>
            <a:r>
              <a:rPr sz="1400" b="0" i="0">
                <a:solidFill>
                  <a:srgbClr val="11202B"/>
                </a:solidFill>
                <a:latin typeface="Malgun Gothic"/>
                <a:ea typeface="Malgun Gothic"/>
                <a:cs typeface="Malgun Gothic"/>
              </a:rPr>
              <a:t>유전자가 존재하는 것과 발현되는 것을 구별하고, 같은 유전체를 가진 세포가 서로 다른 일을 하는 근거를 설명한다.</a:t>
            </a:r>
          </a:p>
          <a:p>
            <a:pPr>
              <a:spcAft>
                <a:spcPts val="900"/>
              </a:spcAft>
            </a:pPr>
            <a:r>
              <a:rPr sz="1400" b="1" i="0">
                <a:solidFill>
                  <a:srgbClr val="F2B705"/>
                </a:solidFill>
                <a:latin typeface="Malgun Gothic"/>
                <a:ea typeface="Malgun Gothic"/>
                <a:cs typeface="Malgun Gothic"/>
              </a:rPr>
              <a:t>2.  </a:t>
            </a:r>
            <a:r>
              <a:rPr sz="1400" b="0" i="0">
                <a:solidFill>
                  <a:srgbClr val="11202B"/>
                </a:solidFill>
                <a:latin typeface="Malgun Gothic"/>
                <a:ea typeface="Malgun Gothic"/>
                <a:cs typeface="Malgun Gothic"/>
              </a:rPr>
              <a:t>단백질 양을 바꿀 수 있는 단계를 전사부터 분해까지 모두 들고, 전사 개시가 주된 조절 지점이 되는 이유를 자원 절약의 관점에서 설명한다.</a:t>
            </a:r>
          </a:p>
          <a:p>
            <a:pPr>
              <a:spcAft>
                <a:spcPts val="900"/>
              </a:spcAft>
            </a:pPr>
            <a:r>
              <a:rPr sz="1400" b="1" i="0">
                <a:solidFill>
                  <a:srgbClr val="F2B705"/>
                </a:solidFill>
                <a:latin typeface="Malgun Gothic"/>
                <a:ea typeface="Malgun Gothic"/>
                <a:cs typeface="Malgun Gothic"/>
              </a:rPr>
              <a:t>3.  </a:t>
            </a:r>
            <a:r>
              <a:rPr sz="1400" b="0" i="0">
                <a:solidFill>
                  <a:srgbClr val="11202B"/>
                </a:solidFill>
                <a:latin typeface="Malgun Gothic"/>
                <a:ea typeface="Malgun Gothic"/>
                <a:cs typeface="Malgun Gothic"/>
              </a:rPr>
              <a:t>Promoter와 operator를 결합하는 단백질과 기능으로 구분하고 두 서열이 모두 cis 조절서열인 이유를 쓴다.</a:t>
            </a:r>
          </a:p>
          <a:p>
            <a:pPr>
              <a:spcAft>
                <a:spcPts val="900"/>
              </a:spcAft>
            </a:pPr>
            <a:r>
              <a:rPr sz="1400" b="1" i="0">
                <a:solidFill>
                  <a:srgbClr val="F2B705"/>
                </a:solidFill>
                <a:latin typeface="Malgun Gothic"/>
                <a:ea typeface="Malgun Gothic"/>
                <a:cs typeface="Malgun Gothic"/>
              </a:rPr>
              <a:t>4.  </a:t>
            </a:r>
            <a:r>
              <a:rPr sz="1400" b="0" i="0">
                <a:solidFill>
                  <a:srgbClr val="11202B"/>
                </a:solidFill>
                <a:latin typeface="Malgun Gothic"/>
                <a:ea typeface="Malgun Gothic"/>
                <a:cs typeface="Malgun Gothic"/>
              </a:rPr>
              <a:t>Operon의 정의를 쓰고 하나의 전사 단위로 묶는 것이 어떤 이점을 주는지 설명한다.</a:t>
            </a:r>
          </a:p>
          <a:p>
            <a:pPr>
              <a:spcAft>
                <a:spcPts val="900"/>
              </a:spcAft>
            </a:pPr>
            <a:r>
              <a:rPr sz="1400" b="1" i="0">
                <a:solidFill>
                  <a:srgbClr val="F2B705"/>
                </a:solidFill>
                <a:latin typeface="Malgun Gothic"/>
                <a:ea typeface="Malgun Gothic"/>
                <a:cs typeface="Malgun Gothic"/>
              </a:rPr>
              <a:t>5.  </a:t>
            </a:r>
            <a:r>
              <a:rPr sz="1400" b="0" i="0">
                <a:solidFill>
                  <a:srgbClr val="11202B"/>
                </a:solidFill>
                <a:latin typeface="Malgun Gothic"/>
                <a:ea typeface="Malgun Gothic"/>
                <a:cs typeface="Malgun Gothic"/>
              </a:rPr>
              <a:t>Lac operon의 음성 조절을 LacI와 allolactose의 관계로 설명하고, 유도물질이 발현을 올리는데도 음성 조절이라 부르는 이유를 쓴다.</a:t>
            </a:r>
          </a:p>
          <a:p>
            <a:pPr>
              <a:spcAft>
                <a:spcPts val="900"/>
              </a:spcAft>
            </a:pPr>
            <a:r>
              <a:rPr sz="1400" b="1" i="0">
                <a:solidFill>
                  <a:srgbClr val="F2B705"/>
                </a:solidFill>
                <a:latin typeface="Malgun Gothic"/>
                <a:ea typeface="Malgun Gothic"/>
                <a:cs typeface="Malgun Gothic"/>
              </a:rPr>
              <a:t>6.  </a:t>
            </a:r>
            <a:r>
              <a:rPr sz="1400" b="0" i="0">
                <a:solidFill>
                  <a:srgbClr val="11202B"/>
                </a:solidFill>
                <a:latin typeface="Malgun Gothic"/>
                <a:ea typeface="Malgun Gothic"/>
                <a:cs typeface="Malgun Gothic"/>
              </a:rPr>
              <a:t>Lac operon의 양성 조절을 cAMP–CAP로 설명하고 포도당과 젖당의 네 조건에서 발현량을 예측한다.</a:t>
            </a:r>
          </a:p>
          <a:p>
            <a:pPr>
              <a:spcAft>
                <a:spcPts val="900"/>
              </a:spcAft>
            </a:pPr>
            <a:r>
              <a:rPr sz="1400" b="1" i="0">
                <a:solidFill>
                  <a:srgbClr val="F2B705"/>
                </a:solidFill>
                <a:latin typeface="Malgun Gothic"/>
                <a:ea typeface="Malgun Gothic"/>
                <a:cs typeface="Malgun Gothic"/>
              </a:rPr>
              <a:t>7.  </a:t>
            </a:r>
            <a:r>
              <a:rPr sz="1400" b="0" i="0">
                <a:solidFill>
                  <a:srgbClr val="11202B"/>
                </a:solidFill>
                <a:latin typeface="Malgun Gothic"/>
                <a:ea typeface="Malgun Gothic"/>
                <a:cs typeface="Malgun Gothic"/>
              </a:rPr>
              <a:t>Cis 작용 요소와 trans 작용 인자를 정의하고 돌연변이 보완 실험으로 둘을 구별하는 논리를 쓴다.</a:t>
            </a:r>
          </a:p>
          <a:p>
            <a:pPr>
              <a:spcAft>
                <a:spcPts val="900"/>
              </a:spcAft>
            </a:pPr>
            <a:r>
              <a:rPr sz="1400" b="1" i="0">
                <a:solidFill>
                  <a:srgbClr val="F2B705"/>
                </a:solidFill>
                <a:latin typeface="Malgun Gothic"/>
                <a:ea typeface="Malgun Gothic"/>
                <a:cs typeface="Malgun Gothic"/>
              </a:rPr>
              <a:t>8.  </a:t>
            </a:r>
            <a:r>
              <a:rPr sz="1400" b="0" i="0">
                <a:solidFill>
                  <a:srgbClr val="11202B"/>
                </a:solidFill>
                <a:latin typeface="Malgun Gothic"/>
                <a:ea typeface="Malgun Gothic"/>
                <a:cs typeface="Malgun Gothic"/>
              </a:rPr>
              <a:t>Trp operon의 조절 목표가 lac operon과 반대인 이유를 이화와 생합성의 차이로 설명한다.</a:t>
            </a:r>
          </a:p>
          <a:p>
            <a:pPr>
              <a:spcAft>
                <a:spcPts val="900"/>
              </a:spcAft>
            </a:pPr>
            <a:r>
              <a:rPr sz="1400" b="1" i="0">
                <a:solidFill>
                  <a:srgbClr val="F2B705"/>
                </a:solidFill>
                <a:latin typeface="Malgun Gothic"/>
                <a:ea typeface="Malgun Gothic"/>
                <a:cs typeface="Malgun Gothic"/>
              </a:rPr>
              <a:t>9.  </a:t>
            </a:r>
            <a:r>
              <a:rPr sz="1400" b="0" i="0">
                <a:solidFill>
                  <a:srgbClr val="11202B"/>
                </a:solidFill>
                <a:latin typeface="Malgun Gothic"/>
                <a:ea typeface="Malgun Gothic"/>
                <a:cs typeface="Malgun Gothic"/>
              </a:rPr>
              <a:t>Attenuation의 기전을 리더 RNA의 두 가지 2차 구조로 설명하고 이것이 억제인자에 의한 조절과 어떻게 다른지 구분한다.</a:t>
            </a:r>
          </a:p>
          <a:p>
            <a:pPr>
              <a:spcAft>
                <a:spcPts val="900"/>
              </a:spcAft>
            </a:pPr>
            <a:r>
              <a:rPr sz="1400" b="1" i="0">
                <a:solidFill>
                  <a:srgbClr val="F2B705"/>
                </a:solidFill>
                <a:latin typeface="Malgun Gothic"/>
                <a:ea typeface="Malgun Gothic"/>
                <a:cs typeface="Malgun Gothic"/>
              </a:rPr>
              <a:t>10.  </a:t>
            </a:r>
            <a:r>
              <a:rPr sz="1400" b="0" i="0">
                <a:solidFill>
                  <a:srgbClr val="11202B"/>
                </a:solidFill>
                <a:latin typeface="Malgun Gothic"/>
                <a:ea typeface="Malgun Gothic"/>
                <a:cs typeface="Malgun Gothic"/>
              </a:rPr>
              <a:t>진핵세포의 조절이 원핵세포와 달라지는 네 가지 조건을 들고 각 조건이 어떤 조절 층위를 추가하는지 쓴다.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M03-W02-L02 RNA의 종류와 전사의 기전 — RNA polymerase, promoter, 전사의 세 단계</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M03-W03-L03 Ribosome과 번역의 단계 — 개시·신장·종결, polysome</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M01-W06-L02 유전자와 유전체의 구성 — 유전자의 구조, 조절서열의 위치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1. 유전자의 존재와 유전자의 발현은 다르다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2. 단백질 양을 바꿀 수 있는 모든 단계</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3. Promoter와 operator: 두 종류의 조절서열</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4. Operon: 함께 조절하고 함께 전사하는 단위</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5. Lac operon의 음성 조절: LacI와 allolactose</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6. Lac operon의 양성 조절: cAMP–CAP와 네 조건</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7. Cis 작용 요소와 trans 작용 인자</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8. Trp operon: 생합성 경로의 조절</a:t>
            </a:r>
          </a:p>
          <a:p>
            <a:pPr>
              <a:spcAft>
                <a:spcPts val="900"/>
              </a:spcAft>
            </a:pPr>
            <a:r>
              <a:rPr sz="1800" b="1" i="0">
                <a:solidFill>
                  <a:srgbClr val="F2B705"/>
                </a:solidFill>
                <a:latin typeface="Malgun Gothic"/>
                <a:ea typeface="Malgun Gothic"/>
                <a:cs typeface="Malgun Gothic"/>
              </a:rPr>
              <a:t>9.  </a:t>
            </a:r>
            <a:r>
              <a:rPr sz="1800" b="0" i="0">
                <a:solidFill>
                  <a:srgbClr val="11202B"/>
                </a:solidFill>
                <a:latin typeface="Malgun Gothic"/>
                <a:ea typeface="Malgun Gothic"/>
                <a:cs typeface="Malgun Gothic"/>
              </a:rPr>
              <a:t>9. Attenuation: 전사가 시작된 뒤의 조절</a:t>
            </a:r>
          </a:p>
          <a:p>
            <a:pPr>
              <a:spcAft>
                <a:spcPts val="900"/>
              </a:spcAft>
            </a:pPr>
            <a:r>
              <a:rPr sz="1800" b="1" i="0">
                <a:solidFill>
                  <a:srgbClr val="F2B705"/>
                </a:solidFill>
                <a:latin typeface="Malgun Gothic"/>
                <a:ea typeface="Malgun Gothic"/>
                <a:cs typeface="Malgun Gothic"/>
              </a:rPr>
              <a:t>10.  </a:t>
            </a:r>
            <a:r>
              <a:rPr sz="1800" b="0" i="0">
                <a:solidFill>
                  <a:srgbClr val="11202B"/>
                </a:solidFill>
                <a:latin typeface="Malgun Gothic"/>
                <a:ea typeface="Malgun Gothic"/>
                <a:cs typeface="Malgun Gothic"/>
              </a:rPr>
              <a:t>10. 진핵세포에서 달라지는 네 가지 조건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유전자의 존재와 유전자의 발현은 다르다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사람의 간세포와 신경세포는 거의 같은 유전체를 가지고 있다. 두 세포가 전혀 다른 일을 하는 이유는 가진 유전자가 다르기 때문이 아니라, </a:t>
            </a:r>
            <a:r>
              <a:rPr sz="1400" b="1" i="0">
                <a:solidFill>
                  <a:srgbClr val="11202B"/>
                </a:solidFill>
                <a:latin typeface="Malgun Gothic"/>
                <a:ea typeface="Malgun Gothic"/>
                <a:cs typeface="Malgun Gothic"/>
              </a:rPr>
              <a:t>어떤 유전자를 얼마나 쓰는지가 다르기 때문</a:t>
            </a:r>
            <a:r>
              <a:rPr sz="1400" b="0" i="0">
                <a:solidFill>
                  <a:srgbClr val="11202B"/>
                </a:solidFill>
                <a:latin typeface="Malgun Gothic"/>
                <a:ea typeface="Malgun Gothic"/>
                <a:cs typeface="Malgun Gothic"/>
              </a:rPr>
              <a:t>이다. 간세포는 혈장 단백질인 albumin을 대량으로 만들고, 신경세포는 신호 전달에 필요한 이온 통로와 수용체를 만든다. 두 세포에 albumin 유전자와 이온 통로 유전자가 모두 있지만, 발현되는 쪽이 다르다.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이 단원 전체를 지탱하는 구별을 분명히 해야 한다. </a:t>
            </a:r>
            <a:r>
              <a:rPr sz="1400" b="1" i="0">
                <a:solidFill>
                  <a:srgbClr val="11202B"/>
                </a:solidFill>
                <a:latin typeface="Malgun Gothic"/>
                <a:ea typeface="Malgun Gothic"/>
                <a:cs typeface="Malgun Gothic"/>
              </a:rPr>
              <a:t>유전자가 유전체에 존재하는 것과 그 유전자가 발현되는 것은 별개의 사실이다.</a:t>
            </a:r>
            <a:r>
              <a:rPr sz="1400" b="0" i="0">
                <a:solidFill>
                  <a:srgbClr val="11202B"/>
                </a:solidFill>
                <a:latin typeface="Malgun Gothic"/>
                <a:ea typeface="Malgun Gothic"/>
                <a:cs typeface="Malgun Gothic"/>
              </a:rPr>
              <a:t> 세포 분화에서 달라지는 결정적 요소는 DNA의 염기서열 자체가 아니라 그 정보를 읽는 방식이다.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유전자를 두 종류로 나누어 보면 조절의 범위가 보인다.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항시 발현 유전자(constitutive gene, housekeeping gene)</a:t>
            </a:r>
            <a:r>
              <a:rPr sz="1400" b="0" i="0">
                <a:solidFill>
                  <a:srgbClr val="11202B"/>
                </a:solidFill>
                <a:latin typeface="Malgun Gothic"/>
                <a:ea typeface="Malgun Gothic"/>
                <a:cs typeface="Malgun Gothic"/>
              </a:rPr>
              <a:t>: 모든 세포가 살기 위해 항상 필요한 유전자다. Ribosome 단백질, glycolysis 효소, cytoskeleton 단백질이 여기 속한다. 발현량이 크게 변하지 않는다.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조절 유전자(regulated gene)</a:t>
            </a:r>
            <a:r>
              <a:rPr sz="1400" b="0" i="0">
                <a:solidFill>
                  <a:srgbClr val="11202B"/>
                </a:solidFill>
                <a:latin typeface="Malgun Gothic"/>
                <a:ea typeface="Malgun Gothic"/>
                <a:cs typeface="Malgun Gothic"/>
              </a:rPr>
              <a:t>: 특정 세포, 특정 시기, 특정 조건에서만 발현된다. Albumin, insulin, 면역글로불린, 발달 조절 인자가 여기 속한다.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조절 유전자의 발현이 바뀌어야 하는 상황은 세 가지다. 첫째, </a:t>
            </a:r>
            <a:r>
              <a:rPr sz="1400" b="1" i="0">
                <a:solidFill>
                  <a:srgbClr val="11202B"/>
                </a:solidFill>
                <a:latin typeface="Malgun Gothic"/>
                <a:ea typeface="Malgun Gothic"/>
                <a:cs typeface="Malgun Gothic"/>
              </a:rPr>
              <a:t>환경 변화에 대응할 때</a:t>
            </a:r>
            <a:r>
              <a:rPr sz="1400" b="0" i="0">
                <a:solidFill>
                  <a:srgbClr val="11202B"/>
                </a:solidFill>
                <a:latin typeface="Malgun Gothic"/>
                <a:ea typeface="Malgun Gothic"/>
                <a:cs typeface="Malgun Gothic"/>
              </a:rPr>
              <a:t>다. 세균이 주변의 당이 바뀌면 그 당을 처리하는 효소를 바꾸는 것이 예다. 둘째, </a:t>
            </a:r>
            <a:r>
              <a:rPr sz="1400" b="1" i="0">
                <a:solidFill>
                  <a:srgbClr val="11202B"/>
                </a:solidFill>
                <a:latin typeface="Malgun Gothic"/>
                <a:ea typeface="Malgun Gothic"/>
                <a:cs typeface="Malgun Gothic"/>
              </a:rPr>
              <a:t>세포가 분화할 때</a:t>
            </a:r>
            <a:r>
              <a:rPr sz="1400" b="0" i="0">
                <a:solidFill>
                  <a:srgbClr val="11202B"/>
                </a:solidFill>
                <a:latin typeface="Malgun Gothic"/>
                <a:ea typeface="Malgun Gothic"/>
                <a:cs typeface="Malgun Gothic"/>
              </a:rPr>
              <a:t>다. 한 번 정해진 발현 양상을 세포 분열 뒤에도 유지해야 한다. 셋째, </a:t>
            </a:r>
            <a:r>
              <a:rPr sz="1400" b="1" i="0">
                <a:solidFill>
                  <a:srgbClr val="11202B"/>
                </a:solidFill>
                <a:latin typeface="Malgun Gothic"/>
                <a:ea typeface="Malgun Gothic"/>
                <a:cs typeface="Malgun Gothic"/>
              </a:rPr>
              <a:t>신호를 받았을 때</a:t>
            </a:r>
            <a:r>
              <a:rPr sz="1400" b="0" i="0">
                <a:solidFill>
                  <a:srgbClr val="11202B"/>
                </a:solidFill>
                <a:latin typeface="Malgun Gothic"/>
                <a:ea typeface="Malgun Gothic"/>
                <a:cs typeface="Malgun Gothic"/>
              </a:rPr>
              <a:t>다. 호르몬이나 성장 인자가 도착하면 수 분에서 수 시간 안에 발현이 바뀐다.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유전자의 존재와 유전자의 발현은 다르다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 상황의 시간 규모와 가역성이 다르다는 점이 중요하다. 환경 대응은 빠르고 가역적이어야 하고, 분화는 느리고 안정해야 한다. 이 차이가 뒤에서 볼 조절 기전의 차이로 이어진다. 원핵세포는 주로 첫 번째 과제를 풀고, 진핵세포는 세 과제를 모두 풀어야 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유전자의 존재와 유전자의 발현은 다르다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7</a:t>
            </a:r>
          </a:p>
        </p:txBody>
      </p:sp>
      <p:sp>
        <p:nvSpPr>
          <p:cNvPr id="7" name="Rectangle 6"/>
          <p:cNvSpPr/>
          <p:nvPr/>
        </p:nvSpPr>
        <p:spPr>
          <a:xfrm>
            <a:off x="640080" y="1325880"/>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암세포는 발현 양상이 정상 세포와 다르다. 분화 과정에서 꺼져 있어야 할 태아기 유전자가 다시 켜지고(종양 표지자로 쓰이는 alpha-fetoprotein이 그 예), 세포주기를 멈추는 유전자가 꺼진다. 이 변화의 상당 부분이 염기서열 변이 없이 조절 수준에서 일어난다. 따라서 암을 이해하려면 유전자 목록이 아니라 발현 양상을 보아야 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유전자의 존재와 유전자의 발현은 다르다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8</a:t>
            </a:r>
          </a:p>
        </p:txBody>
      </p:sp>
      <p:pic>
        <p:nvPicPr>
          <p:cNvPr id="7" name="Picture 6" descr="fig-gene-vs-expression.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같은 유전체를 가진 세포가 다른 일을 하는 이유. 간세포와 신경세포에서 동일한 유전자 집합 가운데 발현되는 유전자가 다르다는 점, 항시 발현 유전자와 조절 유전자의 구분, 그리고 발현이 바뀌어야 하는 세 상황의 시간 규모를 함께 보인다.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단백질 양을 바꿀 수 있는 모든 단계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단백질 유전자의 산물이 기능하기까지는 여러 단계를 거친다. 각 단계가 모두 조절 지점이 될 수 있으므로, 조절을 공부할 때는 먼저 전체 단계를 늘어놓고 어느 단계를 다루는지 지정해야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Chromatin 상태</a:t>
            </a:r>
            <a:r>
              <a:rPr sz="1400" b="0" i="0">
                <a:solidFill>
                  <a:srgbClr val="11202B"/>
                </a:solidFill>
                <a:latin typeface="Malgun Gothic"/>
                <a:ea typeface="Malgun Gothic"/>
                <a:cs typeface="Malgun Gothic"/>
              </a:rPr>
              <a:t>: 진핵세포에서 DNA가 histone과 결합한 상태가 전사 기계의 접근 가능성을 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전사 개시</a:t>
            </a:r>
            <a:r>
              <a:rPr sz="1400" b="0" i="0">
                <a:solidFill>
                  <a:srgbClr val="11202B"/>
                </a:solidFill>
                <a:latin typeface="Malgun Gothic"/>
                <a:ea typeface="Malgun Gothic"/>
                <a:cs typeface="Malgun Gothic"/>
              </a:rPr>
              <a:t>: RNA polymerase가 promoter에 자리 잡고 RNA 합성을 시작하는 빈도다.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전사 신장과 종결</a:t>
            </a:r>
            <a:r>
              <a:rPr sz="1400" b="0" i="0">
                <a:solidFill>
                  <a:srgbClr val="11202B"/>
                </a:solidFill>
                <a:latin typeface="Malgun Gothic"/>
                <a:ea typeface="Malgun Gothic"/>
                <a:cs typeface="Malgun Gothic"/>
              </a:rPr>
              <a:t>: 시작한 polymerase가 끝까지 진행하는 비율, 그리고 중간에서 끝나는지 여부다.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RNA 가공</a:t>
            </a:r>
            <a:r>
              <a:rPr sz="1400" b="0" i="0">
                <a:solidFill>
                  <a:srgbClr val="11202B"/>
                </a:solidFill>
                <a:latin typeface="Malgun Gothic"/>
                <a:ea typeface="Malgun Gothic"/>
                <a:cs typeface="Malgun Gothic"/>
              </a:rPr>
              <a:t>: Capping, splicing, polyadenylation. 특히 대체 splicing은 하나의 유전자에서 여러 단백질을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a:t>
            </a:r>
            <a:r>
              <a:rPr sz="1400" b="1" i="0">
                <a:solidFill>
                  <a:srgbClr val="11202B"/>
                </a:solidFill>
                <a:latin typeface="Malgun Gothic"/>
                <a:ea typeface="Malgun Gothic"/>
                <a:cs typeface="Malgun Gothic"/>
              </a:rPr>
              <a:t>RNA 수송과 국소화</a:t>
            </a:r>
            <a:r>
              <a:rPr sz="1400" b="0" i="0">
                <a:solidFill>
                  <a:srgbClr val="11202B"/>
                </a:solidFill>
                <a:latin typeface="Malgun Gothic"/>
                <a:ea typeface="Malgun Gothic"/>
                <a:cs typeface="Malgun Gothic"/>
              </a:rPr>
              <a:t>: 핵에서 세포질로 나가는지, 세포 안의 어느 위치로 가는지다.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6. </a:t>
            </a:r>
            <a:r>
              <a:rPr sz="1400" b="1" i="0">
                <a:solidFill>
                  <a:srgbClr val="11202B"/>
                </a:solidFill>
                <a:latin typeface="Malgun Gothic"/>
                <a:ea typeface="Malgun Gothic"/>
                <a:cs typeface="Malgun Gothic"/>
              </a:rPr>
              <a:t>RNA 안정성</a:t>
            </a:r>
            <a:r>
              <a:rPr sz="1400" b="0" i="0">
                <a:solidFill>
                  <a:srgbClr val="11202B"/>
                </a:solidFill>
                <a:latin typeface="Malgun Gothic"/>
                <a:ea typeface="Malgun Gothic"/>
                <a:cs typeface="Malgun Gothic"/>
              </a:rPr>
              <a:t>: mRNA의 반감기다. 같은 양이 만들어져도 빨리 분해되면 쌓이지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7. </a:t>
            </a:r>
            <a:r>
              <a:rPr sz="1400" b="1" i="0">
                <a:solidFill>
                  <a:srgbClr val="11202B"/>
                </a:solidFill>
                <a:latin typeface="Malgun Gothic"/>
                <a:ea typeface="Malgun Gothic"/>
                <a:cs typeface="Malgun Gothic"/>
              </a:rPr>
              <a:t>번역 개시</a:t>
            </a:r>
            <a:r>
              <a:rPr sz="1400" b="0" i="0">
                <a:solidFill>
                  <a:srgbClr val="11202B"/>
                </a:solidFill>
                <a:latin typeface="Malgun Gothic"/>
                <a:ea typeface="Malgun Gothic"/>
                <a:cs typeface="Malgun Gothic"/>
              </a:rPr>
              <a:t>: 같은 mRNA에서 번역을 얼마나 자주 시작하는지다.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8. </a:t>
            </a:r>
            <a:r>
              <a:rPr sz="1400" b="1" i="0">
                <a:solidFill>
                  <a:srgbClr val="11202B"/>
                </a:solidFill>
                <a:latin typeface="Malgun Gothic"/>
                <a:ea typeface="Malgun Gothic"/>
                <a:cs typeface="Malgun Gothic"/>
              </a:rPr>
              <a:t>번역 후 수식과 단백질 분해</a:t>
            </a:r>
            <a:r>
              <a:rPr sz="1400" b="0" i="0">
                <a:solidFill>
                  <a:srgbClr val="11202B"/>
                </a:solidFill>
                <a:latin typeface="Malgun Gothic"/>
                <a:ea typeface="Malgun Gothic"/>
                <a:cs typeface="Malgun Gothic"/>
              </a:rPr>
              <a:t>: 활성화, 수식, 그리고 ubiquitin-proteasome 경로에 의한 선택적 분해다.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가운데 </a:t>
            </a:r>
            <a:r>
              <a:rPr sz="1400" b="1" i="0">
                <a:solidFill>
                  <a:srgbClr val="11202B"/>
                </a:solidFill>
                <a:latin typeface="Malgun Gothic"/>
                <a:ea typeface="Malgun Gothic"/>
                <a:cs typeface="Malgun Gothic"/>
              </a:rPr>
              <a:t>전사 개시</a:t>
            </a:r>
            <a:r>
              <a:rPr sz="1400" b="0" i="0">
                <a:solidFill>
                  <a:srgbClr val="11202B"/>
                </a:solidFill>
                <a:latin typeface="Malgun Gothic"/>
                <a:ea typeface="Malgun Gothic"/>
                <a:cs typeface="Malgun Gothic"/>
              </a:rPr>
              <a:t>가 가장 널리 쓰이는 주된 조절 지점이다. 이유는 </a:t>
            </a:r>
            <a:r>
              <a:rPr sz="1400" b="1" i="0">
                <a:solidFill>
                  <a:srgbClr val="11202B"/>
                </a:solidFill>
                <a:latin typeface="Malgun Gothic"/>
                <a:ea typeface="Malgun Gothic"/>
                <a:cs typeface="Malgun Gothic"/>
              </a:rPr>
              <a:t>자원 절약</a:t>
            </a:r>
            <a:r>
              <a:rPr sz="1400" b="0" i="0">
                <a:solidFill>
                  <a:srgbClr val="11202B"/>
                </a:solidFill>
                <a:latin typeface="Malgun Gothic"/>
                <a:ea typeface="Malgun Gothic"/>
                <a:cs typeface="Malgun Gothic"/>
              </a:rPr>
              <a:t>에서 나온다. 어떤 효소가 필요하지 않은 상황을 생각해 보자. 그 효소의 mRNA를 만들지 않으면 번역에 쓸 주형이 없으므로 아미노산과 ATP도 쓰이지 않는다. 가장 앞 단계에서 끄는 것이 뒤따르는 모든 비용을 함께 줄인다.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단백질 양을 바꿀 수 있는 모든 단계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반대로 뒤쪽 단계의 조절은 다른 이점이 있다. 이미 만들어 둔 mRNA나 단백질을 쓰면 </a:t>
            </a:r>
            <a:r>
              <a:rPr sz="2000" b="1" i="0">
                <a:solidFill>
                  <a:srgbClr val="11202B"/>
                </a:solidFill>
                <a:latin typeface="Malgun Gothic"/>
                <a:ea typeface="Malgun Gothic"/>
                <a:cs typeface="Malgun Gothic"/>
              </a:rPr>
              <a:t>빠르다.</a:t>
            </a:r>
            <a:r>
              <a:rPr sz="2000" b="0" i="0">
                <a:solidFill>
                  <a:srgbClr val="11202B"/>
                </a:solidFill>
                <a:latin typeface="Malgun Gothic"/>
                <a:ea typeface="Malgun Gothic"/>
                <a:cs typeface="Malgun Gothic"/>
              </a:rPr>
              <a:t> 전사부터 시작하면 수십 분이 걸리지만, 저장된 mRNA의 번역을 켜거나 저장된 단백질을 활성화하면 수 초에서 수 분이다. 난자가 수정 직후 전사 없이 저장된 mRNA로 분열을 시작하는 것이 극단적인 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단백질 양을 바꿀 수 있는 모든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11</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조절 단계의 선택에는 </a:t>
            </a:r>
            <a:r>
              <a:rPr sz="1600" b="1" i="0">
                <a:solidFill>
                  <a:srgbClr val="11202B"/>
                </a:solidFill>
                <a:latin typeface="Malgun Gothic"/>
                <a:ea typeface="Malgun Gothic"/>
                <a:cs typeface="Malgun Gothic"/>
              </a:rPr>
              <a:t>비용과 속도의 교환</a:t>
            </a:r>
            <a:r>
              <a:rPr sz="1600" b="0" i="0">
                <a:solidFill>
                  <a:srgbClr val="11202B"/>
                </a:solidFill>
                <a:latin typeface="Malgun Gothic"/>
                <a:ea typeface="Malgun Gothic"/>
                <a:cs typeface="Malgun Gothic"/>
              </a:rPr>
              <a:t>이 있다. 앞 단계는 경제적이고 뒷 단계는 빠르다. 세포가 어느 단계에서 조절하는지를 보면 그 유전자에 요구되는 성질을 짐작할 수 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단백질 양을 바꿀 수 있는 모든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12</a:t>
            </a:r>
          </a:p>
        </p:txBody>
      </p:sp>
      <p:pic>
        <p:nvPicPr>
          <p:cNvPr id="7" name="Picture 6" descr="fig-regulation-levels.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유전자 발현 조절이 가능한 여덟 단계와 각 단계의 성질. 전사 개시가 주된 조절 지점이 되는 자원 절약의 논리, 그리고 뒤쪽 단계가 가지는 속도의 이점을 비용–속도 교환으로 함께 보인다.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Promoter와 operator: 두 종류의 조절서열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전사 개시를 조절하려면 먼저 전사가 어디서 시작하는지를 정해야 한다. 그 자리를 지정하는 DNA 서열이 </a:t>
            </a:r>
            <a:r>
              <a:rPr sz="1600" b="1" i="0">
                <a:solidFill>
                  <a:srgbClr val="11202B"/>
                </a:solidFill>
                <a:latin typeface="Malgun Gothic"/>
                <a:ea typeface="Malgun Gothic"/>
                <a:cs typeface="Malgun Gothic"/>
              </a:rPr>
              <a:t>promoter</a:t>
            </a:r>
            <a:r>
              <a:rPr sz="1600" b="0" i="0">
                <a:solidFill>
                  <a:srgbClr val="11202B"/>
                </a:solidFill>
                <a:latin typeface="Malgun Gothic"/>
                <a:ea typeface="Malgun Gothic"/>
                <a:cs typeface="Malgun Gothic"/>
              </a:rPr>
              <a:t>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Promoter는 전사 개시점 주변에 있는 서열이며, RNA polymerase가 인식하는 자리다. 세균에서는 RNA polymerase의 </a:t>
            </a:r>
            <a:r>
              <a:rPr sz="1600" b="1" i="0">
                <a:solidFill>
                  <a:srgbClr val="11202B"/>
                </a:solidFill>
                <a:latin typeface="Malgun Gothic"/>
                <a:ea typeface="Malgun Gothic"/>
                <a:cs typeface="Malgun Gothic"/>
              </a:rPr>
              <a:t>σ 인자</a:t>
            </a:r>
            <a:r>
              <a:rPr sz="1600" b="0" i="0">
                <a:solidFill>
                  <a:srgbClr val="11202B"/>
                </a:solidFill>
                <a:latin typeface="Malgun Gothic"/>
                <a:ea typeface="Malgun Gothic"/>
                <a:cs typeface="Malgun Gothic"/>
              </a:rPr>
              <a:t>가 promoter를 인식한다. 대장균의 대표적인 promoter는 전사 개시점에서 상류 10 염기 부근(−10)과 35 염기 부근(−35)에 보존된 서열을 가진다. Promoter 서열이 이상적인 서열에 가까울수록 전사 개시가 자주 일어난다.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여기서 중요한 구별이 있다. </a:t>
            </a:r>
            <a:r>
              <a:rPr sz="1600" b="1" i="0">
                <a:solidFill>
                  <a:srgbClr val="11202B"/>
                </a:solidFill>
                <a:latin typeface="Malgun Gothic"/>
                <a:ea typeface="Malgun Gothic"/>
                <a:cs typeface="Malgun Gothic"/>
              </a:rPr>
              <a:t>Promoter는 단백질을 암호화하지 않는다.</a:t>
            </a:r>
            <a:r>
              <a:rPr sz="1600" b="0" i="0">
                <a:solidFill>
                  <a:srgbClr val="11202B"/>
                </a:solidFill>
                <a:latin typeface="Malgun Gothic"/>
                <a:ea typeface="Malgun Gothic"/>
                <a:cs typeface="Malgun Gothic"/>
              </a:rPr>
              <a:t> 효소의 아미노산 서열을 지정하는 대신, 그 효소의 mRNA 합성을 어디서 시작할지를 정하는 데 관여한다. 즉 정보의 종류가 다르다.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두 번째 조절서열이 </a:t>
            </a:r>
            <a:r>
              <a:rPr sz="1600" b="1" i="0">
                <a:solidFill>
                  <a:srgbClr val="11202B"/>
                </a:solidFill>
                <a:latin typeface="Malgun Gothic"/>
                <a:ea typeface="Malgun Gothic"/>
                <a:cs typeface="Malgun Gothic"/>
              </a:rPr>
              <a:t>operator</a:t>
            </a:r>
            <a:r>
              <a:rPr sz="1600" b="0" i="0">
                <a:solidFill>
                  <a:srgbClr val="11202B"/>
                </a:solidFill>
                <a:latin typeface="Malgun Gothic"/>
                <a:ea typeface="Malgun Gothic"/>
                <a:cs typeface="Malgun Gothic"/>
              </a:rPr>
              <a:t>다. Operator는 조절 단백질이 인식하는 특정 DNA 서열이며, 보통 promoter 주변에 있다. 조절 단백질이 operator를 차지하면 RNA polymerase가 전사를 시작하는 과정이 방해받는다.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Promoter와 operator는 둘 다 DNA의 일부지만 </a:t>
            </a:r>
            <a:r>
              <a:rPr sz="1600" b="1" i="0">
                <a:solidFill>
                  <a:srgbClr val="11202B"/>
                </a:solidFill>
                <a:latin typeface="Malgun Gothic"/>
                <a:ea typeface="Malgun Gothic"/>
                <a:cs typeface="Malgun Gothic"/>
              </a:rPr>
              <a:t>결합하는 단백질과 기능이 다르다.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Promoter와 operator: 두 종류의 조절서열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구분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Promoter</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Operator</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결합하는 분자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RNA polymerase (σ 인자)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조절 단백질 (억제인자 등)</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기능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전사 개시 위치의 지정</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전사 개시 빈도의 조절</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서열이 좋을 때의 결과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전사가 자주 시작된다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조절 단백질이 잘 결합한다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변이의 결과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전사량이 전반적으로 변한다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조절에 대한 반응이 변한다</a:t>
                      </a:r>
                    </a:p>
                  </a:txBody>
                  <a:tcPr marL="73152" marR="73152" marT="27432" marB="27432">
                    <a:solidFill>
                      <a:srgbClr val="EFF4F8"/>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Promoter와 operator: 두 종류의 조절서열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용어를 하나 더 확정해야 한다. </a:t>
            </a:r>
            <a:r>
              <a:rPr sz="2000" b="1" i="0">
                <a:solidFill>
                  <a:srgbClr val="11202B"/>
                </a:solidFill>
                <a:latin typeface="Malgun Gothic"/>
                <a:ea typeface="Malgun Gothic"/>
                <a:cs typeface="Malgun Gothic"/>
              </a:rPr>
              <a:t>전사 개시점(transcription start site)</a:t>
            </a:r>
            <a:r>
              <a:rPr sz="2000" b="0" i="0">
                <a:solidFill>
                  <a:srgbClr val="11202B"/>
                </a:solidFill>
                <a:latin typeface="Malgun Gothic"/>
                <a:ea typeface="Malgun Gothic"/>
                <a:cs typeface="Malgun Gothic"/>
              </a:rPr>
              <a:t> 은 RNA 합성이 실제로 시작되는 염기의 위치이며, 그 염기를 +1로 삼는다. 상류는 음수, 하류는 양수로 표시한다. Promoter의 −10, −35는 이 좌표계에서의 위치다.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Promoter와 operator: 두 종류의 조절서열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16</a:t>
            </a:r>
          </a:p>
        </p:txBody>
      </p:sp>
      <p:pic>
        <p:nvPicPr>
          <p:cNvPr id="7" name="Picture 6" descr="fig-promoter.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Promoter와 operator의 위치와 결합 분자. 전사 개시점을 +1로 삼는 좌표계, 세균 promoter의 −10·−35 보존 서열, σ 인자에 의한 인식, 그리고 operator에 조절 단백질이 결합해 전사 개시를 방해하는 관계를 함께 보인다.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Operon: 함께 조절하고 함께 전사하는 단위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세균이 젖당(lactose)을 이용하려면 두 가지 일이 모두 필요하다. 젖당을 세포 안으로 들여오는 일과, 들어온 젖당을 더 작은 당으로 분해하는 일이다. 분해 효소만 있고 수송체가 없으면 기질이 들어오지 못하고, 수송체만 있고 효소가 없으면 들어온 기질을 쓰지 못한다. </a:t>
            </a:r>
            <a:r>
              <a:rPr sz="1400" b="1" i="0">
                <a:solidFill>
                  <a:srgbClr val="11202B"/>
                </a:solidFill>
                <a:latin typeface="Malgun Gothic"/>
                <a:ea typeface="Malgun Gothic"/>
                <a:cs typeface="Malgun Gothic"/>
              </a:rPr>
              <a:t>함께 있어야 쓸모가 있는 기능</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이런 기능을 묶어 발현하는 방식이 </a:t>
            </a:r>
            <a:r>
              <a:rPr sz="1400" b="1" i="0">
                <a:solidFill>
                  <a:srgbClr val="11202B"/>
                </a:solidFill>
                <a:latin typeface="Malgun Gothic"/>
                <a:ea typeface="Malgun Gothic"/>
                <a:cs typeface="Malgun Gothic"/>
              </a:rPr>
              <a:t>operon</a:t>
            </a:r>
            <a:r>
              <a:rPr sz="1400" b="0" i="0">
                <a:solidFill>
                  <a:srgbClr val="11202B"/>
                </a:solidFill>
                <a:latin typeface="Malgun Gothic"/>
                <a:ea typeface="Malgun Gothic"/>
                <a:cs typeface="Malgun Gothic"/>
              </a:rPr>
              <a:t>이다. Operon은 하나의 promoter에서 함께 전사되고 함께 조절되는 유전자들의 단위다. RNA polymerase가 공통 promoter에서 출발해 여러 유전자를 이어서 전사하므로, 만들어진 하나의 mRNA에 서로 다른 단백질을 만드는 정보가 여러 개 들어 있다. 이를 </a:t>
            </a:r>
            <a:r>
              <a:rPr sz="1400" b="1" i="0">
                <a:solidFill>
                  <a:srgbClr val="11202B"/>
                </a:solidFill>
                <a:latin typeface="Malgun Gothic"/>
                <a:ea typeface="Malgun Gothic"/>
                <a:cs typeface="Malgun Gothic"/>
              </a:rPr>
              <a:t>polycistronic mRNA</a:t>
            </a:r>
            <a:r>
              <a:rPr sz="1400" b="0" i="0">
                <a:solidFill>
                  <a:srgbClr val="11202B"/>
                </a:solidFill>
                <a:latin typeface="Malgun Gothic"/>
                <a:ea typeface="Malgun Gothic"/>
                <a:cs typeface="Malgun Gothic"/>
              </a:rPr>
              <a:t>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Lac operon의 구성은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lacZ</a:t>
            </a:r>
            <a:r>
              <a:rPr sz="1400" b="0" i="0">
                <a:solidFill>
                  <a:srgbClr val="11202B"/>
                </a:solidFill>
                <a:latin typeface="Malgun Gothic"/>
                <a:ea typeface="Malgun Gothic"/>
                <a:cs typeface="Malgun Gothic"/>
              </a:rPr>
              <a:t>: β-galactosidase를 만든다. 젖당을 glucose와 galactose로 분해한다.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lacY</a:t>
            </a:r>
            <a:r>
              <a:rPr sz="1400" b="0" i="0">
                <a:solidFill>
                  <a:srgbClr val="11202B"/>
                </a:solidFill>
                <a:latin typeface="Malgun Gothic"/>
                <a:ea typeface="Malgun Gothic"/>
                <a:cs typeface="Malgun Gothic"/>
              </a:rPr>
              <a:t>: permease를 만든다. 막에서 젖당의 유입을 돕는다.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lacA</a:t>
            </a:r>
            <a:r>
              <a:rPr sz="1400" b="0" i="0">
                <a:solidFill>
                  <a:srgbClr val="11202B"/>
                </a:solidFill>
                <a:latin typeface="Malgun Gothic"/>
                <a:ea typeface="Malgun Gothic"/>
                <a:cs typeface="Malgun Gothic"/>
              </a:rPr>
              <a:t>: transacetylase를 만든다. 일부 thiogalactoside에 acetyl기를 붙이며, 젖당 이용의 주된 경로는 아니다.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유전자가 하나의 전사 단위에 배열되어 있다. 조절 기전을 이해할 때는 LacZ와 LacY를 중심으로 보면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여기에 네 번째 유전자가 관여하지만 성질이 다르다. </a:t>
            </a:r>
            <a:r>
              <a:rPr sz="1400" b="1" i="0">
                <a:solidFill>
                  <a:srgbClr val="11202B"/>
                </a:solidFill>
                <a:latin typeface="Malgun Gothic"/>
                <a:ea typeface="Malgun Gothic"/>
                <a:cs typeface="Malgun Gothic"/>
              </a:rPr>
              <a:t>lacI</a:t>
            </a:r>
            <a:r>
              <a:rPr sz="1400" b="0" i="0">
                <a:solidFill>
                  <a:srgbClr val="11202B"/>
                </a:solidFill>
                <a:latin typeface="Malgun Gothic"/>
                <a:ea typeface="Malgun Gothic"/>
                <a:cs typeface="Malgun Gothic"/>
              </a:rPr>
              <a:t>는 operon 바깥에서 별도의 promoter로 발현되며, </a:t>
            </a:r>
            <a:r>
              <a:rPr sz="1400" b="1" i="0">
                <a:solidFill>
                  <a:srgbClr val="11202B"/>
                </a:solidFill>
                <a:latin typeface="Malgun Gothic"/>
                <a:ea typeface="Malgun Gothic"/>
                <a:cs typeface="Malgun Gothic"/>
              </a:rPr>
              <a:t>LacI 억제 단백질</a:t>
            </a:r>
            <a:r>
              <a:rPr sz="1400" b="0" i="0">
                <a:solidFill>
                  <a:srgbClr val="11202B"/>
                </a:solidFill>
                <a:latin typeface="Malgun Gothic"/>
                <a:ea typeface="Malgun Gothic"/>
                <a:cs typeface="Malgun Gothic"/>
              </a:rPr>
              <a:t>을 만든다. LacI는 젖당을 분해하는 효소가 아니라 lac operon의 DNA에 결합해 전사를 억제하는 조절 단백질이다. 즉 </a:t>
            </a:r>
            <a:r>
              <a:rPr sz="1400" b="1" i="0">
                <a:solidFill>
                  <a:srgbClr val="11202B"/>
                </a:solidFill>
                <a:latin typeface="Malgun Gothic"/>
                <a:ea typeface="Malgun Gothic"/>
                <a:cs typeface="Malgun Gothic"/>
              </a:rPr>
              <a:t>산물을 생산하는 유전자와 생산량을 조절하는 유전자가 구분된다.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Operon: 함께 조절하고 함께 전사하는 단위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표기 관례도 확정해 두어야 한다. </a:t>
            </a:r>
            <a:r>
              <a:rPr sz="1800" b="1" i="0">
                <a:solidFill>
                  <a:srgbClr val="11202B"/>
                </a:solidFill>
                <a:latin typeface="Malgun Gothic"/>
                <a:ea typeface="Malgun Gothic"/>
                <a:cs typeface="Malgun Gothic"/>
              </a:rPr>
              <a:t>기울임체 소문자(lacI, lacZ)는 유전자, 머리글자가 대문자인 것(LacI, LacZ)은 그 유전자가 만드는 단백질</a:t>
            </a:r>
            <a:r>
              <a:rPr sz="1800" b="0" i="0">
                <a:solidFill>
                  <a:srgbClr val="11202B"/>
                </a:solidFill>
                <a:latin typeface="Malgun Gothic"/>
                <a:ea typeface="Malgun Gothic"/>
                <a:cs typeface="Malgun Gothic"/>
              </a:rPr>
              <a:t>이다. 이 관례는 세균 유전학 전체에서 쓰인다.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Operon 방식의 이점은 </a:t>
            </a:r>
            <a:r>
              <a:rPr sz="1800" b="1" i="0">
                <a:solidFill>
                  <a:srgbClr val="11202B"/>
                </a:solidFill>
                <a:latin typeface="Malgun Gothic"/>
                <a:ea typeface="Malgun Gothic"/>
                <a:cs typeface="Malgun Gothic"/>
              </a:rPr>
              <a:t>동시 조절(coordinate regulation)</a:t>
            </a:r>
            <a:r>
              <a:rPr sz="1800" b="0" i="0">
                <a:solidFill>
                  <a:srgbClr val="11202B"/>
                </a:solidFill>
                <a:latin typeface="Malgun Gothic"/>
                <a:ea typeface="Malgun Gothic"/>
                <a:cs typeface="Malgun Gothic"/>
              </a:rPr>
              <a:t> 이다. 하나의 신호로 여러 유전자를 함께 켜고 끌 수 있다. 다만 각 단백질의 최종 양이 반드시 같아지는 것은 아니다. 하나의 mRNA에서도 각 번역 개시 자리의 효율이 다르고, 각 단백질의 반감기도 다르기 때문이다.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진핵세포에는 operon이 거의 없다. 대신 각 유전자가 자신의 promoter를 가지고 따로 전사되며, 함께 발현되어야 하는 유전자들은 </a:t>
            </a:r>
            <a:r>
              <a:rPr sz="1800" b="1" i="0">
                <a:solidFill>
                  <a:srgbClr val="11202B"/>
                </a:solidFill>
                <a:latin typeface="Malgun Gothic"/>
                <a:ea typeface="Malgun Gothic"/>
                <a:cs typeface="Malgun Gothic"/>
              </a:rPr>
              <a:t>같은 전사인자가 인식하는 조절서열을 공유</a:t>
            </a:r>
            <a:r>
              <a:rPr sz="1800" b="0" i="0">
                <a:solidFill>
                  <a:srgbClr val="11202B"/>
                </a:solidFill>
                <a:latin typeface="Malgun Gothic"/>
                <a:ea typeface="Malgun Gothic"/>
                <a:cs typeface="Malgun Gothic"/>
              </a:rPr>
              <a:t>하는 방식으로 묶인다. 같은 목표를 다른 방식으로 달성한다.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Operon: 함께 조절하고 함께 전사하는 단위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19</a:t>
            </a:r>
          </a:p>
        </p:txBody>
      </p:sp>
      <p:pic>
        <p:nvPicPr>
          <p:cNvPr id="7" name="Picture 6" descr="fig-operon.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Operon의 구조와 동시 조절. Lac operon의 lacZ·lacY·lacA 배열과 공통 promoter, polycistronic mRNA, 별도의 promoter를 가진 lacI, 유전자와 단백질의 표기 관례, 그리고 진핵세포가 같은 목표를 조절서열 공유로 달성하는 방식을 함께 보인다.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Lac operon의 음성 조절: LacI와 allolactose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젖당이 없는 조건에서 lac operon의 전사는 낮다. 기전은 다음과 같다. 세포 안에 이미 존재하는 </a:t>
            </a:r>
            <a:r>
              <a:rPr sz="1400" b="1" i="0">
                <a:solidFill>
                  <a:srgbClr val="11202B"/>
                </a:solidFill>
                <a:latin typeface="Malgun Gothic"/>
                <a:ea typeface="Malgun Gothic"/>
                <a:cs typeface="Malgun Gothic"/>
              </a:rPr>
              <a:t>LacI가 operator에 결합해</a:t>
            </a:r>
            <a:r>
              <a:rPr sz="1400" b="0" i="0">
                <a:solidFill>
                  <a:srgbClr val="11202B"/>
                </a:solidFill>
                <a:latin typeface="Malgun Gothic"/>
                <a:ea typeface="Malgun Gothic"/>
                <a:cs typeface="Malgun Gothic"/>
              </a:rPr>
              <a:t> RNA polymerase의 전사 개시를 방해한다. 젖당을 처리하는 단백질을 많이 만들 필요가 없는 상태가 유지된다.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LacI가 젖당이 들어온 뒤에 비로소 만들어지는 단백질이 아니라는 점에 주의해야 한다. LacI는 상시 발현되어 있고, 조절은 </a:t>
            </a:r>
            <a:r>
              <a:rPr sz="1400" b="1" i="0">
                <a:solidFill>
                  <a:srgbClr val="11202B"/>
                </a:solidFill>
                <a:latin typeface="Malgun Gothic"/>
                <a:ea typeface="Malgun Gothic"/>
                <a:cs typeface="Malgun Gothic"/>
              </a:rPr>
              <a:t>이미 있는 LacI가 DNA에 붙어 있는지 떨어져 있는지</a:t>
            </a:r>
            <a:r>
              <a:rPr sz="1400" b="0" i="0">
                <a:solidFill>
                  <a:srgbClr val="11202B"/>
                </a:solidFill>
                <a:latin typeface="Malgun Gothic"/>
                <a:ea typeface="Malgun Gothic"/>
                <a:cs typeface="Malgun Gothic"/>
              </a:rPr>
              <a:t>로 결정된다.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젖당이 들어오면 어떻게 신호가 전달되는가. 중요한 점은 </a:t>
            </a:r>
            <a:r>
              <a:rPr sz="1400" b="1" i="0">
                <a:solidFill>
                  <a:srgbClr val="11202B"/>
                </a:solidFill>
                <a:latin typeface="Malgun Gothic"/>
                <a:ea typeface="Malgun Gothic"/>
                <a:cs typeface="Malgun Gothic"/>
              </a:rPr>
              <a:t>젖당 자체가 LacI에 작용하는 신호가 아니라는 것</a:t>
            </a:r>
            <a:r>
              <a:rPr sz="1400" b="0" i="0">
                <a:solidFill>
                  <a:srgbClr val="11202B"/>
                </a:solidFill>
                <a:latin typeface="Malgun Gothic"/>
                <a:ea typeface="Malgun Gothic"/>
                <a:cs typeface="Malgun Gothic"/>
              </a:rPr>
              <a:t>이다. 세포 안에 들어온 젖당의 일부가 LacZ의 작용으로 </a:t>
            </a:r>
            <a:r>
              <a:rPr sz="1400" b="1" i="0">
                <a:solidFill>
                  <a:srgbClr val="11202B"/>
                </a:solidFill>
                <a:latin typeface="Malgun Gothic"/>
                <a:ea typeface="Malgun Gothic"/>
                <a:cs typeface="Malgun Gothic"/>
              </a:rPr>
              <a:t>allolactose</a:t>
            </a:r>
            <a:r>
              <a:rPr sz="1400" b="0" i="0">
                <a:solidFill>
                  <a:srgbClr val="11202B"/>
                </a:solidFill>
                <a:latin typeface="Malgun Gothic"/>
                <a:ea typeface="Malgun Gothic"/>
                <a:cs typeface="Malgun Gothic"/>
              </a:rPr>
              <a:t>로 바뀌고, 이 allolactose가 LacI에 결합한다. Allolactose의 결합이 LacI의 구조를 바꾸어 DNA 결합 능력을 떨어뜨리고, LacI가 operator에서 떨어진다. 작은 분자의 결합이 단백질의 구조를 바꾸어 기능을 바꾸는 이 방식이 </a:t>
            </a:r>
            <a:r>
              <a:rPr sz="1400" b="1" i="0">
                <a:solidFill>
                  <a:srgbClr val="11202B"/>
                </a:solidFill>
                <a:latin typeface="Malgun Gothic"/>
                <a:ea typeface="Malgun Gothic"/>
                <a:cs typeface="Malgun Gothic"/>
              </a:rPr>
              <a:t>allosteric 조절</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하나의 순환 문제가 생긴다. 젖당을 들여오려면 LacY가 필요하고 allolactose를 만들려면 LacZ가 필요한데, 둘 다 lac operon의 산물이다. 억제되어 있다면 처음 신호를 만들 수 없다. 해결은 </a:t>
            </a:r>
            <a:r>
              <a:rPr sz="1400" b="1" i="0">
                <a:solidFill>
                  <a:srgbClr val="11202B"/>
                </a:solidFill>
                <a:latin typeface="Malgun Gothic"/>
                <a:ea typeface="Malgun Gothic"/>
                <a:cs typeface="Malgun Gothic"/>
              </a:rPr>
              <a:t>기저 발현(basal expression)</a:t>
            </a:r>
            <a:r>
              <a:rPr sz="1400" b="0" i="0">
                <a:solidFill>
                  <a:srgbClr val="11202B"/>
                </a:solidFill>
                <a:latin typeface="Malgun Gothic"/>
                <a:ea typeface="Malgun Gothic"/>
                <a:cs typeface="Malgun Gothic"/>
              </a:rPr>
              <a:t> 이다. '억제'는 발현이 0이라는 뜻이 아니라 매우 낮다는 뜻이고, 이 소량의 LacY와 LacZ가 유도의 출발점을 제공한다. 억제가 풀리면 두 단백질이 크게 늘어나고 젖당 이용 능력이 커진다.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Lac operon의 음성 조절: LacI와 allolactose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용어를 정확히 써야 하는 지점이 있다. 이 조절을 </a:t>
            </a:r>
            <a:r>
              <a:rPr sz="1800" b="1" i="0">
                <a:solidFill>
                  <a:srgbClr val="11202B"/>
                </a:solidFill>
                <a:latin typeface="Malgun Gothic"/>
                <a:ea typeface="Malgun Gothic"/>
                <a:cs typeface="Malgun Gothic"/>
              </a:rPr>
              <a:t>음성 조절(negative control)</a:t>
            </a:r>
            <a:r>
              <a:rPr sz="1800" b="0" i="0">
                <a:solidFill>
                  <a:srgbClr val="11202B"/>
                </a:solidFill>
                <a:latin typeface="Malgun Gothic"/>
                <a:ea typeface="Malgun Gothic"/>
                <a:cs typeface="Malgun Gothic"/>
              </a:rPr>
              <a:t> 이라 부른다. 조절인자인 LacI의 </a:t>
            </a:r>
            <a:r>
              <a:rPr sz="1800" b="1" i="0">
                <a:solidFill>
                  <a:srgbClr val="11202B"/>
                </a:solidFill>
                <a:latin typeface="Malgun Gothic"/>
                <a:ea typeface="Malgun Gothic"/>
                <a:cs typeface="Malgun Gothic"/>
              </a:rPr>
              <a:t>직접 작용이 전사를 감소시키기</a:t>
            </a:r>
            <a:r>
              <a:rPr sz="1800" b="0" i="0">
                <a:solidFill>
                  <a:srgbClr val="11202B"/>
                </a:solidFill>
                <a:latin typeface="Malgun Gothic"/>
                <a:ea typeface="Malgun Gothic"/>
                <a:cs typeface="Malgun Gothic"/>
              </a:rPr>
              <a:t> 때문이다. Allolactose가 발현을 올리지만, allolactose가 하는 일은 억제를 </a:t>
            </a:r>
            <a:r>
              <a:rPr sz="1800" b="1" i="0">
                <a:solidFill>
                  <a:srgbClr val="11202B"/>
                </a:solidFill>
                <a:latin typeface="Malgun Gothic"/>
                <a:ea typeface="Malgun Gothic"/>
                <a:cs typeface="Malgun Gothic"/>
              </a:rPr>
              <a:t>푸는</a:t>
            </a:r>
            <a:r>
              <a:rPr sz="1800" b="0" i="0">
                <a:solidFill>
                  <a:srgbClr val="11202B"/>
                </a:solidFill>
                <a:latin typeface="Malgun Gothic"/>
                <a:ea typeface="Malgun Gothic"/>
                <a:cs typeface="Malgun Gothic"/>
              </a:rPr>
              <a:t> 것이고 전사를 직접 돕는 것이 아니다.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따라서 유도물질이 발현을 올린다는 사실만으로 LacI를 활성인자라 부를 수 없다. </a:t>
            </a:r>
            <a:r>
              <a:rPr sz="1800" b="1" i="0">
                <a:solidFill>
                  <a:srgbClr val="11202B"/>
                </a:solidFill>
                <a:latin typeface="Malgun Gothic"/>
                <a:ea typeface="Malgun Gothic"/>
                <a:cs typeface="Malgun Gothic"/>
              </a:rPr>
              <a:t>조절 단백질의 작용 방향과 외부 신호가 가져오는 결과를 구분</a:t>
            </a:r>
            <a:r>
              <a:rPr sz="1800" b="0" i="0">
                <a:solidFill>
                  <a:srgbClr val="11202B"/>
                </a:solidFill>
                <a:latin typeface="Malgun Gothic"/>
                <a:ea typeface="Malgun Gothic"/>
                <a:cs typeface="Malgun Gothic"/>
              </a:rPr>
              <a:t>해야 한다. 억제인자를 제거해 발현을 높이는 것도 음성 조절 체계의 작동이다.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실험에서는 allolactose 대신 </a:t>
            </a:r>
            <a:r>
              <a:rPr sz="1800" b="1" i="0">
                <a:solidFill>
                  <a:srgbClr val="11202B"/>
                </a:solidFill>
                <a:latin typeface="Malgun Gothic"/>
                <a:ea typeface="Malgun Gothic"/>
                <a:cs typeface="Malgun Gothic"/>
              </a:rPr>
              <a:t>IPTG</a:t>
            </a:r>
            <a:r>
              <a:rPr sz="1800" b="0" i="0">
                <a:solidFill>
                  <a:srgbClr val="11202B"/>
                </a:solidFill>
                <a:latin typeface="Malgun Gothic"/>
                <a:ea typeface="Malgun Gothic"/>
                <a:cs typeface="Malgun Gothic"/>
              </a:rPr>
              <a:t>를 쓴다. IPTG는 LacI에 결합해 억제를 풀지만 LacZ에 의해 분해되지 않으므로 농도가 일정하게 유지된다. 이런 물질을 gratuitous inducer라 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Lac operon의 음성 조절: LacI와 allolactose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22</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Lac operon의 조절 요소는 분자생물학 실험의 표준 도구가 되었다. 재조합 단백질 발현 벡터는 목표 유전자를 lac 계열 promoter와 operator 뒤에 놓고, IPTG를 넣어 원하는 시점에 발현을 유도한다. 숙주 세포에 독성이 있는 단백질도 세포를 충분히 키운 뒤 유도할 수 있다. 1960년대에 세균의 당 이용을 설명하려고 밝힌 기전이 오늘날 모든 재조합 단백질 의약품 생산의 기반이 되었다.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Lac operon의 음성 조절: LacI와 allolactose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23</a:t>
            </a:r>
          </a:p>
        </p:txBody>
      </p:sp>
      <p:pic>
        <p:nvPicPr>
          <p:cNvPr id="7" name="Picture 6" descr="fig-lac-operon.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Lac operon의 음성 조절. 젖당이 없을 때 LacI가 operator에 결합해 전사를 억제하는 상태, 기저 발현으로 존재하는 소량의 LacY와 LacZ, 젖당에서 allolactose가 만들어지는 경로, allolactose의 allosteric 결합에 의한 LacI의 해리, 그리고 전사 증가를 순서대로 보인다.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Lac operon의 양성 조절: cAMP–CAP와 네 조건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젖당 신호만으로는 lac operon의 발현을 설명할 수 없다. 대장균은 포도당이 충분할 때 다른 탄소원의 이용을 줄인다. 젖당이 있어 LacI의 억제가 풀려도, 포도당이 많으면 lac 전사가 높은 수준까지 올라가지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차이를 설명하려면 </a:t>
            </a:r>
            <a:r>
              <a:rPr sz="1400" b="1" i="0">
                <a:solidFill>
                  <a:srgbClr val="11202B"/>
                </a:solidFill>
                <a:latin typeface="Malgun Gothic"/>
                <a:ea typeface="Malgun Gothic"/>
                <a:cs typeface="Malgun Gothic"/>
              </a:rPr>
              <a:t>전사를 돕는 활성인자</a:t>
            </a:r>
            <a:r>
              <a:rPr sz="1400" b="0" i="0">
                <a:solidFill>
                  <a:srgbClr val="11202B"/>
                </a:solidFill>
                <a:latin typeface="Malgun Gothic"/>
                <a:ea typeface="Malgun Gothic"/>
                <a:cs typeface="Malgun Gothic"/>
              </a:rPr>
              <a:t>가 필요하다. Lac operon에서 그 역할을 하는 것이 </a:t>
            </a:r>
            <a:r>
              <a:rPr sz="1400" b="1" i="0">
                <a:solidFill>
                  <a:srgbClr val="11202B"/>
                </a:solidFill>
                <a:latin typeface="Malgun Gothic"/>
                <a:ea typeface="Malgun Gothic"/>
                <a:cs typeface="Malgun Gothic"/>
              </a:rPr>
              <a:t>CAP(catabolite activator protein, CRP라고도 한다)</a:t>
            </a:r>
            <a:r>
              <a:rPr sz="1400" b="0" i="0">
                <a:solidFill>
                  <a:srgbClr val="11202B"/>
                </a:solidFill>
                <a:latin typeface="Malgun Gothic"/>
                <a:ea typeface="Malgun Gothic"/>
                <a:cs typeface="Malgun Gothic"/>
              </a:rPr>
              <a:t> 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기전은 다음과 같다. 포도당이 낮아지면 세포 안의 </a:t>
            </a:r>
            <a:r>
              <a:rPr sz="1400" b="1" i="0">
                <a:solidFill>
                  <a:srgbClr val="11202B"/>
                </a:solidFill>
                <a:latin typeface="Malgun Gothic"/>
                <a:ea typeface="Malgun Gothic"/>
                <a:cs typeface="Malgun Gothic"/>
              </a:rPr>
              <a:t>cAMP</a:t>
            </a:r>
            <a:r>
              <a:rPr sz="1400" b="0" i="0">
                <a:solidFill>
                  <a:srgbClr val="11202B"/>
                </a:solidFill>
                <a:latin typeface="Malgun Gothic"/>
                <a:ea typeface="Malgun Gothic"/>
                <a:cs typeface="Malgun Gothic"/>
              </a:rPr>
              <a:t> 농도가 올라간다. cAMP가 CAP에 결합하면 이 복합체가 lac promoter 상류의 결합 자리에 붙고, RNA polymerase가 효율적으로 전사를 시작하도록 돕는다. '돕는다'는 말의 정확한 의미는 </a:t>
            </a:r>
            <a:r>
              <a:rPr sz="1400" b="1" i="0">
                <a:solidFill>
                  <a:srgbClr val="11202B"/>
                </a:solidFill>
                <a:latin typeface="Malgun Gothic"/>
                <a:ea typeface="Malgun Gothic"/>
                <a:cs typeface="Malgun Gothic"/>
              </a:rPr>
              <a:t>RNA polymerase가 promoter에 결합해 개시 복합체를 만들 확률을 높인다</a:t>
            </a:r>
            <a:r>
              <a:rPr sz="1400" b="0" i="0">
                <a:solidFill>
                  <a:srgbClr val="11202B"/>
                </a:solidFill>
                <a:latin typeface="Malgun Gothic"/>
                <a:ea typeface="Malgun Gothic"/>
                <a:cs typeface="Malgun Gothic"/>
              </a:rPr>
              <a:t>는 것이다. Lac promoter 자체는 서열이 이상적이지 않아 CAP의 도움 없이는 개시가 드물다.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조절은 CAP의 직접 작용이 전사를 증가시키므로 </a:t>
            </a:r>
            <a:r>
              <a:rPr sz="1400" b="1" i="0">
                <a:solidFill>
                  <a:srgbClr val="11202B"/>
                </a:solidFill>
                <a:latin typeface="Malgun Gothic"/>
                <a:ea typeface="Malgun Gothic"/>
                <a:cs typeface="Malgun Gothic"/>
              </a:rPr>
              <a:t>양성 조절(positive control)</a:t>
            </a:r>
            <a:r>
              <a:rPr sz="1400" b="0" i="0">
                <a:solidFill>
                  <a:srgbClr val="11202B"/>
                </a:solidFill>
                <a:latin typeface="Malgun Gothic"/>
                <a:ea typeface="Malgun Gothic"/>
                <a:cs typeface="Malgun Gothic"/>
              </a:rPr>
              <a:t> 이다. 같은 operon이 음성 조절과 양성 조절을 </a:t>
            </a:r>
            <a:r>
              <a:rPr sz="1400" b="1" i="0">
                <a:solidFill>
                  <a:srgbClr val="11202B"/>
                </a:solidFill>
                <a:latin typeface="Malgun Gothic"/>
                <a:ea typeface="Malgun Gothic"/>
                <a:cs typeface="Malgun Gothic"/>
              </a:rPr>
              <a:t>둘 다</a:t>
            </a:r>
            <a:r>
              <a:rPr sz="1400" b="0" i="0">
                <a:solidFill>
                  <a:srgbClr val="11202B"/>
                </a:solidFill>
                <a:latin typeface="Malgun Gothic"/>
                <a:ea typeface="Malgun Gothic"/>
                <a:cs typeface="Malgun Gothic"/>
              </a:rPr>
              <a:t> 받는다는 점이 lac operon의 구조적 특징이다.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조절이 함께 작동하면 네 가지 조건의 발현량이 설명된다.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Lac operon의 양성 조절: cAMP–CAP와 네 조건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25</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포도당</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젖당</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LacI (음성)</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cAMP–CAP (양성)</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lac 발현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많음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operator에 결합 (억제)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cAMP 낮음, 활성화 없음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매우 낮음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없음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operator에 결합 (억제)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cAMP 높음, 활성화 가능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낮음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많음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있음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해리 (억제 풀림)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cAMP 낮음, 활성화 없음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낮음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없음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있음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해리 (억제 풀림)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cAMP 높음, 활성화</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높음</a:t>
                      </a:r>
                    </a:p>
                  </a:txBody>
                  <a:tcPr marL="73152" marR="73152" marT="27432" marB="27432">
                    <a:solidFill>
                      <a:srgbClr val="EFF4F8"/>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Lac operon의 양성 조절: cAMP–CAP와 네 조건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표에서 읽어야 할 두 가지가 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첫째, </a:t>
            </a:r>
            <a:r>
              <a:rPr sz="1600" b="1" i="0">
                <a:solidFill>
                  <a:srgbClr val="11202B"/>
                </a:solidFill>
                <a:latin typeface="Malgun Gothic"/>
                <a:ea typeface="Malgun Gothic"/>
                <a:cs typeface="Malgun Gothic"/>
              </a:rPr>
              <a:t>젖당이 없는 두 조건은 포도당 상태와 무관하게 모두 낮다.</a:t>
            </a:r>
            <a:r>
              <a:rPr sz="1600" b="0" i="0">
                <a:solidFill>
                  <a:srgbClr val="11202B"/>
                </a:solidFill>
                <a:latin typeface="Malgun Gothic"/>
                <a:ea typeface="Malgun Gothic"/>
                <a:cs typeface="Malgun Gothic"/>
              </a:rPr>
              <a:t> LacI가 operator를 막고 있으면 CAP가 도와도 전사가 일어나지 못한다. 억제가 풀리는 것이 선행 조건이다.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둘째, </a:t>
            </a:r>
            <a:r>
              <a:rPr sz="1600" b="1" i="0">
                <a:solidFill>
                  <a:srgbClr val="11202B"/>
                </a:solidFill>
                <a:latin typeface="Malgun Gothic"/>
                <a:ea typeface="Malgun Gothic"/>
                <a:cs typeface="Malgun Gothic"/>
              </a:rPr>
              <a:t>젖당이 있는 두 조건의 차이가 양성 조절의 몫이다.</a:t>
            </a:r>
            <a:r>
              <a:rPr sz="1600" b="0" i="0">
                <a:solidFill>
                  <a:srgbClr val="11202B"/>
                </a:solidFill>
                <a:latin typeface="Malgun Gothic"/>
                <a:ea typeface="Malgun Gothic"/>
                <a:cs typeface="Malgun Gothic"/>
              </a:rPr>
              <a:t> 두 조건 모두 LacI는 떨어져 있지만, 포도당이 있으면 cAMP가 낮아 CAP가 작용하지 못하므로 발현이 낮게 머문다. 포도당이 없을 때만 높은 발현에 도달한다.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즉 </a:t>
            </a:r>
            <a:r>
              <a:rPr sz="1600" b="1" i="0">
                <a:solidFill>
                  <a:srgbClr val="11202B"/>
                </a:solidFill>
                <a:latin typeface="Malgun Gothic"/>
                <a:ea typeface="Malgun Gothic"/>
                <a:cs typeface="Malgun Gothic"/>
              </a:rPr>
              <a:t>전사를 막는 단백질이 사라지는 것과 전사를 돕는 단백질이 작용하는 것은 다른 사건</a:t>
            </a:r>
            <a:r>
              <a:rPr sz="1600" b="0" i="0">
                <a:solidFill>
                  <a:srgbClr val="11202B"/>
                </a:solidFill>
                <a:latin typeface="Malgun Gothic"/>
                <a:ea typeface="Malgun Gothic"/>
                <a:cs typeface="Malgun Gothic"/>
              </a:rPr>
              <a:t>이며, 높은 발현에는 둘이 모두 필요하다. 이 구조는 세포가 두 개의 독립적인 정보(젖당의 존재, 포도당의 부족)를 하나의 출력으로 통합하는 방식이다.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포도당과 cAMP의 관계는 단순화된 모형이다. 실제로는 세균의 당 수송계(phosphotransferase system)가 포도당 유입 상태에 따라 adenylyl cyclase 활성과 다른 당의 수송을 함께 조절한다.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Lac operon의 양성 조절: cAMP–CAP와 네 조건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27</a:t>
            </a:r>
          </a:p>
        </p:txBody>
      </p:sp>
      <p:pic>
        <p:nvPicPr>
          <p:cNvPr id="7" name="Picture 6" descr="fig-lac-four-conditions.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cAMP–CAP에 의한 양성 조절과 네 조건의 비교. 포도당 농도에서 cAMP를 거쳐 CAP에 이르는 경로, CAP가 RNA polymerase의 개시 확률을 높이는 작용, 그리고 포도당·젖당의 네 조합에서 LacI와 CAP의 상태와 최종 발현량을 한 표로 함께 보인다.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Cis 작용 요소와 trans 작용 인자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조절서열과 조절 단백질은 작용이 미치는 범위가 근본적으로 다르다. 이 차이를 가리키는 용어가 </a:t>
            </a:r>
            <a:r>
              <a:rPr sz="1400" b="1" i="0">
                <a:solidFill>
                  <a:srgbClr val="11202B"/>
                </a:solidFill>
                <a:latin typeface="Malgun Gothic"/>
                <a:ea typeface="Malgun Gothic"/>
                <a:cs typeface="Malgun Gothic"/>
              </a:rPr>
              <a:t>cis</a:t>
            </a:r>
            <a:r>
              <a:rPr sz="1400" b="0" i="0">
                <a:solidFill>
                  <a:srgbClr val="11202B"/>
                </a:solidFill>
                <a:latin typeface="Malgun Gothic"/>
                <a:ea typeface="Malgun Gothic"/>
                <a:cs typeface="Malgun Gothic"/>
              </a:rPr>
              <a:t>와 </a:t>
            </a:r>
            <a:r>
              <a:rPr sz="1400" b="1" i="0">
                <a:solidFill>
                  <a:srgbClr val="11202B"/>
                </a:solidFill>
                <a:latin typeface="Malgun Gothic"/>
                <a:ea typeface="Malgun Gothic"/>
                <a:cs typeface="Malgun Gothic"/>
              </a:rPr>
              <a:t>trans</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Cis 작용 요소(cis-acting element)</a:t>
            </a:r>
            <a:r>
              <a:rPr sz="1400" b="0" i="0">
                <a:solidFill>
                  <a:srgbClr val="11202B"/>
                </a:solidFill>
                <a:latin typeface="Malgun Gothic"/>
                <a:ea typeface="Malgun Gothic"/>
                <a:cs typeface="Malgun Gothic"/>
              </a:rPr>
              <a:t> 는 자신과 </a:t>
            </a:r>
            <a:r>
              <a:rPr sz="1400" b="1" i="0">
                <a:solidFill>
                  <a:srgbClr val="11202B"/>
                </a:solidFill>
                <a:latin typeface="Malgun Gothic"/>
                <a:ea typeface="Malgun Gothic"/>
                <a:cs typeface="Malgun Gothic"/>
              </a:rPr>
              <a:t>같은 DNA 분자에 연결된</a:t>
            </a:r>
            <a:r>
              <a:rPr sz="1400" b="0" i="0">
                <a:solidFill>
                  <a:srgbClr val="11202B"/>
                </a:solidFill>
                <a:latin typeface="Malgun Gothic"/>
                <a:ea typeface="Malgun Gothic"/>
                <a:cs typeface="Malgun Gothic"/>
              </a:rPr>
              <a:t> 표적에만 작용하는 요소다. Promoter와 operator가 대표적이다. 한 DNA의 operator 서열이 변해 LacI가 결합하지 못하게 되면, 그 DNA에 연결된 lacZYA의 전사가 억제되지 않는다. 다른 DNA에 있는 정상 operator가 옮겨 와서 그 자리를 고쳐 주지는 못한다. 서열은 자리에 묶여 있기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Trans 작용 인자(trans-acting factor)</a:t>
            </a:r>
            <a:r>
              <a:rPr sz="1400" b="0" i="0">
                <a:solidFill>
                  <a:srgbClr val="11202B"/>
                </a:solidFill>
                <a:latin typeface="Malgun Gothic"/>
                <a:ea typeface="Malgun Gothic"/>
                <a:cs typeface="Malgun Gothic"/>
              </a:rPr>
              <a:t> 는 </a:t>
            </a:r>
            <a:r>
              <a:rPr sz="1400" b="1" i="0">
                <a:solidFill>
                  <a:srgbClr val="11202B"/>
                </a:solidFill>
                <a:latin typeface="Malgun Gothic"/>
                <a:ea typeface="Malgun Gothic"/>
                <a:cs typeface="Malgun Gothic"/>
              </a:rPr>
              <a:t>확산해 다른 DNA 분자에도 도달할 수 있는</a:t>
            </a:r>
            <a:r>
              <a:rPr sz="1400" b="0" i="0">
                <a:solidFill>
                  <a:srgbClr val="11202B"/>
                </a:solidFill>
                <a:latin typeface="Malgun Gothic"/>
                <a:ea typeface="Malgun Gothic"/>
                <a:cs typeface="Malgun Gothic"/>
              </a:rPr>
              <a:t> 요소다. 단백질이 대표적이다. 한 DNA의 lacI에서 만들어진 LacI 단백질은 세포 안을 돌아다니며 다른 DNA에 있는 정상 lac operator에도 결합할 수 있다. 작용 대상이 자신을 만든 DNA에 한정되지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정리하면 </a:t>
            </a:r>
            <a:r>
              <a:rPr sz="1400" b="1" i="0">
                <a:solidFill>
                  <a:srgbClr val="11202B"/>
                </a:solidFill>
                <a:latin typeface="Malgun Gothic"/>
                <a:ea typeface="Malgun Gothic"/>
                <a:cs typeface="Malgun Gothic"/>
              </a:rPr>
              <a:t>operator는 DNA의 자리이고 LacI는 그 자리를 찾아가는 단백질</a:t>
            </a:r>
            <a:r>
              <a:rPr sz="1400" b="0" i="0">
                <a:solidFill>
                  <a:srgbClr val="11202B"/>
                </a:solidFill>
                <a:latin typeface="Malgun Gothic"/>
                <a:ea typeface="Malgun Gothic"/>
                <a:cs typeface="Malgun Gothic"/>
              </a:rPr>
              <a:t>이다. 'cis'와 'trans'는 억제인지 활성화인지를 말하는 것이 아니라 </a:t>
            </a:r>
            <a:r>
              <a:rPr sz="1400" b="1" i="0">
                <a:solidFill>
                  <a:srgbClr val="11202B"/>
                </a:solidFill>
                <a:latin typeface="Malgun Gothic"/>
                <a:ea typeface="Malgun Gothic"/>
                <a:cs typeface="Malgun Gothic"/>
              </a:rPr>
              <a:t>작용이 연결되는 범위</a:t>
            </a:r>
            <a:r>
              <a:rPr sz="1400" b="0" i="0">
                <a:solidFill>
                  <a:srgbClr val="11202B"/>
                </a:solidFill>
                <a:latin typeface="Malgun Gothic"/>
                <a:ea typeface="Malgun Gothic"/>
                <a:cs typeface="Malgun Gothic"/>
              </a:rPr>
              <a:t>를 말한다.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구별을 실험으로 확인하는 방법이 </a:t>
            </a:r>
            <a:r>
              <a:rPr sz="1400" b="1" i="0">
                <a:solidFill>
                  <a:srgbClr val="11202B"/>
                </a:solidFill>
                <a:latin typeface="Malgun Gothic"/>
                <a:ea typeface="Malgun Gothic"/>
                <a:cs typeface="Malgun Gothic"/>
              </a:rPr>
              <a:t>보완 실험(complementation test)</a:t>
            </a:r>
            <a:r>
              <a:rPr sz="1400" b="0" i="0">
                <a:solidFill>
                  <a:srgbClr val="11202B"/>
                </a:solidFill>
                <a:latin typeface="Malgun Gothic"/>
                <a:ea typeface="Malgun Gothic"/>
                <a:cs typeface="Malgun Gothic"/>
              </a:rPr>
              <a:t> 이다. 세균에 두 번째 DNA 사본을 넣어(F' plasmid 등으로) 두 유전자형을 한 세포에 공존시키고 결과를 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lacI가 고장 난 경우</a:t>
            </a:r>
            <a:r>
              <a:rPr sz="1400" b="0" i="0">
                <a:solidFill>
                  <a:srgbClr val="11202B"/>
                </a:solidFill>
                <a:latin typeface="Malgun Gothic"/>
                <a:ea typeface="Malgun Gothic"/>
                <a:cs typeface="Malgun Gothic"/>
              </a:rPr>
              <a:t>: 억제 단백질을 만들지 못해 젖당이 없어도 발현이 일어난다(constitutive). 여기에 정상 lacI를 가진 DNA를 넣으면, 새로 만들어진 LacI가 기존 DNA의 operator에 결합해 억제가 회복된다. </a:t>
            </a:r>
            <a:r>
              <a:rPr sz="1400" b="1" i="0">
                <a:solidFill>
                  <a:srgbClr val="11202B"/>
                </a:solidFill>
                <a:latin typeface="Malgun Gothic"/>
                <a:ea typeface="Malgun Gothic"/>
                <a:cs typeface="Malgun Gothic"/>
              </a:rPr>
              <a:t>Trans 보완이 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Cis 작용 요소와 trans 작용 인자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operator 서열이 변한 경우</a:t>
            </a:r>
            <a:r>
              <a:rPr sz="1800" b="0" i="0">
                <a:solidFill>
                  <a:srgbClr val="11202B"/>
                </a:solidFill>
                <a:latin typeface="Malgun Gothic"/>
                <a:ea typeface="Malgun Gothic"/>
                <a:cs typeface="Malgun Gothic"/>
              </a:rPr>
              <a:t>: LacI가 결합할 자리 자체가 없어졌으므로 정상 LacI를 더 공급해도 그 자리는 복구되지 않는다. 영향은 변한 operator에 연결된 유전자에 그대로 남는다. </a:t>
            </a:r>
            <a:r>
              <a:rPr sz="1800" b="1" i="0">
                <a:solidFill>
                  <a:srgbClr val="11202B"/>
                </a:solidFill>
                <a:latin typeface="Malgun Gothic"/>
                <a:ea typeface="Malgun Gothic"/>
                <a:cs typeface="Malgun Gothic"/>
              </a:rPr>
              <a:t>Trans 보완이 되지 않는다.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비대칭이 cis 요소와 trans 인자를 구별하는 조작적 기준이다. </a:t>
            </a:r>
            <a:r>
              <a:rPr sz="1800" b="1" i="0">
                <a:solidFill>
                  <a:srgbClr val="11202B"/>
                </a:solidFill>
                <a:latin typeface="Malgun Gothic"/>
                <a:ea typeface="Malgun Gothic"/>
                <a:cs typeface="Malgun Gothic"/>
              </a:rPr>
              <a:t>보완되면 trans 인자의 결함, 보완되지 않으면 cis 요소의 결함</a:t>
            </a:r>
            <a:r>
              <a:rPr sz="1800" b="0" i="0">
                <a:solidFill>
                  <a:srgbClr val="11202B"/>
                </a:solidFill>
                <a:latin typeface="Malgun Gothic"/>
                <a:ea typeface="Malgun Gothic"/>
                <a:cs typeface="Malgun Gothic"/>
              </a:rPr>
              <a:t>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주의할 점이 있다. Operator 변이로 LacI 조절이 사라져도 CAP에 의한 양성 조절은 남는다. 조절 체계가 여러 겹이므로 하나가 사라진 결과를 전체 발현량으로 단순히 환산할 수 없다.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Cis 작용 요소와 trans 작용 인자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30</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cis와 trans의 구별은 세균 유전학의 용어로 끝나지 않는다. 사람의 유전 질환에서도 enhancer 같은 cis 조절서열의 변이와 전사인자 같은 trans 인자의 변이는 유전 양상과 조직 특이성이 전혀 다르게 나타난다. 이 구별을 여기서 확실히 세워 두면 뒤의 수업에서 반복해 쓰게 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Cis 작용 요소와 trans 작용 인자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31</a:t>
            </a:r>
          </a:p>
        </p:txBody>
      </p:sp>
      <p:pic>
        <p:nvPicPr>
          <p:cNvPr id="7" name="Picture 6" descr="fig-cis-trans.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Cis 작용 요소와 trans 작용 인자의 차이. 같은 DNA에 연결된 표적에만 작용하는 operator와 확산해 다른 DNA에도 도달하는 LacI 단백질, 그리고 두 번째 DNA 사본을 넣는 보완 실험에서 lacI 결함은 보완되고 operator 결함은 보완되지 않는 비대칭을 함께 보인다.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Trp operon: 생합성 경로의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Lac operon과 trp operon은 조절 기전이 비슷해 보이지만 </a:t>
            </a:r>
            <a:r>
              <a:rPr sz="1400" b="1" i="0">
                <a:solidFill>
                  <a:srgbClr val="11202B"/>
                </a:solidFill>
                <a:latin typeface="Malgun Gothic"/>
                <a:ea typeface="Malgun Gothic"/>
                <a:cs typeface="Malgun Gothic"/>
              </a:rPr>
              <a:t>조절의 목표가 반대</a:t>
            </a:r>
            <a:r>
              <a:rPr sz="1400" b="0" i="0">
                <a:solidFill>
                  <a:srgbClr val="11202B"/>
                </a:solidFill>
                <a:latin typeface="Malgun Gothic"/>
                <a:ea typeface="Malgun Gothic"/>
                <a:cs typeface="Malgun Gothic"/>
              </a:rPr>
              <a:t>다. 이 차이를 대사의 목적에서 이해해야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Lac operon은 </a:t>
            </a:r>
            <a:r>
              <a:rPr sz="1400" b="1" i="0">
                <a:solidFill>
                  <a:srgbClr val="11202B"/>
                </a:solidFill>
                <a:latin typeface="Malgun Gothic"/>
                <a:ea typeface="Malgun Gothic"/>
                <a:cs typeface="Malgun Gothic"/>
              </a:rPr>
              <a:t>이화(catabolic) 경로</a:t>
            </a:r>
            <a:r>
              <a:rPr sz="1400" b="0" i="0">
                <a:solidFill>
                  <a:srgbClr val="11202B"/>
                </a:solidFill>
                <a:latin typeface="Malgun Gothic"/>
                <a:ea typeface="Malgun Gothic"/>
                <a:cs typeface="Malgun Gothic"/>
              </a:rPr>
              <a:t>를 담당한다. 이용할 기질인 젖당이 </a:t>
            </a:r>
            <a:r>
              <a:rPr sz="1400" b="1" i="0">
                <a:solidFill>
                  <a:srgbClr val="11202B"/>
                </a:solidFill>
                <a:latin typeface="Malgun Gothic"/>
                <a:ea typeface="Malgun Gothic"/>
                <a:cs typeface="Malgun Gothic"/>
              </a:rPr>
              <a:t>생겼을 때</a:t>
            </a:r>
            <a:r>
              <a:rPr sz="1400" b="0" i="0">
                <a:solidFill>
                  <a:srgbClr val="11202B"/>
                </a:solidFill>
                <a:latin typeface="Malgun Gothic"/>
                <a:ea typeface="Malgun Gothic"/>
                <a:cs typeface="Malgun Gothic"/>
              </a:rPr>
              <a:t> 분해 경로를 늘리는 것이 목표다. 따라서 기질의 존재가 발현을 올리는 신호가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Trp operon은 </a:t>
            </a:r>
            <a:r>
              <a:rPr sz="1400" b="1" i="0">
                <a:solidFill>
                  <a:srgbClr val="11202B"/>
                </a:solidFill>
                <a:latin typeface="Malgun Gothic"/>
                <a:ea typeface="Malgun Gothic"/>
                <a:cs typeface="Malgun Gothic"/>
              </a:rPr>
              <a:t>생합성(anabolic) 경로</a:t>
            </a:r>
            <a:r>
              <a:rPr sz="1400" b="0" i="0">
                <a:solidFill>
                  <a:srgbClr val="11202B"/>
                </a:solidFill>
                <a:latin typeface="Malgun Gothic"/>
                <a:ea typeface="Malgun Gothic"/>
                <a:cs typeface="Malgun Gothic"/>
              </a:rPr>
              <a:t>를 담당한다. 대장균의 trp operon에는 tryptophan 생합성 효소들의 유전자가 있다. 최종 산물인 tryptophan이 </a:t>
            </a:r>
            <a:r>
              <a:rPr sz="1400" b="1" i="0">
                <a:solidFill>
                  <a:srgbClr val="11202B"/>
                </a:solidFill>
                <a:latin typeface="Malgun Gothic"/>
                <a:ea typeface="Malgun Gothic"/>
                <a:cs typeface="Malgun Gothic"/>
              </a:rPr>
              <a:t>충분할 때</a:t>
            </a:r>
            <a:r>
              <a:rPr sz="1400" b="0" i="0">
                <a:solidFill>
                  <a:srgbClr val="11202B"/>
                </a:solidFill>
                <a:latin typeface="Malgun Gothic"/>
                <a:ea typeface="Malgun Gothic"/>
                <a:cs typeface="Malgun Gothic"/>
              </a:rPr>
              <a:t> 합성 경로를 줄이는 것이 목표다. 이미 충분한 아미노산을 계속 만드는 것은 낭비이기 때문이다. 따라서 최종 산물의 존재가 발현을 내리는 신호가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Trp operon의 1차 조절은 </a:t>
            </a:r>
            <a:r>
              <a:rPr sz="1400" b="1" i="0">
                <a:solidFill>
                  <a:srgbClr val="11202B"/>
                </a:solidFill>
                <a:latin typeface="Malgun Gothic"/>
                <a:ea typeface="Malgun Gothic"/>
                <a:cs typeface="Malgun Gothic"/>
              </a:rPr>
              <a:t>TrpR 억제인자</a:t>
            </a:r>
            <a:r>
              <a:rPr sz="1400" b="0" i="0">
                <a:solidFill>
                  <a:srgbClr val="11202B"/>
                </a:solidFill>
                <a:latin typeface="Malgun Gothic"/>
                <a:ea typeface="Malgun Gothic"/>
                <a:cs typeface="Malgun Gothic"/>
              </a:rPr>
              <a:t>가 담당한다. 기전이 LacI와 거울처럼 대응한다.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LacI</a:t>
            </a:r>
            <a:r>
              <a:rPr sz="1400" b="0" i="0">
                <a:solidFill>
                  <a:srgbClr val="11202B"/>
                </a:solidFill>
                <a:latin typeface="Malgun Gothic"/>
                <a:ea typeface="Malgun Gothic"/>
                <a:cs typeface="Malgun Gothic"/>
              </a:rPr>
              <a:t>: 평소 operator에 결합(억제), 유도물질(allolactose)이 결합하면 </a:t>
            </a:r>
            <a:r>
              <a:rPr sz="1400" b="1" i="0">
                <a:solidFill>
                  <a:srgbClr val="11202B"/>
                </a:solidFill>
                <a:latin typeface="Malgun Gothic"/>
                <a:ea typeface="Malgun Gothic"/>
                <a:cs typeface="Malgun Gothic"/>
              </a:rPr>
              <a:t>떨어진다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TrpR</a:t>
            </a:r>
            <a:r>
              <a:rPr sz="1400" b="0" i="0">
                <a:solidFill>
                  <a:srgbClr val="11202B"/>
                </a:solidFill>
                <a:latin typeface="Malgun Gothic"/>
                <a:ea typeface="Malgun Gothic"/>
                <a:cs typeface="Malgun Gothic"/>
              </a:rPr>
              <a:t>: 평소 operator에 결합하지 못함, tryptophan이 결합하면 </a:t>
            </a:r>
            <a:r>
              <a:rPr sz="1400" b="1" i="0">
                <a:solidFill>
                  <a:srgbClr val="11202B"/>
                </a:solidFill>
                <a:latin typeface="Malgun Gothic"/>
                <a:ea typeface="Malgun Gothic"/>
                <a:cs typeface="Malgun Gothic"/>
              </a:rPr>
              <a:t>결합한다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두 용어가 구분된다. Allolactose처럼 조절 단백질에 결합해 </a:t>
            </a:r>
            <a:r>
              <a:rPr sz="1400" b="1" i="0">
                <a:solidFill>
                  <a:srgbClr val="11202B"/>
                </a:solidFill>
                <a:latin typeface="Malgun Gothic"/>
                <a:ea typeface="Malgun Gothic"/>
                <a:cs typeface="Malgun Gothic"/>
              </a:rPr>
              <a:t>억제를 푸는</a:t>
            </a:r>
            <a:r>
              <a:rPr sz="1400" b="0" i="0">
                <a:solidFill>
                  <a:srgbClr val="11202B"/>
                </a:solidFill>
                <a:latin typeface="Malgun Gothic"/>
                <a:ea typeface="Malgun Gothic"/>
                <a:cs typeface="Malgun Gothic"/>
              </a:rPr>
              <a:t> 작은 분자를 </a:t>
            </a:r>
            <a:r>
              <a:rPr sz="1400" b="1" i="0">
                <a:solidFill>
                  <a:srgbClr val="11202B"/>
                </a:solidFill>
                <a:latin typeface="Malgun Gothic"/>
                <a:ea typeface="Malgun Gothic"/>
                <a:cs typeface="Malgun Gothic"/>
              </a:rPr>
              <a:t>inducer(유도물질)</a:t>
            </a:r>
            <a:r>
              <a:rPr sz="1400" b="0" i="0">
                <a:solidFill>
                  <a:srgbClr val="11202B"/>
                </a:solidFill>
                <a:latin typeface="Malgun Gothic"/>
                <a:ea typeface="Malgun Gothic"/>
                <a:cs typeface="Malgun Gothic"/>
              </a:rPr>
              <a:t> 라 하고, tryptophan처럼 억제인자에 결합해 </a:t>
            </a:r>
            <a:r>
              <a:rPr sz="1400" b="1" i="0">
                <a:solidFill>
                  <a:srgbClr val="11202B"/>
                </a:solidFill>
                <a:latin typeface="Malgun Gothic"/>
                <a:ea typeface="Malgun Gothic"/>
                <a:cs typeface="Malgun Gothic"/>
              </a:rPr>
              <a:t>억제를 가능하게 하는</a:t>
            </a:r>
            <a:r>
              <a:rPr sz="1400" b="0" i="0">
                <a:solidFill>
                  <a:srgbClr val="11202B"/>
                </a:solidFill>
                <a:latin typeface="Malgun Gothic"/>
                <a:ea typeface="Malgun Gothic"/>
                <a:cs typeface="Malgun Gothic"/>
              </a:rPr>
              <a:t> 작은 분자를 </a:t>
            </a:r>
            <a:r>
              <a:rPr sz="1400" b="1" i="0">
                <a:solidFill>
                  <a:srgbClr val="11202B"/>
                </a:solidFill>
                <a:latin typeface="Malgun Gothic"/>
                <a:ea typeface="Malgun Gothic"/>
                <a:cs typeface="Malgun Gothic"/>
              </a:rPr>
              <a:t>corepressor(공동억제인자)</a:t>
            </a:r>
            <a:r>
              <a:rPr sz="1400" b="0" i="0">
                <a:solidFill>
                  <a:srgbClr val="11202B"/>
                </a:solidFill>
                <a:latin typeface="Malgun Gothic"/>
                <a:ea typeface="Malgun Gothic"/>
                <a:cs typeface="Malgun Gothic"/>
              </a:rPr>
              <a:t> 라 한다. 두 경우 모두 allosteric 조절이지만 구조 변화의 방향이 반대다.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Trp operon: 생합성 경로의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33</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비교 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Lac operon</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Trp operon</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대사 경로의 종류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이화 (젖당 분해)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생합성 (tryptophan 합성)</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조절 목표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기질이 있을 때 켠다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최종 산물이 있을 때 끈다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조절 단백질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LacI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TrpR</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작은 분자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allolactose (inducer)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tryptophan (corepressor)</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작은 분자가 결합하면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억제인자가 DNA에서 떨어짐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억제인자가 DNA에 결합함</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기본 상태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억제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발현</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양성 조절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cAMP–CAP 있음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Trp operon: 생합성 경로의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이 표의 마지막 두 줄이 중요하다. Lac operon의 기본 상태는 억제이고 신호가 와야 켜진다. Trp operon의 기본 상태는 발현이고 신호가 와야 꺼진다. </a:t>
            </a:r>
            <a:r>
              <a:rPr sz="2000" b="1" i="0">
                <a:solidFill>
                  <a:srgbClr val="11202B"/>
                </a:solidFill>
                <a:latin typeface="Malgun Gothic"/>
                <a:ea typeface="Malgun Gothic"/>
                <a:cs typeface="Malgun Gothic"/>
              </a:rPr>
              <a:t>세포가 평소에 그 산물을 필요로 하는지 여부가 기본 상태를 정한다.</a:t>
            </a:r>
            <a:r>
              <a:rPr sz="2000" b="0" i="0">
                <a:solidFill>
                  <a:srgbClr val="11202B"/>
                </a:solidFill>
                <a:latin typeface="Malgun Gothic"/>
                <a:ea typeface="Malgun Gothic"/>
                <a:cs typeface="Malgun Gothic"/>
              </a:rPr>
              <a:t> Tryptophan은 단백질 합성에 항상 필요하므로 기본적으로 만들고 있어야 하고, 젖당은 환경에 있을 때만 의미가 있으므로 기본적으로 꺼져 있어야 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Trp operon: 생합성 경로의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35</a:t>
            </a:r>
          </a:p>
        </p:txBody>
      </p:sp>
      <p:pic>
        <p:nvPicPr>
          <p:cNvPr id="7" name="Picture 6" descr="fig-trp-operon.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Trp operon의 억제 조절과 lac operon과의 대응. TrpR이 tryptophan을 corepressor로 받아 operator에 결합하는 과정, LacI와의 구조 변화 방향 비교, 그리고 이화 경로와 생합성 경로의 조절 목표 차이가 기본 상태를 정하는 관계를 함께 보인다.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Attenuation: 전사가 시작된 뒤의 조절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36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Trp operon에는 TrpR에 의한 억제 외에 두 번째 조절 층위가 있다. 전사가 이미 시작된 뒤에 그것을 중간에서 끝낼 수 있는 기전이며, </a:t>
            </a:r>
            <a:r>
              <a:rPr sz="1400" b="1" i="0">
                <a:solidFill>
                  <a:srgbClr val="11202B"/>
                </a:solidFill>
                <a:latin typeface="Malgun Gothic"/>
                <a:ea typeface="Malgun Gothic"/>
                <a:cs typeface="Malgun Gothic"/>
              </a:rPr>
              <a:t>attenuation(감쇠)</a:t>
            </a:r>
            <a:r>
              <a:rPr sz="1400" b="0" i="0">
                <a:solidFill>
                  <a:srgbClr val="11202B"/>
                </a:solidFill>
                <a:latin typeface="Malgun Gothic"/>
                <a:ea typeface="Malgun Gothic"/>
                <a:cs typeface="Malgun Gothic"/>
              </a:rPr>
              <a:t> 이라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기전이 가능한 조건이 두 가지 있고, 둘 다 세균에만 해당한다.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첫째, </a:t>
            </a:r>
            <a:r>
              <a:rPr sz="1400" b="1" i="0">
                <a:solidFill>
                  <a:srgbClr val="11202B"/>
                </a:solidFill>
                <a:latin typeface="Malgun Gothic"/>
                <a:ea typeface="Malgun Gothic"/>
                <a:cs typeface="Malgun Gothic"/>
              </a:rPr>
              <a:t>전사와 번역이 같은 공간에서 동시에 일어난다.</a:t>
            </a:r>
            <a:r>
              <a:rPr sz="1400" b="0" i="0">
                <a:solidFill>
                  <a:srgbClr val="11202B"/>
                </a:solidFill>
                <a:latin typeface="Malgun Gothic"/>
                <a:ea typeface="Malgun Gothic"/>
                <a:cs typeface="Malgun Gothic"/>
              </a:rPr>
              <a:t> 세균에는 핵막이 없으므로 RNA polymerase가 합성하고 있는 RNA의 앞부분을 ribosome이 바로 번역할 수 있다. 진핵세포에서는 전사가 핵에서, 번역이 세포질에서 일어나므로 이런 결합이 불가능하다.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둘째, </a:t>
            </a:r>
            <a:r>
              <a:rPr sz="1400" b="1" i="0">
                <a:solidFill>
                  <a:srgbClr val="11202B"/>
                </a:solidFill>
                <a:latin typeface="Malgun Gothic"/>
                <a:ea typeface="Malgun Gothic"/>
                <a:cs typeface="Malgun Gothic"/>
              </a:rPr>
              <a:t>전사 단위의 앞부분에 리더 영역(leader region)이 있다.</a:t>
            </a:r>
            <a:r>
              <a:rPr sz="1400" b="0" i="0">
                <a:solidFill>
                  <a:srgbClr val="11202B"/>
                </a:solidFill>
                <a:latin typeface="Malgun Gothic"/>
                <a:ea typeface="Malgun Gothic"/>
                <a:cs typeface="Malgun Gothic"/>
              </a:rPr>
              <a:t> Trp operon의 첫 구조 유전자 앞에는 짧은 리더 펩타이드를 암호화하는 영역이 있고, 그 안에 </a:t>
            </a:r>
            <a:r>
              <a:rPr sz="1400" b="1" i="0">
                <a:solidFill>
                  <a:srgbClr val="11202B"/>
                </a:solidFill>
                <a:latin typeface="Malgun Gothic"/>
                <a:ea typeface="Malgun Gothic"/>
                <a:cs typeface="Malgun Gothic"/>
              </a:rPr>
              <a:t>연속된 두 개의 tryptophan codon</a:t>
            </a:r>
            <a:r>
              <a:rPr sz="1400" b="0" i="0">
                <a:solidFill>
                  <a:srgbClr val="11202B"/>
                </a:solidFill>
                <a:latin typeface="Malgun Gothic"/>
                <a:ea typeface="Malgun Gothic"/>
                <a:cs typeface="Malgun Gothic"/>
              </a:rPr>
              <a:t>이 있다. 이것이 세포 안 tryptophan 농도를 읽는 감지 장치다.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리더 RNA는 서로 배타적인 두 가지 2차 구조를 만들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종결 구조(terminator)</a:t>
            </a:r>
            <a:r>
              <a:rPr sz="1400" b="0" i="0">
                <a:solidFill>
                  <a:srgbClr val="11202B"/>
                </a:solidFill>
                <a:latin typeface="Malgun Gothic"/>
                <a:ea typeface="Malgun Gothic"/>
                <a:cs typeface="Malgun Gothic"/>
              </a:rPr>
              <a:t>: 특정 두 영역이 짝지어 머리핀을 만들고 그 뒤에 U가 이어진다. 이 구조가 생기면 RNA polymerase가 그 자리에서 전사를 끝낸다.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항종결 구조(antiterminator)</a:t>
            </a:r>
            <a:r>
              <a:rPr sz="1400" b="0" i="0">
                <a:solidFill>
                  <a:srgbClr val="11202B"/>
                </a:solidFill>
                <a:latin typeface="Malgun Gothic"/>
                <a:ea typeface="Malgun Gothic"/>
                <a:cs typeface="Malgun Gothic"/>
              </a:rPr>
              <a:t>: 다른 조합의 영역이 짝지어진다. 종결 머리핀을 만들 영역이 이미 짝을 이루고 있으므로 종결 구조가 생기지 못하고, 전사가 구조 유전자까지 계속된다.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어느 구조가 만들어지는지를 결정하는 것이 </a:t>
            </a:r>
            <a:r>
              <a:rPr sz="1400" b="1" i="0">
                <a:solidFill>
                  <a:srgbClr val="11202B"/>
                </a:solidFill>
                <a:latin typeface="Malgun Gothic"/>
                <a:ea typeface="Malgun Gothic"/>
                <a:cs typeface="Malgun Gothic"/>
              </a:rPr>
              <a:t>ribosome의 위치</a:t>
            </a:r>
            <a:r>
              <a:rPr sz="1400" b="0" i="0">
                <a:solidFill>
                  <a:srgbClr val="11202B"/>
                </a:solidFill>
                <a:latin typeface="Malgun Gothic"/>
                <a:ea typeface="Malgun Gothic"/>
                <a:cs typeface="Malgun Gothic"/>
              </a:rPr>
              <a:t>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Attenuation: 전사가 시작된 뒤의 조절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Tryptophan이 충분할 때</a:t>
            </a:r>
            <a:r>
              <a:rPr sz="1800" b="0" i="0">
                <a:solidFill>
                  <a:srgbClr val="11202B"/>
                </a:solidFill>
                <a:latin typeface="Malgun Gothic"/>
                <a:ea typeface="Malgun Gothic"/>
                <a:cs typeface="Malgun Gothic"/>
              </a:rPr>
              <a:t>: tryptophan을 실은 tRNA가 많으므로 ribosome이 리더 펩타이드의 두 tryptophan codon을 막힘 없이 지나간다. Ribosome이 빠르게 전진해 특정 영역을 덮으면, 남은 영역들이 짝지어 </a:t>
            </a:r>
            <a:r>
              <a:rPr sz="1800" b="1" i="0">
                <a:solidFill>
                  <a:srgbClr val="11202B"/>
                </a:solidFill>
                <a:latin typeface="Malgun Gothic"/>
                <a:ea typeface="Malgun Gothic"/>
                <a:cs typeface="Malgun Gothic"/>
              </a:rPr>
              <a:t>종결 구조</a:t>
            </a:r>
            <a:r>
              <a:rPr sz="1800" b="0" i="0">
                <a:solidFill>
                  <a:srgbClr val="11202B"/>
                </a:solidFill>
                <a:latin typeface="Malgun Gothic"/>
                <a:ea typeface="Malgun Gothic"/>
                <a:cs typeface="Malgun Gothic"/>
              </a:rPr>
              <a:t>를 만든다. 전사가 리더 영역에서 끝나고 생합성 효소는 만들어지지 않는다.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Tryptophan이 부족할 때</a:t>
            </a:r>
            <a:r>
              <a:rPr sz="1800" b="0" i="0">
                <a:solidFill>
                  <a:srgbClr val="11202B"/>
                </a:solidFill>
                <a:latin typeface="Malgun Gothic"/>
                <a:ea typeface="Malgun Gothic"/>
                <a:cs typeface="Malgun Gothic"/>
              </a:rPr>
              <a:t>: tryptophan을 실은 tRNA가 부족하므로 ribosome이 두 tryptophan codon에서 멈춰 기다린다. Ribosome이 상류에 머물러 있으므로 하류 영역들이 자유롭게 짝지어 </a:t>
            </a:r>
            <a:r>
              <a:rPr sz="1800" b="1" i="0">
                <a:solidFill>
                  <a:srgbClr val="11202B"/>
                </a:solidFill>
                <a:latin typeface="Malgun Gothic"/>
                <a:ea typeface="Malgun Gothic"/>
                <a:cs typeface="Malgun Gothic"/>
              </a:rPr>
              <a:t>항종결 구조</a:t>
            </a:r>
            <a:r>
              <a:rPr sz="1800" b="0" i="0">
                <a:solidFill>
                  <a:srgbClr val="11202B"/>
                </a:solidFill>
                <a:latin typeface="Malgun Gothic"/>
                <a:ea typeface="Malgun Gothic"/>
                <a:cs typeface="Malgun Gothic"/>
              </a:rPr>
              <a:t>를 만든다. 전사가 계속되어 생합성 효소가 만들어진다.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두 조절 층위의 성질을 구분해야 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Attenuation: 전사가 시작된 뒤의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38</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비교 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TrpR에 의한 억제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Attenuation</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작용 단계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전사 개시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전사 신장·종결</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감지 대상</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tryptophan 분자 자체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tryptophan을 실은 tRNA의 양</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감지 방식</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억제인자의 allosteric 변화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ribosome의 진행 속도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조절 폭</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큰 폭의 on/off</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미세한 조절</a:t>
                      </a:r>
                    </a:p>
                  </a:txBody>
                  <a:tcPr marL="73152" marR="73152" marT="27432" marB="27432">
                    <a:solidFill>
                      <a:srgbClr val="EFF4F8"/>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Attenuation: 전사가 시작된 뒤의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두 층위가 곱해져 전체 조절 범위가 넓어진다. 억제만으로는 약 70배, attenuation을 더하면 약 700배의 차이를 만들 수 있다.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혼동하지 않아야 할 점이 있다. 뒤의 수업에서 볼 진핵세포의 </a:t>
            </a:r>
            <a:r>
              <a:rPr sz="1800" b="1" i="0">
                <a:solidFill>
                  <a:srgbClr val="11202B"/>
                </a:solidFill>
                <a:latin typeface="Malgun Gothic"/>
                <a:ea typeface="Malgun Gothic"/>
                <a:cs typeface="Malgun Gothic"/>
              </a:rPr>
              <a:t>Pol II 일시정지(promoter-proximal pausing)</a:t>
            </a:r>
            <a:r>
              <a:rPr sz="1800" b="0" i="0">
                <a:solidFill>
                  <a:srgbClr val="11202B"/>
                </a:solidFill>
                <a:latin typeface="Malgun Gothic"/>
                <a:ea typeface="Malgun Gothic"/>
                <a:cs typeface="Malgun Gothic"/>
              </a:rPr>
              <a:t> 도 전사 개시 뒤의 조절이지만 기전이 전혀 다르다. 일시정지는 NELF와 DSIF 같은 단백질 인자가 유지하고 P-TEFb의 인산화가 풀며, RNA의 2차 구조나 ribosome의 위치와 무관하다. </a:t>
            </a:r>
            <a:r>
              <a:rPr sz="1800" b="1" i="0">
                <a:solidFill>
                  <a:srgbClr val="11202B"/>
                </a:solidFill>
                <a:latin typeface="Malgun Gothic"/>
                <a:ea typeface="Malgun Gothic"/>
                <a:cs typeface="Malgun Gothic"/>
              </a:rPr>
              <a:t>같은 '개시 후 조절'이라는 범주에 들어가지만 분자 기전은 공유하지 않는다.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Attenuation: 전사가 시작된 뒤의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40</a:t>
            </a:r>
          </a:p>
        </p:txBody>
      </p:sp>
      <p:pic>
        <p:nvPicPr>
          <p:cNvPr id="7" name="Picture 6" descr="fig-attenuation.slide.png"/>
          <p:cNvPicPr>
            <a:picLocks noChangeAspect="1"/>
          </p:cNvPicPr>
          <p:nvPr/>
        </p:nvPicPr>
        <p:blipFill>
          <a:blip r:embed="rId2"/>
          <a:stretch>
            <a:fillRect/>
          </a:stretch>
        </p:blipFill>
        <p:spPr>
          <a:xfrm>
            <a:off x="1941291" y="1325880"/>
            <a:ext cx="830911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Trp operon의 attenuation 기전. 리더 영역의 두 tryptophan codon, tryptophan이 충분할 때 ribosome이 빠르게 전진해 종결 구조가 만들어지는 경로, 부족할 때 ribosome이 멈춰 항종결 구조가 만들어지는 경로, 그리고 전사와 번역이 동시에 일어나는 세균의 조건을 함께 보인다.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진핵세포에서 달라지는 네 가지 조건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원핵세포의 조절 기전을 세우고 나면, 진핵세포에서 무엇이 추가되는지를 조건별로 정리할 수 있다. 네 가지 조건이 달라지고, 각 조건이 새로운 조절 층위를 하나씩 추가한다.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조건 1: DNA가 histone과 결합해 chromatin을 이룬다.</a:t>
            </a:r>
            <a:r>
              <a:rPr sz="1400" b="0" i="0">
                <a:solidFill>
                  <a:srgbClr val="11202B"/>
                </a:solidFill>
                <a:latin typeface="Malgun Gothic"/>
                <a:ea typeface="Malgun Gothic"/>
                <a:cs typeface="Malgun Gothic"/>
              </a:rPr>
              <a:t> 세균의 DNA는 비교적 자유롭게 접근할 수 있지만, 진핵 DNA는 약 147 염기쌍마다 histone 팔량체를 감아 </a:t>
            </a:r>
            <a:r>
              <a:rPr sz="1400" b="1" i="0">
                <a:solidFill>
                  <a:srgbClr val="11202B"/>
                </a:solidFill>
                <a:latin typeface="Malgun Gothic"/>
                <a:ea typeface="Malgun Gothic"/>
                <a:cs typeface="Malgun Gothic"/>
              </a:rPr>
              <a:t>nucleosome</a:t>
            </a:r>
            <a:r>
              <a:rPr sz="1400" b="0" i="0">
                <a:solidFill>
                  <a:srgbClr val="11202B"/>
                </a:solidFill>
                <a:latin typeface="Malgun Gothic"/>
                <a:ea typeface="Malgun Gothic"/>
                <a:cs typeface="Malgun Gothic"/>
              </a:rPr>
              <a:t>을 이룬다. 전사인자가 결합할 DNA가 histone과 접촉하고 있으므로, </a:t>
            </a:r>
            <a:r>
              <a:rPr sz="1400" b="1" i="0">
                <a:solidFill>
                  <a:srgbClr val="11202B"/>
                </a:solidFill>
                <a:latin typeface="Malgun Gothic"/>
                <a:ea typeface="Malgun Gothic"/>
                <a:cs typeface="Malgun Gothic"/>
              </a:rPr>
              <a:t>접근 가능성 자체가 조절 대상</a:t>
            </a:r>
            <a:r>
              <a:rPr sz="1400" b="0" i="0">
                <a:solidFill>
                  <a:srgbClr val="11202B"/>
                </a:solidFill>
                <a:latin typeface="Malgun Gothic"/>
                <a:ea typeface="Malgun Gothic"/>
                <a:cs typeface="Malgun Gothic"/>
              </a:rPr>
              <a:t>이 된다. 여기서 chromatin 재구성 복합체, histone 수식, DNA methylation이라는 층위가 생긴다.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조건 2: 전사와 번역이 공간적으로 분리되어 있다.</a:t>
            </a:r>
            <a:r>
              <a:rPr sz="1400" b="0" i="0">
                <a:solidFill>
                  <a:srgbClr val="11202B"/>
                </a:solidFill>
                <a:latin typeface="Malgun Gothic"/>
                <a:ea typeface="Malgun Gothic"/>
                <a:cs typeface="Malgun Gothic"/>
              </a:rPr>
              <a:t> 전사는 핵에서, 번역은 세포질에서 일어난다. 그 결과 attenuation 같은 결합 기전은 불가능해지지만, 대신 </a:t>
            </a:r>
            <a:r>
              <a:rPr sz="1400" b="1" i="0">
                <a:solidFill>
                  <a:srgbClr val="11202B"/>
                </a:solidFill>
                <a:latin typeface="Malgun Gothic"/>
                <a:ea typeface="Malgun Gothic"/>
                <a:cs typeface="Malgun Gothic"/>
              </a:rPr>
              <a:t>핵에서 일어나는 가공과 수송</a:t>
            </a:r>
            <a:r>
              <a:rPr sz="1400" b="0" i="0">
                <a:solidFill>
                  <a:srgbClr val="11202B"/>
                </a:solidFill>
                <a:latin typeface="Malgun Gothic"/>
                <a:ea typeface="Malgun Gothic"/>
                <a:cs typeface="Malgun Gothic"/>
              </a:rPr>
              <a:t>이 조절 지점으로 추가된다. Splicing, capping, polyadenylation, 핵 밖으로의 수송이 모두 조절될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조건 3: 조절서열이 멀리 떨어져 있을 수 있다.</a:t>
            </a:r>
            <a:r>
              <a:rPr sz="1400" b="0" i="0">
                <a:solidFill>
                  <a:srgbClr val="11202B"/>
                </a:solidFill>
                <a:latin typeface="Malgun Gothic"/>
                <a:ea typeface="Malgun Gothic"/>
                <a:cs typeface="Malgun Gothic"/>
              </a:rPr>
              <a:t> 세균의 operator는 promoter 바로 옆에 있지만, 진핵세포의 </a:t>
            </a:r>
            <a:r>
              <a:rPr sz="1400" b="1" i="0">
                <a:solidFill>
                  <a:srgbClr val="11202B"/>
                </a:solidFill>
                <a:latin typeface="Malgun Gothic"/>
                <a:ea typeface="Malgun Gothic"/>
                <a:cs typeface="Malgun Gothic"/>
              </a:rPr>
              <a:t>enhancer</a:t>
            </a:r>
            <a:r>
              <a:rPr sz="1400" b="0" i="0">
                <a:solidFill>
                  <a:srgbClr val="11202B"/>
                </a:solidFill>
                <a:latin typeface="Malgun Gothic"/>
                <a:ea typeface="Malgun Gothic"/>
                <a:cs typeface="Malgun Gothic"/>
              </a:rPr>
              <a:t>는 수천에서 수십만 염기쌍 떨어져 있을 수 있고 유전자의 하류나 intron 안에 있을 수도 있다. 멀리 있는 서열이 작용하려면 DNA가 접혀 물리적으로 가까워져야 하고, </a:t>
            </a:r>
            <a:r>
              <a:rPr sz="1400" b="1" i="0">
                <a:solidFill>
                  <a:srgbClr val="11202B"/>
                </a:solidFill>
                <a:latin typeface="Malgun Gothic"/>
                <a:ea typeface="Malgun Gothic"/>
                <a:cs typeface="Malgun Gothic"/>
              </a:rPr>
              <a:t>mediator</a:t>
            </a:r>
            <a:r>
              <a:rPr sz="1400" b="0" i="0">
                <a:solidFill>
                  <a:srgbClr val="11202B"/>
                </a:solidFill>
                <a:latin typeface="Malgun Gothic"/>
                <a:ea typeface="Malgun Gothic"/>
                <a:cs typeface="Malgun Gothic"/>
              </a:rPr>
              <a:t> 같은 복합체가 활성인자와 전사 기계를 연결해야 한다. 여기서 고차 구조와 chromatin domain이라는 층위가 생긴다.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진핵세포에서 달라지는 네 가지 조건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조건 4: 하나의 유전자가 여러 신호를 통합해야 한다.</a:t>
            </a:r>
            <a:r>
              <a:rPr sz="1400" b="0" i="0">
                <a:solidFill>
                  <a:srgbClr val="11202B"/>
                </a:solidFill>
                <a:latin typeface="Malgun Gothic"/>
                <a:ea typeface="Malgun Gothic"/>
                <a:cs typeface="Malgun Gothic"/>
              </a:rPr>
              <a:t> 세균은 주로 환경의 영양 상태에 반응하지만, 다세포 생물의 세포는 자신의 종류, 발달 단계, 호르몬 신호, 이웃 세포의 상태를 모두 반영해 발현을 정해야 한다. 그 결과 하나의 유전자에 </a:t>
            </a:r>
            <a:r>
              <a:rPr sz="1400" b="1" i="0">
                <a:solidFill>
                  <a:srgbClr val="11202B"/>
                </a:solidFill>
                <a:latin typeface="Malgun Gothic"/>
                <a:ea typeface="Malgun Gothic"/>
                <a:cs typeface="Malgun Gothic"/>
              </a:rPr>
              <a:t>여러 개의 조절서열이 모여 있고 여러 전사인자가 조합으로 작용</a:t>
            </a:r>
            <a:r>
              <a:rPr sz="1400" b="0" i="0">
                <a:solidFill>
                  <a:srgbClr val="11202B"/>
                </a:solidFill>
                <a:latin typeface="Malgun Gothic"/>
                <a:ea typeface="Malgun Gothic"/>
                <a:cs typeface="Malgun Gothic"/>
              </a:rPr>
              <a:t>한다. 면역글로불린 enhancer가 여러 결합 자리를 가지는 것이 예다. 이것이 조합 조절(combinatorial control)이며, 적은 수의 전사인자로 많은 발현 상태를 만드는 방식이다.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네 조건을 묶으면 진핵세포 조절의 특징이 하나로 정리된다. </a:t>
            </a:r>
            <a:r>
              <a:rPr sz="1400" b="1" i="0">
                <a:solidFill>
                  <a:srgbClr val="11202B"/>
                </a:solidFill>
                <a:latin typeface="Malgun Gothic"/>
                <a:ea typeface="Malgun Gothic"/>
                <a:cs typeface="Malgun Gothic"/>
              </a:rPr>
              <a:t>원핵세포의 조절은 주로 "전사를 시작할지"를 정하지만, 진핵세포의 조절은 "접근할 수 있는지"부터 "만들어진 RNA를 쓸지"까지의 긴 경로를 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마지막으로 원핵과 진핵에 공통된 원리를 확인해 두어야 한다. 기전은 달라도 다음 세 가지는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조절서열(cis)과 조절 단백질(trans)의 역할 분담</a:t>
            </a:r>
            <a:r>
              <a:rPr sz="1400" b="0" i="0">
                <a:solidFill>
                  <a:srgbClr val="11202B"/>
                </a:solidFill>
                <a:latin typeface="Malgun Gothic"/>
                <a:ea typeface="Malgun Gothic"/>
                <a:cs typeface="Malgun Gothic"/>
              </a:rPr>
              <a:t>: 자리와 그 자리를 찾아가는 분자의 구분이다.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Allosteric 조절</a:t>
            </a:r>
            <a:r>
              <a:rPr sz="1400" b="0" i="0">
                <a:solidFill>
                  <a:srgbClr val="11202B"/>
                </a:solidFill>
                <a:latin typeface="Malgun Gothic"/>
                <a:ea typeface="Malgun Gothic"/>
                <a:cs typeface="Malgun Gothic"/>
              </a:rPr>
              <a:t>: 작은 분자나 수식이 조절 단백질의 구조를 바꾸어 결합 성질을 바꾼다.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양성 조절과 음성 조절의 공존</a:t>
            </a:r>
            <a:r>
              <a:rPr sz="1400" b="0" i="0">
                <a:solidFill>
                  <a:srgbClr val="11202B"/>
                </a:solidFill>
                <a:latin typeface="Malgun Gothic"/>
                <a:ea typeface="Malgun Gothic"/>
                <a:cs typeface="Malgun Gothic"/>
              </a:rPr>
              <a:t>: 켜는 장치와 끄는 장치가 함께 작동해 넓은 범위를 만든다.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진핵세포에서 달라지는 네 가지 조건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43</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이 수업에서 세운 틀은 다음 세 수업으로 이어진다. 전사인자와 enhancer가 조건 3과 4를, 후성유전 조절이 조건 1을, non-coding RNA가 조건 2의 뒤쪽 단계를 각각 자세히 다룬다.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진핵세포에서 달라지는 네 가지 조건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44</a:t>
            </a:r>
          </a:p>
        </p:txBody>
      </p:sp>
      <p:pic>
        <p:nvPicPr>
          <p:cNvPr id="7" name="Picture 6" descr="fig-prokaryote-vs-eukaryote.slide.png"/>
          <p:cNvPicPr>
            <a:picLocks noChangeAspect="1"/>
          </p:cNvPicPr>
          <p:nvPr/>
        </p:nvPicPr>
        <p:blipFill>
          <a:blip r:embed="rId2"/>
          <a:stretch>
            <a:fillRect/>
          </a:stretch>
        </p:blipFill>
        <p:spPr>
          <a:xfrm>
            <a:off x="1941291" y="1325880"/>
            <a:ext cx="830911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원핵세포와 진핵세포 조절의 네 가지 조건 차이. Chromatin에 의한 접근 제한, 전사와 번역의 공간 분리, 멀리 떨어진 enhancer와 DNA 고리, 여러 전사인자의 조합 조절이 각각 추가하는 조절 층위, 그리고 두 계통에 공통된 세 가지 원리를 함께 보인다.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간세포와 신경세포가 거의 같은 유전체를 가지고도 전혀 다른 일을 하는 이유를 설명하고, 이 사실에서 나오는 기본 구별을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세포의 차이는 가진 유전자가 다르기 때문이 아니라 어떤 유전자를 얼마나 발현하는지가 다르기 때문이다. 간세포는 albumin을, 신경세포는 이온 통로와 수용체를 주로 만들지만 두 유전자가 양쪽 세포에 모두 존재한다. 여기서 나오는 기본 구별은 유전자가 유전체에 존재하는 것과 그 유전자가 발현되는 것이 별개의 사실이라는 점이다. 세포 분화에서 달라지는 것은 염기서열이 아니라 그 정보를 읽는 방식이다.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전사 개시가 주된 조절 지점이 되는 이유를 자원 절약으로 설명하고, 뒤쪽 단계의 조절이 가지는 반대 방향의 이점을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가장 앞 단계에서 끄면 뒤따르는 모든 비용이 함께 줄어든다. 필요하지 않은 효소의 mRNA를 만들지 않으면 번역에 쓸 주형이 없으므로 아미노산과 ATP도 쓰이지 않는다. 반대로 뒤쪽 단계의 조절은 빠르다. 전사부터 시작하면 수십 분이 걸리지만 저장된 mRNA의 번역을 켜거나 저장된 단백질을 활성화하면 수 초에서 수 분이다. 조절 단계의 선택에는 비용과 속도의 교환이 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Promoter와 operator를 결합하는 분자와 기능으로 구분하고, 두 서열이 모두 cis 조절서열인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Promoter는 RNA polymerase의 σ 인자가 인식하는 자리이며 전사 개시의 위치를 지정한다. Operator는 조절 단백질이 인식하는 자리이며 전사 개시의 빈도를 조절한다. 둘 다 DNA의 특정 위치에 있는 서열이므로 자신과 같은 DNA 분자에 연결된 유전자에만 작용할 수 있고, 다른 DNA의 정상 서열이 옮겨 와서 대신할 수 없다. 그래서 둘 다 cis 조절서열이다.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Operon의 정의를 쓰고 이 방식의 이점과 한계를 각각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Operon은 하나의 promoter에서 함께 전사되고 함께 조절되는 유전자들의 단위이며, 그 산물은 여러 단백질의 정보를 담은 polycistronic mRNA다. 이점은 동시 조절로, 하나의 신호로 함께 필요한 기능을 한꺼번에 켜고 끌 수 있다. 젖당의 유입(LacY)과 분해(LacZ)처럼 함께 있어야 쓸모가 있는 기능이 그 예다. 한계는 각 단백질의 최종 양이 반드시 같아지지 않는다는 점이며, 번역 개시 자리의 효율과 각 단백질의 반감기가 다르기 때문이다.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젖당이 LacI에 직접 작용하는 신호가 아니라는 점을 설명하고, 기저 발현이 왜 필요한지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세포 안에 들어온 젖당의 일부가 LacZ의 작용으로 allolactose로 바뀌고, 이 allolactose가 LacI에 결합해 구조를 바꾸어 DNA 결합을 약화시킨다. 실제 신호는 allolactose다. 그런데 젖당을 들여오는 LacY와 allolactose를 만드는 LacZ가 모두 lac operon의 산물이므로, 발현이 완전히 0이면 처음 신호를 만들 수 없다. 억제 상태에서도 소량의 LacY와 LacZ가 존재하는 기저 발현이 유도의 출발점을 제공한다.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Allolactose가 lac 발현을 올리는데도 LacI의 조절을 음성 조절이라 부르는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음성 조절은 조절인자의 직접 작용이 전사를 감소시키는 방식이다. LacI가 operator에 결합하면 전사가 낮아지므로 LacI의 직접 작용은 억제다. Allolactose가 하는 일은 그 억제를 푸는 것이고 전사를 직접 돕는 것이 아니므로, 결과적으로 발현이 올라가더라도 LacI를 활성인자라 부를 수 없다. 조절 단백질의 작용 방향과 외부 신호가 가져오는 결과를 구분해야 한다.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포도당과 젖당의 네 조합에서 lac operon의 발현량을 예측하고, 젖당이 있는 두 조건의 차이가 무엇에서 오는지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젖당이 없으면 LacI가 operator를 막고 있으므로 포도당 상태와 무관하게 발현이 낮다(포도당 많음·젖당 없음은 매우 낮음, 포도당 없음·젖당 없음은 낮음). 젖당이 있으면 LacI는 떨어지지만, 포도당이 많으면 cAMP가 낮아 CAP가 작용하지 못해 발현이 낮게 머문다. 포도당이 없고 젖당이 있을 때만 cAMP가 높아 CAP가 전사 개시 확률을 높여 발현이 높아진다. 두 조건의 차이는 양성 조절의 작동 여부에서 온다.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Cis 작용 요소와 trans 작용 인자를 정의하고, 보완 실험으로 둘을 구별하는 논리를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Cis 작용 요소는 자신과 같은 DNA 분자에 연결된 표적에만 작용하는 요소로 promoter와 operator가 대표적이다. Trans 작용 인자는 확산해 다른 DNA 분자에도 도달할 수 있는 요소로 LacI 같은 단백질이 대표적이다. 두 번째 DNA 사본을 넣었을 때, lacI 결함은 새로 만들어진 LacI가 기존 operator에 결합해 회복되므로 trans 보완이 된다. Operator 서열 변이는 결합 자리 자체가 없어진 것이므로 정상 LacI를 더 공급해도 복구되지 않는다. 보완되면 trans 인자의 결함, 보완되지 않으면 cis 요소의 결함이다.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Lac operon과 trp operon의 기본 상태가 반대인 이유를 대사 경로의 종류와 연결해 설명하고, inducer와 corepressor를 구분하시오.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Lac operon은 이화 경로를 담당하므로 기질인 젖당이 생겼을 때 켜는 것이 목표이고, 기본 상태는 억제다. Trp operon은 생합성 경로를 담당하므로 최종 산물인 tryptophan이 충분할 때 끄는 것이 목표이고, tryptophan은 단백질 합성에 항상 필요하므로 기본 상태는 발현이다. Allolactose처럼 조절 단백질에 결합해 억제를 푸는 작은 분자가 inducer이고, tryptophan처럼 억제인자에 결합해 DNA에 결합할 수 있게 만드는 작은 분자가 corepressor다. 둘 다 allosteric 조절이지만 구조 변화의 방향이 반대다.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54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Attenuation이 세균에서만 가능한 두 조건을 쓰고, tryptophan 농도에 따라 리더 RNA의 구조가 달라지는 기전을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조건은 첫째 핵막이 없어 전사와 번역이 같은 공간에서 동시에 일어나 ribosome이 합성 중인 RNA를 바로 번역할 수 있다는 것, 둘째 전사 단위 앞에 연속된 두 tryptophan codon을 가진 리더 영역이 있다는 것이다. Tryptophan이 충분하면 그것을 실은 tRNA가 많아 ribosome이 두 codon을 막힘 없이 지나 전진하고, 특정 영역을 덮어 남은 영역들이 종결 구조를 만들어 전사가 리더에서 끝난다. 부족하면 ribosome이 두 codon에서 멈춰 상류에 머물고, 하류 영역들이 자유롭게 짝지어 항종결 구조를 만들어 전사가 계속된다.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55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TrpR에 의한 억제와 attenuation을 작용 단계와 감지 대상으로 구분하고, attenuation을 진핵세포의 Pol II 일시정지와 혼동하지 않아야 하는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TrpR에 의한 억제는 전사 개시 단계에서 작용하며 tryptophan 분자 자체를 억제인자의 allosteric 변화로 감지한다. Attenuation은 전사 신장과 종결 단계에서 작용하며 tryptophan을 실은 tRNA의 양을 ribosome의 진행 속도로 감지한다. Pol II 일시정지도 전사 개시 뒤의 조절이지만, NELF와 DSIF 같은 단백질 인자가 유지하고 P-TEFb의 인산화가 푸는 기전이며 RNA의 2차 구조나 ribosome의 위치와 무관하다. 같은 범주에 들어가도 분자 기전을 공유하지 않는다.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56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진핵세포에서 조절 층위가 추가되는 네 가지 조건을 쓰고, 각 조건이 어떤 조절 층위를 더하는지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DNA가 histone과 결합해 nucleosome을 이루므로 접근 가능성 자체가 조절 대상이 되고, chromatin 재구성·histone 수식·DNA methylation 층위가 생긴다. 둘째 전사와 번역이 핵과 세포질로 분리되어 attenuation은 불가능해지지만 splicing·capping·polyadenylation·핵 수송이 조절 지점으로 추가된다. 셋째 enhancer가 수천에서 수십만 염기쌍 떨어져 있을 수 있어 DNA 고리와 mediator, chromatin domain 층위가 생긴다. 넷째 하나의 유전자가 세포 종류·발달 단계·호르몬·이웃 세포의 신호를 통합해야 하므로 여러 전사인자의 조합 조절이 필요해진다.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M03-W04-L02  ·  유전자 발현 조절의 원리와 조절 단위</a:t>
            </a:r>
            <a:r>
              <a:rPr sz="900" b="1" i="0">
                <a:solidFill>
                  <a:srgbClr val="003C71"/>
                </a:solidFill>
                <a:latin typeface="Malgun Gothic"/>
                <a:ea typeface="Malgun Gothic"/>
                <a:cs typeface="Malgun Gothic"/>
              </a:rPr>
              <a:t>      57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Lippincott Illustrated Reviews: Biochemistry. 8th ed. Wolters Kluwer; 2023. Chapter 33, Regulation of Gene Expression.</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The Cell: A Molecular Approach. 9th ed. Oxford University Press; 2022. Chapter 7, Transcriptional Regulation and Epigenetics.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Watson JD, Baker TA, Bell SP, et al. Molecular Biology of the Gene. 7th ed. Pearson; 2014. Chapters 18–19.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 W. Norton; 2022. Chapter 7, Control of Gene Expression.</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Jacob F, Monod J. Genetic regulatory mechanisms in the synthesis of proteins. J Mol Biol. 1961;3(3):318–356.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Yanofsky C. Attenuation in the control of expression of bacterial operons. Nature. 1981;289(5800):751–758.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Busby S, Ebright RH. Transcription activation by catabolite activator protein (CAP). J Mol Biol. 1999;293(2):199–213.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