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Nucleosome의 구성. Histone H2A·H2B·H3·H4 각 두 분자로 이루어진 octamer, 147 염기쌍의 DNA가 1.7 바퀴 감긴 배치, linker DNA와 H1의 위치, 그리고 octamer 밖으로 나온 histone 꼬리를 표시했다.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Chromatin의 포장 단계. 이중나선에서 nucleosome, nucleosome 사슬의 불규칙한 뭉침, cohesin과 CTCF가 만드는 고리, TAD, 그리고 A·B 구획과 염색체 영역까지의 크기 규모를 함께 표시했다.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Deoxyribose에는 2′ hydroxyl기가 없다. RNA의 2′ hydroxyl기는 인접한 인산을 공격해 사슬을 끊을 수 있으므로 알칼리 조건에서 쉽게 분해된다.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Major groove다. 그 홈에서는 네 염기쌍이 수소 공여기·수용기·methyl기의 배치를 서로 다르게 내놓아 구별할 수 있다. Minor groove에서는 그 조합이 겹쳐 구별이 어렵다.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GC 함량이다. GC 염기쌍은 수소결합이 하나 더 많고 쌓임도 더 유리하므로 Tm을 올린다.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물속에서는 염기가 물 분자와도 수소결합을 만들 수 있어 순이득이 크지 않다. Base stacking과 양이온의 전하 가림이 안정성의 큰 몫을 담당한다.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Writhe, 즉 초나선이 생긴다. Lk = twist + writhe 이므로 Lk가 고정된 상태에서 한쪽이 줄면 다른 쪽이 늘어난다.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가닥을 열어야 하는 과정, 즉 복제와 전사의 개시에 유리하다. 덜 감긴 상태에서 가닥이 더 쉽게 분리된다.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Camptothecin 계열은 topoisomerase I의 중간체를 붙잡아 단일가닥 절단을 남기고, 그것이 복제 분기점과 만나면 이중가닥 절단이 된다. Etoposide는 topoisomerase II를 표적으로 하여 이중가닥 절단을 직접 남긴다.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효소의 활성을 낮추는 것이 아니라 효소–DNA 공유결합 중간체를 안정화해 끊어진 상태를 붙잡기 때문이다. 그 결과 절단이 세포에 남는다.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Nucleosome이 유전체 전체를 덮으므로 전사인자의 결합 자리도 대개 덮여 있다. 따라서 조절은 결합의 유무가 아니라 접근의 가능성 문제가 되고, 자리를 비우는 재구성과 수식이 필요해진다.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Acetylation은 lysine의 양전하를 없애 DNA와의 결합을 약화시키는 직접 효과를 갖는다. Methylation은 전하를 바꾸지 않으므로 그 수식을 읽는 단백질이 와야 결과가 생기며, 자리와 횟수에 따라 활성 또는 억제로 나뉜다.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Cohesin은 DNA를 양쪽으로 밀어내며 고리를 키우고(loop extrusion), CTCF가 붙은 자리가 그 진행을 멈춰 고리의 밑동과 TAD의 경계를 정한다.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Hi-C는 수많은 세포의 접촉 빈도를 평균한 결과다. 단일세포 자료에서 TAD의 경계는 세포마다 흔들리고 고리의 위치도 일정하지 않다.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TAD 경계를 포함하는 결실이나 역위가 일어나면 원래 다른 칸에 있던 enhancer가 promoter와 만나 엉뚱한 유전자를 켠다(enhancer 가로채기). 손발 기형과 일부 종양에서 보고되었다.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유전자의 변이가 서로 다른 표현형을 내고 가족 안에서도 양상이 다를 수 있으므로, 유전형만으로 경과를 단정하지 않는다.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M03  분자유전학과 계통별 의학생화학특론</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DNA의 구조와 염색질 포장</a:t>
            </a:r>
          </a:p>
          <a:p>
            <a:r>
              <a:rPr sz="1500" b="0" i="0">
                <a:solidFill>
                  <a:srgbClr val="B9D2E8"/>
                </a:solidFill>
                <a:latin typeface="Malgun Gothic"/>
                <a:ea typeface="Malgun Gothic"/>
                <a:cs typeface="Malgun Gothic"/>
              </a:rPr>
              <a:t>DNA Structure and Chromatin Packaging</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M03-W01-L01  ·  2부</a:t>
            </a:r>
          </a:p>
          <a:p>
            <a:r>
              <a:rPr sz="1100" b="0" i="0">
                <a:solidFill>
                  <a:srgbClr val="F2B705"/>
                </a:solidFill>
                <a:latin typeface="Malgun Gothic"/>
                <a:ea typeface="Malgun Gothic"/>
                <a:cs typeface="Malgun Gothic"/>
              </a:rPr>
              <a:t>전체 14절 가운데 7절</a:t>
            </a:r>
          </a:p>
          <a:p>
            <a:r>
              <a:rPr sz="1100" b="0" i="0">
                <a:solidFill>
                  <a:srgbClr val="9FBEDA"/>
                </a:solidFill>
                <a:latin typeface="Malgun Gothic"/>
                <a:ea typeface="Malgun Gothic"/>
                <a:cs typeface="Malgun Gothic"/>
              </a:rPr>
              <a:t>1주 1회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1.  </a:t>
            </a:r>
            <a:r>
              <a:rPr sz="1400" b="0" i="0">
                <a:solidFill>
                  <a:srgbClr val="11202B"/>
                </a:solidFill>
                <a:latin typeface="Malgun Gothic"/>
                <a:ea typeface="Malgun Gothic"/>
                <a:cs typeface="Malgun Gothic"/>
              </a:rPr>
              <a:t>Nucleotide의 세 구성 요소와 phosphodiester 결합의 방향성을 그림으로 설명한다.</a:t>
            </a:r>
          </a:p>
          <a:p>
            <a:pPr>
              <a:spcAft>
                <a:spcPts val="900"/>
              </a:spcAft>
            </a:pPr>
            <a:r>
              <a:rPr sz="1400" b="1" i="0">
                <a:solidFill>
                  <a:srgbClr val="F2B705"/>
                </a:solidFill>
                <a:latin typeface="Malgun Gothic"/>
                <a:ea typeface="Malgun Gothic"/>
                <a:cs typeface="Malgun Gothic"/>
              </a:rPr>
              <a:t>2.  </a:t>
            </a:r>
            <a:r>
              <a:rPr sz="1400" b="0" i="0">
                <a:solidFill>
                  <a:srgbClr val="11202B"/>
                </a:solidFill>
                <a:latin typeface="Malgun Gothic"/>
                <a:ea typeface="Malgun Gothic"/>
                <a:cs typeface="Malgun Gothic"/>
              </a:rPr>
              <a:t>B형 이중나선의 치수를 제시하고 major groove와 minor groove의 화학적 차이가 단백질 인식에 주는 결과를 설명한다.</a:t>
            </a:r>
          </a:p>
          <a:p>
            <a:pPr>
              <a:spcAft>
                <a:spcPts val="900"/>
              </a:spcAft>
            </a:pPr>
            <a:r>
              <a:rPr sz="1400" b="1" i="0">
                <a:solidFill>
                  <a:srgbClr val="F2B705"/>
                </a:solidFill>
                <a:latin typeface="Malgun Gothic"/>
                <a:ea typeface="Malgun Gothic"/>
                <a:cs typeface="Malgun Gothic"/>
              </a:rPr>
              <a:t>3.  </a:t>
            </a:r>
            <a:r>
              <a:rPr sz="1400" b="0" i="0">
                <a:solidFill>
                  <a:srgbClr val="11202B"/>
                </a:solidFill>
                <a:latin typeface="Malgun Gothic"/>
                <a:ea typeface="Malgun Gothic"/>
                <a:cs typeface="Malgun Gothic"/>
              </a:rPr>
              <a:t>A형, Z형, G-quadruplex가 B형과 어떻게 다른지 구분하고 각 구조가 관찰되는 조건을 든다.</a:t>
            </a:r>
          </a:p>
          <a:p>
            <a:pPr>
              <a:spcAft>
                <a:spcPts val="900"/>
              </a:spcAft>
            </a:pPr>
            <a:r>
              <a:rPr sz="1400" b="1" i="0">
                <a:solidFill>
                  <a:srgbClr val="F2B705"/>
                </a:solidFill>
                <a:latin typeface="Malgun Gothic"/>
                <a:ea typeface="Malgun Gothic"/>
                <a:cs typeface="Malgun Gothic"/>
              </a:rPr>
              <a:t>4.  </a:t>
            </a:r>
            <a:r>
              <a:rPr sz="1400" b="0" i="0">
                <a:solidFill>
                  <a:srgbClr val="11202B"/>
                </a:solidFill>
                <a:latin typeface="Malgun Gothic"/>
                <a:ea typeface="Malgun Gothic"/>
                <a:cs typeface="Malgun Gothic"/>
              </a:rPr>
              <a:t>이중나선의 안정성을 base stacking, hydrogen bond, 이온 세기로 나누어 설명하고 Tm이 무엇에 의해 달라지는지 예측한다.</a:t>
            </a:r>
          </a:p>
          <a:p>
            <a:pPr>
              <a:spcAft>
                <a:spcPts val="900"/>
              </a:spcAft>
            </a:pPr>
            <a:r>
              <a:rPr sz="1400" b="1" i="0">
                <a:solidFill>
                  <a:srgbClr val="F2B705"/>
                </a:solidFill>
                <a:latin typeface="Malgun Gothic"/>
                <a:ea typeface="Malgun Gothic"/>
                <a:cs typeface="Malgun Gothic"/>
              </a:rPr>
              <a:t>5.  </a:t>
            </a:r>
            <a:r>
              <a:rPr sz="1400" b="0" i="0">
                <a:solidFill>
                  <a:srgbClr val="11202B"/>
                </a:solidFill>
                <a:latin typeface="Malgun Gothic"/>
                <a:ea typeface="Malgun Gothic"/>
                <a:cs typeface="Malgun Gothic"/>
              </a:rPr>
              <a:t>Linking number와 초나선을 정의하고 topoisomerase I과 II의 작용을 반응 단계로 구분한다.</a:t>
            </a:r>
          </a:p>
          <a:p>
            <a:pPr>
              <a:spcAft>
                <a:spcPts val="900"/>
              </a:spcAft>
            </a:pPr>
            <a:r>
              <a:rPr sz="1400" b="1" i="0">
                <a:solidFill>
                  <a:srgbClr val="F2B705"/>
                </a:solidFill>
                <a:latin typeface="Malgun Gothic"/>
                <a:ea typeface="Malgun Gothic"/>
                <a:cs typeface="Malgun Gothic"/>
              </a:rPr>
              <a:t>6.  </a:t>
            </a:r>
            <a:r>
              <a:rPr sz="1400" b="0" i="0">
                <a:solidFill>
                  <a:srgbClr val="11202B"/>
                </a:solidFill>
                <a:latin typeface="Malgun Gothic"/>
                <a:ea typeface="Malgun Gothic"/>
                <a:cs typeface="Malgun Gothic"/>
              </a:rPr>
              <a:t>Nucleosome의 구성과 DNA가 histone octamer에 붙는 결합의 성질을 설명한다.</a:t>
            </a:r>
          </a:p>
          <a:p>
            <a:pPr>
              <a:spcAft>
                <a:spcPts val="900"/>
              </a:spcAft>
            </a:pPr>
            <a:r>
              <a:rPr sz="1400" b="1" i="0">
                <a:solidFill>
                  <a:srgbClr val="F2B705"/>
                </a:solidFill>
                <a:latin typeface="Malgun Gothic"/>
                <a:ea typeface="Malgun Gothic"/>
                <a:cs typeface="Malgun Gothic"/>
              </a:rPr>
              <a:t>7.  </a:t>
            </a:r>
            <a:r>
              <a:rPr sz="1400" b="0" i="0">
                <a:solidFill>
                  <a:srgbClr val="11202B"/>
                </a:solidFill>
                <a:latin typeface="Malgun Gothic"/>
                <a:ea typeface="Malgun Gothic"/>
                <a:cs typeface="Malgun Gothic"/>
              </a:rPr>
              <a:t>Histone 변이체와 꼬리 수식이 chromatin의 성질을 바꾸는 방식을 든다.</a:t>
            </a:r>
          </a:p>
          <a:p>
            <a:pPr>
              <a:spcAft>
                <a:spcPts val="900"/>
              </a:spcAft>
            </a:pPr>
            <a:r>
              <a:rPr sz="1400" b="1" i="0">
                <a:solidFill>
                  <a:srgbClr val="F2B705"/>
                </a:solidFill>
                <a:latin typeface="Malgun Gothic"/>
                <a:ea typeface="Malgun Gothic"/>
                <a:cs typeface="Malgun Gothic"/>
              </a:rPr>
              <a:t>8.  </a:t>
            </a:r>
            <a:r>
              <a:rPr sz="1400" b="0" i="0">
                <a:solidFill>
                  <a:srgbClr val="11202B"/>
                </a:solidFill>
                <a:latin typeface="Malgun Gothic"/>
                <a:ea typeface="Malgun Gothic"/>
                <a:cs typeface="Malgun Gothic"/>
              </a:rPr>
              <a:t>Loop extrusion과 TAD의 개념으로 염색체의 상위 구조를 설명하고 CTCF와 cohesin의 역할을 구분한다.</a:t>
            </a:r>
          </a:p>
          <a:p>
            <a:pPr>
              <a:spcAft>
                <a:spcPts val="900"/>
              </a:spcAft>
            </a:pPr>
            <a:r>
              <a:rPr sz="1400" b="1" i="0">
                <a:solidFill>
                  <a:srgbClr val="F2B705"/>
                </a:solidFill>
                <a:latin typeface="Malgun Gothic"/>
                <a:ea typeface="Malgun Gothic"/>
                <a:cs typeface="Malgun Gothic"/>
              </a:rPr>
              <a:t>9.  </a:t>
            </a:r>
            <a:r>
              <a:rPr sz="1400" b="0" i="0">
                <a:solidFill>
                  <a:srgbClr val="11202B"/>
                </a:solidFill>
                <a:latin typeface="Malgun Gothic"/>
                <a:ea typeface="Malgun Gothic"/>
                <a:cs typeface="Malgun Gothic"/>
              </a:rPr>
              <a:t>Chromatin 접근성과 접촉 빈도를 측정하는 방법을 원리로 구분한다.</a:t>
            </a:r>
          </a:p>
          <a:p>
            <a:pPr>
              <a:spcAft>
                <a:spcPts val="900"/>
              </a:spcAft>
            </a:pPr>
            <a:r>
              <a:rPr sz="1400" b="1" i="0">
                <a:solidFill>
                  <a:srgbClr val="F2B705"/>
                </a:solidFill>
                <a:latin typeface="Malgun Gothic"/>
                <a:ea typeface="Malgun Gothic"/>
                <a:cs typeface="Malgun Gothic"/>
              </a:rPr>
              <a:t>10.  </a:t>
            </a:r>
            <a:r>
              <a:rPr sz="1400" b="0" i="0">
                <a:solidFill>
                  <a:srgbClr val="11202B"/>
                </a:solidFill>
                <a:latin typeface="Malgun Gothic"/>
                <a:ea typeface="Malgun Gothic"/>
                <a:cs typeface="Malgun Gothic"/>
              </a:rPr>
              <a:t>Topoisomerase 억제제, cohesinopathy, laminopathy를 구조의 교란이라는 틀로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M01-W05-L02 생체분자와 막의 구조 — 이중나선, 염기쌍, 5′→3′ 방향성</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M01-W06-L02 유전자와 유전체의 구성 — 염색체의 기능 요소, nucleosome과 응축의 개요</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M01-W07-L02 전사 조절과 후성유전 — histone 수식과 DNA 메틸화의 조절 기능</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8. Nucleosome: 포장의 첫 단계</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9. Histone 변이체와 꼬리 수식</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10. 상위 구조: 고리와 TAD</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11. 핵 안의 배치와 구획</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12. 접근성과 접촉을 측정하는 방법</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13. 구조가 깨지는 질환</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14.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Nucleosome: 포장의 첫 단계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사람의 체세포 하나에 든 DNA를 이어 붙이면 약 2 m이고, 핵의 지름은 약 10 μm다. 이 격차를 메우는 것이 </a:t>
            </a:r>
            <a:r>
              <a:rPr sz="1400" b="1" i="0">
                <a:solidFill>
                  <a:srgbClr val="11202B"/>
                </a:solidFill>
                <a:latin typeface="Malgun Gothic"/>
                <a:ea typeface="Malgun Gothic"/>
                <a:cs typeface="Malgun Gothic"/>
              </a:rPr>
              <a:t>chromatin</a:t>
            </a:r>
            <a:r>
              <a:rPr sz="1400" b="0" i="0">
                <a:solidFill>
                  <a:srgbClr val="11202B"/>
                </a:solidFill>
                <a:latin typeface="Malgun Gothic"/>
                <a:ea typeface="Malgun Gothic"/>
                <a:cs typeface="Malgun Gothic"/>
              </a:rPr>
              <a:t>이다. 첫 단계가 </a:t>
            </a:r>
            <a:r>
              <a:rPr sz="1400" b="1" i="0">
                <a:solidFill>
                  <a:srgbClr val="11202B"/>
                </a:solidFill>
                <a:latin typeface="Malgun Gothic"/>
                <a:ea typeface="Malgun Gothic"/>
                <a:cs typeface="Malgun Gothic"/>
              </a:rPr>
              <a:t>nucleosome</a:t>
            </a:r>
            <a:r>
              <a:rPr sz="1400" b="0" i="0">
                <a:solidFill>
                  <a:srgbClr val="11202B"/>
                </a:solidFill>
                <a:latin typeface="Malgun Gothic"/>
                <a:ea typeface="Malgun Gothic"/>
                <a:cs typeface="Malgun Gothic"/>
              </a:rPr>
              <a:t>이며, 구조가 원자 수준에서 밝혀져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구성은 정해져 있다. Histone H2A, H2B, H3, H4가 각각 두 분자씩 모여 </a:t>
            </a:r>
            <a:r>
              <a:rPr sz="1400" b="1" i="0">
                <a:solidFill>
                  <a:srgbClr val="11202B"/>
                </a:solidFill>
                <a:latin typeface="Malgun Gothic"/>
                <a:ea typeface="Malgun Gothic"/>
                <a:cs typeface="Malgun Gothic"/>
              </a:rPr>
              <a:t>octamer</a:t>
            </a:r>
            <a:r>
              <a:rPr sz="1400" b="0" i="0">
                <a:solidFill>
                  <a:srgbClr val="11202B"/>
                </a:solidFill>
                <a:latin typeface="Malgun Gothic"/>
                <a:ea typeface="Malgun Gothic"/>
                <a:cs typeface="Malgun Gothic"/>
              </a:rPr>
              <a:t>를 이루고, 그 바깥을 DNA 약 147 염기쌍이 1.7 바퀴 감는다. Nucleosome 사이의 DNA를 linker라 하고 길이가 일정하지 않다. H1은 octamer 바깥에서 DNA가 들어오고 나가는 자리에 붙어 감긴 상태를 고정한다.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결합의 성질을 정확히 이해해야 한다. Histone은 lysine과 arginine이 많아 양전하를 띠고, DNA 골격의 음전하와 정전기적으로 결합한다. 그런데 이 결합은 </a:t>
            </a:r>
            <a:r>
              <a:rPr sz="1400" b="1" i="0">
                <a:solidFill>
                  <a:srgbClr val="11202B"/>
                </a:solidFill>
                <a:latin typeface="Malgun Gothic"/>
                <a:ea typeface="Malgun Gothic"/>
                <a:cs typeface="Malgun Gothic"/>
              </a:rPr>
              <a:t>서열을 거의 가리지 않는다.</a:t>
            </a:r>
            <a:r>
              <a:rPr sz="1400" b="0" i="0">
                <a:solidFill>
                  <a:srgbClr val="11202B"/>
                </a:solidFill>
                <a:latin typeface="Malgun Gothic"/>
                <a:ea typeface="Malgun Gothic"/>
                <a:cs typeface="Malgun Gothic"/>
              </a:rPr>
              <a:t> 대신 DNA가 octamer를 감으려면 휘어져야 하므로, 휘기 쉬운 서열이 선호되고 휘기 어려운 구간은 nucleosome이 잘 놓이지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비특이성이 중요한 함의를 준다. Nucleosome은 유전체 전체를 덮으므로, 전사인자가 결합할 자리도 대개 덮여 있다. 따라서 </a:t>
            </a:r>
            <a:r>
              <a:rPr sz="1400" b="1" i="0">
                <a:solidFill>
                  <a:srgbClr val="11202B"/>
                </a:solidFill>
                <a:latin typeface="Malgun Gothic"/>
                <a:ea typeface="Malgun Gothic"/>
                <a:cs typeface="Malgun Gothic"/>
              </a:rPr>
              <a:t>발현을 켜려면 먼저 자리를 비워야 한다.</a:t>
            </a:r>
            <a:r>
              <a:rPr sz="1400" b="0" i="0">
                <a:solidFill>
                  <a:srgbClr val="11202B"/>
                </a:solidFill>
                <a:latin typeface="Malgun Gothic"/>
                <a:ea typeface="Malgun Gothic"/>
                <a:cs typeface="Malgun Gothic"/>
              </a:rPr>
              <a:t> M01-W07-L02에서 본 재구성 복합체와 수식 효소가 하는 일이 이것이고, 유전자 조절을 "결합의 유무"가 아니라 "접근의 가능성"으로 보는 관점이 여기서 나온다.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Nucleosome: 포장의 첫 단계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6</a:t>
            </a:r>
          </a:p>
        </p:txBody>
      </p:sp>
      <p:pic>
        <p:nvPicPr>
          <p:cNvPr id="7" name="Picture 6" descr="fig-nucleosome.slide.png"/>
          <p:cNvPicPr>
            <a:picLocks noChangeAspect="1"/>
          </p:cNvPicPr>
          <p:nvPr/>
        </p:nvPicPr>
        <p:blipFill>
          <a:blip r:embed="rId2"/>
          <a:stretch>
            <a:fillRect/>
          </a:stretch>
        </p:blipFill>
        <p:spPr>
          <a:xfrm>
            <a:off x="2324940" y="1325880"/>
            <a:ext cx="7541815"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Nucleosome의 구성. Histone H2A·H2B·H3·H4 각 두 분자로 이루어진 octamer, 147 염기쌍의 DNA가 1.7 바퀴 감긴 배치, linker DNA와 H1의 위치, 그리고 octamer 밖으로 나온 histone 꼬리를 표시했다.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Nucleosome: 포장의 첫 단계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Nucleosome의 위치가 어떻게 정해지는지도 쟁점이다. 세 요인이 함께 작용한다. 첫째, 서열의 휘기 성질이다. 둘째, 재구성 복합체가 ATP를 써서 nucleosome을 밀거나 떼어낸다. 셋째, 서열에 결합한 다른 단백질이 자리를 차지해 nucleosome을 밀어낸다. 그래서 유전체 전체에서 nucleosome의 자리는 완전히 고정되지도, 완전히 무작위도 아니다. 조절 구간 앞의 nucleosome 없는 구간과 그 양옆에 잘 정돈된 nucleosome 배열이 반복해 관찰된다.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복제 중의 재조립도 중요한 문제다. 복제 분기점이 지나가면 nucleosome이 일시적으로 해체되고, 새로 만들어진 두 가닥에 histone을 다시 얹어야 한다. 이때 옛 histone이 양쪽에 나뉘어 들어가고 새로 합성한 histone이 보충된다. </a:t>
            </a:r>
            <a:r>
              <a:rPr sz="1600" b="1" i="0">
                <a:solidFill>
                  <a:srgbClr val="11202B"/>
                </a:solidFill>
                <a:latin typeface="Malgun Gothic"/>
                <a:ea typeface="Malgun Gothic"/>
                <a:cs typeface="Malgun Gothic"/>
              </a:rPr>
              <a:t>수식의 정보가 이 과정에서 절반으로 희석되므로, 그것을 복원하는 기구가 있어야 세포 기억이 유지된다.</a:t>
            </a:r>
            <a:r>
              <a:rPr sz="1600" b="0" i="0">
                <a:solidFill>
                  <a:srgbClr val="11202B"/>
                </a:solidFill>
                <a:latin typeface="Malgun Gothic"/>
                <a:ea typeface="Malgun Gothic"/>
                <a:cs typeface="Malgun Gothic"/>
              </a:rPr>
              <a:t> 복제 뒤에 같은 수식을 다시 붙이는 효소가 분기점 근처에 모인다는 자료가 그 복원 기구를 가리키며, M03-W05-L01에서 그 유지 기전을 다룬다.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Histone 변이체와 꼬리 수식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Histone은 한 종류가 아니다. 표준 histone과 서열이 조금 다른 </a:t>
            </a:r>
            <a:r>
              <a:rPr sz="2000" b="1" i="0">
                <a:solidFill>
                  <a:srgbClr val="11202B"/>
                </a:solidFill>
                <a:latin typeface="Malgun Gothic"/>
                <a:ea typeface="Malgun Gothic"/>
                <a:cs typeface="Malgun Gothic"/>
              </a:rPr>
              <a:t>변이체</a:t>
            </a:r>
            <a:r>
              <a:rPr sz="2000" b="0" i="0">
                <a:solidFill>
                  <a:srgbClr val="11202B"/>
                </a:solidFill>
                <a:latin typeface="Malgun Gothic"/>
                <a:ea typeface="Malgun Gothic"/>
                <a:cs typeface="Malgun Gothic"/>
              </a:rPr>
              <a:t>가 있고, 특정 자리에 놓여 그 자리의 성질을 바꾼다.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Histone 변이체와 꼬리 수식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변이체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놓이는 자리</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H2A.Z</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Promoter 부근의 nucleosome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자리를 불안정하게 해 교체가 쉬워진다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H3.3</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전사 중인 구간, 조절 구간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복제와 무관하게 교체되며 활성 상태와 연관된다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CENP-A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Centromere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Kinetochore 조립의 표지가 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H2A.X</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손상 부위 주변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인산화되어 복구 신호의 표지가 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macroH2A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불활성 X 염색체 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응축된 상태와 연관된다</a:t>
                      </a:r>
                    </a:p>
                  </a:txBody>
                  <a:tcPr marL="73152" marR="73152" marT="27432" marB="2743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Histone 변이체와 꼬리 수식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꼬리 수식은 다른 축이다. Octamer 밖으로 나온 histone의 N 말단 꼬리에 acetyl, methyl, phosphate, ubiquitin 등이 붙는다. 작동 방식은 두 가지로 나뉜다. 첫째는 </a:t>
            </a:r>
            <a:r>
              <a:rPr sz="1600" b="1" i="0">
                <a:solidFill>
                  <a:srgbClr val="11202B"/>
                </a:solidFill>
                <a:latin typeface="Malgun Gothic"/>
                <a:ea typeface="Malgun Gothic"/>
                <a:cs typeface="Malgun Gothic"/>
              </a:rPr>
              <a:t>전하를 바꾸는 직접 효과</a:t>
            </a:r>
            <a:r>
              <a:rPr sz="1600" b="0" i="0">
                <a:solidFill>
                  <a:srgbClr val="11202B"/>
                </a:solidFill>
                <a:latin typeface="Malgun Gothic"/>
                <a:ea typeface="Malgun Gothic"/>
                <a:cs typeface="Malgun Gothic"/>
              </a:rPr>
              <a:t>다. Lysine의 acetylation은 양전하를 없애 DNA와의 결합을 약화시키므로 구조가 느슨해진다. 둘째는 </a:t>
            </a:r>
            <a:r>
              <a:rPr sz="1600" b="1" i="0">
                <a:solidFill>
                  <a:srgbClr val="11202B"/>
                </a:solidFill>
                <a:latin typeface="Malgun Gothic"/>
                <a:ea typeface="Malgun Gothic"/>
                <a:cs typeface="Malgun Gothic"/>
              </a:rPr>
              <a:t>표지로서의 효과</a:t>
            </a:r>
            <a:r>
              <a:rPr sz="1600" b="0" i="0">
                <a:solidFill>
                  <a:srgbClr val="11202B"/>
                </a:solidFill>
                <a:latin typeface="Malgun Gothic"/>
                <a:ea typeface="Malgun Gothic"/>
                <a:cs typeface="Malgun Gothic"/>
              </a:rPr>
              <a:t>다. 특정 수식을 알아보는 단백질이 와서 다음 일을 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두 번째 방식에서 중요한 점은 </a:t>
            </a:r>
            <a:r>
              <a:rPr sz="1600" b="1" i="0">
                <a:solidFill>
                  <a:srgbClr val="11202B"/>
                </a:solidFill>
                <a:latin typeface="Malgun Gothic"/>
                <a:ea typeface="Malgun Gothic"/>
                <a:cs typeface="Malgun Gothic"/>
              </a:rPr>
              <a:t>수식 자체가 활성이나 억제를 뜻하지 않는다</a:t>
            </a:r>
            <a:r>
              <a:rPr sz="1600" b="0" i="0">
                <a:solidFill>
                  <a:srgbClr val="11202B"/>
                </a:solidFill>
                <a:latin typeface="Malgun Gothic"/>
                <a:ea typeface="Malgun Gothic"/>
                <a:cs typeface="Malgun Gothic"/>
              </a:rPr>
              <a:t>는 것이다. 같은 lysine의 methylation이 어느 자리에 얼마나 붙었는지에 따라 반대 결과를 낸다. H3K4의 세 번 메틸화는 활성 promoter와, H3K9과 H3K27의 세 번 메틸화는 억제된 구간과 연관된다. 이 대응은 M01-W07-L02에서 다루었으므로 여기서는 구조 쪽 결과에 집중한다.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Histone 변이체와 꼬리 수식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11</a:t>
            </a:r>
          </a:p>
        </p:txBody>
      </p:sp>
      <p:sp>
        <p:nvSpPr>
          <p:cNvPr id="7" name="Rectangle 6"/>
          <p:cNvSpPr/>
          <p:nvPr/>
        </p:nvSpPr>
        <p:spPr>
          <a:xfrm>
            <a:off x="640080" y="132588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시험에서는 </a:t>
            </a:r>
            <a:r>
              <a:rPr sz="1600" b="1" i="0">
                <a:solidFill>
                  <a:srgbClr val="11202B"/>
                </a:solidFill>
                <a:latin typeface="Malgun Gothic"/>
                <a:ea typeface="Malgun Gothic"/>
                <a:cs typeface="Malgun Gothic"/>
              </a:rPr>
              <a:t>표지와 결과를 구분하는지</a:t>
            </a:r>
            <a:r>
              <a:rPr sz="1600" b="0" i="0">
                <a:solidFill>
                  <a:srgbClr val="11202B"/>
                </a:solidFill>
                <a:latin typeface="Malgun Gothic"/>
                <a:ea typeface="Malgun Gothic"/>
                <a:cs typeface="Malgun Gothic"/>
              </a:rPr>
              <a:t>를 묻는다. (1) Acetylation은 전하를 바꾸므로 구조를 직접 느슨하게 하지만, methylation은 전하를 바꾸지 않으므로 </a:t>
            </a:r>
            <a:r>
              <a:rPr sz="1600" b="1" i="0">
                <a:solidFill>
                  <a:srgbClr val="11202B"/>
                </a:solidFill>
                <a:latin typeface="Malgun Gothic"/>
                <a:ea typeface="Malgun Gothic"/>
                <a:cs typeface="Malgun Gothic"/>
              </a:rPr>
              <a:t>읽는 단백질이 있어야 결과가 생긴다.</a:t>
            </a:r>
            <a:r>
              <a:rPr sz="1600" b="0" i="0">
                <a:solidFill>
                  <a:srgbClr val="11202B"/>
                </a:solidFill>
                <a:latin typeface="Malgun Gothic"/>
                <a:ea typeface="Malgun Gothic"/>
                <a:cs typeface="Malgun Gothic"/>
              </a:rPr>
              <a:t> (2) 그래서 methylation은 "활성화"나 "억제" 가운데 어느 쪽이든 될 수 있고, 자리와 횟수로 판단한다. (3) 수식 효소를 겨냥하는 약(HDAC 억제제, EZH2 억제제, DNMT 억제제)이 임상에 들어와 있으나, 유전체 전체의 수식을 바꾸는 작용이므로 </a:t>
            </a:r>
            <a:r>
              <a:rPr sz="1600" b="1" i="0">
                <a:solidFill>
                  <a:srgbClr val="11202B"/>
                </a:solidFill>
                <a:latin typeface="Malgun Gothic"/>
                <a:ea typeface="Malgun Gothic"/>
                <a:cs typeface="Malgun Gothic"/>
              </a:rPr>
              <a:t>표적 유전자만 선택적으로 바뀌지 않는다.</a:t>
            </a:r>
            <a:r>
              <a:rPr sz="1600" b="0" i="0">
                <a:solidFill>
                  <a:srgbClr val="11202B"/>
                </a:solidFill>
                <a:latin typeface="Malgun Gothic"/>
                <a:ea typeface="Malgun Gothic"/>
                <a:cs typeface="Malgun Gothic"/>
              </a:rPr>
              <a:t> 치료 효과와 부작용을 같은 기전에서 설명해야 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Histone 변이체와 꼬리 수식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한 nucleosome에 여러 표지가 함께 있는 경우가 흔하다는 점도 알아 두어야 한다. 발생 과정의 세포에서는 활성 표지인 H3K4me3와 억제 표지인 H3K27me3가 같은 promoter에 함께 나타나는 구간이 관찰되며, 이를 bivalent 상태라 한다. 이 구간의 유전자는 꺼져 있지만 빠르게 켜질 수 있는 준비 상태로 해석된다.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수식을 다루는 단백질은 역할로 세 묶음으로 나눈다. 수식을 붙이는 writer, 떼는 eraser, 그리고 알아보고 결과를 만드는 reader다. 이 틀이 임상적으로 유용한 이유는 </a:t>
            </a:r>
            <a:r>
              <a:rPr sz="1600" b="1" i="0">
                <a:solidFill>
                  <a:srgbClr val="11202B"/>
                </a:solidFill>
                <a:latin typeface="Malgun Gothic"/>
                <a:ea typeface="Malgun Gothic"/>
                <a:cs typeface="Malgun Gothic"/>
              </a:rPr>
              <a:t>약의 표적이 어느 묶음인지에 따라 결과가 달라지기</a:t>
            </a:r>
            <a:r>
              <a:rPr sz="1600" b="0" i="0">
                <a:solidFill>
                  <a:srgbClr val="11202B"/>
                </a:solidFill>
                <a:latin typeface="Malgun Gothic"/>
                <a:ea typeface="Malgun Gothic"/>
                <a:cs typeface="Malgun Gothic"/>
              </a:rPr>
              <a:t> 때문이다. HDAC 억제제는 eraser를 막아 acetylation을 늘리고, EZH2 억제제는 writer를 막아 H3K27 메틸화를 줄이며, BET 억제제는 acetylation을 읽는 reader를 막아 그 결과만 끊는다. 세 가지 모두 유전체 전체에 작용하므로 표적 유전자만 선택적으로 바꾸지 못한다는 한계를 공유한다.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상위 구조: 고리와 TAD</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Nucleosome 사슬이 어떻게 더 접히는지는 오래 논쟁이었다. 규칙적인 30 nm 섬유가 교과서에 오래 실렸으나, 세포 안에서 그 규칙적 구조가 일반적으로 존재한다는 증거는 약하다. 현재의 그림은 </a:t>
            </a:r>
            <a:r>
              <a:rPr sz="1400" b="1" i="0">
                <a:solidFill>
                  <a:srgbClr val="11202B"/>
                </a:solidFill>
                <a:latin typeface="Malgun Gothic"/>
                <a:ea typeface="Malgun Gothic"/>
                <a:cs typeface="Malgun Gothic"/>
              </a:rPr>
              <a:t>불규칙하게 뭉친 덩어리와, 그 위에 겹친 고리 구조</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고리를 만드는 기전이 밝혀진 것이 최근의 진전이다. </a:t>
            </a:r>
            <a:r>
              <a:rPr sz="1400" b="1" i="0">
                <a:solidFill>
                  <a:srgbClr val="11202B"/>
                </a:solidFill>
                <a:latin typeface="Malgun Gothic"/>
                <a:ea typeface="Malgun Gothic"/>
                <a:cs typeface="Malgun Gothic"/>
              </a:rPr>
              <a:t>Cohesin</a:t>
            </a:r>
            <a:r>
              <a:rPr sz="1400" b="0" i="0">
                <a:solidFill>
                  <a:srgbClr val="11202B"/>
                </a:solidFill>
                <a:latin typeface="Malgun Gothic"/>
                <a:ea typeface="Malgun Gothic"/>
                <a:cs typeface="Malgun Gothic"/>
              </a:rPr>
              <a:t>은 고리 모양의 단백질 복합체로, DNA를 안으로 넣고 양쪽으로 밀어내며 고리를 키운다. 이를 </a:t>
            </a:r>
            <a:r>
              <a:rPr sz="1400" b="1" i="0">
                <a:solidFill>
                  <a:srgbClr val="11202B"/>
                </a:solidFill>
                <a:latin typeface="Malgun Gothic"/>
                <a:ea typeface="Malgun Gothic"/>
                <a:cs typeface="Malgun Gothic"/>
              </a:rPr>
              <a:t>loop extrusion</a:t>
            </a:r>
            <a:r>
              <a:rPr sz="1400" b="0" i="0">
                <a:solidFill>
                  <a:srgbClr val="11202B"/>
                </a:solidFill>
                <a:latin typeface="Malgun Gothic"/>
                <a:ea typeface="Malgun Gothic"/>
                <a:cs typeface="Malgun Gothic"/>
              </a:rPr>
              <a:t>이라 한다. 밀려 나가던 cohesin이 </a:t>
            </a:r>
            <a:r>
              <a:rPr sz="1400" b="1" i="0">
                <a:solidFill>
                  <a:srgbClr val="11202B"/>
                </a:solidFill>
                <a:latin typeface="Malgun Gothic"/>
                <a:ea typeface="Malgun Gothic"/>
                <a:cs typeface="Malgun Gothic"/>
              </a:rPr>
              <a:t>CTCF</a:t>
            </a:r>
            <a:r>
              <a:rPr sz="1400" b="0" i="0">
                <a:solidFill>
                  <a:srgbClr val="11202B"/>
                </a:solidFill>
                <a:latin typeface="Malgun Gothic"/>
                <a:ea typeface="Malgun Gothic"/>
                <a:cs typeface="Malgun Gothic"/>
              </a:rPr>
              <a:t>가 붙은 자리에서 멈추면 그 두 자리가 고리의 밑동이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기전에서 </a:t>
            </a:r>
            <a:r>
              <a:rPr sz="1400" b="1" i="0">
                <a:solidFill>
                  <a:srgbClr val="11202B"/>
                </a:solidFill>
                <a:latin typeface="Malgun Gothic"/>
                <a:ea typeface="Malgun Gothic"/>
                <a:cs typeface="Malgun Gothic"/>
              </a:rPr>
              <a:t>TAD(topologically associating domain)</a:t>
            </a:r>
            <a:r>
              <a:rPr sz="1400" b="0" i="0">
                <a:solidFill>
                  <a:srgbClr val="11202B"/>
                </a:solidFill>
                <a:latin typeface="Malgun Gothic"/>
                <a:ea typeface="Malgun Gothic"/>
                <a:cs typeface="Malgun Gothic"/>
              </a:rPr>
              <a:t>가 설명된다. TAD는 내부끼리는 자주 접촉하고 경계를 넘는 접촉은 드문 구간이다. 경계에는 CTCF 결합 자리가 모여 있다. 결과적으로 enhancer는 같은 TAD 안의 promoter와 주로 만나고 경계를 넘어가기 어렵다. </a:t>
            </a:r>
            <a:r>
              <a:rPr sz="1400" b="1" i="0">
                <a:solidFill>
                  <a:srgbClr val="11202B"/>
                </a:solidFill>
                <a:latin typeface="Malgun Gothic"/>
                <a:ea typeface="Malgun Gothic"/>
                <a:cs typeface="Malgun Gothic"/>
              </a:rPr>
              <a:t>TAD는 조절의 작용 범위를 가두는 울타리</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울타리라는 표현의 실제 의미를 짚어 둔다. TAD는 물리적 칸막이가 아니라 접촉 빈도의 차이다. 경계를 넘는 접촉도 일어나고, 세포마다 고리의 위치가 다르다. 그래서 Hi-C 지도의 네모 무늬는 수많은 세포를 평균한 결과이며, 한 세포의 한 시점을 보여 주지 않는다. </a:t>
            </a:r>
            <a:r>
              <a:rPr sz="1400" b="1" i="0">
                <a:solidFill>
                  <a:srgbClr val="11202B"/>
                </a:solidFill>
                <a:latin typeface="Malgun Gothic"/>
                <a:ea typeface="Malgun Gothic"/>
                <a:cs typeface="Malgun Gothic"/>
              </a:rPr>
              <a:t>집단 평균을 개별 세포의 구조로 읽지 않는 것</a:t>
            </a:r>
            <a:r>
              <a:rPr sz="1400" b="0" i="0">
                <a:solidFill>
                  <a:srgbClr val="11202B"/>
                </a:solidFill>
                <a:latin typeface="Malgun Gothic"/>
                <a:ea typeface="Malgun Gothic"/>
                <a:cs typeface="Malgun Gothic"/>
              </a:rPr>
              <a:t>이 이 분야의 자료를 해석하는 첫 규칙이다.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상위 구조: 고리와 TAD</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14</a:t>
            </a:r>
          </a:p>
        </p:txBody>
      </p:sp>
      <p:pic>
        <p:nvPicPr>
          <p:cNvPr id="7" name="Picture 6" descr="fig-chromatin-levels.slide.png"/>
          <p:cNvPicPr>
            <a:picLocks noChangeAspect="1"/>
          </p:cNvPicPr>
          <p:nvPr/>
        </p:nvPicPr>
        <p:blipFill>
          <a:blip r:embed="rId2"/>
          <a:stretch>
            <a:fillRect/>
          </a:stretch>
        </p:blipFill>
        <p:spPr>
          <a:xfrm>
            <a:off x="2294941" y="1325880"/>
            <a:ext cx="760181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Chromatin의 포장 단계. 이중나선에서 nucleosome, nucleosome 사슬의 불규칙한 뭉침, cohesin과 CTCF가 만드는 고리, TAD, 그리고 A·B 구획과 염색체 영역까지의 크기 규모를 함께 표시했다.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상위 구조: 고리와 TAD</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15</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TAD 경계가 끊어지면 enhancer가 엉뚱한 유전자를 켠다. 경계를 포함하는 결실이나 역위가 일어나면 원래 다른 칸에 있던 enhancer와 promoter가 만나게 되고, 이를 enhancer 가로채기라 한다. 손발 기형의 일부가 발생 유전자 주변의 TAD 경계 변화로 설명되었고, 종양에서도 구조 변이가 oncogene 주변의 울타리를 허무는 예가 보고되었다. 그래서 </a:t>
            </a:r>
            <a:r>
              <a:rPr sz="1600" b="1" i="0">
                <a:solidFill>
                  <a:srgbClr val="11202B"/>
                </a:solidFill>
                <a:latin typeface="Malgun Gothic"/>
                <a:ea typeface="Malgun Gothic"/>
                <a:cs typeface="Malgun Gothic"/>
              </a:rPr>
              <a:t>서열을 바꾸지 않는 구조 변이도 질환의 원인</a:t>
            </a:r>
            <a:r>
              <a:rPr sz="1600" b="0" i="0">
                <a:solidFill>
                  <a:srgbClr val="11202B"/>
                </a:solidFill>
                <a:latin typeface="Malgun Gothic"/>
                <a:ea typeface="Malgun Gothic"/>
                <a:cs typeface="Malgun Gothic"/>
              </a:rPr>
              <a:t>이 될 수 있으며, 염기 수준의 검사만으로는 놓친다.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상위 구조: 고리와 TAD</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구조의 규모를 구분해 두면 자료를 읽기 쉽다. 접촉 지도에서 나타나는 단위는 크기가 다르고 만들어지는 기전도 다르다. 수십 킬로베이스의 enhancer–promoter 고리, 수백 킬로베이스에서 수 메가베이스의 TAD, 그리고 수십 메가베이스 규모의 A·B 구획이 서로 다른 층이다. </a:t>
            </a:r>
            <a:r>
              <a:rPr sz="1400" b="1" i="0">
                <a:solidFill>
                  <a:srgbClr val="11202B"/>
                </a:solidFill>
                <a:latin typeface="Malgun Gothic"/>
                <a:ea typeface="Malgun Gothic"/>
                <a:cs typeface="Malgun Gothic"/>
              </a:rPr>
              <a:t>구획은 cohesin이 아니라 비슷한 성질의 구간끼리 모이는 경향으로 설명되고, TAD는 loop extrusion으로 설명된다.</a:t>
            </a:r>
            <a:r>
              <a:rPr sz="1400" b="0" i="0">
                <a:solidFill>
                  <a:srgbClr val="11202B"/>
                </a:solidFill>
                <a:latin typeface="Malgun Gothic"/>
                <a:ea typeface="Malgun Gothic"/>
                <a:cs typeface="Malgun Gothic"/>
              </a:rPr>
              <a:t> 그래서 cohesin을 없애면 TAD는 사라지지만 구획은 남는다. 두 층의 기전이 다르다는 점이 그 실험의 결론이었다.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거리의 문제도 함께 본다. Enhancer는 promoter에서 수십에서 수백 킬로베이스 떨어져 있는 경우가 흔하고, 중간에 다른 유전자가 끼어 있기도 하다. 그래서 </a:t>
            </a:r>
            <a:r>
              <a:rPr sz="1400" b="1" i="0">
                <a:solidFill>
                  <a:srgbClr val="11202B"/>
                </a:solidFill>
                <a:latin typeface="Malgun Gothic"/>
                <a:ea typeface="Malgun Gothic"/>
                <a:cs typeface="Malgun Gothic"/>
              </a:rPr>
              <a:t>서열상 가장 가까운 유전자가 그 enhancer의 표적이라고 단정할 수 없다.</a:t>
            </a:r>
            <a:r>
              <a:rPr sz="1400" b="0" i="0">
                <a:solidFill>
                  <a:srgbClr val="11202B"/>
                </a:solidFill>
                <a:latin typeface="Malgun Gothic"/>
                <a:ea typeface="Malgun Gothic"/>
                <a:cs typeface="Malgun Gothic"/>
              </a:rPr>
              <a:t> 유전체 연관 연구에서 발견된 비암호화 영역의 변이가 어느 유전자에 작용하는지를 정하는 일이 어려운 이유가 이것이며, 접촉 지도와 발현 자료를 함께 써야 후보를 좁힐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 종류에 따라 TAD의 경계가 얼마나 보존되는지도 중요한 질문이다. 비교해 보면 경계의 상당 부분이 세포 종류와 심지어 종 사이에서도 보존된다. 반면 TAD 안쪽의 고리는 세포 종류에 따라 많이 바뀐다. 이 대비가 해석을 준다. </a:t>
            </a:r>
            <a:r>
              <a:rPr sz="1400" b="1" i="0">
                <a:solidFill>
                  <a:srgbClr val="11202B"/>
                </a:solidFill>
                <a:latin typeface="Malgun Gothic"/>
                <a:ea typeface="Malgun Gothic"/>
                <a:cs typeface="Malgun Gothic"/>
              </a:rPr>
              <a:t>울타리의 위치는 대체로 고정되어 있고, 그 안에서 어떤 enhancer가 어떤 promoter와 만나는지가 세포 종류를 만든다.</a:t>
            </a:r>
            <a:r>
              <a:rPr sz="1400" b="0" i="0">
                <a:solidFill>
                  <a:srgbClr val="11202B"/>
                </a:solidFill>
                <a:latin typeface="Malgun Gothic"/>
                <a:ea typeface="Malgun Gothic"/>
                <a:cs typeface="Malgun Gothic"/>
              </a:rPr>
              <a:t> 발생 과정에서 바뀌는 쪽은 안쪽이다. 그래서 경계를 망가뜨리는 변이는 여러 조직에서 동시에 문제를 만들고, 안쪽 고리의 변화는 특정 조직에 국한된 표현형으로 나타나는 경향이 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핵 안의 배치와 구획</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염색체는 핵 안에서 무작위로 섞여 있지 않다. 각 염색체가 대체로 자기 영역을 차지하고, 활성 구간과 억제 구간이 서로 다른 자리에 모인다. Hi-C 자료에서 이 모임이 두 묶음으로 나뉘어 나타나며 </a:t>
            </a:r>
            <a:r>
              <a:rPr sz="1600" b="1" i="0">
                <a:solidFill>
                  <a:srgbClr val="11202B"/>
                </a:solidFill>
                <a:latin typeface="Malgun Gothic"/>
                <a:ea typeface="Malgun Gothic"/>
                <a:cs typeface="Malgun Gothic"/>
              </a:rPr>
              <a:t>A 구획과 B 구획</a:t>
            </a:r>
            <a:r>
              <a:rPr sz="1600" b="0" i="0">
                <a:solidFill>
                  <a:srgbClr val="11202B"/>
                </a:solidFill>
                <a:latin typeface="Malgun Gothic"/>
                <a:ea typeface="Malgun Gothic"/>
                <a:cs typeface="Malgun Gothic"/>
              </a:rPr>
              <a:t>이라 부른다. A는 활성 구간이 많고 핵 내부 쪽에, B는 억제 구간이 많고 주변부에 치우친다.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핵막 안쪽의 </a:t>
            </a:r>
            <a:r>
              <a:rPr sz="1600" b="1" i="0">
                <a:solidFill>
                  <a:srgbClr val="11202B"/>
                </a:solidFill>
                <a:latin typeface="Malgun Gothic"/>
                <a:ea typeface="Malgun Gothic"/>
                <a:cs typeface="Malgun Gothic"/>
              </a:rPr>
              <a:t>lamina</a:t>
            </a:r>
            <a:r>
              <a:rPr sz="1600" b="0" i="0">
                <a:solidFill>
                  <a:srgbClr val="11202B"/>
                </a:solidFill>
                <a:latin typeface="Malgun Gothic"/>
                <a:ea typeface="Malgun Gothic"/>
                <a:cs typeface="Malgun Gothic"/>
              </a:rPr>
              <a:t>가 그 주변부 배치에 관여한다. Lamina와 접촉하는 구간을 LAD라 하고, 유전자 밀도가 낮고 억제 표지가 많다. 다만 접촉이 억제의 원인인지 결과인지는 단정하기 어렵다. Lamina에 붙이는 실험에서 어떤 유전자는 발현이 줄었고 어떤 유전자는 변하지 않았다.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또 하나의 축이 </a:t>
            </a:r>
            <a:r>
              <a:rPr sz="1600" b="1" i="0">
                <a:solidFill>
                  <a:srgbClr val="11202B"/>
                </a:solidFill>
                <a:latin typeface="Malgun Gothic"/>
                <a:ea typeface="Malgun Gothic"/>
                <a:cs typeface="Malgun Gothic"/>
              </a:rPr>
              <a:t>구획화</a:t>
            </a:r>
            <a:r>
              <a:rPr sz="1600" b="0" i="0">
                <a:solidFill>
                  <a:srgbClr val="11202B"/>
                </a:solidFill>
                <a:latin typeface="Malgun Gothic"/>
                <a:ea typeface="Malgun Gothic"/>
                <a:cs typeface="Malgun Gothic"/>
              </a:rPr>
              <a:t>다. 전사가 활발한 자리에 RNA polymerase와 조절 단백질이 국소적으로 모인다. 이 모임이 상 분리로 설명될 수 있다는 제안이 나왔고, 꼬리의 수식과 저복잡도 서열이 그 모임을 돕는다는 자료가 쌓였다. 다만 세포 안의 이런 모임이 실제로 액체 방울의 성질을 갖는지는 여전히 논쟁이다.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핵 안의 배치와 구획</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18</a:t>
            </a:r>
          </a:p>
        </p:txBody>
      </p:sp>
      <p:sp>
        <p:nvSpPr>
          <p:cNvPr id="7" name="Rectangle 6"/>
          <p:cNvSpPr/>
          <p:nvPr/>
        </p:nvSpPr>
        <p:spPr>
          <a:xfrm>
            <a:off x="640080" y="1325880"/>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구조를 단일세포와 생체에서 보려는 시도가 이 분야의 전선이다. 세 갈래로 정리할 수 있다. 첫째, 한 세포의 접촉 지도를 읽는 방법이 개발되어 TAD가 세포마다 다르고 경계의 위치도 흔들린다는 결과가 나왔다. 둘째, 특정 자리에 형광 표지를 넣어 살아 있는 세포에서 두 자리의 거리를 시간에 따라 추적하는 방법이 쓰이며, enhancer와 promoter가 접촉하는 시간이 짧고 드물다는 관찰이 보고되었다. 셋째, cohesin과 CTCF를 급성으로 제거하는 실험에서 TAD는 사라졌으나 유전자 발현의 변화는 예상보다 작았다. 이 결과가 쟁점을 만들었다. </a:t>
            </a:r>
            <a:r>
              <a:rPr sz="1600" b="1" i="0">
                <a:solidFill>
                  <a:srgbClr val="11202B"/>
                </a:solidFill>
                <a:latin typeface="Malgun Gothic"/>
                <a:ea typeface="Malgun Gothic"/>
                <a:cs typeface="Malgun Gothic"/>
              </a:rPr>
              <a:t>구조가 조절에 필요한지, 아니면 조절의 결과로 생기는지</a:t>
            </a:r>
            <a:r>
              <a:rPr sz="1600" b="0" i="0">
                <a:solidFill>
                  <a:srgbClr val="11202B"/>
                </a:solidFill>
                <a:latin typeface="Malgun Gothic"/>
                <a:ea typeface="Malgun Gothic"/>
                <a:cs typeface="Malgun Gothic"/>
              </a:rPr>
              <a:t>가 아직 정리되지 않았고, 그래서 구조 지도만으로 발현을 예측하는 모형은 아직 신뢰하기 어렵다.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핵 안의 배치와 구획</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X 염색체의 불활성화가 핵 안 배치의 교과서적 예다. 여성의 두 X 가운데 하나가 발생 초기에 꺼지고, 꺼진 X는 응축되어 핵 주변부에 치우치며 Barr body로 관찰된다. 이 과정은 *XIST*라는 긴 비암호화 RNA가 자기 염색체를 덮으면서 시작되고, 이어서 억제 수식과 macroH2A가 쌓인다. 한 핵 안에서 서열이 같은 두 염색체가 서로 다른 상태로 유지된다는 점이 </a:t>
            </a:r>
            <a:r>
              <a:rPr sz="1400" b="1" i="0">
                <a:solidFill>
                  <a:srgbClr val="11202B"/>
                </a:solidFill>
                <a:latin typeface="Malgun Gothic"/>
                <a:ea typeface="Malgun Gothic"/>
                <a:cs typeface="Malgun Gothic"/>
              </a:rPr>
              <a:t>구조와 수식이 서열과 독립적으로 상태를 담을 수 있다</a:t>
            </a:r>
            <a:r>
              <a:rPr sz="1400" b="0" i="0">
                <a:solidFill>
                  <a:srgbClr val="11202B"/>
                </a:solidFill>
                <a:latin typeface="Malgun Gothic"/>
                <a:ea typeface="Malgun Gothic"/>
                <a:cs typeface="Malgun Gothic"/>
              </a:rPr>
              <a:t>는 가장 분명한 증거다.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핵막의 구멍 주변은 반대 성질을 보인다. Nuclear pore 근처에는 활성 구간이 모이는 경향이 있고, 전사된 RNA가 곧 밖으로 나가야 하므로 그 배치가 기능적으로 해석된다. 즉 핵 주변부가 일률적으로 억제 구역인 것이 아니라, lamina와 접촉하는 자리와 구멍 주변이 서로 다르다. </a:t>
            </a:r>
            <a:r>
              <a:rPr sz="1400" b="1" i="0">
                <a:solidFill>
                  <a:srgbClr val="11202B"/>
                </a:solidFill>
                <a:latin typeface="Malgun Gothic"/>
                <a:ea typeface="Malgun Gothic"/>
                <a:cs typeface="Malgun Gothic"/>
              </a:rPr>
              <a:t>"핵 안쪽은 활성, 주변부는 억제"라는 단순한 대비를 그대로 외우면 틀린다.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Histone의 공급과 수요도 조절된다. 복제기에는 많은 양의 histone이 짧은 시간에 필요하므로, histone 유전자는 여러 벌이 한곳에 모여 있고 복제기에 집중적으로 전사된다. 그 mRNA는 대부분의 mRNA와 달리 긴 poly(A) 꼬리를 갖지 않고 특유의 구조로 끝나며, 복제가 끝나면 빠르게 분해된다. 공급이 수요를 넘으면 자유 histone이 남아 DNA에 비정상적으로 결합하므로, </a:t>
            </a:r>
            <a:r>
              <a:rPr sz="1400" b="1" i="0">
                <a:solidFill>
                  <a:srgbClr val="11202B"/>
                </a:solidFill>
                <a:latin typeface="Malgun Gothic"/>
                <a:ea typeface="Malgun Gothic"/>
                <a:cs typeface="Malgun Gothic"/>
              </a:rPr>
              <a:t>남지 않게 맞추는 것 자체가 조절의 목표</a:t>
            </a:r>
            <a:r>
              <a:rPr sz="1400" b="0" i="0">
                <a:solidFill>
                  <a:srgbClr val="11202B"/>
                </a:solidFill>
                <a:latin typeface="Malgun Gothic"/>
                <a:ea typeface="Malgun Gothic"/>
                <a:cs typeface="Malgun Gothic"/>
              </a:rPr>
              <a:t>가 된다. 복제를 멈추는 약을 쓰면 이 균형이 깨진다는 점도 함께 알아 둔다.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접근성과 접촉을 측정하는 방법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구조를 다루는 수업에서 측정 방법을 함께 보아야 한다. 결론이 방법에 달려 있기 때문이다. 원리로 네 묶음으로 나눈다.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효소로 자르기</a:t>
            </a:r>
            <a:r>
              <a:rPr sz="1400" b="0" i="0">
                <a:solidFill>
                  <a:srgbClr val="11202B"/>
                </a:solidFill>
                <a:latin typeface="Malgun Gothic"/>
                <a:ea typeface="Malgun Gothic"/>
                <a:cs typeface="Malgun Gothic"/>
              </a:rPr>
              <a:t>: DNase I이나 MNase를 넣어 잘리는 자리를 읽는다. Nucleosome이 덮은 구간은 보호되고 비어 있는 구간은 잘린다. MNase는 nucleosome의 위치를, DNase는 비어 있는 조절 구간을 찾는 데 쓰였다.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전이효소로 끼워 넣기</a:t>
            </a:r>
            <a:r>
              <a:rPr sz="1400" b="0" i="0">
                <a:solidFill>
                  <a:srgbClr val="11202B"/>
                </a:solidFill>
                <a:latin typeface="Malgun Gothic"/>
                <a:ea typeface="Malgun Gothic"/>
                <a:cs typeface="Malgun Gothic"/>
              </a:rPr>
              <a:t>: ATAC-seq는 transposase를 넣어 접근 가능한 자리에 서열 꼬리표를 삽입한다. 적은 세포로 가능해 단일세포 수준까지 확장되었다.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접촉 빈도 읽기</a:t>
            </a:r>
            <a:r>
              <a:rPr sz="1400" b="0" i="0">
                <a:solidFill>
                  <a:srgbClr val="11202B"/>
                </a:solidFill>
                <a:latin typeface="Malgun Gothic"/>
                <a:ea typeface="Malgun Gothic"/>
                <a:cs typeface="Malgun Gothic"/>
              </a:rPr>
              <a:t>: 세포를 고정해 가까운 DNA끼리 연결한 뒤 그 조합을 읽는다. Hi-C와 그 변형이 TAD와 구획 지도를 만든 방법이다.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표지와 영상</a:t>
            </a:r>
            <a:r>
              <a:rPr sz="1400" b="0" i="0">
                <a:solidFill>
                  <a:srgbClr val="11202B"/>
                </a:solidFill>
                <a:latin typeface="Malgun Gothic"/>
                <a:ea typeface="Malgun Gothic"/>
                <a:cs typeface="Malgun Gothic"/>
              </a:rPr>
              <a:t>: 특정 단백질이 붙은 자리를 ChIP이나 그 변형으로 읽고, 형광 표지로 핵 안의 위치를 직접 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각 방법의 한계가 해석의 한계가 된다. 효소 접근성은 "nucleosome이 없다"는 뜻이 아니라 "효소가 접근했다"는 뜻이고, 결합한 단백질이 보호를 만들 수도 있다. 접촉 지도는 집단 평균이고 고정 과정에서 생기는 치우침이 있다. 영상은 한 자리를 자세히 보지만 유전체 전체를 보지 못한다.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접근성과 접촉을 측정하는 방법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21</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구조 자료는 방법의 성질과 함께 읽는다. 접근성은 효소의 접근을, 접촉 지도는 집단의 평균을, 영상은 소수의 자리를 보여 준다. 서로 다른 방법이 같은 결론을 가리킬 때 그 결론이 단단해진다.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접근성과 접촉을 측정하는 방법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방법의 해상도와 보는 대상을 표로 정리해 두면 논문을 읽을 때 헷갈리지 않는다.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접근성과 접촉을 측정하는 방법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23</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방법</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보는 것</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해상도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주된 한계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MNase-seq</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Nucleosome의 위치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염기쌍 수준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효소의 양에 따라 결과가 달라진다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DNase-seq</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비어 있는 조절 구간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수십 염기쌍</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세포가 많이 필요하다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ATAC-seq</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접근 가능한 구간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수십 염기쌍</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미토콘드리아 DNA가 섞인다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ChIP-seq</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특정 단백질·수식의 자리</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수십~수백 염기쌍</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항체의 특이성에 의존한다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Hi-C</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접촉 빈도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수 킬로베이스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집단 평균, 깊이에 따라 해상도가 변한다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형광 영상</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두 자리의 거리와 시간 변화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수십 나노미터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몇 개 자리만 본다</a:t>
                      </a:r>
                    </a:p>
                  </a:txBody>
                  <a:tcPr marL="73152" marR="73152" marT="27432" marB="27432">
                    <a:solidFill>
                      <a:srgbClr val="EFF4F8"/>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접근성과 접촉을 측정하는 방법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이 표에서 읽을 점은 </a:t>
            </a:r>
            <a:r>
              <a:rPr sz="2000" b="1" i="0">
                <a:solidFill>
                  <a:srgbClr val="11202B"/>
                </a:solidFill>
                <a:latin typeface="Malgun Gothic"/>
                <a:ea typeface="Malgun Gothic"/>
                <a:cs typeface="Malgun Gothic"/>
              </a:rPr>
              <a:t>해상도가 높은 방법이 더 좋은 방법이 아니라는 것</a:t>
            </a:r>
            <a:r>
              <a:rPr sz="2000" b="0" i="0">
                <a:solidFill>
                  <a:srgbClr val="11202B"/>
                </a:solidFill>
                <a:latin typeface="Malgun Gothic"/>
                <a:ea typeface="Malgun Gothic"/>
                <a:cs typeface="Malgun Gothic"/>
              </a:rPr>
              <a:t>이다. Nucleosome의 자리를 염기쌍 수준으로 알아도 그것이 세포마다 같은지는 알 수 없고, 접촉 지도의 해상도를 올리려면 읽기 깊이를 제곱으로 늘려야 한다. 질문에 맞는 방법을 고르는 것이 먼저다.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접근성과 접촉을 측정하는 방법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25</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접근성 자료가 진단에 쓰이기 시작했다. 종양의 메틸화 양상이 조직 기원에 따라 다르다는 점을 이용해, 원발 부위를 알 수 없는 종양의 기원을 메틸화 양상으로 분류하는 방법이 중추신경계 종양에서 임상에 들어왔다. 같은 원리로 혈액의 세포유리 DNA에서 메틸화 양상을 읽어 어느 조직에서 나온 DNA인지 추정하는 시도가 진행된다. </a:t>
            </a:r>
            <a:r>
              <a:rPr sz="1600" b="1" i="0">
                <a:solidFill>
                  <a:srgbClr val="11202B"/>
                </a:solidFill>
                <a:latin typeface="Malgun Gothic"/>
                <a:ea typeface="Malgun Gothic"/>
                <a:cs typeface="Malgun Gothic"/>
              </a:rPr>
              <a:t>서열이 같아도 구조와 수식의 양상은 조직마다 다르다</a:t>
            </a:r>
            <a:r>
              <a:rPr sz="1600" b="0" i="0">
                <a:solidFill>
                  <a:srgbClr val="11202B"/>
                </a:solidFill>
                <a:latin typeface="Malgun Gothic"/>
                <a:ea typeface="Malgun Gothic"/>
                <a:cs typeface="Malgun Gothic"/>
              </a:rPr>
              <a:t>는 사실이 이 진단의 근거이며, 이 수업의 내용이 임상 검사로 번역되는 가장 구체적인 예다.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구조가 깨지는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구조를 다루는 단백질의 결손은 특정한 양상의 질환으로 나타난다. 세 묶음으로 정리한다.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구조가 깨지는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27</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묶음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주된 양상</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Cohesinopathy</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Cohesin과 그 적재 인자(NIPBL, SMC1A 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Cornelia de Lange 증후군 — 성장 지연, 사지 이상, 지적장애</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Laminopathy</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Lamin A/C(LMNA)와 그 가공 효소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근육병, 심전도 이상, 지방 분포 이상, 조기 노화 증후군</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Chromatin 조절 인자의 결손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ATRX, SMARCB1, 수식 효소 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발달 이상, 그리고 특정 종양</a:t>
                      </a:r>
                    </a:p>
                  </a:txBody>
                  <a:tcPr marL="73152" marR="73152" marT="27432" marB="27432">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구조가 깨지는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표에서 읽을 원칙이 두 가지다. 첫째, </a:t>
            </a:r>
            <a:r>
              <a:rPr sz="1800" b="1" i="0">
                <a:solidFill>
                  <a:srgbClr val="11202B"/>
                </a:solidFill>
                <a:latin typeface="Malgun Gothic"/>
                <a:ea typeface="Malgun Gothic"/>
                <a:cs typeface="Malgun Gothic"/>
              </a:rPr>
              <a:t>구조 단백질의 결손은 대개 전신의 발달 이상으로 나타난다.</a:t>
            </a:r>
            <a:r>
              <a:rPr sz="1800" b="0" i="0">
                <a:solidFill>
                  <a:srgbClr val="11202B"/>
                </a:solidFill>
                <a:latin typeface="Malgun Gothic"/>
                <a:ea typeface="Malgun Gothic"/>
                <a:cs typeface="Malgun Gothic"/>
              </a:rPr>
              <a:t> 모든 세포가 쓰는 기구이므로 한 기관에 국한되지 않고, 발생 과정에서 발현 조절이 가장 민감한 조직이 먼저 드러난다. 둘째, </a:t>
            </a:r>
            <a:r>
              <a:rPr sz="1800" b="1" i="0">
                <a:solidFill>
                  <a:srgbClr val="11202B"/>
                </a:solidFill>
                <a:latin typeface="Malgun Gothic"/>
                <a:ea typeface="Malgun Gothic"/>
                <a:cs typeface="Malgun Gothic"/>
              </a:rPr>
              <a:t>같은 유전자의 변이가 서로 다른 질환으로 나타난다.</a:t>
            </a:r>
            <a:r>
              <a:rPr sz="1800" b="0" i="0">
                <a:solidFill>
                  <a:srgbClr val="11202B"/>
                </a:solidFill>
                <a:latin typeface="Malgun Gothic"/>
                <a:ea typeface="Malgun Gothic"/>
                <a:cs typeface="Malgun Gothic"/>
              </a:rPr>
              <a:t> *LMNA*의 변이가 근육병, 심질환, 지방이상증, 조기 노화 증후군으로 모두 보고된다.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반복 확장 질환도 구조의 문제로 볼 수 있다. 반복 서열은 비표준 구조를 만들어 복제 중 미끄러짐을 일으키고, 확장된 반복은 그 자리의 chromatin을 응축된 상태로 바꾸어 전사를 막는다. Fragile X에서 *FMR1*의 CGG 반복이 확장되면 그 promoter가 메틸화되어 발현이 꺼진다. </a:t>
            </a:r>
            <a:r>
              <a:rPr sz="1800" b="1" i="0">
                <a:solidFill>
                  <a:srgbClr val="11202B"/>
                </a:solidFill>
                <a:latin typeface="Malgun Gothic"/>
                <a:ea typeface="Malgun Gothic"/>
                <a:cs typeface="Malgun Gothic"/>
              </a:rPr>
              <a:t>서열의 양이 구조를 바꾸고, 구조가 발현을 바꾼다</a:t>
            </a:r>
            <a:r>
              <a:rPr sz="1800" b="0" i="0">
                <a:solidFill>
                  <a:srgbClr val="11202B"/>
                </a:solidFill>
                <a:latin typeface="Malgun Gothic"/>
                <a:ea typeface="Malgun Gothic"/>
                <a:cs typeface="Malgun Gothic"/>
              </a:rPr>
              <a:t>는 연쇄가 이 질환의 핵심이다.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구조가 깨지는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29</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구조 질환을 의심하는 임상 단서가 있다. 여러 기관에 걸친 발달 이상, 특징적 얼굴 형태, 성장 지연이 함께 있고 대사 검사가 정상이면 chromatin 조절 인자나 구조 단백질의 결손을 고려한다. 반대로 한 기관에 국한된 증상은 그 조직에서만 쓰이는 단백질의 결손을 먼저 생각한다. 그리고 *LMNA*처럼 </a:t>
            </a:r>
            <a:r>
              <a:rPr sz="1600" b="1" i="0">
                <a:solidFill>
                  <a:srgbClr val="11202B"/>
                </a:solidFill>
                <a:latin typeface="Malgun Gothic"/>
                <a:ea typeface="Malgun Gothic"/>
                <a:cs typeface="Malgun Gothic"/>
              </a:rPr>
              <a:t>같은 유전자가 여러 표현형을 내는 경우</a:t>
            </a:r>
            <a:r>
              <a:rPr sz="1600" b="0" i="0">
                <a:solidFill>
                  <a:srgbClr val="11202B"/>
                </a:solidFill>
                <a:latin typeface="Malgun Gothic"/>
                <a:ea typeface="Malgun Gothic"/>
                <a:cs typeface="Malgun Gothic"/>
              </a:rPr>
              <a:t>에는 가족 안에서도 양상이 다를 수 있으므로, 유전형만으로 경과를 단정하지 않는다.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구조가 깨지는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종양에서 chromatin 조절 인자의 변이가 흔하다는 사실도 여기에 속한다. 유전체 분석에서 SWI/SNF 재구성 복합체의 구성 요소, histone 수식 효소, 그리고 histone 자체의 변이가 여러 종양에서 반복해 발견되었다. 소아와 청소년의 일부 종양에서는 H3의 특정 잔기가 바뀐 변이가 구동 변이로 작동하며, 그 변이 단백질이 수식 효소를 방해해 유전체 전체의 메틸화 양상을 바꾼다. 이런 변이를 oncohistone이라 부른다.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이 수업의 결론 하나가 분명해진다. </a:t>
            </a:r>
            <a:r>
              <a:rPr sz="1400" b="1" i="0">
                <a:solidFill>
                  <a:srgbClr val="11202B"/>
                </a:solidFill>
                <a:latin typeface="Malgun Gothic"/>
                <a:ea typeface="Malgun Gothic"/>
                <a:cs typeface="Malgun Gothic"/>
              </a:rPr>
              <a:t>구조를 다루는 기구의 변이는 특정 경로 하나가 아니라 발현 양상 전체를 바꾼다.</a:t>
            </a:r>
            <a:r>
              <a:rPr sz="1400" b="0" i="0">
                <a:solidFill>
                  <a:srgbClr val="11202B"/>
                </a:solidFill>
                <a:latin typeface="Malgun Gothic"/>
                <a:ea typeface="Malgun Gothic"/>
                <a:cs typeface="Malgun Gothic"/>
              </a:rPr>
              <a:t> 그래서 표적 치료의 전략이 다르다. 없어진 재구성 복합체를 되살릴 수는 없으므로, 그 결손이 만든 새로운 의존성을 찾아 공략한다. SMARCB1이 없는 종양이 EZH2에 의존한다는 관찰이 그 예이며, M01-W12-L03에서 본 합성 치사와 같은 논리다.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마지막으로 구조의 변화가 치료의 표적이 되는 방식을 정리한다. 세 층위가 있다. 첫째, 구조 자체를 교란하는 약이다. Intercalation 약물과 topoisomerase 독이 여기에 속하며 선택성이 낮다. 둘째, 수식을 다루는 효소를 겨냥하는 약이다. HDAC·EZH2·DNMT 억제제와 BET 억제제가 쓰이고, 특정 변이를 가진 종양에서 효과가 크다. 셋째, 구조의 결손이 만든 의존성을 겨냥하는 약이다. 합성 치사의 논리를 따르며 선택성이 가장 높다. </a:t>
            </a:r>
            <a:r>
              <a:rPr sz="1400" b="1" i="0">
                <a:solidFill>
                  <a:srgbClr val="11202B"/>
                </a:solidFill>
                <a:latin typeface="Malgun Gothic"/>
                <a:ea typeface="Malgun Gothic"/>
                <a:cs typeface="Malgun Gothic"/>
              </a:rPr>
              <a:t>선택성은 구조를 덜 건드리는 쪽으로 갈수록 올라간다.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14   </a:t>
            </a:r>
            <a:r>
              <a:rPr sz="2400" b="1" i="0">
                <a:solidFill>
                  <a:srgbClr val="FFFFFF"/>
                </a:solidFill>
                <a:latin typeface="Malgun Gothic"/>
                <a:ea typeface="Malgun Gothic"/>
                <a:cs typeface="Malgun Gothic"/>
              </a:rPr>
              <a:t>14.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수업은 M03의 출발점이고, 뒤의 거의 모든 수업이 여기의 구조를 전제한다.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M03-W01-L02 DNA 복제의 기전과 효소</a:t>
            </a:r>
            <a:r>
              <a:rPr sz="1400" b="0" i="0">
                <a:solidFill>
                  <a:srgbClr val="11202B"/>
                </a:solidFill>
                <a:latin typeface="Malgun Gothic"/>
                <a:ea typeface="Malgun Gothic"/>
                <a:cs typeface="Malgun Gothic"/>
              </a:rPr>
              <a:t> — 위상 문제의 처리, nucleosome의 해체와 재조립, 복제 분기점의 구조를 이어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M03-W01-L03 DNA 손상과 복구 경로</a:t>
            </a:r>
            <a:r>
              <a:rPr sz="1400" b="0" i="0">
                <a:solidFill>
                  <a:srgbClr val="11202B"/>
                </a:solidFill>
                <a:latin typeface="Malgun Gothic"/>
                <a:ea typeface="Malgun Gothic"/>
                <a:cs typeface="Malgun Gothic"/>
              </a:rPr>
              <a:t> — chromatin 안에서 손상을 찾아내는 과정과 H2A.X 표지를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M01-W06-L02 유전자와 유전체의 구성</a:t>
            </a:r>
            <a:r>
              <a:rPr sz="1400" b="0" i="0">
                <a:solidFill>
                  <a:srgbClr val="11202B"/>
                </a:solidFill>
                <a:latin typeface="Malgun Gothic"/>
                <a:ea typeface="Malgun Gothic"/>
                <a:cs typeface="Malgun Gothic"/>
              </a:rPr>
              <a:t> — 염색체의 기능 요소, 반복 서열, telomere와 centromere의 서열 구조를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M01-W07-L02 전사 조절과 후성유전</a:t>
            </a:r>
            <a:r>
              <a:rPr sz="1400" b="0" i="0">
                <a:solidFill>
                  <a:srgbClr val="11202B"/>
                </a:solidFill>
                <a:latin typeface="Malgun Gothic"/>
                <a:ea typeface="Malgun Gothic"/>
                <a:cs typeface="Malgun Gothic"/>
              </a:rPr>
              <a:t> — histone 수식과 DNA 메틸화가 조절로 번역되는 과정을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M01-W06-L01 재조합 DNA와 분자생물학 실험 기법</a:t>
            </a:r>
            <a:r>
              <a:rPr sz="1400" b="0" i="0">
                <a:solidFill>
                  <a:srgbClr val="11202B"/>
                </a:solidFill>
                <a:latin typeface="Malgun Gothic"/>
                <a:ea typeface="Malgun Gothic"/>
                <a:cs typeface="Malgun Gothic"/>
              </a:rPr>
              <a:t> — hybridization과 서열 분석의 실험 조건을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M03-W05-L01 후성유전 조절</a:t>
            </a:r>
            <a:r>
              <a:rPr sz="1400" b="0" i="0">
                <a:solidFill>
                  <a:srgbClr val="11202B"/>
                </a:solidFill>
                <a:latin typeface="Malgun Gothic"/>
                <a:ea typeface="Malgun Gothic"/>
                <a:cs typeface="Malgun Gothic"/>
              </a:rPr>
              <a:t> — 수식의 유지와 세대 간 전달을 조절의 틀에서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M01-W12-L01 세포주기와 그 조절</a:t>
            </a:r>
            <a:r>
              <a:rPr sz="1400" b="0" i="0">
                <a:solidFill>
                  <a:srgbClr val="11202B"/>
                </a:solidFill>
                <a:latin typeface="Malgun Gothic"/>
                <a:ea typeface="Malgun Gothic"/>
                <a:cs typeface="Malgun Gothic"/>
              </a:rPr>
              <a:t> — 응축과 분리의 시점, 그리고 topoisomerase II의 분열기 역할을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M01-W12-L03 암의 세포생물학</a:t>
            </a:r>
            <a:r>
              <a:rPr sz="1400" b="0" i="0">
                <a:solidFill>
                  <a:srgbClr val="11202B"/>
                </a:solidFill>
                <a:latin typeface="Malgun Gothic"/>
                <a:ea typeface="Malgun Gothic"/>
                <a:cs typeface="Malgun Gothic"/>
              </a:rPr>
              <a:t> — 구조 변이와 enhancer 가로채기, chromatin 조절 인자의 변이를 종양의 틀에서 다룬다.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14   </a:t>
            </a:r>
            <a:r>
              <a:rPr sz="2400" b="1" i="0">
                <a:solidFill>
                  <a:srgbClr val="FFFFFF"/>
                </a:solidFill>
                <a:latin typeface="Malgun Gothic"/>
                <a:ea typeface="Malgun Gothic"/>
                <a:cs typeface="Malgun Gothic"/>
              </a:rPr>
              <a:t>14.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32</a:t>
            </a:r>
          </a:p>
        </p:txBody>
      </p:sp>
      <p:sp>
        <p:nvSpPr>
          <p:cNvPr id="7" name="Rectangle 6"/>
          <p:cNvSpPr/>
          <p:nvPr/>
        </p:nvSpPr>
        <p:spPr>
          <a:xfrm>
            <a:off x="640080" y="1325880"/>
            <a:ext cx="10881360" cy="168148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DNA는 방향과 위상을 가진 분자다. 두 홈의 화학이 단백질 인식을 정하고, 안정성은 수소결합보다 base stacking과 전하 가림에 더 의존한다. 포장은 nucleosome에서 시작해 고리와 TAD로 올라가며, 그 과정에서 생기는 위상 문제를 topoisomerase가 푼다. 포장은 접근을 제한하므로 유전자 조절은 결합의 유무가 아니라 접근의 가능성으로 보아야 한다. 구조를 다루는 단백질의 결손은 전신 발달 이상으로 나타나고, 서열을 바꾸지 않는 구조 변이도 질환의 원인이 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33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DNA가 RNA보다 저장 분자로 안정한 화학적 이유를 하나 들라.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Deoxyribose에는 2′ hydroxyl기가 없다. RNA의 2′ hydroxyl기는 인접한 인산을 공격해 사슬을 끊을 수 있으므로 알칼리 조건에서 쉽게 분해된다.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34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서열을 특이적으로 알아보는 전사인자는 대개 어느 홈에 결합하는가? 그 이유는?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Major groove다. 그 홈에서는 네 염기쌍이 수소 공여기·수용기·methyl기의 배치를 서로 다르게 내놓아 구별할 수 있다. Minor groove에서는 그 조합이 겹쳐 구별이 어렵다.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35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두 DNA 조각이 길이와 염 농도가 같은데 Tm이 다르다. 가장 먼저 확인할 것은?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GC 함량이다. GC 염기쌍은 수소결합이 하나 더 많고 쌓임도 더 유리하므로 Tm을 올린다.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이중나선의 안정성을 "수소결합 때문"이라고만 설명하면 왜 부족한가?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물속에서는 염기가 물 분자와도 수소결합을 만들 수 있어 순이득이 크지 않다. Base stacking과 양이온의 전하 가림이 안정성의 큰 몫을 담당한다.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Linking number가 고정된 DNA에서 twist를 풀면 무엇이 생기는가?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Writhe, 즉 초나선이 생긴다. Lk = twist + writhe 이므로 Lk가 고정된 상태에서 한쪽이 줄면 다른 쪽이 늘어난다.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38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세포의 DNA가 음성 초나선을 띠는 것이 어떤 과정에 유리한가?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가닥을 열어야 하는 과정, 즉 복제와 전사의 개시에 유리하다. 덜 감긴 상태에서 가닥이 더 쉽게 분리된다.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39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Camptothecin 계열과 etoposide가 남기는 손상의 종류가 어떻게 다른가?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Camptothecin 계열은 topoisomerase I의 중간체를 붙잡아 단일가닥 절단을 남기고, 그것이 복제 분기점과 만나면 이중가닥 절단이 된다. Etoposide는 topoisomerase II를 표적으로 하여 이중가닥 절단을 직접 남긴다.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40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Topoisomerase 억제제를 "효소 독"이라 부르는 이유는?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효소의 활성을 낮추는 것이 아니라 효소–DNA 공유결합 중간체를 안정화해 끊어진 상태를 붙잡기 때문이다. 그 결과 절단이 세포에 남는다.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41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Nucleosome의 DNA–histone 결합이 서열 특이적이지 않다는 사실에서 유전자 조절에 대해 어떤 결론이 나오는가?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Nucleosome이 유전체 전체를 덮으므로 전사인자의 결합 자리도 대개 덮여 있다. 따라서 조절은 결합의 유무가 아니라 접근의 가능성 문제가 되고, 자리를 비우는 재구성과 수식이 필요해진다.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42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Histone의 acetylation과 methylation이 작동하는 방식의 차이를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Acetylation은 lysine의 양전하를 없애 DNA와의 결합을 약화시키는 직접 효과를 갖는다. Methylation은 전하를 바꾸지 않으므로 그 수식을 읽는 단백질이 와야 결과가 생기며, 자리와 횟수에 따라 활성 또는 억제로 나뉜다.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43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Cohesin과 CTCF가 TAD 형성에서 각각 맡는 일은?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Cohesin은 DNA를 양쪽으로 밀어내며 고리를 키우고(loop extrusion), CTCF가 붙은 자리가 그 진행을 멈춰 고리의 밑동과 TAD의 경계를 정한다.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44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Hi-C 지도에서 보이는 TAD를 한 세포의 구조로 읽으면 안 되는 이유는?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Hi-C는 수많은 세포의 접촉 빈도를 평균한 결과다. 단일세포 자료에서 TAD의 경계는 세포마다 흔들리고 고리의 위치도 일정하지 않다.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45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서열을 바꾸지 않는 구조 변이가 질환을 만드는 기전을 하나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TAD 경계를 포함하는 결실이나 역위가 일어나면 원래 다른 칸에 있던 enhancer가 promoter와 만나 엉뚱한 유전자를 켠다(enhancer 가로채기). 손발 기형과 일부 종양에서 보고되었다.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46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LMNA 변이가 근육병, 심질환, 지방이상증, 조기 노화 증후군으로 모두 보고되는 사실에서 유전 상담에 어떤 주의가 필요한가?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같은 유전자의 변이가 서로 다른 표현형을 내고 가족 안에서도 양상이 다를 수 있으므로, 유전형만으로 경과를 단정하지 않는다.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47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Watson JD, Crick FHC. Molecular structure of nucleic acids: a structure for deoxyribose nucleic acid. Nature 1953;171:737–738.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Franklin RE, Gosling RG. Molecular configuration in sodium thymonucleate. Nature 1953;171:740–741.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Luger K, Mäder AW, Richmond RK, Sargent DF, Richmond TJ. Crystal structure of the nucleosome core particle at 2.8 Å resolution. Nature 1997;389:251–260.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Wang JC. Cellular roles of DNA topoisomerases: a molecular perspective. Nat Rev Mol Cell Biol 2002;3:430–440.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Pommier Y. Topoisomerase I inhibitors: camptothecins and beyond. Nat Rev Cancer 2006;6:789–802.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Lieberman-Aiden E, van Berkum NL, Williams L, et al. Comprehensive mapping of long-range interactions reveals folding principles of the human genome. Science 2009;326:289–293.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Dixon JR, Selvaraj S, Yue F, et al. Topological domains in mammalian genomes identified by analysis of chromatin interactions. Nature 2012;485:376–380.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Rao SSP, Huntley MH, Durand NC, et al. A 3D map of the human genome at kilobase resolution reveals principles of chromatin looping. Cell 2014;159:1665–1680.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Nora EP, Goloborodko A, Valton AL, et al. Targeted degradation of CTCF decouples local insulation of chromosome domains from genomic compartmentalization. Cell 2017;169:930–944.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M03-W01-L01  ·  DNA의 구조와 염색질 포장</a:t>
            </a:r>
            <a:r>
              <a:rPr sz="900" b="1" i="0">
                <a:solidFill>
                  <a:srgbClr val="003C71"/>
                </a:solidFill>
                <a:latin typeface="Malgun Gothic"/>
                <a:ea typeface="Malgun Gothic"/>
                <a:cs typeface="Malgun Gothic"/>
              </a:rPr>
              <a:t>      48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Rao SSP, Huang SC, Glenn St Hilaire B, et al. Cohesin loss eliminates all loop domains. Cell 2017;171:305–320.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Lupiáñez DG, Kraft K, Heinrich V, et al. Disruptions of topological chromatin domains cause pathogenic rewiring of gene-enhancer interactions. Cell 2015;161:1012–1025.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Buenrostro JD, Giresi PG, Zaba LC, Chang HY, Greenleaf WJ. Transposition of native chromatin for fast and sensitive epigenomic profiling of open chromatin, DNA-binding proteins and nucleosome position. Nat Methods 2013;10:1213–1218.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Davidson IF, Bauer B, Goetz D, Tang W, Wutz G, Peters JM. DNA loop extrusion by human cohesin. Science 2019;366:1338–1345.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Verstraeten VLRM, Broers JLV, Ramaekers FCS, van Steensel MAM. The nuclear envelope, a key structure in cellular integrity and gene expression. Curr Med Chem 2007;14:1231–1248.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