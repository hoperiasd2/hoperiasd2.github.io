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B형 이중나선의 치수와 두 홈. 지름 2 nm, 한 바퀴 3.4 nm, 염기쌍 간격 0.34 nm와 major groove·minor groove의 위치를 표시했다. 염기쌍 한 쌍을 확대해 수소결합의 수와 홈 쪽으로 향하는 작용기를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DNA의 구조와 염색질 포장</a:t>
            </a:r>
          </a:p>
          <a:p>
            <a:r>
              <a:rPr sz="1500" b="0" i="0">
                <a:solidFill>
                  <a:srgbClr val="B9D2E8"/>
                </a:solidFill>
                <a:latin typeface="Malgun Gothic"/>
                <a:ea typeface="Malgun Gothic"/>
                <a:cs typeface="Malgun Gothic"/>
              </a:rPr>
              <a:t>DNA Structure and Chromatin Packaging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M03-W01-L01  ·  1부</a:t>
            </a:r>
          </a:p>
          <a:p>
            <a:r>
              <a:rPr sz="1100" b="0" i="0">
                <a:solidFill>
                  <a:srgbClr val="F2B705"/>
                </a:solidFill>
                <a:latin typeface="Malgun Gothic"/>
                <a:ea typeface="Malgun Gothic"/>
                <a:cs typeface="Malgun Gothic"/>
              </a:rPr>
              <a:t>전체 14절 가운데 7절</a:t>
            </a:r>
          </a:p>
          <a:p>
            <a:r>
              <a:rPr sz="1100" b="0" i="0">
                <a:solidFill>
                  <a:srgbClr val="9FBEDA"/>
                </a:solidFill>
                <a:latin typeface="Malgun Gothic"/>
                <a:ea typeface="Malgun Gothic"/>
                <a:cs typeface="Malgun Gothic"/>
              </a:rPr>
              <a:t>1주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1.  </a:t>
            </a:r>
            <a:r>
              <a:rPr sz="1400" b="0" i="0">
                <a:solidFill>
                  <a:srgbClr val="11202B"/>
                </a:solidFill>
                <a:latin typeface="Malgun Gothic"/>
                <a:ea typeface="Malgun Gothic"/>
                <a:cs typeface="Malgun Gothic"/>
              </a:rPr>
              <a:t>Nucleotide의 세 구성 요소와 phosphodiester 결합의 방향성을 그림으로 설명한다.</a:t>
            </a:r>
          </a:p>
          <a:p>
            <a:pPr>
              <a:spcAft>
                <a:spcPts val="900"/>
              </a:spcAft>
            </a:pPr>
            <a:r>
              <a:rPr sz="1400" b="1" i="0">
                <a:solidFill>
                  <a:srgbClr val="F2B705"/>
                </a:solidFill>
                <a:latin typeface="Malgun Gothic"/>
                <a:ea typeface="Malgun Gothic"/>
                <a:cs typeface="Malgun Gothic"/>
              </a:rPr>
              <a:t>2.  </a:t>
            </a:r>
            <a:r>
              <a:rPr sz="1400" b="0" i="0">
                <a:solidFill>
                  <a:srgbClr val="11202B"/>
                </a:solidFill>
                <a:latin typeface="Malgun Gothic"/>
                <a:ea typeface="Malgun Gothic"/>
                <a:cs typeface="Malgun Gothic"/>
              </a:rPr>
              <a:t>B형 이중나선의 치수를 제시하고 major groove와 minor groove의 화학적 차이가 단백질 인식에 주는 결과를 설명한다.</a:t>
            </a:r>
          </a:p>
          <a:p>
            <a:pPr>
              <a:spcAft>
                <a:spcPts val="900"/>
              </a:spcAft>
            </a:pPr>
            <a:r>
              <a:rPr sz="1400" b="1" i="0">
                <a:solidFill>
                  <a:srgbClr val="F2B705"/>
                </a:solidFill>
                <a:latin typeface="Malgun Gothic"/>
                <a:ea typeface="Malgun Gothic"/>
                <a:cs typeface="Malgun Gothic"/>
              </a:rPr>
              <a:t>3.  </a:t>
            </a:r>
            <a:r>
              <a:rPr sz="1400" b="0" i="0">
                <a:solidFill>
                  <a:srgbClr val="11202B"/>
                </a:solidFill>
                <a:latin typeface="Malgun Gothic"/>
                <a:ea typeface="Malgun Gothic"/>
                <a:cs typeface="Malgun Gothic"/>
              </a:rPr>
              <a:t>A형, Z형, G-quadruplex가 B형과 어떻게 다른지 구분하고 각 구조가 관찰되는 조건을 든다.</a:t>
            </a:r>
          </a:p>
          <a:p>
            <a:pPr>
              <a:spcAft>
                <a:spcPts val="900"/>
              </a:spcAft>
            </a:pPr>
            <a:r>
              <a:rPr sz="1400" b="1" i="0">
                <a:solidFill>
                  <a:srgbClr val="F2B705"/>
                </a:solidFill>
                <a:latin typeface="Malgun Gothic"/>
                <a:ea typeface="Malgun Gothic"/>
                <a:cs typeface="Malgun Gothic"/>
              </a:rPr>
              <a:t>4.  </a:t>
            </a:r>
            <a:r>
              <a:rPr sz="1400" b="0" i="0">
                <a:solidFill>
                  <a:srgbClr val="11202B"/>
                </a:solidFill>
                <a:latin typeface="Malgun Gothic"/>
                <a:ea typeface="Malgun Gothic"/>
                <a:cs typeface="Malgun Gothic"/>
              </a:rPr>
              <a:t>이중나선의 안정성을 base stacking, hydrogen bond, 이온 세기로 나누어 설명하고 Tm이 무엇에 의해 달라지는지 예측한다.</a:t>
            </a:r>
          </a:p>
          <a:p>
            <a:pPr>
              <a:spcAft>
                <a:spcPts val="900"/>
              </a:spcAft>
            </a:pPr>
            <a:r>
              <a:rPr sz="1400" b="1" i="0">
                <a:solidFill>
                  <a:srgbClr val="F2B705"/>
                </a:solidFill>
                <a:latin typeface="Malgun Gothic"/>
                <a:ea typeface="Malgun Gothic"/>
                <a:cs typeface="Malgun Gothic"/>
              </a:rPr>
              <a:t>5.  </a:t>
            </a:r>
            <a:r>
              <a:rPr sz="1400" b="0" i="0">
                <a:solidFill>
                  <a:srgbClr val="11202B"/>
                </a:solidFill>
                <a:latin typeface="Malgun Gothic"/>
                <a:ea typeface="Malgun Gothic"/>
                <a:cs typeface="Malgun Gothic"/>
              </a:rPr>
              <a:t>Linking number와 초나선을 정의하고 topoisomerase I과 II의 작용을 반응 단계로 구분한다.</a:t>
            </a:r>
          </a:p>
          <a:p>
            <a:pPr>
              <a:spcAft>
                <a:spcPts val="900"/>
              </a:spcAft>
            </a:pPr>
            <a:r>
              <a:rPr sz="1400" b="1" i="0">
                <a:solidFill>
                  <a:srgbClr val="F2B705"/>
                </a:solidFill>
                <a:latin typeface="Malgun Gothic"/>
                <a:ea typeface="Malgun Gothic"/>
                <a:cs typeface="Malgun Gothic"/>
              </a:rPr>
              <a:t>6.  </a:t>
            </a:r>
            <a:r>
              <a:rPr sz="1400" b="0" i="0">
                <a:solidFill>
                  <a:srgbClr val="11202B"/>
                </a:solidFill>
                <a:latin typeface="Malgun Gothic"/>
                <a:ea typeface="Malgun Gothic"/>
                <a:cs typeface="Malgun Gothic"/>
              </a:rPr>
              <a:t>Nucleosome의 구성과 DNA가 histone octamer에 붙는 결합의 성질을 설명한다.</a:t>
            </a:r>
          </a:p>
          <a:p>
            <a:pPr>
              <a:spcAft>
                <a:spcPts val="900"/>
              </a:spcAft>
            </a:pPr>
            <a:r>
              <a:rPr sz="1400" b="1" i="0">
                <a:solidFill>
                  <a:srgbClr val="F2B705"/>
                </a:solidFill>
                <a:latin typeface="Malgun Gothic"/>
                <a:ea typeface="Malgun Gothic"/>
                <a:cs typeface="Malgun Gothic"/>
              </a:rPr>
              <a:t>7.  </a:t>
            </a:r>
            <a:r>
              <a:rPr sz="1400" b="0" i="0">
                <a:solidFill>
                  <a:srgbClr val="11202B"/>
                </a:solidFill>
                <a:latin typeface="Malgun Gothic"/>
                <a:ea typeface="Malgun Gothic"/>
                <a:cs typeface="Malgun Gothic"/>
              </a:rPr>
              <a:t>Histone 변이체와 꼬리 수식이 chromatin의 성질을 바꾸는 방식을 든다.</a:t>
            </a:r>
          </a:p>
          <a:p>
            <a:pPr>
              <a:spcAft>
                <a:spcPts val="900"/>
              </a:spcAft>
            </a:pPr>
            <a:r>
              <a:rPr sz="1400" b="1" i="0">
                <a:solidFill>
                  <a:srgbClr val="F2B705"/>
                </a:solidFill>
                <a:latin typeface="Malgun Gothic"/>
                <a:ea typeface="Malgun Gothic"/>
                <a:cs typeface="Malgun Gothic"/>
              </a:rPr>
              <a:t>8.  </a:t>
            </a:r>
            <a:r>
              <a:rPr sz="1400" b="0" i="0">
                <a:solidFill>
                  <a:srgbClr val="11202B"/>
                </a:solidFill>
                <a:latin typeface="Malgun Gothic"/>
                <a:ea typeface="Malgun Gothic"/>
                <a:cs typeface="Malgun Gothic"/>
              </a:rPr>
              <a:t>Loop extrusion과 TAD의 개념으로 염색체의 상위 구조를 설명하고 CTCF와 cohesin의 역할을 구분한다.</a:t>
            </a:r>
          </a:p>
          <a:p>
            <a:pPr>
              <a:spcAft>
                <a:spcPts val="900"/>
              </a:spcAft>
            </a:pPr>
            <a:r>
              <a:rPr sz="1400" b="1" i="0">
                <a:solidFill>
                  <a:srgbClr val="F2B705"/>
                </a:solidFill>
                <a:latin typeface="Malgun Gothic"/>
                <a:ea typeface="Malgun Gothic"/>
                <a:cs typeface="Malgun Gothic"/>
              </a:rPr>
              <a:t>9.  </a:t>
            </a:r>
            <a:r>
              <a:rPr sz="1400" b="0" i="0">
                <a:solidFill>
                  <a:srgbClr val="11202B"/>
                </a:solidFill>
                <a:latin typeface="Malgun Gothic"/>
                <a:ea typeface="Malgun Gothic"/>
                <a:cs typeface="Malgun Gothic"/>
              </a:rPr>
              <a:t>Chromatin 접근성과 접촉 빈도를 측정하는 방법을 원리로 구분한다.</a:t>
            </a:r>
          </a:p>
          <a:p>
            <a:pPr>
              <a:spcAft>
                <a:spcPts val="900"/>
              </a:spcAft>
            </a:pPr>
            <a:r>
              <a:rPr sz="1400" b="1" i="0">
                <a:solidFill>
                  <a:srgbClr val="F2B705"/>
                </a:solidFill>
                <a:latin typeface="Malgun Gothic"/>
                <a:ea typeface="Malgun Gothic"/>
                <a:cs typeface="Malgun Gothic"/>
              </a:rPr>
              <a:t>10.  </a:t>
            </a:r>
            <a:r>
              <a:rPr sz="1400" b="0" i="0">
                <a:solidFill>
                  <a:srgbClr val="11202B"/>
                </a:solidFill>
                <a:latin typeface="Malgun Gothic"/>
                <a:ea typeface="Malgun Gothic"/>
                <a:cs typeface="Malgun Gothic"/>
              </a:rPr>
              <a:t>Topoisomerase 억제제, cohesinopathy, laminopathy를 구조의 교란이라는 틀로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이중나선, 염기쌍, 5′→3′ 방향성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염색체의 기능 요소, nucleosome과 응축의 개요</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M01-W07-L02 전사 조절과 후성유전 — histone 수식과 DNA 메틸화의 조절 기능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DNA의 화학 구조와 방향성</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이중나선의 기하와 두 홈의 화학</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B형이 아닌 구조들</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이중나선을 붙잡는 힘</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변성과 재결합, 그리고 측정</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위상: linking number와 초나선</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Topoisomerase와 그 억제제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DNA의 화학 구조와 방향성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DNA의 단위는 </a:t>
            </a:r>
            <a:r>
              <a:rPr sz="1400" b="1" i="0">
                <a:solidFill>
                  <a:srgbClr val="11202B"/>
                </a:solidFill>
                <a:latin typeface="Malgun Gothic"/>
                <a:ea typeface="Malgun Gothic"/>
                <a:cs typeface="Malgun Gothic"/>
              </a:rPr>
              <a:t>nucleotide</a:t>
            </a:r>
            <a:r>
              <a:rPr sz="1400" b="0" i="0">
                <a:solidFill>
                  <a:srgbClr val="11202B"/>
                </a:solidFill>
                <a:latin typeface="Malgun Gothic"/>
                <a:ea typeface="Malgun Gothic"/>
                <a:cs typeface="Malgun Gothic"/>
              </a:rPr>
              <a:t>이고 세 부분으로 이루어진다. 염기, 다섯 탄소 당인 2′-deoxyribose, 그리고 인산이다. 염기는 두 종류의 고리 구조로 나뉜다. Purine인 adenine과 guanine은 고리 두 개가 붙은 구조이고, pyrimidine인 cytosine과 thymine은 고리 하나다. 당과 염기만 연결된 것을 nucleoside라 하고, 거기에 인산이 붙으면 nucleotide가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사슬은 </a:t>
            </a:r>
            <a:r>
              <a:rPr sz="1400" b="1" i="0">
                <a:solidFill>
                  <a:srgbClr val="11202B"/>
                </a:solidFill>
                <a:latin typeface="Malgun Gothic"/>
                <a:ea typeface="Malgun Gothic"/>
                <a:cs typeface="Malgun Gothic"/>
              </a:rPr>
              <a:t>phosphodiester 결합</a:t>
            </a:r>
            <a:r>
              <a:rPr sz="1400" b="0" i="0">
                <a:solidFill>
                  <a:srgbClr val="11202B"/>
                </a:solidFill>
                <a:latin typeface="Malgun Gothic"/>
                <a:ea typeface="Malgun Gothic"/>
                <a:cs typeface="Malgun Gothic"/>
              </a:rPr>
              <a:t>으로 이어진다. 한 nucleotide의 3′ 탄소에 붙은 hydroxyl기가 다음 nucleotide의 5′ 인산과 결합한다. 그래서 사슬의 한쪽 끝에는 자유 5′ 인산이, 다른 쪽 끝에는 자유 3′ hydroxyl기가 남는다. 이 비대칭이 </a:t>
            </a:r>
            <a:r>
              <a:rPr sz="1400" b="1" i="0">
                <a:solidFill>
                  <a:srgbClr val="11202B"/>
                </a:solidFill>
                <a:latin typeface="Malgun Gothic"/>
                <a:ea typeface="Malgun Gothic"/>
                <a:cs typeface="Malgun Gothic"/>
              </a:rPr>
              <a:t>5′→3′ 방향성</a:t>
            </a:r>
            <a:r>
              <a:rPr sz="1400" b="0" i="0">
                <a:solidFill>
                  <a:srgbClr val="11202B"/>
                </a:solidFill>
                <a:latin typeface="Malgun Gothic"/>
                <a:ea typeface="Malgun Gothic"/>
                <a:cs typeface="Malgun Gothic"/>
              </a:rPr>
              <a:t>이고, 서열을 적는 관례도 왼쪽이 5′이다.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방향성은 표기의 문제가 아니라 모든 효소 반응의 제약이다. DNA polymerase는 자라는 사슬의 3′ hydroxyl기에 다음 nucleotide를 붙이므로 5′→3′으로만 합성한다. 전사도 같은 방향으로 진행하고, 서열을 읽는 장비도 대개 한쪽 방향으로 읽는다. M01-W06-L03에서 본 복제 분기점의 비대칭이 바로 이 방향성에서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위치의 차이도 함께 기억해야 한다. RNA의 ribose는 2′에 hydroxyl기를 갖고 DNA의 deoxyribose는 갖지 않는다. 이 하나의 차이가 두 분자의 안정성을 가른다. 2′ hydroxyl기는 인접한 인산을 공격해 사슬을 끊을 수 있으므로, RNA는 알칼리 조건에서 쉽게 분해되고 DNA는 그렇지 않다. </a:t>
            </a:r>
            <a:r>
              <a:rPr sz="1400" b="1" i="0">
                <a:solidFill>
                  <a:srgbClr val="11202B"/>
                </a:solidFill>
                <a:latin typeface="Malgun Gothic"/>
                <a:ea typeface="Malgun Gothic"/>
                <a:cs typeface="Malgun Gothic"/>
              </a:rPr>
              <a:t>유전정보의 저장을 DNA가 맡는 화학적 이유</a:t>
            </a:r>
            <a:r>
              <a:rPr sz="1400" b="0" i="0">
                <a:solidFill>
                  <a:srgbClr val="11202B"/>
                </a:solidFill>
                <a:latin typeface="Malgun Gothic"/>
                <a:ea typeface="Malgun Gothic"/>
                <a:cs typeface="Malgun Gothic"/>
              </a:rPr>
              <a:t>가 여기에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DNA의 화학 구조와 방향성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DNA는 방향을 가진 사슬이고, 그 방향은 3′–5′ phosphodiester 결합에서 나온다. 2′ hydroxyl기가 없다는 점이 저장 분자로서의 안정성을 만든다.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DNA의 화학 구조와 방향성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염기의 화학적 성질 하나를 더 짚어 둔다. Cytosine은 자발적으로 탈아미노화되어 uracil이 된다. 이 반응이 DNA에서 꾸준히 일어나며, 세포는 uracil을 찾아 제거하는 효소를 갖추고 있다. 여기서 </a:t>
            </a:r>
            <a:r>
              <a:rPr sz="1600" b="1" i="0">
                <a:solidFill>
                  <a:srgbClr val="11202B"/>
                </a:solidFill>
                <a:latin typeface="Malgun Gothic"/>
                <a:ea typeface="Malgun Gothic"/>
                <a:cs typeface="Malgun Gothic"/>
              </a:rPr>
              <a:t>DNA가 thymine을 쓰는 이유</a:t>
            </a:r>
            <a:r>
              <a:rPr sz="1600" b="0" i="0">
                <a:solidFill>
                  <a:srgbClr val="11202B"/>
                </a:solidFill>
                <a:latin typeface="Malgun Gothic"/>
                <a:ea typeface="Malgun Gothic"/>
                <a:cs typeface="Malgun Gothic"/>
              </a:rPr>
              <a:t>가 설명된다. Thymine은 uracil에 methyl기가 붙은 것이고, 그 methyl기가 "원래 있어야 할 염기"와 "잘못 생긴 염기"를 구별하는 표지가 된다. 만약 DNA가 uracil을 썼다면 탈아미노화로 생긴 uracil을 가려낼 수 없다. M03-W01-L03에서 이 복구 경로를 자세히 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메틸화된 cytosine에서는 이 논리가 거꾸로 작동한다. 5-methylcytosine이 탈아미노화되면 thymine이 되고, thymine은 정상 염기이므로 복구 기구가 잘못을 알아보기 어렵다. 그래서 </a:t>
            </a:r>
            <a:r>
              <a:rPr sz="1600" b="1" i="0">
                <a:solidFill>
                  <a:srgbClr val="11202B"/>
                </a:solidFill>
                <a:latin typeface="Malgun Gothic"/>
                <a:ea typeface="Malgun Gothic"/>
                <a:cs typeface="Malgun Gothic"/>
              </a:rPr>
              <a:t>메틸화 자리는 변이가 생기기 쉬운 자리</a:t>
            </a:r>
            <a:r>
              <a:rPr sz="1600" b="0" i="0">
                <a:solidFill>
                  <a:srgbClr val="11202B"/>
                </a:solidFill>
                <a:latin typeface="Malgun Gothic"/>
                <a:ea typeface="Malgun Gothic"/>
                <a:cs typeface="Malgun Gothic"/>
              </a:rPr>
              <a:t>가 된다. 사람 유전체에서 CpG 서열의 빈도가 기대보다 낮은 것, 그리고 질환을 일으키는 점 변이 가운데 CpG 자리의 C에서 T로 가는 변화가 많은 것이 이 화학으로 설명된다.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이중나선의 기하와 두 홈의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가닥은 염기쌍으로 묶인다. A는 T와 수소결합 두 개, G는 C와 세 개를 만든다. 이 조합만 가능한 이유는 두 가지다. Purine과 pyrimidine이 짝을 이루면 두 가닥 사이의 거리가 일정하게 유지되고, 수소 공여기와 수용기의 배치가 그 조합에서만 맞는다. 그래서 </a:t>
            </a:r>
            <a:r>
              <a:rPr sz="1800" b="1" i="0">
                <a:solidFill>
                  <a:srgbClr val="11202B"/>
                </a:solidFill>
                <a:latin typeface="Malgun Gothic"/>
                <a:ea typeface="Malgun Gothic"/>
                <a:cs typeface="Malgun Gothic"/>
              </a:rPr>
              <a:t>염기쌍의 폭이 서열과 무관하게 거의 같고</a:t>
            </a:r>
            <a:r>
              <a:rPr sz="1800" b="0" i="0">
                <a:solidFill>
                  <a:srgbClr val="11202B"/>
                </a:solidFill>
                <a:latin typeface="Malgun Gothic"/>
                <a:ea typeface="Malgun Gothic"/>
                <a:cs typeface="Malgun Gothic"/>
              </a:rPr>
              <a:t>, 나선의 지름이 일정해진다.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B형 이중나선의 치수는 외워 둘 값이 몇 개 있다. 지름은 약 2 nm, 한 바퀴에 염기쌍 약 10.5개, 한 바퀴의 길이는 약 3.4 nm이므로 염기쌍 사이 간격은 약 0.34 nm다. 두 가닥은 서로 반대 방향으로 달리는 </a:t>
            </a:r>
            <a:r>
              <a:rPr sz="1800" b="1" i="0">
                <a:solidFill>
                  <a:srgbClr val="11202B"/>
                </a:solidFill>
                <a:latin typeface="Malgun Gothic"/>
                <a:ea typeface="Malgun Gothic"/>
                <a:cs typeface="Malgun Gothic"/>
              </a:rPr>
              <a:t>역평행(antiparallel)</a:t>
            </a:r>
            <a:r>
              <a:rPr sz="1800" b="0" i="0">
                <a:solidFill>
                  <a:srgbClr val="11202B"/>
                </a:solidFill>
                <a:latin typeface="Malgun Gothic"/>
                <a:ea typeface="Malgun Gothic"/>
                <a:cs typeface="Malgun Gothic"/>
              </a:rPr>
              <a:t> 배치이고, 염기는 안쪽에 쌓이고 당-인산 골격은 바깥에 놓인다.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이중나선의 기하와 두 홈의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9</a:t>
            </a:r>
          </a:p>
        </p:txBody>
      </p:sp>
      <p:pic>
        <p:nvPicPr>
          <p:cNvPr id="7" name="Picture 6" descr="fig-dna-geometry.slide.png"/>
          <p:cNvPicPr>
            <a:picLocks noChangeAspect="1"/>
          </p:cNvPicPr>
          <p:nvPr/>
        </p:nvPicPr>
        <p:blipFill>
          <a:blip r:embed="rId2"/>
          <a:stretch>
            <a:fillRect/>
          </a:stretch>
        </p:blipFill>
        <p:spPr>
          <a:xfrm>
            <a:off x="2580218" y="1325880"/>
            <a:ext cx="703125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B형 이중나선의 치수와 두 홈. 지름 2 nm, 한 바퀴 3.4 nm, 염기쌍 간격 0.34 nm와 major groove·minor groove의 위치를 표시했다. 염기쌍 한 쌍을 확대해 수소결합의 수와 홈 쪽으로 향하는 작용기를 함께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이중나선의 기하와 두 홈의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가닥이 꼬이면 골격 사이에 폭이 다른 두 홈이 생긴다. 넓은 쪽이 </a:t>
            </a:r>
            <a:r>
              <a:rPr sz="1600" b="1" i="0">
                <a:solidFill>
                  <a:srgbClr val="11202B"/>
                </a:solidFill>
                <a:latin typeface="Malgun Gothic"/>
                <a:ea typeface="Malgun Gothic"/>
                <a:cs typeface="Malgun Gothic"/>
              </a:rPr>
              <a:t>major groove</a:t>
            </a:r>
            <a:r>
              <a:rPr sz="1600" b="0" i="0">
                <a:solidFill>
                  <a:srgbClr val="11202B"/>
                </a:solidFill>
                <a:latin typeface="Malgun Gothic"/>
                <a:ea typeface="Malgun Gothic"/>
                <a:cs typeface="Malgun Gothic"/>
              </a:rPr>
              <a:t>, 좁은 쪽이 </a:t>
            </a:r>
            <a:r>
              <a:rPr sz="1600" b="1" i="0">
                <a:solidFill>
                  <a:srgbClr val="11202B"/>
                </a:solidFill>
                <a:latin typeface="Malgun Gothic"/>
                <a:ea typeface="Malgun Gothic"/>
                <a:cs typeface="Malgun Gothic"/>
              </a:rPr>
              <a:t>minor groove</a:t>
            </a:r>
            <a:r>
              <a:rPr sz="1600" b="0" i="0">
                <a:solidFill>
                  <a:srgbClr val="11202B"/>
                </a:solidFill>
                <a:latin typeface="Malgun Gothic"/>
                <a:ea typeface="Malgun Gothic"/>
                <a:cs typeface="Malgun Gothic"/>
              </a:rPr>
              <a:t>다. 중요한 것은 폭이 아니라 홈에 노출되는 화학이다. Major groove에는 각 염기쌍이 수소 공여기와 수용기, 그리고 methyl기를 서로 다른 조합으로 내놓으므로 </a:t>
            </a:r>
            <a:r>
              <a:rPr sz="1600" b="1" i="0">
                <a:solidFill>
                  <a:srgbClr val="11202B"/>
                </a:solidFill>
                <a:latin typeface="Malgun Gothic"/>
                <a:ea typeface="Malgun Gothic"/>
                <a:cs typeface="Malgun Gothic"/>
              </a:rPr>
              <a:t>네 염기쌍을 구별할 수 있다.</a:t>
            </a:r>
            <a:r>
              <a:rPr sz="1600" b="0" i="0">
                <a:solidFill>
                  <a:srgbClr val="11202B"/>
                </a:solidFill>
                <a:latin typeface="Malgun Gothic"/>
                <a:ea typeface="Malgun Gothic"/>
                <a:cs typeface="Malgun Gothic"/>
              </a:rPr>
              <a:t> Minor groove에서는 그 조합이 겹쳐 구별이 어렵다.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차이가 단백질의 결합 방식을 정한다. 특정 서열을 알아보는 전사인자는 대개 major groove에 나선이나 고리를 집어넣는다. 반면 서열과 무관하게 DNA를 구부리거나 감는 단백질, 그리고 minor groove에 결합하는 약물은 좁은 홈 쪽을 쓴다. </a:t>
            </a:r>
            <a:r>
              <a:rPr sz="1600" b="1" i="0">
                <a:solidFill>
                  <a:srgbClr val="11202B"/>
                </a:solidFill>
                <a:latin typeface="Malgun Gothic"/>
                <a:ea typeface="Malgun Gothic"/>
                <a:cs typeface="Malgun Gothic"/>
              </a:rPr>
              <a:t>서열 특이성이 필요하면 major groove</a:t>
            </a:r>
            <a:r>
              <a:rPr sz="1600" b="0" i="0">
                <a:solidFill>
                  <a:srgbClr val="11202B"/>
                </a:solidFill>
                <a:latin typeface="Malgun Gothic"/>
                <a:ea typeface="Malgun Gothic"/>
                <a:cs typeface="Malgun Gothic"/>
              </a:rPr>
              <a:t>라는 원칙으로 기억하면 M01-W07-L02에서 본 전사인자의 결합을 구조로 이해할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이중나선의 기하와 두 홈의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Minor groove에 끼어드는 약물이 치료로 쓰인다. 염기쌍 사이에 평면 고리를 밀어 넣는 intercalation은 나선을 늘이고 풀어 복제와 전사를 방해한다. Doxorubicin과 dactinomycin이 이 방식으로 작동하며, doxorubicin은 뒤에서 볼 topoisomerase II의 작용까지 함께 교란한다. 구조에 끼어드는 약은 서열을 가리지 않으므로 분열하는 정상 조직도 함께 손상된다는 점이 부작용의 근거다.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이중나선의 기하와 두 홈의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염기쌍의 기하를 한 단계 더 본다. 염기는 당에 대해 두 방향으로 놓일 수 있고 이를 </a:t>
            </a:r>
            <a:r>
              <a:rPr sz="1400" b="1" i="0">
                <a:solidFill>
                  <a:srgbClr val="11202B"/>
                </a:solidFill>
                <a:latin typeface="Malgun Gothic"/>
                <a:ea typeface="Malgun Gothic"/>
                <a:cs typeface="Malgun Gothic"/>
              </a:rPr>
              <a:t>anti</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syn</a:t>
            </a:r>
            <a:r>
              <a:rPr sz="1400" b="0" i="0">
                <a:solidFill>
                  <a:srgbClr val="11202B"/>
                </a:solidFill>
                <a:latin typeface="Malgun Gothic"/>
                <a:ea typeface="Malgun Gothic"/>
                <a:cs typeface="Malgun Gothic"/>
              </a:rPr>
              <a:t> 배치라 한다. B형에서는 모두 anti이며, Z형의 purine은 syn으로 돌아간다. 이 회전이 골격을 지그재그로 꺾는 원인이다. 또 Watson–Crick 짝 말고도 purine의 다른 면을 쓰는 </a:t>
            </a:r>
            <a:r>
              <a:rPr sz="1400" b="1" i="0">
                <a:solidFill>
                  <a:srgbClr val="11202B"/>
                </a:solidFill>
                <a:latin typeface="Malgun Gothic"/>
                <a:ea typeface="Malgun Gothic"/>
                <a:cs typeface="Malgun Gothic"/>
              </a:rPr>
              <a:t>Hoogsteen 짝</a:t>
            </a:r>
            <a:r>
              <a:rPr sz="1400" b="0" i="0">
                <a:solidFill>
                  <a:srgbClr val="11202B"/>
                </a:solidFill>
                <a:latin typeface="Malgun Gothic"/>
                <a:ea typeface="Malgun Gothic"/>
                <a:cs typeface="Malgun Gothic"/>
              </a:rPr>
              <a:t>이 가능하며, 세 가닥 구조와 G-quadruplex에서 그 짝이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염기쌍은 완전한 평면도 아니다. 두 염기가 프로펠러처럼 조금 비틀리고, 쌓인 염기쌍 사이의 꼬임 각도와 기울기가 서열에 따라 다르다. 그 결과 </a:t>
            </a:r>
            <a:r>
              <a:rPr sz="1400" b="1" i="0">
                <a:solidFill>
                  <a:srgbClr val="11202B"/>
                </a:solidFill>
                <a:latin typeface="Malgun Gothic"/>
                <a:ea typeface="Malgun Gothic"/>
                <a:cs typeface="Malgun Gothic"/>
              </a:rPr>
              <a:t>서열마다 휘기 쉬운 방향과 정도가 다르다.</a:t>
            </a:r>
            <a:r>
              <a:rPr sz="1400" b="0" i="0">
                <a:solidFill>
                  <a:srgbClr val="11202B"/>
                </a:solidFill>
                <a:latin typeface="Malgun Gothic"/>
                <a:ea typeface="Malgun Gothic"/>
                <a:cs typeface="Malgun Gothic"/>
              </a:rPr>
              <a:t> A가 연속한 구간은 고유한 휘어짐을 갖고, 그런 구간이 적절한 간격으로 반복되면 휘어짐이 더해져 눈에 보이는 굽이가 생긴다. 전사인자가 결합할 때 DNA를 크게 굽히는 경우가 많으므로, 이 국소 강성의 차이가 결합 친화도에 반영된다.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홈의 폭을 바꾸는 요인도 있다. A가 연속한 구간에서는 minor groove가 좁아지고, 그 좁은 홈에 선택적으로 결합하는 단백질과 염료가 있다. 세포 핵을 염색하는 DAPI와 Hoechst가 그런 분자이며, AT가 많은 구간의 좁은 minor groove에 끼어들어 형광을 낸다. 염색 결과가 균일하지 않고 AT 함량에 따라 밝기가 달라지는 이유, 그리고 염색체의 띠 무늬가 염기 조성과 상관하는 이유가 이 결합 성질에서 나온다.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B형이 아닌 구조들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B형은 생리적 조건의 주된 형태이고 유일한 형태가 아니다. 구조의 변이를 세 묶음으로 정리한다.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A형</a:t>
            </a:r>
            <a:r>
              <a:rPr sz="1400" b="0" i="0">
                <a:solidFill>
                  <a:srgbClr val="11202B"/>
                </a:solidFill>
                <a:latin typeface="Malgun Gothic"/>
                <a:ea typeface="Malgun Gothic"/>
                <a:cs typeface="Malgun Gothic"/>
              </a:rPr>
              <a:t>: 탈수 조건이나 RNA가 섞인 이중나선에서 나타난다. 나선이 더 두껍고 짧으며 한 바퀴에 염기쌍 약 11개가 들어간다. RNA–DNA 잡종 가닥과 이중나선 RNA가 이 형태를 띠므로, 전사 중 생기는 잡종 구간의 성질을 이해할 때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Z형</a:t>
            </a:r>
            <a:r>
              <a:rPr sz="1400" b="0" i="0">
                <a:solidFill>
                  <a:srgbClr val="11202B"/>
                </a:solidFill>
                <a:latin typeface="Malgun Gothic"/>
                <a:ea typeface="Malgun Gothic"/>
                <a:cs typeface="Malgun Gothic"/>
              </a:rPr>
              <a:t>: 왼쪽으로 꼬인 나선이다. 골격이 지그재그로 꺾이며, purine과 pyrimidine이 번갈아 나오는 서열(예: CGCGCG)에서 높은 염 농도나 음성 초나선 조건에서 나타난다. 전사가 활발한 구간 뒤에 일시적으로 생긴다는 보고가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네 가닥과 세 가닥 구조</a:t>
            </a:r>
            <a:r>
              <a:rPr sz="1400" b="0" i="0">
                <a:solidFill>
                  <a:srgbClr val="11202B"/>
                </a:solidFill>
                <a:latin typeface="Malgun Gothic"/>
                <a:ea typeface="Malgun Gothic"/>
                <a:cs typeface="Malgun Gothic"/>
              </a:rPr>
              <a:t>: Guanine이 연속해 네 묶음 이상 나오는 서열은 평면 네 개의 guanine이 서로 수소결합한 층을 쌓아 </a:t>
            </a:r>
            <a:r>
              <a:rPr sz="1400" b="1" i="0">
                <a:solidFill>
                  <a:srgbClr val="11202B"/>
                </a:solidFill>
                <a:latin typeface="Malgun Gothic"/>
                <a:ea typeface="Malgun Gothic"/>
                <a:cs typeface="Malgun Gothic"/>
              </a:rPr>
              <a:t>G-quadruplex</a:t>
            </a:r>
            <a:r>
              <a:rPr sz="1400" b="0" i="0">
                <a:solidFill>
                  <a:srgbClr val="11202B"/>
                </a:solidFill>
                <a:latin typeface="Malgun Gothic"/>
                <a:ea typeface="Malgun Gothic"/>
                <a:cs typeface="Malgun Gothic"/>
              </a:rPr>
              <a:t>를 만들 수 있다. Telomere의 반복 서열과 여러 promoter 구간이 그런 서열을 갖는다.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구조들은 교과서적 호기심이 아니라 복제와 전사의 장애물로 작동한다. G-quadruplex는 복제 분기점을 멈추게 하고, 그것을 푸는 helicase가 따로 있다. 그 helicase의 결손이 질환으로 나타난다는 사실이 구조의 실재를 보여 준다.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B형이 아닌 구조들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14</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구조가 서열에서 예측된다는 점을 시험에서 묻는다. </a:t>
            </a:r>
            <a:r>
              <a:rPr sz="1600" b="1" i="0">
                <a:solidFill>
                  <a:srgbClr val="11202B"/>
                </a:solidFill>
                <a:latin typeface="Malgun Gothic"/>
                <a:ea typeface="Malgun Gothic"/>
                <a:cs typeface="Malgun Gothic"/>
              </a:rPr>
              <a:t>Purine과 pyrimidine이 번갈아 나오면 Z형, guanine이 연속해 묶음으로 나오면 G-quadruplex, 거울상 대칭의 purine 연속 구간이면 세 가닥 구조</a:t>
            </a:r>
            <a:r>
              <a:rPr sz="1600" b="0" i="0">
                <a:solidFill>
                  <a:srgbClr val="11202B"/>
                </a:solidFill>
                <a:latin typeface="Malgun Gothic"/>
                <a:ea typeface="Malgun Gothic"/>
                <a:cs typeface="Malgun Gothic"/>
              </a:rPr>
              <a:t>를 떠올린다. 그리고 이 구조들이 공통적으로 만드는 결과가 하나다. </a:t>
            </a:r>
            <a:r>
              <a:rPr sz="1600" b="1" i="0">
                <a:solidFill>
                  <a:srgbClr val="11202B"/>
                </a:solidFill>
                <a:latin typeface="Malgun Gothic"/>
                <a:ea typeface="Malgun Gothic"/>
                <a:cs typeface="Malgun Gothic"/>
              </a:rPr>
              <a:t>복제와 전사의 진행을 막는다.</a:t>
            </a:r>
            <a:r>
              <a:rPr sz="1600" b="0" i="0">
                <a:solidFill>
                  <a:srgbClr val="11202B"/>
                </a:solidFill>
                <a:latin typeface="Malgun Gothic"/>
                <a:ea typeface="Malgun Gothic"/>
                <a:cs typeface="Malgun Gothic"/>
              </a:rPr>
              <a:t> 그래서 이런 서열이 몰려 있는 구간은 복제가 늦고 변이가 쌓이기 쉬우며, 유전체에서 재배열이 잘 일어나는 자리와 겹친다. 반복 확장 질환의 반복 서열이 비표준 구조를 만든다는 점도 같은 틀에서 이해한다.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B형이 아닌 구조들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G-quadruplex의 생물학적 의미가 최근 분명해졌다. 사람 유전체에는 이 구조를 만들 수 있는 서열이 수십만 곳으로 추정되며, telomere의 TTAGGG 반복과 많은 유전자의 promoter 부근에 몰려 있다. 이 구조는 전사와 복제를 멈추게 하므로, 세포는 그것을 푸는 helicase를 갖추고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helicase의 결손이 질환으로 나타난다는 점이 이 구조의 실재를 보여 준다. Bloom 증후군의 BLM과 Werner 증후군의 WRN이 그런 helicase에 속하고, 두 질환 모두 유전체 불안정성과 종양 위험 증가를 보인다. 복구 경로의 helicase인 FANCJ도 이 구조를 처리한다. 여기서 원칙 하나가 나온다. </a:t>
            </a:r>
            <a:r>
              <a:rPr sz="1400" b="1" i="0">
                <a:solidFill>
                  <a:srgbClr val="11202B"/>
                </a:solidFill>
                <a:latin typeface="Malgun Gothic"/>
                <a:ea typeface="Malgun Gothic"/>
                <a:cs typeface="Malgun Gothic"/>
              </a:rPr>
              <a:t>비표준 구조는 그 자체가 손상이 아니지만 처리되지 않으면 손상으로 바뀐다.</a:t>
            </a:r>
            <a:r>
              <a:rPr sz="1400" b="0" i="0">
                <a:solidFill>
                  <a:srgbClr val="11202B"/>
                </a:solidFill>
                <a:latin typeface="Malgun Gothic"/>
                <a:ea typeface="Malgun Gothic"/>
                <a:cs typeface="Malgun Gothic"/>
              </a:rPr>
              <a:t> 처리 기구가 없을 때 복제 분기점이 멈추고 그 자리가 절단과 재배열의 출발점이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가닥 구조도 조건이 정해져 있다. 한쪽 가닥에 purine이 길게 이어지고 그 배열이 거울상 대칭을 이루면, 사슬의 한 부분이 되돌아와 이중나선의 major groove에 끼어들어 세 가닥을 만들 수 있다. 이런 구조가 생기면 남은 한 가닥은 짝 없이 노출된다. 실험에서는 이 원리를 거꾸로 이용해, 표적 서열에 끼어들도록 설계한 짧은 사슬로 전사를 막으려는 시도가 있었다. 세포 안에서 효율이 낮아 치료로 이어지지는 않았으나, </a:t>
            </a:r>
            <a:r>
              <a:rPr sz="1400" b="1" i="0">
                <a:solidFill>
                  <a:srgbClr val="11202B"/>
                </a:solidFill>
                <a:latin typeface="Malgun Gothic"/>
                <a:ea typeface="Malgun Gothic"/>
                <a:cs typeface="Malgun Gothic"/>
              </a:rPr>
              <a:t>구조를 이용해 서열을 겨냥한다는 발상</a:t>
            </a:r>
            <a:r>
              <a:rPr sz="1400" b="0" i="0">
                <a:solidFill>
                  <a:srgbClr val="11202B"/>
                </a:solidFill>
                <a:latin typeface="Malgun Gothic"/>
                <a:ea typeface="Malgun Gothic"/>
                <a:cs typeface="Malgun Gothic"/>
              </a:rPr>
              <a:t> 자체는 뒤의 핵산 치료제로 이어졌다.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이중나선을 붙잡는 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이중나선의 안정성을 수소결합만으로 설명하면 틀린다. 물속에서 수소결합은 물 분자와도 만들어지므로, 가닥이 붙어 있는 데서 얻는 순이득이 크지 않다. 안정성의 더 큰 몫은 </a:t>
            </a:r>
            <a:r>
              <a:rPr sz="1400" b="1" i="0">
                <a:solidFill>
                  <a:srgbClr val="11202B"/>
                </a:solidFill>
                <a:latin typeface="Malgun Gothic"/>
                <a:ea typeface="Malgun Gothic"/>
                <a:cs typeface="Malgun Gothic"/>
              </a:rPr>
              <a:t>base stacking</a:t>
            </a:r>
            <a:r>
              <a:rPr sz="1400" b="0" i="0">
                <a:solidFill>
                  <a:srgbClr val="11202B"/>
                </a:solidFill>
                <a:latin typeface="Malgun Gothic"/>
                <a:ea typeface="Malgun Gothic"/>
                <a:cs typeface="Malgun Gothic"/>
              </a:rPr>
              <a:t>에서 온다. 쌓인 염기 고리 사이의 van der Waals 상호작용과, 평면 고리를 물에서 떼어 안쪽으로 모으는 소수성 효과가 함께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 요인이 전하다. 골격의 인산은 음전하를 띠므로 두 가닥은 서로 밀어낸다. 용액의 양이온이 그 반발을 가려 주어야 나선이 유지된다. 그래서 </a:t>
            </a:r>
            <a:r>
              <a:rPr sz="1400" b="1" i="0">
                <a:solidFill>
                  <a:srgbClr val="11202B"/>
                </a:solidFill>
                <a:latin typeface="Malgun Gothic"/>
                <a:ea typeface="Malgun Gothic"/>
                <a:cs typeface="Malgun Gothic"/>
              </a:rPr>
              <a:t>염 농도가 낮으면 이중나선이 불안정해진다.</a:t>
            </a:r>
            <a:r>
              <a:rPr sz="1400" b="0" i="0">
                <a:solidFill>
                  <a:srgbClr val="11202B"/>
                </a:solidFill>
                <a:latin typeface="Malgun Gothic"/>
                <a:ea typeface="Malgun Gothic"/>
                <a:cs typeface="Malgun Gothic"/>
              </a:rPr>
              <a:t> Mg2+처럼 전하가 큰 이온은 같은 농도에서 더 강하게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요인을 합치면 녹는 온도를 예측할 수 있다. </a:t>
            </a:r>
            <a:r>
              <a:rPr sz="1400" b="1" i="0">
                <a:solidFill>
                  <a:srgbClr val="11202B"/>
                </a:solidFill>
                <a:latin typeface="Malgun Gothic"/>
                <a:ea typeface="Malgun Gothic"/>
                <a:cs typeface="Malgun Gothic"/>
              </a:rPr>
              <a:t>Tm</a:t>
            </a:r>
            <a:r>
              <a:rPr sz="1400" b="0" i="0">
                <a:solidFill>
                  <a:srgbClr val="11202B"/>
                </a:solidFill>
                <a:latin typeface="Malgun Gothic"/>
                <a:ea typeface="Malgun Gothic"/>
                <a:cs typeface="Malgun Gothic"/>
              </a:rPr>
              <a:t>은 절반이 단일가닥으로 풀리는 온도다. GC 염기쌍은 수소결합이 하나 더 많고 쌓임도 더 유리하므로, </a:t>
            </a:r>
            <a:r>
              <a:rPr sz="1400" b="1" i="0">
                <a:solidFill>
                  <a:srgbClr val="11202B"/>
                </a:solidFill>
                <a:latin typeface="Malgun Gothic"/>
                <a:ea typeface="Malgun Gothic"/>
                <a:cs typeface="Malgun Gothic"/>
              </a:rPr>
              <a:t>GC 함량이 높으면 Tm이 올라간다.</a:t>
            </a:r>
            <a:r>
              <a:rPr sz="1400" b="0" i="0">
                <a:solidFill>
                  <a:srgbClr val="11202B"/>
                </a:solidFill>
                <a:latin typeface="Malgun Gothic"/>
                <a:ea typeface="Malgun Gothic"/>
                <a:cs typeface="Malgun Gothic"/>
              </a:rPr>
              <a:t> 사슬이 길어도 올라가고, 염 농도가 높으면 올라가며, urea나 formamide처럼 수소결합을 경쟁적으로 방해하는 물질이 있으면 내려간다.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예측은 실험 설계에 그대로 쓰인다. PCR 프라이머의 결합 온도를 정할 때 길이와 GC 함량으로 Tm을 추정하고, 두 프라이머의 Tm을 비슷하게 맞춘다. Hybridization 실험에서 엄격도를 올리려면 온도를 높이거나 염 농도를 낮춘다. M01-W06-L01에서 본 기법들의 조건 설정이 모두 이 원리 하나에서 나온다.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이중나선을 붙잡는 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이중나선은 수소결합, base stacking, 양이온의 전하 가림으로 유지된다. Tm은 GC 함량, 길이, 염 농도에 따라 올라가고 변성제에 따라 내려간다.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이중나선을 붙잡는 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Tm을 실제로 계산하는 방식도 알아 두어야 한다. GC 함량만 쓰는 간단한 식은 짧은 사슬에서 오차가 크다. 현재 쓰이는 </a:t>
            </a:r>
            <a:r>
              <a:rPr sz="1600" b="1" i="0">
                <a:solidFill>
                  <a:srgbClr val="11202B"/>
                </a:solidFill>
                <a:latin typeface="Malgun Gothic"/>
                <a:ea typeface="Malgun Gothic"/>
                <a:cs typeface="Malgun Gothic"/>
              </a:rPr>
              <a:t>nearest-neighbor 모형</a:t>
            </a:r>
            <a:r>
              <a:rPr sz="1600" b="0" i="0">
                <a:solidFill>
                  <a:srgbClr val="11202B"/>
                </a:solidFill>
                <a:latin typeface="Malgun Gothic"/>
                <a:ea typeface="Malgun Gothic"/>
                <a:cs typeface="Malgun Gothic"/>
              </a:rPr>
              <a:t>은 이웃한 두 염기쌍의 조합마다 측정된 엔탈피와 엔트로피 값을 더해 Tm을 구한다. 같은 GC 함량이라도 서열의 순서가 다르면 Tm이 달라진다는 사실이 이 모형의 근거이며, 프라이머 설계 프로그램이 이 계산을 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DNA의 물리적 성질 가운데 또 하나 중요한 값이 휘기 강성이다. 이중나선은 약 150 염기쌍 규모에서 스스로 방향을 잃을 만큼 유연하다. 이 길이를 persistence length라 하며, 그보다 짧은 구간에서는 DNA가 막대처럼 뻣뻣하게 행동한다. 이 값이 중요한 이유는 nucleosome이 약 147 염기쌍을 1.7 바퀴 감아야 하기 때문이다. </a:t>
            </a:r>
            <a:r>
              <a:rPr sz="1600" b="1" i="0">
                <a:solidFill>
                  <a:srgbClr val="11202B"/>
                </a:solidFill>
                <a:latin typeface="Malgun Gothic"/>
                <a:ea typeface="Malgun Gothic"/>
                <a:cs typeface="Malgun Gothic"/>
              </a:rPr>
              <a:t>DNA를 그만큼 굽히는 데 에너지가 들고, 그 에너지를 histone과의 결합이 보상한다.</a:t>
            </a:r>
            <a:r>
              <a:rPr sz="1600" b="0" i="0">
                <a:solidFill>
                  <a:srgbClr val="11202B"/>
                </a:solidFill>
                <a:latin typeface="Malgun Gothic"/>
                <a:ea typeface="Malgun Gothic"/>
                <a:cs typeface="Malgun Gothic"/>
              </a:rPr>
              <a:t> 그래서 nucleosome의 안정성은 결합 세기와 굽힘 비용의 차이로 결정되며, 굽히기 어려운 서열에서는 nucleosome이 잘 놓이지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변성과 재결합, 그리고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가닥이 풀리는 것을 </a:t>
            </a:r>
            <a:r>
              <a:rPr sz="1600" b="1" i="0">
                <a:solidFill>
                  <a:srgbClr val="11202B"/>
                </a:solidFill>
                <a:latin typeface="Malgun Gothic"/>
                <a:ea typeface="Malgun Gothic"/>
                <a:cs typeface="Malgun Gothic"/>
              </a:rPr>
              <a:t>변성(denaturation)</a:t>
            </a:r>
            <a:r>
              <a:rPr sz="1600" b="0" i="0">
                <a:solidFill>
                  <a:srgbClr val="11202B"/>
                </a:solidFill>
                <a:latin typeface="Malgun Gothic"/>
                <a:ea typeface="Malgun Gothic"/>
                <a:cs typeface="Malgun Gothic"/>
              </a:rPr>
              <a:t>이라 한다. 열, 높은 pH, 변성제가 이를 일으킨다. 변성은 단일가닥의 흡광 성질 변화로 관찰된다. 염기가 쌓여 있을 때는 260 nm 흡광이 눌려 있는데, 풀리면 흡광이 올라간다. 이 </a:t>
            </a:r>
            <a:r>
              <a:rPr sz="1600" b="1" i="0">
                <a:solidFill>
                  <a:srgbClr val="11202B"/>
                </a:solidFill>
                <a:latin typeface="Malgun Gothic"/>
                <a:ea typeface="Malgun Gothic"/>
                <a:cs typeface="Malgun Gothic"/>
              </a:rPr>
              <a:t>hyperchromic shift</a:t>
            </a:r>
            <a:r>
              <a:rPr sz="1600" b="0" i="0">
                <a:solidFill>
                  <a:srgbClr val="11202B"/>
                </a:solidFill>
                <a:latin typeface="Malgun Gothic"/>
                <a:ea typeface="Malgun Gothic"/>
                <a:cs typeface="Malgun Gothic"/>
              </a:rPr>
              <a:t>로 Tm 곡선을 그린다.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온도를 내리면 상보적 가닥이 다시 만난다. 이 과정은 두 단계다. 짧은 구간이 우연히 만나는 느린 단계와, 그 자리에서 양쪽으로 빠르게 지퍼가 닫히는 단계다. 재결합 속도가 농도와 서열의 복잡도에 달려 있다는 사실이 유전체의 반복 서열을 처음 정량한 근거였다.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재결합은 가닥의 짝을 가리지 않는다. DNA와 DNA, DNA와 RNA, 그리고 합성한 짧은 사슬과 표적이 모두 짝을 이룰 수 있다. 여기서 </a:t>
            </a:r>
            <a:r>
              <a:rPr sz="1600" b="1" i="0">
                <a:solidFill>
                  <a:srgbClr val="11202B"/>
                </a:solidFill>
                <a:latin typeface="Malgun Gothic"/>
                <a:ea typeface="Malgun Gothic"/>
                <a:cs typeface="Malgun Gothic"/>
              </a:rPr>
              <a:t>hybridization</a:t>
            </a:r>
            <a:r>
              <a:rPr sz="1600" b="0" i="0">
                <a:solidFill>
                  <a:srgbClr val="11202B"/>
                </a:solidFill>
                <a:latin typeface="Malgun Gothic"/>
                <a:ea typeface="Malgun Gothic"/>
                <a:cs typeface="Malgun Gothic"/>
              </a:rPr>
              <a:t>이라는 실험 전략이 나온다. 찾고 싶은 서열의 상보 사슬을 표지해 넣으면 그 서열만 붙는다. Southern blot, in situ hybridization, microarray, 그리고 PCR의 프라이머 결합이 모두 같은 원리다.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변성과 재결합, 그리고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Hybridization의 엄격도가 진단 결과를 바꾼다. 조건이 느슨하면 한두 염기가 다른 서열에도 탐침이 붙어 거짓 양성이 나오고, 너무 엄격하면 표적에도 붙지 않아 거짓 음성이 나온다. 한 염기 차이를 가려야 하는 검사에서는 그 차이가 결합 안정성에 미치는 영향이 가장 큰 조건을 고른다. 분자 진단 결과를 해석할 때 </a:t>
            </a:r>
            <a:r>
              <a:rPr sz="1600" b="1" i="0">
                <a:solidFill>
                  <a:srgbClr val="11202B"/>
                </a:solidFill>
                <a:latin typeface="Malgun Gothic"/>
                <a:ea typeface="Malgun Gothic"/>
                <a:cs typeface="Malgun Gothic"/>
              </a:rPr>
              <a:t>"무엇을 검출했는가"보다 "어떤 조건에서 검출했는가"</a:t>
            </a:r>
            <a:r>
              <a:rPr sz="1600" b="0" i="0">
                <a:solidFill>
                  <a:srgbClr val="11202B"/>
                </a:solidFill>
                <a:latin typeface="Malgun Gothic"/>
                <a:ea typeface="Malgun Gothic"/>
                <a:cs typeface="Malgun Gothic"/>
              </a:rPr>
              <a:t>를 먼저 확인해야 하는 이유다.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변성과 재결합, 그리고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재결합 속도론은 유전체 구성을 처음 정량한 도구였다. 유전체를 조각내 변성시킨 뒤 재결합 속도를 농도와 시간의 곱에 대해 그리면, 반복 서열이 많은 부분은 빠르게 짝을 찾고 한 번만 있는 서열은 느리게 찾는다. 이 곡선에서 유전체가 고반복·중간반복·단일 서열로 나뉜다는 결론이 나왔고, 서열 분석 이전에 유전체의 구성을 추정할 수 있었다. 지금은 서열을 직접 읽으므로 이 방법 자체는 쓰이지 않지만, </a:t>
            </a:r>
            <a:r>
              <a:rPr sz="1400" b="1" i="0">
                <a:solidFill>
                  <a:srgbClr val="11202B"/>
                </a:solidFill>
                <a:latin typeface="Malgun Gothic"/>
                <a:ea typeface="Malgun Gothic"/>
                <a:cs typeface="Malgun Gothic"/>
              </a:rPr>
              <a:t>반복 서열이 많다는 사실 자체가 실험으로 먼저 드러났다</a:t>
            </a:r>
            <a:r>
              <a:rPr sz="1400" b="0" i="0">
                <a:solidFill>
                  <a:srgbClr val="11202B"/>
                </a:solidFill>
                <a:latin typeface="Malgun Gothic"/>
                <a:ea typeface="Malgun Gothic"/>
                <a:cs typeface="Malgun Gothic"/>
              </a:rPr>
              <a:t>는 점이 과학사적으로 중요하다.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Hybridization은 세포 안에서도 쓴다. 표지한 탐침을 고정한 세포나 조직에 넣어 특정 서열의 위치를 현미경으로 보는 방법이 </a:t>
            </a:r>
            <a:r>
              <a:rPr sz="1400" b="1" i="0">
                <a:solidFill>
                  <a:srgbClr val="11202B"/>
                </a:solidFill>
                <a:latin typeface="Malgun Gothic"/>
                <a:ea typeface="Malgun Gothic"/>
                <a:cs typeface="Malgun Gothic"/>
              </a:rPr>
              <a:t>FISH</a:t>
            </a:r>
            <a:r>
              <a:rPr sz="1400" b="0" i="0">
                <a:solidFill>
                  <a:srgbClr val="11202B"/>
                </a:solidFill>
                <a:latin typeface="Malgun Gothic"/>
                <a:ea typeface="Malgun Gothic"/>
                <a:cs typeface="Malgun Gothic"/>
              </a:rPr>
              <a:t>다. 염색체의 수적 이상, 큰 결실과 중복, 그리고 특정 전좌의 확인에 임상에서 쓰인다. 서열 분석이 보편화된 뒤에도 FISH가 남아 있는 이유는 </a:t>
            </a:r>
            <a:r>
              <a:rPr sz="1400" b="1" i="0">
                <a:solidFill>
                  <a:srgbClr val="11202B"/>
                </a:solidFill>
                <a:latin typeface="Malgun Gothic"/>
                <a:ea typeface="Malgun Gothic"/>
                <a:cs typeface="Malgun Gothic"/>
              </a:rPr>
              <a:t>위치를 보여 준다</a:t>
            </a:r>
            <a:r>
              <a:rPr sz="1400" b="0" i="0">
                <a:solidFill>
                  <a:srgbClr val="11202B"/>
                </a:solidFill>
                <a:latin typeface="Malgun Gothic"/>
                <a:ea typeface="Malgun Gothic"/>
                <a:cs typeface="Malgun Gothic"/>
              </a:rPr>
              <a:t>는 점이다. 복제수나 서열만으로는 어느 염색체의 어느 자리에 있는지를 알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탐침을 이용한 검사의 한계도 분명히 해 둔다. Hybridization은 </a:t>
            </a:r>
            <a:r>
              <a:rPr sz="1400" b="1" i="0">
                <a:solidFill>
                  <a:srgbClr val="11202B"/>
                </a:solidFill>
                <a:latin typeface="Malgun Gothic"/>
                <a:ea typeface="Malgun Gothic"/>
                <a:cs typeface="Malgun Gothic"/>
              </a:rPr>
              <a:t>상보적 서열이 있다는 것만 알려 준다.</a:t>
            </a:r>
            <a:r>
              <a:rPr sz="1400" b="0" i="0">
                <a:solidFill>
                  <a:srgbClr val="11202B"/>
                </a:solidFill>
                <a:latin typeface="Malgun Gothic"/>
                <a:ea typeface="Malgun Gothic"/>
                <a:cs typeface="Malgun Gothic"/>
              </a:rPr>
              <a:t> 그 서열이 발현되는지, 기능하는 단백질을 만드는지, 그리고 그 자리가 원래 자리인지는 알려 주지 않는다. 그래서 유전자 복제수가 정상으로 나와도 그 유전자가 다른 염색체로 옮겨 가 조절을 잃었을 수 있고, 반대로 결실로 보이는 결과가 탐침 결합 자리의 한 염기 차이에서 올 수도 있다. 검사의 원리에서 </a:t>
            </a:r>
            <a:r>
              <a:rPr sz="1400" b="1" i="0">
                <a:solidFill>
                  <a:srgbClr val="11202B"/>
                </a:solidFill>
                <a:latin typeface="Malgun Gothic"/>
                <a:ea typeface="Malgun Gothic"/>
                <a:cs typeface="Malgun Gothic"/>
              </a:rPr>
              <a:t>무엇을 묻지 못하는지</a:t>
            </a:r>
            <a:r>
              <a:rPr sz="1400" b="0" i="0">
                <a:solidFill>
                  <a:srgbClr val="11202B"/>
                </a:solidFill>
                <a:latin typeface="Malgun Gothic"/>
                <a:ea typeface="Malgun Gothic"/>
                <a:cs typeface="Malgun Gothic"/>
              </a:rPr>
              <a:t>를 먼저 아는 것이 결과 해석의 출발점이다.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위상: linking number와 초나선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선형 DNA는 자유롭게 돌 수 있지만, 고리 모양이거나 양 끝이 고정된 DNA는 그렇지 않다. 그런 DNA에서는 두 가닥이 서로 몇 번 감겨 있는지가 </a:t>
            </a:r>
            <a:r>
              <a:rPr sz="1400" b="1" i="0">
                <a:solidFill>
                  <a:srgbClr val="11202B"/>
                </a:solidFill>
                <a:latin typeface="Malgun Gothic"/>
                <a:ea typeface="Malgun Gothic"/>
                <a:cs typeface="Malgun Gothic"/>
              </a:rPr>
              <a:t>고정된 값</a:t>
            </a:r>
            <a:r>
              <a:rPr sz="1400" b="0" i="0">
                <a:solidFill>
                  <a:srgbClr val="11202B"/>
                </a:solidFill>
                <a:latin typeface="Malgun Gothic"/>
                <a:ea typeface="Malgun Gothic"/>
                <a:cs typeface="Malgun Gothic"/>
              </a:rPr>
              <a:t>이 된다. 이것이 </a:t>
            </a:r>
            <a:r>
              <a:rPr sz="1400" b="1" i="0">
                <a:solidFill>
                  <a:srgbClr val="11202B"/>
                </a:solidFill>
                <a:latin typeface="Malgun Gothic"/>
                <a:ea typeface="Malgun Gothic"/>
                <a:cs typeface="Malgun Gothic"/>
              </a:rPr>
              <a:t>linking number(Lk)</a:t>
            </a:r>
            <a:r>
              <a:rPr sz="1400" b="0" i="0">
                <a:solidFill>
                  <a:srgbClr val="11202B"/>
                </a:solidFill>
                <a:latin typeface="Malgun Gothic"/>
                <a:ea typeface="Malgun Gothic"/>
                <a:cs typeface="Malgun Gothic"/>
              </a:rPr>
              <a:t>이고, 가닥을 끊지 않으면 바뀌지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Lk는 두 성분으로 나뉜다. 이중나선 자체의 꼬임인 </a:t>
            </a:r>
            <a:r>
              <a:rPr sz="1400" b="1" i="0">
                <a:solidFill>
                  <a:srgbClr val="11202B"/>
                </a:solidFill>
                <a:latin typeface="Malgun Gothic"/>
                <a:ea typeface="Malgun Gothic"/>
                <a:cs typeface="Malgun Gothic"/>
              </a:rPr>
              <a:t>twist</a:t>
            </a:r>
            <a:r>
              <a:rPr sz="1400" b="0" i="0">
                <a:solidFill>
                  <a:srgbClr val="11202B"/>
                </a:solidFill>
                <a:latin typeface="Malgun Gothic"/>
                <a:ea typeface="Malgun Gothic"/>
                <a:cs typeface="Malgun Gothic"/>
              </a:rPr>
              <a:t>와, 나선 축이 공간에서 다시 꼬인 </a:t>
            </a:r>
            <a:r>
              <a:rPr sz="1400" b="1" i="0">
                <a:solidFill>
                  <a:srgbClr val="11202B"/>
                </a:solidFill>
                <a:latin typeface="Malgun Gothic"/>
                <a:ea typeface="Malgun Gothic"/>
                <a:cs typeface="Malgun Gothic"/>
              </a:rPr>
              <a:t>writhe</a:t>
            </a:r>
            <a:r>
              <a:rPr sz="1400" b="0" i="0">
                <a:solidFill>
                  <a:srgbClr val="11202B"/>
                </a:solidFill>
                <a:latin typeface="Malgun Gothic"/>
                <a:ea typeface="Malgun Gothic"/>
                <a:cs typeface="Malgun Gothic"/>
              </a:rPr>
              <a:t>다. Lk가 고정된 상태에서 twist를 풀면 writhe가 생긴다. 이 꼬임이 </a:t>
            </a:r>
            <a:r>
              <a:rPr sz="1400" b="1" i="0">
                <a:solidFill>
                  <a:srgbClr val="11202B"/>
                </a:solidFill>
                <a:latin typeface="Malgun Gothic"/>
                <a:ea typeface="Malgun Gothic"/>
                <a:cs typeface="Malgun Gothic"/>
              </a:rPr>
              <a:t>초나선(supercoil)</a:t>
            </a:r>
            <a:r>
              <a:rPr sz="1400" b="0" i="0">
                <a:solidFill>
                  <a:srgbClr val="11202B"/>
                </a:solidFill>
                <a:latin typeface="Malgun Gothic"/>
                <a:ea typeface="Malgun Gothic"/>
                <a:cs typeface="Malgun Gothic"/>
              </a:rPr>
              <a:t>이다. 자연 상태의 DNA는 대개 </a:t>
            </a:r>
            <a:r>
              <a:rPr sz="1400" b="1" i="0">
                <a:solidFill>
                  <a:srgbClr val="11202B"/>
                </a:solidFill>
                <a:latin typeface="Malgun Gothic"/>
                <a:ea typeface="Malgun Gothic"/>
                <a:cs typeface="Malgun Gothic"/>
              </a:rPr>
              <a:t>음성 초나선</a:t>
            </a:r>
            <a:r>
              <a:rPr sz="1400" b="0" i="0">
                <a:solidFill>
                  <a:srgbClr val="11202B"/>
                </a:solidFill>
                <a:latin typeface="Malgun Gothic"/>
                <a:ea typeface="Malgun Gothic"/>
                <a:cs typeface="Malgun Gothic"/>
              </a:rPr>
              <a:t>을 띤다. 즉 이완된 상태보다 덜 감겨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음성 초나선은 낭비가 아니라 저장된 에너지다. 복제와 전사는 두 가닥을 열어야 하는데, 덜 감긴 DNA는 열기가 쉽다. 그래서 음성 초나선은 </a:t>
            </a:r>
            <a:r>
              <a:rPr sz="1400" b="1" i="0">
                <a:solidFill>
                  <a:srgbClr val="11202B"/>
                </a:solidFill>
                <a:latin typeface="Malgun Gothic"/>
                <a:ea typeface="Malgun Gothic"/>
                <a:cs typeface="Malgun Gothic"/>
              </a:rPr>
              <a:t>가닥을 여는 과정을 돕는다.</a:t>
            </a:r>
            <a:r>
              <a:rPr sz="1400" b="0" i="0">
                <a:solidFill>
                  <a:srgbClr val="11202B"/>
                </a:solidFill>
                <a:latin typeface="Malgun Gothic"/>
                <a:ea typeface="Malgun Gothic"/>
                <a:cs typeface="Malgun Gothic"/>
              </a:rPr>
              <a:t> 반대로 전사가 진행되면 RNA polymerase 앞쪽에는 양성 초나선이, 뒤쪽에는 음성 초나선이 쌓인다. 이 꼬임을 치우지 않으면 진행이 멈춘다.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 안에서 이 문제가 더 커지는 이유가 포장이다. DNA가 nucleosome에 감기고 고리로 묶여 있으므로 꼬임이 멀리 퍼져 나가지 못하고 국소에 쌓인다. </a:t>
            </a:r>
            <a:r>
              <a:rPr sz="1400" b="1" i="0">
                <a:solidFill>
                  <a:srgbClr val="11202B"/>
                </a:solidFill>
                <a:latin typeface="Malgun Gothic"/>
                <a:ea typeface="Malgun Gothic"/>
                <a:cs typeface="Malgun Gothic"/>
              </a:rPr>
              <a:t>포장이 위상 문제를 만들고, 그 문제를 푸는 효소가 따로 있다</a:t>
            </a:r>
            <a:r>
              <a:rPr sz="1400" b="0" i="0">
                <a:solidFill>
                  <a:srgbClr val="11202B"/>
                </a:solidFill>
                <a:latin typeface="Malgun Gothic"/>
                <a:ea typeface="Malgun Gothic"/>
                <a:cs typeface="Malgun Gothic"/>
              </a:rPr>
              <a:t>는 것이 이 절과 다음 절을 잇는 고리다.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전사가 만드는 위상 변화는 방향이 정해져 있다. RNA polymerase가 이중나선을 따라 나아가면서 스스로 회전하기 어려우므로, 진행 방향 앞쪽의 DNA는 더 감기고 뒤쪽은 덜 감긴다. 이를 twin-domain 모형이라 하며, 앞쪽에 양성 초나선, 뒤쪽에 음성 초나선이 쌓인다.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뒤쪽의 음성 초나선이 부작용을 만든다. 덜 감긴 구간에서는 두 가닥이 열리기 쉬우므로, 갓 만들어진 RNA가 주형 가닥과 다시 짝을 이루어 세 가닥 구조인 </a:t>
            </a:r>
            <a:r>
              <a:rPr sz="1400" b="1" i="0">
                <a:solidFill>
                  <a:srgbClr val="11202B"/>
                </a:solidFill>
                <a:latin typeface="Malgun Gothic"/>
                <a:ea typeface="Malgun Gothic"/>
                <a:cs typeface="Malgun Gothic"/>
              </a:rPr>
              <a:t>R-loop</a:t>
            </a:r>
            <a:r>
              <a:rPr sz="1400" b="0" i="0">
                <a:solidFill>
                  <a:srgbClr val="11202B"/>
                </a:solidFill>
                <a:latin typeface="Malgun Gothic"/>
                <a:ea typeface="Malgun Gothic"/>
                <a:cs typeface="Malgun Gothic"/>
              </a:rPr>
              <a:t>가 생길 수 있다. R-loop는 전사를 멈추게 하고, 노출된 단일가닥은 손상에 취약하다. 세포는 RNase H와 helicase로 이를 처리하며, 그 처리가 늦으면 절단과 재배열이 생긴다. Topoisomerase I의 기능이 떨어진 세포에서 R-loop가 늘어난다는 관찰이 이 연결을 뒷받침한다. </a:t>
            </a:r>
            <a:r>
              <a:rPr sz="1400" b="1" i="0">
                <a:solidFill>
                  <a:srgbClr val="11202B"/>
                </a:solidFill>
                <a:latin typeface="Malgun Gothic"/>
                <a:ea typeface="Malgun Gothic"/>
                <a:cs typeface="Malgun Gothic"/>
              </a:rPr>
              <a:t>위상을 치우는 일이 곧 유전체를 지키는 일</a:t>
            </a:r>
            <a:r>
              <a:rPr sz="1400" b="0" i="0">
                <a:solidFill>
                  <a:srgbClr val="11202B"/>
                </a:solidFill>
                <a:latin typeface="Malgun Gothic"/>
                <a:ea typeface="Malgun Gothic"/>
                <a:cs typeface="Malgun Gothic"/>
              </a:rPr>
              <a:t>이라는 점이 여기서 분명해진다.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Topoisomerase와 그 억제제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위상을 바꾸려면 가닥을 끊고 다시 이어야 한다. 그 일을 하는 효소가 </a:t>
            </a:r>
            <a:r>
              <a:rPr sz="2000" b="1" i="0">
                <a:solidFill>
                  <a:srgbClr val="11202B"/>
                </a:solidFill>
                <a:latin typeface="Malgun Gothic"/>
                <a:ea typeface="Malgun Gothic"/>
                <a:cs typeface="Malgun Gothic"/>
              </a:rPr>
              <a:t>topoisomerase</a:t>
            </a:r>
            <a:r>
              <a:rPr sz="2000" b="0" i="0">
                <a:solidFill>
                  <a:srgbClr val="11202B"/>
                </a:solidFill>
                <a:latin typeface="Malgun Gothic"/>
                <a:ea typeface="Malgun Gothic"/>
                <a:cs typeface="Malgun Gothic"/>
              </a:rPr>
              <a:t>이고, 몇 가닥을 끊는지로 두 부류로 나뉜다.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Topoisomerase와 그 억제제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24</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Topoisomerase I</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Topoisomerase II</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끊는 가닥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 가닥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가닥 모두</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반응 중간체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효소–DNA 공유결합 중간체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같은 방식, 두 자리에서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ATP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필요하지 않다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필요하다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Lk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한 번에 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한 번에 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주된 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전사·복제 중 쌓인 꼬임의 이완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얽힌 분자의 분리, 응축, 복제 후 분리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대표 억제제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Camptothecin 계열(irinotecan, topotecan)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Etoposide, doxorubicin, 세균의 fluoroquinolone</a:t>
                      </a:r>
                    </a:p>
                  </a:txBody>
                  <a:tcPr marL="73152" marR="73152" marT="27432" marB="27432">
                    <a:solidFill>
                      <a:srgbClr val="EFF4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Topoisomerase와 그 억제제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반응의 핵심은 </a:t>
            </a:r>
            <a:r>
              <a:rPr sz="1800" b="1" i="0">
                <a:solidFill>
                  <a:srgbClr val="11202B"/>
                </a:solidFill>
                <a:latin typeface="Malgun Gothic"/>
                <a:ea typeface="Malgun Gothic"/>
                <a:cs typeface="Malgun Gothic"/>
              </a:rPr>
              <a:t>공유결합 중간체</a:t>
            </a:r>
            <a:r>
              <a:rPr sz="1800" b="0" i="0">
                <a:solidFill>
                  <a:srgbClr val="11202B"/>
                </a:solidFill>
                <a:latin typeface="Malgun Gothic"/>
                <a:ea typeface="Malgun Gothic"/>
                <a:cs typeface="Malgun Gothic"/>
              </a:rPr>
              <a:t>다. 효소의 tyrosine이 골격의 인산을 공격해 효소와 DNA가 일시적으로 결합하고, 그 사이에 가닥이 통과하거나 회전한다. 이 중간체가 표적이 되는 자리다.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억제제의 작동 방식을 정확히 구분해야 한다. 이 약들은 효소의 활성을 줄이는 것이 아니라 </a:t>
            </a:r>
            <a:r>
              <a:rPr sz="1800" b="1" i="0">
                <a:solidFill>
                  <a:srgbClr val="11202B"/>
                </a:solidFill>
                <a:latin typeface="Malgun Gothic"/>
                <a:ea typeface="Malgun Gothic"/>
                <a:cs typeface="Malgun Gothic"/>
              </a:rPr>
              <a:t>공유결합 중간체를 안정화해 끊어진 상태를 붙잡는다.</a:t>
            </a:r>
            <a:r>
              <a:rPr sz="1800" b="0" i="0">
                <a:solidFill>
                  <a:srgbClr val="11202B"/>
                </a:solidFill>
                <a:latin typeface="Malgun Gothic"/>
                <a:ea typeface="Malgun Gothic"/>
                <a:cs typeface="Malgun Gothic"/>
              </a:rPr>
              <a:t> 그래서 세포에는 단일가닥 또는 이중가닥 절단이 남는다. 이런 작용을 가진 약을 효소 독(poison)이라 부르며, 효소가 많고 복제가 활발한 세포에서 손상이 크다.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Topoisomerase와 그 억제제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이 구분이 시험과 부작용 설명을 모두 정한다. (1) </a:t>
            </a:r>
            <a:r>
              <a:rPr sz="1600" b="1" i="0">
                <a:solidFill>
                  <a:srgbClr val="11202B"/>
                </a:solidFill>
                <a:latin typeface="Malgun Gothic"/>
                <a:ea typeface="Malgun Gothic"/>
                <a:cs typeface="Malgun Gothic"/>
              </a:rPr>
              <a:t>Camptothecin 계열은 복제 중에 더 큰 손상을 만든다.</a:t>
            </a:r>
            <a:r>
              <a:rPr sz="1600" b="0" i="0">
                <a:solidFill>
                  <a:srgbClr val="11202B"/>
                </a:solidFill>
                <a:latin typeface="Malgun Gothic"/>
                <a:ea typeface="Malgun Gothic"/>
                <a:cs typeface="Malgun Gothic"/>
              </a:rPr>
              <a:t> 남은 단일가닥 절단이 복제 분기점과 만나면 이중가닥 절단으로 바�뀌기 때문이다. (2) </a:t>
            </a:r>
            <a:r>
              <a:rPr sz="1600" b="1" i="0">
                <a:solidFill>
                  <a:srgbClr val="11202B"/>
                </a:solidFill>
                <a:latin typeface="Malgun Gothic"/>
                <a:ea typeface="Malgun Gothic"/>
                <a:cs typeface="Malgun Gothic"/>
              </a:rPr>
              <a:t>Etoposide는 이중가닥 절단을 직접 남긴다.</a:t>
            </a:r>
            <a:r>
              <a:rPr sz="1600" b="0" i="0">
                <a:solidFill>
                  <a:srgbClr val="11202B"/>
                </a:solidFill>
                <a:latin typeface="Malgun Gothic"/>
                <a:ea typeface="Malgun Gothic"/>
                <a:cs typeface="Malgun Gothic"/>
              </a:rPr>
              <a:t> 그 결과 전좌가 생길 수 있고, 치료와 관련된 이차 백혈병의 기전으로 거론된다. (3) </a:t>
            </a:r>
            <a:r>
              <a:rPr sz="1600" b="1" i="0">
                <a:solidFill>
                  <a:srgbClr val="11202B"/>
                </a:solidFill>
                <a:latin typeface="Malgun Gothic"/>
                <a:ea typeface="Malgun Gothic"/>
                <a:cs typeface="Malgun Gothic"/>
              </a:rPr>
              <a:t>Fluoroquinolone의 표적은 세균의 topoisomerase</a:t>
            </a:r>
            <a:r>
              <a:rPr sz="1600" b="0" i="0">
                <a:solidFill>
                  <a:srgbClr val="11202B"/>
                </a:solidFill>
                <a:latin typeface="Malgun Gothic"/>
                <a:ea typeface="Malgun Gothic"/>
                <a:cs typeface="Malgun Gothic"/>
              </a:rPr>
              <a:t>이며 사람의 효소와 구조가 달라 선택성이 생긴다. (4) </a:t>
            </a:r>
            <a:r>
              <a:rPr sz="1600" b="1" i="0">
                <a:solidFill>
                  <a:srgbClr val="11202B"/>
                </a:solidFill>
                <a:latin typeface="Malgun Gothic"/>
                <a:ea typeface="Malgun Gothic"/>
                <a:cs typeface="Malgun Gothic"/>
              </a:rPr>
              <a:t>Doxorubicin은 두 기전을 겹쳐 갖는다.</a:t>
            </a:r>
            <a:r>
              <a:rPr sz="1600" b="0" i="0">
                <a:solidFill>
                  <a:srgbClr val="11202B"/>
                </a:solidFill>
                <a:latin typeface="Malgun Gothic"/>
                <a:ea typeface="Malgun Gothic"/>
                <a:cs typeface="Malgun Gothic"/>
              </a:rPr>
              <a:t> Intercalation과 topoisomerase II 독으로 모두 작동하고, 심독성은 별도의 기전으로 설명한다. 요점은 </a:t>
            </a:r>
            <a:r>
              <a:rPr sz="1600" b="1" i="0">
                <a:solidFill>
                  <a:srgbClr val="11202B"/>
                </a:solidFill>
                <a:latin typeface="Malgun Gothic"/>
                <a:ea typeface="Malgun Gothic"/>
                <a:cs typeface="Malgun Gothic"/>
              </a:rPr>
              <a:t>"효소를 막는다"와 "끊어진 중간체를 붙잡는다"가 다른 결과를 낳는다</a:t>
            </a:r>
            <a:r>
              <a:rPr sz="1600" b="0" i="0">
                <a:solidFill>
                  <a:srgbClr val="11202B"/>
                </a:solidFill>
                <a:latin typeface="Malgun Gothic"/>
                <a:ea typeface="Malgun Gothic"/>
                <a:cs typeface="Malgun Gothic"/>
              </a:rPr>
              <a:t>는 것이다.</a:t>
            </a:r>
          </a:p>
        </p:txBody>
      </p:sp>
      <p:sp>
        <p:nvSpPr>
          <p:cNvPr id="8" name="Rectangle 7"/>
          <p:cNvSpPr/>
          <p:nvPr/>
        </p:nvSpPr>
        <p:spPr>
          <a:xfrm>
            <a:off x="640080" y="3733799"/>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위상 효소를 겨냥하는 전략이 선택성 쪽으로 옮겨 가고 있다. 기존의 독은 정상 조직에도 절단을 남기므로 치료 범위가 좁다. 그래서 두 방향의 시도가 있다. 하나는 종양이 특정 위상 효소에 더 의존하는 조건을 찾는 것이고, 다른 하나는 절단을 남기지 않고 효소의 회전만 막는 분자를 찾는 것이다. 복구 결손을 가진 종양에서 topoisomerase 독의 효과가 커진다는 관찰, 그리고 절단된 중간체를 처리하는 효소(TDP1, TDP2)의 결손이 민감도를 바꾼다는 관찰이 조합 치료의 근거로 제시되었다. 쟁점은 사람에서 그 의존성을 미리 측정할 방법이 아직 확립되지 않았다는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Topoisomerase와 그 억제제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Topoisomerase II가 분열기에 하는 일은 따로 보아야 한다. 복제가 끝나면 두 자매 염색체는 서로 얽혀 있다. 이 얽힘을 풀지 않으면 분리할 수 없고, 두 가닥을 모두 끊어 통과시킬 수 있는 효소만 이 일을 할 수 있다. 그래서 topoisomerase II는 복제 후 분리와 염색체 응축에 필수적이며, M01-W12-L01에서 본 분열기 진행의 전제가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부류의 두 효소가 하는 일이 다르다는 점도 임상과 이어진다. 사람은 TOP2A와 TOP2B를 갖는데, TOP2A는 분열하는 세포에서 많고 복제·분리에 관여하며, TOP2B는 분열하지 않는 세포에도 있고 전사 과정의 위상 처리에 관여한다. Etoposide가 TOP2B를 통해 신경세포와 심근세포에 손상을 남길 수 있다는 자료가 있고, 이것이 분열하지 않는 조직의 부작용을 설명하는 가설로 제시되었다. </a:t>
            </a:r>
            <a:r>
              <a:rPr sz="1400" b="1" i="0">
                <a:solidFill>
                  <a:srgbClr val="11202B"/>
                </a:solidFill>
                <a:latin typeface="Malgun Gothic"/>
                <a:ea typeface="Malgun Gothic"/>
                <a:cs typeface="Malgun Gothic"/>
              </a:rPr>
              <a:t>표적이 분열에만 관여한다고 가정하면 부작용을 설명할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사람과 세균의 효소가 다르다는 점도 치료의 근거다. 세균은 DNA gyrase라는 topoisomerase II 부류의 효소를 가지고 있으며, 이 효소는 음성 초나선을 능동적으로 집어넣는다. 사람의 효소는 그 일을 하지 못한다. Fluoroquinolone이 세균의 gyrase와 topoisomerase IV를 겨냥하면서 사람의 효소에는 훨씬 약하게 작용하는 이유가 이 구조 차이이며, </a:t>
            </a:r>
            <a:r>
              <a:rPr sz="1400" b="1" i="0">
                <a:solidFill>
                  <a:srgbClr val="11202B"/>
                </a:solidFill>
                <a:latin typeface="Malgun Gothic"/>
                <a:ea typeface="Malgun Gothic"/>
                <a:cs typeface="Malgun Gothic"/>
              </a:rPr>
              <a:t>같은 반응을 하는 효소라도 구조가 다르면 선택적 표적이 된다</a:t>
            </a:r>
            <a:r>
              <a:rPr sz="1400" b="0" i="0">
                <a:solidFill>
                  <a:srgbClr val="11202B"/>
                </a:solidFill>
                <a:latin typeface="Malgun Gothic"/>
                <a:ea typeface="Malgun Gothic"/>
                <a:cs typeface="Malgun Gothic"/>
              </a:rPr>
              <a:t>는 항생제 설계의 원칙을 보여 준다. 다만 사람의 미토콘드리아에도 독자적인 topoisomerase가 있어 완전한 선택성은 아니며, 이것이 일부 부작용의 설명으로 거론된다. 약의 선택성을 말할 때는 표적의 유사성과 함께 사람 세포 안에 비슷한 효소가 또 있는지를 확인해야 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 JD, Crick FHC. Molecular structure of nucleic acids: a structure for deoxyribose nucleic acid. Nature 1953;171:737–738.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Franklin RE, Gosling RG. Molecular configuration in sodium thymonucleate. Nature 1953;171:740–741.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Luger K, Mäder AW, Richmond RK, Sargent DF, Richmond TJ. Crystal structure of the nucleosome core particle at 2.8 Å resolution. Nature 1997;389:251–260.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Wang JC. Cellular roles of DNA topoisomerases: a molecular perspective. Nat Rev Mol Cell Biol 2002;3:430–440.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Pommier Y. Topoisomerase I inhibitors: camptothecins and beyond. Nat Rev Cancer 2006;6:789–802.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Lieberman-Aiden E, van Berkum NL, Williams L, et al. Comprehensive mapping of long-range interactions reveals folding principles of the human genome. Science 2009;326:289–293.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Dixon JR, Selvaraj S, Yue F, et al. Topological domains in mammalian genomes identified by analysis of chromatin interactions. Nature 2012;485:376–380.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Rao SSP, Huntley MH, Durand NC, et al. A 3D map of the human genome at kilobase resolution reveals principles of chromatin looping. Cell 2014;159:1665–1680.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Nora EP, Goloborodko A, Valton AL, et al. Targeted degradation of CTCF decouples local insulation of chromosome domains from genomic compartmentalization. Cell 2017;169:930–944.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Rao SSP, Huang SC, Glenn St Hilaire B, et al. Cohesin loss eliminates all loop domains. Cell 2017;171:305–320.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Lupiáñez DG, Kraft K, Heinrich V, et al. Disruptions of topological chromatin domains cause pathogenic rewiring of gene-enhancer interactions. Cell 2015;161:1012–1025.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Buenrostro JD, Giresi PG, Zaba LC, Chang HY, Greenleaf WJ. Transposition of native chromatin for fast and sensitive epigenomic profiling of open chromatin, DNA-binding proteins and nucleosome position. Nat Methods 2013;10:1213–1218.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Davidson IF, Bauer B, Goetz D, Tang W, Wutz G, Peters JM. DNA loop extrusion by human cohesin. Science 2019;366:1338–1345.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Verstraeten VLRM, Broers JLV, Ramaekers FCS, van Steensel MAM. The nuclear envelope, a key structure in cellular integrity and gene expression. Curr Med Chem 2007;14:1231–1248.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