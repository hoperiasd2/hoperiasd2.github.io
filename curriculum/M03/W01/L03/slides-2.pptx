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notesMaster" Target="notesMasters/notesMaster1.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요인이 없어도 세포 하나에서 하루 수만 건의 염기 손상이 자발적으로 일어난다고 추정된다. 손상은 예외적 사건이 아니라 상시적 조건이다.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손상의 화학적 크기(염기 하나인지 나선을 뒤틀 만큼 큰지)와 가닥의 끊어짐 유무다.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Methyl기를 자기 자신으로 옮긴 뒤 영구히 비활성화되기 때문이다. 그래서 세포가 가진 MGMT의 양이 temozolomide 내약성을 정하고, promoter가 메틸화된 종양에서 그 약의 효과가 크다.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인식의 특이성이 효소의 수로 구현된다. Uracil은 UNG, 8-oxoguanine은 OGG1처럼 손상마다 전담 효소가 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Nucleotide 풀의 산화 산물을 미리 분해하고(들어오기 전), 생긴 8-oxoguanine을 OGG1이 떼어내고(직후), 복제 후 잘못 짝지어진 adenine 쪽을 MUTYH가 고친다(복제 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절단을 감지해 자신과 주변 단백질에 ADP-ribose 사슬을 붙이고, 그 사슬이 XRCC1 등을 불러온다. 역할이 끝나면 사슬이 제거되고 DNA에서 떠난다.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유전체 복구의 결손은 손상이 쌓여 변이가 되므로 암으로, 전사 결합 복구의 결손은 전사가 막혀 세포가 죽으므로 조직 퇴행으로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중 반복 구간에서 가닥이 미끄러지면 한쪽에 고리가 생기고, 이 경로가 그 고리를 인식해 처리한다. 그래서 결손 시 microsatellite instability가 나타난다.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산발성에서는 MLH1의 promoter 메틸화로 발현이 꺼진 경우가 많고 BRAF V600E가 함께 있는 경우가 흔하다.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MLH1이 없으면 짝인 PMS2도 불안정해져 함께 사라진다. PMS2만 사라졌다면 PMS2 자체의 변이를 가리킨다.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주형으로 쓸 자매 염색체가 복제 후에만 존재하기 때문이다. 또 필요한 인자가 CDK 인산화로 활성화되므로 CDK가 높은 시기에 유리하다.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53BP1은 말단이 깎이지 않게 막아 비상동 말단 연결 쪽으로, BRCA1은 그 보호를 걷어 깎임을 허용해 상동 재조합 쪽으로 민다.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상동 재조합이 망가진 세포가 이 경로에 더 의존하므로, 중심 효소인 Pol θ를 막으면 합성 치사가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가닥이 서로 묶여 분리되지 않으므로 복제와 전사가 모두 막히고, 어느 가닥도 주형으로 쓸 수 없다.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교차결합을 만드는 항암제와 방사선에 과민하므로 이식 전 처치의 용량을 크게 줄여야 한다. 표준 용량으로 치료하면 중대한 독성이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손상은 그대로 남고 복제만 진행되기 때문이다. 결과적으로 변이가 생길 수 있고 손상 자체는 다른 경로가 처리해야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하나의 절단이 큰 신호로 증폭되어 많은 복구 인자를 모을 수 있다. 또 그 표지를 영상으로 세어 손상의 양을 측정할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억제제가 PARP1을 DNA에 붙잡아 두고, 붙잡힌 PARP1이 복제의 장애물이 되기 때문이다. 그래서 PARP1을 없앤 세포와 억제제를 쓴 세포의 표현형이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의미가 불확실한 변이가 있어 변이의 존재가 기능 상실을 뜻하지 않으며, 반대로 다른 유전자의 결손이나 메틸화로도 같은 결손이 생길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면역글로불린과 T세포 수용체의 재배열이 의도적인 이중가닥 절단을 만들고 그것을 복구해 완성되므로, 절단 복구가 망가지면 그 과정이 실패한다.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 손상과 복구 경로</a:t>
            </a:r>
          </a:p>
          <a:p>
            <a:r>
              <a:rPr sz="1500" b="0" i="0">
                <a:solidFill>
                  <a:srgbClr val="B9D2E8"/>
                </a:solidFill>
                <a:latin typeface="Malgun Gothic"/>
                <a:ea typeface="Malgun Gothic"/>
                <a:cs typeface="Malgun Gothic"/>
              </a:rPr>
              <a:t>DNA Damage and Repair Pathways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M03-W01-L03  ·  2부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 손상을 원인과 화학적 성질로 분류하고 각 손상이 어느 복구 경로로 가는지 연결한다.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자발적 손상의 규모를 수치로 제시하고 그것이 복구 기구의 필요를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Base-excision repair의 단계를 glycosylase에서 결합까지 서술하고 PARP의 역할을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Nucleotide-excision repair의 두 하위 경로를 구분하고 각 결손이 어느 질환으로 나타나는지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Mismatch repair의 단계와 가닥 구별 문제를 설명하고 microsatellite instability와 연결한다.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이중가닥 절단의 두 복구 경로를 비교하고 그 선택을 정하는 요인을 든다.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가닥 간 교차결합과 Fanconi 경로의 작동을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손상을 건너뛰는 합성의 기전과 그 대가를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손상 반응 신호가 chromatin 안에서 퍼지는 과정을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복구 결손을 겨냥하는 치료의 논리와 내성 기전을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M03-W01-L02 DNA 복제의 기전과 효소 — 분기점의 구조, 복제 스트레스와 ATR 축, 정확도의 세 단계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M03-W01-L01 DNA의 구조와 염색질 포장 — nucleosome, 비표준 구조, 메틸화 자리의 화학</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M01-W06-L03 DNA 복제·복구와 유전체 재배열 — 복구 경로의 개요, 합성 치사의 기본 논리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8. 가닥 간 교차결합과 Fanconi 경로</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9. 손상을 건너뛰는 합성</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10. 신호가 chromatin 안에서 퍼지는 과정</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11. 손상 반응의 전신 결과</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12. 복구 결손을 겨냥하는 치료</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13. 복구 결손 질환의 공통 양상</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14.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가닥 간 교차결합과 Fanconi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가닥을 서로 묶어 버리는 손상이 가장 까다롭다. 두 가닥이 분리되지 않으므로 복제와 전사가 모두 막히고, 어느 가닥도 주형으로 쓸 수 없다. 백금계 약물과 mitomycin C, 그리고 체내에서 생긴 aldehyde가 이런 손상을 만든다.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처리는 여러 경로를 이어 붙여 진행한다. 복제 분기점이 교차결합에 부딪히면 그 자리를 인식하는 복합체가 와서 Fanconi 경로의 핵심 단백질 두 개(FANCD2–FANCI)에 ubiquitin을 붙인다. 그 표지가 핵산 분해 효소를 불러 한쪽 가닥을 끊어 교차결합을 떼어내고, 남은 이중가닥 절단은 상동 재조합으로 복구한다. 즉 </a:t>
            </a:r>
            <a:r>
              <a:rPr sz="1600" b="1" i="0">
                <a:solidFill>
                  <a:srgbClr val="11202B"/>
                </a:solidFill>
                <a:latin typeface="Malgun Gothic"/>
                <a:ea typeface="Malgun Gothic"/>
                <a:cs typeface="Malgun Gothic"/>
              </a:rPr>
              <a:t>하나의 손상을 처리하는 데 절단 복구와 손상 건너뛰기가 함께 동원된다.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경로의 결손이 </a:t>
            </a:r>
            <a:r>
              <a:rPr sz="1600" b="1" i="0">
                <a:solidFill>
                  <a:srgbClr val="11202B"/>
                </a:solidFill>
                <a:latin typeface="Malgun Gothic"/>
                <a:ea typeface="Malgun Gothic"/>
                <a:cs typeface="Malgun Gothic"/>
              </a:rPr>
              <a:t>Fanconi 빈혈</a:t>
            </a:r>
            <a:r>
              <a:rPr sz="1600" b="0" i="0">
                <a:solidFill>
                  <a:srgbClr val="11202B"/>
                </a:solidFill>
                <a:latin typeface="Malgun Gothic"/>
                <a:ea typeface="Malgun Gothic"/>
                <a:cs typeface="Malgun Gothic"/>
              </a:rPr>
              <a:t>이다. 양상은 세 묶음으로 나타난다. 골수 부전, 발달 이상(저신장, 엄지와 전완의 기형, 신장 이상 등), 그리고 종양 위험의 증가(특히 급성 골수성 백혈병과 두경부암)다. 진단에서는 세포를 교차결합 유발 물질에 노출시켜 염색체 절단이 늘어나는지를 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가닥 간 교차결합과 Fanconi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Fanconi 빈혈 환자는 </a:t>
            </a:r>
            <a:r>
              <a:rPr sz="1600" b="1" i="0">
                <a:solidFill>
                  <a:srgbClr val="11202B"/>
                </a:solidFill>
                <a:latin typeface="Malgun Gothic"/>
                <a:ea typeface="Malgun Gothic"/>
                <a:cs typeface="Malgun Gothic"/>
              </a:rPr>
              <a:t>치료 자체가 위험하다.</a:t>
            </a:r>
            <a:r>
              <a:rPr sz="1600" b="0" i="0">
                <a:solidFill>
                  <a:srgbClr val="11202B"/>
                </a:solidFill>
                <a:latin typeface="Malgun Gothic"/>
                <a:ea typeface="Malgun Gothic"/>
                <a:cs typeface="Malgun Gothic"/>
              </a:rPr>
              <a:t> 교차결합을 만드는 항암제와 방사선에 과민하므로, 이식 전 처치의 용량을 크게 줄여야 한다. 그래서 골수 부전과 백혈병이 진단되었을 때 Fanconi 빈혈 여부를 먼저 확인하는 것이 중요하다. 확인하지 않고 표준 용량으로 치료하면 중대한 독성이 생긴다. 체내 aldehyde 처리 능력이 낮은 사람에서 증상이 심하다는 관찰도 있어, 음주와 관련된 aldehyde 노출을 피하도록 권고한다.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가닥 간 교차결합과 Fanconi 경로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가닥 간 교차결합 처리의 또 다른 경로도 알아 둔다. 복제와 무관하게, 즉 복제 분기점이 오지 않아도 교차결합을 제거하는 방식이 있다는 자료가 쌓였다. 특정 핵산 분해 효소와 nucleotide-excision repair 인자가 그 일에 관여한다고 본다. 분열하지 않는 세포에서도 교차결합이 처리되어야 하므로 이 경로가 필요하다.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Fanconi 경로의 구성 유전자가 많다는 점도 임상에서 중요하다. 스무 개가 넘는 유전자가 알려져 있고, 대부분 열성으로 전달되지만 하나는 X 염색체 연관이다. 그리고 그 가운데 *BRCA2*와 *BRCA1*이 포함된다. 즉 </a:t>
            </a:r>
            <a:r>
              <a:rPr sz="1400" b="1" i="0">
                <a:solidFill>
                  <a:srgbClr val="11202B"/>
                </a:solidFill>
                <a:latin typeface="Malgun Gothic"/>
                <a:ea typeface="Malgun Gothic"/>
                <a:cs typeface="Malgun Gothic"/>
              </a:rPr>
              <a:t>Fanconi 빈혈의 일부 유전자가 유방·난소암 소인 유전자와 같다.</a:t>
            </a:r>
            <a:r>
              <a:rPr sz="1400" b="0" i="0">
                <a:solidFill>
                  <a:srgbClr val="11202B"/>
                </a:solidFill>
                <a:latin typeface="Malgun Gothic"/>
                <a:ea typeface="Malgun Gothic"/>
                <a:cs typeface="Malgun Gothic"/>
              </a:rPr>
              <a:t> 한쪽 대립형질의 변이는 종양 소인으로, 양쪽 변이는 Fanconi 빈혈로 나타난다는 구도이며, 유전 상담에서 반드시 설명해야 하는 지점이다.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단일가닥 소실 복구라는 또 하나의 방식도 있다. 절단의 양쪽에 같은 반복 서열이 있으면 그 서열끼리 짝을 맞춰 붙이고 사이 구간을 잘라낸다. 반복이 많은 유전체에서 이 방식이 쓰이면 큰 결실이 생기므로, 세포는 가능하면 이 경로를 쓰지 않도록 억제한다.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가지 말단 연결 방식을 정확도 순으로 정리하면 상동 재조합, 비상동 말단 연결, 미세상동 말단 연결과 단일가닥 소실 복구의 순이다. </a:t>
            </a:r>
            <a:r>
              <a:rPr sz="1400" b="1" i="0">
                <a:solidFill>
                  <a:srgbClr val="11202B"/>
                </a:solidFill>
                <a:latin typeface="Malgun Gothic"/>
                <a:ea typeface="Malgun Gothic"/>
                <a:cs typeface="Malgun Gothic"/>
              </a:rPr>
              <a:t>정확도가 낮은 경로일수록 쓰임이 제한되고, 제한이 풀리는 조건이 곧 유전체 재배열이 일어나는 조건</a:t>
            </a:r>
            <a:r>
              <a:rPr sz="1400" b="0" i="0">
                <a:solidFill>
                  <a:srgbClr val="11202B"/>
                </a:solidFill>
                <a:latin typeface="Malgun Gothic"/>
                <a:ea typeface="Malgun Gothic"/>
                <a:cs typeface="Malgun Gothic"/>
              </a:rPr>
              <a:t>이다. 종양에서 큰 결실과 전좌가 많은 것은 그 제한이 여러 겹으로 풀린 결과다.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손상을 건너뛰는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 분기점이 손상 앞에서 멈췄을 때, 그 손상을 지나가는 방법이 손상 건너뛰기 합성이다. M03-W01-L02에서 본 Y family polymerase가 이 일을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전환의 신호는 PCNA의 수식이다. 멈춘 분기점에서 PCNA에 ubiquitin이 하나 붙으면 그 표지를 읽는 polymerase가 와서 손상 자리를 지나간다. 그 뒤 다시 정확한 polymerase로 교체된다. </a:t>
            </a:r>
            <a:r>
              <a:rPr sz="1400" b="1" i="0">
                <a:solidFill>
                  <a:srgbClr val="11202B"/>
                </a:solidFill>
                <a:latin typeface="Malgun Gothic"/>
                <a:ea typeface="Malgun Gothic"/>
                <a:cs typeface="Malgun Gothic"/>
              </a:rPr>
              <a:t>쓰는 자리와 시간을 제한하는 장치</a:t>
            </a:r>
            <a:r>
              <a:rPr sz="1400" b="0" i="0">
                <a:solidFill>
                  <a:srgbClr val="11202B"/>
                </a:solidFill>
                <a:latin typeface="Malgun Gothic"/>
                <a:ea typeface="Malgun Gothic"/>
                <a:cs typeface="Malgun Gothic"/>
              </a:rPr>
              <a:t>가 있어야 변이율이 올라가지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경로의 성질을 정확히 표현해야 한다. 이것은 복구가 아니다. </a:t>
            </a:r>
            <a:r>
              <a:rPr sz="1400" b="1" i="0">
                <a:solidFill>
                  <a:srgbClr val="11202B"/>
                </a:solidFill>
                <a:latin typeface="Malgun Gothic"/>
                <a:ea typeface="Malgun Gothic"/>
                <a:cs typeface="Malgun Gothic"/>
              </a:rPr>
              <a:t>손상은 그대로 남고 복제만 진행된다.</a:t>
            </a:r>
            <a:r>
              <a:rPr sz="1400" b="0" i="0">
                <a:solidFill>
                  <a:srgbClr val="11202B"/>
                </a:solidFill>
                <a:latin typeface="Malgun Gothic"/>
                <a:ea typeface="Malgun Gothic"/>
                <a:cs typeface="Malgun Gothic"/>
              </a:rPr>
              <a:t> 그래서 결과적으로 변이가 생길 수 있고, 손상 자체는 뒤에 다른 경로가 처리해야 한다. 그럼에도 이 경로가 필요한 이유는 멈춘 분기점이 무너지는 것보다 변이 하나가 덜 위험하기 때문이다. </a:t>
            </a:r>
            <a:r>
              <a:rPr sz="1400" b="1" i="0">
                <a:solidFill>
                  <a:srgbClr val="11202B"/>
                </a:solidFill>
                <a:latin typeface="Malgun Gothic"/>
                <a:ea typeface="Malgun Gothic"/>
                <a:cs typeface="Malgun Gothic"/>
              </a:rPr>
              <a:t>세포는 정확성과 생존 사이에서 생존을 고른다.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색소성 건조증 변이형(XP-V)이 이 경로의 결손이다. Pol η의 기능이 없어 자외선 손상을 지나가지 못하고, 다른 polymerase가 더 큰 오류를 남겨 피부암 위험이 올라간다. 복구 경로가 아닌 건너뛰기 경로의 결손도 같은 임상 양상을 낼 수 있다는 점이 이 질환의 교훈이다.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Aldehyde의 역할을 따로 보아야 한다. 체내에서 대사 과정에 생기는 formaldehyde와 acetaldehyde가 가닥 간 교차결합을 만들 수 있다. 그래서 Fanconi 경로는 외부 약물이 없어도 상시적으로 일할 거리가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유전적 배경의 차이가 나타난다. Acetaldehyde를 분해하는 효소의 활성이 낮은 사람이 있고, 그런 변이는 동아시아 인구에서 상대적으로 흔하다. 이 변이와 Fanconi 경로의 결손이 겹치면 증상이 더 심하다는 관찰이 보고되었다. 그래서 </a:t>
            </a:r>
            <a:r>
              <a:rPr sz="1400" b="1" i="0">
                <a:solidFill>
                  <a:srgbClr val="11202B"/>
                </a:solidFill>
                <a:latin typeface="Malgun Gothic"/>
                <a:ea typeface="Malgun Gothic"/>
                <a:cs typeface="Malgun Gothic"/>
              </a:rPr>
              <a:t>대사 쪽 유전 배경이 복구 쪽 질환의 중증도를 바꾼다</a:t>
            </a:r>
            <a:r>
              <a:rPr sz="1400" b="0" i="0">
                <a:solidFill>
                  <a:srgbClr val="11202B"/>
                </a:solidFill>
                <a:latin typeface="Malgun Gothic"/>
                <a:ea typeface="Malgun Gothic"/>
                <a:cs typeface="Malgun Gothic"/>
              </a:rPr>
              <a:t>는 관점이 필요하며, 이 축은 M03 후반의 계통별 수업에서 다시 등장한다.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손상을 건너뛰는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9</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경로 선택의 임상적 의미를 세 겹으로 정리한다. (1) </a:t>
            </a:r>
            <a:r>
              <a:rPr sz="1600" b="1" i="0">
                <a:solidFill>
                  <a:srgbClr val="11202B"/>
                </a:solidFill>
                <a:latin typeface="Malgun Gothic"/>
                <a:ea typeface="Malgun Gothic"/>
                <a:cs typeface="Malgun Gothic"/>
              </a:rPr>
              <a:t>치료가 만드는 절단의 종류에 따라 어느 경로가 쓰일지가 달라진다.</a:t>
            </a:r>
            <a:r>
              <a:rPr sz="1600" b="0" i="0">
                <a:solidFill>
                  <a:srgbClr val="11202B"/>
                </a:solidFill>
                <a:latin typeface="Malgun Gothic"/>
                <a:ea typeface="Malgun Gothic"/>
                <a:cs typeface="Malgun Gothic"/>
              </a:rPr>
              <a:t> 방사선은 복잡한 말단을 남겨 다듬는 과정이 필요하고, topoisomerase II 독은 효소가 붙은 말단을 남겨 그 효소를 제거하는 단계가 먼저 와야 한다. 그래서 같은 이중가닥 절단이라도 처리 경로와 시간이 다르다. (2) </a:t>
            </a:r>
            <a:r>
              <a:rPr sz="1600" b="1" i="0">
                <a:solidFill>
                  <a:srgbClr val="11202B"/>
                </a:solidFill>
                <a:latin typeface="Malgun Gothic"/>
                <a:ea typeface="Malgun Gothic"/>
                <a:cs typeface="Malgun Gothic"/>
              </a:rPr>
              <a:t>분열하지 않는 세포는 상동 재조합을 쓸 수 없다.</a:t>
            </a:r>
            <a:r>
              <a:rPr sz="1600" b="0" i="0">
                <a:solidFill>
                  <a:srgbClr val="11202B"/>
                </a:solidFill>
                <a:latin typeface="Malgun Gothic"/>
                <a:ea typeface="Malgun Gothic"/>
                <a:cs typeface="Malgun Gothic"/>
              </a:rPr>
              <a:t> 신경세포와 심근세포에서 절단이 생기면 말단 연결로만 처리되므로 결실이 남는다. 이것이 분열하지 않는 조직에서 손상이 누적되는 한 기전이다. (3) </a:t>
            </a:r>
            <a:r>
              <a:rPr sz="1600" b="1" i="0">
                <a:solidFill>
                  <a:srgbClr val="11202B"/>
                </a:solidFill>
                <a:latin typeface="Malgun Gothic"/>
                <a:ea typeface="Malgun Gothic"/>
                <a:cs typeface="Malgun Gothic"/>
              </a:rPr>
              <a:t>BRCA 결손 종양에 방사선을 쓰는 경우의 판단</a:t>
            </a:r>
            <a:r>
              <a:rPr sz="1600" b="0" i="0">
                <a:solidFill>
                  <a:srgbClr val="11202B"/>
                </a:solidFill>
                <a:latin typeface="Malgun Gothic"/>
                <a:ea typeface="Malgun Gothic"/>
                <a:cs typeface="Malgun Gothic"/>
              </a:rPr>
              <a:t>이 이 논리에서 나온다. 상동 재조합이 없으므로 민감도가 올라갈 수 있지만, 정상 조직도 같은 변이를 가진 환자에서는 부작용이 커질 수 있다. 생식계열 변이인지 체세포 변이인지에 따라 판단이 달라지는 자리다.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손상을 건너뛰는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손상 건너뛰기에도 두 방식이 있다. 하나는 손상 자리에 직접 염기를 넣고 지나가는 방식이고, 다른 하나는 자매 가닥의 정보를 임시로 빌려 쓰는 방식이다. 후자는 재조합을 쓰므로 정확하지만 느리고, 전자는 빠르지만 변이를 남긴다. 세포는 상황에 따라 둘 사이를 고르며, 그 선택이 변이율을 정한다. </a:t>
            </a:r>
            <a:r>
              <a:rPr sz="1800" b="1" i="0">
                <a:solidFill>
                  <a:srgbClr val="11202B"/>
                </a:solidFill>
                <a:latin typeface="Malgun Gothic"/>
                <a:ea typeface="Malgun Gothic"/>
                <a:cs typeface="Malgun Gothic"/>
              </a:rPr>
              <a:t>빠름과 정확함 사이의 선택이 복구의 모든 단계에서 되풀이된다.</a:t>
            </a:r>
            <a:r>
              <a:rPr sz="1800" b="0" i="0">
                <a:solidFill>
                  <a:srgbClr val="11202B"/>
                </a:solidFill>
                <a:latin typeface="Malgun Gothic"/>
                <a:ea typeface="Malgun Gothic"/>
                <a:cs typeface="Malgun Gothic"/>
              </a:rPr>
              <a:t> 그래서 어느 경로가 쓰였는지는 결과에 남은 흔적으로 역추적할 수 있고, 종양 유전체의 변이 양상을 읽어 어느 선택이 반복되었는지를 추정한다. 이 역추적이 M01-W06-L03에서 본 변이 신호 분석의 기전적 근거다.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신호가 chromatin 안에서 퍼지는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손상은 맨 DNA가 아니라 chromatin 안에서 일어난다. 그래서 복구에는 </a:t>
            </a:r>
            <a:r>
              <a:rPr sz="1600" b="1" i="0">
                <a:solidFill>
                  <a:srgbClr val="11202B"/>
                </a:solidFill>
                <a:latin typeface="Malgun Gothic"/>
                <a:ea typeface="Malgun Gothic"/>
                <a:cs typeface="Malgun Gothic"/>
              </a:rPr>
              <a:t>찾고, 열고, 고치고, 되돌리는</a:t>
            </a:r>
            <a:r>
              <a:rPr sz="1600" b="0" i="0">
                <a:solidFill>
                  <a:srgbClr val="11202B"/>
                </a:solidFill>
                <a:latin typeface="Malgun Gothic"/>
                <a:ea typeface="Malgun Gothic"/>
                <a:cs typeface="Malgun Gothic"/>
              </a:rPr>
              <a:t> 네 단계가 모두 필요하다.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이중가닥 절단에서 그 과정이 가장 잘 밝혀져 있다. MRN 복합체가 절단을 인식해 ATM을 활성화하고, ATM이 주변 nucleosome의 H2A.X를 인산화한다. 이 표지를 γH2AX라 하며, 절단 자리 주변 수십 킬로베이스에 걸쳐 퍼진다. 그 표지를 MDC1이 읽고, 다시 ubiquitin 표지가 쌓여 53BP1과 BRCA1이 모인다.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증폭 구조가 두 가지를 설명한다. 첫째, </a:t>
            </a:r>
            <a:r>
              <a:rPr sz="1600" b="1" i="0">
                <a:solidFill>
                  <a:srgbClr val="11202B"/>
                </a:solidFill>
                <a:latin typeface="Malgun Gothic"/>
                <a:ea typeface="Malgun Gothic"/>
                <a:cs typeface="Malgun Gothic"/>
              </a:rPr>
              <a:t>하나의 절단이 큰 신호가 된다.</a:t>
            </a:r>
            <a:r>
              <a:rPr sz="1600" b="0" i="0">
                <a:solidFill>
                  <a:srgbClr val="11202B"/>
                </a:solidFill>
                <a:latin typeface="Malgun Gothic"/>
                <a:ea typeface="Malgun Gothic"/>
                <a:cs typeface="Malgun Gothic"/>
              </a:rPr>
              <a:t> 표지가 넓게 퍼져 많은 복구 인자를 모을 수 있다. 둘째, </a:t>
            </a:r>
            <a:r>
              <a:rPr sz="1600" b="1" i="0">
                <a:solidFill>
                  <a:srgbClr val="11202B"/>
                </a:solidFill>
                <a:latin typeface="Malgun Gothic"/>
                <a:ea typeface="Malgun Gothic"/>
                <a:cs typeface="Malgun Gothic"/>
              </a:rPr>
              <a:t>그 표지를 영상으로 볼 수 있다.</a:t>
            </a:r>
            <a:r>
              <a:rPr sz="1600" b="0" i="0">
                <a:solidFill>
                  <a:srgbClr val="11202B"/>
                </a:solidFill>
                <a:latin typeface="Malgun Gothic"/>
                <a:ea typeface="Malgun Gothic"/>
                <a:cs typeface="Malgun Gothic"/>
              </a:rPr>
              <a:t> γH2AX의 점을 세어 손상의 양을 측정하는 방법이 연구와 일부 임상 시험에서 쓰인다.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되돌리는 단계도 필요하다. 복구가 끝나면 표지를 지우고 nucleosome을 원래 상태로 돌려야 한다. 그 과정이 늦으면 손상이 해결된 뒤에도 신호가 남아 세포주기가 계속 멈춰 있게 된다. </a:t>
            </a:r>
            <a:r>
              <a:rPr sz="1600" b="1" i="0">
                <a:solidFill>
                  <a:srgbClr val="11202B"/>
                </a:solidFill>
                <a:latin typeface="Malgun Gothic"/>
                <a:ea typeface="Malgun Gothic"/>
                <a:cs typeface="Malgun Gothic"/>
              </a:rPr>
              <a:t>신호를 켜는 기구와 끄는 기구가 모두 있어야 한다</a:t>
            </a:r>
            <a:r>
              <a:rPr sz="1600" b="0" i="0">
                <a:solidFill>
                  <a:srgbClr val="11202B"/>
                </a:solidFill>
                <a:latin typeface="Malgun Gothic"/>
                <a:ea typeface="Malgun Gothic"/>
                <a:cs typeface="Malgun Gothic"/>
              </a:rPr>
              <a:t>는 점이 이 축의 설계다.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신호가 chromatin 안에서 퍼지는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복구 능력을 환자마다 측정하려는 시도가 이어지고 있다. 치료 결정에 쓰려면 "이 종양이 어느 경로를 잃었는가"를 알아야 하는데, 유전자 변이 목록만으로는 답이 되지 않는다. 변이의 의미가 불확실한 경우가 많고, 메틸화나 발현 감소로 기능을 잃는 경우도 있기 때문이다. 그래서 세 갈래의 접근이 쓰인다. 첫째, 유전체에 남은 흔적을 읽는 방법이다. 상동 재조합이 망가진 종양에 특유의 재배열과 변이 양상이 남는다는 점을 이용해 점수를 매긴다. 둘째, 세포를 직접 시험하는 방법이다. 종양 세포에 손상을 준 뒤 RAD51이 모이는지를 보아 기능을 판정한다. 셋째, 환자 유래 종양 조직을 배양해 약에 노출시켜 보는 방법이다. 쟁점은 세 방법의 결과가 서로 어긋나는 경우가 있고, 어느 지표가 치료 반응을 가장 잘 예측하는지 확립되지 않았다는 점이다.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신호가 chromatin 안에서 퍼지는 과정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표지의 또 다른 쓰임이 방사선 생물학이다. 조사량에 따라 γH2AX 점의 수가 늘고 시간이 지나면서 줄어드므로, 그 감소 속도로 복구 능력을 추정한다. 환자의 혈액 세포로 이 측정을 해 방사선 과민성을 미리 가려내려는 시도가 있었다.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다만 해석에 주의가 필요하다. 점의 수는 절단의 수를 그대로 반영하지 않는다. 가까운 두 절단이 하나의 점으로 보이고, 복구가 끝난 뒤에도 표지가 남을 수 있다. 또 손상이 전혀 없어도 복제 중 세포에서는 점이 관찰된다. </a:t>
            </a:r>
            <a:r>
              <a:rPr sz="1400" b="1" i="0">
                <a:solidFill>
                  <a:srgbClr val="11202B"/>
                </a:solidFill>
                <a:latin typeface="Malgun Gothic"/>
                <a:ea typeface="Malgun Gothic"/>
                <a:cs typeface="Malgun Gothic"/>
              </a:rPr>
              <a:t>표지의 존재와 손상의 존재를 같은 것으로 읽지 않는다</a:t>
            </a:r>
            <a:r>
              <a:rPr sz="1400" b="0" i="0">
                <a:solidFill>
                  <a:srgbClr val="11202B"/>
                </a:solidFill>
                <a:latin typeface="Malgun Gothic"/>
                <a:ea typeface="Malgun Gothic"/>
                <a:cs typeface="Malgun Gothic"/>
              </a:rPr>
              <a:t>는 원칙이 여기서도 적용된다.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표지가 전사에 미치는 영향도 고려해야 한다. 손상 자리 주변의 전사는 일시적으로 꺼진다. ATM 신호와 ubiquitin 표지가 그 구간의 전사를 억제하며, 복구가 끝나면 다시 켜진다. 이 억제가 필요한 이유는 손상된 주형에서 전사가 계속되면 잘못된 전사물이 만들어지고 전사 기구가 손상 자리에 끼어 복구를 방해하기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그런데 이 억제가 완전하지 않다. 손상이 많으면 전사 억제가 넓게 퍼져 필요한 유전자의 발현까지 줄어든다. 방사선이나 항암제를 쓴 뒤 세포의 전반적 기능이 떨어지는 현상의 한 부분이 이것으로 설명된다. </a:t>
            </a:r>
            <a:r>
              <a:rPr sz="1400" b="1" i="0">
                <a:solidFill>
                  <a:srgbClr val="11202B"/>
                </a:solidFill>
                <a:latin typeface="Malgun Gothic"/>
                <a:ea typeface="Malgun Gothic"/>
                <a:cs typeface="Malgun Gothic"/>
              </a:rPr>
              <a:t>복구를 위한 조치 자체가 비용을 수반한다</a:t>
            </a:r>
            <a:r>
              <a:rPr sz="1400" b="0" i="0">
                <a:solidFill>
                  <a:srgbClr val="11202B"/>
                </a:solidFill>
                <a:latin typeface="Malgun Gothic"/>
                <a:ea typeface="Malgun Gothic"/>
                <a:cs typeface="Malgun Gothic"/>
              </a:rPr>
              <a:t>는 점이 손상 반응의 특징이다.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손상 반응의 전신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손상 반응은 그 세포 안에서 끝나지 않는다. 세 가지 결과가 세포 밖으로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첫째, </a:t>
            </a:r>
            <a:r>
              <a:rPr sz="1400" b="1" i="0">
                <a:solidFill>
                  <a:srgbClr val="11202B"/>
                </a:solidFill>
                <a:latin typeface="Malgun Gothic"/>
                <a:ea typeface="Malgun Gothic"/>
                <a:cs typeface="Malgun Gothic"/>
              </a:rPr>
              <a:t>세포주기의 정지</a:t>
            </a:r>
            <a:r>
              <a:rPr sz="1400" b="0" i="0">
                <a:solidFill>
                  <a:srgbClr val="11202B"/>
                </a:solidFill>
                <a:latin typeface="Malgun Gothic"/>
                <a:ea typeface="Malgun Gothic"/>
                <a:cs typeface="Malgun Gothic"/>
              </a:rPr>
              <a:t>다. ATM과 ATR이 켜지면 p53이 안정화되고 CDK 억제 인자가 늘어 주기가 멈춘다. 손상이 과하면 그 정지가 영구화되어 노화 상태가 된다. M01-W12-L01과 M01-W12-L02에서 본 그 경로가 손상 쪽에서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둘째, </a:t>
            </a:r>
            <a:r>
              <a:rPr sz="1400" b="1" i="0">
                <a:solidFill>
                  <a:srgbClr val="11202B"/>
                </a:solidFill>
                <a:latin typeface="Malgun Gothic"/>
                <a:ea typeface="Malgun Gothic"/>
                <a:cs typeface="Malgun Gothic"/>
              </a:rPr>
              <a:t>염증 신호</a:t>
            </a:r>
            <a:r>
              <a:rPr sz="1400" b="0" i="0">
                <a:solidFill>
                  <a:srgbClr val="11202B"/>
                </a:solidFill>
                <a:latin typeface="Malgun Gothic"/>
                <a:ea typeface="Malgun Gothic"/>
                <a:cs typeface="Malgun Gothic"/>
              </a:rPr>
              <a:t>다. 처리되지 않은 핵산 조각이 세포질로 나오면 cGAS가 감지해 STING을 거쳐 인터페론 반응을 일으킨다. 분열 중 염색체가 제대로 분배되지 않아 생긴 작은 핵(micronucleus)이 그 조각의 주요 공급원이라는 결과가 보고되었다. 그래서 </a:t>
            </a:r>
            <a:r>
              <a:rPr sz="1400" b="1" i="0">
                <a:solidFill>
                  <a:srgbClr val="11202B"/>
                </a:solidFill>
                <a:latin typeface="Malgun Gothic"/>
                <a:ea typeface="Malgun Gothic"/>
                <a:cs typeface="Malgun Gothic"/>
              </a:rPr>
              <a:t>유전체 불안정성이 곧 염증의 원천</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셋째, </a:t>
            </a:r>
            <a:r>
              <a:rPr sz="1400" b="1" i="0">
                <a:solidFill>
                  <a:srgbClr val="11202B"/>
                </a:solidFill>
                <a:latin typeface="Malgun Gothic"/>
                <a:ea typeface="Malgun Gothic"/>
                <a:cs typeface="Malgun Gothic"/>
              </a:rPr>
              <a:t>면역 인식의 변화</a:t>
            </a:r>
            <a:r>
              <a:rPr sz="1400" b="0" i="0">
                <a:solidFill>
                  <a:srgbClr val="11202B"/>
                </a:solidFill>
                <a:latin typeface="Malgun Gothic"/>
                <a:ea typeface="Malgun Gothic"/>
                <a:cs typeface="Malgun Gothic"/>
              </a:rPr>
              <a:t>다. 변이가 늘면 신생항원이 늘고, 손상 반응이 세포 표면의 분자 배치를 바꾸어 면역세포의 표적이 되기 쉬워진다. 이 축이 복구 표적 치료와 면역치료를 함께 쓰는 설계의 근거다.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결과가 질환의 양면을 만든다. 노화 세포가 분비하는 염증 물질은 조직 기능을 떨어뜨리지만 종양 억제에 기여하고, 인터페론 반응은 감염 방어에 필요하지만 과하면 자가 면역이 된다. </a:t>
            </a:r>
            <a:r>
              <a:rPr sz="1400" b="1" i="0">
                <a:solidFill>
                  <a:srgbClr val="11202B"/>
                </a:solidFill>
                <a:latin typeface="Malgun Gothic"/>
                <a:ea typeface="Malgun Gothic"/>
                <a:cs typeface="Malgun Gothic"/>
              </a:rPr>
              <a:t>같은 반응이 지키기도 하고 해치기도 한다</a:t>
            </a:r>
            <a:r>
              <a:rPr sz="1400" b="0" i="0">
                <a:solidFill>
                  <a:srgbClr val="11202B"/>
                </a:solidFill>
                <a:latin typeface="Malgun Gothic"/>
                <a:ea typeface="Malgun Gothic"/>
                <a:cs typeface="Malgun Gothic"/>
              </a:rPr>
              <a:t>는 점이 손상 반응을 치료 표적으로 삼기 어려운 이유다.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손상 반응의 전신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손상 반응은 주기 정지, 염증, 면역 인식의 변화로 세포 밖까지 이어진다. 그래서 복구 결손은 종양 위험뿐 아니라 염증성·자가면역 양상으로도 나타난다.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손상 반응의 전신 결과</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표지를 지우는 단계가 치료와 이어지는 지점도 있다. 복구가 끝난 뒤 γH2AX와 ubiquitin 표지를 제거하는 효소가 따로 있고, 그 효소를 막으면 신호가 지워지지 않아 세포주기가 계속 멈춘다. 이 성질을 이용해 손상 반응을 길게 유지하려는 시도가 있었다.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반대 방향의 문제도 있다. 표지가 너무 빨리 지워지면 복구 인자가 충분히 모이지 못한다. 그래서 켜는 기구와 끄는 기구의 균형이 복구의 효율을 정하며, 어느 한쪽만 바꾸는 것이 반드시 유리하지 않다. </a:t>
            </a:r>
            <a:r>
              <a:rPr sz="1400" b="1" i="0">
                <a:solidFill>
                  <a:srgbClr val="11202B"/>
                </a:solidFill>
                <a:latin typeface="Malgun Gothic"/>
                <a:ea typeface="Malgun Gothic"/>
                <a:cs typeface="Malgun Gothic"/>
              </a:rPr>
              <a:t>신호의 세기가 아니라 지속 시간이 결과를 정한다</a:t>
            </a:r>
            <a:r>
              <a:rPr sz="1400" b="0" i="0">
                <a:solidFill>
                  <a:srgbClr val="11202B"/>
                </a:solidFill>
                <a:latin typeface="Malgun Gothic"/>
                <a:ea typeface="Malgun Gothic"/>
                <a:cs typeface="Malgun Gothic"/>
              </a:rPr>
              <a:t>는 관점이 이 축의 연구에서 반복해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복구 경로가 chromatin을 되돌리는 방식도 정리해 둔다. 손상 자리에서는 nucleosome을 떼어내 복구 인자가 접근하게 하고, 복구가 끝나면 다시 얹어야 한다. 이때 새로 합성한 histone이 쓰이므로, 복구가 끝난 자리의 수식 양상이 원래와 달라질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현상이 노화와 이어진다는 가설이 제시되었다. 손상이 반복되면 그 자리의 수식 양상이 조금씩 흐려지고, 그 누적이 세포의 정체성 약화로 나타난다는 설명이다. 동물 실험에서 손상을 반복해 준 뒤 수식 양상의 변화와 노화 표현형이 함께 나타났다는 결과가 보고되었다. 다만 인과를 확정하기는 어렵고, </a:t>
            </a:r>
            <a:r>
              <a:rPr sz="1400" b="1" i="0">
                <a:solidFill>
                  <a:srgbClr val="11202B"/>
                </a:solidFill>
                <a:latin typeface="Malgun Gothic"/>
                <a:ea typeface="Malgun Gothic"/>
                <a:cs typeface="Malgun Gothic"/>
              </a:rPr>
              <a:t>손상 자체와 손상 처리의 부작용을 구별하는 것</a:t>
            </a:r>
            <a:r>
              <a:rPr sz="1400" b="0" i="0">
                <a:solidFill>
                  <a:srgbClr val="11202B"/>
                </a:solidFill>
                <a:latin typeface="Malgun Gothic"/>
                <a:ea typeface="Malgun Gothic"/>
                <a:cs typeface="Malgun Gothic"/>
              </a:rPr>
              <a:t>이 이 가설의 검증 과제로 남아 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복구 결손을 겨냥하는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복구 결손은 종양의 약점이 된다. 논리를 단계로 정리한다.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1. 종양이 하나의 복구 경로를 잃었다.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그 종양은 남은 경로에 더 의존한다.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남은 경로를 막으면 종양만 죽는다. 정상 세포는 잃은 경로가 있으므로 견딘다.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PARP 억제제가 이 논리의 대표 예다. 상동 재조합이 망가진 종양(BRCA1·BRCA2 변이 등)에서 PARP를 막으면 단일가닥 절단의 처리가 느려지고, 그 절단이 복제 분기점과 만나 이중가닥 절단이 된다. 상동 재조합이 없으므로 그 절단을 고칠 수 없어 세포가 죽는다.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작용 기전을 조금 더 정확히 보아야 한다. PARP 억제제는 단순히 활성만 막는 것이 아니라 </a:t>
            </a:r>
            <a:r>
              <a:rPr sz="1600" b="1" i="0">
                <a:solidFill>
                  <a:srgbClr val="11202B"/>
                </a:solidFill>
                <a:latin typeface="Malgun Gothic"/>
                <a:ea typeface="Malgun Gothic"/>
                <a:cs typeface="Malgun Gothic"/>
              </a:rPr>
              <a:t>PARP1을 DNA에 붙잡아 둔다.</a:t>
            </a:r>
            <a:r>
              <a:rPr sz="1600" b="0" i="0">
                <a:solidFill>
                  <a:srgbClr val="11202B"/>
                </a:solidFill>
                <a:latin typeface="Malgun Gothic"/>
                <a:ea typeface="Malgun Gothic"/>
                <a:cs typeface="Malgun Gothic"/>
              </a:rPr>
              <a:t> 붙잡힌 PARP1이 복제의 장애물이 되므로, 효과의 상당 부분이 이 붙잡힘에서 온다고 설명한다. 그래서 PARP1을 아예 없앤 세포와 억제제를 쓴 세포의 표현형이 다르다.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복구 결손을 겨냥하는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치료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겨냥하는 결손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PARP 억제제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상동 재조합 결손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단일가닥 절단의 축적과 PARP1의 붙잡힘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백금계 약물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상동 재조합·Fanconi 결손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가닥 간 교차결합</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면역관문 억제제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Mismatch repair 결손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변이 부담과 신생항원의 증가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ATR·WEE1 억제제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ATM·p53 결손, 복제 스트레스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보호와 검문지점의 제거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Pol θ 억제제(개발 중)</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상동 재조합 결손</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대체 말단 연결의 차단</a:t>
                      </a:r>
                    </a:p>
                  </a:txBody>
                  <a:tcPr marL="73152" marR="73152" marT="27432" marB="2743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복구 결손을 겨냥하는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내성 기전도 함께 본다. 네 묶음으로 정리된다. 첫째, 상동 재조합 기능의 회복이다. 변이가 되돌아가거나 틀이 다시 맞아 기능이 살아난다. 둘째, 보호 쪽 인자의 추가 상실이다. 53BP1이 함께 없어지면 BRCA1이 없어도 말단 깎임이 일어나 재조합이 일부 회복된다. 셋째, 분기점 보호의 회복이다. 넷째, 약물의 배출 증가다.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복구 결손을 겨냥하는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임상 판단에서 가려야 할 지점이 세 가지다. (1) </a:t>
            </a:r>
            <a:r>
              <a:rPr sz="1600" b="1" i="0">
                <a:solidFill>
                  <a:srgbClr val="11202B"/>
                </a:solidFill>
                <a:latin typeface="Malgun Gothic"/>
                <a:ea typeface="Malgun Gothic"/>
                <a:cs typeface="Malgun Gothic"/>
              </a:rPr>
              <a:t>"BRCA 변이가 있다"와 "상동 재조합이 망가졌다"는 같은 말이 아니다.</a:t>
            </a:r>
            <a:r>
              <a:rPr sz="1600" b="0" i="0">
                <a:solidFill>
                  <a:srgbClr val="11202B"/>
                </a:solidFill>
                <a:latin typeface="Malgun Gothic"/>
                <a:ea typeface="Malgun Gothic"/>
                <a:cs typeface="Malgun Gothic"/>
              </a:rPr>
              <a:t> 의미가 불확실한 변이가 있고, 반대로 다른 유전자의 결손이나 메틸화로 같은 결손이 생길 수 있다. 그래서 기능을 보는 검사가 함께 필요하다. (2) </a:t>
            </a:r>
            <a:r>
              <a:rPr sz="1600" b="1" i="0">
                <a:solidFill>
                  <a:srgbClr val="11202B"/>
                </a:solidFill>
                <a:latin typeface="Malgun Gothic"/>
                <a:ea typeface="Malgun Gothic"/>
                <a:cs typeface="Malgun Gothic"/>
              </a:rPr>
              <a:t>생식계열과 체세포 변이를 구별해야 한다.</a:t>
            </a:r>
            <a:r>
              <a:rPr sz="1600" b="0" i="0">
                <a:solidFill>
                  <a:srgbClr val="11202B"/>
                </a:solidFill>
                <a:latin typeface="Malgun Gothic"/>
                <a:ea typeface="Malgun Gothic"/>
                <a:cs typeface="Malgun Gothic"/>
              </a:rPr>
              <a:t> 치료 선택은 종양의 상태로, 가족 검사는 생식계열 변이로 정해진다. (3) </a:t>
            </a:r>
            <a:r>
              <a:rPr sz="1600" b="1" i="0">
                <a:solidFill>
                  <a:srgbClr val="11202B"/>
                </a:solidFill>
                <a:latin typeface="Malgun Gothic"/>
                <a:ea typeface="Malgun Gothic"/>
                <a:cs typeface="Malgun Gothic"/>
              </a:rPr>
              <a:t>PARP 억제제 치료 중 내성이 생기면 다음 치료의 선택이 달라진다.</a:t>
            </a:r>
            <a:r>
              <a:rPr sz="1600" b="0" i="0">
                <a:solidFill>
                  <a:srgbClr val="11202B"/>
                </a:solidFill>
                <a:latin typeface="Malgun Gothic"/>
                <a:ea typeface="Malgun Gothic"/>
                <a:cs typeface="Malgun Gothic"/>
              </a:rPr>
              <a:t> 재조합이 회복된 경우와 분기점 보호가 회복된 경우가 서로 다른 약에 반응한다. 요점은 </a:t>
            </a:r>
            <a:r>
              <a:rPr sz="1600" b="1" i="0">
                <a:solidFill>
                  <a:srgbClr val="11202B"/>
                </a:solidFill>
                <a:latin typeface="Malgun Gothic"/>
                <a:ea typeface="Malgun Gothic"/>
                <a:cs typeface="Malgun Gothic"/>
              </a:rPr>
              <a:t>유전형이 아니라 기능 상태가 치료를 정한다</a:t>
            </a:r>
            <a:r>
              <a:rPr sz="1600" b="0" i="0">
                <a:solidFill>
                  <a:srgbClr val="11202B"/>
                </a:solidFill>
                <a:latin typeface="Malgun Gothic"/>
                <a:ea typeface="Malgun Gothic"/>
                <a:cs typeface="Malgun Gothic"/>
              </a:rPr>
              <a:t>는 것이다.</a:t>
            </a:r>
          </a:p>
        </p:txBody>
      </p:sp>
      <p:sp>
        <p:nvSpPr>
          <p:cNvPr id="8" name="Rectangle 7"/>
          <p:cNvSpPr/>
          <p:nvPr/>
        </p:nvSpPr>
        <p:spPr>
          <a:xfrm>
            <a:off x="640080" y="3439160"/>
            <a:ext cx="10881360" cy="256540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복구 경로를 조절해 치료 효율을 올리려는 시도가 두 방향으로 진행된다. 하나는 경로를 막는 쪽이다. ATM, DNA-PK, Pol θ를 겨냥하는 억제제가 개발되어 방사선이나 백금계 약물과 병합하는 시험에 들어갔고, 논리는 손상을 만든 뒤 복구를 막아 효과를 키우는 것이다. 다른 하나는 경로 선택을 바꾸는 쪽이다. 유전체 편집에서 말단 연결을 일시적으로 억제하면 상동 재조합으로 정확히 교정되는 비율이 올라간다는 결과가 보고되었고, 치료용 편집의 효율을 올리는 방법으로 검토된다. 두 방향의 공통 쟁점은 </a:t>
            </a:r>
            <a:r>
              <a:rPr sz="1600" b="1" i="0">
                <a:solidFill>
                  <a:srgbClr val="11202B"/>
                </a:solidFill>
                <a:latin typeface="Malgun Gothic"/>
                <a:ea typeface="Malgun Gothic"/>
                <a:cs typeface="Malgun Gothic"/>
              </a:rPr>
              <a:t>정상 세포의 복구도 함께 막힌다</a:t>
            </a:r>
            <a:r>
              <a:rPr sz="1600" b="0" i="0">
                <a:solidFill>
                  <a:srgbClr val="11202B"/>
                </a:solidFill>
                <a:latin typeface="Malgun Gothic"/>
                <a:ea typeface="Malgun Gothic"/>
                <a:cs typeface="Malgun Gothic"/>
              </a:rPr>
              <a:t>는 점이다. 복구는 모든 세포가 쓰는 기구이므로 종양에만 작용하게 만들 방법이 아직 없고, 그래서 국소 조사와 병합하거나 짧은 시간만 억제하는 설계가 시도된다. 어느 조직에서 어느 복구 결손이 견딜 만한지에 대한 자료가 부족하다는 점이 임상 적용의 가장 큰 제약이다.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복구 결손을 겨냥하는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합성 치사를 넓히려는 시도의 현황도 정리해 둔다. PARP 억제제의 성공 이후 같은 논리를 다른 경로에 적용하려는 연구가 이어졌고, 몇 가지 짝이 제시되었다. ATM 결손과 ATR 억제, mismatch repair 결손과 특정 polymerase 억제, 그리고 상동 재조합 결손과 Pol θ 억제가 그 예다.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실제 임상으로 이어진 것은 아직 적다. 이유가 세 가지로 정리된다. 첫째, 세포주 실험에서 보인 치사가 사람의 종양에서 재현되지 않는 경우가 많다. 둘째, 결손을 정확히 가려내는 검사가 부족하다. 셋째, 치료 중 결손이 보완되어 내성이 생긴다. </a:t>
            </a:r>
            <a:r>
              <a:rPr sz="1800" b="1" i="0">
                <a:solidFill>
                  <a:srgbClr val="11202B"/>
                </a:solidFill>
                <a:latin typeface="Malgun Gothic"/>
                <a:ea typeface="Malgun Gothic"/>
                <a:cs typeface="Malgun Gothic"/>
              </a:rPr>
              <a:t>합성 치사는 원리가 분명한 만큼 조건에 민감하다</a:t>
            </a:r>
            <a:r>
              <a:rPr sz="1800" b="0" i="0">
                <a:solidFill>
                  <a:srgbClr val="11202B"/>
                </a:solidFill>
                <a:latin typeface="Malgun Gothic"/>
                <a:ea typeface="Malgun Gothic"/>
                <a:cs typeface="Malgun Gothic"/>
              </a:rPr>
              <a:t>는 점이 이 분야의 현실이며, 원리의 타당함과 임상 적용의 성공을 구별해 평가해야 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복구 경로의 결손은 몇 가지 정해진 조합으로 나타난다.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23</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결손 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양상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색소성 건조증</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Nucleotide-excision repair(전체 유전체)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자외선 과민, 이른 피부암 다발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Cockayne 증후군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Nucleotide-excision repair(전사 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성장 지연, 신경 퇴행, 조기 노화</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Lynch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Mismatch repair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이른 대장암·자궁내막암, MSI</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Fanconi 빈혈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가닥 간 교차결합 처리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골수 부전, 발달 이상, 백혈병</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Ataxia-telangiectasia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소뇌 퇴행, 모세혈관 확장, 면역 결핍, 림프종</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Nijmegen breakage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NBS1(MRN)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작은 머리, 면역 결핍, 림프종</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Bloom 증후군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BLM helicase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저신장, 햇빛 과민, 다양한 종양</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BRCA1·BRCA2 소인</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상동 재조합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유방·난소·전립선·췌장암</a:t>
                      </a:r>
                    </a:p>
                  </a:txBody>
                  <a:tcPr marL="73152" marR="73152" marT="27432" marB="27432">
                    <a:solidFill>
                      <a:srgbClr val="EFF4F8"/>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표에서 읽을 원칙이 세 가지다. 첫째, </a:t>
            </a:r>
            <a:r>
              <a:rPr sz="1800" b="1" i="0">
                <a:solidFill>
                  <a:srgbClr val="11202B"/>
                </a:solidFill>
                <a:latin typeface="Malgun Gothic"/>
                <a:ea typeface="Malgun Gothic"/>
                <a:cs typeface="Malgun Gothic"/>
              </a:rPr>
              <a:t>종양 위험과 신경 퇴행이 함께 나타나는 경우가 많다.</a:t>
            </a:r>
            <a:r>
              <a:rPr sz="1800" b="0" i="0">
                <a:solidFill>
                  <a:srgbClr val="11202B"/>
                </a:solidFill>
                <a:latin typeface="Malgun Gothic"/>
                <a:ea typeface="Malgun Gothic"/>
                <a:cs typeface="Malgun Gothic"/>
              </a:rPr>
              <a:t> 분열하는 세포에서는 변이가 쌓여 종양이 되고, 분열하지 않는 신경세포에서는 손상이 쌓여 세포가 죽는다. 같은 결손이 조직에 따라 다른 결과를 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둘째, </a:t>
            </a:r>
            <a:r>
              <a:rPr sz="1800" b="1" i="0">
                <a:solidFill>
                  <a:srgbClr val="11202B"/>
                </a:solidFill>
                <a:latin typeface="Malgun Gothic"/>
                <a:ea typeface="Malgun Gothic"/>
                <a:cs typeface="Malgun Gothic"/>
              </a:rPr>
              <a:t>면역 결핍이 자주 함께 온다.</a:t>
            </a:r>
            <a:r>
              <a:rPr sz="1800" b="0" i="0">
                <a:solidFill>
                  <a:srgbClr val="11202B"/>
                </a:solidFill>
                <a:latin typeface="Malgun Gothic"/>
                <a:ea typeface="Malgun Gothic"/>
                <a:cs typeface="Malgun Gothic"/>
              </a:rPr>
              <a:t> 면역글로불린과 T세포 수용체의 재배열이 의도적인 이중가닥 절단을 만들고 그것을 복구해 완성되므로, 절단 복구가 망가지면 그 과정이 실패한다. M01-W06-L03에서 본 프로그램된 재배열이 복구 기구에 의존한다는 사실이 여기서 임상으로 나타난다.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셋째, </a:t>
            </a:r>
            <a:r>
              <a:rPr sz="1800" b="1" i="0">
                <a:solidFill>
                  <a:srgbClr val="11202B"/>
                </a:solidFill>
                <a:latin typeface="Malgun Gothic"/>
                <a:ea typeface="Malgun Gothic"/>
                <a:cs typeface="Malgun Gothic"/>
              </a:rPr>
              <a:t>진단에 기능 검사가 쓰인다.</a:t>
            </a:r>
            <a:r>
              <a:rPr sz="1800" b="0" i="0">
                <a:solidFill>
                  <a:srgbClr val="11202B"/>
                </a:solidFill>
                <a:latin typeface="Malgun Gothic"/>
                <a:ea typeface="Malgun Gothic"/>
                <a:cs typeface="Malgun Gothic"/>
              </a:rPr>
              <a:t> 세포에 손상을 준 뒤 염색체 절단, 자매 교환, 생존율을 보는 검사가 유전자 검사와 함께 쓰인다. 서열에서 의미가 불확실한 변이가 나왔을 때 기능 검사가 판정을 돕는다.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복구 결손 질환을 의심할 임상 조합이 정해져 있다. 어린 나이의 햇빛 과민과 피부 종양 다발이면 nucleotide-excision repair 쪽을, 소뇌 증상과 모세혈관 확장에 면역 결핍이 겹치면 ATM 쪽을, 골수 부전과 엄지·전완 기형이 함께 있으면 Fanconi 경로를, 저신장과 햇빛 과민에 여러 종류의 종양이 겹치면 helicase 쪽을 떠올린다. 그리고 </a:t>
            </a:r>
            <a:r>
              <a:rPr sz="1600" b="1" i="0">
                <a:solidFill>
                  <a:srgbClr val="11202B"/>
                </a:solidFill>
                <a:latin typeface="Malgun Gothic"/>
                <a:ea typeface="Malgun Gothic"/>
                <a:cs typeface="Malgun Gothic"/>
              </a:rPr>
              <a:t>치료 전에 확인해야 하는 질환</a:t>
            </a:r>
            <a:r>
              <a:rPr sz="1600" b="0" i="0">
                <a:solidFill>
                  <a:srgbClr val="11202B"/>
                </a:solidFill>
                <a:latin typeface="Malgun Gothic"/>
                <a:ea typeface="Malgun Gothic"/>
                <a:cs typeface="Malgun Gothic"/>
              </a:rPr>
              <a:t>이라는 점이 공통된다. 방사선과 교차결합 약물에 과민하므로, 확인하지 않고 표준 치료를 하면 중대한 독성이 생긴다. 가족력과 신체 소견이 단서를 주므로, 종양 치료를 시작하기 전에 그 단서를 찾는 것이 실제 진료의 순서다.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수업의 내용이 실험 설계로 번역되는 자리도 짚는다. 유전체 편집의 결과를 예측하려면 어느 복구 경로가 쓰일지를 알아야 하고, 그것은 세포주기와 경로 인자의 상태에 달려 있다. 또 세포독성 약물의 민감도를 비교하는 실험에서는 세포주마다 복구 능력이 다르므로, 같은 약에 대한 반응 차이를 약의 성질로만 해석하면 안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그래서 복구를 다루는 실험에서는 </a:t>
            </a:r>
            <a:r>
              <a:rPr sz="1800" b="1" i="0">
                <a:solidFill>
                  <a:srgbClr val="11202B"/>
                </a:solidFill>
                <a:latin typeface="Malgun Gothic"/>
                <a:ea typeface="Malgun Gothic"/>
                <a:cs typeface="Malgun Gothic"/>
              </a:rPr>
              <a:t>대조를 어디에 두는지</a:t>
            </a:r>
            <a:r>
              <a:rPr sz="1800" b="0" i="0">
                <a:solidFill>
                  <a:srgbClr val="11202B"/>
                </a:solidFill>
                <a:latin typeface="Malgun Gothic"/>
                <a:ea typeface="Malgun Gothic"/>
                <a:cs typeface="Malgun Gothic"/>
              </a:rPr>
              <a:t>가 결론을 정한다. 경로 하나를 없앤 세포와 정상 세포를 비교하거나, 같은 세포에서 억제제를 쓰고 쓰지 않은 조건을 비교한다. 두 방식의 결과가 다를 수 있다는 점은 PARP에서 이미 보았다. 유전적 제거와 약물 억제가 같은 표현형을 내지 않는다는 사실이 이 분야의 중요한 교훈이다.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복구 결손 질환의 공통 양상</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27</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손상과 변이는 다르다. 손상은 비정상 구조이므로 복구 기구가 알아보지만, 복제를 거치면 정상 염기로 고정되어 알아볼 수 없게 된다. 그래서 복구에는 시간 창이 있고, 그 창이 좁은 경로의 결손은 교체가 빠른 조직에서 먼저 드러난다.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복구는 M03 전반의 축이고 종양 쪽 수업과 직접 이어진다.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M03-W02-L01 복구 결함 질환과 유전체 불안정성</a:t>
            </a:r>
            <a:r>
              <a:rPr sz="1600" b="0" i="0">
                <a:solidFill>
                  <a:srgbClr val="11202B"/>
                </a:solidFill>
                <a:latin typeface="Malgun Gothic"/>
                <a:ea typeface="Malgun Gothic"/>
                <a:cs typeface="Malgun Gothic"/>
              </a:rPr>
              <a:t> — 이 수업의 질환들을 유전체 불안정성의 틀에서 더 자세히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M03-W01-L02 DNA 복제의 기전과 효소</a:t>
            </a:r>
            <a:r>
              <a:rPr sz="1600" b="0" i="0">
                <a:solidFill>
                  <a:srgbClr val="11202B"/>
                </a:solidFill>
                <a:latin typeface="Malgun Gothic"/>
                <a:ea typeface="Malgun Gothic"/>
                <a:cs typeface="Malgun Gothic"/>
              </a:rPr>
              <a:t> — 분기점 보호, ATR 축, 손상 건너뛰기의 전환을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M03-W01-L01 DNA의 구조와 염색질 포장</a:t>
            </a:r>
            <a:r>
              <a:rPr sz="1600" b="0" i="0">
                <a:solidFill>
                  <a:srgbClr val="11202B"/>
                </a:solidFill>
                <a:latin typeface="Malgun Gothic"/>
                <a:ea typeface="Malgun Gothic"/>
                <a:cs typeface="Malgun Gothic"/>
              </a:rPr>
              <a:t> — 메틸화 자리의 화학, 비표준 구조, nucleosome의 구조를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M01-W06-L03 DNA 복제·복구와 유전체 재배열</a:t>
            </a:r>
            <a:r>
              <a:rPr sz="1600" b="0" i="0">
                <a:solidFill>
                  <a:srgbClr val="11202B"/>
                </a:solidFill>
                <a:latin typeface="Malgun Gothic"/>
                <a:ea typeface="Malgun Gothic"/>
                <a:cs typeface="Malgun Gothic"/>
              </a:rPr>
              <a:t> — 복구 경로의 개요와 프로그램된 재배열을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M01-W12-L01 세포주기와 그 조절</a:t>
            </a:r>
            <a:r>
              <a:rPr sz="1600" b="0" i="0">
                <a:solidFill>
                  <a:srgbClr val="11202B"/>
                </a:solidFill>
                <a:latin typeface="Malgun Gothic"/>
                <a:ea typeface="Malgun Gothic"/>
                <a:cs typeface="Malgun Gothic"/>
              </a:rPr>
              <a:t> — 손상 반응이 검문지점으로 번역되는 과정을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M01-W12-L03 암의 세포생물학</a:t>
            </a:r>
            <a:r>
              <a:rPr sz="1600" b="0" i="0">
                <a:solidFill>
                  <a:srgbClr val="11202B"/>
                </a:solidFill>
                <a:latin typeface="Malgun Gothic"/>
                <a:ea typeface="Malgun Gothic"/>
                <a:cs typeface="Malgun Gothic"/>
              </a:rPr>
              <a:t> — 변이 신호, 합성 치사, 면역치료의 표지를 종양의 틀에서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M03-W06-L02 유전자 치료와 유전체 편집</a:t>
            </a:r>
            <a:r>
              <a:rPr sz="1600" b="0" i="0">
                <a:solidFill>
                  <a:srgbClr val="11202B"/>
                </a:solidFill>
                <a:latin typeface="Malgun Gothic"/>
                <a:ea typeface="Malgun Gothic"/>
                <a:cs typeface="Malgun Gothic"/>
              </a:rPr>
              <a:t> — 편집 결과가 어느 복구 경로로 결정되는지를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M03-W13-L03 대사를 표적으로 하는 항암 치료와 내성</a:t>
            </a:r>
            <a:r>
              <a:rPr sz="1600" b="0" i="0">
                <a:solidFill>
                  <a:srgbClr val="11202B"/>
                </a:solidFill>
                <a:latin typeface="Malgun Gothic"/>
                <a:ea typeface="Malgun Gothic"/>
                <a:cs typeface="Malgun Gothic"/>
              </a:rPr>
              <a:t> — 복구 표적 치료의 내성 관리를 다룬다.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29</a:t>
            </a:r>
          </a:p>
        </p:txBody>
      </p:sp>
      <p:sp>
        <p:nvSpPr>
          <p:cNvPr id="7" name="Rectangle 6"/>
          <p:cNvSpPr/>
          <p:nvPr/>
        </p:nvSpPr>
        <p:spPr>
          <a:xfrm>
            <a:off x="640080" y="132588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손상은 상시적이고, 복구 경로는 손상의 크기와 끊어짐의 유무로 갈린다. 같은 경로의 결손도 어느 하위 단계인지에 따라 암과 퇴행으로 나뉘며, 분열하는 조직에서는 변이가, 분열하지 않는 조직에서는 세포 죽음이 문제가 된다. 이중가닥 절단의 경로 선택은 53BP1과 BRCA1의 균형과 세포주기가 정하고, 그 선택이 편집 결과와 약물 감수성을 함께 정한다. 복구 결손은 종양의 약점이므로 합성 치사의 표적이 되지만, 치료를 정하는 것은 유전형이 아니라 기능 상태다.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복구 기구가 상시적으로 필요한 이유를 수치로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외부 요인이 없어도 세포 하나에서 하루 수만 건의 염기 손상이 자발적으로 일어난다고 추정된다. 손상은 예외적 사건이 아니라 상시적 조건이다.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복구 경로의 선택을 정하는 두 가지 기준은?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손상의 화학적 크기(염기 하나인지 나선을 뒤틀 만큼 큰지)와 가닥의 끊어짐 유무다.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MGMT 한 분자가 한 번만 일하는 이유와 그 임상적 결과는?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Methyl기를 자기 자신으로 옮긴 뒤 영구히 비활성화되기 때문이다. 그래서 세포가 가진 MGMT의 양이 temozolomide 내약성을 정하고, promoter가 메틸화된 종양에서 그 약의 효과가 크다.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Base-excision repair에서 glycosylase가 여러 종류인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인식의 특이성이 효소의 수로 구현된다. Uracil은 UNG, 8-oxoguanine은 OGG1처럼 손상마다 전담 효소가 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산화 손상에 대해 세포가 세 겹으로 대응한다는 말의 의미는?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Nucleotide 풀의 산화 산물을 미리 분해하고(들어오기 전), 생긴 8-oxoguanine을 OGG1이 떼어내고(직후), 복제 후 잘못 짝지어진 adenine 쪽을 MUTYH가 고친다(복제 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PARP1이 단일가닥 절단에서 하는 일을 순서로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절단을 감지해 자신과 주변 단백질에 ADP-ribose 사슬을 붙이고, 그 사슬이 XRCC1 등을 불러온다. 역할이 끝나면 사슬이 제거되고 DNA에서 떠난다.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색소성 건조증과 Cockayne 증후군이 같은 경로의 결손인데 임상 양상이 갈리는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전체 유전체 복구의 결손은 손상이 쌓여 변이가 되므로 암으로, 전사 결합 복구의 결손은 전사가 막혀 세포가 죽으므로 조직 퇴행으로 나타난다.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Mismatch repair가 반복 서열의 길이 변화도 고치는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복제 중 반복 구간에서 가닥이 미끄러지면 한쪽에 고리가 생기고, 이 경로가 그 고리를 인식해 처리한다. 그래서 결손 시 microsatellite instability가 나타난다.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MSI가 있는 대장암에서 유전성과 산발성을 구별하는 단서를 하나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산발성에서는 MLH1의 promoter 메틸화로 발현이 꺼진 경우가 많고 BRAF V600E가 함께 있는 경우가 흔하다.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면역조직화학에서 MLH1과 PMS2가 함께 사라진 것과 PMS2만 사라진 것의 해석 차이는?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MLH1이 없으면 짝인 PMS2도 불안정해져 함께 사라진다. PMS2만 사라졌다면 PMS2 자체의 변이를 가리킨다.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상동 재조합이 S기와 G2기에만 쓰일 수 있는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주형으로 쓸 자매 염색체가 복제 후에만 존재하기 때문이다. 또 필요한 인자가 CDK 인산화로 활성화되므로 CDK가 높은 시기에 유리하다.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53BP1과 BRCA1이 경로 선택에서 각각 어느 쪽으로 미는가?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53BP1은 말단이 깎이지 않게 막아 비상동 말단 연결 쪽으로, BRCA1은 그 보호를 걷어 깎임을 허용해 상동 재조합 쪽으로 민다.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미세상동 말단 연결이 치료 표적으로 주목받는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상동 재조합이 망가진 세포가 이 경로에 더 의존하므로, 중심 효소인 Pol θ를 막으면 합성 치사가 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가닥 간 교차결합이 다른 손상보다 처리하기 어려운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가닥이 서로 묶여 분리되지 않으므로 복제와 전사가 모두 막히고, 어느 가닥도 주형으로 쓸 수 없다.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Fanconi 빈혈이 진단되면 치료에서 무엇을 조정해야 하는가?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교차결합을 만드는 항암제와 방사선에 과민하므로 이식 전 처치의 용량을 크게 줄여야 한다. 표준 용량으로 치료하면 중대한 독성이 생긴다.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손상 건너뛰기 합성을 "복구가 아니다"라고 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손상은 그대로 남고 복제만 진행되기 때문이다. 결과적으로 변이가 생길 수 있고 손상 자체는 다른 경로가 처리해야 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γH2AX 표지가 절단 자리 주변으로 넓게 퍼지는 것이 어떤 이점을 주는가?</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하나의 절단이 큰 신호로 증폭되어 많은 복구 인자를 모을 수 있다. 또 그 표지를 영상으로 세어 손상의 양을 측정할 수 있다.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PARP 억제제의 작용을 "활성 억제"만으로 설명하면 부족한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억제제가 PARP1을 DNA에 붙잡아 두고, 붙잡힌 PARP1이 복제의 장애물이 되기 때문이다. 그래서 PARP1을 없앤 세포와 억제제를 쓴 세포의 표현형이 다르다.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"BRCA 변이가 있다"와 "상동 재조합이 망가졌다"가 같은 말이 아닌 이유 두 가지를 들라.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의미가 불확실한 변이가 있어 변이의 존재가 기능 상실을 뜻하지 않으며, 반대로 다른 유전자의 결손이나 메틸화로도 같은 결손이 생길 수 있다.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복구 결손 질환에서 면역 결핍이 자주 함께 나타나는 이유는?</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면역글로불린과 T세포 수용체의 재배열이 의도적인 이중가닥 절단을 만들고 그것을 복구해 완성되므로, 절단 복구가 망가지면 그 과정이 실패한다.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50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Lindahl T. Instability and decay of the primary structure of DNA. Nature 1993;362:709–715.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Sancar A, Lindsey-Boltz LA, Ünsal-Kaçmaz K, Linn S. Molecular mechanisms of mammalian DNA repair and the DNA damage checkpoints. Annu Rev Biochem 2004;73:39–85.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Hoeijmakers JHJ. DNA damage, aging, and cancer. N Engl J Med 2009;361:1475–1485.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Jackson SP, Bartek J. The DNA-damage response in human biology and disease. Nature 2009;461:1071–1078.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Hegi ME, Diserens AC, Gorlia T, et al. MGMT gene silencing and benefit from temozolomide in glioblastoma. N Engl J Med 2005;352:997–1003.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Fishel R, Lescoe MK, Rao MRS, et al. The human mutator gene homolog MSH2 and its association with hereditary nonpolyposis colon cancer. Cell 1993;75:1027–1038.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 DT, Uram JN, Wang H, et al. PD-1 blockade in tumors with mismatch-repair deficiency. N Engl J Med 2015;372:2509–2520.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Farmer H, McCabe N, Lord CJ, et al. Targeting the DNA repair defect in BRCA mutant cells as a therapeutic strategy. Nature 2005;434:917–921.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Bryant HE, Schultz N, Thomas HD, et al. Specific killing of BRCA2-deficient tumours with inhibitors of poly(ADP-ribose) polymerase. Nature 2005;434:913–917.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Bouwman P, Aly A, Escandell JM, et al. 53BP1 loss rescues BRCA1 deficiency and is associated with triple-negative and BRCA-mutated breast cancers. Nat Struct Mol Biol 2010;17:688–695.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51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Bunting SF, Callén E, Wong N, et al. 53BP1 inhibits homologous recombination in Brca1-deficient cells by blocking resection of DNA breaks. Cell 2010;141:243–254.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Kottemann MC, Smogorzewska A. Fanconi anaemia and the repair of Watson and Crick DNA crosslinks. Nature 2013;493:356–363.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Rogakou EP, Pilch DR, Orr AH, Ivanova VS, Bonner WM. DNA double-stranded breaks induce histone H2AX phosphorylation on serine 139. J Biol Chem 1998;273:5858–5868.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Murai J, Huang SN, Das BB, et al. Trapping of PARP1 and PARP2 by clinical PARP inhibitors. Cancer Res 2012;72:5588–5599.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Mateos-Gomez PA, Gong F, Nair N, Miller KM, Lazzerini-Denchi E, Sfeir A. Mammalian polymerase θ promotes alternative NHEJ and suppresses recombination. Nature 2015;518:254–257.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Masutani C, Kusumoto R, Yamada A, et al. The XPV (XP variant) gene encodes human DNA polymerase η. Nature 1999;399:700–704.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