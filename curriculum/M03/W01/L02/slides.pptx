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분기점의 구조와 구성 단백질. CMG helicase, RPA가 덮은 단일가닥, Pol α–primase, Pol ε의 leading 가닥 합성, PCNA에 붙은 Pol δ의 lagging 가닥 합성, Okazaki 조각, 그리고 앞쪽의 topoisomerase를 배치했다.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 복제의 기전과 효소</a:t>
            </a:r>
          </a:p>
          <a:p>
            <a:r>
              <a:rPr sz="1500" b="0" i="0">
                <a:solidFill>
                  <a:srgbClr val="B9D2E8"/>
                </a:solidFill>
                <a:latin typeface="Malgun Gothic"/>
                <a:ea typeface="Malgun Gothic"/>
                <a:cs typeface="Malgun Gothic"/>
              </a:rPr>
              <a:t>Mechanism and Enzymology of DNA Replication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M03-W01-L02  ·  1부</a:t>
            </a:r>
          </a:p>
          <a:p>
            <a:r>
              <a:rPr sz="1100" b="0" i="0">
                <a:solidFill>
                  <a:srgbClr val="F2B705"/>
                </a:solidFill>
                <a:latin typeface="Malgun Gothic"/>
                <a:ea typeface="Malgun Gothic"/>
                <a:cs typeface="Malgun Gothic"/>
              </a:rPr>
              <a:t>전체 14절 가운데 7절</a:t>
            </a:r>
          </a:p>
          <a:p>
            <a:r>
              <a:rPr sz="1100" b="0" i="0">
                <a:solidFill>
                  <a:srgbClr val="9FBEDA"/>
                </a:solidFill>
                <a:latin typeface="Malgun Gothic"/>
                <a:ea typeface="Malgun Gothic"/>
                <a:cs typeface="Malgun Gothic"/>
              </a:rPr>
              <a:t>1주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 polymerase가 공유하는 성질을 반응 화학으로 설명하고 그 성질이 복제 분기점의 구조를 어떻게 제약하는지 서술한다.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사람의 DNA polymerase를 부류별로 구분하고 각 효소가 맡는 일을 든다.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복제 개시의 licensing 기전을 CDK와 CDT1·CDC6·geminin의 작용으로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CMG helicase의 조립과 활성화 단계를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복제 정확도를 만드는 세 단계를 구분하고 각 단계가 오류율을 얼마나 낮추는지 수치로 제시한다.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Lagging 가닥의 처리 과정을 primer 제거와 결합까지 단계로 서술한다.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복제 스트레스를 정의하고 ATR 축이 분기점을 보호하는 방식을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복제 중 nucleosome의 해체와 재조립, 그리고 복제 시기의 조절을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미토콘드리아 DNA 복제가 핵 DNA와 다른 점을 든다.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복제를 표적으로 하는 약물을 기전별로 분류하고 그 선택성의 근거를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M03-W01-L01 DNA의 구조와 염색질 포장 — 방향성, 위상과 topoisomerase, nucleosome의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M01-W06-L03 DNA 복제·복구와 유전체 재배열 — 반보존적 복제, 복제 분기점의 개요, telomerase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M01-W12-L01 세포주기와 그 조절 — CDK의 작동, G1/S 전이와 검문지점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중합 반응의 화학과 그 결과</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사람의 DNA polymerase 부류</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복제 개시: 원점과 licensing</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분기점의 조립과 CMG</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정확도를 만드는 세 단계</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Lagging 가닥의 처리</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복제 스트레스와 분기점 보호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중합 반응의 화학과 그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복제를 이해하는 출발점은 효소 이름이 아니라 반응 화학이다. DNA polymerase는 자라는 사슬의 3′ hydroxyl기가 들어온 deoxynucleoside triphosphate의 α 인산을 공격하게 한다. 그 결과 phosphodiester 결합이 생기고 pyrophosphate가 떨어져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화학에서 세 가지 성질이 곧바로 따라 나온다. 첫째, </a:t>
            </a:r>
            <a:r>
              <a:rPr sz="1400" b="1" i="0">
                <a:solidFill>
                  <a:srgbClr val="11202B"/>
                </a:solidFill>
                <a:latin typeface="Malgun Gothic"/>
                <a:ea typeface="Malgun Gothic"/>
                <a:cs typeface="Malgun Gothic"/>
              </a:rPr>
              <a:t>합성은 5′→3′ 방향으로만 일어난다.</a:t>
            </a:r>
            <a:r>
              <a:rPr sz="1400" b="0" i="0">
                <a:solidFill>
                  <a:srgbClr val="11202B"/>
                </a:solidFill>
                <a:latin typeface="Malgun Gothic"/>
                <a:ea typeface="Malgun Gothic"/>
                <a:cs typeface="Malgun Gothic"/>
              </a:rPr>
              <a:t> 반응이 3′ hydroxyl기에서 일어나기 때문이다. 둘째, </a:t>
            </a:r>
            <a:r>
              <a:rPr sz="1400" b="1" i="0">
                <a:solidFill>
                  <a:srgbClr val="11202B"/>
                </a:solidFill>
                <a:latin typeface="Malgun Gothic"/>
                <a:ea typeface="Malgun Gothic"/>
                <a:cs typeface="Malgun Gothic"/>
              </a:rPr>
              <a:t>시작할 자유 3′ 말단이 있어야 한다.</a:t>
            </a:r>
            <a:r>
              <a:rPr sz="1400" b="0" i="0">
                <a:solidFill>
                  <a:srgbClr val="11202B"/>
                </a:solidFill>
                <a:latin typeface="Malgun Gothic"/>
                <a:ea typeface="Malgun Gothic"/>
                <a:cs typeface="Malgun Gothic"/>
              </a:rPr>
              <a:t> 즉 polymerase는 처음부터 사슬을 만들 수 없고 primer가 필요하다. 셋째, </a:t>
            </a:r>
            <a:r>
              <a:rPr sz="1400" b="1" i="0">
                <a:solidFill>
                  <a:srgbClr val="11202B"/>
                </a:solidFill>
                <a:latin typeface="Malgun Gothic"/>
                <a:ea typeface="Malgun Gothic"/>
                <a:cs typeface="Malgun Gothic"/>
              </a:rPr>
              <a:t>주형이 있어야 한다.</a:t>
            </a:r>
            <a:r>
              <a:rPr sz="1400" b="0" i="0">
                <a:solidFill>
                  <a:srgbClr val="11202B"/>
                </a:solidFill>
                <a:latin typeface="Malgun Gothic"/>
                <a:ea typeface="Malgun Gothic"/>
                <a:cs typeface="Malgun Gothic"/>
              </a:rPr>
              <a:t> 들어올 염기를 주형이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반응의 추진력은 두 단계로 나뉜다. 결합이 생기면서 pyrophosphate가 떨어지고, 그 pyrophosphate가 곧 두 분자의 인산으로 가수분해된다. 두 번째 단계가 반응을 되돌아가지 않게 만든다. M01-W09-L02에서 본 비가역 단계의 논리가 여기에도 적용되며, </a:t>
            </a:r>
            <a:r>
              <a:rPr sz="1400" b="1" i="0">
                <a:solidFill>
                  <a:srgbClr val="11202B"/>
                </a:solidFill>
                <a:latin typeface="Malgun Gothic"/>
                <a:ea typeface="Malgun Gothic"/>
                <a:cs typeface="Malgun Gothic"/>
              </a:rPr>
              <a:t>반응의 방향을 산물의 제거가 정한다</a:t>
            </a:r>
            <a:r>
              <a:rPr sz="1400" b="0" i="0">
                <a:solidFill>
                  <a:srgbClr val="11202B"/>
                </a:solidFill>
                <a:latin typeface="Malgun Gothic"/>
                <a:ea typeface="Malgun Gothic"/>
                <a:cs typeface="Malgun Gothic"/>
              </a:rPr>
              <a:t>는 원칙의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Primer가 필요하다는 점이 복제 전체의 구조를 정한다. 주형 가닥 두 개는 서로 반대 방향이므로, 분기점이 한 방향으로 진행하면 한 가닥은 분기점과 같은 방향으로 연속해 합성되고(leading) 다른 가닥은 반대 방향으로 짧게 끊어 합성해야 한다(lagging). M01-W06-L03에서 본 이 비대칭이 화학 하나에서 나온다는 점을 여기서 확인한다.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중합 반응의 화학과 그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중합 반응이 3′ hydroxyl기에서 일어난다는 사실 하나가 방향성, primer의 필요, 그리고 두 가닥의 비대칭을 모두 만든다.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중합 반응의 화학과 그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 속도도 함께 알아 둔다. 사람의 복제 분기점은 초당 약 1~2 킬로베이스를 진행하고, 세균은 그보다 열 배 이상 빠르다. 그런데 사람의 유전체는 세균보다 천 배에 가깝게 크다. 이 격차를 메우는 방법이 </a:t>
            </a:r>
            <a:r>
              <a:rPr sz="1400" b="1" i="0">
                <a:solidFill>
                  <a:srgbClr val="11202B"/>
                </a:solidFill>
                <a:latin typeface="Malgun Gothic"/>
                <a:ea typeface="Malgun Gothic"/>
                <a:cs typeface="Malgun Gothic"/>
              </a:rPr>
              <a:t>원점을 많이 두는 것</a:t>
            </a:r>
            <a:r>
              <a:rPr sz="1400" b="0" i="0">
                <a:solidFill>
                  <a:srgbClr val="11202B"/>
                </a:solidFill>
                <a:latin typeface="Malgun Gothic"/>
                <a:ea typeface="Malgun Gothic"/>
                <a:cs typeface="Malgun Gothic"/>
              </a:rPr>
              <a:t>이다. 수만 곳에서 동시에 시작하므로 느린 분기점으로도 몇 시간 안에 복제를 끝낼 수 있다. 분기점의 속도를 올리는 대신 시작점의 수를 늘렸다는 점이 진핵세포 복제의 설계 특징이다.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설계가 대가를 치른다. 원점이 많으면 </a:t>
            </a:r>
            <a:r>
              <a:rPr sz="1400" b="1" i="0">
                <a:solidFill>
                  <a:srgbClr val="11202B"/>
                </a:solidFill>
                <a:latin typeface="Malgun Gothic"/>
                <a:ea typeface="Malgun Gothic"/>
                <a:cs typeface="Malgun Gothic"/>
              </a:rPr>
              <a:t>중복 복제를 막는 일</a:t>
            </a:r>
            <a:r>
              <a:rPr sz="1400" b="0" i="0">
                <a:solidFill>
                  <a:srgbClr val="11202B"/>
                </a:solidFill>
                <a:latin typeface="Malgun Gothic"/>
                <a:ea typeface="Malgun Gothic"/>
                <a:cs typeface="Malgun Gothic"/>
              </a:rPr>
              <a:t>이 어려워지고, 분기점이 많으면 그만큼 멈출 기회도 많아진다. 뒤에서 볼 licensing과 ATR 축이 모두 이 대가를 관리하는 장치다. 구조를 설계의 선택과 그 대가로 보는 관점이 이 수업의 틀이다.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반응이 요구하는 재료도 확인해 둔다. 기질은 deoxynucleoside </a:t>
            </a:r>
            <a:r>
              <a:rPr sz="1400" b="1" i="0">
                <a:solidFill>
                  <a:srgbClr val="11202B"/>
                </a:solidFill>
                <a:latin typeface="Malgun Gothic"/>
                <a:ea typeface="Malgun Gothic"/>
                <a:cs typeface="Malgun Gothic"/>
              </a:rPr>
              <a:t>triphosphate</a:t>
            </a:r>
            <a:r>
              <a:rPr sz="1400" b="0" i="0">
                <a:solidFill>
                  <a:srgbClr val="11202B"/>
                </a:solidFill>
                <a:latin typeface="Malgun Gothic"/>
                <a:ea typeface="Malgun Gothic"/>
                <a:cs typeface="Malgun Gothic"/>
              </a:rPr>
              <a:t>이고, 단일인산이나 이인산은 쓰이지 않는다. 그래서 세포는 리보뉴클레오타이드를 환원해 deoxy 형태로 바꾸고, 다시 인산을 두 번 더 붙여 삼인산을 만든다. 이 공급 경로의 어느 단계를 막아도 복제가 멈추므로, nucleotide 대사가 항암제와 항바이러스제의 큰 표적군이 되었다. M02의 nucleotide 대사 수업이 이 수업의 재료 쪽 전제다.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사람의 DNA polymerase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사람은 열다섯 종류가 넘는 DNA polymerase를 갖는다. 모두 같은 화학을 쓰지만 정확도, 진행 능력, 그리고 맡는 일이 다르다. 주요 효소를 역할로 묶는다.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사람의 DNA polymerase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Pol 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Primer 합성과 초기 연장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RNA primer를 만드는 primase와 한 복합체를 이룬다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Pol 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Lagging 가닥의 합성, 복구의 빈자리 채우기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교정 활성을 가진다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Pol 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Leading 가닥의 합성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교정 활성을 가지며 CMG와 함께 움직인다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Pol γ</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미토콘드리아 DNA의 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 효소와 독립적이다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Pol β</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Base-excision repair의 빈자리 채우기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교정 활성이 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Pol η, ι, κ, ζ</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손상을 건너뛰는 합성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정확도가 낮다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Pol 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Microhomology를 쓰는 말단 연결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삽입·결실을 남긴다</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사람의 DNA polymerase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표에서 읽을 원칙이 두 가지다. 첫째, </a:t>
            </a:r>
            <a:r>
              <a:rPr sz="1400" b="1" i="0">
                <a:solidFill>
                  <a:srgbClr val="11202B"/>
                </a:solidFill>
                <a:latin typeface="Malgun Gothic"/>
                <a:ea typeface="Malgun Gothic"/>
                <a:cs typeface="Malgun Gothic"/>
              </a:rPr>
              <a:t>정확도와 유연성은 서로 바꾸는 관계다.</a:t>
            </a:r>
            <a:r>
              <a:rPr sz="1400" b="0" i="0">
                <a:solidFill>
                  <a:srgbClr val="11202B"/>
                </a:solidFill>
                <a:latin typeface="Malgun Gothic"/>
                <a:ea typeface="Malgun Gothic"/>
                <a:cs typeface="Malgun Gothic"/>
              </a:rPr>
              <a:t> 복제를 담당하는 Pol δ와 ε는 정확도가 높지만 손상 앞에서 멈추고, 손상을 건너뛰는 polymerase는 진행하지만 오류를 남긴다. 둘째, </a:t>
            </a:r>
            <a:r>
              <a:rPr sz="1400" b="1" i="0">
                <a:solidFill>
                  <a:srgbClr val="11202B"/>
                </a:solidFill>
                <a:latin typeface="Malgun Gothic"/>
                <a:ea typeface="Malgun Gothic"/>
                <a:cs typeface="Malgun Gothic"/>
              </a:rPr>
              <a:t>역할에 따라 교정 활성의 유무가 갈린다.</a:t>
            </a:r>
            <a:r>
              <a:rPr sz="1400" b="0" i="0">
                <a:solidFill>
                  <a:srgbClr val="11202B"/>
                </a:solidFill>
                <a:latin typeface="Malgun Gothic"/>
                <a:ea typeface="Malgun Gothic"/>
                <a:cs typeface="Malgun Gothic"/>
              </a:rPr>
              <a:t> 유전체 전체를 복제하는 효소에는 교정이 있고, 짧은 빈자리를 채우는 효소에는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구분이 질환과 이어진다. Pol ε와 Pol δ의 교정 부위에 변이가 생긴 종양은 변이가 극단적으로 많은 유전체를 갖는다. 이런 종양을 ultramutated라 부르며, 변이가 많아 신생항원도 많으므로 면역관문 억제제의 효과가 크다는 관찰로 이어졌다. M01-W12-L03에서 본 변이 부담과 면역치료의 관계가 여기서 효소 수준으로 설명된다.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부류를 나누는 또 하나의 축이 구조다. 서열 유사성으로 묶으면 A, B, X, Y 등의 family로 나뉘고, 복제를 담당하는 Pol δ·ε는 B family, 손상을 건너뛰는 Pol η·ι·κ는 Y family에 속한다. Y family 효소의 활성 부위는 넓고 느슨해서 휘어진 염기나 손상된 염기도 받아들인다. </a:t>
            </a:r>
            <a:r>
              <a:rPr sz="1400" b="1" i="0">
                <a:solidFill>
                  <a:srgbClr val="11202B"/>
                </a:solidFill>
                <a:latin typeface="Malgun Gothic"/>
                <a:ea typeface="Malgun Gothic"/>
                <a:cs typeface="Malgun Gothic"/>
              </a:rPr>
              <a:t>정확도가 낮은 것이 결함이 아니라 설계</a:t>
            </a:r>
            <a:r>
              <a:rPr sz="1400" b="0" i="0">
                <a:solidFill>
                  <a:srgbClr val="11202B"/>
                </a:solidFill>
                <a:latin typeface="Malgun Gothic"/>
                <a:ea typeface="Malgun Gothic"/>
                <a:cs typeface="Malgun Gothic"/>
              </a:rPr>
              <a:t>라는 점이 이 구조에서 드러난다. 넓은 활성 부위가 없으면 손상을 지나갈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그래서 이 효소들의 사용은 엄격히 제한된다. 평소에는 복제에 참여하지 않고, 분기점이 손상 앞에서 멈출 때만 불려 온다. 불러오는 신호가 PCNA의 수식이다. 멈춘 분기점에서 PCNA에 ubiquitin이 붙으면 그 표지를 읽는 Y family 효소가 와서 손상 자리를 지나간 뒤 다시 교체된다. </a:t>
            </a:r>
            <a:r>
              <a:rPr sz="1400" b="1" i="0">
                <a:solidFill>
                  <a:srgbClr val="11202B"/>
                </a:solidFill>
                <a:latin typeface="Malgun Gothic"/>
                <a:ea typeface="Malgun Gothic"/>
                <a:cs typeface="Malgun Gothic"/>
              </a:rPr>
              <a:t>쓸 자리에서만 쓰이게 하는 장치</a:t>
            </a:r>
            <a:r>
              <a:rPr sz="1400" b="0" i="0">
                <a:solidFill>
                  <a:srgbClr val="11202B"/>
                </a:solidFill>
                <a:latin typeface="Malgun Gothic"/>
                <a:ea typeface="Malgun Gothic"/>
                <a:cs typeface="Malgun Gothic"/>
              </a:rPr>
              <a:t>가 있어야 변이율이 올라가지 않는다. 이 전환이 어긋나면 변이가 늘고, 종양에서 Y family 효소의 발현이 올라간 사례가 보고되었다.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개시: 원점과 licensing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세균에는 원점이 하나이고 서열이 정해져 있다. 사람은 다르다. 원점이 수만 곳이고, </a:t>
            </a:r>
            <a:r>
              <a:rPr sz="1800" b="1" i="0">
                <a:solidFill>
                  <a:srgbClr val="11202B"/>
                </a:solidFill>
                <a:latin typeface="Malgun Gothic"/>
                <a:ea typeface="Malgun Gothic"/>
                <a:cs typeface="Malgun Gothic"/>
              </a:rPr>
              <a:t>정해진 공통 서열이 없다.</a:t>
            </a:r>
            <a:r>
              <a:rPr sz="1800" b="0" i="0">
                <a:solidFill>
                  <a:srgbClr val="11202B"/>
                </a:solidFill>
                <a:latin typeface="Malgun Gothic"/>
                <a:ea typeface="Malgun Gothic"/>
                <a:cs typeface="Malgun Gothic"/>
              </a:rPr>
              <a:t> 어디서 시작할지는 chromatin의 상태, 전사의 활동, 그리고 복제 시기에 따라 달라진다. 그래서 같은 세포 집단에서도 세포마다 쓰는 원점이 조금씩 다르다.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원점이 많다는 것은 큰 문제를 만든다. 한 세포주기에 각 구간이 </a:t>
            </a:r>
            <a:r>
              <a:rPr sz="1800" b="1" i="0">
                <a:solidFill>
                  <a:srgbClr val="11202B"/>
                </a:solidFill>
                <a:latin typeface="Malgun Gothic"/>
                <a:ea typeface="Malgun Gothic"/>
                <a:cs typeface="Malgun Gothic"/>
              </a:rPr>
              <a:t>정확히 한 번만</a:t>
            </a:r>
            <a:r>
              <a:rPr sz="1800" b="0" i="0">
                <a:solidFill>
                  <a:srgbClr val="11202B"/>
                </a:solidFill>
                <a:latin typeface="Malgun Gothic"/>
                <a:ea typeface="Malgun Gothic"/>
                <a:cs typeface="Malgun Gothic"/>
              </a:rPr>
              <a:t> 복제되어야 한다. 두 번 복제되면 복제수가 늘고, 한 번도 안 되면 그 구간이 사라진다. 이 문제를 푸는 장치가 </a:t>
            </a:r>
            <a:r>
              <a:rPr sz="1800" b="1" i="0">
                <a:solidFill>
                  <a:srgbClr val="11202B"/>
                </a:solidFill>
                <a:latin typeface="Malgun Gothic"/>
                <a:ea typeface="Malgun Gothic"/>
                <a:cs typeface="Malgun Gothic"/>
              </a:rPr>
              <a:t>licensing</a:t>
            </a:r>
            <a:r>
              <a:rPr sz="1800" b="0" i="0">
                <a:solidFill>
                  <a:srgbClr val="11202B"/>
                </a:solidFill>
                <a:latin typeface="Malgun Gothic"/>
                <a:ea typeface="Malgun Gothic"/>
                <a:cs typeface="Malgun Gothic"/>
              </a:rPr>
              <a:t>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licensing은 두 시점을 분리한다. G1기에 원점에 MCM2–7 복합체가 얹히고(허가를 받고), S기에 그 가운데 일부가 활성화된다(발사된다). 핵심은 </a:t>
            </a:r>
            <a:r>
              <a:rPr sz="1800" b="1" i="0">
                <a:solidFill>
                  <a:srgbClr val="11202B"/>
                </a:solidFill>
                <a:latin typeface="Malgun Gothic"/>
                <a:ea typeface="Malgun Gothic"/>
                <a:cs typeface="Malgun Gothic"/>
              </a:rPr>
              <a:t>S기에 들어선 뒤에는 새로 얹을 수 없다</a:t>
            </a:r>
            <a:r>
              <a:rPr sz="1800" b="0" i="0">
                <a:solidFill>
                  <a:srgbClr val="11202B"/>
                </a:solidFill>
                <a:latin typeface="Malgun Gothic"/>
                <a:ea typeface="Malgun Gothic"/>
                <a:cs typeface="Malgun Gothic"/>
              </a:rPr>
              <a:t>는 점이다. 그 금지를 만드는 장치가 여러 겹이다.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개시: 원점과 licensing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장치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방식</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CDK의 상승</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CDT1과 CDC6을 인산화해 분해 또는 핵 밖으로 내보낸다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Geminin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CDT1에 결합해 기능을 막는다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CDT1의 분해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복제가 시작되면 ubiquitin 표지로 분해된다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CDC6의 이동</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인산화되어 핵 밖으로 나간다</a:t>
                      </a:r>
                    </a:p>
                  </a:txBody>
                  <a:tcPr marL="73152" marR="73152" marT="27432" marB="27432">
                    <a:solidFill>
                      <a:srgbClr val="EFF4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개시: 원점과 licensing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시험에서 묻는 지점은 </a:t>
            </a:r>
            <a:r>
              <a:rPr sz="1600" b="1" i="0">
                <a:solidFill>
                  <a:srgbClr val="11202B"/>
                </a:solidFill>
                <a:latin typeface="Malgun Gothic"/>
                <a:ea typeface="Malgun Gothic"/>
                <a:cs typeface="Malgun Gothic"/>
              </a:rPr>
              <a:t>"한 번만"을 무엇이 보장하는가</a:t>
            </a:r>
            <a:r>
              <a:rPr sz="1600" b="0" i="0">
                <a:solidFill>
                  <a:srgbClr val="11202B"/>
                </a:solidFill>
                <a:latin typeface="Malgun Gothic"/>
                <a:ea typeface="Malgun Gothic"/>
                <a:cs typeface="Malgun Gothic"/>
              </a:rPr>
              <a:t>다. (1) 얹는 시점과 쏘는 시점이 </a:t>
            </a:r>
            <a:r>
              <a:rPr sz="1600" b="1" i="0">
                <a:solidFill>
                  <a:srgbClr val="11202B"/>
                </a:solidFill>
                <a:latin typeface="Malgun Gothic"/>
                <a:ea typeface="Malgun Gothic"/>
                <a:cs typeface="Malgun Gothic"/>
              </a:rPr>
              <a:t>CDK 활성의 낮음과 높음으로 분리</a:t>
            </a:r>
            <a:r>
              <a:rPr sz="1600" b="0" i="0">
                <a:solidFill>
                  <a:srgbClr val="11202B"/>
                </a:solidFill>
                <a:latin typeface="Malgun Gothic"/>
                <a:ea typeface="Malgun Gothic"/>
                <a:cs typeface="Malgun Gothic"/>
              </a:rPr>
              <a:t>되어 있다는 점이 핵심이다. 그래서 CDK가 낮은 G1에서만 얹을 수 있다. (2) Geminin을 없애거나 CDT1을 과발현시키면 같은 구간이 다시 복제되어 복제수가 늘고 유전체가 불안정해진다. 이 현상을 re-replication이라 한다. (3) 쓰지 않고 남겨 둔 원점이 </a:t>
            </a:r>
            <a:r>
              <a:rPr sz="1600" b="1" i="0">
                <a:solidFill>
                  <a:srgbClr val="11202B"/>
                </a:solidFill>
                <a:latin typeface="Malgun Gothic"/>
                <a:ea typeface="Malgun Gothic"/>
                <a:cs typeface="Malgun Gothic"/>
              </a:rPr>
              <a:t>예비(dormant) 원점</a:t>
            </a:r>
            <a:r>
              <a:rPr sz="1600" b="0" i="0">
                <a:solidFill>
                  <a:srgbClr val="11202B"/>
                </a:solidFill>
                <a:latin typeface="Malgun Gothic"/>
                <a:ea typeface="Malgun Gothic"/>
                <a:cs typeface="Malgun Gothic"/>
              </a:rPr>
              <a:t>으로 기능한다. 분기점이 멈추면 그 예비 원점이 발사되어 복제를 마칠 수 있다. 그래서 MCM의 양이 줄어든 세포는 평소에는 정상이지만 복제 스트레스에 약하다. 요점은 licensing이 </a:t>
            </a:r>
            <a:r>
              <a:rPr sz="1600" b="1" i="0">
                <a:solidFill>
                  <a:srgbClr val="11202B"/>
                </a:solidFill>
                <a:latin typeface="Malgun Gothic"/>
                <a:ea typeface="Malgun Gothic"/>
                <a:cs typeface="Malgun Gothic"/>
              </a:rPr>
              <a:t>중복을 막는 장치이면서 동시에 여유를 남기는 장치</a:t>
            </a:r>
            <a:r>
              <a:rPr sz="1600" b="0" i="0">
                <a:solidFill>
                  <a:srgbClr val="11202B"/>
                </a:solidFill>
                <a:latin typeface="Malgun Gothic"/>
                <a:ea typeface="Malgun Gothic"/>
                <a:cs typeface="Malgun Gothic"/>
              </a:rPr>
              <a:t>라는 것이다.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개시: 원점과 licensing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원점을 정하는 요인도 정리해 둔다. 서열이 아니라면 무엇이 정하는가. 네 가지가 거론된다. 첫째, nucleosome이 비어 있어 ORC가 접근할 수 있는 자리다. 둘째, 음성 초나선과 휘어진 구조처럼 ORC가 선호하는 국소 성질이다. 셋째, 활성 전사 구간 근처라는 위치다. 넷째, 복제 시기를 정하는 상위 구조다.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결과 원점 사용은 확률적이다. 한 구간에 여러 후보 자리가 있고 세포마다 그중 일부만 쓰인다. 그래서 집단을 측정한 원점 지도는 </a:t>
            </a:r>
            <a:r>
              <a:rPr sz="1400" b="1" i="0">
                <a:solidFill>
                  <a:srgbClr val="11202B"/>
                </a:solidFill>
                <a:latin typeface="Malgun Gothic"/>
                <a:ea typeface="Malgun Gothic"/>
                <a:cs typeface="Malgun Gothic"/>
              </a:rPr>
              <a:t>각 자리의 사용 빈도</a:t>
            </a:r>
            <a:r>
              <a:rPr sz="1400" b="0" i="0">
                <a:solidFill>
                  <a:srgbClr val="11202B"/>
                </a:solidFill>
                <a:latin typeface="Malgun Gothic"/>
                <a:ea typeface="Malgun Gothic"/>
                <a:cs typeface="Malgun Gothic"/>
              </a:rPr>
              <a:t>를 보여 주며, 특정 세포가 어디서 시작했는지는 알려 주지 않는다. 이 성질은 M03-W01-L01에서 본 접촉 지도의 해석 문제와 같은 종류다. </a:t>
            </a:r>
            <a:r>
              <a:rPr sz="1400" b="1" i="0">
                <a:solidFill>
                  <a:srgbClr val="11202B"/>
                </a:solidFill>
                <a:latin typeface="Malgun Gothic"/>
                <a:ea typeface="Malgun Gothic"/>
                <a:cs typeface="Malgun Gothic"/>
              </a:rPr>
              <a:t>집단 평균을 개별 세포의 사건으로 읽지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Licensing이 조직에 따라 다르게 작동한다는 점도 알아 둔다. 간세포와 심근세포처럼 일부 세포는 복제를 끝내고 분열하지 않아 염색체가 네 벌이 되는 경우가 있다. 이를 다배수화라 하고, licensing과 분열의 짝이 어긋나 생긴다. 생리적 현상이므로 병으로 보지 않지만, 같은 어긋남이 조절을 벗어나면 유전체 불안정성으로 이어진다.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거꾸로 복제 없이 분열하면 염색체 수가 줄거나 분열이 실패한다. 그래서 세포는 </a:t>
            </a:r>
            <a:r>
              <a:rPr sz="1400" b="1" i="0">
                <a:solidFill>
                  <a:srgbClr val="11202B"/>
                </a:solidFill>
                <a:latin typeface="Malgun Gothic"/>
                <a:ea typeface="Malgun Gothic"/>
                <a:cs typeface="Malgun Gothic"/>
              </a:rPr>
              <a:t>복제와 분열을 한 번씩 번갈아 하도록</a:t>
            </a:r>
            <a:r>
              <a:rPr sz="1400" b="0" i="0">
                <a:solidFill>
                  <a:srgbClr val="11202B"/>
                </a:solidFill>
                <a:latin typeface="Malgun Gothic"/>
                <a:ea typeface="Malgun Gothic"/>
                <a:cs typeface="Malgun Gothic"/>
              </a:rPr>
              <a:t> 묶어 두며, CDK 활성의 주기적 상승과 하강이 그 묶음의 축이다. M01-W12-L01에서 본 주기 조절이 복제 쪽에서 왜 필요한지가 이 자리에서 분명해진다.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분기점의 조립과 CMG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원점에 얹힌 MCM2–7은 그 자체로는 움직이지 않는다. 두 단계를 더 거쳐야 helicase가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얹기</a:t>
            </a:r>
            <a:r>
              <a:rPr sz="1400" b="0" i="0">
                <a:solidFill>
                  <a:srgbClr val="11202B"/>
                </a:solidFill>
                <a:latin typeface="Malgun Gothic"/>
                <a:ea typeface="Malgun Gothic"/>
                <a:cs typeface="Malgun Gothic"/>
              </a:rPr>
              <a:t>: ORC가 원점을 알아보고 CDC6와 CDT1의 도움으로 MCM2–7 두 벌을 머리를 맞댄 형태로 DNA에 끼운다. 이 상태를 pre-replicative complex라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활성화</a:t>
            </a:r>
            <a:r>
              <a:rPr sz="1400" b="0" i="0">
                <a:solidFill>
                  <a:srgbClr val="11202B"/>
                </a:solidFill>
                <a:latin typeface="Malgun Gothic"/>
                <a:ea typeface="Malgun Gothic"/>
                <a:cs typeface="Malgun Gothic"/>
              </a:rPr>
              <a:t>: S기의 CDK와 또 다른 kinase인 DDK가 관여해 CDC45와 GINS가 MCM에 붙는다. 이 셋을 합쳐 </a:t>
            </a:r>
            <a:r>
              <a:rPr sz="1400" b="1" i="0">
                <a:solidFill>
                  <a:srgbClr val="11202B"/>
                </a:solidFill>
                <a:latin typeface="Malgun Gothic"/>
                <a:ea typeface="Malgun Gothic"/>
                <a:cs typeface="Malgun Gothic"/>
              </a:rPr>
              <a:t>CMG(CDC45–MCM–GINS)</a:t>
            </a:r>
            <a:r>
              <a:rPr sz="1400" b="0" i="0">
                <a:solidFill>
                  <a:srgbClr val="11202B"/>
                </a:solidFill>
                <a:latin typeface="Malgun Gothic"/>
                <a:ea typeface="Malgun Gothic"/>
                <a:cs typeface="Malgun Gothic"/>
              </a:rPr>
              <a:t>라 하고, 이때 비로소 가닥을 푸는 활성이 생긴다.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분리와 진행</a:t>
            </a:r>
            <a:r>
              <a:rPr sz="1400" b="0" i="0">
                <a:solidFill>
                  <a:srgbClr val="11202B"/>
                </a:solidFill>
                <a:latin typeface="Malgun Gothic"/>
                <a:ea typeface="Malgun Gothic"/>
                <a:cs typeface="Malgun Gothic"/>
              </a:rPr>
              <a:t>: 머리를 맞댄 두 벌이 서로 반대 방향으로 떠나며 두 개의 분기점이 만들어진다. 즉 하나의 원점에서 양방향 복제가 시작된다.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분기점에는 역할이 다른 단백질이 모인다. 가닥을 푸는 CMG, 풀린 단일가닥을 덮어 보호하는 RPA, primer를 만드는 Pol α–primase, 그리고 두 가닥을 합성하는 Pol ε와 Pol δ다. 여기에 polymerase를 DNA에 붙잡아 두는 고리 모양 단백질 </a:t>
            </a:r>
            <a:r>
              <a:rPr sz="1400" b="1" i="0">
                <a:solidFill>
                  <a:srgbClr val="11202B"/>
                </a:solidFill>
                <a:latin typeface="Malgun Gothic"/>
                <a:ea typeface="Malgun Gothic"/>
                <a:cs typeface="Malgun Gothic"/>
              </a:rPr>
              <a:t>PCNA</a:t>
            </a:r>
            <a:r>
              <a:rPr sz="1400" b="0" i="0">
                <a:solidFill>
                  <a:srgbClr val="11202B"/>
                </a:solidFill>
                <a:latin typeface="Malgun Gothic"/>
                <a:ea typeface="Malgun Gothic"/>
                <a:cs typeface="Malgun Gothic"/>
              </a:rPr>
              <a:t>와 그 고리를 열어 끼워 주는 clamp loader(RFC)가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PCNA의 역할을 정확히 이해해야 한다. Polymerase 혼자서는 DNA에서 쉽게 떨어지므로 한 번에 짧은 구간만 합성한다. PCNA가 DNA를 둘러싸고 polymerase를 붙잡으면 </a:t>
            </a:r>
            <a:r>
              <a:rPr sz="1400" b="1" i="0">
                <a:solidFill>
                  <a:srgbClr val="11202B"/>
                </a:solidFill>
                <a:latin typeface="Malgun Gothic"/>
                <a:ea typeface="Malgun Gothic"/>
                <a:cs typeface="Malgun Gothic"/>
              </a:rPr>
              <a:t>한 번 붙어서 수천 염기를 연속해 합성한다.</a:t>
            </a:r>
            <a:r>
              <a:rPr sz="1400" b="0" i="0">
                <a:solidFill>
                  <a:srgbClr val="11202B"/>
                </a:solidFill>
                <a:latin typeface="Malgun Gothic"/>
                <a:ea typeface="Malgun Gothic"/>
                <a:cs typeface="Malgun Gothic"/>
              </a:rPr>
              <a:t> 이 성질을 processivity라 하며, PCNA는 그 밖에도 복구와 수식 효소를 불러오는 적재 플랫폼으로 작동한다.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분기점의 조립과 CMG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16</a:t>
            </a:r>
          </a:p>
        </p:txBody>
      </p:sp>
      <p:pic>
        <p:nvPicPr>
          <p:cNvPr id="7" name="Picture 6" descr="fig-replication-fork.slide.png"/>
          <p:cNvPicPr>
            <a:picLocks noChangeAspect="1"/>
          </p:cNvPicPr>
          <p:nvPr/>
        </p:nvPicPr>
        <p:blipFill>
          <a:blip r:embed="rId2"/>
          <a:stretch>
            <a:fillRect/>
          </a:stretch>
        </p:blipFill>
        <p:spPr>
          <a:xfrm>
            <a:off x="2294941" y="1325880"/>
            <a:ext cx="76018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 분기점의 구조와 구성 단백질. CMG helicase, RPA가 덮은 단일가닥, Pol α–primase, Pol ε의 leading 가닥 합성, PCNA에 붙은 Pol δ의 lagging 가닥 합성, Okazaki 조각, 그리고 앞쪽의 topoisomerase를 배치했다.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분기점의 조립과 CMG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Leading 가닥과 lagging 가닥에 서로 다른 polymerase가 쓰인다는 점도 짚어 둔다. Pol ε가 leading, Pol δ가 lagging을 주로 맡는다는 모형이 여러 실험으로 뒷받침되었다. 근거 가운데 설득력이 큰 것은 각 효소의 오류 흔적을 추적한 실험이다. 교정 활성을 일부러 망가뜨린 효소를 쓰면 그 효소가 만든 가닥에 특정 오류가 남고, 그 오류가 유전체에서 어느 가닥에 치우쳐 나타나는지를 읽어 담당 가닥을 추정한다.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분업이 임상과 이어진다. Pol ε의 교정 결손과 Pol δ의 교정 결손은 변이의 양상이 조금 다르고, 변이 신호(mutational signature)에서 구별된다. M01-W06-L03에서 본 신호 분석이 </a:t>
            </a:r>
            <a:r>
              <a:rPr sz="1400" b="1" i="0">
                <a:solidFill>
                  <a:srgbClr val="11202B"/>
                </a:solidFill>
                <a:latin typeface="Malgun Gothic"/>
                <a:ea typeface="Malgun Gothic"/>
                <a:cs typeface="Malgun Gothic"/>
              </a:rPr>
              <a:t>어느 효소의 어느 활성이 망가졌는지까지 역추적할 수 있다</a:t>
            </a:r>
            <a:r>
              <a:rPr sz="1400" b="0" i="0">
                <a:solidFill>
                  <a:srgbClr val="11202B"/>
                </a:solidFill>
                <a:latin typeface="Malgun Gothic"/>
                <a:ea typeface="Malgun Gothic"/>
                <a:cs typeface="Malgun Gothic"/>
              </a:rPr>
              <a:t>는 예다. 종양 유전체에서 이런 신호가 발견되면 생식계열 변이를 확인할 근거가 되고, 가족 검사로 이어진다.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분기점이 혼자 달리지 않는다는 점도 중요하다. 복제에 관여하는 단백질은 수십 종이고, 그 상당수가 CMG와 함께 움직이는 큰 덩어리를 이룬다. 이를 replisome이라 한다. 이 덩어리 안에서 가닥을 푸는 일, primer를 만드는 일, 두 가닥을 합성하는 일이 서로 맞물려 조절된다.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맞물림의 예가 두 가지다. 첫째, lagging 가닥의 합성이 늦어지면 helicase의 진행도 늦어진다. 둘째, leading 가닥의 polymerase가 손상 앞에서 멈추면 helicase는 조금 더 나아가 단일가닥을 노출시키고, 그 노출이 ATR을 켜는 신호가 된다. 즉 </a:t>
            </a:r>
            <a:r>
              <a:rPr sz="1400" b="1" i="0">
                <a:solidFill>
                  <a:srgbClr val="11202B"/>
                </a:solidFill>
                <a:latin typeface="Malgun Gothic"/>
                <a:ea typeface="Malgun Gothic"/>
                <a:cs typeface="Malgun Gothic"/>
              </a:rPr>
              <a:t>구성 요소의 속도 차이 자체가 신호가 된다.</a:t>
            </a:r>
            <a:r>
              <a:rPr sz="1400" b="0" i="0">
                <a:solidFill>
                  <a:srgbClr val="11202B"/>
                </a:solidFill>
                <a:latin typeface="Malgun Gothic"/>
                <a:ea typeface="Malgun Gothic"/>
                <a:cs typeface="Malgun Gothic"/>
              </a:rPr>
              <a:t> 이 설계 덕분에 세포는 문제를 따로 감시하는 장치 없이도 분기점의 이상을 감지한다.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정확도를 만드는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사람의 복제는 염기 109~1010개당 오류 하나 수준이다. 어떤 효소도 혼자 이 정확도를 내지 못한다. 세 단계가 곱해져서 나온 값이다.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정확도를 만드는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하는 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오류율의 변화</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염기 선택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주형과 짝이 맞는 nucleotide만 반응 자리에 자리잡게 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10-5 수준까지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3′→5′ 교정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잘못 붙인 염기를 효소가 되돌아가 떼어낸다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100배 더 낮춘다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Mismatch repair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후 남은 짝 어긋남을 찾아 고친다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다시 100~1,000배 낮춘다</a:t>
                      </a:r>
                    </a:p>
                  </a:txBody>
                  <a:tcPr marL="73152" marR="73152" marT="27432" marB="2743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정확도를 만드는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첫 단계의 기전은 구조에 있다. 짝이 맞는 nucleotide가 들어오면 효소의 손가락 부분이 닫혀 반응 자리가 완성된다. 짝이 맞지 않으면 그 닫힘이 일어나지 않아 반응 속도가 크게 떨어진다. 즉 선택은 결합 세기만이 아니라 </a:t>
            </a:r>
            <a:r>
              <a:rPr sz="1600" b="1" i="0">
                <a:solidFill>
                  <a:srgbClr val="11202B"/>
                </a:solidFill>
                <a:latin typeface="Malgun Gothic"/>
                <a:ea typeface="Malgun Gothic"/>
                <a:cs typeface="Malgun Gothic"/>
              </a:rPr>
              <a:t>반응의 속도 차이</a:t>
            </a:r>
            <a:r>
              <a:rPr sz="1600" b="0" i="0">
                <a:solidFill>
                  <a:srgbClr val="11202B"/>
                </a:solidFill>
                <a:latin typeface="Malgun Gothic"/>
                <a:ea typeface="Malgun Gothic"/>
                <a:cs typeface="Malgun Gothic"/>
              </a:rPr>
              <a:t>로 이루어진다.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번째 단계는 같은 효소 안의 다른 활성 부위에서 일어난다. 잘못 붙은 염기는 짝이 맞지 않아 3′ 말단이 흔들리고, 그 흔들리는 말단이 교정 부위로 옮겨가 제거된다. 이 기전이 작동하려면 </a:t>
            </a:r>
            <a:r>
              <a:rPr sz="1600" b="1" i="0">
                <a:solidFill>
                  <a:srgbClr val="11202B"/>
                </a:solidFill>
                <a:latin typeface="Malgun Gothic"/>
                <a:ea typeface="Malgun Gothic"/>
                <a:cs typeface="Malgun Gothic"/>
              </a:rPr>
              <a:t>합성이 잠시 멈춰야</a:t>
            </a:r>
            <a:r>
              <a:rPr sz="1600" b="0" i="0">
                <a:solidFill>
                  <a:srgbClr val="11202B"/>
                </a:solidFill>
                <a:latin typeface="Malgun Gothic"/>
                <a:ea typeface="Malgun Gothic"/>
                <a:cs typeface="Malgun Gothic"/>
              </a:rPr>
              <a:t> 하므로, 정확도와 속도가 서로 바꾸는 관계에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 번째 단계는 복제가 끝난 뒤의 일이고, 어느 가닥이 새 가닥인지 알아야 고칠 수 있다. 사람 세포에서는 PCNA의 방향과 lagging 가닥의 틈이 그 단서가 된다고 설명한다. M03-W01-L03에서 이 경로를 자세히 보고, 그 결손이 Lynch 증후군으로 이어지는 과정을 다룬다.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정확도를 만드는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복제의 정확도는 한 효소의 성질이 아니라 선택·교정·복구 세 단계의 곱이다. 각 단계의 결손이 서로 다른 변이 양상과 질환으로 나타난다.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정확도를 만드는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Nucleotide 공급도 정확도의 요인이다. 네 종류의 deoxynucleoside triphosphate가 균형을 이루어야 염기 선택이 제대로 작동한다. 한 종류가 과하게 많으면 그 염기가 잘못 끼어들 확률이 올라간다. 리보뉴클레오타이드 환원효소는 네 가지 공급의 균형을 맞추도록 여러 겹으로 조절되며, 그 조절이 깨지면 변이율이 올라간다는 실험 결과가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사실이 약물과 이어진다. Hydroxyurea는 리보뉴클레오타이드 환원효소를 억제해 공급 자체를 줄이고, 그 결과 분기점이 늦어진다. Thiopurine과 일부 유사체는 특정 nucleotide의 농도를 바꾸어 균형을 흔든다. </a:t>
            </a:r>
            <a:r>
              <a:rPr sz="1400" b="1" i="0">
                <a:solidFill>
                  <a:srgbClr val="11202B"/>
                </a:solidFill>
                <a:latin typeface="Malgun Gothic"/>
                <a:ea typeface="Malgun Gothic"/>
                <a:cs typeface="Malgun Gothic"/>
              </a:rPr>
              <a:t>재료의 양과 균형이 모두 복제의 변수</a:t>
            </a:r>
            <a:r>
              <a:rPr sz="1400" b="0" i="0">
                <a:solidFill>
                  <a:srgbClr val="11202B"/>
                </a:solidFill>
                <a:latin typeface="Malgun Gothic"/>
                <a:ea typeface="Malgun Gothic"/>
                <a:cs typeface="Malgun Gothic"/>
              </a:rPr>
              <a:t>라는 점을 기억하면, nucleotide 대사를 겨냥하는 약의 작용을 효소 하나의 억제로만 보지 않게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교정 활성의 또 하나의 결과가 있다. 교정은 3′ 말단에서만 일어나므로 </a:t>
            </a:r>
            <a:r>
              <a:rPr sz="1400" b="1" i="0">
                <a:solidFill>
                  <a:srgbClr val="11202B"/>
                </a:solidFill>
                <a:latin typeface="Malgun Gothic"/>
                <a:ea typeface="Malgun Gothic"/>
                <a:cs typeface="Malgun Gothic"/>
              </a:rPr>
              <a:t>이미 지나간 자리의 오류는 고치지 못한다.</a:t>
            </a:r>
            <a:r>
              <a:rPr sz="1400" b="0" i="0">
                <a:solidFill>
                  <a:srgbClr val="11202B"/>
                </a:solidFill>
                <a:latin typeface="Malgun Gothic"/>
                <a:ea typeface="Malgun Gothic"/>
                <a:cs typeface="Malgun Gothic"/>
              </a:rPr>
              <a:t> 그래서 합성이 계속 진행된 뒤에 발견된 짝 어긋남은 다른 기구가 처리해야 하고, 그 기구가 mismatch repair다. 두 장치가 시간적으로 분업한다는 점을 이해하면, 같은 종류의 오류가 두 경로의 결손에서 모두 늘어나는 이유를 알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반대로 교정 활성이 과하면 문제가 생긴다. 정상 염기를 떼어내는 일이 늘면 합성이 느려지고 재료가 낭비된다. 실제로 교정과 합성 사이의 균형은 효소의 구조로 조절되며, 그 균형을 인위적으로 바꾼 효소는 정확도와 속도 가운데 한쪽을 잃는다. </a:t>
            </a:r>
            <a:r>
              <a:rPr sz="1400" b="1" i="0">
                <a:solidFill>
                  <a:srgbClr val="11202B"/>
                </a:solidFill>
                <a:latin typeface="Malgun Gothic"/>
                <a:ea typeface="Malgun Gothic"/>
                <a:cs typeface="Malgun Gothic"/>
              </a:rPr>
              <a:t>정확도를 올리는 데도 비용이 있다</a:t>
            </a:r>
            <a:r>
              <a:rPr sz="1400" b="0" i="0">
                <a:solidFill>
                  <a:srgbClr val="11202B"/>
                </a:solidFill>
                <a:latin typeface="Malgun Gothic"/>
                <a:ea typeface="Malgun Gothic"/>
                <a:cs typeface="Malgun Gothic"/>
              </a:rPr>
              <a:t>는 점이 이 균형에서 드러난다.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단계의 곱이라는 표현을 수치로 확인해 둔다. 염기 선택만으로 10-5 수준, 교정이 100배를 더 낮춰 10-7 수준, mismatch repair가 다시 100~1,000배를 낮춰 10-9~10-10 수준이 된다. 사람 유전체가 약 3×109 염기쌍이므로, 한 번의 복제에서 생기는 오류는 대략 몇 개 수준이다.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계산이 주는 관점이 있다. </a:t>
            </a:r>
            <a:r>
              <a:rPr sz="1400" b="1" i="0">
                <a:solidFill>
                  <a:srgbClr val="11202B"/>
                </a:solidFill>
                <a:latin typeface="Malgun Gothic"/>
                <a:ea typeface="Malgun Gothic"/>
                <a:cs typeface="Malgun Gothic"/>
              </a:rPr>
              <a:t>복제는 완벽하지 않고 완벽할 필요도 없다.</a:t>
            </a:r>
            <a:r>
              <a:rPr sz="1400" b="0" i="0">
                <a:solidFill>
                  <a:srgbClr val="11202B"/>
                </a:solidFill>
                <a:latin typeface="Malgun Gothic"/>
                <a:ea typeface="Malgun Gothic"/>
                <a:cs typeface="Malgun Gothic"/>
              </a:rPr>
              <a:t> 오류가 전혀 없으면 변이가 생기지 않아 진화가 일어나지 않고, 오류가 너무 많으면 세포가 유지되지 않는다. 그리고 몇 개의 오류가 세포마다 쌓이므로, 나이가 들면 한 사람의 조직 안에 서로 다른 유전체를 가진 세포 집단이 생긴다. M01-W12-L03에서 본 정상 조직의 클론이 이 계산의 결과다.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Lagging 가닥의 처리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Lagging 가닥은 짧은 조각으로 만들어진다. 이 조각을 </a:t>
            </a:r>
            <a:r>
              <a:rPr sz="1400" b="1" i="0">
                <a:solidFill>
                  <a:srgbClr val="11202B"/>
                </a:solidFill>
                <a:latin typeface="Malgun Gothic"/>
                <a:ea typeface="Malgun Gothic"/>
                <a:cs typeface="Malgun Gothic"/>
              </a:rPr>
              <a:t>Okazaki 조각</a:t>
            </a:r>
            <a:r>
              <a:rPr sz="1400" b="0" i="0">
                <a:solidFill>
                  <a:srgbClr val="11202B"/>
                </a:solidFill>
                <a:latin typeface="Malgun Gothic"/>
                <a:ea typeface="Malgun Gothic"/>
                <a:cs typeface="Malgun Gothic"/>
              </a:rPr>
              <a:t>이라 하고, 사람 세포에서는 길이가 대략 100~200 염기 수준이다. 조각마다 앞에 RNA primer가 붙어 있으므로, 이어 붙이기 전에 그 primer를 없애야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처리 과정은 네 단계다.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Pol α–primase가 RNA primer를 만들고 짧은 DNA를 잇는다.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PCNA가 얹히고 Pol δ로 교체되어 조각을 길게 연장한다.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앞 조각의 primer 부분에 도달하면 Pol δ가 그 부분을 밀어내 덮개 모양의 flap을 만든다. 이 flap을 FEN1이 자른다.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남은 틈을 DNA ligase I이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과정에서 중요한 점은 </a:t>
            </a:r>
            <a:r>
              <a:rPr sz="1400" b="1" i="0">
                <a:solidFill>
                  <a:srgbClr val="11202B"/>
                </a:solidFill>
                <a:latin typeface="Malgun Gothic"/>
                <a:ea typeface="Malgun Gothic"/>
                <a:cs typeface="Malgun Gothic"/>
              </a:rPr>
              <a:t>RNA가 산물에 남지 않는다</a:t>
            </a:r>
            <a:r>
              <a:rPr sz="1400" b="0" i="0">
                <a:solidFill>
                  <a:srgbClr val="11202B"/>
                </a:solidFill>
                <a:latin typeface="Malgun Gothic"/>
                <a:ea typeface="Malgun Gothic"/>
                <a:cs typeface="Malgun Gothic"/>
              </a:rPr>
              <a:t>는 것이다. 그리고 flap이 길어지면 Dna2라는 다른 효소가 먼저 짧게 자른 뒤 FEN1이 마무리한다. 처리가 늦으면 긴 단일가닥 flap이 남아 손상 신호가 되고, 재배열의 출발점이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리보뉴클레오타이드가 섞이는 문제도 함께 본다. 세포 안에는 ribonucleotide가 deoxyribonucleotide보다 훨씬 많으므로, 정확한 polymerase도 가끔 ribonucleotide를 끼워 넣는다. 그렇게 들어간 ribonucleotide는 </a:t>
            </a:r>
            <a:r>
              <a:rPr sz="1400" b="1" i="0">
                <a:solidFill>
                  <a:srgbClr val="11202B"/>
                </a:solidFill>
                <a:latin typeface="Malgun Gothic"/>
                <a:ea typeface="Malgun Gothic"/>
                <a:cs typeface="Malgun Gothic"/>
              </a:rPr>
              <a:t>RNase H2</a:t>
            </a:r>
            <a:r>
              <a:rPr sz="1400" b="0" i="0">
                <a:solidFill>
                  <a:srgbClr val="11202B"/>
                </a:solidFill>
                <a:latin typeface="Malgun Gothic"/>
                <a:ea typeface="Malgun Gothic"/>
                <a:cs typeface="Malgun Gothic"/>
              </a:rPr>
              <a:t>가 알아보고 제거한다. 이 효소의 결손이 Aicardi–Goutières 증후군의 원인 가운데 하나이고, 제거되지 않은 ribonucleotide와 그 처리 과정에서 생긴 핵산 조각이 자가 면역 반응을 일으킨다는 설명이 제시되었다.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Lagging 가닥의 처리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복제 중간물질이 면역을 자극한다는 원리가 치료와 이어진다. 복제 스트레스나 복구 결손으로 세포질에 DNA 조각이 늘면 cGAS–STING 경로가 켜져 인터페론 반응이 일어난다. 복제 효소나 복구 효소를 막는 약이 종양에서 면역 반응을 올리는 현상이 이 경로로 설명되며, 복제 표적 약물과 면역관문 억제제를 함께 쓰는 임상 시험의 근거가 되었다. 반대로 같은 경로가 과하게 켜지면 자가 면역 질환으로 나타난다. </a:t>
            </a:r>
            <a:r>
              <a:rPr sz="1600" b="1" i="0">
                <a:solidFill>
                  <a:srgbClr val="11202B"/>
                </a:solidFill>
                <a:latin typeface="Malgun Gothic"/>
                <a:ea typeface="Malgun Gothic"/>
                <a:cs typeface="Malgun Gothic"/>
              </a:rPr>
              <a:t>같은 기전이 치료의 수단이자 질환의 원인</a:t>
            </a:r>
            <a:r>
              <a:rPr sz="1600" b="0" i="0">
                <a:solidFill>
                  <a:srgbClr val="11202B"/>
                </a:solidFill>
                <a:latin typeface="Malgun Gothic"/>
                <a:ea typeface="Malgun Gothic"/>
                <a:cs typeface="Malgun Gothic"/>
              </a:rPr>
              <a:t>이라는 점을 함께 기억한다.</a:t>
            </a:r>
          </a:p>
        </p:txBody>
      </p:sp>
      <p:sp>
        <p:nvSpPr>
          <p:cNvPr id="8" name="Rectangle 7"/>
          <p:cNvSpPr/>
          <p:nvPr/>
        </p:nvSpPr>
        <p:spPr>
          <a:xfrm>
            <a:off x="640080" y="314452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Lagging 가닥 처리가 늦으면 반복 서열의 길이가 바뀐다. Flap이 남아 있는 동안 반복 서열은 서로 짝을 잘못 맞출 수 있고, 그 상태로 결합되면 반복 수가 늘거나 줄어든다. 반복 확장 질환에서 세대가 내려갈수록 반복이 늘어나는 현상, 그리고 microsatellite instability가 복제와 복구 양쪽의 결손으로 생기는 현상이 이 과정과 이어진다. 그래서 반복 수를 보는 검사의 결과를 해석할 때 </a:t>
            </a:r>
            <a:r>
              <a:rPr sz="1600" b="1" i="0">
                <a:solidFill>
                  <a:srgbClr val="11202B"/>
                </a:solidFill>
                <a:latin typeface="Malgun Gothic"/>
                <a:ea typeface="Malgun Gothic"/>
                <a:cs typeface="Malgun Gothic"/>
              </a:rPr>
              <a:t>조직과 세대에 따라 값이 다를 수 있다</a:t>
            </a:r>
            <a:r>
              <a:rPr sz="1600" b="0" i="0">
                <a:solidFill>
                  <a:srgbClr val="11202B"/>
                </a:solidFill>
                <a:latin typeface="Malgun Gothic"/>
                <a:ea typeface="Malgun Gothic"/>
                <a:cs typeface="Malgun Gothic"/>
              </a:rPr>
              <a:t>는 점을 전제해야 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Lagging 가닥의 처리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Mismatch repair가 어느 가닥을 고쳐야 하는지 아는 문제를 조금 더 본다. 세균은 새로 만든 가닥이 아직 메틸화되지 않았다는 점을 단서로 쓴다. 사람에게는 그 단서가 없다. 대신 두 가지가 제안되었다. 첫째, lagging 가닥에는 Okazaki 조각 사이의 틈이 남아 있어 그 틈이 새 가닥의 표지가 된다. 둘째, PCNA가 DNA에 얹히는 방향이 정해져 있어 그 방향이 단서를 준다.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가닥을 잘못 고르면 결과가 반대가 된다. 옛 가닥을 고치면 오류가 </a:t>
            </a:r>
            <a:r>
              <a:rPr sz="1800" b="1" i="0">
                <a:solidFill>
                  <a:srgbClr val="11202B"/>
                </a:solidFill>
                <a:latin typeface="Malgun Gothic"/>
                <a:ea typeface="Malgun Gothic"/>
                <a:cs typeface="Malgun Gothic"/>
              </a:rPr>
              <a:t>고정</a:t>
            </a:r>
            <a:r>
              <a:rPr sz="1800" b="0" i="0">
                <a:solidFill>
                  <a:srgbClr val="11202B"/>
                </a:solidFill>
                <a:latin typeface="Malgun Gothic"/>
                <a:ea typeface="Malgun Gothic"/>
                <a:cs typeface="Malgun Gothic"/>
              </a:rPr>
              <a:t>되기 때문이다. 그래서 가닥 구별은 복구의 정확도를 좌우하며, 이 단계가 어떻게 작동하는지가 아직 완전히 정리되지 않았다는 점도 함께 알아 둔다. M03-W01-L03에서 이 경로의 구성 요소와 Lynch 증후군을 다룬다.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복제 스트레스와 분기점 보호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분기점이 정상 속도로 진행하지 못하는 상태를 </a:t>
            </a:r>
            <a:r>
              <a:rPr sz="1600" b="1" i="0">
                <a:solidFill>
                  <a:srgbClr val="11202B"/>
                </a:solidFill>
                <a:latin typeface="Malgun Gothic"/>
                <a:ea typeface="Malgun Gothic"/>
                <a:cs typeface="Malgun Gothic"/>
              </a:rPr>
              <a:t>복제 스트레스</a:t>
            </a:r>
            <a:r>
              <a:rPr sz="1600" b="0" i="0">
                <a:solidFill>
                  <a:srgbClr val="11202B"/>
                </a:solidFill>
                <a:latin typeface="Malgun Gothic"/>
                <a:ea typeface="Malgun Gothic"/>
                <a:cs typeface="Malgun Gothic"/>
              </a:rPr>
              <a:t>라 한다. 원인은 여러 가지다. Nucleotide의 공급 부족, 손상된 염기, 비표준 구조, 전사 기구와의 충돌, 그리고 반복 서열이 모두 분기점을 늦추거나 멈추게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멈춘 분기점이 위험한 이유는 구조에 있다. CMG가 멈추면 그 앞의 단일가닥이 길게 노출되고, 노출된 단일가닥은 끊어지기 쉽다. 분기점이 무너지면 이중가닥 절단이 되고, 그 자리가 전좌와 결실의 출발점이 된다. 그래서 세포는 멈춘 분기점을 </a:t>
            </a:r>
            <a:r>
              <a:rPr sz="1600" b="1" i="0">
                <a:solidFill>
                  <a:srgbClr val="11202B"/>
                </a:solidFill>
                <a:latin typeface="Malgun Gothic"/>
                <a:ea typeface="Malgun Gothic"/>
                <a:cs typeface="Malgun Gothic"/>
              </a:rPr>
              <a:t>보호하고 되살리는</a:t>
            </a:r>
            <a:r>
              <a:rPr sz="1600" b="0" i="0">
                <a:solidFill>
                  <a:srgbClr val="11202B"/>
                </a:solidFill>
                <a:latin typeface="Malgun Gothic"/>
                <a:ea typeface="Malgun Gothic"/>
                <a:cs typeface="Malgun Gothic"/>
              </a:rPr>
              <a:t> 기구를 갖추고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그 중심이 </a:t>
            </a:r>
            <a:r>
              <a:rPr sz="1600" b="1" i="0">
                <a:solidFill>
                  <a:srgbClr val="11202B"/>
                </a:solidFill>
                <a:latin typeface="Malgun Gothic"/>
                <a:ea typeface="Malgun Gothic"/>
                <a:cs typeface="Malgun Gothic"/>
              </a:rPr>
              <a:t>ATR 축</a:t>
            </a:r>
            <a:r>
              <a:rPr sz="1600" b="0" i="0">
                <a:solidFill>
                  <a:srgbClr val="11202B"/>
                </a:solidFill>
                <a:latin typeface="Malgun Gothic"/>
                <a:ea typeface="Malgun Gothic"/>
                <a:cs typeface="Malgun Gothic"/>
              </a:rPr>
              <a:t>이다. RPA가 덮은 단일가닥이 신호가 되어 ATR이 활성화되고, ATR은 CHK1을 인산화한다. 결과는 네 가지로 정리된다.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새 원점의 발사를 억제한다.</a:t>
            </a:r>
            <a:r>
              <a:rPr sz="1600" b="0" i="0">
                <a:solidFill>
                  <a:srgbClr val="11202B"/>
                </a:solidFill>
                <a:latin typeface="Malgun Gothic"/>
                <a:ea typeface="Malgun Gothic"/>
                <a:cs typeface="Malgun Gothic"/>
              </a:rPr>
              <a:t> 이미 문제가 있는 상황에서 분기점을 더 늘리면 단일가닥이 더 노출된다.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nucleotide 공급을 늘린다.</a:t>
            </a:r>
            <a:r>
              <a:rPr sz="1600" b="0" i="0">
                <a:solidFill>
                  <a:srgbClr val="11202B"/>
                </a:solidFill>
                <a:latin typeface="Malgun Gothic"/>
                <a:ea typeface="Malgun Gothic"/>
                <a:cs typeface="Malgun Gothic"/>
              </a:rPr>
              <a:t> 리보뉴클레오타이드 환원효소의 조절을 통해 재료를 확보한다.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분기점을 안정화한다.</a:t>
            </a:r>
            <a:r>
              <a:rPr sz="1600" b="0" i="0">
                <a:solidFill>
                  <a:srgbClr val="11202B"/>
                </a:solidFill>
                <a:latin typeface="Malgun Gothic"/>
                <a:ea typeface="Malgun Gothic"/>
                <a:cs typeface="Malgun Gothic"/>
              </a:rPr>
              <a:t> 효소 복합체가 흩어지지 않게 붙잡는다.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세포주기 진행을 늦춘다.</a:t>
            </a:r>
            <a:r>
              <a:rPr sz="1600" b="0" i="0">
                <a:solidFill>
                  <a:srgbClr val="11202B"/>
                </a:solidFill>
                <a:latin typeface="Malgun Gothic"/>
                <a:ea typeface="Malgun Gothic"/>
                <a:cs typeface="Malgun Gothic"/>
              </a:rPr>
              <a:t> 복제가 끝나지 않은 상태로 분열기에 들어가지 않게 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복제 스트레스와 분기점 보호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이 축의 임상적 의미가 세 겹이다. (1) </a:t>
            </a:r>
            <a:r>
              <a:rPr sz="1600" b="1" i="0">
                <a:solidFill>
                  <a:srgbClr val="11202B"/>
                </a:solidFill>
                <a:latin typeface="Malgun Gothic"/>
                <a:ea typeface="Malgun Gothic"/>
                <a:cs typeface="Malgun Gothic"/>
              </a:rPr>
              <a:t>ATR 억제제가 치료제로 개발되었다.</a:t>
            </a:r>
            <a:r>
              <a:rPr sz="1600" b="0" i="0">
                <a:solidFill>
                  <a:srgbClr val="11202B"/>
                </a:solidFill>
                <a:latin typeface="Malgun Gothic"/>
                <a:ea typeface="Malgun Gothic"/>
                <a:cs typeface="Malgun Gothic"/>
              </a:rPr>
              <a:t> 복제 스트레스가 이미 높은 종양에서 보호 기구를 없애면 분기점이 무너져 세포가 죽는다. ATM이나 p53이 망가진 종양에서 효과가 크다고 기대하는 근거가 이것이다. (2) </a:t>
            </a:r>
            <a:r>
              <a:rPr sz="1600" b="1" i="0">
                <a:solidFill>
                  <a:srgbClr val="11202B"/>
                </a:solidFill>
                <a:latin typeface="Malgun Gothic"/>
                <a:ea typeface="Malgun Gothic"/>
                <a:cs typeface="Malgun Gothic"/>
              </a:rPr>
              <a:t>Gemcitabine과 hydroxyurea는 복제 스트레스를 만드는 약</a:t>
            </a:r>
            <a:r>
              <a:rPr sz="1600" b="0" i="0">
                <a:solidFill>
                  <a:srgbClr val="11202B"/>
                </a:solidFill>
                <a:latin typeface="Malgun Gothic"/>
                <a:ea typeface="Malgun Gothic"/>
                <a:cs typeface="Malgun Gothic"/>
              </a:rPr>
              <a:t>이다. Nucleotide 공급을 줄여 분기점을 늦춘다. 그래서 ATR 억제제와 함께 쓰면 작용이 겹친다. (3) </a:t>
            </a:r>
            <a:r>
              <a:rPr sz="1600" b="1" i="0">
                <a:solidFill>
                  <a:srgbClr val="11202B"/>
                </a:solidFill>
                <a:latin typeface="Malgun Gothic"/>
                <a:ea typeface="Malgun Gothic"/>
                <a:cs typeface="Malgun Gothic"/>
              </a:rPr>
              <a:t>분기점 보호와 복구는 다른 일이다.</a:t>
            </a:r>
            <a:r>
              <a:rPr sz="1600" b="0" i="0">
                <a:solidFill>
                  <a:srgbClr val="11202B"/>
                </a:solidFill>
                <a:latin typeface="Malgun Gothic"/>
                <a:ea typeface="Malgun Gothic"/>
                <a:cs typeface="Malgun Gothic"/>
              </a:rPr>
              <a:t> BRCA2는 상동 재조합에도 쓰이고 멈춘 분기점에서 새 가닥이 분해되지 않게 지키는 데도 쓰인다. 그래서 BRCA2 결손 세포는 재조합 결손과 분기점 보호 결손을 함께 갖고, 두 결손 가운데 어느 쪽이 약물 감수성을 만드는지가 내성 연구의 쟁점이다.</a:t>
            </a:r>
          </a:p>
        </p:txBody>
      </p:sp>
      <p:sp>
        <p:nvSpPr>
          <p:cNvPr id="8" name="Rectangle 7"/>
          <p:cNvSpPr/>
          <p:nvPr/>
        </p:nvSpPr>
        <p:spPr>
          <a:xfrm>
            <a:off x="640080" y="3733799"/>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복제 스트레스를 세포 수준에서 측정하려는 시도가 진행 중이다. 어려움은 그것이 상태이지 사건이 아니라는 점이다. 현재 쓰이는 지표는 세 갈래다. 첫째, 분기점의 진행을 직접 보는 방법으로, 표지한 nucleotide를 차례로 넣고 한 분자의 DNA를 늘어놓아 길이를 재는 기법이 쓰인다. 둘째, 단일가닥을 덮은 RPA와 활성화된 CHK1의 양을 세포마다 측정하는 방법이다. 셋째, 복제 시기가 바뀌거나 특정 구간에서 복제가 끝나지 않는 양상을 서열 자료로 읽는 방법이다. 쟁점은 이 지표들이 서로 잘 맞지 않는다는 것이다. 같은 종양에서 한 지표는 높고 다른 지표는 낮은 경우가 보고되었고, 그래서 ATR 억제제가 들을 환자를 미리 고르는 표지가 아직 확립되지 않았다.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복제 스트레스와 분기점 보호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전사와의 충돌을 따로 보아야 한다. 복제와 전사는 같은 주형을 쓰므로 같은 구간에서 마주칠 수 있다. 같은 방향으로 만나면 속도 차이로 뒤에서 따라붙는 형태가 되고, 반대 방향으로 정면으로 만나면 둘 다 멈춘다. 그래서 긴 유전자와 전사가 활발한 구간에서 충돌이 잦다.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충돌이 </a:t>
            </a:r>
            <a:r>
              <a:rPr sz="1400" b="1" i="0">
                <a:solidFill>
                  <a:srgbClr val="11202B"/>
                </a:solidFill>
                <a:latin typeface="Malgun Gothic"/>
                <a:ea typeface="Malgun Gothic"/>
                <a:cs typeface="Malgun Gothic"/>
              </a:rPr>
              <a:t>common fragile site</a:t>
            </a:r>
            <a:r>
              <a:rPr sz="1400" b="0" i="0">
                <a:solidFill>
                  <a:srgbClr val="11202B"/>
                </a:solidFill>
                <a:latin typeface="Malgun Gothic"/>
                <a:ea typeface="Malgun Gothic"/>
                <a:cs typeface="Malgun Gothic"/>
              </a:rPr>
              <a:t>를 설명한다. 특정 구간이 복제 스트레스 조건에서 반복해 끊어지는 현상이 오래 관찰되었고, 그 구간이 대개 매우 긴 유전자를 포함하며 늦게 복제된다는 사실이 드러났다. 종양에서 이 구간의 결실이 흔하다는 점도 같은 기전으로 설명된다. 세포는 충돌을 줄이려고 복제와 전사의 시점을 공간적·시간적으로 분리하며, 그 분리가 깨지면 R-loop와 절단이 늘어난다.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멈춘 분기점을 되살리는 방법도 여러 가지다. 네 갈래로 정리한다. 첫째, 장애물이 치워지면 그대로 다시 출발한다. 둘째, 뒤로 물러나 새 가닥끼리 짝을 이루는 구조를 만든 다음(fork reversal) 장애물을 처리하고 되돌아온다. 셋째, 반대 방향에서 오는 분기점이 그 구간을 대신 복제한다. 넷째, 장애물을 건너뛰고 뒤에 남은 틈을 나중에 메운다.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번째 방법이 치료와 직접 이어진다. 물러난 분기점의 끝은 이중가닥 절단과 구조가 비슷해 분해 효소의 표적이 된다. BRCA1·BRCA2와 관련 단백질이 그 분해를 막는데, 그 보호가 없으면 새로 만든 가닥이 잘려 나간다. 그래서 BRCA 결손 세포는 백금계 약물과 PARP 억제제에 민감하다. 반대로 분해 효소를 함께 잃으면 보호가 없어도 가닥이 남아 </a:t>
            </a:r>
            <a:r>
              <a:rPr sz="1400" b="1" i="0">
                <a:solidFill>
                  <a:srgbClr val="11202B"/>
                </a:solidFill>
                <a:latin typeface="Malgun Gothic"/>
                <a:ea typeface="Malgun Gothic"/>
                <a:cs typeface="Malgun Gothic"/>
              </a:rPr>
              <a:t>내성이 생긴다.</a:t>
            </a:r>
            <a:r>
              <a:rPr sz="1400" b="0" i="0">
                <a:solidFill>
                  <a:srgbClr val="11202B"/>
                </a:solidFill>
                <a:latin typeface="Malgun Gothic"/>
                <a:ea typeface="Malgun Gothic"/>
                <a:cs typeface="Malgun Gothic"/>
              </a:rPr>
              <a:t> 내성 기전을 복구 경로의 회복만으로 설명할 수 없는 이유가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ATR과 ATM을 구별해 두어야 한다. 두 kinase 모두 손상 반응의 상위에 있지만 감지하는 것이 다르다. </a:t>
            </a:r>
            <a:r>
              <a:rPr sz="1400" b="1" i="0">
                <a:solidFill>
                  <a:srgbClr val="11202B"/>
                </a:solidFill>
                <a:latin typeface="Malgun Gothic"/>
                <a:ea typeface="Malgun Gothic"/>
                <a:cs typeface="Malgun Gothic"/>
              </a:rPr>
              <a:t>ATR은 노출된 단일가닥, ATM은 이중가닥 절단</a:t>
            </a:r>
            <a:r>
              <a:rPr sz="1400" b="0" i="0">
                <a:solidFill>
                  <a:srgbClr val="11202B"/>
                </a:solidFill>
                <a:latin typeface="Malgun Gothic"/>
                <a:ea typeface="Malgun Gothic"/>
                <a:cs typeface="Malgun Gothic"/>
              </a:rPr>
              <a:t>에 반응한다. 그래서 복제 스트레스는 주로 ATR을, 방사선과 topoisomerase II 독은 주로 ATM을 켠다. 둘의 하류도 다르다. ATR은 CHK1을, ATM은 CHK2를 주로 인산화한다.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다만 두 축은 서로 이어져 있다. 멈춘 분기점이 무너져 이중가닥 절단이 되면 ATM이 켜지고, 절단을 처리하는 과정에서 단일가닥이 노출되면 ATR이 켜진다. 그래서 임상에서 한 축의 억제제를 쓸 때 다른 축의 상태가 효과를 바꾼다. ATM이 망가진 종양에서 ATR 억제제가 더 잘 듣는다고 기대하는 근거가 이 상호 의존이다.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Kunkel TA, Bebenek K. DNA replication fidelity. Annu Rev Biochem 2000;69:497–529.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Bell SP, Stillman B. ATP-dependent recognition of eukaryotic origins of DNA replication by a multiprotein complex. Nature 1992;357:128–134.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Bell SP, Labib K. Chromosome duplication in Saccharomyces cerevisiae. Genetics 2016;203:1027–1067.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Moyer SE, Lewis PW, Botchan MR. Isolation of the Cdc45/Mcm2-7/GINS (CMG) complex, a candidate for the eukaryotic DNA replication fork helicase. Proc Natl Acad Sci USA 2006;103:10236–10241.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Burgers PMJ, Kunkel TA. Eukaryotic DNA replication fork. Annu Rev Biochem 2017;86:417–438.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Zeman MK, Cimprich KA. Causes and consequences of replication stress. Nat Cell Biol 2014;16:2–9.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Saldivar JC, Cortez D, Cimprich KA. The essential kinase ATR: ensuring faithful duplication of a challenging genome. Nat Rev Mol Cell Biol 2017;18:622–636.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Schlacher K, Christ N, Siaud N, Egashira A, Wu H, Jasin M. Double-strand break repair-independent role for BRCA2 in blocking stalled replication fork degradation by MRE11. Cell 2011;145:529–542.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Crow YJ, Leitch A, Hayward BE, et al. Mutations in genes encoding ribonuclease H2 subunits cause Aicardi-Goutières syndrome and mimic congenital viral brain infection. Nat Genet 2006;38:910–916.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M03-W01-L02  ·  DNA 복제의 기전과 효소</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Bicknell LS, Walker S, Klingseisen A, et al. Mutations in ORC1, encoding the largest subunit of the origin recognition complex, cause microcephalic primordial dwarfism resembling Meier-Gorlin syndrome. Nat Genet 2011;43:350–355.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Palles C, Cazier JB, Howarth KM, et al. Germline mutations affecting the proofreading domains of POLE and POLD1 predispose to colorectal adenomas and carcinomas. Nat Genet 2013;45:136–144.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Copeland WC. Inherited mitochondrial diseases of DNA replication. Annu Rev Med 2008;59:131–146.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Armanios M, Blackburn EH. The telomere syndromes. Nat Rev Genet 2012;13:693–704.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Alabert C, Groth A. Chromatin replication and epigenome maintenance. Nat Rev Mol Cell Biol 2012;13:153–167.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Mackenzie KJ, Carroll P, Martin CA, et al. cGAS surveillance of micronuclei links genome instability to innate immunity. Nature 2017;548:461–465.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