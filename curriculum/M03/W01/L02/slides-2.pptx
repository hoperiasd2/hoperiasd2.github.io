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시기와 유전체의 성질. S기 안에서 이르게 복제되는 구간과 늦게 복제되는 구간을 A·B 구획, 유전자 밀도, 변이 밀도와 함께 배치해 세 성질이 같은 방향으로 상관하는 양상을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중합 반응이 자라는 사슬의 3′ hydroxyl기가 들어온 nucleotide의 α 인산을 공격하는 방식으로 일어나므로, 시작할 자유 3′ 말단이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결합이 생기면서 떨어진 pyrophosphate가 곧 두 분자의 인산으로 가수분해되어 제거되기 때문이다. 산물의 제거가 반응의 방향을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교정이 안 되어 점 변이가 극단적으로 많이 쌓이고(ultramutated), 변이에서 생긴 신생항원이 많아 면역이 종양을 인식하기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수가 수만 곳으로 많고, 정해진 공통 서열이 없어 chromatin 상태와 전사 활동에 따라 어디서 시작할지가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원점에 MCM을 얹는 시점과 그것을 활성화하는 시점이 CDK 활성의 낮음과 높음으로 분리되어 있다는 점이다. S기에 들어선 뒤에는 새로 얹을 수 없다.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분기점이 멈췄을 때 그 구간의 복제를 마치기 위한 여유다. MCM 양이 줄어든 세포는 평소엔 정상이지만 복제 스트레스에 약해진다.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DNA를 둘러싸는 고리로서 polymerase를 붙잡아 한 번 결합으로 수천 염기를 연속해 합성하게 한다. 또 복구와 수식 효소를 불러오는 적재 플랫폼으로도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염기 선택, 3′→5′ 교정, mismatch repair다. 교정이 작동하려면 합성이 잠시 멈춰야 하므로 정확도와 속도는 서로 바꾸는 관계에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 δ가 그 부분을 밀어내 flap을 만들고 FEN1이 자른다. Flap이 길면 Dna2가 먼저 짧게 자른 뒤 FEN1이 마무리하며, 남은 틈은 DNA ligase I이 결합한다.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RNase H2가 제거한다. 그 결손은 Aicardi–Goutières 증후군의 원인 가운데 하나이며, 처리되지 않은 핵산이 인터페론 반응을 일으킨다는 설명이 제시되었다.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분기점에 문제가 있는 상황에서 분기점을 더 늘리면 노출된 단일가닥이 더 늘어나 붕괴 위험이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종양은 이미 복제 스트레스가 높으므로 보호 기구를 없애면 분기점이 무너진다. 스트레스가 낮은 정상 세포는 그만큼 영향을 받지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옛 histone이 두 새 가닥에 나뉘어 들어가 수식의 밀도가 절반으로 묽어지므로, 복원하지 않으면 딸세포의 발현 양상이 흐려진다.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기구의 가용 시간과 nucleotide 공급의 차이로 설명한다. 복제 시기가 변이 분포를 만드는 요인이므로 종양 유전체 해석에서 고려해야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복제는 세포주기와 묶여 있지 않아 분열하지 않는 세포에서도 일어난다. 그래서 에너지 요구가 큰 근육과 신경에서 독성이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교체가 빠른 조직에서 분열 횟수의 제한이 먼저 드러나기 때문이다. 짧아진 telomere가 그대로 물려져 세대가 내려갈수록 발병이 이르다.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분열 속도에 의존하면 교체가 빠른 정상 조직도 손상되어 선택성이 낮다. 종양의 결손이나 복제 스트레스에 의존하면 그 조건을 가진 세포에서만 치명적이므로 선택성이 높다.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 복제의 기전과 효소</a:t>
            </a:r>
          </a:p>
          <a:p>
            <a:r>
              <a:rPr sz="1500" b="0" i="0">
                <a:solidFill>
                  <a:srgbClr val="B9D2E8"/>
                </a:solidFill>
                <a:latin typeface="Malgun Gothic"/>
                <a:ea typeface="Malgun Gothic"/>
                <a:cs typeface="Malgun Gothic"/>
              </a:rPr>
              <a:t>Mechanism and Enzymology of DNA Replication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M03-W01-L02  ·  2부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 polymerase가 공유하는 성질을 반응 화학으로 설명하고 그 성질이 복제 분기점의 구조를 어떻게 제약하는지 서술한다.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사람의 DNA polymerase를 부류별로 구분하고 각 효소가 맡는 일을 든다.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복제 개시의 licensing 기전을 CDK와 CDT1·CDC6·geminin의 작용으로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CMG helicase의 조립과 활성화 단계를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복제 정확도를 만드는 세 단계를 구분하고 각 단계가 오류율을 얼마나 낮추는지 수치로 제시한다.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Lagging 가닥의 처리 과정을 primer 제거와 결합까지 단계로 서술한다.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복제 스트레스를 정의하고 ATR 축이 분기점을 보호하는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복제 중 nucleosome의 해체와 재조립, 그리고 복제 시기의 조절을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미토콘드리아 DNA 복제가 핵 DNA와 다른 점을 든다.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복제를 표적으로 하는 약물을 기전별로 분류하고 그 선택성의 근거를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M03-W01-L01 DNA의 구조와 염색질 포장 — 방향성, 위상과 topoisomerase, nucleosome의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M01-W06-L03 DNA 복제·복구와 유전체 재배열 — 반보존적 복제, 복제 분기점의 개요, telomerase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M01-W12-L01 세포주기와 그 조절 — CDK의 작동, G1/S 전이와 검문지점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복제와 chromatin</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복제를 측정하는 방법</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말단의 문제와 telomere</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미토콘드리아 DNA의 복제</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복제를 표적으로 하는 약물</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복제 결손이 만드는 질환</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14.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복제와 chromatin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분기점은 맨 DNA 위를 달리지 않는다. 앞에는 nucleosome이 놓여 있고, 뒤에는 새로 만든 두 가닥에 nucleosome을 다시 얹어야 한다. 이 과정이 복제의 일부다.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앞쪽에서는 chaperone과 재구성 복합체가 nucleosome을 일시적으로 떼어낸다. 뒤쪽에서는 세 가지 공급원이 합쳐진다. 떼어낸 옛 histone, 새로 합성한 histone, 그리고 그 둘을 얹어 주는 chaperone이다. 옛 histone은 두 새 가닥에 나뉘어 들어가므로 </a:t>
            </a:r>
            <a:r>
              <a:rPr sz="1400" b="1" i="0">
                <a:solidFill>
                  <a:srgbClr val="11202B"/>
                </a:solidFill>
                <a:latin typeface="Malgun Gothic"/>
                <a:ea typeface="Malgun Gothic"/>
                <a:cs typeface="Malgun Gothic"/>
              </a:rPr>
              <a:t>수식의 밀도가 절반으로 묽어진다.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세포 기억의 문제가 생긴다. 수식이 묽어진 채로 남으면 딸세포의 발현 양상이 흐려진다. 그래서 복제 뒤에 같은 수식을 다시 붙이는 기구가 작동한다. 남아 있는 수식을 읽고 이웃에 같은 수식을 붙이는 효소가 그 복원을 담당하며, DNA 메틸화에서는 반쪽만 메틸화된 자리를 알아보는 효소가 같은 일을 한다. M03-W05-L01에서 이 유지 기전을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복제의 시기도 조절된다. 유전체는 한꺼번에 복제되지 않고, 구간마다 S기 안에서 복제되는 시점이 다르다. 대체로 활성 구간과 A 구획이 이르게, 억제 구간과 B 구획이 늦게 복제된다. 늦게 복제되는 구간에 변이가 더 많이 쌓인다는 관찰이 있고, 복구 기구의 가용 시간과 nucleotide 공급의 차이로 설명한다. </a:t>
            </a:r>
            <a:r>
              <a:rPr sz="1400" b="1" i="0">
                <a:solidFill>
                  <a:srgbClr val="11202B"/>
                </a:solidFill>
                <a:latin typeface="Malgun Gothic"/>
                <a:ea typeface="Malgun Gothic"/>
                <a:cs typeface="Malgun Gothic"/>
              </a:rPr>
              <a:t>복제 시기가 변이 분포를 만드는 요인</a:t>
            </a:r>
            <a:r>
              <a:rPr sz="1400" b="0" i="0">
                <a:solidFill>
                  <a:srgbClr val="11202B"/>
                </a:solidFill>
                <a:latin typeface="Malgun Gothic"/>
                <a:ea typeface="Malgun Gothic"/>
                <a:cs typeface="Malgun Gothic"/>
              </a:rPr>
              <a:t>이라는 점은 종양 유전체를 해석할 때 고려해야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복제와 chromatin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6</a:t>
            </a:r>
          </a:p>
        </p:txBody>
      </p:sp>
      <p:pic>
        <p:nvPicPr>
          <p:cNvPr id="7" name="Picture 6" descr="fig-replication-timing.slide.png"/>
          <p:cNvPicPr>
            <a:picLocks noChangeAspect="1"/>
          </p:cNvPicPr>
          <p:nvPr/>
        </p:nvPicPr>
        <p:blipFill>
          <a:blip r:embed="rId2"/>
          <a:stretch>
            <a:fillRect/>
          </a:stretch>
        </p:blipFill>
        <p:spPr>
          <a:xfrm>
            <a:off x="1994783" y="1325880"/>
            <a:ext cx="820212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시기와 유전체의 성질. S기 안에서 이르게 복제되는 구간과 늦게 복제되는 구간을 A·B 구획, 유전자 밀도, 변이 밀도와 함께 배치해 세 성질이 같은 방향으로 상관하는 양상을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복제와 chromatin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복제가 끝났는지를 세포가 어떻게 아는지도 중요한 문제다. 분열기에 들어가기 전에 모든 구간이 복제되어야 하는데, 복제되지 않은 구간이 남아 있으면 분열 중에 끊어진다. 세포는 복제가 끝나지 않은 자리에 남은 단일가닥과 특유의 구조를 신호로 감지해 분열기 진입을 늦춘다.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그런데 이 감시가 완전하지 않다. 일부 구간은 복제가 끝나지 않은 상태로 분열기에 들어가고, 분열기 초기에 늦은 복제로 마무리된다. 이 현상이 common fragile site에서 관찰되었다. 결과적으로 </a:t>
            </a:r>
            <a:r>
              <a:rPr sz="1400" b="1" i="0">
                <a:solidFill>
                  <a:srgbClr val="11202B"/>
                </a:solidFill>
                <a:latin typeface="Malgun Gothic"/>
                <a:ea typeface="Malgun Gothic"/>
                <a:cs typeface="Malgun Gothic"/>
              </a:rPr>
              <a:t>복제와 분열의 경계가 생각보다 흐릿하다</a:t>
            </a:r>
            <a:r>
              <a:rPr sz="1400" b="0" i="0">
                <a:solidFill>
                  <a:srgbClr val="11202B"/>
                </a:solidFill>
                <a:latin typeface="Malgun Gothic"/>
                <a:ea typeface="Malgun Gothic"/>
                <a:cs typeface="Malgun Gothic"/>
              </a:rPr>
              <a:t>는 것이 최근의 그림이며, 그 흐릿함이 유전체 불안정성의 한 원천이다. M01-W12-L01에서 본 검문지점의 한계를 복제 쪽에서 확인하는 자리다.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Chromatin이 복제를 어렵게 만드는 자리도 있다. 응축된 구간은 분기점이 느리게 지나가고, centromere와 telomere처럼 반복이 많고 단단히 포장된 자리는 특히 그렇다. 이 구간을 처리하려면 재구성 복합체와 특수한 helicase가 함께 와야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복제와 구조의 관계가 양방향임이 드러난다. 구조가 복제를 제약하고, 복제가 구조를 다시 만든다. 복제 시기가 이른 구간이 활성 구조를 유지하고 늦은 구간이 억제 구조를 유지하는 상관도 이 양방향 관계의 결과로 본다. </a:t>
            </a:r>
            <a:r>
              <a:rPr sz="1400" b="1" i="0">
                <a:solidFill>
                  <a:srgbClr val="11202B"/>
                </a:solidFill>
                <a:latin typeface="Malgun Gothic"/>
                <a:ea typeface="Malgun Gothic"/>
                <a:cs typeface="Malgun Gothic"/>
              </a:rPr>
              <a:t>어느 쪽이 원인인지를 가리는 실험이 어렵다</a:t>
            </a:r>
            <a:r>
              <a:rPr sz="1400" b="0" i="0">
                <a:solidFill>
                  <a:srgbClr val="11202B"/>
                </a:solidFill>
                <a:latin typeface="Malgun Gothic"/>
                <a:ea typeface="Malgun Gothic"/>
                <a:cs typeface="Malgun Gothic"/>
              </a:rPr>
              <a:t>는 점이 이 분야의 근본적 난점이며, 급성으로 한쪽만 바꾸는 실험 기법이 그 난점을 겨냥해 개발되었다.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 스트레스가 세포의 운명에 미치는 결과도 정리해 둔다. 세 갈래다. 가벼우면 분기점이 되살아나 복제를 마치고 세포는 정상적으로 분열한다. 중간이면 복제는 끝나지만 변이와 재배열이 남아 유전체가 조금씩 바뀐다. 심하면 분기점이 다수 무너져 세포가 사멸하거나 노화 상태로 들어간다. 즉 같은 스트레스가 세기에 따라 </a:t>
            </a:r>
            <a:r>
              <a:rPr sz="1400" b="1" i="0">
                <a:solidFill>
                  <a:srgbClr val="11202B"/>
                </a:solidFill>
                <a:latin typeface="Malgun Gothic"/>
                <a:ea typeface="Malgun Gothic"/>
                <a:cs typeface="Malgun Gothic"/>
              </a:rPr>
              <a:t>적응, 변이, 사멸</a:t>
            </a:r>
            <a:r>
              <a:rPr sz="1400" b="0" i="0">
                <a:solidFill>
                  <a:srgbClr val="11202B"/>
                </a:solidFill>
                <a:latin typeface="Malgun Gothic"/>
                <a:ea typeface="Malgun Gothic"/>
                <a:cs typeface="Malgun Gothic"/>
              </a:rPr>
              <a:t>로 갈린다. M01-W12-L02에서 본 자극의 세기와 죽는 방식의 관계가 복제 쪽에서도 같은 형태로 나타난다. 그래서 복제 스트레스를 만드는 약의 용량과 투여 간격이 결과를 바꾸며, 같은 약을 적게 오래 쓰는 방식과 많이 짧게 쓰는 방식이 서로 다른 효과를 낸다. 용량 설계가 기전에서 나온다는 점을 보여 주는 예다. 임상에서 쓰는 투여 일정이 경험적으로 정해진 경우가 많지만, 그 일정이 왜 그런지를 복제 기전으로 되짚어 보는 습관이 필요하다.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복제를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복제는 빠르게 지나가는 과정이므로 측정 방법이 결론을 크게 제약한다. 네 묶음으로 나눈다.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표지한 nucleotide를 넣어 새 가닥을 본다.</a:t>
            </a:r>
            <a:r>
              <a:rPr sz="1400" b="0" i="0">
                <a:solidFill>
                  <a:srgbClr val="11202B"/>
                </a:solidFill>
                <a:latin typeface="Malgun Gothic"/>
                <a:ea typeface="Malgun Gothic"/>
                <a:cs typeface="Malgun Gothic"/>
              </a:rPr>
              <a:t> BrdU나 EdU를 짧게 넣으면 그 시간에 복제한 세포와 구간이 표지된다. 두 가지 표지를 차례로 넣으면 분기점의 진행 방향과 속도를 읽을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한 분자를 늘어놓아 본다.</a:t>
            </a:r>
            <a:r>
              <a:rPr sz="1400" b="0" i="0">
                <a:solidFill>
                  <a:srgbClr val="11202B"/>
                </a:solidFill>
                <a:latin typeface="Malgun Gothic"/>
                <a:ea typeface="Malgun Gothic"/>
                <a:cs typeface="Malgun Gothic"/>
              </a:rPr>
              <a:t> 표지한 DNA를 유리 위에 펼쳐 형광으로 보는 기법(DNA fiber 또는 combing)으로 분기점 하나하나의 길이를 잰다. 집단 평균이 아니라 분포를 보여 주는 것이 이 방법의 가치다.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복제 시기와 원점을 서열로 읽는다.</a:t>
            </a:r>
            <a:r>
              <a:rPr sz="1400" b="0" i="0">
                <a:solidFill>
                  <a:srgbClr val="11202B"/>
                </a:solidFill>
                <a:latin typeface="Malgun Gothic"/>
                <a:ea typeface="Malgun Gothic"/>
                <a:cs typeface="Malgun Gothic"/>
              </a:rPr>
              <a:t> S기 구간별로 복제량을 재는 Repli-seq, 그리고 새 가닥의 방향성을 읽어 원점과 종결 자리를 추정하는 방법이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단백질의 자리를 본다.</a:t>
            </a:r>
            <a:r>
              <a:rPr sz="1400" b="0" i="0">
                <a:solidFill>
                  <a:srgbClr val="11202B"/>
                </a:solidFill>
                <a:latin typeface="Malgun Gothic"/>
                <a:ea typeface="Malgun Gothic"/>
                <a:cs typeface="Malgun Gothic"/>
              </a:rPr>
              <a:t> 분기점 단백질을 ChIP이나 그 변형으로 읽어 분기점이 어디에 머물렀는지 추정한다.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각 방법의 한계가 해석의 한계다. 표지 실험은 표지가 들어가는 동안의 평균을 보여 주고, 한 분자 기법은 분포를 보여 주지만 유전체의 어느 자리인지 알기 어렵다. 서열 기반 방법은 자리를 알려 주지만 세포 집단의 평균이다. 그래서 "분기점이 느려졌다"는 주장은 </a:t>
            </a:r>
            <a:r>
              <a:rPr sz="1400" b="1" i="0">
                <a:solidFill>
                  <a:srgbClr val="11202B"/>
                </a:solidFill>
                <a:latin typeface="Malgun Gothic"/>
                <a:ea typeface="Malgun Gothic"/>
                <a:cs typeface="Malgun Gothic"/>
              </a:rPr>
              <a:t>어느 방법으로 재었는지</a:t>
            </a:r>
            <a:r>
              <a:rPr sz="1400" b="0" i="0">
                <a:solidFill>
                  <a:srgbClr val="11202B"/>
                </a:solidFill>
                <a:latin typeface="Malgun Gothic"/>
                <a:ea typeface="Malgun Gothic"/>
                <a:cs typeface="Malgun Gothic"/>
              </a:rPr>
              <a:t>와 함께 읽어야 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복제를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분기점의 속도와 분포를 보려면 한 분자 기법, 자리를 보려면 서열 기반 방법을 쓴다. 두 종류의 자료가 같은 결론을 가리킬 때 그 결론이 단단해진다.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복제를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분기점의 종결도 조절된다. 마주 오는 두 분기점이 만나면 CMG를 DNA에서 떼어내야 하고, 그 제거는 ubiquitin 표지로 이루어진다. 제거가 늦으면 두 분기점이 지나친 자리에 꼬임과 얽힘이 남는다. 이 단계가 밝혀진 것이 최근이며, 복제의 시작만큼 끝도 조절된다는 점을 보여 준다.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종결 자리는 서열로 정해지지 않는다. 어느 두 분기점이 어디서 만나는지는 어느 원점이 쓰였는지에 달려 있으므로 세포마다 다르다. 다만 집단에서 보면 종결이 자주 일어나는 구간이 있고, 그 구간이 늦게 복제되는 자리와 겹친다. </a:t>
            </a:r>
            <a:r>
              <a:rPr sz="1800" b="1" i="0">
                <a:solidFill>
                  <a:srgbClr val="11202B"/>
                </a:solidFill>
                <a:latin typeface="Malgun Gothic"/>
                <a:ea typeface="Malgun Gothic"/>
                <a:cs typeface="Malgun Gothic"/>
              </a:rPr>
              <a:t>시작이 확률적이면 끝도 확률적</a:t>
            </a:r>
            <a:r>
              <a:rPr sz="1800" b="0" i="0">
                <a:solidFill>
                  <a:srgbClr val="11202B"/>
                </a:solidFill>
                <a:latin typeface="Malgun Gothic"/>
                <a:ea typeface="Malgun Gothic"/>
                <a:cs typeface="Malgun Gothic"/>
              </a:rPr>
              <a:t>이라는 점이 사람 복제의 특징이다.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말단의 문제와 telomere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선형 염색체의 말단에는 두 가지 문제가 있다. 첫째, lagging 가닥의 마지막 primer를 제거하면 그 자리를 채울 primer를 더 놓을 수 없어 끝이 짧아진다. 둘째, DNA의 끝이 이중가닥 절단과 구조가 같으므로 복구 기구가 손상으로 오인할 수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Telomere가 두 문제를 모두 다룬다. 반복 서열과 그에 결합하는 단백질 복합체(shelterin)가 끝을 덮어 손상 신호를 막고, telomerase가 반복 서열을 되풀이해 붙여 길이를 보충한다. Telomerase는 자신의 RNA를 주형으로 쓰는 역전사 효소이며, 사람의 대부분 체세포에서는 활성이 낮다. M01-W06-L03에서 이 기구를 다루었으므로, 여기서는 복제 쪽 성질만 짚는다.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Telomere 구간은 복제하기 어려운 자리다. G가 많은 반복 서열이 G-quadruplex를 만들고, 끝에 가까운 구간은 늦게 복제되며, 분기점이 멈추기 쉽다. 이 구간을 처리하는 helicase의 결손이 telomere의 급격한 단축으로 나타난다.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말단의 문제와 telomere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Telomere 유지 기구의 결손은 </a:t>
            </a:r>
            <a:r>
              <a:rPr sz="1600" b="1" i="0">
                <a:solidFill>
                  <a:srgbClr val="11202B"/>
                </a:solidFill>
                <a:latin typeface="Malgun Gothic"/>
                <a:ea typeface="Malgun Gothic"/>
                <a:cs typeface="Malgun Gothic"/>
              </a:rPr>
              <a:t>빨리 교체되는 조직에서 먼저</a:t>
            </a:r>
            <a:r>
              <a:rPr sz="1600" b="0" i="0">
                <a:solidFill>
                  <a:srgbClr val="11202B"/>
                </a:solidFill>
                <a:latin typeface="Malgun Gothic"/>
                <a:ea typeface="Malgun Gothic"/>
                <a:cs typeface="Malgun Gothic"/>
              </a:rPr>
              <a:t> 드러난다. 골수 부전, 폐섬유증, 간 질환이 대표적 양상이고, 같은 가족 안에서 세대가 내려갈수록 발병이 이르다. Telomere가 짧은 상태로 물려지기 때문이다. 반대로 종양에서는 telomerase가 다시 켜지거나 TERT promoter에 변이가 생겨 길이를 유지한다. </a:t>
            </a:r>
            <a:r>
              <a:rPr sz="1600" b="1" i="0">
                <a:solidFill>
                  <a:srgbClr val="11202B"/>
                </a:solidFill>
                <a:latin typeface="Malgun Gothic"/>
                <a:ea typeface="Malgun Gothic"/>
                <a:cs typeface="Malgun Gothic"/>
              </a:rPr>
              <a:t>같은 기구의 부족과 과잉이 서로 다른 질환을 만든다</a:t>
            </a:r>
            <a:r>
              <a:rPr sz="1600" b="0" i="0">
                <a:solidFill>
                  <a:srgbClr val="11202B"/>
                </a:solidFill>
                <a:latin typeface="Malgun Gothic"/>
                <a:ea typeface="Malgun Gothic"/>
                <a:cs typeface="Malgun Gothic"/>
              </a:rPr>
              <a:t>는 점이 이 축의 특징이다.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말단의 문제와 telomere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 시기를 측정하는 방법도 간단히 본다. 세포를 S기 구간별로 나눈 뒤 각 구간에서 복제된 DNA의 양을 유전체 전체에 대해 재면, 구간마다 복제가 일어난 시점을 지도로 그릴 수 있다. 이 지도가 세포 종류에 따라 바뀌고, 발생 단계와 질환 상태에서도 달라진다는 자료가 쌓였다.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지도에서 읽는 또 하나의 성질이 </a:t>
            </a:r>
            <a:r>
              <a:rPr sz="1400" b="1" i="0">
                <a:solidFill>
                  <a:srgbClr val="11202B"/>
                </a:solidFill>
                <a:latin typeface="Malgun Gothic"/>
                <a:ea typeface="Malgun Gothic"/>
                <a:cs typeface="Malgun Gothic"/>
              </a:rPr>
              <a:t>복제 영역의 크기</a:t>
            </a:r>
            <a:r>
              <a:rPr sz="1400" b="0" i="0">
                <a:solidFill>
                  <a:srgbClr val="11202B"/>
                </a:solidFill>
                <a:latin typeface="Malgun Gothic"/>
                <a:ea typeface="Malgun Gothic"/>
                <a:cs typeface="Malgun Gothic"/>
              </a:rPr>
              <a:t>다. 하나의 원점에서 시작한 두 분기점이 담당하는 구간은 수십에서 수백 킬로베이스 규모이며, 이웃한 원점들이 비슷한 시점에 함께 발사되어 더 큰 단위를 이룬다. 이 단위가 M03-W01-L01에서 본 TAD와 상당히 겹친다는 관찰이 보고되었고, </a:t>
            </a:r>
            <a:r>
              <a:rPr sz="1400" b="1" i="0">
                <a:solidFill>
                  <a:srgbClr val="11202B"/>
                </a:solidFill>
                <a:latin typeface="Malgun Gothic"/>
                <a:ea typeface="Malgun Gothic"/>
                <a:cs typeface="Malgun Gothic"/>
              </a:rPr>
              <a:t>구조의 단위와 복제의 단위가 같을 수 있다</a:t>
            </a:r>
            <a:r>
              <a:rPr sz="1400" b="0" i="0">
                <a:solidFill>
                  <a:srgbClr val="11202B"/>
                </a:solidFill>
                <a:latin typeface="Malgun Gothic"/>
                <a:ea typeface="Malgun Gothic"/>
                <a:cs typeface="Malgun Gothic"/>
              </a:rPr>
              <a:t>는 가설로 이어졌다. 다만 인과 관계는 아직 정리되지 않았다.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말단의 또 다른 처리 방식도 알아 둔다. Telomerase를 쓰지 않고 상동 재조합으로 말단을 늘이는 경로가 있으며, 이를 대체 연장 경로라 한다. Telomerase가 없는 일부 종양에서 이 경로가 켜져 길이를 유지하고, 그런 종양은 telomere의 길이가 매우 불균일하다는 특징을 보인다.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치료 표적과 이어진다. Telomerase를 겨냥하는 약을 쓰면 대체 경로를 쓰는 종양에는 듣지 않는다. 반대로 대체 경로는 재조합에 의존하므로 재조합 쪽 표적에 민감할 수 있다. </a:t>
            </a:r>
            <a:r>
              <a:rPr sz="1400" b="1" i="0">
                <a:solidFill>
                  <a:srgbClr val="11202B"/>
                </a:solidFill>
                <a:latin typeface="Malgun Gothic"/>
                <a:ea typeface="Malgun Gothic"/>
                <a:cs typeface="Malgun Gothic"/>
              </a:rPr>
              <a:t>같은 결과를 내는 두 경로가 서로 다른 약점을 가진다</a:t>
            </a:r>
            <a:r>
              <a:rPr sz="1400" b="0" i="0">
                <a:solidFill>
                  <a:srgbClr val="11202B"/>
                </a:solidFill>
                <a:latin typeface="Malgun Gothic"/>
                <a:ea typeface="Malgun Gothic"/>
                <a:cs typeface="Malgun Gothic"/>
              </a:rPr>
              <a:t>는 점이 표적 선택의 전제이며, 종양에서 어느 경로를 쓰는지 먼저 확인해야 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미토콘드리아 DNA의 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미토콘드리아는 자신의 유전체를 따로 복제한다. 핵 DNA와 다른 점이 네 가지다.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효소가 다르다.</a:t>
            </a:r>
            <a:r>
              <a:rPr sz="1600" b="0" i="0">
                <a:solidFill>
                  <a:srgbClr val="11202B"/>
                </a:solidFill>
                <a:latin typeface="Malgun Gothic"/>
                <a:ea typeface="Malgun Gothic"/>
                <a:cs typeface="Malgun Gothic"/>
              </a:rPr>
              <a:t> Pol γ가 복제하고, helicase는 TWNK, 단일가닥 결합 단백질은 mtSSB다. 모두 핵에서 암호화되어 들어온다.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세포주기와 묶여 있지 않다.</a:t>
            </a:r>
            <a:r>
              <a:rPr sz="1600" b="0" i="0">
                <a:solidFill>
                  <a:srgbClr val="11202B"/>
                </a:solidFill>
                <a:latin typeface="Malgun Gothic"/>
                <a:ea typeface="Malgun Gothic"/>
                <a:cs typeface="Malgun Gothic"/>
              </a:rPr>
              <a:t> 분열하지 않는 세포에서도 복제가 일어난다.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복제수가 세포마다 다르다.</a:t>
            </a:r>
            <a:r>
              <a:rPr sz="1600" b="0" i="0">
                <a:solidFill>
                  <a:srgbClr val="11202B"/>
                </a:solidFill>
                <a:latin typeface="Malgun Gothic"/>
                <a:ea typeface="Malgun Gothic"/>
                <a:cs typeface="Malgun Gothic"/>
              </a:rPr>
              <a:t> 한 세포에 수백에서 수천 벌이 있고, 조직의 에너지 요구에 따라 다르다.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변이가 섞여 존재한다.</a:t>
            </a:r>
            <a:r>
              <a:rPr sz="1600" b="0" i="0">
                <a:solidFill>
                  <a:srgbClr val="11202B"/>
                </a:solidFill>
                <a:latin typeface="Malgun Gothic"/>
                <a:ea typeface="Malgun Gothic"/>
                <a:cs typeface="Malgun Gothic"/>
              </a:rPr>
              <a:t> 정상과 변이 유전체가 한 세포에 공존하는 상태를 heteroplasmy라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차이가 질환의 양상을 정한다. 변이 유전체의 비율이 일정 수준을 넘어야 증상이 나타나므로 </a:t>
            </a:r>
            <a:r>
              <a:rPr sz="1600" b="1" i="0">
                <a:solidFill>
                  <a:srgbClr val="11202B"/>
                </a:solidFill>
                <a:latin typeface="Malgun Gothic"/>
                <a:ea typeface="Malgun Gothic"/>
                <a:cs typeface="Malgun Gothic"/>
              </a:rPr>
              <a:t>문턱 효과</a:t>
            </a:r>
            <a:r>
              <a:rPr sz="1600" b="0" i="0">
                <a:solidFill>
                  <a:srgbClr val="11202B"/>
                </a:solidFill>
                <a:latin typeface="Malgun Gothic"/>
                <a:ea typeface="Malgun Gothic"/>
                <a:cs typeface="Malgun Gothic"/>
              </a:rPr>
              <a:t>가 있고, 세포 분열 때 변이 유전체가 무작위로 나뉘므로 조직마다 비율이 달라진다. 그래서 같은 변이가 사람마다, 조직마다 다른 표현형을 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미토콘드리아 DNA의 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약물 독성이 이 경로에서 자주 나온다. (1) </a:t>
            </a:r>
            <a:r>
              <a:rPr sz="1600" b="1" i="0">
                <a:solidFill>
                  <a:srgbClr val="11202B"/>
                </a:solidFill>
                <a:latin typeface="Malgun Gothic"/>
                <a:ea typeface="Malgun Gothic"/>
                <a:cs typeface="Malgun Gothic"/>
              </a:rPr>
              <a:t>일부 nucleoside 유사체는 Pol γ를 억제한다.</a:t>
            </a:r>
            <a:r>
              <a:rPr sz="1600" b="0" i="0">
                <a:solidFill>
                  <a:srgbClr val="11202B"/>
                </a:solidFill>
                <a:latin typeface="Malgun Gothic"/>
                <a:ea typeface="Malgun Gothic"/>
                <a:cs typeface="Malgun Gothic"/>
              </a:rPr>
              <a:t> 항바이러스제로 쓰인 몇몇 약이 미토콘드리아 유전체를 줄여 근육병, 간 독성, 말초신경병을 일으켰다. 이 독성은 복제가 세포주기와 무관하므로 </a:t>
            </a:r>
            <a:r>
              <a:rPr sz="1600" b="1" i="0">
                <a:solidFill>
                  <a:srgbClr val="11202B"/>
                </a:solidFill>
                <a:latin typeface="Malgun Gothic"/>
                <a:ea typeface="Malgun Gothic"/>
                <a:cs typeface="Malgun Gothic"/>
              </a:rPr>
              <a:t>분열하지 않는 조직에서도 나타난다.</a:t>
            </a:r>
            <a:r>
              <a:rPr sz="1600" b="0" i="0">
                <a:solidFill>
                  <a:srgbClr val="11202B"/>
                </a:solidFill>
                <a:latin typeface="Malgun Gothic"/>
                <a:ea typeface="Malgun Gothic"/>
                <a:cs typeface="Malgun Gothic"/>
              </a:rPr>
              <a:t> (2) 그래서 핵 DNA에 작용하는 항암제와 부작용의 분포가 다르다. 핵 쪽은 골수와 장 상피처럼 교체가 빠른 조직, 미토콘드리아 쪽은 에너지 요구가 큰 근육과 신경이다. (3) POLG 변이에 의한 유전 질환도 같은 결과를 내므로, 약물 독성과 유전 질환이 같은 임상 양상으로 나타날 수 있다. </a:t>
            </a:r>
            <a:r>
              <a:rPr sz="1600" b="1" i="0">
                <a:solidFill>
                  <a:srgbClr val="11202B"/>
                </a:solidFill>
                <a:latin typeface="Malgun Gothic"/>
                <a:ea typeface="Malgun Gothic"/>
                <a:cs typeface="Malgun Gothic"/>
              </a:rPr>
              <a:t>표적의 위치가 부작용의 조직 분포를 정한다</a:t>
            </a:r>
            <a:r>
              <a:rPr sz="1600" b="0" i="0">
                <a:solidFill>
                  <a:srgbClr val="11202B"/>
                </a:solidFill>
                <a:latin typeface="Malgun Gothic"/>
                <a:ea typeface="Malgun Gothic"/>
                <a:cs typeface="Malgun Gothic"/>
              </a:rPr>
              <a:t>는 원칙으로 기억한다.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미토콘드리아 DNA의 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Heteroplasmy를 바꾸려는 치료 전략도 정리해 둔다. 변이 유전체의 비율을 낮추면 증상이 개선될 수 있으므로, 변이 유전체만 선택적으로 줄이는 방법이 연구되었다. 변이 서열을 알아보는 효소를 미토콘드리아로 보내 그 유전체만 끊는 접근, 그리고 생식세포 단계에서 핵을 건강한 난자의 세포질로 옮기는 접근이 시도되었다. 후자는 윤리적·법적 쟁점이 크고 국가마다 허용 범위가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핵 유전체 치료와 다른 점이 분명해진다. 미토콘드리아 유전체는 한 세포에 수백 벌이 있으므로 </a:t>
            </a:r>
            <a:r>
              <a:rPr sz="1400" b="1" i="0">
                <a:solidFill>
                  <a:srgbClr val="11202B"/>
                </a:solidFill>
                <a:latin typeface="Malgun Gothic"/>
                <a:ea typeface="Malgun Gothic"/>
                <a:cs typeface="Malgun Gothic"/>
              </a:rPr>
              <a:t>한 자리를 고치는 편집이 통하지 않는다.</a:t>
            </a:r>
            <a:r>
              <a:rPr sz="1400" b="0" i="0">
                <a:solidFill>
                  <a:srgbClr val="11202B"/>
                </a:solidFill>
                <a:latin typeface="Malgun Gothic"/>
                <a:ea typeface="Malgun Gothic"/>
                <a:cs typeface="Malgun Gothic"/>
              </a:rPr>
              <a:t> 모든 벌을 고칠 수 없으니 비율을 바꾸는 쪽을 택하게 되고, 그래서 전략이 "교정"이 아니라 "선택적 제거"가 된다. M03-W06-L02에서 편집 기술을 다룰 때 이 차이를 다시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Pol γ의 특성도 핵 효소와 비교해 두면 좋다. 이 효소는 교정 활성을 가지고 있으나 미토콘드리아에는 mismatch repair에 해당하는 기구가 뚜렷하지 않다. 또 미토콘드리아 안은 산화 스트레스가 높아 손상된 염기가 많다. 그 결과 </a:t>
            </a:r>
            <a:r>
              <a:rPr sz="1400" b="1" i="0">
                <a:solidFill>
                  <a:srgbClr val="11202B"/>
                </a:solidFill>
                <a:latin typeface="Malgun Gothic"/>
                <a:ea typeface="Malgun Gothic"/>
                <a:cs typeface="Malgun Gothic"/>
              </a:rPr>
              <a:t>미토콘드리아 유전체의 변이율이 핵보다 높다.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사실이 두 가지 결과를 낸다. 첫째, 모계로 전달되는 변이가 쌓이기 쉬워 집단 안에 다양한 계통이 생기고, 그 계통 차이가 인류 이동 경로를 추정하는 데 쓰였다. 둘째, 나이가 들면서 조직에 변이 유전체가 늘어나며, 그것이 노화의 대사 변화와 연관된다는 가설이 제시되었다. M03-W12-L01에서 이 축을 노화의 틀에서 다룬다.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복제를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복제 과정의 어느 단계를 건드리는지에 따라 약을 다섯 묶음으로 나눈다.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복제를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묶음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단계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Nucleotide 공급 차단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Methotrexate, 5-fluorouracil, hydroxyurea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재료의 합성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사슬에 끼어들어 중단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Cytarabine, gemcitabine, 항바이러스 nucleoside 유사체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중합 반응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Polymerase 직접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Aphidicolin(연구용), 일부 항바이러스제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효소 활성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위상 효소 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Camptothecin 계열, etoposide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분기점 앞의 꼬임 처리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보호·검문지점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ATR·CHK1·WEE1 억제제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스트레스 대응</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복제를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선택성의 근거가 묶음마다 다르다. 첫 두 묶음은 </a:t>
            </a:r>
            <a:r>
              <a:rPr sz="1600" b="1" i="0">
                <a:solidFill>
                  <a:srgbClr val="11202B"/>
                </a:solidFill>
                <a:latin typeface="Malgun Gothic"/>
                <a:ea typeface="Malgun Gothic"/>
                <a:cs typeface="Malgun Gothic"/>
              </a:rPr>
              <a:t>분열 속도의 차이</a:t>
            </a:r>
            <a:r>
              <a:rPr sz="1600" b="0" i="0">
                <a:solidFill>
                  <a:srgbClr val="11202B"/>
                </a:solidFill>
                <a:latin typeface="Malgun Gothic"/>
                <a:ea typeface="Malgun Gothic"/>
                <a:cs typeface="Malgun Gothic"/>
              </a:rPr>
              <a:t>에 의존하므로, 교체가 빠른 정상 조직에도 작용한다. 골수 억제와 점막 손상이 그 결과다. 항바이러스 nucleoside 유사체는 바이러스 polymerase가 사람 효소보다 그 유사체를 잘 받아들인다는 </a:t>
            </a:r>
            <a:r>
              <a:rPr sz="1600" b="1" i="0">
                <a:solidFill>
                  <a:srgbClr val="11202B"/>
                </a:solidFill>
                <a:latin typeface="Malgun Gothic"/>
                <a:ea typeface="Malgun Gothic"/>
                <a:cs typeface="Malgun Gothic"/>
              </a:rPr>
              <a:t>효소 선택성</a:t>
            </a:r>
            <a:r>
              <a:rPr sz="1600" b="0" i="0">
                <a:solidFill>
                  <a:srgbClr val="11202B"/>
                </a:solidFill>
                <a:latin typeface="Malgun Gothic"/>
                <a:ea typeface="Malgun Gothic"/>
                <a:cs typeface="Malgun Gothic"/>
              </a:rPr>
              <a:t>에 의존한다.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마지막 묶음의 논리는 다르다. 보호 기구를 없애는 것만으로는 정상 세포가 크게 손상되지 않는다. 스트레스가 이미 높은 세포에서만 치명적이 된다. 그래서 </a:t>
            </a:r>
            <a:r>
              <a:rPr sz="1600" b="1" i="0">
                <a:solidFill>
                  <a:srgbClr val="11202B"/>
                </a:solidFill>
                <a:latin typeface="Malgun Gothic"/>
                <a:ea typeface="Malgun Gothic"/>
                <a:cs typeface="Malgun Gothic"/>
              </a:rPr>
              <a:t>종양의 상태에 의존하는 선택성</a:t>
            </a:r>
            <a:r>
              <a:rPr sz="1600" b="0" i="0">
                <a:solidFill>
                  <a:srgbClr val="11202B"/>
                </a:solidFill>
                <a:latin typeface="Malgun Gothic"/>
                <a:ea typeface="Malgun Gothic"/>
                <a:cs typeface="Malgun Gothic"/>
              </a:rPr>
              <a:t>이고, M01-W12-L03에서 본 합성 치사와 같은 틀이다.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복제를 겨냥하는 치료 설계의 일반 원칙이 나온다. </a:t>
            </a:r>
            <a:r>
              <a:rPr sz="1600" b="1" i="0">
                <a:solidFill>
                  <a:srgbClr val="11202B"/>
                </a:solidFill>
                <a:latin typeface="Malgun Gothic"/>
                <a:ea typeface="Malgun Gothic"/>
                <a:cs typeface="Malgun Gothic"/>
              </a:rPr>
              <a:t>분열 속도에 의존하는 선택성은 낮고, 종양의 결손이나 스트레스에 의존하는 선택성은 높다.</a:t>
            </a:r>
            <a:r>
              <a:rPr sz="1600" b="0" i="0">
                <a:solidFill>
                  <a:srgbClr val="11202B"/>
                </a:solidFill>
                <a:latin typeface="Malgun Gothic"/>
                <a:ea typeface="Malgun Gothic"/>
                <a:cs typeface="Malgun Gothic"/>
              </a:rPr>
              <a:t> 복제 표적 약물의 개발이 전자에서 후자로 옮겨 온 흐름이 이 원칙을 보여 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복제를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복제 시기와 원점 사용을 바꾸어 치료에 쓰려는 시도가 초기 단계에 있다. 배경은 두 관찰이다. 종양에서 복제 시기의 양상이 정상 조직과 다르고 그 차이가 변이 분포와 상관한다는 것, 그리고 원점 사용이 세포 상태에 따라 달라진다는 것이다. 여기서 두 방향의 가설이 나왔다. 하나는 복제 시기 양상을 종양의 표지로 쓰는 것이고, 다른 하나는 원점 활성화를 조절하는 kinase(CDC7)를 막아 복제 개시 자체를 겨냥하는 것이다. CDC7 억제제가 임상 시험에 들어갔으나 치료 범위가 좁다는 결과가 보고되었다. 쟁점은 복제 개시가 모든 분열 세포에 필수적이므로 선택성을 어디서 얻을지가 분명하지 않다는 점이다. 종양이 예비 원점에 더 의존한다는 가설이 제시되었지만 사람에서 확인되지 않았다.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복제를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약물 내성의 복제 쪽 기전도 정리해 둔다. Nucleoside 유사체에 대한 내성은 세 자리에서 생긴다. 세포 안으로 들여오는 수송체의 발현 감소, 약을 활성 형태로 바꾸는 kinase의 활성 저하, 그리고 활성 형태를 분해하는 효소의 증가다. 표적 효소의 변이보다 </a:t>
            </a:r>
            <a:r>
              <a:rPr sz="1800" b="1" i="0">
                <a:solidFill>
                  <a:srgbClr val="11202B"/>
                </a:solidFill>
                <a:latin typeface="Malgun Gothic"/>
                <a:ea typeface="Malgun Gothic"/>
                <a:cs typeface="Malgun Gothic"/>
              </a:rPr>
              <a:t>약의 출입과 활성화 단계에서 더 자주 생긴다</a:t>
            </a:r>
            <a:r>
              <a:rPr sz="1800" b="0" i="0">
                <a:solidFill>
                  <a:srgbClr val="11202B"/>
                </a:solidFill>
                <a:latin typeface="Malgun Gothic"/>
                <a:ea typeface="Malgun Gothic"/>
                <a:cs typeface="Malgun Gothic"/>
              </a:rPr>
              <a:t>는 점이 특징이며, 그래서 같은 계열 안에서 약을 바꾸는 것이 효과가 없을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구분이 임상 판단을 정한다. 활성화 kinase의 결손으로 내성이 생겼다면 활성화를 거치지 않는 형태의 약이 대안이 되고, 수송체 쪽 문제라면 들어오는 경로가 다른 약을 고른다. </a:t>
            </a:r>
            <a:r>
              <a:rPr sz="1800" b="1" i="0">
                <a:solidFill>
                  <a:srgbClr val="11202B"/>
                </a:solidFill>
                <a:latin typeface="Malgun Gothic"/>
                <a:ea typeface="Malgun Gothic"/>
                <a:cs typeface="Malgun Gothic"/>
              </a:rPr>
              <a:t>내성의 자리를 알면 다음 약의 선택이 달라진다</a:t>
            </a:r>
            <a:r>
              <a:rPr sz="1800" b="0" i="0">
                <a:solidFill>
                  <a:srgbClr val="11202B"/>
                </a:solidFill>
                <a:latin typeface="Malgun Gothic"/>
                <a:ea typeface="Malgun Gothic"/>
                <a:cs typeface="Malgun Gothic"/>
              </a:rPr>
              <a:t>는 원칙이 M01-W12-L03에서 본 내성 분류와 같은 틀이다.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복제 결손이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복제 기구의 결손은 몇 가지 정해진 양상으로 나타난다.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복제 결손이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결손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양상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Pol ε·Pol δ 교정 부위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유전성 대장암·자궁내막암 소인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변이가 극단적으로 많은 종양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POLG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질환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 질환, 뇌증, 근육병, 말초신경병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RNase H2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Aicardi–Goutières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영아기 뇌증과 인터페론 상승</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원점 인자(ORC1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Meier–Gorlin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작은 키, 작은 귀, 무릎뼈 결손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Telomere 유지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Telomere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골수 부전, 폐섬유증, 간 질환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복제 helicase 보조 인자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Warsaw breakage, Bloom, Werner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유전체 불안정성, 성장 지연, 종양 위험</a:t>
                      </a:r>
                    </a:p>
                  </a:txBody>
                  <a:tcPr marL="73152" marR="73152" marT="27432" marB="27432">
                    <a:solidFill>
                      <a:srgbClr val="EF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복제 결손이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표에서 읽을 원칙이 세 가지다. 첫째, </a:t>
            </a:r>
            <a:r>
              <a:rPr sz="1600" b="1" i="0">
                <a:solidFill>
                  <a:srgbClr val="11202B"/>
                </a:solidFill>
                <a:latin typeface="Malgun Gothic"/>
                <a:ea typeface="Malgun Gothic"/>
                <a:cs typeface="Malgun Gothic"/>
              </a:rPr>
              <a:t>복제 기구의 완전한 결손은 생존할 수 없다.</a:t>
            </a:r>
            <a:r>
              <a:rPr sz="1600" b="0" i="0">
                <a:solidFill>
                  <a:srgbClr val="11202B"/>
                </a:solidFill>
                <a:latin typeface="Malgun Gothic"/>
                <a:ea typeface="Malgun Gothic"/>
                <a:cs typeface="Malgun Gothic"/>
              </a:rPr>
              <a:t> 그래서 질환으로 나타나는 변이는 대개 기능이 부분적으로 남은 변이다. Meier–Gorlin 증후군처럼 성장 지연이 주된 양상인 질환이 그 예이며, 복제 능력이 조금 떨어지면 세포 수를 많이 만들어야 하는 발생 과정에서 먼저 드러난다.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둘째, </a:t>
            </a:r>
            <a:r>
              <a:rPr sz="1600" b="1" i="0">
                <a:solidFill>
                  <a:srgbClr val="11202B"/>
                </a:solidFill>
                <a:latin typeface="Malgun Gothic"/>
                <a:ea typeface="Malgun Gothic"/>
                <a:cs typeface="Malgun Gothic"/>
              </a:rPr>
              <a:t>결손의 자리에 따라 변이의 양상이 다르다.</a:t>
            </a:r>
            <a:r>
              <a:rPr sz="1600" b="0" i="0">
                <a:solidFill>
                  <a:srgbClr val="11202B"/>
                </a:solidFill>
                <a:latin typeface="Malgun Gothic"/>
                <a:ea typeface="Malgun Gothic"/>
                <a:cs typeface="Malgun Gothic"/>
              </a:rPr>
              <a:t> 교정 부위의 결손은 점 변이를, mismatch repair의 결손은 반복 서열의 길이 변화를, 분기점 보호의 결손은 큰 재배열을 만든다. 종양 유전체에서 그 양상을 읽어 어느 기구가 망가졌는지 역추적할 수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셋째, </a:t>
            </a:r>
            <a:r>
              <a:rPr sz="1600" b="1" i="0">
                <a:solidFill>
                  <a:srgbClr val="11202B"/>
                </a:solidFill>
                <a:latin typeface="Malgun Gothic"/>
                <a:ea typeface="Malgun Gothic"/>
                <a:cs typeface="Malgun Gothic"/>
              </a:rPr>
              <a:t>복제 결손은 염증과 이어진다.</a:t>
            </a:r>
            <a:r>
              <a:rPr sz="1600" b="0" i="0">
                <a:solidFill>
                  <a:srgbClr val="11202B"/>
                </a:solidFill>
                <a:latin typeface="Malgun Gothic"/>
                <a:ea typeface="Malgun Gothic"/>
                <a:cs typeface="Malgun Gothic"/>
              </a:rPr>
              <a:t> 처리되지 않은 핵산 조각이 세포질에서 감지되므로, 유전체 불안정성이 인터페론 반응을 만든다. 발달 이상과 염증이 함께 있는 질환에서 이 축을 고려해야 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복제 결손이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복제 기구의 결손을 의심하는 임상 단서가 있다. 성장 지연과 작은 머리가 함께 있고 염색체 검사에서 절단과 재배열이 늘어 있으면 복제·복구 기구의 결손을 고려한다. 여기에 면역 이상이나 인터페론 상승이 겹치면 핵산 처리 쪽 결손을, 간과 신경 증상이 두드러지면 미토콘드리아 복제 쪽 결손을 먼저 생각한다. 그리고 가족 안에 이른 나이의 종양이 여럿 있으면 교정 활성이나 복구 유전자의 생식계열 변이를 확인한다. </a:t>
            </a:r>
            <a:r>
              <a:rPr sz="1600" b="1" i="0">
                <a:solidFill>
                  <a:srgbClr val="11202B"/>
                </a:solidFill>
                <a:latin typeface="Malgun Gothic"/>
                <a:ea typeface="Malgun Gothic"/>
                <a:cs typeface="Malgun Gothic"/>
              </a:rPr>
              <a:t>같은 복제 기구의 결손이라도 어느 단계인지에 따라 임상 양상이 갈린다.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복제 결손이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마지막으로 이 수업의 내용이 실험실에서 쓰이는 자리를 짚는다. PCR, 서열 분석, 그리고 유전체 편집의 검증이 모두 DNA polymerase를 쓰고, 그 효소를 고르는 기준이 이 수업의 성질 그대로다. 긴 구간을 정확히 읽어야 하면 교정 활성이 있는 효소를, 손상된 주형이나 억제 물질이 섞인 시료를 다루어야 하면 진행 능력이 강한 효소를 고른다. </a:t>
            </a:r>
            <a:r>
              <a:rPr sz="1800" b="1" i="0">
                <a:solidFill>
                  <a:srgbClr val="11202B"/>
                </a:solidFill>
                <a:latin typeface="Malgun Gothic"/>
                <a:ea typeface="Malgun Gothic"/>
                <a:cs typeface="Malgun Gothic"/>
              </a:rPr>
              <a:t>효소의 성질과 실험의 목적을 맞추는 일</a:t>
            </a:r>
            <a:r>
              <a:rPr sz="1800" b="0" i="0">
                <a:solidFill>
                  <a:srgbClr val="11202B"/>
                </a:solidFill>
                <a:latin typeface="Malgun Gothic"/>
                <a:ea typeface="Malgun Gothic"/>
                <a:cs typeface="Malgun Gothic"/>
              </a:rPr>
              <a:t>이 분자생물학 실험 설계의 기본이며, M01-W06-L01의 기법 수업이 그 선택을 다룬다.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복제는 M03 전체에서 되풀이해 등장한다.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M03-W01-L03 DNA 손상과 복구 경로</a:t>
            </a:r>
            <a:r>
              <a:rPr sz="1600" b="0" i="0">
                <a:solidFill>
                  <a:srgbClr val="11202B"/>
                </a:solidFill>
                <a:latin typeface="Malgun Gothic"/>
                <a:ea typeface="Malgun Gothic"/>
                <a:cs typeface="Malgun Gothic"/>
              </a:rPr>
              <a:t> — 복제 중 생긴 손상의 처리, mismatch repair의 가닥 구별, 분기점 붕괴의 복구를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M03-W02-L01 복구 결함 질환과 유전체 불안정성</a:t>
            </a:r>
            <a:r>
              <a:rPr sz="1600" b="0" i="0">
                <a:solidFill>
                  <a:srgbClr val="11202B"/>
                </a:solidFill>
                <a:latin typeface="Malgun Gothic"/>
                <a:ea typeface="Malgun Gothic"/>
                <a:cs typeface="Malgun Gothic"/>
              </a:rPr>
              <a:t> — 복제·복구 결손이 만드는 질환과 종양을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M03-W01-L01 DNA의 구조와 염색질 포장</a:t>
            </a:r>
            <a:r>
              <a:rPr sz="1600" b="0" i="0">
                <a:solidFill>
                  <a:srgbClr val="11202B"/>
                </a:solidFill>
                <a:latin typeface="Malgun Gothic"/>
                <a:ea typeface="Malgun Gothic"/>
                <a:cs typeface="Malgun Gothic"/>
              </a:rPr>
              <a:t> — 위상 문제와 topoisomerase, nucleosome의 구조를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M01-W06-L03 DNA 복제·복구와 유전체 재배열</a:t>
            </a:r>
            <a:r>
              <a:rPr sz="1600" b="0" i="0">
                <a:solidFill>
                  <a:srgbClr val="11202B"/>
                </a:solidFill>
                <a:latin typeface="Malgun Gothic"/>
                <a:ea typeface="Malgun Gothic"/>
                <a:cs typeface="Malgun Gothic"/>
              </a:rPr>
              <a:t> — 반보존적 복제의 근거와 telomerase의 기본 기전을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M01-W12-L01 세포주기와 그 조절</a:t>
            </a:r>
            <a:r>
              <a:rPr sz="1600" b="0" i="0">
                <a:solidFill>
                  <a:srgbClr val="11202B"/>
                </a:solidFill>
                <a:latin typeface="Malgun Gothic"/>
                <a:ea typeface="Malgun Gothic"/>
                <a:cs typeface="Malgun Gothic"/>
              </a:rPr>
              <a:t> — licensing을 가능하게 하는 CDK 활성의 주기적 변화와 검문지점을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M01-W12-L03 암의 세포생물학</a:t>
            </a:r>
            <a:r>
              <a:rPr sz="1600" b="0" i="0">
                <a:solidFill>
                  <a:srgbClr val="11202B"/>
                </a:solidFill>
                <a:latin typeface="Malgun Gothic"/>
                <a:ea typeface="Malgun Gothic"/>
                <a:cs typeface="Malgun Gothic"/>
              </a:rPr>
              <a:t> — 변이 부담, 합성 치사, 그리고 복제 스트레스를 겨냥하는 치료를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M02-W02-L02 효소의 촉매 원리와 동역학</a:t>
            </a:r>
            <a:r>
              <a:rPr sz="1600" b="0" i="0">
                <a:solidFill>
                  <a:srgbClr val="11202B"/>
                </a:solidFill>
                <a:latin typeface="Malgun Gothic"/>
                <a:ea typeface="Malgun Gothic"/>
                <a:cs typeface="Malgun Gothic"/>
              </a:rPr>
              <a:t> — 염기 선택이 속도 차이로 이루어지는 기전의 동역학적 배경을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M03-W06-L02 유전자 치료와 유전체 편집</a:t>
            </a:r>
            <a:r>
              <a:rPr sz="1600" b="0" i="0">
                <a:solidFill>
                  <a:srgbClr val="11202B"/>
                </a:solidFill>
                <a:latin typeface="Malgun Gothic"/>
                <a:ea typeface="Malgun Gothic"/>
                <a:cs typeface="Malgun Gothic"/>
              </a:rPr>
              <a:t> — 편집 과정에서 쓰이는 복구 경로의 선택을 다룬다.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28</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복제의 모든 구조는 중합 반응의 화학에서 나온다. 사람의 원점은 서열로 정해지지 않으므로 licensing이 한 번만 복제되도록 보장하고, 쓰지 않은 원점이 예비로 남는다. 정확도는 선택·교정·복구의 곱이고, 각 단계의 결손이 서로 다른 변이 양상을 만든다. 분기점은 멈추면 무너지므로 ATR 축이 보호하며, 그 보호를 없애는 것이 스트레스가 높은 종양을 겨냥하는 치료가 된다. 복제는 chromatin 안에서 일어나므로 수식의 복원과 복제 시기가 함께 조절되고, 미토콘드리아는 독립적인 기구로 복제하므로 부작용의 조직 분포가 다르다.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polymerase가 primer를 필요로 하는 이유를 반응 화학으로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중합 반응이 자라는 사슬의 3′ hydroxyl기가 들어온 nucleotide의 α 인산을 공격하는 방식으로 일어나므로, 시작할 자유 3′ 말단이 있어야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중합 반응이 사실상 비가역이 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결합이 생기면서 떨어진 pyrophosphate가 곧 두 분자의 인산으로 가수분해되어 제거되기 때문이다. 산물의 제거가 반응의 방향을 정한다.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Pol ε의 교정 부위에 변이가 생긴 종양이 면역관문 억제제에 반응하기 쉬운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교정이 안 되어 점 변이가 극단적으로 많이 쌓이고(ultramutated), 변이에서 생긴 신생항원이 많아 면역이 종양을 인식하기 쉬워진다.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사람의 복제 원점이 세균과 다른 점 두 가지를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수가 수만 곳으로 많고, 정해진 공통 서열이 없어 chromatin 상태와 전사 활동에 따라 어디서 시작할지가 달라진다.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Licensing이 한 세포주기에 한 번의 복제를 보장하는 핵심 장치는?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원점에 MCM을 얹는 시점과 그것을 활성화하는 시점이 CDK 활성의 낮음과 높음으로 분리되어 있다는 점이다. S기에 들어선 뒤에는 새로 얹을 수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예비(dormant) 원점이 있는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분기점이 멈췄을 때 그 구간의 복제를 마치기 위한 여유다. MCM 양이 줄어든 세포는 평소엔 정상이지만 복제 스트레스에 약해진다.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PCNA가 하는 일을 processivity라는 말로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DNA를 둘러싸는 고리로서 polymerase를 붙잡아 한 번 결합으로 수천 염기를 연속해 합성하게 한다. 또 복구와 수식 효소를 불러오는 적재 플랫폼으로도 작동한다.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 정확도를 만드는 세 단계를 들고, 교정 활성이 속도와 어떤 관계인지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염기 선택, 3′→5′ 교정, mismatch repair다. 교정이 작동하려면 합성이 잠시 멈춰야 하므로 정확도와 속도는 서로 바꾸는 관계에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Okazaki 조각의 RNA primer는 어떻게 제거되는가?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Pol δ가 그 부분을 밀어내 flap을 만들고 FEN1이 자른다. Flap이 길면 Dna2가 먼저 짧게 자른 뒤 FEN1이 마무리하며, 남은 틈은 DNA ligase I이 결합한다.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 중 끼어든 ribonucleotide는 무엇이 제거하며, 그 결손은 어떤 질환과 연관되는가?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RNase H2가 제거한다. 그 결손은 Aicardi–Goutières 증후군의 원인 가운데 하나이며, 처리되지 않은 핵산이 인터페론 반응을 일으킨다는 설명이 제시되었다.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ATR 축이 활성화되면 새 원점의 발사를 억제하는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이미 분기점에 문제가 있는 상황에서 분기점을 더 늘리면 노출된 단일가닥이 더 늘어나 붕괴 위험이 커진다.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ATR 억제제가 정상 세포보다 종양에서 더 치명적일 수 있는 근거는?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종양은 이미 복제 스트레스가 높으므로 보호 기구를 없애면 분기점이 무너진다. 스트레스가 낮은 정상 세포는 그만큼 영향을 받지 않는다.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 뒤에 histone 수식을 복원하는 기구가 필요한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옛 histone이 두 새 가닥에 나뉘어 들어가 수식의 밀도가 절반으로 묽어지므로, 복원하지 않으면 딸세포의 발현 양상이 흐려진다.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늦게 복제되는 구간에 변이가 더 많이 쌓이는 현상을 어떻게 설명하는가?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복구 기구의 가용 시간과 nucleotide 공급의 차이로 설명한다. 복제 시기가 변이 분포를 만드는 요인이므로 종양 유전체 해석에서 고려해야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미토콘드리아 DNA 복제를 억제하는 약의 부작용이 분열하지 않는 조직에서도 나타나는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 복제는 세포주기와 묶여 있지 않아 분열하지 않는 세포에서도 일어난다. 그래서 에너지 요구가 큰 근육과 신경에서 독성이 드러난다.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Telomere 유지 기구의 결손이 골수 부전과 폐섬유증으로 나타나는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교체가 빠른 조직에서 분열 횟수의 제한이 먼저 드러나기 때문이다. 짧아진 telomere가 그대로 물려져 세대가 내려갈수록 발병이 이르다.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 표적 약물의 선택성에서 "분열 속도에 의존하는 것"과 "종양의 상태에 의존하는 것"의 차이는?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분열 속도에 의존하면 교체가 빠른 정상 조직도 손상되어 선택성이 낮다. 종양의 결손이나 복제 스트레스에 의존하면 그 조건을 가진 세포에서만 치명적이므로 선택성이 높다.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Kunkel TA, Bebenek K. DNA replication fidelity. Annu Rev Biochem 2000;69:497–529.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Bell SP, Stillman B. ATP-dependent recognition of eukaryotic origins of DNA replication by a multiprotein complex. Nature 1992;357:128–134.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Bell SP, Labib K. Chromosome duplication in Saccharomyces cerevisiae. Genetics 2016;203:1027–1067.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Moyer SE, Lewis PW, Botchan MR. Isolation of the Cdc45/Mcm2-7/GINS (CMG) complex, a candidate for the eukaryotic DNA replication fork helicase. Proc Natl Acad Sci USA 2006;103:10236–10241.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Burgers PMJ, Kunkel TA. Eukaryotic DNA replication fork. Annu Rev Biochem 2017;86:417–438.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Zeman MK, Cimprich KA. Causes and consequences of replication stress. Nat Cell Biol 2014;16:2–9.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Saldivar JC, Cortez D, Cimprich KA. The essential kinase ATR: ensuring faithful duplication of a challenging genome. Nat Rev Mol Cell Biol 2017;18:622–636.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Schlacher K, Christ N, Siaud N, Egashira A, Wu H, Jasin M. Double-strand break repair-independent role for BRCA2 in blocking stalled replication fork degradation by MRE11. Cell 2011;145:529–542.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Crow YJ, Leitch A, Hayward BE, et al. Mutations in genes encoding ribonuclease H2 subunits cause Aicardi-Goutières syndrome and mimic congenital viral brain infection. Nat Genet 2006;38:910–916.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Bicknell LS, Walker S, Klingseisen A, et al. Mutations in ORC1, encoding the largest subunit of the origin recognition complex, cause microcephalic primordial dwarfism resembling Meier-Gorlin syndrome. Nat Genet 2011;43:350–355.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Palles C, Cazier JB, Howarth KM, et al. Germline mutations affecting the proofreading domains of POLE and POLD1 predispose to colorectal adenomas and carcinomas. Nat Genet 2013;45:136–144.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Copeland WC. Inherited mitochondrial diseases of DNA replication. Annu Rev Med 2008;59:131–146.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Armanios M, Blackburn EH. The telomere syndromes. Nat Rev Genet 2012;13:693–704.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Alabert C, Groth A. Chromatin replication and epigenome maintenance. Nat Rev Mol Cell Biol 2012;13:153–167.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Mackenzie KJ, Carroll P, Martin CA, et al. cGAS surveillance of micronuclei links genome instability to innate immunity. Nature 2017;548:461–465.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