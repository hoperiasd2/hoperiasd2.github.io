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RNA와 DNA의 세 가지 화학적 차이와 그 결과. 2′ hydroxyl기의 유무와 그것이 만드는 불안정성·촉매 가능성, thymine과 uracil의 차이가 수선의 기준을 만드는 논리, 그리고 단일가닥 RNA가 서열에 따라 접히는 구조를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세포 내 RNA의 종류와 비율. rRNA·tRNA·mRNA·조절 RNA의 양적 분포, mRNA가 전체의 2~5%에 불과하다는 사실과 전사체 분석에서 rRNA를 제거해야 하는 이유, 그리고 세균과 진핵세포 mRNA의 네 가지 성질 차이를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주형 가닥과 암호 가닥의 구분과 전사의 방향. 두 가닥의 서열과 RNA 산물의 관계, 유전자 서열을 암호 가닥으로 기록하는 관례, promoter의 방향이 주형을 정하는 관계, 그리고 RNA가 5′→3′로 자라고 주형은 3′→5′로 읽히는 두 기준을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세균 RNA polymerase의 구성과 σ 인자의 역할. Core enzyme과 holoenzyme의 구분, σ가 promoter 인식을 담당하고 신장 단계에서 떨어져 재사용되는 과정, 여러 σ 인자가 서로 다른 유전자 집합을 켜는 교환 가능한 부품 구조, 그리고 rifampin의 작용 지점을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진핵세포의 세 가지 RNA polymerase와 분업. 각 효소의 위치·산물·α-amanitin 감수성, rRNA가 전사량의 대부분이라는 점, Pol II가 조절의 중심이라는 점, 그리고 α-amanitin 중독에서 증상이 지연되는 이유를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전사 개시의 네 단계. 닫힌 복합체에서 열린 복합체로의 전환과 전사 거품의 형성, primer 없이 첫 뉴클레오타이드가 놓이는 과정과 abortive initiation, promoter 탈출의 조건, 그리고 polymerase 안에서 주형 가닥·암호 가닥·새 RNA가 동시에 존재하는 구조를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신장 단계와 전사의 충실도. Polymerase가 전진하며 앞에서 DNA를 풀고 뒤에서 감는 과정과 RNA–DNA 잡종, 하나의 유전자에 여러 polymerase가 줄지어 진행하는 모습, 전사가 만드는 초나선과 topoisomerase의 역할, 그리고 복제와 전사의 오류율 차이가 결과의 가역성에서 나온다는 논리를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전사 종결의 세 방식. 세균의 내재적 종결에서 머리핀과 U 구간이 함께 필요한 이유, Rho 단백질이 RNA를 따라 이동해 잡종을 푸는 과정과 ribosome이 그것을 막는 품질 관리, 그리고 진핵 Pol II에서 poly(A) 신호 인식·절단·분해 추격으로 이루어져 RNA의 완성과 전사의 종결이 분리되는 구조를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전사를 억제하는 약물과 독소의 작용 지점. 개시를 막는 rifampin과 fidaxomicin, 신장을 막는 α-amanitin, DNA에 끼어드는 actinomycin D와 doxorubicin의 작용 위치, 그리고 표적 분자의 차이가 선택성을 정하고 단일 표적이 내성의 원인이 되는 관계를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전사를 측정하는 네 가지 방법과 각각이 알려 주는 범위. RNA 양 측정, 새로 합성된 RNA의 표지, polymerase 위치 지도, 조절 단백질 결합 측정의 대상 차이, 그리고 mRNA 양 감소의 세 가지 가능한 설명을 어떤 측정이 가를 수 있는지를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2′ hydroxyl기는 바로 옆 인산 결합을 공격할 수 있는 위치에 있어 특히 알칼리성 조건에서 사슬이 끊어지므로 RNA가 불안정하다. 둘째, 반응에 참여할 수 있는 기가 있으므로 RNA가 촉매 활성을 가질 수 있는 근거가 되며 ribozyme과 ribosome의 활성이 이에 의존한다. 첫째 성질 때문에 유전정보의 장기 보관은 2′ hydroxyl기가 없는 DNA가 맡고, 일시적인 전달과 작업은 RNA가 맡는 분업이 성립한다.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Cytosine은 자발적으로 탈아미노화되어 uracil이 된다. DNA가 uracil을 정상 염기로 썼다면 손상으로 생긴 uracil과 원래 있던 uracil을 구별할 수 없어 수선할 수 없다. Thymine을 쓰기 때문에 DNA에서 발견된 uracil은 무조건 손상이며 uracil-DNA glycosylase가 제거할 수 있다. RNA는 오래 보관하지 않으므로 이 보호가 필요하지 않고, methyl기를 붙이는 비용도 들지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주형 가닥은 RNA polymerase가 읽는 가닥이며 만들어지는 RNA와 상보적이다. 암호 가닥은 읽히지 않는 가닥이며 RNA와 서열이 같다(T가 U로 바뀌는 것만 다르다). 주형 가닥은 3'-TAC CGT AAG-5'이고 RNA 산물은 5'-AUG GCA UUC-3'이다. 어느 가닥이 주형인지는 유전자마다 다르며, promoter의 방향이 정한다. Polymerase가 promoter에 자리 잡는 방향이 읽을 가닥과 진행 방향을 함께 정한다.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RNA가 자라는 방향은 5'에서 3'이고, 주형을 읽는 방향은 3'에서 5'이다. 두 기준이 반대 방향을 가리킨다. 화학적 이유는 중합 반응에서 자라는 사슬의 3' hydroxyl기가 들어오는 뉴클레오타이드의 5' 삼인산을 공격해 결합을 만들기 때문이다. 결합이 만들어지는 자리가 항상 사슬의 3' 쪽이므로 방향이 고정되며, 이 제약은 DNA polymerase와 RNA polymerase에 공통이다.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Core enzyme은 알파2 베타 베타프라임 오메가로 중합 활성은 있으나 promoter를 인식하지 못한다. Holoenzyme은 core에 σ 인자가 결합한 형태로 전사를 개시할 수 있다. 중합은 core가, 표적 선택은 σ가 담당하므로 σ를 바꾸면 전사되는 유전자 집합이 바뀐다. 열 충격에서 σ32가 늘어 열 충격 유전자의 promoter가 인식되는 것이 그 예이며, 교환 가능한 부품으로 수십 개의 유전자를 한꺼번에 켜는 효율적인 방식이다. σ는 개시 전용 부품이어서 신장 단계에서 떨어져 재사용된다.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 I은 핵소체에서 28S·18S·5.8S rRNA를 하나의 전구체로 만들고, Pol II는 핵질에서 mRNA와 대부분의 snRNA·miRNA·lncRNA를 만들며, Pol III는 tRNA와 5S rRNA, 일부 snRNA를 만든다. α-amanitin은 Pol II를 선택적으로 억제한다. 증상이 지연되는 이유는 전사를 막아도 이미 있는 mRNA와 단백질이 소모될 때까지 시간이 걸리기 때문이다. 단백질 합성 요구가 큰 간세포가 먼저 영향을 받아 간 손상으로 나타난다.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복제의 오류는 유전체에 영구히 남고 모든 자손 세포에 전달되지만, 전사의 오류는 하나의 RNA 분자에만 있고 그 RNA는 곧 분해된다. 하나의 유전자에서 수천 개의 mRNA가 만들어지므로 그중 하나에 오류가 있어도 만들어지는 단백질의 대부분은 정상이다. 즉 영구적 결과를 낳는 과정에는 비용을 들여 여러 겹의 교정을 두고 일시적 결과를 낳는 과정에는 두지 않는다. 같은 논리가 번역의 충실도에도 적용된다.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Rho는 RNA의 rut site에 결합해 ATP를 쓰며 RNA를 따라 polymerase 쪽으로 이동하다가 느려진 polymerase를 따라잡아 RNA-DNA 잡종을 푼다. 그런데 Rho가 결합하려면 그 구간이 ribosome에 덮여 있지 않아야 한다. 번역이 활발하면 ribosome이 RNA를 덮어 Rho의 결합을 막는다. 따라서 번역이 멈춘 전사체는 종결되어 버려지는 품질 관리가 되며, 전사와 번역이 같은 공간에서 일어나는 세균에서만 가능하다.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설명은 전사가 줄었다, 전사는 그대로인데 mRNA 분해가 빨라졌다, 가공이 실패해 성숙한 mRNA가 되지 못했다의 세 가지다. RNA 양만 재는 방법으로는 셋을 구별할 수 없다. 수식된 뉴클레오타이드를 짧게 넣어 새로 합성된 RNA만 표지하면 전사 속도 자체를 보므로 첫째와 둘째를 가를 수 있고, polymerase의 위치를 유전체 전체에서 지도로 만들면 개시와 신장 가운데 어디가 변했는지 알 수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M03  분자유전학과 계통별 의학생화학특론</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RNA의 종류와 전사의 기전</a:t>
            </a:r>
          </a:p>
          <a:p>
            <a:r>
              <a:rPr sz="1500" b="0" i="0">
                <a:solidFill>
                  <a:srgbClr val="B9D2E8"/>
                </a:solidFill>
                <a:latin typeface="Malgun Gothic"/>
                <a:ea typeface="Malgun Gothic"/>
                <a:cs typeface="Malgun Gothic"/>
              </a:rPr>
              <a:t>Classes of RNA and the Mechanism of Transcription</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M03-W02-L02</a:t>
            </a:r>
          </a:p>
          <a:p>
            <a:r>
              <a:rPr sz="1100" b="0" i="0">
                <a:solidFill>
                  <a:srgbClr val="9FBEDA"/>
                </a:solidFill>
                <a:latin typeface="Malgun Gothic"/>
                <a:ea typeface="Malgun Gothic"/>
                <a:cs typeface="Malgun Gothic"/>
              </a:rPr>
              <a:t>2주 2회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RNA와 DNA의 화학적 차이 세 가지를 쓰고 각 차이가 분자의 성질에 미치는 결과를 설명한다.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주요 RNA의 종류를 세포 내 비율과 기능으로 정리하고 각각을 만드는 효소를 연결한다.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주형 가닥과 암호 가닥을 정의하고 전사 산물의 서열을 주어진 DNA 서열에서 유도한다.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전사의 방향을 두 기준으로 서술하고 왜 RNA가 5′→3′로만 합성되는지 설명한다.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세균 RNA polymerase의 구성과 σ 인자의 역할을 쓰고 holoenzyme과 core enzyme을 구분한다.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진핵세포의 세 가지 RNA polymerase와 각 산물을 구분하고 α-amanitin에 대한 감수성 차이를 쓴다.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전사 개시에서 신장으로 넘어가는 과정을 닫힌 복합체·열린 복합체·promoter 탈출로 나누어 설명한다.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전사의 충실도가 복제보다 낮은 이유를 교정 기능과 결과의 가역성으로 설명한다.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세균의 두 가지 전사 종결 방식을 구분하고 진핵 Pol II의 종결이 가공과 결합되어 있음을 설명한다.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전사를 억제하는 약물과 독소의 작용 지점을 구분하고 선택성의 근거를 쓴다.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M03-W01-L02 DNA의 구조와 복제 — 염기쌍, 이중나선, DNA polymerase의 작용 방향</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M01-W06-L02 유전자와 유전체의 구성 — 유전자의 구조, promoter의 위치</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뉴클레오타이드의 구조 — 당, 염기, 인산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RNA와 DNA의 화학적 차이</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RNA의 종류와 세포 내 분포</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전사의 기본 용어: 주형 가닥과 암호 가닥</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세균의 RNA polymerase와 σ 인자</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진핵세포의 세 가지 RNA polymerase</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전사 개시: 닫힌 복합체에서 promoter 탈출까지</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신장과 전사의 충실도</a:t>
            </a:r>
          </a:p>
          <a:p>
            <a:pPr>
              <a:spcAft>
                <a:spcPts val="900"/>
              </a:spcAft>
            </a:pPr>
            <a:r>
              <a:rPr sz="2000" b="1" i="0">
                <a:solidFill>
                  <a:srgbClr val="F2B705"/>
                </a:solidFill>
                <a:latin typeface="Malgun Gothic"/>
                <a:ea typeface="Malgun Gothic"/>
                <a:cs typeface="Malgun Gothic"/>
              </a:rPr>
              <a:t>8.  </a:t>
            </a:r>
            <a:r>
              <a:rPr sz="2000" b="0" i="0">
                <a:solidFill>
                  <a:srgbClr val="11202B"/>
                </a:solidFill>
                <a:latin typeface="Malgun Gothic"/>
                <a:ea typeface="Malgun Gothic"/>
                <a:cs typeface="Malgun Gothic"/>
              </a:rPr>
              <a:t>8. 종결: 세균의 두 방식과 진핵 Pol II</a:t>
            </a:r>
          </a:p>
          <a:p>
            <a:pPr>
              <a:spcAft>
                <a:spcPts val="900"/>
              </a:spcAft>
            </a:pPr>
            <a:r>
              <a:rPr sz="2000" b="1" i="0">
                <a:solidFill>
                  <a:srgbClr val="F2B705"/>
                </a:solidFill>
                <a:latin typeface="Malgun Gothic"/>
                <a:ea typeface="Malgun Gothic"/>
                <a:cs typeface="Malgun Gothic"/>
              </a:rPr>
              <a:t>9.  </a:t>
            </a:r>
            <a:r>
              <a:rPr sz="2000" b="0" i="0">
                <a:solidFill>
                  <a:srgbClr val="11202B"/>
                </a:solidFill>
                <a:latin typeface="Malgun Gothic"/>
                <a:ea typeface="Malgun Gothic"/>
                <a:cs typeface="Malgun Gothic"/>
              </a:rPr>
              <a:t>9. 전사를 억제하는 약물과 독소</a:t>
            </a:r>
          </a:p>
          <a:p>
            <a:pPr>
              <a:spcAft>
                <a:spcPts val="900"/>
              </a:spcAft>
            </a:pPr>
            <a:r>
              <a:rPr sz="2000" b="1" i="0">
                <a:solidFill>
                  <a:srgbClr val="F2B705"/>
                </a:solidFill>
                <a:latin typeface="Malgun Gothic"/>
                <a:ea typeface="Malgun Gothic"/>
                <a:cs typeface="Malgun Gothic"/>
              </a:rPr>
              <a:t>10.  </a:t>
            </a:r>
            <a:r>
              <a:rPr sz="2000" b="0" i="0">
                <a:solidFill>
                  <a:srgbClr val="11202B"/>
                </a:solidFill>
                <a:latin typeface="Malgun Gothic"/>
                <a:ea typeface="Malgun Gothic"/>
                <a:cs typeface="Malgun Gothic"/>
              </a:rPr>
              <a:t>10. 전사를 어떻게 측정하는가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RNA와 DNA의 화학적 차이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RNA와 DNA는 둘 다 뉴클레오타이드의 중합체이지만 세 가지가 다르고, 그 차이가 두 분자의 역할 분담을 결정한다.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차이 1: 당.</a:t>
            </a:r>
            <a:r>
              <a:rPr sz="1400" b="0" i="0">
                <a:solidFill>
                  <a:srgbClr val="11202B"/>
                </a:solidFill>
                <a:latin typeface="Malgun Gothic"/>
                <a:ea typeface="Malgun Gothic"/>
                <a:cs typeface="Malgun Gothic"/>
              </a:rPr>
              <a:t> DNA는 </a:t>
            </a:r>
            <a:r>
              <a:rPr sz="1400" b="1" i="0">
                <a:solidFill>
                  <a:srgbClr val="11202B"/>
                </a:solidFill>
                <a:latin typeface="Malgun Gothic"/>
                <a:ea typeface="Malgun Gothic"/>
                <a:cs typeface="Malgun Gothic"/>
              </a:rPr>
              <a:t>deoxyribose</a:t>
            </a:r>
            <a:r>
              <a:rPr sz="1400" b="0" i="0">
                <a:solidFill>
                  <a:srgbClr val="11202B"/>
                </a:solidFill>
                <a:latin typeface="Malgun Gothic"/>
                <a:ea typeface="Malgun Gothic"/>
                <a:cs typeface="Malgun Gothic"/>
              </a:rPr>
              <a:t>, RNA는 </a:t>
            </a:r>
            <a:r>
              <a:rPr sz="1400" b="1" i="0">
                <a:solidFill>
                  <a:srgbClr val="11202B"/>
                </a:solidFill>
                <a:latin typeface="Malgun Gothic"/>
                <a:ea typeface="Malgun Gothic"/>
                <a:cs typeface="Malgun Gothic"/>
              </a:rPr>
              <a:t>ribose</a:t>
            </a:r>
            <a:r>
              <a:rPr sz="1400" b="0" i="0">
                <a:solidFill>
                  <a:srgbClr val="11202B"/>
                </a:solidFill>
                <a:latin typeface="Malgun Gothic"/>
                <a:ea typeface="Malgun Gothic"/>
                <a:cs typeface="Malgun Gothic"/>
              </a:rPr>
              <a:t>를 가진다. 둘의 차이는 2′ 탄소에 hydroxyl기가 있는지 여부다. RNA에는 있고 DNA에는 없다.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차이 2: 염기.</a:t>
            </a:r>
            <a:r>
              <a:rPr sz="1400" b="0" i="0">
                <a:solidFill>
                  <a:srgbClr val="11202B"/>
                </a:solidFill>
                <a:latin typeface="Malgun Gothic"/>
                <a:ea typeface="Malgun Gothic"/>
                <a:cs typeface="Malgun Gothic"/>
              </a:rPr>
              <a:t> 둘 다 adenine, guanine, cytosine을 쓰지만, DNA는 </a:t>
            </a:r>
            <a:r>
              <a:rPr sz="1400" b="1" i="0">
                <a:solidFill>
                  <a:srgbClr val="11202B"/>
                </a:solidFill>
                <a:latin typeface="Malgun Gothic"/>
                <a:ea typeface="Malgun Gothic"/>
                <a:cs typeface="Malgun Gothic"/>
              </a:rPr>
              <a:t>thymine</a:t>
            </a:r>
            <a:r>
              <a:rPr sz="1400" b="0" i="0">
                <a:solidFill>
                  <a:srgbClr val="11202B"/>
                </a:solidFill>
                <a:latin typeface="Malgun Gothic"/>
                <a:ea typeface="Malgun Gothic"/>
                <a:cs typeface="Malgun Gothic"/>
              </a:rPr>
              <a:t>을, RNA는 </a:t>
            </a:r>
            <a:r>
              <a:rPr sz="1400" b="1" i="0">
                <a:solidFill>
                  <a:srgbClr val="11202B"/>
                </a:solidFill>
                <a:latin typeface="Malgun Gothic"/>
                <a:ea typeface="Malgun Gothic"/>
                <a:cs typeface="Malgun Gothic"/>
              </a:rPr>
              <a:t>uracil</a:t>
            </a:r>
            <a:r>
              <a:rPr sz="1400" b="0" i="0">
                <a:solidFill>
                  <a:srgbClr val="11202B"/>
                </a:solidFill>
                <a:latin typeface="Malgun Gothic"/>
                <a:ea typeface="Malgun Gothic"/>
                <a:cs typeface="Malgun Gothic"/>
              </a:rPr>
              <a:t>을 쓴다. Thymine은 uracil에 methyl기가 하나 붙은 형태다.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차이 3: 가닥 수.</a:t>
            </a:r>
            <a:r>
              <a:rPr sz="1400" b="0" i="0">
                <a:solidFill>
                  <a:srgbClr val="11202B"/>
                </a:solidFill>
                <a:latin typeface="Malgun Gothic"/>
                <a:ea typeface="Malgun Gothic"/>
                <a:cs typeface="Malgun Gothic"/>
              </a:rPr>
              <a:t> DNA는 보통 이중나선이고, RNA는 보통 단일가닥이다. 다만 RNA가 단일가닥이라는 것은 구조가 없다는 뜻이 아니다. 자기 자신과 염기쌍을 이루어 머리핀, 고리, 복잡한 3차 구조를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차이들의 </a:t>
            </a:r>
            <a:r>
              <a:rPr sz="1400" b="1" i="0">
                <a:solidFill>
                  <a:srgbClr val="11202B"/>
                </a:solidFill>
                <a:latin typeface="Malgun Gothic"/>
                <a:ea typeface="Malgun Gothic"/>
                <a:cs typeface="Malgun Gothic"/>
              </a:rPr>
              <a:t>결과</a:t>
            </a:r>
            <a:r>
              <a:rPr sz="1400" b="0" i="0">
                <a:solidFill>
                  <a:srgbClr val="11202B"/>
                </a:solidFill>
                <a:latin typeface="Malgun Gothic"/>
                <a:ea typeface="Malgun Gothic"/>
                <a:cs typeface="Malgun Gothic"/>
              </a:rPr>
              <a:t>를 하나씩 보아야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 hydroxyl기의 결과: RNA는 불안정하다.</a:t>
            </a:r>
            <a:r>
              <a:rPr sz="1400" b="0" i="0">
                <a:solidFill>
                  <a:srgbClr val="11202B"/>
                </a:solidFill>
                <a:latin typeface="Malgun Gothic"/>
                <a:ea typeface="Malgun Gothic"/>
                <a:cs typeface="Malgun Gothic"/>
              </a:rPr>
              <a:t> 2′ hydroxyl기는 자신의 바로 옆 인산 결합을 공격할 수 있는 위치에 있다. 특히 알칼리성 조건에서 이 공격이 일어나 사슬이 끊어진다. DNA에는 이 기가 없으므로 같은 조건에서 안정하다. </a:t>
            </a:r>
            <a:r>
              <a:rPr sz="1400" b="1" i="0">
                <a:solidFill>
                  <a:srgbClr val="11202B"/>
                </a:solidFill>
                <a:latin typeface="Malgun Gothic"/>
                <a:ea typeface="Malgun Gothic"/>
                <a:cs typeface="Malgun Gothic"/>
              </a:rPr>
              <a:t>유전정보의 장기 보관을 DNA가 맡고 RNA가 일시적인 전달과 작업을 맡는 분업</a:t>
            </a:r>
            <a:r>
              <a:rPr sz="1400" b="0" i="0">
                <a:solidFill>
                  <a:srgbClr val="11202B"/>
                </a:solidFill>
                <a:latin typeface="Malgun Gothic"/>
                <a:ea typeface="Malgun Gothic"/>
                <a:cs typeface="Malgun Gothic"/>
              </a:rPr>
              <a:t>의 화학적 근거가 여기에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hydroxyl기는 동시에 </a:t>
            </a:r>
            <a:r>
              <a:rPr sz="1400" b="1" i="0">
                <a:solidFill>
                  <a:srgbClr val="11202B"/>
                </a:solidFill>
                <a:latin typeface="Malgun Gothic"/>
                <a:ea typeface="Malgun Gothic"/>
                <a:cs typeface="Malgun Gothic"/>
              </a:rPr>
              <a:t>RNA에 촉매 활성을 줄 수 있는 근거</a:t>
            </a:r>
            <a:r>
              <a:rPr sz="1400" b="0" i="0">
                <a:solidFill>
                  <a:srgbClr val="11202B"/>
                </a:solidFill>
                <a:latin typeface="Malgun Gothic"/>
                <a:ea typeface="Malgun Gothic"/>
                <a:cs typeface="Malgun Gothic"/>
              </a:rPr>
              <a:t>이기도 하다. 반응에 참여할 수 있는 기가 있기 때문이다. Ribozyme과 ribosome의 촉매 활성이 이 성질에 의존한다.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RNA와 DNA의 화학적 차이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Thymine 대신 uracil을 쓰는 결과: 수선의 기준이 생긴다.</a:t>
            </a:r>
            <a:r>
              <a:rPr sz="1600" b="0" i="0">
                <a:solidFill>
                  <a:srgbClr val="11202B"/>
                </a:solidFill>
                <a:latin typeface="Malgun Gothic"/>
                <a:ea typeface="Malgun Gothic"/>
                <a:cs typeface="Malgun Gothic"/>
              </a:rPr>
              <a:t> Cytosine은 자발적으로 탈아미노화되어 </a:t>
            </a:r>
            <a:r>
              <a:rPr sz="1600" b="1" i="0">
                <a:solidFill>
                  <a:srgbClr val="11202B"/>
                </a:solidFill>
                <a:latin typeface="Malgun Gothic"/>
                <a:ea typeface="Malgun Gothic"/>
                <a:cs typeface="Malgun Gothic"/>
              </a:rPr>
              <a:t>uracil</a:t>
            </a:r>
            <a:r>
              <a:rPr sz="1600" b="0" i="0">
                <a:solidFill>
                  <a:srgbClr val="11202B"/>
                </a:solidFill>
                <a:latin typeface="Malgun Gothic"/>
                <a:ea typeface="Malgun Gothic"/>
                <a:cs typeface="Malgun Gothic"/>
              </a:rPr>
              <a:t>이 된다. 만약 DNA가 uracil을 정상 염기로 썼다면, 탈아미노화로 생긴 uracil과 원래 있던 uracil을 구별할 수 없어 수선할 수 없다. DNA가 thymine을 쓰기 때문에 DNA에서 발견된 uracil은 </a:t>
            </a:r>
            <a:r>
              <a:rPr sz="1600" b="1" i="0">
                <a:solidFill>
                  <a:srgbClr val="11202B"/>
                </a:solidFill>
                <a:latin typeface="Malgun Gothic"/>
                <a:ea typeface="Malgun Gothic"/>
                <a:cs typeface="Malgun Gothic"/>
              </a:rPr>
              <a:t>무조건 손상</a:t>
            </a:r>
            <a:r>
              <a:rPr sz="1600" b="0" i="0">
                <a:solidFill>
                  <a:srgbClr val="11202B"/>
                </a:solidFill>
                <a:latin typeface="Malgun Gothic"/>
                <a:ea typeface="Malgun Gothic"/>
                <a:cs typeface="Malgun Gothic"/>
              </a:rPr>
              <a:t>이며, uracil-DNA glycosylase가 제거할 수 있다. RNA는 오래 보관하지 않으므로 이 보호가 필요하지 않고, methyl기를 붙이는 비용도 들지 않는다.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단일가닥이라는 결과: 구조가 기능이 된다.</a:t>
            </a:r>
            <a:r>
              <a:rPr sz="1600" b="0" i="0">
                <a:solidFill>
                  <a:srgbClr val="11202B"/>
                </a:solidFill>
                <a:latin typeface="Malgun Gothic"/>
                <a:ea typeface="Malgun Gothic"/>
                <a:cs typeface="Malgun Gothic"/>
              </a:rPr>
              <a:t> 이중나선인 DNA는 서열을 담는 데 적합하지만 형태가 거의 일정하다. 단일가닥 RNA는 서열에 따라 서로 다른 3차 구조를 접으므로, </a:t>
            </a:r>
            <a:r>
              <a:rPr sz="1600" b="1" i="0">
                <a:solidFill>
                  <a:srgbClr val="11202B"/>
                </a:solidFill>
                <a:latin typeface="Malgun Gothic"/>
                <a:ea typeface="Malgun Gothic"/>
                <a:cs typeface="Malgun Gothic"/>
              </a:rPr>
              <a:t>서열이 곧 구조이고 구조가 곧 기능</a:t>
            </a:r>
            <a:r>
              <a:rPr sz="1600" b="0" i="0">
                <a:solidFill>
                  <a:srgbClr val="11202B"/>
                </a:solidFill>
                <a:latin typeface="Malgun Gothic"/>
                <a:ea typeface="Malgun Gothic"/>
                <a:cs typeface="Malgun Gothic"/>
              </a:rPr>
              <a:t>이 될 수 있다. tRNA의 클로버잎 구조, ribosome의 촉매 중심, 앞 수업에서 본 리더 RNA의 두 가지 2차 구조가 모두 이 성질에서 나온다.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RNA와 DNA의 화학적 차이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7</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항바이러스제와 항암제의 상당수가 뉴클레오타이드 유사체다. 당이나 염기를 조금 바꾼 분자를 넣어 중합효소가 그것을 끼워 넣게 만들고, 끼워진 뒤에는 사슬이 더 이어지지 않게 하거나 변이를 유발한다. 선택성은 </a:t>
            </a:r>
            <a:r>
              <a:rPr sz="1600" b="1" i="0">
                <a:solidFill>
                  <a:srgbClr val="11202B"/>
                </a:solidFill>
                <a:latin typeface="Malgun Gothic"/>
                <a:ea typeface="Malgun Gothic"/>
                <a:cs typeface="Malgun Gothic"/>
              </a:rPr>
              <a:t>사람 효소와 병원체 효소가 기질을 구별하는 정도의 차이</a:t>
            </a:r>
            <a:r>
              <a:rPr sz="1600" b="0" i="0">
                <a:solidFill>
                  <a:srgbClr val="11202B"/>
                </a:solidFill>
                <a:latin typeface="Malgun Gothic"/>
                <a:ea typeface="Malgun Gothic"/>
                <a:cs typeface="Malgun Gothic"/>
              </a:rPr>
              <a:t>에서 나온다. Remdesivir는 RNA 의존 RNA polymerase를, acyclovir는 바이러스 thymidine kinase가 먼저 활성화해야 작동하도록 설계되어 선택성을 얻는다.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RNA와 DNA의 화학적 차이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8</a:t>
            </a:r>
          </a:p>
        </p:txBody>
      </p:sp>
      <p:pic>
        <p:nvPicPr>
          <p:cNvPr id="7" name="Picture 6" descr="fig-rna-vs-dna.slide.png"/>
          <p:cNvPicPr>
            <a:picLocks noChangeAspect="1"/>
          </p:cNvPicPr>
          <p:nvPr/>
        </p:nvPicPr>
        <p:blipFill>
          <a:blip r:embed="rId2"/>
          <a:stretch>
            <a:fillRect/>
          </a:stretch>
        </p:blipFill>
        <p:spPr>
          <a:xfrm>
            <a:off x="1651438" y="1325880"/>
            <a:ext cx="888881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RNA와 DNA의 세 가지 화학적 차이와 그 결과. 2′ hydroxyl기의 유무와 그것이 만드는 불안정성·촉매 가능성, thymine과 uracil의 차이가 수선의 기준을 만드는 논리, 그리고 단일가닥 RNA가 서열에 따라 접히는 구조를 함께 보인다.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RNA의 종류와 세포 내 분포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 안의 RNA를 기능과 양으로 정리하면 전사의 목적이 분명해진다.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rRNA(ribosomal RNA)</a:t>
            </a:r>
            <a:r>
              <a:rPr sz="1400" b="0" i="0">
                <a:solidFill>
                  <a:srgbClr val="11202B"/>
                </a:solidFill>
                <a:latin typeface="Malgun Gothic"/>
                <a:ea typeface="Malgun Gothic"/>
                <a:cs typeface="Malgun Gothic"/>
              </a:rPr>
              <a:t>: 세포 RNA의 약 </a:t>
            </a:r>
            <a:r>
              <a:rPr sz="1400" b="1" i="0">
                <a:solidFill>
                  <a:srgbClr val="11202B"/>
                </a:solidFill>
                <a:latin typeface="Malgun Gothic"/>
                <a:ea typeface="Malgun Gothic"/>
                <a:cs typeface="Malgun Gothic"/>
              </a:rPr>
              <a:t>80%</a:t>
            </a:r>
            <a:r>
              <a:rPr sz="1400" b="0" i="0">
                <a:solidFill>
                  <a:srgbClr val="11202B"/>
                </a:solidFill>
                <a:latin typeface="Malgun Gothic"/>
                <a:ea typeface="Malgun Gothic"/>
                <a:cs typeface="Malgun Gothic"/>
              </a:rPr>
              <a:t> 를 차지한다. Ribosome의 구조를 만들고 peptide 결합 형성을 촉매한다. 사람에서 28S, 18S, 5.8S, 5S가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tRNA(transfer RNA)</a:t>
            </a:r>
            <a:r>
              <a:rPr sz="1400" b="0" i="0">
                <a:solidFill>
                  <a:srgbClr val="11202B"/>
                </a:solidFill>
                <a:latin typeface="Malgun Gothic"/>
                <a:ea typeface="Malgun Gothic"/>
                <a:cs typeface="Malgun Gothic"/>
              </a:rPr>
              <a:t>: 약 </a:t>
            </a:r>
            <a:r>
              <a:rPr sz="1400" b="1" i="0">
                <a:solidFill>
                  <a:srgbClr val="11202B"/>
                </a:solidFill>
                <a:latin typeface="Malgun Gothic"/>
                <a:ea typeface="Malgun Gothic"/>
                <a:cs typeface="Malgun Gothic"/>
              </a:rPr>
              <a:t>15%</a:t>
            </a:r>
            <a:r>
              <a:rPr sz="1400" b="0" i="0">
                <a:solidFill>
                  <a:srgbClr val="11202B"/>
                </a:solidFill>
                <a:latin typeface="Malgun Gothic"/>
                <a:ea typeface="Malgun Gothic"/>
                <a:cs typeface="Malgun Gothic"/>
              </a:rPr>
              <a:t>. 아미노산을 운반하고 codon을 해독한다. 약 76~90 염기이며 클로버잎 모양의 2차 구조와 L자 모양의 3차 구조를 가진다. 여러 수식 염기를 포함한다.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mRNA(messenger RNA)</a:t>
            </a:r>
            <a:r>
              <a:rPr sz="1400" b="0" i="0">
                <a:solidFill>
                  <a:srgbClr val="11202B"/>
                </a:solidFill>
                <a:latin typeface="Malgun Gothic"/>
                <a:ea typeface="Malgun Gothic"/>
                <a:cs typeface="Malgun Gothic"/>
              </a:rPr>
              <a:t>: 약 </a:t>
            </a:r>
            <a:r>
              <a:rPr sz="1400" b="1" i="0">
                <a:solidFill>
                  <a:srgbClr val="11202B"/>
                </a:solidFill>
                <a:latin typeface="Malgun Gothic"/>
                <a:ea typeface="Malgun Gothic"/>
                <a:cs typeface="Malgun Gothic"/>
              </a:rPr>
              <a:t>2~5%</a:t>
            </a:r>
            <a:r>
              <a:rPr sz="1400" b="0" i="0">
                <a:solidFill>
                  <a:srgbClr val="11202B"/>
                </a:solidFill>
                <a:latin typeface="Malgun Gothic"/>
                <a:ea typeface="Malgun Gothic"/>
                <a:cs typeface="Malgun Gothic"/>
              </a:rPr>
              <a:t> 에 불과하다. 단백질의 아미노산 서열을 지정한다.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조절 RNA와 기타</a:t>
            </a:r>
            <a:r>
              <a:rPr sz="1400" b="0" i="0">
                <a:solidFill>
                  <a:srgbClr val="11202B"/>
                </a:solidFill>
                <a:latin typeface="Malgun Gothic"/>
                <a:ea typeface="Malgun Gothic"/>
                <a:cs typeface="Malgun Gothic"/>
              </a:rPr>
              <a:t>: snRNA, snoRNA, miRNA, lncRNA 등. 양은 적지만 종류가 많다.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수치가 주는 교훈이 있다. </a:t>
            </a:r>
            <a:r>
              <a:rPr sz="1400" b="1" i="0">
                <a:solidFill>
                  <a:srgbClr val="11202B"/>
                </a:solidFill>
                <a:latin typeface="Malgun Gothic"/>
                <a:ea typeface="Malgun Gothic"/>
                <a:cs typeface="Malgun Gothic"/>
              </a:rPr>
              <a:t>mRNA는 세포 RNA의 극히 일부다.</a:t>
            </a:r>
            <a:r>
              <a:rPr sz="1400" b="0" i="0">
                <a:solidFill>
                  <a:srgbClr val="11202B"/>
                </a:solidFill>
                <a:latin typeface="Malgun Gothic"/>
                <a:ea typeface="Malgun Gothic"/>
                <a:cs typeface="Malgun Gothic"/>
              </a:rPr>
              <a:t> 전사체 분석에서 mRNA를 보려면 rRNA를 제거하거나 poly(A) 꼬리를 가진 RNA만 선택해야 하는 이유가 이것이다. 전체 RNA를 그냥 읽으면 거의 전부가 rRNA다.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또 하나의 교훈은 </a:t>
            </a:r>
            <a:r>
              <a:rPr sz="1400" b="1" i="0">
                <a:solidFill>
                  <a:srgbClr val="11202B"/>
                </a:solidFill>
                <a:latin typeface="Malgun Gothic"/>
                <a:ea typeface="Malgun Gothic"/>
                <a:cs typeface="Malgun Gothic"/>
              </a:rPr>
              <a:t>양과 중요성이 비례하지 않는다</a:t>
            </a:r>
            <a:r>
              <a:rPr sz="1400" b="0" i="0">
                <a:solidFill>
                  <a:srgbClr val="11202B"/>
                </a:solidFill>
                <a:latin typeface="Malgun Gothic"/>
                <a:ea typeface="Malgun Gothic"/>
                <a:cs typeface="Malgun Gothic"/>
              </a:rPr>
              <a:t>는 것이다. mRNA는 양이 적지만 종류가 2만 가지 이상이고 각각의 양이 조절된다. rRNA는 양이 많지만 종류가 네 가지이고 거의 항상 대량으로 필요하다.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세균의 mRNA와 진핵세포의 mRNA는 성질이 다르다.</a:t>
            </a:r>
            <a:r>
              <a:rPr sz="1400" b="0" i="0">
                <a:solidFill>
                  <a:srgbClr val="11202B"/>
                </a:solidFill>
                <a:latin typeface="Malgun Gothic"/>
                <a:ea typeface="Malgun Gothic"/>
                <a:cs typeface="Malgun Gothic"/>
              </a:rPr>
              <a:t> 전사체당 유전자 수, 가공의 필요, 반감기, 전사와 번역의 공간 분리에서 갈린다(그림 참조).</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세균 mRNA의 반감기가 수 분이라는 점이 환경 대응에 유리하다. 필요가 사라지면 기존 mRNA가 곧 없어지므로 발현을 빠르게 거둘 수 있다. 진핵 mRNA는 오래 유지되므로 전사를 멈추어도 한동안 번역이 이어진다. 두 전략의 차이가 앞서 본 조절 과제의 차이와 대응한다.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RNA의 종류와 세포 내 분포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10</a:t>
            </a:r>
          </a:p>
        </p:txBody>
      </p:sp>
      <p:pic>
        <p:nvPicPr>
          <p:cNvPr id="7" name="Picture 6" descr="fig-rna-classes.slide.png"/>
          <p:cNvPicPr>
            <a:picLocks noChangeAspect="1"/>
          </p:cNvPicPr>
          <p:nvPr/>
        </p:nvPicPr>
        <p:blipFill>
          <a:blip r:embed="rId2"/>
          <a:stretch>
            <a:fillRect/>
          </a:stretch>
        </p:blipFill>
        <p:spPr>
          <a:xfrm>
            <a:off x="1545619" y="1325880"/>
            <a:ext cx="9100457"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세포 내 RNA의 종류와 비율. rRNA·tRNA·mRNA·조절 RNA의 양적 분포, mRNA가 전체의 2~5%에 불과하다는 사실과 전사체 분석에서 rRNA를 제거해야 하는 이유, 그리고 세균과 진핵세포 mRNA의 네 가지 성질 차이를 함께 보인다.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전사의 기본 용어: 주형 가닥과 암호 가닥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전사를 서술하려면 용어를 먼저 확정해야 한다. 이 절의 용어를 잘못 쓰면 뒤의 모든 서술이 틀어진다.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DNA는 이중나선이므로 두 가닥이 있다. 전사에서 두 가닥의 역할이 다르다.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주형 가닥(template strand, antisense strand)</a:t>
            </a:r>
            <a:r>
              <a:rPr sz="1400" b="0" i="0">
                <a:solidFill>
                  <a:srgbClr val="11202B"/>
                </a:solidFill>
                <a:latin typeface="Malgun Gothic"/>
                <a:ea typeface="Malgun Gothic"/>
                <a:cs typeface="Malgun Gothic"/>
              </a:rPr>
              <a:t>: RNA polymerase가 읽는 가닥이다. 만들어지는 RNA와 </a:t>
            </a:r>
            <a:r>
              <a:rPr sz="1400" b="1" i="0">
                <a:solidFill>
                  <a:srgbClr val="11202B"/>
                </a:solidFill>
                <a:latin typeface="Malgun Gothic"/>
                <a:ea typeface="Malgun Gothic"/>
                <a:cs typeface="Malgun Gothic"/>
              </a:rPr>
              <a:t>상보적</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암호 가닥(coding strand, sense strand)</a:t>
            </a:r>
            <a:r>
              <a:rPr sz="1400" b="0" i="0">
                <a:solidFill>
                  <a:srgbClr val="11202B"/>
                </a:solidFill>
                <a:latin typeface="Malgun Gothic"/>
                <a:ea typeface="Malgun Gothic"/>
                <a:cs typeface="Malgun Gothic"/>
              </a:rPr>
              <a:t>: 읽히지 않는 가닥이다. 만들어지는 RNA와 </a:t>
            </a:r>
            <a:r>
              <a:rPr sz="1400" b="1" i="0">
                <a:solidFill>
                  <a:srgbClr val="11202B"/>
                </a:solidFill>
                <a:latin typeface="Malgun Gothic"/>
                <a:ea typeface="Malgun Gothic"/>
                <a:cs typeface="Malgun Gothic"/>
              </a:rPr>
              <a:t>서열이 같다</a:t>
            </a:r>
            <a:r>
              <a:rPr sz="1400" b="0" i="0">
                <a:solidFill>
                  <a:srgbClr val="11202B"/>
                </a:solidFill>
                <a:latin typeface="Malgun Gothic"/>
                <a:ea typeface="Malgun Gothic"/>
                <a:cs typeface="Malgun Gothic"/>
              </a:rPr>
              <a:t>(T가 U로 바뀌는 것만 다르다).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유전자의 서열을 기록할 때는 관례적으로 </a:t>
            </a:r>
            <a:r>
              <a:rPr sz="1400" b="1" i="0">
                <a:solidFill>
                  <a:srgbClr val="11202B"/>
                </a:solidFill>
                <a:latin typeface="Malgun Gothic"/>
                <a:ea typeface="Malgun Gothic"/>
                <a:cs typeface="Malgun Gothic"/>
              </a:rPr>
              <a:t>암호 가닥을 5′→3′ 방향으로 쓴다.</a:t>
            </a:r>
            <a:r>
              <a:rPr sz="1400" b="0" i="0">
                <a:solidFill>
                  <a:srgbClr val="11202B"/>
                </a:solidFill>
                <a:latin typeface="Malgun Gothic"/>
                <a:ea typeface="Malgun Gothic"/>
                <a:cs typeface="Malgun Gothic"/>
              </a:rPr>
              <a:t> RNA 산물과 같은 서열이므로 읽기 편하기 때문이다. 교재나 데이터베이스에서 유전자 서열을 볼 때 그것이 암호 가닥임을 전제해야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예를 들어 암호 가닥이 5′-ATG GCA TTC-3′이면,</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주형 가닥은 3′-TAC CGT AAG-5′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RNA 산물은 5′-AUG GCA UUC-3′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중요한 사실이 있다. </a:t>
            </a:r>
            <a:r>
              <a:rPr sz="1400" b="1" i="0">
                <a:solidFill>
                  <a:srgbClr val="11202B"/>
                </a:solidFill>
                <a:latin typeface="Malgun Gothic"/>
                <a:ea typeface="Malgun Gothic"/>
                <a:cs typeface="Malgun Gothic"/>
              </a:rPr>
              <a:t>어느 가닥이 주형인지는 유전자마다 다르다.</a:t>
            </a:r>
            <a:r>
              <a:rPr sz="1400" b="0" i="0">
                <a:solidFill>
                  <a:srgbClr val="11202B"/>
                </a:solidFill>
                <a:latin typeface="Malgun Gothic"/>
                <a:ea typeface="Malgun Gothic"/>
                <a:cs typeface="Malgun Gothic"/>
              </a:rPr>
              <a:t> 하나의 DNA 분자에서 어떤 유전자는 한쪽 가닥을, 다른 유전자는 반대쪽 가닥을 주형으로 쓴다. 주형을 정하는 것은 </a:t>
            </a:r>
            <a:r>
              <a:rPr sz="1400" b="1" i="0">
                <a:solidFill>
                  <a:srgbClr val="11202B"/>
                </a:solidFill>
                <a:latin typeface="Malgun Gothic"/>
                <a:ea typeface="Malgun Gothic"/>
                <a:cs typeface="Malgun Gothic"/>
              </a:rPr>
              <a:t>promoter의 방향</a:t>
            </a:r>
            <a:r>
              <a:rPr sz="1400" b="0" i="0">
                <a:solidFill>
                  <a:srgbClr val="11202B"/>
                </a:solidFill>
                <a:latin typeface="Malgun Gothic"/>
                <a:ea typeface="Malgun Gothic"/>
                <a:cs typeface="Malgun Gothic"/>
              </a:rPr>
              <a:t>이다. RNA polymerase가 promoter에 자리 잡는 방향이 어느 가닥을 읽을지와 어느 쪽으로 진행할지를 함께 정한다.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전사의 방향</a:t>
            </a:r>
            <a:r>
              <a:rPr sz="1400" b="0" i="0">
                <a:solidFill>
                  <a:srgbClr val="11202B"/>
                </a:solidFill>
                <a:latin typeface="Malgun Gothic"/>
                <a:ea typeface="Malgun Gothic"/>
                <a:cs typeface="Malgun Gothic"/>
              </a:rPr>
              <a:t>은 두 기준으로 서술해야 하고, 두 기준이 반대 방향을 가리킨다.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RNA가 자라는 방향</a:t>
            </a:r>
            <a:r>
              <a:rPr sz="1400" b="0" i="0">
                <a:solidFill>
                  <a:srgbClr val="11202B"/>
                </a:solidFill>
                <a:latin typeface="Malgun Gothic"/>
                <a:ea typeface="Malgun Gothic"/>
                <a:cs typeface="Malgun Gothic"/>
              </a:rPr>
              <a:t>: 5′→3′. 새 뉴클레오타이드가 자라는 사슬의 3′ 말단에 붙는다.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전사의 기본 용어: 주형 가닥과 암호 가닥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주형을 읽는 방향</a:t>
            </a:r>
            <a:r>
              <a:rPr sz="1800" b="0" i="0">
                <a:solidFill>
                  <a:srgbClr val="11202B"/>
                </a:solidFill>
                <a:latin typeface="Malgun Gothic"/>
                <a:ea typeface="Malgun Gothic"/>
                <a:cs typeface="Malgun Gothic"/>
              </a:rPr>
              <a:t>: 3′→5′.</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RNA가 5′→3′로만 합성되는 이유는 화학 반응의 구조에 있다. 중합 반응은 </a:t>
            </a:r>
            <a:r>
              <a:rPr sz="1800" b="1" i="0">
                <a:solidFill>
                  <a:srgbClr val="11202B"/>
                </a:solidFill>
                <a:latin typeface="Malgun Gothic"/>
                <a:ea typeface="Malgun Gothic"/>
                <a:cs typeface="Malgun Gothic"/>
              </a:rPr>
              <a:t>자라는 사슬의 3′ hydroxyl기가 들어오는 뉴클레오타이드의 5′ 삼인산을 공격</a:t>
            </a:r>
            <a:r>
              <a:rPr sz="1800" b="0" i="0">
                <a:solidFill>
                  <a:srgbClr val="11202B"/>
                </a:solidFill>
                <a:latin typeface="Malgun Gothic"/>
                <a:ea typeface="Malgun Gothic"/>
                <a:cs typeface="Malgun Gothic"/>
              </a:rPr>
              <a:t>해 결합을 만든다. 따라서 결합이 만들어지는 자리는 항상 사슬의 3′ 쪽이다. 이 방향성은 DNA polymerase와 RNA polymerase에 공통이며, 반응의 화학에서 나오는 제약이다.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전사와 복제의 차이도 여기서 정리해 두어야 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전사의 기본 용어: 주형 가닥과 암호 가닥</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13</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비교 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DNA 복제</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전사</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주형</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두 가닥 모두</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한 가닥만</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범위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유전체 전체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특정 유전자 구간</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Primer</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필요</a:t>
                      </a:r>
                    </a:p>
                  </a:txBody>
                  <a:tcPr marL="73152" marR="73152" marT="27432" marB="27432">
                    <a:solidFill>
                      <a:srgbClr val="FFFFFF"/>
                    </a:solidFill>
                  </a:tcPr>
                </a:tc>
                <a:tc>
                  <a:txBody>
                    <a:bodyPr/>
                    <a:lstStyle/>
                    <a:p>
                      <a:r>
                        <a:rPr sz="1200" b="1" i="0">
                          <a:solidFill>
                            <a:srgbClr val="11202B"/>
                          </a:solidFill>
                          <a:latin typeface="Malgun Gothic"/>
                          <a:ea typeface="Malgun Gothic"/>
                          <a:cs typeface="Malgun Gothic"/>
                        </a:rPr>
                        <a:t>불필요</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산물</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이중나선 DNA</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단일가닥 RNA</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교정 기능</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있다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거의 없다</a:t>
                      </a:r>
                    </a:p>
                  </a:txBody>
                  <a:tcPr marL="73152" marR="73152" marT="27432" marB="27432">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전사의 기본 용어: 주형 가닥과 암호 가닥</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Primer가 필요하지 않다</a:t>
            </a:r>
            <a:r>
              <a:rPr sz="2000" b="0" i="0">
                <a:solidFill>
                  <a:srgbClr val="11202B"/>
                </a:solidFill>
                <a:latin typeface="Malgun Gothic"/>
                <a:ea typeface="Malgun Gothic"/>
                <a:cs typeface="Malgun Gothic"/>
              </a:rPr>
              <a:t>는 점이 중요한 차이다. RNA polymerase는 아무것도 없는 상태에서 첫 뉴클레오타이드를 놓을 수 있다. 그래서 복제에서 RNA primer를 만드는 일(primase)도 RNA polymerase 계열이 담당한다.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전사의 기본 용어: 주형 가닥과 암호 가닥</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15</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전사의 서술에서 틀리기 쉬운 지점은 두 가지다. 주형 가닥과 암호 가닥을 뒤집어 쓰는 것, 그리고 두 방향 기준을 섞어 쓰는 것이다. 문제를 풀 때 먼저 어느 가닥이 주어졌는지 확인한다.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전사의 기본 용어: 주형 가닥과 암호 가닥</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16</a:t>
            </a:r>
          </a:p>
        </p:txBody>
      </p:sp>
      <p:pic>
        <p:nvPicPr>
          <p:cNvPr id="7" name="Picture 6" descr="fig-template-strand.slide.png"/>
          <p:cNvPicPr>
            <a:picLocks noChangeAspect="1"/>
          </p:cNvPicPr>
          <p:nvPr/>
        </p:nvPicPr>
        <p:blipFill>
          <a:blip r:embed="rId2"/>
          <a:stretch>
            <a:fillRect/>
          </a:stretch>
        </p:blipFill>
        <p:spPr>
          <a:xfrm>
            <a:off x="1651438" y="1325880"/>
            <a:ext cx="888881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주형 가닥과 암호 가닥의 구분과 전사의 방향. 두 가닥의 서열과 RNA 산물의 관계, 유전자 서열을 암호 가닥으로 기록하는 관례, promoter의 방향이 주형을 정하는 관계, 그리고 RNA가 5′→3′로 자라고 주형은 3′→5′로 읽히는 두 기준을 함께 보인다.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세균의 RNA polymerase와 σ 인자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세균의 RNA polymerase는 </a:t>
            </a:r>
            <a:r>
              <a:rPr sz="1600" b="1" i="0">
                <a:solidFill>
                  <a:srgbClr val="11202B"/>
                </a:solidFill>
                <a:latin typeface="Malgun Gothic"/>
                <a:ea typeface="Malgun Gothic"/>
                <a:cs typeface="Malgun Gothic"/>
              </a:rPr>
              <a:t>하나의 효소가 모든 RNA를 만든다.</a:t>
            </a:r>
            <a:r>
              <a:rPr sz="1600" b="0" i="0">
                <a:solidFill>
                  <a:srgbClr val="11202B"/>
                </a:solidFill>
                <a:latin typeface="Malgun Gothic"/>
                <a:ea typeface="Malgun Gothic"/>
                <a:cs typeface="Malgun Gothic"/>
              </a:rPr>
              <a:t> 구성은 다음과 같다.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Core enzyme</a:t>
            </a:r>
            <a:r>
              <a:rPr sz="1600" b="0" i="0">
                <a:solidFill>
                  <a:srgbClr val="11202B"/>
                </a:solidFill>
                <a:latin typeface="Malgun Gothic"/>
                <a:ea typeface="Malgun Gothic"/>
                <a:cs typeface="Malgun Gothic"/>
              </a:rPr>
              <a:t>: α₂ββ′ω. 중합 활성을 가지지만 promoter를 인식하지 못한다.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σ 인자(sigma factor)</a:t>
            </a:r>
            <a:r>
              <a:rPr sz="1600" b="0" i="0">
                <a:solidFill>
                  <a:srgbClr val="11202B"/>
                </a:solidFill>
                <a:latin typeface="Malgun Gothic"/>
                <a:ea typeface="Malgun Gothic"/>
                <a:cs typeface="Malgun Gothic"/>
              </a:rPr>
              <a:t>: core에 결합해 promoter 인식 능력을 준다.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Holoenzyme</a:t>
            </a:r>
            <a:r>
              <a:rPr sz="1600" b="0" i="0">
                <a:solidFill>
                  <a:srgbClr val="11202B"/>
                </a:solidFill>
                <a:latin typeface="Malgun Gothic"/>
                <a:ea typeface="Malgun Gothic"/>
                <a:cs typeface="Malgun Gothic"/>
              </a:rPr>
              <a:t>: core + σ. 전사를 개시할 수 있는 완전한 형태다.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구성의 의미는 </a:t>
            </a:r>
            <a:r>
              <a:rPr sz="1600" b="1" i="0">
                <a:solidFill>
                  <a:srgbClr val="11202B"/>
                </a:solidFill>
                <a:latin typeface="Malgun Gothic"/>
                <a:ea typeface="Malgun Gothic"/>
                <a:cs typeface="Malgun Gothic"/>
              </a:rPr>
              <a:t>역할 분담</a:t>
            </a:r>
            <a:r>
              <a:rPr sz="1600" b="0" i="0">
                <a:solidFill>
                  <a:srgbClr val="11202B"/>
                </a:solidFill>
                <a:latin typeface="Malgun Gothic"/>
                <a:ea typeface="Malgun Gothic"/>
                <a:cs typeface="Malgun Gothic"/>
              </a:rPr>
              <a:t>이다. 중합은 core가, 표적 선택은 σ가 담당한다. 그 결과 </a:t>
            </a:r>
            <a:r>
              <a:rPr sz="1600" b="1" i="0">
                <a:solidFill>
                  <a:srgbClr val="11202B"/>
                </a:solidFill>
                <a:latin typeface="Malgun Gothic"/>
                <a:ea typeface="Malgun Gothic"/>
                <a:cs typeface="Malgun Gothic"/>
              </a:rPr>
              <a:t>σ를 바꾸면 전사되는 유전자 집합이 바뀐다.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구조가 조절 수단이 된다. 대장균에는 여러 종류의 σ 인자가 있고 각각 다른 promoter 서열을 인식한다.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σ⁷⁰</a:t>
            </a:r>
            <a:r>
              <a:rPr sz="1600" b="0" i="0">
                <a:solidFill>
                  <a:srgbClr val="11202B"/>
                </a:solidFill>
                <a:latin typeface="Malgun Gothic"/>
                <a:ea typeface="Malgun Gothic"/>
                <a:cs typeface="Malgun Gothic"/>
              </a:rPr>
              <a:t>: 평상시의 대부분 유전자</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σ³²</a:t>
            </a:r>
            <a:r>
              <a:rPr sz="1600" b="0" i="0">
                <a:solidFill>
                  <a:srgbClr val="11202B"/>
                </a:solidFill>
                <a:latin typeface="Malgun Gothic"/>
                <a:ea typeface="Malgun Gothic"/>
                <a:cs typeface="Malgun Gothic"/>
              </a:rPr>
              <a:t>: 열 충격 반응 유전자</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σ⁵⁴</a:t>
            </a:r>
            <a:r>
              <a:rPr sz="1600" b="0" i="0">
                <a:solidFill>
                  <a:srgbClr val="11202B"/>
                </a:solidFill>
                <a:latin typeface="Malgun Gothic"/>
                <a:ea typeface="Malgun Gothic"/>
                <a:cs typeface="Malgun Gothic"/>
              </a:rPr>
              <a:t>: 질소 결핍 반응 유전자</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σ²⁸</a:t>
            </a:r>
            <a:r>
              <a:rPr sz="1600" b="0" i="0">
                <a:solidFill>
                  <a:srgbClr val="11202B"/>
                </a:solidFill>
                <a:latin typeface="Malgun Gothic"/>
                <a:ea typeface="Malgun Gothic"/>
                <a:cs typeface="Malgun Gothic"/>
              </a:rPr>
              <a:t>: 편모 합성 유전자</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열 충격을 받으면 σ³²의 양과 활성이 올라가고, 그러면 holoenzyme의 일부가 σ³² 형태가 되어 열 충격 유전자의 promoter를 인식한다. </a:t>
            </a:r>
            <a:r>
              <a:rPr sz="1600" b="1" i="0">
                <a:solidFill>
                  <a:srgbClr val="11202B"/>
                </a:solidFill>
                <a:latin typeface="Malgun Gothic"/>
                <a:ea typeface="Malgun Gothic"/>
                <a:cs typeface="Malgun Gothic"/>
              </a:rPr>
              <a:t>하나의 전사 기계가 교환 가능한 부품으로 표적을 바꾸는 방식</a:t>
            </a:r>
            <a:r>
              <a:rPr sz="1600" b="0" i="0">
                <a:solidFill>
                  <a:srgbClr val="11202B"/>
                </a:solidFill>
                <a:latin typeface="Malgun Gothic"/>
                <a:ea typeface="Malgun Gothic"/>
                <a:cs typeface="Malgun Gothic"/>
              </a:rPr>
              <a:t>이며, 수십 개의 유전자를 한꺼번에 켜는 데 효율적이다.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세균의 RNA polymerase와 σ 인자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σ의 작동 순서도 알아 둘 만하다. σ는 promoter 인식과 개시에 필요하지만 </a:t>
            </a:r>
            <a:r>
              <a:rPr sz="2000" b="1" i="0">
                <a:solidFill>
                  <a:srgbClr val="11202B"/>
                </a:solidFill>
                <a:latin typeface="Malgun Gothic"/>
                <a:ea typeface="Malgun Gothic"/>
                <a:cs typeface="Malgun Gothic"/>
              </a:rPr>
              <a:t>신장 단계에서는 떨어져 나간다.</a:t>
            </a:r>
            <a:r>
              <a:rPr sz="2000" b="0" i="0">
                <a:solidFill>
                  <a:srgbClr val="11202B"/>
                </a:solidFill>
                <a:latin typeface="Malgun Gothic"/>
                <a:ea typeface="Malgun Gothic"/>
                <a:cs typeface="Malgun Gothic"/>
              </a:rPr>
              <a:t> 떨어진 σ는 다른 core enzyme에 다시 결합해 재사용된다. 즉 σ는 개시 전용 부품이다.</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진핵세포와 비교하면 차이가 분명하다. 세균은 σ 하나가 promoter 인식을 담당하지만, 진핵세포는 앞 수업에서 본 대로 여러 개의 일반 전사인자가 그 일을 나누어 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세균의 RNA polymerase와 σ 인자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19</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Rifampin은 세균 RNA polymerase의 β 소단위에 결합해 전사 개시를 막는다. 사람의 RNA polymerase와 구조가 충분히 달라 선택성이 확보되며, 결핵 치료의 핵심 약물이다. 이 약물의 중요한 특징이 </a:t>
            </a:r>
            <a:r>
              <a:rPr sz="1600" b="1" i="0">
                <a:solidFill>
                  <a:srgbClr val="11202B"/>
                </a:solidFill>
                <a:latin typeface="Malgun Gothic"/>
                <a:ea typeface="Malgun Gothic"/>
                <a:cs typeface="Malgun Gothic"/>
              </a:rPr>
              <a:t>빠른 내성 출현</a:t>
            </a:r>
            <a:r>
              <a:rPr sz="1600" b="0" i="0">
                <a:solidFill>
                  <a:srgbClr val="11202B"/>
                </a:solidFill>
                <a:latin typeface="Malgun Gothic"/>
                <a:ea typeface="Malgun Gothic"/>
                <a:cs typeface="Malgun Gothic"/>
              </a:rPr>
              <a:t>이다. β 소단위를 암호화하는 rpoB 유전자의 점 변이 하나로 결합이 약해지므로, 단독으로 쓰면 수 주 안에 내성이 생긴다. 결핵을 여러 약물을 병용해 치료하는 이유이고, 분자 진단에서 rpoB 변이를 검출해 rifampin 내성을 빠르게 판정하는 근거이기도 하다.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세균의 RNA polymerase와 σ 인자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20</a:t>
            </a:r>
          </a:p>
        </p:txBody>
      </p:sp>
      <p:pic>
        <p:nvPicPr>
          <p:cNvPr id="7" name="Picture 6" descr="fig-bacterial-polymerase.slide.png"/>
          <p:cNvPicPr>
            <a:picLocks noChangeAspect="1"/>
          </p:cNvPicPr>
          <p:nvPr/>
        </p:nvPicPr>
        <p:blipFill>
          <a:blip r:embed="rId2"/>
          <a:stretch>
            <a:fillRect/>
          </a:stretch>
        </p:blipFill>
        <p:spPr>
          <a:xfrm>
            <a:off x="1545619" y="1325880"/>
            <a:ext cx="9100457"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세균 RNA polymerase의 구성과 σ 인자의 역할. Core enzyme과 holoenzyme의 구분, σ가 promoter 인식을 담당하고 신장 단계에서 떨어져 재사용되는 과정, 여러 σ 인자가 서로 다른 유전자 집합을 켜는 교환 가능한 부품 구조, 그리고 rifampin의 작용 지점을 함께 보인다.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진핵세포의 세 가지 RNA polymerase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진핵세포는 </a:t>
            </a:r>
            <a:r>
              <a:rPr sz="2000" b="1" i="0">
                <a:solidFill>
                  <a:srgbClr val="11202B"/>
                </a:solidFill>
                <a:latin typeface="Malgun Gothic"/>
                <a:ea typeface="Malgun Gothic"/>
                <a:cs typeface="Malgun Gothic"/>
              </a:rPr>
              <a:t>세 종류의 RNA polymerase</a:t>
            </a:r>
            <a:r>
              <a:rPr sz="2000" b="0" i="0">
                <a:solidFill>
                  <a:srgbClr val="11202B"/>
                </a:solidFill>
                <a:latin typeface="Malgun Gothic"/>
                <a:ea typeface="Malgun Gothic"/>
                <a:cs typeface="Malgun Gothic"/>
              </a:rPr>
              <a:t>를 가지고 각각 다른 RNA를 만든다. 분업의 기준은 산물의 종류다.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진핵세포의 세 가지 RNA polymerase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22</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효소</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위치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주된 산물</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α-amanitin 감수성</a:t>
                      </a:r>
                    </a:p>
                  </a:txBody>
                  <a:tcPr marL="73152" marR="73152" marT="27432" marB="27432">
                    <a:solidFill>
                      <a:srgbClr val="003C71"/>
                    </a:solidFill>
                  </a:tcPr>
                </a:tc>
              </a:tr>
              <a:tr h="365760">
                <a:tc>
                  <a:txBody>
                    <a:bodyPr/>
                    <a:lstStyle/>
                    <a:p>
                      <a:r>
                        <a:rPr sz="1200" b="1" i="0">
                          <a:solidFill>
                            <a:srgbClr val="11202B"/>
                          </a:solidFill>
                          <a:latin typeface="Malgun Gothic"/>
                          <a:ea typeface="Malgun Gothic"/>
                          <a:cs typeface="Malgun Gothic"/>
                        </a:rPr>
                        <a:t>Pol I</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핵소체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28S, 18S, 5.8S rRNA (하나의 전구체로)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저항</a:t>
                      </a:r>
                    </a:p>
                  </a:txBody>
                  <a:tcPr marL="73152" marR="73152" marT="27432" marB="27432">
                    <a:solidFill>
                      <a:srgbClr val="FFFFFF"/>
                    </a:solidFill>
                  </a:tcPr>
                </a:tc>
              </a:tr>
              <a:tr h="365760">
                <a:tc>
                  <a:txBody>
                    <a:bodyPr/>
                    <a:lstStyle/>
                    <a:p>
                      <a:r>
                        <a:rPr sz="1200" b="1" i="0">
                          <a:solidFill>
                            <a:srgbClr val="11202B"/>
                          </a:solidFill>
                          <a:latin typeface="Malgun Gothic"/>
                          <a:ea typeface="Malgun Gothic"/>
                          <a:cs typeface="Malgun Gothic"/>
                        </a:rPr>
                        <a:t>Pol II</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핵질</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mRNA</a:t>
                      </a:r>
                      <a:r>
                        <a:rPr sz="1200" b="0" i="0">
                          <a:solidFill>
                            <a:srgbClr val="11202B"/>
                          </a:solidFill>
                          <a:latin typeface="Malgun Gothic"/>
                          <a:ea typeface="Malgun Gothic"/>
                          <a:cs typeface="Malgun Gothic"/>
                        </a:rPr>
                        <a:t>, snRNA 대부분, miRNA, lncRNA</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매우 민감</a:t>
                      </a:r>
                    </a:p>
                  </a:txBody>
                  <a:tcPr marL="73152" marR="73152" marT="27432" marB="27432">
                    <a:solidFill>
                      <a:srgbClr val="EFF4F8"/>
                    </a:solidFill>
                  </a:tcPr>
                </a:tc>
              </a:tr>
              <a:tr h="365760">
                <a:tc>
                  <a:txBody>
                    <a:bodyPr/>
                    <a:lstStyle/>
                    <a:p>
                      <a:r>
                        <a:rPr sz="1200" b="1" i="0">
                          <a:solidFill>
                            <a:srgbClr val="11202B"/>
                          </a:solidFill>
                          <a:latin typeface="Malgun Gothic"/>
                          <a:ea typeface="Malgun Gothic"/>
                          <a:cs typeface="Malgun Gothic"/>
                        </a:rPr>
                        <a:t>Pol III</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핵질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tRNA, 5S rRNA, 일부 snRNA</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중간 정도</a:t>
                      </a:r>
                    </a:p>
                  </a:txBody>
                  <a:tcPr marL="73152" marR="73152" marT="27432" marB="27432">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진핵세포의 세 가지 RNA polymerase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표에서 세 가지를 읽어야 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첫째, Pol I이 만드는 양이 가장 많다.</a:t>
            </a:r>
            <a:r>
              <a:rPr sz="1600" b="0" i="0">
                <a:solidFill>
                  <a:srgbClr val="11202B"/>
                </a:solidFill>
                <a:latin typeface="Malgun Gothic"/>
                <a:ea typeface="Malgun Gothic"/>
                <a:cs typeface="Malgun Gothic"/>
              </a:rPr>
              <a:t> rRNA가 세포 RNA의 80%이므로 전사량의 대부분을 Pol I이 담당한다. 핵소체는 이 작업이 집중된 장소다.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둘째, Pol II가 조절의 중심이다.</a:t>
            </a:r>
            <a:r>
              <a:rPr sz="1600" b="0" i="0">
                <a:solidFill>
                  <a:srgbClr val="11202B"/>
                </a:solidFill>
                <a:latin typeface="Malgun Gothic"/>
                <a:ea typeface="Malgun Gothic"/>
                <a:cs typeface="Malgun Gothic"/>
              </a:rPr>
              <a:t> mRNA와 대부분의 조절 RNA를 만들므로, 앞 수업들에서 다룬 전사인자·enhancer·chromatin 조절이 거의 전부 Pol II를 대상으로 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셋째, α-amanitin에 대한 감수성 차이가 실험과 임상에서 쓰인다.</a:t>
            </a:r>
            <a:r>
              <a:rPr sz="1600" b="0" i="0">
                <a:solidFill>
                  <a:srgbClr val="11202B"/>
                </a:solidFill>
                <a:latin typeface="Malgun Gothic"/>
                <a:ea typeface="Malgun Gothic"/>
                <a:cs typeface="Malgun Gothic"/>
              </a:rPr>
              <a:t> α-amanitin은 </a:t>
            </a:r>
            <a:r>
              <a:rPr sz="1600" b="1" i="0">
                <a:solidFill>
                  <a:srgbClr val="11202B"/>
                </a:solidFill>
                <a:latin typeface="Malgun Gothic"/>
                <a:ea typeface="Malgun Gothic"/>
                <a:cs typeface="Malgun Gothic"/>
              </a:rPr>
              <a:t>독우산광대버섯(Amanita) 속 버섯의 독소</a:t>
            </a:r>
            <a:r>
              <a:rPr sz="1600" b="0" i="0">
                <a:solidFill>
                  <a:srgbClr val="11202B"/>
                </a:solidFill>
                <a:latin typeface="Malgun Gothic"/>
                <a:ea typeface="Malgun Gothic"/>
                <a:cs typeface="Malgun Gothic"/>
              </a:rPr>
              <a:t>이며 Pol II를 선택적으로 억제한다. 실험에서는 어느 polymerase가 특정 RNA를 만드는지 판정하는 데 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세 효소의 promoter 인식 방식도 다르다. Pol II는 앞 수업에서 본 TFIID 등 일반 전사인자가 필요하고, Pol I과 Pol III는 각자의 전용 인자를 쓴다. 특히 Pol III의 일부 유전자는 </a:t>
            </a:r>
            <a:r>
              <a:rPr sz="1600" b="1" i="0">
                <a:solidFill>
                  <a:srgbClr val="11202B"/>
                </a:solidFill>
                <a:latin typeface="Malgun Gothic"/>
                <a:ea typeface="Malgun Gothic"/>
                <a:cs typeface="Malgun Gothic"/>
              </a:rPr>
              <a:t>promoter가 전사 영역 내부에 있다</a:t>
            </a:r>
            <a:r>
              <a:rPr sz="1600" b="0" i="0">
                <a:solidFill>
                  <a:srgbClr val="11202B"/>
                </a:solidFill>
                <a:latin typeface="Malgun Gothic"/>
                <a:ea typeface="Malgun Gothic"/>
                <a:cs typeface="Malgun Gothic"/>
              </a:rPr>
              <a:t>는 특이한 배치를 보인다.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진핵세포의 세 가지 RNA polymerase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24</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α-amanitin 중독의 경과가 전사 억제의 결과를 그대로 보여 준다. 섭취 후 6~12시간은 증상이 없거나 위장 증상만 있고, 환자가 회복된 것처럼 보이는 시기가 지난 뒤 24~48시간에 간 손상이 나타난다. 이 지연이 생기는 이유는 전사를 막아도 </a:t>
            </a:r>
            <a:r>
              <a:rPr sz="1600" b="1" i="0">
                <a:solidFill>
                  <a:srgbClr val="11202B"/>
                </a:solidFill>
                <a:latin typeface="Malgun Gothic"/>
                <a:ea typeface="Malgun Gothic"/>
                <a:cs typeface="Malgun Gothic"/>
              </a:rPr>
              <a:t>이미 있는 mRNA와 단백질이 소모될 때까지 시간이 걸리기 때문</a:t>
            </a:r>
            <a:r>
              <a:rPr sz="1600" b="0" i="0">
                <a:solidFill>
                  <a:srgbClr val="11202B"/>
                </a:solidFill>
                <a:latin typeface="Malgun Gothic"/>
                <a:ea typeface="Malgun Gothic"/>
                <a:cs typeface="Malgun Gothic"/>
              </a:rPr>
              <a:t>이다. 간세포가 단백질 합성 요구가 큰 세포여서 가장 먼저 영향을 받는다. 앞 수업의 '조절 단계마다 시간 규모가 다르다'는 원리가 독성의 임상 경과로 나타난 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진핵세포의 세 가지 RNA polymerase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25</a:t>
            </a:r>
          </a:p>
        </p:txBody>
      </p:sp>
      <p:pic>
        <p:nvPicPr>
          <p:cNvPr id="7" name="Picture 6" descr="fig-eukaryotic-polymerases.slide.png"/>
          <p:cNvPicPr>
            <a:picLocks noChangeAspect="1"/>
          </p:cNvPicPr>
          <p:nvPr/>
        </p:nvPicPr>
        <p:blipFill>
          <a:blip r:embed="rId2"/>
          <a:stretch>
            <a:fillRect/>
          </a:stretch>
        </p:blipFill>
        <p:spPr>
          <a:xfrm>
            <a:off x="1545619" y="1325880"/>
            <a:ext cx="9100457"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진핵세포의 세 가지 RNA polymerase와 분업. 각 효소의 위치·산물·α-amanitin 감수성, rRNA가 전사량의 대부분이라는 점, Pol II가 조절의 중심이라는 점, 그리고 α-amanitin 중독에서 증상이 지연되는 이유를 함께 보인다.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000" b="1" i="0">
                <a:solidFill>
                  <a:srgbClr val="FFFFFF"/>
                </a:solidFill>
                <a:latin typeface="Malgun Gothic"/>
                <a:ea typeface="Malgun Gothic"/>
                <a:cs typeface="Malgun Gothic"/>
              </a:rPr>
              <a:t>6. 전사 개시: 닫힌 복합체에서 promoter 탈출까지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전사의 세 단계는 개시, 신장, 종결이다. 개시가 가장 복잡하고 조절이 집중된 단계이므로 세부 과정을 나누어 보아야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개시는 다음 순서로 진행한다.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Promoter 인식과 닫힌 복합체(closed complex)</a:t>
            </a:r>
            <a:r>
              <a:rPr sz="1400" b="0" i="0">
                <a:solidFill>
                  <a:srgbClr val="11202B"/>
                </a:solidFill>
                <a:latin typeface="Malgun Gothic"/>
                <a:ea typeface="Malgun Gothic"/>
                <a:cs typeface="Malgun Gothic"/>
              </a:rPr>
              <a:t>: Holoenzyme이나 개시 전 복합체가 promoter에 결합한다. 이 단계에서 DNA는 아직 이중나선 그대로다.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열린 복합체(open complex)</a:t>
            </a:r>
            <a:r>
              <a:rPr sz="1400" b="0" i="0">
                <a:solidFill>
                  <a:srgbClr val="11202B"/>
                </a:solidFill>
                <a:latin typeface="Malgun Gothic"/>
                <a:ea typeface="Malgun Gothic"/>
                <a:cs typeface="Malgun Gothic"/>
              </a:rPr>
              <a:t>: DNA 이중나선의 약 12~14 염기쌍이 풀려 주형 가닥이 노출된다. </a:t>
            </a:r>
            <a:r>
              <a:rPr sz="1400" b="1" i="0">
                <a:solidFill>
                  <a:srgbClr val="11202B"/>
                </a:solidFill>
                <a:latin typeface="Malgun Gothic"/>
                <a:ea typeface="Malgun Gothic"/>
                <a:cs typeface="Malgun Gothic"/>
              </a:rPr>
              <a:t>전사 거품(transcription bubble)</a:t>
            </a:r>
            <a:r>
              <a:rPr sz="1400" b="0" i="0">
                <a:solidFill>
                  <a:srgbClr val="11202B"/>
                </a:solidFill>
                <a:latin typeface="Malgun Gothic"/>
                <a:ea typeface="Malgun Gothic"/>
                <a:cs typeface="Malgun Gothic"/>
              </a:rPr>
              <a:t> 이 생긴다. 세균에서는 σ가 이 풀림을 돕고, 진핵 Pol II에서는 TFIIH의 helicase 활성이 담당한다.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첫 뉴클레오타이드 결합과 짧은 RNA 합성</a:t>
            </a:r>
            <a:r>
              <a:rPr sz="1400" b="0" i="0">
                <a:solidFill>
                  <a:srgbClr val="11202B"/>
                </a:solidFill>
                <a:latin typeface="Malgun Gothic"/>
                <a:ea typeface="Malgun Gothic"/>
                <a:cs typeface="Malgun Gothic"/>
              </a:rPr>
              <a:t>: Primer 없이 첫 뉴클레오타이드가 놓이고 짧은 RNA가 만들어진다. 이 단계에서는 합성이 자주 중단되고 짧은 산물이 버려진다(abortive initiation).</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Promoter 탈출(promoter escape)</a:t>
            </a:r>
            <a:r>
              <a:rPr sz="1400" b="0" i="0">
                <a:solidFill>
                  <a:srgbClr val="11202B"/>
                </a:solidFill>
                <a:latin typeface="Malgun Gothic"/>
                <a:ea typeface="Malgun Gothic"/>
                <a:cs typeface="Malgun Gothic"/>
              </a:rPr>
              <a:t>: RNA가 약 8~10 염기를 넘어서면 복합체가 안정해지고, polymerase가 promoter를 떠나 신장으로 넘어간다. 세균에서는 이때 σ가 떨어지고, 진핵 Pol II에서는 TFIIH가 C 말단 꼬리를 인산화한 결과로 넘어간다.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조절이 개시에 집중되는 이유</a:t>
            </a:r>
            <a:r>
              <a:rPr sz="1400" b="0" i="0">
                <a:solidFill>
                  <a:srgbClr val="11202B"/>
                </a:solidFill>
                <a:latin typeface="Malgun Gothic"/>
                <a:ea typeface="Malgun Gothic"/>
                <a:cs typeface="Malgun Gothic"/>
              </a:rPr>
              <a:t>가 이 과정에서 보인다. 단계가 여럿이고 각 단계가 가역적이므로, 조절 단백질이 어느 단계의 확률을 바꾸어도 전체 개시 빈도가 달라진다. 앞 수업에서 활성인자가 '개시 복합체를 만들 확률을 높인다'고 한 것이 이 구조를 가리킨다.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000" b="1" i="0">
                <a:solidFill>
                  <a:srgbClr val="FFFFFF"/>
                </a:solidFill>
                <a:latin typeface="Malgun Gothic"/>
                <a:ea typeface="Malgun Gothic"/>
                <a:cs typeface="Malgun Gothic"/>
              </a:rPr>
              <a:t>6. 전사 개시: 닫힌 복합체에서 promoter 탈출까지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전사 거품의 구조</a:t>
            </a:r>
            <a:r>
              <a:rPr sz="2000" b="0" i="0">
                <a:solidFill>
                  <a:srgbClr val="11202B"/>
                </a:solidFill>
                <a:latin typeface="Malgun Gothic"/>
                <a:ea typeface="Malgun Gothic"/>
                <a:cs typeface="Malgun Gothic"/>
              </a:rPr>
              <a:t>를 그려 두면 신장의 서술이 쉬워진다. Polymerase 안에서 세 가닥이 동시에 존재한다. 주형 가닥, 암호 가닥, 그리고 주형과 짧게 염기쌍을 이룬 새 RNA다. RNA–DNA 잡종이 약 8~9 염기쌍을 이루고, polymerase가 전진하면서 앞쪽에서 DNA를 풀고 뒤쪽에서 다시 감는다. RNA는 polymerase의 출구 통로로 빠져나간다.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전사 개시: 닫힌 복합체에서 promoter 탈출까지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28</a:t>
            </a:r>
          </a:p>
        </p:txBody>
      </p:sp>
      <p:pic>
        <p:nvPicPr>
          <p:cNvPr id="7" name="Picture 6" descr="fig-initiation.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전사 개시의 네 단계. 닫힌 복합체에서 열린 복합체로의 전환과 전사 거품의 형성, primer 없이 첫 뉴클레오타이드가 놓이는 과정과 abortive initiation, promoter 탈출의 조건, 그리고 polymerase 안에서 주형 가닥·암호 가닥·새 RNA가 동시에 존재하는 구조를 함께 보인다.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신장과 전사의 충실도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29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신장 단계에서 RNA polymerase는 주형을 따라 전진하면서 뉴클레오타이드를 이어 붙인다. 속도는 세균에서 초당 약 50~100 염기, 사람에서 초당 약 20~80 염기다.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신장에서 알아 둘 세 가지가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첫째, polymerase는 일정한 속도로 가지 않는다.</a:t>
            </a:r>
            <a:r>
              <a:rPr sz="1400" b="0" i="0">
                <a:solidFill>
                  <a:srgbClr val="11202B"/>
                </a:solidFill>
                <a:latin typeface="Malgun Gothic"/>
                <a:ea typeface="Malgun Gothic"/>
                <a:cs typeface="Malgun Gothic"/>
              </a:rPr>
              <a:t> 특정 서열에서 속도가 느려지거나 멈춘다. 앞 수업에서 본 Pol II 일시정지가 그 예이고, 뒤에서 볼 종결도 멈춤에서 시작한다. 또한 신장 속도가 splicing의 선택에 영향을 준다는 점이 알려져 있다. 느리게 지나가면 약한 splice 부위도 쓰일 시간이 생긴다.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둘째, 하나의 유전자에 여러 polymerase가 동시에 올라간다.</a:t>
            </a:r>
            <a:r>
              <a:rPr sz="1400" b="0" i="0">
                <a:solidFill>
                  <a:srgbClr val="11202B"/>
                </a:solidFill>
                <a:latin typeface="Malgun Gothic"/>
                <a:ea typeface="Malgun Gothic"/>
                <a:cs typeface="Malgun Gothic"/>
              </a:rPr>
              <a:t> 앞선 polymerase가 충분히 전진하면 promoter가 비고 다음 polymerase가 개시할 수 있다. 활발히 전사되는 유전자에서는 여러 개가 줄지어 진행하며, 전자현미경에서 깃털 모양으로 보인다.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셋째, 전사는 DNA의 위상에 영향을 준다.</a:t>
            </a:r>
            <a:r>
              <a:rPr sz="1400" b="0" i="0">
                <a:solidFill>
                  <a:srgbClr val="11202B"/>
                </a:solidFill>
                <a:latin typeface="Malgun Gothic"/>
                <a:ea typeface="Malgun Gothic"/>
                <a:cs typeface="Malgun Gothic"/>
              </a:rPr>
              <a:t> Polymerase가 전진하면서 이중나선을 풀므로 앞쪽에는 양성 초나선, 뒤쪽에는 음성 초나선이 쌓인다. Topoisomerase가 이를 해소하지 않으면 전사가 진행되지 못한다.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전사의 충실도</a:t>
            </a:r>
            <a:r>
              <a:rPr sz="1400" b="0" i="0">
                <a:solidFill>
                  <a:srgbClr val="11202B"/>
                </a:solidFill>
                <a:latin typeface="Malgun Gothic"/>
                <a:ea typeface="Malgun Gothic"/>
                <a:cs typeface="Malgun Gothic"/>
              </a:rPr>
              <a:t>는 복제보다 훨씬 낮다. 복제의 오류율이 약 10⁻⁹~10⁻¹⁰이고 3′→5′ exonuclease에 의한 교정과 여러 겹의 수선 체계를 갖춘 반면, 전사의 오류율은 약 10⁻⁴~10⁻⁵이고 교정 기능이 거의 없다.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전사의 오류율이 복제보다 1만 배 이상 높다. 이것이 허용되는 이유는 </a:t>
            </a:r>
            <a:r>
              <a:rPr sz="1400" b="1" i="0">
                <a:solidFill>
                  <a:srgbClr val="11202B"/>
                </a:solidFill>
                <a:latin typeface="Malgun Gothic"/>
                <a:ea typeface="Malgun Gothic"/>
                <a:cs typeface="Malgun Gothic"/>
              </a:rPr>
              <a:t>결과의 가역성</a:t>
            </a:r>
            <a:r>
              <a:rPr sz="1400" b="0" i="0">
                <a:solidFill>
                  <a:srgbClr val="11202B"/>
                </a:solidFill>
                <a:latin typeface="Malgun Gothic"/>
                <a:ea typeface="Malgun Gothic"/>
                <a:cs typeface="Malgun Gothic"/>
              </a:rPr>
              <a:t>에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복제의 오류는 </a:t>
            </a:r>
            <a:r>
              <a:rPr sz="1400" b="1" i="0">
                <a:solidFill>
                  <a:srgbClr val="11202B"/>
                </a:solidFill>
                <a:latin typeface="Malgun Gothic"/>
                <a:ea typeface="Malgun Gothic"/>
                <a:cs typeface="Malgun Gothic"/>
              </a:rPr>
              <a:t>유전체에 영구히 남고 모든 자손 세포에 전달된다.</a:t>
            </a:r>
            <a:r>
              <a:rPr sz="1400" b="0" i="0">
                <a:solidFill>
                  <a:srgbClr val="11202B"/>
                </a:solidFill>
                <a:latin typeface="Malgun Gothic"/>
                <a:ea typeface="Malgun Gothic"/>
                <a:cs typeface="Malgun Gothic"/>
              </a:rPr>
              <a:t> 전사의 오류는 </a:t>
            </a:r>
            <a:r>
              <a:rPr sz="1400" b="1" i="0">
                <a:solidFill>
                  <a:srgbClr val="11202B"/>
                </a:solidFill>
                <a:latin typeface="Malgun Gothic"/>
                <a:ea typeface="Malgun Gothic"/>
                <a:cs typeface="Malgun Gothic"/>
              </a:rPr>
              <a:t>하나의 RNA 분자에만 있고, 그 RNA는 곧 분해된다.</a:t>
            </a:r>
            <a:r>
              <a:rPr sz="1400" b="0" i="0">
                <a:solidFill>
                  <a:srgbClr val="11202B"/>
                </a:solidFill>
                <a:latin typeface="Malgun Gothic"/>
                <a:ea typeface="Malgun Gothic"/>
                <a:cs typeface="Malgun Gothic"/>
              </a:rPr>
              <a:t> 하나의 유전자에서 수천 개의 mRNA가 만들어지므로, 그중 하나에 오류가 있어도 만들어지는 단백질의 대부분은 정상이다.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신장과 전사의 충실도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30</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생물학적 체계의 정확도는 </a:t>
            </a:r>
            <a:r>
              <a:rPr sz="1600" b="1" i="0">
                <a:solidFill>
                  <a:srgbClr val="11202B"/>
                </a:solidFill>
                <a:latin typeface="Malgun Gothic"/>
                <a:ea typeface="Malgun Gothic"/>
                <a:cs typeface="Malgun Gothic"/>
              </a:rPr>
              <a:t>그 오류가 되돌릴 수 있는지</a:t>
            </a:r>
            <a:r>
              <a:rPr sz="1600" b="0" i="0">
                <a:solidFill>
                  <a:srgbClr val="11202B"/>
                </a:solidFill>
                <a:latin typeface="Malgun Gothic"/>
                <a:ea typeface="Malgun Gothic"/>
                <a:cs typeface="Malgun Gothic"/>
              </a:rPr>
              <a:t>에 맞춰져 있다. 영구적 결과를 낳는 과정에는 비용을 들여 여러 겹의 교정을 두고, 일시적 결과를 낳는 과정에는 두지 않는다. 같은 논리가 번역의 충실도(약 10⁻⁴)에도 적용된다.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신장과 전사의 충실도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31</a:t>
            </a:r>
          </a:p>
        </p:txBody>
      </p:sp>
      <p:pic>
        <p:nvPicPr>
          <p:cNvPr id="7" name="Picture 6" descr="fig-elongation.slide.png"/>
          <p:cNvPicPr>
            <a:picLocks noChangeAspect="1"/>
          </p:cNvPicPr>
          <p:nvPr/>
        </p:nvPicPr>
        <p:blipFill>
          <a:blip r:embed="rId2"/>
          <a:stretch>
            <a:fillRect/>
          </a:stretch>
        </p:blipFill>
        <p:spPr>
          <a:xfrm>
            <a:off x="1651438" y="1325880"/>
            <a:ext cx="888881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신장 단계와 전사의 충실도. Polymerase가 전진하며 앞에서 DNA를 풀고 뒤에서 감는 과정과 RNA–DNA 잡종, 하나의 유전자에 여러 polymerase가 줄지어 진행하는 모습, 전사가 만드는 초나선과 topoisomerase의 역할, 그리고 복제와 전사의 오류율 차이가 결과의 가역성에서 나온다는 논리를 함께 보인다.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종결: 세균의 두 방식과 진핵 Pol II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32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전사는 적절한 지점에서 끝나야 한다. 종결 기전이 세균과 진핵세포에서 다르고, 세균 안에서도 두 방식이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세균의 방식 1: 내재적 종결(intrinsic termination, Rho 비의존).</a:t>
            </a:r>
            <a:r>
              <a:rPr sz="1400" b="0" i="0">
                <a:solidFill>
                  <a:srgbClr val="11202B"/>
                </a:solidFill>
                <a:latin typeface="Malgun Gothic"/>
                <a:ea typeface="Malgun Gothic"/>
                <a:cs typeface="Malgun Gothic"/>
              </a:rPr>
              <a:t> 두 요소가 함께 작동한다.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머리핀 구조</a:t>
            </a:r>
            <a:r>
              <a:rPr sz="1400" b="0" i="0">
                <a:solidFill>
                  <a:srgbClr val="11202B"/>
                </a:solidFill>
                <a:latin typeface="Malgun Gothic"/>
                <a:ea typeface="Malgun Gothic"/>
                <a:cs typeface="Malgun Gothic"/>
              </a:rPr>
              <a:t>: 전사된 RNA에 GC가 풍부한 역반복 서열이 있어 스스로 머리핀을 만든다. 이 구조가 polymerase의 전진을 멈춘다.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U가 이어진 구간</a:t>
            </a:r>
            <a:r>
              <a:rPr sz="1400" b="0" i="0">
                <a:solidFill>
                  <a:srgbClr val="11202B"/>
                </a:solidFill>
                <a:latin typeface="Malgun Gothic"/>
                <a:ea typeface="Malgun Gothic"/>
                <a:cs typeface="Malgun Gothic"/>
              </a:rPr>
              <a:t>: 머리핀 바로 뒤에 U가 여러 개 이어진다. A–U 염기쌍은 약하므로 RNA–DNA 잡종이 불안정해지고, 멈춘 상태에서 RNA가 주형에서 떨어진다.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요소가 모두 필요하다. 머리핀만 있으면 멈추기만 하고 떨어지지 않으며, U 구간만 있으면 멈추지 않는다. 앞 수업의 attenuation에서 종결 구조가 '머리핀 + U 구간'이었던 것이 이 기전이다.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세균의 방식 2: Rho 의존 종결.</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Rho 단백질</a:t>
            </a:r>
            <a:r>
              <a:rPr sz="1400" b="0" i="0">
                <a:solidFill>
                  <a:srgbClr val="11202B"/>
                </a:solidFill>
                <a:latin typeface="Malgun Gothic"/>
                <a:ea typeface="Malgun Gothic"/>
                <a:cs typeface="Malgun Gothic"/>
              </a:rPr>
              <a:t>이 RNA의 특정 구간(rut site)에 결합하고, ATP를 써서 RNA를 따라 polymerase 쪽으로 이동한다. 느려진 polymerase를 따라잡으면 RNA–DNA 잡종을 풀어 전사를 끝낸다. 이 방식에서는 특정한 종결 서열이 필요하지 않다.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Rho 의존 종결에는 조절상의 의미가 있다. Rho가 RNA에 결합하려면 그 구간이 </a:t>
            </a:r>
            <a:r>
              <a:rPr sz="1400" b="1" i="0">
                <a:solidFill>
                  <a:srgbClr val="11202B"/>
                </a:solidFill>
                <a:latin typeface="Malgun Gothic"/>
                <a:ea typeface="Malgun Gothic"/>
                <a:cs typeface="Malgun Gothic"/>
              </a:rPr>
              <a:t>ribosome에 덮여 있지 않아야 한다.</a:t>
            </a:r>
            <a:r>
              <a:rPr sz="1400" b="0" i="0">
                <a:solidFill>
                  <a:srgbClr val="11202B"/>
                </a:solidFill>
                <a:latin typeface="Malgun Gothic"/>
                <a:ea typeface="Malgun Gothic"/>
                <a:cs typeface="Malgun Gothic"/>
              </a:rPr>
              <a:t> 번역이 활발하면 ribosome이 RNA를 덮어 Rho의 결합을 막는다. 즉 </a:t>
            </a:r>
            <a:r>
              <a:rPr sz="1400" b="1" i="0">
                <a:solidFill>
                  <a:srgbClr val="11202B"/>
                </a:solidFill>
                <a:latin typeface="Malgun Gothic"/>
                <a:ea typeface="Malgun Gothic"/>
                <a:cs typeface="Malgun Gothic"/>
              </a:rPr>
              <a:t>번역이 멈춘 전사체는 종결되어 버려진다.</a:t>
            </a:r>
            <a:r>
              <a:rPr sz="1400" b="0" i="0">
                <a:solidFill>
                  <a:srgbClr val="11202B"/>
                </a:solidFill>
                <a:latin typeface="Malgun Gothic"/>
                <a:ea typeface="Malgun Gothic"/>
                <a:cs typeface="Malgun Gothic"/>
              </a:rPr>
              <a:t> 전사와 번역이 같은 공간에서 일어나는 세균에서만 가능한 품질 관리다.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진핵 Pol II의 종결</a:t>
            </a:r>
            <a:r>
              <a:rPr sz="1400" b="0" i="0">
                <a:solidFill>
                  <a:srgbClr val="11202B"/>
                </a:solidFill>
                <a:latin typeface="Malgun Gothic"/>
                <a:ea typeface="Malgun Gothic"/>
                <a:cs typeface="Malgun Gothic"/>
              </a:rPr>
              <a:t>은 성질이 다르다. 핵심은 </a:t>
            </a:r>
            <a:r>
              <a:rPr sz="1400" b="1" i="0">
                <a:solidFill>
                  <a:srgbClr val="11202B"/>
                </a:solidFill>
                <a:latin typeface="Malgun Gothic"/>
                <a:ea typeface="Malgun Gothic"/>
                <a:cs typeface="Malgun Gothic"/>
              </a:rPr>
              <a:t>종결이 3′ 말단 가공과 결합되어 있다</a:t>
            </a:r>
            <a:r>
              <a:rPr sz="1400" b="0" i="0">
                <a:solidFill>
                  <a:srgbClr val="11202B"/>
                </a:solidFill>
                <a:latin typeface="Malgun Gothic"/>
                <a:ea typeface="Malgun Gothic"/>
                <a:cs typeface="Malgun Gothic"/>
              </a:rPr>
              <a:t>는 점이다.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Polymerase가 poly(A) 신호 서열(AAUAAA)을 지난다.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가공 인자들이 그 서열을 인식하고 RNA를 </a:t>
            </a:r>
            <a:r>
              <a:rPr sz="1400" b="1" i="0">
                <a:solidFill>
                  <a:srgbClr val="11202B"/>
                </a:solidFill>
                <a:latin typeface="Malgun Gothic"/>
                <a:ea typeface="Malgun Gothic"/>
                <a:cs typeface="Malgun Gothic"/>
              </a:rPr>
              <a:t>자른다.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종결: 세균의 두 방식과 진핵 Pol II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33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3. 자른 지점의 상류 조각은 poly(A) 꼬리를 받아 성숙한 mRNA가 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4. Polymerase는 계속 전사하지만, 새로 만들어지는 RNA는 보호되지 않은 5′ 말단을 가지므로 exonuclease에 분해된다. 분해가 polymerase를 따라잡으면 전사가 끝난다.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즉 </a:t>
            </a:r>
            <a:r>
              <a:rPr sz="1800" b="1" i="0">
                <a:solidFill>
                  <a:srgbClr val="11202B"/>
                </a:solidFill>
                <a:latin typeface="Malgun Gothic"/>
                <a:ea typeface="Malgun Gothic"/>
                <a:cs typeface="Malgun Gothic"/>
              </a:rPr>
              <a:t>진핵 Pol II에서는 RNA의 완성과 전사의 종결이 별개의 사건</a:t>
            </a:r>
            <a:r>
              <a:rPr sz="1800" b="0" i="0">
                <a:solidFill>
                  <a:srgbClr val="11202B"/>
                </a:solidFill>
                <a:latin typeface="Malgun Gothic"/>
                <a:ea typeface="Malgun Gothic"/>
                <a:cs typeface="Malgun Gothic"/>
              </a:rPr>
              <a:t>이다. mRNA는 polymerase가 멈추기 전에 이미 잘려 나와 있다. 이 가공 과정은 다음 수업의 주제다.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Pol I과 Pol III의 종결은 또 다른 방식을 쓴다. Pol III는 내재적 종결과 비슷하게 U 구간에서 끝난다.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종결: 세균의 두 방식과 진핵 Pol II</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34</a:t>
            </a:r>
          </a:p>
        </p:txBody>
      </p:sp>
      <p:pic>
        <p:nvPicPr>
          <p:cNvPr id="7" name="Picture 6" descr="fig-termination.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전사 종결의 세 방식. 세균의 내재적 종결에서 머리핀과 U 구간이 함께 필요한 이유, Rho 단백질이 RNA를 따라 이동해 잡종을 푸는 과정과 ribosome이 그것을 막는 품질 관리, 그리고 진핵 Pol II에서 poly(A) 신호 인식·절단·분해 추격으로 이루어져 RNA의 완성과 전사의 종결이 분리되는 구조를 함께 보인다.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전사를 억제하는 약물과 독소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35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전사를 막는 물질들을 작용 지점으로 분류하면 선택성의 근거가 함께 정리된다. 이 분류는 임상 약물과 실험 도구를 함께 다룬다.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전사를 억제하는 약물과 독소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36</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365760">
                <a:tc>
                  <a:txBody>
                    <a:bodyPr/>
                    <a:lstStyle/>
                    <a:p>
                      <a:r>
                        <a:rPr sz="1200" b="1" i="0">
                          <a:solidFill>
                            <a:srgbClr val="FFFFFF"/>
                          </a:solidFill>
                          <a:latin typeface="Malgun Gothic"/>
                          <a:ea typeface="Malgun Gothic"/>
                          <a:cs typeface="Malgun Gothic"/>
                        </a:rPr>
                        <a:t>물질</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표적</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작용 지점</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선택성의 근거</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쓰임</a:t>
                      </a:r>
                    </a:p>
                  </a:txBody>
                  <a:tcPr marL="73152" marR="73152" marT="27432" marB="27432">
                    <a:solidFill>
                      <a:srgbClr val="003C71"/>
                    </a:solidFill>
                  </a:tcPr>
                </a:tc>
              </a:tr>
              <a:tr h="365760">
                <a:tc>
                  <a:txBody>
                    <a:bodyPr/>
                    <a:lstStyle/>
                    <a:p>
                      <a:r>
                        <a:rPr sz="1200" b="1" i="0">
                          <a:solidFill>
                            <a:srgbClr val="11202B"/>
                          </a:solidFill>
                          <a:latin typeface="Malgun Gothic"/>
                          <a:ea typeface="Malgun Gothic"/>
                          <a:cs typeface="Malgun Gothic"/>
                        </a:rPr>
                        <a:t>Rifampin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세균 RNA polymerase β 소단위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개시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사람 효소와 구조가 다르다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결핵, 수막염균 예방</a:t>
                      </a:r>
                    </a:p>
                  </a:txBody>
                  <a:tcPr marL="73152" marR="73152" marT="27432" marB="27432">
                    <a:solidFill>
                      <a:srgbClr val="FFFFFF"/>
                    </a:solidFill>
                  </a:tcPr>
                </a:tc>
              </a:tr>
              <a:tr h="365760">
                <a:tc>
                  <a:txBody>
                    <a:bodyPr/>
                    <a:lstStyle/>
                    <a:p>
                      <a:r>
                        <a:rPr sz="1200" b="1" i="0">
                          <a:solidFill>
                            <a:srgbClr val="11202B"/>
                          </a:solidFill>
                          <a:latin typeface="Malgun Gothic"/>
                          <a:ea typeface="Malgun Gothic"/>
                          <a:cs typeface="Malgun Gothic"/>
                        </a:rPr>
                        <a:t>Fidaxomicin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세균 RNA polymerase (σ 결합 단계)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개시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세균 특이, 장에서 거의 흡수되지 않는다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Clostridioides difficile 장염</a:t>
                      </a:r>
                    </a:p>
                  </a:txBody>
                  <a:tcPr marL="73152" marR="73152" marT="27432" marB="27432">
                    <a:solidFill>
                      <a:srgbClr val="EFF4F8"/>
                    </a:solidFill>
                  </a:tcPr>
                </a:tc>
              </a:tr>
              <a:tr h="365760">
                <a:tc>
                  <a:txBody>
                    <a:bodyPr/>
                    <a:lstStyle/>
                    <a:p>
                      <a:r>
                        <a:rPr sz="1200" b="1" i="0">
                          <a:solidFill>
                            <a:srgbClr val="11202B"/>
                          </a:solidFill>
                          <a:latin typeface="Malgun Gothic"/>
                          <a:ea typeface="Malgun Gothic"/>
                          <a:cs typeface="Malgun Gothic"/>
                        </a:rPr>
                        <a:t>α-Amanitin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진핵 Pol II</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신장</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Pol II에만 결합</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독소 (버섯), 실험 도구</a:t>
                      </a:r>
                    </a:p>
                  </a:txBody>
                  <a:tcPr marL="73152" marR="73152" marT="27432" marB="27432">
                    <a:solidFill>
                      <a:srgbClr val="FFFFFF"/>
                    </a:solidFill>
                  </a:tcPr>
                </a:tc>
              </a:tr>
              <a:tr h="365760">
                <a:tc>
                  <a:txBody>
                    <a:bodyPr/>
                    <a:lstStyle/>
                    <a:p>
                      <a:r>
                        <a:rPr sz="1200" b="1" i="0">
                          <a:solidFill>
                            <a:srgbClr val="11202B"/>
                          </a:solidFill>
                          <a:latin typeface="Malgun Gothic"/>
                          <a:ea typeface="Malgun Gothic"/>
                          <a:cs typeface="Malgun Gothic"/>
                        </a:rPr>
                        <a:t>Actinomycin D</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DNA에 끼어든다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신장</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선택성 낮다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항암제 (소아 종양)</a:t>
                      </a:r>
                    </a:p>
                  </a:txBody>
                  <a:tcPr marL="73152" marR="73152" marT="27432" marB="27432">
                    <a:solidFill>
                      <a:srgbClr val="EFF4F8"/>
                    </a:solidFill>
                  </a:tcPr>
                </a:tc>
              </a:tr>
              <a:tr h="365760">
                <a:tc>
                  <a:txBody>
                    <a:bodyPr/>
                    <a:lstStyle/>
                    <a:p>
                      <a:r>
                        <a:rPr sz="1200" b="1" i="0">
                          <a:solidFill>
                            <a:srgbClr val="11202B"/>
                          </a:solidFill>
                          <a:latin typeface="Malgun Gothic"/>
                          <a:ea typeface="Malgun Gothic"/>
                          <a:cs typeface="Malgun Gothic"/>
                        </a:rPr>
                        <a:t>Doxorubicin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DNA에 끼어들고 topoisomerase II를 억제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신장, 복제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선택성 낮다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항암제</a:t>
                      </a:r>
                    </a:p>
                  </a:txBody>
                  <a:tcPr marL="73152" marR="73152" marT="27432" marB="27432">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전사를 억제하는 약물과 독소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37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표에서 읽어야 할 원리가 있다. </a:t>
            </a:r>
            <a:r>
              <a:rPr sz="1600" b="1" i="0">
                <a:solidFill>
                  <a:srgbClr val="11202B"/>
                </a:solidFill>
                <a:latin typeface="Malgun Gothic"/>
                <a:ea typeface="Malgun Gothic"/>
                <a:cs typeface="Malgun Gothic"/>
              </a:rPr>
              <a:t>선택성은 표적 분자가 얼마나 다른지에서 나온다.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Rifampin과 fidaxomicin은 세균 효소를 표적으로 하므로 사람 세포에 거의 작용하지 않는다. 반면 actinomycin D와 doxorubicin은 </a:t>
            </a:r>
            <a:r>
              <a:rPr sz="1600" b="1" i="0">
                <a:solidFill>
                  <a:srgbClr val="11202B"/>
                </a:solidFill>
                <a:latin typeface="Malgun Gothic"/>
                <a:ea typeface="Malgun Gothic"/>
                <a:cs typeface="Malgun Gothic"/>
              </a:rPr>
              <a:t>DNA 자체에 작용</a:t>
            </a:r>
            <a:r>
              <a:rPr sz="1600" b="0" i="0">
                <a:solidFill>
                  <a:srgbClr val="11202B"/>
                </a:solidFill>
                <a:latin typeface="Malgun Gothic"/>
                <a:ea typeface="Malgun Gothic"/>
                <a:cs typeface="Malgun Gothic"/>
              </a:rPr>
              <a:t>하므로 사람 세포와 암세포를 구별하지 못한다. 항암 효과는 암세포가 더 빠르게 분열하고 전사 요구가 크다는 양적 차이에 의존하며, 그 결과 골수 억제, 점막 손상, 탈모 같은 부작용이 함께 나타난다.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세균 전사 억제제가 좋은 항생제 표적이 되는 이유</a:t>
            </a:r>
            <a:r>
              <a:rPr sz="1600" b="0" i="0">
                <a:solidFill>
                  <a:srgbClr val="11202B"/>
                </a:solidFill>
                <a:latin typeface="Malgun Gothic"/>
                <a:ea typeface="Malgun Gothic"/>
                <a:cs typeface="Malgun Gothic"/>
              </a:rPr>
              <a:t>를 정리하면 다음과 같다. 첫째, 전사는 생존에 필수적이다. 둘째, 세균과 사람의 RNA polymerase가 충분히 다르다. 셋째, 하나의 효소가 모든 RNA를 만들므로 억제의 효과가 크다. 다만 세 번째 성질이 </a:t>
            </a:r>
            <a:r>
              <a:rPr sz="1600" b="1" i="0">
                <a:solidFill>
                  <a:srgbClr val="11202B"/>
                </a:solidFill>
                <a:latin typeface="Malgun Gothic"/>
                <a:ea typeface="Malgun Gothic"/>
                <a:cs typeface="Malgun Gothic"/>
              </a:rPr>
              <a:t>내성이 쉽게 생기는 원인</a:t>
            </a:r>
            <a:r>
              <a:rPr sz="1600" b="0" i="0">
                <a:solidFill>
                  <a:srgbClr val="11202B"/>
                </a:solidFill>
                <a:latin typeface="Malgun Gothic"/>
                <a:ea typeface="Malgun Gothic"/>
                <a:cs typeface="Malgun Gothic"/>
              </a:rPr>
              <a:t>이기도 하다. 단일 표적이므로 그 유전자의 점 변이 하나로 저항성이 생긴다.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전사를 억제하는 약물과 독소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38</a:t>
            </a:r>
          </a:p>
        </p:txBody>
      </p:sp>
      <p:pic>
        <p:nvPicPr>
          <p:cNvPr id="7" name="Picture 6" descr="fig-transcription-inhibitors.slide.png"/>
          <p:cNvPicPr>
            <a:picLocks noChangeAspect="1"/>
          </p:cNvPicPr>
          <p:nvPr/>
        </p:nvPicPr>
        <p:blipFill>
          <a:blip r:embed="rId2"/>
          <a:stretch>
            <a:fillRect/>
          </a:stretch>
        </p:blipFill>
        <p:spPr>
          <a:xfrm>
            <a:off x="1545619" y="1325880"/>
            <a:ext cx="9100457"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전사를 억제하는 약물과 독소의 작용 지점. 개시를 막는 rifampin과 fidaxomicin, 신장을 막는 α-amanitin, DNA에 끼어드는 actinomycin D와 doxorubicin의 작용 위치, 그리고 표적 분자의 차이가 선택성을 정하고 단일 표적이 내성의 원인이 되는 관계를 함께 보인다.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전사를 어떻게 측정하는가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39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마지막으로 전사를 측정하는 방법과 각 방법이 알려 주는 것의 범위를 정리한다. 측정 방법을 아는 것이 자료를 올바르게 읽는 조건이다.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측정 대상에 따라 방법이 갈린다.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RNA의 양을 재는 방법</a:t>
            </a:r>
            <a:r>
              <a:rPr sz="1400" b="0" i="0">
                <a:solidFill>
                  <a:srgbClr val="11202B"/>
                </a:solidFill>
                <a:latin typeface="Malgun Gothic"/>
                <a:ea typeface="Malgun Gothic"/>
                <a:cs typeface="Malgun Gothic"/>
              </a:rPr>
              <a:t>: 역전사 정량 PCR(특정 전사체), RNA 염기서열 분석(전체 전사체). 가장 널리 쓰이지만 </a:t>
            </a:r>
            <a:r>
              <a:rPr sz="1400" b="1" i="0">
                <a:solidFill>
                  <a:srgbClr val="11202B"/>
                </a:solidFill>
                <a:latin typeface="Malgun Gothic"/>
                <a:ea typeface="Malgun Gothic"/>
                <a:cs typeface="Malgun Gothic"/>
              </a:rPr>
              <a:t>현재 존재하는 RNA의 양</a:t>
            </a:r>
            <a:r>
              <a:rPr sz="1400" b="0" i="0">
                <a:solidFill>
                  <a:srgbClr val="11202B"/>
                </a:solidFill>
                <a:latin typeface="Malgun Gothic"/>
                <a:ea typeface="Malgun Gothic"/>
                <a:cs typeface="Malgun Gothic"/>
              </a:rPr>
              <a:t>을 재는 것이며, 만들어지는 속도와 분해되는 속도의 균형 결과다.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새로 만들어지는 RNA를 재는 방법</a:t>
            </a:r>
            <a:r>
              <a:rPr sz="1400" b="0" i="0">
                <a:solidFill>
                  <a:srgbClr val="11202B"/>
                </a:solidFill>
                <a:latin typeface="Malgun Gothic"/>
                <a:ea typeface="Malgun Gothic"/>
                <a:cs typeface="Malgun Gothic"/>
              </a:rPr>
              <a:t>: 수식된 뉴클레오타이드를 짧게 넣어 그 시간에 합성된 RNA만 표지한다. </a:t>
            </a:r>
            <a:r>
              <a:rPr sz="1400" b="1" i="0">
                <a:solidFill>
                  <a:srgbClr val="11202B"/>
                </a:solidFill>
                <a:latin typeface="Malgun Gothic"/>
                <a:ea typeface="Malgun Gothic"/>
                <a:cs typeface="Malgun Gothic"/>
              </a:rPr>
              <a:t>전사 속도 자체</a:t>
            </a:r>
            <a:r>
              <a:rPr sz="1400" b="0" i="0">
                <a:solidFill>
                  <a:srgbClr val="11202B"/>
                </a:solidFill>
                <a:latin typeface="Malgun Gothic"/>
                <a:ea typeface="Malgun Gothic"/>
                <a:cs typeface="Malgun Gothic"/>
              </a:rPr>
              <a:t>를 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Polymerase의 위치를 재는 방법</a:t>
            </a:r>
            <a:r>
              <a:rPr sz="1400" b="0" i="0">
                <a:solidFill>
                  <a:srgbClr val="11202B"/>
                </a:solidFill>
                <a:latin typeface="Malgun Gothic"/>
                <a:ea typeface="Malgun Gothic"/>
                <a:cs typeface="Malgun Gothic"/>
              </a:rPr>
              <a:t>: 전사 중인 polymerase의 위치를 유전체 전체에서 지도로 만든다. 앞 수업의 Pol II 일시정지가 이 방법으로 밝혀졌다.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조절 단백질의 결합을 재는 방법</a:t>
            </a:r>
            <a:r>
              <a:rPr sz="1400" b="0" i="0">
                <a:solidFill>
                  <a:srgbClr val="11202B"/>
                </a:solidFill>
                <a:latin typeface="Malgun Gothic"/>
                <a:ea typeface="Malgun Gothic"/>
                <a:cs typeface="Malgun Gothic"/>
              </a:rPr>
              <a:t>: ChIP. 전사인자나 chromatin 표지의 분포를 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구분이 실무에서 중요한 이유를 예로 보자. 어떤 처리 뒤에 </a:t>
            </a:r>
            <a:r>
              <a:rPr sz="1400" b="1" i="0">
                <a:solidFill>
                  <a:srgbClr val="11202B"/>
                </a:solidFill>
                <a:latin typeface="Malgun Gothic"/>
                <a:ea typeface="Malgun Gothic"/>
                <a:cs typeface="Malgun Gothic"/>
              </a:rPr>
              <a:t>mRNA 양이 줄었다</a:t>
            </a:r>
            <a:r>
              <a:rPr sz="1400" b="0" i="0">
                <a:solidFill>
                  <a:srgbClr val="11202B"/>
                </a:solidFill>
                <a:latin typeface="Malgun Gothic"/>
                <a:ea typeface="Malgun Gothic"/>
                <a:cs typeface="Malgun Gothic"/>
              </a:rPr>
              <a:t>는 결과를 얻었다고 하자. 가능한 설명이 세 가지다.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전사가 줄었다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전사는 그대로인데 mRNA 분해가 빨라졌다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가공이 실패해 성숙한 mRNA가 되지 못했다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RNA 양만 재는 방법으로는 셋을 구별할 수 없다.</a:t>
            </a:r>
            <a:r>
              <a:rPr sz="1400" b="0" i="0">
                <a:solidFill>
                  <a:srgbClr val="11202B"/>
                </a:solidFill>
                <a:latin typeface="Malgun Gothic"/>
                <a:ea typeface="Malgun Gothic"/>
                <a:cs typeface="Malgun Gothic"/>
              </a:rPr>
              <a:t> 새로 만들어지는 RNA를 재면 1과 2를 가를 수 있고, polymerase의 위치를 보면 개시와 신장 가운데 어디가 변했는지를 알 수 있다.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전사를 어떻게 측정하는가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40</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이 단원 전체에서 반복되는 태도가 여기서도 적용된다. </a:t>
            </a:r>
            <a:r>
              <a:rPr sz="1600" b="1" i="0">
                <a:solidFill>
                  <a:srgbClr val="11202B"/>
                </a:solidFill>
                <a:latin typeface="Malgun Gothic"/>
                <a:ea typeface="Malgun Gothic"/>
                <a:cs typeface="Malgun Gothic"/>
              </a:rPr>
              <a:t>측정이 무엇을 재는지를 먼저 확정하고, 그 측정으로 답할 수 있는 질문과 답할 수 없는 질문을 가른다.</a:t>
            </a:r>
            <a:r>
              <a:rPr sz="1600" b="0" i="0">
                <a:solidFill>
                  <a:srgbClr val="11202B"/>
                </a:solidFill>
                <a:latin typeface="Malgun Gothic"/>
                <a:ea typeface="Malgun Gothic"/>
                <a:cs typeface="Malgun Gothic"/>
              </a:rPr>
              <a:t> 앞 수업에서 '전사체 양으로 단백질 양을 추론할 수 없다'고 했고, 여기서는 'RNA 양으로 전사 속도를 추론할 수 없다'고 한다. 같은 종류의 주의다.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전사를 어떻게 측정하는가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41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이 수업에서 세운 전사의 기전은 다음 수업으로 이어진다. 8절에서 진핵 Pol II의 종결이 3′ 말단 가공과 결합되어 있다고 했는데, 그 가공 과정 전체(capping, splicing, polyadenylation)가 다음 수업의 주제다.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전사를 어떻게 측정하는가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42</a:t>
            </a:r>
          </a:p>
        </p:txBody>
      </p:sp>
      <p:pic>
        <p:nvPicPr>
          <p:cNvPr id="7" name="Picture 6" descr="fig-measuring-transcription.slide.png"/>
          <p:cNvPicPr>
            <a:picLocks noChangeAspect="1"/>
          </p:cNvPicPr>
          <p:nvPr/>
        </p:nvPicPr>
        <p:blipFill>
          <a:blip r:embed="rId2"/>
          <a:stretch>
            <a:fillRect/>
          </a:stretch>
        </p:blipFill>
        <p:spPr>
          <a:xfrm>
            <a:off x="1545619" y="1325880"/>
            <a:ext cx="9100457"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전사를 측정하는 네 가지 방법과 각각이 알려 주는 범위. RNA 양 측정, 새로 합성된 RNA의 표지, polymerase 위치 지도, 조절 단백질 결합 측정의 대상 차이, 그리고 mRNA 양 감소의 세 가지 가능한 설명을 어떤 측정이 가를 수 있는지를 함께 보인다.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43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RNA의 2′ hydroxyl기가 가져오는 결과 두 가지를 쓰고, 그것이 DNA와 RNA의 역할 분담에 어떻게 연결되는지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2′ hydroxyl기는 바로 옆 인산 결합을 공격할 수 있는 위치에 있어 특히 알칼리성 조건에서 사슬이 끊어지므로 RNA가 불안정하다. 둘째, 반응에 참여할 수 있는 기가 있으므로 RNA가 촉매 활성을 가질 수 있는 근거가 되며 ribozyme과 ribosome의 활성이 이에 의존한다. 첫째 성질 때문에 유전정보의 장기 보관은 2′ hydroxyl기가 없는 DNA가 맡고, 일시적인 전달과 작업은 RNA가 맡는 분업이 성립한다.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44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DNA가 uracil 대신 thymine을 쓰는 것이 수선에 주는 이점을 설명하고, RNA에는 그 보호가 필요하지 않은 이유를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Cytosine은 자발적으로 탈아미노화되어 uracil이 된다. DNA가 uracil을 정상 염기로 썼다면 손상으로 생긴 uracil과 원래 있던 uracil을 구별할 수 없어 수선할 수 없다. Thymine을 쓰기 때문에 DNA에서 발견된 uracil은 무조건 손상이며 uracil-DNA glycosylase가 제거할 수 있다. RNA는 오래 보관하지 않으므로 이 보호가 필요하지 않고, methyl기를 붙이는 비용도 들지 않는다.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45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주형 가닥과 암호 가닥을 정의하고, 암호 가닥이 5'-ATG GCA TTC-3'일 때 주형 가닥과 RNA 산물을 쓰시오. 어느 가닥이 주형인지는 무엇이 정하는가?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주형 가닥은 RNA polymerase가 읽는 가닥이며 만들어지는 RNA와 상보적이다. 암호 가닥은 읽히지 않는 가닥이며 RNA와 서열이 같다(T가 U로 바뀌는 것만 다르다). 주형 가닥은 3'-TAC CGT AAG-5'이고 RNA 산물은 5'-AUG GCA UUC-3'이다. 어느 가닥이 주형인지는 유전자마다 다르며, promoter의 방향이 정한다. Polymerase가 promoter에 자리 잡는 방향이 읽을 가닥과 진행 방향을 함께 정한다.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46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전사의 방향을 두 기준으로 서술하고, RNA가 5'에서 3' 방향으로만 합성되는 화학적 이유를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RNA가 자라는 방향은 5'에서 3'이고, 주형을 읽는 방향은 3'에서 5'이다. 두 기준이 반대 방향을 가리킨다. 화학적 이유는 중합 반응에서 자라는 사슬의 3' hydroxyl기가 들어오는 뉴클레오타이드의 5' 삼인산을 공격해 결합을 만들기 때문이다. 결합이 만들어지는 자리가 항상 사슬의 3' 쪽이므로 방향이 고정되며, 이 제약은 DNA polymerase와 RNA polymerase에 공통이다.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47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세균 RNA polymerase의 core enzyme과 holoenzyme을 구분하고, σ 인자를 바꾸는 것이 어떤 조절 수단이 되는지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Core enzyme은 알파2 베타 베타프라임 오메가로 중합 활성은 있으나 promoter를 인식하지 못한다. Holoenzyme은 core에 σ 인자가 결합한 형태로 전사를 개시할 수 있다. 중합은 core가, 표적 선택은 σ가 담당하므로 σ를 바꾸면 전사되는 유전자 집합이 바뀐다. 열 충격에서 σ32가 늘어 열 충격 유전자의 promoter가 인식되는 것이 그 예이며, 교환 가능한 부품으로 수십 개의 유전자를 한꺼번에 켜는 효율적인 방식이다. σ는 개시 전용 부품이어서 신장 단계에서 떨어져 재사용된다.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48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진핵세포의 세 가지 RNA polymerase와 각 산물을 쓰고, α-amanitin 중독에서 증상이 24에서 48시간 뒤에 나타나는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Pol I은 핵소체에서 28S·18S·5.8S rRNA를 하나의 전구체로 만들고, Pol II는 핵질에서 mRNA와 대부분의 snRNA·miRNA·lncRNA를 만들며, Pol III는 tRNA와 5S rRNA, 일부 snRNA를 만든다. α-amanitin은 Pol II를 선택적으로 억제한다. 증상이 지연되는 이유는 전사를 막아도 이미 있는 mRNA와 단백질이 소모될 때까지 시간이 걸리기 때문이다. 단백질 합성 요구가 큰 간세포가 먼저 영향을 받아 간 손상으로 나타난다.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49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전사의 오류율이 복제보다 1만 배 이상 높은 것이 허용되는 이유를 결과의 가역성으로 설명하고, 같은 논리가 적용되는 다른 과정을 하나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복제의 오류는 유전체에 영구히 남고 모든 자손 세포에 전달되지만, 전사의 오류는 하나의 RNA 분자에만 있고 그 RNA는 곧 분해된다. 하나의 유전자에서 수천 개의 mRNA가 만들어지므로 그중 하나에 오류가 있어도 만들어지는 단백질의 대부분은 정상이다. 즉 영구적 결과를 낳는 과정에는 비용을 들여 여러 겹의 교정을 두고 일시적 결과를 낳는 과정에는 두지 않는다. 같은 논리가 번역의 충실도에도 적용된다.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50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Rho 의존 종결에서 ribosome이 Rho의 작용을 막는 기전을 설명하고, 이것이 어떤 품질 관리가 되는지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Rho는 RNA의 rut site에 결합해 ATP를 쓰며 RNA를 따라 polymerase 쪽으로 이동하다가 느려진 polymerase를 따라잡아 RNA-DNA 잡종을 푼다. 그런데 Rho가 결합하려면 그 구간이 ribosome에 덮여 있지 않아야 한다. 번역이 활발하면 ribosome이 RNA를 덮어 Rho의 결합을 막는다. 따라서 번역이 멈춘 전사체는 종결되어 버려지는 품질 관리가 되며, 전사와 번역이 같은 공간에서 일어나는 세균에서만 가능하다.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51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처리 뒤 mRNA 양이 줄었다는 결과의 가능한 설명 세 가지를 쓰고, 어떤 측정이 그것들을 가를 수 있는지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설명은 전사가 줄었다, 전사는 그대로인데 mRNA 분해가 빨라졌다, 가공이 실패해 성숙한 mRNA가 되지 못했다의 세 가지다. RNA 양만 재는 방법으로는 셋을 구별할 수 없다. 수식된 뉴클레오타이드를 짧게 넣어 새로 합성된 RNA만 표지하면 전사 속도 자체를 보므로 첫째와 둘째를 가를 수 있고, polymerase의 위치를 유전체 전체에서 지도로 만들면 개시와 신장 가운데 어디가 변했는지 알 수 있다.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M03-W02-L02  ·  RNA의 종류와 전사의 기전</a:t>
            </a:r>
            <a:r>
              <a:rPr sz="900" b="1" i="0">
                <a:solidFill>
                  <a:srgbClr val="003C71"/>
                </a:solidFill>
                <a:latin typeface="Malgun Gothic"/>
                <a:ea typeface="Malgun Gothic"/>
                <a:cs typeface="Malgun Gothic"/>
              </a:rPr>
              <a:t>      52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Ferrier DR. Lippincott Illustrated Reviews: Biochemistry. 8th ed. Wolters Kluwer; 2023. Chapter 31, RNA Structure, Synthesis, and Processing.</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The Cell: A Molecular Approach. 9th ed. Oxford University Press; 2022. Chapter 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Heald R, Johnson A, et al. Molecular Biology of the Cell. 7th ed. W. W. Norton; 2022. Chapter 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Watson JD, Baker TA, Bell SP, et al. Molecular Biology of the Gene. 7th ed. Pearson; 2014. Chapters 12–13.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Cramer P. Organization and regulation of gene transcription. Nature. 2019;573(7772):45–54.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Campbell EA, Korzheva N, Mustaev A, et al. Structural mechanism for rifampicin inhibition of bacterial RNA polymerase. Cell. 2001;104(6):901–912.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Wurm T, Wright DG, Polakowski N, et al. Terminating transcription: mechanisms and consequences. Nat Rev Mol Cell Biol. 2024;25(4):269–287.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