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notesMaster" Target="notesMasters/notesMaster1.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Carnitine shuttle. 세포질에서 활성화된 긴 사슬 acyl-CoA는 CPT-I, CACT, CPT-II를 거쳐 기질로 들어간다. Malonyl-CoA가 CPT-I을 억제하므로 합성이 켜진 상태에서는 산화가 일어나지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beta-oxidation의 네 반응과 사슬 길이별 dehydrogenase. 두 번의 산화 사이에 수화가 끼어 있고, thiolase가 acetyl-CoA를 떼어 낸다. Palmitate 한 분자에서 7회 순환, 8 acetyl-CoA, 7 FADH₂, 7 NADH가 나온다.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홀수 사슬과 불포화 지방산의 처리. Propionyl-CoA는 biotin과 vitamin B₁₂ 의존 반응을 거쳐 succinyl-CoA가 되고, 불포화 사슬은 isomerase와 reductase를 추가로 거치며 ATP 수득이 조금 줄어든다.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Peroxisome과 미토콘드리아의 산화 비교, 그리고 phytanic acid의 alpha-oxidation. Peroxisome의 첫 산화는 H₂O₂를 만들고 ATP를 만들지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공복 기간에 따른 조직별 연료 선택. 뇌는 유리지방산을 쓸 수 없으나 케톤체는 쓸 수 있고, 적혈구는 미토콘드리아가 없어 끝까지 포도당에 의존한다.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저혈당인데 케톤체가 올라가지 않는 저케톤성 저혈당은 지방산 산화 경로의 장애를 가리킨다(고insulin증도 같은 패턴을 보이므로 구분이 필요하다). 기전은 세 가지가 겹친다. 첫째, 지방산을 연료로 쓸 수 없어 포도당 의존이 커지고 glycogen이 소진되면 저혈당이 온다. 둘째, gluconeogenesis는 지방산 산화가 공급하는 ATP에 의존하고 acetyl-CoA가 pyruvate carboxylase를 알로스테릭하게 활성화하므로, 산화가 막히면 당 생성도 둔해진다. 셋째, 케톤체는 지방산 산화에서 나온 acetyl-CoA로 만들어지므로 공급이 끊겨 생성되지 않는다. 치료 후에는 이 패턴이 사라지므로 포도당 투여 전에 acylcarnitine 프로파일용 검체를 확보해야 한다.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MCAD는 탄소 4~12개의 acyl-CoA를 산화하는 효소이므로, MCAD 결핍에서는 medium-chain 지방산이 바로 처리되지 못하는 기질이다. MCT를 투여하면 막힌 지점의 기질을 직접 공급해 중간 사슬 acylcarnitine과 dicarboxylic acid의 축적을 늘린다. 반면 CPT-II 결핍이나 CACT 결핍처럼 긴 사슬의 미토콘드리아 진입이 막힌 경우에는 medium-chain 지방산이 carnitine shuttle을 거치지 않고 내막을 통과하므로 막힌 지점을 우회하는 열량원이 된다. 같은 영양 요법이 결함 지점에 따라 금기와 치료로 갈린다.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사슬 길이 n인 짝수 포화지방산에서 순환 횟수는 (n/2 − 1), acetyl-CoA는 n/2, FADH₂와 NADH는 각각 (n/2 − 1)이다. Palmitate는 7회 순환, acetyl-CoA 8개, FADH₂ 7개, NADH 7개다. Stearate는 8회 순환, acetyl-CoA 9개, FADH₂ 8개, NADH 8개다. 둘이 다른 이유는 마지막 순환에서 탄소 네 개의 acetoacetyl-CoA가 thiolase에 의해 acetyl-CoA 두 개로 갈라지기 때문이다. 즉 마지막 한 번의 순환이 두 개의 acetyl-CoA를 내놓으므로 순환 횟수보다 acetyl-CoA가 하나 더 많다. 또 두 지방산 모두 활성화에 ATP 두 개 상당을 소비한다는 점을 수지에 포함해야 한다.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짝수 사슬 지방산은 모두 acetyl-CoA로 분해된다. Acetyl-CoA가 TCA cycle에 들어가면 두 번의 decarboxylation으로 탄소 두 개가 CO₂로 빠져나가므로 순수한 탄소 증가가 없고, pyruvate dehydrogenase 반응이 비가역이어서 acetyl-CoA에서 pyruvate로 되돌아갈 수도 없다. 홀수 사슬 지방산은 마지막에 탄소 세 개의 propionyl-CoA를 남기고, 이것이 propionyl-CoA carboxylase(biotin)와 methylmalonyl-CoA mutase(vitamin B₁₂)를 거쳐 succinyl-CoA가 된다. Succinyl-CoA는 TCA cycle의 네 탄소 중간체이므로 oxaloacetate를 거쳐 phosphoenolpyruvate로 나가 gluconeogenesis에 쓰일 수 있다. 다만 전체 양에서 차지하는 비중은 작다.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Malonyl-CoA는 fatty acid synthase의 탄소 공여체이면서 동시에 CPT-I의 억제제다. 따라서 농도가 높으면 합성이 진행되고 긴 사슬 acyl기의 미토콘드리아 진입이 막혀 산화가 꺼지고, 농도가 낮으면 그 반대가 된다. 식후에는 insulin이 ACC를 탈인산화해 malonyl-CoA를 올리고, 공복에는 glucagon과 AMPK가 ACC를 인산화해 malonyl-CoA를 떨어뜨린다. 근육은 de novo 지방산 합성을 하지 않지만 ACC를 가지고 있으며, 그 malonyl-CoA의 역할은 합성이 아니라 CPT-I 억제를 통한 산화 속도 조절이다. 근육형 CPT-1B가 간형보다 malonyl-CoA에 더 예민한 것도 같은 맥락이다.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결함 지점이 사슬 길이에 따라 다르므로 쌓이는 acylcarnitine의 사슬 길이도 다르다. CPT-II와 VLCAD 결핍에서는 탄소 14~18개의 긴 사슬 acylcarnitine이 쌓이는데, 이 분자들은 긴 소수성 사슬과 전하를 띤 머리를 함께 가져 계면활성 성질이 있다. 그래서 막의 안정성을 떨어뜨리고 이온 통로와 심장 전도계의 기능에 영향을 주어 심근증, 치명적 부정맥, 횡문근 분해를 일으킨다. 심장은 평시에도 에너지의 60~70%를 지방산에서 얻으므로 ATP 부족의 영향도 가장 크게 받는다. MCAD 결핍에서 쌓이는 C6~C10 중간체는 사슬이 짧아 막 교란 효과가 작고, 임상에서는 공복 시 저혈당이 주 문제가 된다.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400" b="1" i="0">
                <a:solidFill>
                  <a:srgbClr val="F2B705"/>
                </a:solidFill>
                <a:latin typeface="Malgun Gothic"/>
                <a:ea typeface="Malgun Gothic"/>
                <a:cs typeface="Malgun Gothic"/>
              </a:rPr>
              <a:t>M02  대사생화학</a:t>
            </a:r>
          </a:p>
        </p:txBody>
      </p:sp>
      <p:sp>
        <p:nvSpPr>
          <p:cNvPr id="5" name="TextBox 4"/>
          <p:cNvSpPr txBox="1"/>
          <p:nvPr/>
        </p:nvSpPr>
        <p:spPr>
          <a:xfrm>
            <a:off x="731520" y="1645920"/>
            <a:ext cx="10698480" cy="2194560"/>
          </a:xfrm>
          <a:prstGeom prst="rect">
            <a:avLst/>
          </a:prstGeom>
          <a:noFill/>
        </p:spPr>
        <p:txBody>
          <a:bodyPr wrap="square" anchor="b">
            <a:spAutoFit/>
          </a:bodyPr>
          <a:lstStyle/>
          <a:p>
            <a:r>
              <a:rPr sz="3400" b="1" i="0">
                <a:solidFill>
                  <a:srgbClr val="FFFFFF"/>
                </a:solidFill>
                <a:latin typeface="Malgun Gothic"/>
                <a:ea typeface="Malgun Gothic"/>
                <a:cs typeface="Malgun Gothic"/>
              </a:rPr>
              <a:t>지방산 산화와 관련 대사 이상</a:t>
            </a:r>
          </a:p>
          <a:p>
            <a:r>
              <a:rPr sz="1500" b="0" i="0">
                <a:solidFill>
                  <a:srgbClr val="B9D2E8"/>
                </a:solidFill>
                <a:latin typeface="Malgun Gothic"/>
                <a:ea typeface="Malgun Gothic"/>
                <a:cs typeface="Malgun Gothic"/>
              </a:rPr>
              <a:t>Fatty Acid Oxidation and Its Disorders</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300" b="1" i="0">
                <a:solidFill>
                  <a:srgbClr val="FFFFFF"/>
                </a:solidFill>
                <a:latin typeface="Malgun Gothic"/>
                <a:ea typeface="Malgun Gothic"/>
                <a:cs typeface="Malgun Gothic"/>
              </a:rPr>
              <a:t>M02-W07-L03</a:t>
            </a:r>
          </a:p>
          <a:p>
            <a:r>
              <a:rPr sz="1100" b="0" i="0">
                <a:solidFill>
                  <a:srgbClr val="9FBEDA"/>
                </a:solidFill>
                <a:latin typeface="Malgun Gothic"/>
                <a:ea typeface="Malgun Gothic"/>
                <a:cs typeface="Malgun Gothic"/>
              </a:rPr>
              <a:t>7주 3회  ·  지질대사</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GOALS   </a:t>
            </a:r>
            <a:r>
              <a:rPr sz="2400" b="1" i="0">
                <a:solidFill>
                  <a:srgbClr val="FFFFFF"/>
                </a:solidFill>
                <a:latin typeface="Malgun Gothic"/>
                <a:ea typeface="Malgun Gothic"/>
                <a:cs typeface="Malgun Gothic"/>
              </a:rPr>
              <a:t>학습목표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M02-W07-L03  ·  지방산 산화와 관련 대사 이상</a:t>
            </a:r>
            <a:r>
              <a:rPr sz="9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1.  </a:t>
            </a:r>
            <a:r>
              <a:rPr sz="1800" b="0" i="0">
                <a:solidFill>
                  <a:srgbClr val="11202B"/>
                </a:solidFill>
                <a:latin typeface="Malgun Gothic"/>
                <a:ea typeface="Malgun Gothic"/>
                <a:cs typeface="Malgun Gothic"/>
              </a:rPr>
              <a:t>지방산 산화가 켜지는 생리적 조건과 그 조직 분포를 설명한다.</a:t>
            </a:r>
          </a:p>
          <a:p>
            <a:pPr>
              <a:spcAft>
                <a:spcPts val="900"/>
              </a:spcAft>
            </a:pPr>
            <a:r>
              <a:rPr sz="1800" b="1" i="0">
                <a:solidFill>
                  <a:srgbClr val="F2B705"/>
                </a:solidFill>
                <a:latin typeface="Malgun Gothic"/>
                <a:ea typeface="Malgun Gothic"/>
                <a:cs typeface="Malgun Gothic"/>
              </a:rPr>
              <a:t>2.  </a:t>
            </a:r>
            <a:r>
              <a:rPr sz="1800" b="0" i="0">
                <a:solidFill>
                  <a:srgbClr val="11202B"/>
                </a:solidFill>
                <a:latin typeface="Malgun Gothic"/>
                <a:ea typeface="Malgun Gothic"/>
                <a:cs typeface="Malgun Gothic"/>
              </a:rPr>
              <a:t>지방산의 활성화와 carnitine shuttle의 세 요소를 순서대로 설명한다.</a:t>
            </a:r>
          </a:p>
          <a:p>
            <a:pPr>
              <a:spcAft>
                <a:spcPts val="900"/>
              </a:spcAft>
            </a:pPr>
            <a:r>
              <a:rPr sz="1800" b="1" i="0">
                <a:solidFill>
                  <a:srgbClr val="F2B705"/>
                </a:solidFill>
                <a:latin typeface="Malgun Gothic"/>
                <a:ea typeface="Malgun Gothic"/>
                <a:cs typeface="Malgun Gothic"/>
              </a:rPr>
              <a:t>3.  </a:t>
            </a:r>
            <a:r>
              <a:rPr sz="1800" b="0" i="0">
                <a:solidFill>
                  <a:srgbClr val="11202B"/>
                </a:solidFill>
                <a:latin typeface="Malgun Gothic"/>
                <a:ea typeface="Malgun Gothic"/>
                <a:cs typeface="Malgun Gothic"/>
              </a:rPr>
              <a:t>CPT-I이 malonyl-CoA에 의해 억제되는 의미를 합성 조절과 연결해 설명한다.</a:t>
            </a:r>
          </a:p>
          <a:p>
            <a:pPr>
              <a:spcAft>
                <a:spcPts val="900"/>
              </a:spcAft>
            </a:pPr>
            <a:r>
              <a:rPr sz="1800" b="1" i="0">
                <a:solidFill>
                  <a:srgbClr val="F2B705"/>
                </a:solidFill>
                <a:latin typeface="Malgun Gothic"/>
                <a:ea typeface="Malgun Gothic"/>
                <a:cs typeface="Malgun Gothic"/>
              </a:rPr>
              <a:t>4.  </a:t>
            </a:r>
            <a:r>
              <a:rPr sz="1800" b="0" i="0">
                <a:solidFill>
                  <a:srgbClr val="11202B"/>
                </a:solidFill>
                <a:latin typeface="Malgun Gothic"/>
                <a:ea typeface="Malgun Gothic"/>
                <a:cs typeface="Malgun Gothic"/>
              </a:rPr>
              <a:t>beta-oxidation 네 반응을 효소·보조인자와 함께 쓰고 palmitate의 ATP 수지를 계산한다.</a:t>
            </a:r>
          </a:p>
          <a:p>
            <a:pPr>
              <a:spcAft>
                <a:spcPts val="900"/>
              </a:spcAft>
            </a:pPr>
            <a:r>
              <a:rPr sz="1800" b="1" i="0">
                <a:solidFill>
                  <a:srgbClr val="F2B705"/>
                </a:solidFill>
                <a:latin typeface="Malgun Gothic"/>
                <a:ea typeface="Malgun Gothic"/>
                <a:cs typeface="Malgun Gothic"/>
              </a:rPr>
              <a:t>5.  </a:t>
            </a:r>
            <a:r>
              <a:rPr sz="1800" b="0" i="0">
                <a:solidFill>
                  <a:srgbClr val="11202B"/>
                </a:solidFill>
                <a:latin typeface="Malgun Gothic"/>
                <a:ea typeface="Malgun Gothic"/>
                <a:cs typeface="Malgun Gothic"/>
              </a:rPr>
              <a:t>홀수 사슬과 불포화 지방산, very-long-chain 지방산의 처리 경로 차이를 설명한다.</a:t>
            </a:r>
          </a:p>
          <a:p>
            <a:pPr>
              <a:spcAft>
                <a:spcPts val="900"/>
              </a:spcAft>
            </a:pPr>
            <a:r>
              <a:rPr sz="1800" b="1" i="0">
                <a:solidFill>
                  <a:srgbClr val="F2B705"/>
                </a:solidFill>
                <a:latin typeface="Malgun Gothic"/>
                <a:ea typeface="Malgun Gothic"/>
                <a:cs typeface="Malgun Gothic"/>
              </a:rPr>
              <a:t>6.  </a:t>
            </a:r>
            <a:r>
              <a:rPr sz="1800" b="0" i="0">
                <a:solidFill>
                  <a:srgbClr val="11202B"/>
                </a:solidFill>
                <a:latin typeface="Malgun Gothic"/>
                <a:ea typeface="Malgun Gothic"/>
                <a:cs typeface="Malgun Gothic"/>
              </a:rPr>
              <a:t>MCAD 결핍과 carnitine 결핍의 생화학적 소견을 구분하고 치료 원칙을 제시한다.</a:t>
            </a:r>
          </a:p>
          <a:p>
            <a:pPr>
              <a:spcAft>
                <a:spcPts val="900"/>
              </a:spcAft>
            </a:pPr>
            <a:r>
              <a:rPr sz="1800" b="1" i="0">
                <a:solidFill>
                  <a:srgbClr val="F2B705"/>
                </a:solidFill>
                <a:latin typeface="Malgun Gothic"/>
                <a:ea typeface="Malgun Gothic"/>
                <a:cs typeface="Malgun Gothic"/>
              </a:rPr>
              <a:t>7.  </a:t>
            </a:r>
            <a:r>
              <a:rPr sz="1800" b="0" i="0">
                <a:solidFill>
                  <a:srgbClr val="11202B"/>
                </a:solidFill>
                <a:latin typeface="Malgun Gothic"/>
                <a:ea typeface="Malgun Gothic"/>
                <a:cs typeface="Malgun Gothic"/>
              </a:rPr>
              <a:t>공복 기간에 따른 조직별 연료 선택을 설명하고 산화 장애가 왜 공복에서 발현하는지 연결한다.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PREREQ   </a:t>
            </a:r>
            <a:r>
              <a:rPr sz="2400" b="1" i="0">
                <a:solidFill>
                  <a:srgbClr val="FFFFFF"/>
                </a:solidFill>
                <a:latin typeface="Malgun Gothic"/>
                <a:ea typeface="Malgun Gothic"/>
                <a:cs typeface="Malgun Gothic"/>
              </a:rPr>
              <a:t>선수지식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M02-W07-L03  ·  지방산 산화와 관련 대사 이상</a:t>
            </a:r>
            <a:r>
              <a:rPr sz="9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M02-W07-L02 지방산 합성과 조절 — malonyl-CoA와 ACC의 조절</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M02-W05-L02 Pyruvate dehydrogenase와 TCA cycle — acetyl-CoA의 산화</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M02-W04-L03 산화적 인산화 — FADH₂와 NADH의 ATP 환산</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OUTLINE   </a:t>
            </a:r>
            <a:r>
              <a:rPr sz="24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M02-W07-L03  ·  지방산 산화와 관련 대사 이상</a:t>
            </a:r>
            <a:r>
              <a:rPr sz="9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1.  </a:t>
            </a:r>
            <a:r>
              <a:rPr sz="2000" b="0" i="0">
                <a:solidFill>
                  <a:srgbClr val="11202B"/>
                </a:solidFill>
                <a:latin typeface="Malgun Gothic"/>
                <a:ea typeface="Malgun Gothic"/>
                <a:cs typeface="Malgun Gothic"/>
              </a:rPr>
              <a:t>1. 들어가며: 굶을 때 몸이 쓰는 연료</a:t>
            </a:r>
          </a:p>
          <a:p>
            <a:pPr>
              <a:spcAft>
                <a:spcPts val="900"/>
              </a:spcAft>
            </a:pPr>
            <a:r>
              <a:rPr sz="2000" b="1" i="0">
                <a:solidFill>
                  <a:srgbClr val="F2B705"/>
                </a:solidFill>
                <a:latin typeface="Malgun Gothic"/>
                <a:ea typeface="Malgun Gothic"/>
                <a:cs typeface="Malgun Gothic"/>
              </a:rPr>
              <a:t>2.  </a:t>
            </a:r>
            <a:r>
              <a:rPr sz="2000" b="0" i="0">
                <a:solidFill>
                  <a:srgbClr val="11202B"/>
                </a:solidFill>
                <a:latin typeface="Malgun Gothic"/>
                <a:ea typeface="Malgun Gothic"/>
                <a:cs typeface="Malgun Gothic"/>
              </a:rPr>
              <a:t>2. 지방산 산화가 켜지는 조건과 조직</a:t>
            </a:r>
          </a:p>
          <a:p>
            <a:pPr>
              <a:spcAft>
                <a:spcPts val="900"/>
              </a:spcAft>
            </a:pPr>
            <a:r>
              <a:rPr sz="2000" b="1" i="0">
                <a:solidFill>
                  <a:srgbClr val="F2B705"/>
                </a:solidFill>
                <a:latin typeface="Malgun Gothic"/>
                <a:ea typeface="Malgun Gothic"/>
                <a:cs typeface="Malgun Gothic"/>
              </a:rPr>
              <a:t>3.  </a:t>
            </a:r>
            <a:r>
              <a:rPr sz="2000" b="0" i="0">
                <a:solidFill>
                  <a:srgbClr val="11202B"/>
                </a:solidFill>
                <a:latin typeface="Malgun Gothic"/>
                <a:ea typeface="Malgun Gothic"/>
                <a:cs typeface="Malgun Gothic"/>
              </a:rPr>
              <a:t>3. 지방산의 활성화와 미토콘드리아 진입</a:t>
            </a:r>
          </a:p>
          <a:p>
            <a:pPr>
              <a:spcAft>
                <a:spcPts val="900"/>
              </a:spcAft>
            </a:pPr>
            <a:r>
              <a:rPr sz="2000" b="1" i="0">
                <a:solidFill>
                  <a:srgbClr val="F2B705"/>
                </a:solidFill>
                <a:latin typeface="Malgun Gothic"/>
                <a:ea typeface="Malgun Gothic"/>
                <a:cs typeface="Malgun Gothic"/>
              </a:rPr>
              <a:t>4.  </a:t>
            </a:r>
            <a:r>
              <a:rPr sz="2000" b="0" i="0">
                <a:solidFill>
                  <a:srgbClr val="11202B"/>
                </a:solidFill>
                <a:latin typeface="Malgun Gothic"/>
                <a:ea typeface="Malgun Gothic"/>
                <a:cs typeface="Malgun Gothic"/>
              </a:rPr>
              <a:t>4. CPT-I의 조절: 합성과 산화의 전환점</a:t>
            </a:r>
          </a:p>
          <a:p>
            <a:pPr>
              <a:spcAft>
                <a:spcPts val="900"/>
              </a:spcAft>
            </a:pPr>
            <a:r>
              <a:rPr sz="2000" b="1" i="0">
                <a:solidFill>
                  <a:srgbClr val="F2B705"/>
                </a:solidFill>
                <a:latin typeface="Malgun Gothic"/>
                <a:ea typeface="Malgun Gothic"/>
                <a:cs typeface="Malgun Gothic"/>
              </a:rPr>
              <a:t>5.  </a:t>
            </a:r>
            <a:r>
              <a:rPr sz="2000" b="0" i="0">
                <a:solidFill>
                  <a:srgbClr val="11202B"/>
                </a:solidFill>
                <a:latin typeface="Malgun Gothic"/>
                <a:ea typeface="Malgun Gothic"/>
                <a:cs typeface="Malgun Gothic"/>
              </a:rPr>
              <a:t>5. beta-oxidation의 네 반응</a:t>
            </a:r>
          </a:p>
          <a:p>
            <a:pPr>
              <a:spcAft>
                <a:spcPts val="900"/>
              </a:spcAft>
            </a:pPr>
            <a:r>
              <a:rPr sz="2000" b="1" i="0">
                <a:solidFill>
                  <a:srgbClr val="F2B705"/>
                </a:solidFill>
                <a:latin typeface="Malgun Gothic"/>
                <a:ea typeface="Malgun Gothic"/>
                <a:cs typeface="Malgun Gothic"/>
              </a:rPr>
              <a:t>6.  </a:t>
            </a:r>
            <a:r>
              <a:rPr sz="2000" b="0" i="0">
                <a:solidFill>
                  <a:srgbClr val="11202B"/>
                </a:solidFill>
                <a:latin typeface="Malgun Gothic"/>
                <a:ea typeface="Malgun Gothic"/>
                <a:cs typeface="Malgun Gothic"/>
              </a:rPr>
              <a:t>6. 홀수 사슬, 불포화, very-long-chain 지방산</a:t>
            </a:r>
          </a:p>
          <a:p>
            <a:pPr>
              <a:spcAft>
                <a:spcPts val="900"/>
              </a:spcAft>
            </a:pPr>
            <a:r>
              <a:rPr sz="2000" b="1" i="0">
                <a:solidFill>
                  <a:srgbClr val="F2B705"/>
                </a:solidFill>
                <a:latin typeface="Malgun Gothic"/>
                <a:ea typeface="Malgun Gothic"/>
                <a:cs typeface="Malgun Gothic"/>
              </a:rPr>
              <a:t>7.  </a:t>
            </a:r>
            <a:r>
              <a:rPr sz="2000" b="0" i="0">
                <a:solidFill>
                  <a:srgbClr val="11202B"/>
                </a:solidFill>
                <a:latin typeface="Malgun Gothic"/>
                <a:ea typeface="Malgun Gothic"/>
                <a:cs typeface="Malgun Gothic"/>
              </a:rPr>
              <a:t>7. 지방산 산화 결핍: MCAD와 carnitine 결핍</a:t>
            </a:r>
          </a:p>
          <a:p>
            <a:pPr>
              <a:spcAft>
                <a:spcPts val="900"/>
              </a:spcAft>
            </a:pPr>
            <a:r>
              <a:rPr sz="2000" b="1" i="0">
                <a:solidFill>
                  <a:srgbClr val="F2B705"/>
                </a:solidFill>
                <a:latin typeface="Malgun Gothic"/>
                <a:ea typeface="Malgun Gothic"/>
                <a:cs typeface="Malgun Gothic"/>
              </a:rPr>
              <a:t>8.  </a:t>
            </a:r>
            <a:r>
              <a:rPr sz="2000" b="0" i="0">
                <a:solidFill>
                  <a:srgbClr val="11202B"/>
                </a:solidFill>
                <a:latin typeface="Malgun Gothic"/>
                <a:ea typeface="Malgun Gothic"/>
                <a:cs typeface="Malgun Gothic"/>
              </a:rPr>
              <a:t>8. 공복 시 조직별 연료 선택</a:t>
            </a:r>
          </a:p>
          <a:p>
            <a:pPr>
              <a:spcAft>
                <a:spcPts val="900"/>
              </a:spcAft>
            </a:pPr>
            <a:r>
              <a:rPr sz="2000" b="1" i="0">
                <a:solidFill>
                  <a:srgbClr val="F2B705"/>
                </a:solidFill>
                <a:latin typeface="Malgun Gothic"/>
                <a:ea typeface="Malgun Gothic"/>
                <a:cs typeface="Malgun Gothic"/>
              </a:rPr>
              <a:t>9.  </a:t>
            </a:r>
            <a:r>
              <a:rPr sz="2000" b="0" i="0">
                <a:solidFill>
                  <a:srgbClr val="11202B"/>
                </a:solidFill>
                <a:latin typeface="Malgun Gothic"/>
                <a:ea typeface="Malgun Gothic"/>
                <a:cs typeface="Malgun Gothic"/>
              </a:rPr>
              <a:t>9. 산화 경로의 이상이 만드는 전신 소견</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들어가며: 굶을 때 몸이 쓰는 연료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M02-W07-L03  ·  지방산 산화와 관련 대사 이상</a:t>
            </a:r>
            <a:r>
              <a:rPr sz="900" b="1" i="0">
                <a:solidFill>
                  <a:srgbClr val="003C71"/>
                </a:solidFill>
                <a:latin typeface="Malgun Gothic"/>
                <a:ea typeface="Malgun Gothic"/>
                <a:cs typeface="Malgun Gothic"/>
              </a:rPr>
              <a:t>      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수업은 지방을 연료로 쓰는 과정을 다룬다. 앞 수업에서 포도당을 쓰는 경로를 보았으니, 이제 </a:t>
            </a:r>
            <a:r>
              <a:rPr sz="1400" b="1" i="0">
                <a:solidFill>
                  <a:srgbClr val="11202B"/>
                </a:solidFill>
                <a:latin typeface="Malgun Gothic"/>
                <a:ea typeface="Malgun Gothic"/>
                <a:cs typeface="Malgun Gothic"/>
              </a:rPr>
              <a:t>포도당이 모자랄 때 몸이 무엇을 쓰는가</a:t>
            </a:r>
            <a:r>
              <a:rPr sz="1400" b="0" i="0">
                <a:solidFill>
                  <a:srgbClr val="11202B"/>
                </a:solidFill>
                <a:latin typeface="Malgun Gothic"/>
                <a:ea typeface="Malgun Gothic"/>
                <a:cs typeface="Malgun Gothic"/>
              </a:rPr>
              <a:t>로 넘어간다.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왜 지방이 따로 필요한지 숫자로 보자. 같은 무게로 비교하면 지방은 탄수화물보다 두 배 넘는 에너지를 낸다. 또 glycogen은 물과 함께 저장되어 무겁지만 지방은 물 없이 뭉쳐 저장된다. 그래서 성인의 glycogen 저장량은 하루를 넘기지 못하는 수준이고, 지방 저장량은 수 주를 버틸 수 있는 수준이다. </a:t>
            </a:r>
            <a:r>
              <a:rPr sz="1400" b="1" i="0">
                <a:solidFill>
                  <a:srgbClr val="11202B"/>
                </a:solidFill>
                <a:latin typeface="Malgun Gothic"/>
                <a:ea typeface="Malgun Gothic"/>
                <a:cs typeface="Malgun Gothic"/>
              </a:rPr>
              <a:t>몸의 장기 연료는 지방이고 포도당은 단기 연료</a:t>
            </a:r>
            <a:r>
              <a:rPr sz="1400" b="0" i="0">
                <a:solidFill>
                  <a:srgbClr val="11202B"/>
                </a:solidFill>
                <a:latin typeface="Malgun Gothic"/>
                <a:ea typeface="Malgun Gothic"/>
                <a:cs typeface="Malgun Gothic"/>
              </a:rPr>
              <a:t>라는 대비가 이 수업의 출발점이다.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그러면 왜 늘 지방만 쓰지 않는가. 두 가지 제약이 있다. 첫째, 지방산 산화는 산소를 요구하므로 급하게 많은 에너지가 필요할 때 쓸 수 없다. 둘째, </a:t>
            </a:r>
            <a:r>
              <a:rPr sz="1400" b="1" i="0">
                <a:solidFill>
                  <a:srgbClr val="11202B"/>
                </a:solidFill>
                <a:latin typeface="Malgun Gothic"/>
                <a:ea typeface="Malgun Gothic"/>
                <a:cs typeface="Malgun Gothic"/>
              </a:rPr>
              <a:t>지방산은 포도당으로 바꿀 수 없다.</a:t>
            </a:r>
            <a:r>
              <a:rPr sz="1400" b="0" i="0">
                <a:solidFill>
                  <a:srgbClr val="11202B"/>
                </a:solidFill>
                <a:latin typeface="Malgun Gothic"/>
                <a:ea typeface="Malgun Gothic"/>
                <a:cs typeface="Malgun Gothic"/>
              </a:rPr>
              <a:t> 그래서 포도당만 쓸 수 있는 조직이 있으면 지방만으로는 몸을 유지할 수 없다. 이 두 제약이 연료 선택의 규칙을 만든다.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용어 네 개를 먼저 정의한다.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지방산</a:t>
            </a:r>
            <a:r>
              <a:rPr sz="1400" b="0" i="0">
                <a:solidFill>
                  <a:srgbClr val="11202B"/>
                </a:solidFill>
                <a:latin typeface="Malgun Gothic"/>
                <a:ea typeface="Malgun Gothic"/>
                <a:cs typeface="Malgun Gothic"/>
              </a:rPr>
              <a:t>: 긴 탄화수소 사슬 끝에 carboxyl기가 붙은 분자다. 사슬이 길수록 에너지가 많다.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Triacylglycerol</a:t>
            </a:r>
            <a:r>
              <a:rPr sz="1400" b="0" i="0">
                <a:solidFill>
                  <a:srgbClr val="11202B"/>
                </a:solidFill>
                <a:latin typeface="Malgun Gothic"/>
                <a:ea typeface="Malgun Gothic"/>
                <a:cs typeface="Malgun Gothic"/>
              </a:rPr>
              <a:t>: 글리세롤 하나에 지방산 세 개가 붙은 저장 형태다. 지방조직에 저장된 것이 이 형태다.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Beta-oxidation</a:t>
            </a:r>
            <a:r>
              <a:rPr sz="1400" b="0" i="0">
                <a:solidFill>
                  <a:srgbClr val="11202B"/>
                </a:solidFill>
                <a:latin typeface="Malgun Gothic"/>
                <a:ea typeface="Malgun Gothic"/>
                <a:cs typeface="Malgun Gothic"/>
              </a:rPr>
              <a:t>: 지방산 사슬을 끝에서 두 탄소씩 잘라 acetyl-CoA로 만드는 과정이다. 자르는 자리가 carboxyl 탄소에서 두 번째인 beta 탄소여서 이 이름이 붙었다.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Ketone body</a:t>
            </a:r>
            <a:r>
              <a:rPr sz="1400" b="0" i="0">
                <a:solidFill>
                  <a:srgbClr val="11202B"/>
                </a:solidFill>
                <a:latin typeface="Malgun Gothic"/>
                <a:ea typeface="Malgun Gothic"/>
                <a:cs typeface="Malgun Gothic"/>
              </a:rPr>
              <a:t>: 간이 acetyl-CoA를 모아 만드는 수용성 연료다. 지방산과 달리 혈액에 녹아 뇌까지 갈 수 있다.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들어가며: 굶을 때 몸이 쓰는 연료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M02-W07-L03  ·  지방산 산화와 관련 대사 이상</a:t>
            </a:r>
            <a:r>
              <a:rPr sz="900" b="1" i="0">
                <a:solidFill>
                  <a:srgbClr val="003C71"/>
                </a:solidFill>
                <a:latin typeface="Malgun Gothic"/>
                <a:ea typeface="Malgun Gothic"/>
                <a:cs typeface="Malgun Gothic"/>
              </a:rPr>
              <a:t>      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절은 다음 순서로 쌓인다. 먼저 지방산 산화가 언제 어느 조직에서 켜지는지를 보고(2절), 지방산이 미토콘드리아 안으로 어떻게 들어가는지(3절), 그 안에서 어떤 반응으로 잘리는지(4절)를 따라간다. 이어서 사슬 길이에 따른 차이와 유전 질환(5·6절), ketone body의 생성과 이용(7절), 그리고 이 경로가 임상 소견으로 나타나는 양상(8·9절)을 본다.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들어가며: 굶을 때 몸이 쓰는 연료</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M02-W07-L03  ·  지방산 산화와 관련 대사 이상</a:t>
            </a:r>
            <a:r>
              <a:rPr sz="900" b="1" i="0">
                <a:solidFill>
                  <a:srgbClr val="003C71"/>
                </a:solidFill>
                <a:latin typeface="Malgun Gothic"/>
                <a:ea typeface="Malgun Gothic"/>
                <a:cs typeface="Malgun Gothic"/>
              </a:rPr>
              <a:t>      7</a:t>
            </a:r>
          </a:p>
        </p:txBody>
      </p:sp>
      <p:sp>
        <p:nvSpPr>
          <p:cNvPr id="7" name="Rectangle 6"/>
          <p:cNvSpPr/>
          <p:nvPr/>
        </p:nvSpPr>
        <p:spPr>
          <a:xfrm>
            <a:off x="640080" y="1325880"/>
            <a:ext cx="10881360" cy="1092200"/>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1" i="0">
                <a:solidFill>
                  <a:srgbClr val="11202B"/>
                </a:solidFill>
                <a:latin typeface="Malgun Gothic"/>
                <a:ea typeface="Malgun Gothic"/>
                <a:cs typeface="Malgun Gothic"/>
              </a:rPr>
              <a:t>핵심 정리</a:t>
            </a:r>
            <a:r>
              <a:rPr sz="1600" b="0" i="0">
                <a:solidFill>
                  <a:srgbClr val="11202B"/>
                </a:solidFill>
                <a:latin typeface="Malgun Gothic"/>
                <a:ea typeface="Malgun Gothic"/>
                <a:cs typeface="Malgun Gothic"/>
              </a:rPr>
              <a:t> 지방은 양이 많고 무게당 에너지가 큰 장기 연료이고, 포도당은 급할 때와 특정 조직을 위한 단기 연료다. 지방산을 포도당으로 바꿀 수 없다는 제약이 연료 선택의 규칙을 정한다.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지방산 산화가 켜지는 조건과 조직</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M02-W07-L03  ·  지방산 산화와 관련 대사 이상</a:t>
            </a:r>
            <a:r>
              <a:rPr sz="900" b="1" i="0">
                <a:solidFill>
                  <a:srgbClr val="003C71"/>
                </a:solidFill>
                <a:latin typeface="Malgun Gothic"/>
                <a:ea typeface="Malgun Gothic"/>
                <a:cs typeface="Malgun Gothic"/>
              </a:rPr>
              <a:t>      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지방산 산화는 </a:t>
            </a:r>
            <a:r>
              <a:rPr sz="1400" b="1" i="0">
                <a:solidFill>
                  <a:srgbClr val="11202B"/>
                </a:solidFill>
                <a:latin typeface="Malgun Gothic"/>
                <a:ea typeface="Malgun Gothic"/>
                <a:cs typeface="Malgun Gothic"/>
              </a:rPr>
              <a:t>지방산을 두 탄소씩 잘라 acetyl-CoA로 만들고, 그 과정에서 FADH₂와 NADH를 생산하는 경로</a:t>
            </a:r>
            <a:r>
              <a:rPr sz="1400" b="0" i="0">
                <a:solidFill>
                  <a:srgbClr val="11202B"/>
                </a:solidFill>
                <a:latin typeface="Malgun Gothic"/>
                <a:ea typeface="Malgun Gothic"/>
                <a:cs typeface="Malgun Gothic"/>
              </a:rPr>
              <a:t>다. 잘라 내는 위치가 carboxyl 탄소에서 두 번째인 beta 탄소이므로 </a:t>
            </a:r>
            <a:r>
              <a:rPr sz="1400" b="1" i="0">
                <a:solidFill>
                  <a:srgbClr val="11202B"/>
                </a:solidFill>
                <a:latin typeface="Malgun Gothic"/>
                <a:ea typeface="Malgun Gothic"/>
                <a:cs typeface="Malgun Gothic"/>
              </a:rPr>
              <a:t>beta-oxidation</a:t>
            </a:r>
            <a:r>
              <a:rPr sz="1400" b="0" i="0">
                <a:solidFill>
                  <a:srgbClr val="11202B"/>
                </a:solidFill>
                <a:latin typeface="Malgun Gothic"/>
                <a:ea typeface="Malgun Gothic"/>
                <a:cs typeface="Malgun Gothic"/>
              </a:rPr>
              <a:t>이라고 부른다.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경로가 켜지는 조건은 지방산 합성이 켜지는 조건의 반대다. 혈중 insulin이 낮고 glucagon과 epinephrine이 높을 때, 즉 공복, 장시간 운동, 스트레스 상태에서 작동한다. 이때 지방조직에서 triacylglycerol이 분해되어 유리지방산이 혈액으로 나오고, 알부민에 결합한 상태로 조직에 전달된다.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조직별로 의존도가 다르다.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간</a:t>
            </a:r>
            <a:r>
              <a:rPr sz="1400" b="0" i="0">
                <a:solidFill>
                  <a:srgbClr val="11202B"/>
                </a:solidFill>
                <a:latin typeface="Malgun Gothic"/>
                <a:ea typeface="Malgun Gothic"/>
                <a:cs typeface="Malgun Gothic"/>
              </a:rPr>
              <a:t>: 산화와 동시에 케톤체를 만들어 다른 조직에 연료를 내보낸다.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심장근육</a:t>
            </a:r>
            <a:r>
              <a:rPr sz="1400" b="0" i="0">
                <a:solidFill>
                  <a:srgbClr val="11202B"/>
                </a:solidFill>
                <a:latin typeface="Malgun Gothic"/>
                <a:ea typeface="Malgun Gothic"/>
                <a:cs typeface="Malgun Gothic"/>
              </a:rPr>
              <a:t>: 평시에도 에너지의 60~70%를 지방산에서 얻는다.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골격근</a:t>
            </a:r>
            <a:r>
              <a:rPr sz="1400" b="0" i="0">
                <a:solidFill>
                  <a:srgbClr val="11202B"/>
                </a:solidFill>
                <a:latin typeface="Malgun Gothic"/>
                <a:ea typeface="Malgun Gothic"/>
                <a:cs typeface="Malgun Gothic"/>
              </a:rPr>
              <a:t>: 안정 시와 지속적 운동에서 주 연료로 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뇌</a:t>
            </a:r>
            <a:r>
              <a:rPr sz="1400" b="0" i="0">
                <a:solidFill>
                  <a:srgbClr val="11202B"/>
                </a:solidFill>
                <a:latin typeface="Malgun Gothic"/>
                <a:ea typeface="Malgun Gothic"/>
                <a:cs typeface="Malgun Gothic"/>
              </a:rPr>
              <a:t>: 지방산을 쓰지 못한다. 유리지방산은 알부민에 결합해 있어 혈액뇌장벽을 넘지 못한다.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적혈구</a:t>
            </a:r>
            <a:r>
              <a:rPr sz="1400" b="0" i="0">
                <a:solidFill>
                  <a:srgbClr val="11202B"/>
                </a:solidFill>
                <a:latin typeface="Malgun Gothic"/>
                <a:ea typeface="Malgun Gothic"/>
                <a:cs typeface="Malgun Gothic"/>
              </a:rPr>
              <a:t>: 미토콘드리아가 없어 지방산 산화를 할 수 없다.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지방산이 좋은 연료인 까닭은 환원 상태 때문이다. 포도당은 탄소마다 hydroxyl기를 가져 이미 부분적으로 산화되어 있지만, 지방산의 사슬은 거의 완전히 환원된 탄화수소다. 그래서 산화 과정에서 더 많은 전자를 내놓는다. Palmitate 한 분자는 약 106 ATP에 해당하고 포도당 한 분자는 약 32 ATP에 해당한다.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지방산의 활성화와 미토콘드리아 진입</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M02-W07-L03  ·  지방산 산화와 관련 대사 이상</a:t>
            </a:r>
            <a:r>
              <a:rPr sz="900" b="1" i="0">
                <a:solidFill>
                  <a:srgbClr val="003C71"/>
                </a:solidFill>
                <a:latin typeface="Malgun Gothic"/>
                <a:ea typeface="Malgun Gothic"/>
                <a:cs typeface="Malgun Gothic"/>
              </a:rPr>
              <a:t>      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세포 안으로 들어온 지방산은 그대로는 반응하지 않는다. 먼저 </a:t>
            </a:r>
            <a:r>
              <a:rPr sz="1400" b="1" i="0">
                <a:solidFill>
                  <a:srgbClr val="11202B"/>
                </a:solidFill>
                <a:latin typeface="Malgun Gothic"/>
                <a:ea typeface="Malgun Gothic"/>
                <a:cs typeface="Malgun Gothic"/>
              </a:rPr>
              <a:t>활성화</a:t>
            </a:r>
            <a:r>
              <a:rPr sz="1400" b="0" i="0">
                <a:solidFill>
                  <a:srgbClr val="11202B"/>
                </a:solidFill>
                <a:latin typeface="Malgun Gothic"/>
                <a:ea typeface="Malgun Gothic"/>
                <a:cs typeface="Malgun Gothic"/>
              </a:rPr>
              <a:t>되어야 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Acyl-CoA synthetase</a:t>
            </a:r>
            <a:r>
              <a:rPr sz="1400" b="0" i="0">
                <a:solidFill>
                  <a:srgbClr val="11202B"/>
                </a:solidFill>
                <a:latin typeface="Malgun Gothic"/>
                <a:ea typeface="Malgun Gothic"/>
                <a:cs typeface="Malgun Gothic"/>
              </a:rPr>
              <a:t>(fatty acyl-CoA ligase)가 지방산의 carboxyl기에 CoA를 붙여 </a:t>
            </a:r>
            <a:r>
              <a:rPr sz="1400" b="1" i="0">
                <a:solidFill>
                  <a:srgbClr val="11202B"/>
                </a:solidFill>
                <a:latin typeface="Malgun Gothic"/>
                <a:ea typeface="Malgun Gothic"/>
                <a:cs typeface="Malgun Gothic"/>
              </a:rPr>
              <a:t>fatty acyl-CoA</a:t>
            </a:r>
            <a:r>
              <a:rPr sz="1400" b="0" i="0">
                <a:solidFill>
                  <a:srgbClr val="11202B"/>
                </a:solidFill>
                <a:latin typeface="Malgun Gothic"/>
                <a:ea typeface="Malgun Gothic"/>
                <a:cs typeface="Malgun Gothic"/>
              </a:rPr>
              <a:t>를 만든다. 이 반응은 ATP를 AMP와 pyrophosphate로 가르므로 고에너지 결합 </a:t>
            </a:r>
            <a:r>
              <a:rPr sz="1400" b="1" i="0">
                <a:solidFill>
                  <a:srgbClr val="11202B"/>
                </a:solidFill>
                <a:latin typeface="Malgun Gothic"/>
                <a:ea typeface="Malgun Gothic"/>
                <a:cs typeface="Malgun Gothic"/>
              </a:rPr>
              <a:t>두 개</a:t>
            </a:r>
            <a:r>
              <a:rPr sz="1400" b="0" i="0">
                <a:solidFill>
                  <a:srgbClr val="11202B"/>
                </a:solidFill>
                <a:latin typeface="Malgun Gothic"/>
                <a:ea typeface="Malgun Gothic"/>
                <a:cs typeface="Malgun Gothic"/>
              </a:rPr>
              <a:t>에 해당하는 비용이 든다. 효소는 소포체 막과 미토콘드리아 외막에 있고, 사슬 길이에 따라 여러 동위효소가 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문제는 다음이다. 활성화는 세포질에서 일어나는데 beta-oxidation 효소는 </a:t>
            </a:r>
            <a:r>
              <a:rPr sz="1400" b="1" i="0">
                <a:solidFill>
                  <a:srgbClr val="11202B"/>
                </a:solidFill>
                <a:latin typeface="Malgun Gothic"/>
                <a:ea typeface="Malgun Gothic"/>
                <a:cs typeface="Malgun Gothic"/>
              </a:rPr>
              <a:t>미토콘드리아 기질</a:t>
            </a:r>
            <a:r>
              <a:rPr sz="1400" b="0" i="0">
                <a:solidFill>
                  <a:srgbClr val="11202B"/>
                </a:solidFill>
                <a:latin typeface="Malgun Gothic"/>
                <a:ea typeface="Malgun Gothic"/>
                <a:cs typeface="Malgun Gothic"/>
              </a:rPr>
              <a:t>에 있고, 긴 사슬 acyl-CoA는 내막을 통과하지 못한다. 이 문제를 </a:t>
            </a:r>
            <a:r>
              <a:rPr sz="1400" b="1" i="0">
                <a:solidFill>
                  <a:srgbClr val="11202B"/>
                </a:solidFill>
                <a:latin typeface="Malgun Gothic"/>
                <a:ea typeface="Malgun Gothic"/>
                <a:cs typeface="Malgun Gothic"/>
              </a:rPr>
              <a:t>carnitine shuttle</a:t>
            </a:r>
            <a:r>
              <a:rPr sz="1400" b="0" i="0">
                <a:solidFill>
                  <a:srgbClr val="11202B"/>
                </a:solidFill>
                <a:latin typeface="Malgun Gothic"/>
                <a:ea typeface="Malgun Gothic"/>
                <a:cs typeface="Malgun Gothic"/>
              </a:rPr>
              <a:t>이 해결한다.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Carnitine</a:t>
            </a:r>
            <a:r>
              <a:rPr sz="1400" b="0" i="0">
                <a:solidFill>
                  <a:srgbClr val="11202B"/>
                </a:solidFill>
                <a:latin typeface="Malgun Gothic"/>
                <a:ea typeface="Malgun Gothic"/>
                <a:cs typeface="Malgun Gothic"/>
              </a:rPr>
              <a:t>은 lysine과 methionine에서 간과 신장이 합성하는 작은 분자이고, 식사로도 섭취한다. 주 공급원은 육류와 유제품이므로 엄격한 채식에서 섭취가 적다.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셔틀은 세 요소로 구성된다.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1. </a:t>
            </a:r>
            <a:r>
              <a:rPr sz="1400" b="1" i="0">
                <a:solidFill>
                  <a:srgbClr val="11202B"/>
                </a:solidFill>
                <a:latin typeface="Malgun Gothic"/>
                <a:ea typeface="Malgun Gothic"/>
                <a:cs typeface="Malgun Gothic"/>
              </a:rPr>
              <a:t>CPT-I</a:t>
            </a:r>
            <a:r>
              <a:rPr sz="1400" b="0" i="0">
                <a:solidFill>
                  <a:srgbClr val="11202B"/>
                </a:solidFill>
                <a:latin typeface="Malgun Gothic"/>
                <a:ea typeface="Malgun Gothic"/>
                <a:cs typeface="Malgun Gothic"/>
              </a:rPr>
              <a:t>(carnitine palmitoyltransferase I) — 외막에 있다. Acyl-CoA의 acyl기를 carnitine에 옮겨 </a:t>
            </a:r>
            <a:r>
              <a:rPr sz="1400" b="1" i="0">
                <a:solidFill>
                  <a:srgbClr val="11202B"/>
                </a:solidFill>
                <a:latin typeface="Malgun Gothic"/>
                <a:ea typeface="Malgun Gothic"/>
                <a:cs typeface="Malgun Gothic"/>
              </a:rPr>
              <a:t>acylcarnitine</a:t>
            </a:r>
            <a:r>
              <a:rPr sz="1400" b="0" i="0">
                <a:solidFill>
                  <a:srgbClr val="11202B"/>
                </a:solidFill>
                <a:latin typeface="Malgun Gothic"/>
                <a:ea typeface="Malgun Gothic"/>
                <a:cs typeface="Malgun Gothic"/>
              </a:rPr>
              <a:t>을 만들고 CoA를 세포질에 돌려준다.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2. </a:t>
            </a:r>
            <a:r>
              <a:rPr sz="1400" b="1" i="0">
                <a:solidFill>
                  <a:srgbClr val="11202B"/>
                </a:solidFill>
                <a:latin typeface="Malgun Gothic"/>
                <a:ea typeface="Malgun Gothic"/>
                <a:cs typeface="Malgun Gothic"/>
              </a:rPr>
              <a:t>CACT</a:t>
            </a:r>
            <a:r>
              <a:rPr sz="1400" b="0" i="0">
                <a:solidFill>
                  <a:srgbClr val="11202B"/>
                </a:solidFill>
                <a:latin typeface="Malgun Gothic"/>
                <a:ea typeface="Malgun Gothic"/>
                <a:cs typeface="Malgun Gothic"/>
              </a:rPr>
              <a:t>(carnitine-acylcarnitine translocase) — 내막에 있는 역수송체다. Acylcarnitine을 안으로 들이고 유리 carnitine을 밖으로 내보낸다.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3. </a:t>
            </a:r>
            <a:r>
              <a:rPr sz="1400" b="1" i="0">
                <a:solidFill>
                  <a:srgbClr val="11202B"/>
                </a:solidFill>
                <a:latin typeface="Malgun Gothic"/>
                <a:ea typeface="Malgun Gothic"/>
                <a:cs typeface="Malgun Gothic"/>
              </a:rPr>
              <a:t>CPT-II</a:t>
            </a:r>
            <a:r>
              <a:rPr sz="1400" b="0" i="0">
                <a:solidFill>
                  <a:srgbClr val="11202B"/>
                </a:solidFill>
                <a:latin typeface="Malgun Gothic"/>
                <a:ea typeface="Malgun Gothic"/>
                <a:cs typeface="Malgun Gothic"/>
              </a:rPr>
              <a:t> — 내막의 기질 쪽 면에 있다. Acyl기를 다시 CoA에 옮겨 기질 안에서 acyl-CoA를 복원하고 carnitine을 풀어 준다.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지방산의 활성화와 미토콘드리아 진입</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M02-W07-L03  ·  지방산 산화와 관련 대사 이상</a:t>
            </a:r>
            <a:r>
              <a:rPr sz="900" b="1" i="0">
                <a:solidFill>
                  <a:srgbClr val="003C71"/>
                </a:solidFill>
                <a:latin typeface="Malgun Gothic"/>
                <a:ea typeface="Malgun Gothic"/>
                <a:cs typeface="Malgun Gothic"/>
              </a:rPr>
              <a:t>      10</a:t>
            </a:r>
          </a:p>
        </p:txBody>
      </p:sp>
      <p:pic>
        <p:nvPicPr>
          <p:cNvPr id="7" name="Picture 6" descr="fig-carnitine-shuttle.slide.png"/>
          <p:cNvPicPr>
            <a:picLocks noChangeAspect="1"/>
          </p:cNvPicPr>
          <p:nvPr/>
        </p:nvPicPr>
        <p:blipFill>
          <a:blip r:embed="rId2"/>
          <a:stretch>
            <a:fillRect/>
          </a:stretch>
        </p:blipFill>
        <p:spPr>
          <a:xfrm>
            <a:off x="1318107" y="1325880"/>
            <a:ext cx="955548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Carnitine shuttle. 세포질에서 활성화된 긴 사슬 acyl-CoA는 CPT-I, CACT, CPT-II를 거쳐 기질로 들어간다. Malonyl-CoA가 CPT-I을 억제하므로 합성이 켜진 상태에서는 산화가 일어나지 않는다.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지방산의 활성화와 미토콘드리아 진입</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M02-W07-L03  ·  지방산 산화와 관련 대사 이상</a:t>
            </a:r>
            <a:r>
              <a:rPr sz="900" b="1" i="0">
                <a:solidFill>
                  <a:srgbClr val="003C71"/>
                </a:solidFill>
                <a:latin typeface="Malgun Gothic"/>
                <a:ea typeface="Malgun Gothic"/>
                <a:cs typeface="Malgun Gothic"/>
              </a:rPr>
              <a:t>      11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1" i="0">
                <a:solidFill>
                  <a:srgbClr val="11202B"/>
                </a:solidFill>
                <a:latin typeface="Malgun Gothic"/>
                <a:ea typeface="Malgun Gothic"/>
                <a:cs typeface="Malgun Gothic"/>
              </a:rPr>
              <a:t>사슬 길이에 따른 예외</a:t>
            </a:r>
            <a:r>
              <a:rPr sz="2000" b="0" i="0">
                <a:solidFill>
                  <a:srgbClr val="11202B"/>
                </a:solidFill>
                <a:latin typeface="Malgun Gothic"/>
                <a:ea typeface="Malgun Gothic"/>
                <a:cs typeface="Malgun Gothic"/>
              </a:rPr>
              <a:t>가 중요하다. Short-chain과 medium-chain 지방산은 carnitine 없이 내막을 통과한다. 그래서 carnitine 공급이 문제일 때도 medium-chain 지방산은 산화될 수 있고, 반대로 medium-chain을 처리하는 효소가 없으면 carnitine shuttle이 정상이어도 산화가 막힌다. 이 차이가 뒤에서 두 질환을 구분하는 근거가 된다.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CPT-I의 조절: 합성과 산화의 전환점</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M02-W07-L03  ·  지방산 산화와 관련 대사 이상</a:t>
            </a:r>
            <a:r>
              <a:rPr sz="900" b="1" i="0">
                <a:solidFill>
                  <a:srgbClr val="003C71"/>
                </a:solidFill>
                <a:latin typeface="Malgun Gothic"/>
                <a:ea typeface="Malgun Gothic"/>
                <a:cs typeface="Malgun Gothic"/>
              </a:rPr>
              <a:t>      12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Carnitine shuttle의 </a:t>
            </a:r>
            <a:r>
              <a:rPr sz="1400" b="1" i="0">
                <a:solidFill>
                  <a:srgbClr val="11202B"/>
                </a:solidFill>
                <a:latin typeface="Malgun Gothic"/>
                <a:ea typeface="Malgun Gothic"/>
                <a:cs typeface="Malgun Gothic"/>
              </a:rPr>
              <a:t>rate-limiting step은 CPT-I</a:t>
            </a:r>
            <a:r>
              <a:rPr sz="1400" b="0" i="0">
                <a:solidFill>
                  <a:srgbClr val="11202B"/>
                </a:solidFill>
                <a:latin typeface="Malgun Gothic"/>
                <a:ea typeface="Malgun Gothic"/>
                <a:cs typeface="Malgun Gothic"/>
              </a:rPr>
              <a:t>이고, 이 효소는 </a:t>
            </a:r>
            <a:r>
              <a:rPr sz="1400" b="1" i="0">
                <a:solidFill>
                  <a:srgbClr val="11202B"/>
                </a:solidFill>
                <a:latin typeface="Malgun Gothic"/>
                <a:ea typeface="Malgun Gothic"/>
                <a:cs typeface="Malgun Gothic"/>
              </a:rPr>
              <a:t>malonyl-CoA에 의해 억제된다.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Malonyl-CoA는 acetyl-CoA carboxylase(ACC)의 산물이며 지방산 합성의 탄소 공여체다. 따라서 malonyl-CoA 농도는 "지금 지방산을 만들고 있는가"를 나타내는 지표다.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식후</a:t>
            </a:r>
            <a:r>
              <a:rPr sz="1400" b="0" i="0">
                <a:solidFill>
                  <a:srgbClr val="11202B"/>
                </a:solidFill>
                <a:latin typeface="Malgun Gothic"/>
                <a:ea typeface="Malgun Gothic"/>
                <a:cs typeface="Malgun Gothic"/>
              </a:rPr>
              <a:t>: insulin이 ACC를 활성화해 malonyl-CoA가 올라간다 → CPT-I이 억제된다 → 산화가 꺼지고 합성이 진행된다.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공복</a:t>
            </a:r>
            <a:r>
              <a:rPr sz="1400" b="0" i="0">
                <a:solidFill>
                  <a:srgbClr val="11202B"/>
                </a:solidFill>
                <a:latin typeface="Malgun Gothic"/>
                <a:ea typeface="Malgun Gothic"/>
                <a:cs typeface="Malgun Gothic"/>
              </a:rPr>
              <a:t>: glucagon과 AMPK가 ACC를 인산화해 끈다 → malonyl-CoA가 떨어진다 → CPT-I 억제가 풀린다 → 산화가 켜진다.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하나의 대사물질로 두 경로의 전환이 설명된다. 만든 지방산을 바로 태우는 무익한 순환이 생기지 않는 이유도 여기에 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간과 근육의 CPT-I 동위효소는 malonyl-CoA에 대한 민감도가 다르다. 근육형(CPT-1B)이 간형(CPT-1A)보다 훨씬 예민하므로, 근육은 malonyl-CoA가 조금만 올라도 산화를 끈다. 근육은 지방산을 만들지 않지만 ACC를 가지고 있는데, 그 역할은 지방산 합성이 아니라 </a:t>
            </a:r>
            <a:r>
              <a:rPr sz="1400" b="1" i="0">
                <a:solidFill>
                  <a:srgbClr val="11202B"/>
                </a:solidFill>
                <a:latin typeface="Malgun Gothic"/>
                <a:ea typeface="Malgun Gothic"/>
                <a:cs typeface="Malgun Gothic"/>
              </a:rPr>
              <a:t>CPT-I을 조절하기 위한 malonyl-CoA 생산</a:t>
            </a:r>
            <a:r>
              <a:rPr sz="1400" b="0" i="0">
                <a:solidFill>
                  <a:srgbClr val="11202B"/>
                </a:solidFill>
                <a:latin typeface="Malgun Gothic"/>
                <a:ea typeface="Malgun Gothic"/>
                <a:cs typeface="Malgun Gothic"/>
              </a:rPr>
              <a:t>이다.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CPT-I의 조절: 합성과 산화의 전환점</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M02-W07-L03  ·  지방산 산화와 관련 대사 이상</a:t>
            </a:r>
            <a:r>
              <a:rPr sz="900" b="1" i="0">
                <a:solidFill>
                  <a:srgbClr val="003C71"/>
                </a:solidFill>
                <a:latin typeface="Malgun Gothic"/>
                <a:ea typeface="Malgun Gothic"/>
                <a:cs typeface="Malgun Gothic"/>
              </a:rPr>
              <a:t>      13</a:t>
            </a:r>
          </a:p>
        </p:txBody>
      </p:sp>
      <p:sp>
        <p:nvSpPr>
          <p:cNvPr id="7" name="Rectangle 6"/>
          <p:cNvSpPr/>
          <p:nvPr/>
        </p:nvSpPr>
        <p:spPr>
          <a:xfrm>
            <a:off x="640080" y="1325880"/>
            <a:ext cx="10881360" cy="168148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a:t>
            </a:r>
            <a:r>
              <a:rPr sz="1600" b="1" i="0">
                <a:solidFill>
                  <a:srgbClr val="11202B"/>
                </a:solidFill>
                <a:latin typeface="Malgun Gothic"/>
                <a:ea typeface="Malgun Gothic"/>
                <a:cs typeface="Malgun Gothic"/>
              </a:rPr>
              <a:t>Etomoxir</a:t>
            </a:r>
            <a:r>
              <a:rPr sz="1600" b="0" i="0">
                <a:solidFill>
                  <a:srgbClr val="11202B"/>
                </a:solidFill>
                <a:latin typeface="Malgun Gothic"/>
                <a:ea typeface="Malgun Gothic"/>
                <a:cs typeface="Malgun Gothic"/>
              </a:rPr>
              <a:t>와 </a:t>
            </a:r>
            <a:r>
              <a:rPr sz="1600" b="1" i="0">
                <a:solidFill>
                  <a:srgbClr val="11202B"/>
                </a:solidFill>
                <a:latin typeface="Malgun Gothic"/>
                <a:ea typeface="Malgun Gothic"/>
                <a:cs typeface="Malgun Gothic"/>
              </a:rPr>
              <a:t>perhexiline</a:t>
            </a:r>
            <a:r>
              <a:rPr sz="1600" b="0" i="0">
                <a:solidFill>
                  <a:srgbClr val="11202B"/>
                </a:solidFill>
                <a:latin typeface="Malgun Gothic"/>
                <a:ea typeface="Malgun Gothic"/>
                <a:cs typeface="Malgun Gothic"/>
              </a:rPr>
              <a:t>은 CPT-I을 억제해 심근의 연료를 지방산에서 포도당으로 돌리는 약물이다. 산소 한 분자당 얻는 ATP가 포도당에서 더 많으므로 허혈 심장에서 효율이 올라간다는 논리였다. Perhexiline은 협심증 치료에 쓰이지만 간독성과 신경독성, CYP2D6 대사 다형성에 따른 농도 편차 때문에 사용이 제한된다. Etomoxir는 간독성으로 임상 개발이 중단되었다. 산화 경로를 약으로 막으면 지방산 산화 결핍 환자와 비슷한 상태가 만들어진다는 점을 보여 준다.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beta-oxidation의 네 반응</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M02-W07-L03  ·  지방산 산화와 관련 대사 이상</a:t>
            </a:r>
            <a:r>
              <a:rPr sz="900" b="1" i="0">
                <a:solidFill>
                  <a:srgbClr val="003C71"/>
                </a:solidFill>
                <a:latin typeface="Malgun Gothic"/>
                <a:ea typeface="Malgun Gothic"/>
                <a:cs typeface="Malgun Gothic"/>
              </a:rPr>
              <a:t>      14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기질에 들어온 acyl-CoA는 네 반응으로 이루어진 순환을 거친다. 한 번 돌 때마다 사슬이 두 탄소 짧아지고 acetyl-CoA 한 분자가 떨어져 나온다.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1. </a:t>
            </a:r>
            <a:r>
              <a:rPr sz="1600" b="1" i="0">
                <a:solidFill>
                  <a:srgbClr val="11202B"/>
                </a:solidFill>
                <a:latin typeface="Malgun Gothic"/>
                <a:ea typeface="Malgun Gothic"/>
                <a:cs typeface="Malgun Gothic"/>
              </a:rPr>
              <a:t>산화</a:t>
            </a:r>
            <a:r>
              <a:rPr sz="1600" b="0" i="0">
                <a:solidFill>
                  <a:srgbClr val="11202B"/>
                </a:solidFill>
                <a:latin typeface="Malgun Gothic"/>
                <a:ea typeface="Malgun Gothic"/>
                <a:cs typeface="Malgun Gothic"/>
              </a:rPr>
              <a:t>: </a:t>
            </a:r>
            <a:r>
              <a:rPr sz="1600" b="1" i="0">
                <a:solidFill>
                  <a:srgbClr val="11202B"/>
                </a:solidFill>
                <a:latin typeface="Malgun Gothic"/>
                <a:ea typeface="Malgun Gothic"/>
                <a:cs typeface="Malgun Gothic"/>
              </a:rPr>
              <a:t>acyl-CoA dehydrogenase</a:t>
            </a:r>
            <a:r>
              <a:rPr sz="1600" b="0" i="0">
                <a:solidFill>
                  <a:srgbClr val="11202B"/>
                </a:solidFill>
                <a:latin typeface="Malgun Gothic"/>
                <a:ea typeface="Malgun Gothic"/>
                <a:cs typeface="Malgun Gothic"/>
              </a:rPr>
              <a:t>가 alpha와 beta 탄소 사이에 이중결합을 만들어 trans-Δ²-enoyl-CoA를 만들고 FAD를 FADH₂로 환원한다.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2. </a:t>
            </a:r>
            <a:r>
              <a:rPr sz="1600" b="1" i="0">
                <a:solidFill>
                  <a:srgbClr val="11202B"/>
                </a:solidFill>
                <a:latin typeface="Malgun Gothic"/>
                <a:ea typeface="Malgun Gothic"/>
                <a:cs typeface="Malgun Gothic"/>
              </a:rPr>
              <a:t>수화</a:t>
            </a:r>
            <a:r>
              <a:rPr sz="1600" b="0" i="0">
                <a:solidFill>
                  <a:srgbClr val="11202B"/>
                </a:solidFill>
                <a:latin typeface="Malgun Gothic"/>
                <a:ea typeface="Malgun Gothic"/>
                <a:cs typeface="Malgun Gothic"/>
              </a:rPr>
              <a:t>: </a:t>
            </a:r>
            <a:r>
              <a:rPr sz="1600" b="1" i="0">
                <a:solidFill>
                  <a:srgbClr val="11202B"/>
                </a:solidFill>
                <a:latin typeface="Malgun Gothic"/>
                <a:ea typeface="Malgun Gothic"/>
                <a:cs typeface="Malgun Gothic"/>
              </a:rPr>
              <a:t>enoyl-CoA hydratase</a:t>
            </a:r>
            <a:r>
              <a:rPr sz="1600" b="0" i="0">
                <a:solidFill>
                  <a:srgbClr val="11202B"/>
                </a:solidFill>
                <a:latin typeface="Malgun Gothic"/>
                <a:ea typeface="Malgun Gothic"/>
                <a:cs typeface="Malgun Gothic"/>
              </a:rPr>
              <a:t>가 물을 더해 L-3-hydroxyacyl-CoA를 만든다. 입체 구조가 </a:t>
            </a:r>
            <a:r>
              <a:rPr sz="1600" b="1" i="0">
                <a:solidFill>
                  <a:srgbClr val="11202B"/>
                </a:solidFill>
                <a:latin typeface="Malgun Gothic"/>
                <a:ea typeface="Malgun Gothic"/>
                <a:cs typeface="Malgun Gothic"/>
              </a:rPr>
              <a:t>L형</a:t>
            </a:r>
            <a:r>
              <a:rPr sz="1600" b="0" i="0">
                <a:solidFill>
                  <a:srgbClr val="11202B"/>
                </a:solidFill>
                <a:latin typeface="Malgun Gothic"/>
                <a:ea typeface="Malgun Gothic"/>
                <a:cs typeface="Malgun Gothic"/>
              </a:rPr>
              <a:t>인 점이 합성 경로의 D형 중간체와 다르다.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3. </a:t>
            </a:r>
            <a:r>
              <a:rPr sz="1600" b="1" i="0">
                <a:solidFill>
                  <a:srgbClr val="11202B"/>
                </a:solidFill>
                <a:latin typeface="Malgun Gothic"/>
                <a:ea typeface="Malgun Gothic"/>
                <a:cs typeface="Malgun Gothic"/>
              </a:rPr>
              <a:t>산화</a:t>
            </a:r>
            <a:r>
              <a:rPr sz="1600" b="0" i="0">
                <a:solidFill>
                  <a:srgbClr val="11202B"/>
                </a:solidFill>
                <a:latin typeface="Malgun Gothic"/>
                <a:ea typeface="Malgun Gothic"/>
                <a:cs typeface="Malgun Gothic"/>
              </a:rPr>
              <a:t>: </a:t>
            </a:r>
            <a:r>
              <a:rPr sz="1600" b="1" i="0">
                <a:solidFill>
                  <a:srgbClr val="11202B"/>
                </a:solidFill>
                <a:latin typeface="Malgun Gothic"/>
                <a:ea typeface="Malgun Gothic"/>
                <a:cs typeface="Malgun Gothic"/>
              </a:rPr>
              <a:t>3-hydroxyacyl-CoA dehydrogenase</a:t>
            </a:r>
            <a:r>
              <a:rPr sz="1600" b="0" i="0">
                <a:solidFill>
                  <a:srgbClr val="11202B"/>
                </a:solidFill>
                <a:latin typeface="Malgun Gothic"/>
                <a:ea typeface="Malgun Gothic"/>
                <a:cs typeface="Malgun Gothic"/>
              </a:rPr>
              <a:t>가 hydroxyl기를 keto기로 산화하고 NAD⁺를 NADH로 환원한다.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4. </a:t>
            </a:r>
            <a:r>
              <a:rPr sz="1600" b="1" i="0">
                <a:solidFill>
                  <a:srgbClr val="11202B"/>
                </a:solidFill>
                <a:latin typeface="Malgun Gothic"/>
                <a:ea typeface="Malgun Gothic"/>
                <a:cs typeface="Malgun Gothic"/>
              </a:rPr>
              <a:t>티올 분해</a:t>
            </a:r>
            <a:r>
              <a:rPr sz="1600" b="0" i="0">
                <a:solidFill>
                  <a:srgbClr val="11202B"/>
                </a:solidFill>
                <a:latin typeface="Malgun Gothic"/>
                <a:ea typeface="Malgun Gothic"/>
                <a:cs typeface="Malgun Gothic"/>
              </a:rPr>
              <a:t>: </a:t>
            </a:r>
            <a:r>
              <a:rPr sz="1600" b="1" i="0">
                <a:solidFill>
                  <a:srgbClr val="11202B"/>
                </a:solidFill>
                <a:latin typeface="Malgun Gothic"/>
                <a:ea typeface="Malgun Gothic"/>
                <a:cs typeface="Malgun Gothic"/>
              </a:rPr>
              <a:t>thiolase</a:t>
            </a:r>
            <a:r>
              <a:rPr sz="1600" b="0" i="0">
                <a:solidFill>
                  <a:srgbClr val="11202B"/>
                </a:solidFill>
                <a:latin typeface="Malgun Gothic"/>
                <a:ea typeface="Malgun Gothic"/>
                <a:cs typeface="Malgun Gothic"/>
              </a:rPr>
              <a:t>가 CoA를 써서 결합을 끊어 </a:t>
            </a:r>
            <a:r>
              <a:rPr sz="1600" b="1" i="0">
                <a:solidFill>
                  <a:srgbClr val="11202B"/>
                </a:solidFill>
                <a:latin typeface="Malgun Gothic"/>
                <a:ea typeface="Malgun Gothic"/>
                <a:cs typeface="Malgun Gothic"/>
              </a:rPr>
              <a:t>acetyl-CoA</a:t>
            </a:r>
            <a:r>
              <a:rPr sz="1600" b="0" i="0">
                <a:solidFill>
                  <a:srgbClr val="11202B"/>
                </a:solidFill>
                <a:latin typeface="Malgun Gothic"/>
                <a:ea typeface="Malgun Gothic"/>
                <a:cs typeface="Malgun Gothic"/>
              </a:rPr>
              <a:t>와 두 탄소 짧아진 </a:t>
            </a:r>
            <a:r>
              <a:rPr sz="1600" b="1" i="0">
                <a:solidFill>
                  <a:srgbClr val="11202B"/>
                </a:solidFill>
                <a:latin typeface="Malgun Gothic"/>
                <a:ea typeface="Malgun Gothic"/>
                <a:cs typeface="Malgun Gothic"/>
              </a:rPr>
              <a:t>acyl-CoA</a:t>
            </a:r>
            <a:r>
              <a:rPr sz="1600" b="0" i="0">
                <a:solidFill>
                  <a:srgbClr val="11202B"/>
                </a:solidFill>
                <a:latin typeface="Malgun Gothic"/>
                <a:ea typeface="Malgun Gothic"/>
                <a:cs typeface="Malgun Gothic"/>
              </a:rPr>
              <a:t>를 내놓는다. 짧아진 acyl-CoA가 1번 반응으로 되돌아간다.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beta-oxidation의 네 반응</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M02-W07-L03  ·  지방산 산화와 관련 대사 이상</a:t>
            </a:r>
            <a:r>
              <a:rPr sz="900" b="1" i="0">
                <a:solidFill>
                  <a:srgbClr val="003C71"/>
                </a:solidFill>
                <a:latin typeface="Malgun Gothic"/>
                <a:ea typeface="Malgun Gothic"/>
                <a:cs typeface="Malgun Gothic"/>
              </a:rPr>
              <a:t>      15</a:t>
            </a:r>
          </a:p>
        </p:txBody>
      </p:sp>
      <p:pic>
        <p:nvPicPr>
          <p:cNvPr id="7" name="Picture 6" descr="fig-beta-oxidation.slide.png"/>
          <p:cNvPicPr>
            <a:picLocks noChangeAspect="1"/>
          </p:cNvPicPr>
          <p:nvPr/>
        </p:nvPicPr>
        <p:blipFill>
          <a:blip r:embed="rId2"/>
          <a:stretch>
            <a:fillRect/>
          </a:stretch>
        </p:blipFill>
        <p:spPr>
          <a:xfrm>
            <a:off x="1848967" y="1325880"/>
            <a:ext cx="849376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beta-oxidation의 네 반응과 사슬 길이별 dehydrogenase. 두 번의 산화 사이에 수화가 끼어 있고, thiolase가 acetyl-CoA를 떼어 낸다. Palmitate 한 분자에서 7회 순환, 8 acetyl-CoA, 7 FADH₂, 7 NADH가 나온다.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beta-oxidation의 네 반응</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M02-W07-L03  ·  지방산 산화와 관련 대사 이상</a:t>
            </a:r>
            <a:r>
              <a:rPr sz="900" b="1" i="0">
                <a:solidFill>
                  <a:srgbClr val="003C71"/>
                </a:solidFill>
                <a:latin typeface="Malgun Gothic"/>
                <a:ea typeface="Malgun Gothic"/>
                <a:cs typeface="Malgun Gothic"/>
              </a:rPr>
              <a:t>      16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첫 반응의 dehydrogenase는 </a:t>
            </a:r>
            <a:r>
              <a:rPr sz="1600" b="1" i="0">
                <a:solidFill>
                  <a:srgbClr val="11202B"/>
                </a:solidFill>
                <a:latin typeface="Malgun Gothic"/>
                <a:ea typeface="Malgun Gothic"/>
                <a:cs typeface="Malgun Gothic"/>
              </a:rPr>
              <a:t>사슬 길이에 따라 서로 다른 동위효소</a:t>
            </a:r>
            <a:r>
              <a:rPr sz="1600" b="0" i="0">
                <a:solidFill>
                  <a:srgbClr val="11202B"/>
                </a:solidFill>
                <a:latin typeface="Malgun Gothic"/>
                <a:ea typeface="Malgun Gothic"/>
                <a:cs typeface="Malgun Gothic"/>
              </a:rPr>
              <a:t>가 담당한다. VLCAD(C14~C20), LCAD, MCAD(C4~C12), SCAD(C4~C6)가 있고, 이 분업 때문에 결핍 질환도 사슬 길이별로 나뉜다. 이 효소들의 FADH₂는 </a:t>
            </a:r>
            <a:r>
              <a:rPr sz="1600" b="1" i="0">
                <a:solidFill>
                  <a:srgbClr val="11202B"/>
                </a:solidFill>
                <a:latin typeface="Malgun Gothic"/>
                <a:ea typeface="Malgun Gothic"/>
                <a:cs typeface="Malgun Gothic"/>
              </a:rPr>
              <a:t>ETF</a:t>
            </a:r>
            <a:r>
              <a:rPr sz="1600" b="0" i="0">
                <a:solidFill>
                  <a:srgbClr val="11202B"/>
                </a:solidFill>
                <a:latin typeface="Malgun Gothic"/>
                <a:ea typeface="Malgun Gothic"/>
                <a:cs typeface="Malgun Gothic"/>
              </a:rPr>
              <a:t>(electron transfer flavoprotein)와 </a:t>
            </a:r>
            <a:r>
              <a:rPr sz="1600" b="1" i="0">
                <a:solidFill>
                  <a:srgbClr val="11202B"/>
                </a:solidFill>
                <a:latin typeface="Malgun Gothic"/>
                <a:ea typeface="Malgun Gothic"/>
                <a:cs typeface="Malgun Gothic"/>
              </a:rPr>
              <a:t>ETF-ubiquinone oxidoreductase</a:t>
            </a:r>
            <a:r>
              <a:rPr sz="1600" b="0" i="0">
                <a:solidFill>
                  <a:srgbClr val="11202B"/>
                </a:solidFill>
                <a:latin typeface="Malgun Gothic"/>
                <a:ea typeface="Malgun Gothic"/>
                <a:cs typeface="Malgun Gothic"/>
              </a:rPr>
              <a:t>를 거쳐 coenzyme Q로 전달된다.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Palmitate(16:0)의 수지</a:t>
            </a:r>
            <a:r>
              <a:rPr sz="1600" b="0" i="0">
                <a:solidFill>
                  <a:srgbClr val="11202B"/>
                </a:solidFill>
                <a:latin typeface="Malgun Gothic"/>
                <a:ea typeface="Malgun Gothic"/>
                <a:cs typeface="Malgun Gothic"/>
              </a:rPr>
              <a:t>를 계산한다.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활성화에 ATP 2개 상당을 소비한다.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순환은 </a:t>
            </a:r>
            <a:r>
              <a:rPr sz="1600" b="1" i="0">
                <a:solidFill>
                  <a:srgbClr val="11202B"/>
                </a:solidFill>
                <a:latin typeface="Malgun Gothic"/>
                <a:ea typeface="Malgun Gothic"/>
                <a:cs typeface="Malgun Gothic"/>
              </a:rPr>
              <a:t>7회</a:t>
            </a:r>
            <a:r>
              <a:rPr sz="1600" b="0" i="0">
                <a:solidFill>
                  <a:srgbClr val="11202B"/>
                </a:solidFill>
                <a:latin typeface="Malgun Gothic"/>
                <a:ea typeface="Malgun Gothic"/>
                <a:cs typeface="Malgun Gothic"/>
              </a:rPr>
              <a:t>다. 8회가 아니다. 마지막 순환에서 탄소 4개가 acetyl-CoA 두 개로 갈라지기 때문이다.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FADH₂ 7개, NADH 7개가 생긴다.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acetyl-CoA 8개가 TCA cycle로 들어간다.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이들을 합산하면 palmitate 한 분자당 약 106 ATP에 해당하는 에너지가 나온다.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beta-oxidation의 네 반응</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M02-W07-L03  ·  지방산 산화와 관련 대사 이상</a:t>
            </a:r>
            <a:r>
              <a:rPr sz="900" b="1" i="0">
                <a:solidFill>
                  <a:srgbClr val="003C71"/>
                </a:solidFill>
                <a:latin typeface="Malgun Gothic"/>
                <a:ea typeface="Malgun Gothic"/>
                <a:cs typeface="Malgun Gothic"/>
              </a:rPr>
              <a:t>      17</a:t>
            </a:r>
          </a:p>
        </p:txBody>
      </p:sp>
      <p:sp>
        <p:nvSpPr>
          <p:cNvPr id="7" name="Rectangle 6"/>
          <p:cNvSpPr/>
          <p:nvPr/>
        </p:nvSpPr>
        <p:spPr>
          <a:xfrm>
            <a:off x="640080" y="1325880"/>
            <a:ext cx="10881360" cy="1092200"/>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1" i="0">
                <a:solidFill>
                  <a:srgbClr val="11202B"/>
                </a:solidFill>
                <a:latin typeface="Malgun Gothic"/>
                <a:ea typeface="Malgun Gothic"/>
                <a:cs typeface="Malgun Gothic"/>
              </a:rPr>
              <a:t>핵심 정리</a:t>
            </a:r>
            <a:r>
              <a:rPr sz="1600" b="0" i="0">
                <a:solidFill>
                  <a:srgbClr val="11202B"/>
                </a:solidFill>
                <a:latin typeface="Malgun Gothic"/>
                <a:ea typeface="Malgun Gothic"/>
                <a:cs typeface="Malgun Gothic"/>
              </a:rPr>
              <a:t> 사슬 길이가 n인 짝수 포화지방산에서 순환 횟수는 (n/2 − 1), acetyl-CoA는 n/2, FADH₂와 NADH는 각각 (n/2 − 1)이다. 순환 횟수와 acetyl-CoA 수를 혼동하지 않는 것이 계산의 요점이다.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홀수 사슬, 불포화, very-long-chain 지방산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M02-W07-L03  ·  지방산 산화와 관련 대사 이상</a:t>
            </a:r>
            <a:r>
              <a:rPr sz="900" b="1" i="0">
                <a:solidFill>
                  <a:srgbClr val="003C71"/>
                </a:solidFill>
                <a:latin typeface="Malgun Gothic"/>
                <a:ea typeface="Malgun Gothic"/>
                <a:cs typeface="Malgun Gothic"/>
              </a:rPr>
              <a:t>      18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홀수 사슬 지방산</a:t>
            </a:r>
            <a:r>
              <a:rPr sz="1400" b="0" i="0">
                <a:solidFill>
                  <a:srgbClr val="11202B"/>
                </a:solidFill>
                <a:latin typeface="Malgun Gothic"/>
                <a:ea typeface="Malgun Gothic"/>
                <a:cs typeface="Malgun Gothic"/>
              </a:rPr>
              <a:t>은 마지막 순환에서 탄소 네 개가 아니라 다섯 개가 남으므로 acetyl-CoA 한 개와 탄소 세 개의 </a:t>
            </a:r>
            <a:r>
              <a:rPr sz="1400" b="1" i="0">
                <a:solidFill>
                  <a:srgbClr val="11202B"/>
                </a:solidFill>
                <a:latin typeface="Malgun Gothic"/>
                <a:ea typeface="Malgun Gothic"/>
                <a:cs typeface="Malgun Gothic"/>
              </a:rPr>
              <a:t>propionyl-CoA</a:t>
            </a:r>
            <a:r>
              <a:rPr sz="1400" b="0" i="0">
                <a:solidFill>
                  <a:srgbClr val="11202B"/>
                </a:solidFill>
                <a:latin typeface="Malgun Gothic"/>
                <a:ea typeface="Malgun Gothic"/>
                <a:cs typeface="Malgun Gothic"/>
              </a:rPr>
              <a:t>가 생긴다. Propionyl-CoA는 세 반응으로 TCA cycle에 합류한다.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1. </a:t>
            </a:r>
            <a:r>
              <a:rPr sz="1400" b="1" i="0">
                <a:solidFill>
                  <a:srgbClr val="11202B"/>
                </a:solidFill>
                <a:latin typeface="Malgun Gothic"/>
                <a:ea typeface="Malgun Gothic"/>
                <a:cs typeface="Malgun Gothic"/>
              </a:rPr>
              <a:t>Propionyl-CoA carboxylase</a:t>
            </a:r>
            <a:r>
              <a:rPr sz="1400" b="0" i="0">
                <a:solidFill>
                  <a:srgbClr val="11202B"/>
                </a:solidFill>
                <a:latin typeface="Malgun Gothic"/>
                <a:ea typeface="Malgun Gothic"/>
                <a:cs typeface="Malgun Gothic"/>
              </a:rPr>
              <a:t>(biotin, ATP)가 CO₂를 붙여 D-methylmalonyl-CoA를 만든다.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2. Racemase가 L형으로 바꾼다.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3. </a:t>
            </a:r>
            <a:r>
              <a:rPr sz="1400" b="1" i="0">
                <a:solidFill>
                  <a:srgbClr val="11202B"/>
                </a:solidFill>
                <a:latin typeface="Malgun Gothic"/>
                <a:ea typeface="Malgun Gothic"/>
                <a:cs typeface="Malgun Gothic"/>
              </a:rPr>
              <a:t>Methylmalonyl-CoA mutase</a:t>
            </a:r>
            <a:r>
              <a:rPr sz="1400" b="0" i="0">
                <a:solidFill>
                  <a:srgbClr val="11202B"/>
                </a:solidFill>
                <a:latin typeface="Malgun Gothic"/>
                <a:ea typeface="Malgun Gothic"/>
                <a:cs typeface="Malgun Gothic"/>
              </a:rPr>
              <a:t>(</a:t>
            </a:r>
            <a:r>
              <a:rPr sz="1400" b="1" i="0">
                <a:solidFill>
                  <a:srgbClr val="11202B"/>
                </a:solidFill>
                <a:latin typeface="Malgun Gothic"/>
                <a:ea typeface="Malgun Gothic"/>
                <a:cs typeface="Malgun Gothic"/>
              </a:rPr>
              <a:t>vitamin B₁₂</a:t>
            </a:r>
            <a:r>
              <a:rPr sz="1400" b="0" i="0">
                <a:solidFill>
                  <a:srgbClr val="11202B"/>
                </a:solidFill>
                <a:latin typeface="Malgun Gothic"/>
                <a:ea typeface="Malgun Gothic"/>
                <a:cs typeface="Malgun Gothic"/>
              </a:rPr>
              <a:t> 유도체 보조인자)가 </a:t>
            </a:r>
            <a:r>
              <a:rPr sz="1400" b="1" i="0">
                <a:solidFill>
                  <a:srgbClr val="11202B"/>
                </a:solidFill>
                <a:latin typeface="Malgun Gothic"/>
                <a:ea typeface="Malgun Gothic"/>
                <a:cs typeface="Malgun Gothic"/>
              </a:rPr>
              <a:t>succinyl-CoA</a:t>
            </a:r>
            <a:r>
              <a:rPr sz="1400" b="0" i="0">
                <a:solidFill>
                  <a:srgbClr val="11202B"/>
                </a:solidFill>
                <a:latin typeface="Malgun Gothic"/>
                <a:ea typeface="Malgun Gothic"/>
                <a:cs typeface="Malgun Gothic"/>
              </a:rPr>
              <a:t>로 전환한다.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Succinyl-CoA는 TCA cycle의 중간체이고 oxaloacetate를 거쳐 gluconeogenesis에 쓰일 수 있다. 따라서 </a:t>
            </a:r>
            <a:r>
              <a:rPr sz="1400" b="1" i="0">
                <a:solidFill>
                  <a:srgbClr val="11202B"/>
                </a:solidFill>
                <a:latin typeface="Malgun Gothic"/>
                <a:ea typeface="Malgun Gothic"/>
                <a:cs typeface="Malgun Gothic"/>
              </a:rPr>
              <a:t>홀수 사슬 지방산의 세 탄소만은 당 생성에 기여한다.</a:t>
            </a:r>
            <a:r>
              <a:rPr sz="1400" b="0" i="0">
                <a:solidFill>
                  <a:srgbClr val="11202B"/>
                </a:solidFill>
                <a:latin typeface="Malgun Gothic"/>
                <a:ea typeface="Malgun Gothic"/>
                <a:cs typeface="Malgun Gothic"/>
              </a:rPr>
              <a:t> 짝수 사슬 지방산의 acetyl-CoA는 그렇지 못하다.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불포화 지방산</a:t>
            </a:r>
            <a:r>
              <a:rPr sz="1400" b="0" i="0">
                <a:solidFill>
                  <a:srgbClr val="11202B"/>
                </a:solidFill>
                <a:latin typeface="Malgun Gothic"/>
                <a:ea typeface="Malgun Gothic"/>
                <a:cs typeface="Malgun Gothic"/>
              </a:rPr>
              <a:t>은 이중결합의 위치와 기하 구조가 효소의 요구와 맞지 않아 두 효소가 추가로 필요하다.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Enoyl-CoA isomerase</a:t>
            </a:r>
            <a:r>
              <a:rPr sz="1400" b="0" i="0">
                <a:solidFill>
                  <a:srgbClr val="11202B"/>
                </a:solidFill>
                <a:latin typeface="Malgun Gothic"/>
                <a:ea typeface="Malgun Gothic"/>
                <a:cs typeface="Malgun Gothic"/>
              </a:rPr>
              <a:t>: cis-Δ³ 이중결합을 효소가 받아들이는 trans-Δ² 형태로 옮긴다. 이 경우 1번 반응이 생략되므로 </a:t>
            </a:r>
            <a:r>
              <a:rPr sz="1400" b="1" i="0">
                <a:solidFill>
                  <a:srgbClr val="11202B"/>
                </a:solidFill>
                <a:latin typeface="Malgun Gothic"/>
                <a:ea typeface="Malgun Gothic"/>
                <a:cs typeface="Malgun Gothic"/>
              </a:rPr>
              <a:t>FADH₂가 한 개 적게 생긴다.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2,4-Dienoyl-CoA reductase</a:t>
            </a:r>
            <a:r>
              <a:rPr sz="1400" b="0" i="0">
                <a:solidFill>
                  <a:srgbClr val="11202B"/>
                </a:solidFill>
                <a:latin typeface="Malgun Gothic"/>
                <a:ea typeface="Malgun Gothic"/>
                <a:cs typeface="Malgun Gothic"/>
              </a:rPr>
              <a:t>: 두 이중결합이 인접해 생긴 공액 구조는 수화되지 않으므로, </a:t>
            </a:r>
            <a:r>
              <a:rPr sz="1400" b="1" i="0">
                <a:solidFill>
                  <a:srgbClr val="11202B"/>
                </a:solidFill>
                <a:latin typeface="Malgun Gothic"/>
                <a:ea typeface="Malgun Gothic"/>
                <a:cs typeface="Malgun Gothic"/>
              </a:rPr>
              <a:t>NADPH를 써서</a:t>
            </a:r>
            <a:r>
              <a:rPr sz="1400" b="0" i="0">
                <a:solidFill>
                  <a:srgbClr val="11202B"/>
                </a:solidFill>
                <a:latin typeface="Malgun Gothic"/>
                <a:ea typeface="Malgun Gothic"/>
                <a:cs typeface="Malgun Gothic"/>
              </a:rPr>
              <a:t> 먼저 환원한 뒤 isomerase가 처리한다.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홀수 사슬, 불포화, very-long-chain 지방산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M02-W07-L03  ·  지방산 산화와 관련 대사 이상</a:t>
            </a:r>
            <a:r>
              <a:rPr sz="900" b="1" i="0">
                <a:solidFill>
                  <a:srgbClr val="003C71"/>
                </a:solidFill>
                <a:latin typeface="Malgun Gothic"/>
                <a:ea typeface="Malgun Gothic"/>
                <a:cs typeface="Malgun Gothic"/>
              </a:rPr>
              <a:t>      19</a:t>
            </a:r>
          </a:p>
        </p:txBody>
      </p:sp>
      <p:pic>
        <p:nvPicPr>
          <p:cNvPr id="7" name="Picture 6" descr="fig-odd-unsat.slide.png"/>
          <p:cNvPicPr>
            <a:picLocks noChangeAspect="1"/>
          </p:cNvPicPr>
          <p:nvPr/>
        </p:nvPicPr>
        <p:blipFill>
          <a:blip r:embed="rId2"/>
          <a:stretch>
            <a:fillRect/>
          </a:stretch>
        </p:blipFill>
        <p:spPr>
          <a:xfrm>
            <a:off x="1318107" y="1325880"/>
            <a:ext cx="955548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홀수 사슬과 불포화 지방산의 처리. Propionyl-CoA는 biotin과 vitamin B₁₂ 의존 반응을 거쳐 succinyl-CoA가 되고, 불포화 사슬은 isomerase와 reductase를 추가로 거치며 ATP 수득이 조금 줄어든다.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홀수 사슬, 불포화, very-long-chain 지방산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M02-W07-L03  ·  지방산 산화와 관련 대사 이상</a:t>
            </a:r>
            <a:r>
              <a:rPr sz="900" b="1" i="0">
                <a:solidFill>
                  <a:srgbClr val="003C71"/>
                </a:solidFill>
                <a:latin typeface="Malgun Gothic"/>
                <a:ea typeface="Malgun Gothic"/>
                <a:cs typeface="Malgun Gothic"/>
              </a:rPr>
              <a:t>      20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Very-long-chain 지방산</a:t>
            </a:r>
            <a:r>
              <a:rPr sz="1600" b="0" i="0">
                <a:solidFill>
                  <a:srgbClr val="11202B"/>
                </a:solidFill>
                <a:latin typeface="Malgun Gothic"/>
                <a:ea typeface="Malgun Gothic"/>
                <a:cs typeface="Malgun Gothic"/>
              </a:rPr>
              <a:t>(탄소 20개 초과)과 </a:t>
            </a:r>
            <a:r>
              <a:rPr sz="1600" b="1" i="0">
                <a:solidFill>
                  <a:srgbClr val="11202B"/>
                </a:solidFill>
                <a:latin typeface="Malgun Gothic"/>
                <a:ea typeface="Malgun Gothic"/>
                <a:cs typeface="Malgun Gothic"/>
              </a:rPr>
              <a:t>분지 지방산</a:t>
            </a:r>
            <a:r>
              <a:rPr sz="1600" b="0" i="0">
                <a:solidFill>
                  <a:srgbClr val="11202B"/>
                </a:solidFill>
                <a:latin typeface="Malgun Gothic"/>
                <a:ea typeface="Malgun Gothic"/>
                <a:cs typeface="Malgun Gothic"/>
              </a:rPr>
              <a:t>은 미토콘드리아가 아니라 </a:t>
            </a:r>
            <a:r>
              <a:rPr sz="1600" b="1" i="0">
                <a:solidFill>
                  <a:srgbClr val="11202B"/>
                </a:solidFill>
                <a:latin typeface="Malgun Gothic"/>
                <a:ea typeface="Malgun Gothic"/>
                <a:cs typeface="Malgun Gothic"/>
              </a:rPr>
              <a:t>peroxisome</a:t>
            </a:r>
            <a:r>
              <a:rPr sz="1600" b="0" i="0">
                <a:solidFill>
                  <a:srgbClr val="11202B"/>
                </a:solidFill>
                <a:latin typeface="Malgun Gothic"/>
                <a:ea typeface="Malgun Gothic"/>
                <a:cs typeface="Malgun Gothic"/>
              </a:rPr>
              <a:t>에서 먼저 짧아진다.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Peroxisome의 산화는 미토콘드리아와 세 가지가 다르다. 첫째, 진입에 carnitine이 아니라 </a:t>
            </a:r>
            <a:r>
              <a:rPr sz="1600" b="1" i="0">
                <a:solidFill>
                  <a:srgbClr val="11202B"/>
                </a:solidFill>
                <a:latin typeface="Malgun Gothic"/>
                <a:ea typeface="Malgun Gothic"/>
                <a:cs typeface="Malgun Gothic"/>
              </a:rPr>
              <a:t>ABCD1</a:t>
            </a:r>
            <a:r>
              <a:rPr sz="1600" b="0" i="0">
                <a:solidFill>
                  <a:srgbClr val="11202B"/>
                </a:solidFill>
                <a:latin typeface="Malgun Gothic"/>
                <a:ea typeface="Malgun Gothic"/>
                <a:cs typeface="Malgun Gothic"/>
              </a:rPr>
              <a:t> 수송체를 쓴다. 둘째, 첫 산화를 </a:t>
            </a:r>
            <a:r>
              <a:rPr sz="1600" b="1" i="0">
                <a:solidFill>
                  <a:srgbClr val="11202B"/>
                </a:solidFill>
                <a:latin typeface="Malgun Gothic"/>
                <a:ea typeface="Malgun Gothic"/>
                <a:cs typeface="Malgun Gothic"/>
              </a:rPr>
              <a:t>acyl-CoA oxidase</a:t>
            </a:r>
            <a:r>
              <a:rPr sz="1600" b="0" i="0">
                <a:solidFill>
                  <a:srgbClr val="11202B"/>
                </a:solidFill>
                <a:latin typeface="Malgun Gothic"/>
                <a:ea typeface="Malgun Gothic"/>
                <a:cs typeface="Malgun Gothic"/>
              </a:rPr>
              <a:t>가 담당하고 전자를 산소에 넘겨 </a:t>
            </a:r>
            <a:r>
              <a:rPr sz="1600" b="1" i="0">
                <a:solidFill>
                  <a:srgbClr val="11202B"/>
                </a:solidFill>
                <a:latin typeface="Malgun Gothic"/>
                <a:ea typeface="Malgun Gothic"/>
                <a:cs typeface="Malgun Gothic"/>
              </a:rPr>
              <a:t>H₂O₂</a:t>
            </a:r>
            <a:r>
              <a:rPr sz="1600" b="0" i="0">
                <a:solidFill>
                  <a:srgbClr val="11202B"/>
                </a:solidFill>
                <a:latin typeface="Malgun Gothic"/>
                <a:ea typeface="Malgun Gothic"/>
                <a:cs typeface="Malgun Gothic"/>
              </a:rPr>
              <a:t>를 만든다. H₂O₂는 catalase가 분해한다. 셋째, 이 단계에서 </a:t>
            </a:r>
            <a:r>
              <a:rPr sz="1600" b="1" i="0">
                <a:solidFill>
                  <a:srgbClr val="11202B"/>
                </a:solidFill>
                <a:latin typeface="Malgun Gothic"/>
                <a:ea typeface="Malgun Gothic"/>
                <a:cs typeface="Malgun Gothic"/>
              </a:rPr>
              <a:t>ATP가 만들어지지 않는다.</a:t>
            </a:r>
            <a:r>
              <a:rPr sz="1600" b="0" i="0">
                <a:solidFill>
                  <a:srgbClr val="11202B"/>
                </a:solidFill>
                <a:latin typeface="Malgun Gothic"/>
                <a:ea typeface="Malgun Gothic"/>
                <a:cs typeface="Malgun Gothic"/>
              </a:rPr>
              <a:t> 사슬이 중간 길이로 짧아지면 carnitine ester 형태로 미토콘드리아로 넘겨진다.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Peroxisome은 </a:t>
            </a:r>
            <a:r>
              <a:rPr sz="1600" b="1" i="0">
                <a:solidFill>
                  <a:srgbClr val="11202B"/>
                </a:solidFill>
                <a:latin typeface="Malgun Gothic"/>
                <a:ea typeface="Malgun Gothic"/>
                <a:cs typeface="Malgun Gothic"/>
              </a:rPr>
              <a:t>alpha-oxidation</a:t>
            </a:r>
            <a:r>
              <a:rPr sz="1600" b="0" i="0">
                <a:solidFill>
                  <a:srgbClr val="11202B"/>
                </a:solidFill>
                <a:latin typeface="Malgun Gothic"/>
                <a:ea typeface="Malgun Gothic"/>
                <a:cs typeface="Malgun Gothic"/>
              </a:rPr>
              <a:t>도 수행한다. 식물에서 유래하는 </a:t>
            </a:r>
            <a:r>
              <a:rPr sz="1600" b="1" i="0">
                <a:solidFill>
                  <a:srgbClr val="11202B"/>
                </a:solidFill>
                <a:latin typeface="Malgun Gothic"/>
                <a:ea typeface="Malgun Gothic"/>
                <a:cs typeface="Malgun Gothic"/>
              </a:rPr>
              <a:t>phytanic acid</a:t>
            </a:r>
            <a:r>
              <a:rPr sz="1600" b="0" i="0">
                <a:solidFill>
                  <a:srgbClr val="11202B"/>
                </a:solidFill>
                <a:latin typeface="Malgun Gothic"/>
                <a:ea typeface="Malgun Gothic"/>
                <a:cs typeface="Malgun Gothic"/>
              </a:rPr>
              <a:t>는 C3에 methyl 분지가 있어 beta-oxidation의 수화 단계를 거칠 수 없다. </a:t>
            </a:r>
            <a:r>
              <a:rPr sz="1600" b="1" i="0">
                <a:solidFill>
                  <a:srgbClr val="11202B"/>
                </a:solidFill>
                <a:latin typeface="Malgun Gothic"/>
                <a:ea typeface="Malgun Gothic"/>
                <a:cs typeface="Malgun Gothic"/>
              </a:rPr>
              <a:t>Phytanoyl-CoA hydroxylase(PHYH)</a:t>
            </a:r>
            <a:r>
              <a:rPr sz="1600" b="0" i="0">
                <a:solidFill>
                  <a:srgbClr val="11202B"/>
                </a:solidFill>
                <a:latin typeface="Malgun Gothic"/>
                <a:ea typeface="Malgun Gothic"/>
                <a:cs typeface="Malgun Gothic"/>
              </a:rPr>
              <a:t>가 alpha 탄소를 hydroxylation한 뒤 탄소 하나를 떼어 pristanic acid로 만들면 이후 정상 beta-oxidation이 가능해진다.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홀수 사슬, 불포화, very-long-chain 지방산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M02-W07-L03  ·  지방산 산화와 관련 대사 이상</a:t>
            </a:r>
            <a:r>
              <a:rPr sz="900" b="1" i="0">
                <a:solidFill>
                  <a:srgbClr val="003C71"/>
                </a:solidFill>
                <a:latin typeface="Malgun Gothic"/>
                <a:ea typeface="Malgun Gothic"/>
                <a:cs typeface="Malgun Gothic"/>
              </a:rPr>
              <a:t>      21</a:t>
            </a:r>
          </a:p>
        </p:txBody>
      </p:sp>
      <p:pic>
        <p:nvPicPr>
          <p:cNvPr id="7" name="Picture 6" descr="fig-peroxisome.slide.png"/>
          <p:cNvPicPr>
            <a:picLocks noChangeAspect="1"/>
          </p:cNvPicPr>
          <p:nvPr/>
        </p:nvPicPr>
        <p:blipFill>
          <a:blip r:embed="rId2"/>
          <a:stretch>
            <a:fillRect/>
          </a:stretch>
        </p:blipFill>
        <p:spPr>
          <a:xfrm>
            <a:off x="1050716" y="1325880"/>
            <a:ext cx="10090263"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Peroxisome과 미토콘드리아의 산화 비교, 그리고 phytanic acid의 alpha-oxidation. Peroxisome의 첫 산화는 H₂O₂를 만들고 ATP를 만들지 않는다.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홀수 사슬, 불포화, very-long-chain 지방산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M02-W07-L03  ·  지방산 산화와 관련 대사 이상</a:t>
            </a:r>
            <a:r>
              <a:rPr sz="900" b="1" i="0">
                <a:solidFill>
                  <a:srgbClr val="003C71"/>
                </a:solidFill>
                <a:latin typeface="Malgun Gothic"/>
                <a:ea typeface="Malgun Gothic"/>
                <a:cs typeface="Malgun Gothic"/>
              </a:rPr>
              <a:t>      22</a:t>
            </a:r>
          </a:p>
        </p:txBody>
      </p:sp>
      <p:sp>
        <p:nvSpPr>
          <p:cNvPr id="7" name="Rectangle 6"/>
          <p:cNvSpPr/>
          <p:nvPr/>
        </p:nvSpPr>
        <p:spPr>
          <a:xfrm>
            <a:off x="640080" y="1325880"/>
            <a:ext cx="10881360" cy="2270759"/>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a:t>
            </a:r>
            <a:r>
              <a:rPr sz="1600" b="1" i="0">
                <a:solidFill>
                  <a:srgbClr val="11202B"/>
                </a:solidFill>
                <a:latin typeface="Malgun Gothic"/>
                <a:ea typeface="Malgun Gothic"/>
                <a:cs typeface="Malgun Gothic"/>
              </a:rPr>
              <a:t>X-linked adrenoleukodystrophy</a:t>
            </a:r>
            <a:r>
              <a:rPr sz="1600" b="0" i="0">
                <a:solidFill>
                  <a:srgbClr val="11202B"/>
                </a:solidFill>
                <a:latin typeface="Malgun Gothic"/>
                <a:ea typeface="Malgun Gothic"/>
                <a:cs typeface="Malgun Gothic"/>
              </a:rPr>
              <a:t>는 ABCD1 결함으로 very-long-chain 지방산이 peroxisome에 들어가지 못해 혈장과 조직에 쌓이는 질환이다. 부신피질 기능저하와 중추신경계 백질의 탈수초가 진행하고, 소아형에서는 진단 후 수년 내에 심한 신경 장애로 이어진다. 혈장 C26:0와 C26:0/C22:0 비의 상승으로 진단하며, 신경 증상이 나타나기 전 조기 조혈모세포 이식이 진행을 늦출 수 있어 일부 지역에서 신생아 선별검사 항목에 포함되었다. 한편 </a:t>
            </a:r>
            <a:r>
              <a:rPr sz="1600" b="1" i="0">
                <a:solidFill>
                  <a:srgbClr val="11202B"/>
                </a:solidFill>
                <a:latin typeface="Malgun Gothic"/>
                <a:ea typeface="Malgun Gothic"/>
                <a:cs typeface="Malgun Gothic"/>
              </a:rPr>
              <a:t>Refsum disease</a:t>
            </a:r>
            <a:r>
              <a:rPr sz="1600" b="0" i="0">
                <a:solidFill>
                  <a:srgbClr val="11202B"/>
                </a:solidFill>
                <a:latin typeface="Malgun Gothic"/>
                <a:ea typeface="Malgun Gothic"/>
                <a:cs typeface="Malgun Gothic"/>
              </a:rPr>
              <a:t>는 PHYH 결함으로 phytanic acid가 쌓여 망막색소변성, 다발신경병, 후각 소실, 소뇌 증상을 일으키며, 치료는 반추동물 지방과 유제품을 제한하는 식이 요법이다. 두 질환 모두 </a:t>
            </a:r>
            <a:r>
              <a:rPr sz="1600" b="1" i="0">
                <a:solidFill>
                  <a:srgbClr val="11202B"/>
                </a:solidFill>
                <a:latin typeface="Malgun Gothic"/>
                <a:ea typeface="Malgun Gothic"/>
                <a:cs typeface="Malgun Gothic"/>
              </a:rPr>
              <a:t>미토콘드리아가 아니라 peroxisome의 결함</a:t>
            </a:r>
            <a:r>
              <a:rPr sz="1600" b="0" i="0">
                <a:solidFill>
                  <a:srgbClr val="11202B"/>
                </a:solidFill>
                <a:latin typeface="Malgun Gothic"/>
                <a:ea typeface="Malgun Gothic"/>
                <a:cs typeface="Malgun Gothic"/>
              </a:rPr>
              <a:t>이다.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000" b="1" i="0">
                <a:solidFill>
                  <a:srgbClr val="FFFFFF"/>
                </a:solidFill>
                <a:latin typeface="Malgun Gothic"/>
                <a:ea typeface="Malgun Gothic"/>
                <a:cs typeface="Malgun Gothic"/>
              </a:rPr>
              <a:t>7. 지방산 산화 결핍: MCAD와 carnitine 결핍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M02-W07-L03  ·  지방산 산화와 관련 대사 이상</a:t>
            </a:r>
            <a:r>
              <a:rPr sz="900" b="1" i="0">
                <a:solidFill>
                  <a:srgbClr val="003C71"/>
                </a:solidFill>
                <a:latin typeface="Malgun Gothic"/>
                <a:ea typeface="Malgun Gothic"/>
                <a:cs typeface="Malgun Gothic"/>
              </a:rPr>
              <a:t>      23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지방산 산화 결핍은 신생아 선별검사로 발견되는 유전성 대사질환 가운데 큰 비중을 차지한다. 공통된 임상 양상은 </a:t>
            </a:r>
            <a:r>
              <a:rPr sz="1400" b="1" i="0">
                <a:solidFill>
                  <a:srgbClr val="11202B"/>
                </a:solidFill>
                <a:latin typeface="Malgun Gothic"/>
                <a:ea typeface="Malgun Gothic"/>
                <a:cs typeface="Malgun Gothic"/>
              </a:rPr>
              <a:t>공복이나 발열성 질환에서 갑자기 나타나는 저혈당과 의식 저하</a:t>
            </a:r>
            <a:r>
              <a:rPr sz="1400" b="0" i="0">
                <a:solidFill>
                  <a:srgbClr val="11202B"/>
                </a:solidFill>
                <a:latin typeface="Malgun Gothic"/>
                <a:ea typeface="Malgun Gothic"/>
                <a:cs typeface="Malgun Gothic"/>
              </a:rPr>
              <a:t>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기전은 세 가지가 함께 작동한다.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지방산을 태울 수 없으므로 포도당에 전적으로 의존하고, 간과 근육의 glycogen이 소진되면 저혈당이 온다.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gluconeogenesis는 지방산 산화가 공급하는 ATP와 acetyl-CoA에 의존한다. Acetyl-CoA는 pyruvate carboxylase를 활성화하는 알로스테릭 신호이므로, 산화가 막히면 당 생성도 둔해진다.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케톤체는 지방산 산화의 acetyl-CoA에서 만들어진다. 따라서 저혈당인데도 케톤체가 올라가지 않는 </a:t>
            </a:r>
            <a:r>
              <a:rPr sz="1400" b="1" i="0">
                <a:solidFill>
                  <a:srgbClr val="11202B"/>
                </a:solidFill>
                <a:latin typeface="Malgun Gothic"/>
                <a:ea typeface="Malgun Gothic"/>
                <a:cs typeface="Malgun Gothic"/>
              </a:rPr>
              <a:t>hypoketotic hypoglycemia</a:t>
            </a:r>
            <a:r>
              <a:rPr sz="1400" b="0" i="0">
                <a:solidFill>
                  <a:srgbClr val="11202B"/>
                </a:solidFill>
                <a:latin typeface="Malgun Gothic"/>
                <a:ea typeface="Malgun Gothic"/>
                <a:cs typeface="Malgun Gothic"/>
              </a:rPr>
              <a:t>가 나타난다. 이것이 이 질환군의 특징적 소견이다.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MCAD(medium-chain acyl-CoA dehydrogenase) 결핍</a:t>
            </a:r>
            <a:r>
              <a:rPr sz="1400" b="0" i="0">
                <a:solidFill>
                  <a:srgbClr val="11202B"/>
                </a:solidFill>
                <a:latin typeface="Malgun Gothic"/>
                <a:ea typeface="Malgun Gothic"/>
                <a:cs typeface="Malgun Gothic"/>
              </a:rPr>
              <a:t>이 가장 흔하며, 유럽계 인구에서 신생아 1만~2만 명당 1명 수준으로 보고된다. ACADM 유전자의 상염색체 열성 질환이다.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긴 사슬은 VLCAD가 처리하므로 사슬이 중간 길이(C6~C12)까지 짧아진 뒤에 산화가 멈춘다.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그 결과 C6~C10의 </a:t>
            </a:r>
            <a:r>
              <a:rPr sz="1400" b="1" i="0">
                <a:solidFill>
                  <a:srgbClr val="11202B"/>
                </a:solidFill>
                <a:latin typeface="Malgun Gothic"/>
                <a:ea typeface="Malgun Gothic"/>
                <a:cs typeface="Malgun Gothic"/>
              </a:rPr>
              <a:t>중간 사슬 acylcarnitine</a:t>
            </a:r>
            <a:r>
              <a:rPr sz="1400" b="0" i="0">
                <a:solidFill>
                  <a:srgbClr val="11202B"/>
                </a:solidFill>
                <a:latin typeface="Malgun Gothic"/>
                <a:ea typeface="Malgun Gothic"/>
                <a:cs typeface="Malgun Gothic"/>
              </a:rPr>
              <a:t>이 혈액에 쌓이고, 특히 </a:t>
            </a:r>
            <a:r>
              <a:rPr sz="1400" b="1" i="0">
                <a:solidFill>
                  <a:srgbClr val="11202B"/>
                </a:solidFill>
                <a:latin typeface="Malgun Gothic"/>
                <a:ea typeface="Malgun Gothic"/>
                <a:cs typeface="Malgun Gothic"/>
              </a:rPr>
              <a:t>octanoylcarnitine(C8)</a:t>
            </a:r>
            <a:r>
              <a:rPr sz="1400" b="0" i="0">
                <a:solidFill>
                  <a:srgbClr val="11202B"/>
                </a:solidFill>
                <a:latin typeface="Malgun Gothic"/>
                <a:ea typeface="Malgun Gothic"/>
                <a:cs typeface="Malgun Gothic"/>
              </a:rPr>
              <a:t>의 상승이 진단 지표가 된다. 소변에서는 중간 사슬 dicarboxylic acid(adipic, suberic, sebacic acid)가 검출된다.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치료의 핵심은 </a:t>
            </a:r>
            <a:r>
              <a:rPr sz="1400" b="1" i="0">
                <a:solidFill>
                  <a:srgbClr val="11202B"/>
                </a:solidFill>
                <a:latin typeface="Malgun Gothic"/>
                <a:ea typeface="Malgun Gothic"/>
                <a:cs typeface="Malgun Gothic"/>
              </a:rPr>
              <a:t>공복을 피하는 것</a:t>
            </a:r>
            <a:r>
              <a:rPr sz="1400" b="0" i="0">
                <a:solidFill>
                  <a:srgbClr val="11202B"/>
                </a:solidFill>
                <a:latin typeface="Malgun Gothic"/>
                <a:ea typeface="Malgun Gothic"/>
                <a:cs typeface="Malgun Gothic"/>
              </a:rPr>
              <a:t>이다. 야간 공복 시간을 제한하고, 발열이나 구토가 있을 때 즉시 포도당을 공급한다. MCAD 결핍에서는 medium-chain 지방산이 바로 기질이므로 </a:t>
            </a:r>
            <a:r>
              <a:rPr sz="1400" b="1" i="0">
                <a:solidFill>
                  <a:srgbClr val="11202B"/>
                </a:solidFill>
                <a:latin typeface="Malgun Gothic"/>
                <a:ea typeface="Malgun Gothic"/>
                <a:cs typeface="Malgun Gothic"/>
              </a:rPr>
              <a:t>MCT를 투여해서는 안 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Carnitine 결핍</a:t>
            </a:r>
            <a:r>
              <a:rPr sz="1400" b="0" i="0">
                <a:solidFill>
                  <a:srgbClr val="11202B"/>
                </a:solidFill>
                <a:latin typeface="Malgun Gothic"/>
                <a:ea typeface="Malgun Gothic"/>
                <a:cs typeface="Malgun Gothic"/>
              </a:rPr>
              <a:t>은 기질 공급이 아니라 운반의 문제다. 원인은 두 가지로 나뉜다.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000" b="1" i="0">
                <a:solidFill>
                  <a:srgbClr val="FFFFFF"/>
                </a:solidFill>
                <a:latin typeface="Malgun Gothic"/>
                <a:ea typeface="Malgun Gothic"/>
                <a:cs typeface="Malgun Gothic"/>
              </a:rPr>
              <a:t>7. 지방산 산화 결핍: MCAD와 carnitine 결핍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M02-W07-L03  ·  지방산 산화와 관련 대사 이상</a:t>
            </a:r>
            <a:r>
              <a:rPr sz="900" b="1" i="0">
                <a:solidFill>
                  <a:srgbClr val="003C71"/>
                </a:solidFill>
                <a:latin typeface="Malgun Gothic"/>
                <a:ea typeface="Malgun Gothic"/>
                <a:cs typeface="Malgun Gothic"/>
              </a:rPr>
              <a:t>      24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일차성</a:t>
            </a:r>
            <a:r>
              <a:rPr sz="1800" b="0" i="0">
                <a:solidFill>
                  <a:srgbClr val="11202B"/>
                </a:solidFill>
                <a:latin typeface="Malgun Gothic"/>
                <a:ea typeface="Malgun Gothic"/>
                <a:cs typeface="Malgun Gothic"/>
              </a:rPr>
              <a:t>: 세포막 carnitine 수송체 </a:t>
            </a:r>
            <a:r>
              <a:rPr sz="1800" b="1" i="0">
                <a:solidFill>
                  <a:srgbClr val="11202B"/>
                </a:solidFill>
                <a:latin typeface="Malgun Gothic"/>
                <a:ea typeface="Malgun Gothic"/>
                <a:cs typeface="Malgun Gothic"/>
              </a:rPr>
              <a:t>OCTN2</a:t>
            </a:r>
            <a:r>
              <a:rPr sz="1800" b="0" i="0">
                <a:solidFill>
                  <a:srgbClr val="11202B"/>
                </a:solidFill>
                <a:latin typeface="Malgun Gothic"/>
                <a:ea typeface="Malgun Gothic"/>
                <a:cs typeface="Malgun Gothic"/>
              </a:rPr>
              <a:t>(SLC22A5) 결함으로 carnitine이 신장에서 재흡수되지 않고 소실된다. 혈장과 조직의 carnitine이 모두 매우 낮다. 심근증, 근력 저하, 저케톤성 저혈당으로 나타나고 </a:t>
            </a:r>
            <a:r>
              <a:rPr sz="1800" b="1" i="0">
                <a:solidFill>
                  <a:srgbClr val="11202B"/>
                </a:solidFill>
                <a:latin typeface="Malgun Gothic"/>
                <a:ea typeface="Malgun Gothic"/>
                <a:cs typeface="Malgun Gothic"/>
              </a:rPr>
              <a:t>고용량 carnitine 경구 투여에 잘 반응한다.</a:t>
            </a:r>
          </a:p>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이차성</a:t>
            </a:r>
            <a:r>
              <a:rPr sz="1800" b="0" i="0">
                <a:solidFill>
                  <a:srgbClr val="11202B"/>
                </a:solidFill>
                <a:latin typeface="Malgun Gothic"/>
                <a:ea typeface="Malgun Gothic"/>
                <a:cs typeface="Malgun Gothic"/>
              </a:rPr>
              <a:t>: 다른 유기산 대사 이상에서 쌓인 acyl기가 carnitine과 결합해 소변으로 빠져나가며 유리 carnitine을 소모한다. 혈액투석, 조산아, 일부 항경련제(valproate) 사용에서도 생긴다.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지방산 산화 결핍: MCAD와 carnitine 결핍</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M02-W07-L03  ·  지방산 산화와 관련 대사 이상</a:t>
            </a:r>
            <a:r>
              <a:rPr sz="900" b="1" i="0">
                <a:solidFill>
                  <a:srgbClr val="003C71"/>
                </a:solidFill>
                <a:latin typeface="Malgun Gothic"/>
                <a:ea typeface="Malgun Gothic"/>
                <a:cs typeface="Malgun Gothic"/>
              </a:rPr>
              <a:t>      25</a:t>
            </a:r>
          </a:p>
        </p:txBody>
      </p:sp>
      <p:graphicFrame>
        <p:nvGraphicFramePr>
          <p:cNvPr id="7" name="Table 6"/>
          <p:cNvGraphicFramePr>
            <a:graphicFrameLocks noGrp="1"/>
          </p:cNvGraphicFramePr>
          <p:nvPr/>
        </p:nvGraphicFramePr>
        <p:xfrm>
          <a:off x="548640" y="1280160"/>
          <a:ext cx="11064240" cy="219456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200" b="1" i="0">
                          <a:solidFill>
                            <a:srgbClr val="FFFFFF"/>
                          </a:solidFill>
                          <a:latin typeface="Malgun Gothic"/>
                          <a:ea typeface="Malgun Gothic"/>
                          <a:cs typeface="Malgun Gothic"/>
                        </a:rPr>
                        <a:t>구분</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MCAD 결핍</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일차성 carnitine 결핍</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CPT-II 결핍(근육형)</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결함 지점</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중간 사슬 dehydrogenase</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OCTN2 수송체</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내막의 CPT-II</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혈장 유리 carnitine</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정상 또는 약간 낮음</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매우 낮음</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정상 또는 낮음</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특징적 acylcarnitine</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C8 상승</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전반적으로 낮음</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긴 사슬(C16, C18:1) 상승</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MCT 투여</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금기</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효과 없음</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유용할 수 있다</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치료</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공복 회피, 포도당 공급</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Carnitine 보충</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공복·운동 회피, 고탄수화물 식이</a:t>
                      </a:r>
                    </a:p>
                  </a:txBody>
                  <a:tcPr marL="73152" marR="73152" marT="27432" marB="27432">
                    <a:solidFill>
                      <a:srgbClr val="FFFFFF"/>
                    </a:solidFill>
                  </a:tcP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공복 시 조직별 연료 선택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M02-W07-L03  ·  지방산 산화와 관련 대사 이상</a:t>
            </a:r>
            <a:r>
              <a:rPr sz="900" b="1" i="0">
                <a:solidFill>
                  <a:srgbClr val="003C71"/>
                </a:solidFill>
                <a:latin typeface="Malgun Gothic"/>
                <a:ea typeface="Malgun Gothic"/>
                <a:cs typeface="Malgun Gothic"/>
              </a:rPr>
              <a:t>      26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지방산 산화의 생리적 의미는 공복 기간에 따른 연료 전환에서 가장 잘 드러난다.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식후(0~4시간)</a:t>
            </a:r>
            <a:r>
              <a:rPr sz="1600" b="0" i="0">
                <a:solidFill>
                  <a:srgbClr val="11202B"/>
                </a:solidFill>
                <a:latin typeface="Malgun Gothic"/>
                <a:ea typeface="Malgun Gothic"/>
                <a:cs typeface="Malgun Gothic"/>
              </a:rPr>
              <a:t> insulin이 높다. 간은 포도당을 glycogen으로 저장하고 남는 탄소로 지방산을 만든다. 근육은 포도당을 쓴다. 지방조직은 chylomicron과 VLDL에서 지방산을 받아 저장한다.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야간 공복(12~24시간)</a:t>
            </a:r>
            <a:r>
              <a:rPr sz="1600" b="0" i="0">
                <a:solidFill>
                  <a:srgbClr val="11202B"/>
                </a:solidFill>
                <a:latin typeface="Malgun Gothic"/>
                <a:ea typeface="Malgun Gothic"/>
                <a:cs typeface="Malgun Gothic"/>
              </a:rPr>
              <a:t> glycogen이 줄고 glucagon이 올라간다. 지방조직의 분해가 시작되어 유리지방산이 혈액으로 나오고, 간과 근육이 이를 태운다. 간의 gluconeogenesis가 포도당 공급을 맡는다. 뇌는 여전히 포도당만 쓴다.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장기 공복(3일 이후)</a:t>
            </a:r>
            <a:r>
              <a:rPr sz="1600" b="0" i="0">
                <a:solidFill>
                  <a:srgbClr val="11202B"/>
                </a:solidFill>
                <a:latin typeface="Malgun Gothic"/>
                <a:ea typeface="Malgun Gothic"/>
                <a:cs typeface="Malgun Gothic"/>
              </a:rPr>
              <a:t> 지방산 산화가 간에서 acetyl-CoA를 과잉 공급하고, 간은 이를 </a:t>
            </a:r>
            <a:r>
              <a:rPr sz="1600" b="1" i="0">
                <a:solidFill>
                  <a:srgbClr val="11202B"/>
                </a:solidFill>
                <a:latin typeface="Malgun Gothic"/>
                <a:ea typeface="Malgun Gothic"/>
                <a:cs typeface="Malgun Gothic"/>
              </a:rPr>
              <a:t>케톤체</a:t>
            </a:r>
            <a:r>
              <a:rPr sz="1600" b="0" i="0">
                <a:solidFill>
                  <a:srgbClr val="11202B"/>
                </a:solidFill>
                <a:latin typeface="Malgun Gothic"/>
                <a:ea typeface="Malgun Gothic"/>
                <a:cs typeface="Malgun Gothic"/>
              </a:rPr>
              <a:t>로 바꾸어 내보낸다. 뇌는 케톤체를 쓸 수 있으므로 필요 에너지의 상당 부분을 케톤체에서 얻고, 그 결과 포도당 수요가 줄어 근육 단백질의 분해가 억제된다. 적혈구는 미토콘드리아가 없어 끝까지 포도당만 쓴다.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공복 시 조직별 연료 선택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M02-W07-L03  ·  지방산 산화와 관련 대사 이상</a:t>
            </a:r>
            <a:r>
              <a:rPr sz="900" b="1" i="0">
                <a:solidFill>
                  <a:srgbClr val="003C71"/>
                </a:solidFill>
                <a:latin typeface="Malgun Gothic"/>
                <a:ea typeface="Malgun Gothic"/>
                <a:cs typeface="Malgun Gothic"/>
              </a:rPr>
              <a:t>      27</a:t>
            </a:r>
          </a:p>
        </p:txBody>
      </p:sp>
      <p:pic>
        <p:nvPicPr>
          <p:cNvPr id="7" name="Picture 6" descr="fig-fasting-fuel.slide.png"/>
          <p:cNvPicPr>
            <a:picLocks noChangeAspect="1"/>
          </p:cNvPicPr>
          <p:nvPr/>
        </p:nvPicPr>
        <p:blipFill>
          <a:blip r:embed="rId2"/>
          <a:stretch>
            <a:fillRect/>
          </a:stretch>
        </p:blipFill>
        <p:spPr>
          <a:xfrm>
            <a:off x="1425525" y="1325880"/>
            <a:ext cx="9340645"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공복 기간에 따른 조직별 연료 선택. 뇌는 유리지방산을 쓸 수 없으나 케톤체는 쓸 수 있고, 적혈구는 미토콘드리아가 없어 끝까지 포도당에 의존한다.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공복 시 조직별 연료 선택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M02-W07-L03  ·  지방산 산화와 관련 대사 이상</a:t>
            </a:r>
            <a:r>
              <a:rPr sz="900" b="1" i="0">
                <a:solidFill>
                  <a:srgbClr val="003C71"/>
                </a:solidFill>
                <a:latin typeface="Malgun Gothic"/>
                <a:ea typeface="Malgun Gothic"/>
                <a:cs typeface="Malgun Gothic"/>
              </a:rPr>
              <a:t>      28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이 표에서 두 가지가 읽힌다. 첫째, </a:t>
            </a:r>
            <a:r>
              <a:rPr sz="2000" b="1" i="0">
                <a:solidFill>
                  <a:srgbClr val="11202B"/>
                </a:solidFill>
                <a:latin typeface="Malgun Gothic"/>
                <a:ea typeface="Malgun Gothic"/>
                <a:cs typeface="Malgun Gothic"/>
              </a:rPr>
              <a:t>뇌가 유리지방산을 쓰지 못하는 것이 케톤체가 필요한 이유</a:t>
            </a:r>
            <a:r>
              <a:rPr sz="2000" b="0" i="0">
                <a:solidFill>
                  <a:srgbClr val="11202B"/>
                </a:solidFill>
                <a:latin typeface="Malgun Gothic"/>
                <a:ea typeface="Malgun Gothic"/>
                <a:cs typeface="Malgun Gothic"/>
              </a:rPr>
              <a:t>다. 유리지방산은 알부민에 결합해 있어 혈액뇌장벽을 넘지 못하지만 케톤체는 수용성이고 수송체를 통해 넘어간다. 둘째, </a:t>
            </a:r>
            <a:r>
              <a:rPr sz="2000" b="1" i="0">
                <a:solidFill>
                  <a:srgbClr val="11202B"/>
                </a:solidFill>
                <a:latin typeface="Malgun Gothic"/>
                <a:ea typeface="Malgun Gothic"/>
                <a:cs typeface="Malgun Gothic"/>
              </a:rPr>
              <a:t>지방산 산화 결핍이 식사 중에는 조용하다</a:t>
            </a:r>
            <a:r>
              <a:rPr sz="2000" b="0" i="0">
                <a:solidFill>
                  <a:srgbClr val="11202B"/>
                </a:solidFill>
                <a:latin typeface="Malgun Gothic"/>
                <a:ea typeface="Malgun Gothic"/>
                <a:cs typeface="Malgun Gothic"/>
              </a:rPr>
              <a:t>는 점이다. 포도당이 공급되는 동안에는 경로를 쓰지 않으므로 증상이 없고, 공복이나 발열처럼 지방산으로 전환해야 하는 상황에서 급격히 악화한다.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공복 시 조직별 연료 선택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M02-W07-L03  ·  지방산 산화와 관련 대사 이상</a:t>
            </a:r>
            <a:r>
              <a:rPr sz="900" b="1" i="0">
                <a:solidFill>
                  <a:srgbClr val="003C71"/>
                </a:solidFill>
                <a:latin typeface="Malgun Gothic"/>
                <a:ea typeface="Malgun Gothic"/>
                <a:cs typeface="Malgun Gothic"/>
              </a:rPr>
              <a:t>      29</a:t>
            </a:r>
          </a:p>
        </p:txBody>
      </p:sp>
      <p:sp>
        <p:nvSpPr>
          <p:cNvPr id="7" name="Rectangle 6"/>
          <p:cNvSpPr/>
          <p:nvPr/>
        </p:nvSpPr>
        <p:spPr>
          <a:xfrm>
            <a:off x="640080" y="1325880"/>
            <a:ext cx="10881360" cy="197612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생후 수개월에서 2년 사이의 소아가 위장염으로 몇 끼를 먹지 못한 뒤 기면과 경련으로 응급실에 왔고, 혈당 35 mg/dL(1.9 mmol/L)인데 소변 ketone이 음성이었다고 하자. 이 조합이 </a:t>
            </a:r>
            <a:r>
              <a:rPr sz="1600" b="1" i="0">
                <a:solidFill>
                  <a:srgbClr val="11202B"/>
                </a:solidFill>
                <a:latin typeface="Malgun Gothic"/>
                <a:ea typeface="Malgun Gothic"/>
                <a:cs typeface="Malgun Gothic"/>
              </a:rPr>
              <a:t>저케톤성 저혈당</a:t>
            </a:r>
            <a:r>
              <a:rPr sz="1600" b="0" i="0">
                <a:solidFill>
                  <a:srgbClr val="11202B"/>
                </a:solidFill>
                <a:latin typeface="Malgun Gothic"/>
                <a:ea typeface="Malgun Gothic"/>
                <a:cs typeface="Malgun Gothic"/>
              </a:rPr>
              <a:t>이며 지방산 산화 결핍을 강하게 가리킨다. 즉시 포도당을 투여하면서 혈액을 acylcarnitine 프로파일과 유리지방산·케톤체 측정용으로 확보해야 한다. 치료 후에는 패턴이 사라지므로 </a:t>
            </a:r>
            <a:r>
              <a:rPr sz="1600" b="1" i="0">
                <a:solidFill>
                  <a:srgbClr val="11202B"/>
                </a:solidFill>
                <a:latin typeface="Malgun Gothic"/>
                <a:ea typeface="Malgun Gothic"/>
                <a:cs typeface="Malgun Gothic"/>
              </a:rPr>
              <a:t>치료 전 검체 확보가 진단의 관건</a:t>
            </a:r>
            <a:r>
              <a:rPr sz="1600" b="0" i="0">
                <a:solidFill>
                  <a:srgbClr val="11202B"/>
                </a:solidFill>
                <a:latin typeface="Malgun Gothic"/>
                <a:ea typeface="Malgun Gothic"/>
                <a:cs typeface="Malgun Gothic"/>
              </a:rPr>
              <a:t>이다. 아세트아미노펜 중독이나 Reye 증후군과 혼동될 수 있으며, 가족력에서 설명되지 않은 영아 사망이 있으면 의심을 높인다.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산화 경로의 이상이 만드는 전신 소견</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M02-W07-L03  ·  지방산 산화와 관련 대사 이상</a:t>
            </a:r>
            <a:r>
              <a:rPr sz="900" b="1" i="0">
                <a:solidFill>
                  <a:srgbClr val="003C71"/>
                </a:solidFill>
                <a:latin typeface="Malgun Gothic"/>
                <a:ea typeface="Malgun Gothic"/>
                <a:cs typeface="Malgun Gothic"/>
              </a:rPr>
              <a:t>      30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지방산 산화 경로가 막히면 </a:t>
            </a:r>
            <a:r>
              <a:rPr sz="2000" b="1" i="0">
                <a:solidFill>
                  <a:srgbClr val="11202B"/>
                </a:solidFill>
                <a:latin typeface="Malgun Gothic"/>
                <a:ea typeface="Malgun Gothic"/>
                <a:cs typeface="Malgun Gothic"/>
              </a:rPr>
              <a:t>쌓이는 것</a:t>
            </a:r>
            <a:r>
              <a:rPr sz="2000" b="0" i="0">
                <a:solidFill>
                  <a:srgbClr val="11202B"/>
                </a:solidFill>
                <a:latin typeface="Malgun Gothic"/>
                <a:ea typeface="Malgun Gothic"/>
                <a:cs typeface="Malgun Gothic"/>
              </a:rPr>
              <a:t>과 </a:t>
            </a:r>
            <a:r>
              <a:rPr sz="2000" b="1" i="0">
                <a:solidFill>
                  <a:srgbClr val="11202B"/>
                </a:solidFill>
                <a:latin typeface="Malgun Gothic"/>
                <a:ea typeface="Malgun Gothic"/>
                <a:cs typeface="Malgun Gothic"/>
              </a:rPr>
              <a:t>모자라는 것</a:t>
            </a:r>
            <a:r>
              <a:rPr sz="2000" b="0" i="0">
                <a:solidFill>
                  <a:srgbClr val="11202B"/>
                </a:solidFill>
                <a:latin typeface="Malgun Gothic"/>
                <a:ea typeface="Malgun Gothic"/>
                <a:cs typeface="Malgun Gothic"/>
              </a:rPr>
              <a:t>이 함께 임상 소견을 만든다. 막힌 지점에 따라 쌓이는 중간체가 달라지므로 검사 패턴으로 지점을 추정할 수 있다.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산화 경로의 이상이 만드는 전신 소견</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M02-W07-L03  ·  지방산 산화와 관련 대사 이상</a:t>
            </a:r>
            <a:r>
              <a:rPr sz="900" b="1" i="0">
                <a:solidFill>
                  <a:srgbClr val="003C71"/>
                </a:solidFill>
                <a:latin typeface="Malgun Gothic"/>
                <a:ea typeface="Malgun Gothic"/>
                <a:cs typeface="Malgun Gothic"/>
              </a:rPr>
              <a:t>      31</a:t>
            </a:r>
          </a:p>
        </p:txBody>
      </p:sp>
      <p:graphicFrame>
        <p:nvGraphicFramePr>
          <p:cNvPr id="7" name="Table 6"/>
          <p:cNvGraphicFramePr>
            <a:graphicFrameLocks noGrp="1"/>
          </p:cNvGraphicFramePr>
          <p:nvPr/>
        </p:nvGraphicFramePr>
        <p:xfrm>
          <a:off x="548640" y="1280160"/>
          <a:ext cx="11064240" cy="256032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200" b="1" i="0">
                          <a:solidFill>
                            <a:srgbClr val="FFFFFF"/>
                          </a:solidFill>
                          <a:latin typeface="Malgun Gothic"/>
                          <a:ea typeface="Malgun Gothic"/>
                          <a:cs typeface="Malgun Gothic"/>
                        </a:rPr>
                        <a:t>막힌 지점</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쌓이는 것</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모자라는 것</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대표 소견</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CPT-I</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유리 carnitine(정상 또는 높음)</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기질 진입</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간 중심의 증상, 저케톤성 저혈당</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CACT, CPT-II</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긴 사슬 acylcarnitine</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ATP, 케톤체</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심근증, 부정맥, 횡문근 분해</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VLCAD</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C14~C18 acylcarnitine</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ATP</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신생아기 심근증 또는 운동 후 근육 증상</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MCAD</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C6~C10 acylcarnitine, dicarboxylic acid</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케톤체</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공복 시 저케톤성 저혈당</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OCTN2</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없음(소실)</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Carnitine</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심근증, carnitine 투여에 반응</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ABCD1(peroxisome)</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Very-long-chain 지방산</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부신 기능저하, 백질 탈수초</a:t>
                      </a:r>
                    </a:p>
                  </a:txBody>
                  <a:tcPr marL="73152" marR="73152" marT="27432" marB="27432">
                    <a:solidFill>
                      <a:srgbClr val="EFF4F8"/>
                    </a:solidFill>
                  </a:tcPr>
                </a:tc>
              </a:tr>
            </a:tbl>
          </a:graphicData>
        </a:graphic>
      </p:graphicFrame>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산화 경로의 이상이 만드는 전신 소견</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M02-W07-L03  ·  지방산 산화와 관련 대사 이상</a:t>
            </a:r>
            <a:r>
              <a:rPr sz="900" b="1" i="0">
                <a:solidFill>
                  <a:srgbClr val="003C71"/>
                </a:solidFill>
                <a:latin typeface="Malgun Gothic"/>
                <a:ea typeface="Malgun Gothic"/>
                <a:cs typeface="Malgun Gothic"/>
              </a:rPr>
              <a:t>      32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긴 사슬 중간체가 쌓이는 결핍이 더 위험하다.</a:t>
            </a:r>
            <a:r>
              <a:rPr sz="1400" b="0" i="0">
                <a:solidFill>
                  <a:srgbClr val="11202B"/>
                </a:solidFill>
                <a:latin typeface="Malgun Gothic"/>
                <a:ea typeface="Malgun Gothic"/>
                <a:cs typeface="Malgun Gothic"/>
              </a:rPr>
              <a:t> 긴 사슬 acylcarnitine은 세제와 같은 성질을 가져 막을 불안정하게 만들고 심장 전도계에 영향을 주므로, CPT-II·CACT·VLCAD 결핍에서는 심근증과 치명적 부정맥, 횡문근 분해가 나타난다. MCAD 결핍은 쌓이는 중간체가 짧아 심장 소견이 상대적으로 적고 저혈당이 주 문제다.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검사 해석의 요점</a:t>
            </a:r>
            <a:r>
              <a:rPr sz="1400" b="0" i="0">
                <a:solidFill>
                  <a:srgbClr val="11202B"/>
                </a:solidFill>
                <a:latin typeface="Malgun Gothic"/>
                <a:ea typeface="Malgun Gothic"/>
                <a:cs typeface="Malgun Gothic"/>
              </a:rPr>
              <a:t>도 정리해 둔다.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저혈당 시 케톤체 측정</a:t>
            </a:r>
            <a:r>
              <a:rPr sz="1400" b="0" i="0">
                <a:solidFill>
                  <a:srgbClr val="11202B"/>
                </a:solidFill>
                <a:latin typeface="Malgun Gothic"/>
                <a:ea typeface="Malgun Gothic"/>
                <a:cs typeface="Malgun Gothic"/>
              </a:rPr>
              <a:t>이 첫 갈림길이다. 케톤체가 올라가 있으면 산화 경로는 작동하고 있으므로 다른 원인(glycogen 저장병, 호르몬 결핍, insulin 과다)을 본다. 케톤체가 낮으면 지방산 산화 결핍이나 고insulin증을 본다.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유리지방산과 케톤체의 비</a:t>
            </a:r>
            <a:r>
              <a:rPr sz="1400" b="0" i="0">
                <a:solidFill>
                  <a:srgbClr val="11202B"/>
                </a:solidFill>
                <a:latin typeface="Malgun Gothic"/>
                <a:ea typeface="Malgun Gothic"/>
                <a:cs typeface="Malgun Gothic"/>
              </a:rPr>
              <a:t>를 함께 본다. 유리지방산은 높은데 케톤체가 낮으면 지방 동원은 되지만 산화나 ketogenesis가 막힌 것이다. 둘 다 낮으면 고insulin증처럼 동원 자체가 억제된 상태다.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Acylcarnitine 프로파일</a:t>
            </a:r>
            <a:r>
              <a:rPr sz="1400" b="0" i="0">
                <a:solidFill>
                  <a:srgbClr val="11202B"/>
                </a:solidFill>
                <a:latin typeface="Malgun Gothic"/>
                <a:ea typeface="Malgun Gothic"/>
                <a:cs typeface="Malgun Gothic"/>
              </a:rPr>
              <a:t>이 결함 지점을 사슬 길이로 특정한다. 신생아 선별검사가 tandem mass spectrometry로 이 프로파일을 측정하는 이유다.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소변 ketone 검사 시험지(dipstick)는 </a:t>
            </a:r>
            <a:r>
              <a:rPr sz="1400" b="1" i="0">
                <a:solidFill>
                  <a:srgbClr val="11202B"/>
                </a:solidFill>
                <a:latin typeface="Malgun Gothic"/>
                <a:ea typeface="Malgun Gothic"/>
                <a:cs typeface="Malgun Gothic"/>
              </a:rPr>
              <a:t>acetoacetate만</a:t>
            </a:r>
            <a:r>
              <a:rPr sz="1400" b="0" i="0">
                <a:solidFill>
                  <a:srgbClr val="11202B"/>
                </a:solidFill>
                <a:latin typeface="Malgun Gothic"/>
                <a:ea typeface="Malgun Gothic"/>
                <a:cs typeface="Malgun Gothic"/>
              </a:rPr>
              <a:t> 검출하고 beta-hydroxybutyrate는 검출하지 않는다. 심한 산증에서 비율이 beta-hydroxybutyrate 쪽으로 기울면 음성에 가깝게 나올 수 있으므로, 가능하면 혈중 beta-hydroxybutyrate를 측정한다.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산화 경로의 이상이 만드는 전신 소견</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M02-W07-L03  ·  지방산 산화와 관련 대사 이상</a:t>
            </a:r>
            <a:r>
              <a:rPr sz="900" b="1" i="0">
                <a:solidFill>
                  <a:srgbClr val="003C71"/>
                </a:solidFill>
                <a:latin typeface="Malgun Gothic"/>
                <a:ea typeface="Malgun Gothic"/>
                <a:cs typeface="Malgun Gothic"/>
              </a:rPr>
              <a:t>      33</a:t>
            </a:r>
          </a:p>
        </p:txBody>
      </p:sp>
      <p:sp>
        <p:nvSpPr>
          <p:cNvPr id="7" name="Rectangle 6"/>
          <p:cNvSpPr/>
          <p:nvPr/>
        </p:nvSpPr>
        <p:spPr>
          <a:xfrm>
            <a:off x="640080" y="1325880"/>
            <a:ext cx="10881360" cy="1681480"/>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1" i="0">
                <a:solidFill>
                  <a:srgbClr val="11202B"/>
                </a:solidFill>
                <a:latin typeface="Malgun Gothic"/>
                <a:ea typeface="Malgun Gothic"/>
                <a:cs typeface="Malgun Gothic"/>
              </a:rPr>
              <a:t>핵심 정리</a:t>
            </a:r>
            <a:r>
              <a:rPr sz="1600" b="0" i="0">
                <a:solidFill>
                  <a:srgbClr val="11202B"/>
                </a:solidFill>
                <a:latin typeface="Malgun Gothic"/>
                <a:ea typeface="Malgun Gothic"/>
                <a:cs typeface="Malgun Gothic"/>
              </a:rPr>
              <a:t> 지방산 산화는 활성화, carnitine shuttle을 통한 진입, 네 반응의 반복이라는 세 부분으로 이루어진다. CPT-I이 malonyl-CoA에 억제되어 합성과 산화의 전환점을 이루고, 경로가 막히면 쌓이는 acylcarnitine의 사슬 길이가 결함 지점을 알려 주며, 케톤체를 만들지 못해 저케톤성 저혈당이 나타난다. 이 경로는 식사 중에는 쓰이지 않으므로 질환은 공복에서 처음 드러난다.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M02-W07-L03  ·  지방산 산화와 관련 대사 이상</a:t>
            </a:r>
            <a:r>
              <a:rPr sz="900" b="1" i="0">
                <a:solidFill>
                  <a:srgbClr val="003C71"/>
                </a:solidFill>
                <a:latin typeface="Malgun Gothic"/>
                <a:ea typeface="Malgun Gothic"/>
                <a:cs typeface="Malgun Gothic"/>
              </a:rPr>
              <a:t>      34</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어떤 영아가 공복 후 혈당 35 mg/dL(1.9 mmol/L)로 왔고 소변 ketone이 음성이었다. 이 조합이 가리키는 대사 지점과 그 기전을 세 가지로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저혈당인데 케톤체가 올라가지 않는 저케톤성 저혈당은 지방산 산화 경로의 장애를 가리킨다(고insulin증도 같은 패턴을 보이므로 구분이 필요하다). 기전은 세 가지가 겹친다. 첫째, 지방산을 연료로 쓸 수 없어 포도당 의존이 커지고 glycogen이 소진되면 저혈당이 온다. 둘째, gluconeogenesis는 지방산 산화가 공급하는 ATP에 의존하고 acetyl-CoA가 pyruvate carboxylase를 알로스테릭하게 활성화하므로, 산화가 막히면 당 생성도 둔해진다. 셋째, 케톤체는 지방산 산화에서 나온 acetyl-CoA로 만들어지므로 공급이 끊겨 생성되지 않는다. 치료 후에는 이 패턴이 사라지므로 포도당 투여 전에 acylcarnitine 프로파일용 검체를 확보해야 한다.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Q2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M02-W07-L03  ·  지방산 산화와 관련 대사 이상</a:t>
            </a:r>
            <a:r>
              <a:rPr sz="900" b="1" i="0">
                <a:solidFill>
                  <a:srgbClr val="003C71"/>
                </a:solidFill>
                <a:latin typeface="Malgun Gothic"/>
                <a:ea typeface="Malgun Gothic"/>
                <a:cs typeface="Malgun Gothic"/>
              </a:rPr>
              <a:t>      35</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MCAD 결핍 환자에게 medium-chain triacylglycerol(MCT)을 투여하면 안 되는 이유를 설명하라. 반대로 MCT가 유용한 상황은 어떤 경우인가.</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MCAD는 탄소 4~12개의 acyl-CoA를 산화하는 효소이므로, MCAD 결핍에서는 medium-chain 지방산이 바로 처리되지 못하는 기질이다. MCT를 투여하면 막힌 지점의 기질을 직접 공급해 중간 사슬 acylcarnitine과 dicarboxylic acid의 축적을 늘린다. 반면 CPT-II 결핍이나 CACT 결핍처럼 긴 사슬의 미토콘드리아 진입이 막힌 경우에는 medium-chain 지방산이 carnitine shuttle을 거치지 않고 내막을 통과하므로 막힌 지점을 우회하는 열량원이 된다. 같은 영양 요법이 결함 지점에 따라 금기와 치료로 갈린다.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Q3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M02-W07-L03  ·  지방산 산화와 관련 대사 이상</a:t>
            </a:r>
            <a:r>
              <a:rPr sz="900" b="1" i="0">
                <a:solidFill>
                  <a:srgbClr val="003C71"/>
                </a:solidFill>
                <a:latin typeface="Malgun Gothic"/>
                <a:ea typeface="Malgun Gothic"/>
                <a:cs typeface="Malgun Gothic"/>
              </a:rPr>
              <a:t>      36</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Palmitate(16:0)와 stearate(18:0)에서 각각 beta-oxidation 순환 횟수, acetyl-CoA 수, FADH₂와 NADH 수를 쓰고, 순환 횟수와 acetyl-CoA 수가 다른 이유를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사슬 길이 n인 짝수 포화지방산에서 순환 횟수는 (n/2 − 1), acetyl-CoA는 n/2, FADH₂와 NADH는 각각 (n/2 − 1)이다. Palmitate는 7회 순환, acetyl-CoA 8개, FADH₂ 7개, NADH 7개다. Stearate는 8회 순환, acetyl-CoA 9개, FADH₂ 8개, NADH 8개다. 둘이 다른 이유는 마지막 순환에서 탄소 네 개의 acetoacetyl-CoA가 thiolase에 의해 acetyl-CoA 두 개로 갈라지기 때문이다. 즉 마지막 한 번의 순환이 두 개의 acetyl-CoA를 내놓으므로 순환 횟수보다 acetyl-CoA가 하나 더 많다. 또 두 지방산 모두 활성화에 ATP 두 개 상당을 소비한다는 점을 수지에 포함해야 한다.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Q4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M02-W07-L03  ·  지방산 산화와 관련 대사 이상</a:t>
            </a:r>
            <a:r>
              <a:rPr sz="900" b="1" i="0">
                <a:solidFill>
                  <a:srgbClr val="003C71"/>
                </a:solidFill>
                <a:latin typeface="Malgun Gothic"/>
                <a:ea typeface="Malgun Gothic"/>
                <a:cs typeface="Malgun Gothic"/>
              </a:rPr>
              <a:t>      37</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짝수 사슬 지방산은 당 생성에 기여하지 못하지만 홀수 사슬 지방산의 일부 탄소는 기여한다. 그 차이를 경로로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짝수 사슬 지방산은 모두 acetyl-CoA로 분해된다. Acetyl-CoA가 TCA cycle에 들어가면 두 번의 decarboxylation으로 탄소 두 개가 CO₂로 빠져나가므로 순수한 탄소 증가가 없고, pyruvate dehydrogenase 반응이 비가역이어서 acetyl-CoA에서 pyruvate로 되돌아갈 수도 없다. 홀수 사슬 지방산은 마지막에 탄소 세 개의 propionyl-CoA를 남기고, 이것이 propionyl-CoA carboxylase(biotin)와 methylmalonyl-CoA mutase(vitamin B₁₂)를 거쳐 succinyl-CoA가 된다. Succinyl-CoA는 TCA cycle의 네 탄소 중간체이므로 oxaloacetate를 거쳐 phosphoenolpyruvate로 나가 gluconeogenesis에 쓰일 수 있다. 다만 전체 양에서 차지하는 비중은 작다.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Q5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M02-W07-L03  ·  지방산 산화와 관련 대사 이상</a:t>
            </a:r>
            <a:r>
              <a:rPr sz="900" b="1" i="0">
                <a:solidFill>
                  <a:srgbClr val="003C71"/>
                </a:solidFill>
                <a:latin typeface="Malgun Gothic"/>
                <a:ea typeface="Malgun Gothic"/>
                <a:cs typeface="Malgun Gothic"/>
              </a:rPr>
              <a:t>      38</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Malonyl-CoA 농도만으로 지방산 합성과 산화의 전환이 설명되는 이유를 들고, 근육이 지방산을 만들지 않으면서도 acetyl-CoA carboxylase를 가지고 있는 까닭을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Malonyl-CoA는 fatty acid synthase의 탄소 공여체이면서 동시에 CPT-I의 억제제다. 따라서 농도가 높으면 합성이 진행되고 긴 사슬 acyl기의 미토콘드리아 진입이 막혀 산화가 꺼지고, 농도가 낮으면 그 반대가 된다. 식후에는 insulin이 ACC를 탈인산화해 malonyl-CoA를 올리고, 공복에는 glucagon과 AMPK가 ACC를 인산화해 malonyl-CoA를 떨어뜨린다. 근육은 de novo 지방산 합성을 하지 않지만 ACC를 가지고 있으며, 그 malonyl-CoA의 역할은 합성이 아니라 CPT-I 억제를 통한 산화 속도 조절이다. 근육형 CPT-1B가 간형보다 malonyl-CoA에 더 예민한 것도 같은 맥락이다.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Q6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M02-W07-L03  ·  지방산 산화와 관련 대사 이상</a:t>
            </a:r>
            <a:r>
              <a:rPr sz="900" b="1" i="0">
                <a:solidFill>
                  <a:srgbClr val="003C71"/>
                </a:solidFill>
                <a:latin typeface="Malgun Gothic"/>
                <a:ea typeface="Malgun Gothic"/>
                <a:cs typeface="Malgun Gothic"/>
              </a:rPr>
              <a:t>      39</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긴 사슬 지방산 산화 결핍(CPT-II, VLCAD)은 MCAD 결핍보다 심장 소견이 두드러진다. 그 이유를 쌓이는 중간체의 성질로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결함 지점이 사슬 길이에 따라 다르므로 쌓이는 acylcarnitine의 사슬 길이도 다르다. CPT-II와 VLCAD 결핍에서는 탄소 14~18개의 긴 사슬 acylcarnitine이 쌓이는데, 이 분자들은 긴 소수성 사슬과 전하를 띤 머리를 함께 가져 계면활성 성질이 있다. 그래서 막의 안정성을 떨어뜨리고 이온 통로와 심장 전도계의 기능에 영향을 주어 심근증, 치명적 부정맥, 횡문근 분해를 일으킨다. 심장은 평시에도 에너지의 60~70%를 지방산에서 얻으므로 ATP 부족의 영향도 가장 크게 받는다. MCAD 결핍에서 쌓이는 C6~C10 중간체는 사슬이 짧아 막 교란 효과가 작고, 임상에서는 공복 시 저혈당이 주 문제가 된다.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REFERENCES   </a:t>
            </a:r>
            <a:r>
              <a:rPr sz="2400" b="1" i="0">
                <a:solidFill>
                  <a:srgbClr val="FFFFFF"/>
                </a:solidFill>
                <a:latin typeface="Malgun Gothic"/>
                <a:ea typeface="Malgun Gothic"/>
                <a:cs typeface="Malgun Gothic"/>
              </a:rPr>
              <a:t>참고문헌</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M02-W07-L03  ·  지방산 산화와 관련 대사 이상</a:t>
            </a:r>
            <a:r>
              <a:rPr sz="900" b="1" i="0">
                <a:solidFill>
                  <a:srgbClr val="003C71"/>
                </a:solidFill>
                <a:latin typeface="Malgun Gothic"/>
                <a:ea typeface="Malgun Gothic"/>
                <a:cs typeface="Malgun Gothic"/>
              </a:rPr>
              <a:t>      40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Ferrier DR (ed). Lippincott Illustrated Reviews: Biochemistry. Chapter 16, Fatty Acid, Ketone Body, and Triacylglycerol Metabolism.</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Houten SM, Wanders RJA. A general introduction to the biochemistry of mitochondrial fatty acid beta-oxidation. J Inherit Metab Dis 2010;33:469–477.</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Bartlett K, Eaton S. Mitochondrial beta-oxidation. Eur J Biochem 2004;271:462–469.</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Longo N, Frigeni M, Pasquali M. Carnitine transport and fatty acid oxidation. Biochim Biophys Acta 2016;1863:2422–2435.</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Wanders RJA, Waterham HR. Biochemistry of mammalian peroxisomes revisited. Annu Rev Biochem 2006;75:295–332.</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Grosse SD et al. The epidemiology of medium chain acyl-CoA dehydrogenase deficiency: an update. Genet Med 2006;8:205–212.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