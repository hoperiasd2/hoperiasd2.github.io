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아미노산 pool의 유입과 유출. 저장 형태가 없으므로 모든 경로가 같은 pool을 공유한다. 분해되는 아미노산의 질소는 urea가 되어 소변 질소의 80~90%를 차지한다.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Transamination은 여러 아미노산의 질소를 glutamate 하나로 모은다. ALT와 AST는 그중 임상에서 측정하는 두 효소이고, PLP가 아미노기를 중간에서 받아 넘긴다.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질소의 조직 간 운반. 말초에서는 glutamine과 alanine이 질소를 싣고, 간에서 암모니아로 풀려 urea cycle에 들어간다. 신장의 glutaminase는 산-염기 조절에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Urea cycle의 다섯 반응. 1·2번은 미토콘드리아 기질, 3·4·5번은 세포질에서 일어나고 ORNT1이 두 구획을 잇는다. 두 번째 질소는 반응 3에서 aspartate로 들어오고, 그 탄소 골격은 반응 4에서 fumarate로 빠진다.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CPS I의 조절. Glutamate는 NAG의 기질이고 arginine은 NAGS의 활성자이므로, 아미노산 부하 자체가 회로를 켜는 신호가 된다. 장기 조절은 다섯 효소의 전사 유도로 이루어진다.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Urea의 두 질소와 한 탄소의 출처, 그리고 한 바퀴의 ATP 수지. 질소 하나는 CPS I로 들어온 유리 암모니아, 다른 하나는 aspartate의 아미노기, 탄소는 HCO₃⁻에서 온다.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Transamination의 평형상수가 1에 가까워 자유롭게 가역적이기 때문이다. 아미노기가 아미노산에서 α-ketoglutarate로 옮겨지는 반응과 glutamate에서 α-keto acid로 옮겨지는 반응의 자유에너지 변화가 거의 0이므로, 방향은 기질과 생성물의 농도비로만 정해진다. 아미노산이 과잉이면 분해 방향으로, 특정 α-keto acid가 쌓이고 질소가 충분하면 합성 방향으로 흐른다. 비가역 단계가 없으므로 이 지점은 조절점이 되지 못하고, 조절은 GDH와 CPS I 같은 비가역 단계에 놓인다.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효소의 조직 분포가 다르기 때문이다. ALT는 간세포에 거의 집중되어 있지만 AST는 심근, 골격근, 신장, 적혈구에도 상당량 존재한다. 따라서 AST만 오른 상승은 간세포 손상보다 심근 손상, 횡문근 손상, 용혈, 또는 채혈 과정의 적혈구 파괴를 먼저 시사한다. 반대로 간세포가 손상되면 ALT가 더 특이적으로 올라간다. 예외는 알코올성 간질환으로, vitamin B6 부족으로 PLP가 모자라 ALT 활성이 상대적으로 낮아지고 미토콘드리아 AST가 함께 유출되어 AST/ALT 비가 2 이상이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Alanine은 질소와 탄소를 함께 운반하기 때문이다. 근육에서 glycolysis로 생긴 pyruvate에 ALT가 질소를 옮겨 alanine을 만들고, 간에서 다시 분해하면 질소는 urea로 가고 pyruvate는 gluconeogenesis의 기질이 된다. 생성된 포도당이 근육으로 돌아오므로 근육은 질소를 버리면서 탄소를 잃지 않는다. 또한 alanine 생성에는 ATP가 들지 않는데, glutamine synthetase 반응은 ATP 한 분자를 소비한다. 기아와 심한 운동에서 이 회로의 흐름이 커지는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세포 내 위치로, CPS I은 미토콘드리아 기질에 있고 CPS II는 세포질에 있다. 둘째 질소원으로, CPS I은 유리 암모니아를 쓰고 CPS II는 glutamine의 amide 질소를 쓴다. 셋째 조절로, CPS I은 N-acetylglutamate가 결합하지 않으면 활성이 없는 반면 CPS II는 NAG를 요구하지 않고 ATP와 UTP로 조절된다. CPS I은 urea cycle의 첫 반응이고 CPS II는 pyrimidine de novo 합성의 첫 반응이다. 따라서 urea cycle 결손에서 carbamoyl phosphate가 세포질로 넘치면 CPS II 하류로 흘러 요 orotic acid가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경우 모두 간이 처리해야 할 아미노산의 양이 늘어난다는 점이 공통이다. 고단백 식사에서는 식이 단백에서 들어온 아미노산이 단백질 합성에 필요한 양을 넘어 분해되고, 장기 기아에서는 체단백이 분해되어 포도당 생성의 기질로 쓰이면서 질소가 풀려난다. 두 경우 모두 처리할 질소가 많으므로 다섯 효소와 NAGS의 전사가 10~20배까지 유도된다. 반대로 저단백 식사에서는 이 효소들의 발현이 줄어들며, 그래서 오랫동안 단백을 제한한 환자에게 갑자기 단백을 많이 공급하면 처리 능력을 넘겨 암모니아가 올라갈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회로 밖에서 환원당량이 생기기 때문이다. 반응 4에서 생성된 fumarate가 fumarase와 malate dehydrogenase를 거쳐 oxaloacetate가 될 때 NADH 한 분자가 만들어지고, 산화적 인산화를 통해 약 2.5 ATP에 해당하는 에너지를 낸다. 또한 암모니아를 공급한 glutamate dehydrogenase 반응에서도 NADH가 하나 생긴다. 따라서 명목상 4 ATP 등가를 쓰지만 환원당량 회수를 고려하면 순비용은 상당히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암모니아의 pKa가 약 9.2이기 때문이다. 생리적 pH에서는 99% 이상이 이온형 NH4+로 존재하고, 막을 수동확산으로 통과하는 것은 비이온형 NH3다. pH가 올라가면 Henderson-Hasselbalch 관계에 따라 NH3 비율이 커지므로 혈액-뇌 장벽을 통과해 뇌로 들어가는 암모니아가 늘어난다. 뇌에서 암모니아는 glutamine synthetase에 의해 glutamine으로 전환되어 축적되고, 삼투압 상승과 astrocyte 부종을 일으킨다. 따라서 알칼리증은 같은 혈중 농도에서도 신경독성을 키운다. 치료에서 과호흡과 알칼리증 교정이 함께 고려되는 근거다.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아미노산 질소 처리와 urea cycle</a:t>
            </a:r>
          </a:p>
          <a:p>
            <a:r>
              <a:rPr sz="1500" b="0" i="0">
                <a:solidFill>
                  <a:srgbClr val="B9D2E8"/>
                </a:solidFill>
                <a:latin typeface="Malgun Gothic"/>
                <a:ea typeface="Malgun Gothic"/>
                <a:cs typeface="Malgun Gothic"/>
              </a:rPr>
              <a:t>Amino Acid Nitrogen Disposal and the Urea Cycle</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M02-W10-L01</a:t>
            </a:r>
          </a:p>
          <a:p>
            <a:r>
              <a:rPr sz="1100" b="0" i="0">
                <a:solidFill>
                  <a:srgbClr val="9FBEDA"/>
                </a:solidFill>
                <a:latin typeface="Malgun Gothic"/>
                <a:ea typeface="Malgun Gothic"/>
                <a:cs typeface="Malgun Gothic"/>
              </a:rPr>
              <a:t>10주 1회  ·  질소대사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아미노산 pool의 크기와 유입·유출 경로를 열거하고 nitrogen balance의 의미를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Transamination 반응의 화학과 pyridoxal phosphate의 역할을 설명하고 ALT·AST의 임상적 쓰임을 구분한다.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Glutamate dehydrogenase의 반응과 알로스테릭 조절을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Glutamine과 alanine이 조직에서 간으로 질소를 운반하는 두 경로를 비교한다.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Urea cycle의 다섯 반응을 기질·효소·세포 내 위치와 함께 순서대로 적는다.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N-acetylglutamate에 의한 CPS I 조절과 urea 합성의 에너지 비용을 계산한다.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M02-W05-L02 TCA cycle — α-ketoglutarate, oxaloacetate, fumarate의 위치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M02-W04-L03 Gluconeogenesis — pyruvate와 oxaloacetate에서 포도당이 만들어지는 경로</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아미노산의 구조 — α-amino기, 필수·비필수 아미노산의 구분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들어가며: 아미노산은 저장할 수 없다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아미노산 pool과 단백질 회전</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Transamination: α-amino기를 glutamate로 모으기</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Oxidative deamination과 glutamate dehydrogenase</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암모니아의 운반: glutamine 회로와 alanine 회로</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Urea cycle의 다섯 반응</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Urea cycle의 조절</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Urea 합성의 에너지 비용과 다른 경로와의 연결</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질소 대사 지표의 임상 해석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아미노산은 저장할 수 없다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아미노산 대사를 다룬다. 시작하기 전에 다른 두 연료와의 결정적 차이를 분명히 해 두어야 한다. </a:t>
            </a:r>
            <a:r>
              <a:rPr sz="1400" b="1" i="0">
                <a:solidFill>
                  <a:srgbClr val="11202B"/>
                </a:solidFill>
                <a:latin typeface="Malgun Gothic"/>
                <a:ea typeface="Malgun Gothic"/>
                <a:cs typeface="Malgun Gothic"/>
              </a:rPr>
              <a:t>탄수화물은 glycogen으로, 지질은 triacylglycerol로 저장되지만 아미노산에는 저장 형태가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하나의 사실에서 이 수업의 거의 모든 내용이 따라 나온다. 저장할 수 없으니 남는 아미노산은 곧 처리해야 하고, 부족하면 어딘가에서 꺼내 와야 한다. 꺼내 올 곳은 저장고가 아니라 </a:t>
            </a:r>
            <a:r>
              <a:rPr sz="1400" b="1" i="0">
                <a:solidFill>
                  <a:srgbClr val="11202B"/>
                </a:solidFill>
                <a:latin typeface="Malgun Gothic"/>
                <a:ea typeface="Malgun Gothic"/>
                <a:cs typeface="Malgun Gothic"/>
              </a:rPr>
              <a:t>이미 일하고 있는 단백질</a:t>
            </a:r>
            <a:r>
              <a:rPr sz="1400" b="0" i="0">
                <a:solidFill>
                  <a:srgbClr val="11202B"/>
                </a:solidFill>
                <a:latin typeface="Malgun Gothic"/>
                <a:ea typeface="Malgun Gothic"/>
                <a:cs typeface="Malgun Gothic"/>
              </a:rPr>
              <a:t>이다. 그래서 단식이 길어지면 근육 단백질이 분해된다. 저장고가 없다는 사실이 근육 소모의 직접적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또 하나의 차이가 질소다. 탄수화물과 지질은 탄소·수소·산소로 이루어져 있어 태우면 CO₂와 물만 남는다. 아미노산에는 </a:t>
            </a:r>
            <a:r>
              <a:rPr sz="1400" b="1" i="0">
                <a:solidFill>
                  <a:srgbClr val="11202B"/>
                </a:solidFill>
                <a:latin typeface="Malgun Gothic"/>
                <a:ea typeface="Malgun Gothic"/>
                <a:cs typeface="Malgun Gothic"/>
              </a:rPr>
              <a:t>질소가 들어 있다.</a:t>
            </a:r>
            <a:r>
              <a:rPr sz="1400" b="0" i="0">
                <a:solidFill>
                  <a:srgbClr val="11202B"/>
                </a:solidFill>
                <a:latin typeface="Malgun Gothic"/>
                <a:ea typeface="Malgun Gothic"/>
                <a:cs typeface="Malgun Gothic"/>
              </a:rPr>
              <a:t> 질소는 태워서 없앨 수 없고, 유리된 암모니아 형태로는 독성이 있다. 그래서 몸은 질소를 안전한 형태로 바꾸어 내보내야 하며, 그 일을 하는 경로가 이 수업의 절반을 차지한다.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 네 개를 먼저 정의한다.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아미노산 pool</a:t>
            </a:r>
            <a:r>
              <a:rPr sz="1400" b="0" i="0">
                <a:solidFill>
                  <a:srgbClr val="11202B"/>
                </a:solidFill>
                <a:latin typeface="Malgun Gothic"/>
                <a:ea typeface="Malgun Gothic"/>
                <a:cs typeface="Malgun Gothic"/>
              </a:rPr>
              <a:t>: 세포 안팎에 유리 상태로 있는 아미노산을 모두 합한 것이다. 저장고가 아니라 </a:t>
            </a:r>
            <a:r>
              <a:rPr sz="1400" b="1" i="0">
                <a:solidFill>
                  <a:srgbClr val="11202B"/>
                </a:solidFill>
                <a:latin typeface="Malgun Gothic"/>
                <a:ea typeface="Malgun Gothic"/>
                <a:cs typeface="Malgun Gothic"/>
              </a:rPr>
              <a:t>통과하는 흐름</a:t>
            </a:r>
            <a:r>
              <a:rPr sz="1400" b="0" i="0">
                <a:solidFill>
                  <a:srgbClr val="11202B"/>
                </a:solidFill>
                <a:latin typeface="Malgun Gothic"/>
                <a:ea typeface="Malgun Gothic"/>
                <a:cs typeface="Malgun Gothic"/>
              </a:rPr>
              <a:t>으로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회전(turnover)</a:t>
            </a:r>
            <a:r>
              <a:rPr sz="1400" b="0" i="0">
                <a:solidFill>
                  <a:srgbClr val="11202B"/>
                </a:solidFill>
                <a:latin typeface="Malgun Gothic"/>
                <a:ea typeface="Malgun Gothic"/>
                <a:cs typeface="Malgun Gothic"/>
              </a:rPr>
              <a:t>: 단백질이 분해되고 다시 합성되는 과정이다. 몸의 단백질은 끊임없이 교체되고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아미노기 전이(transamination)</a:t>
            </a:r>
            <a:r>
              <a:rPr sz="1400" b="0" i="0">
                <a:solidFill>
                  <a:srgbClr val="11202B"/>
                </a:solidFill>
                <a:latin typeface="Malgun Gothic"/>
                <a:ea typeface="Malgun Gothic"/>
                <a:cs typeface="Malgun Gothic"/>
              </a:rPr>
              <a:t>: 아미노산의 아미노기를 다른 분자에 넘기는 반응이다. 이렇게 넘기면 탄소 골격과 질소를 따로 처리할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요소 회로(urea cycle)</a:t>
            </a:r>
            <a:r>
              <a:rPr sz="1400" b="0" i="0">
                <a:solidFill>
                  <a:srgbClr val="11202B"/>
                </a:solidFill>
                <a:latin typeface="Malgun Gothic"/>
                <a:ea typeface="Malgun Gothic"/>
                <a:cs typeface="Malgun Gothic"/>
              </a:rPr>
              <a:t>: 질소를 요소로 바꾸어 소변으로 내보내는 경로다. 간에서만 완전하게 작동한다.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아미노산은 저장할 수 없다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수업을 읽는 틀도 미리 제시한다. 아미노산이 분해될 때는 늘 </a:t>
            </a:r>
            <a:r>
              <a:rPr sz="1800" b="1" i="0">
                <a:solidFill>
                  <a:srgbClr val="11202B"/>
                </a:solidFill>
                <a:latin typeface="Malgun Gothic"/>
                <a:ea typeface="Malgun Gothic"/>
                <a:cs typeface="Malgun Gothic"/>
              </a:rPr>
              <a:t>두 부분으로 나뉘어 처리된다.</a:t>
            </a:r>
            <a:r>
              <a:rPr sz="1800" b="0" i="0">
                <a:solidFill>
                  <a:srgbClr val="11202B"/>
                </a:solidFill>
                <a:latin typeface="Malgun Gothic"/>
                <a:ea typeface="Malgun Gothic"/>
                <a:cs typeface="Malgun Gothic"/>
              </a:rPr>
              <a:t> 질소 쪽은 요소가 되어 배출되고, 탄소 골격 쪽은 에너지로 쓰이거나 포도당이나 지질로 바뀐다. 어떤 아미노산이 어느 쪽으로 가는지가 뒤에서 나오는 분류의 기준이다.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절은 다음 순서로 쌓인다. 먼저 아미노산 pool과 회전의 개념을 세우고(2절), 질소를 떼어내는 반응(3절)과 그 질소를 간으로 옮기는 방법(4절)을 본다. 이어서 요소 회로와 그 조절(5·6절), 그 경로가 망가졌을 때의 소견(7절), 그리고 탄소 골격의 운명(8·9절)을 다룬다.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아미노산은 저장할 수 없다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아미노산에는 저장 형태가 없으므로 부족하면 일하는 단백질을 분해해 꺼낸다. 그리고 질소가 들어 있어 태워 없앨 수 없으므로, 질소와 탄소 골격을 나누어 처리하는 것이 아미노산 대사의 기본 구조다.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아미노산 pool과 단백질 회전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몸에는 </a:t>
            </a:r>
            <a:r>
              <a:rPr sz="1400" b="1" i="0">
                <a:solidFill>
                  <a:srgbClr val="11202B"/>
                </a:solidFill>
                <a:latin typeface="Malgun Gothic"/>
                <a:ea typeface="Malgun Gothic"/>
                <a:cs typeface="Malgun Gothic"/>
              </a:rPr>
              <a:t>탄수화물의 glycogen이나 지질의 triacylglycerol에 해당하는 아미노산 저장 형태가 없다.</a:t>
            </a:r>
            <a:r>
              <a:rPr sz="1400" b="0" i="0">
                <a:solidFill>
                  <a:srgbClr val="11202B"/>
                </a:solidFill>
                <a:latin typeface="Malgun Gothic"/>
                <a:ea typeface="Malgun Gothic"/>
                <a:cs typeface="Malgun Gothic"/>
              </a:rPr>
              <a:t> 세포 안팎의 유리 아미노산을 모두 합한 양은 성인에서 약 100 g이며, 이것을 </a:t>
            </a:r>
            <a:r>
              <a:rPr sz="1400" b="1" i="0">
                <a:solidFill>
                  <a:srgbClr val="11202B"/>
                </a:solidFill>
                <a:latin typeface="Malgun Gothic"/>
                <a:ea typeface="Malgun Gothic"/>
                <a:cs typeface="Malgun Gothic"/>
              </a:rPr>
              <a:t>아미노산 pool</a:t>
            </a:r>
            <a:r>
              <a:rPr sz="1400" b="0" i="0">
                <a:solidFill>
                  <a:srgbClr val="11202B"/>
                </a:solidFill>
                <a:latin typeface="Malgun Gothic"/>
                <a:ea typeface="Malgun Gothic"/>
                <a:cs typeface="Malgun Gothic"/>
              </a:rPr>
              <a:t>이라 부른다. 체내 단백질 총량이 약 12 kg인 것에 비하면 1% 미만이다. 이 작은 pool에 들어오고 나가는 흐름이 질소 대사의 출발점이다.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유입은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식이 단백질의 소화</a:t>
            </a:r>
            <a:r>
              <a:rPr sz="1400" b="0" i="0">
                <a:solidFill>
                  <a:srgbClr val="11202B"/>
                </a:solidFill>
                <a:latin typeface="Malgun Gothic"/>
                <a:ea typeface="Malgun Gothic"/>
                <a:cs typeface="Malgun Gothic"/>
              </a:rPr>
              <a:t> — 성인에서 하루 70~100 g. 위의 pepsin, 췌장의 trypsin·chymotrypsin·elastase·carboxypeptidase, 장 상피의 aminopeptidase가 차례로 작용해 아미노산과 짧은 peptide로 분해된 뒤 흡수된다.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체내 단백질의 분해</a:t>
            </a:r>
            <a:r>
              <a:rPr sz="1400" b="0" i="0">
                <a:solidFill>
                  <a:srgbClr val="11202B"/>
                </a:solidFill>
                <a:latin typeface="Malgun Gothic"/>
                <a:ea typeface="Malgun Gothic"/>
                <a:cs typeface="Malgun Gothic"/>
              </a:rPr>
              <a:t> — 하루 300~400 g. 유입량 중 가장 크다. ubiquitin-proteasome 체계가 ATP를 쓰면서 선택적으로 분해하고, lysosome이 비선택적으로 분해한다.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비필수 아미노산의 de novo 합성</a:t>
            </a:r>
            <a:r>
              <a:rPr sz="1400" b="0" i="0">
                <a:solidFill>
                  <a:srgbClr val="11202B"/>
                </a:solidFill>
                <a:latin typeface="Malgun Gothic"/>
                <a:ea typeface="Malgun Gothic"/>
                <a:cs typeface="Malgun Gothic"/>
              </a:rPr>
              <a:t> — 11가지 비필수 아미노산만 해당한다. 9가지 필수 아미노산(histidine, isoleucine, leucine, lysine, methionine, phenylalanine, threonine, tryptophan, valine)은 탄소 골격을 만들 수 없으므로 반드시 식사로 들어와야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유출도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합성</a:t>
            </a:r>
            <a:r>
              <a:rPr sz="1400" b="0" i="0">
                <a:solidFill>
                  <a:srgbClr val="11202B"/>
                </a:solidFill>
                <a:latin typeface="Malgun Gothic"/>
                <a:ea typeface="Malgun Gothic"/>
                <a:cs typeface="Malgun Gothic"/>
              </a:rPr>
              <a:t> — 하루 300~400 g. 분해량과 거의 같다. 이 둘의 합을 </a:t>
            </a:r>
            <a:r>
              <a:rPr sz="1400" b="1" i="0">
                <a:solidFill>
                  <a:srgbClr val="11202B"/>
                </a:solidFill>
                <a:latin typeface="Malgun Gothic"/>
                <a:ea typeface="Malgun Gothic"/>
                <a:cs typeface="Malgun Gothic"/>
              </a:rPr>
              <a:t>단백질 회전(protein turnover)</a:t>
            </a:r>
            <a:r>
              <a:rPr sz="1400" b="0" i="0">
                <a:solidFill>
                  <a:srgbClr val="11202B"/>
                </a:solidFill>
                <a:latin typeface="Malgun Gothic"/>
                <a:ea typeface="Malgun Gothic"/>
                <a:cs typeface="Malgun Gothic"/>
              </a:rPr>
              <a:t>이라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질소 함유 화합물의 합성</a:t>
            </a:r>
            <a:r>
              <a:rPr sz="1400" b="0" i="0">
                <a:solidFill>
                  <a:srgbClr val="11202B"/>
                </a:solidFill>
                <a:latin typeface="Malgun Gothic"/>
                <a:ea typeface="Malgun Gothic"/>
                <a:cs typeface="Malgun Gothic"/>
              </a:rPr>
              <a:t> — heme, purine과 pyrimidine, creatine, catecholamine, serotonin, glutathione, nitric oxide가 모두 아미노산에서 나온다.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아미노산 pool과 단백질 회전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분해</a:t>
            </a:r>
            <a:r>
              <a:rPr sz="2000" b="0" i="0">
                <a:solidFill>
                  <a:srgbClr val="11202B"/>
                </a:solidFill>
                <a:latin typeface="Malgun Gothic"/>
                <a:ea typeface="Malgun Gothic"/>
                <a:cs typeface="Malgun Gothic"/>
              </a:rPr>
              <a:t> — 이것이 이 수업의 주제다. 아미노산을 분해할 때는 </a:t>
            </a:r>
            <a:r>
              <a:rPr sz="2000" b="1" i="0">
                <a:solidFill>
                  <a:srgbClr val="11202B"/>
                </a:solidFill>
                <a:latin typeface="Malgun Gothic"/>
                <a:ea typeface="Malgun Gothic"/>
                <a:cs typeface="Malgun Gothic"/>
              </a:rPr>
              <a:t>먼저 α-amino기를 떼어내고</a:t>
            </a:r>
            <a:r>
              <a:rPr sz="2000" b="0" i="0">
                <a:solidFill>
                  <a:srgbClr val="11202B"/>
                </a:solidFill>
                <a:latin typeface="Malgun Gothic"/>
                <a:ea typeface="Malgun Gothic"/>
                <a:cs typeface="Malgun Gothic"/>
              </a:rPr>
              <a:t>, 남은 탄소 골격을 따로 처리한다. 질소는 urea로 바꾸어 소변으로 버리고, 탄소는 포도당·ketone체·CO₂로 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아미노산 pool과 단백질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10</a:t>
            </a:r>
          </a:p>
        </p:txBody>
      </p:sp>
      <p:pic>
        <p:nvPicPr>
          <p:cNvPr id="7" name="Picture 6" descr="fig-aa-pool.slide.png"/>
          <p:cNvPicPr>
            <a:picLocks noChangeAspect="1"/>
          </p:cNvPicPr>
          <p:nvPr/>
        </p:nvPicPr>
        <p:blipFill>
          <a:blip r:embed="rId2"/>
          <a:stretch>
            <a:fillRect/>
          </a:stretch>
        </p:blipFill>
        <p:spPr>
          <a:xfrm>
            <a:off x="1955692" y="1325880"/>
            <a:ext cx="8280311"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아미노산 pool의 유입과 유출. 저장 형태가 없으므로 모든 경로가 같은 pool을 공유한다. 분해되는 아미노산의 질소는 urea가 되어 소변 질소의 80~90%를 차지한다.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아미노산 pool과 단백질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Nitrogen balance</a:t>
            </a:r>
            <a:r>
              <a:rPr sz="1600" b="0" i="0">
                <a:solidFill>
                  <a:srgbClr val="11202B"/>
                </a:solidFill>
                <a:latin typeface="Malgun Gothic"/>
                <a:ea typeface="Malgun Gothic"/>
                <a:cs typeface="Malgun Gothic"/>
              </a:rPr>
              <a:t>는 섭취 질소와 배출 질소의 차이다. 건강한 성인은 균형 상태(zero balance)에 있다. 성장기, 임신, 질병 회복기에는 섭취가 많아 </a:t>
            </a:r>
            <a:r>
              <a:rPr sz="1600" b="1" i="0">
                <a:solidFill>
                  <a:srgbClr val="11202B"/>
                </a:solidFill>
                <a:latin typeface="Malgun Gothic"/>
                <a:ea typeface="Malgun Gothic"/>
                <a:cs typeface="Malgun Gothic"/>
              </a:rPr>
              <a:t>양의 균형</a:t>
            </a:r>
            <a:r>
              <a:rPr sz="1600" b="0" i="0">
                <a:solidFill>
                  <a:srgbClr val="11202B"/>
                </a:solidFill>
                <a:latin typeface="Malgun Gothic"/>
                <a:ea typeface="Malgun Gothic"/>
                <a:cs typeface="Malgun Gothic"/>
              </a:rPr>
              <a:t>이고, 기아, 중증 감염, 외상, 수술 후, 조절되지 않는 당뇨병에서는 체단백이 분해되어 </a:t>
            </a:r>
            <a:r>
              <a:rPr sz="1600" b="1" i="0">
                <a:solidFill>
                  <a:srgbClr val="11202B"/>
                </a:solidFill>
                <a:latin typeface="Malgun Gothic"/>
                <a:ea typeface="Malgun Gothic"/>
                <a:cs typeface="Malgun Gothic"/>
              </a:rPr>
              <a:t>음의 균형</a:t>
            </a:r>
            <a:r>
              <a:rPr sz="1600" b="0" i="0">
                <a:solidFill>
                  <a:srgbClr val="11202B"/>
                </a:solidFill>
                <a:latin typeface="Malgun Gothic"/>
                <a:ea typeface="Malgun Gothic"/>
                <a:cs typeface="Malgun Gothic"/>
              </a:rPr>
              <a:t>이 된다. 음의 균형이 지속되면 호흡근과 면역 기능이 먼저 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질소 배출의 형태는 생물마다 다르다. 어류는 암모니아를 그대로 물에 버리고(ammonotelic), 새와 파충류는 uric acid로 버리며(uricotelic), 포유류는 </a:t>
            </a:r>
            <a:r>
              <a:rPr sz="1600" b="1" i="0">
                <a:solidFill>
                  <a:srgbClr val="11202B"/>
                </a:solidFill>
                <a:latin typeface="Malgun Gothic"/>
                <a:ea typeface="Malgun Gothic"/>
                <a:cs typeface="Malgun Gothic"/>
              </a:rPr>
              <a:t>urea</a:t>
            </a:r>
            <a:r>
              <a:rPr sz="1600" b="0" i="0">
                <a:solidFill>
                  <a:srgbClr val="11202B"/>
                </a:solidFill>
                <a:latin typeface="Malgun Gothic"/>
                <a:ea typeface="Malgun Gothic"/>
                <a:cs typeface="Malgun Gothic"/>
              </a:rPr>
              <a:t>로 버린다(ureotelic). 사람의 소변 질소 중 urea가 80~90%를 차지하고, 나머지는 ammonium, creatinine, uric acid다. 하루 urea 질소 배출량은 식이 단백 섭취에 비례해 10~20 g 범위에서 움직인다.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아미노산 pool과 단백질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아미노산은 저장되지 않으므로 남는 양은 반드시 분해된다. 분해는 질소 처리와 탄소 처리로 갈라지며, 이 수업은 질소 쪽을, 다음 수업과 W10-L03은 질환과 탄소 쪽을 다룬다.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Transamination: α-amino기를 glutamate로 모으기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아미노산 분해의 첫 단계는 α-amino기를 α-ketoglutarate로 옮기는 것이다. 이 반응을 </a:t>
            </a:r>
            <a:r>
              <a:rPr sz="1400" b="1" i="0">
                <a:solidFill>
                  <a:srgbClr val="11202B"/>
                </a:solidFill>
                <a:latin typeface="Malgun Gothic"/>
                <a:ea typeface="Malgun Gothic"/>
                <a:cs typeface="Malgun Gothic"/>
              </a:rPr>
              <a:t>transamination</a:t>
            </a:r>
            <a:r>
              <a:rPr sz="1400" b="0" i="0">
                <a:solidFill>
                  <a:srgbClr val="11202B"/>
                </a:solidFill>
                <a:latin typeface="Malgun Gothic"/>
                <a:ea typeface="Malgun Gothic"/>
                <a:cs typeface="Malgun Gothic"/>
              </a:rPr>
              <a:t>(aminotransferase 반응)이라 하며, 결과로 원래 아미노산은 그에 대응하는 </a:t>
            </a:r>
            <a:r>
              <a:rPr sz="1400" b="1" i="0">
                <a:solidFill>
                  <a:srgbClr val="11202B"/>
                </a:solidFill>
                <a:latin typeface="Malgun Gothic"/>
                <a:ea typeface="Malgun Gothic"/>
                <a:cs typeface="Malgun Gothic"/>
              </a:rPr>
              <a:t>α-keto acid</a:t>
            </a:r>
            <a:r>
              <a:rPr sz="1400" b="0" i="0">
                <a:solidFill>
                  <a:srgbClr val="11202B"/>
                </a:solidFill>
                <a:latin typeface="Malgun Gothic"/>
                <a:ea typeface="Malgun Gothic"/>
                <a:cs typeface="Malgun Gothic"/>
              </a:rPr>
              <a:t>가 되고 α-ketoglutarate는 </a:t>
            </a:r>
            <a:r>
              <a:rPr sz="1400" b="1" i="0">
                <a:solidFill>
                  <a:srgbClr val="11202B"/>
                </a:solidFill>
                <a:latin typeface="Malgun Gothic"/>
                <a:ea typeface="Malgun Gothic"/>
                <a:cs typeface="Malgun Gothic"/>
              </a:rPr>
              <a:t>glutamate</a:t>
            </a:r>
            <a:r>
              <a:rPr sz="1400" b="0" i="0">
                <a:solidFill>
                  <a:srgbClr val="11202B"/>
                </a:solidFill>
                <a:latin typeface="Malgun Gothic"/>
                <a:ea typeface="Malgun Gothic"/>
                <a:cs typeface="Malgun Gothic"/>
              </a:rPr>
              <a:t>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아미노산 + α-ketoglutarate ⇌ α-keto acid + glutamate `</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반응의 성질에서 세 가지를 기억한다.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자유롭게 가역적이다.</a:t>
            </a:r>
            <a:r>
              <a:rPr sz="1400" b="0" i="0">
                <a:solidFill>
                  <a:srgbClr val="11202B"/>
                </a:solidFill>
                <a:latin typeface="Malgun Gothic"/>
                <a:ea typeface="Malgun Gothic"/>
                <a:cs typeface="Malgun Gothic"/>
              </a:rPr>
              <a:t> 평형상수가 1에 가까워 양방향 모두 진행한다. 따라서 같은 효소가 아미노산 </a:t>
            </a:r>
            <a:r>
              <a:rPr sz="1400" b="1" i="0">
                <a:solidFill>
                  <a:srgbClr val="11202B"/>
                </a:solidFill>
                <a:latin typeface="Malgun Gothic"/>
                <a:ea typeface="Malgun Gothic"/>
                <a:cs typeface="Malgun Gothic"/>
              </a:rPr>
              <a:t>분해</a:t>
            </a:r>
            <a:r>
              <a:rPr sz="1400" b="0" i="0">
                <a:solidFill>
                  <a:srgbClr val="11202B"/>
                </a:solidFill>
                <a:latin typeface="Malgun Gothic"/>
                <a:ea typeface="Malgun Gothic"/>
                <a:cs typeface="Malgun Gothic"/>
              </a:rPr>
              <a:t>에도, 비필수 아미노산 </a:t>
            </a:r>
            <a:r>
              <a:rPr sz="1400" b="1" i="0">
                <a:solidFill>
                  <a:srgbClr val="11202B"/>
                </a:solidFill>
                <a:latin typeface="Malgun Gothic"/>
                <a:ea typeface="Malgun Gothic"/>
                <a:cs typeface="Malgun Gothic"/>
              </a:rPr>
              <a:t>합성</a:t>
            </a:r>
            <a:r>
              <a:rPr sz="1400" b="0" i="0">
                <a:solidFill>
                  <a:srgbClr val="11202B"/>
                </a:solidFill>
                <a:latin typeface="Malgun Gothic"/>
                <a:ea typeface="Malgun Gothic"/>
                <a:cs typeface="Malgun Gothic"/>
              </a:rPr>
              <a:t>에도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아미노기가 유리 암모니아로 풀려나지 않는다.</a:t>
            </a:r>
            <a:r>
              <a:rPr sz="1400" b="0" i="0">
                <a:solidFill>
                  <a:srgbClr val="11202B"/>
                </a:solidFill>
                <a:latin typeface="Malgun Gothic"/>
                <a:ea typeface="Malgun Gothic"/>
                <a:cs typeface="Malgun Gothic"/>
              </a:rPr>
              <a:t> 아미노기는 효소에 결합한 상태로 직접 수용체에 전달된다. 독성이 있는 유리 NH₃를 만들지 않으면서 질소를 모으는 방식이다.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거의 모든 아미노산이 참여한다.</a:t>
            </a:r>
            <a:r>
              <a:rPr sz="1400" b="0" i="0">
                <a:solidFill>
                  <a:srgbClr val="11202B"/>
                </a:solidFill>
                <a:latin typeface="Malgun Gothic"/>
                <a:ea typeface="Malgun Gothic"/>
                <a:cs typeface="Malgun Gothic"/>
              </a:rPr>
              <a:t> 예외는 </a:t>
            </a:r>
            <a:r>
              <a:rPr sz="1400" b="1" i="0">
                <a:solidFill>
                  <a:srgbClr val="11202B"/>
                </a:solidFill>
                <a:latin typeface="Malgun Gothic"/>
                <a:ea typeface="Malgun Gothic"/>
                <a:cs typeface="Malgun Gothic"/>
              </a:rPr>
              <a:t>lysine과 threonine</a:t>
            </a:r>
            <a:r>
              <a:rPr sz="1400" b="0" i="0">
                <a:solidFill>
                  <a:srgbClr val="11202B"/>
                </a:solidFill>
                <a:latin typeface="Malgun Gothic"/>
                <a:ea typeface="Malgun Gothic"/>
                <a:cs typeface="Malgun Gothic"/>
              </a:rPr>
              <a:t>으로, 이 둘은 transamination을 거치지 않고 다른 경로로 질소를 떼어낸다.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보조인자는 pyridoxal phosphate(PLP)</a:t>
            </a:r>
            <a:r>
              <a:rPr sz="1400" b="0" i="0">
                <a:solidFill>
                  <a:srgbClr val="11202B"/>
                </a:solidFill>
                <a:latin typeface="Malgun Gothic"/>
                <a:ea typeface="Malgun Gothic"/>
                <a:cs typeface="Malgun Gothic"/>
              </a:rPr>
              <a:t>다. Vitamin B₆(pyridoxine)의 활성형으로, 효소의 lysine 잔기와 Schiff 염기를 이루어 결합해 있다. 반응 중 PLP는 아미노기를 받아 </a:t>
            </a:r>
            <a:r>
              <a:rPr sz="1400" b="1" i="0">
                <a:solidFill>
                  <a:srgbClr val="11202B"/>
                </a:solidFill>
                <a:latin typeface="Malgun Gothic"/>
                <a:ea typeface="Malgun Gothic"/>
                <a:cs typeface="Malgun Gothic"/>
              </a:rPr>
              <a:t>pyridoxamine phosphate</a:t>
            </a:r>
            <a:r>
              <a:rPr sz="1400" b="0" i="0">
                <a:solidFill>
                  <a:srgbClr val="11202B"/>
                </a:solidFill>
                <a:latin typeface="Malgun Gothic"/>
                <a:ea typeface="Malgun Gothic"/>
                <a:cs typeface="Malgun Gothic"/>
              </a:rPr>
              <a:t>가 되고, 그 아미노기를 α-ketoglutarate에 넘기면서 다시 PLP로 돌아간다. 즉 PLP는 아미노기의 중간 운반체다. PLP는 transamination 외에 decarboxylation, deamination, racemization에도 쓰여 아미노산 대사의 거의 모든 분기점에 등장한다.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임상에서 가장 많이 측정되는 두 aminotransferase는 다음과 같다.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Transamination: α-amino기를 glutamate로 모으기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참고 범위(대략)</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ALT</a:t>
                      </a:r>
                      <a:r>
                        <a:rPr sz="1200" b="0" i="0">
                          <a:solidFill>
                            <a:srgbClr val="11202B"/>
                          </a:solidFill>
                          <a:latin typeface="Malgun Gothic"/>
                          <a:ea typeface="Malgun Gothic"/>
                          <a:cs typeface="Malgun Gothic"/>
                        </a:rPr>
                        <a:t>(alanine aminotransferase)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alanine + α-ketoglutarate ⇌ pyruvate + glutamate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간에 거의 집중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10~40 U/L</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AST</a:t>
                      </a:r>
                      <a:r>
                        <a:rPr sz="1200" b="0" i="0">
                          <a:solidFill>
                            <a:srgbClr val="11202B"/>
                          </a:solidFill>
                          <a:latin typeface="Malgun Gothic"/>
                          <a:ea typeface="Malgun Gothic"/>
                          <a:cs typeface="Malgun Gothic"/>
                        </a:rPr>
                        <a:t>(aspartate aminotransferase)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aspartate + α-ketoglutarate ⇌ oxaloacetate + glutamate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 심근, 골격근, 신장, 적혈구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10~40 U/L</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Transamination: α-amino기를 glutamate로 모으기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효소는 모두 세포 안에 있으므로 혈중 농도가 올라간 것은 </a:t>
            </a:r>
            <a:r>
              <a:rPr sz="1800" b="1" i="0">
                <a:solidFill>
                  <a:srgbClr val="11202B"/>
                </a:solidFill>
                <a:latin typeface="Malgun Gothic"/>
                <a:ea typeface="Malgun Gothic"/>
                <a:cs typeface="Malgun Gothic"/>
              </a:rPr>
              <a:t>세포가 깨졌다는 뜻</a:t>
            </a:r>
            <a:r>
              <a:rPr sz="1800" b="0" i="0">
                <a:solidFill>
                  <a:srgbClr val="11202B"/>
                </a:solidFill>
                <a:latin typeface="Malgun Gothic"/>
                <a:ea typeface="Malgun Gothic"/>
                <a:cs typeface="Malgun Gothic"/>
              </a:rPr>
              <a:t>이다. ALT가 간에 더 특이적이므로 간세포 손상의 지표로 쓰이고, AST만 오르면 심근·근육·적혈구 쪽을 먼저 생각한다. </a:t>
            </a:r>
            <a:r>
              <a:rPr sz="1800" b="1" i="0">
                <a:solidFill>
                  <a:srgbClr val="11202B"/>
                </a:solidFill>
                <a:latin typeface="Malgun Gothic"/>
                <a:ea typeface="Malgun Gothic"/>
                <a:cs typeface="Malgun Gothic"/>
              </a:rPr>
              <a:t>AST/ALT 비가 2 이상</a:t>
            </a:r>
            <a:r>
              <a:rPr sz="1800" b="0" i="0">
                <a:solidFill>
                  <a:srgbClr val="11202B"/>
                </a:solidFill>
                <a:latin typeface="Malgun Gothic"/>
                <a:ea typeface="Malgun Gothic"/>
                <a:cs typeface="Malgun Gothic"/>
              </a:rPr>
              <a:t>이면 알코올성 간질환을 시사한다. 이것은 알코올 사용에서 흔한 vitamin B₆ 부족이 PLP를 요구하는 ALT 활성을 더 많이 떨어뜨리고, 미토콘드리아 AST가 함께 유출되기 때문이다. </a:t>
            </a:r>
            <a:r>
              <a:rPr sz="1800" b="1" i="0">
                <a:solidFill>
                  <a:srgbClr val="11202B"/>
                </a:solidFill>
                <a:latin typeface="Malgun Gothic"/>
                <a:ea typeface="Malgun Gothic"/>
                <a:cs typeface="Malgun Gothic"/>
              </a:rPr>
              <a:t>즉 비율 해석의 근거가 보조인자의 생화학에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Transamination: α-amino기를 glutamate로 모으기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16</a:t>
            </a:r>
          </a:p>
        </p:txBody>
      </p:sp>
      <p:pic>
        <p:nvPicPr>
          <p:cNvPr id="7" name="Picture 6" descr="fig-transamination.slide.png"/>
          <p:cNvPicPr>
            <a:picLocks noChangeAspect="1"/>
          </p:cNvPicPr>
          <p:nvPr/>
        </p:nvPicPr>
        <p:blipFill>
          <a:blip r:embed="rId2"/>
          <a:stretch>
            <a:fillRect/>
          </a:stretch>
        </p:blipFill>
        <p:spPr>
          <a:xfrm>
            <a:off x="1643154" y="1325880"/>
            <a:ext cx="890538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Transamination은 여러 아미노산의 질소를 glutamate 하나로 모은다. ALT와 AST는 그중 임상에서 측정하는 두 효소이고, PLP가 아미노기를 중간에서 받아 넘긴다.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Oxidative deamination과 glutamate dehydrogenase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Transamination으로 질소가 glutamate에 모였다. 다음 단계는 glutamate에서 질소를 </a:t>
            </a:r>
            <a:r>
              <a:rPr sz="1400" b="1" i="0">
                <a:solidFill>
                  <a:srgbClr val="11202B"/>
                </a:solidFill>
                <a:latin typeface="Malgun Gothic"/>
                <a:ea typeface="Malgun Gothic"/>
                <a:cs typeface="Malgun Gothic"/>
              </a:rPr>
              <a:t>유리 암모니아로</a:t>
            </a:r>
            <a:r>
              <a:rPr sz="1400" b="0" i="0">
                <a:solidFill>
                  <a:srgbClr val="11202B"/>
                </a:solidFill>
                <a:latin typeface="Malgun Gothic"/>
                <a:ea typeface="Malgun Gothic"/>
                <a:cs typeface="Malgun Gothic"/>
              </a:rPr>
              <a:t> 떼어내는 것이다. 이 반응이 </a:t>
            </a:r>
            <a:r>
              <a:rPr sz="1400" b="1" i="0">
                <a:solidFill>
                  <a:srgbClr val="11202B"/>
                </a:solidFill>
                <a:latin typeface="Malgun Gothic"/>
                <a:ea typeface="Malgun Gothic"/>
                <a:cs typeface="Malgun Gothic"/>
              </a:rPr>
              <a:t>oxidative deamination</a:t>
            </a:r>
            <a:r>
              <a:rPr sz="1400" b="0" i="0">
                <a:solidFill>
                  <a:srgbClr val="11202B"/>
                </a:solidFill>
                <a:latin typeface="Malgun Gothic"/>
                <a:ea typeface="Malgun Gothic"/>
                <a:cs typeface="Malgun Gothic"/>
              </a:rPr>
              <a:t>이고, 효소는 간과 신장 미토콘드리아 기질에 있는 </a:t>
            </a:r>
            <a:r>
              <a:rPr sz="1400" b="1" i="0">
                <a:solidFill>
                  <a:srgbClr val="11202B"/>
                </a:solidFill>
                <a:latin typeface="Malgun Gothic"/>
                <a:ea typeface="Malgun Gothic"/>
                <a:cs typeface="Malgun Gothic"/>
              </a:rPr>
              <a:t>glutamate dehydrogenase(GDH)</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glutamate + NAD⁺(또는 NADP⁺) + H₂O ⇌ α-ketoglutarate + NH₃ + NAD(P)H + H⁺ `</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GDH에는 다른 탈수소효소에 없는 특징이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NAD⁺와 NADP⁺를 모두 쓸 수 있다.</a:t>
            </a:r>
            <a:r>
              <a:rPr sz="1400" b="0" i="0">
                <a:solidFill>
                  <a:srgbClr val="11202B"/>
                </a:solidFill>
                <a:latin typeface="Malgun Gothic"/>
                <a:ea typeface="Malgun Gothic"/>
                <a:cs typeface="Malgun Gothic"/>
              </a:rPr>
              <a:t> 정방향(deamination)에서는 주로 NAD⁺를, 역방향(암모니아 고정)에서는 주로 NADPH를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가역적이다.</a:t>
            </a:r>
            <a:r>
              <a:rPr sz="1400" b="0" i="0">
                <a:solidFill>
                  <a:srgbClr val="11202B"/>
                </a:solidFill>
                <a:latin typeface="Malgun Gothic"/>
                <a:ea typeface="Malgun Gothic"/>
                <a:cs typeface="Malgun Gothic"/>
              </a:rPr>
              <a:t> 암모니아 농도가 높고 α-ketoglutarate가 충분하면 역방향으로 작동해 암모니아를 glutamate에 고정한다.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알로스테릭 조절을 받는다.</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GTP가 억제</a:t>
            </a:r>
            <a:r>
              <a:rPr sz="1400" b="0" i="0">
                <a:solidFill>
                  <a:srgbClr val="11202B"/>
                </a:solidFill>
                <a:latin typeface="Malgun Gothic"/>
                <a:ea typeface="Malgun Gothic"/>
                <a:cs typeface="Malgun Gothic"/>
              </a:rPr>
              <a:t>하고 </a:t>
            </a:r>
            <a:r>
              <a:rPr sz="1400" b="1" i="0">
                <a:solidFill>
                  <a:srgbClr val="11202B"/>
                </a:solidFill>
                <a:latin typeface="Malgun Gothic"/>
                <a:ea typeface="Malgun Gothic"/>
                <a:cs typeface="Malgun Gothic"/>
              </a:rPr>
              <a:t>ADP가 활성화</a:t>
            </a:r>
            <a:r>
              <a:rPr sz="1400" b="0" i="0">
                <a:solidFill>
                  <a:srgbClr val="11202B"/>
                </a:solidFill>
                <a:latin typeface="Malgun Gothic"/>
                <a:ea typeface="Malgun Gothic"/>
                <a:cs typeface="Malgun Gothic"/>
              </a:rPr>
              <a:t>한다. GTP는 TCA cycle의 succinyl-CoA synthetase 반응에서 만들어지므로 에너지가 충분하다는 신호이고, ADP는 에너지가 부족하다는 신호다. 즉 </a:t>
            </a:r>
            <a:r>
              <a:rPr sz="1400" b="1" i="0">
                <a:solidFill>
                  <a:srgbClr val="11202B"/>
                </a:solidFill>
                <a:latin typeface="Malgun Gothic"/>
                <a:ea typeface="Malgun Gothic"/>
                <a:cs typeface="Malgun Gothic"/>
              </a:rPr>
              <a:t>에너지가 모자랄 때 아미노산 탄소 골격을 연료로 쓰도록 조절된다.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GDH 반응은 두 방향으로 읽어야 한다. 정방향에서는 </a:t>
            </a:r>
            <a:r>
              <a:rPr sz="1400" b="1" i="0">
                <a:solidFill>
                  <a:srgbClr val="11202B"/>
                </a:solidFill>
                <a:latin typeface="Malgun Gothic"/>
                <a:ea typeface="Malgun Gothic"/>
                <a:cs typeface="Malgun Gothic"/>
              </a:rPr>
              <a:t>urea cycle에 들어갈 암모니아를 공급</a:t>
            </a:r>
            <a:r>
              <a:rPr sz="1400" b="0" i="0">
                <a:solidFill>
                  <a:srgbClr val="11202B"/>
                </a:solidFill>
                <a:latin typeface="Malgun Gothic"/>
                <a:ea typeface="Malgun Gothic"/>
                <a:cs typeface="Malgun Gothic"/>
              </a:rPr>
              <a:t>하고 동시에 </a:t>
            </a:r>
            <a:r>
              <a:rPr sz="1400" b="1" i="0">
                <a:solidFill>
                  <a:srgbClr val="11202B"/>
                </a:solidFill>
                <a:latin typeface="Malgun Gothic"/>
                <a:ea typeface="Malgun Gothic"/>
                <a:cs typeface="Malgun Gothic"/>
              </a:rPr>
              <a:t>α-ketoglutarate를 TCA cycle이나 gluconeogenesis로 보낸다.</a:t>
            </a:r>
            <a:r>
              <a:rPr sz="1400" b="0" i="0">
                <a:solidFill>
                  <a:srgbClr val="11202B"/>
                </a:solidFill>
                <a:latin typeface="Malgun Gothic"/>
                <a:ea typeface="Malgun Gothic"/>
                <a:cs typeface="Malgun Gothic"/>
              </a:rPr>
              <a:t> 역방향에서는 비필수 아미노산 합성의 질소 공급원이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유리 암모니아를 만드는 경로가 GDH만은 아니다. 다른 공급원도 알아둔다.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Glutaminase</a:t>
            </a:r>
            <a:r>
              <a:rPr sz="1400" b="0" i="0">
                <a:solidFill>
                  <a:srgbClr val="11202B"/>
                </a:solidFill>
                <a:latin typeface="Malgun Gothic"/>
                <a:ea typeface="Malgun Gothic"/>
                <a:cs typeface="Malgun Gothic"/>
              </a:rPr>
              <a:t> — 간과 신장에서 glutamine의 amide 질소를 떼어 glutamate와 NH₃를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장내 세균의 urease</a:t>
            </a:r>
            <a:r>
              <a:rPr sz="1400" b="0" i="0">
                <a:solidFill>
                  <a:srgbClr val="11202B"/>
                </a:solidFill>
                <a:latin typeface="Malgun Gothic"/>
                <a:ea typeface="Malgun Gothic"/>
                <a:cs typeface="Malgun Gothic"/>
              </a:rPr>
              <a:t> — 장으로 확산된 urea를 분해해 NH₃를 만들고, 이것이 문맥으로 흡수된다.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Oxidative deamination과 glutamate dehydrogenase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D-amino acid oxidase, L-amino acid oxidase</a:t>
            </a:r>
            <a:r>
              <a:rPr sz="2000" b="0" i="0">
                <a:solidFill>
                  <a:srgbClr val="11202B"/>
                </a:solidFill>
                <a:latin typeface="Malgun Gothic"/>
                <a:ea typeface="Malgun Gothic"/>
                <a:cs typeface="Malgun Gothic"/>
              </a:rPr>
              <a:t> — 간·신장에서 일부 아미노산을 직접 산화한다.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Amine oxidase</a:t>
            </a:r>
            <a:r>
              <a:rPr sz="2000" b="0" i="0">
                <a:solidFill>
                  <a:srgbClr val="11202B"/>
                </a:solidFill>
                <a:latin typeface="Malgun Gothic"/>
                <a:ea typeface="Malgun Gothic"/>
                <a:cs typeface="Malgun Gothic"/>
              </a:rPr>
              <a:t> — 아민류를 분해할 때 암모니아를 낸다.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Purine과 pyrimidine의 분해</a:t>
            </a:r>
            <a:r>
              <a:rPr sz="2000" b="0" i="0">
                <a:solidFill>
                  <a:srgbClr val="11202B"/>
                </a:solidFill>
                <a:latin typeface="Malgun Gothic"/>
                <a:ea typeface="Malgun Gothic"/>
                <a:cs typeface="Malgun Gothic"/>
              </a:rPr>
              <a:t> — 염기의 질소 일부가 암모니아로 나온다.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Oxidative deamination과 glutamate dehydrogenase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정상 혈장 암모니아는 성인에서 대략 11~32 μmol/L로 매우 낮게 유지된다. 암모니아는 pKa가 약 9.2여서 생리적 pH에서 99% 이상이 이온형 NH₄⁺로 존재하는데, 막을 통과하는 것은 비이온형 NH₃다. 따라서 </a:t>
            </a:r>
            <a:r>
              <a:rPr sz="1600" b="1" i="0">
                <a:solidFill>
                  <a:srgbClr val="11202B"/>
                </a:solidFill>
                <a:latin typeface="Malgun Gothic"/>
                <a:ea typeface="Malgun Gothic"/>
                <a:cs typeface="Malgun Gothic"/>
              </a:rPr>
              <a:t>pH가 올라가면 NH₃ 비율이 늘어 조직으로 더 잘 들어간다.</a:t>
            </a:r>
            <a:r>
              <a:rPr sz="1600" b="0" i="0">
                <a:solidFill>
                  <a:srgbClr val="11202B"/>
                </a:solidFill>
                <a:latin typeface="Malgun Gothic"/>
                <a:ea typeface="Malgun Gothic"/>
                <a:cs typeface="Malgun Gothic"/>
              </a:rPr>
              <a:t> 고암모니아혈증 환자에서 과호흡으로 알칼리증이 생기면 신경독성이 악화되는 이유가 여기에 있다. 반대로 신장에서는 세관 내강이 산성이어서 확산된 NH₃가 NH₄⁺로 붙잡히고(ion trapping) 그대로 배출된다.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암모니아의 운반: glutamine 회로와 alanine 회로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암모니아는 거의 모든 조직에서 생기지만 urea로 바꿀 수 있는 곳은 </a:t>
            </a:r>
            <a:r>
              <a:rPr sz="1400" b="1" i="0">
                <a:solidFill>
                  <a:srgbClr val="11202B"/>
                </a:solidFill>
                <a:latin typeface="Malgun Gothic"/>
                <a:ea typeface="Malgun Gothic"/>
                <a:cs typeface="Malgun Gothic"/>
              </a:rPr>
              <a:t>간뿐이다.</a:t>
            </a:r>
            <a:r>
              <a:rPr sz="1400" b="0" i="0">
                <a:solidFill>
                  <a:srgbClr val="11202B"/>
                </a:solidFill>
                <a:latin typeface="Malgun Gothic"/>
                <a:ea typeface="Malgun Gothic"/>
                <a:cs typeface="Malgun Gothic"/>
              </a:rPr>
              <a:t> 그러므로 말초에서 간까지 질소를 옮겨야 하는데, 유리 암모니아를 혈액에 띄워 보낼 수는 없다. 몸은 질소를 </a:t>
            </a:r>
            <a:r>
              <a:rPr sz="1400" b="1" i="0">
                <a:solidFill>
                  <a:srgbClr val="11202B"/>
                </a:solidFill>
                <a:latin typeface="Malgun Gothic"/>
                <a:ea typeface="Malgun Gothic"/>
                <a:cs typeface="Malgun Gothic"/>
              </a:rPr>
              <a:t>아미노산에 실어</a:t>
            </a:r>
            <a:r>
              <a:rPr sz="1400" b="0" i="0">
                <a:solidFill>
                  <a:srgbClr val="11202B"/>
                </a:solidFill>
                <a:latin typeface="Malgun Gothic"/>
                <a:ea typeface="Malgun Gothic"/>
                <a:cs typeface="Malgun Gothic"/>
              </a:rPr>
              <a:t> 운반한다. 경로는 두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Glutamine을 통한 운반</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대부분의 조직에서 </a:t>
            </a:r>
            <a:r>
              <a:rPr sz="1400" b="1" i="0">
                <a:solidFill>
                  <a:srgbClr val="11202B"/>
                </a:solidFill>
                <a:latin typeface="Malgun Gothic"/>
                <a:ea typeface="Malgun Gothic"/>
                <a:cs typeface="Malgun Gothic"/>
              </a:rPr>
              <a:t>glutamine synthetase</a:t>
            </a:r>
            <a:r>
              <a:rPr sz="1400" b="0" i="0">
                <a:solidFill>
                  <a:srgbClr val="11202B"/>
                </a:solidFill>
                <a:latin typeface="Malgun Gothic"/>
                <a:ea typeface="Malgun Gothic"/>
                <a:cs typeface="Malgun Gothic"/>
              </a:rPr>
              <a:t>가 glutamate의 γ-carboxyl기에 암모니아를 붙여 amide를 만든다. ATP 한 분자를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glutamate + NH₃ + ATP → glutamine + ADP + Pi `</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Glutamine은 전기적으로 중성이고 독성이 없으며 막을 쉽게 통과한다. 혈장에서 농도가 가장 높은 아미노산이고, 한 분자가 </a:t>
            </a:r>
            <a:r>
              <a:rPr sz="1400" b="1" i="0">
                <a:solidFill>
                  <a:srgbClr val="11202B"/>
                </a:solidFill>
                <a:latin typeface="Malgun Gothic"/>
                <a:ea typeface="Malgun Gothic"/>
                <a:cs typeface="Malgun Gothic"/>
              </a:rPr>
              <a:t>질소 두 개</a:t>
            </a:r>
            <a:r>
              <a:rPr sz="1400" b="0" i="0">
                <a:solidFill>
                  <a:srgbClr val="11202B"/>
                </a:solidFill>
                <a:latin typeface="Malgun Gothic"/>
                <a:ea typeface="Malgun Gothic"/>
                <a:cs typeface="Malgun Gothic"/>
              </a:rPr>
              <a:t>(α-amino기와 amide기)를 싣는다. 간에 도착하면 </a:t>
            </a:r>
            <a:r>
              <a:rPr sz="1400" b="1" i="0">
                <a:solidFill>
                  <a:srgbClr val="11202B"/>
                </a:solidFill>
                <a:latin typeface="Malgun Gothic"/>
                <a:ea typeface="Malgun Gothic"/>
                <a:cs typeface="Malgun Gothic"/>
              </a:rPr>
              <a:t>glutaminase</a:t>
            </a:r>
            <a:r>
              <a:rPr sz="1400" b="0" i="0">
                <a:solidFill>
                  <a:srgbClr val="11202B"/>
                </a:solidFill>
                <a:latin typeface="Malgun Gothic"/>
                <a:ea typeface="Malgun Gothic"/>
                <a:cs typeface="Malgun Gothic"/>
              </a:rPr>
              <a:t>가 amide 질소를 NH₃로 떼어내고, 남은 glutamate는 GDH가 처리한다. 신장에서도 같은 효소가 작동하지만 목적이 다르다. 신장에서 만든 NH₃는 세관 내강에서 NH₄⁺가 되어 양성자와 함께 배출되므로, </a:t>
            </a:r>
            <a:r>
              <a:rPr sz="1400" b="1" i="0">
                <a:solidFill>
                  <a:srgbClr val="11202B"/>
                </a:solidFill>
                <a:latin typeface="Malgun Gothic"/>
                <a:ea typeface="Malgun Gothic"/>
                <a:cs typeface="Malgun Gothic"/>
              </a:rPr>
              <a:t>대사성 산증에서 산을 버리는 경로</a:t>
            </a:r>
            <a:r>
              <a:rPr sz="1400" b="0" i="0">
                <a:solidFill>
                  <a:srgbClr val="11202B"/>
                </a:solidFill>
                <a:latin typeface="Malgun Gothic"/>
                <a:ea typeface="Malgun Gothic"/>
                <a:cs typeface="Malgun Gothic"/>
              </a:rPr>
              <a:t>가 된다. 이때 glutaminase는 산증에 의해 유도된다.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Alanine을 통한 운반 — glucose-alanine 회로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골격근은 질소를 alanine으로 내보낸다. 근육에서 아미노산이 분해되면 질소가 glutamate에 모이고, ALT가 그 질소를 </a:t>
            </a:r>
            <a:r>
              <a:rPr sz="1400" b="1" i="0">
                <a:solidFill>
                  <a:srgbClr val="11202B"/>
                </a:solidFill>
                <a:latin typeface="Malgun Gothic"/>
                <a:ea typeface="Malgun Gothic"/>
                <a:cs typeface="Malgun Gothic"/>
              </a:rPr>
              <a:t>pyruvate</a:t>
            </a:r>
            <a:r>
              <a:rPr sz="1400" b="0" i="0">
                <a:solidFill>
                  <a:srgbClr val="11202B"/>
                </a:solidFill>
                <a:latin typeface="Malgun Gothic"/>
                <a:ea typeface="Malgun Gothic"/>
                <a:cs typeface="Malgun Gothic"/>
              </a:rPr>
              <a:t>에 옮겨 alanine을 만든다. Alanine은 혈액을 타고 간으로 간다. 간의 ALT가 반대 방향으로 작동해 alanine을 다시 pyruvate와 glutamate로 바꾼다.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암모니아의 운반: glutamine 회로와 alanine 회로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그 뒤가 이 회로의 요점이다. </a:t>
            </a:r>
            <a:r>
              <a:rPr sz="2000" b="1" i="0">
                <a:solidFill>
                  <a:srgbClr val="11202B"/>
                </a:solidFill>
                <a:latin typeface="Malgun Gothic"/>
                <a:ea typeface="Malgun Gothic"/>
                <a:cs typeface="Malgun Gothic"/>
              </a:rPr>
              <a:t>Pyruvate는 gluconeogenesis로 들어가 포도당이 되어 근육으로 돌아가고, glutamate의 질소는 urea가 되어 버려진다.</a:t>
            </a:r>
            <a:r>
              <a:rPr sz="2000" b="0" i="0">
                <a:solidFill>
                  <a:srgbClr val="11202B"/>
                </a:solidFill>
                <a:latin typeface="Malgun Gothic"/>
                <a:ea typeface="Malgun Gothic"/>
                <a:cs typeface="Malgun Gothic"/>
              </a:rPr>
              <a:t> 즉 한 분자가 </a:t>
            </a:r>
            <a:r>
              <a:rPr sz="2000" b="1" i="0">
                <a:solidFill>
                  <a:srgbClr val="11202B"/>
                </a:solidFill>
                <a:latin typeface="Malgun Gothic"/>
                <a:ea typeface="Malgun Gothic"/>
                <a:cs typeface="Malgun Gothic"/>
              </a:rPr>
              <a:t>질소 처리와 탄소 재활용을 동시에</a:t>
            </a:r>
            <a:r>
              <a:rPr sz="2000" b="0" i="0">
                <a:solidFill>
                  <a:srgbClr val="11202B"/>
                </a:solidFill>
                <a:latin typeface="Malgun Gothic"/>
                <a:ea typeface="Malgun Gothic"/>
                <a:cs typeface="Malgun Gothic"/>
              </a:rPr>
              <a:t> 수행한다. 기아와 심한 운동에서 이 회로의 흐름이 커진다.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암모니아의 운반: glutamine 회로와 alanine 회로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Glutamine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Alanine</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만드는 효소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Glutamine synthetase(ATP 소비)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ALT(ATP 불필요)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질소 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주 공급 조직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모든 조직, 특히 근육·뇌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주로 골격근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간에서 처리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Glutaminase → NH₃</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ALT → glutamate + pyruvate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탄소의 운명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α-ketoglutarate → TCA cycle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pyruvate → gluconeogenesis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추가 기능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신장에서 산 배출, 장 상피의 연료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포도당을 근육으로 되돌림</a:t>
                      </a:r>
                    </a:p>
                  </a:txBody>
                  <a:tcPr marL="73152" marR="73152" marT="27432" marB="27432">
                    <a:solidFill>
                      <a:srgbClr val="EFF4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암모니아의 운반: glutamine 회로와 alanine 회로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23</a:t>
            </a:r>
          </a:p>
        </p:txBody>
      </p:sp>
      <p:pic>
        <p:nvPicPr>
          <p:cNvPr id="7" name="Picture 6" descr="fig-ammonia-transport.slide.png"/>
          <p:cNvPicPr>
            <a:picLocks noChangeAspect="1"/>
          </p:cNvPicPr>
          <p:nvPr/>
        </p:nvPicPr>
        <p:blipFill>
          <a:blip r:embed="rId2"/>
          <a:stretch>
            <a:fillRect/>
          </a:stretch>
        </p:blipFill>
        <p:spPr>
          <a:xfrm>
            <a:off x="1948504" y="1325880"/>
            <a:ext cx="829468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질소의 조직 간 운반. 말초에서는 glutamine과 alanine이 질소를 싣고, 간에서 암모니아로 풀려 urea cycle에 들어간다. 신장의 glutaminase는 산-염기 조절에 쓰인다.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Urea cycle의 다섯 반응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Urea cycle(또는 Krebs-Henseleit cycle)은 1932년에 밝혀진 최초의 대사 회로다. 정식 반응식은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NH₃ + CO₂(HCO₃⁻) + aspartate + 3 ATP → urea + fumarate + 2 ADP + AMP + 4 Pi `</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질소 두 개의 출처가 서로 다르다.</a:t>
            </a:r>
            <a:r>
              <a:rPr sz="1400" b="0" i="0">
                <a:solidFill>
                  <a:srgbClr val="11202B"/>
                </a:solidFill>
                <a:latin typeface="Malgun Gothic"/>
                <a:ea typeface="Malgun Gothic"/>
                <a:cs typeface="Malgun Gothic"/>
              </a:rPr>
              <a:t> 하나는 유리 암모니아이고, 다른 하나는 </a:t>
            </a:r>
            <a:r>
              <a:rPr sz="1400" b="1" i="0">
                <a:solidFill>
                  <a:srgbClr val="11202B"/>
                </a:solidFill>
                <a:latin typeface="Malgun Gothic"/>
                <a:ea typeface="Malgun Gothic"/>
                <a:cs typeface="Malgun Gothic"/>
              </a:rPr>
              <a:t>aspartate의 아미노기</a:t>
            </a:r>
            <a:r>
              <a:rPr sz="1400" b="0" i="0">
                <a:solidFill>
                  <a:srgbClr val="11202B"/>
                </a:solidFill>
                <a:latin typeface="Malgun Gothic"/>
                <a:ea typeface="Malgun Gothic"/>
                <a:cs typeface="Malgun Gothic"/>
              </a:rPr>
              <a:t>다. 탄소 하나는 HCO₃⁻에서 온다. 즉 urea의 세 원자가 모두 다른 곳에서 모인다.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회로는 </a:t>
            </a:r>
            <a:r>
              <a:rPr sz="1400" b="1" i="0">
                <a:solidFill>
                  <a:srgbClr val="11202B"/>
                </a:solidFill>
                <a:latin typeface="Malgun Gothic"/>
                <a:ea typeface="Malgun Gothic"/>
                <a:cs typeface="Malgun Gothic"/>
              </a:rPr>
              <a:t>미토콘드리아에서 시작해 세포질에서 끝난다.</a:t>
            </a:r>
            <a:r>
              <a:rPr sz="1400" b="0" i="0">
                <a:solidFill>
                  <a:srgbClr val="11202B"/>
                </a:solidFill>
                <a:latin typeface="Malgun Gothic"/>
                <a:ea typeface="Malgun Gothic"/>
                <a:cs typeface="Malgun Gothic"/>
              </a:rPr>
              <a:t> 다섯 반응을 순서대로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반응 1. Carbamoyl phosphate synthetase I (CPS I) — 미토콘드리아 기질</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NH₃와 HCO₃⁻가 ATP 두 분자를 소비하며 결합해 </a:t>
            </a:r>
            <a:r>
              <a:rPr sz="1400" b="1" i="0">
                <a:solidFill>
                  <a:srgbClr val="11202B"/>
                </a:solidFill>
                <a:latin typeface="Malgun Gothic"/>
                <a:ea typeface="Malgun Gothic"/>
                <a:cs typeface="Malgun Gothic"/>
              </a:rPr>
              <a:t>carbamoyl phosphate</a:t>
            </a:r>
            <a:r>
              <a:rPr sz="1400" b="0" i="0">
                <a:solidFill>
                  <a:srgbClr val="11202B"/>
                </a:solidFill>
                <a:latin typeface="Malgun Gothic"/>
                <a:ea typeface="Malgun Gothic"/>
                <a:cs typeface="Malgun Gothic"/>
              </a:rPr>
              <a:t>가 된다. 비가역이고, </a:t>
            </a:r>
            <a:r>
              <a:rPr sz="1400" b="1" i="0">
                <a:solidFill>
                  <a:srgbClr val="11202B"/>
                </a:solidFill>
                <a:latin typeface="Malgun Gothic"/>
                <a:ea typeface="Malgun Gothic"/>
                <a:cs typeface="Malgun Gothic"/>
              </a:rPr>
              <a:t>이 회로의 rate-limiting step</a:t>
            </a:r>
            <a:r>
              <a:rPr sz="1400" b="0" i="0">
                <a:solidFill>
                  <a:srgbClr val="11202B"/>
                </a:solidFill>
                <a:latin typeface="Malgun Gothic"/>
                <a:ea typeface="Malgun Gothic"/>
                <a:cs typeface="Malgun Gothic"/>
              </a:rPr>
              <a:t>이다. </a:t>
            </a:r>
            <a:r>
              <a:rPr sz="1400" b="1" i="0">
                <a:solidFill>
                  <a:srgbClr val="11202B"/>
                </a:solidFill>
                <a:latin typeface="Malgun Gothic"/>
                <a:ea typeface="Malgun Gothic"/>
                <a:cs typeface="Malgun Gothic"/>
              </a:rPr>
              <a:t>N-acetylglutamate(NAG)가 알로스테릭 활성자로 반드시 있어야</a:t>
            </a:r>
            <a:r>
              <a:rPr sz="1400" b="0" i="0">
                <a:solidFill>
                  <a:srgbClr val="11202B"/>
                </a:solidFill>
                <a:latin typeface="Malgun Gothic"/>
                <a:ea typeface="Malgun Gothic"/>
                <a:cs typeface="Malgun Gothic"/>
              </a:rPr>
              <a:t>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세포질에는 이름이 비슷한 </a:t>
            </a:r>
            <a:r>
              <a:rPr sz="1400" b="1" i="0">
                <a:solidFill>
                  <a:srgbClr val="11202B"/>
                </a:solidFill>
                <a:latin typeface="Malgun Gothic"/>
                <a:ea typeface="Malgun Gothic"/>
                <a:cs typeface="Malgun Gothic"/>
              </a:rPr>
              <a:t>CPS II</a:t>
            </a:r>
            <a:r>
              <a:rPr sz="1400" b="0" i="0">
                <a:solidFill>
                  <a:srgbClr val="11202B"/>
                </a:solidFill>
                <a:latin typeface="Malgun Gothic"/>
                <a:ea typeface="Malgun Gothic"/>
                <a:cs typeface="Malgun Gothic"/>
              </a:rPr>
              <a:t>가 있는데, 이것은 pyrimidine 합성에 쓰이고 질소원으로 암모니아 대신 </a:t>
            </a:r>
            <a:r>
              <a:rPr sz="1400" b="1" i="0">
                <a:solidFill>
                  <a:srgbClr val="11202B"/>
                </a:solidFill>
                <a:latin typeface="Malgun Gothic"/>
                <a:ea typeface="Malgun Gothic"/>
                <a:cs typeface="Malgun Gothic"/>
              </a:rPr>
              <a:t>glutamine</a:t>
            </a:r>
            <a:r>
              <a:rPr sz="1400" b="0" i="0">
                <a:solidFill>
                  <a:srgbClr val="11202B"/>
                </a:solidFill>
                <a:latin typeface="Malgun Gothic"/>
                <a:ea typeface="Malgun Gothic"/>
                <a:cs typeface="Malgun Gothic"/>
              </a:rPr>
              <a:t>을 쓰며 NAG를 요구하지 않는다. 두 효소를 혼동하지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반응 2. Ornithine transcarbamylase (OTC) — 미토콘드리아 기질</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Carbamoyl phosphate의 carbamoyl기가 </a:t>
            </a:r>
            <a:r>
              <a:rPr sz="1400" b="1" i="0">
                <a:solidFill>
                  <a:srgbClr val="11202B"/>
                </a:solidFill>
                <a:latin typeface="Malgun Gothic"/>
                <a:ea typeface="Malgun Gothic"/>
                <a:cs typeface="Malgun Gothic"/>
              </a:rPr>
              <a:t>ornithine</a:t>
            </a:r>
            <a:r>
              <a:rPr sz="1400" b="0" i="0">
                <a:solidFill>
                  <a:srgbClr val="11202B"/>
                </a:solidFill>
                <a:latin typeface="Malgun Gothic"/>
                <a:ea typeface="Malgun Gothic"/>
                <a:cs typeface="Malgun Gothic"/>
              </a:rPr>
              <a:t>에 옮겨져 </a:t>
            </a:r>
            <a:r>
              <a:rPr sz="1400" b="1" i="0">
                <a:solidFill>
                  <a:srgbClr val="11202B"/>
                </a:solidFill>
                <a:latin typeface="Malgun Gothic"/>
                <a:ea typeface="Malgun Gothic"/>
                <a:cs typeface="Malgun Gothic"/>
              </a:rPr>
              <a:t>citrulline</a:t>
            </a:r>
            <a:r>
              <a:rPr sz="1400" b="0" i="0">
                <a:solidFill>
                  <a:srgbClr val="11202B"/>
                </a:solidFill>
                <a:latin typeface="Malgun Gothic"/>
                <a:ea typeface="Malgun Gothic"/>
                <a:cs typeface="Malgun Gothic"/>
              </a:rPr>
              <a:t>이 된다. Ornithine은 단백질에 들어가지 않는 아미노산이며, 이 회로에서 운반체 역할을 한다. 생성된 citrulline은 </a:t>
            </a:r>
            <a:r>
              <a:rPr sz="1400" b="1" i="0">
                <a:solidFill>
                  <a:srgbClr val="11202B"/>
                </a:solidFill>
                <a:latin typeface="Malgun Gothic"/>
                <a:ea typeface="Malgun Gothic"/>
                <a:cs typeface="Malgun Gothic"/>
              </a:rPr>
              <a:t>ORNT1</a:t>
            </a:r>
            <a:r>
              <a:rPr sz="1400" b="0" i="0">
                <a:solidFill>
                  <a:srgbClr val="11202B"/>
                </a:solidFill>
                <a:latin typeface="Malgun Gothic"/>
                <a:ea typeface="Malgun Gothic"/>
                <a:cs typeface="Malgun Gothic"/>
              </a:rPr>
              <a:t>(SLC25A15 유전자 산물)이라는 내막 antiporter를 통해 세포질로 나가고, 같은 수송체가 ornithine을 안으로 들인다.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Urea cycle의 다섯 반응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반응 3. Argininosuccinate synthetase (ASS1) — 세포질</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Citrulline이 </a:t>
            </a:r>
            <a:r>
              <a:rPr sz="1600" b="1" i="0">
                <a:solidFill>
                  <a:srgbClr val="11202B"/>
                </a:solidFill>
                <a:latin typeface="Malgun Gothic"/>
                <a:ea typeface="Malgun Gothic"/>
                <a:cs typeface="Malgun Gothic"/>
              </a:rPr>
              <a:t>aspartate</a:t>
            </a:r>
            <a:r>
              <a:rPr sz="1600" b="0" i="0">
                <a:solidFill>
                  <a:srgbClr val="11202B"/>
                </a:solidFill>
                <a:latin typeface="Malgun Gothic"/>
                <a:ea typeface="Malgun Gothic"/>
                <a:cs typeface="Malgun Gothic"/>
              </a:rPr>
              <a:t>와 결합해 </a:t>
            </a:r>
            <a:r>
              <a:rPr sz="1600" b="1" i="0">
                <a:solidFill>
                  <a:srgbClr val="11202B"/>
                </a:solidFill>
                <a:latin typeface="Malgun Gothic"/>
                <a:ea typeface="Malgun Gothic"/>
                <a:cs typeface="Malgun Gothic"/>
              </a:rPr>
              <a:t>argininosuccinate</a:t>
            </a:r>
            <a:r>
              <a:rPr sz="1600" b="0" i="0">
                <a:solidFill>
                  <a:srgbClr val="11202B"/>
                </a:solidFill>
                <a:latin typeface="Malgun Gothic"/>
                <a:ea typeface="Malgun Gothic"/>
                <a:cs typeface="Malgun Gothic"/>
              </a:rPr>
              <a:t>가 된다. </a:t>
            </a:r>
            <a:r>
              <a:rPr sz="1600" b="1" i="0">
                <a:solidFill>
                  <a:srgbClr val="11202B"/>
                </a:solidFill>
                <a:latin typeface="Malgun Gothic"/>
                <a:ea typeface="Malgun Gothic"/>
                <a:cs typeface="Malgun Gothic"/>
              </a:rPr>
              <a:t>두 번째 질소가 들어오는 지점</a:t>
            </a:r>
            <a:r>
              <a:rPr sz="1600" b="0" i="0">
                <a:solidFill>
                  <a:srgbClr val="11202B"/>
                </a:solidFill>
                <a:latin typeface="Malgun Gothic"/>
                <a:ea typeface="Malgun Gothic"/>
                <a:cs typeface="Malgun Gothic"/>
              </a:rPr>
              <a:t>이다. ATP 한 분자를 쓰지만 AMP와 pyrophosphate로 분해되므로 </a:t>
            </a:r>
            <a:r>
              <a:rPr sz="1600" b="1" i="0">
                <a:solidFill>
                  <a:srgbClr val="11202B"/>
                </a:solidFill>
                <a:latin typeface="Malgun Gothic"/>
                <a:ea typeface="Malgun Gothic"/>
                <a:cs typeface="Malgun Gothic"/>
              </a:rPr>
              <a:t>ATP 두 분자에 해당하는 비용</a:t>
            </a:r>
            <a:r>
              <a:rPr sz="1600" b="0" i="0">
                <a:solidFill>
                  <a:srgbClr val="11202B"/>
                </a:solidFill>
                <a:latin typeface="Malgun Gothic"/>
                <a:ea typeface="Malgun Gothic"/>
                <a:cs typeface="Malgun Gothic"/>
              </a:rPr>
              <a:t>이 든다.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반응 4. Argininosuccinate lyase (ASL) — 세포질</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Argininosuccinate가 </a:t>
            </a:r>
            <a:r>
              <a:rPr sz="1600" b="1" i="0">
                <a:solidFill>
                  <a:srgbClr val="11202B"/>
                </a:solidFill>
                <a:latin typeface="Malgun Gothic"/>
                <a:ea typeface="Malgun Gothic"/>
                <a:cs typeface="Malgun Gothic"/>
              </a:rPr>
              <a:t>arginine</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fumarate</a:t>
            </a:r>
            <a:r>
              <a:rPr sz="1600" b="0" i="0">
                <a:solidFill>
                  <a:srgbClr val="11202B"/>
                </a:solidFill>
                <a:latin typeface="Malgun Gothic"/>
                <a:ea typeface="Malgun Gothic"/>
                <a:cs typeface="Malgun Gothic"/>
              </a:rPr>
              <a:t>로 갈라진다. Aspartate가 들여온 탄소 골격이 fumarate로 빠져나가는 지점이다.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반응 5. Arginase I — 세포질</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Arginine이 가수분해되어 </a:t>
            </a:r>
            <a:r>
              <a:rPr sz="1600" b="1" i="0">
                <a:solidFill>
                  <a:srgbClr val="11202B"/>
                </a:solidFill>
                <a:latin typeface="Malgun Gothic"/>
                <a:ea typeface="Malgun Gothic"/>
                <a:cs typeface="Malgun Gothic"/>
              </a:rPr>
              <a:t>urea</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ornithine</a:t>
            </a:r>
            <a:r>
              <a:rPr sz="1600" b="0" i="0">
                <a:solidFill>
                  <a:srgbClr val="11202B"/>
                </a:solidFill>
                <a:latin typeface="Malgun Gothic"/>
                <a:ea typeface="Malgun Gothic"/>
                <a:cs typeface="Malgun Gothic"/>
              </a:rPr>
              <a:t>이 된다. Ornithine은 미토콘드리아로 돌아가 회로를 다시 돌린다. </a:t>
            </a:r>
            <a:r>
              <a:rPr sz="1600" b="1" i="0">
                <a:solidFill>
                  <a:srgbClr val="11202B"/>
                </a:solidFill>
                <a:latin typeface="Malgun Gothic"/>
                <a:ea typeface="Malgun Gothic"/>
                <a:cs typeface="Malgun Gothic"/>
              </a:rPr>
              <a:t>Arginase I은 간에만 의미 있는 양으로 존재하며, 이것이 urea 합성이 간에 국한되는 생화학적 이유다.</a:t>
            </a:r>
            <a:r>
              <a:rPr sz="1600" b="0" i="0">
                <a:solidFill>
                  <a:srgbClr val="11202B"/>
                </a:solidFill>
                <a:latin typeface="Malgun Gothic"/>
                <a:ea typeface="Malgun Gothic"/>
                <a:cs typeface="Malgun Gothic"/>
              </a:rPr>
              <a:t> 따라서 arginine은 간 외 조직에서는 소비되지 않고 단백질 합성과 nitric oxide 합성에 쓰인다.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Urea cycle의 다섯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26</a:t>
            </a:r>
          </a:p>
        </p:txBody>
      </p:sp>
      <p:pic>
        <p:nvPicPr>
          <p:cNvPr id="7" name="Picture 6" descr="fig-urea-cycle.slide.png"/>
          <p:cNvPicPr>
            <a:picLocks noChangeAspect="1"/>
          </p:cNvPicPr>
          <p:nvPr/>
        </p:nvPicPr>
        <p:blipFill>
          <a:blip r:embed="rId2"/>
          <a:stretch>
            <a:fillRect/>
          </a:stretch>
        </p:blipFill>
        <p:spPr>
          <a:xfrm>
            <a:off x="2360320" y="1325880"/>
            <a:ext cx="747105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Urea cycle의 다섯 반응. 1·2번은 미토콘드리아 기질, 3·4·5번은 세포질에서 일어나고 ORNT1이 두 구획을 잇는다. 두 번째 질소는 반응 3에서 aspartate로 들어오고, 그 탄소 골격은 반응 4에서 fumarate로 빠진다.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Urea cycle의 다섯 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회로의 출구에서 생긴 fumarate</a:t>
            </a:r>
            <a:r>
              <a:rPr sz="1600" b="0" i="0">
                <a:solidFill>
                  <a:srgbClr val="11202B"/>
                </a:solidFill>
                <a:latin typeface="Malgun Gothic"/>
                <a:ea typeface="Malgun Gothic"/>
                <a:cs typeface="Malgun Gothic"/>
              </a:rPr>
              <a:t>는 그냥 버려지지 않는다. 세포질의 fumarase가 malate로, malate dehydrogenase가 oxaloacetate로 바꾸고, AST가 glutamate의 질소를 받아 다시 aspartate를 만든다. 이 되돌림을 </a:t>
            </a:r>
            <a:r>
              <a:rPr sz="1600" b="1" i="0">
                <a:solidFill>
                  <a:srgbClr val="11202B"/>
                </a:solidFill>
                <a:latin typeface="Malgun Gothic"/>
                <a:ea typeface="Malgun Gothic"/>
                <a:cs typeface="Malgun Gothic"/>
              </a:rPr>
              <a:t>aspartate-argininosuccinate shunt</a:t>
            </a:r>
            <a:r>
              <a:rPr sz="1600" b="0" i="0">
                <a:solidFill>
                  <a:srgbClr val="11202B"/>
                </a:solidFill>
                <a:latin typeface="Malgun Gothic"/>
                <a:ea typeface="Malgun Gothic"/>
                <a:cs typeface="Malgun Gothic"/>
              </a:rPr>
              <a:t>라 하며, urea cycle과 TCA cycle을 연결한다. 결과적으로 두 번째 질소도 </a:t>
            </a:r>
            <a:r>
              <a:rPr sz="1600" b="1" i="0">
                <a:solidFill>
                  <a:srgbClr val="11202B"/>
                </a:solidFill>
                <a:latin typeface="Malgun Gothic"/>
                <a:ea typeface="Malgun Gothic"/>
                <a:cs typeface="Malgun Gothic"/>
              </a:rPr>
              <a:t>glutamate에서 AST를 거쳐</a:t>
            </a:r>
            <a:r>
              <a:rPr sz="1600" b="0" i="0">
                <a:solidFill>
                  <a:srgbClr val="11202B"/>
                </a:solidFill>
                <a:latin typeface="Malgun Gothic"/>
                <a:ea typeface="Malgun Gothic"/>
                <a:cs typeface="Malgun Gothic"/>
              </a:rPr>
              <a:t> 공급되는 셈이다.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만들어진 urea</a:t>
            </a:r>
            <a:r>
              <a:rPr sz="1600" b="0" i="0">
                <a:solidFill>
                  <a:srgbClr val="11202B"/>
                </a:solidFill>
                <a:latin typeface="Malgun Gothic"/>
                <a:ea typeface="Malgun Gothic"/>
                <a:cs typeface="Malgun Gothic"/>
              </a:rPr>
              <a:t>는 간에서 혈액으로 나와 신장에서 사구체 여과로 배출된다. 혈중 농도를 혈액요소질소(blood urea nitrogen, BUN)로 표현하며 참고 범위는 대략 7~20 mg/dL이다. 여과된 urea의 상당 부분은 세관에서 재흡수되어 신장의 요 농축에 쓰인다. 일부는 장으로 확산되어 세균 urease에 분해되고 암모니아로 다시 흡수된다.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Urea cycle의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조절은 작동 시간이 다른 두 층위로 이루어진다.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단기 — N-acetylglutamate에 의한 CPS I 활성화</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CPS I은 NAG가 결합하지 않으면 활성이 사실상 없다. 즉 NAG는 조절자가 아니라 </a:t>
            </a:r>
            <a:r>
              <a:rPr sz="1400" b="1" i="0">
                <a:solidFill>
                  <a:srgbClr val="11202B"/>
                </a:solidFill>
                <a:latin typeface="Malgun Gothic"/>
                <a:ea typeface="Malgun Gothic"/>
                <a:cs typeface="Malgun Gothic"/>
              </a:rPr>
              <a:t>필수 활성자</a:t>
            </a:r>
            <a:r>
              <a:rPr sz="1400" b="0" i="0">
                <a:solidFill>
                  <a:srgbClr val="11202B"/>
                </a:solidFill>
                <a:latin typeface="Malgun Gothic"/>
                <a:ea typeface="Malgun Gothic"/>
                <a:cs typeface="Malgun Gothic"/>
              </a:rPr>
              <a:t>다. NAG는 </a:t>
            </a:r>
            <a:r>
              <a:rPr sz="1400" b="1" i="0">
                <a:solidFill>
                  <a:srgbClr val="11202B"/>
                </a:solidFill>
                <a:latin typeface="Malgun Gothic"/>
                <a:ea typeface="Malgun Gothic"/>
                <a:cs typeface="Malgun Gothic"/>
              </a:rPr>
              <a:t>N-acetylglutamate synthase(NAGS)</a:t>
            </a:r>
            <a:r>
              <a:rPr sz="1400" b="0" i="0">
                <a:solidFill>
                  <a:srgbClr val="11202B"/>
                </a:solidFill>
                <a:latin typeface="Malgun Gothic"/>
                <a:ea typeface="Malgun Gothic"/>
                <a:cs typeface="Malgun Gothic"/>
              </a:rPr>
              <a:t>가 acetyl-CoA와 glutamate로 만들고, </a:t>
            </a:r>
            <a:r>
              <a:rPr sz="1400" b="1" i="0">
                <a:solidFill>
                  <a:srgbClr val="11202B"/>
                </a:solidFill>
                <a:latin typeface="Malgun Gothic"/>
                <a:ea typeface="Malgun Gothic"/>
                <a:cs typeface="Malgun Gothic"/>
              </a:rPr>
              <a:t>arginine이 NAGS를 알로스테릭하게 활성화</a:t>
            </a:r>
            <a:r>
              <a:rPr sz="1400" b="0" i="0">
                <a:solidFill>
                  <a:srgbClr val="11202B"/>
                </a:solidFill>
                <a:latin typeface="Malgun Gothic"/>
                <a:ea typeface="Malgun Gothic"/>
                <a:cs typeface="Malgun Gothic"/>
              </a:rPr>
              <a:t>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배선의 의미는 분명하다. 단백질을 많이 먹거나 체단백이 분해되면 간세포의 </a:t>
            </a:r>
            <a:r>
              <a:rPr sz="1400" b="1" i="0">
                <a:solidFill>
                  <a:srgbClr val="11202B"/>
                </a:solidFill>
                <a:latin typeface="Malgun Gothic"/>
                <a:ea typeface="Malgun Gothic"/>
                <a:cs typeface="Malgun Gothic"/>
              </a:rPr>
              <a:t>glutamate</a:t>
            </a:r>
            <a:r>
              <a:rPr sz="1400" b="0" i="0">
                <a:solidFill>
                  <a:srgbClr val="11202B"/>
                </a:solidFill>
                <a:latin typeface="Malgun Gothic"/>
                <a:ea typeface="Malgun Gothic"/>
                <a:cs typeface="Malgun Gothic"/>
              </a:rPr>
              <a:t>(NAG의 기질)와 </a:t>
            </a:r>
            <a:r>
              <a:rPr sz="1400" b="1" i="0">
                <a:solidFill>
                  <a:srgbClr val="11202B"/>
                </a:solidFill>
                <a:latin typeface="Malgun Gothic"/>
                <a:ea typeface="Malgun Gothic"/>
                <a:cs typeface="Malgun Gothic"/>
              </a:rPr>
              <a:t>arginine</a:t>
            </a:r>
            <a:r>
              <a:rPr sz="1400" b="0" i="0">
                <a:solidFill>
                  <a:srgbClr val="11202B"/>
                </a:solidFill>
                <a:latin typeface="Malgun Gothic"/>
                <a:ea typeface="Malgun Gothic"/>
                <a:cs typeface="Malgun Gothic"/>
              </a:rPr>
              <a:t>(NAGS의 활성자)이 함께 올라간다. 두 신호가 모여 NAG가 늘고, CPS I이 켜지고, urea 합성이 빨라진다. </a:t>
            </a:r>
            <a:r>
              <a:rPr sz="1400" b="1" i="0">
                <a:solidFill>
                  <a:srgbClr val="11202B"/>
                </a:solidFill>
                <a:latin typeface="Malgun Gothic"/>
                <a:ea typeface="Malgun Gothic"/>
                <a:cs typeface="Malgun Gothic"/>
              </a:rPr>
              <a:t>즉 회로는 처리해야 할 질소의 양 자체를 신호로 받는다.</a:t>
            </a:r>
            <a:r>
              <a:rPr sz="1400" b="0" i="0">
                <a:solidFill>
                  <a:srgbClr val="11202B"/>
                </a:solidFill>
                <a:latin typeface="Malgun Gothic"/>
                <a:ea typeface="Malgun Gothic"/>
                <a:cs typeface="Malgun Gothic"/>
              </a:rPr>
              <a:t> Arginine은 회로의 중간체이기도 하므로, 중간체가 쌓이면 회로 전체가 가속되는 전방 활성(feed-forward) 구조다.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장기 — 효소 유도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고단백 식사와 장기 기아에서 다섯 효소와 NAGS가 모두 </a:t>
            </a:r>
            <a:r>
              <a:rPr sz="1400" b="1" i="0">
                <a:solidFill>
                  <a:srgbClr val="11202B"/>
                </a:solidFill>
                <a:latin typeface="Malgun Gothic"/>
                <a:ea typeface="Malgun Gothic"/>
                <a:cs typeface="Malgun Gothic"/>
              </a:rPr>
              <a:t>10~20배까지 전사 수준에서 유도된다.</a:t>
            </a:r>
            <a:r>
              <a:rPr sz="1400" b="0" i="0">
                <a:solidFill>
                  <a:srgbClr val="11202B"/>
                </a:solidFill>
                <a:latin typeface="Malgun Gothic"/>
                <a:ea typeface="Malgun Gothic"/>
                <a:cs typeface="Malgun Gothic"/>
              </a:rPr>
              <a:t> 기아에서도 유도되는 것이 처음에는 어색해 보이지만, 기아에서는 체단백이 연료가 되므로 처리할 질소가 늘어난다. 두 상황 모두 "아미노산 분해량이 많다"는 공통점을 가진다.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기질 공급도 실질적인 조절이다.</a:t>
            </a:r>
            <a:r>
              <a:rPr sz="1400" b="0" i="0">
                <a:solidFill>
                  <a:srgbClr val="11202B"/>
                </a:solidFill>
                <a:latin typeface="Malgun Gothic"/>
                <a:ea typeface="Malgun Gothic"/>
                <a:cs typeface="Malgun Gothic"/>
              </a:rPr>
              <a:t> CPS I의 Km은 암모니아에 대해 비교적 높아서, 암모니아 농도가 올라가면 반응 속도가 함께 올라간다. GDH와 glutaminase가 공급하는 암모니아의 양이 그대로 회로의 유입량을 정한다.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Urea cycle의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29</a:t>
            </a:r>
          </a:p>
        </p:txBody>
      </p:sp>
      <p:pic>
        <p:nvPicPr>
          <p:cNvPr id="7" name="Picture 6" descr="fig-nag-regulation.slide.png"/>
          <p:cNvPicPr>
            <a:picLocks noChangeAspect="1"/>
          </p:cNvPicPr>
          <p:nvPr/>
        </p:nvPicPr>
        <p:blipFill>
          <a:blip r:embed="rId2"/>
          <a:stretch>
            <a:fillRect/>
          </a:stretch>
        </p:blipFill>
        <p:spPr>
          <a:xfrm>
            <a:off x="1643154" y="1325880"/>
            <a:ext cx="890538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CPS I의 조절. Glutamate는 NAG의 기질이고 arginine은 NAGS의 활성자이므로, 아미노산 부하 자체가 회로를 켜는 신호가 된다. 장기 조절은 다섯 효소의 전사 유도로 이루어진다.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Urea cycle의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NAG의 구조 유사체인 </a:t>
            </a:r>
            <a:r>
              <a:rPr sz="1600" b="1" i="0">
                <a:solidFill>
                  <a:srgbClr val="11202B"/>
                </a:solidFill>
                <a:latin typeface="Malgun Gothic"/>
                <a:ea typeface="Malgun Gothic"/>
                <a:cs typeface="Malgun Gothic"/>
              </a:rPr>
              <a:t>carglumic acid</a:t>
            </a:r>
            <a:r>
              <a:rPr sz="1600" b="0" i="0">
                <a:solidFill>
                  <a:srgbClr val="11202B"/>
                </a:solidFill>
                <a:latin typeface="Malgun Gothic"/>
                <a:ea typeface="Malgun Gothic"/>
                <a:cs typeface="Malgun Gothic"/>
              </a:rPr>
              <a:t>(N-carbamylglutamate)는 CPS I을 직접 활성화한다. NAGS 결핍 환자에서는 이 약이 근본 치료가 되어 혈중 암모니아를 정상화한다. 또한 propionic acidemia와 methylmalonic acidemia에서는 축적된 propionyl-CoA가 NAGS를 억제해 </a:t>
            </a:r>
            <a:r>
              <a:rPr sz="1600" b="1" i="0">
                <a:solidFill>
                  <a:srgbClr val="11202B"/>
                </a:solidFill>
                <a:latin typeface="Malgun Gothic"/>
                <a:ea typeface="Malgun Gothic"/>
                <a:cs typeface="Malgun Gothic"/>
              </a:rPr>
              <a:t>이차성 고암모니아혈증</a:t>
            </a:r>
            <a:r>
              <a:rPr sz="1600" b="0" i="0">
                <a:solidFill>
                  <a:srgbClr val="11202B"/>
                </a:solidFill>
                <a:latin typeface="Malgun Gothic"/>
                <a:ea typeface="Malgun Gothic"/>
                <a:cs typeface="Malgun Gothic"/>
              </a:rPr>
              <a:t>이 생기는데, 이때도 carglumic acid가 쓰인다. 하나의 알로스테릭 지점을 알면 서로 다른 질환의 치료가 같은 논리로 설명된다.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Urea 합성의 에너지 비용과 다른 경로와의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한 분자의 urea를 만드는 데 드는 비용을 세어 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Urea 합성의 에너지 비용과 다른 경로와의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32</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소비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ATP 등가</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CPS 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 ATP → 2 ADP + Pi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ASS1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 ATP → AMP + PPi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합계</a:t>
                      </a:r>
                    </a:p>
                  </a:txBody>
                  <a:tcPr marL="73152" marR="73152" marT="27432" marB="27432">
                    <a:solidFill>
                      <a:srgbClr val="FFFFFF"/>
                    </a:solidFill>
                  </a:tcPr>
                </a:tc>
                <a:tc>
                  <a:txBody>
                    <a:bodyPr/>
                    <a:lstStyle/>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4</a:t>
                      </a:r>
                    </a:p>
                  </a:txBody>
                  <a:tcPr marL="73152" marR="73152" marT="27432" marB="27432">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Urea 합성의 에너지 비용과 다른 경로와의 연결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ASS1 반응을 2로 세는 이유는 AMP를 ATP로 되돌리려면 인산결합 두 개가 필요하기 때문이다. 게다가 생성된 pyrophosphate가 가수분해되면서 반응이 비가역 쪽으로 밀린다.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그러나 </a:t>
            </a:r>
            <a:r>
              <a:rPr sz="1400" b="1" i="0">
                <a:solidFill>
                  <a:srgbClr val="11202B"/>
                </a:solidFill>
                <a:latin typeface="Malgun Gothic"/>
                <a:ea typeface="Malgun Gothic"/>
                <a:cs typeface="Malgun Gothic"/>
              </a:rPr>
              <a:t>실제 순비용은 4보다 작다.</a:t>
            </a:r>
            <a:r>
              <a:rPr sz="1400" b="0" i="0">
                <a:solidFill>
                  <a:srgbClr val="11202B"/>
                </a:solidFill>
                <a:latin typeface="Malgun Gothic"/>
                <a:ea typeface="Malgun Gothic"/>
                <a:cs typeface="Malgun Gothic"/>
              </a:rPr>
              <a:t> 반응 4에서 나온 fumarate가 malate를 거쳐 oxaloacetate가 될 때 </a:t>
            </a:r>
            <a:r>
              <a:rPr sz="1400" b="1" i="0">
                <a:solidFill>
                  <a:srgbClr val="11202B"/>
                </a:solidFill>
                <a:latin typeface="Malgun Gothic"/>
                <a:ea typeface="Malgun Gothic"/>
                <a:cs typeface="Malgun Gothic"/>
              </a:rPr>
              <a:t>NADH 한 분자</a:t>
            </a:r>
            <a:r>
              <a:rPr sz="1400" b="0" i="0">
                <a:solidFill>
                  <a:srgbClr val="11202B"/>
                </a:solidFill>
                <a:latin typeface="Malgun Gothic"/>
                <a:ea typeface="Malgun Gothic"/>
                <a:cs typeface="Malgun Gothic"/>
              </a:rPr>
              <a:t>가 생기고, 이것이 산화되면 약 2.5 ATP에 해당한다. 또한 암모니아를 공급한 GDH 반응에서도 NADH가 하나 나온다. 질소 두 개를 안전하게 버리는 대가로 이 정도의 비용을 치르는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다른 경로와의 연결</a:t>
            </a:r>
            <a:r>
              <a:rPr sz="1400" b="0" i="0">
                <a:solidFill>
                  <a:srgbClr val="11202B"/>
                </a:solidFill>
                <a:latin typeface="Malgun Gothic"/>
                <a:ea typeface="Malgun Gothic"/>
                <a:cs typeface="Malgun Gothic"/>
              </a:rPr>
              <a:t>이 세 지점에서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TCA cycle</a:t>
            </a:r>
            <a:r>
              <a:rPr sz="1400" b="0" i="0">
                <a:solidFill>
                  <a:srgbClr val="11202B"/>
                </a:solidFill>
                <a:latin typeface="Malgun Gothic"/>
                <a:ea typeface="Malgun Gothic"/>
                <a:cs typeface="Malgun Gothic"/>
              </a:rPr>
              <a:t> — fumarate가 들어가고 α-ketoglutarate가 나온다. 두 회로는 aspartate-argininosuccinate shunt로 묶여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Gluconeogenesis</a:t>
            </a:r>
            <a:r>
              <a:rPr sz="1400" b="0" i="0">
                <a:solidFill>
                  <a:srgbClr val="11202B"/>
                </a:solidFill>
                <a:latin typeface="Malgun Gothic"/>
                <a:ea typeface="Malgun Gothic"/>
                <a:cs typeface="Malgun Gothic"/>
              </a:rPr>
              <a:t> — alanine이 실어 온 pyruvate와, fumarate에서 유도된 oxaloacetate가 모두 포도당 합성의 기질이 된다. 기아에서 아미노산 분해가 늘면 질소 처리와 포도당 생산이 동시에 증가한다.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Nitric oxide 합성</a:t>
            </a:r>
            <a:r>
              <a:rPr sz="1400" b="0" i="0">
                <a:solidFill>
                  <a:srgbClr val="11202B"/>
                </a:solidFill>
                <a:latin typeface="Malgun Gothic"/>
                <a:ea typeface="Malgun Gothic"/>
                <a:cs typeface="Malgun Gothic"/>
              </a:rPr>
              <a:t> — arginine은 urea cycle의 중간체이면서 nitric oxide synthase의 기질이다. Citrulline과 arginine은 혈관 내피에서 따로 순환하므로, urea cycle 효소의 일부 결손은 nitric oxide 생성에도 영향을 준다.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Urea 합성의 에너지 비용과 다른 경로와의 연결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회로의 위치도 생리와 맞물려 있다.</a:t>
            </a:r>
            <a:r>
              <a:rPr sz="2000" b="0" i="0">
                <a:solidFill>
                  <a:srgbClr val="11202B"/>
                </a:solidFill>
                <a:latin typeface="Malgun Gothic"/>
                <a:ea typeface="Malgun Gothic"/>
                <a:cs typeface="Malgun Gothic"/>
              </a:rPr>
              <a:t> 간은 균일하지 않다. 문맥 쪽(periportal) 간세포는 urea cycle 효소가 많아 들어오는 암모니아를 대량으로 처리하고, 중심정맥 쪽(perivenous) 간세포는 glutamine synthetase가 많아 앞에서 놓친 암모니아를 glutamine으로 붙잡는다. </a:t>
            </a:r>
            <a:r>
              <a:rPr sz="2000" b="1" i="0">
                <a:solidFill>
                  <a:srgbClr val="11202B"/>
                </a:solidFill>
                <a:latin typeface="Malgun Gothic"/>
                <a:ea typeface="Malgun Gothic"/>
                <a:cs typeface="Malgun Gothic"/>
              </a:rPr>
              <a:t>고용량 저친화도 처리 뒤에 저용량 고친화도 포획이 배치되어</a:t>
            </a:r>
            <a:r>
              <a:rPr sz="2000" b="0" i="0">
                <a:solidFill>
                  <a:srgbClr val="11202B"/>
                </a:solidFill>
                <a:latin typeface="Malgun Gothic"/>
                <a:ea typeface="Malgun Gothic"/>
                <a:cs typeface="Malgun Gothic"/>
              </a:rPr>
              <a:t> 간을 지나는 혈액의 암모니아가 거의 남지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Urea 합성의 에너지 비용과 다른 경로와의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Urea cycle은 CPS I이 rate-limiting step이고, NAG가 그 필수 활성자이며, 질소 하나는 암모니아에서 다른 하나는 aspartate에서 온다. 간에만 arginase I이 있어 urea 합성이 간에 국한되고, 그래서 간 기능이 떨어지면 혈중 암모니아가 바로 올라간다.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질소 대사 지표의 임상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분자들은 거의 모두 임상 검사 항목이다. 해석의 근거를 경로와 연결해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혈중 암모니아</a:t>
            </a:r>
            <a:r>
              <a:rPr sz="1400" b="0" i="0">
                <a:solidFill>
                  <a:srgbClr val="11202B"/>
                </a:solidFill>
                <a:latin typeface="Malgun Gothic"/>
                <a:ea typeface="Malgun Gothic"/>
                <a:cs typeface="Malgun Gothic"/>
              </a:rPr>
              <a:t> 정상 성인 11~32 μmol/L. 채혈 후 적혈구에서 암모니아가 계속 생기므로 </a:t>
            </a:r>
            <a:r>
              <a:rPr sz="1400" b="1" i="0">
                <a:solidFill>
                  <a:srgbClr val="11202B"/>
                </a:solidFill>
                <a:latin typeface="Malgun Gothic"/>
                <a:ea typeface="Malgun Gothic"/>
                <a:cs typeface="Malgun Gothic"/>
              </a:rPr>
              <a:t>얼음에 담아 즉시 처리</a:t>
            </a:r>
            <a:r>
              <a:rPr sz="1400" b="0" i="0">
                <a:solidFill>
                  <a:srgbClr val="11202B"/>
                </a:solidFill>
                <a:latin typeface="Malgun Gothic"/>
                <a:ea typeface="Malgun Gothic"/>
                <a:cs typeface="Malgun Gothic"/>
              </a:rPr>
              <a:t>해야 하고, 지혈대를 오래 묶거나 주먹을 쥐게 하면 근육에서 방출되어 높게 나온다. 전처리 오류로 인한 가짜 상승이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BUN</a:t>
            </a:r>
            <a:r>
              <a:rPr sz="1400" b="0" i="0">
                <a:solidFill>
                  <a:srgbClr val="11202B"/>
                </a:solidFill>
                <a:latin typeface="Malgun Gothic"/>
                <a:ea typeface="Malgun Gothic"/>
                <a:cs typeface="Malgun Gothic"/>
              </a:rPr>
              <a:t> 7~20 mg/dL. urea 합성량과 신장 배출량의 균형이다. 따라서 올라가는 원인이 양쪽에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배출 감소 — 신기능 저하, 탈수로 인한 전신성(prerenal) 상태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합성 증가 — 고단백 섭취, 상부 위장관 출혈(장에서 혈액 단백이 분해), corticosteroid, 체단백 분해 증가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낮은 BUN</a:t>
            </a:r>
            <a:r>
              <a:rPr sz="1400" b="0" i="0">
                <a:solidFill>
                  <a:srgbClr val="11202B"/>
                </a:solidFill>
                <a:latin typeface="Malgun Gothic"/>
                <a:ea typeface="Malgun Gothic"/>
                <a:cs typeface="Malgun Gothic"/>
              </a:rPr>
              <a:t> — 간에서 urea를 만들지 못하는 중증 간기능 저하, 저단백 섭취, 임신(혈액량 증가)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BUN만으로 신기능을 판단하지 않고 </a:t>
            </a:r>
            <a:r>
              <a:rPr sz="1400" b="1" i="0">
                <a:solidFill>
                  <a:srgbClr val="11202B"/>
                </a:solidFill>
                <a:latin typeface="Malgun Gothic"/>
                <a:ea typeface="Malgun Gothic"/>
                <a:cs typeface="Malgun Gothic"/>
              </a:rPr>
              <a:t>creatinine과 함께 본다.</a:t>
            </a:r>
            <a:r>
              <a:rPr sz="1400" b="0" i="0">
                <a:solidFill>
                  <a:srgbClr val="11202B"/>
                </a:solidFill>
                <a:latin typeface="Malgun Gothic"/>
                <a:ea typeface="Malgun Gothic"/>
                <a:cs typeface="Malgun Gothic"/>
              </a:rPr>
              <a:t> BUN/creatinine 비가 20을 넘으면 전신성 요인이나 위장관 출혈을 먼저 고려한다.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ALT와 AST</a:t>
            </a:r>
            <a:r>
              <a:rPr sz="1400" b="0" i="0">
                <a:solidFill>
                  <a:srgbClr val="11202B"/>
                </a:solidFill>
                <a:latin typeface="Malgun Gothic"/>
                <a:ea typeface="Malgun Gothic"/>
                <a:cs typeface="Malgun Gothic"/>
              </a:rPr>
              <a:t> 앞 절에서 다룬 대로 세포 손상의 지표다. 상승 폭도 정보를 준다. 급성 바이러스 간염이나 허혈성 손상에서는 정상 상한의 수십 배까지 오르고, 비알코올 지방간질환에서는 2~3배 정도에 머문다.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요 질소 배출</a:t>
            </a:r>
            <a:r>
              <a:rPr sz="1400" b="0" i="0">
                <a:solidFill>
                  <a:srgbClr val="11202B"/>
                </a:solidFill>
                <a:latin typeface="Malgun Gothic"/>
                <a:ea typeface="Malgun Gothic"/>
                <a:cs typeface="Malgun Gothic"/>
              </a:rPr>
              <a:t> 중환자의 영양 상태 평가에 쓰인다. 24시간 요 urea 질소를 측정해 섭취 질소와 비교하면 nitrogen balance를 추정할 수 있다. 음의 균형이 크면 단백 공급을 늘려야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질소 대사 지표의 임상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37</a:t>
            </a:r>
          </a:p>
        </p:txBody>
      </p:sp>
      <p:pic>
        <p:nvPicPr>
          <p:cNvPr id="7" name="Picture 6" descr="fig-urea-nitrogen.slide.png"/>
          <p:cNvPicPr>
            <a:picLocks noChangeAspect="1"/>
          </p:cNvPicPr>
          <p:nvPr/>
        </p:nvPicPr>
        <p:blipFill>
          <a:blip r:embed="rId2"/>
          <a:stretch>
            <a:fillRect/>
          </a:stretch>
        </p:blipFill>
        <p:spPr>
          <a:xfrm>
            <a:off x="1269847" y="1325880"/>
            <a:ext cx="96520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Urea의 두 질소와 한 탄소의 출처, 그리고 한 바퀴의 ATP 수지. 질소 하나는 CPS I로 들어온 유리 암모니아, 다른 하나는 aspartate의 아미노기, 탄소는 HCO₃⁻에서 온다.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질소 대사 지표의 임상 해석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간기능이 심하게 떨어지면</a:t>
            </a:r>
            <a:r>
              <a:rPr sz="1600" b="0" i="0">
                <a:solidFill>
                  <a:srgbClr val="11202B"/>
                </a:solidFill>
                <a:latin typeface="Malgun Gothic"/>
                <a:ea typeface="Malgun Gothic"/>
                <a:cs typeface="Malgun Gothic"/>
              </a:rPr>
              <a:t> urea 합성 능력이 줄어 BUN은 낮아지고 혈중 암모니아는 올라간다. 간경변에서는 여기에 </a:t>
            </a:r>
            <a:r>
              <a:rPr sz="1600" b="1" i="0">
                <a:solidFill>
                  <a:srgbClr val="11202B"/>
                </a:solidFill>
                <a:latin typeface="Malgun Gothic"/>
                <a:ea typeface="Malgun Gothic"/>
                <a:cs typeface="Malgun Gothic"/>
              </a:rPr>
              <a:t>문맥-전신 단락</a:t>
            </a:r>
            <a:r>
              <a:rPr sz="1600" b="0" i="0">
                <a:solidFill>
                  <a:srgbClr val="11202B"/>
                </a:solidFill>
                <a:latin typeface="Malgun Gothic"/>
                <a:ea typeface="Malgun Gothic"/>
                <a:cs typeface="Malgun Gothic"/>
              </a:rPr>
              <a:t>이 겹친다. 장에서 흡수된 암모니아가 간을 거치지 않고 전신 순환으로 넘어가므로 간세포가 아무리 정상이어도 암모니아가 처리되지 않는다. 그래서 간경변 환자의 간성 뇌증은 </a:t>
            </a:r>
            <a:r>
              <a:rPr sz="1600" b="1" i="0">
                <a:solidFill>
                  <a:srgbClr val="11202B"/>
                </a:solidFill>
                <a:latin typeface="Malgun Gothic"/>
                <a:ea typeface="Malgun Gothic"/>
                <a:cs typeface="Malgun Gothic"/>
              </a:rPr>
              <a:t>합성 능력 저하와 해부학적 단락이 함께</a:t>
            </a:r>
            <a:r>
              <a:rPr sz="1600" b="0" i="0">
                <a:solidFill>
                  <a:srgbClr val="11202B"/>
                </a:solidFill>
                <a:latin typeface="Malgun Gothic"/>
                <a:ea typeface="Malgun Gothic"/>
                <a:cs typeface="Malgun Gothic"/>
              </a:rPr>
              <a:t> 만든 결과다. 다음 수업에서 이 기전과 치료를 자세히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Transamination 반응이 아미노산 분해와 비필수 아미노산 합성에 모두 쓰일 수 있는 이유를 반응의 열역학으로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Transamination의 평형상수가 1에 가까워 자유롭게 가역적이기 때문이다. 아미노기가 아미노산에서 α-ketoglutarate로 옮겨지는 반응과 glutamate에서 α-keto acid로 옮겨지는 반응의 자유에너지 변화가 거의 0이므로, 방향은 기질과 생성물의 농도비로만 정해진다. 아미노산이 과잉이면 분해 방향으로, 특정 α-keto acid가 쌓이고 질소가 충분하면 합성 방향으로 흐른다. 비가역 단계가 없으므로 이 지점은 조절점이 되지 못하고, 조절은 GDH와 CPS I 같은 비가역 단계에 놓인다.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혈중 AST는 높지만 ALT는 거의 정상인 환자에서 간 외 원인을 먼저 고려해야 하는 이유는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효소의 조직 분포가 다르기 때문이다. ALT는 간세포에 거의 집중되어 있지만 AST는 심근, 골격근, 신장, 적혈구에도 상당량 존재한다. 따라서 AST만 오른 상승은 간세포 손상보다 심근 손상, 횡문근 손상, 용혈, 또는 채혈 과정의 적혈구 파괴를 먼저 시사한다. 반대로 간세포가 손상되면 ALT가 더 특이적으로 올라간다. 예외는 알코올성 간질환으로, vitamin B6 부족으로 PLP가 모자라 ALT 활성이 상대적으로 낮아지고 미토콘드리아 AST가 함께 유출되어 AST/ALT 비가 2 이상이 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근육이 질소를 glutamine이 아니라 alanine으로도 내보내는 것은 어떤 이점이 있는가.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Alanine은 질소와 탄소를 함께 운반하기 때문이다. 근육에서 glycolysis로 생긴 pyruvate에 ALT가 질소를 옮겨 alanine을 만들고, 간에서 다시 분해하면 질소는 urea로 가고 pyruvate는 gluconeogenesis의 기질이 된다. 생성된 포도당이 근육으로 돌아오므로 근육은 질소를 버리면서 탄소를 잃지 않는다. 또한 alanine 생성에는 ATP가 들지 않는데, glutamine synthetase 반응은 ATP 한 분자를 소비한다. 기아와 심한 운동에서 이 회로의 흐름이 커지는 이유가 여기에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CPS I과 CPS II를 구분하는 기준 세 가지를 들고, 각각이 어느 경로에 속하는지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세포 내 위치로, CPS I은 미토콘드리아 기질에 있고 CPS II는 세포질에 있다. 둘째 질소원으로, CPS I은 유리 암모니아를 쓰고 CPS II는 glutamine의 amide 질소를 쓴다. 셋째 조절로, CPS I은 N-acetylglutamate가 결합하지 않으면 활성이 없는 반면 CPS II는 NAG를 요구하지 않고 ATP와 UTP로 조절된다. CPS I은 urea cycle의 첫 반응이고 CPS II는 pyrimidine de novo 합성의 첫 반응이다. 따라서 urea cycle 결손에서 carbamoyl phosphate가 세포질로 넘치면 CPS II 하류로 흘러 요 orotic acid가 늘어난다.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고단백 식사와 장기 기아는 겉보기에 반대 상황인데도 urea cycle 효소가 모두 유도된다. 그 공통점은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경우 모두 간이 처리해야 할 아미노산의 양이 늘어난다는 점이 공통이다. 고단백 식사에서는 식이 단백에서 들어온 아미노산이 단백질 합성에 필요한 양을 넘어 분해되고, 장기 기아에서는 체단백이 분해되어 포도당 생성의 기질로 쓰이면서 질소가 풀려난다. 두 경우 모두 처리할 질소가 많으므로 다섯 효소와 NAGS의 전사가 10~20배까지 유도된다. 반대로 저단백 식사에서는 이 효소들의 발현이 줄어들며, 그래서 오랫동안 단백을 제한한 환자에게 갑자기 단백을 많이 공급하면 처리 능력을 넘겨 암모니아가 올라갈 수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Urea 한 분자를 만드는 데 ATP 등가 4개가 들지만 실제 순비용은 이보다 작다. 어디서 회수되는가.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회로 밖에서 환원당량이 생기기 때문이다. 반응 4에서 생성된 fumarate가 fumarase와 malate dehydrogenase를 거쳐 oxaloacetate가 될 때 NADH 한 분자가 만들어지고, 산화적 인산화를 통해 약 2.5 ATP에 해당하는 에너지를 낸다. 또한 암모니아를 공급한 glutamate dehydrogenase 반응에서도 NADH가 하나 생긴다. 따라서 명목상 4 ATP 등가를 쓰지만 환원당량 회수를 고려하면 순비용은 상당히 줄어든다.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고암모니아혈증 환자가 과호흡으로 호흡성 알칼리증에 빠지면 신경 증상이 악화된다. 생화학적으로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암모니아의 pKa가 약 9.2이기 때문이다. 생리적 pH에서는 99% 이상이 이온형 NH4+로 존재하고, 막을 수동확산으로 통과하는 것은 비이온형 NH3다. pH가 올라가면 Henderson-Hasselbalch 관계에 따라 NH3 비율이 커지므로 혈액-뇌 장벽을 통과해 뇌로 들어가는 암모니아가 늘어난다. 뇌에서 암모니아는 glutamine synthetase에 의해 glutamine으로 전환되어 축적되고, 삼투압 상승과 astrocyte 부종을 일으킨다. 따라서 알칼리증은 같은 혈중 농도에서도 신경독성을 키운다. 치료에서 과호흡과 알칼리증 교정이 함께 고려되는 근거다.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M02-W10-L01  ·  아미노산 질소 처리와 urea cycle</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19, Removal of Nitrogen from Amino Acids.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Krebs HA, Henseleit K. Untersuchungen über die Harnstoffbildung im Tierkörper. Klinische Wochenschrift 1932;11:757–759.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Morris SM Jr. Regulation of enzymes of the urea cycle and arginine metabolism. Annu Rev Nutr 2002;22:87–105.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Häberle J et al. Suggested guidelines for the diagnosis and management of urea cycle disorders: first revision. Orphanet J Rare Dis 2019;14:32.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Haüssinger D. Nitrogen metabolism in liver: structural and functional organization and physiological relevance. Biochem J 1990;267:281–290.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Kwan L, Bartter F, Pfeiffer EF. Metabolic acidosis and renal ammoniagenesis. Am J Physiol 1981;240:F257–F265.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Walker V. Ammonia metabolism and hyperammonemic disorders. Adv Clin Chem 2014;67:73–150.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