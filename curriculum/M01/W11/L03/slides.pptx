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Wnt 경로의 두 상태. 신호가 없을 때 APC·Axin·GSK3β 파괴 복합체가 β-catenin을 인산화해 분해로 보내는 과정과, Wnt가 Frizzled와 LRP에 결합해 복합체를 해체하면 β-catenin이 쌓여 핵에서 TCF와 함께 전사를 켜는 과정을 나란히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신호가 없을 때에도 세포는 β-catenin을 계속 합성하고, 동시에 파괴 복합체(APC, Axin, CK1, GSK3β)가 그것을 인산화해 ubiquitin 표지를 붙이고 proteasome에서 분해한다. 즉 합성과 분해를 동시에 돌리므로 ATP가 지속적으로 소모된다. 겉으로는 낭비지만 이점이 분명하다. 신호가 오면 새로 전사하고 번역할 필요 없이 분해만 멈추면 되므로 수 분 안에 β-catenin 농도가 올라간다. 전사부터 시작하면 수십 분에서 수 시간이 걸린다. 또 분해 속도를 조절해 역치를 만들 수 있고, 신호가 끊기면 쌓인 β-catenin이 빠르게 제거되어 되돌아간다. 같은 설계가 다른 경로에도 있다. NF-κB는 IκB에 붙잡혀 대기하고 있고, Hedgehog 경로의 GLI는 절단된 억제 형태로 유지되고 있다. 공통점은 반응 속도를 위해 유지 비용을 치른다는 것이며, 빠른 결정이 필요한 신호에서 반복해 나타나는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*APC*는 파괴 복합체의 뼈대이므로 기능이 상실되면 β-catenin이 인산화되지 않아 분해되지 않고 쌓인다. 즉 종양 억제 유전자의 기능 상실이다. CTNNB1 변이는 β-catenin 자신의 N 말단에서 인산화되어야 할 serine과 threonine이 치환되는 것으로, 파괴 복합체가 정상이어도 분해 신호가 만들어지지 않아 역시 β-catenin이 쌓인다. 즉 기능 획득이다. 두 변이 모두 핵의 β-catenin을 올려 TCF와 함께 표적 유전자를 켜므로 하류 결과가 같다. 하나의 종양에서 함께 발견되는 일이 드문 이유는 같은 경로의 같은 지점을 두 번 켤 필요가 없기 때문이다. 첫 변이로 이미 경로가 켜져 있으면 두 번째 변이가 추가로 주는 선택적 이점이 거의 없으므로 함께 선택되지 않는다. 이 관계를 상호 배타성이라 하며, 종양 유전체 자료에서 같은 경로의 변이들이 서로 배타적으로 나타나는 양상이 경로를 재구성하는 단서로 쓰인다. 임상적으로는 어느 유전자가 변이되었든 경로가 켜져 있다는 사실이 같으므로, 치료 표적을 유전자 단위가 아니라 경로 단위로 생각해야 한다는 결론이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경로는 억제의 해제로 작동한다. 신호가 없을 때 Patched가 Smoothened를 억제하고 있고, 그 상태에서는 전사인자 GLI가 절단되어 억제 형태로 남아 표적 유전자가 꺼진다. Hedgehog 리간드가 Patched에 결합하면 Patched의 억제 활성이 사라지고, 억제가 풀린 Smoothened가 활성화되어 GLI가 활성 형태로 핵에 들어간다. 따라서 Patched의 기능이 상실되면 리간드가 없어도 Smoothened가 활성화되어 경로가 켜진다. 기능 상실이 경로 활성화로 이어지므로 Patched는 종양 억제 유전자다. 반대로 Smoothened는 활성화 변이가 생기면 Patched의 억제를 받지 않고 스스로 켜져 있게 되므로 proto-oncogene이다. 임상 자료가 이 예측과 맞는다. *PTCH1*의 생식계열 기능 상실 변이가 Gorlin 증후군을 일으켜 기저세포암과 medulloblastoma의 위험을 올리고, 산발성 기저세포암에서는 PTCH1 결손 또는 SMO 활성화 변이가 발견된다. SMO 억제제가 치료에 쓰이는 것도 SMO가 경로를 켜는 지점이기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리간드가 분비되지 않고 이웃 세포의 막에 박혀 있으므로, 신호는 서로 닿은 두 세포 사이에서만 전달되고 작용 범위가 한 세포 지름으로 제한된다. 따라서 Notch는 "조직 전체에서 내가 어디 있는가"를 알려 주는 위치 정보에는 쓸 수 없다. 그 일은 확산하는 형태형성물질이 담당한다. 대신 Notch는 이웃과의 관계를 정하는 일에 쓰인다. 가장 특징적인 것이 측방 억제다. Notch 신호를 받은 세포는 자기 리간드의 발현을 줄이므로, 우연히 리간드를 조금 더 많이 발현한 세포가 이웃을 더 강하게 억제하고 억제받은 이웃은 리간드를 더 줄이게 되어 작은 초기 차이가 증폭된다. 결과는 하나의 세포가 특정 운명을 택하고 그 이웃들이 다른 운명을 택하는 규칙적인 배치다. 신경 전구세포에서 일부만 신경세포가 되는 과정, 장 상피에서 분비세포와 흡수세포가 섞여 배치되는 과정, 내이에서 유모세포와 지지세포가 교대로 놓이는 과정이 이 기전이다. 즉 제약이 기능을 정한다. 접촉으로만 전달되는 신호는 이웃 사이의 차이를 만드는 데 쓰인다.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TGF-β 신호는 여러 하류 효과를 함께 가진다. 정상 상피에서는 CDK 억제자(p15, p21)의 발현을 올리고 *MYC*를 억제해 세포주기 진입을 막는 성장 억제 효과가 우세하다. 동시에 같은 신호가 상피-중간엽 전환을 유도하고 기질을 재구성하고 면역세포를 억제하는 효과도 가진다. 종양이 진행하는 동안 성장 억제 쪽 하류가 선택적으로 소실된다. 수용체나 SMAD4의 변이, 또는 성장 억제 표적의 반응이 끊기는 변화가 일어나면, 남은 신호는 기질과 면역을 바꾸는 쪽뿐이고 그 효과가 종양에 유리하게 작용한다. 췌장암에서 *SMAD4*가 흔히 결손되는 것이 이 과정의 예다. 치료 설계의 함의는 두 가지다. 첫째, 같은 약이 종양의 단계에 따라 반대 방향으로 작용할 수 있으므로 어느 단계에 쓰는지를 정해야 한다. 조기 종양에서 TGF-β를 억제하면 성장 억제 장치를 제거하는 셈이 되고, 진행된 종양에서는 면역 회피를 풀어 면역치료의 효과를 올릴 수 있다. 둘째, 정상 조직에서 이 경로는 염증을 억제하고 섬유화를 조절하므로, 전신 억제는 자가면역과 조직 손상의 위험을 가진다.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γ-secretase는 Notch 수용체의 두 번째 절단을 수행해 세포질 조각을 떼어 내는 효소이므로, 억제하면 Notch 신호가 전달되지 않는다. 장 상피에서 Notch는 전구세포가 흡수세포가 될지 분비세포가 될지를 정하는 신호이며, Notch 신호가 켜진 세포가 흡수세포로 간다. 억제하면 분비세포, 특히 goblet 세포가 과도하게 늘어나 점액 분비가 증가하고 흡수 기능이 떨어져 심한 설사가 생긴다. 이 때문에 용량이 제한되어 임상 개발이 어려워졌다. 교훈은 두 가지다. 첫째, 발생에 쓰이는 경로는 성체에서도 재생이 활발한 조직에서 계속 쓰이고 있다. 장 상피는 며칠마다 교체되므로 그 결정 신호를 막으면 즉시 영향이 나타난다. 그래서 이 부류 약물의 부작용을 예측할 때는 장 상피, 골수, 피부와 모발, 생식세포를 먼저 확인한다. 둘째, 표적이 여러 기질을 가진 효소이면 부작용의 범위가 넓어진다. γ-secretase는 Notch 외에 amyloid precursor protein을 포함한 여러 단백질을 절단하므로, Alzheimer 병에서 amyloid를 줄이려는 시도도 같은 이유로 실패했다. 특정 기질만 겨냥하는 조절제를 만들려는 방향이 그 대안으로 추구된다.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신호를 분비하는 영역에서 확산과 분해로 농도 구배가 생기고, 세포가 그 농도를 읽어 역치를 기준으로 운명을 택한다. 농도가 높은 구간에서는 한 운명, 중간에서는 다른 운명, 낮은 구간에서는 또 다른 운명이 선택되므로 연속적인 구배가 몇 개의 불연속적인 영역으로 번역된다. 역치를 만드는 장치는 협동적 결합, kinase 연쇄의 가파른 입출력 관계, 양성 되먹임, 그리고 서로를 억제하는 두 전사인자의 짝이다. 특히 서로 억제하는 전사인자 쌍은 중간 상태를 불안정하게 만들어 경계를 선명하게 한다. 가장 강한 증거는 신호의 출처를 옮기는 실험이다. 팔다리 싹의 뒤쪽 끝에 있는 영역(zone of polarizing activity)을 반대쪽에 이식하면 거울상의 손가락이 추가로 만들어지고, 그 영역이 Shh를 분비한다는 것이 뒤에 확인되었다. 신호의 출처를 바꾸면 구조가 따라 옮겨진다는 사실이 구배가 위치 정보라는 주장을 직접 지지한다. 다만 보완이 필요하다. 세포는 농도만이 아니라 노출 시간과 이전 신호의 이력도 함께 읽으며, 조직이 자라는 동안 구배가 비례해 조정되므로 현재의 서술은 농도와 시간과 이력이 함께 위치를 정한다는 쪽에 가깝다.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발생에서 세포는 신호를 받아 운명을 택하지만, 그 신호는 일시적이다. 신호가 사라진 뒤에도 상태를 유지해야 하므로 기억 장치가 필요하고, 양성 되먹임이 그 역할을 한다. 전사인자가 자기 유전자의 enhancer에 붙어 자기 발현을 켜는 자기 활성화 고리를 만들면, 신호가 사라져도 그 인자가 계속 발현되어 상태가 유지된다. 이 구조는 두 개의 안정 상태를 만들고, 한 번 전환되면 자극을 되돌려도 원래 상태로 돌아가지 않는 이력 현상을 보인다. 여기에 염색질 상태의 계승이 더해지면 분열을 넘어 운명이 유지된다. 음성 되먹임은 반대의 일을 한다. 하류 산물이 상류를 억제하므로 신호가 스스로 꺼지고, 정상 상태가 안정화되며 반응이 빨라지고, 입력이 변해도 출력이 일정 범위에 머문다. 적응과 항상성에 맞는 구조다. 되먹임에 지연이 있으면 억제가 늦게 도착해 신호가 과도하게 올라갔다 내려오는 것을 반복하므로 진동이 생긴다. NF-κB와 p53의 펄스, 그리고 체절 형성의 주기적 유전자 발현이 이 구조에서 나온다. 세 구조를 묶으면 하나의 결론이 나온다. 되먹임의 부호와 지연이 그 회로가 기억 장치인지 항상성 장치인지 시계인지를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생식계열인가 체세포인가다. 생식계열 변이는 모든 세포가 가지고 발생 단계부터 작용하므로 구조적 기형과 다기관 증후군이 된다. 체세포 변이는 한 세포에서 시작해 그 자손에만 있으므로, 그 세포 집단이 증식의 이점을 얻으면 종양이 된다. 둘째, 변이의 세기다. 경로를 완전히 켜거나 끄는 생식계열 변이는 발생 중에 치명적이어서 태어나지 못하므로, 살아서 관찰되는 생식계열 변이는 대개 부분적인 변화다. 체세포 변이는 발생을 마친 뒤에 생기므로 강한 활성화도 가능하고, 실제로 종양에서 발견되는 변이가 더 강한 경우가 많다. 셋째, 시기와 조직이다. 같은 경로가 어느 시기에 어느 세포에서 바뀌는지가 결과를 정한다. 여기에 중간 범주로 모자이크가 있다. 발생 초기의 체세포 변이는 그 세포에서 유래한 조직에만 존재해 분절성 병변을 만들며, 피부의 혈관 기형과 색소 병변, 국소 피질 이형성, 과성장 증후군이 그 예다. 임상적으로는 혈액 검사에서 변이가 나오지 않으므로 병변 조직을 검사해야 하고, 종양에서 쓰이는 경로 억제제가 치료에 시도된다는 점이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경로가 성체의 어디에서 쓰이고 있는가"를 먼저 물어야 한다. 발생에 쓰이는 경로는 성체에서도 조직의 유지와 재생에 계속 쓰이므로, 그 경로를 막으면 교체가 빠른 조직이 먼저 영향을 받는다. 공통 후보는 장 상피, 골수, 피부와 모발, 생식세포다. 세 가지 예를 보인다. 첫째, γ-secretase 억제제는 Notch를 막아 장 상피에서 분비세포가 과도하게 늘어 심한 설사를 일으킨다. 둘째, SMO 억제제는 Hedgehog 경로를 막아 발생에 치명적이므로 임신 중 금기이고, 성체에서는 미각 소실, 근육 경련, 탈모가 흔한데 모두 이 경로가 성체에서 쓰이는 조직이다. 셋째, JAK 억제제는 여러 사이토카인 신호를 함께 끄므로 염증을 잘 억제하지만 감염, 대상포진, 혈구 감소의 위험이 올라간다. 여기에 일반 원칙 하나를 덧붙일 수 있다. 경로의 중심에 가까운 분자를 표적으로 하면 효과가 넓고 부작용도 넓다. NF-κB를 직접 억제하지 않고 상류의 TNF를 항체로 막는 전략이 쓰이는 이유가 이것이다.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신호 경로의 통합과 발생·질환에서의 역할</a:t>
            </a:r>
          </a:p>
          <a:p>
            <a:r>
              <a:rPr sz="1500" b="0" i="0">
                <a:solidFill>
                  <a:srgbClr val="B9D2E8"/>
                </a:solidFill>
                <a:latin typeface="Malgun Gothic"/>
                <a:ea typeface="Malgun Gothic"/>
                <a:cs typeface="Malgun Gothic"/>
              </a:rPr>
              <a:t>Integration of Signaling Pathways in Development and Disease</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M01-W11-L03</a:t>
            </a:r>
          </a:p>
          <a:p>
            <a:r>
              <a:rPr sz="1100" b="0" i="0">
                <a:solidFill>
                  <a:srgbClr val="9FBEDA"/>
                </a:solidFill>
                <a:latin typeface="Malgun Gothic"/>
                <a:ea typeface="Malgun Gothic"/>
                <a:cs typeface="Malgun Gothic"/>
              </a:rPr>
              <a:t>11주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발생에 반복해 쓰이는 신호 경로를 들고 각 경로의 공통 설계 원리를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Wnt 경로의 off 상태와 on 상태를 β-catenin의 운명으로 서술하고 질환과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Hedgehog 경로의 억제 해제 구조를 설명하고 일차 섬모가 왜 필요한지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Notch 경로가 접촉 의존 신호인 이유와 측방 억제에 의한 운명 분기를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TGF-β 경로의 단계를 쓰고 같은 신호가 억제와 촉진으로 뒤바뀌는 맥락을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JAK-STAT와 NF-κB 경로의 단계를 쓰고 면역과 염증에서의 역할을 연결한다.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형태형성물질 구배가 위치 정보를 만드는 원리를 설명하고 역치 반응의 의미를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경로 사이의 교차와 되먹임이 만드는 동역학을 세 가지 들고 각각의 생물학적 결과를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신호 경로의 변이가 발생 질환과 종양으로 갈리는 조건을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신호 경로를 표적으로 하는 치료의 원리와 한계를 경로별로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M01-W11-L02 세포 신호전달: 수용체와 2차 전령 — 수용체의 세 계열, GTP 주기, 2차 전령, 되먹임</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M01-W11-L01 세포외기질과 세포 간 결합 — β-catenin이 접착과 신호 양쪽에 놓이는 구조, TGF-β의 저장</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M01-W07-L02 전사 조절과 후성유전 — 전사인자와 enhancer, bivalent domain, master regulator</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M01-W03-L01 발생: 수정에서 기관 형성까지 — 체축 형성과 기관의 유래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발생이 쓰는 경로는 몇 개뿐이다</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Wnt 경로 — β-catenin의 운명</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Hedgehog 경로 — 억제의 억제</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Notch 경로 — 접촉으로만 전달되는 신호</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TGF-β 경로 — 맥락에 따라 뒤집히는 신호</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JAK-STAT와 NF-κB — 면역과 염증의 경로</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형태형성물질 구배와 위치 정보</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경로 사이의 통합과 동역학</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발생 질환과 종양 — 같은 경로, 다른 결과</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쓰는 경로는 몇 개뿐이다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앞 수업에서 신호 전달의 부품을 다루었다. 이 수업의 질문은 다르다. </a:t>
            </a:r>
            <a:r>
              <a:rPr sz="1600" b="1" i="0">
                <a:solidFill>
                  <a:srgbClr val="11202B"/>
                </a:solidFill>
                <a:latin typeface="Malgun Gothic"/>
                <a:ea typeface="Malgun Gothic"/>
                <a:cs typeface="Malgun Gothic"/>
              </a:rPr>
              <a:t>그 부품으로 어떻게 하나의 몸이 만들어지는가</a:t>
            </a:r>
            <a:r>
              <a:rPr sz="1600" b="0" i="0">
                <a:solidFill>
                  <a:srgbClr val="11202B"/>
                </a:solidFill>
                <a:latin typeface="Malgun Gothic"/>
                <a:ea typeface="Malgun Gothic"/>
                <a:cs typeface="Malgun Gothic"/>
              </a:rPr>
              <a:t>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발생을 분자 수준에서 보면 놀라운 사실이 하나 있다. 사람의 몸에는 200종 이상의 세포가 있고 기관의 모양은 제각각이지만, 그 모든 결정에 쓰이는 신호 경로는 </a:t>
            </a:r>
            <a:r>
              <a:rPr sz="1600" b="1" i="0">
                <a:solidFill>
                  <a:srgbClr val="11202B"/>
                </a:solidFill>
                <a:latin typeface="Malgun Gothic"/>
                <a:ea typeface="Malgun Gothic"/>
                <a:cs typeface="Malgun Gothic"/>
              </a:rPr>
              <a:t>대여섯 개뿐</a:t>
            </a:r>
            <a:r>
              <a:rPr sz="1600" b="0" i="0">
                <a:solidFill>
                  <a:srgbClr val="11202B"/>
                </a:solidFill>
                <a:latin typeface="Malgun Gothic"/>
                <a:ea typeface="Malgun Gothic"/>
                <a:cs typeface="Malgun Gothic"/>
              </a:rPr>
              <a:t>이다. Wnt, Hedgehog, Notch, TGF-β, 그리고 성장인자가 쓰는 RTK 경로가 거의 전부다. 같은 경로가 초파리의 체축 형성과 사람의 손가락 형성과 장 상피의 재생에 반복해 쓰인다.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사실에서 두 가지가 따라 나온다.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첫째, 경로는 적지만 맥락이 많다.</a:t>
            </a:r>
            <a:r>
              <a:rPr sz="1600" b="0" i="0">
                <a:solidFill>
                  <a:srgbClr val="11202B"/>
                </a:solidFill>
                <a:latin typeface="Malgun Gothic"/>
                <a:ea typeface="Malgun Gothic"/>
                <a:cs typeface="Malgun Gothic"/>
              </a:rPr>
              <a:t> 같은 Wnt 신호가 어느 시기에 어느 세포에 어떤 다른 신호와 함께 오는지에 따라 전혀 다른 결과를 낸다. 발생의 다양성은 경로의 다양성이 아니라 </a:t>
            </a:r>
            <a:r>
              <a:rPr sz="1600" b="1" i="0">
                <a:solidFill>
                  <a:srgbClr val="11202B"/>
                </a:solidFill>
                <a:latin typeface="Malgun Gothic"/>
                <a:ea typeface="Malgun Gothic"/>
                <a:cs typeface="Malgun Gothic"/>
              </a:rPr>
              <a:t>조합과 순서</a:t>
            </a:r>
            <a:r>
              <a:rPr sz="1600" b="0" i="0">
                <a:solidFill>
                  <a:srgbClr val="11202B"/>
                </a:solidFill>
                <a:latin typeface="Malgun Gothic"/>
                <a:ea typeface="Malgun Gothic"/>
                <a:cs typeface="Malgun Gothic"/>
              </a:rPr>
              <a:t>에서 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둘째, 발생의 경로와 종양의 경로가 같다.</a:t>
            </a:r>
            <a:r>
              <a:rPr sz="1600" b="0" i="0">
                <a:solidFill>
                  <a:srgbClr val="11202B"/>
                </a:solidFill>
                <a:latin typeface="Malgun Gothic"/>
                <a:ea typeface="Malgun Gothic"/>
                <a:cs typeface="Malgun Gothic"/>
              </a:rPr>
              <a:t> 발생에서 세포를 증식시키고 운명을 정하던 경로가 성체에서 잘못 켜지면 종양이 된다. 그래서 발생생물학의 발견이 암 연구로 곧바로 옮겨지고, 반대로 종양에서 찾은 유전자가 발생의 기전을 알려 준다. 이 수업에서 다루는 모든 경로가 두 얼굴을 가진다.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경로들의 공통 설계도 정리해 둘 만하다.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쓰는 경로는 몇 개뿐이다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공통 요소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억제의 해제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평소에 억제되어 있고, 신호가 그 억제를 푼다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비가역적 단계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절단이나 분해가 들어가 되돌릴 수 없는 전환을 만든다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역치 반응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신호의 양이 문턱을 넘을 때만 결과가 나타난다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음성 되먹임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하류 산물이 경로를 끄는 장치를 함께 켠다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공간 구배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신호의 농도 차이가 위치 정보가 된다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쓰는 경로는 몇 개뿐이다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첫 번째 요소가 특히 반복된다.</a:t>
            </a:r>
            <a:r>
              <a:rPr sz="2000" b="0" i="0">
                <a:solidFill>
                  <a:srgbClr val="11202B"/>
                </a:solidFill>
                <a:latin typeface="Malgun Gothic"/>
                <a:ea typeface="Malgun Gothic"/>
                <a:cs typeface="Malgun Gothic"/>
              </a:rPr>
              <a:t> Wnt 경로에서 β-catenin은 평소에 분해되고 있고, Hedgehog 경로에서 Smoothened는 평소에 억제되어 있다. 신호가 하는 일은 그 억제를 푸는 것이다. 이 설계의 이점이 두 가지다. 억제를 푸는 것이 새로 만드는 것보다 빠르고, 억제의 세기를 조절해 </a:t>
            </a:r>
            <a:r>
              <a:rPr sz="2000" b="1" i="0">
                <a:solidFill>
                  <a:srgbClr val="11202B"/>
                </a:solidFill>
                <a:latin typeface="Malgun Gothic"/>
                <a:ea typeface="Malgun Gothic"/>
                <a:cs typeface="Malgun Gothic"/>
              </a:rPr>
              <a:t>역치를 만들 수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쓰는 경로는 몇 개뿐이다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발생은 대여섯 개의 신호 경로를 조합과 순서를 바꾸어 반복 사용한다. 경로들은 억제의 해제, 비가역적 단계, 역치 반응, 음성 되먹임, 공간 구배라는 설계를 공유하며, 같은 경로가 성체에서 잘못 켜지면 종양이 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발생이 쓰는 경로는 몇 개뿐이다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경로의 이름이 어떻게 붙었는지도 짚어 둘 만하다. Wnt는 초파리의 *wingless*와 생쥐의 *Int-1*을 합친 이름이고, Hedgehog는 그 유전자가 망가진 초파리 유충의 표면이 고슴도치처럼 보인 데서, Notch는 날개 끝이 패인 표현형에서 왔다. 즉 </a:t>
            </a:r>
            <a:r>
              <a:rPr sz="1400" b="1" i="0">
                <a:solidFill>
                  <a:srgbClr val="11202B"/>
                </a:solidFill>
                <a:latin typeface="Malgun Gothic"/>
                <a:ea typeface="Malgun Gothic"/>
                <a:cs typeface="Malgun Gothic"/>
              </a:rPr>
              <a:t>이름이 모두 초파리의 돌연변이 표현형에서 왔다.</a:t>
            </a:r>
            <a:r>
              <a:rPr sz="1400" b="0" i="0">
                <a:solidFill>
                  <a:srgbClr val="11202B"/>
                </a:solidFill>
                <a:latin typeface="Malgun Gothic"/>
                <a:ea typeface="Malgun Gothic"/>
                <a:cs typeface="Malgun Gothic"/>
              </a:rPr>
              <a:t> 이 사실 자체가 이 수업의 첫 주제를 보여 준다. 초파리에서 발생의 기형을 보고 찾은 유전자가 사람에서 같은 일을 하고 있었고, 그래서 초파리 유전학이 사람의 발생과 종양을 이해하는 길을 열었다. 모델 생물의 가치가 이 경로들의 이름에 남아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가지 용어를 정리해 두면 뒤의 서술이 분명해진다. 이 수업에서 "경로가 켜진다"는 말은 </a:t>
            </a:r>
            <a:r>
              <a:rPr sz="1400" b="1" i="0">
                <a:solidFill>
                  <a:srgbClr val="11202B"/>
                </a:solidFill>
                <a:latin typeface="Malgun Gothic"/>
                <a:ea typeface="Malgun Gothic"/>
                <a:cs typeface="Malgun Gothic"/>
              </a:rPr>
              <a:t>하류 전사인자가 핵에서 표적 유전자를 조절하는 상태</a:t>
            </a:r>
            <a:r>
              <a:rPr sz="1400" b="0" i="0">
                <a:solidFill>
                  <a:srgbClr val="11202B"/>
                </a:solidFill>
                <a:latin typeface="Malgun Gothic"/>
                <a:ea typeface="Malgun Gothic"/>
                <a:cs typeface="Malgun Gothic"/>
              </a:rPr>
              <a:t>를 뜻한다. 그 전사인자가 무엇인지가 경로마다 다르다. Wnt에서는 β-catenin과 TCF, Hedgehog에서는 GLI, Notch에서는 수용체의 세포질 조각, TGF-β에서는 SMAD, JAK-STAT에서는 STAT, NF-κB에서는 NF-κB 자신이다. 즉 </a:t>
            </a:r>
            <a:r>
              <a:rPr sz="1400" b="1" i="0">
                <a:solidFill>
                  <a:srgbClr val="11202B"/>
                </a:solidFill>
                <a:latin typeface="Malgun Gothic"/>
                <a:ea typeface="Malgun Gothic"/>
                <a:cs typeface="Malgun Gothic"/>
              </a:rPr>
              <a:t>여섯 경로 모두 전사인자의 핵 안 활성으로 수렴한다.</a:t>
            </a:r>
            <a:r>
              <a:rPr sz="1400" b="0" i="0">
                <a:solidFill>
                  <a:srgbClr val="11202B"/>
                </a:solidFill>
                <a:latin typeface="Malgun Gothic"/>
                <a:ea typeface="Malgun Gothic"/>
                <a:cs typeface="Malgun Gothic"/>
              </a:rPr>
              <a:t> 그래서 경로를 읽을 때는 "그 전사인자가 지금 핵에서 작동하는가"를 묻는 것이 가장 빠르고, 조직 검사에서 β-catenin이나 GLI의 핵 내 축적을 염색으로 확인하는 것이 경로 활성화의 지표로 쓰이는 이유도 여기에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Wnt 경로 — β-catenin의 운명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Wnt 경로는 </a:t>
            </a:r>
            <a:r>
              <a:rPr sz="1400" b="1" i="0">
                <a:solidFill>
                  <a:srgbClr val="11202B"/>
                </a:solidFill>
                <a:latin typeface="Malgun Gothic"/>
                <a:ea typeface="Malgun Gothic"/>
                <a:cs typeface="Malgun Gothic"/>
              </a:rPr>
              <a:t>β-catenin이 분해되는가 살아남는가</a:t>
            </a:r>
            <a:r>
              <a:rPr sz="1400" b="0" i="0">
                <a:solidFill>
                  <a:srgbClr val="11202B"/>
                </a:solidFill>
                <a:latin typeface="Malgun Gothic"/>
                <a:ea typeface="Malgun Gothic"/>
                <a:cs typeface="Malgun Gothic"/>
              </a:rPr>
              <a:t>로 요약된다. M01-W11-L01에서 본 대로 β-catenin은 접착 연결에서 cadherin을 actin에 잇는 단백질이기도 하므로, 이 분자는 접착과 신호의 두 자리에 걸쳐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신호가 없을 때(off 상태)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세포질의 자유 β-catenin이 </a:t>
            </a:r>
            <a:r>
              <a:rPr sz="1400" b="1" i="0">
                <a:solidFill>
                  <a:srgbClr val="11202B"/>
                </a:solidFill>
                <a:latin typeface="Malgun Gothic"/>
                <a:ea typeface="Malgun Gothic"/>
                <a:cs typeface="Malgun Gothic"/>
              </a:rPr>
              <a:t>파괴 복합체</a:t>
            </a:r>
            <a:r>
              <a:rPr sz="1400" b="0" i="0">
                <a:solidFill>
                  <a:srgbClr val="11202B"/>
                </a:solidFill>
                <a:latin typeface="Malgun Gothic"/>
                <a:ea typeface="Malgun Gothic"/>
                <a:cs typeface="Malgun Gothic"/>
              </a:rPr>
              <a:t>에 붙잡힌다. 구성은 APC, Axin, 그리고 두 kinase(CK1과 GSK3β)다.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두 kinase가 β-catenin의 N 말단 serine과 threonine을 인산화한다.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인산화된 자리가 </a:t>
            </a:r>
            <a:r>
              <a:rPr sz="1400" b="1" i="0">
                <a:solidFill>
                  <a:srgbClr val="11202B"/>
                </a:solidFill>
                <a:latin typeface="Malgun Gothic"/>
                <a:ea typeface="Malgun Gothic"/>
                <a:cs typeface="Malgun Gothic"/>
              </a:rPr>
              <a:t>phosphodegron</a:t>
            </a:r>
            <a:r>
              <a:rPr sz="1400" b="0" i="0">
                <a:solidFill>
                  <a:srgbClr val="11202B"/>
                </a:solidFill>
                <a:latin typeface="Malgun Gothic"/>
                <a:ea typeface="Malgun Gothic"/>
                <a:cs typeface="Malgun Gothic"/>
              </a:rPr>
              <a:t>이 되어 ubiquitin ligase가 인식하고, β-catenin이 proteasome에서 분해된다.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핵에는 β-catenin이 없으므로, 전사인자 TCF/LEF가 억제자와 함께 표적 유전자를 </a:t>
            </a:r>
            <a:r>
              <a:rPr sz="1400" b="1" i="0">
                <a:solidFill>
                  <a:srgbClr val="11202B"/>
                </a:solidFill>
                <a:latin typeface="Malgun Gothic"/>
                <a:ea typeface="Malgun Gothic"/>
                <a:cs typeface="Malgun Gothic"/>
              </a:rPr>
              <a:t>꺼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신호가 있을 때(on 상태)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Wnt가 수용체 </a:t>
            </a:r>
            <a:r>
              <a:rPr sz="1400" b="1" i="0">
                <a:solidFill>
                  <a:srgbClr val="11202B"/>
                </a:solidFill>
                <a:latin typeface="Malgun Gothic"/>
                <a:ea typeface="Malgun Gothic"/>
                <a:cs typeface="Malgun Gothic"/>
              </a:rPr>
              <a:t>Frizzled</a:t>
            </a:r>
            <a:r>
              <a:rPr sz="1400" b="0" i="0">
                <a:solidFill>
                  <a:srgbClr val="11202B"/>
                </a:solidFill>
                <a:latin typeface="Malgun Gothic"/>
                <a:ea typeface="Malgun Gothic"/>
                <a:cs typeface="Malgun Gothic"/>
              </a:rPr>
              <a:t>와 보조 수용체 LRP5/6에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수용체가 Axin과 GSK3β를 막으로 끌어당겨 파괴 복합체를 해체한다.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β-catenin이 인산화되지 않아 분해되지 않고 </a:t>
            </a:r>
            <a:r>
              <a:rPr sz="1400" b="1" i="0">
                <a:solidFill>
                  <a:srgbClr val="11202B"/>
                </a:solidFill>
                <a:latin typeface="Malgun Gothic"/>
                <a:ea typeface="Malgun Gothic"/>
                <a:cs typeface="Malgun Gothic"/>
              </a:rPr>
              <a:t>세포질에 쌓인다.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쌓인 β-catenin이 핵으로 들어가 TCF/LEF에 결합하고, 억제자를 밀어내고 공동활성화인자를 불러 표적 유전자를 켠다. 표적에는 MYC, CCND1(cyclin D1), 그리고 줄기세포 관련 유전자가 들어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Wnt 경로 — β-catenin의 운명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구조에서 </a:t>
            </a:r>
            <a:r>
              <a:rPr sz="2000" b="1" i="0">
                <a:solidFill>
                  <a:srgbClr val="11202B"/>
                </a:solidFill>
                <a:latin typeface="Malgun Gothic"/>
                <a:ea typeface="Malgun Gothic"/>
                <a:cs typeface="Malgun Gothic"/>
              </a:rPr>
              <a:t>경로가 꺼진 상태를 유지하는 데 에너지가 쓰인다</a:t>
            </a:r>
            <a:r>
              <a:rPr sz="2000" b="0" i="0">
                <a:solidFill>
                  <a:srgbClr val="11202B"/>
                </a:solidFill>
                <a:latin typeface="Malgun Gothic"/>
                <a:ea typeface="Malgun Gothic"/>
                <a:cs typeface="Malgun Gothic"/>
              </a:rPr>
              <a:t>는 점을 확인해야 한다. 세포는 β-catenin을 계속 만들고 계속 분해한다. 낭비처럼 보이지만, 그 덕분에 신호가 오면 </a:t>
            </a:r>
            <a:r>
              <a:rPr sz="2000" b="1" i="0">
                <a:solidFill>
                  <a:srgbClr val="11202B"/>
                </a:solidFill>
                <a:latin typeface="Malgun Gothic"/>
                <a:ea typeface="Malgun Gothic"/>
                <a:cs typeface="Malgun Gothic"/>
              </a:rPr>
              <a:t>새로 합성하지 않고 분해만 멈추어 수 분 안에 농도를 올릴 수 있다.</a:t>
            </a:r>
            <a:r>
              <a:rPr sz="2000" b="0" i="0">
                <a:solidFill>
                  <a:srgbClr val="11202B"/>
                </a:solidFill>
                <a:latin typeface="Malgun Gothic"/>
                <a:ea typeface="Malgun Gothic"/>
                <a:cs typeface="Malgun Gothic"/>
              </a:rPr>
              <a:t> 빠른 반응의 대가로 유지 비용을 치르는 설계다.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Wnt 경로 — β-catenin의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Wnt 경로의 변이는 대장암의 분자 병리를 이해하는 출발점이다. </a:t>
            </a:r>
            <a:r>
              <a:rPr sz="1600" b="1" i="0">
                <a:solidFill>
                  <a:srgbClr val="11202B"/>
                </a:solidFill>
                <a:latin typeface="Malgun Gothic"/>
                <a:ea typeface="Malgun Gothic"/>
                <a:cs typeface="Malgun Gothic"/>
              </a:rPr>
              <a:t>APC</a:t>
            </a:r>
            <a:r>
              <a:rPr sz="1600" b="0" i="0">
                <a:solidFill>
                  <a:srgbClr val="11202B"/>
                </a:solidFill>
                <a:latin typeface="Malgun Gothic"/>
                <a:ea typeface="Malgun Gothic"/>
                <a:cs typeface="Malgun Gothic"/>
              </a:rPr>
              <a:t>는 파괴 복합체의 뼈대이므로, 그 기능이 상실되면 Wnt가 없어도 β-catenin이 분해되지 않고 경로가 켜져 있다. 즉 APC는 </a:t>
            </a:r>
            <a:r>
              <a:rPr sz="1600" b="1" i="0">
                <a:solidFill>
                  <a:srgbClr val="11202B"/>
                </a:solidFill>
                <a:latin typeface="Malgun Gothic"/>
                <a:ea typeface="Malgun Gothic"/>
                <a:cs typeface="Malgun Gothic"/>
              </a:rPr>
              <a:t>종양 억제 유전자</a:t>
            </a:r>
            <a:r>
              <a:rPr sz="1600" b="0" i="0">
                <a:solidFill>
                  <a:srgbClr val="11202B"/>
                </a:solidFill>
                <a:latin typeface="Malgun Gothic"/>
                <a:ea typeface="Malgun Gothic"/>
                <a:cs typeface="Malgun Gothic"/>
              </a:rPr>
              <a:t>이고 β-catenin은 그 하류의 실행자다. 생식계열 변이는 </a:t>
            </a:r>
            <a:r>
              <a:rPr sz="1600" b="1" i="0">
                <a:solidFill>
                  <a:srgbClr val="11202B"/>
                </a:solidFill>
                <a:latin typeface="Malgun Gothic"/>
                <a:ea typeface="Malgun Gothic"/>
                <a:cs typeface="Malgun Gothic"/>
              </a:rPr>
              <a:t>가족성 대장폴립증(FAP)</a:t>
            </a:r>
            <a:r>
              <a:rPr sz="1600" b="0" i="0">
                <a:solidFill>
                  <a:srgbClr val="11202B"/>
                </a:solidFill>
                <a:latin typeface="Malgun Gothic"/>
                <a:ea typeface="Malgun Gothic"/>
                <a:cs typeface="Malgun Gothic"/>
              </a:rPr>
              <a:t>을 일으켜 수백에서 수천 개의 폴립이 생기고, 치료하지 않으면 거의 전원이 대장암으로 진행하므로 예방적 대장절제가 고려된다. 산발성 대장암에서도 *APC*의 체세포 변이가 가장 이른 사건으로 관찰되어, 폴립에서 암으로 가는 다단계 모형의 첫 단계에 놓인다. 함께 구별할 것이 둘 있다. 첫째, *APC*가 정상인 종양의 일부에서는 </a:t>
            </a:r>
            <a:r>
              <a:rPr sz="1600" b="1" i="0">
                <a:solidFill>
                  <a:srgbClr val="11202B"/>
                </a:solidFill>
                <a:latin typeface="Malgun Gothic"/>
                <a:ea typeface="Malgun Gothic"/>
                <a:cs typeface="Malgun Gothic"/>
              </a:rPr>
              <a:t>β-catenin 자신의 변이</a:t>
            </a:r>
            <a:r>
              <a:rPr sz="1600" b="0" i="0">
                <a:solidFill>
                  <a:srgbClr val="11202B"/>
                </a:solidFill>
                <a:latin typeface="Malgun Gothic"/>
                <a:ea typeface="Malgun Gothic"/>
                <a:cs typeface="Malgun Gothic"/>
              </a:rPr>
              <a:t>가 발견되는데, 인산화되어야 할 N 말단 serine이 치환되어 분해 신호가 만들어지지 않는 경우다. 같은 경로의 다른 지점이 같은 결과를 낸다. 둘째, </a:t>
            </a:r>
            <a:r>
              <a:rPr sz="1600" b="1" i="0">
                <a:solidFill>
                  <a:srgbClr val="11202B"/>
                </a:solidFill>
                <a:latin typeface="Malgun Gothic"/>
                <a:ea typeface="Malgun Gothic"/>
                <a:cs typeface="Malgun Gothic"/>
              </a:rPr>
              <a:t>GSK3β는 두 경로에 걸쳐 있다.</a:t>
            </a:r>
            <a:r>
              <a:rPr sz="1600" b="0" i="0">
                <a:solidFill>
                  <a:srgbClr val="11202B"/>
                </a:solidFill>
                <a:latin typeface="Malgun Gothic"/>
                <a:ea typeface="Malgun Gothic"/>
                <a:cs typeface="Malgun Gothic"/>
              </a:rPr>
              <a:t> Wnt 경로에서 β-catenin을 분해로 보내는 kinase이면서, insulin 신호에서 AKT에 의해 억제되어 glycogen 합성을 켜는 효소이기도 하다. 그래서 GSK3β를 약으로 억제하면 두 경로가 함께 영향을 받고, 이것이 이 kinase를 치료 표적으로 쓰기 어려운 이유다. 경로 그림에서 </a:t>
            </a:r>
            <a:r>
              <a:rPr sz="1600" b="1" i="0">
                <a:solidFill>
                  <a:srgbClr val="11202B"/>
                </a:solidFill>
                <a:latin typeface="Malgun Gothic"/>
                <a:ea typeface="Malgun Gothic"/>
                <a:cs typeface="Malgun Gothic"/>
              </a:rPr>
              <a:t>한 분자가 여러 경로에 속한다는 사실</a:t>
            </a:r>
            <a:r>
              <a:rPr sz="1600" b="0" i="0">
                <a:solidFill>
                  <a:srgbClr val="11202B"/>
                </a:solidFill>
                <a:latin typeface="Malgun Gothic"/>
                <a:ea typeface="Malgun Gothic"/>
                <a:cs typeface="Malgun Gothic"/>
              </a:rPr>
              <a:t>이 약물 설계의 제약이 되는 전형적인 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Wnt 경로 — β-catenin의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13</a:t>
            </a:r>
          </a:p>
        </p:txBody>
      </p:sp>
      <p:pic>
        <p:nvPicPr>
          <p:cNvPr id="7" name="Picture 6" descr="fig-wnt.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Wnt 경로의 두 상태. 신호가 없을 때 APC·Axin·GSK3β 파괴 복합체가 β-catenin을 인산화해 분해로 보내는 과정과, Wnt가 Frizzled와 LRP에 결합해 복합체를 해체하면 β-catenin이 쌓여 핵에서 TCF와 함께 전사를 켜는 과정을 나란히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Wnt 경로 — β-catenin의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Wnt 경로가 성체에서 하는 일도 정리해 둔다. 교체가 빠른 조직의 줄기세포를 유지하는 것이 그 중심이다. 장의 crypt 바닥에서는 Wnt 신호가 높아 줄기세포가 자기 재생을 유지하고, crypt를 벗어나 위로 올라가면 Wnt가 낮아져 분화한다. 즉 </a:t>
            </a:r>
            <a:r>
              <a:rPr sz="1800" b="1" i="0">
                <a:solidFill>
                  <a:srgbClr val="11202B"/>
                </a:solidFill>
                <a:latin typeface="Malgun Gothic"/>
                <a:ea typeface="Malgun Gothic"/>
                <a:cs typeface="Malgun Gothic"/>
              </a:rPr>
              <a:t>공간적인 Wnt 구배가 줄기세포 구역을 정한다.</a:t>
            </a:r>
            <a:r>
              <a:rPr sz="1800" b="0" i="0">
                <a:solidFill>
                  <a:srgbClr val="11202B"/>
                </a:solidFill>
                <a:latin typeface="Malgun Gothic"/>
                <a:ea typeface="Malgun Gothic"/>
                <a:cs typeface="Malgun Gothic"/>
              </a:rPr>
              <a:t> 그래서 이 경로가 켜져 있는 변이는 분화하지 않고 증식하는 세포 집단을 만들며, 대장에서 폴립이 생기는 과정이 그렇게 시작된다. 뼈에서는 Wnt 신호가 osteoblast의 형성을 촉진하므로, 그 억제자인 sclerostin을 항체로 막아 뼈 형성을 올리는 약(romosozumab)이 골다공증 치료에 쓰인다. </a:t>
            </a:r>
            <a:r>
              <a:rPr sz="1800" b="1" i="0">
                <a:solidFill>
                  <a:srgbClr val="11202B"/>
                </a:solidFill>
                <a:latin typeface="Malgun Gothic"/>
                <a:ea typeface="Malgun Gothic"/>
                <a:cs typeface="Malgun Gothic"/>
              </a:rPr>
              <a:t>같은 경로를 켜는 것이 한 조직에서는 치료가 되고 다른 조직에서는 종양의 위험이 된다</a:t>
            </a:r>
            <a:r>
              <a:rPr sz="1800" b="0" i="0">
                <a:solidFill>
                  <a:srgbClr val="11202B"/>
                </a:solidFill>
                <a:latin typeface="Malgun Gothic"/>
                <a:ea typeface="Malgun Gothic"/>
                <a:cs typeface="Malgun Gothic"/>
              </a:rPr>
              <a:t>는 점이 이 약의 설계와 감시에서 고려되는 부분이다.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Hedgehog 경로 — 억제의 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Hedgehog 경로는 </a:t>
            </a:r>
            <a:r>
              <a:rPr sz="1400" b="1" i="0">
                <a:solidFill>
                  <a:srgbClr val="11202B"/>
                </a:solidFill>
                <a:latin typeface="Malgun Gothic"/>
                <a:ea typeface="Malgun Gothic"/>
                <a:cs typeface="Malgun Gothic"/>
              </a:rPr>
              <a:t>이중 부정의 구조</a:t>
            </a:r>
            <a:r>
              <a:rPr sz="1400" b="0" i="0">
                <a:solidFill>
                  <a:srgbClr val="11202B"/>
                </a:solidFill>
                <a:latin typeface="Malgun Gothic"/>
                <a:ea typeface="Malgun Gothic"/>
                <a:cs typeface="Malgun Gothic"/>
              </a:rPr>
              <a:t>를 가진다. 이 구조를 이해하면 경로의 질환과 약물이 모두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신호가 없을 때</a:t>
            </a:r>
            <a:r>
              <a:rPr sz="1400" b="0" i="0">
                <a:solidFill>
                  <a:srgbClr val="11202B"/>
                </a:solidFill>
                <a:latin typeface="Malgun Gothic"/>
                <a:ea typeface="Malgun Gothic"/>
                <a:cs typeface="Malgun Gothic"/>
              </a:rPr>
              <a:t>, 막단백질 </a:t>
            </a:r>
            <a:r>
              <a:rPr sz="1400" b="1" i="0">
                <a:solidFill>
                  <a:srgbClr val="11202B"/>
                </a:solidFill>
                <a:latin typeface="Malgun Gothic"/>
                <a:ea typeface="Malgun Gothic"/>
                <a:cs typeface="Malgun Gothic"/>
              </a:rPr>
              <a:t>Patched(PTCH1)</a:t>
            </a:r>
            <a:r>
              <a:rPr sz="1400" b="0" i="0">
                <a:solidFill>
                  <a:srgbClr val="11202B"/>
                </a:solidFill>
                <a:latin typeface="Malgun Gothic"/>
                <a:ea typeface="Malgun Gothic"/>
                <a:cs typeface="Malgun Gothic"/>
              </a:rPr>
              <a:t>가 또 다른 막단백질 </a:t>
            </a:r>
            <a:r>
              <a:rPr sz="1400" b="1" i="0">
                <a:solidFill>
                  <a:srgbClr val="11202B"/>
                </a:solidFill>
                <a:latin typeface="Malgun Gothic"/>
                <a:ea typeface="Malgun Gothic"/>
                <a:cs typeface="Malgun Gothic"/>
              </a:rPr>
              <a:t>Smoothened(SMO)</a:t>
            </a:r>
            <a:r>
              <a:rPr sz="1400" b="0" i="0">
                <a:solidFill>
                  <a:srgbClr val="11202B"/>
                </a:solidFill>
                <a:latin typeface="Malgun Gothic"/>
                <a:ea typeface="Malgun Gothic"/>
                <a:cs typeface="Malgun Gothic"/>
              </a:rPr>
              <a:t>를 억제하고 있다. SMO가 억제되어 있으면 하류의 전사인자 </a:t>
            </a:r>
            <a:r>
              <a:rPr sz="1400" b="1" i="0">
                <a:solidFill>
                  <a:srgbClr val="11202B"/>
                </a:solidFill>
                <a:latin typeface="Malgun Gothic"/>
                <a:ea typeface="Malgun Gothic"/>
                <a:cs typeface="Malgun Gothic"/>
              </a:rPr>
              <a:t>GLI</a:t>
            </a:r>
            <a:r>
              <a:rPr sz="1400" b="0" i="0">
                <a:solidFill>
                  <a:srgbClr val="11202B"/>
                </a:solidFill>
                <a:latin typeface="Malgun Gothic"/>
                <a:ea typeface="Malgun Gothic"/>
                <a:cs typeface="Malgun Gothic"/>
              </a:rPr>
              <a:t>가 절단되어 억제 형태가 되고, 표적 유전자가 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신호가 있을 때</a:t>
            </a:r>
            <a:r>
              <a:rPr sz="1400" b="0" i="0">
                <a:solidFill>
                  <a:srgbClr val="11202B"/>
                </a:solidFill>
                <a:latin typeface="Malgun Gothic"/>
                <a:ea typeface="Malgun Gothic"/>
                <a:cs typeface="Malgun Gothic"/>
              </a:rPr>
              <a:t>, Hedgehog 리간드가 Patched에 결합해 </a:t>
            </a:r>
            <a:r>
              <a:rPr sz="1400" b="1" i="0">
                <a:solidFill>
                  <a:srgbClr val="11202B"/>
                </a:solidFill>
                <a:latin typeface="Malgun Gothic"/>
                <a:ea typeface="Malgun Gothic"/>
                <a:cs typeface="Malgun Gothic"/>
              </a:rPr>
              <a:t>Patched의 억제 활성을 없앤다.</a:t>
            </a:r>
            <a:r>
              <a:rPr sz="1400" b="0" i="0">
                <a:solidFill>
                  <a:srgbClr val="11202B"/>
                </a:solidFill>
                <a:latin typeface="Malgun Gothic"/>
                <a:ea typeface="Malgun Gothic"/>
                <a:cs typeface="Malgun Gothic"/>
              </a:rPr>
              <a:t> 억제가 풀린 SMO가 활성화되고, GLI가 온전한 활성 형태로 핵에 들어가 표적 유전자를 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리간드는 SMO를 직접 켜지 않고 </a:t>
            </a:r>
            <a:r>
              <a:rPr sz="1400" b="1" i="0">
                <a:solidFill>
                  <a:srgbClr val="11202B"/>
                </a:solidFill>
                <a:latin typeface="Malgun Gothic"/>
                <a:ea typeface="Malgun Gothic"/>
                <a:cs typeface="Malgun Gothic"/>
              </a:rPr>
              <a:t>SMO를 억제하던 단백질을 끈다.</a:t>
            </a:r>
            <a:r>
              <a:rPr sz="1400" b="0" i="0">
                <a:solidFill>
                  <a:srgbClr val="11202B"/>
                </a:solidFill>
                <a:latin typeface="Malgun Gothic"/>
                <a:ea typeface="Malgun Gothic"/>
                <a:cs typeface="Malgun Gothic"/>
              </a:rPr>
              <a:t> 그래서 Patched는 </a:t>
            </a:r>
            <a:r>
              <a:rPr sz="1400" b="1" i="0">
                <a:solidFill>
                  <a:srgbClr val="11202B"/>
                </a:solidFill>
                <a:latin typeface="Malgun Gothic"/>
                <a:ea typeface="Malgun Gothic"/>
                <a:cs typeface="Malgun Gothic"/>
              </a:rPr>
              <a:t>종양 억제 유전자</a:t>
            </a:r>
            <a:r>
              <a:rPr sz="1400" b="0" i="0">
                <a:solidFill>
                  <a:srgbClr val="11202B"/>
                </a:solidFill>
                <a:latin typeface="Malgun Gothic"/>
                <a:ea typeface="Malgun Gothic"/>
                <a:cs typeface="Malgun Gothic"/>
              </a:rPr>
              <a:t>, SMO는 </a:t>
            </a:r>
            <a:r>
              <a:rPr sz="1400" b="1" i="0">
                <a:solidFill>
                  <a:srgbClr val="11202B"/>
                </a:solidFill>
                <a:latin typeface="Malgun Gothic"/>
                <a:ea typeface="Malgun Gothic"/>
                <a:cs typeface="Malgun Gothic"/>
              </a:rPr>
              <a:t>proto-oncogene</a:t>
            </a:r>
            <a:r>
              <a:rPr sz="1400" b="0" i="0">
                <a:solidFill>
                  <a:srgbClr val="11202B"/>
                </a:solidFill>
                <a:latin typeface="Malgun Gothic"/>
                <a:ea typeface="Malgun Gothic"/>
                <a:cs typeface="Malgun Gothic"/>
              </a:rPr>
              <a:t>이 된다. 둘의 역할이 구조에서 바로 따라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경로는 </a:t>
            </a:r>
            <a:r>
              <a:rPr sz="1400" b="1" i="0">
                <a:solidFill>
                  <a:srgbClr val="11202B"/>
                </a:solidFill>
                <a:latin typeface="Malgun Gothic"/>
                <a:ea typeface="Malgun Gothic"/>
                <a:cs typeface="Malgun Gothic"/>
              </a:rPr>
              <a:t>일차 섬모를 필요로 한다.</a:t>
            </a:r>
            <a:r>
              <a:rPr sz="1400" b="0" i="0">
                <a:solidFill>
                  <a:srgbClr val="11202B"/>
                </a:solidFill>
                <a:latin typeface="Malgun Gothic"/>
                <a:ea typeface="Malgun Gothic"/>
                <a:cs typeface="Malgun Gothic"/>
              </a:rPr>
              <a:t> M01-W10-L02에서 본 비운동성 섬모가 그 무대다. Patched, SMO, GLI와 그 조절 단백질이 섬모 안팎을 오가며 상태를 전환하므로, 섬모가 없거나 섬모 내 운반이 망가지면 Hedgehog 신호가 작동하지 않는다. 섬모병에서 다지증과 뇌 발달 이상이 나타나는 이유의 일부가 여기에 있다. </a:t>
            </a:r>
            <a:r>
              <a:rPr sz="1400" b="1" i="0">
                <a:solidFill>
                  <a:srgbClr val="11202B"/>
                </a:solidFill>
                <a:latin typeface="Malgun Gothic"/>
                <a:ea typeface="Malgun Gothic"/>
                <a:cs typeface="Malgun Gothic"/>
              </a:rPr>
              <a:t>신호 경로가 특정 세포 구조를 요구한다</a:t>
            </a:r>
            <a:r>
              <a:rPr sz="1400" b="0" i="0">
                <a:solidFill>
                  <a:srgbClr val="11202B"/>
                </a:solidFill>
                <a:latin typeface="Malgun Gothic"/>
                <a:ea typeface="Malgun Gothic"/>
                <a:cs typeface="Malgun Gothic"/>
              </a:rPr>
              <a:t>는 점이 이 경로의 특징이다.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Hedgehog 경로 — 억제의 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31546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경로의 양쪽 극단이 모두 질환이다. </a:t>
            </a:r>
            <a:r>
              <a:rPr sz="1600" b="1" i="0">
                <a:solidFill>
                  <a:srgbClr val="11202B"/>
                </a:solidFill>
                <a:latin typeface="Malgun Gothic"/>
                <a:ea typeface="Malgun Gothic"/>
                <a:cs typeface="Malgun Gothic"/>
              </a:rPr>
              <a:t>신호가 모자라는 쪽</a:t>
            </a:r>
            <a:r>
              <a:rPr sz="1600" b="0" i="0">
                <a:solidFill>
                  <a:srgbClr val="11202B"/>
                </a:solidFill>
                <a:latin typeface="Malgun Gothic"/>
                <a:ea typeface="Malgun Gothic"/>
                <a:cs typeface="Malgun Gothic"/>
              </a:rPr>
              <a:t>에서는 holoprosencephaly가 생긴다. 전뇌가 좌우로 나뉘지 못하고 얼굴 중앙 구조가 결손되며, SHH 경로의 변이나 콜레스테롤 합성 장애(Smith–Lemli–Opitz 증후군)에서 나타난다. 콜레스테롤이 관여하는 이유는 Hedgehog 단백질이 콜레스테롤로 수식되어야 제대로 작동하고 SMO의 조절에도 스테롤이 관여하기 때문이다. 임신 중 일부 식물 알칼로이드가 SMO를 억제해 동물에서 같은 기형을 만든 관찰이 이 경로 연구의 출발점이었다. </a:t>
            </a:r>
            <a:r>
              <a:rPr sz="1600" b="1" i="0">
                <a:solidFill>
                  <a:srgbClr val="11202B"/>
                </a:solidFill>
                <a:latin typeface="Malgun Gothic"/>
                <a:ea typeface="Malgun Gothic"/>
                <a:cs typeface="Malgun Gothic"/>
              </a:rPr>
              <a:t>신호가 과도한 쪽</a:t>
            </a:r>
            <a:r>
              <a:rPr sz="1600" b="0" i="0">
                <a:solidFill>
                  <a:srgbClr val="11202B"/>
                </a:solidFill>
                <a:latin typeface="Malgun Gothic"/>
                <a:ea typeface="Malgun Gothic"/>
                <a:cs typeface="Malgun Gothic"/>
              </a:rPr>
              <a:t>에서는 종양이 생긴다. *PTCH1*의 생식계열 변이는 Gorlin 증후군을 일으켜 다발성 기저세포암, 수막종, 소아의 medulloblastoma 위험을 올린다. 산발성 기저세포암의 대부분에서도 이 경로가 활성화되어 있어, SMO를 억제하는 약(vismodegib)이 진행성 기저세포암에 쓰인다. 저항성은 대개 SMO의 변이로 약물이 결합하지 못하거나 하류 GLI가 다른 경로로 활성화되는 데서 온다. 그리고 이 약은 발생에 쓰이는 경로를 막으므로 </a:t>
            </a:r>
            <a:r>
              <a:rPr sz="1600" b="1" i="0">
                <a:solidFill>
                  <a:srgbClr val="11202B"/>
                </a:solidFill>
                <a:latin typeface="Malgun Gothic"/>
                <a:ea typeface="Malgun Gothic"/>
                <a:cs typeface="Malgun Gothic"/>
              </a:rPr>
              <a:t>임신 중 절대 금기</a:t>
            </a:r>
            <a:r>
              <a:rPr sz="1600" b="0" i="0">
                <a:solidFill>
                  <a:srgbClr val="11202B"/>
                </a:solidFill>
                <a:latin typeface="Malgun Gothic"/>
                <a:ea typeface="Malgun Gothic"/>
                <a:cs typeface="Malgun Gothic"/>
              </a:rPr>
              <a:t>다. 기전에서 금기가 직접 예측되는 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Hedgehog 경로 — 억제의 억제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Hedgehog 경로가 성체에서 쓰이는 곳도 정리해 둔다. 모낭의 주기적 재생, 미각 세포의 교체, 뼈와 연골의 성장, 그리고 일부 조직의 줄기세포 유지에 쓰인다. 이 목록이 SMO 억제제의 부작용 목록과 정확히 겹친다. 미각 소실, 탈모, 성장판이 닫히지 않은 소아에서의 성장 장애가 보고되는 이유가 여기에 있다. 소아에게 이 약을 쓰기 어려운 것도 같은 이유다. </a:t>
            </a:r>
            <a:r>
              <a:rPr sz="1800" b="1" i="0">
                <a:solidFill>
                  <a:srgbClr val="11202B"/>
                </a:solidFill>
                <a:latin typeface="Malgun Gothic"/>
                <a:ea typeface="Malgun Gothic"/>
                <a:cs typeface="Malgun Gothic"/>
              </a:rPr>
              <a:t>성체에서 쓰이는 조직의 목록이 곧 부작용의 목록</a:t>
            </a:r>
            <a:r>
              <a:rPr sz="1800" b="0" i="0">
                <a:solidFill>
                  <a:srgbClr val="11202B"/>
                </a:solidFill>
                <a:latin typeface="Malgun Gothic"/>
                <a:ea typeface="Malgun Gothic"/>
                <a:cs typeface="Malgun Gothic"/>
              </a:rPr>
              <a:t>이라는 원칙이 이 경로에서 가장 선명하게 확인된다.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Notch 경로 — 접촉으로만 전달되는 신호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Notch 경로는 다른 경로와 두 가지 점에서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리간드가 분비되지 않는다.</a:t>
            </a:r>
            <a:r>
              <a:rPr sz="1400" b="0" i="0">
                <a:solidFill>
                  <a:srgbClr val="11202B"/>
                </a:solidFill>
                <a:latin typeface="Malgun Gothic"/>
                <a:ea typeface="Malgun Gothic"/>
                <a:cs typeface="Malgun Gothic"/>
              </a:rPr>
              <a:t> 리간드(Delta, Jagged)는 이웃 세포의 막에 박혀 있으므로, 신호는 </a:t>
            </a:r>
            <a:r>
              <a:rPr sz="1400" b="1" i="0">
                <a:solidFill>
                  <a:srgbClr val="11202B"/>
                </a:solidFill>
                <a:latin typeface="Malgun Gothic"/>
                <a:ea typeface="Malgun Gothic"/>
                <a:cs typeface="Malgun Gothic"/>
              </a:rPr>
              <a:t>서로 닿은 두 세포 사이에서만</a:t>
            </a:r>
            <a:r>
              <a:rPr sz="1400" b="0" i="0">
                <a:solidFill>
                  <a:srgbClr val="11202B"/>
                </a:solidFill>
                <a:latin typeface="Malgun Gothic"/>
                <a:ea typeface="Malgun Gothic"/>
                <a:cs typeface="Malgun Gothic"/>
              </a:rPr>
              <a:t> 전달된다. 따라서 농도 구배를 만들 수 없고, 작용 범위가 한 세포 지름으로 제한된다.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2차 전령도 kinase 연쇄도 없다.</a:t>
            </a:r>
            <a:r>
              <a:rPr sz="1400" b="0" i="0">
                <a:solidFill>
                  <a:srgbClr val="11202B"/>
                </a:solidFill>
                <a:latin typeface="Malgun Gothic"/>
                <a:ea typeface="Malgun Gothic"/>
                <a:cs typeface="Malgun Gothic"/>
              </a:rPr>
              <a:t> 리간드가 결합하면 Notch 수용체가 두 번 절단되고, 잘려 나온 세포질 조각이 </a:t>
            </a:r>
            <a:r>
              <a:rPr sz="1400" b="1" i="0">
                <a:solidFill>
                  <a:srgbClr val="11202B"/>
                </a:solidFill>
                <a:latin typeface="Malgun Gothic"/>
                <a:ea typeface="Malgun Gothic"/>
                <a:cs typeface="Malgun Gothic"/>
              </a:rPr>
              <a:t>그 자체로 핵에 들어가 전사인자로 작동한다.</a:t>
            </a:r>
            <a:r>
              <a:rPr sz="1400" b="0" i="0">
                <a:solidFill>
                  <a:srgbClr val="11202B"/>
                </a:solidFill>
                <a:latin typeface="Malgun Gothic"/>
                <a:ea typeface="Malgun Gothic"/>
                <a:cs typeface="Malgun Gothic"/>
              </a:rPr>
              <a:t> 단계가 극단적으로 적다. 절단의 순서는 다음과 같다. 먼저 ADAM 계열 protease가 세포 밖 부분을 자르고, 이어 막 안에서 </a:t>
            </a:r>
            <a:r>
              <a:rPr sz="1400" b="1" i="0">
                <a:solidFill>
                  <a:srgbClr val="11202B"/>
                </a:solidFill>
                <a:latin typeface="Malgun Gothic"/>
                <a:ea typeface="Malgun Gothic"/>
                <a:cs typeface="Malgun Gothic"/>
              </a:rPr>
              <a:t>γ-secretase</a:t>
            </a:r>
            <a:r>
              <a:rPr sz="1400" b="0" i="0">
                <a:solidFill>
                  <a:srgbClr val="11202B"/>
                </a:solidFill>
                <a:latin typeface="Malgun Gothic"/>
                <a:ea typeface="Malgun Gothic"/>
                <a:cs typeface="Malgun Gothic"/>
              </a:rPr>
              <a:t>가 두 번째 절단을 수행해 세포질 조각을 떼어 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구조의 결과가 두 가지다. </a:t>
            </a:r>
            <a:r>
              <a:rPr sz="1400" b="1" i="0">
                <a:solidFill>
                  <a:srgbClr val="11202B"/>
                </a:solidFill>
                <a:latin typeface="Malgun Gothic"/>
                <a:ea typeface="Malgun Gothic"/>
                <a:cs typeface="Malgun Gothic"/>
              </a:rPr>
              <a:t>신호가 비가역적이다.</a:t>
            </a:r>
            <a:r>
              <a:rPr sz="1400" b="0" i="0">
                <a:solidFill>
                  <a:srgbClr val="11202B"/>
                </a:solidFill>
                <a:latin typeface="Malgun Gothic"/>
                <a:ea typeface="Malgun Gothic"/>
                <a:cs typeface="Malgun Gothic"/>
              </a:rPr>
              <a:t> 절단된 수용체는 되돌릴 수 없으므로 신호의 양은 수용체를 새로 만드는 속도로 제한된다. 그리고 </a:t>
            </a:r>
            <a:r>
              <a:rPr sz="1400" b="1" i="0">
                <a:solidFill>
                  <a:srgbClr val="11202B"/>
                </a:solidFill>
                <a:latin typeface="Malgun Gothic"/>
                <a:ea typeface="Malgun Gothic"/>
                <a:cs typeface="Malgun Gothic"/>
              </a:rPr>
              <a:t>증폭이 없다.</a:t>
            </a:r>
            <a:r>
              <a:rPr sz="1400" b="0" i="0">
                <a:solidFill>
                  <a:srgbClr val="11202B"/>
                </a:solidFill>
                <a:latin typeface="Malgun Gothic"/>
                <a:ea typeface="Malgun Gothic"/>
                <a:cs typeface="Malgun Gothic"/>
              </a:rPr>
              <a:t> 수용체 하나가 전사인자 하나를 만들므로, 신호의 세기는 절단된 수용체의 수에 비례한다.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Notch가 하는 일 가운데 가장 특징적인 것이 </a:t>
            </a:r>
            <a:r>
              <a:rPr sz="1400" b="1" i="0">
                <a:solidFill>
                  <a:srgbClr val="11202B"/>
                </a:solidFill>
                <a:latin typeface="Malgun Gothic"/>
                <a:ea typeface="Malgun Gothic"/>
                <a:cs typeface="Malgun Gothic"/>
              </a:rPr>
              <a:t>측방 억제(lateral inhibition)</a:t>
            </a:r>
            <a:r>
              <a:rPr sz="1400" b="0" i="0">
                <a:solidFill>
                  <a:srgbClr val="11202B"/>
                </a:solidFill>
                <a:latin typeface="Malgun Gothic"/>
                <a:ea typeface="Malgun Gothic"/>
                <a:cs typeface="Malgun Gothic"/>
              </a:rPr>
              <a:t>다. 처음에 똑같던 세포들이 서로 다른 운명으로 갈리는 과정이다. 원리는 음성 되먹임이다. Notch 신호를 받은 세포는 자기 리간드의 발현을 줄인다. 그래서 우연히 리간드를 조금 더 많이 발현한 세포가 이웃을 더 강하게 억제하고, 억제받은 이웃은 리간드를 더 줄이게 되어 차이가 증폭된다. 결과는 </a:t>
            </a:r>
            <a:r>
              <a:rPr sz="1400" b="1" i="0">
                <a:solidFill>
                  <a:srgbClr val="11202B"/>
                </a:solidFill>
                <a:latin typeface="Malgun Gothic"/>
                <a:ea typeface="Malgun Gothic"/>
                <a:cs typeface="Malgun Gothic"/>
              </a:rPr>
              <a:t>하나의 세포가 특정 운명을 택하고 그 이웃들은 다른 운명을 택하는 규칙적인 배치</a:t>
            </a:r>
            <a:r>
              <a:rPr sz="1400" b="0" i="0">
                <a:solidFill>
                  <a:srgbClr val="11202B"/>
                </a:solidFill>
                <a:latin typeface="Malgun Gothic"/>
                <a:ea typeface="Malgun Gothic"/>
                <a:cs typeface="Malgun Gothic"/>
              </a:rPr>
              <a:t>다. 신경 전구세포에서 일부만 신경세포가 되고 나머지가 지지세포가 되는 과정, 장 상피에서 분비세포와 흡수세포가 섞여 배치되는 과정, 내이에서 유모세포와 지지세포가 교대로 놓이는 과정이 모두 이 기전이다.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Notch 경로 — 접촉으로만 전달되는 신호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작은 초기 차이를 증폭해 확정적인 배치를 만드는 것</a:t>
            </a:r>
            <a:r>
              <a:rPr sz="2000" b="0" i="0">
                <a:solidFill>
                  <a:srgbClr val="11202B"/>
                </a:solidFill>
                <a:latin typeface="Malgun Gothic"/>
                <a:ea typeface="Malgun Gothic"/>
                <a:cs typeface="Malgun Gothic"/>
              </a:rPr>
              <a:t>이 이 구조의 핵심이며, 발생이 어떻게 무작위에서 질서를 만드는지에 대한 구체적인 답이다.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Notch 경로 — 접촉으로만 전달되는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31546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Notch 경로는 변이의 방향에 따라 반대의 결과를 낸다. </a:t>
            </a:r>
            <a:r>
              <a:rPr sz="1600" b="1" i="0">
                <a:solidFill>
                  <a:srgbClr val="11202B"/>
                </a:solidFill>
                <a:latin typeface="Malgun Gothic"/>
                <a:ea typeface="Malgun Gothic"/>
                <a:cs typeface="Malgun Gothic"/>
              </a:rPr>
              <a:t>기능 획득 쪽</a:t>
            </a:r>
            <a:r>
              <a:rPr sz="1600" b="0" i="0">
                <a:solidFill>
                  <a:srgbClr val="11202B"/>
                </a:solidFill>
                <a:latin typeface="Malgun Gothic"/>
                <a:ea typeface="Malgun Gothic"/>
                <a:cs typeface="Malgun Gothic"/>
              </a:rPr>
              <a:t>에서는 T세포 급성 림프구성 백혈병이 대표적이며, 환자의 절반 이상에서 *NOTCH1*의 활성화 변이가 발견된다. 그래서 γ-secretase 억제제가 치료 후보로 시험되었으나, 장 상피에서 Notch가 분비세포와 흡수세포의 비를 정하므로 억제하면 </a:t>
            </a:r>
            <a:r>
              <a:rPr sz="1600" b="1" i="0">
                <a:solidFill>
                  <a:srgbClr val="11202B"/>
                </a:solidFill>
                <a:latin typeface="Malgun Gothic"/>
                <a:ea typeface="Malgun Gothic"/>
                <a:cs typeface="Malgun Gothic"/>
              </a:rPr>
              <a:t>분비세포가 과도하게 늘어 심한 설사</a:t>
            </a:r>
            <a:r>
              <a:rPr sz="1600" b="0" i="0">
                <a:solidFill>
                  <a:srgbClr val="11202B"/>
                </a:solidFill>
                <a:latin typeface="Malgun Gothic"/>
                <a:ea typeface="Malgun Gothic"/>
                <a:cs typeface="Malgun Gothic"/>
              </a:rPr>
              <a:t>가 생겨 용량이 제한되었다. 기전에서 부작용이 예측되는 예다. </a:t>
            </a:r>
            <a:r>
              <a:rPr sz="1600" b="1" i="0">
                <a:solidFill>
                  <a:srgbClr val="11202B"/>
                </a:solidFill>
                <a:latin typeface="Malgun Gothic"/>
                <a:ea typeface="Malgun Gothic"/>
                <a:cs typeface="Malgun Gothic"/>
              </a:rPr>
              <a:t>기능 상실 쪽</a:t>
            </a:r>
            <a:r>
              <a:rPr sz="1600" b="0" i="0">
                <a:solidFill>
                  <a:srgbClr val="11202B"/>
                </a:solidFill>
                <a:latin typeface="Malgun Gothic"/>
                <a:ea typeface="Malgun Gothic"/>
                <a:cs typeface="Malgun Gothic"/>
              </a:rPr>
              <a:t>에서는 Alagille 증후군(JAG1)이 담도의 저형성과 심장·눈·척추 이상을, NOTCH3 변이가 CADASIL이라는 유전성 혈관성 뇌졸중과 치매를, 그리고 일부 편평세포암에서는 *NOTCH1*이 종양 억제 유전자로 작동한다. </a:t>
            </a:r>
            <a:r>
              <a:rPr sz="1600" b="1" i="0">
                <a:solidFill>
                  <a:srgbClr val="11202B"/>
                </a:solidFill>
                <a:latin typeface="Malgun Gothic"/>
                <a:ea typeface="Malgun Gothic"/>
                <a:cs typeface="Malgun Gothic"/>
              </a:rPr>
              <a:t>같은 유전자가 조직에 따라 oncogene이 되거나 종양 억제 유전자가 된다</a:t>
            </a:r>
            <a:r>
              <a:rPr sz="1600" b="0" i="0">
                <a:solidFill>
                  <a:srgbClr val="11202B"/>
                </a:solidFill>
                <a:latin typeface="Malgun Gothic"/>
                <a:ea typeface="Malgun Gothic"/>
                <a:cs typeface="Malgun Gothic"/>
              </a:rPr>
              <a:t>는 점이 이 경로의 특징이고, 치료를 설계할 때 조직 맥락을 먼저 확인해야 하는 이유다. γ-secretase가 Alzheimer 병의 amyloid 생성에도 관여한다는 사실(M01-W08-L01)도 함께 알아 둔다. 그 효소를 억제하면 Notch 신호도 함께 막히므로, amyloid를 줄이려는 γ-secretase 억제제의 임상 시험이 부작용으로 실패한 배경이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Notch 경로 — 접촉으로만 전달되는 신호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Notch 신호의 결과가 양방향인 또 하나의 이유는 리간드와 수용체가 </a:t>
            </a:r>
            <a:r>
              <a:rPr sz="1800" b="1" i="0">
                <a:solidFill>
                  <a:srgbClr val="11202B"/>
                </a:solidFill>
                <a:latin typeface="Malgun Gothic"/>
                <a:ea typeface="Malgun Gothic"/>
                <a:cs typeface="Malgun Gothic"/>
              </a:rPr>
              <a:t>같은 세포에 함께 발현될 수 있다</a:t>
            </a:r>
            <a:r>
              <a:rPr sz="1800" b="0" i="0">
                <a:solidFill>
                  <a:srgbClr val="11202B"/>
                </a:solidFill>
                <a:latin typeface="Malgun Gothic"/>
                <a:ea typeface="Malgun Gothic"/>
                <a:cs typeface="Malgun Gothic"/>
              </a:rPr>
              <a:t>는 점이다. 그러면 세포 안에서 둘이 결합해 서로를 비활성화하는 cis 억제가 일어나, 그 세포는 신호를 보내는 쪽과 받는 쪽 가운데 하나로 기울게 된다. 이 성질이 측방 억제의 차이 증폭을 가속한다. 또 리간드의 종류에 따라 결과가 다르다. Delta 계열과 Jagged 계열이 같은 수용체에 붙지만 하류 반응의 세기와 지속이 달라, 조직에서 어느 리간드가 쓰이는지가 운명 분기의 양상을 바꾼다. </a:t>
            </a:r>
            <a:r>
              <a:rPr sz="1800" b="1" i="0">
                <a:solidFill>
                  <a:srgbClr val="11202B"/>
                </a:solidFill>
                <a:latin typeface="Malgun Gothic"/>
                <a:ea typeface="Malgun Gothic"/>
                <a:cs typeface="Malgun Gothic"/>
              </a:rPr>
              <a:t>같은 수용체에 붙는 여러 리간드가 서로 다른 신호를 낸다</a:t>
            </a:r>
            <a:r>
              <a:rPr sz="1800" b="0" i="0">
                <a:solidFill>
                  <a:srgbClr val="11202B"/>
                </a:solidFill>
                <a:latin typeface="Malgun Gothic"/>
                <a:ea typeface="Malgun Gothic"/>
                <a:cs typeface="Malgun Gothic"/>
              </a:rPr>
              <a:t>는 점은 앞 수업에서 본 편향 작용제의 개념과 같은 축에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TGF-β 경로 — 맥락에 따라 뒤집히는 신호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TGF-β</a:t>
            </a:r>
            <a:r>
              <a:rPr sz="1400" b="0" i="0">
                <a:solidFill>
                  <a:srgbClr val="11202B"/>
                </a:solidFill>
                <a:latin typeface="Malgun Gothic"/>
                <a:ea typeface="Malgun Gothic"/>
                <a:cs typeface="Malgun Gothic"/>
              </a:rPr>
              <a:t>는 20종 이상의 구성원을 가진 큰 가족이며, BMP와 activin도 여기에 속한다. 경로의 단계는 짧다.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리간드가 </a:t>
            </a:r>
            <a:r>
              <a:rPr sz="1400" b="1" i="0">
                <a:solidFill>
                  <a:srgbClr val="11202B"/>
                </a:solidFill>
                <a:latin typeface="Malgun Gothic"/>
                <a:ea typeface="Malgun Gothic"/>
                <a:cs typeface="Malgun Gothic"/>
              </a:rPr>
              <a:t>II형 수용체</a:t>
            </a:r>
            <a:r>
              <a:rPr sz="1400" b="0" i="0">
                <a:solidFill>
                  <a:srgbClr val="11202B"/>
                </a:solidFill>
                <a:latin typeface="Malgun Gothic"/>
                <a:ea typeface="Malgun Gothic"/>
                <a:cs typeface="Malgun Gothic"/>
              </a:rPr>
              <a:t>에 결합하고, II형이 </a:t>
            </a:r>
            <a:r>
              <a:rPr sz="1400" b="1" i="0">
                <a:solidFill>
                  <a:srgbClr val="11202B"/>
                </a:solidFill>
                <a:latin typeface="Malgun Gothic"/>
                <a:ea typeface="Malgun Gothic"/>
                <a:cs typeface="Malgun Gothic"/>
              </a:rPr>
              <a:t>I형 수용체</a:t>
            </a:r>
            <a:r>
              <a:rPr sz="1400" b="0" i="0">
                <a:solidFill>
                  <a:srgbClr val="11202B"/>
                </a:solidFill>
                <a:latin typeface="Malgun Gothic"/>
                <a:ea typeface="Malgun Gothic"/>
                <a:cs typeface="Malgun Gothic"/>
              </a:rPr>
              <a:t>를 끌어와 인산화한다. 두 수용체 모두 serine/threonine kinase다.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활성화된 I형 수용체가 </a:t>
            </a:r>
            <a:r>
              <a:rPr sz="1400" b="1" i="0">
                <a:solidFill>
                  <a:srgbClr val="11202B"/>
                </a:solidFill>
                <a:latin typeface="Malgun Gothic"/>
                <a:ea typeface="Malgun Gothic"/>
                <a:cs typeface="Malgun Gothic"/>
              </a:rPr>
              <a:t>SMAD</a:t>
            </a:r>
            <a:r>
              <a:rPr sz="1400" b="0" i="0">
                <a:solidFill>
                  <a:srgbClr val="11202B"/>
                </a:solidFill>
                <a:latin typeface="Malgun Gothic"/>
                <a:ea typeface="Malgun Gothic"/>
                <a:cs typeface="Malgun Gothic"/>
              </a:rPr>
              <a:t> 전사인자를 인산화한다. TGF-β와 activin은 SMAD2·3을, BMP는 SMAD1·5·8을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인산화된 SMAD가 공통 매개자 </a:t>
            </a:r>
            <a:r>
              <a:rPr sz="1400" b="1" i="0">
                <a:solidFill>
                  <a:srgbClr val="11202B"/>
                </a:solidFill>
                <a:latin typeface="Malgun Gothic"/>
                <a:ea typeface="Malgun Gothic"/>
                <a:cs typeface="Malgun Gothic"/>
              </a:rPr>
              <a:t>SMAD4</a:t>
            </a:r>
            <a:r>
              <a:rPr sz="1400" b="0" i="0">
                <a:solidFill>
                  <a:srgbClr val="11202B"/>
                </a:solidFill>
                <a:latin typeface="Malgun Gothic"/>
                <a:ea typeface="Malgun Gothic"/>
                <a:cs typeface="Malgun Gothic"/>
              </a:rPr>
              <a:t>와 복합체를 이루어 핵으로 들어가 전사를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억제성 SMAD(SMAD6·7)가 음성 되먹임으로 경로를 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경로를 따로 다루어야 하는 이유는 </a:t>
            </a:r>
            <a:r>
              <a:rPr sz="1400" b="1" i="0">
                <a:solidFill>
                  <a:srgbClr val="11202B"/>
                </a:solidFill>
                <a:latin typeface="Malgun Gothic"/>
                <a:ea typeface="Malgun Gothic"/>
                <a:cs typeface="Malgun Gothic"/>
              </a:rPr>
              <a:t>같은 신호가 맥락에 따라 반대의 결과를 낸다</a:t>
            </a:r>
            <a:r>
              <a:rPr sz="1400" b="0" i="0">
                <a:solidFill>
                  <a:srgbClr val="11202B"/>
                </a:solidFill>
                <a:latin typeface="Malgun Gothic"/>
                <a:ea typeface="Malgun Gothic"/>
                <a:cs typeface="Malgun Gothic"/>
              </a:rPr>
              <a:t>는 점이다. 정상 상피세포에서 TGF-β는 </a:t>
            </a:r>
            <a:r>
              <a:rPr sz="1400" b="1" i="0">
                <a:solidFill>
                  <a:srgbClr val="11202B"/>
                </a:solidFill>
                <a:latin typeface="Malgun Gothic"/>
                <a:ea typeface="Malgun Gothic"/>
                <a:cs typeface="Malgun Gothic"/>
              </a:rPr>
              <a:t>성장을 억제한다.</a:t>
            </a:r>
            <a:r>
              <a:rPr sz="1400" b="0" i="0">
                <a:solidFill>
                  <a:srgbClr val="11202B"/>
                </a:solidFill>
                <a:latin typeface="Malgun Gothic"/>
                <a:ea typeface="Malgun Gothic"/>
                <a:cs typeface="Malgun Gothic"/>
              </a:rPr>
              <a:t> CDK 억제자(p15, p21)의 발현을 올리고 *MYC*를 억제해 세포주기 진입을 막는다. 그런데 진행된 종양에서는 같은 TGF-β가 </a:t>
            </a:r>
            <a:r>
              <a:rPr sz="1400" b="1" i="0">
                <a:solidFill>
                  <a:srgbClr val="11202B"/>
                </a:solidFill>
                <a:latin typeface="Malgun Gothic"/>
                <a:ea typeface="Malgun Gothic"/>
                <a:cs typeface="Malgun Gothic"/>
              </a:rPr>
              <a:t>침습과 전이를 촉진한다.</a:t>
            </a:r>
            <a:r>
              <a:rPr sz="1400" b="0" i="0">
                <a:solidFill>
                  <a:srgbClr val="11202B"/>
                </a:solidFill>
                <a:latin typeface="Malgun Gothic"/>
                <a:ea typeface="Malgun Gothic"/>
                <a:cs typeface="Malgun Gothic"/>
              </a:rPr>
              <a:t> 상피-중간엽 전환을 유도하고, 기질을 재구성하고, 면역세포를 억제해 종양이 면역을 회피하게 돕는다.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역전은 종양이 경로의 </a:t>
            </a:r>
            <a:r>
              <a:rPr sz="1400" b="1" i="0">
                <a:solidFill>
                  <a:srgbClr val="11202B"/>
                </a:solidFill>
                <a:latin typeface="Malgun Gothic"/>
                <a:ea typeface="Malgun Gothic"/>
                <a:cs typeface="Malgun Gothic"/>
              </a:rPr>
              <a:t>성장 억제 쪽 하류를 잃었기 때문</a:t>
            </a:r>
            <a:r>
              <a:rPr sz="1400" b="0" i="0">
                <a:solidFill>
                  <a:srgbClr val="11202B"/>
                </a:solidFill>
                <a:latin typeface="Malgun Gothic"/>
                <a:ea typeface="Malgun Gothic"/>
                <a:cs typeface="Malgun Gothic"/>
              </a:rPr>
              <a:t>으로 설명된다. 많은 종양에서 TGF-β 수용체나 SMAD4가 변이되거나, 성장 억제 표적의 반응이 끊긴다. 그러면 남은 신호는 기질과 면역을 바꾸는 쪽뿐이고, 그 효과가 종양에 유리하게 작용한다. 췌장암에서 *SMAD4*가 흔히 결손되는 것, 그리고 TGF-β 신호가 종양 단계에 따라 억제자에서 촉진자로 바뀐다는 서술이 여기서 나온다.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TGF-β 경로 — 맥락에 따라 뒤집히는 신호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치료의 설계도 이 양면성에 걸려 있다. TGF-β를 억제하면 면역 회피를 풀어 면역치료의 효과를 올릴 수 있다는 가설이 있고, 반대로 정상 조직에서 그 억제는 염증과 자가면역을 유발할 수 있다. 섬유화에서는 TGF-β가 myofibroblast 전환을 유도하는 주된 신호이므로 억제가 치료 표적이 된다(M01-W11-L01). </a:t>
            </a:r>
            <a:r>
              <a:rPr sz="1400" b="1" i="0">
                <a:solidFill>
                  <a:srgbClr val="11202B"/>
                </a:solidFill>
                <a:latin typeface="Malgun Gothic"/>
                <a:ea typeface="Malgun Gothic"/>
                <a:cs typeface="Malgun Gothic"/>
              </a:rPr>
              <a:t>하나의 경로가 단계와 조직에 따라 표적이 되거나 보존해야 할 대상이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BMP는 같은 가족이면서 다른 일을 한다. 뼈 형성을 유도하고(이름이 거기서 왔다), 발생에서 배축의 배면과 복면을 정하는 구배를 만든다. 임상에서는 BMP가 과도하게 켜지는 변이가 </a:t>
            </a:r>
            <a:r>
              <a:rPr sz="1400" b="1" i="0">
                <a:solidFill>
                  <a:srgbClr val="11202B"/>
                </a:solidFill>
                <a:latin typeface="Malgun Gothic"/>
                <a:ea typeface="Malgun Gothic"/>
                <a:cs typeface="Malgun Gothic"/>
              </a:rPr>
              <a:t>진행성 골화성 섬유이상증</a:t>
            </a:r>
            <a:r>
              <a:rPr sz="1400" b="0" i="0">
                <a:solidFill>
                  <a:srgbClr val="11202B"/>
                </a:solidFill>
                <a:latin typeface="Malgun Gothic"/>
                <a:ea typeface="Malgun Gothic"/>
                <a:cs typeface="Malgun Gothic"/>
              </a:rPr>
              <a:t>을 일으켜 연부조직이 뼈로 바뀌는 드문 질환이 되며, BMP 길항제인 noggin과 gremlin이 정상 발생에서 그 범위를 제한한다.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TGF-β 가족의 신호가 세포 밖에서 조절된다는 점도 알아 둔다. 리간드는 비활성 전구체로 분비되어 기질의 단백질(latent TGF-β binding protein, fibrillin)에 붙잡혀 저장되고, 필요할 때 protease나 기계적 힘에 의해 풀려난다. M01-W11-L01에서 본 Marfan 증후군의 기전이 이것이다. 또 BMP에는 noggin, gremlin, chordin 같은 </a:t>
            </a:r>
            <a:r>
              <a:rPr sz="1400" b="1" i="0">
                <a:solidFill>
                  <a:srgbClr val="11202B"/>
                </a:solidFill>
                <a:latin typeface="Malgun Gothic"/>
                <a:ea typeface="Malgun Gothic"/>
                <a:cs typeface="Malgun Gothic"/>
              </a:rPr>
              <a:t>세포 밖 길항제</a:t>
            </a:r>
            <a:r>
              <a:rPr sz="1400" b="0" i="0">
                <a:solidFill>
                  <a:srgbClr val="11202B"/>
                </a:solidFill>
                <a:latin typeface="Malgun Gothic"/>
                <a:ea typeface="Malgun Gothic"/>
                <a:cs typeface="Malgun Gothic"/>
              </a:rPr>
              <a:t>가 있어 리간드를 붙잡아 수용체에 닿지 못하게 한다. 발생에서 신호의 범위를 정하는 것이 리간드의 확산만이 아니라 </a:t>
            </a:r>
            <a:r>
              <a:rPr sz="1400" b="1" i="0">
                <a:solidFill>
                  <a:srgbClr val="11202B"/>
                </a:solidFill>
                <a:latin typeface="Malgun Gothic"/>
                <a:ea typeface="Malgun Gothic"/>
                <a:cs typeface="Malgun Gothic"/>
              </a:rPr>
              <a:t>길항제의 분포</a:t>
            </a:r>
            <a:r>
              <a:rPr sz="1400" b="0" i="0">
                <a:solidFill>
                  <a:srgbClr val="11202B"/>
                </a:solidFill>
                <a:latin typeface="Malgun Gothic"/>
                <a:ea typeface="Malgun Gothic"/>
                <a:cs typeface="Malgun Gothic"/>
              </a:rPr>
              <a:t>이기도 하다는 뜻이며, 구배의 모양이 두 분자의 상대적 분포로 조형된다. 이 층위의 조절은 세포 안의 경로를 건드리지 않고 신호의 양만 바꿀 수 있어, 치료 표적으로도 접근하기 쉽다는 이점이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JAK-STAT와 NF-κB — 면역과 염증의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JAK-STAT 경로</a:t>
            </a:r>
            <a:r>
              <a:rPr sz="1400" b="0" i="0">
                <a:solidFill>
                  <a:srgbClr val="11202B"/>
                </a:solidFill>
                <a:latin typeface="Malgun Gothic"/>
                <a:ea typeface="Malgun Gothic"/>
                <a:cs typeface="Malgun Gothic"/>
              </a:rPr>
              <a:t>는 사이토카인과 일부 호르몬이 쓰며, 단계가 가장 적은 경로에 속한다.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리간드가 수용체에 결합하면 수용체가 이량체화하거나 구조가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수용체에 붙어 있던 </a:t>
            </a:r>
            <a:r>
              <a:rPr sz="1400" b="1" i="0">
                <a:solidFill>
                  <a:srgbClr val="11202B"/>
                </a:solidFill>
                <a:latin typeface="Malgun Gothic"/>
                <a:ea typeface="Malgun Gothic"/>
                <a:cs typeface="Malgun Gothic"/>
              </a:rPr>
              <a:t>JAK</a:t>
            </a:r>
            <a:r>
              <a:rPr sz="1400" b="0" i="0">
                <a:solidFill>
                  <a:srgbClr val="11202B"/>
                </a:solidFill>
                <a:latin typeface="Malgun Gothic"/>
                <a:ea typeface="Malgun Gothic"/>
                <a:cs typeface="Malgun Gothic"/>
              </a:rPr>
              <a:t> kinase가 서로를 인산화하고 수용체의 tyrosine을 인산화한다.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STAT</a:t>
            </a:r>
            <a:r>
              <a:rPr sz="1400" b="0" i="0">
                <a:solidFill>
                  <a:srgbClr val="11202B"/>
                </a:solidFill>
                <a:latin typeface="Malgun Gothic"/>
                <a:ea typeface="Malgun Gothic"/>
                <a:cs typeface="Malgun Gothic"/>
              </a:rPr>
              <a:t> 전사인자가 SH2 도메인으로 그 자리에 붙고 JAK에 의해 인산화된다.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인산화된 STAT이 이량체를 이루어 핵으로 들어가 직접 전사를 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표적 가운데 </a:t>
            </a:r>
            <a:r>
              <a:rPr sz="1400" b="1" i="0">
                <a:solidFill>
                  <a:srgbClr val="11202B"/>
                </a:solidFill>
                <a:latin typeface="Malgun Gothic"/>
                <a:ea typeface="Malgun Gothic"/>
                <a:cs typeface="Malgun Gothic"/>
              </a:rPr>
              <a:t>SOCS</a:t>
            </a:r>
            <a:r>
              <a:rPr sz="1400" b="0" i="0">
                <a:solidFill>
                  <a:srgbClr val="11202B"/>
                </a:solidFill>
                <a:latin typeface="Malgun Gothic"/>
                <a:ea typeface="Malgun Gothic"/>
                <a:cs typeface="Malgun Gothic"/>
              </a:rPr>
              <a:t>가 JAK을 억제해 경로를 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수용체에서 전사인자까지 두 단계라는 점이 이 경로의 특징이고, 그래서 사이토카인 자극 후 수십 분 안에 유전자 발현이 바뀐다. 쓰이는 곳은 조혈과 면역이다. Erythropoietin, growth hormone, prolactin, leptin, 인터페론, 그리고 대부분의 인터루킨이 이 경로를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NF-κB 경로</a:t>
            </a:r>
            <a:r>
              <a:rPr sz="1400" b="0" i="0">
                <a:solidFill>
                  <a:srgbClr val="11202B"/>
                </a:solidFill>
                <a:latin typeface="Malgun Gothic"/>
                <a:ea typeface="Malgun Gothic"/>
                <a:cs typeface="Malgun Gothic"/>
              </a:rPr>
              <a:t>는 염증의 중심이다. M01-W07-L02에서 신호가 전사인자를 핵으로 들여보내는 예로 다룬 경로이며, 여기서 다시 정리한다.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평소에 NF-κB는 억제자 </a:t>
            </a:r>
            <a:r>
              <a:rPr sz="1400" b="1" i="0">
                <a:solidFill>
                  <a:srgbClr val="11202B"/>
                </a:solidFill>
                <a:latin typeface="Malgun Gothic"/>
                <a:ea typeface="Malgun Gothic"/>
                <a:cs typeface="Malgun Gothic"/>
              </a:rPr>
              <a:t>IκB</a:t>
            </a:r>
            <a:r>
              <a:rPr sz="1400" b="0" i="0">
                <a:solidFill>
                  <a:srgbClr val="11202B"/>
                </a:solidFill>
                <a:latin typeface="Malgun Gothic"/>
                <a:ea typeface="Malgun Gothic"/>
                <a:cs typeface="Malgun Gothic"/>
              </a:rPr>
              <a:t>와 결합해 세포질에 머문다. IκB가 NF-κB의 핵 국소화 신호를 가린다.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염증 자극(TNF, IL-1, 세균의 구성 성분, 손상 신호)이 수용체를 통해 </a:t>
            </a:r>
            <a:r>
              <a:rPr sz="1400" b="1" i="0">
                <a:solidFill>
                  <a:srgbClr val="11202B"/>
                </a:solidFill>
                <a:latin typeface="Malgun Gothic"/>
                <a:ea typeface="Malgun Gothic"/>
                <a:cs typeface="Malgun Gothic"/>
              </a:rPr>
              <a:t>IKK</a:t>
            </a:r>
            <a:r>
              <a:rPr sz="1400" b="0" i="0">
                <a:solidFill>
                  <a:srgbClr val="11202B"/>
                </a:solidFill>
                <a:latin typeface="Malgun Gothic"/>
                <a:ea typeface="Malgun Gothic"/>
                <a:cs typeface="Malgun Gothic"/>
              </a:rPr>
              <a:t>를 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IKK가 IκB를 인산화하고, 인산화된 IκB가 ubiquitin 표지를 받아 proteasome에서 분해된다.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JAK-STAT와 NF-κB — 면역과 염증의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드러난 NF-κB가 핵으로 들어가 사이토카인, 접착 분자, 생존 유전자의 전사를 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5. 표적 가운데 </a:t>
            </a:r>
            <a:r>
              <a:rPr sz="1600" b="1" i="0">
                <a:solidFill>
                  <a:srgbClr val="11202B"/>
                </a:solidFill>
                <a:latin typeface="Malgun Gothic"/>
                <a:ea typeface="Malgun Gothic"/>
                <a:cs typeface="Malgun Gothic"/>
              </a:rPr>
              <a:t>IκB 자신</a:t>
            </a:r>
            <a:r>
              <a:rPr sz="1600" b="0" i="0">
                <a:solidFill>
                  <a:srgbClr val="11202B"/>
                </a:solidFill>
                <a:latin typeface="Malgun Gothic"/>
                <a:ea typeface="Malgun Gothic"/>
                <a:cs typeface="Malgun Gothic"/>
              </a:rPr>
              <a:t>이 들어 있어, 새로 만들어진 IκB가 NF-κB를 다시 붙잡는다.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마지막 단계가 중요하다. </a:t>
            </a:r>
            <a:r>
              <a:rPr sz="1600" b="1" i="0">
                <a:solidFill>
                  <a:srgbClr val="11202B"/>
                </a:solidFill>
                <a:latin typeface="Malgun Gothic"/>
                <a:ea typeface="Malgun Gothic"/>
                <a:cs typeface="Malgun Gothic"/>
              </a:rPr>
              <a:t>경로가 자기 억제자를 켜므로 신호가 펄스로 나타나고, 자극이 지속되면 진동이 생긴다.</a:t>
            </a:r>
            <a:r>
              <a:rPr sz="1600" b="0" i="0">
                <a:solidFill>
                  <a:srgbClr val="11202B"/>
                </a:solidFill>
                <a:latin typeface="Malgun Gothic"/>
                <a:ea typeface="Malgun Gothic"/>
                <a:cs typeface="Malgun Gothic"/>
              </a:rPr>
              <a:t> 지연이 있는 음성 되먹임의 전형이며, 이 진동의 양상이 어느 표적 유전자가 켜지는지를 바꾼다는 결과가 보고되었다.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경로가 약물의 표적이라는 점도 함께 정리한다. </a:t>
            </a:r>
            <a:r>
              <a:rPr sz="1600" b="1" i="0">
                <a:solidFill>
                  <a:srgbClr val="11202B"/>
                </a:solidFill>
                <a:latin typeface="Malgun Gothic"/>
                <a:ea typeface="Malgun Gothic"/>
                <a:cs typeface="Malgun Gothic"/>
              </a:rPr>
              <a:t>JAK 억제제</a:t>
            </a:r>
            <a:r>
              <a:rPr sz="1600" b="0" i="0">
                <a:solidFill>
                  <a:srgbClr val="11202B"/>
                </a:solidFill>
                <a:latin typeface="Malgun Gothic"/>
                <a:ea typeface="Malgun Gothic"/>
                <a:cs typeface="Malgun Gothic"/>
              </a:rPr>
              <a:t>(tofacitinib, baricitinib, ruxolitinib)가 류마티스 관절염, 아토피 피부염, 골수섬유증에 쓰인다. 여러 사이토카인이 같은 JAK을 공유하므로 </a:t>
            </a:r>
            <a:r>
              <a:rPr sz="1600" b="1" i="0">
                <a:solidFill>
                  <a:srgbClr val="11202B"/>
                </a:solidFill>
                <a:latin typeface="Malgun Gothic"/>
                <a:ea typeface="Malgun Gothic"/>
                <a:cs typeface="Malgun Gothic"/>
              </a:rPr>
              <a:t>하나의 약이 여러 사이토카인 신호를 함께 끄는 것</a:t>
            </a:r>
            <a:r>
              <a:rPr sz="1600" b="0" i="0">
                <a:solidFill>
                  <a:srgbClr val="11202B"/>
                </a:solidFill>
                <a:latin typeface="Malgun Gothic"/>
                <a:ea typeface="Malgun Gothic"/>
                <a:cs typeface="Malgun Gothic"/>
              </a:rPr>
              <a:t>이 효과의 근거이면서 감염과 혈구 감소 위험의 원인이다. NF-κB는 너무 광범위해 직접 억제하기 어렵고, 대신 상류의 TNF를 항체로 막거나 glucocorticoid로 그 작용을 방해하는 방식이 쓰인다. </a:t>
            </a:r>
            <a:r>
              <a:rPr sz="1600" b="1" i="0">
                <a:solidFill>
                  <a:srgbClr val="11202B"/>
                </a:solidFill>
                <a:latin typeface="Malgun Gothic"/>
                <a:ea typeface="Malgun Gothic"/>
                <a:cs typeface="Malgun Gothic"/>
              </a:rPr>
              <a:t>경로의 중심에 가까울수록 효과가 넓고 부작용도 넓다</a:t>
            </a:r>
            <a:r>
              <a:rPr sz="1600" b="0" i="0">
                <a:solidFill>
                  <a:srgbClr val="11202B"/>
                </a:solidFill>
                <a:latin typeface="Malgun Gothic"/>
                <a:ea typeface="Malgun Gothic"/>
                <a:cs typeface="Malgun Gothic"/>
              </a:rPr>
              <a:t>는 원칙이 두 경로의 대비에서 드러난다.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JAK-STAT와 NF-κB — 면역과 염증의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신호 경로를 표적으로 하는 약물의 효과와 부작용은 </a:t>
            </a:r>
            <a:r>
              <a:rPr sz="1600" b="1" i="0">
                <a:solidFill>
                  <a:srgbClr val="11202B"/>
                </a:solidFill>
                <a:latin typeface="Malgun Gothic"/>
                <a:ea typeface="Malgun Gothic"/>
                <a:cs typeface="Malgun Gothic"/>
              </a:rPr>
              <a:t>그 경로가 정상적으로 어디에 쓰이는지</a:t>
            </a:r>
            <a:r>
              <a:rPr sz="1600" b="0" i="0">
                <a:solidFill>
                  <a:srgbClr val="11202B"/>
                </a:solidFill>
                <a:latin typeface="Malgun Gothic"/>
                <a:ea typeface="Malgun Gothic"/>
                <a:cs typeface="Malgun Gothic"/>
              </a:rPr>
              <a:t>에서 예측된다. 네 예를 묶어 두면 논리가 보인다. (1) </a:t>
            </a:r>
            <a:r>
              <a:rPr sz="1600" b="1" i="0">
                <a:solidFill>
                  <a:srgbClr val="11202B"/>
                </a:solidFill>
                <a:latin typeface="Malgun Gothic"/>
                <a:ea typeface="Malgun Gothic"/>
                <a:cs typeface="Malgun Gothic"/>
              </a:rPr>
              <a:t>γ-secretase 억제제</a:t>
            </a:r>
            <a:r>
              <a:rPr sz="1600" b="0" i="0">
                <a:solidFill>
                  <a:srgbClr val="11202B"/>
                </a:solidFill>
                <a:latin typeface="Malgun Gothic"/>
                <a:ea typeface="Malgun Gothic"/>
                <a:cs typeface="Malgun Gothic"/>
              </a:rPr>
              <a:t>: Notch를 끄려 했으나 장 상피에서 분비세포와 흡수세포의 비를 정하는 Notch가 함께 막혀 심한 설사가 생겼다. (2) </a:t>
            </a:r>
            <a:r>
              <a:rPr sz="1600" b="1" i="0">
                <a:solidFill>
                  <a:srgbClr val="11202B"/>
                </a:solidFill>
                <a:latin typeface="Malgun Gothic"/>
                <a:ea typeface="Malgun Gothic"/>
                <a:cs typeface="Malgun Gothic"/>
              </a:rPr>
              <a:t>SMO 억제제(vismodegib)</a:t>
            </a:r>
            <a:r>
              <a:rPr sz="1600" b="0" i="0">
                <a:solidFill>
                  <a:srgbClr val="11202B"/>
                </a:solidFill>
                <a:latin typeface="Malgun Gothic"/>
                <a:ea typeface="Malgun Gothic"/>
                <a:cs typeface="Malgun Gothic"/>
              </a:rPr>
              <a:t>: Hedgehog 경로를 끄므로 발생에 치명적이어서 임신 중 금기이고, 성체에서는 미각 소실, 근육 경련, 탈모가 흔하다. 모두 Hedgehog가 성체에서도 쓰이는 조직이다. (3) </a:t>
            </a:r>
            <a:r>
              <a:rPr sz="1600" b="1" i="0">
                <a:solidFill>
                  <a:srgbClr val="11202B"/>
                </a:solidFill>
                <a:latin typeface="Malgun Gothic"/>
                <a:ea typeface="Malgun Gothic"/>
                <a:cs typeface="Malgun Gothic"/>
              </a:rPr>
              <a:t>JAK 억제제</a:t>
            </a:r>
            <a:r>
              <a:rPr sz="1600" b="0" i="0">
                <a:solidFill>
                  <a:srgbClr val="11202B"/>
                </a:solidFill>
                <a:latin typeface="Malgun Gothic"/>
                <a:ea typeface="Malgun Gothic"/>
                <a:cs typeface="Malgun Gothic"/>
              </a:rPr>
              <a:t>: 여러 사이토카인 신호를 함께 끄므로 염증을 잘 억제하지만, 감염과 대상포진, 혈구 감소의 위험이 올라간다. (4) </a:t>
            </a:r>
            <a:r>
              <a:rPr sz="1600" b="1" i="0">
                <a:solidFill>
                  <a:srgbClr val="11202B"/>
                </a:solidFill>
                <a:latin typeface="Malgun Gothic"/>
                <a:ea typeface="Malgun Gothic"/>
                <a:cs typeface="Malgun Gothic"/>
              </a:rPr>
              <a:t>TGF-β 억제</a:t>
            </a:r>
            <a:r>
              <a:rPr sz="1600" b="0" i="0">
                <a:solidFill>
                  <a:srgbClr val="11202B"/>
                </a:solidFill>
                <a:latin typeface="Malgun Gothic"/>
                <a:ea typeface="Malgun Gothic"/>
                <a:cs typeface="Malgun Gothic"/>
              </a:rPr>
              <a:t>: 종양의 면역 회피를 풀 수 있으나 정상 조직에서 염증과 자가면역을 유발할 수 있고, 동물에서 심장 판막의 이상이 보고되었다. 네 예의 공통 구조는 하나다. </a:t>
            </a:r>
            <a:r>
              <a:rPr sz="1600" b="1" i="0">
                <a:solidFill>
                  <a:srgbClr val="11202B"/>
                </a:solidFill>
                <a:latin typeface="Malgun Gothic"/>
                <a:ea typeface="Malgun Gothic"/>
                <a:cs typeface="Malgun Gothic"/>
              </a:rPr>
              <a:t>발생에 쓰이는 경로는 성체에서도 재생이 활발한 조직에 쓰이고 있으므로, 그 경로를 끄면 그 조직이 먼저 영향을 받는다.</a:t>
            </a:r>
            <a:r>
              <a:rPr sz="1600" b="0" i="0">
                <a:solidFill>
                  <a:srgbClr val="11202B"/>
                </a:solidFill>
                <a:latin typeface="Malgun Gothic"/>
                <a:ea typeface="Malgun Gothic"/>
                <a:cs typeface="Malgun Gothic"/>
              </a:rPr>
              <a:t> 그래서 이 부류 문제는 "이 약의 부작용은 무엇인가"가 아니라 "이 경로가 성체의 어디에서 쓰이는가"로 바꾸어 풀어야 한다. 장 상피, 골수, 피부와 모발, 생식세포가 공통 후보다.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JAK-STAT와 NF-κB — 면역과 염증의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경로를 묶어 보면 공통점이 보인다. JAK-STAT와 NF-κB는 모두 </a:t>
            </a:r>
            <a:r>
              <a:rPr sz="1400" b="1" i="0">
                <a:solidFill>
                  <a:srgbClr val="11202B"/>
                </a:solidFill>
                <a:latin typeface="Malgun Gothic"/>
                <a:ea typeface="Malgun Gothic"/>
                <a:cs typeface="Malgun Gothic"/>
              </a:rPr>
              <a:t>단계가 적고 빠르며, 미리 만들어 둔 전사인자를 쓰고, 자기 억제자를 표적으로 가진다.</a:t>
            </a:r>
            <a:r>
              <a:rPr sz="1400" b="0" i="0">
                <a:solidFill>
                  <a:srgbClr val="11202B"/>
                </a:solidFill>
                <a:latin typeface="Malgun Gothic"/>
                <a:ea typeface="Malgun Gothic"/>
                <a:cs typeface="Malgun Gothic"/>
              </a:rPr>
              <a:t> 염증과 면역에서 요구되는 성질이 그대로 반영되어 있다. 감염이 일어나면 수십 분 안에 유전자 발현을 바꾸어야 하므로 단계가 적어야 하고, 반응이 지나치면 조직을 해치므로 스스로 끌 장치를 함께 켜야 한다. 반면 앞 절들의 발생 경로는 운명을 확정해야 하므로 비가역적 단계와 양성 되먹임을 가진다. </a:t>
            </a:r>
            <a:r>
              <a:rPr sz="1400" b="1" i="0">
                <a:solidFill>
                  <a:srgbClr val="11202B"/>
                </a:solidFill>
                <a:latin typeface="Malgun Gothic"/>
                <a:ea typeface="Malgun Gothic"/>
                <a:cs typeface="Malgun Gothic"/>
              </a:rPr>
              <a:t>경로의 설계가 그 경로가 내려야 하는 결정의 성질을 반영한다</a:t>
            </a:r>
            <a:r>
              <a:rPr sz="1400" b="0" i="0">
                <a:solidFill>
                  <a:srgbClr val="11202B"/>
                </a:solidFill>
                <a:latin typeface="Malgun Gothic"/>
                <a:ea typeface="Malgun Gothic"/>
                <a:cs typeface="Malgun Gothic"/>
              </a:rPr>
              <a:t>는 점이 이 비교의 요점이다.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NF-κB가 켜는 표적에 </a:t>
            </a:r>
            <a:r>
              <a:rPr sz="1400" b="1" i="0">
                <a:solidFill>
                  <a:srgbClr val="11202B"/>
                </a:solidFill>
                <a:latin typeface="Malgun Gothic"/>
                <a:ea typeface="Malgun Gothic"/>
                <a:cs typeface="Malgun Gothic"/>
              </a:rPr>
              <a:t>생존 유전자</a:t>
            </a:r>
            <a:r>
              <a:rPr sz="1400" b="0" i="0">
                <a:solidFill>
                  <a:srgbClr val="11202B"/>
                </a:solidFill>
                <a:latin typeface="Malgun Gothic"/>
                <a:ea typeface="Malgun Gothic"/>
                <a:cs typeface="Malgun Gothic"/>
              </a:rPr>
              <a:t>가 들어 있다는 점은 따로 알아 둘 만하다. 염증 자극은 흔히 세포사멸을 유도하는 신호를 함께 보내므로, 세포가 살아남아 염증 반응을 수행하려면 사멸을 막는 장치가 함께 켜져야 한다. 그래서 TNF 수용체는 NF-κB를 통한 생존 경로와 caspase를 통한 사멸 경로를 동시에 시작하고, 두 경로의 균형이 결과를 정한다. NF-κB가 막히면 같은 TNF 자극이 세포사멸로 기울어지는 것이 이 구조의 증거다. 종양에서 NF-κB가 지속적으로 켜져 있으면 생존 쪽이 우세해져 세포사멸을 피하고 치료에 저항하게 되며, 그래서 이 경로가 항암 치료의 표적으로 거론된다. 염증과 종양의 연결을 설명하는 여러 축 가운데 하나다.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형태형성물질 구배와 위치 정보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발생에서 세포는 자기가 어디에 있는지를 알아야 한다. 그 정보를 주는 것이 </a:t>
            </a:r>
            <a:r>
              <a:rPr sz="1400" b="1" i="0">
                <a:solidFill>
                  <a:srgbClr val="11202B"/>
                </a:solidFill>
                <a:latin typeface="Malgun Gothic"/>
                <a:ea typeface="Malgun Gothic"/>
                <a:cs typeface="Malgun Gothic"/>
              </a:rPr>
              <a:t>형태형성물질(morphogen)</a:t>
            </a:r>
            <a:r>
              <a:rPr sz="1400" b="0" i="0">
                <a:solidFill>
                  <a:srgbClr val="11202B"/>
                </a:solidFill>
                <a:latin typeface="Malgun Gothic"/>
                <a:ea typeface="Malgun Gothic"/>
                <a:cs typeface="Malgun Gothic"/>
              </a:rPr>
              <a:t>의 농도 구배다.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원리는 Lewis Wolpert의 </a:t>
            </a:r>
            <a:r>
              <a:rPr sz="1400" b="1" i="0">
                <a:solidFill>
                  <a:srgbClr val="11202B"/>
                </a:solidFill>
                <a:latin typeface="Malgun Gothic"/>
                <a:ea typeface="Malgun Gothic"/>
                <a:cs typeface="Malgun Gothic"/>
              </a:rPr>
              <a:t>프랑스 국기 모형</a:t>
            </a:r>
            <a:r>
              <a:rPr sz="1400" b="0" i="0">
                <a:solidFill>
                  <a:srgbClr val="11202B"/>
                </a:solidFill>
                <a:latin typeface="Malgun Gothic"/>
                <a:ea typeface="Malgun Gothic"/>
                <a:cs typeface="Malgun Gothic"/>
              </a:rPr>
              <a:t>으로 정리되었다. 한쪽 끝의 세포들이 신호 분자를 분비하면 확산과 분해로 농도 구배가 생긴다. 세포가 그 농도를 읽어, 높은 농도에서는 A 운명, 중간에서는 B, 낮은 농도에서는 C를 택한다. </a:t>
            </a:r>
            <a:r>
              <a:rPr sz="1400" b="1" i="0">
                <a:solidFill>
                  <a:srgbClr val="11202B"/>
                </a:solidFill>
                <a:latin typeface="Malgun Gothic"/>
                <a:ea typeface="Malgun Gothic"/>
                <a:cs typeface="Malgun Gothic"/>
              </a:rPr>
              <a:t>하나의 연속적인 구배가 몇 개의 불연속적인 영역으로 번역되는 것</a:t>
            </a:r>
            <a:r>
              <a:rPr sz="1400" b="0" i="0">
                <a:solidFill>
                  <a:srgbClr val="11202B"/>
                </a:solidFill>
                <a:latin typeface="Malgun Gothic"/>
                <a:ea typeface="Malgun Gothic"/>
                <a:cs typeface="Malgun Gothic"/>
              </a:rPr>
              <a:t>이며, 그 번역을 가능하게 하는 것이 역치 반응이다.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역치를 만드는 장치가 §1에서 본 공통 설계와 겹친다. 협동적 결합, kinase 연쇄의 가파른 입출력 관계, 양성 되먹임, 그리고 서로를 억제하는 두 전사인자의 짝이 모두 연속적인 입력을 계단형 출력으로 바꾼다. 특히 </a:t>
            </a:r>
            <a:r>
              <a:rPr sz="1400" b="1" i="0">
                <a:solidFill>
                  <a:srgbClr val="11202B"/>
                </a:solidFill>
                <a:latin typeface="Malgun Gothic"/>
                <a:ea typeface="Malgun Gothic"/>
                <a:cs typeface="Malgun Gothic"/>
              </a:rPr>
              <a:t>서로 억제하는 두 전사인자</a:t>
            </a:r>
            <a:r>
              <a:rPr sz="1400" b="0" i="0">
                <a:solidFill>
                  <a:srgbClr val="11202B"/>
                </a:solidFill>
                <a:latin typeface="Malgun Gothic"/>
                <a:ea typeface="Malgun Gothic"/>
                <a:cs typeface="Malgun Gothic"/>
              </a:rPr>
              <a:t>는 중간 상태를 불안정하게 만들어 세포를 한쪽으로 확정시키므로, 경계가 선명해진다.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실제 예를 두 가지 들어 둔다. 척수의 배면과 복면을 정하는 것은 아래쪽 바닥판에서 나오는 </a:t>
            </a:r>
            <a:r>
              <a:rPr sz="1400" b="1" i="0">
                <a:solidFill>
                  <a:srgbClr val="11202B"/>
                </a:solidFill>
                <a:latin typeface="Malgun Gothic"/>
                <a:ea typeface="Malgun Gothic"/>
                <a:cs typeface="Malgun Gothic"/>
              </a:rPr>
              <a:t>Shh</a:t>
            </a:r>
            <a:r>
              <a:rPr sz="1400" b="0" i="0">
                <a:solidFill>
                  <a:srgbClr val="11202B"/>
                </a:solidFill>
                <a:latin typeface="Malgun Gothic"/>
                <a:ea typeface="Malgun Gothic"/>
                <a:cs typeface="Malgun Gothic"/>
              </a:rPr>
              <a:t>와 위쪽에서 나오는 </a:t>
            </a:r>
            <a:r>
              <a:rPr sz="1400" b="1" i="0">
                <a:solidFill>
                  <a:srgbClr val="11202B"/>
                </a:solidFill>
                <a:latin typeface="Malgun Gothic"/>
                <a:ea typeface="Malgun Gothic"/>
                <a:cs typeface="Malgun Gothic"/>
              </a:rPr>
              <a:t>BMP·Wnt</a:t>
            </a:r>
            <a:r>
              <a:rPr sz="1400" b="0" i="0">
                <a:solidFill>
                  <a:srgbClr val="11202B"/>
                </a:solidFill>
                <a:latin typeface="Malgun Gothic"/>
                <a:ea typeface="Malgun Gothic"/>
                <a:cs typeface="Malgun Gothic"/>
              </a:rPr>
              <a:t>의 반대 방향 구배이고, 두 구배의 비가 각 높이의 전구세포가 어느 신경세포로 분화할지를 정한다. 팔다리의 손가락 배치는 뒤쪽 끝의 영역에서 나오는 Shh의 구배가 정하며, 그 영역을 반대쪽에 이식하면 거울상의 손가락이 추가로 만들어진다. </a:t>
            </a:r>
            <a:r>
              <a:rPr sz="1400" b="1" i="0">
                <a:solidFill>
                  <a:srgbClr val="11202B"/>
                </a:solidFill>
                <a:latin typeface="Malgun Gothic"/>
                <a:ea typeface="Malgun Gothic"/>
                <a:cs typeface="Malgun Gothic"/>
              </a:rPr>
              <a:t>신호의 출처를 옮기면 구조가 따라 옮겨진다</a:t>
            </a:r>
            <a:r>
              <a:rPr sz="1400" b="0" i="0">
                <a:solidFill>
                  <a:srgbClr val="11202B"/>
                </a:solidFill>
                <a:latin typeface="Malgun Gothic"/>
                <a:ea typeface="Malgun Gothic"/>
                <a:cs typeface="Malgun Gothic"/>
              </a:rPr>
              <a:t>는 이 실험이 구배 모형의 가장 강한 증거다.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구배 모형에는 보완이 필요하다는 점도 알아 둔다. 농도만으로는 설명되지 않는 현상이 있다. 세포가 신호에 </a:t>
            </a:r>
            <a:r>
              <a:rPr sz="1400" b="1" i="0">
                <a:solidFill>
                  <a:srgbClr val="11202B"/>
                </a:solidFill>
                <a:latin typeface="Malgun Gothic"/>
                <a:ea typeface="Malgun Gothic"/>
                <a:cs typeface="Malgun Gothic"/>
              </a:rPr>
              <a:t>노출된 시간</a:t>
            </a:r>
            <a:r>
              <a:rPr sz="1400" b="0" i="0">
                <a:solidFill>
                  <a:srgbClr val="11202B"/>
                </a:solidFill>
                <a:latin typeface="Malgun Gothic"/>
                <a:ea typeface="Malgun Gothic"/>
                <a:cs typeface="Malgun Gothic"/>
              </a:rPr>
              <a:t>도 함께 읽고, 이미 받은 신호의 이력이 다음 반응을 바꾸며, 조직이 자라는 동안 구배가 함께 늘어나는 비례 조절이 일어난다. 그래서 현재의 서술은 "농도가 위치를 정한다"보다 "농도와 시간과 이력이 함께 위치를 정한다"에 가깝다.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형태형성물질 구배와 위치 정보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형태형성물질 구배는 </a:t>
            </a:r>
            <a:r>
              <a:rPr sz="1600" b="1" i="0">
                <a:solidFill>
                  <a:srgbClr val="11202B"/>
                </a:solidFill>
                <a:latin typeface="Malgun Gothic"/>
                <a:ea typeface="Malgun Gothic"/>
                <a:cs typeface="Malgun Gothic"/>
              </a:rPr>
              <a:t>체절 형성</a:t>
            </a:r>
            <a:r>
              <a:rPr sz="1600" b="0" i="0">
                <a:solidFill>
                  <a:srgbClr val="11202B"/>
                </a:solidFill>
                <a:latin typeface="Malgun Gothic"/>
                <a:ea typeface="Malgun Gothic"/>
                <a:cs typeface="Malgun Gothic"/>
              </a:rPr>
              <a:t>에서 시간과 결합한다. 척추동물의 몸은 앞에서 뒤로 체절이 하나씩 차례로 만들어지는데, 그 주기성이 두 요소의 조합으로 설명된다. 하나는 세포 안에서 주기적으로 발현이 오르내리는 </a:t>
            </a:r>
            <a:r>
              <a:rPr sz="1600" b="1" i="0">
                <a:solidFill>
                  <a:srgbClr val="11202B"/>
                </a:solidFill>
                <a:latin typeface="Malgun Gothic"/>
                <a:ea typeface="Malgun Gothic"/>
                <a:cs typeface="Malgun Gothic"/>
              </a:rPr>
              <a:t>분절 시계</a:t>
            </a:r>
            <a:r>
              <a:rPr sz="1600" b="0" i="0">
                <a:solidFill>
                  <a:srgbClr val="11202B"/>
                </a:solidFill>
                <a:latin typeface="Malgun Gothic"/>
                <a:ea typeface="Malgun Gothic"/>
                <a:cs typeface="Malgun Gothic"/>
              </a:rPr>
              <a:t>로, Notch 경로의 유전자가 자기 억제자를 켜는 지연된 음성 되먹임으로 진동을 만든다. 다른 하나는 뒤쪽 끝에서 나오는 Wnt와 FGF의 </a:t>
            </a:r>
            <a:r>
              <a:rPr sz="1600" b="1" i="0">
                <a:solidFill>
                  <a:srgbClr val="11202B"/>
                </a:solidFill>
                <a:latin typeface="Malgun Gothic"/>
                <a:ea typeface="Malgun Gothic"/>
                <a:cs typeface="Malgun Gothic"/>
              </a:rPr>
              <a:t>구배</a:t>
            </a:r>
            <a:r>
              <a:rPr sz="1600" b="0" i="0">
                <a:solidFill>
                  <a:srgbClr val="11202B"/>
                </a:solidFill>
                <a:latin typeface="Malgun Gothic"/>
                <a:ea typeface="Malgun Gothic"/>
                <a:cs typeface="Malgun Gothic"/>
              </a:rPr>
              <a:t>이며, 몸이 길어지면서 이 구배의 경계가 뒤로 물러난다. 시계가 한 주기를 도는 동안 경계가 일정 거리만큼 물러나므로, 경계를 지나는 순간의 시계 위상이 그 자리에 체절의 경계를 만든다. 이것이 시계-파면 모형이고, 체절의 크기가 시계의 주기와 경계가 물러나는 속도의 곱으로 정해진다는 예측이 실험으로 확인되었다. 임상적 결과도 분명하다. 시계를 구성하는 Notch 경로 유전자(DLL3, MESP2, HES7, LFNG)의 변이가 </a:t>
            </a:r>
            <a:r>
              <a:rPr sz="1600" b="1" i="0">
                <a:solidFill>
                  <a:srgbClr val="11202B"/>
                </a:solidFill>
                <a:latin typeface="Malgun Gothic"/>
                <a:ea typeface="Malgun Gothic"/>
                <a:cs typeface="Malgun Gothic"/>
              </a:rPr>
              <a:t>척추 분절 이상(spondylocostal dysostosis)</a:t>
            </a:r>
            <a:r>
              <a:rPr sz="1600" b="0" i="0">
                <a:solidFill>
                  <a:srgbClr val="11202B"/>
                </a:solidFill>
                <a:latin typeface="Malgun Gothic"/>
                <a:ea typeface="Malgun Gothic"/>
                <a:cs typeface="Malgun Gothic"/>
              </a:rPr>
              <a:t>을 일으켜 척추뼈의 수와 모양이 불규칙해지고 갈비뼈가 어긋난다. 이 질환군은 </a:t>
            </a:r>
            <a:r>
              <a:rPr sz="1600" b="1" i="0">
                <a:solidFill>
                  <a:srgbClr val="11202B"/>
                </a:solidFill>
                <a:latin typeface="Malgun Gothic"/>
                <a:ea typeface="Malgun Gothic"/>
                <a:cs typeface="Malgun Gothic"/>
              </a:rPr>
              <a:t>발생의 시간 구조가 망가지면 공간 구조가 망가진다</a:t>
            </a:r>
            <a:r>
              <a:rPr sz="1600" b="0" i="0">
                <a:solidFill>
                  <a:srgbClr val="11202B"/>
                </a:solidFill>
                <a:latin typeface="Malgun Gothic"/>
                <a:ea typeface="Malgun Gothic"/>
                <a:cs typeface="Malgun Gothic"/>
              </a:rPr>
              <a:t>는 것을 보이는 사례이며, 신호 경로를 농도만이 아니라 시간의 축에서 함께 보아야 하는 이유다.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경로 사이의 통합과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세포는 여러 신호를 동시에 받는다. 그 신호들이 하나의 결정으로 합쳐지는 방식이 이 절의 주제다. 통합의 방식은 세 층으로 정리된다.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1. 분자 수준의 수렴.</a:t>
            </a:r>
            <a:r>
              <a:rPr sz="1600" b="0" i="0">
                <a:solidFill>
                  <a:srgbClr val="11202B"/>
                </a:solidFill>
                <a:latin typeface="Malgun Gothic"/>
                <a:ea typeface="Malgun Gothic"/>
                <a:cs typeface="Malgun Gothic"/>
              </a:rPr>
              <a:t> 서로 다른 경로가 같은 분자에서 만난다. GSK3β가 Wnt와 insulin 경로에 함께 속하고, mTORC1이 성장인자 신호와 아미노산 농도와 에너지 상태를 모두 받아 통합하며, p53이 DNA 손상과 저산소와 oncogene 활성화를 함께 입력으로 받는다. 이런 분자를 </a:t>
            </a:r>
            <a:r>
              <a:rPr sz="1600" b="1" i="0">
                <a:solidFill>
                  <a:srgbClr val="11202B"/>
                </a:solidFill>
                <a:latin typeface="Malgun Gothic"/>
                <a:ea typeface="Malgun Gothic"/>
                <a:cs typeface="Malgun Gothic"/>
              </a:rPr>
              <a:t>신호의 허브</a:t>
            </a:r>
            <a:r>
              <a:rPr sz="1600" b="0" i="0">
                <a:solidFill>
                  <a:srgbClr val="11202B"/>
                </a:solidFill>
                <a:latin typeface="Malgun Gothic"/>
                <a:ea typeface="Malgun Gothic"/>
                <a:cs typeface="Malgun Gothic"/>
              </a:rPr>
              <a:t>라 하고, 그 지점의 변이가 넓은 범위의 결과를 낳는다.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2. 전사 수준의 통합.</a:t>
            </a:r>
            <a:r>
              <a:rPr sz="1600" b="0" i="0">
                <a:solidFill>
                  <a:srgbClr val="11202B"/>
                </a:solidFill>
                <a:latin typeface="Malgun Gothic"/>
                <a:ea typeface="Malgun Gothic"/>
                <a:cs typeface="Malgun Gothic"/>
              </a:rPr>
              <a:t> 두 경로가 켠 전사인자가 같은 enhancer에 함께 붙어야 유전자가 켜지는 경우가 많다. 그러면 </a:t>
            </a:r>
            <a:r>
              <a:rPr sz="1600" b="1" i="0">
                <a:solidFill>
                  <a:srgbClr val="11202B"/>
                </a:solidFill>
                <a:latin typeface="Malgun Gothic"/>
                <a:ea typeface="Malgun Gothic"/>
                <a:cs typeface="Malgun Gothic"/>
              </a:rPr>
              <a:t>두 신호가 모두 와야 반응이 일어나는 AND 게이트</a:t>
            </a:r>
            <a:r>
              <a:rPr sz="1600" b="0" i="0">
                <a:solidFill>
                  <a:srgbClr val="11202B"/>
                </a:solidFill>
                <a:latin typeface="Malgun Gothic"/>
                <a:ea typeface="Malgun Gothic"/>
                <a:cs typeface="Malgun Gothic"/>
              </a:rPr>
              <a:t>가 된다. 반대로 어느 한 신호만 와도 켜지는 OR 게이트도 있고, 한 신호가 다른 신호의 효과를 바꾸는 조합도 있다. 발생에서 세포 운명이 신호의 조합으로 정해지는 분자적 근거가 이것이며, M01-W07-L02에서 다룬 enhancer의 구조가 그 무대다.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3. 동역학 수준의 통합.</a:t>
            </a:r>
            <a:r>
              <a:rPr sz="1600" b="0" i="0">
                <a:solidFill>
                  <a:srgbClr val="11202B"/>
                </a:solidFill>
                <a:latin typeface="Malgun Gothic"/>
                <a:ea typeface="Malgun Gothic"/>
                <a:cs typeface="Malgun Gothic"/>
              </a:rPr>
              <a:t> 신호의 시간 양상이 결과를 정한다. 세 가지 구조를 구별해 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경로 사이의 통합과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동역학</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생물학적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음성 되먹임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빠른 반응, 안정화, 적응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신호가 스스로 꺼진다. 자극의 변화에 민감해진다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지연된 음성 되먹임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진동</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NF-κB와 p53의 펄스, 체절 형성의 시계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양성 되먹임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개의 안정 상태, 이력 현상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가역적 자극에 비가역적으로 반응한다. 운명의 확정</a:t>
                      </a:r>
                    </a:p>
                  </a:txBody>
                  <a:tcPr marL="73152" marR="73152" marT="27432" marB="2743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경로 사이의 통합과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마지막 것이 발생에서 특히 중요하다. 세포가 어느 운명을 택한 뒤에는 신호가 사라져도 그 상태를 유지해야 한다. 양성 되먹임이 그것을 가능하게 한다. 전사인자가 자기 유전자를 켜는 자기 활성화 고리를 만들면, 신호가 사라진 뒤에도 그 인자가 계속 발현되어 상태가 </a:t>
            </a:r>
            <a:r>
              <a:rPr sz="2000" b="1" i="0">
                <a:solidFill>
                  <a:srgbClr val="11202B"/>
                </a:solidFill>
                <a:latin typeface="Malgun Gothic"/>
                <a:ea typeface="Malgun Gothic"/>
                <a:cs typeface="Malgun Gothic"/>
              </a:rPr>
              <a:t>기억된다.</a:t>
            </a:r>
            <a:r>
              <a:rPr sz="2000" b="0" i="0">
                <a:solidFill>
                  <a:srgbClr val="11202B"/>
                </a:solidFill>
                <a:latin typeface="Malgun Gothic"/>
                <a:ea typeface="Malgun Gothic"/>
                <a:cs typeface="Malgun Gothic"/>
              </a:rPr>
              <a:t> 여기에 M01-W07-L02에서 다룬 염색질 상태의 계승이 더해져, 분열을 넘어 운명이 유지된다.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경로 사이의 통합과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24949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발생을 체외에서 재현하는 </a:t>
            </a:r>
            <a:r>
              <a:rPr sz="1600" b="1" i="0">
                <a:solidFill>
                  <a:srgbClr val="11202B"/>
                </a:solidFill>
                <a:latin typeface="Malgun Gothic"/>
                <a:ea typeface="Malgun Gothic"/>
                <a:cs typeface="Malgun Gothic"/>
              </a:rPr>
              <a:t>organoid</a:t>
            </a:r>
            <a:r>
              <a:rPr sz="1600" b="0" i="0">
                <a:solidFill>
                  <a:srgbClr val="11202B"/>
                </a:solidFill>
                <a:latin typeface="Malgun Gothic"/>
                <a:ea typeface="Malgun Gothic"/>
                <a:cs typeface="Malgun Gothic"/>
              </a:rPr>
              <a:t>와 합성 발생생물학이 이 분야의 방법을 바꾸고 있다. 줄기세포를 3차원으로 배양하며 신호를 순서대로 주면 장, 뇌, 신장, 간의 구조를 부분적으로 재현한 조직이 만들어진다. 쓰임이 셋이다. 사람 발생을 직접 관찰하는 수단, 환자 유래 세포로 질환을 재현하는 모형, 그리고 약물 시험이다. 더 나아가 신호 경로를 인위적으로 설계해 세포가 스스로 패턴을 만들게 하는 </a:t>
            </a:r>
            <a:r>
              <a:rPr sz="1600" b="1" i="0">
                <a:solidFill>
                  <a:srgbClr val="11202B"/>
                </a:solidFill>
                <a:latin typeface="Malgun Gothic"/>
                <a:ea typeface="Malgun Gothic"/>
                <a:cs typeface="Malgun Gothic"/>
              </a:rPr>
              <a:t>합성 회로</a:t>
            </a:r>
            <a:r>
              <a:rPr sz="1600" b="0" i="0">
                <a:solidFill>
                  <a:srgbClr val="11202B"/>
                </a:solidFill>
                <a:latin typeface="Malgun Gothic"/>
                <a:ea typeface="Malgun Gothic"/>
                <a:cs typeface="Malgun Gothic"/>
              </a:rPr>
              <a:t> 연구가 진행된다. 서로 억제하는 두 유전자, 자기 활성화 고리, 접촉 의존 신호를 조합해 줄무늬와 경계를 만들어 보이는 실험이 보고되었고, 이것이 발생의 설계 원리를 "만들어 보는 방식으로" 검증하는 접근이 되었다. 쟁점은 재현성과 범위다. Organoid는 혈관과 면역세포가 없고 크기가 제한되며, 같은 조건에서도 결과의 변이가 크다. 그래서 어느 수준의 결론을 끌어낼 수 있는지가 분야 안에서 논의되고 있고, 사람 배아 발생의 어느 단계까지 체외에서 재현하는 것이 허용되는지에 대한 윤리적 논의도 함께 진행된다.</a:t>
            </a:r>
          </a:p>
        </p:txBody>
      </p:sp>
      <p:sp>
        <p:nvSpPr>
          <p:cNvPr id="8" name="Rectangle 7"/>
          <p:cNvSpPr/>
          <p:nvPr/>
        </p:nvSpPr>
        <p:spPr>
          <a:xfrm>
            <a:off x="640080" y="3957999"/>
            <a:ext cx="10881360" cy="22142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신호 경로를 </a:t>
            </a:r>
            <a:r>
              <a:rPr sz="1600" b="1" i="0">
                <a:solidFill>
                  <a:srgbClr val="11202B"/>
                </a:solidFill>
                <a:latin typeface="Malgun Gothic"/>
                <a:ea typeface="Malgun Gothic"/>
                <a:cs typeface="Malgun Gothic"/>
              </a:rPr>
              <a:t>원하는 시간과 장소에서 켜는 도구</a:t>
            </a:r>
            <a:r>
              <a:rPr sz="1600" b="0" i="0">
                <a:solidFill>
                  <a:srgbClr val="11202B"/>
                </a:solidFill>
                <a:latin typeface="Malgun Gothic"/>
                <a:ea typeface="Malgun Gothic"/>
                <a:cs typeface="Malgun Gothic"/>
              </a:rPr>
              <a:t>가 인과 관계의 검증 방식을 바꾸었다. 빛으로 단백질의 결합이나 위치를 조절하는 광유전학적 도구, 약물로 두 단백질을 강제로 가까이 두는 화학유전학적 도구, 그리고 dCas9을 쓴 전사 조절(M01-W06-L01)이 결합되면서, "이 신호가 이 시점에 이 세포에서 필요한가"를 직접 시험할 수 있게 되었다. 예를 들어 ERK 활성을 짧은 펄스와 긴 지속으로 각각 인위적으로 만들어 결과를 비교하면, 상관 관계로 추정했던 시간 부호를 인과로 확인할 수 있다. 발생에서는 특정 세포에서만 Wnt를 켜서 구배의 역할을 시험하는 실험이 이루어진다. 남은 과제는 정량화다. 인위적으로 만든 신호의 세기가 생리적 범위 안에 있는지를 확인하지 않으면, 결과가 생리와 무관한 과도한 자극의 효과일 수 있다. 그래서 내재 신호를 측정하는 센서와 조작 도구를 함께 쓰는 설계가 표준이 되어 가고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경로 사이의 통합과 동역학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통합의 결과를 세포가 </a:t>
            </a:r>
            <a:r>
              <a:rPr sz="1400" b="1" i="0">
                <a:solidFill>
                  <a:srgbClr val="11202B"/>
                </a:solidFill>
                <a:latin typeface="Malgun Gothic"/>
                <a:ea typeface="Malgun Gothic"/>
                <a:cs typeface="Malgun Gothic"/>
              </a:rPr>
              <a:t>하나의 결정으로 내려야 한다</a:t>
            </a:r>
            <a:r>
              <a:rPr sz="1400" b="0" i="0">
                <a:solidFill>
                  <a:srgbClr val="11202B"/>
                </a:solidFill>
                <a:latin typeface="Malgun Gothic"/>
                <a:ea typeface="Malgun Gothic"/>
                <a:cs typeface="Malgun Gothic"/>
              </a:rPr>
              <a:t>는 점도 강조해 둔다. 세포는 증식, 분화, 이동, 사멸, 휴지 가운데 하나를 택해야 하고 둘을 동시에 할 수 없다. 그래서 여러 신호가 들어와도 출력은 배타적이어야 하며, 그 배타성을 만드는 것이 서로 억제하는 전사인자 쌍과 양성 되먹임이다. 중간 상태가 불안정하므로 세포가 한쪽으로 밀려 확정된다. 이 구조가 발생에서 경계를 선명하게 만들고, 줄기세포가 자기 재생과 분화 사이에서 하나를 택하게 하며, 세포주기 진입의 결정을 되돌릴 수 없게 만든다(M01-W12-L01).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논리가 종양에서 어긋난다. 여러 경로가 동시에 켜져 있고 되먹임이 망가지면, 세포가 서로 모순되는 신호를 함께 받아 중간 상태에 머문다. M01-W11-L01에서 본 상피-중간엽 전환의 중간 상태가 그 예이며, 그런 세포가 치료에 더 저항적이라는 결과가 보고되었다. </a:t>
            </a:r>
            <a:r>
              <a:rPr sz="1400" b="1" i="0">
                <a:solidFill>
                  <a:srgbClr val="11202B"/>
                </a:solidFill>
                <a:latin typeface="Malgun Gothic"/>
                <a:ea typeface="Malgun Gothic"/>
                <a:cs typeface="Malgun Gothic"/>
              </a:rPr>
              <a:t>결정이 확정되지 않은 상태가 유연성을 주고, 그 유연성이 치료를 어렵게 한다</a:t>
            </a:r>
            <a:r>
              <a:rPr sz="1400" b="0" i="0">
                <a:solidFill>
                  <a:srgbClr val="11202B"/>
                </a:solidFill>
                <a:latin typeface="Malgun Gothic"/>
                <a:ea typeface="Malgun Gothic"/>
                <a:cs typeface="Malgun Gothic"/>
              </a:rPr>
              <a:t>는 해석이다.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 사이의 교차가 치료에서 문제가 되는 방식도 한 번 더 정리해 둔다. 한 경로를 억제하면 세포가 다른 경로로 같은 결과를 얻으려 하므로 저항이 생긴다. 보고된 양상이 세 가지다. 첫째, </a:t>
            </a:r>
            <a:r>
              <a:rPr sz="1400" b="1" i="0">
                <a:solidFill>
                  <a:srgbClr val="11202B"/>
                </a:solidFill>
                <a:latin typeface="Malgun Gothic"/>
                <a:ea typeface="Malgun Gothic"/>
                <a:cs typeface="Malgun Gothic"/>
              </a:rPr>
              <a:t>평행 경로의 활성화</a:t>
            </a:r>
            <a:r>
              <a:rPr sz="1400" b="0" i="0">
                <a:solidFill>
                  <a:srgbClr val="11202B"/>
                </a:solidFill>
                <a:latin typeface="Malgun Gothic"/>
                <a:ea typeface="Malgun Gothic"/>
                <a:cs typeface="Malgun Gothic"/>
              </a:rPr>
              <a:t>다. EGFR을 막으면 다른 수용체(MET, AXL)가 증폭되어 같은 하류를 켠다. 둘째, </a:t>
            </a:r>
            <a:r>
              <a:rPr sz="1400" b="1" i="0">
                <a:solidFill>
                  <a:srgbClr val="11202B"/>
                </a:solidFill>
                <a:latin typeface="Malgun Gothic"/>
                <a:ea typeface="Malgun Gothic"/>
                <a:cs typeface="Malgun Gothic"/>
              </a:rPr>
              <a:t>되먹임의 해제</a:t>
            </a:r>
            <a:r>
              <a:rPr sz="1400" b="0" i="0">
                <a:solidFill>
                  <a:srgbClr val="11202B"/>
                </a:solidFill>
                <a:latin typeface="Malgun Gothic"/>
                <a:ea typeface="Malgun Gothic"/>
                <a:cs typeface="Malgun Gothic"/>
              </a:rPr>
              <a:t>다. mTORC1을 억제하면 그 하류가 줄어 음성 되먹임이 풀려 AKT가 오히려 활성화된다. 셋째, </a:t>
            </a:r>
            <a:r>
              <a:rPr sz="1400" b="1" i="0">
                <a:solidFill>
                  <a:srgbClr val="11202B"/>
                </a:solidFill>
                <a:latin typeface="Malgun Gothic"/>
                <a:ea typeface="Malgun Gothic"/>
                <a:cs typeface="Malgun Gothic"/>
              </a:rPr>
              <a:t>하류 지점의 변이</a:t>
            </a:r>
            <a:r>
              <a:rPr sz="1400" b="0" i="0">
                <a:solidFill>
                  <a:srgbClr val="11202B"/>
                </a:solidFill>
                <a:latin typeface="Malgun Gothic"/>
                <a:ea typeface="Malgun Gothic"/>
                <a:cs typeface="Malgun Gothic"/>
              </a:rPr>
              <a:t>다. 상류를 막아도 하류가 스스로 켜져 있으면 효과가 없다. 세 양상 모두 경로를 선 하나로 그린 그림에서는 보이지 않고, </a:t>
            </a:r>
            <a:r>
              <a:rPr sz="1400" b="1" i="0">
                <a:solidFill>
                  <a:srgbClr val="11202B"/>
                </a:solidFill>
                <a:latin typeface="Malgun Gothic"/>
                <a:ea typeface="Malgun Gothic"/>
                <a:cs typeface="Malgun Gothic"/>
              </a:rPr>
              <a:t>경로들이 서로 연결된 그물이라는 사실에서 나온다.</a:t>
            </a:r>
            <a:r>
              <a:rPr sz="1400" b="0" i="0">
                <a:solidFill>
                  <a:srgbClr val="11202B"/>
                </a:solidFill>
                <a:latin typeface="Malgun Gothic"/>
                <a:ea typeface="Malgun Gothic"/>
                <a:cs typeface="Malgun Gothic"/>
              </a:rPr>
              <a:t> 그래서 표적 치료의 설계가 단일 약에서 조합으로, 그리고 저항이 생길 경로를 미리 함께 막는 쪽으로 옮겨 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발생 질환과 종양 — 같은 경로, 다른 결과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경로의 변이가 어떤 때는 발생 질환이 되고 어떤 때는 종양이 된다. 그 조건을 정리하면 이 수업의 내용이 임상과 이어진다.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구분의 기준은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생식계열인가 체세포인가.</a:t>
            </a:r>
            <a:r>
              <a:rPr sz="1400" b="0" i="0">
                <a:solidFill>
                  <a:srgbClr val="11202B"/>
                </a:solidFill>
                <a:latin typeface="Malgun Gothic"/>
                <a:ea typeface="Malgun Gothic"/>
                <a:cs typeface="Malgun Gothic"/>
              </a:rPr>
              <a:t> 생식계열 변이는 모든 세포가 가지고 발생 단계부터 작용하므로 구조적 기형과 증후군이 된다. 체세포 변이는 한 세포에서 시작해 그 자손에만 있으므로 종양이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변이의 세기.</a:t>
            </a:r>
            <a:r>
              <a:rPr sz="1400" b="0" i="0">
                <a:solidFill>
                  <a:srgbClr val="11202B"/>
                </a:solidFill>
                <a:latin typeface="Malgun Gothic"/>
                <a:ea typeface="Malgun Gothic"/>
                <a:cs typeface="Malgun Gothic"/>
              </a:rPr>
              <a:t> 경로를 완전히 켜거나 끄는 변이는 발생 중에 치명적이어서 태어나지 못하므로, 살아서 관찰되는 생식계열 변이는 대개 </a:t>
            </a:r>
            <a:r>
              <a:rPr sz="1400" b="1" i="0">
                <a:solidFill>
                  <a:srgbClr val="11202B"/>
                </a:solidFill>
                <a:latin typeface="Malgun Gothic"/>
                <a:ea typeface="Malgun Gothic"/>
                <a:cs typeface="Malgun Gothic"/>
              </a:rPr>
              <a:t>부분적인</a:t>
            </a:r>
            <a:r>
              <a:rPr sz="1400" b="0" i="0">
                <a:solidFill>
                  <a:srgbClr val="11202B"/>
                </a:solidFill>
                <a:latin typeface="Malgun Gothic"/>
                <a:ea typeface="Malgun Gothic"/>
                <a:cs typeface="Malgun Gothic"/>
              </a:rPr>
              <a:t> 변화다. 반면 체세포 변이는 발생을 이미 마친 뒤에 생기므로 강한 활성화도 가능하다.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시기와 조직.</a:t>
            </a:r>
            <a:r>
              <a:rPr sz="1400" b="0" i="0">
                <a:solidFill>
                  <a:srgbClr val="11202B"/>
                </a:solidFill>
                <a:latin typeface="Malgun Gothic"/>
                <a:ea typeface="Malgun Gothic"/>
                <a:cs typeface="Malgun Gothic"/>
              </a:rPr>
              <a:t> 같은 경로가 어느 시기에 어느 조직에서 바뀌는지가 결과를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틀로 보면 앞의 절들에서 다룬 질환들이 한 줄로 정리된다. Hedgehog 경로의 감소는 holoprosencephaly(발생), 증가는 기저세포암과 medulloblastoma(종양)다. Ras 경로의 생식계열 부분 활성화는 RASopathy(발생), 체세포 강한 활성화는 종양이다. Notch 경로는 조직에 따라 oncogene과 종양 억제 유전자 양쪽으로 작동한다. Wnt 경로의 APC 생식계열 변이는 폴립증을 만들고 체세포 변이는 산발성 대장암의 첫 단계가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발생 질환과 종양 — 같은 경로, 다른 결과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a:t>
            </a:r>
            <a:r>
              <a:rPr sz="1400" b="1" i="0">
                <a:solidFill>
                  <a:srgbClr val="11202B"/>
                </a:solidFill>
                <a:latin typeface="Malgun Gothic"/>
                <a:ea typeface="Malgun Gothic"/>
                <a:cs typeface="Malgun Gothic"/>
              </a:rPr>
              <a:t>모자이크</a:t>
            </a:r>
            <a:r>
              <a:rPr sz="1400" b="0" i="0">
                <a:solidFill>
                  <a:srgbClr val="11202B"/>
                </a:solidFill>
                <a:latin typeface="Malgun Gothic"/>
                <a:ea typeface="Malgun Gothic"/>
                <a:cs typeface="Malgun Gothic"/>
              </a:rPr>
              <a:t>라는 중간 범주가 있다. 발생 초기의 체세포 변이는 그 세포에서 유래한 조직에만 존재하므로, 전신 증후군도 종양도 아닌 분절성 병변을 만든다. 피부의 색소성 병변과 혈관 기형, 뇌의 국소 피질 이형성, 과성장 증후군의 상당수가 이 부류이며, PI3K-AKT 경로와 Ras 경로의 체세포 변이가 흔히 발견된다. 임상적 의미가 두 가지다. </a:t>
            </a:r>
            <a:r>
              <a:rPr sz="1400" b="1" i="0">
                <a:solidFill>
                  <a:srgbClr val="11202B"/>
                </a:solidFill>
                <a:latin typeface="Malgun Gothic"/>
                <a:ea typeface="Malgun Gothic"/>
                <a:cs typeface="Malgun Gothic"/>
              </a:rPr>
              <a:t>혈액에서 유전자 검사를 해도 변이가 나오지 않으므로 병변 조직을 검사해야 하고</a:t>
            </a:r>
            <a:r>
              <a:rPr sz="1400" b="0" i="0">
                <a:solidFill>
                  <a:srgbClr val="11202B"/>
                </a:solidFill>
                <a:latin typeface="Malgun Gothic"/>
                <a:ea typeface="Malgun Gothic"/>
                <a:cs typeface="Malgun Gothic"/>
              </a:rPr>
              <a:t>, 종양에서 쓰이는 경로 억제제가 이 병변의 치료에 시도된다. 실제로 PI3K 억제제와 mTOR 억제제가 과성장 증후군과 일부 혈관 기형에서 효과를 보였다. </a:t>
            </a:r>
            <a:r>
              <a:rPr sz="1400" b="1" i="0">
                <a:solidFill>
                  <a:srgbClr val="11202B"/>
                </a:solidFill>
                <a:latin typeface="Malgun Gothic"/>
                <a:ea typeface="Malgun Gothic"/>
                <a:cs typeface="Malgun Gothic"/>
              </a:rPr>
              <a:t>종양 치료에서 발생 질환으로 약이 옮겨 간 사례</a:t>
            </a:r>
            <a:r>
              <a:rPr sz="1400" b="0" i="0">
                <a:solidFill>
                  <a:srgbClr val="11202B"/>
                </a:solidFill>
                <a:latin typeface="Malgun Gothic"/>
                <a:ea typeface="Malgun Gothic"/>
                <a:cs typeface="Malgun Gothic"/>
              </a:rPr>
              <a:t>이며, 이 수업의 "같은 경로"라는 주제가 가장 분명하게 드러나는 지점이다.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이 수업의 내용을 임상에서 쓰는 방식을 정리한다. 환자에게서 신호 경로의 변이가 발견되었을 때 물어야 하는 것은 네 가지다. 첫째, </a:t>
            </a:r>
            <a:r>
              <a:rPr sz="1400" b="1" i="0">
                <a:solidFill>
                  <a:srgbClr val="11202B"/>
                </a:solidFill>
                <a:latin typeface="Malgun Gothic"/>
                <a:ea typeface="Malgun Gothic"/>
                <a:cs typeface="Malgun Gothic"/>
              </a:rPr>
              <a:t>그 변이가 경로를 켜는가 끄는가.</a:t>
            </a:r>
            <a:r>
              <a:rPr sz="1400" b="0" i="0">
                <a:solidFill>
                  <a:srgbClr val="11202B"/>
                </a:solidFill>
                <a:latin typeface="Malgun Gothic"/>
                <a:ea typeface="Malgun Gothic"/>
                <a:cs typeface="Malgun Gothic"/>
              </a:rPr>
              <a:t> 같은 유전자에서 방향에 따라 다른 질환이 된다. 둘째, </a:t>
            </a:r>
            <a:r>
              <a:rPr sz="1400" b="1" i="0">
                <a:solidFill>
                  <a:srgbClr val="11202B"/>
                </a:solidFill>
                <a:latin typeface="Malgun Gothic"/>
                <a:ea typeface="Malgun Gothic"/>
                <a:cs typeface="Malgun Gothic"/>
              </a:rPr>
              <a:t>생식계열인가 체세포인가, 모자이크인가.</a:t>
            </a:r>
            <a:r>
              <a:rPr sz="1400" b="0" i="0">
                <a:solidFill>
                  <a:srgbClr val="11202B"/>
                </a:solidFill>
                <a:latin typeface="Malgun Gothic"/>
                <a:ea typeface="Malgun Gothic"/>
                <a:cs typeface="Malgun Gothic"/>
              </a:rPr>
              <a:t> 검사할 시료와 가족에 대한 설명이 여기서 갈린다. 셋째, </a:t>
            </a:r>
            <a:r>
              <a:rPr sz="1400" b="1" i="0">
                <a:solidFill>
                  <a:srgbClr val="11202B"/>
                </a:solidFill>
                <a:latin typeface="Malgun Gothic"/>
                <a:ea typeface="Malgun Gothic"/>
                <a:cs typeface="Malgun Gothic"/>
              </a:rPr>
              <a:t>그 경로가 그 조직에서 무슨 일을 하는가.</a:t>
            </a:r>
            <a:r>
              <a:rPr sz="1400" b="0" i="0">
                <a:solidFill>
                  <a:srgbClr val="11202B"/>
                </a:solidFill>
                <a:latin typeface="Malgun Gothic"/>
                <a:ea typeface="Malgun Gothic"/>
                <a:cs typeface="Malgun Gothic"/>
              </a:rPr>
              <a:t> 표현형의 분포가 거기서 설명된다. 넷째, </a:t>
            </a:r>
            <a:r>
              <a:rPr sz="1400" b="1" i="0">
                <a:solidFill>
                  <a:srgbClr val="11202B"/>
                </a:solidFill>
                <a:latin typeface="Malgun Gothic"/>
                <a:ea typeface="Malgun Gothic"/>
                <a:cs typeface="Malgun Gothic"/>
              </a:rPr>
              <a:t>경로의 어느 지점을 약으로 건드릴 수 있는가.</a:t>
            </a:r>
            <a:r>
              <a:rPr sz="1400" b="0" i="0">
                <a:solidFill>
                  <a:srgbClr val="11202B"/>
                </a:solidFill>
                <a:latin typeface="Malgun Gothic"/>
                <a:ea typeface="Malgun Gothic"/>
                <a:cs typeface="Malgun Gothic"/>
              </a:rPr>
              <a:t> 변이보다 하류를 표적으로 해야 하고, 되먹임 구조와 그 경로가 성체에서 쓰이는 조직을 함께 보아야 한다. 이 네 질문이 발생 질환과 종양과 모자이크 병변을 하나의 틀로 다루는 절차가 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모듈 1의 신호 전달 부분을 마무리한다. 여기서 다룬 경로들은 뒤의 모듈에서 기관별로 다시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 수용체와 2차 전령</a:t>
            </a:r>
            <a:r>
              <a:rPr sz="1400" b="0" i="0">
                <a:solidFill>
                  <a:srgbClr val="11202B"/>
                </a:solidFill>
                <a:latin typeface="Malgun Gothic"/>
                <a:ea typeface="Malgun Gothic"/>
                <a:cs typeface="Malgun Gothic"/>
              </a:rPr>
              <a:t> — 수용체의 계열, G protein과 2차 전령, Ras-MAPK와 PI3K-AKT, 되먹임의 기본 구조를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β-catenin이 접착과 신호 양쪽에 놓이는 구조, 기질에 저장된 TGF-β, 상피-중간엽 전환을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enhancer에서 여러 전사인자가 조합으로 작동하는 방식, 그리고 염색질 상태가 운명을 계승하는 기전을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Hedgehog 경로가 요구하는 일차 섬모와 섬모병을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성장인자 신호가 세포주기 진입으로 번역되는 지점, cyclin D와 Rb를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줄기세포의 자기 재생과 분화에서 이 경로들이 하는 일, 그리고 조직 재생을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구동 변이의 목록과 표적 치료, 내성 기전을 종합한다.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M01-W03-L01 발생: 수정에서 기관 형성까지</a:t>
            </a:r>
            <a:r>
              <a:rPr sz="1400" b="0" i="0">
                <a:solidFill>
                  <a:srgbClr val="11202B"/>
                </a:solidFill>
                <a:latin typeface="Malgun Gothic"/>
                <a:ea typeface="Malgun Gothic"/>
                <a:cs typeface="Malgun Gothic"/>
              </a:rPr>
              <a:t> — 체축 형성과 기관 유래를 조직 수준에서 다룬다. 이 수업의 구배와 역치가 거기서 구조로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생식계열과 체세포, 모자이크의 구별과 검사 전략을 임상 유전학의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M03-W04-L01 신호 전달과 발생</a:t>
            </a:r>
            <a:r>
              <a:rPr sz="1400" b="0" i="0">
                <a:solidFill>
                  <a:srgbClr val="11202B"/>
                </a:solidFill>
                <a:latin typeface="Malgun Gothic"/>
                <a:ea typeface="Malgun Gothic"/>
                <a:cs typeface="Malgun Gothic"/>
              </a:rPr>
              <a:t> — 발생 신호의 구배와 세포 운명 결정을 더 상세히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M03-W04-L02 발생과 세포 운명의 결정</a:t>
            </a:r>
            <a:r>
              <a:rPr sz="2000" b="0" i="0">
                <a:solidFill>
                  <a:srgbClr val="11202B"/>
                </a:solidFill>
                <a:latin typeface="Malgun Gothic"/>
                <a:ea typeface="Malgun Gothic"/>
                <a:cs typeface="Malgun Gothic"/>
              </a:rPr>
              <a:t> — master regulator와 재프로그래밍을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227075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발생은 대여섯 개의 신호 경로를 조합과 순서를 바꾸어 반복 사용하며, 그 경로들은 억제의 해제, 비가역적 단계, 역치 반응, 음성 되먹임, 공간 구배라는 설계를 공유한다. Wnt는 β-catenin의 분해를 멈추는 방식으로, Hedgehog는 억제의 억제로, Notch는 수용체의 절단으로, TGF-β는 SMAD의 인산화로 작동하며, 네 경로 모두 성체의 재생 조직에서 계속 쓰이고 있어 그 경로를 막는 약의 부작용이 그 조직에 나타난다. 여러 신호는 분자 수준의 허브, enhancer 위의 조합, 그리고 되먹임이 만드는 동역학으로 하나의 결정에 통합된다. 그리고 </a:t>
            </a:r>
            <a:r>
              <a:rPr sz="1600" b="1" i="0">
                <a:solidFill>
                  <a:srgbClr val="11202B"/>
                </a:solidFill>
                <a:latin typeface="Malgun Gothic"/>
                <a:ea typeface="Malgun Gothic"/>
                <a:cs typeface="Malgun Gothic"/>
              </a:rPr>
              <a:t>같은 경로의 변이가 생식계열이면 발생 질환, 체세포이면 종양, 발생 초기의 체세포이면 모자이크 병변</a:t>
            </a:r>
            <a:r>
              <a:rPr sz="1600" b="0" i="0">
                <a:solidFill>
                  <a:srgbClr val="11202B"/>
                </a:solidFill>
                <a:latin typeface="Malgun Gothic"/>
                <a:ea typeface="Malgun Gothic"/>
                <a:cs typeface="Malgun Gothic"/>
              </a:rPr>
              <a:t>이 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Wnt 경로가 꺼진 상태를 유지하는 데 세포가 에너지를 쓴다. 그 내용과 이 설계의 이점을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신호가 없을 때에도 세포는 β-catenin을 계속 합성하고, 동시에 파괴 복합체(APC, Axin, CK1, GSK3β)가 그것을 인산화해 ubiquitin 표지를 붙이고 proteasome에서 분해한다. 즉 합성과 분해를 동시에 돌리므로 ATP가 지속적으로 소모된다. 겉으로는 낭비지만 이점이 분명하다. 신호가 오면 새로 전사하고 번역할 필요 없이 </a:t>
            </a:r>
            <a:r>
              <a:rPr sz="1500" b="1" i="0">
                <a:solidFill>
                  <a:srgbClr val="11202B"/>
                </a:solidFill>
                <a:latin typeface="Malgun Gothic"/>
                <a:ea typeface="Malgun Gothic"/>
                <a:cs typeface="Malgun Gothic"/>
              </a:rPr>
              <a:t>분해만 멈추면 되므로 수 분 안에 β-catenin 농도가 올라간다.</a:t>
            </a:r>
            <a:r>
              <a:rPr sz="1500" b="0" i="0">
                <a:solidFill>
                  <a:srgbClr val="11202B"/>
                </a:solidFill>
                <a:latin typeface="Malgun Gothic"/>
                <a:ea typeface="Malgun Gothic"/>
                <a:cs typeface="Malgun Gothic"/>
              </a:rPr>
              <a:t> 전사부터 시작하면 수십 분에서 수 시간이 걸린다. 또 분해 속도를 조절해 역치를 만들 수 있고, 신호가 끊기면 쌓인 β-catenin이 빠르게 제거되어 되돌아간다. 같은 설계가 다른 경로에도 있다. NF-κB는 IκB에 붙잡혀 대기하고 있고, Hedgehog 경로의 GLI는 절단된 억제 형태로 유지되고 있다. 공통점은 </a:t>
            </a:r>
            <a:r>
              <a:rPr sz="1500" b="1" i="0">
                <a:solidFill>
                  <a:srgbClr val="11202B"/>
                </a:solidFill>
                <a:latin typeface="Malgun Gothic"/>
                <a:ea typeface="Malgun Gothic"/>
                <a:cs typeface="Malgun Gothic"/>
              </a:rPr>
              <a:t>반응 속도를 위해 유지 비용을 치른다</a:t>
            </a:r>
            <a:r>
              <a:rPr sz="1500" b="0" i="0">
                <a:solidFill>
                  <a:srgbClr val="11202B"/>
                </a:solidFill>
                <a:latin typeface="Malgun Gothic"/>
                <a:ea typeface="Malgun Gothic"/>
                <a:cs typeface="Malgun Gothic"/>
              </a:rPr>
              <a:t>는 것이며, 빠른 결정이 필요한 신호에서 반복해 나타나는 구조다.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대장암에서 APC 변이와 CTNNB1(β-catenin) 변이가 같은 결과를 낸다. 두 변이의 기전을 비교하고, 하나의 종양에서 두 변이가 함께 발견되는 일이 드문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*APC*는 파괴 복합체의 뼈대이므로 기능이 상실되면 β-catenin이 인산화되지 않아 분해되지 않고 쌓인다. 즉 종양 억제 유전자의 기능 상실이다. CTNNB1 변이는 β-catenin 자신의 N 말단에서 인산화되어야 할 serine과 threonine이 치환되는 것으로, 파괴 복합체가 정상이어도 분해 신호가 만들어지지 않아 역시 β-catenin이 쌓인다. 즉 기능 획득이다. 두 변이 모두 핵의 β-catenin을 올려 TCF와 함께 표적 유전자를 켜므로 하류 결과가 같다. 하나의 종양에서 함께 발견되는 일이 드문 이유는 </a:t>
            </a:r>
            <a:r>
              <a:rPr sz="1500" b="1" i="0">
                <a:solidFill>
                  <a:srgbClr val="11202B"/>
                </a:solidFill>
                <a:latin typeface="Malgun Gothic"/>
                <a:ea typeface="Malgun Gothic"/>
                <a:cs typeface="Malgun Gothic"/>
              </a:rPr>
              <a:t>같은 경로의 같은 지점을 두 번 켤 필요가 없기 때문</a:t>
            </a:r>
            <a:r>
              <a:rPr sz="1500" b="0" i="0">
                <a:solidFill>
                  <a:srgbClr val="11202B"/>
                </a:solidFill>
                <a:latin typeface="Malgun Gothic"/>
                <a:ea typeface="Malgun Gothic"/>
                <a:cs typeface="Malgun Gothic"/>
              </a:rPr>
              <a:t>이다. 첫 변이로 이미 경로가 켜져 있으면 두 번째 변이가 추가로 주는 선택적 이점이 거의 없으므로 함께 선택되지 않는다. 이 관계를 상호 배타성이라 하며, 종양 유전체 자료에서 같은 경로의 변이들이 서로 배타적으로 나타나는 양상이 경로를 재구성하는 단서로 쓰인다. 임상적으로는 어느 유전자가 변이되었든 </a:t>
            </a:r>
            <a:r>
              <a:rPr sz="1500" b="1" i="0">
                <a:solidFill>
                  <a:srgbClr val="11202B"/>
                </a:solidFill>
                <a:latin typeface="Malgun Gothic"/>
                <a:ea typeface="Malgun Gothic"/>
                <a:cs typeface="Malgun Gothic"/>
              </a:rPr>
              <a:t>경로가 켜져 있다는 사실이 같으므로</a:t>
            </a:r>
            <a:r>
              <a:rPr sz="1500" b="0" i="0">
                <a:solidFill>
                  <a:srgbClr val="11202B"/>
                </a:solidFill>
                <a:latin typeface="Malgun Gothic"/>
                <a:ea typeface="Malgun Gothic"/>
                <a:cs typeface="Malgun Gothic"/>
              </a:rPr>
              <a:t>, 치료 표적을 유전자 단위가 아니라 경로 단위로 생각해야 한다는 결론이 나온다.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Hedgehog 경로에서 Patched는 종양 억제 유전자이고 Smoothened는 proto-oncogene이다. 이 역할 배정이 경로의 구조에서 어떻게 따라 나오는지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경로는 억제의 해제로 작동한다. 신호가 없을 때 Patched가 Smoothened를 억제하고 있고, 그 상태에서는 전사인자 GLI가 절단되어 억제 형태로 남아 표적 유전자가 꺼진다. Hedgehog 리간드가 Patched에 결합하면 Patched의 억제 활성이 사라지고, 억제가 풀린 Smoothened가 활성화되어 GLI가 활성 형태로 핵에 들어간다. 따라서 Patched의 기능이 상실되면 리간드가 없어도 Smoothened가 활성화되어 경로가 켜진다. 기능 상실이 경로 활성화로 이어지므로 Patched는 종양 억제 유전자다. 반대로 Smoothened는 활성화 변이가 생기면 Patched의 억제를 받지 않고 스스로 켜져 있게 되므로 proto-oncogene이다. 임상 자료가 이 예측과 맞는다. *PTCH1*의 생식계열 기능 상실 변이가 Gorlin 증후군을 일으켜 기저세포암과 medulloblastoma의 위험을 올리고, 산발성 기저세포암에서는 PTCH1 결손 또는 SMO 활성화 변이가 발견된다. SMO 억제제가 치료에 쓰이는 것도 SMO가 경로를 켜는 지점이기 때문이다.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Notch 경로는 리간드가 막에 붙어 있어 농도 구배를 만들 수 없다. 이 제약이 Notch가 담당하는 일을 어떻게 정하는지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리간드가 분비되지 않고 이웃 세포의 막에 박혀 있으므로, 신호는 서로 닿은 두 세포 사이에서만 전달되고 작용 범위가 한 세포 지름으로 제한된다. 따라서 Notch는 "조직 전체에서 내가 어디 있는가"를 알려 주는 위치 정보에는 쓸 수 없다. 그 일은 확산하는 형태형성물질이 담당한다. 대신 Notch는 </a:t>
            </a:r>
            <a:r>
              <a:rPr sz="1500" b="1" i="0">
                <a:solidFill>
                  <a:srgbClr val="11202B"/>
                </a:solidFill>
                <a:latin typeface="Malgun Gothic"/>
                <a:ea typeface="Malgun Gothic"/>
                <a:cs typeface="Malgun Gothic"/>
              </a:rPr>
              <a:t>이웃과의 관계를 정하는 일</a:t>
            </a:r>
            <a:r>
              <a:rPr sz="1500" b="0" i="0">
                <a:solidFill>
                  <a:srgbClr val="11202B"/>
                </a:solidFill>
                <a:latin typeface="Malgun Gothic"/>
                <a:ea typeface="Malgun Gothic"/>
                <a:cs typeface="Malgun Gothic"/>
              </a:rPr>
              <a:t>에 쓰인다. 가장 특징적인 것이 측방 억제다. Notch 신호를 받은 세포는 자기 리간드의 발현을 줄이므로, 우연히 리간드를 조금 더 많이 발현한 세포가 이웃을 더 강하게 억제하고 억제받은 이웃은 리간드를 더 줄이게 되어 작은 초기 차이가 증폭된다. 결과는 하나의 세포가 특정 운명을 택하고 그 이웃들이 다른 운명을 택하는 규칙적인 배치다. 신경 전구세포에서 일부만 신경세포가 되는 과정, 장 상피에서 분비세포와 흡수세포가 섞여 배치되는 과정, 내이에서 유모세포와 지지세포가 교대로 놓이는 과정이 이 기전이다. 즉 제약이 기능을 정한다. </a:t>
            </a:r>
            <a:r>
              <a:rPr sz="1500" b="1" i="0">
                <a:solidFill>
                  <a:srgbClr val="11202B"/>
                </a:solidFill>
                <a:latin typeface="Malgun Gothic"/>
                <a:ea typeface="Malgun Gothic"/>
                <a:cs typeface="Malgun Gothic"/>
              </a:rPr>
              <a:t>접촉으로만 전달되는 신호는 이웃 사이의 차이를 만드는 데 쓰인다.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TGF-β가 정상 상피에서는 성장을 억제하고 진행된 종양에서는 침습을 촉진한다. 이 역전이 어떻게 일어나는지 설명하고 치료 설계에 주는 함의를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TGF-β 신호는 여러 하류 효과를 함께 가진다. 정상 상피에서는 CDK 억제자(p15, p21)의 발현을 올리고 *MYC*를 억제해 세포주기 진입을 막는 성장 억제 효과가 우세하다. 동시에 같은 신호가 상피-중간엽 전환을 유도하고 기질을 재구성하고 면역세포를 억제하는 효과도 가진다. 종양이 진행하는 동안 성장 억제 쪽 하류가 선택적으로 소실된다. 수용체나 SMAD4의 변이, 또는 성장 억제 표적의 반응이 끊기는 변화가 일어나면, 남은 신호는 기질과 면역을 바꾸는 쪽뿐이고 그 효과가 종양에 유리하게 작용한다. 췌장암에서 *SMAD4*가 흔히 결손되는 것이 이 과정의 예다. 치료 설계의 함의는 두 가지다. 첫째, 같은 약이 종양의 단계에 따라 반대 방향으로 작용할 수 있으므로 </a:t>
            </a:r>
            <a:r>
              <a:rPr sz="1500" b="1" i="0">
                <a:solidFill>
                  <a:srgbClr val="11202B"/>
                </a:solidFill>
                <a:latin typeface="Malgun Gothic"/>
                <a:ea typeface="Malgun Gothic"/>
                <a:cs typeface="Malgun Gothic"/>
              </a:rPr>
              <a:t>어느 단계에 쓰는지를 정해야 한다.</a:t>
            </a:r>
            <a:r>
              <a:rPr sz="1500" b="0" i="0">
                <a:solidFill>
                  <a:srgbClr val="11202B"/>
                </a:solidFill>
                <a:latin typeface="Malgun Gothic"/>
                <a:ea typeface="Malgun Gothic"/>
                <a:cs typeface="Malgun Gothic"/>
              </a:rPr>
              <a:t> 조기 종양에서 TGF-β를 억제하면 성장 억제 장치를 제거하는 셈이 되고, 진행된 종양에서는 면역 회피를 풀어 면역치료의 효과를 올릴 수 있다. 둘째, 정상 조직에서 이 경로는 염증을 억제하고 섬유화를 조절하므로, 전신 억제는 자가면역과 조직 손상의 위험을 가진다.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γ-secretase 억제제를 암 치료에 쓰려 했을 때 심한 설사가 부작용으로 나타났다. 기전을 설명하고, 이 사례가 신호 경로 표적 치료 전반에 주는 교훈을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γ-secretase는 Notch 수용체의 두 번째 절단을 수행해 세포질 조각을 떼어 내는 효소이므로, 억제하면 Notch 신호가 전달되지 않는다. 장 상피에서 Notch는 전구세포가 흡수세포가 될지 분비세포가 될지를 정하는 신호이며, Notch 신호가 켜진 세포가 흡수세포로 간다. 억제하면 분비세포, 특히 goblet 세포가 과도하게 늘어나 점액 분비가 증가하고 흡수 기능이 떨어져 심한 설사가 생긴다. 이 때문에 용량이 제한되어 임상 개발이 어려워졌다. 교훈은 두 가지다. 첫째, </a:t>
            </a:r>
            <a:r>
              <a:rPr sz="1500" b="1" i="0">
                <a:solidFill>
                  <a:srgbClr val="11202B"/>
                </a:solidFill>
                <a:latin typeface="Malgun Gothic"/>
                <a:ea typeface="Malgun Gothic"/>
                <a:cs typeface="Malgun Gothic"/>
              </a:rPr>
              <a:t>발생에 쓰이는 경로는 성체에서도 재생이 활발한 조직에서 계속 쓰이고 있다.</a:t>
            </a:r>
            <a:r>
              <a:rPr sz="1500" b="0" i="0">
                <a:solidFill>
                  <a:srgbClr val="11202B"/>
                </a:solidFill>
                <a:latin typeface="Malgun Gothic"/>
                <a:ea typeface="Malgun Gothic"/>
                <a:cs typeface="Malgun Gothic"/>
              </a:rPr>
              <a:t> 장 상피는 며칠마다 교체되므로 그 결정 신호를 막으면 즉시 영향이 나타난다. 그래서 이 부류 약물의 부작용을 예측할 때는 장 상피, 골수, 피부와 모발, 생식세포를 먼저 확인한다. 둘째, </a:t>
            </a:r>
            <a:r>
              <a:rPr sz="1500" b="1" i="0">
                <a:solidFill>
                  <a:srgbClr val="11202B"/>
                </a:solidFill>
                <a:latin typeface="Malgun Gothic"/>
                <a:ea typeface="Malgun Gothic"/>
                <a:cs typeface="Malgun Gothic"/>
              </a:rPr>
              <a:t>표적이 여러 기질을 가진 효소이면 부작용의 범위가 넓어진다.</a:t>
            </a:r>
            <a:r>
              <a:rPr sz="1500" b="0" i="0">
                <a:solidFill>
                  <a:srgbClr val="11202B"/>
                </a:solidFill>
                <a:latin typeface="Malgun Gothic"/>
                <a:ea typeface="Malgun Gothic"/>
                <a:cs typeface="Malgun Gothic"/>
              </a:rPr>
              <a:t> γ-secretase는 Notch 외에 amyloid precursor protein을 포함한 여러 단백질을 절단하므로, Alzheimer 병에서 amyloid를 줄이려는 시도도 같은 이유로 실패했다. 특정 기질만 겨냥하는 조절제를 만들려는 방향이 그 대안으로 추구된다.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형태형성물질의 농도 구배가 어떻게 불연속적인 영역의 배치로 번역되는지 설명하고, 이 모형의 가장 강한 실험적 증거를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신호를 분비하는 영역에서 확산과 분해로 농도 구배가 생기고, 세포가 그 농도를 읽어 역치를 기준으로 운명을 택한다. 농도가 높은 구간에서는 한 운명, 중간에서는 다른 운명, 낮은 구간에서는 또 다른 운명이 선택되므로 연속적인 구배가 몇 개의 불연속적인 영역으로 번역된다. 역치를 만드는 장치는 협동적 결합, kinase 연쇄의 가파른 입출력 관계, 양성 되먹임, 그리고 서로를 억제하는 두 전사인자의 짝이다. 특히 서로 억제하는 전사인자 쌍은 중간 상태를 불안정하게 만들어 경계를 선명하게 한다. 가장 강한 증거는 신호의 출처를 옮기는 실험이다. 팔다리 싹의 뒤쪽 끝에 있는 영역(zone of polarizing activity)을 반대쪽에 이식하면 거울상의 손가락이 추가로 만들어지고, 그 영역이 Shh를 분비한다는 것이 뒤에 확인되었다. 신호의 출처를 바꾸면 구조가 따라 옮겨진다는 사실이 구배가 위치 정보라는 주장을 직접 지지한다. 다만 보완이 필요하다. 세포는 농도만이 아니라 노출 시간과 이전 신호의 이력도 함께 읽으며, 조직이 자라는 동안 구배가 비례해 조정되므로 현재의 서술은 농도와 시간과 이력이 함께 위치를 정한다는 쪽에 가깝다.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양성 되먹임이 발생에서 세포 운명의 확정에 필요한 이유를 설명하고, 음성 되먹임과 지연된 음성 되먹임이 각각 만드는 동역학과 비교하라.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발생에서 세포는 신호를 받아 운명을 택하지만, 그 신호는 일시적이다. 신호가 사라진 뒤에도 상태를 유지해야 하므로 </a:t>
            </a:r>
            <a:r>
              <a:rPr sz="1500" b="1" i="0">
                <a:solidFill>
                  <a:srgbClr val="11202B"/>
                </a:solidFill>
                <a:latin typeface="Malgun Gothic"/>
                <a:ea typeface="Malgun Gothic"/>
                <a:cs typeface="Malgun Gothic"/>
              </a:rPr>
              <a:t>기억 장치</a:t>
            </a:r>
            <a:r>
              <a:rPr sz="1500" b="0" i="0">
                <a:solidFill>
                  <a:srgbClr val="11202B"/>
                </a:solidFill>
                <a:latin typeface="Malgun Gothic"/>
                <a:ea typeface="Malgun Gothic"/>
                <a:cs typeface="Malgun Gothic"/>
              </a:rPr>
              <a:t>가 필요하고, 양성 되먹임이 그 역할을 한다. 전사인자가 자기 유전자의 enhancer에 붙어 자기 발현을 켜는 자기 활성화 고리를 만들면, 신호가 사라져도 그 인자가 계속 발현되어 상태가 유지된다. 이 구조는 두 개의 안정 상태를 만들고, 한 번 전환되면 자극을 되돌려도 원래 상태로 돌아가지 않는 이력 현상을 보인다. 여기에 염색질 상태의 계승이 더해지면 분열을 넘어 운명이 유지된다. 음성 되먹임은 반대의 일을 한다. 하류 산물이 상류를 억제하므로 신호가 스스로 꺼지고, 정상 상태가 안정화되며 반응이 빨라지고, 입력이 변해도 출력이 일정 범위에 머문다. 적응과 항상성에 맞는 구조다. 되먹임에 지연이 있으면 억제가 늦게 도착해 신호가 과도하게 올라갔다 내려오는 것을 반복하므로 </a:t>
            </a:r>
            <a:r>
              <a:rPr sz="1500" b="1" i="0">
                <a:solidFill>
                  <a:srgbClr val="11202B"/>
                </a:solidFill>
                <a:latin typeface="Malgun Gothic"/>
                <a:ea typeface="Malgun Gothic"/>
                <a:cs typeface="Malgun Gothic"/>
              </a:rPr>
              <a:t>진동</a:t>
            </a:r>
            <a:r>
              <a:rPr sz="1500" b="0" i="0">
                <a:solidFill>
                  <a:srgbClr val="11202B"/>
                </a:solidFill>
                <a:latin typeface="Malgun Gothic"/>
                <a:ea typeface="Malgun Gothic"/>
                <a:cs typeface="Malgun Gothic"/>
              </a:rPr>
              <a:t>이 생긴다. NF-κB와 p53의 펄스, 그리고 체절 형성의 주기적 유전자 발현이 이 구조에서 나온다. 세 구조를 묶으면 하나의 결론이 나온다. </a:t>
            </a:r>
            <a:r>
              <a:rPr sz="1500" b="1" i="0">
                <a:solidFill>
                  <a:srgbClr val="11202B"/>
                </a:solidFill>
                <a:latin typeface="Malgun Gothic"/>
                <a:ea typeface="Malgun Gothic"/>
                <a:cs typeface="Malgun Gothic"/>
              </a:rPr>
              <a:t>되먹임의 부호와 지연이 그 회로가 기억 장치인지 항상성 장치인지 시계인지를 정한다.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같은 신호 경로의 변이가 발생 질환이 되는 경우와 종양이 되는 경우를 구분하는 기준을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a:t>
            </a:r>
            <a:r>
              <a:rPr sz="1500" b="1" i="0">
                <a:solidFill>
                  <a:srgbClr val="11202B"/>
                </a:solidFill>
                <a:latin typeface="Malgun Gothic"/>
                <a:ea typeface="Malgun Gothic"/>
                <a:cs typeface="Malgun Gothic"/>
              </a:rPr>
              <a:t>생식계열인가 체세포인가</a:t>
            </a:r>
            <a:r>
              <a:rPr sz="1500" b="0" i="0">
                <a:solidFill>
                  <a:srgbClr val="11202B"/>
                </a:solidFill>
                <a:latin typeface="Malgun Gothic"/>
                <a:ea typeface="Malgun Gothic"/>
                <a:cs typeface="Malgun Gothic"/>
              </a:rPr>
              <a:t>다. 생식계열 변이는 모든 세포가 가지고 발생 단계부터 작용하므로 구조적 기형과 다기관 증후군이 된다. 체세포 변이는 한 세포에서 시작해 그 자손에만 있으므로, 그 세포 집단이 증식의 이점을 얻으면 종양이 된다. 둘째, </a:t>
            </a:r>
            <a:r>
              <a:rPr sz="1500" b="1" i="0">
                <a:solidFill>
                  <a:srgbClr val="11202B"/>
                </a:solidFill>
                <a:latin typeface="Malgun Gothic"/>
                <a:ea typeface="Malgun Gothic"/>
                <a:cs typeface="Malgun Gothic"/>
              </a:rPr>
              <a:t>변이의 세기</a:t>
            </a:r>
            <a:r>
              <a:rPr sz="1500" b="0" i="0">
                <a:solidFill>
                  <a:srgbClr val="11202B"/>
                </a:solidFill>
                <a:latin typeface="Malgun Gothic"/>
                <a:ea typeface="Malgun Gothic"/>
                <a:cs typeface="Malgun Gothic"/>
              </a:rPr>
              <a:t>다. 경로를 완전히 켜거나 끄는 생식계열 변이는 발생 중에 치명적이어서 태어나지 못하므로, 살아서 관찰되는 생식계열 변이는 대개 부분적인 변화다. 체세포 변이는 발생을 마친 뒤에 생기므로 강한 활성화도 가능하고, 실제로 종양에서 발견되는 변이가 더 강한 경우가 많다. 셋째, </a:t>
            </a:r>
            <a:r>
              <a:rPr sz="1500" b="1" i="0">
                <a:solidFill>
                  <a:srgbClr val="11202B"/>
                </a:solidFill>
                <a:latin typeface="Malgun Gothic"/>
                <a:ea typeface="Malgun Gothic"/>
                <a:cs typeface="Malgun Gothic"/>
              </a:rPr>
              <a:t>시기와 조직</a:t>
            </a:r>
            <a:r>
              <a:rPr sz="1500" b="0" i="0">
                <a:solidFill>
                  <a:srgbClr val="11202B"/>
                </a:solidFill>
                <a:latin typeface="Malgun Gothic"/>
                <a:ea typeface="Malgun Gothic"/>
                <a:cs typeface="Malgun Gothic"/>
              </a:rPr>
              <a:t>이다. 같은 경로가 어느 시기에 어느 세포에서 바뀌는지가 결과를 정한다. 여기에 중간 범주로 모자이크가 있다. 발생 초기의 체세포 변이는 그 세포에서 유래한 조직에만 존재해 분절성 병변을 만들며, 피부의 혈관 기형과 색소 병변, 국소 피질 이형성, 과성장 증후군이 그 예다. 임상적으로는 혈액 검사에서 변이가 나오지 않으므로 병변 조직을 검사해야 하고, 종양에서 쓰이는 경로 억제제가 치료에 시도된다는 점이 중요하다.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신호 경로를 표적으로 하는 약물의 부작용을 예측하려면 무엇을 먼저 물어야 하는지 설명하고, 세 가지 예로 보이라.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경로가 성체의 어디에서 쓰이고 있는가"를 먼저 물어야 한다. 발생에 쓰이는 경로는 성체에서도 조직의 유지와 재생에 계속 쓰이므로, 그 경로를 막으면 교체가 빠른 조직이 먼저 영향을 받는다. 공통 후보는 장 상피, 골수, 피부와 모발, 생식세포다. 세 가지 예를 보인다. 첫째, γ-secretase 억제제는 Notch를 막아 장 상피에서 분비세포가 과도하게 늘어 심한 설사를 일으킨다. 둘째, SMO 억제제는 Hedgehog 경로를 막아 발생에 치명적이므로 임신 중 금기이고, 성체에서는 미각 소실, 근육 경련, 탈모가 흔한데 모두 이 경로가 성체에서 쓰이는 조직이다. 셋째, JAK 억제제는 여러 사이토카인 신호를 함께 끄므로 염증을 잘 억제하지만 감염, 대상포진, 혈구 감소의 위험이 올라간다. 여기에 일반 원칙 하나를 덧붙일 수 있다. </a:t>
            </a:r>
            <a:r>
              <a:rPr sz="1500" b="1" i="0">
                <a:solidFill>
                  <a:srgbClr val="11202B"/>
                </a:solidFill>
                <a:latin typeface="Malgun Gothic"/>
                <a:ea typeface="Malgun Gothic"/>
                <a:cs typeface="Malgun Gothic"/>
              </a:rPr>
              <a:t>경로의 중심에 가까운 분자를 표적으로 하면 효과가 넓고 부작용도 넓다.</a:t>
            </a:r>
            <a:r>
              <a:rPr sz="1500" b="0" i="0">
                <a:solidFill>
                  <a:srgbClr val="11202B"/>
                </a:solidFill>
                <a:latin typeface="Malgun Gothic"/>
                <a:ea typeface="Malgun Gothic"/>
                <a:cs typeface="Malgun Gothic"/>
              </a:rPr>
              <a:t> NF-κB를 직접 억제하지 않고 상류의 TNF를 항체로 막는 전략이 쓰이는 이유가 이것이다.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50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16, Cell Signaling.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15, Cell Signaling; Chapter 21, Development of Multicellular Organisms.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Clevers H, Nusse R. Wnt/β-catenin signaling and disease. Cell 2012;149:1192–1205.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Briscoe J, Thérond PP. The mechanisms of Hedgehog signalling and its roles in development and disease. Nat Rev Mol Cell Biol 2013;14:416–429.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Bray SJ. Notch signalling in context. Nat Rev Mol Cell Biol 2016;17:722–735.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Massagué J. TGFβ signalling in context. Nat Rev Mol Cell Biol 2012;13:616–630.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O'Shea JJ, Schwartz DM, Villarino AV, et al. The JAK-STAT pathway: impact on human disease and therapeutic intervention. Annu Rev Med 2015;66:311–328.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M01-W11-L03  ·  신호 경로의 통합과 발생·질환에서의 역할</a:t>
            </a:r>
            <a:r>
              <a:rPr sz="900" b="1" i="0">
                <a:solidFill>
                  <a:srgbClr val="003C71"/>
                </a:solidFill>
                <a:latin typeface="Malgun Gothic"/>
                <a:ea typeface="Malgun Gothic"/>
                <a:cs typeface="Malgun Gothic"/>
              </a:rPr>
              <a:t>      51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Hoffmann A, Levchenko A, Scott ML, Baltimore D. The IκB-NF-κB signaling module: temporal control and selective gene activation. Science 2002;298:1241–1245.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Wolpert L. Positional information and the spatial pattern of cellular differentiation. J Theor Biol 1969;25:1–47.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Rogers KW, Schier AF. Morphogen gradients: from generation to interpretation. Annu Rev Cell Dev Biol 2011;27:377–407.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Lancaster MA, Knoblich JA. Organogenesis in a dish: modeling development and disease using organoid technologies. Science 2014;345:1247125.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Biesecker LG, Spinner NB. A genomic view of mosaicism and human disease. Nat Rev Genet 2013;14:307–320.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