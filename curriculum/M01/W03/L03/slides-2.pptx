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notesMaster" Target="notesMasters/notesMaster1.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열을 거치지 않는다. ATP 가수분해 에너지를 단백질의 형태 변화로 직접 기계적 일로 바꾸며 열은 부산물이다. 둘째, 분자 하나가 하는 일이 매우 작다. Myosin 머리 하나가 내는 힘은 몇 피코뉴턴이고 움직이는 거리는 약 10 nm에 불과하다. 이 미세한 일을 의미 있는 크기로 만들려면 막대한 수를 같은 방향으로 합쳐야 하고, 그러려면 모든 분자가 같은 축에 나란히 정렬되어야 한다. Sarcomere의 규칙적 반복 구조가 이 요구에서 나온다.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수축하는 근육에서 A대의 길이는 변하지 않고 I대와 H구역만 짧아진다. A대는 굵은 필라멘트의 전체 길이이므로 굵은 필라멘트가 짧아지지 않았다는 뜻이다. I대는 가는 필라멘트 가운데 겹치지 않은 구간이고 H구역은 굵은 필라멘트 가운데 겹치지 않은 구간이므로, 둘이 함께 짧아진다는 것은 두 필라멘트가 겹친 정도가 늘었다는 뜻이다. 따라서 필라멘트의 길이는 변하지 않고 서로 미끄러져 들어가며, Z선이 가까워져 sarcomere가 짧아진다.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ATP는 머리를 원래 각도로 되돌리는 재장전에 쓰이고, 또 하나는 actin에 결합한 머리를 떼어 내는 분리에 쓰인다. 두 번째 역할이 직관에 반하는데, ATP는 당기는 데가 아니라 놓는 데 쓰인다. 사후 강직이 이를 증명한다. 사망 후 ATP 생산이 멈추면 새 ATP가 myosin 머리에 결합하지 못해 머리를 actin에서 떼어 낼 수 없고, 결합이 고정되어 근육이 굳는다. 수축이 아니라 분리의 실패이며, 단백질이 분해되면서 풀린다.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안정 상태에서 tropomyosin이 actin의 myosin 결합 부위를 덮고 있다. Ca²⁺이 troponin C에 결합하면 troponin 복합체의 구조가 바뀌고 이것이 tropomyosin을 옆으로 밀어 결합 부위를 노출시킨다. 즉 Ca²⁺은 수축 기계를 돌리는 에너지를 주는 것이 아니라 잠금을 푸는 역할만 한다. 기계 자체는 ATP가 있는 한 언제든 돌 준비가 되어 있으며, Ca²⁺은 그것이 actin에 접근할 수 있는지를 결정한다.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근섬유는 지름이 수십 μm로 커서 막의 탈분극이 확산으로 중심부까지 전달되기를 기다리면 바깥과 안쪽의 수축 시점이 어긋난다. T세관은 막을 세포 안으로 접어 넣어 모든 근원섬유가 동시에 신호를 받게 한다. 골격근에서는 T세관의 DHPR이 전압 센서로 작동해 sarcoplasmic reticulum의 RyR1과 물리적으로 맞닿아 있으므로, 전압 변화가 기계적으로 RyR을 열며 세포 밖 Ca²⁺ 없이도 수축한다. 심근에서는 DHPR이 실제 Ca²⁺ 통로로 작동해 들어온 소량의 Ca²⁺이 RyR2를 열어 더 많은 Ca²⁺을 방출시키므로 세포 밖 Ca²⁺이 없으면 수축하지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RyR1의 변이를 가진 사람이 흡입 마취제나 succinylcholine에 노출되면 sarcoplasmic reticulum에서 Ca²⁺이 통제 없이 방출된다. 지속적인 수축이 일어나고 Ca²⁺을 되돌리려는 펌프가 ATP를 대량 소모하면서 극심한 열이 발생하며, 근육이 파괴되어 고칼륨혈증, 산증, 미오글로빈뇨가 따른다. 치료제 dantrolene은 RyR1을 직접 억제해 Ca²⁺ 방출을 차단한다. 원인 분자를 알면 치료 표적이 그대로 정해지는 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번의 아세틸콜린 방출로 생기는 종판 전위가 역치를 넘기는 데 필요한 양의 서너 배에 이르러 신호가 거의 100% 전달된다. 운동신경세포가 이미 결정을 내렸으므로 그 명령이 누락 없이 실행되어야 하기 때문이며, 접합부는 판단하지 않고 전달만 한다. 중증근무력증에서는 자가항체로 수용체가 줄지만 안전 역이 크므로 상당 부분이 소실될 때까지 증상이 없다가 역치 아래로 떨어지면 증상이 나타난다. 또 반복 자극에서 방출량이 조금씩 줄어드는 정상적 현상이 줄어든 안전 역에서는 전달 실패로 드러나므로, 쓸수록 약해지고 쉬면 회복되는 양상이 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운동단위는 하나의 운동신경세포와 그것이 지배하는 모든 근섬유를 말하며, 그 신경세포가 흥분하면 모든 섬유가 동시에 수축하므로 근육 조절의 최소 단위다. 힘은 활성화하는 운동단위의 수를 늘리는 동원과 각 단위에 가는 활동전위의 빈도를 올리는 빈도 변조로 조절된다. 크기 원리에 따라 작은 운동단위부터 순서대로 동원되므로, 약한 힘에서는 적은 수의 섬유만 움직여 미세한 조절이 가능하고 큰 힘이 필요할 때만 큰 단위가 더해진다. 작은 단위가 피로에 강한 I형 섬유를 지배하므로 일상적 활동에서는 지치지 않는 섬유만 쓰인다는 이점도 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가중이 일어나려면 이전 수축이 끝나기 전에 다음 활동전위를 줄 수 있어야 한다. 골격근에서는 활동전위가 수 ms이고 불응기가 짧은 데 비해 연축은 수십 ms 지속되므로 수축이 겹쳐 쌓여 강축이 가능하다. 심근은 활동전위에 긴 평탄기가 있어 지속 시간이 200~300 ms에 이르고 불응기가 수축 기간 거의 전체를 덮는다. 따라서 이전 수축이 끝나기 전에는 다시 흥분할 수 없어 가중이 불가능하다. 심장이 수축과 이완을 반드시 번갈아 해야 하므로 필수적인 성질이다.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근육이 너무 짧으면 가는 필라멘트들이 서로 겹쳐 방해하고 굵은 필라멘트가 Z선에 닿아 힘이 준다. 약 2.0~2.2 μm의 최적 길이에서는 겹침이 최대이면서 방해가 없어 가장 많은 cross-bridge가 형성되어 힘이 최대가 된다. 더 늘어나면 겹침이 줄어 형성 가능한 cross-bridge가 줄고 힘이 준다. 이 관계가 Frank–Starling 기전의 분자적 근거이며, 심근은 정상 범위에서 최적 길이보다 짧은 쪽에 있어 늘어날수록 힘이 커지는 구간에서 작동한다.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I형은 느리게 수축하고 산화적 인산화에 의존하며 미토콘드리아와 모세혈관이 많고 myoglobin이 풍부해 붉으며 피로에 강하다. IIa형은 빠르게 수축하면서 산화와 해당을 모두 쓰고 피로 저항이 중간이다. IIx형은 가장 빠르고 혐기성 glycolysis에 의존하며 미토콘드리아가 적고 쉽게 지친다. 한 운동단위의 섬유가 모두 같은 유형인 것은 운동신경세포가 섬유의 성질을 지정하기 때문이며, 신경을 서로 바꿔 연결하는 실험에서 섬유 유형이 새 신경을 따라 바뀌는 것으로 확인되었다.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sarcomere가 없고 필라멘트가 밀집체에 고정되어 비스듬히 배열되므로 가로무늬가 없고 모든 방향으로 짧아질 수 있다. 둘째, Ca²⁺의 표적이 troponin이 아니라 calmodulin이다. Ca²⁺–calmodulin이 myosin light chain kinase를 활성화하고 이 효소가 myosin 경쇄를 인산화해야 상호작용이 가능하므로, 가는 필라멘트가 아니라 굵은 필라멘트 쪽에서 조절된다. 셋째, 인산화된 cross-bridge의 분리 속도가 매우 느려지는 latch 상태가 있어 적은 ATP로 장력을 오래 유지할 수 있으며, 혈관과 소화관의 지속적 긴장이 이 방식으로 유지된다.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신경원성은 흔히 원위부가 약해지고 위축이 뚜렷하며 섬유다발수축이 보이고 감각 이상이 동반될 수 있으며 심부건반사가 소실되고 creatine kinase는 정상이거나 경미하게 오른다. 근전도에서 큰 진폭과 긴 지속의 운동단위 전위가 나타난다. 근원성은 흔히 근위부가 약해지고 섬유다발수축이 없으며 감각은 정상이고 반사는 비교적 보존되며 creatine kinase가 크게 상승한다. 근전도에서 작은 진폭과 짧은 지속의 전위가 나타난다. 머리를 빗거나 계단을 오르기 어렵다는 호소는 근위부 약화로 근원성을, 단추를 잠그기 어렵고 발이 끌린다는 호소는 원위부 약화로 신경원성을 시사한다.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에너지 공급의 세 체계가 시간 규모를 나누어 맡기 때문이다. 운동 시작 직후 몇 분 안에 통증과 경련이 오고 잠시 쉬었다 다시 하면 오히려 편해지는 이차 바람 현상은 glycogen 분해와 glycolysis의 결손을 시사한다. 처음 몇 초는 phosphocreatine으로 버티고 그 다음 구간을 담당할 당 분해가 막혀 있으며, 시간이 더 지나 지방산 산화로 넘어가면 공급이 재개되기 때문이다. 반대로 오래 지속되는 운동이나 금식 뒤에 근육통과 미오글로빈뇨가 나타나는 것은 지방산 산화 경로의 결손을 시사한다.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젖산은 운동 후 한 시간 이내에 대부분 제거되므로 24~48시간 뒤에 나타나는 통증을 설명할 수 없다. 운동 중 산 축적에 의한 피로와 이틀 뒤의 근육통은 시간 규모가 전혀 다른 별개의 현상이다. 지연성 근육통은 주로 신장성 수축에서 생기는 근섬유의 미세 손상과 그에 뒤따르는 염증 반응으로 설명된다. 신장성 수축은 근육이 늘어나면서 장력을 내는 형태로 같은 힘을 적은 에너지로 내지만 구조적 손상을 가장 많이 일으킨다.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3종 지렛대는 힘점이 받침점과 작용점 사이에 있고, 근육의 부착점이 관절에 가까워 모멘트 팔이 짧다. 따라서 근육은 부하보다 훨씬 큰 힘을 내야 하며, 손에 5 kg을 들 때 위팔두갈래근은 수십 kg에 해당하는 힘을 낸다. 대신 얻는 것은 속도와 운동 범위다. 근육이 1 cm만 짧아져도 손끝은 10 cm 이상 움직인다. 몸이 요구한 것이 무거운 것을 천천히 드는 능력이 아니라 팔다리를 빠르게 움직이는 능력이었기 때문에 이 설계가 선택되었다.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평행 배열은 섬유가 근육의 긴 축과 나란해 섬유가 길고, 수축 거리와 속도에서 유리하다. 깃 배열은 섬유가 힘줄에 비스듬히 붙어 같은 부피에 더 많은 섬유를 채울 수 있으므로 힘에서 유리하지만 섬유가 짧아 수축 거리가 줄고 비스듬한 각도 때문에 힘의 일부가 손실된다. 근육의 최대 힘은 전체 부피가 아니라 모든 섬유를 가로지르는 단면의 합인 생리적 단면적에 비례한다. 깃 배열이 힘에서 유리한 것이 이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이완하려면 세포질의 Ca²⁺을 안정 시 수준으로 되돌려야 하는데, SERCA 펌프가 ATP를 써서 Ca²⁺을 sarcoplasmic reticulum으로 퍼 넣고 Na⁺/Ca²⁺ 교환체와 막의 Ca²⁺-ATPase가 세포 밖으로 내보낸다. 또 cross-bridge를 떼어 내는 데에도 ATP가 필요하다. 따라서 이완에도 상당한 에너지가 들며, ATP가 고갈되면 근육이 풀리지 않는다. 심근에서는 교감신경 자극으로 PKA가 phospholamban을 인산화하면 평소 SERCA를 억제하던 작용이 풀려 Ca²⁺ 회수가 빨라진다. 수축력 증가와 이완 가속이 같은 신호로 함께 일어나므로 심박수가 올라가도 충만 시간이 확보된다.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Digoxin은 Na⁺/K⁺-ATPase를 억제해 세포 안 Na⁺ 농도를 올린다. Na⁺의 농도 기울기가 줄면 이를 동력으로 쓰는 Na⁺/Ca²⁺ 교환체가 Ca²⁺을 내보내는 능력이 떨어지고, 세포 안과 sarcoplasmic reticulum의 Ca²⁺이 늘어 수축력이 커진다. 수축 단백질에 직접 작용하지 않고 Ca²⁺ 회수 경로를 막아 간접적으로 작용하는 것이 특징이다. 저칼륨혈증에서 독성이 커지는 이유는 K⁺가 Na⁺/K⁺-ATPase의 digoxin 결합 부위를 두고 경쟁하기 때문이다. K⁺가 적으면 digoxin이 펌프에 더 잘 결합해 같은 혈중 농도에서도 억제가 강해지고, Ca²⁺ 과다로 지연 후탈분극과 부정맥이 생긴다.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근육모세포는 증식하는 동안에는 수축 단백질을 만들지 않고, 서로 융합해 다핵의 근관이 되는 순간 세포주기에서 영구히 빠져나와 분화를 시작한다. 두 과정이 배타적이므로 분화를 마친 근섬유는 더 이상 분열할 수 없다. 따라서 성인 근육이 손상되어도 기존 근섬유가 분열해 메울 수 없고, 기저막 아래에 남아 있는 위성세포라는 별도의 줄기세포가 활성화되어 증식한 뒤 기존 섬유에 융합하거나 새 섬유를 만들어야 한다. 위성세포의 능력이 고갈되면 재생이 멈추고 섬유화와 지방 대치가 일어난다.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Dystrophin은 세포 안의 actin 세포골격과 세포막, 그리고 막 바깥의 기저막을 잇는 연결 고리다. 이것이 없으면 수축할 때마다 생기는 기계적 힘이 막으로 직접 전달되어 미세한 파열이 생긴다. 파열된 곳으로 Ca²⁺이 들어와 단백질 분해 효소를 활성화하고 섬유가 괴사한다. 위성세포가 반복해서 수리하지만 결국 재생 능력이 고갈되고, 손상된 근육이 섬유화 조직과 지방으로 대치된다. 세포 내용물이 혈액으로 새어 나오므로 creatine kinase가 매우 높게 측정되며, 장딴지에서 지방과 결합조직이 늘어 가성 비대가 나타난다.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근육 요약: 근육 유형·수축·운동</a:t>
            </a:r>
          </a:p>
          <a:p>
            <a:r>
              <a:rPr sz="1500" b="0" i="0">
                <a:solidFill>
                  <a:srgbClr val="B9D2E8"/>
                </a:solidFill>
                <a:latin typeface="Malgun Gothic"/>
                <a:ea typeface="Malgun Gothic"/>
                <a:cs typeface="Malgun Gothic"/>
              </a:rPr>
              <a:t>Muscle: Types, Contraction and Movement</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M01-W03-L03  ·  2부</a:t>
            </a:r>
          </a:p>
          <a:p>
            <a:r>
              <a:rPr sz="1100" b="0" i="0">
                <a:solidFill>
                  <a:srgbClr val="F2B705"/>
                </a:solidFill>
                <a:latin typeface="Malgun Gothic"/>
                <a:ea typeface="Malgun Gothic"/>
                <a:cs typeface="Malgun Gothic"/>
              </a:rPr>
              <a:t>전체 15절 가운데 6절</a:t>
            </a:r>
          </a:p>
          <a:p>
            <a:r>
              <a:rPr sz="1100" b="0" i="0">
                <a:solidFill>
                  <a:srgbClr val="9FBEDA"/>
                </a:solidFill>
                <a:latin typeface="Malgun Gothic"/>
                <a:ea typeface="Malgun Gothic"/>
                <a:cs typeface="Malgun Gothic"/>
              </a:rPr>
              <a:t>3주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근육이 해결하는 문제를 에너지 변환의 관점에서 규정하고 세 종류 근육을 구조와 조절로 구분한다.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골격근의 구조를 근섬유에서 sarcomere까지 단계적으로 서술하고 각 띠의 구성을 쓴다.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미끄럼 필라멘트 모형의 근거를 수축 시 띠의 변화로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Cross-bridge 주기를 네 단계로 서술하고 각 단계에서 ATP가 하는 일을 구분한다.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흥분–수축 짝이음의 경로를 막전위에서 Ca²⁺ 방출까지 추적하고 세 근육에서의 차이를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신경근 접합부의 구조와 전달 과정을 쓰고 안전 역이 큰 이유를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운동단위의 정의를 쓰고 힘의 크기가 조절되는 두 가지 방식을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길이–장력 관계와 힘–속도 관계를 sarcomere 구조로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근섬유 유형을 대사 특성으로 분류하고 운동 종류와 연결한다.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심근과 평활근이 골격근과 다른 점을 조절 기전으로 설명한다.</a:t>
            </a:r>
          </a:p>
          <a:p>
            <a:pPr>
              <a:spcAft>
                <a:spcPts val="900"/>
              </a:spcAft>
            </a:pPr>
            <a:r>
              <a:rPr sz="1600" b="1" i="0">
                <a:solidFill>
                  <a:srgbClr val="F2B705"/>
                </a:solidFill>
                <a:latin typeface="Malgun Gothic"/>
                <a:ea typeface="Malgun Gothic"/>
                <a:cs typeface="Malgun Gothic"/>
              </a:rPr>
              <a:t>11.  </a:t>
            </a:r>
            <a:r>
              <a:rPr sz="1600" b="0" i="0">
                <a:solidFill>
                  <a:srgbClr val="11202B"/>
                </a:solidFill>
                <a:latin typeface="Malgun Gothic"/>
                <a:ea typeface="Malgun Gothic"/>
                <a:cs typeface="Malgun Gothic"/>
              </a:rPr>
              <a:t>근육 질환을 신경원성과 근원성으로 가르는 기준을 쓰고 대표 질환을 분류한다.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M01-W01-L01 순환계 요약: 심장·혈관·혈류와 항상성 — 심근의 수축과 Frank–Starling 기전</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M01-W03-L02 동물행동 요약: 감각·행동·학습과 적응 — 운동신경세포, 반사궁, 근방추</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M01-W09-L02 생체에너지: 자유에너지와 ATP — ATP와 자유에너지의 기본</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10. 근섬유 유형과 에너지 공급</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11. 심근과 평활근 — 같은 기계, 다른 조절</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12. 근육의 발생과 유지</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13. 근육의 적응과 재생</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14. 근육 질환을 읽는 논리</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15. 이 수업이 이어지는 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근섬유 유형과 에너지 공급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에너지 공급의 세 체계.</a:t>
            </a:r>
            <a:r>
              <a:rPr sz="2000" b="0" i="0">
                <a:solidFill>
                  <a:srgbClr val="11202B"/>
                </a:solidFill>
                <a:latin typeface="Malgun Gothic"/>
                <a:ea typeface="Malgun Gothic"/>
                <a:cs typeface="Malgun Gothic"/>
              </a:rPr>
              <a:t> 근육은 ATP를 거의 저장하지 않는다. 안정 시 농도로는 몇 초분의 수축밖에 되지 않으므로, 쓰는 속도로 다시 만들어야 한다. 세 체계가 시간 규모를 나누어 맡는다.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근섬유 유형과 에너지 공급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체계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작동 시간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기전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특징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Phosphocreatine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수 초~10초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creatine kinase가 PCr의 인산을 ADP에 옮긴다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가장 빠르다. 저장량이 적다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혐기성 glycolysis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10초~2분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포도당을 젖산까지 분해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빠르지만 ATP 수율이 낮고 산이 쌓인다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산화적 인산화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2분 이상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미토콘드리아에서 완전 산화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느리지만 수율이 높고 오래간다</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근섬유 유형과 에너지 공급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 체계는 순차적으로 바뀌는 것이 아니라 </a:t>
            </a:r>
            <a:r>
              <a:rPr sz="2000" b="1" i="0">
                <a:solidFill>
                  <a:srgbClr val="11202B"/>
                </a:solidFill>
                <a:latin typeface="Malgun Gothic"/>
                <a:ea typeface="Malgun Gothic"/>
                <a:cs typeface="Malgun Gothic"/>
              </a:rPr>
              <a:t>비중이 바뀐다</a:t>
            </a:r>
            <a:r>
              <a:rPr sz="2000" b="0" i="0">
                <a:solidFill>
                  <a:srgbClr val="11202B"/>
                </a:solidFill>
                <a:latin typeface="Malgun Gothic"/>
                <a:ea typeface="Malgun Gothic"/>
                <a:cs typeface="Malgun Gothic"/>
              </a:rPr>
              <a:t>. 100 m 달리기는 앞의 두 체계가, 마라톤은 세 번째가 지배한다.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근섬유 유형.</a:t>
            </a:r>
            <a:r>
              <a:rPr sz="2000" b="0" i="0">
                <a:solidFill>
                  <a:srgbClr val="11202B"/>
                </a:solidFill>
                <a:latin typeface="Malgun Gothic"/>
                <a:ea typeface="Malgun Gothic"/>
                <a:cs typeface="Malgun Gothic"/>
              </a:rPr>
              <a:t> 섬유마다 이 체계들의 비중이 다르고, 그에 맞춰 구조도 다르다.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근섬유 유형과 에너지 공급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8</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I형(느린 산화)</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IIa형(빠른 산화해당)</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IIx형(빠른 해당)</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수축 속도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느림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빠름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가장 빠름</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주 에너지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산화적 인산화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둘 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혐기성 glycolysis</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미토콘드리아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많다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많다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적다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모세혈관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조밀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성기다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Myoglobin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많다(붉다)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적다(희다)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피로 저항</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높다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용도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자세 유지, 지구력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중간 강도 반복</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순간적 최대 힘</a:t>
                      </a:r>
                    </a:p>
                  </a:txBody>
                  <a:tcPr marL="73152" marR="73152" marT="27432" marB="27432">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근섬유 유형과 에너지 공급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한 운동단위의 모든 섬유는 같은 유형이다.</a:t>
            </a:r>
            <a:r>
              <a:rPr sz="2000" b="0" i="0">
                <a:solidFill>
                  <a:srgbClr val="11202B"/>
                </a:solidFill>
                <a:latin typeface="Malgun Gothic"/>
                <a:ea typeface="Malgun Gothic"/>
                <a:cs typeface="Malgun Gothic"/>
              </a:rPr>
              <a:t> 운동신경세포가 섬유의 성질을 지정하기 때문이며, 신경을 서로 바꿔 연결하는 실험에서 섬유 유형이 새 신경을 따라 바뀌는 것으로 확인되었다. 6절의 크기 원리와 맞물리면 설계가 보인다. 작은 운동신경세포가 I형 섬유를, 큰 운동신경세포가 II형 섬유를 지배하므로, 약한 힘에서는 피로에 강한 섬유만 쓰이고 큰 힘이 필요할 때만 쉽게 지치는 섬유가 동원된다.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근섬유 유형과 에너지 공급</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197612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젖산이 근육통의 원인이라는 설명은 틀렸다. 운동 중 산이 쌓여 생기는 피로와, 운동 24~48시간 뒤에 오는 </a:t>
            </a:r>
            <a:r>
              <a:rPr sz="1600" b="1" i="0">
                <a:solidFill>
                  <a:srgbClr val="11202B"/>
                </a:solidFill>
                <a:latin typeface="Malgun Gothic"/>
                <a:ea typeface="Malgun Gothic"/>
                <a:cs typeface="Malgun Gothic"/>
              </a:rPr>
              <a:t>지연성 근육통</a:t>
            </a:r>
            <a:r>
              <a:rPr sz="1600" b="0" i="0">
                <a:solidFill>
                  <a:srgbClr val="11202B"/>
                </a:solidFill>
                <a:latin typeface="Malgun Gothic"/>
                <a:ea typeface="Malgun Gothic"/>
                <a:cs typeface="Malgun Gothic"/>
              </a:rPr>
              <a:t>은 다른 현상이다. 젖산은 운동 후 한 시간 이내에 대부분 제거되므로 이틀 뒤의 통증을 설명할 수 없다. 지연성 근육통은 주로 </a:t>
            </a:r>
            <a:r>
              <a:rPr sz="1600" b="1" i="0">
                <a:solidFill>
                  <a:srgbClr val="11202B"/>
                </a:solidFill>
                <a:latin typeface="Malgun Gothic"/>
                <a:ea typeface="Malgun Gothic"/>
                <a:cs typeface="Malgun Gothic"/>
              </a:rPr>
              <a:t>신장성 수축에 의한 미세 손상과 뒤따르는 염증 반응</a:t>
            </a:r>
            <a:r>
              <a:rPr sz="1600" b="0" i="0">
                <a:solidFill>
                  <a:srgbClr val="11202B"/>
                </a:solidFill>
                <a:latin typeface="Malgun Gothic"/>
                <a:ea typeface="Malgun Gothic"/>
                <a:cs typeface="Malgun Gothic"/>
              </a:rPr>
              <a:t>으로 설명된다. 또한 젖산 자체가 피로의 원인인지도 재검토되었다. 젖산 생성에 동반되는 H⁺ 축적이 문제이지 젖산 이온 자체는 오히려 연료로 쓰이며, 심근과 다른 근섬유가 이를 받아 산화한다(젖산 왕복). 자세한 대사는 M02-W04-L02에서 다룬다.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심근과 평활근 — 같은 기계, 다른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심근.</a:t>
            </a:r>
            <a:r>
              <a:rPr sz="1400" b="0" i="0">
                <a:solidFill>
                  <a:srgbClr val="11202B"/>
                </a:solidFill>
                <a:latin typeface="Malgun Gothic"/>
                <a:ea typeface="Malgun Gothic"/>
                <a:cs typeface="Malgun Gothic"/>
              </a:rPr>
              <a:t> 골격근과 같은 sarcomere 구조를 가지고 troponin을 쓰지만, 세 가지가 다르다.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세포가 연결되어 있다.</a:t>
            </a:r>
            <a:r>
              <a:rPr sz="1400" b="0" i="0">
                <a:solidFill>
                  <a:srgbClr val="11202B"/>
                </a:solidFill>
                <a:latin typeface="Malgun Gothic"/>
                <a:ea typeface="Malgun Gothic"/>
                <a:cs typeface="Malgun Gothic"/>
              </a:rPr>
              <a:t> 사이원반의 gap junction으로 전기적으로 이어져 심방 전체와 심실 전체가 각각 하나의 기능 단위로 수축한다. 운동단위처럼 일부만 수축시킬 수 없고 </a:t>
            </a:r>
            <a:r>
              <a:rPr sz="1400" b="1" i="0">
                <a:solidFill>
                  <a:srgbClr val="11202B"/>
                </a:solidFill>
                <a:latin typeface="Malgun Gothic"/>
                <a:ea typeface="Malgun Gothic"/>
                <a:cs typeface="Malgun Gothic"/>
              </a:rPr>
              <a:t>전부 아니면 전무</a:t>
            </a:r>
            <a:r>
              <a:rPr sz="1400" b="0" i="0">
                <a:solidFill>
                  <a:srgbClr val="11202B"/>
                </a:solidFill>
                <a:latin typeface="Malgun Gothic"/>
                <a:ea typeface="Malgun Gothic"/>
                <a:cs typeface="Malgun Gothic"/>
              </a:rPr>
              <a:t>로 작동한다. 따라서 심근은 동원으로 힘을 조절하지 못하고, </a:t>
            </a:r>
            <a:r>
              <a:rPr sz="1400" b="1" i="0">
                <a:solidFill>
                  <a:srgbClr val="11202B"/>
                </a:solidFill>
                <a:latin typeface="Malgun Gothic"/>
                <a:ea typeface="Malgun Gothic"/>
                <a:cs typeface="Malgun Gothic"/>
              </a:rPr>
              <a:t>수축력 자체를 바꾸는 방식</a:t>
            </a:r>
            <a:r>
              <a:rPr sz="1400" b="0" i="0">
                <a:solidFill>
                  <a:srgbClr val="11202B"/>
                </a:solidFill>
                <a:latin typeface="Malgun Gothic"/>
                <a:ea typeface="Malgun Gothic"/>
                <a:cs typeface="Malgun Gothic"/>
              </a:rPr>
              <a:t>(세포 안 Ca²⁺의 양)으로 조절한다.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Ca²⁺ 유도 Ca²⁺ 방출에 의존한다.</a:t>
            </a:r>
            <a:r>
              <a:rPr sz="1400" b="0" i="0">
                <a:solidFill>
                  <a:srgbClr val="11202B"/>
                </a:solidFill>
                <a:latin typeface="Malgun Gothic"/>
                <a:ea typeface="Malgun Gothic"/>
                <a:cs typeface="Malgun Gothic"/>
              </a:rPr>
              <a:t> 세포 밖에서 들어온 Ca²⁺의 양이 방출량을 정하므로, 들어오는 Ca²⁺을 조절하면 수축력이 바뀐다. 교감신경의 β₁–cAMP–PKA 경로가 L형 Ca²⁺ 통로를 인산화해 수축력을 올리는 것이 이 지점이다.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강축이 불가능하다.</a:t>
            </a:r>
            <a:r>
              <a:rPr sz="1400" b="0" i="0">
                <a:solidFill>
                  <a:srgbClr val="11202B"/>
                </a:solidFill>
                <a:latin typeface="Malgun Gothic"/>
                <a:ea typeface="Malgun Gothic"/>
                <a:cs typeface="Malgun Gothic"/>
              </a:rPr>
              <a:t> 7절에서 본 대로 긴 불응기가 가중을 막는다.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평활근.</a:t>
            </a:r>
            <a:r>
              <a:rPr sz="1400" b="0" i="0">
                <a:solidFill>
                  <a:srgbClr val="11202B"/>
                </a:solidFill>
                <a:latin typeface="Malgun Gothic"/>
                <a:ea typeface="Malgun Gothic"/>
                <a:cs typeface="Malgun Gothic"/>
              </a:rPr>
              <a:t> 차이가 더 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Sarcomere가 없다.</a:t>
            </a:r>
            <a:r>
              <a:rPr sz="1400" b="0" i="0">
                <a:solidFill>
                  <a:srgbClr val="11202B"/>
                </a:solidFill>
                <a:latin typeface="Malgun Gothic"/>
                <a:ea typeface="Malgun Gothic"/>
                <a:cs typeface="Malgun Gothic"/>
              </a:rPr>
              <a:t> 가는 필라멘트와 굵은 필라멘트가 세포를 가로질러 비스듬히 배열되고 </a:t>
            </a:r>
            <a:r>
              <a:rPr sz="1400" b="1" i="0">
                <a:solidFill>
                  <a:srgbClr val="11202B"/>
                </a:solidFill>
                <a:latin typeface="Malgun Gothic"/>
                <a:ea typeface="Malgun Gothic"/>
                <a:cs typeface="Malgun Gothic"/>
              </a:rPr>
              <a:t>밀집체(dense body)</a:t>
            </a:r>
            <a:r>
              <a:rPr sz="1400" b="0" i="0">
                <a:solidFill>
                  <a:srgbClr val="11202B"/>
                </a:solidFill>
                <a:latin typeface="Malgun Gothic"/>
                <a:ea typeface="Malgun Gothic"/>
                <a:cs typeface="Malgun Gothic"/>
              </a:rPr>
              <a:t> 에 고정된다. 가로무늬가 없는 이유이며, 세포가 모든 방향으로 짧아질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조절 표적이 다르다.</a:t>
            </a:r>
            <a:r>
              <a:rPr sz="1400" b="0" i="0">
                <a:solidFill>
                  <a:srgbClr val="11202B"/>
                </a:solidFill>
                <a:latin typeface="Malgun Gothic"/>
                <a:ea typeface="Malgun Gothic"/>
                <a:cs typeface="Malgun Gothic"/>
              </a:rPr>
              <a:t> Ca²⁺이 troponin이 아니라 </a:t>
            </a:r>
            <a:r>
              <a:rPr sz="1400" b="1" i="0">
                <a:solidFill>
                  <a:srgbClr val="11202B"/>
                </a:solidFill>
                <a:latin typeface="Malgun Gothic"/>
                <a:ea typeface="Malgun Gothic"/>
                <a:cs typeface="Malgun Gothic"/>
              </a:rPr>
              <a:t>calmodulin</a:t>
            </a:r>
            <a:r>
              <a:rPr sz="1400" b="0" i="0">
                <a:solidFill>
                  <a:srgbClr val="11202B"/>
                </a:solidFill>
                <a:latin typeface="Malgun Gothic"/>
                <a:ea typeface="Malgun Gothic"/>
                <a:cs typeface="Malgun Gothic"/>
              </a:rPr>
              <a:t>에 결합한다. Ca²⁺–calmodulin이 </a:t>
            </a:r>
            <a:r>
              <a:rPr sz="1400" b="1" i="0">
                <a:solidFill>
                  <a:srgbClr val="11202B"/>
                </a:solidFill>
                <a:latin typeface="Malgun Gothic"/>
                <a:ea typeface="Malgun Gothic"/>
                <a:cs typeface="Malgun Gothic"/>
              </a:rPr>
              <a:t>myosin light chain kinase(MLCK)</a:t>
            </a:r>
            <a:r>
              <a:rPr sz="1400" b="0" i="0">
                <a:solidFill>
                  <a:srgbClr val="11202B"/>
                </a:solidFill>
                <a:latin typeface="Malgun Gothic"/>
                <a:ea typeface="Malgun Gothic"/>
                <a:cs typeface="Malgun Gothic"/>
              </a:rPr>
              <a:t> 를 활성화하고, MLCK가 myosin 경쇄를 인산화해야 myosin이 actin과 상호작용할 수 있다. 즉 </a:t>
            </a:r>
            <a:r>
              <a:rPr sz="1400" b="1" i="0">
                <a:solidFill>
                  <a:srgbClr val="11202B"/>
                </a:solidFill>
                <a:latin typeface="Malgun Gothic"/>
                <a:ea typeface="Malgun Gothic"/>
                <a:cs typeface="Malgun Gothic"/>
              </a:rPr>
              <a:t>굵은 필라멘트 쪽에서 조절</a:t>
            </a:r>
            <a:r>
              <a:rPr sz="1400" b="0" i="0">
                <a:solidFill>
                  <a:srgbClr val="11202B"/>
                </a:solidFill>
                <a:latin typeface="Malgun Gothic"/>
                <a:ea typeface="Malgun Gothic"/>
                <a:cs typeface="Malgun Gothic"/>
              </a:rPr>
              <a:t>된다. 이완은 myosin light chain phosphatase가 인산기를 떼어 일어난다.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긴장을 싸게 유지한다.</a:t>
            </a:r>
            <a:r>
              <a:rPr sz="1400" b="0" i="0">
                <a:solidFill>
                  <a:srgbClr val="11202B"/>
                </a:solidFill>
                <a:latin typeface="Malgun Gothic"/>
                <a:ea typeface="Malgun Gothic"/>
                <a:cs typeface="Malgun Gothic"/>
              </a:rPr>
              <a:t> 인산화된 cross-bridge가 떨어지는 속도가 매우 느려지는 상태(latch)가 되면, 적은 ATP로 장력을 오래 유지할 수 있다. 혈관이 몇 시간씩 긴장을 유지하면서도 지치지 않는 이유다.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입력이 다양하다.</a:t>
            </a:r>
            <a:r>
              <a:rPr sz="1400" b="0" i="0">
                <a:solidFill>
                  <a:srgbClr val="11202B"/>
                </a:solidFill>
                <a:latin typeface="Malgun Gothic"/>
                <a:ea typeface="Malgun Gothic"/>
                <a:cs typeface="Malgun Gothic"/>
              </a:rPr>
              <a:t> 신경뿐 아니라 호르몬, 국소 대사물질, 늘어남 자체가 수축을 일으킨다. 일부 평활근은 자발적으로 탈분극해 스스로 수축한다(소화관의 느린 파동).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심근과 평활근 — 같은 기계, 다른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평활근 이완제의 작용 지점이 이 경로를 따라 배치되어 있다. </a:t>
            </a:r>
            <a:r>
              <a:rPr sz="1600" b="1" i="0">
                <a:solidFill>
                  <a:srgbClr val="11202B"/>
                </a:solidFill>
                <a:latin typeface="Malgun Gothic"/>
                <a:ea typeface="Malgun Gothic"/>
                <a:cs typeface="Malgun Gothic"/>
              </a:rPr>
              <a:t>Nitrate와 nitric oxide</a:t>
            </a:r>
            <a:r>
              <a:rPr sz="1600" b="0" i="0">
                <a:solidFill>
                  <a:srgbClr val="11202B"/>
                </a:solidFill>
                <a:latin typeface="Malgun Gothic"/>
                <a:ea typeface="Malgun Gothic"/>
                <a:cs typeface="Malgun Gothic"/>
              </a:rPr>
              <a:t>는 guanylate cyclase를 활성화해 cGMP를 올리고, cGMP 의존 kinase가 세포 안 Ca²⁺을 낮추고 phosphatase 활성을 높여 이완시킨다. </a:t>
            </a:r>
            <a:r>
              <a:rPr sz="1600" b="1" i="0">
                <a:solidFill>
                  <a:srgbClr val="11202B"/>
                </a:solidFill>
                <a:latin typeface="Malgun Gothic"/>
                <a:ea typeface="Malgun Gothic"/>
                <a:cs typeface="Malgun Gothic"/>
              </a:rPr>
              <a:t>PDE5 억제제</a:t>
            </a:r>
            <a:r>
              <a:rPr sz="1600" b="0" i="0">
                <a:solidFill>
                  <a:srgbClr val="11202B"/>
                </a:solidFill>
                <a:latin typeface="Malgun Gothic"/>
                <a:ea typeface="Malgun Gothic"/>
                <a:cs typeface="Malgun Gothic"/>
              </a:rPr>
              <a:t>(sildenafil)는 cGMP의 분해를 막아 같은 경로를 연장한다. </a:t>
            </a:r>
            <a:r>
              <a:rPr sz="1600" b="1" i="0">
                <a:solidFill>
                  <a:srgbClr val="11202B"/>
                </a:solidFill>
                <a:latin typeface="Malgun Gothic"/>
                <a:ea typeface="Malgun Gothic"/>
                <a:cs typeface="Malgun Gothic"/>
              </a:rPr>
              <a:t>Ca²⁺ 통로 차단제</a:t>
            </a:r>
            <a:r>
              <a:rPr sz="1600" b="0" i="0">
                <a:solidFill>
                  <a:srgbClr val="11202B"/>
                </a:solidFill>
                <a:latin typeface="Malgun Gothic"/>
                <a:ea typeface="Malgun Gothic"/>
                <a:cs typeface="Malgun Gothic"/>
              </a:rPr>
              <a:t>는 Ca²⁺ 유입 자체를 줄인다. </a:t>
            </a:r>
            <a:r>
              <a:rPr sz="1600" b="1" i="0">
                <a:solidFill>
                  <a:srgbClr val="11202B"/>
                </a:solidFill>
                <a:latin typeface="Malgun Gothic"/>
                <a:ea typeface="Malgun Gothic"/>
                <a:cs typeface="Malgun Gothic"/>
              </a:rPr>
              <a:t>β₂ 작용제</a:t>
            </a:r>
            <a:r>
              <a:rPr sz="1600" b="0" i="0">
                <a:solidFill>
                  <a:srgbClr val="11202B"/>
                </a:solidFill>
                <a:latin typeface="Malgun Gothic"/>
                <a:ea typeface="Malgun Gothic"/>
                <a:cs typeface="Malgun Gothic"/>
              </a:rPr>
              <a:t>는 cAMP를 올려 MLCK를 억제하며, 기관지 평활근을 이완시켜 천식에 쓰인다. 네 약물이 하나의 조절 경로의 서로 다른 지점에 작용한다.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근육의 발생과 유지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근육세포는 몸에서 가장 특이한 세포에 속한다. 여러 세포가 융합해 만들어지고, 분열하지 않으면서 평생 유지되며, 쓰임에 따라 크기를 바꾼다. 이 특성이 어떻게 생기는지를 보면 재생과 질환이 함께 설명된다.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근육이 만들어지는 과정.</a:t>
            </a:r>
            <a:r>
              <a:rPr sz="1400" b="0" i="0">
                <a:solidFill>
                  <a:srgbClr val="11202B"/>
                </a:solidFill>
                <a:latin typeface="Malgun Gothic"/>
                <a:ea typeface="Malgun Gothic"/>
                <a:cs typeface="Malgun Gothic"/>
              </a:rPr>
              <a:t> 골격근은 체절의 축옆중배엽에서 유래한다(M01-W03-L01). 과정은 네 단계다.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결정</a:t>
            </a:r>
            <a:r>
              <a:rPr sz="1400" b="0" i="0">
                <a:solidFill>
                  <a:srgbClr val="11202B"/>
                </a:solidFill>
                <a:latin typeface="Malgun Gothic"/>
                <a:ea typeface="Malgun Gothic"/>
                <a:cs typeface="Malgun Gothic"/>
              </a:rPr>
              <a:t>: 중배엽 세포가 근육 계통으로 정해진다. MyoD와 Myf5 같은 전사인자가 켜지면서 근육모세포(myoblast)가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증식</a:t>
            </a:r>
            <a:r>
              <a:rPr sz="1400" b="0" i="0">
                <a:solidFill>
                  <a:srgbClr val="11202B"/>
                </a:solidFill>
                <a:latin typeface="Malgun Gothic"/>
                <a:ea typeface="Malgun Gothic"/>
                <a:cs typeface="Malgun Gothic"/>
              </a:rPr>
              <a:t>: 근육모세포가 수를 늘린다. 이 단계에서는 아직 수축 단백질을 만들지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융합</a:t>
            </a:r>
            <a:r>
              <a:rPr sz="1400" b="0" i="0">
                <a:solidFill>
                  <a:srgbClr val="11202B"/>
                </a:solidFill>
                <a:latin typeface="Malgun Gothic"/>
                <a:ea typeface="Malgun Gothic"/>
                <a:cs typeface="Malgun Gothic"/>
              </a:rPr>
              <a:t>: 근육모세포들이 서로 융합해 다핵의 근관(myotube)을 만든다. 융합과 동시에 세포주기에서 영구히 빠져나온다.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성숙</a:t>
            </a:r>
            <a:r>
              <a:rPr sz="1400" b="0" i="0">
                <a:solidFill>
                  <a:srgbClr val="11202B"/>
                </a:solidFill>
                <a:latin typeface="Malgun Gothic"/>
                <a:ea typeface="Malgun Gothic"/>
                <a:cs typeface="Malgun Gothic"/>
              </a:rPr>
              <a:t>: 수축 단백질 유전자가 대량으로 발현되고 sarcomere가 조립되며 신경 지배를 받아 섬유 유형이 정해진다.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2단계와 3단계가 </a:t>
            </a:r>
            <a:r>
              <a:rPr sz="1400" b="1" i="0">
                <a:solidFill>
                  <a:srgbClr val="11202B"/>
                </a:solidFill>
                <a:latin typeface="Malgun Gothic"/>
                <a:ea typeface="Malgun Gothic"/>
                <a:cs typeface="Malgun Gothic"/>
              </a:rPr>
              <a:t>배타적</a:t>
            </a:r>
            <a:r>
              <a:rPr sz="1400" b="0" i="0">
                <a:solidFill>
                  <a:srgbClr val="11202B"/>
                </a:solidFill>
                <a:latin typeface="Malgun Gothic"/>
                <a:ea typeface="Malgun Gothic"/>
                <a:cs typeface="Malgun Gothic"/>
              </a:rPr>
              <a:t>이라는 점이 중요하다. 융합해 분화를 시작한 세포는 더 이상 분열하지 않는다. 이 때문에 성인 근육은 손상되어도 기존 근섬유가 분열해 메울 수 없고, 별도의 줄기세포가 필요하다.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MyoD의 의미.</a:t>
            </a:r>
            <a:r>
              <a:rPr sz="1400" b="0" i="0">
                <a:solidFill>
                  <a:srgbClr val="11202B"/>
                </a:solidFill>
                <a:latin typeface="Malgun Gothic"/>
                <a:ea typeface="Malgun Gothic"/>
                <a:cs typeface="Malgun Gothic"/>
              </a:rPr>
              <a:t> MyoD를 섬유아세포처럼 근육이 아닌 세포에 강제로 발현시키면 그 세포가 근육 특이 유전자를 켜고 근관 모양으로 융합한다. 전사인자 하나가 세포의 정체성을 지정할 수 있다는 것을 보인 고전적 실험이며, 뒤에 역분화 연구로 이어졌다. 분자 기전은 M01-W07-L02에서 전사인자의 모듈 구조와 함께 다시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유지와 핵 영역.</a:t>
            </a:r>
            <a:r>
              <a:rPr sz="1400" b="0" i="0">
                <a:solidFill>
                  <a:srgbClr val="11202B"/>
                </a:solidFill>
                <a:latin typeface="Malgun Gothic"/>
                <a:ea typeface="Malgun Gothic"/>
                <a:cs typeface="Malgun Gothic"/>
              </a:rPr>
              <a:t> 근섬유는 길이가 수 cm에 이르므로 핵 하나가 담당하는 세포질 범위에 한계가 있다. 섬유가 굵어지려면 핵도 늘어야 하고, 그 핵은 위성세포가 융합해 공급한다. 거꾸로 위축에서는 세포질이 줄어도 핵은 일부 남는다는 관찰이 있는데, 이 때문에 한 번 훈련으로 늘어난 핵이 오래 남아 </a:t>
            </a:r>
            <a:r>
              <a:rPr sz="1400" b="1" i="0">
                <a:solidFill>
                  <a:srgbClr val="11202B"/>
                </a:solidFill>
                <a:latin typeface="Malgun Gothic"/>
                <a:ea typeface="Malgun Gothic"/>
                <a:cs typeface="Malgun Gothic"/>
              </a:rPr>
              <a:t>재훈련이 쉬워진다</a:t>
            </a:r>
            <a:r>
              <a:rPr sz="1400" b="0" i="0">
                <a:solidFill>
                  <a:srgbClr val="11202B"/>
                </a:solidFill>
                <a:latin typeface="Malgun Gothic"/>
                <a:ea typeface="Malgun Gothic"/>
                <a:cs typeface="Malgun Gothic"/>
              </a:rPr>
              <a:t>는 가설(근육 기억)이 제기되었다. 사람에서의 증거는 아직 논쟁 중이다.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근육의 발생과 유지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14</a:t>
            </a:r>
          </a:p>
        </p:txBody>
      </p:sp>
      <p:sp>
        <p:nvSpPr>
          <p:cNvPr id="7" name="Rectangle 6"/>
          <p:cNvSpPr/>
          <p:nvPr/>
        </p:nvSpPr>
        <p:spPr>
          <a:xfrm>
            <a:off x="640080" y="1325880"/>
            <a:ext cx="10881360" cy="256540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Duchenne 근이영양증의 기전이 이 절의 구조와 맞물린다. Dystrophin은 세포 안의 actin 세포골격과 막, 그리고 막 바깥의 기저막을 잇는 연결 고리다. 이것이 없으면 수축할 때마다 발생하는 기계적 힘이 막으로 직접 전달되어 미세한 파열이 생기고, Ca²⁺이 세포 안으로 들어와 단백질 분해 효소를 활성화한다. 손상된 섬유를 위성세포가 반복해서 고치다가 결국 그 능력이 고갈되고, 근육이 섬유화와 지방으로 대치된다. 치료 전략이 이 사슬의 각 지점에 대응한다. 유전자 수준에서는 exon 건너뛰기로 짧지만 기능하는 dystrophin을 만들거나(M03-W02-L03), 작게 줄인 micro-dystrophin을 전달하는 유전자 치료가 시도된다. 세포 수준에서는 손상을 줄이는 항염증 치료가 쓰이고, 조직 수준에서는 섬유화를 억제하는 접근이 연구된다.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근육의 적응과 재생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훈련에 대한 적응.</a:t>
            </a:r>
            <a:r>
              <a:rPr sz="1600" b="0" i="0">
                <a:solidFill>
                  <a:srgbClr val="11202B"/>
                </a:solidFill>
                <a:latin typeface="Malgun Gothic"/>
                <a:ea typeface="Malgun Gothic"/>
                <a:cs typeface="Malgun Gothic"/>
              </a:rPr>
              <a:t> 자극의 종류가 적응의 방향을 정한다.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저항 훈련</a:t>
            </a:r>
            <a:r>
              <a:rPr sz="1600" b="0" i="0">
                <a:solidFill>
                  <a:srgbClr val="11202B"/>
                </a:solidFill>
                <a:latin typeface="Malgun Gothic"/>
                <a:ea typeface="Malgun Gothic"/>
                <a:cs typeface="Malgun Gothic"/>
              </a:rPr>
              <a:t>(무거운 부하, 적은 반복): 근섬유의 </a:t>
            </a:r>
            <a:r>
              <a:rPr sz="1600" b="1" i="0">
                <a:solidFill>
                  <a:srgbClr val="11202B"/>
                </a:solidFill>
                <a:latin typeface="Malgun Gothic"/>
                <a:ea typeface="Malgun Gothic"/>
                <a:cs typeface="Malgun Gothic"/>
              </a:rPr>
              <a:t>단면적이 커진다</a:t>
            </a:r>
            <a:r>
              <a:rPr sz="1600" b="0" i="0">
                <a:solidFill>
                  <a:srgbClr val="11202B"/>
                </a:solidFill>
                <a:latin typeface="Malgun Gothic"/>
                <a:ea typeface="Malgun Gothic"/>
                <a:cs typeface="Malgun Gothic"/>
              </a:rPr>
              <a:t>(비대). 수축 단백질이 늘어나는 것이며, 성인에서 근섬유의 수 자체는 거의 늘지 않는다. 초기 몇 주의 근력 증가는 신경계의 적응(동원 효율 향상)이 더 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지구력 훈련</a:t>
            </a:r>
            <a:r>
              <a:rPr sz="1600" b="0" i="0">
                <a:solidFill>
                  <a:srgbClr val="11202B"/>
                </a:solidFill>
                <a:latin typeface="Malgun Gothic"/>
                <a:ea typeface="Malgun Gothic"/>
                <a:cs typeface="Malgun Gothic"/>
              </a:rPr>
              <a:t>(가벼운 부하, 많은 반복): 미토콘드리아와 모세혈관이 늘고 산화 효소가 증가한다. 단면적은 크게 변하지 않는다. IIx형이 IIa형 쪽으로 이동하는 변화도 관찰된다.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적응의 방향을 정하는 신호도 다르다. 저항 훈련에서는 기계적 부하가 mTOR 경로를 통해 단백질 합성을 올리고, 지구력 훈련에서는 에너지 소모에 따른 AMP 상승이 AMPK를 거쳐 미토콘드리아 생성을 촉진한다. 두 신호가 서로를 억제하는 면이 있어, 같은 시기에 두 훈련을 극단적으로 병행하면 각각의 효과가 줄어드는 간섭이 관찰된다. 경로의 상세는 M02-W12-L03에서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비활동에 대한 적응.</a:t>
            </a:r>
            <a:r>
              <a:rPr sz="1600" b="0" i="0">
                <a:solidFill>
                  <a:srgbClr val="11202B"/>
                </a:solidFill>
                <a:latin typeface="Malgun Gothic"/>
                <a:ea typeface="Malgun Gothic"/>
                <a:cs typeface="Malgun Gothic"/>
              </a:rPr>
              <a:t> 쓰지 않으면 빠르게 위축된다. 침상 안정이나 고정에서 수일 안에 단백질 합성이 줄고 분해가 늘어난다. </a:t>
            </a:r>
            <a:r>
              <a:rPr sz="1600" b="1" i="0">
                <a:solidFill>
                  <a:srgbClr val="11202B"/>
                </a:solidFill>
                <a:latin typeface="Malgun Gothic"/>
                <a:ea typeface="Malgun Gothic"/>
                <a:cs typeface="Malgun Gothic"/>
              </a:rPr>
              <a:t>중력에 맞서 자세를 유지하는 근육</a:t>
            </a:r>
            <a:r>
              <a:rPr sz="1600" b="0" i="0">
                <a:solidFill>
                  <a:srgbClr val="11202B"/>
                </a:solidFill>
                <a:latin typeface="Malgun Gothic"/>
                <a:ea typeface="Malgun Gothic"/>
                <a:cs typeface="Malgun Gothic"/>
              </a:rPr>
              <a:t>(항중력근)이 특히 빨리 위축되며, 이것이 조기 보행과 재활을 강조하는 이유다.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근육의 적응과 재생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16</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운동이 근육 바깥의 장기에까지 이로운 이유를 설명하려는 틀로 </a:t>
            </a:r>
            <a:r>
              <a:rPr sz="1600" b="1" i="0">
                <a:solidFill>
                  <a:srgbClr val="11202B"/>
                </a:solidFill>
                <a:latin typeface="Malgun Gothic"/>
                <a:ea typeface="Malgun Gothic"/>
                <a:cs typeface="Malgun Gothic"/>
              </a:rPr>
              <a:t>myokine</a:t>
            </a:r>
            <a:r>
              <a:rPr sz="1600" b="0" i="0">
                <a:solidFill>
                  <a:srgbClr val="11202B"/>
                </a:solidFill>
                <a:latin typeface="Malgun Gothic"/>
                <a:ea typeface="Malgun Gothic"/>
                <a:cs typeface="Malgun Gothic"/>
              </a:rPr>
              <a:t> 개념이 제시되었다. 수축하는 근육이 IL-6, irisin, BDNF를 비롯한 여러 단백질을 혈액으로 분비해 간, 지방, 뇌, 혈관에 작용한다는 것이다. 근육을 내분비 기관으로 보는 관점이며, 운동의 효과를 약으로 재현하려는 연구의 출발점이 되었다. 다만 신중할 지점이 많다. 동물에서 큰 효과를 보인 인자가 사람에서는 혈중 농도가 매우 낮거나 측정 자체가 논란이 된 경우가 있고(irisin이 대표적이다), 운동의 효과는 혈류 증가, 기계적 자극, 대사 변화, 신경 적응이 함께 만든 것이어서 분비 인자 하나로 환원되지 않는다. 현재의 합의는 myokine이 실재하는 경로이기는 하나 "운동을 대체하는 약"으로 이어질지는 확정되지 않았다는 것이다.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근육의 적응과 재생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재생과 위성세포.</a:t>
            </a:r>
            <a:r>
              <a:rPr sz="2000" b="0" i="0">
                <a:solidFill>
                  <a:srgbClr val="11202B"/>
                </a:solidFill>
                <a:latin typeface="Malgun Gothic"/>
                <a:ea typeface="Malgun Gothic"/>
                <a:cs typeface="Malgun Gothic"/>
              </a:rPr>
              <a:t> 근섬유는 다핵이고 분열하지 않지만 재생 능력이 있다. 근섬유 바깥 기저막 아래에 </a:t>
            </a:r>
            <a:r>
              <a:rPr sz="2000" b="1" i="0">
                <a:solidFill>
                  <a:srgbClr val="11202B"/>
                </a:solidFill>
                <a:latin typeface="Malgun Gothic"/>
                <a:ea typeface="Malgun Gothic"/>
                <a:cs typeface="Malgun Gothic"/>
              </a:rPr>
              <a:t>위성세포(satellite cell)</a:t>
            </a:r>
            <a:r>
              <a:rPr sz="2000" b="0" i="0">
                <a:solidFill>
                  <a:srgbClr val="11202B"/>
                </a:solidFill>
                <a:latin typeface="Malgun Gothic"/>
                <a:ea typeface="Malgun Gothic"/>
                <a:cs typeface="Malgun Gothic"/>
              </a:rPr>
              <a:t> 라는 줄기세포가 붙어 있다가, 손상이 생기면 활성화되어 증식하고 기존 근섬유에 융합하거나 새 근섬유를 만든다. 비대 과정에서 핵이 추가되는 것도 이 세포에서 온다.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근육의 적응과 재생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근감소증은 노화와 함께 근육량과 기능이 줄어드는 상태로, 낙상과 사망률의 독립적 예측 인자이면서 아직 승인된 약물 치료가 없다. 표적으로 가장 많이 시도된 것이 </a:t>
            </a:r>
            <a:r>
              <a:rPr sz="1600" b="1" i="0">
                <a:solidFill>
                  <a:srgbClr val="11202B"/>
                </a:solidFill>
                <a:latin typeface="Malgun Gothic"/>
                <a:ea typeface="Malgun Gothic"/>
                <a:cs typeface="Malgun Gothic"/>
              </a:rPr>
              <a:t>myostatin</a:t>
            </a:r>
            <a:r>
              <a:rPr sz="1600" b="0" i="0">
                <a:solidFill>
                  <a:srgbClr val="11202B"/>
                </a:solidFill>
                <a:latin typeface="Malgun Gothic"/>
                <a:ea typeface="Malgun Gothic"/>
                <a:cs typeface="Malgun Gothic"/>
              </a:rPr>
              <a:t> 경로다. Myostatin은 근육 성장을 억제하는 인자이며, 자연 결손이 있는 소와 사람에서 근육이 크게 발달한 사례가 보고되어 큰 기대를 모았다. 그러나 여러 항체와 수용체 차단제 임상 시험에서 </a:t>
            </a:r>
            <a:r>
              <a:rPr sz="1600" b="1" i="0">
                <a:solidFill>
                  <a:srgbClr val="11202B"/>
                </a:solidFill>
                <a:latin typeface="Malgun Gothic"/>
                <a:ea typeface="Malgun Gothic"/>
                <a:cs typeface="Malgun Gothic"/>
              </a:rPr>
              <a:t>근육량은 늘었으나 근력과 신체 기능의 개선은 미미했다</a:t>
            </a:r>
            <a:r>
              <a:rPr sz="1600" b="0" i="0">
                <a:solidFill>
                  <a:srgbClr val="11202B"/>
                </a:solidFill>
                <a:latin typeface="Malgun Gothic"/>
                <a:ea typeface="Malgun Gothic"/>
                <a:cs typeface="Malgun Gothic"/>
              </a:rPr>
              <a:t>. 양과 기능이 분리된다는 사실이 분명해지면서, 지금은 근육 안의 지방 침윤, 미토콘드리아 기능, 신경근 접합부의 퇴행, 위성세포의 노화 쪽으로 관심이 옮겨 가고 있다. GLP-1 수용체 작용제에 의한 체중 감소에서 제지방량이 함께 줄어드는 문제가 제기되면서, 근육을 보존하는 병용 치료의 필요성이 임상에서 다시 부각되었다.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근육 질환을 읽는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근력 약화를 호소하는 환자 앞에서 던지는 첫 질문은 "어디가 문제인가"다. 운동의 사슬은 네 단계이며, 각 단계의 손상이 서로 다른 양상을 만든다.</a:t>
            </a:r>
          </a:p>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상위운동신경세포 → 하위운동신경세포 → 신경근 접합부 → 근육</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근육 질환을 읽는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20</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신경원성(신경)</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근원성(근육)</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약화의 분포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흔히 원위부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흔히 </a:t>
                      </a:r>
                      <a:r>
                        <a:rPr sz="1200" b="1" i="0">
                          <a:solidFill>
                            <a:srgbClr val="11202B"/>
                          </a:solidFill>
                          <a:latin typeface="Malgun Gothic"/>
                          <a:ea typeface="Malgun Gothic"/>
                          <a:cs typeface="Malgun Gothic"/>
                        </a:rPr>
                        <a:t>근위부</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위축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뚜렷</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중등도, 때로 가성 비대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섬유다발수축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있다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감각 이상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동반될 수 있다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심부건반사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소실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비교적 보존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Creatine kinase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정상~경미 상승</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크게 상승</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근전도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큰 진폭, 긴 지속의 운동단위 전위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작은 진폭, 짧은 지속</a:t>
                      </a:r>
                    </a:p>
                  </a:txBody>
                  <a:tcPr marL="73152" marR="73152" marT="27432" marB="27432">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근육 질환을 읽는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"머리를 빗거나 계단을 오르기 어렵다"는 근위부 약화의 전형적 호소이며 근원성을 시사한다. "단추를 잠그기 어렵다, 발이 끌린다"는 원위부 약화로 신경원성을 시사한다.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접합부 질환은 따로 가른다.</a:t>
            </a:r>
            <a:r>
              <a:rPr sz="1400" b="0" i="0">
                <a:solidFill>
                  <a:srgbClr val="11202B"/>
                </a:solidFill>
                <a:latin typeface="Malgun Gothic"/>
                <a:ea typeface="Malgun Gothic"/>
                <a:cs typeface="Malgun Gothic"/>
              </a:rPr>
              <a:t> 피로에 따라 변동하는 약화, 눈꺼풀 처짐과 복시로 시작하는 양상, 반복 자극에서의 변화가 단서다.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대표 질환의 분류.</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근이영양증</a:t>
            </a:r>
            <a:r>
              <a:rPr sz="1400" b="0" i="0">
                <a:solidFill>
                  <a:srgbClr val="11202B"/>
                </a:solidFill>
                <a:latin typeface="Malgun Gothic"/>
                <a:ea typeface="Malgun Gothic"/>
                <a:cs typeface="Malgun Gothic"/>
              </a:rPr>
              <a:t>: 근섬유막을 세포골격에 연결하는 단백질의 결손. Duchenne 근이영양증은 </a:t>
            </a:r>
            <a:r>
              <a:rPr sz="1400" b="1" i="0">
                <a:solidFill>
                  <a:srgbClr val="11202B"/>
                </a:solidFill>
                <a:latin typeface="Malgun Gothic"/>
                <a:ea typeface="Malgun Gothic"/>
                <a:cs typeface="Malgun Gothic"/>
              </a:rPr>
              <a:t>dystrophin</a:t>
            </a:r>
            <a:r>
              <a:rPr sz="1400" b="0" i="0">
                <a:solidFill>
                  <a:srgbClr val="11202B"/>
                </a:solidFill>
                <a:latin typeface="Malgun Gothic"/>
                <a:ea typeface="Malgun Gothic"/>
                <a:cs typeface="Malgun Gothic"/>
              </a:rPr>
              <a:t>의 결손으로 수축할 때마다 막이 손상되어 섬유가 파괴되고 섬유화와 지방으로 대치된다. X 연관 열성이며 creatine kinase가 매우 높다. 장딴지의 가성 비대가 특징이다.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염증성 근병증</a:t>
            </a:r>
            <a:r>
              <a:rPr sz="1400" b="0" i="0">
                <a:solidFill>
                  <a:srgbClr val="11202B"/>
                </a:solidFill>
                <a:latin typeface="Malgun Gothic"/>
                <a:ea typeface="Malgun Gothic"/>
                <a:cs typeface="Malgun Gothic"/>
              </a:rPr>
              <a:t>: 다발근염, 피부근염. 근위부 약화와 creatine kinase 상승, 염증 소견.</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대사성 근병증</a:t>
            </a:r>
            <a:r>
              <a:rPr sz="1400" b="0" i="0">
                <a:solidFill>
                  <a:srgbClr val="11202B"/>
                </a:solidFill>
                <a:latin typeface="Malgun Gothic"/>
                <a:ea typeface="Malgun Gothic"/>
                <a:cs typeface="Malgun Gothic"/>
              </a:rPr>
              <a:t>: 에너지 공급 경로의 결손. 어느 체계가 막혔는지에 따라 증상 시점이 다르다. 당 분해 경로의 결손(McArdle 병)은 </a:t>
            </a:r>
            <a:r>
              <a:rPr sz="1400" b="1" i="0">
                <a:solidFill>
                  <a:srgbClr val="11202B"/>
                </a:solidFill>
                <a:latin typeface="Malgun Gothic"/>
                <a:ea typeface="Malgun Gothic"/>
                <a:cs typeface="Malgun Gothic"/>
              </a:rPr>
              <a:t>운동 초기</a:t>
            </a:r>
            <a:r>
              <a:rPr sz="1400" b="0" i="0">
                <a:solidFill>
                  <a:srgbClr val="11202B"/>
                </a:solidFill>
                <a:latin typeface="Malgun Gothic"/>
                <a:ea typeface="Malgun Gothic"/>
                <a:cs typeface="Malgun Gothic"/>
              </a:rPr>
              <a:t>에 통증과 경련이 오고 잠시 쉬었다 하면 나아지며(지방 산화로 전환), 지방산 산화의 결손은 </a:t>
            </a:r>
            <a:r>
              <a:rPr sz="1400" b="1" i="0">
                <a:solidFill>
                  <a:srgbClr val="11202B"/>
                </a:solidFill>
                <a:latin typeface="Malgun Gothic"/>
                <a:ea typeface="Malgun Gothic"/>
                <a:cs typeface="Malgun Gothic"/>
              </a:rPr>
              <a:t>오래 지속되는 운동이나 공복</a:t>
            </a:r>
            <a:r>
              <a:rPr sz="1400" b="0" i="0">
                <a:solidFill>
                  <a:srgbClr val="11202B"/>
                </a:solidFill>
                <a:latin typeface="Malgun Gothic"/>
                <a:ea typeface="Malgun Gothic"/>
                <a:cs typeface="Malgun Gothic"/>
              </a:rPr>
              <a:t>에서 문제가 생긴다.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약물 유발</a:t>
            </a:r>
            <a:r>
              <a:rPr sz="1400" b="0" i="0">
                <a:solidFill>
                  <a:srgbClr val="11202B"/>
                </a:solidFill>
                <a:latin typeface="Malgun Gothic"/>
                <a:ea typeface="Malgun Gothic"/>
                <a:cs typeface="Malgun Gothic"/>
              </a:rPr>
              <a:t>: statin 관련 근병증이 흔하다.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내분비성</a:t>
            </a:r>
            <a:r>
              <a:rPr sz="1400" b="0" i="0">
                <a:solidFill>
                  <a:srgbClr val="11202B"/>
                </a:solidFill>
                <a:latin typeface="Malgun Gothic"/>
                <a:ea typeface="Malgun Gothic"/>
                <a:cs typeface="Malgun Gothic"/>
              </a:rPr>
              <a:t>: 갑상샘 기능저하증과 Cushing 증후군에서 근위부 약화가 나타난다.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근육 질환을 읽는 논리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22</a:t>
            </a:r>
          </a:p>
        </p:txBody>
      </p:sp>
      <p:sp>
        <p:nvSpPr>
          <p:cNvPr id="7" name="Rectangle 6"/>
          <p:cNvSpPr/>
          <p:nvPr/>
        </p:nvSpPr>
        <p:spPr>
          <a:xfrm>
            <a:off x="640080" y="1325880"/>
            <a:ext cx="10881360" cy="256540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대사성 근병증에서 </a:t>
            </a:r>
            <a:r>
              <a:rPr sz="1600" b="1" i="0">
                <a:solidFill>
                  <a:srgbClr val="11202B"/>
                </a:solidFill>
                <a:latin typeface="Malgun Gothic"/>
                <a:ea typeface="Malgun Gothic"/>
                <a:cs typeface="Malgun Gothic"/>
              </a:rPr>
              <a:t>증상이 나타나는 시점</a:t>
            </a:r>
            <a:r>
              <a:rPr sz="1600" b="0" i="0">
                <a:solidFill>
                  <a:srgbClr val="11202B"/>
                </a:solidFill>
                <a:latin typeface="Malgun Gothic"/>
                <a:ea typeface="Malgun Gothic"/>
                <a:cs typeface="Malgun Gothic"/>
              </a:rPr>
              <a:t>이 어느 경로가 막혔는지를 알려 준다. 8절의 세 에너지 체계와 그대로 대응한다. 운동을 시작하자마자 몇 분 안에 통증과 경련이 오고 더 하면 오히려 편해지는 것(이차 바람 현상)은 </a:t>
            </a:r>
            <a:r>
              <a:rPr sz="1600" b="1" i="0">
                <a:solidFill>
                  <a:srgbClr val="11202B"/>
                </a:solidFill>
                <a:latin typeface="Malgun Gothic"/>
                <a:ea typeface="Malgun Gothic"/>
                <a:cs typeface="Malgun Gothic"/>
              </a:rPr>
              <a:t>glycogen 분해·glycolysis의 결손</a:t>
            </a:r>
            <a:r>
              <a:rPr sz="1600" b="0" i="0">
                <a:solidFill>
                  <a:srgbClr val="11202B"/>
                </a:solidFill>
                <a:latin typeface="Malgun Gothic"/>
                <a:ea typeface="Malgun Gothic"/>
                <a:cs typeface="Malgun Gothic"/>
              </a:rPr>
              <a:t>이다. 처음 몇 분은 phosphocreatine으로 버티고, 그 다음 구간을 담당해야 할 당 분해가 막혀 있으며, 더 지나면 지방산 산화로 넘어가 나아지기 때문이다. 반대로 오래 걷거나 금식한 뒤에 근육통과 미오글로빈뇨가 오는 것은 </a:t>
            </a:r>
            <a:r>
              <a:rPr sz="1600" b="1" i="0">
                <a:solidFill>
                  <a:srgbClr val="11202B"/>
                </a:solidFill>
                <a:latin typeface="Malgun Gothic"/>
                <a:ea typeface="Malgun Gothic"/>
                <a:cs typeface="Malgun Gothic"/>
              </a:rPr>
              <a:t>지방산 산화의 결손</a:t>
            </a:r>
            <a:r>
              <a:rPr sz="1600" b="0" i="0">
                <a:solidFill>
                  <a:srgbClr val="11202B"/>
                </a:solidFill>
                <a:latin typeface="Malgun Gothic"/>
                <a:ea typeface="Malgun Gothic"/>
                <a:cs typeface="Malgun Gothic"/>
              </a:rPr>
              <a:t>(carnitine 수송 또는 β 산화 효소)이다. 횡문근융해증에서 미오글로빈이 신세뇨관을 막아 급성 신손상을 일으킨다는 점, 세포 안 K⁺와 인이 쏟아져 고칼륨혈증과 고인산혈증이 생긴다는 점도 함께 묻는다. 대사 경로의 상세는 M02-W06-L01과 M02-W08-L01에서 다룬다.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근육은 세포생물학과 대사, 그리고 임상을 잇는 자리에 있다. 각 주제가 어디에서 확대되는지를 정리한다.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Actin과 myosin의 세포골격으로서의 일반 역할</a:t>
            </a:r>
            <a:r>
              <a:rPr sz="1600" b="0" i="0">
                <a:solidFill>
                  <a:srgbClr val="11202B"/>
                </a:solidFill>
                <a:latin typeface="Malgun Gothic"/>
                <a:ea typeface="Malgun Gothic"/>
                <a:cs typeface="Malgun Gothic"/>
              </a:rPr>
              <a:t>: M01-W10-L02에서 다룬다. 근수축은 세포골격 운동 단백질이 극단적으로 특수화된 사례다.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막전위와 이온 통로</a:t>
            </a:r>
            <a:r>
              <a:rPr sz="1600" b="0" i="0">
                <a:solidFill>
                  <a:srgbClr val="11202B"/>
                </a:solidFill>
                <a:latin typeface="Malgun Gothic"/>
                <a:ea typeface="Malgun Gothic"/>
                <a:cs typeface="Malgun Gothic"/>
              </a:rPr>
              <a:t>: M01-W10-L03과 M04-W02-L03에서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신경근 접합부의 시냅스 기전</a:t>
            </a:r>
            <a:r>
              <a:rPr sz="1600" b="0" i="0">
                <a:solidFill>
                  <a:srgbClr val="11202B"/>
                </a:solidFill>
                <a:latin typeface="Malgun Gothic"/>
                <a:ea typeface="Malgun Gothic"/>
                <a:cs typeface="Malgun Gothic"/>
              </a:rPr>
              <a:t>: M04-W03-L01에서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ATP 생산과 대사 경로</a:t>
            </a:r>
            <a:r>
              <a:rPr sz="1600" b="0" i="0">
                <a:solidFill>
                  <a:srgbClr val="11202B"/>
                </a:solidFill>
                <a:latin typeface="Malgun Gothic"/>
                <a:ea typeface="Malgun Gothic"/>
                <a:cs typeface="Malgun Gothic"/>
              </a:rPr>
              <a:t>: M01-W09-L02와 M01-W09-L03에서 기초를, M02-W04와 M02-W08에서 상세를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심근의 수축과 심박출량</a:t>
            </a:r>
            <a:r>
              <a:rPr sz="1600" b="0" i="0">
                <a:solidFill>
                  <a:srgbClr val="11202B"/>
                </a:solidFill>
                <a:latin typeface="Malgun Gothic"/>
                <a:ea typeface="Malgun Gothic"/>
                <a:cs typeface="Malgun Gothic"/>
              </a:rPr>
              <a:t>: M01-W01-L01에서 이미 다루었다.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운동 조절의 중추 회로</a:t>
            </a:r>
            <a:r>
              <a:rPr sz="1600" b="0" i="0">
                <a:solidFill>
                  <a:srgbClr val="11202B"/>
                </a:solidFill>
                <a:latin typeface="Malgun Gothic"/>
                <a:ea typeface="Malgun Gothic"/>
                <a:cs typeface="Malgun Gothic"/>
              </a:rPr>
              <a:t>: M01-W03-L02와 M04-W06에서 다룬다.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근육 발생과 MyoD에 의한 운명 결정</a:t>
            </a:r>
            <a:r>
              <a:rPr sz="1600" b="0" i="0">
                <a:solidFill>
                  <a:srgbClr val="11202B"/>
                </a:solidFill>
                <a:latin typeface="Malgun Gothic"/>
                <a:ea typeface="Malgun Gothic"/>
                <a:cs typeface="Malgun Gothic"/>
              </a:rPr>
              <a:t>: M01-W07-L02에서 전사인자의 작동 사례로 다시 등장한다.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세포 손상과 괴사</a:t>
            </a:r>
            <a:r>
              <a:rPr sz="1600" b="0" i="0">
                <a:solidFill>
                  <a:srgbClr val="11202B"/>
                </a:solidFill>
                <a:latin typeface="Malgun Gothic"/>
                <a:ea typeface="Malgun Gothic"/>
                <a:cs typeface="Malgun Gothic"/>
              </a:rPr>
              <a:t>: 횡문근융해증의 세포 수준 기전은 M01-W12-L02에서 다룬다.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이 수업이 이어지는 곳</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근육을 공부하는 순서는 </a:t>
            </a:r>
            <a:r>
              <a:rPr sz="1600" b="1" i="0">
                <a:solidFill>
                  <a:srgbClr val="11202B"/>
                </a:solidFill>
                <a:latin typeface="Malgun Gothic"/>
                <a:ea typeface="Malgun Gothic"/>
                <a:cs typeface="Malgun Gothic"/>
              </a:rPr>
              <a:t>공통 기계 → 조절의 차이 → 역학 → 대사 → 질환</a:t>
            </a:r>
            <a:r>
              <a:rPr sz="1600" b="0" i="0">
                <a:solidFill>
                  <a:srgbClr val="11202B"/>
                </a:solidFill>
                <a:latin typeface="Malgun Gothic"/>
                <a:ea typeface="Malgun Gothic"/>
                <a:cs typeface="Malgun Gothic"/>
              </a:rPr>
              <a:t>이다. 세 근육을 따로 암기하면 양이 세 배가 되지만, cross-bridge 주기를 하나 세워 두고 "무엇이 잠금을 푸는가", "Ca²⁺은 어디서 오는가", "무엇이 끄는가"만 바꾸어 보면 하나의 주제가 된다. 질환도 마찬가지로, 사슬의 어느 고리가 끊겼는지를 묻는 하나의 질문으로 정리된다.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근육이 열기관과 다른 두 가지를 쓰고, 근육의 구조가 반복과 정렬로 이루어진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열을 거치지 않는다. ATP 가수분해 에너지를 단백질의 형태 변화로 직접 기계적 일로 바꾸며 열은 부산물이다. 둘째, 분자 하나가 하는 일이 매우 작다. Myosin 머리 하나가 내는 힘은 몇 피코뉴턴이고 움직이는 거리는 약 10 nm에 불과하다. 이 미세한 일을 의미 있는 크기로 만들려면 막대한 수를 같은 방향으로 합쳐야 하고, 그러려면 모든 분자가 같은 축에 나란히 정렬되어야 한다. Sarcomere의 규칙적 반복 구조가 이 요구에서 나온다.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미끄럼 필라멘트 모형의 근거를 수축 시 띠의 변화로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수축하는 근육에서 A대의 길이는 변하지 않고 I대와 H구역만 짧아진다. A대는 굵은 필라멘트의 전체 길이이므로 굵은 필라멘트가 짧아지지 않았다는 뜻이다. I대는 가는 필라멘트 가운데 겹치지 않은 구간이고 H구역은 굵은 필라멘트 가운데 겹치지 않은 구간이므로, 둘이 함께 짧아진다는 것은 두 필라멘트가 겹친 정도가 늘었다는 뜻이다. 따라서 필라멘트의 길이는 변하지 않고 서로 미끄러져 들어가며, Z선이 가까워져 sarcomere가 짧아진다.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Cross-bridge 주기에서 ATP가 쓰이는 두 지점을 쓰고, 사후 강직이 어느 쪽을 증명하는지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ATP는 머리를 원래 각도로 되돌리는 재장전에 쓰이고, 또 하나는 actin에 결합한 머리를 떼어 내는 분리에 쓰인다. 두 번째 역할이 직관에 반하는데, ATP는 당기는 데가 아니라 놓는 데 쓰인다. 사후 강직이 이를 증명한다. 사망 후 ATP 생산이 멈추면 새 ATP가 myosin 머리에 결합하지 못해 머리를 actin에서 떼어 낼 수 없고, 결합이 고정되어 근육이 굳는다. 수축이 아니라 분리의 실패이며, 단백질이 분해되면서 풀린다.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Ca²⁺이 근수축에서 하는 일을 정확히 서술하고, 기계를 작동시키는 것과 어떻게 다른지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안정 상태에서 tropomyosin이 actin의 myosin 결합 부위를 덮고 있다. Ca²⁺이 troponin C에 결합하면 troponin 복합체의 구조가 바뀌고 이것이 tropomyosin을 옆으로 밀어 결합 부위를 노출시킨다. 즉 Ca²⁺은 수축 기계를 돌리는 에너지를 주는 것이 아니라 잠금을 푸는 역할만 한다. 기계 자체는 ATP가 있는 한 언제든 돌 준비가 되어 있으며, Ca²⁺은 그것이 actin에 접근할 수 있는지를 결정한다.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T세관이 필요한 이유를 설명하고, 골격근과 심근에서 흥분–수축 짝이음의 차이를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근섬유는 지름이 수십 μm로 커서 막의 탈분극이 확산으로 중심부까지 전달되기를 기다리면 바깥과 안쪽의 수축 시점이 어긋난다. T세관은 막을 세포 안으로 접어 넣어 모든 근원섬유가 동시에 신호를 받게 한다. 골격근에서는 T세관의 DHPR이 전압 센서로 작동해 sarcoplasmic reticulum의 RyR1과 물리적으로 맞닿아 있으므로, 전압 변화가 기계적으로 RyR을 열며 세포 밖 Ca²⁺ 없이도 수축한다. 심근에서는 DHPR이 실제 Ca²⁺ 통로로 작동해 들어온 소량의 Ca²⁺이 RyR2를 열어 더 많은 Ca²⁺을 방출시키므로 세포 밖 Ca²⁺이 없으면 수축하지 않는다.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악성 고열의 기전과 치료제의 작용 지점을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RyR1의 변이를 가진 사람이 흡입 마취제나 succinylcholine에 노출되면 sarcoplasmic reticulum에서 Ca²⁺이 통제 없이 방출된다. 지속적인 수축이 일어나고 Ca²⁺을 되돌리려는 펌프가 ATP를 대량 소모하면서 극심한 열이 발생하며, 근육이 파괴되어 고칼륨혈증, 산증, 미오글로빈뇨가 따른다. 치료제 dantrolene은 RyR1을 직접 억제해 Ca²⁺ 방출을 차단한다. 원인 분자를 알면 치료 표적이 그대로 정해지는 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신경근 접합부의 안전 역이 큰 이유를 쓰고, 이 성질이 중증근무력증의 임상 양상을 어떻게 설명하는지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한 번의 아세틸콜린 방출로 생기는 종판 전위가 역치를 넘기는 데 필요한 양의 서너 배에 이르러 신호가 거의 100% 전달된다. 운동신경세포가 이미 결정을 내렸으므로 그 명령이 누락 없이 실행되어야 하기 때문이며, 접합부는 판단하지 않고 전달만 한다. 중증근무력증에서는 자가항체로 수용체가 줄지만 안전 역이 크므로 상당 부분이 소실될 때까지 증상이 없다가 역치 아래로 떨어지면 증상이 나타난다. 또 반복 자극에서 방출량이 조금씩 줄어드는 정상적 현상이 줄어든 안전 역에서는 전달 실패로 드러나므로, 쓸수록 약해지고 쉬면 회복되는 양상이 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운동단위를 정의하고 근육이 힘을 조절하는 두 방식을 설명하시오. 크기 원리가 주는 이점도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운동단위는 하나의 운동신경세포와 그것이 지배하는 모든 근섬유를 말하며, 그 신경세포가 흥분하면 모든 섬유가 동시에 수축하므로 근육 조절의 최소 단위다. 힘은 활성화하는 운동단위의 수를 늘리는 동원과 각 단위에 가는 활동전위의 빈도를 올리는 빈도 변조로 조절된다. 크기 원리에 따라 작은 운동단위부터 순서대로 동원되므로, 약한 힘에서는 적은 수의 섬유만 움직여 미세한 조절이 가능하고 큰 힘이 필요할 때만 큰 단위가 더해진다. 작은 단위가 피로에 강한 I형 섬유를 지배하므로 일상적 활동에서는 지치지 않는 섬유만 쓰인다는 이점도 있다.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심근이 강축에 빠지지 않는 이유를 골격근과 비교해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가중이 일어나려면 이전 수축이 끝나기 전에 다음 활동전위를 줄 수 있어야 한다. 골격근에서는 활동전위가 수 ms이고 불응기가 짧은 데 비해 연축은 수십 ms 지속되므로 수축이 겹쳐 쌓여 강축이 가능하다. 심근은 활동전위에 긴 평탄기가 있어 지속 시간이 200~300 ms에 이르고 불응기가 수축 기간 거의 전체를 덮는다. 따라서 이전 수축이 끝나기 전에는 다시 흥분할 수 없어 가중이 불가능하다. 심장이 수축과 이완을 반드시 번갈아 해야 하므로 필수적인 성질이다.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길이–장력 관계를 sarcomere 구조로 설명하고, 이것이 심장 생리의 어느 개념과 연결되는지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근육이 너무 짧으면 가는 필라멘트들이 서로 겹쳐 방해하고 굵은 필라멘트가 Z선에 닿아 힘이 준다. 약 2.0~2.2 μm의 최적 길이에서는 겹침이 최대이면서 방해가 없어 가장 많은 cross-bridge가 형성되어 힘이 최대가 된다. 더 늘어나면 겹침이 줄어 형성 가능한 cross-bridge가 줄고 힘이 준다. 이 관계가 Frank–Starling 기전의 분자적 근거이며, 심근은 정상 범위에서 최적 길이보다 짧은 쪽에 있어 늘어날수록 힘이 커지는 구간에서 작동한다.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근섬유 유형 세 가지를 대사 특성으로 구분하고, 한 운동단위의 모든 섬유가 같은 유형인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I형은 느리게 수축하고 산화적 인산화에 의존하며 미토콘드리아와 모세혈관이 많고 myoglobin이 풍부해 붉으며 피로에 강하다. IIa형은 빠르게 수축하면서 산화와 해당을 모두 쓰고 피로 저항이 중간이다. IIx형은 가장 빠르고 혐기성 glycolysis에 의존하며 미토콘드리아가 적고 쉽게 지친다. 한 운동단위의 섬유가 모두 같은 유형인 것은 운동신경세포가 섬유의 성질을 지정하기 때문이며, 신경을 서로 바꿔 연결하는 실험에서 섬유 유형이 새 신경을 따라 바뀌는 것으로 확인되었다.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평활근의 수축 조절이 골격근과 다른 점을 세 가지로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sarcomere가 없고 필라멘트가 밀집체에 고정되어 비스듬히 배열되므로 가로무늬가 없고 모든 방향으로 짧아질 수 있다. 둘째, Ca²⁺의 표적이 troponin이 아니라 calmodulin이다. Ca²⁺–calmodulin이 myosin light chain kinase를 활성화하고 이 효소가 myosin 경쇄를 인산화해야 상호작용이 가능하므로, 가는 필라멘트가 아니라 굵은 필라멘트 쪽에서 조절된다. 셋째, 인산화된 cross-bridge의 분리 속도가 매우 느려지는 latch 상태가 있어 적은 ATP로 장력을 오래 유지할 수 있으며, 혈관과 소화관의 지속적 긴장이 이 방식으로 유지된다.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신경원성 약화와 근원성 약화를 다섯 가지 소견으로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신경원성은 흔히 원위부가 약해지고 위축이 뚜렷하며 섬유다발수축이 보이고 감각 이상이 동반될 수 있으며 심부건반사가 소실되고 creatine kinase는 정상이거나 경미하게 오른다. 근전도에서 큰 진폭과 긴 지속의 운동단위 전위가 나타난다. 근원성은 흔히 근위부가 약해지고 섬유다발수축이 없으며 감각은 정상이고 반사는 비교적 보존되며 creatine kinase가 크게 상승한다. 근전도에서 작은 진폭과 짧은 지속의 전위가 나타난다. 머리를 빗거나 계단을 오르기 어렵다는 호소는 근위부 약화로 근원성을, 단추를 잠그기 어렵고 발이 끌린다는 호소는 원위부 약화로 신경원성을 시사한다.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대사성 근병증에서 증상이 나타나는 시점이 어느 경로의 결손을 알려 주는지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에너지 공급의 세 체계가 시간 규모를 나누어 맡기 때문이다. 운동 시작 직후 몇 분 안에 통증과 경련이 오고 잠시 쉬었다 다시 하면 오히려 편해지는 이차 바람 현상은 glycogen 분해와 glycolysis의 결손을 시사한다. 처음 몇 초는 phosphocreatine으로 버티고 그 다음 구간을 담당할 당 분해가 막혀 있으며, 시간이 더 지나 지방산 산화로 넘어가면 공급이 재개되기 때문이다. 반대로 오래 지속되는 운동이나 금식 뒤에 근육통과 미오글로빈뇨가 나타나는 것은 지방산 산화 경로의 결손을 시사한다.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지연성 근육통이 젖산 때문이 아니라는 근거를 쓰고, 현재 받아들여지는 설명을 서술하시오.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젖산은 운동 후 한 시간 이내에 대부분 제거되므로 24~48시간 뒤에 나타나는 통증을 설명할 수 없다. 운동 중 산 축적에 의한 피로와 이틀 뒤의 근육통은 시간 규모가 전혀 다른 별개의 현상이다. 지연성 근육통은 주로 신장성 수축에서 생기는 근섬유의 미세 손상과 그에 뒤따르는 염증 반응으로 설명된다. 신장성 수축은 근육이 늘어나면서 장력을 내는 형태로 같은 힘을 적은 에너지로 내지만 구조적 손상을 가장 많이 일으킨다.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3종 지렛대가 몸에서 가장 흔한데도 역학적으로 손해인 이유를 설명하고, 그 대신 무엇을 얻는지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3종 지렛대는 힘점이 받침점과 작용점 사이에 있고, 근육의 부착점이 관절에 가까워 모멘트 팔이 짧다. 따라서 근육은 부하보다 훨씬 큰 힘을 내야 하며, 손에 5 kg을 들 때 위팔두갈래근은 수십 kg에 해당하는 힘을 낸다. 대신 얻는 것은 속도와 운동 범위다. 근육이 1 cm만 짧아져도 손끝은 10 cm 이상 움직인다. 몸이 요구한 것이 무거운 것을 천천히 드는 능력이 아니라 팔다리를 빠르게 움직이는 능력이었기 때문에 이 설계가 선택되었다.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41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평행 배열 근육과 깃 배열 근육의 차이를 쓰고, 근육의 최대 힘이 무엇에 비례하는지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평행 배열은 섬유가 근육의 긴 축과 나란해 섬유가 길고, 수축 거리와 속도에서 유리하다. 깃 배열은 섬유가 힘줄에 비스듬히 붙어 같은 부피에 더 많은 섬유를 채울 수 있으므로 힘에서 유리하지만 섬유가 짧아 수축 거리가 줄고 비스듬한 각도 때문에 힘의 일부가 손실된다. 근육의 최대 힘은 전체 부피가 아니라 모든 섬유를 가로지르는 단면의 합인 생리적 단면적에 비례한다. 깃 배열이 힘에서 유리한 것이 이 때문이다.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42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근육의 이완이 수동적 과정이 아니라는 것을 설명하고, 심근에서 이완 속도가 조절되는 기전을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이완하려면 세포질의 Ca²⁺을 안정 시 수준으로 되돌려야 하는데, SERCA 펌프가 ATP를 써서 Ca²⁺을 sarcoplasmic reticulum으로 퍼 넣고 Na⁺/Ca²⁺ 교환체와 막의 Ca²⁺-ATPase가 세포 밖으로 내보낸다. 또 cross-bridge를 떼어 내는 데에도 ATP가 필요하다. 따라서 이완에도 상당한 에너지가 들며, ATP가 고갈되면 근육이 풀리지 않는다. 심근에서는 교감신경 자극으로 PKA가 phospholamban을 인산화하면 평소 SERCA를 억제하던 작용이 풀려 Ca²⁺ 회수가 빨라진다. 수축력 증가와 이완 가속이 같은 신호로 함께 일어나므로 심박수가 올라가도 충만 시간이 확보된다.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Digoxin이 수축력을 올리는 경로를 단계적으로 설명하고, 저칼륨혈증에서 독성이 커지는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Digoxin은 Na⁺/K⁺-ATPase를 억제해 세포 안 Na⁺ 농도를 올린다. Na⁺의 농도 기울기가 줄면 이를 동력으로 쓰는 Na⁺/Ca²⁺ 교환체가 Ca²⁺을 내보내는 능력이 떨어지고, 세포 안과 sarcoplasmic reticulum의 Ca²⁺이 늘어 수축력이 커진다. 수축 단백질에 직접 작용하지 않고 Ca²⁺ 회수 경로를 막아 간접적으로 작용하는 것이 특징이다. 저칼륨혈증에서 독성이 커지는 이유는 K⁺가 Na⁺/K⁺-ATPase의 digoxin 결합 부위를 두고 경쟁하기 때문이다. K⁺가 적으면 digoxin이 펌프에 더 잘 결합해 같은 혈중 농도에서도 억제가 강해지고, Ca²⁺ 과다로 지연 후탈분극과 부정맥이 생긴다.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근육모세포의 증식과 융합이 배타적이라는 것이 성인 근육의 재생에 어떤 결과를 낳는지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근육모세포는 증식하는 동안에는 수축 단백질을 만들지 않고, 서로 융합해 다핵의 근관이 되는 순간 세포주기에서 영구히 빠져나와 분화를 시작한다. 두 과정이 배타적이므로 분화를 마친 근섬유는 더 이상 분열할 수 없다. 따라서 성인 근육이 손상되어도 기존 근섬유가 분열해 메울 수 없고, 기저막 아래에 남아 있는 위성세포라는 별도의 줄기세포가 활성화되어 증식한 뒤 기존 섬유에 융합하거나 새 섬유를 만들어야 한다. 위성세포의 능력이 고갈되면 재생이 멈추고 섬유화와 지방 대치가 일어난다.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Duchenne 근이영양증에서 dystrophin의 결손이 근섬유 파괴로 이어지는 경로를 단계적으로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Dystrophin은 세포 안의 actin 세포골격과 세포막, 그리고 막 바깥의 기저막을 잇는 연결 고리다. 이것이 없으면 수축할 때마다 생기는 기계적 힘이 막으로 직접 전달되어 미세한 파열이 생긴다. 파열된 곳으로 Ca²⁺이 들어와 단백질 분해 효소를 활성화하고 섬유가 괴사한다. 위성세포가 반복해서 수리하지만 결국 재생 능력이 고갈되고, 손상된 근육이 섬유화 조직과 지방으로 대치된다. 세포 내용물이 혈액으로 새어 나오므로 creatine kinase가 매우 높게 측정되며, 장딴지에서 지방과 결합조직이 늘어 가성 비대가 나타난다.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M01-W03-L03  ·  근육 요약: 근육 유형·수축·운동</a:t>
            </a:r>
            <a:r>
              <a:rPr sz="900" b="1" i="0">
                <a:solidFill>
                  <a:srgbClr val="003C71"/>
                </a:solidFill>
                <a:latin typeface="Malgun Gothic"/>
                <a:ea typeface="Malgun Gothic"/>
                <a:cs typeface="Malgun Gothic"/>
              </a:rPr>
              <a:t>      46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Hall JE, Hall ME. Guyton and Hall Textbook of Medical Physiology. 14th ed. Elsevier; 2021. Unit II, Membrane Physiology, Nerve, and Muscle.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Boron WF, Boulpaep EL. Medical Physiology. 3rd ed. Elsevier; 2017. Section III, Cellular Physiology of Muscle.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et al. Molecular Biology of the Cell. 7th ed. Chapter 16: The Cytoskeleton. W.W. Norton; 2022.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MacIntosh BR, Gardiner PF, McComas AJ. Skeletal Muscle: Form and Function. 2nd ed. Human Kinetics; 2006.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Huxley AF, Niedergerke R. Structural changes in muscle during contraction. Nature. 1954;173(4412):971–973.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Huxley H, Hanson J. Changes in the cross-striations of muscle during contraction and stretch. Nature. 1954;173(4412):973–976.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Rosenberg H, et al. Malignant hyperthermia: a review. Orphanet J Rare Dis. 2015;10:93.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Cruz-Jentoft AJ, Sayer AA. Sarcopenia. Lancet. 2019;393(10191):2636–2646.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