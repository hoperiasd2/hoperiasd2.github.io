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분화한 세포의 핵을 제거한 난자에 이식해 온전한 개체를 얻은 핵 치환 실험과, 네 개의 전사인자를 도입해 체세포를 만능 상태로 되돌린 역분화 실험이다. 두 실험은 분화 과정에서 유전체가 소실되거나 되돌릴 수 없게 변형되지 않는다는 것을 보인다. 따라서 분화는 유전자를 버리는 과정이 아니라 어떤 유전자를 쓸지 선택하는 과정이며, 그 선택이 세포 분열을 넘어 유지되는 기전이 후성유전 조절이다.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8세포기 무렵 할구들이 밀착하며 압축이 일어나고, 바깥쪽 세포는 한쪽 면이 외부에 노출되어 극성을 갖는 반면 안쪽 세포는 사방이 둘러싸여 극성이 없다. 위치의 차이가 성질의 차이로 바뀌고, 액체 공간이 생기면서 바깥은 영양막, 안쪽은 내세포괴가 된다. 전능성은 태아와 태반을 모두 만들 수 있는 능력으로 수정란과 초기 할구가 가지며, 만능성은 세 배엽 모두를 만들 수 있으나 태반은 만들지 못하는 능력으로 내세포괴가 가진다.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분리 시점이 정한다. 3일 이내에 갈라지면 두 융모막·두 양막, 4~8일이면 한 융모막·두 양막, 8~13일이면 한 융모막·한 양막이 되고, 13일 이후면 분리가 불완전해 결합 쌍둥이가 된다. 이미 형성된 구조는 공유하고 아직 형성되지 않은 구조만 따로 만들어지기 때문이다. 한 융모막을 공유하면 두 태아의 태반 혈관이 이어져 한쪽에서 다른 쪽으로 혈액이 치우치는 쌍태아 수혈 증후군이 생길 수 있으므로 융모막 수의 확인이 임상적으로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배반엽상층 뒤쪽 정중선에 원시선이 생기면서 앞뒤 축과 좌우가 정해진다. 배반엽상층 세포가 원시선으로 이동해 아래로 함입하는데, 가장 먼저 들어간 세포가 배반엽하층을 밀어내고 그 자리를 차지해 내배엽이 되고, 뒤이어 들어간 세포가 두 층 사이에 자리 잡아 중배엽이 되며, 표면에 남은 세포가 외배엽이 된다. 원시결절에서 들어간 세포는 정중선을 따라 앞으로 뻗어 척삭을 만든다. 척삭은 성체에서 추간판 수핵으로만 남지만 발생 중에는 위쪽 외배엽에 신경판을 만들라는 신호를 보내는 유도 중심으로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부신 겉질은 중배엽에서, 속질은 신경능에서 유래한다. 속질이 교감신경절과 같은 출처이므로 카테콜아민을 분비하고, 갈색세포종과 신경모세포종이 같은 계통의 종양으로 묶인다. 뇌하수체 전엽은 구강 외배엽이 올라온 Rathke 주머니에서, 후엽은 간뇌 바닥이 내려온 구조에서 유래한다. 그래서 전엽은 자체적으로 호르몬을 합성해 분비하는 샘 조직이고 후엽은 시상하부 신경세포의 축삭 말단이 모인 신경 조직으로 성질이 전혀 다르다.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말초신경계(감각·자율 신경절, Schwann 세포), 내분비(부신 속질 크롬친화세포, 갑상샘 C세포), 색소(멜라닌세포), 두개안면과 심장(안면 연골과 뼈, 대동맥폐동맥중격)이다. 신경능 세포는 신경관이 닫힐 때 떨어져 나와 몸 전체로 이동한 뒤 자리에 따라 다르게 분화하므로, 이동이나 분화에 문제가 생기면 해부학적으로 멀리 떨어진 구조들이 함께 침범된다. 따라서 무관해 보이는 증상이 묶여 나타나면 공통 전구세포를 의심해야 한다. 흉선·부갑상샘 형성 부전과 원추동맥간 심기형이 함께 오는 DiGeorge 증후군이 대표적이다.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발생원이 정해진 위치에 있을 것, 확산과 분해가 균형을 이루어 안정된 기울기가 유지될 것, 세포가 농도를 역치로 읽을 것이다. 역치가 필요한 이유는 연속적으로 변하는 농도를 그대로 따르면 세포의 성질도 연속적으로 변해 경계가 생기지 않기 때문이다. 농도가 특정 값을 넘을 때만 유전자가 켜지는 방식이라야 연속적인 입력이 불연속적인 구획으로 번역되어 경계가 뚜렷한 영역이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공선성은 염색체상에서 유전자가 배열된 순서와 몸에서 발현되는 앞뒤 순서가 일치하는 성질이다. 집단의 앞쪽 유전자가 몸의 앞쪽에서, 뒤쪽 유전자가 뒤쪽에서 발현한다. 각 체절은 자기가 켠 Hox 유전자의 조합으로 정체성을 가지므로, 변이가 생기면 구조가 없어지는 것이 아니라 한 부위가 다른 부위의 구조로 바뀌는 동종이형 전환이 나타난다. 초파리에서 더듬이 자리에 다리가 나는 돌연변이가 그 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받는 세포의 수용 능력이 다르다. 같은 신호도 세포가 이미 가진 전사인자 조합에 따라 다른 유전자를 켠다. 둘째, 경로의 조합이 다르다. 두세 경로가 동시에 작동할 때의 결과는 각각의 단순한 합이 아니다. 셋째, 신호의 농도와 지속 시간이 다르다. 따라서 Wnt, Hedgehog, TGF-β·BMP, FGF, Notch라는 적은 수의 도구가 발생 전체에서 반복해 쓰이면서도 매번 다른 결과를 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처음에는 세포들이 거의 같은 상태에 있지만 무작위한 작은 차이가 존재한다. 한 세포가 조금 더 분화 신호를 켜면 이웃에게 Notch 리간드를 더 많이 보내 이웃의 분화를 억제한다. 억제된 이웃은 리간드를 덜 보내게 되므로 처음 세포의 억제가 풀려 분화가 더 진행된다. 작은 차이가 되먹임으로 증폭되어 뚜렷한 운명 차이로 고정되는 구조이며, 장 상피에서 goblet cell이 흩어져 배치되는 것과 내이 유모세포의 규칙적 간격이 이렇게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대개 간엽이 정한다. 조직 재조합 실험에서 같은 피부 상피에 서로 다른 부위의 간엽을 붙이면 상피가 간엽의 부위 특성에 따라 다른 구조를 만든다. 발바닥 간엽을 붙이면 두꺼운 각질이, 다른 부위 간엽을 붙이면 그 부위에 맞는 구조가 생긴다. 상피와 간엽을 따로 분리한 뒤 출처가 다른 조합으로 다시 붙여 결과를 보는 설계가 핵심이며, 상피는 구조를 만들 능력을 제공하고 간엽은 어떤 구조를 만들지 지시한다는 결론이 여기서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기형은 발생 과정 자체가 잘못되어 구조가 처음부터 비정상으로 만들어진 것이고, 변형은 정상으로 만들어진 구조가 외부의 기계적 힘으로 모양이 바뀐 것이며, 파괴는 정상으로 만들어지던 구조가 외부 요인에 의해 파괴된 것이고, 형성이상은 조직의 구성 자체가 비정상인 것이다. 구분이 중요한 이유는 예후와 재발 위험이 다르기 때문이다. 변형과 파괴는 유전되지 않고 원인이 제거되면 재발하지 않는 경우가 많지만, 기형과 형성이상은 유전적 원인을 찾아야 하고 다음 임신에서의 재발 위험을 상담해야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 후 2주 이내에는 전부 아니면 전무의 양상을 보인다. 손상이 크면 착상에 실패하거나 유산되고, 세포가 아직 전능성이므로 손상이 적으면 완전히 회복된다. 3~8주의 기관 형성기가 가장 취약하며 구조적 기형의 대부분이 이 시기의 노출에서 생기고, 기관마다 민감한 시기가 조금씩 다르다. 9주 이후의 태아기에는 구조가 이미 만들어져 있으므로 큰 기형보다 성장 지연과 기능 이상이 나타나며, 중추신경계는 출생까지 계속 발달하므로 끝까지 취약하다.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결정은 세포의 운명이 이미 정해진 상태로, 겉으로는 변화가 드러나지 않지만 다른 환경에 옮겨도 원래 운명을 따른다. 분화는 그 운명이 실제 형태와 기능으로 나타난 상태다. 둘을 가르는 설계는 이식이다. 세포를 다른 위치로 옮겨 심었을 때 원래 운명을 유지하면 이미 결정된 것이고, 새 위치의 운명을 따르면 아직 결정되지 않은 것이다. 함께 구분할 개념으로 수용 능력이 있는데, 유도 신호에 반응할 수 있는 상태를 말하며 같은 신호가 시기에 따라 다른 결과를 내는 것은 받는 쪽의 수용 능력이 달라졌기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인두궁은 자기만의 연골, 근육, 신경, 동맥을 가지며 근육은 아무리 멀리 이동해도 자기 궁의 신경을 데리고 간다. 따라서 근육의 신경 지배를 보면 그 근육이 어느 궁에서 유래했는지 알 수 있고, 거꾸로 한 신경이 손상되었을 때 함께 마비되는 근육 집단을 예측할 수 있다. 되돌이후두신경은 6번 궁 동맥 아래를 돌아 올라가는데, 오른쪽에서는 6번 궁 동맥의 원위부가 퇴화해 신경이 4번 궁 유래의 오른쪽 빗장밑동맥 아래를 돌고, 왼쪽에서는 6번 궁 동맥이 동맥관으로 남아 신경이 대동맥궁까지 내려갔다 올라온다. 그래서 왼쪽이 훨씬 길고 대동맥궁 동맥류나 좌측 폐문 종양에서 쉰 목소리가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3번 낭에서 아래 부갑상샘과 흉선이 함께 생기는데, 흉선이 종격으로 크게 이동하면서 함께 생긴 부갑상샘을 끌고 내려간다. 4번 낭에서 생긴 부갑상샘은 거의 이동하지 않으므로 결과적으로 3번 유래가 아래, 4번 유래가 위에 놓인다. DiGeorge 증후군에서는 3번과 4번 낭의 발달이 함께 장애를 받으므로 흉선 형성 부전에 의한 T세포 결핍과 부갑상샘 형성 부전에 의한 저칼슘혈증이 동반되고, 같은 시기 신경능 이상으로 유출로 심기형과 안면 이상이 더해진다.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신경능 세포가 동맥간 안으로 이동해 나선형 중격을 만들어 대동맥과 폐동맥을 나눈다. 따라서 신경능의 이동이나 분화에 문제가 생기면 유출로 기형이 생기며, 대혈관 전위, Fallot 4징, 총동맥간, 유출로 중격 결손이 모두 이 범주에 묶인다. DiGeorge 증후군에서 이 기형들이 흉선·부갑상샘 결손과 함께 나타나는 것도 같은 전구세포가 침범되기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정맥관은 태반에서 온 혈액이 간을 우회하게 하고, 난원공은 우심방에서 좌심방으로 건너가 폐를 우회하게 하며, 동맥관은 폐동맥에서 대동맥으로 건너가 폐를 우회하게 한다. 폐혈관 저항이 높아 혈류가 오른쪽에서 왼쪽으로 흐르는 것이 이 구조를 유지한다. 출생 시 첫 호흡으로 폐가 펴지고 산소 분압이 오르면 폐혈관 저항이 급격히 떨어지고 태반이 분리되어 전신 저항이 올라간다. 그 결과 좌심방압이 우심방압을 넘어 난원공이 눌려 닫히고, 산소 분압 상승과 prostaglandin 감소로 동맥관이 수축하며, 탯줄 혈류가 끊겨 정맥관이 닫힌다.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심실중격결손이나 동맥관 개존 같은 좌우 단락에서는 처음에 산소가 풍부한 혈액이 폐로 더 많이 흘러 청색증이 없다. 그러나 폐혈류 증가가 오래 지속되면 폐혈관이 재형성되어 저항이 점차 올라가고, 결국 폐혈관 저항이 전신 저항을 넘어서면 단락의 방향이 뒤집혀 우좌 단락이 되며 청색증이 나타난다. 이 상태에서 결손을 닫으면 높은 저항의 폐혈관으로만 혈액을 내보내야 하는데 우심실이 이를 감당하지 못하고, 압력을 낮출 탈출구가 사라지므로 우심부전으로 악화된다. 따라서 수술이 금기가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AER은 사지싹 끝의 두꺼워진 외배엽 능선으로 FGF를 분비해 몸쪽–먼쪽 축의 성장을 이끌고, ZPA는 뒤쪽 가장자리 간엽으로 Shh를 분비해 앞뒤 축을 정하며, 등쪽 외배엽은 Wnt7a를 분비해 등배 축을 정한다. AER을 제거하면 그 시점 이후에 만들어졌어야 할 먼쪽 구조가 생기지 않는다. 일찍 제거하면 위팔 수준에서, 늦게 제거하면 손목 수준에서 멈춘다. 이는 AER이 아래 간엽을 미분화 증식 상태로 유지하는 역할을 하며 몸쪽에서 먼쪽으로 순차적으로 구조가 지정된다는 것을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발생 요약: 수정·배엽·기관 형성</a:t>
            </a:r>
          </a:p>
          <a:p>
            <a:r>
              <a:rPr sz="1500" b="0" i="0">
                <a:solidFill>
                  <a:srgbClr val="B9D2E8"/>
                </a:solidFill>
                <a:latin typeface="Malgun Gothic"/>
                <a:ea typeface="Malgun Gothic"/>
                <a:cs typeface="Malgun Gothic"/>
              </a:rPr>
              <a:t>Development: Fertilization, Germ Layers and Organogenesis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M01-W03-L01  ·  2부</a:t>
            </a:r>
          </a:p>
          <a:p>
            <a:r>
              <a:rPr sz="1100" b="0" i="0">
                <a:solidFill>
                  <a:srgbClr val="F2B705"/>
                </a:solidFill>
                <a:latin typeface="Malgun Gothic"/>
                <a:ea typeface="Malgun Gothic"/>
                <a:cs typeface="Malgun Gothic"/>
              </a:rPr>
              <a:t>전체 15절 가운데 7절</a:t>
            </a:r>
          </a:p>
          <a:p>
            <a:r>
              <a:rPr sz="1100" b="0" i="0">
                <a:solidFill>
                  <a:srgbClr val="9FBEDA"/>
                </a:solidFill>
                <a:latin typeface="Malgun Gothic"/>
                <a:ea typeface="Malgun Gothic"/>
                <a:cs typeface="Malgun Gothic"/>
              </a:rPr>
              <a:t>3주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하나의 수정란에서 형태가 생기는 과정을 증식·분화·형태형성의 세 과정으로 나누어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모든 세포가 같은 유전체를 가진다는 사실과 세포가 서로 달라진다는 사실을 차등적 유전자 발현으로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난할과 배반포 형성을 설명하고 내세포괴와 영양막의 운명을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낭배 형성의 과정을 원시선의 형성과 세포 이동으로 서술하고 세 배엽이 생기는 순서를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세 배엽에서 유래하는 주요 기관을 분류하고 임상적으로 의미 있는 예외를 든다.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신경관 형성의 단계를 쓰고 신경능 세포가 만드는 구조를 열거한다.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형태형성인자 기울기와 Hox 유전자가 위치 정보를 만드는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발생에서 반복해서 쓰이는 네 신호 경로를 들고 같은 신호가 다른 결과를 내는 이유를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상피–간엽 상호작용과 분지 형태형성을 기관 형성의 공통 원리로 서술한다.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선천 기형을 발생 시기와 기전으로 분류하고 기형유발물질의 작용 원리를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발생 연구의 주요 도구를 들고 각각이 답할 수 있는 질문을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M01-W02-L03 생식계 요약 — 수정, 착상, 태반의 형성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전사와 번역의 기본</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M01-W11-L02 세포 신호전달 — 수용체와 2차 전령의 기본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9. 인두궁과 인두낭 — 머리와 목의 틀</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10. 심장의 발생과 태아 순환</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11. 사지 발생 — 세 축을 정하는 세 신호 중심</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12. 세포 사멸과 재배치 — 덜어 내어 만든다</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13. 선천 기형을 읽는 논리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14. 발생을 연구하는 방법</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15. 발생학이 다른 수업과 만나는 지점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인두궁과 인두낭 — 머리와 목의 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머리와 목의 구조는 발생 4~5주에 생기는 </a:t>
            </a:r>
            <a:r>
              <a:rPr sz="1800" b="1" i="0">
                <a:solidFill>
                  <a:srgbClr val="11202B"/>
                </a:solidFill>
                <a:latin typeface="Malgun Gothic"/>
                <a:ea typeface="Malgun Gothic"/>
                <a:cs typeface="Malgun Gothic"/>
              </a:rPr>
              <a:t>인두 장치(pharyngeal apparatus)</a:t>
            </a:r>
            <a:r>
              <a:rPr sz="1800" b="0" i="0">
                <a:solidFill>
                  <a:srgbClr val="11202B"/>
                </a:solidFill>
                <a:latin typeface="Malgun Gothic"/>
                <a:ea typeface="Malgun Gothic"/>
                <a:cs typeface="Malgun Gothic"/>
              </a:rPr>
              <a:t> 에서 나온다. 목의 양옆에 여섯 개의 융기가 생기는데 다섯째는 사람에서 퇴화하므로 실질적으로 네 개를 다룬다. 각 </a:t>
            </a:r>
            <a:r>
              <a:rPr sz="1800" b="1" i="0">
                <a:solidFill>
                  <a:srgbClr val="11202B"/>
                </a:solidFill>
                <a:latin typeface="Malgun Gothic"/>
                <a:ea typeface="Malgun Gothic"/>
                <a:cs typeface="Malgun Gothic"/>
              </a:rPr>
              <a:t>인두궁(pharyngeal arch)</a:t>
            </a:r>
            <a:r>
              <a:rPr sz="1800" b="0" i="0">
                <a:solidFill>
                  <a:srgbClr val="11202B"/>
                </a:solidFill>
                <a:latin typeface="Malgun Gothic"/>
                <a:ea typeface="Malgun Gothic"/>
                <a:cs typeface="Malgun Gothic"/>
              </a:rPr>
              <a:t> 은 같은 구성을 반복한다.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바깥은 </a:t>
            </a:r>
            <a:r>
              <a:rPr sz="1800" b="1" i="0">
                <a:solidFill>
                  <a:srgbClr val="11202B"/>
                </a:solidFill>
                <a:latin typeface="Malgun Gothic"/>
                <a:ea typeface="Malgun Gothic"/>
                <a:cs typeface="Malgun Gothic"/>
              </a:rPr>
              <a:t>외배엽</a:t>
            </a:r>
            <a:r>
              <a:rPr sz="1800" b="0" i="0">
                <a:solidFill>
                  <a:srgbClr val="11202B"/>
                </a:solidFill>
                <a:latin typeface="Malgun Gothic"/>
                <a:ea typeface="Malgun Gothic"/>
                <a:cs typeface="Malgun Gothic"/>
              </a:rPr>
              <a:t>, 안쪽은 </a:t>
            </a:r>
            <a:r>
              <a:rPr sz="1800" b="1" i="0">
                <a:solidFill>
                  <a:srgbClr val="11202B"/>
                </a:solidFill>
                <a:latin typeface="Malgun Gothic"/>
                <a:ea typeface="Malgun Gothic"/>
                <a:cs typeface="Malgun Gothic"/>
              </a:rPr>
              <a:t>내배엽</a:t>
            </a:r>
            <a:r>
              <a:rPr sz="1800" b="0" i="0">
                <a:solidFill>
                  <a:srgbClr val="11202B"/>
                </a:solidFill>
                <a:latin typeface="Malgun Gothic"/>
                <a:ea typeface="Malgun Gothic"/>
                <a:cs typeface="Malgun Gothic"/>
              </a:rPr>
              <a:t>, 속은 </a:t>
            </a:r>
            <a:r>
              <a:rPr sz="1800" b="1" i="0">
                <a:solidFill>
                  <a:srgbClr val="11202B"/>
                </a:solidFill>
                <a:latin typeface="Malgun Gothic"/>
                <a:ea typeface="Malgun Gothic"/>
                <a:cs typeface="Malgun Gothic"/>
              </a:rPr>
              <a:t>중배엽과 신경능</a:t>
            </a:r>
            <a:r>
              <a:rPr sz="1800" b="0" i="0">
                <a:solidFill>
                  <a:srgbClr val="11202B"/>
                </a:solidFill>
                <a:latin typeface="Malgun Gothic"/>
                <a:ea typeface="Malgun Gothic"/>
                <a:cs typeface="Malgun Gothic"/>
              </a:rPr>
              <a:t>으로 채워진다.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각 궁은 자기만의 </a:t>
            </a:r>
            <a:r>
              <a:rPr sz="1800" b="1" i="0">
                <a:solidFill>
                  <a:srgbClr val="11202B"/>
                </a:solidFill>
                <a:latin typeface="Malgun Gothic"/>
                <a:ea typeface="Malgun Gothic"/>
                <a:cs typeface="Malgun Gothic"/>
              </a:rPr>
              <a:t>연골, 근육, 신경, 동맥</a:t>
            </a:r>
            <a:r>
              <a:rPr sz="1800" b="0" i="0">
                <a:solidFill>
                  <a:srgbClr val="11202B"/>
                </a:solidFill>
                <a:latin typeface="Malgun Gothic"/>
                <a:ea typeface="Malgun Gothic"/>
                <a:cs typeface="Malgun Gothic"/>
              </a:rPr>
              <a:t>을 가진다.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궁과 궁 사이에서 바깥으로 패인 홈이 </a:t>
            </a:r>
            <a:r>
              <a:rPr sz="1800" b="1" i="0">
                <a:solidFill>
                  <a:srgbClr val="11202B"/>
                </a:solidFill>
                <a:latin typeface="Malgun Gothic"/>
                <a:ea typeface="Malgun Gothic"/>
                <a:cs typeface="Malgun Gothic"/>
              </a:rPr>
              <a:t>인두구(groove, 외배엽)</a:t>
            </a:r>
            <a:r>
              <a:rPr sz="1800" b="0" i="0">
                <a:solidFill>
                  <a:srgbClr val="11202B"/>
                </a:solidFill>
                <a:latin typeface="Malgun Gothic"/>
                <a:ea typeface="Malgun Gothic"/>
                <a:cs typeface="Malgun Gothic"/>
              </a:rPr>
              <a:t>, 안쪽으로 패인 주머니가 </a:t>
            </a:r>
            <a:r>
              <a:rPr sz="1800" b="1" i="0">
                <a:solidFill>
                  <a:srgbClr val="11202B"/>
                </a:solidFill>
                <a:latin typeface="Malgun Gothic"/>
                <a:ea typeface="Malgun Gothic"/>
                <a:cs typeface="Malgun Gothic"/>
              </a:rPr>
              <a:t>인두낭(pouch, 내배엽)</a:t>
            </a:r>
            <a:r>
              <a:rPr sz="1800" b="0" i="0">
                <a:solidFill>
                  <a:srgbClr val="11202B"/>
                </a:solidFill>
                <a:latin typeface="Malgun Gothic"/>
                <a:ea typeface="Malgun Gothic"/>
                <a:cs typeface="Malgun Gothic"/>
              </a:rPr>
              <a:t> 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반복 구조가 중요한 이유는 </a:t>
            </a:r>
            <a:r>
              <a:rPr sz="1800" b="1" i="0">
                <a:solidFill>
                  <a:srgbClr val="11202B"/>
                </a:solidFill>
                <a:latin typeface="Malgun Gothic"/>
                <a:ea typeface="Malgun Gothic"/>
                <a:cs typeface="Malgun Gothic"/>
              </a:rPr>
              <a:t>신경 지배가 출처를 알려 주기 때문</a:t>
            </a:r>
            <a:r>
              <a:rPr sz="1800" b="0" i="0">
                <a:solidFill>
                  <a:srgbClr val="11202B"/>
                </a:solidFill>
                <a:latin typeface="Malgun Gothic"/>
                <a:ea typeface="Malgun Gothic"/>
                <a:cs typeface="Malgun Gothic"/>
              </a:rPr>
              <a:t>이다. 근육이 아무리 멀리 이동해도 자기 궁의 신경을 데리고 간다. 따라서 어떤 근육이 어느 신경의 지배를 받는지를 보면 그 근육이 어느 궁에서 왔는지 알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인두궁과 인두낭 — 머리와 목의 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신경</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근육</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골격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삼차신경 하악분지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저작근, 고막긴장근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하악, 침골, 모루뼈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안면신경</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표정근, 등자근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등자뼈, 설골 소각</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설인신경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붓인두근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설골 대각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4·6</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미주신경(상후두·되돌이후두 분지)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인두와 후두의 근육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후두 연골</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인두궁과 인두낭 — 머리와 목의 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인두낭의 운명은 따로 외운다. </a:t>
            </a:r>
            <a:r>
              <a:rPr sz="2000" b="1" i="0">
                <a:solidFill>
                  <a:srgbClr val="11202B"/>
                </a:solidFill>
                <a:latin typeface="Malgun Gothic"/>
                <a:ea typeface="Malgun Gothic"/>
                <a:cs typeface="Malgun Gothic"/>
              </a:rPr>
              <a:t>1번은 중이와 귀관</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2번은 구개편도</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3번은 아래 부갑상샘과 흉선</a:t>
            </a:r>
            <a:r>
              <a:rPr sz="2000" b="0" i="0">
                <a:solidFill>
                  <a:srgbClr val="11202B"/>
                </a:solidFill>
                <a:latin typeface="Malgun Gothic"/>
                <a:ea typeface="Malgun Gothic"/>
                <a:cs typeface="Malgun Gothic"/>
              </a:rPr>
              <a:t>, </a:t>
            </a:r>
            <a:r>
              <a:rPr sz="2000" b="1" i="0">
                <a:solidFill>
                  <a:srgbClr val="11202B"/>
                </a:solidFill>
                <a:latin typeface="Malgun Gothic"/>
                <a:ea typeface="Malgun Gothic"/>
                <a:cs typeface="Malgun Gothic"/>
              </a:rPr>
              <a:t>4번은 위 부갑상샘</a:t>
            </a:r>
            <a:r>
              <a:rPr sz="2000" b="0" i="0">
                <a:solidFill>
                  <a:srgbClr val="11202B"/>
                </a:solidFill>
                <a:latin typeface="Malgun Gothic"/>
                <a:ea typeface="Malgun Gothic"/>
                <a:cs typeface="Malgun Gothic"/>
              </a:rPr>
              <a:t>이 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인두궁과 인두낭 — 머리와 목의 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3번 낭이 </a:t>
            </a:r>
            <a:r>
              <a:rPr sz="1600" b="1" i="0">
                <a:solidFill>
                  <a:srgbClr val="11202B"/>
                </a:solidFill>
                <a:latin typeface="Malgun Gothic"/>
                <a:ea typeface="Malgun Gothic"/>
                <a:cs typeface="Malgun Gothic"/>
              </a:rPr>
              <a:t>아래</a:t>
            </a:r>
            <a:r>
              <a:rPr sz="1600" b="0" i="0">
                <a:solidFill>
                  <a:srgbClr val="11202B"/>
                </a:solidFill>
                <a:latin typeface="Malgun Gothic"/>
                <a:ea typeface="Malgun Gothic"/>
                <a:cs typeface="Malgun Gothic"/>
              </a:rPr>
              <a:t> 부갑상샘, 4번 낭이 </a:t>
            </a:r>
            <a:r>
              <a:rPr sz="1600" b="1" i="0">
                <a:solidFill>
                  <a:srgbClr val="11202B"/>
                </a:solidFill>
                <a:latin typeface="Malgun Gothic"/>
                <a:ea typeface="Malgun Gothic"/>
                <a:cs typeface="Malgun Gothic"/>
              </a:rPr>
              <a:t>위</a:t>
            </a:r>
            <a:r>
              <a:rPr sz="1600" b="0" i="0">
                <a:solidFill>
                  <a:srgbClr val="11202B"/>
                </a:solidFill>
                <a:latin typeface="Malgun Gothic"/>
                <a:ea typeface="Malgun Gothic"/>
                <a:cs typeface="Malgun Gothic"/>
              </a:rPr>
              <a:t> 부갑상샘이 되는 역전이 반복 출제된다. 3번 낭에서 나온 흉선이 아래로 크게 이동하면서 함께 생긴 부갑상샘을 끌고 내려가기 때문이다. 이 때문에 DiGeorge 증후군에서 흉선과 부갑상샘이 </a:t>
            </a:r>
            <a:r>
              <a:rPr sz="1600" b="1" i="0">
                <a:solidFill>
                  <a:srgbClr val="11202B"/>
                </a:solidFill>
                <a:latin typeface="Malgun Gothic"/>
                <a:ea typeface="Malgun Gothic"/>
                <a:cs typeface="Malgun Gothic"/>
              </a:rPr>
              <a:t>함께</a:t>
            </a:r>
            <a:r>
              <a:rPr sz="1600" b="0" i="0">
                <a:solidFill>
                  <a:srgbClr val="11202B"/>
                </a:solidFill>
                <a:latin typeface="Malgun Gothic"/>
                <a:ea typeface="Malgun Gothic"/>
                <a:cs typeface="Malgun Gothic"/>
              </a:rPr>
              <a:t> 결손되며, T세포 결핍과 저칼슘혈증이 동반된다. 또 하나는 </a:t>
            </a:r>
            <a:r>
              <a:rPr sz="1600" b="1" i="0">
                <a:solidFill>
                  <a:srgbClr val="11202B"/>
                </a:solidFill>
                <a:latin typeface="Malgun Gothic"/>
                <a:ea typeface="Malgun Gothic"/>
                <a:cs typeface="Malgun Gothic"/>
              </a:rPr>
              <a:t>되돌이후두신경의 좌우 비대칭</a:t>
            </a:r>
            <a:r>
              <a:rPr sz="1600" b="0" i="0">
                <a:solidFill>
                  <a:srgbClr val="11202B"/>
                </a:solidFill>
                <a:latin typeface="Malgun Gothic"/>
                <a:ea typeface="Malgun Gothic"/>
                <a:cs typeface="Malgun Gothic"/>
              </a:rPr>
              <a:t>이다. 이 신경은 6번 궁 동맥 아래를 돌아 올라가는데, 오른쪽에서는 6번 궁 동맥의 원위부가 퇴화해 신경이 4번 궁 유래의 </a:t>
            </a:r>
            <a:r>
              <a:rPr sz="1600" b="1" i="0">
                <a:solidFill>
                  <a:srgbClr val="11202B"/>
                </a:solidFill>
                <a:latin typeface="Malgun Gothic"/>
                <a:ea typeface="Malgun Gothic"/>
                <a:cs typeface="Malgun Gothic"/>
              </a:rPr>
              <a:t>오른쪽 빗장밑동맥</a:t>
            </a:r>
            <a:r>
              <a:rPr sz="1600" b="0" i="0">
                <a:solidFill>
                  <a:srgbClr val="11202B"/>
                </a:solidFill>
                <a:latin typeface="Malgun Gothic"/>
                <a:ea typeface="Malgun Gothic"/>
                <a:cs typeface="Malgun Gothic"/>
              </a:rPr>
              <a:t> 아래를 돌고, 왼쪽에서는 6번 궁 동맥이 </a:t>
            </a:r>
            <a:r>
              <a:rPr sz="1600" b="1" i="0">
                <a:solidFill>
                  <a:srgbClr val="11202B"/>
                </a:solidFill>
                <a:latin typeface="Malgun Gothic"/>
                <a:ea typeface="Malgun Gothic"/>
                <a:cs typeface="Malgun Gothic"/>
              </a:rPr>
              <a:t>동맥관</a:t>
            </a:r>
            <a:r>
              <a:rPr sz="1600" b="0" i="0">
                <a:solidFill>
                  <a:srgbClr val="11202B"/>
                </a:solidFill>
                <a:latin typeface="Malgun Gothic"/>
                <a:ea typeface="Malgun Gothic"/>
                <a:cs typeface="Malgun Gothic"/>
              </a:rPr>
              <a:t>으로 남아 신경이 대동맥궁까지 내려갔다 올라온다. 그래서 왼쪽 되돌이후두신경이 훨씬 길고, 대동맥궁 동맥류나 좌측 폐문 종양에서 쉰 목소리가 생긴다. 해부학적 사실이 발생의 흔적이라는 전형적인 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심장의 발생과 태아 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심혈관계는 가장 먼저 기능하기 시작하는 계통이다. 배아가 확산만으로 버틸 수 있는 크기를 넘어서기 전에 작동해야 하므로, 수정 후 3주 말이면 원시 심장관이 박동을 시작한다.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심장관의 형성과 고리 형성.</a:t>
            </a:r>
            <a:r>
              <a:rPr sz="1400" b="0" i="0">
                <a:solidFill>
                  <a:srgbClr val="11202B"/>
                </a:solidFill>
                <a:latin typeface="Malgun Gothic"/>
                <a:ea typeface="Malgun Gothic"/>
                <a:cs typeface="Malgun Gothic"/>
              </a:rPr>
              <a:t> 중배엽에서 생긴 두 개의 심장관이 정중선에서 합쳐져 하나의 관이 된다. 이 관은 꼬리 쪽에서 머리 쪽으로 정맥동, 심방, 심실, 심장구, 동맥간의 순서로 부풀어 있다. 관이 곧게 자라면 들어오는 쪽과 나가는 쪽이 반대편에 놓이므로, 관이 오른쪽으로 휘어 고리를 이루며(</a:t>
            </a:r>
            <a:r>
              <a:rPr sz="1400" b="1" i="0">
                <a:solidFill>
                  <a:srgbClr val="11202B"/>
                </a:solidFill>
                <a:latin typeface="Malgun Gothic"/>
                <a:ea typeface="Malgun Gothic"/>
                <a:cs typeface="Malgun Gothic"/>
              </a:rPr>
              <a:t>looping</a:t>
            </a:r>
            <a:r>
              <a:rPr sz="1400" b="0" i="0">
                <a:solidFill>
                  <a:srgbClr val="11202B"/>
                </a:solidFill>
                <a:latin typeface="Malgun Gothic"/>
                <a:ea typeface="Malgun Gothic"/>
                <a:cs typeface="Malgun Gothic"/>
              </a:rPr>
              <a:t>) 심방을 심실 위쪽 뒤로 보낸다. 고리의 방향이 반대가 되면 심장이 거울상으로 놓인다.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중격 형성.</a:t>
            </a:r>
            <a:r>
              <a:rPr sz="1400" b="0" i="0">
                <a:solidFill>
                  <a:srgbClr val="11202B"/>
                </a:solidFill>
                <a:latin typeface="Malgun Gothic"/>
                <a:ea typeface="Malgun Gothic"/>
                <a:cs typeface="Malgun Gothic"/>
              </a:rPr>
              <a:t> 하나의 관을 네 개의 방으로 나누는 과정이며, 세 군데에서 동시에 진행한다.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심방중격</a:t>
            </a:r>
            <a:r>
              <a:rPr sz="1400" b="0" i="0">
                <a:solidFill>
                  <a:srgbClr val="11202B"/>
                </a:solidFill>
                <a:latin typeface="Malgun Gothic"/>
                <a:ea typeface="Malgun Gothic"/>
                <a:cs typeface="Malgun Gothic"/>
              </a:rPr>
              <a:t>: 1차 중격이 자라 내려오다가 완전히 닫히기 전에 위쪽이 뚫려 2차 구멍이 생기고, 그 오른쪽에 2차 중격이 자라 내려와 두 중격이 겹치며 비스듬한 통로를 남긴다. 이것이 </a:t>
            </a:r>
            <a:r>
              <a:rPr sz="1400" b="1" i="0">
                <a:solidFill>
                  <a:srgbClr val="11202B"/>
                </a:solidFill>
                <a:latin typeface="Malgun Gothic"/>
                <a:ea typeface="Malgun Gothic"/>
                <a:cs typeface="Malgun Gothic"/>
              </a:rPr>
              <a:t>난원공</a:t>
            </a:r>
            <a:r>
              <a:rPr sz="1400" b="0" i="0">
                <a:solidFill>
                  <a:srgbClr val="11202B"/>
                </a:solidFill>
                <a:latin typeface="Malgun Gothic"/>
                <a:ea typeface="Malgun Gothic"/>
                <a:cs typeface="Malgun Gothic"/>
              </a:rPr>
              <a:t>이다. 완전히 막지 않고 통로를 남기는 것이 의도된 설계다.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심실중격</a:t>
            </a:r>
            <a:r>
              <a:rPr sz="1400" b="0" i="0">
                <a:solidFill>
                  <a:srgbClr val="11202B"/>
                </a:solidFill>
                <a:latin typeface="Malgun Gothic"/>
                <a:ea typeface="Malgun Gothic"/>
                <a:cs typeface="Malgun Gothic"/>
              </a:rPr>
              <a:t>: 아래에서 근성 부분이 올라오고 위에서 막성 부분이 내려와 만난다. 막성 부분이 마지막에 닫히므로 </a:t>
            </a:r>
            <a:r>
              <a:rPr sz="1400" b="1" i="0">
                <a:solidFill>
                  <a:srgbClr val="11202B"/>
                </a:solidFill>
                <a:latin typeface="Malgun Gothic"/>
                <a:ea typeface="Malgun Gothic"/>
                <a:cs typeface="Malgun Gothic"/>
              </a:rPr>
              <a:t>막성 심실중격결손이 가장 흔하다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유출로</a:t>
            </a:r>
            <a:r>
              <a:rPr sz="1400" b="0" i="0">
                <a:solidFill>
                  <a:srgbClr val="11202B"/>
                </a:solidFill>
                <a:latin typeface="Malgun Gothic"/>
                <a:ea typeface="Malgun Gothic"/>
                <a:cs typeface="Malgun Gothic"/>
              </a:rPr>
              <a:t>: 동맥간 안에서 나선형 중격이 형성되어 대동맥과 폐동맥으로 나뉜다. 이 중격을 만드는 것이 </a:t>
            </a:r>
            <a:r>
              <a:rPr sz="1400" b="1" i="0">
                <a:solidFill>
                  <a:srgbClr val="11202B"/>
                </a:solidFill>
                <a:latin typeface="Malgun Gothic"/>
                <a:ea typeface="Malgun Gothic"/>
                <a:cs typeface="Malgun Gothic"/>
              </a:rPr>
              <a:t>신경능 세포</a:t>
            </a:r>
            <a:r>
              <a:rPr sz="1400" b="0" i="0">
                <a:solidFill>
                  <a:srgbClr val="11202B"/>
                </a:solidFill>
                <a:latin typeface="Malgun Gothic"/>
                <a:ea typeface="Malgun Gothic"/>
                <a:cs typeface="Malgun Gothic"/>
              </a:rPr>
              <a:t>이며, 나선형이기 때문에 두 혈관이 서로 꼬여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태아 순환의 세 지름길.</a:t>
            </a:r>
            <a:r>
              <a:rPr sz="1400" b="0" i="0">
                <a:solidFill>
                  <a:srgbClr val="11202B"/>
                </a:solidFill>
                <a:latin typeface="Malgun Gothic"/>
                <a:ea typeface="Malgun Gothic"/>
                <a:cs typeface="Malgun Gothic"/>
              </a:rPr>
              <a:t> 태아는 폐로 호흡하지 않고 태반에서 산소를 받으므로, 혈류가 폐와 간을 우회하도록 세 통로가 열려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정맥관(ductus venosus)</a:t>
            </a:r>
            <a:r>
              <a:rPr sz="1400" b="0" i="0">
                <a:solidFill>
                  <a:srgbClr val="11202B"/>
                </a:solidFill>
                <a:latin typeface="Malgun Gothic"/>
                <a:ea typeface="Malgun Gothic"/>
                <a:cs typeface="Malgun Gothic"/>
              </a:rPr>
              <a:t>: 태반에서 온 산소가 풍부한 혈액이 간을 대부분 우회해 하대정맥으로 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난원공(foramen ovale)</a:t>
            </a:r>
            <a:r>
              <a:rPr sz="1400" b="0" i="0">
                <a:solidFill>
                  <a:srgbClr val="11202B"/>
                </a:solidFill>
                <a:latin typeface="Malgun Gothic"/>
                <a:ea typeface="Malgun Gothic"/>
                <a:cs typeface="Malgun Gothic"/>
              </a:rPr>
              <a:t>: 우심방의 혈액이 좌심방으로 직접 건너가 폐를 우회한다.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동맥관(ductus arteriosus)</a:t>
            </a:r>
            <a:r>
              <a:rPr sz="1400" b="0" i="0">
                <a:solidFill>
                  <a:srgbClr val="11202B"/>
                </a:solidFill>
                <a:latin typeface="Malgun Gothic"/>
                <a:ea typeface="Malgun Gothic"/>
                <a:cs typeface="Malgun Gothic"/>
              </a:rPr>
              <a:t>: 폐동맥의 혈액이 대동맥으로 건너가 폐를 우회한다.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폐혈관 저항이 높은 것이 이 구조를 유지한다. 폐포가 펴져 있지 않고 산소 분압이 낮으므로 저산소성 폐혈관 수축이 유지되어(M01-W01-L02) 폐혈관 저항이 전신 저항보다 높고, 그 결과 혈류가 오른쪽에서 왼쪽으로 흐른다.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출생 시의 전환.</a:t>
            </a:r>
            <a:r>
              <a:rPr sz="1400" b="0" i="0">
                <a:solidFill>
                  <a:srgbClr val="11202B"/>
                </a:solidFill>
                <a:latin typeface="Malgun Gothic"/>
                <a:ea typeface="Malgun Gothic"/>
                <a:cs typeface="Malgun Gothic"/>
              </a:rPr>
              <a:t> 첫 호흡으로 폐가 펴지고 산소 분압이 오르면 폐혈관 저항이 급격히 떨어진다. 동시에 태반이 분리되어 전신 저항이 올라간다. 두 변화가 겹쳐 압력 관계가 뒤집힌다.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폐혈류가 늘어 좌심방압이 올라가고 우심방압은 떨어져 </a:t>
            </a:r>
            <a:r>
              <a:rPr sz="1400" b="1" i="0">
                <a:solidFill>
                  <a:srgbClr val="11202B"/>
                </a:solidFill>
                <a:latin typeface="Malgun Gothic"/>
                <a:ea typeface="Malgun Gothic"/>
                <a:cs typeface="Malgun Gothic"/>
              </a:rPr>
              <a:t>난원공이 눌려 닫힌다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산소 분압 상승과 prostaglandin 감소로 </a:t>
            </a:r>
            <a:r>
              <a:rPr sz="1400" b="1" i="0">
                <a:solidFill>
                  <a:srgbClr val="11202B"/>
                </a:solidFill>
                <a:latin typeface="Malgun Gothic"/>
                <a:ea typeface="Malgun Gothic"/>
                <a:cs typeface="Malgun Gothic"/>
              </a:rPr>
              <a:t>동맥관이 수축한다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탯줄 혈류가 끊겨 </a:t>
            </a:r>
            <a:r>
              <a:rPr sz="1400" b="1" i="0">
                <a:solidFill>
                  <a:srgbClr val="11202B"/>
                </a:solidFill>
                <a:latin typeface="Malgun Gothic"/>
                <a:ea typeface="Malgun Gothic"/>
                <a:cs typeface="Malgun Gothic"/>
              </a:rPr>
              <a:t>정맥관이 닫힌다</a:t>
            </a:r>
            <a:r>
              <a:rPr sz="1400" b="0" i="0">
                <a:solidFill>
                  <a:srgbClr val="11202B"/>
                </a:solidFill>
                <a:latin typeface="Malgun Gothic"/>
                <a:ea typeface="Malgun Gothic"/>
                <a:cs typeface="Malgun Gothic"/>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심장의 발생과 태아 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동맥관의 개폐를 prostaglandin이 조절한다는 사실이 그대로 치료가 된다. 동맥관 개존이 문제일 때는 </a:t>
            </a:r>
            <a:r>
              <a:rPr sz="1600" b="1" i="0">
                <a:solidFill>
                  <a:srgbClr val="11202B"/>
                </a:solidFill>
                <a:latin typeface="Malgun Gothic"/>
                <a:ea typeface="Malgun Gothic"/>
                <a:cs typeface="Malgun Gothic"/>
              </a:rPr>
              <a:t>indomethacin이나 ibuprofen</a:t>
            </a:r>
            <a:r>
              <a:rPr sz="1600" b="0" i="0">
                <a:solidFill>
                  <a:srgbClr val="11202B"/>
                </a:solidFill>
                <a:latin typeface="Malgun Gothic"/>
                <a:ea typeface="Malgun Gothic"/>
                <a:cs typeface="Malgun Gothic"/>
              </a:rPr>
              <a:t>으로 prostaglandin 합성을 막아 닫고, 반대로 동맥관에 의존해 생존하는 심기형(대혈관 전위, 폐동맥 폐쇄, 중증 대동맥 축착)에서는 </a:t>
            </a:r>
            <a:r>
              <a:rPr sz="1600" b="1" i="0">
                <a:solidFill>
                  <a:srgbClr val="11202B"/>
                </a:solidFill>
                <a:latin typeface="Malgun Gothic"/>
                <a:ea typeface="Malgun Gothic"/>
                <a:cs typeface="Malgun Gothic"/>
              </a:rPr>
              <a:t>prostaglandin E1을 주입해 열어 둔다</a:t>
            </a:r>
            <a:r>
              <a:rPr sz="1600" b="0" i="0">
                <a:solidFill>
                  <a:srgbClr val="11202B"/>
                </a:solidFill>
                <a:latin typeface="Malgun Gothic"/>
                <a:ea typeface="Malgun Gothic"/>
                <a:cs typeface="Malgun Gothic"/>
              </a:rPr>
              <a:t>. 수술 전까지 시간을 버는 처치이며, 같은 분자를 반대 방향으로 쓰는 전형적인 예다.</a:t>
            </a:r>
          </a:p>
        </p:txBody>
      </p:sp>
      <p:sp>
        <p:nvSpPr>
          <p:cNvPr id="8" name="Rectangle 7"/>
          <p:cNvSpPr/>
          <p:nvPr/>
        </p:nvSpPr>
        <p:spPr>
          <a:xfrm>
            <a:off x="640080" y="314452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신경능 세포의 결함이 만드는 심기형은 </a:t>
            </a:r>
            <a:r>
              <a:rPr sz="1600" b="1" i="0">
                <a:solidFill>
                  <a:srgbClr val="11202B"/>
                </a:solidFill>
                <a:latin typeface="Malgun Gothic"/>
                <a:ea typeface="Malgun Gothic"/>
                <a:cs typeface="Malgun Gothic"/>
              </a:rPr>
              <a:t>유출로</a:t>
            </a:r>
            <a:r>
              <a:rPr sz="1600" b="0" i="0">
                <a:solidFill>
                  <a:srgbClr val="11202B"/>
                </a:solidFill>
                <a:latin typeface="Malgun Gothic"/>
                <a:ea typeface="Malgun Gothic"/>
                <a:cs typeface="Malgun Gothic"/>
              </a:rPr>
              <a:t>에 몰린다. 대혈관 전위, Fallot 4징, 총동맥간, 동맥간 유출로 결손이 모두 나선형 중격 형성의 이상이며, DiGeorge 증후군에서 이들이 함께 나타나는 이유다. 또 하나는 </a:t>
            </a:r>
            <a:r>
              <a:rPr sz="1600" b="1" i="0">
                <a:solidFill>
                  <a:srgbClr val="11202B"/>
                </a:solidFill>
                <a:latin typeface="Malgun Gothic"/>
                <a:ea typeface="Malgun Gothic"/>
                <a:cs typeface="Malgun Gothic"/>
              </a:rPr>
              <a:t>단락 방향의 변화</a:t>
            </a:r>
            <a:r>
              <a:rPr sz="1600" b="0" i="0">
                <a:solidFill>
                  <a:srgbClr val="11202B"/>
                </a:solidFill>
                <a:latin typeface="Malgun Gothic"/>
                <a:ea typeface="Malgun Gothic"/>
                <a:cs typeface="Malgun Gothic"/>
              </a:rPr>
              <a:t>다. 좌우 단락(심실중격결손, 심방중격결손, 동맥관 개존)은 처음에는 청색증이 없지만 폐혈류가 오래 늘면 폐혈관이 재형성되어 저항이 올라가고, 결국 방향이 뒤집혀 우좌 단락이 되며 청색증이 나타난다. 이것이 </a:t>
            </a:r>
            <a:r>
              <a:rPr sz="1600" b="1" i="0">
                <a:solidFill>
                  <a:srgbClr val="11202B"/>
                </a:solidFill>
                <a:latin typeface="Malgun Gothic"/>
                <a:ea typeface="Malgun Gothic"/>
                <a:cs typeface="Malgun Gothic"/>
              </a:rPr>
              <a:t>Eisenmenger 증후군</a:t>
            </a:r>
            <a:r>
              <a:rPr sz="1600" b="0" i="0">
                <a:solidFill>
                  <a:srgbClr val="11202B"/>
                </a:solidFill>
                <a:latin typeface="Malgun Gothic"/>
                <a:ea typeface="Malgun Gothic"/>
                <a:cs typeface="Malgun Gothic"/>
              </a:rPr>
              <a:t>이며, 이 시점에는 결손을 닫는 수술이 금기가 된다. 폐로 가지 못한 혈액이 빠져나갈 곳이 없어지기 때문이다.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사지 발생 — 세 축을 정하는 세 신호 중심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사지는 위치 정보가 어떻게 세 방향으로 동시에 지정되는지를 보여 주는 가장 깔끔한 사례다. 6절에서 본 형태형성인자 기울기가 실제로 어떻게 조합되는지 여기서 확인할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사지싹은 체벽에서 솟아오른 간엽 덩어리를 외배엽이 덮은 구조다. 세 개의 신호 중심이 각각 하나의 축을 맡는다.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AER(apical ectodermal ridge)</a:t>
            </a:r>
            <a:r>
              <a:rPr sz="1400" b="0" i="0">
                <a:solidFill>
                  <a:srgbClr val="11202B"/>
                </a:solidFill>
                <a:latin typeface="Malgun Gothic"/>
                <a:ea typeface="Malgun Gothic"/>
                <a:cs typeface="Malgun Gothic"/>
              </a:rPr>
              <a:t>: 사지싹 끝의 외배엽이 두꺼워진 능선이다. </a:t>
            </a:r>
            <a:r>
              <a:rPr sz="1400" b="1" i="0">
                <a:solidFill>
                  <a:srgbClr val="11202B"/>
                </a:solidFill>
                <a:latin typeface="Malgun Gothic"/>
                <a:ea typeface="Malgun Gothic"/>
                <a:cs typeface="Malgun Gothic"/>
              </a:rPr>
              <a:t>FGF</a:t>
            </a:r>
            <a:r>
              <a:rPr sz="1400" b="0" i="0">
                <a:solidFill>
                  <a:srgbClr val="11202B"/>
                </a:solidFill>
                <a:latin typeface="Malgun Gothic"/>
                <a:ea typeface="Malgun Gothic"/>
                <a:cs typeface="Malgun Gothic"/>
              </a:rPr>
              <a:t>를 분비해 바로 아래 간엽을 미분화 증식 상태로 유지하며, 이것이 </a:t>
            </a:r>
            <a:r>
              <a:rPr sz="1400" b="1" i="0">
                <a:solidFill>
                  <a:srgbClr val="11202B"/>
                </a:solidFill>
                <a:latin typeface="Malgun Gothic"/>
                <a:ea typeface="Malgun Gothic"/>
                <a:cs typeface="Malgun Gothic"/>
              </a:rPr>
              <a:t>몸쪽–먼쪽 축</a:t>
            </a:r>
            <a:r>
              <a:rPr sz="1400" b="0" i="0">
                <a:solidFill>
                  <a:srgbClr val="11202B"/>
                </a:solidFill>
                <a:latin typeface="Malgun Gothic"/>
                <a:ea typeface="Malgun Gothic"/>
                <a:cs typeface="Malgun Gothic"/>
              </a:rPr>
              <a:t>(어깨에서 손가락 방향)의 성장을 이끈다. AER을 제거하면 그 시점 이후의 구조가 만들어지지 않는다. 일찍 제거하면 위팔에서, 늦게 제거하면 손목에서 끝난다.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ZPA(zone of polarizing activity)</a:t>
            </a:r>
            <a:r>
              <a:rPr sz="1400" b="0" i="0">
                <a:solidFill>
                  <a:srgbClr val="11202B"/>
                </a:solidFill>
                <a:latin typeface="Malgun Gothic"/>
                <a:ea typeface="Malgun Gothic"/>
                <a:cs typeface="Malgun Gothic"/>
              </a:rPr>
              <a:t>: 사지싹의 뒤쪽 가장자리 간엽이다. </a:t>
            </a:r>
            <a:r>
              <a:rPr sz="1400" b="1" i="0">
                <a:solidFill>
                  <a:srgbClr val="11202B"/>
                </a:solidFill>
                <a:latin typeface="Malgun Gothic"/>
                <a:ea typeface="Malgun Gothic"/>
                <a:cs typeface="Malgun Gothic"/>
              </a:rPr>
              <a:t>Shh</a:t>
            </a:r>
            <a:r>
              <a:rPr sz="1400" b="0" i="0">
                <a:solidFill>
                  <a:srgbClr val="11202B"/>
                </a:solidFill>
                <a:latin typeface="Malgun Gothic"/>
                <a:ea typeface="Malgun Gothic"/>
                <a:cs typeface="Malgun Gothic"/>
              </a:rPr>
              <a:t>를 분비해 </a:t>
            </a:r>
            <a:r>
              <a:rPr sz="1400" b="1" i="0">
                <a:solidFill>
                  <a:srgbClr val="11202B"/>
                </a:solidFill>
                <a:latin typeface="Malgun Gothic"/>
                <a:ea typeface="Malgun Gothic"/>
                <a:cs typeface="Malgun Gothic"/>
              </a:rPr>
              <a:t>앞뒤 축</a:t>
            </a:r>
            <a:r>
              <a:rPr sz="1400" b="0" i="0">
                <a:solidFill>
                  <a:srgbClr val="11202B"/>
                </a:solidFill>
                <a:latin typeface="Malgun Gothic"/>
                <a:ea typeface="Malgun Gothic"/>
                <a:cs typeface="Malgun Gothic"/>
              </a:rPr>
              <a:t>(엄지에서 새끼손가락 방향)을 정한다. ZPA를 앞쪽에 추가로 이식하면 거울상으로 뒤집힌 손가락이 더 생긴다. 농도가 높은 쪽이 새끼손가락, 낮은 쪽이 엄지가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등쪽 외배엽</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Wnt7a</a:t>
            </a:r>
            <a:r>
              <a:rPr sz="1400" b="0" i="0">
                <a:solidFill>
                  <a:srgbClr val="11202B"/>
                </a:solidFill>
                <a:latin typeface="Malgun Gothic"/>
                <a:ea typeface="Malgun Gothic"/>
                <a:cs typeface="Malgun Gothic"/>
              </a:rPr>
              <a:t>를 분비해 </a:t>
            </a:r>
            <a:r>
              <a:rPr sz="1400" b="1" i="0">
                <a:solidFill>
                  <a:srgbClr val="11202B"/>
                </a:solidFill>
                <a:latin typeface="Malgun Gothic"/>
                <a:ea typeface="Malgun Gothic"/>
                <a:cs typeface="Malgun Gothic"/>
              </a:rPr>
              <a:t>등배 축</a:t>
            </a:r>
            <a:r>
              <a:rPr sz="1400" b="0" i="0">
                <a:solidFill>
                  <a:srgbClr val="11202B"/>
                </a:solidFill>
                <a:latin typeface="Malgun Gothic"/>
                <a:ea typeface="Malgun Gothic"/>
                <a:cs typeface="Malgun Gothic"/>
              </a:rPr>
              <a:t>을 정한다. 손등과 손바닥의 차이가 여기서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중심은 서로를 유지한다. AER의 FGF가 ZPA의 Shh 발현을 유지하고, Shh가 다시 AER을 유지하는 양성 되먹임 고리가 있다. 한쪽이 무너지면 다른 쪽도 무너지므로 사지 발생은 전부 아니면 전무에 가까운 성격을 띤다.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손가락의 정체성은 Shh 농도만으로 정해지지 않는다. 농도와 </a:t>
            </a:r>
            <a:r>
              <a:rPr sz="1400" b="1" i="0">
                <a:solidFill>
                  <a:srgbClr val="11202B"/>
                </a:solidFill>
                <a:latin typeface="Malgun Gothic"/>
                <a:ea typeface="Malgun Gothic"/>
                <a:cs typeface="Malgun Gothic"/>
              </a:rPr>
              <a:t>노출 시간</a:t>
            </a:r>
            <a:r>
              <a:rPr sz="1400" b="0" i="0">
                <a:solidFill>
                  <a:srgbClr val="11202B"/>
                </a:solidFill>
                <a:latin typeface="Malgun Gothic"/>
                <a:ea typeface="Malgun Gothic"/>
                <a:cs typeface="Malgun Gothic"/>
              </a:rPr>
              <a:t>이 함께 작용하며, 최종적으로는 Hox 유전자의 조합이 각 손가락을 구별한다. 손가락 사이의 분리는 9절에서 본 세포 사멸이 담당한다.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사지 발생 — 세 축을 정하는 세 신호 중심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사지 기형의 용어를 가른다. </a:t>
            </a:r>
            <a:r>
              <a:rPr sz="1600" b="1" i="0">
                <a:solidFill>
                  <a:srgbClr val="11202B"/>
                </a:solidFill>
                <a:latin typeface="Malgun Gothic"/>
                <a:ea typeface="Malgun Gothic"/>
                <a:cs typeface="Malgun Gothic"/>
              </a:rPr>
              <a:t>무지증(amelia)</a:t>
            </a:r>
            <a:r>
              <a:rPr sz="1600" b="0" i="0">
                <a:solidFill>
                  <a:srgbClr val="11202B"/>
                </a:solidFill>
                <a:latin typeface="Malgun Gothic"/>
                <a:ea typeface="Malgun Gothic"/>
                <a:cs typeface="Malgun Gothic"/>
              </a:rPr>
              <a:t> 은 사지가 전혀 없는 것, </a:t>
            </a:r>
            <a:r>
              <a:rPr sz="1600" b="1" i="0">
                <a:solidFill>
                  <a:srgbClr val="11202B"/>
                </a:solidFill>
                <a:latin typeface="Malgun Gothic"/>
                <a:ea typeface="Malgun Gothic"/>
                <a:cs typeface="Malgun Gothic"/>
              </a:rPr>
              <a:t>해표지증(phocomelia)</a:t>
            </a:r>
            <a:r>
              <a:rPr sz="1600" b="0" i="0">
                <a:solidFill>
                  <a:srgbClr val="11202B"/>
                </a:solidFill>
                <a:latin typeface="Malgun Gothic"/>
                <a:ea typeface="Malgun Gothic"/>
                <a:cs typeface="Malgun Gothic"/>
              </a:rPr>
              <a:t> 은 몸쪽 뼈가 없고 손발이 몸통에 가까이 붙은 것, </a:t>
            </a:r>
            <a:r>
              <a:rPr sz="1600" b="1" i="0">
                <a:solidFill>
                  <a:srgbClr val="11202B"/>
                </a:solidFill>
                <a:latin typeface="Malgun Gothic"/>
                <a:ea typeface="Malgun Gothic"/>
                <a:cs typeface="Malgun Gothic"/>
              </a:rPr>
              <a:t>합지증(syndactyly)</a:t>
            </a:r>
            <a:r>
              <a:rPr sz="1600" b="0" i="0">
                <a:solidFill>
                  <a:srgbClr val="11202B"/>
                </a:solidFill>
                <a:latin typeface="Malgun Gothic"/>
                <a:ea typeface="Malgun Gothic"/>
                <a:cs typeface="Malgun Gothic"/>
              </a:rPr>
              <a:t> 은 손가락 사이가 분리되지 않은 것, </a:t>
            </a:r>
            <a:r>
              <a:rPr sz="1600" b="1" i="0">
                <a:solidFill>
                  <a:srgbClr val="11202B"/>
                </a:solidFill>
                <a:latin typeface="Malgun Gothic"/>
                <a:ea typeface="Malgun Gothic"/>
                <a:cs typeface="Malgun Gothic"/>
              </a:rPr>
              <a:t>다지증(polydactyly)</a:t>
            </a:r>
            <a:r>
              <a:rPr sz="1600" b="0" i="0">
                <a:solidFill>
                  <a:srgbClr val="11202B"/>
                </a:solidFill>
                <a:latin typeface="Malgun Gothic"/>
                <a:ea typeface="Malgun Gothic"/>
                <a:cs typeface="Malgun Gothic"/>
              </a:rPr>
              <a:t> 은 손가락이 더 생긴 것이다. 기전이 각각 다르다. 해표지증은 몸쪽–먼쪽 축의 성장이 끊긴 것이고(thalidomide), 합지증은 손가락 사이 세포 사멸의 실패이며, 축후 다지증은 Shh 조절 영역의 변이로 앞쪽에서도 Shh가 발현된 결과인 경우가 있다. 특히 다지증의 원인 변이가 Shh 유전자 자체가 아니라 </a:t>
            </a:r>
            <a:r>
              <a:rPr sz="1600" b="1" i="0">
                <a:solidFill>
                  <a:srgbClr val="11202B"/>
                </a:solidFill>
                <a:latin typeface="Malgun Gothic"/>
                <a:ea typeface="Malgun Gothic"/>
                <a:cs typeface="Malgun Gothic"/>
              </a:rPr>
              <a:t>100만 염기쯤 떨어진 enhancer</a:t>
            </a:r>
            <a:r>
              <a:rPr sz="1600" b="0" i="0">
                <a:solidFill>
                  <a:srgbClr val="11202B"/>
                </a:solidFill>
                <a:latin typeface="Malgun Gothic"/>
                <a:ea typeface="Malgun Gothic"/>
                <a:cs typeface="Malgun Gothic"/>
              </a:rPr>
              <a:t>에 있는 사례는 조절 서열의 변이가 질환을 만든다는 교과서적 예로 인용된다(M03-W04-L03).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 사멸과 재배치 — 덜어 내어 만든다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형태는 더하기로만 만들어지지 않는다. 만들어 둔 것을 </a:t>
            </a:r>
            <a:r>
              <a:rPr sz="1400" b="1" i="0">
                <a:solidFill>
                  <a:srgbClr val="11202B"/>
                </a:solidFill>
                <a:latin typeface="Malgun Gothic"/>
                <a:ea typeface="Malgun Gothic"/>
                <a:cs typeface="Malgun Gothic"/>
              </a:rPr>
              <a:t>없애는 것</a:t>
            </a:r>
            <a:r>
              <a:rPr sz="1400" b="0" i="0">
                <a:solidFill>
                  <a:srgbClr val="11202B"/>
                </a:solidFill>
                <a:latin typeface="Malgun Gothic"/>
                <a:ea typeface="Malgun Gothic"/>
                <a:cs typeface="Malgun Gothic"/>
              </a:rPr>
              <a:t>이 형태형성의 중요한 수단이다.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손가락의 분리.</a:t>
            </a:r>
            <a:r>
              <a:rPr sz="1400" b="0" i="0">
                <a:solidFill>
                  <a:srgbClr val="11202B"/>
                </a:solidFill>
                <a:latin typeface="Malgun Gothic"/>
                <a:ea typeface="Malgun Gothic"/>
                <a:cs typeface="Malgun Gothic"/>
              </a:rPr>
              <a:t> 사지싹의 끝은 처음에 주걱 모양의 판이다. 손가락 사이의 세포가 </a:t>
            </a:r>
            <a:r>
              <a:rPr sz="1400" b="1" i="0">
                <a:solidFill>
                  <a:srgbClr val="11202B"/>
                </a:solidFill>
                <a:latin typeface="Malgun Gothic"/>
                <a:ea typeface="Malgun Gothic"/>
                <a:cs typeface="Malgun Gothic"/>
              </a:rPr>
              <a:t>계획된 세포 사멸(apoptosis)</a:t>
            </a:r>
            <a:r>
              <a:rPr sz="1400" b="0" i="0">
                <a:solidFill>
                  <a:srgbClr val="11202B"/>
                </a:solidFill>
                <a:latin typeface="Malgun Gothic"/>
                <a:ea typeface="Malgun Gothic"/>
                <a:cs typeface="Malgun Gothic"/>
              </a:rPr>
              <a:t> 로 제거되어 다섯 손가락이 분리된다. 이 사멸이 불충분하면 </a:t>
            </a:r>
            <a:r>
              <a:rPr sz="1400" b="1" i="0">
                <a:solidFill>
                  <a:srgbClr val="11202B"/>
                </a:solidFill>
                <a:latin typeface="Malgun Gothic"/>
                <a:ea typeface="Malgun Gothic"/>
                <a:cs typeface="Malgun Gothic"/>
              </a:rPr>
              <a:t>합지증</a:t>
            </a:r>
            <a:r>
              <a:rPr sz="1400" b="0" i="0">
                <a:solidFill>
                  <a:srgbClr val="11202B"/>
                </a:solidFill>
                <a:latin typeface="Malgun Gothic"/>
                <a:ea typeface="Malgun Gothic"/>
                <a:cs typeface="Malgun Gothic"/>
              </a:rPr>
              <a:t>이 된다. 사멸을 지시하는 것은 손가락 사이 간엽의 BMP 신호다.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신경세포의 과잉 생산과 가지치기.</a:t>
            </a:r>
            <a:r>
              <a:rPr sz="1400" b="0" i="0">
                <a:solidFill>
                  <a:srgbClr val="11202B"/>
                </a:solidFill>
                <a:latin typeface="Malgun Gothic"/>
                <a:ea typeface="Malgun Gothic"/>
                <a:cs typeface="Malgun Gothic"/>
              </a:rPr>
              <a:t> 발생기 신경계는 필요한 것보다 훨씬 많은 신경세포를 만든 뒤, 표적에서 나오는 신경영양인자를 충분히 받지 못한 세포를 제거한다. 공급되는 영양인자의 양이 표적의 크기에 비례하므로, </a:t>
            </a:r>
            <a:r>
              <a:rPr sz="1400" b="1" i="0">
                <a:solidFill>
                  <a:srgbClr val="11202B"/>
                </a:solidFill>
                <a:latin typeface="Malgun Gothic"/>
                <a:ea typeface="Malgun Gothic"/>
                <a:cs typeface="Malgun Gothic"/>
              </a:rPr>
              <a:t>표적의 크기에 맞게 신경세포 수가 자동으로 조정</a:t>
            </a:r>
            <a:r>
              <a:rPr sz="1400" b="0" i="0">
                <a:solidFill>
                  <a:srgbClr val="11202B"/>
                </a:solidFill>
                <a:latin typeface="Malgun Gothic"/>
                <a:ea typeface="Malgun Gothic"/>
                <a:cs typeface="Malgun Gothic"/>
              </a:rPr>
              <a:t>된다. 설계도에 수를 적어 두는 대신 경쟁으로 맞추는 방식이다.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관의 재개통과 폐쇄.</a:t>
            </a:r>
            <a:r>
              <a:rPr sz="1400" b="0" i="0">
                <a:solidFill>
                  <a:srgbClr val="11202B"/>
                </a:solidFill>
                <a:latin typeface="Malgun Gothic"/>
                <a:ea typeface="Malgun Gothic"/>
                <a:cs typeface="Malgun Gothic"/>
              </a:rPr>
              <a:t> 발생 중 일시적으로 막혔던 관이 다시 뚫리고, 쓰임이 끝난 통로는 닫힌다. 태아 순환의 동맥관과 난원공이 출생 후 닫히는 것이 대표적이다(M01-W01-L02).</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중간 구조의 퇴화.</a:t>
            </a:r>
            <a:r>
              <a:rPr sz="1400" b="0" i="0">
                <a:solidFill>
                  <a:srgbClr val="11202B"/>
                </a:solidFill>
                <a:latin typeface="Malgun Gothic"/>
                <a:ea typeface="Malgun Gothic"/>
                <a:cs typeface="Malgun Gothic"/>
              </a:rPr>
              <a:t> 발생은 종종 두 벌의 구조를 만들어 두고 하나를 없앤다. 중간신장과 뮐러관·볼프관이 그 예로, 성별에 따라 한쪽이 유지되고 다른 쪽이 퇴화한다(M01-W02-L03).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면역 관용의 형성.</a:t>
            </a:r>
            <a:r>
              <a:rPr sz="1400" b="0" i="0">
                <a:solidFill>
                  <a:srgbClr val="11202B"/>
                </a:solidFill>
                <a:latin typeface="Malgun Gothic"/>
                <a:ea typeface="Malgun Gothic"/>
                <a:cs typeface="Malgun Gothic"/>
              </a:rPr>
              <a:t> 같은 원리가 면역계에서도 쓰인다. T세포는 흉선에서 무작위로 수용체를 만든 뒤, 자기 항원에 너무 강하게 반응하는 세포가 제거된다. 설계로 자기와 남을 구분하는 수용체만 만드는 대신, 넉넉히 만든 뒤 걸러 내는 방식이다. 이 선택이 불완전하면 자가면역이 생긴다.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 사멸과 재배치 — 덜어 내어 만든다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발생이 </a:t>
            </a:r>
            <a:r>
              <a:rPr sz="1600" b="1" i="0">
                <a:solidFill>
                  <a:srgbClr val="11202B"/>
                </a:solidFill>
                <a:latin typeface="Malgun Gothic"/>
                <a:ea typeface="Malgun Gothic"/>
                <a:cs typeface="Malgun Gothic"/>
              </a:rPr>
              <a:t>만들고 덜어 내는</a:t>
            </a:r>
            <a:r>
              <a:rPr sz="1600" b="0" i="0">
                <a:solidFill>
                  <a:srgbClr val="11202B"/>
                </a:solidFill>
                <a:latin typeface="Malgun Gothic"/>
                <a:ea typeface="Malgun Gothic"/>
                <a:cs typeface="Malgun Gothic"/>
              </a:rPr>
              <a:t> 방식을 쓰는 이유는 견고함에 있다. 정확히 필요한 만큼만 만들려면 정밀한 계수가 필요하지만, 넉넉히 만든 뒤 조건을 만족하지 못한 것을 제거하면 조건 자체가 품질 검사가 된다. 신경세포 수가 표적 크기에 자동으로 맞춰지는 것이 그 전형이다.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선천 기형을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선천 기형은 약 3%의 신생아에서 발견된다. 원인을 분류하는 두 축이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기전에 따른 분류.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기형(malformation)</a:t>
            </a:r>
            <a:r>
              <a:rPr sz="1400" b="0" i="0">
                <a:solidFill>
                  <a:srgbClr val="11202B"/>
                </a:solidFill>
                <a:latin typeface="Malgun Gothic"/>
                <a:ea typeface="Malgun Gothic"/>
                <a:cs typeface="Malgun Gothic"/>
              </a:rPr>
              <a:t>: 발생 과정 자체가 잘못되어 구조가 처음부터 비정상으로 만들어진다. 심실중격결손, 구개열.</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변형(deformation)</a:t>
            </a:r>
            <a:r>
              <a:rPr sz="1400" b="0" i="0">
                <a:solidFill>
                  <a:srgbClr val="11202B"/>
                </a:solidFill>
                <a:latin typeface="Malgun Gothic"/>
                <a:ea typeface="Malgun Gothic"/>
                <a:cs typeface="Malgun Gothic"/>
              </a:rPr>
              <a:t>: 정상으로 만들어진 구조가 외부의 기계적 힘으로 모양이 바뀐다. 양수 과소에 의한 사지 구축.</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파괴(disruption)</a:t>
            </a:r>
            <a:r>
              <a:rPr sz="1400" b="0" i="0">
                <a:solidFill>
                  <a:srgbClr val="11202B"/>
                </a:solidFill>
                <a:latin typeface="Malgun Gothic"/>
                <a:ea typeface="Malgun Gothic"/>
                <a:cs typeface="Malgun Gothic"/>
              </a:rPr>
              <a:t>: 정상으로 만들어지던 구조가 외부 요인에 의해 파괴된다. 양막대에 의한 절단.</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형성이상(dysplasia)</a:t>
            </a:r>
            <a:r>
              <a:rPr sz="1400" b="0" i="0">
                <a:solidFill>
                  <a:srgbClr val="11202B"/>
                </a:solidFill>
                <a:latin typeface="Malgun Gothic"/>
                <a:ea typeface="Malgun Gothic"/>
                <a:cs typeface="Malgun Gothic"/>
              </a:rPr>
              <a:t>: 조직의 구성 자체가 비정상이다. 골형성부전증.</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실제적인 이유는 </a:t>
            </a:r>
            <a:r>
              <a:rPr sz="1400" b="1" i="0">
                <a:solidFill>
                  <a:srgbClr val="11202B"/>
                </a:solidFill>
                <a:latin typeface="Malgun Gothic"/>
                <a:ea typeface="Malgun Gothic"/>
                <a:cs typeface="Malgun Gothic"/>
              </a:rPr>
              <a:t>예후와 재발 위험이 다르기 때문</a:t>
            </a:r>
            <a:r>
              <a:rPr sz="1400" b="0" i="0">
                <a:solidFill>
                  <a:srgbClr val="11202B"/>
                </a:solidFill>
                <a:latin typeface="Malgun Gothic"/>
                <a:ea typeface="Malgun Gothic"/>
                <a:cs typeface="Malgun Gothic"/>
              </a:rPr>
              <a:t>이다. 변형과 파괴는 유전되지 않고 원인이 제거되면 재발하지 않는 경우가 많지만, 기형과 형성이상은 유전적 원인을 찾아야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서열, 증후군, 연합을 구분한다.</a:t>
            </a:r>
            <a:r>
              <a:rPr sz="1400" b="0" i="0">
                <a:solidFill>
                  <a:srgbClr val="11202B"/>
                </a:solidFill>
                <a:latin typeface="Malgun Gothic"/>
                <a:ea typeface="Malgun Gothic"/>
                <a:cs typeface="Malgun Gothic"/>
              </a:rPr>
              <a:t> 여러 기형이 함께 나타날 때 그 관계를 세 가지로 나눈다. </a:t>
            </a:r>
            <a:r>
              <a:rPr sz="1400" b="1" i="0">
                <a:solidFill>
                  <a:srgbClr val="11202B"/>
                </a:solidFill>
                <a:latin typeface="Malgun Gothic"/>
                <a:ea typeface="Malgun Gothic"/>
                <a:cs typeface="Malgun Gothic"/>
              </a:rPr>
              <a:t>서열(sequence)</a:t>
            </a:r>
            <a:r>
              <a:rPr sz="1400" b="0" i="0">
                <a:solidFill>
                  <a:srgbClr val="11202B"/>
                </a:solidFill>
                <a:latin typeface="Malgun Gothic"/>
                <a:ea typeface="Malgun Gothic"/>
                <a:cs typeface="Malgun Gothic"/>
              </a:rPr>
              <a:t> 은 하나의 일차 이상이 연쇄적으로 여러 결과를 낳은 것이다. 양수가 적으면 태아가 눌려 얼굴과 사지가 변형되고 폐가 자라지 못하는 Potter 서열이 그 예로, 원인은 하나다. </a:t>
            </a:r>
            <a:r>
              <a:rPr sz="1400" b="1" i="0">
                <a:solidFill>
                  <a:srgbClr val="11202B"/>
                </a:solidFill>
                <a:latin typeface="Malgun Gothic"/>
                <a:ea typeface="Malgun Gothic"/>
                <a:cs typeface="Malgun Gothic"/>
              </a:rPr>
              <a:t>증후군(syndrome)</a:t>
            </a:r>
            <a:r>
              <a:rPr sz="1400" b="0" i="0">
                <a:solidFill>
                  <a:srgbClr val="11202B"/>
                </a:solidFill>
                <a:latin typeface="Malgun Gothic"/>
                <a:ea typeface="Malgun Gothic"/>
                <a:cs typeface="Malgun Gothic"/>
              </a:rPr>
              <a:t> 은 하나의 원인이 여러 조직에 각각 작용해 일관된 조합을 만드는 것이다. 22q11.2 결실이 흉선, 부갑상샘, 심장 유출로에 동시에 작용하는 것이 그 예다. </a:t>
            </a:r>
            <a:r>
              <a:rPr sz="1400" b="1" i="0">
                <a:solidFill>
                  <a:srgbClr val="11202B"/>
                </a:solidFill>
                <a:latin typeface="Malgun Gothic"/>
                <a:ea typeface="Malgun Gothic"/>
                <a:cs typeface="Malgun Gothic"/>
              </a:rPr>
              <a:t>연합(association)</a:t>
            </a:r>
            <a:r>
              <a:rPr sz="1400" b="0" i="0">
                <a:solidFill>
                  <a:srgbClr val="11202B"/>
                </a:solidFill>
                <a:latin typeface="Malgun Gothic"/>
                <a:ea typeface="Malgun Gothic"/>
                <a:cs typeface="Malgun Gothic"/>
              </a:rPr>
              <a:t> 은 통계적으로 함께 나타나지만 공통 원인이 밝혀지지 않은 조합이다. 셋을 구분해야 "원인을 하나 더 찾아야 하는가"에 답할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시기에 따른 취약성.</a:t>
            </a:r>
            <a:r>
              <a:rPr sz="1400" b="0" i="0">
                <a:solidFill>
                  <a:srgbClr val="11202B"/>
                </a:solidFill>
                <a:latin typeface="Malgun Gothic"/>
                <a:ea typeface="Malgun Gothic"/>
                <a:cs typeface="Malgun Gothic"/>
              </a:rPr>
              <a:t> 기형유발물질에 노출되었을 때의 결과는 </a:t>
            </a:r>
            <a:r>
              <a:rPr sz="1400" b="1" i="0">
                <a:solidFill>
                  <a:srgbClr val="11202B"/>
                </a:solidFill>
                <a:latin typeface="Malgun Gothic"/>
                <a:ea typeface="Malgun Gothic"/>
                <a:cs typeface="Malgun Gothic"/>
              </a:rPr>
              <a:t>노출 시기</a:t>
            </a:r>
            <a:r>
              <a:rPr sz="1400" b="0" i="0">
                <a:solidFill>
                  <a:srgbClr val="11202B"/>
                </a:solidFill>
                <a:latin typeface="Malgun Gothic"/>
                <a:ea typeface="Malgun Gothic"/>
                <a:cs typeface="Malgun Gothic"/>
              </a:rPr>
              <a:t>가 가장 크게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수정 후 2주 이내</a:t>
            </a:r>
            <a:r>
              <a:rPr sz="1400" b="0" i="0">
                <a:solidFill>
                  <a:srgbClr val="11202B"/>
                </a:solidFill>
                <a:latin typeface="Malgun Gothic"/>
                <a:ea typeface="Malgun Gothic"/>
                <a:cs typeface="Malgun Gothic"/>
              </a:rPr>
              <a:t>: 전부 아니면 전무. 손상이 크면 착상에 실패하거나 유산되고, 세포가 아직 전능성이므로 손상이 적으면 완전히 회복된다.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3~8주(기관 형성기)</a:t>
            </a:r>
            <a:r>
              <a:rPr sz="1400" b="0" i="0">
                <a:solidFill>
                  <a:srgbClr val="11202B"/>
                </a:solidFill>
                <a:latin typeface="Malgun Gothic"/>
                <a:ea typeface="Malgun Gothic"/>
                <a:cs typeface="Malgun Gothic"/>
              </a:rPr>
              <a:t>: 가장 취약하다. 구조적 기형의 대부분이 이 시기의 노출에서 생긴다. 기관마다 민감한 시기가 조금씩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9주 이후(태아기)</a:t>
            </a:r>
            <a:r>
              <a:rPr sz="1400" b="0" i="0">
                <a:solidFill>
                  <a:srgbClr val="11202B"/>
                </a:solidFill>
                <a:latin typeface="Malgun Gothic"/>
                <a:ea typeface="Malgun Gothic"/>
                <a:cs typeface="Malgun Gothic"/>
              </a:rPr>
              <a:t>: 구조는 이미 만들어졌으므로 큰 기형보다 </a:t>
            </a:r>
            <a:r>
              <a:rPr sz="1400" b="1" i="0">
                <a:solidFill>
                  <a:srgbClr val="11202B"/>
                </a:solidFill>
                <a:latin typeface="Malgun Gothic"/>
                <a:ea typeface="Malgun Gothic"/>
                <a:cs typeface="Malgun Gothic"/>
              </a:rPr>
              <a:t>성장 지연과 기능 이상</a:t>
            </a:r>
            <a:r>
              <a:rPr sz="1400" b="0" i="0">
                <a:solidFill>
                  <a:srgbClr val="11202B"/>
                </a:solidFill>
                <a:latin typeface="Malgun Gothic"/>
                <a:ea typeface="Malgun Gothic"/>
                <a:cs typeface="Malgun Gothic"/>
              </a:rPr>
              <a:t>이 나타난다. 중추신경계는 계속 발달하므로 끝까지 취약하다.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선천 기형을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기형유발물질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알코올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태아 알코올 스펙트럼 장애. 안면 이상, 소두증, 지적 장애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Isotretinoin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중추신경계, 두개안면, 심장 기형. 신경능 세포에 작용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Valproate, carbamazepine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신경관 결손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Warfarin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연골 석회화 이상, 코 형성 부전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ACE 억제제·ARB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태아 신장 기능 저하, 양수 과소, 두개골 형성 부전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Thalidomide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사지 형성 부전(해표지증)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조절되지 않은 당뇨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심기형, 신경관 결손, 미골 퇴행 증후군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풍진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백내장, 난청, 동맥관 개존</a:t>
                      </a:r>
                    </a:p>
                  </a:txBody>
                  <a:tcPr marL="73152" marR="73152" marT="27432" marB="27432">
                    <a:solidFill>
                      <a:srgbClr val="EFF4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선천 기형을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195907"/>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Thalidomide 사건</a:t>
            </a:r>
            <a:r>
              <a:rPr sz="1600" b="0" i="0">
                <a:solidFill>
                  <a:srgbClr val="11202B"/>
                </a:solidFill>
                <a:latin typeface="Malgun Gothic"/>
                <a:ea typeface="Malgun Gothic"/>
                <a:cs typeface="Malgun Gothic"/>
              </a:rPr>
              <a:t>은 약물 규제의 역사를 바꾸었다. 1950년대 말 입덧 치료제로 쓰이면서 1만 명이 넘는 아기에게 사지 형성 부전이 생겼다. 동물 시험에서 기형이 나타나지 않았던 것이 비극을 키웠는데, 종에 따라 민감도가 크게 달랐기 때문이다. 이 사건 이후 임신 중 약물 사용에 대한 규제와 시판 후 감시 체계가 자리 잡았다. 기전은 50년 뒤에야 밝혀졌다. Thalidomide가 </a:t>
            </a:r>
            <a:r>
              <a:rPr sz="1600" b="1" i="0">
                <a:solidFill>
                  <a:srgbClr val="11202B"/>
                </a:solidFill>
                <a:latin typeface="Malgun Gothic"/>
                <a:ea typeface="Malgun Gothic"/>
                <a:cs typeface="Malgun Gothic"/>
              </a:rPr>
              <a:t>cereblon</a:t>
            </a:r>
            <a:r>
              <a:rPr sz="1600" b="0" i="0">
                <a:solidFill>
                  <a:srgbClr val="11202B"/>
                </a:solidFill>
                <a:latin typeface="Malgun Gothic"/>
                <a:ea typeface="Malgun Gothic"/>
                <a:cs typeface="Malgun Gothic"/>
              </a:rPr>
              <a:t>이라는 E3 ubiquitin ligase의 기질 인식 부위에 결합해 평소에는 분해하지 않던 전사인자를 분해하도록 만든다. 흥미롭게도 바로 이 성질이 지금은 치료에 쓰인다. 다발골수종 치료제가 같은 기전으로 작동하고, 원하는 단백질을 골라 분해시키는 표적 단백질 분해 기술의 출발점이 되었다.</a:t>
            </a:r>
          </a:p>
        </p:txBody>
      </p:sp>
      <p:sp>
        <p:nvSpPr>
          <p:cNvPr id="8" name="Rectangle 7"/>
          <p:cNvSpPr/>
          <p:nvPr/>
        </p:nvSpPr>
        <p:spPr>
          <a:xfrm>
            <a:off x="640080" y="3658947"/>
            <a:ext cx="10881360" cy="251325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사람 발생의 초기 단계는 직접 관찰할 수 없고 실험도 제한된다. 이 공백을 메우려는 세 가지 접근이 빠르게 발전하고 있다. 첫째, </a:t>
            </a:r>
            <a:r>
              <a:rPr sz="1600" b="1" i="0">
                <a:solidFill>
                  <a:srgbClr val="11202B"/>
                </a:solidFill>
                <a:latin typeface="Malgun Gothic"/>
                <a:ea typeface="Malgun Gothic"/>
                <a:cs typeface="Malgun Gothic"/>
              </a:rPr>
              <a:t>장기유사체(organoid)</a:t>
            </a:r>
            <a:r>
              <a:rPr sz="1600" b="0" i="0">
                <a:solidFill>
                  <a:srgbClr val="11202B"/>
                </a:solidFill>
                <a:latin typeface="Malgun Gothic"/>
                <a:ea typeface="Malgun Gothic"/>
                <a:cs typeface="Malgun Gothic"/>
              </a:rPr>
              <a:t> 로 뇌, 장, 신장, 간의 초기 형성을 체외에서 재현한다. 둘째, </a:t>
            </a:r>
            <a:r>
              <a:rPr sz="1600" b="1" i="0">
                <a:solidFill>
                  <a:srgbClr val="11202B"/>
                </a:solidFill>
                <a:latin typeface="Malgun Gothic"/>
                <a:ea typeface="Malgun Gothic"/>
                <a:cs typeface="Malgun Gothic"/>
              </a:rPr>
              <a:t>배아 모사체(embryo model)</a:t>
            </a:r>
            <a:r>
              <a:rPr sz="1600" b="0" i="0">
                <a:solidFill>
                  <a:srgbClr val="11202B"/>
                </a:solidFill>
                <a:latin typeface="Malgun Gothic"/>
                <a:ea typeface="Malgun Gothic"/>
                <a:cs typeface="Malgun Gothic"/>
              </a:rPr>
              <a:t> 로 줄기세포만으로 원시선 형성과 체절 형성까지 재현하는 구조물을 만든다. 생쥐 세포로는 심장 박동과 신경관 형성 단계까지 도달했고, 사람 세포에서도 낭배 형성에 해당하는 단계가 보고되었다. 셋째, </a:t>
            </a:r>
            <a:r>
              <a:rPr sz="1600" b="1" i="0">
                <a:solidFill>
                  <a:srgbClr val="11202B"/>
                </a:solidFill>
                <a:latin typeface="Malgun Gothic"/>
                <a:ea typeface="Malgun Gothic"/>
                <a:cs typeface="Malgun Gothic"/>
              </a:rPr>
              <a:t>단일세포 계통 추적</a:t>
            </a:r>
            <a:r>
              <a:rPr sz="1600" b="0" i="0">
                <a:solidFill>
                  <a:srgbClr val="11202B"/>
                </a:solidFill>
                <a:latin typeface="Malgun Gothic"/>
                <a:ea typeface="Malgun Gothic"/>
                <a:cs typeface="Malgun Gothic"/>
              </a:rPr>
              <a:t>으로 어느 세포가 무엇이 되었는지를 유전체에 남은 표지로 역추적한다. 세 접근 모두 윤리적 경계를 다시 묻게 한다. 배아를 체외에서 배양할 수 있는 기간을 14일로 제한해 온 규칙이 기술의 발전으로 재검토되고 있으며, 줄기세포로 만든 구조물이 어느 단계부터 배아에 준하는 보호를 받아야 하는지에 대한 합의는 아직 없다.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발생을 연구하는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발생학의 주장은 대부분 특정 실험 설계에서 나왔다. 어떤 방법이 어떤 질문에 답하는지를 구분해야 교과서의 서술을 비판적으로 읽을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계통 추적(lineage tracing).</a:t>
            </a:r>
            <a:r>
              <a:rPr sz="1400" b="0" i="0">
                <a:solidFill>
                  <a:srgbClr val="11202B"/>
                </a:solidFill>
                <a:latin typeface="Malgun Gothic"/>
                <a:ea typeface="Malgun Gothic"/>
                <a:cs typeface="Malgun Gothic"/>
              </a:rPr>
              <a:t> "이 세포는 무엇이 되는가"에 답한다. 특정 세포에 표지를 남기고 그 후손을 추적한다. 과거에는 염료를 주입했고, 지금은 유전적 재조합으로 세포와 그 후손에만 형광 단백질이 켜지게 한다. 여러 색을 무작위로 배정하면 세포 하나하나의 후손 집단을 구분할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이식과 재조합.</a:t>
            </a:r>
            <a:r>
              <a:rPr sz="1400" b="0" i="0">
                <a:solidFill>
                  <a:srgbClr val="11202B"/>
                </a:solidFill>
                <a:latin typeface="Malgun Gothic"/>
                <a:ea typeface="Malgun Gothic"/>
                <a:cs typeface="Malgun Gothic"/>
              </a:rPr>
              <a:t> "이 세포는 무엇이 될 </a:t>
            </a:r>
            <a:r>
              <a:rPr sz="1400" b="1" i="0">
                <a:solidFill>
                  <a:srgbClr val="11202B"/>
                </a:solidFill>
                <a:latin typeface="Malgun Gothic"/>
                <a:ea typeface="Malgun Gothic"/>
                <a:cs typeface="Malgun Gothic"/>
              </a:rPr>
              <a:t>수 있는가</a:t>
            </a:r>
            <a:r>
              <a:rPr sz="1400" b="0" i="0">
                <a:solidFill>
                  <a:srgbClr val="11202B"/>
                </a:solidFill>
                <a:latin typeface="Malgun Gothic"/>
                <a:ea typeface="Malgun Gothic"/>
                <a:cs typeface="Malgun Gothic"/>
              </a:rPr>
              <a:t>"에 답한다. 세포를 다른 위치로 옮겨 심었을 때 원래 운명을 유지하면 이미 결정된 것이고, 새 위치의 운명을 따르면 아직 가소성이 있는 것이다. 결정과 분화를 구분하는 고전적 설계다.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제거와 추가.</a:t>
            </a:r>
            <a:r>
              <a:rPr sz="1400" b="0" i="0">
                <a:solidFill>
                  <a:srgbClr val="11202B"/>
                </a:solidFill>
                <a:latin typeface="Malgun Gothic"/>
                <a:ea typeface="Malgun Gothic"/>
                <a:cs typeface="Malgun Gothic"/>
              </a:rPr>
              <a:t> "이 구조가 필요한가"에 답한다. 유도 중심을 제거해 유도가 일어나지 않는 것을 보이고, 다른 자리에 옮겨 심어 그 자리에서도 유도가 일어나는 것을 보인다. 양서류 배아에서 원시결절에 해당하는 조직을 옮겨 심어 두 번째 몸축을 만든 실험이 발생학의 전환점이 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유전학.</a:t>
            </a:r>
            <a:r>
              <a:rPr sz="1400" b="0" i="0">
                <a:solidFill>
                  <a:srgbClr val="11202B"/>
                </a:solidFill>
                <a:latin typeface="Malgun Gothic"/>
                <a:ea typeface="Malgun Gothic"/>
                <a:cs typeface="Malgun Gothic"/>
              </a:rPr>
              <a:t> "이 유전자가 필요한가"에 답한다. 돌연변이 선별로 표현형에서 유전자를 찾아가거나, 유전자를 특정해 없애고 결과를 본다. 조건부 결손으로 특정 조직과 시기에만 유전자를 끌 수 있게 되면서, 발생 초기에 치명적인 유전자도 후기 기능을 따로 볼 수 있게 되었다. 유전자 편집 기술은 M03-W06-L02에서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체외 모형.</a:t>
            </a:r>
            <a:r>
              <a:rPr sz="1400" b="0" i="0">
                <a:solidFill>
                  <a:srgbClr val="11202B"/>
                </a:solidFill>
                <a:latin typeface="Malgun Gothic"/>
                <a:ea typeface="Malgun Gothic"/>
                <a:cs typeface="Malgun Gothic"/>
              </a:rPr>
              <a:t> 사람에서 할 수 없는 조작을 대신한다. 장기유사체와 배아 모사체가 여기 속하며, 종간 차이 때문에 동물에서 얻은 결론이 사람에 적용되지 않는 문제를 일부 보완한다.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발생을 연구하는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결정(determination)</a:t>
            </a:r>
            <a:r>
              <a:rPr sz="1600" b="0" i="0">
                <a:solidFill>
                  <a:srgbClr val="11202B"/>
                </a:solidFill>
                <a:latin typeface="Malgun Gothic"/>
                <a:ea typeface="Malgun Gothic"/>
                <a:cs typeface="Malgun Gothic"/>
              </a:rPr>
              <a:t> 과 </a:t>
            </a:r>
            <a:r>
              <a:rPr sz="1600" b="1" i="0">
                <a:solidFill>
                  <a:srgbClr val="11202B"/>
                </a:solidFill>
                <a:latin typeface="Malgun Gothic"/>
                <a:ea typeface="Malgun Gothic"/>
                <a:cs typeface="Malgun Gothic"/>
              </a:rPr>
              <a:t>분화(differentiation)</a:t>
            </a:r>
            <a:r>
              <a:rPr sz="1600" b="0" i="0">
                <a:solidFill>
                  <a:srgbClr val="11202B"/>
                </a:solidFill>
                <a:latin typeface="Malgun Gothic"/>
                <a:ea typeface="Malgun Gothic"/>
                <a:cs typeface="Malgun Gothic"/>
              </a:rPr>
              <a:t> 를 구분하는 문제가 자주 나온다. 결정은 운명이 정해진 상태로, 겉으로는 아직 변화가 없지만 다른 환경에 옮겨도 원래 운명을 따른다. 분화는 그 운명이 실제 형태와 기능으로 나타난 상태다. 둘을 가르는 실험이 곧 </a:t>
            </a:r>
            <a:r>
              <a:rPr sz="1600" b="1" i="0">
                <a:solidFill>
                  <a:srgbClr val="11202B"/>
                </a:solidFill>
                <a:latin typeface="Malgun Gothic"/>
                <a:ea typeface="Malgun Gothic"/>
                <a:cs typeface="Malgun Gothic"/>
              </a:rPr>
              <a:t>이식</a:t>
            </a:r>
            <a:r>
              <a:rPr sz="1600" b="0" i="0">
                <a:solidFill>
                  <a:srgbClr val="11202B"/>
                </a:solidFill>
                <a:latin typeface="Malgun Gothic"/>
                <a:ea typeface="Malgun Gothic"/>
                <a:cs typeface="Malgun Gothic"/>
              </a:rPr>
              <a:t>이며, 옮겨 심어도 원래대로 가면 이미 결정된 것이다. 또 하나 구분할 것은 </a:t>
            </a:r>
            <a:r>
              <a:rPr sz="1600" b="1" i="0">
                <a:solidFill>
                  <a:srgbClr val="11202B"/>
                </a:solidFill>
                <a:latin typeface="Malgun Gothic"/>
                <a:ea typeface="Malgun Gothic"/>
                <a:cs typeface="Malgun Gothic"/>
              </a:rPr>
              <a:t>수용 능력(competence)</a:t>
            </a:r>
            <a:r>
              <a:rPr sz="1600" b="0" i="0">
                <a:solidFill>
                  <a:srgbClr val="11202B"/>
                </a:solidFill>
                <a:latin typeface="Malgun Gothic"/>
                <a:ea typeface="Malgun Gothic"/>
                <a:cs typeface="Malgun Gothic"/>
              </a:rPr>
              <a:t> 으로, 유도 신호에 반응할 수 있는 상태를 말한다. 같은 신호가 시기에 따라 다른 결과를 내거나 아무 결과도 내지 않는 것은 받는 쪽의 수용 능력이 달라졌기 때문이다.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발생학이 다른 수업과 만나는 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내용은 모듈 전체에 걸쳐 다시 등장한다. 어디에서 이어지는지를 미리 확인해 두면 반복 학습이 쉬워진다.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운명과 전사인자의 조합</a:t>
            </a:r>
            <a:r>
              <a:rPr sz="1400" b="0" i="0">
                <a:solidFill>
                  <a:srgbClr val="11202B"/>
                </a:solidFill>
                <a:latin typeface="Malgun Gothic"/>
                <a:ea typeface="Malgun Gothic"/>
                <a:cs typeface="Malgun Gothic"/>
              </a:rPr>
              <a:t>: M01-W07-L02에서 전사 조절의 기전으로, M03-W04-L03에서 전사인자 네트워크로 다시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후성유전에 의한 상태 유지</a:t>
            </a:r>
            <a:r>
              <a:rPr sz="1400" b="0" i="0">
                <a:solidFill>
                  <a:srgbClr val="11202B"/>
                </a:solidFill>
                <a:latin typeface="Malgun Gothic"/>
                <a:ea typeface="Malgun Gothic"/>
                <a:cs typeface="Malgun Gothic"/>
              </a:rPr>
              <a:t>: 분화한 세포가 분열해도 정체성을 지키는 기전은 M03-W05-L01에서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 경로의 분자 구조</a:t>
            </a:r>
            <a:r>
              <a:rPr sz="1400" b="0" i="0">
                <a:solidFill>
                  <a:srgbClr val="11202B"/>
                </a:solidFill>
                <a:latin typeface="Malgun Gothic"/>
                <a:ea typeface="Malgun Gothic"/>
                <a:cs typeface="Malgun Gothic"/>
              </a:rPr>
              <a:t>: Wnt, Hedgehog, Notch, TGF-β의 수용체와 하류 경로는 M01-W11-L02와 M01-W11-L03에서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사멸의 기전</a:t>
            </a:r>
            <a:r>
              <a:rPr sz="1400" b="0" i="0">
                <a:solidFill>
                  <a:srgbClr val="11202B"/>
                </a:solidFill>
                <a:latin typeface="Malgun Gothic"/>
                <a:ea typeface="Malgun Gothic"/>
                <a:cs typeface="Malgun Gothic"/>
              </a:rPr>
              <a:t>: apoptosis의 분자 경로는 M01-W12-L02에서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발생 경로의 암에서의 재활성화</a:t>
            </a:r>
            <a:r>
              <a:rPr sz="1400" b="0" i="0">
                <a:solidFill>
                  <a:srgbClr val="11202B"/>
                </a:solidFill>
                <a:latin typeface="Malgun Gothic"/>
                <a:ea typeface="Malgun Gothic"/>
                <a:cs typeface="Malgun Gothic"/>
              </a:rPr>
              <a:t>: M01-W12-L03에서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세포골격과 세포 이동</a:t>
            </a:r>
            <a:r>
              <a:rPr sz="1400" b="0" i="0">
                <a:solidFill>
                  <a:srgbClr val="11202B"/>
                </a:solidFill>
                <a:latin typeface="Malgun Gothic"/>
                <a:ea typeface="Malgun Gothic"/>
                <a:cs typeface="Malgun Gothic"/>
              </a:rPr>
              <a:t>: 함입과 신경능 이동의 물리적 기초는 M01-W10-L02에서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접착과 세포외기질</a:t>
            </a:r>
            <a:r>
              <a:rPr sz="1400" b="0" i="0">
                <a:solidFill>
                  <a:srgbClr val="11202B"/>
                </a:solidFill>
                <a:latin typeface="Malgun Gothic"/>
                <a:ea typeface="Malgun Gothic"/>
                <a:cs typeface="Malgun Gothic"/>
              </a:rPr>
              <a:t>: 상피–간엽 전환과 형태형성의 기계적 기초는 M01-W11-L01에서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가지를 더 덧붙인다. 발생학은 </a:t>
            </a:r>
            <a:r>
              <a:rPr sz="1400" b="1" i="0">
                <a:solidFill>
                  <a:srgbClr val="11202B"/>
                </a:solidFill>
                <a:latin typeface="Malgun Gothic"/>
                <a:ea typeface="Malgun Gothic"/>
                <a:cs typeface="Malgun Gothic"/>
              </a:rPr>
              <a:t>진화를 읽는 창</a:t>
            </a:r>
            <a:r>
              <a:rPr sz="1400" b="0" i="0">
                <a:solidFill>
                  <a:srgbClr val="11202B"/>
                </a:solidFill>
                <a:latin typeface="Malgun Gothic"/>
                <a:ea typeface="Malgun Gothic"/>
                <a:cs typeface="Malgun Gothic"/>
              </a:rPr>
              <a:t>이기도 하다. 사람의 발생에서 잠시 나타났다 사라지는 구조들, 예컨대 인두궁, 중간신장, 꼬리는 조상 계통에서 기능하던 구조의 흔적이다. 발생 과정이 보존되는 이유는 뒤에 오는 모든 단계가 앞 단계를 전제로 설계되어 있어 초기 단계를 바꾸기 어렵기 때문이다. 그래서 서로 다른 동물의 중기 배아가 서로 닮는다. 이 보존성 덕분에 초파리와 제브라피시, 생쥐에서 얻은 결과를 사람에 적용할 수 있고, 동시에 종간 차이가 있는 지점에서는 그대로 옮길 수 없다는 한계도 생긴다. 어느 쪽인지를 가리는 것이 발생 연구에서 늘 따라붙는 질문이다.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발생학이 다른 수업과 만나는 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발생학을 따로 떨어진 과목으로 두지 않는 것이 중요하다. 발생은 세포생물학의 모든 주제가 </a:t>
            </a:r>
            <a:r>
              <a:rPr sz="1600" b="1" i="0">
                <a:solidFill>
                  <a:srgbClr val="11202B"/>
                </a:solidFill>
                <a:latin typeface="Malgun Gothic"/>
                <a:ea typeface="Malgun Gothic"/>
                <a:cs typeface="Malgun Gothic"/>
              </a:rPr>
              <a:t>시간 축 위에서 한꺼번에 작동하는 현장</a:t>
            </a:r>
            <a:r>
              <a:rPr sz="1600" b="0" i="0">
                <a:solidFill>
                  <a:srgbClr val="11202B"/>
                </a:solidFill>
                <a:latin typeface="Malgun Gothic"/>
                <a:ea typeface="Malgun Gothic"/>
                <a:cs typeface="Malgun Gothic"/>
              </a:rPr>
              <a:t>이다. 거꾸로 말하면, 세포생물학의 각 주제를 배울 때 "이것이 발생의 어느 장면에서 쓰이는가"를 물으면 그 주제가 왜 그렇게 설계되었는지가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분화한 세포도 온전한 유전체를 가진다는 것을 보인 실험 두 가지를 들고, 이 사실이 분화의 정의에 대해 뜻하는 바를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분화한 세포의 핵을 제거한 난자에 이식해 온전한 개체를 얻은 핵 치환 실험과, 네 개의 전사인자를 도입해 체세포를 만능 상태로 되돌린 역분화 실험이다. 두 실험은 분화 과정에서 유전체가 소실되거나 되돌릴 수 없게 변형되지 않는다는 것을 보인다. 따라서 분화는 유전자를 버리는 과정이 아니라 어떤 유전자를 쓸지 선택하는 과정이며, 그 선택이 세포 분열을 넘어 유지되는 기전이 후성유전 조절이다.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배반포에서 내세포괴와 영양막이 나뉘는 과정을 설명하고, 전능성과 만능성을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8세포기 무렵 할구들이 밀착하며 압축이 일어나고, 바깥쪽 세포는 한쪽 면이 외부에 노출되어 극성을 갖는 반면 안쪽 세포는 사방이 둘러싸여 극성이 없다. 위치의 차이가 성질의 차이로 바뀌고, 액체 공간이 생기면서 바깥은 영양막, 안쪽은 내세포괴가 된다. 전능성은 태아와 태반을 모두 만들 수 있는 능력으로 수정란과 초기 할구가 가지며, 만능성은 세 배엽 모두를 만들 수 있으나 태반은 만들지 못하는 능력으로 내세포괴가 가진다.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일란성 쌍둥이에서 융모막과 양막의 수가 달라지는 이유를 설명하고, 한 융모막을 공유할 때 생기는 위험을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분리 시점이 정한다. 3일 이내에 갈라지면 두 융모막·두 양막, 4~8일이면 한 융모막·두 양막, 8~13일이면 한 융모막·한 양막이 되고, 13일 이후면 분리가 불완전해 결합 쌍둥이가 된다. 이미 형성된 구조는 공유하고 아직 형성되지 않은 구조만 따로 만들어지기 때문이다. 한 융모막을 공유하면 두 태아의 태반 혈관이 이어져 한쪽에서 다른 쪽으로 혈액이 치우치는 쌍태아 수혈 증후군이 생길 수 있으므로 융모막 수의 확인이 임상적으로 중요하다.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낭배 형성의 과정을 세 배엽이 생기는 순서로 서술하고, 척삭의 역할을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배반엽상층 뒤쪽 정중선에 원시선이 생기면서 앞뒤 축과 좌우가 정해진다. 배반엽상층 세포가 원시선으로 이동해 아래로 함입하는데, 가장 먼저 들어간 세포가 배반엽하층을 밀어내고 그 자리를 차지해 내배엽이 되고, 뒤이어 들어간 세포가 두 층 사이에 자리 잡아 중배엽이 되며, 표면에 남은 세포가 외배엽이 된다. 원시결절에서 들어간 세포는 정중선을 따라 앞으로 뻗어 척삭을 만든다. 척삭은 성체에서 추간판 수핵으로만 남지만 발생 중에는 위쪽 외배엽에 신경판을 만들라는 신호를 보내는 유도 중심으로 작동한다.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부신과 뇌하수체가 각각 두 개의 서로 다른 배엽 유래 부분으로 이루어진다는 것을 설명하고, 그 사실이 기능과 질환에 남긴 결과를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부신 겉질은 중배엽에서, 속질은 신경능에서 유래한다. 속질이 교감신경절과 같은 출처이므로 카테콜아민을 분비하고, 갈색세포종과 신경모세포종이 같은 계통의 종양으로 묶인다. 뇌하수체 전엽은 구강 외배엽이 올라온 Rathke 주머니에서, 후엽은 간뇌 바닥이 내려온 구조에서 유래한다. 그래서 전엽은 자체적으로 호르몬을 합성해 분비하는 샘 조직이고 후엽은 시상하부 신경세포의 축삭 말단이 모인 신경 조직으로 성질이 전혀 다르다.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신경능 유래 구조를 네 범주로 들고, 서로 무관해 보이는 증상이 한 증후군에 묶일 때 무엇을 의심해야 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말초신경계(감각·자율 신경절, Schwann 세포), 내분비(부신 속질 크롬친화세포, 갑상샘 C세포), 색소(멜라닌세포), 두개안면과 심장(안면 연골과 뼈, 대동맥폐동맥중격)이다. 신경능 세포는 신경관이 닫힐 때 떨어져 나와 몸 전체로 이동한 뒤 자리에 따라 다르게 분화하므로, 이동이나 분화에 문제가 생기면 해부학적으로 멀리 떨어진 구조들이 함께 침범된다. 따라서 무관해 보이는 증상이 묶여 나타나면 공통 전구세포를 의심해야 한다. 흉선·부갑상샘 형성 부전과 원추동맥간 심기형이 함께 오는 DiGeorge 증후군이 대표적이다.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형태형성인자 기울기가 작동하기 위한 세 조건을 쓰고, 세포가 농도를 역치로 읽어야 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발생원이 정해진 위치에 있을 것, 확산과 분해가 균형을 이루어 안정된 기울기가 유지될 것, 세포가 농도를 역치로 읽을 것이다. 역치가 필요한 이유는 연속적으로 변하는 농도를 그대로 따르면 세포의 성질도 연속적으로 변해 경계가 생기지 않기 때문이다. 농도가 특정 값을 넘을 때만 유전자가 켜지는 방식이라야 연속적인 입력이 불연속적인 구획으로 번역되어 경계가 뚜렷한 영역이 만들어진다.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Hox 유전자의 공선성을 설명하고, 변이가 생겼을 때 나타나는 표현형의 성격을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공선성은 염색체상에서 유전자가 배열된 순서와 몸에서 발현되는 앞뒤 순서가 일치하는 성질이다. 집단의 앞쪽 유전자가 몸의 앞쪽에서, 뒤쪽 유전자가 뒤쪽에서 발현한다. 각 체절은 자기가 켠 Hox 유전자의 조합으로 정체성을 가지므로, 변이가 생기면 구조가 없어지는 것이 아니라 한 부위가 다른 부위의 구조로 바뀌는 동종이형 전환이 나타난다. 초파리에서 더듬이 자리에 다리가 나는 돌연변이가 그 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발생에 쓰이는 신호 경로가 몇 가지뿐인데도 다양한 결과가 나오는 이유를 세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받는 세포의 수용 능력이 다르다. 같은 신호도 세포가 이미 가진 전사인자 조합에 따라 다른 유전자를 켠다. 둘째, 경로의 조합이 다르다. 두세 경로가 동시에 작동할 때의 결과는 각각의 단순한 합이 아니다. 셋째, 신호의 농도와 지속 시간이 다르다. 따라서 Wnt, Hedgehog, TGF-β·BMP, FGF, Notch라는 적은 수의 도구가 발생 전체에서 반복해 쓰이면서도 매번 다른 결과를 낼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Notch의 측방 억제가 똑같아 보이는 세포들 사이에서 차이를 만드는 과정을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처음에는 세포들이 거의 같은 상태에 있지만 무작위한 작은 차이가 존재한다. 한 세포가 조금 더 분화 신호를 켜면 이웃에게 Notch 리간드를 더 많이 보내 이웃의 분화를 억제한다. 억제된 이웃은 리간드를 덜 보내게 되므로 처음 세포의 억제가 풀려 분화가 더 진행된다. 작은 차이가 되먹임으로 증폭되어 뚜렷한 운명 차이로 고정되는 구조이며, 장 상피에서 goblet cell이 흩어져 배치되는 것과 내이 유모세포의 규칙적 간격이 이렇게 정해진다.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기관 형성에서 상피와 간엽 가운데 어느 쪽이 모양을 정하는지 쓰고, 그 근거가 된 실험 설계를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대개 간엽이 정한다. 조직 재조합 실험에서 같은 피부 상피에 서로 다른 부위의 간엽을 붙이면 상피가 간엽의 부위 특성에 따라 다른 구조를 만든다. 발바닥 간엽을 붙이면 두꺼운 각질이, 다른 부위 간엽을 붙이면 그 부위에 맞는 구조가 생긴다. 상피와 간엽을 따로 분리한 뒤 출처가 다른 조합으로 다시 붙여 결과를 보는 설계가 핵심이며, 상피는 구조를 만들 능력을 제공하고 간엽은 어떤 구조를 만들지 지시한다는 결론이 여기서 나온다.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선천 기형을 기전에 따라 네 가지로 분류하고, 이 구분이 실제로 중요한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기형은 발생 과정 자체가 잘못되어 구조가 처음부터 비정상으로 만들어진 것이고, 변형은 정상으로 만들어진 구조가 외부의 기계적 힘으로 모양이 바뀐 것이며, 파괴는 정상으로 만들어지던 구조가 외부 요인에 의해 파괴된 것이고, 형성이상은 조직의 구성 자체가 비정상인 것이다. 구분이 중요한 이유는 예후와 재발 위험이 다르기 때문이다. 변형과 파괴는 유전되지 않고 원인이 제거되면 재발하지 않는 경우가 많지만, 기형과 형성이상은 유전적 원인을 찾아야 하고 다음 임신에서의 재발 위험을 상담해야 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기형유발물질 노출에서 시기가 결과를 정하는 방식을 세 구간으로 나누어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수정 후 2주 이내에는 전부 아니면 전무의 양상을 보인다. 손상이 크면 착상에 실패하거나 유산되고, 세포가 아직 전능성이므로 손상이 적으면 완전히 회복된다. 3~8주의 기관 형성기가 가장 취약하며 구조적 기형의 대부분이 이 시기의 노출에서 생기고, 기관마다 민감한 시기가 조금씩 다르다. 9주 이후의 태아기에는 구조가 이미 만들어져 있으므로 큰 기형보다 성장 지연과 기능 이상이 나타나며, 중추신경계는 출생까지 계속 발달하므로 끝까지 취약하다.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결정과 분화를 구분하고, 둘을 가르는 실험 설계를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결정은 세포의 운명이 이미 정해진 상태로, 겉으로는 변화가 드러나지 않지만 다른 환경에 옮겨도 원래 운명을 따른다. 분화는 그 운명이 실제 형태와 기능으로 나타난 상태다. 둘을 가르는 설계는 이식이다. 세포를 다른 위치로 옮겨 심었을 때 원래 운명을 유지하면 이미 결정된 것이고, 새 위치의 운명을 따르면 아직 결정되지 않은 것이다. 함께 구분할 개념으로 수용 능력이 있는데, 유도 신호에 반응할 수 있는 상태를 말하며 같은 신호가 시기에 따라 다른 결과를 내는 것은 받는 쪽의 수용 능력이 달라졌기 때문이다.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인두궁의 구성이 반복적이라는 사실이 임상에서 어떻게 쓰이는지 설명하고, 왼쪽 되돌이후두신경이 오른쪽보다 긴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각 인두궁은 자기만의 연골, 근육, 신경, 동맥을 가지며 근육은 아무리 멀리 이동해도 자기 궁의 신경을 데리고 간다. 따라서 근육의 신경 지배를 보면 그 근육이 어느 궁에서 유래했는지 알 수 있고, 거꾸로 한 신경이 손상되었을 때 함께 마비되는 근육 집단을 예측할 수 있다. 되돌이후두신경은 6번 궁 동맥 아래를 돌아 올라가는데, 오른쪽에서는 6번 궁 동맥의 원위부가 퇴화해 신경이 4번 궁 유래의 오른쪽 빗장밑동맥 아래를 돌고, 왼쪽에서는 6번 궁 동맥이 동맥관으로 남아 신경이 대동맥궁까지 내려갔다 올라온다. 그래서 왼쪽이 훨씬 길고 대동맥궁 동맥류나 좌측 폐문 종양에서 쉰 목소리가 생긴다.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3번과 4번 인두낭의 유래가 상하로 역전되는 이유를 설명하고, 이것이 DiGeorge 증후군의 증상 조합을 어떻게 설명하는지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3번 낭에서 아래 부갑상샘과 흉선이 함께 생기는데, 흉선이 종격으로 크게 이동하면서 함께 생긴 부갑상샘을 끌고 내려간다. 4번 낭에서 생긴 부갑상샘은 거의 이동하지 않으므로 결과적으로 3번 유래가 아래, 4번 유래가 위에 놓인다. DiGeorge 증후군에서는 3번과 4번 낭의 발달이 함께 장애를 받으므로 흉선 형성 부전에 의한 T세포 결핍과 부갑상샘 형성 부전에 의한 저칼슘혈증이 동반되고, 같은 시기 신경능 이상으로 유출로 심기형과 안면 이상이 더해진다.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심장 발생에서 유출로 중격을 만드는 세포가 무엇이며, 그 사실이 어떤 심기형들을 하나로 묶는지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신경능 세포가 동맥간 안으로 이동해 나선형 중격을 만들어 대동맥과 폐동맥을 나눈다. 따라서 신경능의 이동이나 분화에 문제가 생기면 유출로 기형이 생기며, 대혈관 전위, Fallot 4징, 총동맥간, 유출로 중격 결손이 모두 이 범주에 묶인다. DiGeorge 증후군에서 이 기형들이 흉선·부갑상샘 결손과 함께 나타나는 것도 같은 전구세포가 침범되기 때문이다.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태아 순환의 세 가지 지름길을 쓰고, 출생 시 이들이 닫히는 기전을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정맥관은 태반에서 온 혈액이 간을 우회하게 하고, 난원공은 우심방에서 좌심방으로 건너가 폐를 우회하게 하며, 동맥관은 폐동맥에서 대동맥으로 건너가 폐를 우회하게 한다. 폐혈관 저항이 높아 혈류가 오른쪽에서 왼쪽으로 흐르는 것이 이 구조를 유지한다. 출생 시 첫 호흡으로 폐가 펴지고 산소 분압이 오르면 폐혈관 저항이 급격히 떨어지고 태반이 분리되어 전신 저항이 올라간다. 그 결과 좌심방압이 우심방압을 넘어 난원공이 눌려 닫히고, 산소 분압 상승과 prostaglandin 감소로 동맥관이 수축하며, 탯줄 혈류가 끊겨 정맥관이 닫힌다.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Eisenmenger 증후군이 생기는 과정을 설명하고, 이 시점에 결손 교정 수술이 금기가 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심실중격결손이나 동맥관 개존 같은 좌우 단락에서는 처음에 산소가 풍부한 혈액이 폐로 더 많이 흘러 청색증이 없다. 그러나 폐혈류 증가가 오래 지속되면 폐혈관이 재형성되어 저항이 점차 올라가고, 결국 폐혈관 저항이 전신 저항을 넘어서면 단락의 방향이 뒤집혀 우좌 단락이 되며 청색증이 나타난다. 이 상태에서 결손을 닫으면 높은 저항의 폐혈관으로만 혈액을 내보내야 하는데 우심실이 이를 감당하지 못하고, 압력을 낮출 탈출구가 사라지므로 우심부전으로 악화된다. 따라서 수술이 금기가 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사지 발생의 세 신호 중심과 각각이 정하는 축을 쓰고, AER 제거 실험의 결과가 무엇을 보이는지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AER은 사지싹 끝의 두꺼워진 외배엽 능선으로 FGF를 분비해 몸쪽–먼쪽 축의 성장을 이끌고, ZPA는 뒤쪽 가장자리 간엽으로 Shh를 분비해 앞뒤 축을 정하며, 등쪽 외배엽은 Wnt7a를 분비해 등배 축을 정한다. AER을 제거하면 그 시점 이후에 만들어졌어야 할 먼쪽 구조가 생기지 않는다. 일찍 제거하면 위팔 수준에서, 늦게 제거하면 손목 수준에서 멈춘다. 이는 AER이 아래 간엽을 미분화 증식 상태로 유지하는 역할을 하며 몸쪽에서 먼쪽으로 순차적으로 구조가 지정된다는 것을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M01-W03-L01  ·  발생 요약: 수정·배엽·기관 형성</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Sadler TW. Langman's Medical Embryology. 15th ed. Wolters Kluwer; 2023.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Moore KL, Persaud TVN, Torchia MG. The Developing Human: Clinically Oriented Embryology. 11th ed. Elsevier;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Gilbert SF, Barresi MJF. Developmental Biology. 12th ed. Sinauer;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Wolpert L, et al. Principles of Development. 6th ed. Oxford University Press;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21: Development of Multicellular Organisms.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K, Yamanaka S. Induction of pluripotent stem cells from mouse embryonic and adult fibroblast cultures by defined factors. Cell. 2006;126(4):663–676.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Rossant J, Tam PPL. Early human embryonic development: blastocyst formation to gastrulation. Dev Cell. 2022;57(2):152–165.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Ito T, et al. Identification of a primary target of thalidomide teratogenicity. Science. 2010;327(5971):1345–1350.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