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notesMaster" Target="notesMasters/notesMaster1.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기전(지금 어떤 신경과 호르몬이 작동하는가)과 발달(개체가 살아오며 어떻게 갖추었는가)이 근접 원인이고, 기능(생존과 번식에 어떤 이득이 있는가)과 진화(계통에서 어떻게 변해 왔는가)가 궁극 원인이다. 네 답은 서로 다른 층위를 설명하므로 경쟁하지 않고 보완한다. 섞으면 "호르몬 때문인가 번식을 위해서인가" 같은 잘못 세워진 질문이 되어, 양쪽 모두 옳은데도 서로 반박하려 들게 된다. 의학에서도 발열을 prostaglandin이 설정점을 올렸다는 답과 체온 상승이 면역에 유리하다는 답으로 설명하는 것이 층위가 다른 두 답이다.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활동전위는 전부 아니면 전무의 성질을 가져 역치를 넘으면 크기가 일정한 신호가 생기고 넘지 못하면 아무 일도 일어나지 않는다. 따라서 크기에 정보를 담을 수 없다. 세기는 활동전위의 발화 빈도와, 활성화된 수용기의 수로 부호화된다. 자극의 종류는 어느 경로가 활성화되었는지로, 위치는 어느 수용기가 흥분했는지로 정해진다.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전도 속도 저하와 잠복기 연장은 말이집 병변을, 활동전위 진폭의 감소는 축삭 병변을 가리킨다. 말이집은 절연체로 작용해 도약 전도를 가능하게 하므로 손상되면 전도가 느려지지만 축삭이 남아 있으면 전달되는 섬유의 수는 유지되어 진폭이 보존된다. 축삭이 손상되면 전달하는 섬유 자체가 줄어 합쳐진 전위의 크기가 작아지고, 남은 섬유는 정상 속도로 전도하므로 속도는 비교적 유지된다.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적응이 빠른 수용기는 자극이 계속되면 곧 발화를 멈추므로 자극의 변화, 즉 시작과 끝을 알린다. 적응이 느린 수용기는 자극이 지속되는 동안 계속 발화하므로 현재의 상태를 알린다. 통각은 조직 손상의 경고이므로 손상이 계속되는 동안 계속 알려야 한다. 적응해 버리면 손상이 진행 중인데도 알아차리지 못하게 되므로, 적응하지 않는 것이 경고 신호로서 올바른 설계다.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어두울 때 cGMP가 양이온 통로를 열어 두어 Na⁺가 들어오므로 세포가 탈분극 상태이고 전달물질을 계속 방출한다. 빛이 rhodopsin의 retinal을 이성질화하면 G 단백질 transducin이 활성화되고 phosphodiesterase가 cGMP를 분해한다. cGMP가 줄면 통로가 닫혀 Na⁺ 유입이 멈추고 세포가 과분극하며 전달물질 방출이 줄어든다. 광자 하나에 반응할 수 있는 것은 이 경로가 증폭의 사슬이기 때문이다. 활성화된 rhodopsin 하나가 수백 개의 transducin을 활성화하고 각 transducin에 연결된 효소가 다시 많은 cGMP를 분해한다.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시신경교차에서 코쪽 망막에서 온 섬유만 반대쪽으로 건너간다는 사실이 근거다. 한쪽 시신경 병변은 교차 전이므로 그 눈 전체의 시력을 잃게 한다. 시신경교차 가운데가 눌리면 양쪽 코쪽 망막에서 온 섬유가 침범되는데 이들은 각각 귀쪽 시야를 담당하므로 양측 귀쪽 반맹이 된다. 교차 뒤의 시각로나 시방사 병변은 양쪽 눈에서 같은 쪽 시야를 담당하는 섬유가 함께 지나가므로 동측 반맹이 된다. 따라서 한 눈만 침범되면 교차 앞, 양 눈이 함께 침범되면 교차 또는 그 뒤다.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Rinne 검사에서 정상과 감각신경성 난청은 중이의 증폭이 정상이므로 공기 전도가 뼈 전도보다 잘 들린다. 전음성 난청은 중이의 전달이 깨졌으므로 뼈 전도가 공기 전도보다 잘 들린다. Weber 검사에서 전음성 난청은 나쁜 쪽으로 치우쳐 들린다. 그쪽 귀가 외부 소음을 덜 받아들여 뼈로 전해진 소리가 상대적으로 크게 느껴지기 때문이다. 감각신경성 난청은 그쪽의 감지 능력 자체가 떨어졌으므로 좋은 쪽으로 치우친다.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뒤기둥–안쪽섬유띠 경로는 미세 촉각, 진동, 고유감각을 전달하며 같은 쪽 척수를 올라가 연수에서 교차한다. 척수시상로는 통각과 온도를 전달하며 들어온 척수 분절에서 바로 교차해 반대쪽을 올라간다. 따라서 척수 반측 절단에서는 병변과 같은 쪽에서 운동 마비와 진동·고유감각 소실이 나타나고, 병변 반대쪽에서 한두 분절 아래부터 통각과 온도감각이 소실된다. 운동과 촉각은 같은 쪽, 통각과 온도는 반대쪽이라는 해리가 특징이다.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상위운동신경세포 병변에서는 근긴장도가 증가해 경직이 나타나고, 심부건반사가 항진되며, Babinski 징후가 양성이고, 근위축은 늦고 경미하며, 섬유다발수축이 없다. 하위운동신경세포 병변에서는 근긴장도가 감소해 이완되고, 심부건반사가 소실되며, 병적 반사가 없고, 근위축이 뚜렷하고 빠르게 나타나며, 섬유다발수축이 보인다. 근력 약화는 양쪽 모두에서 나타나므로 감별에 쓰이지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감염에서 cytokine이 시상하부에서 prostaglandin E2의 생성을 유도하고 이것이 체온 설정점을 올린다. 실제 체온은 아직 새 설정점보다 낮으므로 몸은 상대적으로 추운 상태로 판단하고 떨림과 피부 혈관 수축으로 열을 올리며, 환자는 오한을 느낀다. 체온이 새 설정점에 도달하면 오한이 멎는다. 해열제는 cyclooxygenase를 억제해 prostaglandin 생성을 막아 설정점을 원래대로 내리며, 그러면 체온이 설정점보다 높아진 상태가 되므로 발한과 혈관 확장으로 열을 내보낸다.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Leptin은 지방량에 비례해 분비되어 식욕을 억제하는 장기 신호다. 대부분의 비만 환자는 leptin이 부족한 것이 아니라 오히려 높은 leptin 저항 상태이므로 외부에서 더 주어도 효과가 거의 없다. 보충이 극적으로 듣는 것은 선천성 leptin 결핍이라는 드문 경우뿐이다. 반면 장에서 나오는 단기 포만 신호 쪽에서는 GLP-1 수용체 작용제가 식욕을 억제하고 위 배출을 늦춰 임상적으로 의미 있는 체중 감소를 만들어 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CLOCK과 BMAL1이 결합해 Per와 Cry 유전자의 전사를 활성화하고, 만들어진 PER과 CRY 단백질이 세포질에 쌓였다가 핵으로 들어가 CLOCK–BMAL1의 활성을 억제한다. 억제로 자기 유전자의 전사가 꺼지면 단백질이 점차 분해되고, 억제가 풀려 다시 전사가 시작된다. 주기를 정하는 것은 전사와 번역, 핵 이동, 단백질 분해에 걸리는 시간의 합이며 이것이 약 24시간이 된다. 따라서 단백질의 분해 속도를 바꾸는 변이가 수면 위상을 앞당기거나 늦춘다.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NMDA 수용체는 평소 Mg²⁺에 의해 막혀 있어 전달물질이 결합해도 이온이 통과하지 못한다. 시냅스 후막이 다른 입력으로 이미 탈분극되어 있을 때만 Mg²⁺이 밀려나고 Ca²⁺이 들어온다. 따라서 전 세포의 활동(전달물질 방출)과 후 세포의 활동(탈분극)이 동시에 있어야만 작동한다. 들어온 Ca²⁺이 AMPA 수용체를 막에 더 삽입해 시냅스를 강화한다. 함께 활동한 세포들 사이의 연결만 선택적으로 강해지므로, 연합 학습의 세포 수준 기초가 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특정 집단에서 관찰된 그 형질의 변이 가운데 절반이 유전적 변이로 설명된다는 뜻이다. 첫째 오해는 한 사람의 형질 가운데 절반이 유전자 때문이라는 해석인데, 유전율은 개인이 아니라 집단의 변이에 대한 값이다. 둘째 오해는 유전율이 높으면 개입이 소용없다는 해석이다. 페닐케톤뇨증은 유전적 원인이 분명하지만 식이 조절로 결과를 바꿀 수 있다. 또한 환경이 균일한 집단에서는 남은 변이가 주로 유전적이므로 유전율이 높게 나오며, 집단과 환경이 달라지면 값 자체가 달라진다.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혈연 선택은 유전자를 공유한 친척을 돕는 것이 유전자 전달에 이익이 된다는 설명이며, 이타 행동이 혈연 사이에서 더 자주 나타나야 한다고 예측한다. 호혜는 지금 도우면 나중에 보답받는다는 설명이며, 반복해서 만나고 상대를 알아보며 배신을 되갚을 수 있는 종에서만 나타나야 한다고 예측한다. 집단 안의 이익은 무리 짓기 자체가 개체에 이익이 된다는 설명이며, 포식 위험의 희석이나 사냥 효율 증가처럼 각 개체가 직접 얻는 이익을 측정할 수 있어야 한다고 예측한다. "종을 위해서"라는 설명은 자연선택이 주로 개체와 유전자 수준에서 작동하므로 성립하지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체성 신경계는 중추에서 골격근까지 하나의 신경세포가 직접 가고 전달물질은 아세틸콜린이며 작용은 흥분뿐이다. 자율 신경계는 중추에서 표적까지 두 개의 신경세포가 신경절에서 이어 달리고 전달물질이 여럿이며 흥분과 억제가 모두 가능하다. 두 세포로 이어지는 구조의 이점은 분산이다. 신경절 전 세포 하나가 여러 신경절 후 세포와 연접하므로 하나의 중추 명령이 넓은 범위에 동시에 작용할 수 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교감신경절은 척수 가까이에 사슬로 이어져 있어 하나의 입력이 여러 분절로 퍼질 수 있고, 절후 섬유가 길어 표적까지 넓게 분포한다. 그 결과 교감신경은 심박수, 혈압, 동공, 기관지, 혈당을 동시에 바꾸는 전신적 반응을 만든다. 부교감신경절은 표적 기관 안이나 가까이에 있고 절후 섬유가 짧아 기관별로 따로 조절된다. 그래서 소화 기능의 조절이 기관마다 선택적으로 이루어진다.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교감과 부교감 모두 신경절에서의 연접은 아세틸콜린과 니코틴성 수용체를 쓰며, 신경근 접합부도 같다. 효과기에서는 교감이 노르에피네프린과 아드레날린성 수용체를, 부교감이 아세틸콜린과 무스카린성 수용체를 쓴다. 예외로 땀샘을 지배하는 교감신경의 절후 섬유는 아세틸콜린을 방출하므로 항콜린제로 땀이 억제된다. 또 부신 속질은 절후 신경세포 없이 절전 섬유의 직접 지배를 받아 카테콜아민을 혈액으로 방출한다.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감각 정보는 시상에서 편도체로 바로 가는 빠른 경로와 대뇌겉질을 거쳐 가는 느린 경로로 전달된다. 빠른 경로는 정보가 거칠어 잘못된 경보를 낼 수 있지만 반응이 빠르고, 느린 경로는 정확하지만 시간이 걸린다. 빠른 경로가 유지되는 이유는 두 종류 오류의 비용이 비대칭이기 때문이다. 실제 위협을 놓치는 비용은 치명적일 수 있는 반면 헛놀라는 비용은 작으므로, 정확도를 희생하더라도 빠르게 반응하는 쪽이 선택된다.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세포들은 기대보다 좋은 결과가 오면 발화가 늘고, 기대한 대로면 변화가 거의 없으며, 기대보다 나쁘면 발화가 줄어든다. 즉 보상의 크기가 아니라 기대와 실제의 차이를 신호로 보낸다. 행동 수준에서는 고전적 조건화의 차단 현상과 맞물린다. 이미 다른 자극이 결과를 예측하고 있으면 새 자극은 학습되지 않는데, 예측 오차가 없으므로 학습 신호가 발생하지 않기 때문이다. 학습이 단순한 동시 발생이 아니라 예측력에 의해 일어난다는 법칙과 세포 수준 신호가 일치하는 사례다.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빠른 축은 교감신경–부신 속질 경로로 초 단위에 카테콜아민이 심박수, 혈압, 혈당, 기관지를 바꾼다. 느린 축은 시상하부–뇌하수체–부신겉질 경로로 분에서 시간 단위에 cortisol이 포도당 동원, 단백질 분해, 면역 억제를 일으킨다. 급성 위협에서는 두 축 모두 에너지를 동원하고 손상에 대비하므로 적응적이다. 만성적으로 지속되면 cortisol이 오래 높게 유지되어 해마가 위축되고 면역이 억제되며 내장 지방과 인슐린 저항이 늘어난다. 단기 동원에 최적화된 반응이 장기간 유지될 것을 전제로 설계되지 않았기 때문이다.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M01  인체일반생물학과 기초세포생물학</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동물행동 요약: 감각·행동·학습과 적응</a:t>
            </a:r>
          </a:p>
          <a:p>
            <a:r>
              <a:rPr sz="1500" b="0" i="0">
                <a:solidFill>
                  <a:srgbClr val="B9D2E8"/>
                </a:solidFill>
                <a:latin typeface="Malgun Gothic"/>
                <a:ea typeface="Malgun Gothic"/>
                <a:cs typeface="Malgun Gothic"/>
              </a:rPr>
              <a:t>Animal Behaviour: Sensation, Action, Learning and Adaptation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M01-W03-L02  ·  2부</a:t>
            </a:r>
          </a:p>
          <a:p>
            <a:r>
              <a:rPr sz="1100" b="0" i="0">
                <a:solidFill>
                  <a:srgbClr val="F2B705"/>
                </a:solidFill>
                <a:latin typeface="Malgun Gothic"/>
                <a:ea typeface="Malgun Gothic"/>
                <a:cs typeface="Malgun Gothic"/>
              </a:rPr>
              <a:t>전체 15절 가운데 7절</a:t>
            </a:r>
          </a:p>
          <a:p>
            <a:r>
              <a:rPr sz="1100" b="0" i="0">
                <a:solidFill>
                  <a:srgbClr val="9FBEDA"/>
                </a:solidFill>
                <a:latin typeface="Malgun Gothic"/>
                <a:ea typeface="Malgun Gothic"/>
                <a:cs typeface="Malgun Gothic"/>
              </a:rPr>
              <a:t>3주 2회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행동을 묻는 네 가지 질문을 구분하고 근접 원인과 궁극 원인을 섞지 않는 이유를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신경세포가 정보를 전달하는 두 방식을 전기적 신호와 화학적 신호로 나누어 서술한다.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감각 수용의 공통 원리를 변환, 적응, 역치, 부호화로 정리하고 감각별 차이를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시각과 청각에서 물리 자극이 신경 신호로 바뀌는 과정을 각각의 수용기 구조로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반사궁의 구성 요소를 쓰고 반사 검사가 병변 위치를 알려 주는 원리를 설명한다.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수의 운동의 조절에 관여하는 세 축을 구분하고 각각의 손상이 만드는 증상을 예측한다.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섭식, 갈증, 체온 조절을 음성 되먹임 고리로 서술하고 조절 중추의 위치를 쓴다.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수면–각성 주기와 일주기 리듬을 구분하고 리듬의 분자 기전을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학습의 네 가지 형태를 구분하고 시냅스 가소성이 기억의 기초가 되는 근거를 든다.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본능과 학습의 관계를 각인과 결정적 시기로 설명한다.</a:t>
            </a:r>
          </a:p>
          <a:p>
            <a:pPr>
              <a:spcAft>
                <a:spcPts val="900"/>
              </a:spcAft>
            </a:pPr>
            <a:r>
              <a:rPr sz="1600" b="1" i="0">
                <a:solidFill>
                  <a:srgbClr val="F2B705"/>
                </a:solidFill>
                <a:latin typeface="Malgun Gothic"/>
                <a:ea typeface="Malgun Gothic"/>
                <a:cs typeface="Malgun Gothic"/>
              </a:rPr>
              <a:t>11.  </a:t>
            </a:r>
            <a:r>
              <a:rPr sz="1600" b="0" i="0">
                <a:solidFill>
                  <a:srgbClr val="11202B"/>
                </a:solidFill>
                <a:latin typeface="Malgun Gothic"/>
                <a:ea typeface="Malgun Gothic"/>
                <a:cs typeface="Malgun Gothic"/>
              </a:rPr>
              <a:t>사회 행동의 진화를 비용과 이익, 혈연 선택으로 설명한다.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M01-W02-L02 내분비계 요약 — 시상하부와 뇌하수체, 음성 되먹임</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M01-W03-L01 발생 요약 — 신경관과 신경능, 결정적 시기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M01-W05-L02 생체분자와 막의 구조 — 막의 구조와 이온 투과성</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9. 항상성 행동 — 몸이 행동을 시키는 방식</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10. 각성, 수면, 생체 리듬</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11. 학습과 기억</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12. 본능과 학습 — 어떻게 나누어지는가</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13. 사회 행동과 그 진화</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14. 정서, 동기, 그리고 스트레스</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15. 신경·행동 이상을 읽는 논리와 다음 수업</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항상성 행동 — 몸이 행동을 시키는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생리적 조절만으로 부족할 때 몸은 </a:t>
            </a:r>
            <a:r>
              <a:rPr sz="1400" b="1" i="0">
                <a:solidFill>
                  <a:srgbClr val="11202B"/>
                </a:solidFill>
                <a:latin typeface="Malgun Gothic"/>
                <a:ea typeface="Malgun Gothic"/>
                <a:cs typeface="Malgun Gothic"/>
              </a:rPr>
              <a:t>행동</a:t>
            </a:r>
            <a:r>
              <a:rPr sz="1400" b="0" i="0">
                <a:solidFill>
                  <a:srgbClr val="11202B"/>
                </a:solidFill>
                <a:latin typeface="Malgun Gothic"/>
                <a:ea typeface="Malgun Gothic"/>
                <a:cs typeface="Malgun Gothic"/>
              </a:rPr>
              <a:t>을 동원한다. 땀으로 열을 내보내는 것이 생리적 조절이라면 그늘을 찾는 것은 행동적 조절이며, 후자가 훨씬 효율적인 경우가 많다. 항상성 행동은 모두 같은 구조를 가진다. </a:t>
            </a:r>
            <a:r>
              <a:rPr sz="1400" b="1" i="0">
                <a:solidFill>
                  <a:srgbClr val="11202B"/>
                </a:solidFill>
                <a:latin typeface="Malgun Gothic"/>
                <a:ea typeface="Malgun Gothic"/>
                <a:cs typeface="Malgun Gothic"/>
              </a:rPr>
              <a:t>감지 → 중추의 비교 → 행동의 유발 → 되먹임에 의한 종료</a:t>
            </a:r>
            <a:r>
              <a:rPr sz="1400" b="0" i="0">
                <a:solidFill>
                  <a:srgbClr val="11202B"/>
                </a:solidFill>
                <a:latin typeface="Malgun Gothic"/>
                <a:ea typeface="Malgun Gothic"/>
                <a:cs typeface="Malgun Gothic"/>
              </a:rPr>
              <a:t>다. 조절 중추는 대부분 </a:t>
            </a:r>
            <a:r>
              <a:rPr sz="1400" b="1" i="0">
                <a:solidFill>
                  <a:srgbClr val="11202B"/>
                </a:solidFill>
                <a:latin typeface="Malgun Gothic"/>
                <a:ea typeface="Malgun Gothic"/>
                <a:cs typeface="Malgun Gothic"/>
              </a:rPr>
              <a:t>시상하부</a:t>
            </a:r>
            <a:r>
              <a:rPr sz="1400" b="0" i="0">
                <a:solidFill>
                  <a:srgbClr val="11202B"/>
                </a:solidFill>
                <a:latin typeface="Malgun Gothic"/>
                <a:ea typeface="Malgun Gothic"/>
                <a:cs typeface="Malgun Gothic"/>
              </a:rPr>
              <a:t>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체온 조절.</a:t>
            </a:r>
            <a:r>
              <a:rPr sz="1400" b="0" i="0">
                <a:solidFill>
                  <a:srgbClr val="11202B"/>
                </a:solidFill>
                <a:latin typeface="Malgun Gothic"/>
                <a:ea typeface="Malgun Gothic"/>
                <a:cs typeface="Malgun Gothic"/>
              </a:rPr>
              <a:t> 시상하부 앞쪽이 혈액 온도와 피부 수용기의 입력을 받아 설정점과 비교한다. 체온이 낮으면 피부 혈관 수축, 떨림, 갑상샘·교감신경 활성화가 일어나고 행동으로는 옷을 껴입고 웅크린다. 체온이 높으면 피부 혈관 확장과 발한이 일어나고 행동으로는 옷을 벗고 그늘을 찾는다.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발열은 설정점의 변화다.</a:t>
            </a:r>
            <a:r>
              <a:rPr sz="1400" b="0" i="0">
                <a:solidFill>
                  <a:srgbClr val="11202B"/>
                </a:solidFill>
                <a:latin typeface="Malgun Gothic"/>
                <a:ea typeface="Malgun Gothic"/>
                <a:cs typeface="Malgun Gothic"/>
              </a:rPr>
              <a:t> 감염에서 cytokine이 시상하부에서 prostaglandin E2 생성을 유도하고, 이것이 설정점을 올린다. 그러면 실제 체온이 새 설정점보다 낮으므로 몸은 </a:t>
            </a:r>
            <a:r>
              <a:rPr sz="1400" b="1" i="0">
                <a:solidFill>
                  <a:srgbClr val="11202B"/>
                </a:solidFill>
                <a:latin typeface="Malgun Gothic"/>
                <a:ea typeface="Malgun Gothic"/>
                <a:cs typeface="Malgun Gothic"/>
              </a:rPr>
              <a:t>추위를 느끼고 떤다</a:t>
            </a:r>
            <a:r>
              <a:rPr sz="1400" b="0" i="0">
                <a:solidFill>
                  <a:srgbClr val="11202B"/>
                </a:solidFill>
                <a:latin typeface="Malgun Gothic"/>
                <a:ea typeface="Malgun Gothic"/>
                <a:cs typeface="Malgun Gothic"/>
              </a:rPr>
              <a:t>. 열이 오르는 동안 환자가 오한을 느끼는 역설이 이렇게 설명된다. 해열제가 cyclooxygenase를 억제해 설정점을 되돌리면 이번에는 체온이 설정점보다 높아져 땀을 흘린다.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갈증과 수분 섭취.</a:t>
            </a:r>
            <a:r>
              <a:rPr sz="1400" b="0" i="0">
                <a:solidFill>
                  <a:srgbClr val="11202B"/>
                </a:solidFill>
                <a:latin typeface="Malgun Gothic"/>
                <a:ea typeface="Malgun Gothic"/>
                <a:cs typeface="Malgun Gothic"/>
              </a:rPr>
              <a:t> 시상하부의 삼투수용체가 혈장 삼투압 상승을 감지하면 ADH 분비와 함께 갈증을 일으킨다. 용적이 크게 줄어도 angiotensin II를 통해 갈증이 생긴다. 두 자극의 분업은 M01-W02-L01의 물과 소금 균형 구분과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섭식.</a:t>
            </a:r>
            <a:r>
              <a:rPr sz="1400" b="0" i="0">
                <a:solidFill>
                  <a:srgbClr val="11202B"/>
                </a:solidFill>
                <a:latin typeface="Malgun Gothic"/>
                <a:ea typeface="Malgun Gothic"/>
                <a:cs typeface="Malgun Gothic"/>
              </a:rPr>
              <a:t> 시상하부 활꼴핵이 중심이며, 두 종류의 신경세포가 반대로 작용한다. 하나는 식욕을 촉진하고(NPY/AgRP) 다른 하나는 억제한다(POMC). 이들에게 들어오는 신호는 시간 규모가 다르다.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단기</a:t>
            </a:r>
            <a:r>
              <a:rPr sz="1400" b="0" i="0">
                <a:solidFill>
                  <a:srgbClr val="11202B"/>
                </a:solidFill>
                <a:latin typeface="Malgun Gothic"/>
                <a:ea typeface="Malgun Gothic"/>
                <a:cs typeface="Malgun Gothic"/>
              </a:rPr>
              <a:t>: 위 팽창의 기계적 신호, 위에서 나오는 </a:t>
            </a:r>
            <a:r>
              <a:rPr sz="1400" b="1" i="0">
                <a:solidFill>
                  <a:srgbClr val="11202B"/>
                </a:solidFill>
                <a:latin typeface="Malgun Gothic"/>
                <a:ea typeface="Malgun Gothic"/>
                <a:cs typeface="Malgun Gothic"/>
              </a:rPr>
              <a:t>ghrelin</a:t>
            </a:r>
            <a:r>
              <a:rPr sz="1400" b="0" i="0">
                <a:solidFill>
                  <a:srgbClr val="11202B"/>
                </a:solidFill>
                <a:latin typeface="Malgun Gothic"/>
                <a:ea typeface="Malgun Gothic"/>
                <a:cs typeface="Malgun Gothic"/>
              </a:rPr>
              <a:t>(식전에 올라가 식욕 촉진), 장에서 나오는 </a:t>
            </a:r>
            <a:r>
              <a:rPr sz="1400" b="1" i="0">
                <a:solidFill>
                  <a:srgbClr val="11202B"/>
                </a:solidFill>
                <a:latin typeface="Malgun Gothic"/>
                <a:ea typeface="Malgun Gothic"/>
                <a:cs typeface="Malgun Gothic"/>
              </a:rPr>
              <a:t>CCK, GLP-1, PYY</a:t>
            </a:r>
            <a:r>
              <a:rPr sz="1400" b="0" i="0">
                <a:solidFill>
                  <a:srgbClr val="11202B"/>
                </a:solidFill>
                <a:latin typeface="Malgun Gothic"/>
                <a:ea typeface="Malgun Gothic"/>
                <a:cs typeface="Malgun Gothic"/>
              </a:rPr>
              <a:t>(식후에 올라가 포만)</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장기</a:t>
            </a:r>
            <a:r>
              <a:rPr sz="1400" b="0" i="0">
                <a:solidFill>
                  <a:srgbClr val="11202B"/>
                </a:solidFill>
                <a:latin typeface="Malgun Gothic"/>
                <a:ea typeface="Malgun Gothic"/>
                <a:cs typeface="Malgun Gothic"/>
              </a:rPr>
              <a:t>: 지방조직에서 나오는 </a:t>
            </a:r>
            <a:r>
              <a:rPr sz="1400" b="1" i="0">
                <a:solidFill>
                  <a:srgbClr val="11202B"/>
                </a:solidFill>
                <a:latin typeface="Malgun Gothic"/>
                <a:ea typeface="Malgun Gothic"/>
                <a:cs typeface="Malgun Gothic"/>
              </a:rPr>
              <a:t>leptin</a:t>
            </a:r>
            <a:r>
              <a:rPr sz="1400" b="0" i="0">
                <a:solidFill>
                  <a:srgbClr val="11202B"/>
                </a:solidFill>
                <a:latin typeface="Malgun Gothic"/>
                <a:ea typeface="Malgun Gothic"/>
                <a:cs typeface="Malgun Gothic"/>
              </a:rPr>
              <a:t>. 지방량에 비례해 분비되어 식욕을 억제하고 에너지 소비를 늘린다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항상성 행동 — 몸이 행동을 시키는 방식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6</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Leptin이 발견되었을 때 비만 치료의 해답으로 기대되었다. 그러나 대부분의 비만 환자는 leptin이 </a:t>
            </a:r>
            <a:r>
              <a:rPr sz="1600" b="1" i="0">
                <a:solidFill>
                  <a:srgbClr val="11202B"/>
                </a:solidFill>
                <a:latin typeface="Malgun Gothic"/>
                <a:ea typeface="Malgun Gothic"/>
                <a:cs typeface="Malgun Gothic"/>
              </a:rPr>
              <a:t>부족한 것이 아니라 오히려 높다</a:t>
            </a:r>
            <a:r>
              <a:rPr sz="1600" b="0" i="0">
                <a:solidFill>
                  <a:srgbClr val="11202B"/>
                </a:solidFill>
                <a:latin typeface="Malgun Gothic"/>
                <a:ea typeface="Malgun Gothic"/>
                <a:cs typeface="Malgun Gothic"/>
              </a:rPr>
              <a:t>. 즉 leptin 저항 상태이며, 외부에서 더 주어도 효과가 거의 없다. Leptin 보충이 극적으로 듣는 것은 선천성 leptin 결핍이라는 매우 드문 경우뿐이다. 한편 장에서 나오는 포만 신호 쪽은 다른 결과를 낳았다. </a:t>
            </a:r>
            <a:r>
              <a:rPr sz="1600" b="1" i="0">
                <a:solidFill>
                  <a:srgbClr val="11202B"/>
                </a:solidFill>
                <a:latin typeface="Malgun Gothic"/>
                <a:ea typeface="Malgun Gothic"/>
                <a:cs typeface="Malgun Gothic"/>
              </a:rPr>
              <a:t>GLP-1 수용체 작용제</a:t>
            </a:r>
            <a:r>
              <a:rPr sz="1600" b="0" i="0">
                <a:solidFill>
                  <a:srgbClr val="11202B"/>
                </a:solidFill>
                <a:latin typeface="Malgun Gothic"/>
                <a:ea typeface="Malgun Gothic"/>
                <a:cs typeface="Malgun Gothic"/>
              </a:rPr>
              <a:t>가 식욕을 억제하고 위 배출을 늦춰 임상적으로 의미 있는 체중 감소를 만들어 냈고, 비만 치료의 판도를 바꾸었다. 같은 섭식 회로의 서로 다른 입력이 치료 표적으로서 전혀 다른 성적을 낸 사례다.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각성, 수면, 생체 리듬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일주기 리듬과 수면은 다른 것이다.</a:t>
            </a:r>
            <a:r>
              <a:rPr sz="1400" b="0" i="0">
                <a:solidFill>
                  <a:srgbClr val="11202B"/>
                </a:solidFill>
                <a:latin typeface="Malgun Gothic"/>
                <a:ea typeface="Malgun Gothic"/>
                <a:cs typeface="Malgun Gothic"/>
              </a:rPr>
              <a:t> 일주기 리듬은 약 24시간 주기의 내인성 진동이고, 수면은 그 위에 얹힌 행동 상태다. 둘은 상호작용하지만 독립적으로 조절된다.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생체 시계.</a:t>
            </a:r>
            <a:r>
              <a:rPr sz="1400" b="0" i="0">
                <a:solidFill>
                  <a:srgbClr val="11202B"/>
                </a:solidFill>
                <a:latin typeface="Malgun Gothic"/>
                <a:ea typeface="Malgun Gothic"/>
                <a:cs typeface="Malgun Gothic"/>
              </a:rPr>
              <a:t> 시상하부의 </a:t>
            </a:r>
            <a:r>
              <a:rPr sz="1400" b="1" i="0">
                <a:solidFill>
                  <a:srgbClr val="11202B"/>
                </a:solidFill>
                <a:latin typeface="Malgun Gothic"/>
                <a:ea typeface="Malgun Gothic"/>
                <a:cs typeface="Malgun Gothic"/>
              </a:rPr>
              <a:t>시교차상핵(SCN)</a:t>
            </a:r>
            <a:r>
              <a:rPr sz="1400" b="0" i="0">
                <a:solidFill>
                  <a:srgbClr val="11202B"/>
                </a:solidFill>
                <a:latin typeface="Malgun Gothic"/>
                <a:ea typeface="Malgun Gothic"/>
                <a:cs typeface="Malgun Gothic"/>
              </a:rPr>
              <a:t> 이 중추 시계다. 외부 신호가 없어도 약 24시간 주기로 진동하며, 망막에서 오는 빛 정보로 매일 위상을 맞춘다. 이 빛 정보는 간상세포나 원뿔세포가 아니라 </a:t>
            </a:r>
            <a:r>
              <a:rPr sz="1400" b="1" i="0">
                <a:solidFill>
                  <a:srgbClr val="11202B"/>
                </a:solidFill>
                <a:latin typeface="Malgun Gothic"/>
                <a:ea typeface="Malgun Gothic"/>
                <a:cs typeface="Malgun Gothic"/>
              </a:rPr>
              <a:t>멜라놉신을 가진 특수한 신경절세포</a:t>
            </a:r>
            <a:r>
              <a:rPr sz="1400" b="0" i="0">
                <a:solidFill>
                  <a:srgbClr val="11202B"/>
                </a:solidFill>
                <a:latin typeface="Malgun Gothic"/>
                <a:ea typeface="Malgun Gothic"/>
                <a:cs typeface="Malgun Gothic"/>
              </a:rPr>
              <a:t>가 전달하므로, 형태를 보는 시각을 잃은 사람도 리듬을 맞출 수 있는 경우가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분자 시계.</a:t>
            </a:r>
            <a:r>
              <a:rPr sz="1400" b="0" i="0">
                <a:solidFill>
                  <a:srgbClr val="11202B"/>
                </a:solidFill>
                <a:latin typeface="Malgun Gothic"/>
                <a:ea typeface="Malgun Gothic"/>
                <a:cs typeface="Malgun Gothic"/>
              </a:rPr>
              <a:t> 진동을 만드는 것은 전사–번역의 음성 되먹임 고리다. CLOCK과 BMAL1이 결합해 *Per*와 Cry 유전자의 전사를 켜고, 만들어진 PER과 CRY 단백질이 쌓여 핵으로 들어가 CLOCK–BMAL1을 억제한다. 억제로 자기 전사가 꺼지면 단백질이 분해되고, 억제가 풀려 다시 전사가 시작된다. 한 바퀴에 약 24시간이 걸린다. </a:t>
            </a:r>
            <a:r>
              <a:rPr sz="1400" b="1" i="0">
                <a:solidFill>
                  <a:srgbClr val="11202B"/>
                </a:solidFill>
                <a:latin typeface="Malgun Gothic"/>
                <a:ea typeface="Malgun Gothic"/>
                <a:cs typeface="Malgun Gothic"/>
              </a:rPr>
              <a:t>단백질의 합성과 분해에 걸리는 시간이 주기를 정한다</a:t>
            </a:r>
            <a:r>
              <a:rPr sz="1400" b="0" i="0">
                <a:solidFill>
                  <a:srgbClr val="11202B"/>
                </a:solidFill>
                <a:latin typeface="Malgun Gothic"/>
                <a:ea typeface="Malgun Gothic"/>
                <a:cs typeface="Malgun Gothic"/>
              </a:rPr>
              <a:t>는 점이 핵심이며, 분해 속도를 바꾸는 변이가 수면 위상을 앞당기거나 늦춘다.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중요한 것은 이 고리가 SCN에만 있지 않다는 점이다. 간, 근육, 지방을 비롯한 거의 모든 조직이 자기 시계를 가지며, SCN이 이들을 동기화한다. 식사 시각은 말초 시계를 SCN과 어긋나게 바꿀 수 있고, 이것이 교대 근무와 대사 질환의 연관을 설명하는 가설 가운데 하나다.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수면의 구조.</a:t>
            </a:r>
            <a:r>
              <a:rPr sz="1400" b="0" i="0">
                <a:solidFill>
                  <a:srgbClr val="11202B"/>
                </a:solidFill>
                <a:latin typeface="Malgun Gothic"/>
                <a:ea typeface="Malgun Gothic"/>
                <a:cs typeface="Malgun Gothic"/>
              </a:rPr>
              <a:t> 수면은 두 상태가 번갈아 나타난다. </a:t>
            </a:r>
            <a:r>
              <a:rPr sz="1400" b="1" i="0">
                <a:solidFill>
                  <a:srgbClr val="11202B"/>
                </a:solidFill>
                <a:latin typeface="Malgun Gothic"/>
                <a:ea typeface="Malgun Gothic"/>
                <a:cs typeface="Malgun Gothic"/>
              </a:rPr>
              <a:t>비렘수면</a:t>
            </a:r>
            <a:r>
              <a:rPr sz="1400" b="0" i="0">
                <a:solidFill>
                  <a:srgbClr val="11202B"/>
                </a:solidFill>
                <a:latin typeface="Malgun Gothic"/>
                <a:ea typeface="Malgun Gothic"/>
                <a:cs typeface="Malgun Gothic"/>
              </a:rPr>
              <a:t>은 깊이에 따라 단계가 나뉘고 서파가 특징이며, 성장호르몬 분비와 기억 공고화가 일어난다. </a:t>
            </a:r>
            <a:r>
              <a:rPr sz="1400" b="1" i="0">
                <a:solidFill>
                  <a:srgbClr val="11202B"/>
                </a:solidFill>
                <a:latin typeface="Malgun Gothic"/>
                <a:ea typeface="Malgun Gothic"/>
                <a:cs typeface="Malgun Gothic"/>
              </a:rPr>
              <a:t>렘수면</a:t>
            </a:r>
            <a:r>
              <a:rPr sz="1400" b="0" i="0">
                <a:solidFill>
                  <a:srgbClr val="11202B"/>
                </a:solidFill>
                <a:latin typeface="Malgun Gothic"/>
                <a:ea typeface="Malgun Gothic"/>
                <a:cs typeface="Malgun Gothic"/>
              </a:rPr>
              <a:t>은 뇌파가 각성과 비슷하고 꿈을 꾸며 </a:t>
            </a:r>
            <a:r>
              <a:rPr sz="1400" b="1" i="0">
                <a:solidFill>
                  <a:srgbClr val="11202B"/>
                </a:solidFill>
                <a:latin typeface="Malgun Gothic"/>
                <a:ea typeface="Malgun Gothic"/>
                <a:cs typeface="Malgun Gothic"/>
              </a:rPr>
              <a:t>골격근이 마비</a:t>
            </a:r>
            <a:r>
              <a:rPr sz="1400" b="0" i="0">
                <a:solidFill>
                  <a:srgbClr val="11202B"/>
                </a:solidFill>
                <a:latin typeface="Malgun Gothic"/>
                <a:ea typeface="Malgun Gothic"/>
                <a:cs typeface="Malgun Gothic"/>
              </a:rPr>
              <a:t>된다. 마비는 꿈 내용을 행동으로 옮기지 않게 하는 장치이며, 이 억제가 실패하면 렘수면 행동장애가 된다. 밤이 깊어질수록 비렘의 깊은 단계는 줄고 렘의 비중이 늘어난다.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각성, 수면, 생체 리듬</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8</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수면이 무엇을 위한 것인지는 여전히 완전히 답해지지 않았다. 에너지 절약, 기억 공고화, 시냅스 항상성, 노폐물 제거가 후보로 제시되었고 서로 배타적이지 않다. 2010년대에 주목받은 것은 </a:t>
            </a:r>
            <a:r>
              <a:rPr sz="1600" b="1" i="0">
                <a:solidFill>
                  <a:srgbClr val="11202B"/>
                </a:solidFill>
                <a:latin typeface="Malgun Gothic"/>
                <a:ea typeface="Malgun Gothic"/>
                <a:cs typeface="Malgun Gothic"/>
              </a:rPr>
              <a:t>글림프 경로</a:t>
            </a:r>
            <a:r>
              <a:rPr sz="1600" b="0" i="0">
                <a:solidFill>
                  <a:srgbClr val="11202B"/>
                </a:solidFill>
                <a:latin typeface="Malgun Gothic"/>
                <a:ea typeface="Malgun Gothic"/>
                <a:cs typeface="Malgun Gothic"/>
              </a:rPr>
              <a:t> 가설로, 수면 중 뇌의 세포외 공간이 넓어져 뇌척수액이 더 잘 흐르고 아밀로이드 베타를 포함한 대사 노폐물이 씻겨 나간다는 관찰이다. 수면 부족이 알츠하이머병 위험과 연관된다는 역학 자료와 맞물려 큰 관심을 끌었으나, 세척 효율의 측정 방법과 사람에서의 재현을 두고 논쟁이 이어지고 있다. 시냅스 항상성 가설은 깨어 있는 동안 강해진 시냅스를 수면 중에 전반적으로 약화시켜 신호 대 잡음비를 회복한다고 본다. 두 가설은 측정 가능한 예측이 다르므로 앞으로 몇 년 안에 가려질 가능성이 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학습과 기억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학습은 경험이 행동을 바꾸는 것이고, 기억은 그 변화가 저장되는 것이다. 형태를 단순한 것부터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비연합 학습.</a:t>
            </a:r>
            <a:r>
              <a:rPr sz="1400" b="0" i="0">
                <a:solidFill>
                  <a:srgbClr val="11202B"/>
                </a:solidFill>
                <a:latin typeface="Malgun Gothic"/>
                <a:ea typeface="Malgun Gothic"/>
                <a:cs typeface="Malgun Gothic"/>
              </a:rPr>
              <a:t> 자극 하나에 대한 반응이 변한다.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습관화</a:t>
            </a:r>
            <a:r>
              <a:rPr sz="1400" b="0" i="0">
                <a:solidFill>
                  <a:srgbClr val="11202B"/>
                </a:solidFill>
                <a:latin typeface="Malgun Gothic"/>
                <a:ea typeface="Malgun Gothic"/>
                <a:cs typeface="Malgun Gothic"/>
              </a:rPr>
              <a:t>: 해롭지 않은 자극이 반복되면 반응이 줄어든다. 중요하지 않은 것을 무시하는 능력이며, 이것이 없으면 모든 자극에 반응하느라 아무 일도 못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민감화</a:t>
            </a:r>
            <a:r>
              <a:rPr sz="1400" b="0" i="0">
                <a:solidFill>
                  <a:srgbClr val="11202B"/>
                </a:solidFill>
                <a:latin typeface="Malgun Gothic"/>
                <a:ea typeface="Malgun Gothic"/>
                <a:cs typeface="Malgun Gothic"/>
              </a:rPr>
              <a:t>: 강한 자극을 겪은 뒤 다른 자극에 대한 반응까지 커진다.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연합 학습.</a:t>
            </a:r>
            <a:r>
              <a:rPr sz="1400" b="0" i="0">
                <a:solidFill>
                  <a:srgbClr val="11202B"/>
                </a:solidFill>
                <a:latin typeface="Malgun Gothic"/>
                <a:ea typeface="Malgun Gothic"/>
                <a:cs typeface="Malgun Gothic"/>
              </a:rPr>
              <a:t> 두 사건의 관계를 배운다.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고전적 조건화</a:t>
            </a:r>
            <a:r>
              <a:rPr sz="1400" b="0" i="0">
                <a:solidFill>
                  <a:srgbClr val="11202B"/>
                </a:solidFill>
                <a:latin typeface="Malgun Gothic"/>
                <a:ea typeface="Malgun Gothic"/>
                <a:cs typeface="Malgun Gothic"/>
              </a:rPr>
              <a:t>: 중립 자극이 의미 있는 자극과 짝지어져 반응을 일으키게 된다. 중요한 것은 </a:t>
            </a:r>
            <a:r>
              <a:rPr sz="1400" b="1" i="0">
                <a:solidFill>
                  <a:srgbClr val="11202B"/>
                </a:solidFill>
                <a:latin typeface="Malgun Gothic"/>
                <a:ea typeface="Malgun Gothic"/>
                <a:cs typeface="Malgun Gothic"/>
              </a:rPr>
              <a:t>단순한 동시 발생이 아니라 예측력</a:t>
            </a:r>
            <a:r>
              <a:rPr sz="1400" b="0" i="0">
                <a:solidFill>
                  <a:srgbClr val="11202B"/>
                </a:solidFill>
                <a:latin typeface="Malgun Gothic"/>
                <a:ea typeface="Malgun Gothic"/>
                <a:cs typeface="Malgun Gothic"/>
              </a:rPr>
              <a:t>이다. 중립 자극이 의미 있는 자극을 예측할 때만 학습이 일어나며, 이미 다른 자극이 그것을 예측하고 있으면 새 자극은 학습되지 않는다(차단 현상). 학습의 신호가 </a:t>
            </a:r>
            <a:r>
              <a:rPr sz="1400" b="1" i="0">
                <a:solidFill>
                  <a:srgbClr val="11202B"/>
                </a:solidFill>
                <a:latin typeface="Malgun Gothic"/>
                <a:ea typeface="Malgun Gothic"/>
                <a:cs typeface="Malgun Gothic"/>
              </a:rPr>
              <a:t>예측 오차</a:t>
            </a:r>
            <a:r>
              <a:rPr sz="1400" b="0" i="0">
                <a:solidFill>
                  <a:srgbClr val="11202B"/>
                </a:solidFill>
                <a:latin typeface="Malgun Gothic"/>
                <a:ea typeface="Malgun Gothic"/>
                <a:cs typeface="Malgun Gothic"/>
              </a:rPr>
              <a:t>라는 생각이 여기서 나왔다.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조작적 조건화</a:t>
            </a:r>
            <a:r>
              <a:rPr sz="1400" b="0" i="0">
                <a:solidFill>
                  <a:srgbClr val="11202B"/>
                </a:solidFill>
                <a:latin typeface="Malgun Gothic"/>
                <a:ea typeface="Malgun Gothic"/>
                <a:cs typeface="Malgun Gothic"/>
              </a:rPr>
              <a:t>: 자기 행동의 결과를 배운다. 결과가 좋으면 그 행동이 늘고 나쁘면 줄어든다.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기억의 단계.</a:t>
            </a:r>
            <a:r>
              <a:rPr sz="1400" b="0" i="0">
                <a:solidFill>
                  <a:srgbClr val="11202B"/>
                </a:solidFill>
                <a:latin typeface="Malgun Gothic"/>
                <a:ea typeface="Malgun Gothic"/>
                <a:cs typeface="Malgun Gothic"/>
              </a:rPr>
              <a:t> 기억은 세 단계로 나뉜다. </a:t>
            </a:r>
            <a:r>
              <a:rPr sz="1400" b="1" i="0">
                <a:solidFill>
                  <a:srgbClr val="11202B"/>
                </a:solidFill>
                <a:latin typeface="Malgun Gothic"/>
                <a:ea typeface="Malgun Gothic"/>
                <a:cs typeface="Malgun Gothic"/>
              </a:rPr>
              <a:t>부호화</a:t>
            </a:r>
            <a:r>
              <a:rPr sz="1400" b="0" i="0">
                <a:solidFill>
                  <a:srgbClr val="11202B"/>
                </a:solidFill>
                <a:latin typeface="Malgun Gothic"/>
                <a:ea typeface="Malgun Gothic"/>
                <a:cs typeface="Malgun Gothic"/>
              </a:rPr>
              <a:t>는 정보를 처리해 흔적을 만드는 것이고, </a:t>
            </a:r>
            <a:r>
              <a:rPr sz="1400" b="1" i="0">
                <a:solidFill>
                  <a:srgbClr val="11202B"/>
                </a:solidFill>
                <a:latin typeface="Malgun Gothic"/>
                <a:ea typeface="Malgun Gothic"/>
                <a:cs typeface="Malgun Gothic"/>
              </a:rPr>
              <a:t>공고화</a:t>
            </a:r>
            <a:r>
              <a:rPr sz="1400" b="0" i="0">
                <a:solidFill>
                  <a:srgbClr val="11202B"/>
                </a:solidFill>
                <a:latin typeface="Malgun Gothic"/>
                <a:ea typeface="Malgun Gothic"/>
                <a:cs typeface="Malgun Gothic"/>
              </a:rPr>
              <a:t>는 그 흔적을 안정한 형태로 바꾸는 것이며, </a:t>
            </a:r>
            <a:r>
              <a:rPr sz="1400" b="1" i="0">
                <a:solidFill>
                  <a:srgbClr val="11202B"/>
                </a:solidFill>
                <a:latin typeface="Malgun Gothic"/>
                <a:ea typeface="Malgun Gothic"/>
                <a:cs typeface="Malgun Gothic"/>
              </a:rPr>
              <a:t>인출</a:t>
            </a:r>
            <a:r>
              <a:rPr sz="1400" b="0" i="0">
                <a:solidFill>
                  <a:srgbClr val="11202B"/>
                </a:solidFill>
                <a:latin typeface="Malgun Gothic"/>
                <a:ea typeface="Malgun Gothic"/>
                <a:cs typeface="Malgun Gothic"/>
              </a:rPr>
              <a:t>은 꺼내 쓰는 것이다. 단계를 나누는 것이 중요한 이유는 기억 장애가 어느 단계의 문제인지에 따라 양상이 다르기 때문이다. 주의가 흐트러져 부호화가 안 된 것은 처음부터 저장되지 않았고, 인출의 문제라면 단서를 주면 떠오른다.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공고화는 즉시 끝나지 않는다. 학습 직후 몇 시간 동안 기억은 방해에 취약하며, 이 기간에 단백질 합성을 막으면 장기 기억이 형성되지 않는다. 흥미롭게도 이미 굳어진 기억도 </a:t>
            </a:r>
            <a:r>
              <a:rPr sz="1400" b="1" i="0">
                <a:solidFill>
                  <a:srgbClr val="11202B"/>
                </a:solidFill>
                <a:latin typeface="Malgun Gothic"/>
                <a:ea typeface="Malgun Gothic"/>
                <a:cs typeface="Malgun Gothic"/>
              </a:rPr>
              <a:t>인출되면 다시 불안정해졌다가 재공고화</a:t>
            </a:r>
            <a:r>
              <a:rPr sz="1400" b="0" i="0">
                <a:solidFill>
                  <a:srgbClr val="11202B"/>
                </a:solidFill>
                <a:latin typeface="Malgun Gothic"/>
                <a:ea typeface="Malgun Gothic"/>
                <a:cs typeface="Malgun Gothic"/>
              </a:rPr>
              <a:t>된다. 이 성질은 기억이 꺼낼 때마다 조금씩 바뀔 수 있다는 뜻이며, 목격자 증언의 신뢰성 문제와 외상 기억의 치료적 개입 가능성이 모두 여기서 나온다.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기억의 종류.</a:t>
            </a:r>
            <a:r>
              <a:rPr sz="1400" b="0" i="0">
                <a:solidFill>
                  <a:srgbClr val="11202B"/>
                </a:solidFill>
                <a:latin typeface="Malgun Gothic"/>
                <a:ea typeface="Malgun Gothic"/>
                <a:cs typeface="Malgun Gothic"/>
              </a:rPr>
              <a:t> 기억은 하나의 체계가 아니다.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서술 기억(외현)</a:t>
            </a:r>
            <a:r>
              <a:rPr sz="1400" b="0" i="0">
                <a:solidFill>
                  <a:srgbClr val="11202B"/>
                </a:solidFill>
                <a:latin typeface="Malgun Gothic"/>
                <a:ea typeface="Malgun Gothic"/>
                <a:cs typeface="Malgun Gothic"/>
              </a:rPr>
              <a:t>: 사실과 사건. 의식적으로 꺼낼 수 있다. </a:t>
            </a:r>
            <a:r>
              <a:rPr sz="1400" b="1" i="0">
                <a:solidFill>
                  <a:srgbClr val="11202B"/>
                </a:solidFill>
                <a:latin typeface="Malgun Gothic"/>
                <a:ea typeface="Malgun Gothic"/>
                <a:cs typeface="Malgun Gothic"/>
              </a:rPr>
              <a:t>해마</a:t>
            </a:r>
            <a:r>
              <a:rPr sz="1400" b="0" i="0">
                <a:solidFill>
                  <a:srgbClr val="11202B"/>
                </a:solidFill>
                <a:latin typeface="Malgun Gothic"/>
                <a:ea typeface="Malgun Gothic"/>
                <a:cs typeface="Malgun Gothic"/>
              </a:rPr>
              <a:t>가 형성에 필수적이다.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비서술 기억(암묵)</a:t>
            </a:r>
            <a:r>
              <a:rPr sz="1400" b="0" i="0">
                <a:solidFill>
                  <a:srgbClr val="11202B"/>
                </a:solidFill>
                <a:latin typeface="Malgun Gothic"/>
                <a:ea typeface="Malgun Gothic"/>
                <a:cs typeface="Malgun Gothic"/>
              </a:rPr>
              <a:t>: 기술, 습관, 조건화된 반응. 의식적으로 꺼내지 않는다. 기저핵과 소뇌, 편도체가 관여한다.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체계가 분리되어 있다는 근거는 환자에서 나왔다. 해마를 양측으로 절제한 환자가 새로운 사실을 전혀 기억하지 못하면서도 운동 기술은 정상적으로 학습했고, 어제 연습한 것을 기억하지 못하면서 실력은 매일 향상되었다. 하나의 사례가 기억 체계의 이중 해리를 보인 고전적 관찰이다.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시냅스 가소성.</a:t>
            </a:r>
            <a:r>
              <a:rPr sz="1400" b="0" i="0">
                <a:solidFill>
                  <a:srgbClr val="11202B"/>
                </a:solidFill>
                <a:latin typeface="Malgun Gothic"/>
                <a:ea typeface="Malgun Gothic"/>
                <a:cs typeface="Malgun Gothic"/>
              </a:rPr>
              <a:t> 기억의 물리적 기초로 가장 유력한 것은 시냅스 강도의 변화다. 해마에서 강한 자극 뒤 시냅스 전달이 오래 강화되는 현상을 </a:t>
            </a:r>
            <a:r>
              <a:rPr sz="1400" b="1" i="0">
                <a:solidFill>
                  <a:srgbClr val="11202B"/>
                </a:solidFill>
                <a:latin typeface="Malgun Gothic"/>
                <a:ea typeface="Malgun Gothic"/>
                <a:cs typeface="Malgun Gothic"/>
              </a:rPr>
              <a:t>장기 강화(LTP)</a:t>
            </a:r>
            <a:r>
              <a:rPr sz="1400" b="0" i="0">
                <a:solidFill>
                  <a:srgbClr val="11202B"/>
                </a:solidFill>
                <a:latin typeface="Malgun Gothic"/>
                <a:ea typeface="Malgun Gothic"/>
                <a:cs typeface="Malgun Gothic"/>
              </a:rPr>
              <a:t> 라 한다. 핵심 기전은 NMDA 수용체의 성질에 있다. 이 수용체는 평소 Mg²⁺로 막혀 있어 전달물질이 결합해도 열리지 않고, 시냅스 후막이 이미 탈분극되어 있을 때만 Mg²⁺이 빠져 Ca²⁺이 들어온다. 즉 </a:t>
            </a:r>
            <a:r>
              <a:rPr sz="1400" b="1" i="0">
                <a:solidFill>
                  <a:srgbClr val="11202B"/>
                </a:solidFill>
                <a:latin typeface="Malgun Gothic"/>
                <a:ea typeface="Malgun Gothic"/>
                <a:cs typeface="Malgun Gothic"/>
              </a:rPr>
              <a:t>전 세포의 활동과 후 세포의 활동이 함께 있어야</a:t>
            </a:r>
            <a:r>
              <a:rPr sz="1400" b="0" i="0">
                <a:solidFill>
                  <a:srgbClr val="11202B"/>
                </a:solidFill>
                <a:latin typeface="Malgun Gothic"/>
                <a:ea typeface="Malgun Gothic"/>
                <a:cs typeface="Malgun Gothic"/>
              </a:rPr>
              <a:t> 작동하는 일치 검출기다. 들어온 Ca²⁺이 AMPA 수용체를 막으로 더 삽입해 시냅스가 강해진다. 장기적으로 유지되려면 새로운 단백질 합성이 필요하다.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11   </a:t>
            </a:r>
            <a:r>
              <a:rPr sz="2400" b="1" i="0">
                <a:solidFill>
                  <a:srgbClr val="FFFFFF"/>
                </a:solidFill>
                <a:latin typeface="Malgun Gothic"/>
                <a:ea typeface="Malgun Gothic"/>
                <a:cs typeface="Malgun Gothic"/>
              </a:rPr>
              <a:t>11. 학습과 기억</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10</a:t>
            </a:r>
          </a:p>
        </p:txBody>
      </p:sp>
      <p:sp>
        <p:nvSpPr>
          <p:cNvPr id="7" name="Rectangle 6"/>
          <p:cNvSpPr/>
          <p:nvPr/>
        </p:nvSpPr>
        <p:spPr>
          <a:xfrm>
            <a:off x="640080" y="1325880"/>
            <a:ext cx="10881360" cy="2270759"/>
          </a:xfrm>
          <a:prstGeom prst="rect">
            <a:avLst/>
          </a:prstGeom>
          <a:solidFill>
            <a:srgbClr val="ECF6E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1E6B2C"/>
                </a:solidFill>
                <a:latin typeface="Malgun Gothic"/>
                <a:ea typeface="Malgun Gothic"/>
                <a:cs typeface="Malgun Gothic"/>
              </a:rPr>
              <a:t>시험에서 가려내는 지점   </a:t>
            </a:r>
            <a:r>
              <a:rPr sz="1600" b="1" i="0">
                <a:solidFill>
                  <a:srgbClr val="11202B"/>
                </a:solidFill>
                <a:latin typeface="Malgun Gothic"/>
                <a:ea typeface="Malgun Gothic"/>
                <a:cs typeface="Malgun Gothic"/>
              </a:rPr>
              <a:t>시험에서 가려내는 지점</a:t>
            </a:r>
            <a:r>
              <a:rPr sz="1600" b="0" i="0">
                <a:solidFill>
                  <a:srgbClr val="11202B"/>
                </a:solidFill>
                <a:latin typeface="Malgun Gothic"/>
                <a:ea typeface="Malgun Gothic"/>
                <a:cs typeface="Malgun Gothic"/>
              </a:rPr>
              <a:t> 기억 상실의 양상이 병변을 가린다. </a:t>
            </a:r>
            <a:r>
              <a:rPr sz="1600" b="1" i="0">
                <a:solidFill>
                  <a:srgbClr val="11202B"/>
                </a:solidFill>
                <a:latin typeface="Malgun Gothic"/>
                <a:ea typeface="Malgun Gothic"/>
                <a:cs typeface="Malgun Gothic"/>
              </a:rPr>
              <a:t>전향 기억상실</a:t>
            </a:r>
            <a:r>
              <a:rPr sz="1600" b="0" i="0">
                <a:solidFill>
                  <a:srgbClr val="11202B"/>
                </a:solidFill>
                <a:latin typeface="Malgun Gothic"/>
                <a:ea typeface="Malgun Gothic"/>
                <a:cs typeface="Malgun Gothic"/>
              </a:rPr>
              <a:t>은 사건 이후의 새 기억을 만들지 못하는 것으로 해마와 내측 측두엽 손상에서 나타난다. </a:t>
            </a:r>
            <a:r>
              <a:rPr sz="1600" b="1" i="0">
                <a:solidFill>
                  <a:srgbClr val="11202B"/>
                </a:solidFill>
                <a:latin typeface="Malgun Gothic"/>
                <a:ea typeface="Malgun Gothic"/>
                <a:cs typeface="Malgun Gothic"/>
              </a:rPr>
              <a:t>후향 기억상실</a:t>
            </a:r>
            <a:r>
              <a:rPr sz="1600" b="0" i="0">
                <a:solidFill>
                  <a:srgbClr val="11202B"/>
                </a:solidFill>
                <a:latin typeface="Malgun Gothic"/>
                <a:ea typeface="Malgun Gothic"/>
                <a:cs typeface="Malgun Gothic"/>
              </a:rPr>
              <a:t>은 사건 이전의 기억을 잃는 것이다. 해마 손상에서는 전향 기억상실이 뚜렷하면서 오래된 기억은 비교적 보존되는데, 기억이 시간이 지나며 대뇌겉질로 옮겨 가 해마에 덜 의존하게 되기 때문으로 설명된다. </a:t>
            </a:r>
            <a:r>
              <a:rPr sz="1600" b="1" i="0">
                <a:solidFill>
                  <a:srgbClr val="11202B"/>
                </a:solidFill>
                <a:latin typeface="Malgun Gothic"/>
                <a:ea typeface="Malgun Gothic"/>
                <a:cs typeface="Malgun Gothic"/>
              </a:rPr>
              <a:t>Korsakoff 증후군</a:t>
            </a:r>
            <a:r>
              <a:rPr sz="1600" b="0" i="0">
                <a:solidFill>
                  <a:srgbClr val="11202B"/>
                </a:solidFill>
                <a:latin typeface="Malgun Gothic"/>
                <a:ea typeface="Malgun Gothic"/>
                <a:cs typeface="Malgun Gothic"/>
              </a:rPr>
              <a:t>은 thiamine 결핍으로 유두체와 시상 등이 손상되어 전향·후향 기억상실과 작화증이 함께 나타나며, 알코올 사용 장애에서 흔하다. 포도당을 주기 전에 thiamine을 먼저 투여해야 하는 이유가 여기에 있다. 포도당 대사가 thiamine을 소모해 증상을 악화시킬 수 있기 때문이다.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본능과 학습 — 어떻게 나누어지는가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"유전인가 환경인가"는 잘못 세워진 질문이다. 모든 행동에는 둘이 다 관여한다. 생산적인 질문은 </a:t>
            </a:r>
            <a:r>
              <a:rPr sz="1600" b="1" i="0">
                <a:solidFill>
                  <a:srgbClr val="11202B"/>
                </a:solidFill>
                <a:latin typeface="Malgun Gothic"/>
                <a:ea typeface="Malgun Gothic"/>
                <a:cs typeface="Malgun Gothic"/>
              </a:rPr>
              <a:t>무엇이 미리 정해져 있고 무엇이 경험으로 채워지는가</a:t>
            </a:r>
            <a:r>
              <a:rPr sz="1600" b="0" i="0">
                <a:solidFill>
                  <a:srgbClr val="11202B"/>
                </a:solidFill>
                <a:latin typeface="Malgun Gothic"/>
                <a:ea typeface="Malgun Gothic"/>
                <a:cs typeface="Malgun Gothic"/>
              </a:rPr>
              <a:t>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정형 행동 양식.</a:t>
            </a:r>
            <a:r>
              <a:rPr sz="1600" b="0" i="0">
                <a:solidFill>
                  <a:srgbClr val="11202B"/>
                </a:solidFill>
                <a:latin typeface="Malgun Gothic"/>
                <a:ea typeface="Malgun Gothic"/>
                <a:cs typeface="Malgun Gothic"/>
              </a:rPr>
              <a:t> 일부 행동은 특정 자극에 대해 거의 변하지 않는 형태로 나타난다. 자극이 시작되면 중간에 멈추지 않고 끝까지 진행되는 것이 특징이다. 갈매기 새끼가 어미 부리의 붉은 점을 쪼는 행동, 거위가 둥지 밖으로 나간 알을 부리로 굴려 넣는 행동이 고전적인 예다. 이런 행동을 유발하는 자극의 특징을 </a:t>
            </a:r>
            <a:r>
              <a:rPr sz="1600" b="1" i="0">
                <a:solidFill>
                  <a:srgbClr val="11202B"/>
                </a:solidFill>
                <a:latin typeface="Malgun Gothic"/>
                <a:ea typeface="Malgun Gothic"/>
                <a:cs typeface="Malgun Gothic"/>
              </a:rPr>
              <a:t>신호 자극</a:t>
            </a:r>
            <a:r>
              <a:rPr sz="1600" b="0" i="0">
                <a:solidFill>
                  <a:srgbClr val="11202B"/>
                </a:solidFill>
                <a:latin typeface="Malgun Gothic"/>
                <a:ea typeface="Malgun Gothic"/>
                <a:cs typeface="Malgun Gothic"/>
              </a:rPr>
              <a:t>이라 한다.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각인과 결정적 시기.</a:t>
            </a:r>
            <a:r>
              <a:rPr sz="1600" b="0" i="0">
                <a:solidFill>
                  <a:srgbClr val="11202B"/>
                </a:solidFill>
                <a:latin typeface="Malgun Gothic"/>
                <a:ea typeface="Malgun Gothic"/>
                <a:cs typeface="Malgun Gothic"/>
              </a:rPr>
              <a:t> 갓 부화한 새가 처음 본 움직이는 대상을 따라다니게 되는 현상이 각인이다. 두 가지가 중요하다. 첫째, 학습 </a:t>
            </a:r>
            <a:r>
              <a:rPr sz="1600" b="1" i="0">
                <a:solidFill>
                  <a:srgbClr val="11202B"/>
                </a:solidFill>
                <a:latin typeface="Malgun Gothic"/>
                <a:ea typeface="Malgun Gothic"/>
                <a:cs typeface="Malgun Gothic"/>
              </a:rPr>
              <a:t>능력</a:t>
            </a:r>
            <a:r>
              <a:rPr sz="1600" b="0" i="0">
                <a:solidFill>
                  <a:srgbClr val="11202B"/>
                </a:solidFill>
                <a:latin typeface="Malgun Gothic"/>
                <a:ea typeface="Malgun Gothic"/>
                <a:cs typeface="Malgun Gothic"/>
              </a:rPr>
              <a:t>은 타고나지만 학습 </a:t>
            </a:r>
            <a:r>
              <a:rPr sz="1600" b="1" i="0">
                <a:solidFill>
                  <a:srgbClr val="11202B"/>
                </a:solidFill>
                <a:latin typeface="Malgun Gothic"/>
                <a:ea typeface="Malgun Gothic"/>
                <a:cs typeface="Malgun Gothic"/>
              </a:rPr>
              <a:t>내용</a:t>
            </a:r>
            <a:r>
              <a:rPr sz="1600" b="0" i="0">
                <a:solidFill>
                  <a:srgbClr val="11202B"/>
                </a:solidFill>
                <a:latin typeface="Malgun Gothic"/>
                <a:ea typeface="Malgun Gothic"/>
                <a:cs typeface="Malgun Gothic"/>
              </a:rPr>
              <a:t>은 경험이 채운다. 둘째, 학습이 일어날 수 있는 시기가 제한되어 있다(결정적 시기 또는 민감기).</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결정적 시기는 사람에서도 확인된다. 한쪽 눈이 가려진 채 발달 초기를 보내면 그 눈에 대응하는 겉질 영역이 제대로 발달하지 않아, 나중에 가림을 풀어도 시력이 회복되지 않는다. 소아 백내장과 사시를 </a:t>
            </a:r>
            <a:r>
              <a:rPr sz="1600" b="1" i="0">
                <a:solidFill>
                  <a:srgbClr val="11202B"/>
                </a:solidFill>
                <a:latin typeface="Malgun Gothic"/>
                <a:ea typeface="Malgun Gothic"/>
                <a:cs typeface="Malgun Gothic"/>
              </a:rPr>
              <a:t>조기에</a:t>
            </a:r>
            <a:r>
              <a:rPr sz="1600" b="0" i="0">
                <a:solidFill>
                  <a:srgbClr val="11202B"/>
                </a:solidFill>
                <a:latin typeface="Malgun Gothic"/>
                <a:ea typeface="Malgun Gothic"/>
                <a:cs typeface="Malgun Gothic"/>
              </a:rPr>
              <a:t> 교정해야 하는 이유가 여기에 있다. 같은 손상이 성인에게 생기면 겉질은 그대로 남는다.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본능과 학습 — 어떻게 나누어지는가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12</a:t>
            </a:r>
          </a:p>
        </p:txBody>
      </p:sp>
      <p:sp>
        <p:nvSpPr>
          <p:cNvPr id="7" name="Rectangle 6"/>
          <p:cNvSpPr/>
          <p:nvPr/>
        </p:nvSpPr>
        <p:spPr>
          <a:xfrm>
            <a:off x="640080" y="1325880"/>
            <a:ext cx="10881360" cy="1976120"/>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결정적 시기가 왜 닫히는가, 그리고 다시 열 수 있는가가 활발한 연구 주제다. 시기가 닫히는 데는 억제성 신경회로의 성숙과 신경주위그물이라는 세포외기질 구조의 형성이 관여한다고 알려졌다. 동물 실험에서 이 구조를 효소로 분해하거나 억제 신경 전달을 조절하면 성체에서도 가소성이 부분적으로 회복되었고, 일부 약물과 풍부한 환경 자극이 비슷한 효과를 냈다. 사람에서 약시 치료에 응용하려는 시도가 있으나 아직 초기 단계이며, 가소성을 다시 열면 원치 않는 재편까지 일어날 수 있다는 우려가 함께 제기된다. 이 주제는 M04-W07-L03의 시냅스 가소성과 이어진다.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12   </a:t>
            </a:r>
            <a:r>
              <a:rPr sz="2400" b="1" i="0">
                <a:solidFill>
                  <a:srgbClr val="FFFFFF"/>
                </a:solidFill>
                <a:latin typeface="Malgun Gothic"/>
                <a:ea typeface="Malgun Gothic"/>
                <a:cs typeface="Malgun Gothic"/>
              </a:rPr>
              <a:t>12. 본능과 학습 — 어떻게 나누어지는가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유전율의 오해.</a:t>
            </a:r>
            <a:r>
              <a:rPr sz="1800" b="0" i="0">
                <a:solidFill>
                  <a:srgbClr val="11202B"/>
                </a:solidFill>
                <a:latin typeface="Malgun Gothic"/>
                <a:ea typeface="Malgun Gothic"/>
                <a:cs typeface="Malgun Gothic"/>
              </a:rPr>
              <a:t> 쌍둥이 연구에서 어떤 형질의 유전율이 0.5라고 할 때, 이는 "그 사람 형질의 절반이 유전자 때문"이라는 뜻이 </a:t>
            </a:r>
            <a:r>
              <a:rPr sz="1800" b="1" i="0">
                <a:solidFill>
                  <a:srgbClr val="11202B"/>
                </a:solidFill>
                <a:latin typeface="Malgun Gothic"/>
                <a:ea typeface="Malgun Gothic"/>
                <a:cs typeface="Malgun Gothic"/>
              </a:rPr>
              <a:t>아니다</a:t>
            </a:r>
            <a:r>
              <a:rPr sz="1800" b="0" i="0">
                <a:solidFill>
                  <a:srgbClr val="11202B"/>
                </a:solidFill>
                <a:latin typeface="Malgun Gothic"/>
                <a:ea typeface="Malgun Gothic"/>
                <a:cs typeface="Malgun Gothic"/>
              </a:rPr>
              <a:t>. 특정 집단에서 관찰된 </a:t>
            </a:r>
            <a:r>
              <a:rPr sz="1800" b="1" i="0">
                <a:solidFill>
                  <a:srgbClr val="11202B"/>
                </a:solidFill>
                <a:latin typeface="Malgun Gothic"/>
                <a:ea typeface="Malgun Gothic"/>
                <a:cs typeface="Malgun Gothic"/>
              </a:rPr>
              <a:t>변이의 절반이 유전적 변이로 설명된다</a:t>
            </a:r>
            <a:r>
              <a:rPr sz="1800" b="0" i="0">
                <a:solidFill>
                  <a:srgbClr val="11202B"/>
                </a:solidFill>
                <a:latin typeface="Malgun Gothic"/>
                <a:ea typeface="Malgun Gothic"/>
                <a:cs typeface="Malgun Gothic"/>
              </a:rPr>
              <a:t>는 뜻이며, 집단과 환경이 달라지면 값도 달라진다. 환경이 모두에게 균일한 집단에서는 남은 변이가 주로 유전적이므로 유전율이 높게 나온다. 유전율이 높다는 것이 개입이 소용없다는 뜻도 아니다. 페닐케톤뇨증은 유전적 원인이 분명하지만 식이 조절로 결과를 바꿀 수 있다(M02-W11-L01).</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사회 행동과 그 진화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동물이 왜 서로 돕는가는 자연선택의 관점에서 설명이 필요한 문제다. 자기 번식을 줄이면서 남을 돕는 행동은 언뜻 선택에 불리해 보이기 때문이다. 세 가지 설명이 제시되었고, 각각 검증 가능한 예측을 가진다.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혈연 선택.</a:t>
            </a:r>
            <a:r>
              <a:rPr sz="1400" b="0" i="0">
                <a:solidFill>
                  <a:srgbClr val="11202B"/>
                </a:solidFill>
                <a:latin typeface="Malgun Gothic"/>
                <a:ea typeface="Malgun Gothic"/>
                <a:cs typeface="Malgun Gothic"/>
              </a:rPr>
              <a:t> 유전자의 관점에서 보면 자기 자손이든 유전자를 공유한 친척의 자손이든 유전자가 전해지는 것은 같다. 도움의 이익에 혈연도를 곱한 값이 비용보다 크면 이타 행동이 선택될 수 있다. 예측은 분명하다. </a:t>
            </a:r>
            <a:r>
              <a:rPr sz="1400" b="1" i="0">
                <a:solidFill>
                  <a:srgbClr val="11202B"/>
                </a:solidFill>
                <a:latin typeface="Malgun Gothic"/>
                <a:ea typeface="Malgun Gothic"/>
                <a:cs typeface="Malgun Gothic"/>
              </a:rPr>
              <a:t>이타 행동은 혈연 사이에서 더 자주 나타나야 한다.</a:t>
            </a:r>
            <a:r>
              <a:rPr sz="1400" b="0" i="0">
                <a:solidFill>
                  <a:srgbClr val="11202B"/>
                </a:solidFill>
                <a:latin typeface="Malgun Gothic"/>
                <a:ea typeface="Malgun Gothic"/>
                <a:cs typeface="Malgun Gothic"/>
              </a:rPr>
              <a:t> 일벌이 자기 번식을 포기하고 여왕을 돕는 것, 포식자를 발견한 땅다람쥐가 자기 위험을 무릅쓰고 경고음을 내는 빈도가 주변에 친척이 많을 때 높아지는 것이 이에 부합한다.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호혜.</a:t>
            </a:r>
            <a:r>
              <a:rPr sz="1400" b="0" i="0">
                <a:solidFill>
                  <a:srgbClr val="11202B"/>
                </a:solidFill>
                <a:latin typeface="Malgun Gothic"/>
                <a:ea typeface="Malgun Gothic"/>
                <a:cs typeface="Malgun Gothic"/>
              </a:rPr>
              <a:t> 지금 도우면 나중에 보답받을 수 있을 때 협력이 유지된다. 성립하려면 세 조건이 필요하다. 반복해서 만날 것, 상대를 알아볼 것, 배신을 기억하고 되갚을 수 있을 것이다. 흡혈박쥐가 사냥에 실패한 동료에게 피를 나눠 주고, 과거에 나눠 준 적 있는 개체에게 우선 받는 것이 관찰되었다.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집단 안의 이익.</a:t>
            </a:r>
            <a:r>
              <a:rPr sz="1400" b="0" i="0">
                <a:solidFill>
                  <a:srgbClr val="11202B"/>
                </a:solidFill>
                <a:latin typeface="Malgun Gothic"/>
                <a:ea typeface="Malgun Gothic"/>
                <a:cs typeface="Malgun Gothic"/>
              </a:rPr>
              <a:t> 무리 짓기 자체가 개체에 이익이 되는 경우다. 포식 위험의 희석, 경계의 분담, 사냥 효율의 증가가 그 예다. 이타 행동이 아니라 각자의 이익이 겹친 결과다.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신호와 의사소통.</a:t>
            </a:r>
            <a:r>
              <a:rPr sz="1400" b="0" i="0">
                <a:solidFill>
                  <a:srgbClr val="11202B"/>
                </a:solidFill>
                <a:latin typeface="Malgun Gothic"/>
                <a:ea typeface="Malgun Gothic"/>
                <a:cs typeface="Malgun Gothic"/>
              </a:rPr>
              <a:t> 신호가 유지되려면 보내는 쪽과 받는 쪽 모두에 이익이 있어야 한다. 거짓 신호가 가능하면 신호 체계가 무너지므로, 많은 신호가 </a:t>
            </a:r>
            <a:r>
              <a:rPr sz="1400" b="1" i="0">
                <a:solidFill>
                  <a:srgbClr val="11202B"/>
                </a:solidFill>
                <a:latin typeface="Malgun Gothic"/>
                <a:ea typeface="Malgun Gothic"/>
                <a:cs typeface="Malgun Gothic"/>
              </a:rPr>
              <a:t>속이기 어려운 형태</a:t>
            </a:r>
            <a:r>
              <a:rPr sz="1400" b="0" i="0">
                <a:solidFill>
                  <a:srgbClr val="11202B"/>
                </a:solidFill>
                <a:latin typeface="Malgun Gothic"/>
                <a:ea typeface="Malgun Gothic"/>
                <a:cs typeface="Malgun Gothic"/>
              </a:rPr>
              <a:t>로 진화했다. 몸집에 좌우되는 낮은 울음소리, 건강해야만 유지할 수 있는 화려한 장식이 그렇다. 비용이 정직성을 보증하는 구조다.</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13   </a:t>
            </a:r>
            <a:r>
              <a:rPr sz="2400" b="1" i="0">
                <a:solidFill>
                  <a:srgbClr val="FFFFFF"/>
                </a:solidFill>
                <a:latin typeface="Malgun Gothic"/>
                <a:ea typeface="Malgun Gothic"/>
                <a:cs typeface="Malgun Gothic"/>
              </a:rPr>
              <a:t>13. 사회 행동과 그 진화</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15</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사회 행동을 설명할 때 "종을 위해서"라는 설명은 성립하지 않는다. 자연선택은 집단이 아니라 주로 개체와 유전자 수준에서 작동하므로, 어떤 행동이 유지되려면 </a:t>
            </a:r>
            <a:r>
              <a:rPr sz="1600" b="1" i="0">
                <a:solidFill>
                  <a:srgbClr val="11202B"/>
                </a:solidFill>
                <a:latin typeface="Malgun Gothic"/>
                <a:ea typeface="Malgun Gothic"/>
                <a:cs typeface="Malgun Gothic"/>
              </a:rPr>
              <a:t>그 행동을 하는 개체 또는 그 유전자</a:t>
            </a:r>
            <a:r>
              <a:rPr sz="1600" b="0" i="0">
                <a:solidFill>
                  <a:srgbClr val="11202B"/>
                </a:solidFill>
                <a:latin typeface="Malgun Gothic"/>
                <a:ea typeface="Malgun Gothic"/>
                <a:cs typeface="Malgun Gothic"/>
              </a:rPr>
              <a:t>에 이익이 돌아가는 경로가 있어야 한다. 경로를 찾지 못했다면 설명이 아직 완성되지 않은 것이다.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정서, 동기, 그리고 스트레스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행동은 감각 입력만으로 정해지지 않는다. 같은 자극에도 상태에 따라 다르게 반응하며, 그 상태를 만드는 것이 정서와 동기다.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정서의 두 성분.</a:t>
            </a:r>
            <a:r>
              <a:rPr sz="1400" b="0" i="0">
                <a:solidFill>
                  <a:srgbClr val="11202B"/>
                </a:solidFill>
                <a:latin typeface="Malgun Gothic"/>
                <a:ea typeface="Malgun Gothic"/>
                <a:cs typeface="Malgun Gothic"/>
              </a:rPr>
              <a:t> 정서에는 몸의 변화(심박수 상승, 발한, 근긴장)와 주관적 경험이 함께 있다. 둘의 순서를 두고 오래된 논쟁이 있었다. 몸의 변화를 지각한 것이 정서라는 주장과, 중추의 평가가 먼저이고 몸의 변화는 결과라는 주장이 맞섰다. 현재는 두 과정이 </a:t>
            </a:r>
            <a:r>
              <a:rPr sz="1400" b="1" i="0">
                <a:solidFill>
                  <a:srgbClr val="11202B"/>
                </a:solidFill>
                <a:latin typeface="Malgun Gothic"/>
                <a:ea typeface="Malgun Gothic"/>
                <a:cs typeface="Malgun Gothic"/>
              </a:rPr>
              <a:t>양방향으로 영향을 주고받는다</a:t>
            </a:r>
            <a:r>
              <a:rPr sz="1400" b="0" i="0">
                <a:solidFill>
                  <a:srgbClr val="11202B"/>
                </a:solidFill>
                <a:latin typeface="Malgun Gothic"/>
                <a:ea typeface="Malgun Gothic"/>
                <a:cs typeface="Malgun Gothic"/>
              </a:rPr>
              <a:t>고 본다. 몸 상태를 읽는 내수용 감각이 정서 경험에 기여한다는 증거가 축적되었고, 동시에 같은 몸 상태가 맥락에 따라 다른 정서로 해석된다는 것도 반복 확인되었다.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편도체.</a:t>
            </a:r>
            <a:r>
              <a:rPr sz="1400" b="0" i="0">
                <a:solidFill>
                  <a:srgbClr val="11202B"/>
                </a:solidFill>
                <a:latin typeface="Malgun Gothic"/>
                <a:ea typeface="Malgun Gothic"/>
                <a:cs typeface="Malgun Gothic"/>
              </a:rPr>
              <a:t> 위협 자극의 탐지와 공포 반응의 조직화에 중심 역할을 한다. 감각 정보는 두 경로로 편도체에 도달한다. 시상에서 바로 가는 </a:t>
            </a:r>
            <a:r>
              <a:rPr sz="1400" b="1" i="0">
                <a:solidFill>
                  <a:srgbClr val="11202B"/>
                </a:solidFill>
                <a:latin typeface="Malgun Gothic"/>
                <a:ea typeface="Malgun Gothic"/>
                <a:cs typeface="Malgun Gothic"/>
              </a:rPr>
              <a:t>빠른 경로</a:t>
            </a:r>
            <a:r>
              <a:rPr sz="1400" b="0" i="0">
                <a:solidFill>
                  <a:srgbClr val="11202B"/>
                </a:solidFill>
                <a:latin typeface="Malgun Gothic"/>
                <a:ea typeface="Malgun Gothic"/>
                <a:cs typeface="Malgun Gothic"/>
              </a:rPr>
              <a:t>는 거칠지만 빠르고, 겉질을 거치는 </a:t>
            </a:r>
            <a:r>
              <a:rPr sz="1400" b="1" i="0">
                <a:solidFill>
                  <a:srgbClr val="11202B"/>
                </a:solidFill>
                <a:latin typeface="Malgun Gothic"/>
                <a:ea typeface="Malgun Gothic"/>
                <a:cs typeface="Malgun Gothic"/>
              </a:rPr>
              <a:t>느린 경로</a:t>
            </a:r>
            <a:r>
              <a:rPr sz="1400" b="0" i="0">
                <a:solidFill>
                  <a:srgbClr val="11202B"/>
                </a:solidFill>
                <a:latin typeface="Malgun Gothic"/>
                <a:ea typeface="Malgun Gothic"/>
                <a:cs typeface="Malgun Gothic"/>
              </a:rPr>
              <a:t>는 정확하지만 늦다. 풀숲의 긴 물체를 보고 먼저 물러난 뒤 막대기임을 알아차리는 순서가 이 두 경로의 시간차다. 빠른 경로가 틀릴 수 있어도 유지되는 이유는, 위협을 놓치는 비용이 헛놀라는 비용보다 훨씬 크기 때문이다.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보상과 동기.</a:t>
            </a:r>
            <a:r>
              <a:rPr sz="1400" b="0" i="0">
                <a:solidFill>
                  <a:srgbClr val="11202B"/>
                </a:solidFill>
                <a:latin typeface="Malgun Gothic"/>
                <a:ea typeface="Malgun Gothic"/>
                <a:cs typeface="Malgun Gothic"/>
              </a:rPr>
              <a:t> 중뇌의 도파민 신경세포가 보상과 연관된 학습에 관여한다. 중요한 점은 이 세포들이 보상 자체가 아니라 </a:t>
            </a:r>
            <a:r>
              <a:rPr sz="1400" b="1" i="0">
                <a:solidFill>
                  <a:srgbClr val="11202B"/>
                </a:solidFill>
                <a:latin typeface="Malgun Gothic"/>
                <a:ea typeface="Malgun Gothic"/>
                <a:cs typeface="Malgun Gothic"/>
              </a:rPr>
              <a:t>예측 오차</a:t>
            </a:r>
            <a:r>
              <a:rPr sz="1400" b="0" i="0">
                <a:solidFill>
                  <a:srgbClr val="11202B"/>
                </a:solidFill>
                <a:latin typeface="Malgun Gothic"/>
                <a:ea typeface="Malgun Gothic"/>
                <a:cs typeface="Malgun Gothic"/>
              </a:rPr>
              <a:t>에 반응한다는 것이다. 기대보다 좋은 결과가 오면 발화가 늘고, 기대한 대로면 변화가 없으며, 기대보다 나쁘면 발화가 줄어든다. 10절에서 본 고전적 조건화의 차단 현상이 예측 오차로 설명되는 것과 같은 원리이며, 행동 수준의 학습 법칙과 세포 수준의 신호가 맞물린 드문 사례다.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스트레스 반응의 두 축.</a:t>
            </a:r>
            <a:r>
              <a:rPr sz="1400" b="0" i="0">
                <a:solidFill>
                  <a:srgbClr val="11202B"/>
                </a:solidFill>
                <a:latin typeface="Malgun Gothic"/>
                <a:ea typeface="Malgun Gothic"/>
                <a:cs typeface="Malgun Gothic"/>
              </a:rPr>
              <a:t> 위협에 대한 몸의 반응은 시간 규모가 다른 두 경로로 나뉜다.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빠른 축(초 단위)</a:t>
            </a:r>
            <a:r>
              <a:rPr sz="1400" b="0" i="0">
                <a:solidFill>
                  <a:srgbClr val="11202B"/>
                </a:solidFill>
                <a:latin typeface="Malgun Gothic"/>
                <a:ea typeface="Malgun Gothic"/>
                <a:cs typeface="Malgun Gothic"/>
              </a:rPr>
              <a:t>: 교감신경–부신 속질. 카테콜아민이 심박수, 혈압, 혈당, 기관지 확장을 즉시 바꾼다.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느린 축(분에서 시간)</a:t>
            </a:r>
            <a:r>
              <a:rPr sz="1400" b="0" i="0">
                <a:solidFill>
                  <a:srgbClr val="11202B"/>
                </a:solidFill>
                <a:latin typeface="Malgun Gothic"/>
                <a:ea typeface="Malgun Gothic"/>
                <a:cs typeface="Malgun Gothic"/>
              </a:rPr>
              <a:t>: 시상하부–뇌하수체–부신겉질. CRH가 ACTH를, ACTH가 cortisol을 분비시킨다. Cortisol은 포도당 동원, 단백질 분해, 면역 억제를 통해 긴 위협에 대비한다.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급성에서는 두 축이 모두 적응적이다. 문제는 </a:t>
            </a:r>
            <a:r>
              <a:rPr sz="1400" b="1" i="0">
                <a:solidFill>
                  <a:srgbClr val="11202B"/>
                </a:solidFill>
                <a:latin typeface="Malgun Gothic"/>
                <a:ea typeface="Malgun Gothic"/>
                <a:cs typeface="Malgun Gothic"/>
              </a:rPr>
              <a:t>만성</a:t>
            </a:r>
            <a:r>
              <a:rPr sz="1400" b="0" i="0">
                <a:solidFill>
                  <a:srgbClr val="11202B"/>
                </a:solidFill>
                <a:latin typeface="Malgun Gothic"/>
                <a:ea typeface="Malgun Gothic"/>
                <a:cs typeface="Malgun Gothic"/>
              </a:rPr>
              <a:t>이다. Cortisol이 오래 높게 유지되면 해마가 위축되고, 면역이 억제되며, 내장 지방이 늘고 인슐린 저항이 생긴다. 급성에서 유용한 반응이 만성이 되면 해로워지는 전형적인 구조이며, 스트레스가 여러 만성 질환의 위험 요인으로 거론되는 생물학적 근거다. 축의 분자 기전은 M01-W02-L02에서, 회로는 M04-W07-L01에서 다룬다.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14   </a:t>
            </a:r>
            <a:r>
              <a:rPr sz="2400" b="1" i="0">
                <a:solidFill>
                  <a:srgbClr val="FFFFFF"/>
                </a:solidFill>
                <a:latin typeface="Malgun Gothic"/>
                <a:ea typeface="Malgun Gothic"/>
                <a:cs typeface="Malgun Gothic"/>
              </a:rPr>
              <a:t>14. 정서, 동기, 그리고 스트레스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17</a:t>
            </a:r>
          </a:p>
        </p:txBody>
      </p:sp>
      <p:sp>
        <p:nvSpPr>
          <p:cNvPr id="7" name="Rectangle 6"/>
          <p:cNvSpPr/>
          <p:nvPr/>
        </p:nvSpPr>
        <p:spPr>
          <a:xfrm>
            <a:off x="640080" y="1325880"/>
            <a:ext cx="10881360" cy="2270759"/>
          </a:xfrm>
          <a:prstGeom prst="rect">
            <a:avLst/>
          </a:prstGeom>
          <a:solidFill>
            <a:srgbClr val="F3EFF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5B3A8A"/>
                </a:solidFill>
                <a:latin typeface="Malgun Gothic"/>
                <a:ea typeface="Malgun Gothic"/>
                <a:cs typeface="Malgun Gothic"/>
              </a:rPr>
              <a:t>연구 전선   </a:t>
            </a:r>
            <a:r>
              <a:rPr sz="1600" b="1" i="0">
                <a:solidFill>
                  <a:srgbClr val="11202B"/>
                </a:solidFill>
                <a:latin typeface="Malgun Gothic"/>
                <a:ea typeface="Malgun Gothic"/>
                <a:cs typeface="Malgun Gothic"/>
              </a:rPr>
              <a:t>연구 전선</a:t>
            </a:r>
            <a:r>
              <a:rPr sz="1600" b="0" i="0">
                <a:solidFill>
                  <a:srgbClr val="11202B"/>
                </a:solidFill>
                <a:latin typeface="Malgun Gothic"/>
                <a:ea typeface="Malgun Gothic"/>
                <a:cs typeface="Malgun Gothic"/>
              </a:rPr>
              <a:t> 만성 스트레스가 질환으로 이어지는 경로를 설명하려는 틀로 </a:t>
            </a:r>
            <a:r>
              <a:rPr sz="1600" b="1" i="0">
                <a:solidFill>
                  <a:srgbClr val="11202B"/>
                </a:solidFill>
                <a:latin typeface="Malgun Gothic"/>
                <a:ea typeface="Malgun Gothic"/>
                <a:cs typeface="Malgun Gothic"/>
              </a:rPr>
              <a:t>알로스타시스 부하</a:t>
            </a:r>
            <a:r>
              <a:rPr sz="1600" b="0" i="0">
                <a:solidFill>
                  <a:srgbClr val="11202B"/>
                </a:solidFill>
                <a:latin typeface="Malgun Gothic"/>
                <a:ea typeface="Malgun Gothic"/>
                <a:cs typeface="Malgun Gothic"/>
              </a:rPr>
              <a:t>라는 개념이 제안되었다. 항상성이 설정점을 지키는 것이라면 알로스타시스는 변화하는 요구에 맞춰 설정점 자체를 바꾸는 것이고, 그 조절이 반복되면 누적된 마모가 생긴다는 생각이다. 측정 지표로 cortisol, 카테콜아민, 염증 표지자, 혈압, 대사 지표를 묶은 복합 점수가 쓰이며 사망률과 인지 저하를 예측한다는 보고가 있다. 그러나 비판도 분명하다. 지표의 선택이 연구마다 다르고, 합산 방식에 이론적 근거가 약하며, 사회경제적 요인의 대리 지표에 불과할 수 있다는 것이다. 스트레스를 생물학적으로 측정 가능한 변수로 만드는 일이 아직 해결되지 않은 과제로 남아 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신경·행동 이상을 읽는 논리와 다음 수업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수업에서 세운 틀로 임상 문제를 읽는 방법을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어느 단계가 깨졌는가.</a:t>
            </a:r>
            <a:r>
              <a:rPr sz="1400" b="0" i="0">
                <a:solidFill>
                  <a:srgbClr val="11202B"/>
                </a:solidFill>
                <a:latin typeface="Malgun Gothic"/>
                <a:ea typeface="Malgun Gothic"/>
                <a:cs typeface="Malgun Gothic"/>
              </a:rPr>
              <a:t> 감각–처리–출력의 사슬에서 위치를 먼저 정한다. 보지 못하는 환자에서 문제가 눈의 광학인지, 망막인지, 시신경인지, 겉질인지에 따라 소견이 다르다. 움직이지 못하는 환자에서 문제가 운동신경세포인지, 신경근 접합부인지, 근육인지를 가르는 것도 같은 작업이다.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어느 체계인가.</a:t>
            </a:r>
            <a:r>
              <a:rPr sz="1400" b="0" i="0">
                <a:solidFill>
                  <a:srgbClr val="11202B"/>
                </a:solidFill>
                <a:latin typeface="Malgun Gothic"/>
                <a:ea typeface="Malgun Gothic"/>
                <a:cs typeface="Malgun Gothic"/>
              </a:rPr>
              <a:t> 7절의 세 축이 그대로 쓰인다. 마비는 추체로, 움직임의 과부족은 기저핵, 부정확함은 소뇌다.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왼쪽인가 오른쪽인가, 위인가 아래인가.</a:t>
            </a:r>
            <a:r>
              <a:rPr sz="1400" b="0" i="0">
                <a:solidFill>
                  <a:srgbClr val="11202B"/>
                </a:solidFill>
                <a:latin typeface="Malgun Gothic"/>
                <a:ea typeface="Malgun Gothic"/>
                <a:cs typeface="Malgun Gothic"/>
              </a:rPr>
              <a:t> 6절의 경로별 교차 위치가 판단의 근거가 된다. 증상이 양쪽인지 한쪽인지, 얼굴과 몸이 같은 쪽인지 반대쪽인지가 병변의 높이를 알려 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상태인가 변화인가.</a:t>
            </a:r>
            <a:r>
              <a:rPr sz="1400" b="0" i="0">
                <a:solidFill>
                  <a:srgbClr val="11202B"/>
                </a:solidFill>
                <a:latin typeface="Malgun Gothic"/>
                <a:ea typeface="Malgun Gothic"/>
                <a:cs typeface="Malgun Gothic"/>
              </a:rPr>
              <a:t> 급성으로 생긴 것인지 서서히 진행한 것인지가 감별을 좁힌다. 같은 반맹이라도 갑자기 생겼으면 혈관성, 서서히 진행했으면 종양을 먼저 생각한다.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수업의 각 주제는 모듈 4에서 본격적으로 다룬다. 연결은 다음과 같다.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막전위와 활동전위의 분자 기전: M04-W02-L01, M04-W02-L02, M04-W02-L03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시냅스 전달과 신경전달물질: M04-W03-L01, M04-W03-L02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시각, 청각, 화학 감각: M04-W05-L01, M04-W05-L02, M04-W05-L03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운동 조절의 세 축: M04-W06-L01, M04-W06-L02, M04-W06-L03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시상하부와 항상성, 정서: M04-W07-L01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수면과 생체 리듬: M04-W07-L02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시냅스 가소성과 기억: M04-W07-L03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체성감각과 통증: M04-W04-L03</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15   </a:t>
            </a:r>
            <a:r>
              <a:rPr sz="2400" b="1" i="0">
                <a:solidFill>
                  <a:srgbClr val="FFFFFF"/>
                </a:solidFill>
                <a:latin typeface="Malgun Gothic"/>
                <a:ea typeface="Malgun Gothic"/>
                <a:cs typeface="Malgun Gothic"/>
              </a:rPr>
              <a:t>15. 신경·행동 이상을 읽는 논리와 다음 수업</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19</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수업의 목표는 신경과학의 세부를 다 담는 것이 아니라, </a:t>
            </a:r>
            <a:r>
              <a:rPr sz="1600" b="1" i="0">
                <a:solidFill>
                  <a:srgbClr val="11202B"/>
                </a:solidFill>
                <a:latin typeface="Malgun Gothic"/>
                <a:ea typeface="Malgun Gothic"/>
                <a:cs typeface="Malgun Gothic"/>
              </a:rPr>
              <a:t>감각에서 행동까지의 경로를 하나의 사슬로 세워 두는 것</a:t>
            </a:r>
            <a:r>
              <a:rPr sz="1600" b="0" i="0">
                <a:solidFill>
                  <a:srgbClr val="11202B"/>
                </a:solidFill>
                <a:latin typeface="Malgun Gothic"/>
                <a:ea typeface="Malgun Gothic"/>
                <a:cs typeface="Malgun Gothic"/>
              </a:rPr>
              <a:t>이다. 사슬이 서 있으면 모듈 4의 각 수업이 그 사슬의 어느 고리를 확대하는 것인지가 분명해지고, 거꾸로 임상에서 만나는 증상이 사슬의 어디가 끊긴 결과인지를 묻게 된다.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행동을 묻는 네 가지 질문을 쓰고, 근접 원인과 궁극 원인을 섞으면 왜 논쟁이 공전하는지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기전(지금 어떤 신경과 호르몬이 작동하는가)과 발달(개체가 살아오며 어떻게 갖추었는가)이 근접 원인이고, 기능(생존과 번식에 어떤 이득이 있는가)과 진화(계통에서 어떻게 변해 왔는가)가 궁극 원인이다. 네 답은 서로 다른 층위를 설명하므로 경쟁하지 않고 보완한다. 섞으면 "호르몬 때문인가 번식을 위해서인가" 같은 잘못 세워진 질문이 되어, 양쪽 모두 옳은데도 서로 반박하려 들게 된다. 의학에서도 발열을 prostaglandin이 설정점을 올렸다는 답과 체온 상승이 면역에 유리하다는 답으로 설명하는 것이 층위가 다른 두 답이다.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자극의 세기가 활동전위의 크기로 부호화되지 않는 이유를 쓰고, 그러면 무엇으로 부호화되는지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활동전위는 전부 아니면 전무의 성질을 가져 역치를 넘으면 크기가 일정한 신호가 생기고 넘지 못하면 아무 일도 일어나지 않는다. 따라서 크기에 정보를 담을 수 없다. 세기는 활동전위의 발화 빈도와, 활성화된 수용기의 수로 부호화된다. 자극의 종류는 어느 경로가 활성화되었는지로, 위치는 어느 수용기가 흥분했는지로 정해진다.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신경전도검사에서 말이집 병변과 축삭 병변을 가르는 지표를 쓰고 그 근거를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전도 속도 저하와 잠복기 연장은 말이집 병변을, 활동전위 진폭의 감소는 축삭 병변을 가리킨다. 말이집은 절연체로 작용해 도약 전도를 가능하게 하므로 손상되면 전도가 느려지지만 축삭이 남아 있으면 전달되는 섬유의 수는 유지되어 진폭이 보존된다. 축삭이 손상되면 전달하는 섬유 자체가 줄어 합쳐진 전위의 크기가 작아지고, 남은 섬유는 정상 속도로 전도하므로 속도는 비교적 유지된다.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적응이 빠른 수용기와 느린 수용기가 각각 무엇을 알리는지 쓰고, 통각수용기가 적응하지 않는 것이 왜 합리적인지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적응이 빠른 수용기는 자극이 계속되면 곧 발화를 멈추므로 자극의 변화, 즉 시작과 끝을 알린다. 적응이 느린 수용기는 자극이 지속되는 동안 계속 발화하므로 현재의 상태를 알린다. 통각은 조직 손상의 경고이므로 손상이 계속되는 동안 계속 알려야 한다. 적응해 버리면 손상이 진행 중인데도 알아차리지 못하게 되므로, 적응하지 않는 것이 경고 신호로서 올바른 설계다.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광수용기가 빛을 받았을 때 과분극하는 과정을 설명하고, 이 경로가 광자 하나에 반응할 수 있는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어두울 때 cGMP가 양이온 통로를 열어 두어 Na⁺가 들어오므로 세포가 탈분극 상태이고 전달물질을 계속 방출한다. 빛이 rhodopsin의 retinal을 이성질화하면 G 단백질 transducin이 활성화되고 phosphodiesterase가 cGMP를 분해한다. cGMP가 줄면 통로가 닫혀 Na⁺ 유입이 멈추고 세포가 과분극하며 전달물질 방출이 줄어든다. 광자 하나에 반응할 수 있는 것은 이 경로가 증폭의 사슬이기 때문이다. 활성화된 rhodopsin 하나가 수백 개의 transducin을 활성화하고 각 transducin에 연결된 효소가 다시 많은 cGMP를 분해한다.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시야 결손의 모양으로 시각 경로의 병변 위치를 정하는 원리를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시신경교차에서 코쪽 망막에서 온 섬유만 반대쪽으로 건너간다는 사실이 근거다. 한쪽 시신경 병변은 교차 전이므로 그 눈 전체의 시력을 잃게 한다. 시신경교차 가운데가 눌리면 양쪽 코쪽 망막에서 온 섬유가 침범되는데 이들은 각각 귀쪽 시야를 담당하므로 양측 귀쪽 반맹이 된다. 교차 뒤의 시각로나 시방사 병변은 양쪽 눈에서 같은 쪽 시야를 담당하는 섬유가 함께 지나가므로 동측 반맹이 된다. 따라서 한 눈만 침범되면 교차 앞, 양 눈이 함께 침범되면 교차 또는 그 뒤다.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Rinne 검사와 Weber 검사의 결과를 전음성 난청과 감각신경성 난청에서 각각 쓰고 그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Rinne 검사에서 정상과 감각신경성 난청은 중이의 증폭이 정상이므로 공기 전도가 뼈 전도보다 잘 들린다. 전음성 난청은 중이의 전달이 깨졌으므로 뼈 전도가 공기 전도보다 잘 들린다. Weber 검사에서 전음성 난청은 나쁜 쪽으로 치우쳐 들린다. 그쪽 귀가 외부 소음을 덜 받아들여 뼈로 전해진 소리가 상대적으로 크게 느껴지기 때문이다. 감각신경성 난청은 그쪽의 감지 능력 자체가 떨어졌으므로 좋은 쪽으로 치우친다.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뒤기둥 경로와 척수시상로의 교차 위치 차이를 쓰고, 척수 반측 절단에서 나타나는 감각 해리를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뒤기둥–안쪽섬유띠 경로는 미세 촉각, 진동, 고유감각을 전달하며 같은 쪽 척수를 올라가 연수에서 교차한다. 척수시상로는 통각과 온도를 전달하며 들어온 척수 분절에서 바로 교차해 반대쪽을 올라간다. 따라서 척수 반측 절단에서는 병변과 같은 쪽에서 운동 마비와 진동·고유감각 소실이 나타나고, 병변 반대쪽에서 한두 분절 아래부터 통각과 온도감각이 소실된다. 운동과 촉각은 같은 쪽, 통각과 온도는 반대쪽이라는 해리가 특징이다.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상위운동신경세포 병변과 하위운동신경세포 병변을 다섯 가지 소견으로 구분하시오.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상위운동신경세포 병변에서는 근긴장도가 증가해 경직이 나타나고, 심부건반사가 항진되며, Babinski 징후가 양성이고, 근위축은 늦고 경미하며, 섬유다발수축이 없다. 하위운동신경세포 병변에서는 근긴장도가 감소해 이완되고, 심부건반사가 소실되며, 병적 반사가 없고, 근위축이 뚜렷하고 빠르게 나타나며, 섬유다발수축이 보인다. 근력 약화는 양쪽 모두에서 나타나므로 감별에 쓰이지 않는다.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29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발열에서 환자가 오한을 느끼는 역설을 설명하고, 해열제의 작용 지점을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감염에서 cytokine이 시상하부에서 prostaglandin E2의 생성을 유도하고 이것이 체온 설정점을 올린다. 실제 체온은 아직 새 설정점보다 낮으므로 몸은 상대적으로 추운 상태로 판단하고 떨림과 피부 혈관 수축으로 열을 올리며, 환자는 오한을 느낀다. 체온이 새 설정점에 도달하면 오한이 멎는다. 해열제는 cyclooxygenase를 억제해 prostaglandin 생성을 막아 설정점을 원래대로 내리며, 그러면 체온이 설정점보다 높아진 상태가 되므로 발한과 혈관 확장으로 열을 내보낸다.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Leptin이 비만 치료제로 기대되었으나 효과가 제한적이었던 이유를 쓰고, 섭식 회로의 다른 입력 가운데 치료로 이어진 예를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Leptin은 지방량에 비례해 분비되어 식욕을 억제하는 장기 신호다. 대부분의 비만 환자는 leptin이 부족한 것이 아니라 오히려 높은 leptin 저항 상태이므로 외부에서 더 주어도 효과가 거의 없다. 보충이 극적으로 듣는 것은 선천성 leptin 결핍이라는 드문 경우뿐이다. 반면 장에서 나오는 단기 포만 신호 쪽에서는 GLP-1 수용체 작용제가 식욕을 억제하고 위 배출을 늦춰 임상적으로 의미 있는 체중 감소를 만들어 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일주기 리듬을 만드는 분자 되먹임 고리를 설명하고, 주기가 약 24시간으로 정해지는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CLOCK과 BMAL1이 결합해 Per와 Cry 유전자의 전사를 활성화하고, 만들어진 PER과 CRY 단백질이 세포질에 쌓였다가 핵으로 들어가 CLOCK–BMAL1의 활성을 억제한다. 억제로 자기 유전자의 전사가 꺼지면 단백질이 점차 분해되고, 억제가 풀려 다시 전사가 시작된다. 주기를 정하는 것은 전사와 번역, 핵 이동, 단백질 분해에 걸리는 시간의 합이며 이것이 약 24시간이 된다. 따라서 단백질의 분해 속도를 바꾸는 변이가 수면 위상을 앞당기거나 늦춘다.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NMDA 수용체가 일치 검출기로 작동하는 기전을 설명하고, 이것이 학습의 기초로서 갖는 의미를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NMDA 수용체는 평소 Mg²⁺에 의해 막혀 있어 전달물질이 결합해도 이온이 통과하지 못한다. 시냅스 후막이 다른 입력으로 이미 탈분극되어 있을 때만 Mg²⁺이 밀려나고 Ca²⁺이 들어온다. 따라서 전 세포의 활동(전달물질 방출)과 후 세포의 활동(탈분극)이 동시에 있어야만 작동한다. 들어온 Ca²⁺이 AMPA 수용체를 막에 더 삽입해 시냅스를 강화한다. 함께 활동한 세포들 사이의 연결만 선택적으로 강해지므로, 연합 학습의 세포 수준 기초가 된다.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유전율 0.5라는 값의 뜻을 정확히 쓰고, 흔한 오해 두 가지를 바로잡으시오.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특정 집단에서 관찰된 그 형질의 변이 가운데 절반이 유전적 변이로 설명된다는 뜻이다. 첫째 오해는 한 사람의 형질 가운데 절반이 유전자 때문이라는 해석인데, 유전율은 개인이 아니라 집단의 변이에 대한 값이다. 둘째 오해는 유전율이 높으면 개입이 소용없다는 해석이다. 페닐케톤뇨증은 유전적 원인이 분명하지만 식이 조절로 결과를 바꿀 수 있다. 또한 환경이 균일한 집단에서는 남은 변이가 주로 유전적이므로 유전율이 높게 나오며, 집단과 환경이 달라지면 값 자체가 달라진다.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이타 행동을 설명하는 세 가지 가설을 쓰고 각각의 검증 가능한 예측을 하나씩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혈연 선택은 유전자를 공유한 친척을 돕는 것이 유전자 전달에 이익이 된다는 설명이며, 이타 행동이 혈연 사이에서 더 자주 나타나야 한다고 예측한다. 호혜는 지금 도우면 나중에 보답받는다는 설명이며, 반복해서 만나고 상대를 알아보며 배신을 되갚을 수 있는 종에서만 나타나야 한다고 예측한다. 집단 안의 이익은 무리 짓기 자체가 개체에 이익이 된다는 설명이며, 포식 위험의 희석이나 사냥 효율 증가처럼 각 개체가 직접 얻는 이익을 측정할 수 있어야 한다고 예측한다. "종을 위해서"라는 설명은 자연선택이 주로 개체와 유전자 수준에서 작동하므로 성립하지 않는다.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체성 신경계와 자율 신경계의 구조적 차이를 쓰고, 자율신경계가 두 개의 신경세포로 이어지는 구조가 기능에 주는 이점을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체성 신경계는 중추에서 골격근까지 하나의 신경세포가 직접 가고 전달물질은 아세틸콜린이며 작용은 흥분뿐이다. 자율 신경계는 중추에서 표적까지 두 개의 신경세포가 신경절에서 이어 달리고 전달물질이 여럿이며 흥분과 억제가 모두 가능하다. 두 세포로 이어지는 구조의 이점은 분산이다. 신경절 전 세포 하나가 여러 신경절 후 세포와 연접하므로 하나의 중추 명령이 넓은 범위에 동시에 작용할 수 있다.</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교감신경과 부교감신경에서 신경절의 위치가 다른 것이 작용 범위에 어떤 차이를 만드는지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교감신경절은 척수 가까이에 사슬로 이어져 있어 하나의 입력이 여러 분절로 퍼질 수 있고, 절후 섬유가 길어 표적까지 넓게 분포한다. 그 결과 교감신경은 심박수, 혈압, 동공, 기관지, 혈당을 동시에 바꾸는 전신적 반응을 만든다. 부교감신경절은 표적 기관 안이나 가까이에 있고 절후 섬유가 짧아 기관별로 따로 조절된다. 그래서 소화 기능의 조절이 기관마다 선택적으로 이루어진다.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자율신경계에서 전달물질과 수용체의 조합을 정리하고, 교감신경인데 아세틸콜린을 쓰는 예외를 드시오.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교감과 부교감 모두 신경절에서의 연접은 아세틸콜린과 니코틴성 수용체를 쓰며, 신경근 접합부도 같다. 효과기에서는 교감이 노르에피네프린과 아드레날린성 수용체를, 부교감이 아세틸콜린과 무스카린성 수용체를 쓴다. 예외로 땀샘을 지배하는 교감신경의 절후 섬유는 아세틸콜린을 방출하므로 항콜린제로 땀이 억제된다. 또 부신 속질은 절후 신경세포 없이 절전 섬유의 직접 지배를 받아 카테콜아민을 혈액으로 방출한다.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편도체로 가는 두 경로를 설명하고, 거칠고 틀릴 수 있는 빠른 경로가 유지되는 이유를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감각 정보는 시상에서 편도체로 바로 가는 빠른 경로와 대뇌겉질을 거쳐 가는 느린 경로로 전달된다. 빠른 경로는 정보가 거칠어 잘못된 경보를 낼 수 있지만 반응이 빠르고, 느린 경로는 정확하지만 시간이 걸린다. 빠른 경로가 유지되는 이유는 두 종류 오류의 비용이 비대칭이기 때문이다. 실제 위협을 놓치는 비용은 치명적일 수 있는 반면 헛놀라는 비용은 작으므로, 정확도를 희생하더라도 빠르게 반응하는 쪽이 선택된다.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39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중뇌 도파민 신경세포가 보상 자체가 아니라 예측 오차에 반응한다는 것을 설명하고, 이것이 행동 수준의 어떤 현상과 맞물리는지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이 세포들은 기대보다 좋은 결과가 오면 발화가 늘고, 기대한 대로면 변화가 거의 없으며, 기대보다 나쁘면 발화가 줄어든다. 즉 보상의 크기가 아니라 기대와 실제의 차이를 신호로 보낸다. 행동 수준에서는 고전적 조건화의 차단 현상과 맞물린다. 이미 다른 자극이 결과를 예측하고 있으면 새 자극은 학습되지 않는데, 예측 오차가 없으므로 학습 신호가 발생하지 않기 때문이다. 학습이 단순한 동시 발생이 아니라 예측력에 의해 일어난다는 법칙과 세포 수준 신호가 일치하는 사례다.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40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스트레스 반응의 두 축을 시간 규모로 구분하고, 급성에서 적응적인 반응이 만성에서 해로워지는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빠른 축은 교감신경–부신 속질 경로로 초 단위에 카테콜아민이 심박수, 혈압, 혈당, 기관지를 바꾼다. 느린 축은 시상하부–뇌하수체–부신겉질 경로로 분에서 시간 단위에 cortisol이 포도당 동원, 단백질 분해, 면역 억제를 일으킨다. 급성 위협에서는 두 축 모두 에너지를 동원하고 손상에 대비하므로 적응적이다. 만성적으로 지속되면 cortisol이 오래 높게 유지되어 해마가 위축되고 면역이 억제되며 내장 지방과 인슐린 저항이 늘어난다. 단기 동원에 최적화된 반응이 장기간 유지될 것을 전제로 설계되지 않았기 때문이다.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M01-W03-L02  ·  동물행동 요약: 감각·행동·학습과 적응</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Hall JE, Hall ME. Guyton and Hall Textbook of Medical Physiology. 14th ed. Elsevier; 2021. Unit X–XI.</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Kandel ER, et al. Principles of Neural Science. 6th ed. McGraw Hill; 2021.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Purves D, et al. Neuroscience. 6th ed. Sinauer; 2018.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Bear MF, Connors BW, Paradiso MA. Neuroscience: Exploring the Brain. 4th ed. Jones &amp; Bartlett; 2020.</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Alcock J, Rubenstein DR. Animal Behavior. 11th ed. Sinauer; 2019.</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Tinbergen N. On aims and methods of ethology. Z Tierpsychol. 1963;20(4):410–433.</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Hamilton WD. The genetical evolution of social behaviour. J Theor Biol. 1964;7(1):1–52.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Takahashi JS. Transcriptional architecture of the mammalian circadian clock. Nat Rev Genet. 2017;18(3):164–179.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