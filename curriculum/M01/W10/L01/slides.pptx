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미토콘드리아의 구획. 바깥막은 porin 때문에 작은 분자에 자유롭게 열려 있고, 안쪽막은 cardiolipin이 많으며 특정 수송체 없이는 통과할 수 없다. Cristae가 안쪽막의 면적을 늘린다.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네트워크의 균형. Mfn1/Mfn2와 Opa1이 융합을, Drp1이 분열을 담당하고, 막전위를 잃은 소기관은 PINK1-Parkin 경로로 표지되어 mitophagy로 제거된다.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mtDNA의 구성과 heteroplasmy. 16,569 bp 원형 유전체가 13개 단백질, 2개 rRNA, 22개 tRNA를 암호화하며, 변이형 비율이 역치를 넘을 때 표현형이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단백질 수입. Tom40이 공통 입구이고, 목적지에 따라 Tim23(matrix), Tim22(내막 carrier), SAM(바깥막 β-barrel)으로 갈라지며, mtDNA 산물은 Oxa1로 matrix에서 내막으로 삽입된다.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엽록체의 구획과 수입 경로. Envelope 두 막 안에 thylakoid 막계가 따로 있고, transit peptide를 가진 전구체가 Toc·Tic를 거쳐 stroma로 들어가며 SPP가 신호를 절단한다.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퍼옥시좀의 기능과 PTS1 수입 순환. Pex5가 SKL 신호를 가진 접힌 단백질을 운반해 Pex13·Pex14에 도킹하고 화물을 내려놓은 뒤 재사용된다.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막전위가 정상이라는 것은 안쪽막을 통과하는 단계의 구동력 자체는 유지된다는 뜻이므로, 결함은 인식·통과·가공의 구성 요소에 있을 가능성이 높다. 단계별로 보면 다음과 같다. 첫째, 전구체의 N 말단 신호 자체에 변이가 있어 바깥막의 Tom 수용체가 인식하지 못하는 경우다. 둘째, Tom 복합체의 구성 요소가 결손되어 바깥막 통과가 막힌 경우다. 셋째, matrix로 가는 화물이라면 안쪽막의 Tim23 복합체와 그 뒤에서 사슬을 당겨 주는 matrix 쪽 chaperone(mtHsp70)과 그 동반 인자의 결손이다. 이 단계는 막전위뿐 아니라 ATP도 요구하므로, matrix의 ATP가 모자라면 막전위가 정상이어도 수입이 멈춘다. 넷째, 수입 뒤 신호서열을 끊는 가공 peptidase의 결손이면 수입은 되지만 성숙하지 못한다. 구별 방법은 단계마다 다르다. 세포질에 쌓인 것이 전구체 크기인지 성숙 크기인지로 가공 단계를 가리고, 바깥막만 통과한 중간체가 검출되는지로 Tom과 Tim 단계를 가린다. 짝풀림제로 막전위를 없앤 대조 실험과 비교하면 막전위 의존 단계가 아님을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양성자를 ATP synthase를 거치지 않고 matrix로 되돌려 양성자 기울기를 소산시킨다. 결과적으로 전자 전달에 걸려 있던 역압이 사라지므로 산소 소모는 오히려 늘어나고 ATP 생산은 줄어들며, 그 에너지는 전부 열로 나간다. 차이는 조절 가능성과 범위에 있다. UCP1은 갈색지방과 베이지색 지방에 국한되어 발현되고, 교감신경 자극과 지방 분해로 공급된 지방산에 의해 켜지고 자극이 멈추면 꺼진다. 즉 필요한 조직에서 필요한 동안만 열을 만드는 생리적 장치다. 2,4-dinitrophenol은 막을 가진 모든 세포에서 무차별적으로 작용하고 끌 수 없으므로, 체온이 통제 없이 오르고 ATP가 전신에서 고갈되어 치명적이다. 과거 체중 감량제로 쓰였다가 사망 사례로 금지된 역사가 여기에 있다. 이 비교의 요점은 생리와 독성의 차이가 기전이 아니라 조절과 국소화에 있다는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허혈 동안 산소가 없어 전자 전달이 멈추고 ATP가 고갈되며, 이온 펌프가 멈춰 세포 내 Na⁺과 Ca²⁺이 늘고 산성화가 진행된다. 호흡 사슬의 운반체는 환원된 상태로 쌓인다. 재관류로 산소가 갑자기 공급되면 세 가지가 한꺼번에 일어난다. 첫째, 환원된 상태로 쌓여 있던 운반체에서 전자가 산소로 새어 나가 반응성 산소종이 대량으로 생성된다. 둘째, 세포질과 matrix의 Ca²⁺이 이미 과부하 상태이고, 산화 스트레스가 더해지면 안쪽막의 투과성 전이가 열린다. 셋째, 전이가 열리면 양성자 기울기가 사라져 ATP 합성이 멈추고 ATP synthase가 역방향으로 돌며 남은 ATP까지 소비하고, matrix가 부풀어 바깥막이 터져 세포가 죽는다. 즉 손상은 산소가 없을 때가 아니라 산소가 돌아오는 순간에 완성된다. 이 모형이 재관류 시점에 투과성 전이를 억제하거나 ROS 생성을 줄이는 치료를 시도하는 근거이며, cyclophilin D를 표적으로 한 접근과 복합체 I의 역방향 전자 흐름을 억제하는 접근이 그 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세포는 "미토콘드리아가 온전한가"를 생존의 판정 기준으로 쓰고 있다는 뜻이다. Cytochrome c는 막 사이 공간에서 복합체 III와 IV 사이의 전자를 옮기는 운반체이고, 그 자리에 있는 동안은 에너지 생산에 기여한다. BAX와 BAK가 바깥막에 구멍을 만들어 cytochrome c가 세포질로 나오면 Apaf-1과 결합해 apoptosome을 이루고 caspase-9을 활성화해 세포사멸을 실행한다. 즉 하나의 분자가 위치에 따라 정반대의 의미를 가지며, 에너지 공급 기관의 온전함이 곧 생존 신호가 된다. 손상된 미토콘드리아를 가진 세포를 제거하는 장치로서 합리적인 배치다. 치료 응용은 이 결정 지점을 인위적으로 움직이는 것이다. 종양세포는 흔히 BCL-2를 과발현해 BAX·BAK를 억제하고 세포사멸을 피하는데, BCL-2를 직접 막는 venetoclax가 그 억제를 풀어 MOMP를 일으킨다. 만성 림프구성 백혈병과 급성 골수성 백혈병에서 쓰이며, 종양이 그 억제에 의존하고 있을 때 효과가 크다는 점이 선택성의 근거다.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mtDNA는 CpG가 많고 methylation이 적어 세균 DNA와 성질이 비슷하다. 세포질에는 외래 이중사슬 DNA를 감지하는 cGAS가 있어, mtDNA가 세포질로 나오면 이를 침입자의 DNA로 인식해 cGAMP를 만들고 STING을 거쳐 인터페론 반응을 켠다. 일부 상황에서는 inflammasome이 활성화되어 IL-1β 계열의 염증 매개체가 분비된다. mtDNA가 새어 나오는 경로로는 투과성 전이, BAX·BAK에 의한 바깥막 투과화 후 내막의 돌출, 그리고 산화 손상에 의한 막 손상이 제안된다. 기원과의 연결은 분명하다. 미토콘드리아는 세균에서 유래한 소기관이므로 세균의 분자적 특징을 여전히 가지고 있고, 면역계는 그 특징을 침입의 표지로 읽도록 진화했다. 그래서 자기 소기관의 구성 성분이 제자리를 벗어나면 외래 신호로 작동한다. cardiolipin과 N-formyl peptide도 같은 방식으로 손상 신호가 된다. 이 축은 무균 염증, 자가면역, 노화 관련 만성 염증의 기전으로 연구되며, 조직 손상 뒤 염증이 왜 일어나는지를 설명하는 한 축이다.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Plasmalogen이 정상인 환자는 단일 수송체나 단일 효소의 결손이고, 감소한 환자는 퍼옥시좀 수입 기구 전체의 결손이다. 근거는 두 기능이 서로 다른 단백질에 의존한다는 점이다. VLCFA의 β-산화는 그 지방산을 퍼옥시좀으로 들여보내는 수송체 ABCD1과 내부의 산화 효소에 의존하고, plasmalogen 합성의 처음 두 단계는 다른 효소들이 담당한다. 수송체 하나만 망가지면 VLCFA만 쌓이고 나머지 퍼옥시좀 기능은 유지되므로 plasmalogen이 정상이다. 이것이 X 연관 adrenoleukodystrophy이며, 남아에서 부신 기능 저하와 뇌 백질 병변, 또는 성인에서 서서히 진행하는 척수 증상으로 나타난다. 반대로 PEX 유전자의 결손에서는 Pex5·Pex7 수용체 경로가 망가져 거의 모든 기질 단백질이 들어가지 못하므로, VLCFA가 쌓이고 plasmalogen이 줄고 phytanic acid와 담즙산 중간체도 비정상이 된다. 이것이 Zellweger 증후군 스펙트럼이고 신생아기부터 다기관 침범을 보인다. 확인은 유전자 검사이며, ALD는 신생아 선별검사로 발견해 증상 전에 조혈모세포 이식을 고려할 수 있어 조기 진단의 의미가 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바깥막에는 porin이 많아 분자량 5 kDa 이하의 용질과 이온이 자유롭게 통과한다. 이온이 양쪽으로 평형에 도달하므로 바깥막 양쪽에는 전위차와 pH 차가 생기지 않고, 따라서 쓸 수 있는 전기화학적 에너지가 없다. 반면 안쪽막은 이온에 불투과성이고 호흡 복합체가 양성자를 IMS로 밀어내므로 Δψ가 약 −160~−180 mV(matrix가 음전하)로 유지된다. Tim23을 통과하는 presequence는 Arg·Lys이 많아 양전하를 띠므로 음전하인 matrix 쪽으로 전기적으로 끌린다. 즉 Tim23 수송의 방향성과 동력이 막전위에서 직접 나온다. 같은 이유로 바깥막 β-barrel 단백질을 삽입하는 SAM 경로도 막전위를 필요로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모계 유전이므로 mtDNA 변이를 먼저 생각한다. 수정 시 정자의 미토콘드리아가 선택적으로 분해되므로 mtDNA는 난자에서만 전달되고, 어머니에서 남녀 자녀 모두로 전달되지만 아버지에서는 전달되지 않는다. 증상이 근육·내이·신경·췌장 β세포에 모이는 것은 threshold effect로 설명된다. 변이형 mtDNA 비율이 역치를 넘어야 표현형이 나타나고, 그 역치는 ATP 요구가 크고 대체 공급 수단이 없는 조직에서 가장 낮다. 가족 내 중증도 차이는 heteroplasmy 비율의 차이다. 난자 형성기의 bottleneck 때문에 한 어머니의 난자들이 서로 다른 변이형 비율을 가지며, 세포분열 때의 무작위 분배로 조직마다 비율이 또 달라진다. m.3243A&gt;G 같은 tRNA 유전자 변이가 이런 다장기 표현형의 전형적 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PINK1은 N-말단에 presequence를 가진 핵 암호화 kinase로, 정상 미토콘드리아에서는 Tim23을 통해 내막을 통과해 들어가 protease에 의해 분해되므로 바깥막에 남지 않는다. Tim23 수송은 막전위에 의존하므로, 막전위를 잃은 미토콘드리아에서는 PINK1이 수입되지 못하고 바깥막에 쌓인다. 쌓인 PINK1이 Parkin을 불러와 활성화하고 Parkin이 바깥막 단백질을 ubiquitination하면 autophagy 기구가 그 소기관만 알아본다. 막전위를 센서로 쓰는 것이 합리적인 이유는, 막전위가 호흡 사슬의 기능을 직접 반영하는 단일 지표이고 소기관 하나하나에 국소적으로 존재하기 때문이다. 세포질에 퍼지는 신호와 달리 손상된 개별 소기관만 표지할 수 있으며, 별도의 손상 감지 단백질을 두지 않고 이미 있는 수입 장치를 그대로 센서로 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ANT는 ATP⁴⁻ 하나를 matrix에서 내보내고 ADP³⁻ 하나를 들여오므로, 알짜로 음전하 하나가 matrix에서 빠져나간다. 전하가 이동했으므로 막전위 성분 Δψ가 소비된다. Phosphate carrier는 H₂PO₄⁻ 하나와 H⁺ 하나를 함께 들여오므로 알짜 전하 이동이 0이고 Δψ에는 영향이 없으나, 양성자 하나가 IMS에서 matrix로 들어오므로 ΔpH가 소비된다. Pyruvate 수송체처럼 음이온을 들여오고 OH⁻를 내보내는 교환도 전기적으로 중성이므로 ΔpH만 쓴다. 결론적으로 호흡으로 만든 양성자 기울기는 ATP 합성에만 쓰이지 않고 대사물 수송에도 나뉘어 쓰이며, 이 때문에 NADH당 실제 ATP 수확이 전위차 계산의 이론값보다 작다.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미토콘드리아에서는 안쪽막이 전자 전달과 ATP 합성을 함께 담당한다. 양성자가 matrix에서 IMS로 밀려나고 ATP synthase를 통해 matrix로 돌아오므로 ATP는 matrix에 생성되며, 세포질로 나가려면 ANT를 거쳐야 한다. 엽록체에서는 envelope이 아니라 내부의 thylakoid 막이 전자 전달과 ATP 합성을 담당한다. 양성자는 stroma에서 thylakoid lumen으로 밀려 들어가 lumen이 산성이 되고, 되돌아 나오면서 ATP synthase를 돌리므로 ATP는 stroma에 생성된다. Stroma에는 Calvin cycle 효소가 있으므로 생성된 ATP와 NADPH가 같은 공간에서 바로 CO₂ 고정에 쓰이고, 막을 추가로 통과할 필요가 없다. 즉 세 번째 막계의 존재가 에너지 생산과 소비를 한 구획에 모아 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Plasmalogen이 정상인 환자는 퍼옥시좀 자체는 정상으로 조립되고 특정 기능만 결손된 경우다. 가장 흔한 예가 ABCD1 변이로 생기는 X-linked adrenoleukodystrophy다. VLCFA를 퍼옥시좀 내부로 들여오는 수송체 하나만 망가지므로 VLCFA가 쌓이지만, plasmalogen 합성 효소는 정상적으로 수입되어 작동한다. Plasmalogen이 감소한 환자는 퍼옥시좀 단백질 수입 자체가 망가진 경우다. PEX 유전자(예: PEX1, PEX5, PEX7) 결손으로 Pex5 또는 Pex7 순환 수용체 경로가 작동하지 않으면 다수의 기질 효소가 수입되지 못해 빈 막 구조만 남는다. 그 결과 VLCFA β-oxidation과 plasmalogen 합성이 함께 멈추어 VLCFA는 상승하고 plasmalogen은 감소하며, Zellweger 스펙트럼의 임상상을 보인다. 즉 두 지표를 함께 보면 단일 기능 결손과 소기관 조립 결손을 구분할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미토콘드리아는 좁은 통로(Tom40, Tim23)를 쓸 수 있으므로 사슬을 펴진 상태로 유지해야 한다. 그래서 세포질 Hsp70이 전구체를 접히지 않게 붙들고, 통과 뒤 matrix에서 chaperone이 접는다. 동력은 막전위와 mtHsp70의 ATP 가수분해에서 나오며, 사슬을 한 방향으로 반복해 잡아당기는 기전이 필요하다. 퍼옥시좀은 접힌 단백질과 올리고머까지 통과시켜야 하므로 통로가 훨씬 유연하거나 일시적으로 큰 구멍을 만들 수 있어야 한다. 대신 사슬을 펴는 chaperone 체계는 필요하지 않다. 동력은 막전위가 아니라 Pex5 수용체의 순환, 즉 ubiquitination과 ATP를 쓰는 retro-translocation에서 나온다. 퍼옥시좀 막에는 호흡 사슬이 없어 막전위를 만들 수 없으므로 전위에 의존하는 설계가 애초에 불가능하다.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미토콘드리아·엽록체·퍼옥시좀의 구조와 기능</a:t>
            </a:r>
          </a:p>
          <a:p>
            <a:r>
              <a:rPr sz="1500" b="0" i="0">
                <a:solidFill>
                  <a:srgbClr val="B9D2E8"/>
                </a:solidFill>
                <a:latin typeface="Malgun Gothic"/>
                <a:ea typeface="Malgun Gothic"/>
                <a:cs typeface="Malgun Gothic"/>
              </a:rPr>
              <a:t>Mitochondria, Chloroplasts and Peroxisomes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M01-W10-L01</a:t>
            </a:r>
          </a:p>
          <a:p>
            <a:r>
              <a:rPr sz="1100" b="0" i="0">
                <a:solidFill>
                  <a:srgbClr val="9FBEDA"/>
                </a:solidFill>
                <a:latin typeface="Malgun Gothic"/>
                <a:ea typeface="Malgun Gothic"/>
                <a:cs typeface="Malgun Gothic"/>
              </a:rPr>
              <a:t>10주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미토콘드리아 두 막의 투과성·지질 조성·단백질 조성 차이를 각 막의 기능과 연결해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Cristae의 구조와 crista junction의 배치가 oxidative phosphorylation 용량에 기여하는 방식을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미토콘드리아 융합과 분열을 담당하는 단백질을 들고, 네트워크의 균형이 손상 단백질 제거에 필요한 이유를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사람 mtDNA의 크기·유전자 수·유전 양식을 쓰고, heteroplasmy와 threshold effect로 표현형의 조직 특이성을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Tom·Tim23·Tim22·SAM·Oxa1의 역할을 구분하고, 어느 단계가 막전위를 필요로 하는지 판정한다.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엽록체의 세 번째 막계와 transit peptide 경로를 미토콘드리아와 비교해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퍼옥시좀의 대사 기능 네 가지를 쓰고, PTS1 수입 경로의 결손이 일으키는 생화학적 변화를 예측한다.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산화환원 전위, 양성자 기울기, 짝반응</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M01-W09-L03 Glycolysis·oxidative phosphorylation과 광합성 개요 — 호흡 복합체의 배열과 ATP synthase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인지질 이중층, 막단백질의 배치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M01-W09-L01 단백질 표적화와 소포 수송 — 공동 번역 수송과 번역 후 수송의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들어가며: 막으로 에너지를 다루는 소기관</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에너지 소기관의 공통 설계와 내공생 기원</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미토콘드리아의 두 막과 네 구획</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미토콘드리아 네트워크: 융합과 분열</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미토콘드리아 유전체와 그 유전 양식</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핵 암호화 단백질의 수입과 분류</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미토콘드리아의 Ca²⁺ 처리와 투과성 전이</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미토콘드리아와 세포사멸·자연면역</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안쪽막을 통한 대사물 수송</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엽록체: 세 번째 막계와 비교 설계</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퍼옥시좀의 대사 기능과 단백질 수입</a:t>
            </a:r>
          </a:p>
          <a:p>
            <a:pPr>
              <a:spcAft>
                <a:spcPts val="900"/>
              </a:spcAft>
            </a:pPr>
            <a:r>
              <a:rPr sz="1800" b="1" i="0">
                <a:solidFill>
                  <a:srgbClr val="F2B705"/>
                </a:solidFill>
                <a:latin typeface="Malgun Gothic"/>
                <a:ea typeface="Malgun Gothic"/>
                <a:cs typeface="Malgun Gothic"/>
              </a:rPr>
              <a:t>12.  </a:t>
            </a:r>
            <a:r>
              <a:rPr sz="1800" b="0" i="0">
                <a:solidFill>
                  <a:srgbClr val="11202B"/>
                </a:solidFill>
                <a:latin typeface="Malgun Gothic"/>
                <a:ea typeface="Malgun Gothic"/>
                <a:cs typeface="Malgun Gothic"/>
              </a:rPr>
              <a:t>12.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막으로 에너지를 다루는 소기관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미토콘드리아와 엽록체, 그리고 퍼옥시좀을 다룬다. 앞 수업에서 포도당과 지방산이 어떻게 분해되어 ATP가 되는지는 보았다. 여기서는 </a:t>
            </a:r>
            <a:r>
              <a:rPr sz="1400" b="1" i="0">
                <a:solidFill>
                  <a:srgbClr val="11202B"/>
                </a:solidFill>
                <a:latin typeface="Malgun Gothic"/>
                <a:ea typeface="Malgun Gothic"/>
                <a:cs typeface="Malgun Gothic"/>
              </a:rPr>
              <a:t>그 반응이 일어나는 장소</a:t>
            </a:r>
            <a:r>
              <a:rPr sz="1400" b="0" i="0">
                <a:solidFill>
                  <a:srgbClr val="11202B"/>
                </a:solidFill>
                <a:latin typeface="Malgun Gothic"/>
                <a:ea typeface="Malgun Gothic"/>
                <a:cs typeface="Malgun Gothic"/>
              </a:rPr>
              <a:t>를 본다. 반응을 아는 것과 그 반응이 어떤 구조 안에서 일어나는지를 아는 것은 다른 일이며, 많은 질환이 구조 쪽에서 설명된다.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핵심 발상을 먼저 말해 두자. 미토콘드리아와 엽록체는 </a:t>
            </a:r>
            <a:r>
              <a:rPr sz="1400" b="1" i="0">
                <a:solidFill>
                  <a:srgbClr val="11202B"/>
                </a:solidFill>
                <a:latin typeface="Malgun Gothic"/>
                <a:ea typeface="Malgun Gothic"/>
                <a:cs typeface="Malgun Gothic"/>
              </a:rPr>
              <a:t>막을 써서 에너지를 다룬다.</a:t>
            </a:r>
            <a:r>
              <a:rPr sz="1400" b="0" i="0">
                <a:solidFill>
                  <a:srgbClr val="11202B"/>
                </a:solidFill>
                <a:latin typeface="Malgun Gothic"/>
                <a:ea typeface="Malgun Gothic"/>
                <a:cs typeface="Malgun Gothic"/>
              </a:rPr>
              <a:t> 양성자를 막의 한쪽으로 퍼내 농도 차이를 만들고, 그 차이가 되돌아오는 흐름으로 ATP를 만든다. 즉 전지를 충전해 두고 쓰는 방식이다. 이 방식이 가능하려면 </a:t>
            </a:r>
            <a:r>
              <a:rPr sz="1400" b="1" i="0">
                <a:solidFill>
                  <a:srgbClr val="11202B"/>
                </a:solidFill>
                <a:latin typeface="Malgun Gothic"/>
                <a:ea typeface="Malgun Gothic"/>
                <a:cs typeface="Malgun Gothic"/>
              </a:rPr>
              <a:t>양성자가 함부로 새지 않는 막</a:t>
            </a:r>
            <a:r>
              <a:rPr sz="1400" b="0" i="0">
                <a:solidFill>
                  <a:srgbClr val="11202B"/>
                </a:solidFill>
                <a:latin typeface="Malgun Gothic"/>
                <a:ea typeface="Malgun Gothic"/>
                <a:cs typeface="Malgun Gothic"/>
              </a:rPr>
              <a:t>이 반드시 있어야 한다. 그래서 구조가 기능의 전제가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규모를 숫자로 잡자. 사람의 심근세포 하나에 미토콘드리아가 수천 개 있고 세포 부피의 3분의 1에 이른다. 반대로 적혈구에는 하나도 없다. </a:t>
            </a:r>
            <a:r>
              <a:rPr sz="1400" b="1" i="0">
                <a:solidFill>
                  <a:srgbClr val="11202B"/>
                </a:solidFill>
                <a:latin typeface="Malgun Gothic"/>
                <a:ea typeface="Malgun Gothic"/>
                <a:cs typeface="Malgun Gothic"/>
              </a:rPr>
              <a:t>조직마다 수가 크게 다르다</a:t>
            </a:r>
            <a:r>
              <a:rPr sz="1400" b="0" i="0">
                <a:solidFill>
                  <a:srgbClr val="11202B"/>
                </a:solidFill>
                <a:latin typeface="Malgun Gothic"/>
                <a:ea typeface="Malgun Gothic"/>
                <a:cs typeface="Malgun Gothic"/>
              </a:rPr>
              <a:t>는 사실이 미토콘드리아 질환이 왜 특정 기관에서 먼저 드러나는지를 설명한다.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 네 개를 먼저 정의한다.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막전위와 양성자 기울기</a:t>
            </a:r>
            <a:r>
              <a:rPr sz="1400" b="0" i="0">
                <a:solidFill>
                  <a:srgbClr val="11202B"/>
                </a:solidFill>
                <a:latin typeface="Malgun Gothic"/>
                <a:ea typeface="Malgun Gothic"/>
                <a:cs typeface="Malgun Gothic"/>
              </a:rPr>
              <a:t>: 막을 가로질러 전하와 농도의 차이가 생긴 상태다. 이 차이에 에너지가 저장되어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외막과 내막</a:t>
            </a:r>
            <a:r>
              <a:rPr sz="1400" b="0" i="0">
                <a:solidFill>
                  <a:srgbClr val="11202B"/>
                </a:solidFill>
                <a:latin typeface="Malgun Gothic"/>
                <a:ea typeface="Malgun Gothic"/>
                <a:cs typeface="Malgun Gothic"/>
              </a:rPr>
              <a:t>: 미토콘드리아는 두 겹의 막을 가진다. 외막은 비교적 잘 통과시키고, 내막이 양성자를 막는 실제 장벽이다. 내막이 접혀 들어간 주름을 cristae라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기질(matrix)</a:t>
            </a:r>
            <a:r>
              <a:rPr sz="1400" b="0" i="0">
                <a:solidFill>
                  <a:srgbClr val="11202B"/>
                </a:solidFill>
                <a:latin typeface="Malgun Gothic"/>
                <a:ea typeface="Malgun Gothic"/>
                <a:cs typeface="Malgun Gothic"/>
              </a:rPr>
              <a:t>: 내막 안쪽의 공간이다. TCA 회로와 지방산 분해가 여기서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내공생</a:t>
            </a:r>
            <a:r>
              <a:rPr sz="1400" b="0" i="0">
                <a:solidFill>
                  <a:srgbClr val="11202B"/>
                </a:solidFill>
                <a:latin typeface="Malgun Gothic"/>
                <a:ea typeface="Malgun Gothic"/>
                <a:cs typeface="Malgun Gothic"/>
              </a:rPr>
              <a:t>: 이 소기관들이 과거에 독립적인 세균이었다가 다른 세포 안으로 들어가 함께 살게 되었다는 설명이다. 자체 유전체와 자체 리보솜을 가진 사실이 그 근거다.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절은 다음 순서로 쌓인다. 먼저 두 소기관의 공통 설계와 그 기원을 보고(2절), 미토콘드리아의 구조를 부분별로 본다(3절). 이어서 그 안에서 일어나는 반응과 막의 역할(4·5절), 단백질과 대사물이 어떻게 드나드는지(6·7절)를 다룬다. 그다음 소기관의 수와 모양이 어떻게 조절되는지(8·9절), 그리고 퍼옥시좀(10절)과 질환(11절)으로 넘어간다.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막으로 에너지를 다루는 소기관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미토콘드리아는 막을 전지처럼 써서 에너지를 다루므로, 양성자를 막는 내막의 온전함이 기능의 전제다. 소기관의 수가 조직마다 크게 다르다는 점이 질환의 분포를 정한다.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에너지 소기관의 공통 설계와 내공생 기원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진핵세포에는 두 겹의 막으로 둘러싸인 소기관이 둘 있다. 미토콘드리아와, 식물·조류의 엽록체다. 두 소기관은 기능이 다르지만 설계가 같다. 자체 유전체를 갖고, 자체 리보솜으로 일부 단백질을 만들고, 두 막 사이에 양성자를 밀어 넣어 만든 전기화학적 기울기로 ATP를 합성한다. 세 번째 소기관인 퍼옥시좀은 막이 한 겹이고 유전체가 없으며 ATP를 만들지 않지만, 이 수업에서 함께 다루는 이유가 있다. </a:t>
            </a:r>
            <a:r>
              <a:rPr sz="1400" b="1" i="0">
                <a:solidFill>
                  <a:srgbClr val="11202B"/>
                </a:solidFill>
                <a:latin typeface="Malgun Gothic"/>
                <a:ea typeface="Malgun Gothic"/>
                <a:cs typeface="Malgun Gothic"/>
              </a:rPr>
              <a:t>단백질을 받아들이는 방식이 소포체 경로와 전혀 다르기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앞 장에서 다룬 소포체·골지체 경로에서는 단백질이 </a:t>
            </a:r>
            <a:r>
              <a:rPr sz="1400" b="1" i="0">
                <a:solidFill>
                  <a:srgbClr val="11202B"/>
                </a:solidFill>
                <a:latin typeface="Malgun Gothic"/>
                <a:ea typeface="Malgun Gothic"/>
                <a:cs typeface="Malgun Gothic"/>
              </a:rPr>
              <a:t>번역되는 동안</a:t>
            </a:r>
            <a:r>
              <a:rPr sz="1400" b="0" i="0">
                <a:solidFill>
                  <a:srgbClr val="11202B"/>
                </a:solidFill>
                <a:latin typeface="Malgun Gothic"/>
                <a:ea typeface="Malgun Gothic"/>
                <a:cs typeface="Malgun Gothic"/>
              </a:rPr>
              <a:t> 막을 통과한다(co-translational translocation). 반면 미토콘드리아·엽록체·퍼옥시좀의 단백질은 세포질의 유리 리보솜에서 </a:t>
            </a:r>
            <a:r>
              <a:rPr sz="1400" b="1" i="0">
                <a:solidFill>
                  <a:srgbClr val="11202B"/>
                </a:solidFill>
                <a:latin typeface="Malgun Gothic"/>
                <a:ea typeface="Malgun Gothic"/>
                <a:cs typeface="Malgun Gothic"/>
              </a:rPr>
              <a:t>완성된 다음에</a:t>
            </a:r>
            <a:r>
              <a:rPr sz="1400" b="0" i="0">
                <a:solidFill>
                  <a:srgbClr val="11202B"/>
                </a:solidFill>
                <a:latin typeface="Malgun Gothic"/>
                <a:ea typeface="Malgun Gothic"/>
                <a:cs typeface="Malgun Gothic"/>
              </a:rPr>
              <a:t> 수입된다(post-translational import). 퍼옥시좀은 한 걸음 더 나아가 </a:t>
            </a:r>
            <a:r>
              <a:rPr sz="1400" b="1" i="0">
                <a:solidFill>
                  <a:srgbClr val="11202B"/>
                </a:solidFill>
                <a:latin typeface="Malgun Gothic"/>
                <a:ea typeface="Malgun Gothic"/>
                <a:cs typeface="Malgun Gothic"/>
              </a:rPr>
              <a:t>이미 접힌 단백질</a:t>
            </a:r>
            <a:r>
              <a:rPr sz="1400" b="0" i="0">
                <a:solidFill>
                  <a:srgbClr val="11202B"/>
                </a:solidFill>
                <a:latin typeface="Malgun Gothic"/>
                <a:ea typeface="Malgun Gothic"/>
                <a:cs typeface="Malgun Gothic"/>
              </a:rPr>
              <a:t>을 통째로 받아들인다. 이 차이가 세 소기관을 하나의 장으로 묶는 근거다.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겹 막 소기관의 기원은 </a:t>
            </a:r>
            <a:r>
              <a:rPr sz="1400" b="1" i="0">
                <a:solidFill>
                  <a:srgbClr val="11202B"/>
                </a:solidFill>
                <a:latin typeface="Malgun Gothic"/>
                <a:ea typeface="Malgun Gothic"/>
                <a:cs typeface="Malgun Gothic"/>
              </a:rPr>
              <a:t>내공생설(endosymbiotic theory)</a:t>
            </a:r>
            <a:r>
              <a:rPr sz="1400" b="0" i="0">
                <a:solidFill>
                  <a:srgbClr val="11202B"/>
                </a:solidFill>
                <a:latin typeface="Malgun Gothic"/>
                <a:ea typeface="Malgun Gothic"/>
                <a:cs typeface="Malgun Gothic"/>
              </a:rPr>
              <a:t>로 설명된다. 미토콘드리아는 호기성 α-proteobacterium이, 엽록체는 광합성을 하는 cyanobacterium이 숙주 세포 안에 들어가 공생하면서 자리 잡은 것이다. 근거는 구조와 서열 양쪽에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유전체가 원형이고 intron이 없으며 유전자가 조밀하게 배열되어 있다. 세균 유전체의 특징이다.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리보솜이 세균형에 가깝다. 그래서 chloramphenicol, tetracycline, 그리고 aminoglycoside 계열 항생제가 미토콘드리아 번역을 함께 억제한다.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내막의 지질 조성이 세균 원형질막과 닮아 있고, 특히 </a:t>
            </a:r>
            <a:r>
              <a:rPr sz="1400" b="1" i="0">
                <a:solidFill>
                  <a:srgbClr val="11202B"/>
                </a:solidFill>
                <a:latin typeface="Malgun Gothic"/>
                <a:ea typeface="Malgun Gothic"/>
                <a:cs typeface="Malgun Gothic"/>
              </a:rPr>
              <a:t>cardiolipin</a:t>
            </a:r>
            <a:r>
              <a:rPr sz="1400" b="0" i="0">
                <a:solidFill>
                  <a:srgbClr val="11202B"/>
                </a:solidFill>
                <a:latin typeface="Malgun Gothic"/>
                <a:ea typeface="Malgun Gothic"/>
                <a:cs typeface="Malgun Gothic"/>
              </a:rPr>
              <a:t>은 세균과 미토콘드리아 내막에만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서열 계통분석에서 mtDNA 유전자가 α-proteobacteria 분지 안에 들어간다.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에너지 소기관의 공통 설계와 내공생 기원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내공생 이후 대부분의 유전자는 숙주 핵으로 이동했다. 사람 미토콘드리아에는 약 1,000~1,500종의 단백질이 있는데 그중 mtDNA가 암호화하는 것은 13종뿐이다. 나머지는 모두 핵 유전자의 산물이고, 그래서 </a:t>
            </a:r>
            <a:r>
              <a:rPr sz="2000" b="1" i="0">
                <a:solidFill>
                  <a:srgbClr val="11202B"/>
                </a:solidFill>
                <a:latin typeface="Malgun Gothic"/>
                <a:ea typeface="Malgun Gothic"/>
                <a:cs typeface="Malgun Gothic"/>
              </a:rPr>
              <a:t>수입 장치가 소기관 생물학의 중심 문제</a:t>
            </a:r>
            <a:r>
              <a:rPr sz="2000" b="0" i="0">
                <a:solidFill>
                  <a:srgbClr val="11202B"/>
                </a:solidFill>
                <a:latin typeface="Malgun Gothic"/>
                <a:ea typeface="Malgun Gothic"/>
                <a:cs typeface="Malgun Gothic"/>
              </a:rPr>
              <a:t>가 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에너지 소기관의 공통 설계와 내공생 기원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9</a:t>
            </a:r>
          </a:p>
        </p:txBody>
      </p:sp>
      <p:pic>
        <p:nvPicPr>
          <p:cNvPr id="7" name="Picture 6" descr="fig-mito-structure.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미토콘드리아의 구획. 바깥막은 porin 때문에 작은 분자에 자유롭게 열려 있고, 안쪽막은 cardiolipin이 많으며 특정 수송체 없이는 통과할 수 없다. Cristae가 안쪽막의 면적을 늘린다.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미토콘드리아의 두 막과 네 구획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미토콘드리아는 네 구획으로 나뉜다. 바깥막, 두 막 사이 공간(intermembrane space, IMS), 안쪽막, 그리고 안쪽막이 둘러싼 matrix다. 구획이 넷이라는 것은 수입된 단백질의 목적지가 네 곳이라는 뜻이고, 수송 장치가 여럿인 이유가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바깥막</a:t>
            </a:r>
            <a:r>
              <a:rPr sz="1400" b="0" i="0">
                <a:solidFill>
                  <a:srgbClr val="11202B"/>
                </a:solidFill>
                <a:latin typeface="Malgun Gothic"/>
                <a:ea typeface="Malgun Gothic"/>
                <a:cs typeface="Malgun Gothic"/>
              </a:rPr>
              <a:t>에는 </a:t>
            </a:r>
            <a:r>
              <a:rPr sz="1400" b="1" i="0">
                <a:solidFill>
                  <a:srgbClr val="11202B"/>
                </a:solidFill>
                <a:latin typeface="Malgun Gothic"/>
                <a:ea typeface="Malgun Gothic"/>
                <a:cs typeface="Malgun Gothic"/>
              </a:rPr>
              <a:t>porin</a:t>
            </a:r>
            <a:r>
              <a:rPr sz="1400" b="0" i="0">
                <a:solidFill>
                  <a:srgbClr val="11202B"/>
                </a:solidFill>
                <a:latin typeface="Malgun Gothic"/>
                <a:ea typeface="Malgun Gothic"/>
                <a:cs typeface="Malgun Gothic"/>
              </a:rPr>
              <a:t>(mitochondrial porin, VDAC)이라는 β-barrel 단백질이 많다. Porin의 통로는 지름이 2~3 nm여서 분자량 약 5 kDa 이하의 용질이 자유롭게 통과한다. 따라서 IMS의 작은 분자 조성은 세포질과 거의 같다. </a:t>
            </a:r>
            <a:r>
              <a:rPr sz="1400" b="1" i="0">
                <a:solidFill>
                  <a:srgbClr val="11202B"/>
                </a:solidFill>
                <a:latin typeface="Malgun Gothic"/>
                <a:ea typeface="Malgun Gothic"/>
                <a:cs typeface="Malgun Gothic"/>
              </a:rPr>
              <a:t>바깥막에는 농도기울기가 유지되지 않는다.</a:t>
            </a:r>
            <a:r>
              <a:rPr sz="1400" b="0" i="0">
                <a:solidFill>
                  <a:srgbClr val="11202B"/>
                </a:solidFill>
                <a:latin typeface="Malgun Gothic"/>
                <a:ea typeface="Malgun Gothic"/>
                <a:cs typeface="Malgun Gothic"/>
              </a:rPr>
              <a:t> 이 사실이 뒤에서 중요해진다. 바깥막을 통과하는 Tom 복합체는 막전위를 쓸 수 없고, 안쪽막의 Tim 복합체만 쓸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안쪽막</a:t>
            </a:r>
            <a:r>
              <a:rPr sz="1400" b="0" i="0">
                <a:solidFill>
                  <a:srgbClr val="11202B"/>
                </a:solidFill>
                <a:latin typeface="Malgun Gothic"/>
                <a:ea typeface="Malgun Gothic"/>
                <a:cs typeface="Malgun Gothic"/>
              </a:rPr>
              <a:t>은 반대다. 이온과 대사물이 통과하려면 전용 수송체가 있어야 한다. H⁺, Na⁺, K⁺, Ca²⁺, ATP, ADP, pyruvate, phosphate가 모두 각자의 수송체를 거친다. 안쪽막이 불투과성이어야만 호흡 복합체가 밀어낸 양성자가 되돌아오지 못하고 기울기로 남는다. 지질 조성도 특별하다. 인지질의 약 20%가 </a:t>
            </a:r>
            <a:r>
              <a:rPr sz="1400" b="1" i="0">
                <a:solidFill>
                  <a:srgbClr val="11202B"/>
                </a:solidFill>
                <a:latin typeface="Malgun Gothic"/>
                <a:ea typeface="Malgun Gothic"/>
                <a:cs typeface="Malgun Gothic"/>
              </a:rPr>
              <a:t>cardiolipin</a:t>
            </a:r>
            <a:r>
              <a:rPr sz="1400" b="0" i="0">
                <a:solidFill>
                  <a:srgbClr val="11202B"/>
                </a:solidFill>
                <a:latin typeface="Malgun Gothic"/>
                <a:ea typeface="Malgun Gothic"/>
                <a:cs typeface="Malgun Gothic"/>
              </a:rPr>
              <a:t>인데, 이것은 glycerol 하나에 두 개의 phosphatidyl기가 붙은 네 꼬리 지질이다. Cardiolipin은 호흡 복합체와 ATP synthase의 구조를 안정화하고, 막을 구부려 cristae를 만드는 데 기여하며, 양성자를 막 표면에 붙들어 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단백질 밀도도 다르다. 바깥막의 단백질:지질 질량비는 약 1:1인데, 안쪽막은 약 3:1이다. 생물학적 막 중에서 단백질 비율이 가장 높은 막에 속한다.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미토콘드리아의 두 막과 네 구획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Cristae</a:t>
            </a:r>
            <a:r>
              <a:rPr sz="1800" b="0" i="0">
                <a:solidFill>
                  <a:srgbClr val="11202B"/>
                </a:solidFill>
                <a:latin typeface="Malgun Gothic"/>
                <a:ea typeface="Malgun Gothic"/>
                <a:cs typeface="Malgun Gothic"/>
              </a:rPr>
              <a:t>는 안쪽막이 matrix 쪽으로 접혀 들어간 주름이다. Cristae 때문에 안쪽막의 면적은 바깥막의 몇 배가 되며, 심근처럼 ATP 요구가 큰 세포에서 주름이 촘촘하다. 중요한 구조 특징이 하나 더 있다. Cristae는 </a:t>
            </a:r>
            <a:r>
              <a:rPr sz="1800" b="1" i="0">
                <a:solidFill>
                  <a:srgbClr val="11202B"/>
                </a:solidFill>
                <a:latin typeface="Malgun Gothic"/>
                <a:ea typeface="Malgun Gothic"/>
                <a:cs typeface="Malgun Gothic"/>
              </a:rPr>
              <a:t>crista junction</a:t>
            </a:r>
            <a:r>
              <a:rPr sz="1800" b="0" i="0">
                <a:solidFill>
                  <a:srgbClr val="11202B"/>
                </a:solidFill>
                <a:latin typeface="Malgun Gothic"/>
                <a:ea typeface="Malgun Gothic"/>
                <a:cs typeface="Malgun Gothic"/>
              </a:rPr>
              <a:t>이라는 좁은 목으로 주변 안쪽막에 이어진다. 목이 좁기 때문에 crista 내부의 공간이 IMS의 나머지 부분과 반쯤 분리되고, 양성자가 국소적으로 더 높은 농도로 머문다. ATP synthase는 crista의 굽은 능선에 줄지어 배열되고 호흡 복합체는 측면에 분포하므로, 양성자가 짧은 거리만 이동해 ATP synthase에 도달한다.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미토콘드리아의 두 막과 네 구획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바깥막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안쪽막</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작은 용질 투과성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porin으로 &lt; 5 kDa 자유 통과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불투과, 전용 수송체 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전기화학적 기울기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Δψ 약 −160~−180 mV, ΔpH 약 0.5~1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특징적 지질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보통의 인지질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cardiolipin 약 20%</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단백질:지질 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1:1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3:1</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주요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porin, Tom, SAM, Mfn1/2, Bcl-2 계열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호흡 복합체 I~IV, ATP synthase, Tim23/Tim22, ANT</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미토콘드리아의 두 막과 네 구획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두 막의 투과성 차이가 미토콘드리아 기능의 출발점이다. 바깥막이 열려 있어 대사물이 쉽게 들어오고, 안쪽막이 닫혀 있어 양성자 기울기가 유지된다. Cristae와 crista junction은 그 기울기를 ATP synthase 근처에 모아 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미토콘드리아 네트워크: 융합과 분열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교과서 그림의 미토콘드리아는 콩 모양 하나로 그려지지만, 살아 있는 세포에서는 끊임없이 서로 붙고 끊어지는 </a:t>
            </a:r>
            <a:r>
              <a:rPr sz="1400" b="1" i="0">
                <a:solidFill>
                  <a:srgbClr val="11202B"/>
                </a:solidFill>
                <a:latin typeface="Malgun Gothic"/>
                <a:ea typeface="Malgun Gothic"/>
                <a:cs typeface="Malgun Gothic"/>
              </a:rPr>
              <a:t>그물망</a:t>
            </a:r>
            <a:r>
              <a:rPr sz="1400" b="0" i="0">
                <a:solidFill>
                  <a:srgbClr val="11202B"/>
                </a:solidFill>
                <a:latin typeface="Malgun Gothic"/>
                <a:ea typeface="Malgun Gothic"/>
                <a:cs typeface="Malgun Gothic"/>
              </a:rPr>
              <a:t>이다. 형광 표지와 시간 경과 현미경으로 관찰하면 융합(fusion)과 분열(fission)이 분 단위로 반복된다.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융합</a:t>
            </a:r>
            <a:r>
              <a:rPr sz="1400" b="0" i="0">
                <a:solidFill>
                  <a:srgbClr val="11202B"/>
                </a:solidFill>
                <a:latin typeface="Malgun Gothic"/>
                <a:ea typeface="Malgun Gothic"/>
                <a:cs typeface="Malgun Gothic"/>
              </a:rPr>
              <a:t>에는 두 막 각각의 GTPase가 쓰인다. 바깥막에서는 </a:t>
            </a:r>
            <a:r>
              <a:rPr sz="1400" b="1" i="0">
                <a:solidFill>
                  <a:srgbClr val="11202B"/>
                </a:solidFill>
                <a:latin typeface="Malgun Gothic"/>
                <a:ea typeface="Malgun Gothic"/>
                <a:cs typeface="Malgun Gothic"/>
              </a:rPr>
              <a:t>mitofusin 1(Mfn1)과 mitofusin 2(Mfn2)</a:t>
            </a:r>
            <a:r>
              <a:rPr sz="1400" b="0" i="0">
                <a:solidFill>
                  <a:srgbClr val="11202B"/>
                </a:solidFill>
                <a:latin typeface="Malgun Gothic"/>
                <a:ea typeface="Malgun Gothic"/>
                <a:cs typeface="Malgun Gothic"/>
              </a:rPr>
              <a:t>가 마주 보는 두 미토콘드리아를 묶어 막을 합치고, 안쪽막에서는 </a:t>
            </a:r>
            <a:r>
              <a:rPr sz="1400" b="1" i="0">
                <a:solidFill>
                  <a:srgbClr val="11202B"/>
                </a:solidFill>
                <a:latin typeface="Malgun Gothic"/>
                <a:ea typeface="Malgun Gothic"/>
                <a:cs typeface="Malgun Gothic"/>
              </a:rPr>
              <a:t>Opa1(optic atrophy 1)</a:t>
            </a:r>
            <a:r>
              <a:rPr sz="1400" b="0" i="0">
                <a:solidFill>
                  <a:srgbClr val="11202B"/>
                </a:solidFill>
                <a:latin typeface="Malgun Gothic"/>
                <a:ea typeface="Malgun Gothic"/>
                <a:cs typeface="Malgun Gothic"/>
              </a:rPr>
              <a:t>이 같은 일을 한다. 두 단계가 분리되어 있으므로 바깥막만 융합한 중간 상태가 존재한다.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분열</a:t>
            </a:r>
            <a:r>
              <a:rPr sz="1400" b="0" i="0">
                <a:solidFill>
                  <a:srgbClr val="11202B"/>
                </a:solidFill>
                <a:latin typeface="Malgun Gothic"/>
                <a:ea typeface="Malgun Gothic"/>
                <a:cs typeface="Malgun Gothic"/>
              </a:rPr>
              <a:t>은 </a:t>
            </a:r>
            <a:r>
              <a:rPr sz="1400" b="1" i="0">
                <a:solidFill>
                  <a:srgbClr val="11202B"/>
                </a:solidFill>
                <a:latin typeface="Malgun Gothic"/>
                <a:ea typeface="Malgun Gothic"/>
                <a:cs typeface="Malgun Gothic"/>
              </a:rPr>
              <a:t>Drp1(dynamin-related protein 1)</a:t>
            </a:r>
            <a:r>
              <a:rPr sz="1400" b="0" i="0">
                <a:solidFill>
                  <a:srgbClr val="11202B"/>
                </a:solidFill>
                <a:latin typeface="Malgun Gothic"/>
                <a:ea typeface="Malgun Gothic"/>
                <a:cs typeface="Malgun Gothic"/>
              </a:rPr>
              <a:t>이 담당한다. Drp1은 세포질 단백질이고, 바깥막의 Mff와 Fis1 같은 수용체에 불려 와 미토콘드리아를 고리처럼 감싼 뒤 GTP 가수분해로 조여 끊는다. 분열이 일어나는 지점은 무작위가 아니다. 소포체가 미토콘드리아와 접촉하는 자리에서 먼저 잘록해지고 거기에 Drp1이 모인다.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융합과 분열이 왜 둘 다 필요한가. 네 가지 이유가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융합은 손상을 희석한다.</a:t>
            </a:r>
            <a:r>
              <a:rPr sz="1400" b="0" i="0">
                <a:solidFill>
                  <a:srgbClr val="11202B"/>
                </a:solidFill>
                <a:latin typeface="Malgun Gothic"/>
                <a:ea typeface="Malgun Gothic"/>
                <a:cs typeface="Malgun Gothic"/>
              </a:rPr>
              <a:t> 한 미토콘드리아의 mtDNA에 변이가 생기거나 단백질이 손상되어도, 융합으로 내용물이 섞이면 정상 산물이 보충된다. 서로 다른 유전자에 결손이 있는 두 mtDNA가 섞여 기능을 회복하는 현상(genetic complementation)이 관찰된다.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분열은 운반을 가능하게 한다.</a:t>
            </a:r>
            <a:r>
              <a:rPr sz="1400" b="0" i="0">
                <a:solidFill>
                  <a:srgbClr val="11202B"/>
                </a:solidFill>
                <a:latin typeface="Malgun Gothic"/>
                <a:ea typeface="Malgun Gothic"/>
                <a:cs typeface="Malgun Gothic"/>
              </a:rPr>
              <a:t> 신경 축삭처럼 긴 세포에서 미토콘드리아는 미세소관 위를 운반되어야 한다. 그물망 상태로는 옮길 수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분열은 손상을 격리한다.</a:t>
            </a:r>
            <a:r>
              <a:rPr sz="1400" b="0" i="0">
                <a:solidFill>
                  <a:srgbClr val="11202B"/>
                </a:solidFill>
                <a:latin typeface="Malgun Gothic"/>
                <a:ea typeface="Malgun Gothic"/>
                <a:cs typeface="Malgun Gothic"/>
              </a:rPr>
              <a:t> 비대칭 분열로 손상된 부분을 한쪽 딸 소기관에 모으면, 그것만 선택적으로 제거할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분열은 세포분열 때 분배를 가능하게 한다.</a:t>
            </a:r>
            <a:r>
              <a:rPr sz="1400" b="0" i="0">
                <a:solidFill>
                  <a:srgbClr val="11202B"/>
                </a:solidFill>
                <a:latin typeface="Malgun Gothic"/>
                <a:ea typeface="Malgun Gothic"/>
                <a:cs typeface="Malgun Gothic"/>
              </a:rPr>
              <a:t> 세포질 분할 전에 네트워크가 작은 조각으로 나뉘어야 양쪽 딸세포에 나누어 들어간다.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미토콘드리아 네트워크: 융합과 분열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손상된 미토콘드리아의 제거는 </a:t>
            </a:r>
            <a:r>
              <a:rPr sz="1800" b="1" i="0">
                <a:solidFill>
                  <a:srgbClr val="11202B"/>
                </a:solidFill>
                <a:latin typeface="Malgun Gothic"/>
                <a:ea typeface="Malgun Gothic"/>
                <a:cs typeface="Malgun Gothic"/>
              </a:rPr>
              <a:t>mitophagy</a:t>
            </a:r>
            <a:r>
              <a:rPr sz="1800" b="0" i="0">
                <a:solidFill>
                  <a:srgbClr val="11202B"/>
                </a:solidFill>
                <a:latin typeface="Malgun Gothic"/>
                <a:ea typeface="Malgun Gothic"/>
                <a:cs typeface="Malgun Gothic"/>
              </a:rPr>
              <a:t>로 이루어지고, 그 선택 기전이 잘 밝혀져 있다. Kinase인 </a:t>
            </a:r>
            <a:r>
              <a:rPr sz="1800" b="1" i="0">
                <a:solidFill>
                  <a:srgbClr val="11202B"/>
                </a:solidFill>
                <a:latin typeface="Malgun Gothic"/>
                <a:ea typeface="Malgun Gothic"/>
                <a:cs typeface="Malgun Gothic"/>
              </a:rPr>
              <a:t>PINK1</a:t>
            </a:r>
            <a:r>
              <a:rPr sz="1800" b="0" i="0">
                <a:solidFill>
                  <a:srgbClr val="11202B"/>
                </a:solidFill>
                <a:latin typeface="Malgun Gothic"/>
                <a:ea typeface="Malgun Gothic"/>
                <a:cs typeface="Malgun Gothic"/>
              </a:rPr>
              <a:t>은 정상적으로는 안쪽막을 통과해 matrix 쪽으로 수입되고 거기서 분해된다. 그런데 이 수입은 막전위에 의존한다. 막전위를 잃은 미토콘드리아에서는 PINK1이 수입되지 못해 바깥막에 쌓이고, 쌓인 PINK1이 ubiquitin ligase인 </a:t>
            </a:r>
            <a:r>
              <a:rPr sz="1800" b="1" i="0">
                <a:solidFill>
                  <a:srgbClr val="11202B"/>
                </a:solidFill>
                <a:latin typeface="Malgun Gothic"/>
                <a:ea typeface="Malgun Gothic"/>
                <a:cs typeface="Malgun Gothic"/>
              </a:rPr>
              <a:t>Parkin</a:t>
            </a:r>
            <a:r>
              <a:rPr sz="1800" b="0" i="0">
                <a:solidFill>
                  <a:srgbClr val="11202B"/>
                </a:solidFill>
                <a:latin typeface="Malgun Gothic"/>
                <a:ea typeface="Malgun Gothic"/>
                <a:cs typeface="Malgun Gothic"/>
              </a:rPr>
              <a:t>을 불러와 활성화한다. Parkin이 바깥막 단백질에 ubiquitin을 붙이면 autophagy 기구가 그 소기관을 알아보고 삼킨다. </a:t>
            </a:r>
            <a:r>
              <a:rPr sz="1800" b="1" i="0">
                <a:solidFill>
                  <a:srgbClr val="11202B"/>
                </a:solidFill>
                <a:latin typeface="Malgun Gothic"/>
                <a:ea typeface="Malgun Gothic"/>
                <a:cs typeface="Malgun Gothic"/>
              </a:rPr>
              <a:t>즉 세포는 수입 장치 자체를 품질 센서로 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미토콘드리아 네트워크: 융합과 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16</a:t>
            </a:r>
          </a:p>
        </p:txBody>
      </p:sp>
      <p:pic>
        <p:nvPicPr>
          <p:cNvPr id="7" name="Picture 6" descr="fig-mito-dynamic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미토콘드리아 네트워크의 균형. Mfn1/Mfn2와 Opa1이 융합을, Drp1이 분열을 담당하고, 막전위를 잃은 소기관은 PINK1-Parkin 경로로 표지되어 mitophagy로 제거된다.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미토콘드리아 네트워크: 융합과 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네트워크 단백질의 유전자 변이는 특정 세포만 선택적으로 손상시킨다. MFN2 변이는 Charcot-Marie-Tooth 병 2A형을 일으켜 가장 긴 축삭을 가진 말초신경이 먼저 망가지고, OPA1 변이는 우성 시신경위축(autosomal dominant optic atrophy)으로 망막 신경절세포를 손상시킨다. *PINK1*과 PRKN 변이는 젊은 나이에 발병하는 Parkinson 병의 원인이 된다. 세 질환 모두 축삭이 길고 미토콘드리아 운반과 품질 관리에 특히 의존하는 신경에서 먼저 나타난다.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미토콘드리아 유전체와 그 유전 양식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mtDNA는 </a:t>
            </a:r>
            <a:r>
              <a:rPr sz="1400" b="1" i="0">
                <a:solidFill>
                  <a:srgbClr val="11202B"/>
                </a:solidFill>
                <a:latin typeface="Malgun Gothic"/>
                <a:ea typeface="Malgun Gothic"/>
                <a:cs typeface="Malgun Gothic"/>
              </a:rPr>
              <a:t>16,569 bp의 원형 이중나선</a:t>
            </a:r>
            <a:r>
              <a:rPr sz="1400" b="0" i="0">
                <a:solidFill>
                  <a:srgbClr val="11202B"/>
                </a:solidFill>
                <a:latin typeface="Malgun Gothic"/>
                <a:ea typeface="Malgun Gothic"/>
                <a:cs typeface="Malgun Gothic"/>
              </a:rPr>
              <a:t>이고 </a:t>
            </a:r>
            <a:r>
              <a:rPr sz="1400" b="1" i="0">
                <a:solidFill>
                  <a:srgbClr val="11202B"/>
                </a:solidFill>
                <a:latin typeface="Malgun Gothic"/>
                <a:ea typeface="Malgun Gothic"/>
                <a:cs typeface="Malgun Gothic"/>
              </a:rPr>
              <a:t>37개 유전자</a:t>
            </a:r>
            <a:r>
              <a:rPr sz="1400" b="0" i="0">
                <a:solidFill>
                  <a:srgbClr val="11202B"/>
                </a:solidFill>
                <a:latin typeface="Malgun Gothic"/>
                <a:ea typeface="Malgun Gothic"/>
                <a:cs typeface="Malgun Gothic"/>
              </a:rPr>
              <a:t>를 담는다. 유전자 구성은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 13종</a:t>
            </a:r>
            <a:r>
              <a:rPr sz="1400" b="0" i="0">
                <a:solidFill>
                  <a:srgbClr val="11202B"/>
                </a:solidFill>
                <a:latin typeface="Malgun Gothic"/>
                <a:ea typeface="Malgun Gothic"/>
                <a:cs typeface="Malgun Gothic"/>
              </a:rPr>
              <a:t>: 모두 oxidative phosphorylation 복합체의 소단위다. 복합체 I의 7종, 복합체 III의 1종(cytochrome b), 복합체 IV의 3종, ATP synthase의 2종이다. 복합체 II는 전부 핵 암호화다.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rRNA 2종</a:t>
            </a:r>
            <a:r>
              <a:rPr sz="1400" b="0" i="0">
                <a:solidFill>
                  <a:srgbClr val="11202B"/>
                </a:solidFill>
                <a:latin typeface="Malgun Gothic"/>
                <a:ea typeface="Malgun Gothic"/>
                <a:cs typeface="Malgun Gothic"/>
              </a:rPr>
              <a:t>: 12S와 16S. 미토콘드리아 리보솜을 구성한다.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tRNA 22종</a:t>
            </a:r>
            <a:r>
              <a:rPr sz="1400" b="0" i="0">
                <a:solidFill>
                  <a:srgbClr val="11202B"/>
                </a:solidFill>
                <a:latin typeface="Malgun Gothic"/>
                <a:ea typeface="Malgun Gothic"/>
                <a:cs typeface="Malgun Gothic"/>
              </a:rPr>
              <a:t>: 미토콘드리아 번역에 쓰이는 모든 tRNA다. 표준 유전암호와 코돈 해석이 일부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유전자가 조밀해 intron이 없고 유전자 사이 간격이 거의 없다. 단백질을 암호화하지 않는 구간은 복제원점과 전사 프로모터가 모여 있는 </a:t>
            </a:r>
            <a:r>
              <a:rPr sz="1400" b="1" i="0">
                <a:solidFill>
                  <a:srgbClr val="11202B"/>
                </a:solidFill>
                <a:latin typeface="Malgun Gothic"/>
                <a:ea typeface="Malgun Gothic"/>
                <a:cs typeface="Malgun Gothic"/>
              </a:rPr>
              <a:t>D-loop(control region)</a:t>
            </a:r>
            <a:r>
              <a:rPr sz="1400" b="0" i="0">
                <a:solidFill>
                  <a:srgbClr val="11202B"/>
                </a:solidFill>
                <a:latin typeface="Malgun Gothic"/>
                <a:ea typeface="Malgun Gothic"/>
                <a:cs typeface="Malgun Gothic"/>
              </a:rPr>
              <a:t>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mtDNA의 유전은 핵 유전과 네 가지 점에서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모계 유전이다.</a:t>
            </a:r>
            <a:r>
              <a:rPr sz="1400" b="0" i="0">
                <a:solidFill>
                  <a:srgbClr val="11202B"/>
                </a:solidFill>
                <a:latin typeface="Malgun Gothic"/>
                <a:ea typeface="Malgun Gothic"/>
                <a:cs typeface="Malgun Gothic"/>
              </a:rPr>
              <a:t> 수정 시 정자가 들여온 미토콘드리아는 선택적으로 분해되므로, 자손의 mtDNA는 난자에서만 온다. 따라서 mtDNA 질환은 어머니로부터 모든 자녀에게 전달될 수 있고 아버지로부터는 전달되지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복제수가 많다.</a:t>
            </a:r>
            <a:r>
              <a:rPr sz="1400" b="0" i="0">
                <a:solidFill>
                  <a:srgbClr val="11202B"/>
                </a:solidFill>
                <a:latin typeface="Malgun Gothic"/>
                <a:ea typeface="Malgun Gothic"/>
                <a:cs typeface="Malgun Gothic"/>
              </a:rPr>
              <a:t> 세포 하나에 mtDNA가 수천 copy 있고, 미토콘드리아 하나에도 여러 copy가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Heteroplasmy가 생긴다.</a:t>
            </a:r>
            <a:r>
              <a:rPr sz="1400" b="0" i="0">
                <a:solidFill>
                  <a:srgbClr val="11202B"/>
                </a:solidFill>
                <a:latin typeface="Malgun Gothic"/>
                <a:ea typeface="Malgun Gothic"/>
                <a:cs typeface="Malgun Gothic"/>
              </a:rPr>
              <a:t> 야생형과 변이형 mtDNA가 한 세포 안에 섞여 존재할 수 있다. 핵 유전자는 대립유전자가 둘뿐이므로 이런 상태가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변이율이 높다.</a:t>
            </a:r>
            <a:r>
              <a:rPr sz="1400" b="0" i="0">
                <a:solidFill>
                  <a:srgbClr val="11202B"/>
                </a:solidFill>
                <a:latin typeface="Malgun Gothic"/>
                <a:ea typeface="Malgun Gothic"/>
                <a:cs typeface="Malgun Gothic"/>
              </a:rPr>
              <a:t> 핵 DNA보다 염기 치환율이 10배 이상 높다. 복구 체계가 단순하고 호흡 과정에서 생기는 반응성 산소종에 가까이 있기 때문이다.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미토콘드리아 유전체와 그 유전 양식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Heteroplasmy에서 </a:t>
            </a:r>
            <a:r>
              <a:rPr sz="1600" b="1" i="0">
                <a:solidFill>
                  <a:srgbClr val="11202B"/>
                </a:solidFill>
                <a:latin typeface="Malgun Gothic"/>
                <a:ea typeface="Malgun Gothic"/>
                <a:cs typeface="Malgun Gothic"/>
              </a:rPr>
              <a:t>threshold effect</a:t>
            </a:r>
            <a:r>
              <a:rPr sz="1600" b="0" i="0">
                <a:solidFill>
                  <a:srgbClr val="11202B"/>
                </a:solidFill>
                <a:latin typeface="Malgun Gothic"/>
                <a:ea typeface="Malgun Gothic"/>
                <a:cs typeface="Malgun Gothic"/>
              </a:rPr>
              <a:t>가 나온다. 변이형 비율이 낮으면 남은 야생형이 충분한 호흡 용량을 공급하므로 증상이 없다. 비율이 어떤 값을 넘으면 비로소 표현형이 나타나는데, 그 역치는 대체로 </a:t>
            </a:r>
            <a:r>
              <a:rPr sz="1600" b="1" i="0">
                <a:solidFill>
                  <a:srgbClr val="11202B"/>
                </a:solidFill>
                <a:latin typeface="Malgun Gothic"/>
                <a:ea typeface="Malgun Gothic"/>
                <a:cs typeface="Malgun Gothic"/>
              </a:rPr>
              <a:t>60~90%</a:t>
            </a:r>
            <a:r>
              <a:rPr sz="1600" b="0" i="0">
                <a:solidFill>
                  <a:srgbClr val="11202B"/>
                </a:solidFill>
                <a:latin typeface="Malgun Gothic"/>
                <a:ea typeface="Malgun Gothic"/>
                <a:cs typeface="Malgun Gothic"/>
              </a:rPr>
              <a:t> 범위이고 조직마다 다르다. ATP 요구가 크고 다른 에너지 공급 수단이 없는 조직의 역치가 가장 낮다. 신경, 망막, 골격근, 심근, 그리고 인슐린을 분비하는 췌장 β세포가 그런 조직이다. 같은 변이가 같은 가계 안에서도 사람마다 다른 중증도로 나타나는 이유가 heteroplasmy 비율의 차이에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세포분열 때 mtDNA는 무작위로 분배되므로 딸세포 사이에 비율이 달라진다(replicative segregation). 난자 형성 과정에서는 mtDNA 복제수가 일시적으로 크게 줄었다가 다시 늘어나는 </a:t>
            </a:r>
            <a:r>
              <a:rPr sz="1600" b="1" i="0">
                <a:solidFill>
                  <a:srgbClr val="11202B"/>
                </a:solidFill>
                <a:latin typeface="Malgun Gothic"/>
                <a:ea typeface="Malgun Gothic"/>
                <a:cs typeface="Malgun Gothic"/>
              </a:rPr>
              <a:t>bottleneck</a:t>
            </a:r>
            <a:r>
              <a:rPr sz="1600" b="0" i="0">
                <a:solidFill>
                  <a:srgbClr val="11202B"/>
                </a:solidFill>
                <a:latin typeface="Malgun Gothic"/>
                <a:ea typeface="Malgun Gothic"/>
                <a:cs typeface="Malgun Gothic"/>
              </a:rPr>
              <a:t>이 있어, 한 어머니의 난자들이 서로 꽤 다른 변이형 비율을 갖게 된다. 그래서 같은 어머니의 자녀들이 서로 다른 중증도로 발병한다.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미토콘드리아 유전체와 그 유전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20</a:t>
            </a:r>
          </a:p>
        </p:txBody>
      </p:sp>
      <p:pic>
        <p:nvPicPr>
          <p:cNvPr id="7" name="Picture 6" descr="fig-mtdna.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사람 mtDNA의 구성과 heteroplasmy. 16,569 bp 원형 유전체가 13개 단백질, 2개 rRNA, 22개 tRNA를 암호화하며, 변이형 비율이 역치를 넘을 때 표현형이 나타난다.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미토콘드리아 유전체와 그 유전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mtDNA 변이 질환은 호흡 의존도가 높은 조직에 모인다. *MT-TL1*의 m.3243A&gt;G는 MELAS(mitochondrial encephalopathy, lactic acidosis, and stroke-like episodes)를, 복합체 I 유전자 변이는 LHON(Leber hereditary optic neuropathy)을, 큰 결손은 Kearns-Sayre 증후군을 일으킨다. 공통 소견은 혈중 lactate 상승과 근육 생검의 ragged red fiber다. 해석의 요령은 가계도에 있다. 모계로만 전달되고 남녀 모두에서 나타나며 중증도가 사람마다 다르면 mtDNA 변이를 먼저 생각한다.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핵 암호화 단백질의 수입과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미토콘드리아 단백질의 99% 이상이 핵 유전자 산물이다. 이들은 세포질의 유리 리보솜에서 완성된 뒤 네 구획 중 하나로 보내진다.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Matrix로 가는 단백질의 표지는 </a:t>
            </a:r>
            <a:r>
              <a:rPr sz="1400" b="1" i="0">
                <a:solidFill>
                  <a:srgbClr val="11202B"/>
                </a:solidFill>
                <a:latin typeface="Malgun Gothic"/>
                <a:ea typeface="Malgun Gothic"/>
                <a:cs typeface="Malgun Gothic"/>
              </a:rPr>
              <a:t>presequence</a:t>
            </a:r>
            <a:r>
              <a:rPr sz="1400" b="0" i="0">
                <a:solidFill>
                  <a:srgbClr val="11202B"/>
                </a:solidFill>
                <a:latin typeface="Malgun Gothic"/>
                <a:ea typeface="Malgun Gothic"/>
                <a:cs typeface="Malgun Gothic"/>
              </a:rPr>
              <a:t>다. N-말단의 20~60 잔기 구간으로, 양전하를 띤 잔기(Arg, Lys)와 소수성 잔기가 번갈아 배치되어 한쪽 면은 양전하, 반대 면은 소수성인 helix를 만든다. 서열 자체가 보존된 것은 아니고 </a:t>
            </a:r>
            <a:r>
              <a:rPr sz="1400" b="1" i="0">
                <a:solidFill>
                  <a:srgbClr val="11202B"/>
                </a:solidFill>
                <a:latin typeface="Malgun Gothic"/>
                <a:ea typeface="Malgun Gothic"/>
                <a:cs typeface="Malgun Gothic"/>
              </a:rPr>
              <a:t>이 전하·소수성 배치가 신호의 본질</a:t>
            </a:r>
            <a:r>
              <a:rPr sz="1400" b="0" i="0">
                <a:solidFill>
                  <a:srgbClr val="11202B"/>
                </a:solidFill>
                <a:latin typeface="Malgun Gothic"/>
                <a:ea typeface="Malgun Gothic"/>
                <a:cs typeface="Malgun Gothic"/>
              </a:rPr>
              <a:t>이다. 실제로 presequence를 다른 단백질의 N-말단에 붙이면 그 단백질이 matrix로 수입된다. 이 치환 실험이 신호의 충분성을 보인 고전적 증거다.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수입 과정은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세포질의 Hsp70 계열 chaperone이 완성된 사슬을 접히지 않은 상태로 붙들어 둔다. 접힌 단백질은 통로를 통과할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Presequence가 바깥막의 </a:t>
            </a:r>
            <a:r>
              <a:rPr sz="1400" b="1" i="0">
                <a:solidFill>
                  <a:srgbClr val="11202B"/>
                </a:solidFill>
                <a:latin typeface="Malgun Gothic"/>
                <a:ea typeface="Malgun Gothic"/>
                <a:cs typeface="Malgun Gothic"/>
              </a:rPr>
              <a:t>Tom20·Tom22</a:t>
            </a:r>
            <a:r>
              <a:rPr sz="1400" b="0" i="0">
                <a:solidFill>
                  <a:srgbClr val="11202B"/>
                </a:solidFill>
                <a:latin typeface="Malgun Gothic"/>
                <a:ea typeface="Malgun Gothic"/>
                <a:cs typeface="Malgun Gothic"/>
              </a:rPr>
              <a:t> 수용체에 결합하고, 사슬이 </a:t>
            </a:r>
            <a:r>
              <a:rPr sz="1400" b="1" i="0">
                <a:solidFill>
                  <a:srgbClr val="11202B"/>
                </a:solidFill>
                <a:latin typeface="Malgun Gothic"/>
                <a:ea typeface="Malgun Gothic"/>
                <a:cs typeface="Malgun Gothic"/>
              </a:rPr>
              <a:t>Tom40</a:t>
            </a:r>
            <a:r>
              <a:rPr sz="1400" b="0" i="0">
                <a:solidFill>
                  <a:srgbClr val="11202B"/>
                </a:solidFill>
                <a:latin typeface="Malgun Gothic"/>
                <a:ea typeface="Malgun Gothic"/>
                <a:cs typeface="Malgun Gothic"/>
              </a:rPr>
              <a:t>이 만드는 통로를 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안쪽막의 </a:t>
            </a:r>
            <a:r>
              <a:rPr sz="1400" b="1" i="0">
                <a:solidFill>
                  <a:srgbClr val="11202B"/>
                </a:solidFill>
                <a:latin typeface="Malgun Gothic"/>
                <a:ea typeface="Malgun Gothic"/>
                <a:cs typeface="Malgun Gothic"/>
              </a:rPr>
              <a:t>Tim23</a:t>
            </a:r>
            <a:r>
              <a:rPr sz="1400" b="0" i="0">
                <a:solidFill>
                  <a:srgbClr val="11202B"/>
                </a:solidFill>
                <a:latin typeface="Malgun Gothic"/>
                <a:ea typeface="Malgun Gothic"/>
                <a:cs typeface="Malgun Gothic"/>
              </a:rPr>
              <a:t> 복합체가 사슬을 이어받는다. 이 단계가 </a:t>
            </a:r>
            <a:r>
              <a:rPr sz="1400" b="1" i="0">
                <a:solidFill>
                  <a:srgbClr val="11202B"/>
                </a:solidFill>
                <a:latin typeface="Malgun Gothic"/>
                <a:ea typeface="Malgun Gothic"/>
                <a:cs typeface="Malgun Gothic"/>
              </a:rPr>
              <a:t>막전위(Δψ)를 필요로 한다.</a:t>
            </a:r>
            <a:r>
              <a:rPr sz="1400" b="0" i="0">
                <a:solidFill>
                  <a:srgbClr val="11202B"/>
                </a:solidFill>
                <a:latin typeface="Malgun Gothic"/>
                <a:ea typeface="Malgun Gothic"/>
                <a:cs typeface="Malgun Gothic"/>
              </a:rPr>
              <a:t> 양전하를 띤 presequence가 음전하인 matrix 쪽으로 끌리기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Matrix 쪽에서 </a:t>
            </a:r>
            <a:r>
              <a:rPr sz="1400" b="1" i="0">
                <a:solidFill>
                  <a:srgbClr val="11202B"/>
                </a:solidFill>
                <a:latin typeface="Malgun Gothic"/>
                <a:ea typeface="Malgun Gothic"/>
                <a:cs typeface="Malgun Gothic"/>
              </a:rPr>
              <a:t>mtHsp70</a:t>
            </a:r>
            <a:r>
              <a:rPr sz="1400" b="0" i="0">
                <a:solidFill>
                  <a:srgbClr val="11202B"/>
                </a:solidFill>
                <a:latin typeface="Malgun Gothic"/>
                <a:ea typeface="Malgun Gothic"/>
                <a:cs typeface="Malgun Gothic"/>
              </a:rPr>
              <a:t>이 사슬을 ATP 가수분해에 맞춰 반복적으로 잡아당겨 통과를 완결한다.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MPP(mitochondrial processing peptidase)</a:t>
            </a:r>
            <a:r>
              <a:rPr sz="1400" b="0" i="0">
                <a:solidFill>
                  <a:srgbClr val="11202B"/>
                </a:solidFill>
                <a:latin typeface="Malgun Gothic"/>
                <a:ea typeface="Malgun Gothic"/>
                <a:cs typeface="Malgun Gothic"/>
              </a:rPr>
              <a:t>가 presequence를 절단하고, matrix의 chaperone이 최종 구조로 접는다.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목적지가 다르면 경로가 갈라진다.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핵 암호화 단백질의 수입과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목적지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막전위 필요</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Matrix</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N-말단 presequence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Tom40 → Tim23 → MPP 절단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안쪽막 carrier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내부 소수성 신호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Tom40 → Tim9-Tim10 → Tim22 삽입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필요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바깥막 β-barrel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내부 β-signal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Tom40 → SAM 복합체 삽입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IMS 가용성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 번째 소수성 신호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Tim23에서 측면 방출 후 절단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필요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mtDNA 산물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없음(이미 matrix 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mitoribosome → Oxa1로 내막에 삽입</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불필요</a:t>
                      </a:r>
                    </a:p>
                  </a:txBody>
                  <a:tcPr marL="73152" marR="73152" marT="2743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핵 암호화 단백질의 수입과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바깥막에는 전위가 없으므로 Tom 복합체는 막전위를 쓸 수 없고 수용체 결합과 사슬의 확산에 의존한다. 반면 Tim23은 전위를 직접 쓴다. 이 비대칭이 두 막의 투과성 차이에서 곧바로 따라 나온다.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지질은 다른 길로 온다. 미토콘드리아는 인지질 대부분을 스스로 만들지 못하고 소포체에서 만들어진 것을 받는다. 두 막이 가까이 접촉하는 자리에서 </a:t>
            </a:r>
            <a:r>
              <a:rPr sz="1800" b="1" i="0">
                <a:solidFill>
                  <a:srgbClr val="11202B"/>
                </a:solidFill>
                <a:latin typeface="Malgun Gothic"/>
                <a:ea typeface="Malgun Gothic"/>
                <a:cs typeface="Malgun Gothic"/>
              </a:rPr>
              <a:t>phospholipid transfer protein</a:t>
            </a:r>
            <a:r>
              <a:rPr sz="1800" b="0" i="0">
                <a:solidFill>
                  <a:srgbClr val="11202B"/>
                </a:solidFill>
                <a:latin typeface="Malgun Gothic"/>
                <a:ea typeface="Malgun Gothic"/>
                <a:cs typeface="Malgun Gothic"/>
              </a:rPr>
              <a:t>이 지질을 옮기며, cardiolipin과 phosphatidylethanolamine의 마지막 합성 단계만 미토콘드리아 자체 효소가 수행한다.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핵 암호화 단백질의 수입과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25</a:t>
            </a:r>
          </a:p>
        </p:txBody>
      </p:sp>
      <p:pic>
        <p:nvPicPr>
          <p:cNvPr id="7" name="Picture 6" descr="fig-mito-import.slide.png"/>
          <p:cNvPicPr>
            <a:picLocks noChangeAspect="1"/>
          </p:cNvPicPr>
          <p:nvPr/>
        </p:nvPicPr>
        <p:blipFill>
          <a:blip r:embed="rId2"/>
          <a:stretch>
            <a:fillRect/>
          </a:stretch>
        </p:blipFill>
        <p:spPr>
          <a:xfrm>
            <a:off x="2029686" y="1325880"/>
            <a:ext cx="813232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미토콘드리아 단백질 수입. Tom40이 공통 입구이고, 목적지에 따라 Tim23(matrix), Tim22(내막 carrier), SAM(바깥막 β-barrel)으로 갈라지며, mtDNA 산물은 Oxa1로 matrix에서 내막으로 삽입된다.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미토콘드리아의 Ca²⁺ 처리와 투과성 전이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미토콘드리아는 에너지만 다루지 않는다. 세포질 Ca²⁺ 농도를 조절하는 완충 장치이기도 하고, 그 기능이 세포의 생사를 가르는 지점과 연결되어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Ca²⁺이 matrix로 들어가는 길은 </a:t>
            </a:r>
            <a:r>
              <a:rPr sz="1400" b="1" i="0">
                <a:solidFill>
                  <a:srgbClr val="11202B"/>
                </a:solidFill>
                <a:latin typeface="Malgun Gothic"/>
                <a:ea typeface="Malgun Gothic"/>
                <a:cs typeface="Malgun Gothic"/>
              </a:rPr>
              <a:t>MCU(mitochondrial calcium uniporter)</a:t>
            </a:r>
            <a:r>
              <a:rPr sz="1400" b="0" i="0">
                <a:solidFill>
                  <a:srgbClr val="11202B"/>
                </a:solidFill>
                <a:latin typeface="Malgun Gothic"/>
                <a:ea typeface="Malgun Gothic"/>
                <a:cs typeface="Malgun Gothic"/>
              </a:rPr>
              <a:t>다. Ca²⁺은 양전하를 띠므로 막전위(matrix 쪽이 음전하)가 그 자체로 강한 구동력이 되어, 통로가 열리면 Ca²⁺이 전기적 기울기를 따라 밀려 들어간다. 다만 MCU는 친화도가 낮아 세포질 Ca²⁺ 농도가 수 μM 이상으로 올라가야 의미 있게 작동한다. 평소 세포질 Ca²⁺은 100 nM 수준이므로, 이 설계는 </a:t>
            </a:r>
            <a:r>
              <a:rPr sz="1400" b="1" i="0">
                <a:solidFill>
                  <a:srgbClr val="11202B"/>
                </a:solidFill>
                <a:latin typeface="Malgun Gothic"/>
                <a:ea typeface="Malgun Gothic"/>
                <a:cs typeface="Malgun Gothic"/>
              </a:rPr>
              <a:t>국소적으로 Ca²⁺ 농도가 크게 올라가는 자리에서만 흡수가 일어난다</a:t>
            </a:r>
            <a:r>
              <a:rPr sz="1400" b="0" i="0">
                <a:solidFill>
                  <a:srgbClr val="11202B"/>
                </a:solidFill>
                <a:latin typeface="Malgun Gothic"/>
                <a:ea typeface="Malgun Gothic"/>
                <a:cs typeface="Malgun Gothic"/>
              </a:rPr>
              <a:t>는 뜻이 된다. 그 자리가 </a:t>
            </a:r>
            <a:r>
              <a:rPr sz="1400" b="1" i="0">
                <a:solidFill>
                  <a:srgbClr val="11202B"/>
                </a:solidFill>
                <a:latin typeface="Malgun Gothic"/>
                <a:ea typeface="Malgun Gothic"/>
                <a:cs typeface="Malgun Gothic"/>
              </a:rPr>
              <a:t>소포체와 미토콘드리아가 맞닿은 접촉 부위</a:t>
            </a:r>
            <a:r>
              <a:rPr sz="1400" b="0" i="0">
                <a:solidFill>
                  <a:srgbClr val="11202B"/>
                </a:solidFill>
                <a:latin typeface="Malgun Gothic"/>
                <a:ea typeface="Malgun Gothic"/>
                <a:cs typeface="Malgun Gothic"/>
              </a:rPr>
              <a:t>다. 소포체가 Ca²⁺을 방출하면 접촉 부위의 좁은 틈에서 농도가 수십 μM에 이르고, 거기서 MCU가 작동한다. 떨어진 두 소기관 사이의 거리가 수송의 조건을 정하는 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들어온 Ca²⁺은 두 가지 일을 한다. 첫째, </a:t>
            </a:r>
            <a:r>
              <a:rPr sz="1400" b="1" i="0">
                <a:solidFill>
                  <a:srgbClr val="11202B"/>
                </a:solidFill>
                <a:latin typeface="Malgun Gothic"/>
                <a:ea typeface="Malgun Gothic"/>
                <a:cs typeface="Malgun Gothic"/>
              </a:rPr>
              <a:t>TCA cycle의 세 탈수소효소를 활성화한다.</a:t>
            </a:r>
            <a:r>
              <a:rPr sz="1400" b="0" i="0">
                <a:solidFill>
                  <a:srgbClr val="11202B"/>
                </a:solidFill>
                <a:latin typeface="Malgun Gothic"/>
                <a:ea typeface="Malgun Gothic"/>
                <a:cs typeface="Malgun Gothic"/>
              </a:rPr>
              <a:t> Pyruvate dehydrogenase phosphatase, isocitrate dehydrogenase, α-ketoglutarate dehydrogenase가 Ca²⁺에 반응한다. 그래서 수축이나 분비처럼 Ca²⁺ 신호를 쓰는 활동이 일어나면 </a:t>
            </a:r>
            <a:r>
              <a:rPr sz="1400" b="1" i="0">
                <a:solidFill>
                  <a:srgbClr val="11202B"/>
                </a:solidFill>
                <a:latin typeface="Malgun Gothic"/>
                <a:ea typeface="Malgun Gothic"/>
                <a:cs typeface="Malgun Gothic"/>
              </a:rPr>
              <a:t>그 신호 자체가 에너지 생산을 함께 올린다.</a:t>
            </a:r>
            <a:r>
              <a:rPr sz="1400" b="0" i="0">
                <a:solidFill>
                  <a:srgbClr val="11202B"/>
                </a:solidFill>
                <a:latin typeface="Malgun Gothic"/>
                <a:ea typeface="Malgun Gothic"/>
                <a:cs typeface="Malgun Gothic"/>
              </a:rPr>
              <a:t> 수요와 공급이 하나의 신호로 짝지어지는 설계다. 둘째, 세포질 Ca²⁺ 신호의 모양과 지속 시간을 다듬는 완충 작용을 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미토콘드리아의 Ca²⁺ 처리와 투과성 전이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Ca²⁺이 과도하게 쌓이면 상황이 뒤집힌다. 안쪽막에 큰 비선택적 구멍이 열리는 </a:t>
            </a:r>
            <a:r>
              <a:rPr sz="1600" b="1" i="0">
                <a:solidFill>
                  <a:srgbClr val="11202B"/>
                </a:solidFill>
                <a:latin typeface="Malgun Gothic"/>
                <a:ea typeface="Malgun Gothic"/>
                <a:cs typeface="Malgun Gothic"/>
              </a:rPr>
              <a:t>미토콘드리아 투과성 전이(mitochondrial permeability transition)</a:t>
            </a:r>
            <a:r>
              <a:rPr sz="1600" b="0" i="0">
                <a:solidFill>
                  <a:srgbClr val="11202B"/>
                </a:solidFill>
                <a:latin typeface="Malgun Gothic"/>
                <a:ea typeface="Malgun Gothic"/>
                <a:cs typeface="Malgun Gothic"/>
              </a:rPr>
              <a:t>가 일어난다. 결과가 연쇄적이다. 양성자 기울기가 즉시 사라져 ATP 합성이 멈추고, matrix로 물이 들어와 부풀면서 바깥막이 터지고, matrix의 내용물이 세포질로 쏟아진다. ATP synthase는 기울기가 없으면 역방향으로 돌아 </a:t>
            </a:r>
            <a:r>
              <a:rPr sz="1600" b="1" i="0">
                <a:solidFill>
                  <a:srgbClr val="11202B"/>
                </a:solidFill>
                <a:latin typeface="Malgun Gothic"/>
                <a:ea typeface="Malgun Gothic"/>
                <a:cs typeface="Malgun Gothic"/>
              </a:rPr>
              <a:t>ATP를 소비하며 양성자를 퍼내기 시작</a:t>
            </a:r>
            <a:r>
              <a:rPr sz="1600" b="0" i="0">
                <a:solidFill>
                  <a:srgbClr val="11202B"/>
                </a:solidFill>
                <a:latin typeface="Malgun Gothic"/>
                <a:ea typeface="Malgun Gothic"/>
                <a:cs typeface="Malgun Gothic"/>
              </a:rPr>
              <a:t>하므로, 세포의 ATP가 더 빠르게 고갈된다. 이 전이를 촉발하는 조건은 Ca²⁺ 과부하, 산화 스트레스, 그리고 낮은 ATP다. 허혈-재관류 손상에서 세포가 죽는 중심 기전으로 지목되며, cyclophilin D가 그 조절자여서 cyclosporine이 전이를 억제한다는 사실이 기전 연구의 출발점이었다.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미토콘드리아와 세포사멸·자연면역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투과성 전이와 구별해야 하는 또 하나의 경로가 있다. </a:t>
            </a:r>
            <a:r>
              <a:rPr sz="1400" b="1" i="0">
                <a:solidFill>
                  <a:srgbClr val="11202B"/>
                </a:solidFill>
                <a:latin typeface="Malgun Gothic"/>
                <a:ea typeface="Malgun Gothic"/>
                <a:cs typeface="Malgun Gothic"/>
              </a:rPr>
              <a:t>바깥막의 투과화(mitochondrial outer membrane permeabilization)</a:t>
            </a:r>
            <a:r>
              <a:rPr sz="1400" b="0" i="0">
                <a:solidFill>
                  <a:srgbClr val="11202B"/>
                </a:solidFill>
                <a:latin typeface="Malgun Gothic"/>
                <a:ea typeface="Malgun Gothic"/>
                <a:cs typeface="Malgun Gothic"/>
              </a:rPr>
              <a:t>다. 이것은 손상의 결과가 아니라 </a:t>
            </a:r>
            <a:r>
              <a:rPr sz="1400" b="1" i="0">
                <a:solidFill>
                  <a:srgbClr val="11202B"/>
                </a:solidFill>
                <a:latin typeface="Malgun Gothic"/>
                <a:ea typeface="Malgun Gothic"/>
                <a:cs typeface="Malgun Gothic"/>
              </a:rPr>
              <a:t>조절된 과정</a:t>
            </a:r>
            <a:r>
              <a:rPr sz="1400" b="0" i="0">
                <a:solidFill>
                  <a:srgbClr val="11202B"/>
                </a:solidFill>
                <a:latin typeface="Malgun Gothic"/>
                <a:ea typeface="Malgun Gothic"/>
                <a:cs typeface="Malgun Gothic"/>
              </a:rPr>
              <a:t>이며, 세포사멸의 결정 지점이다.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BCL-2 계열 단백질이 이 결정을 수행한다. </a:t>
            </a:r>
            <a:r>
              <a:rPr sz="1400" b="1" i="0">
                <a:solidFill>
                  <a:srgbClr val="11202B"/>
                </a:solidFill>
                <a:latin typeface="Malgun Gothic"/>
                <a:ea typeface="Malgun Gothic"/>
                <a:cs typeface="Malgun Gothic"/>
              </a:rPr>
              <a:t>BAX와 BAK</a:t>
            </a:r>
            <a:r>
              <a:rPr sz="1400" b="0" i="0">
                <a:solidFill>
                  <a:srgbClr val="11202B"/>
                </a:solidFill>
                <a:latin typeface="Malgun Gothic"/>
                <a:ea typeface="Malgun Gothic"/>
                <a:cs typeface="Malgun Gothic"/>
              </a:rPr>
              <a:t>가 바깥막에 모여 구멍을 만들고, </a:t>
            </a:r>
            <a:r>
              <a:rPr sz="1400" b="1" i="0">
                <a:solidFill>
                  <a:srgbClr val="11202B"/>
                </a:solidFill>
                <a:latin typeface="Malgun Gothic"/>
                <a:ea typeface="Malgun Gothic"/>
                <a:cs typeface="Malgun Gothic"/>
              </a:rPr>
              <a:t>BCL-2와 BCL-xL</a:t>
            </a:r>
            <a:r>
              <a:rPr sz="1400" b="0" i="0">
                <a:solidFill>
                  <a:srgbClr val="11202B"/>
                </a:solidFill>
                <a:latin typeface="Malgun Gothic"/>
                <a:ea typeface="Malgun Gothic"/>
                <a:cs typeface="Malgun Gothic"/>
              </a:rPr>
              <a:t>이 이를 막으며, </a:t>
            </a:r>
            <a:r>
              <a:rPr sz="1400" b="1" i="0">
                <a:solidFill>
                  <a:srgbClr val="11202B"/>
                </a:solidFill>
                <a:latin typeface="Malgun Gothic"/>
                <a:ea typeface="Malgun Gothic"/>
                <a:cs typeface="Malgun Gothic"/>
              </a:rPr>
              <a:t>BID·BIM·PUMA</a:t>
            </a:r>
            <a:r>
              <a:rPr sz="1400" b="0" i="0">
                <a:solidFill>
                  <a:srgbClr val="11202B"/>
                </a:solidFill>
                <a:latin typeface="Malgun Gothic"/>
                <a:ea typeface="Malgun Gothic"/>
                <a:cs typeface="Malgun Gothic"/>
              </a:rPr>
              <a:t> 같은 BH3-only 단백질이 억제를 풀거나 BAX·BAK를 직접 활성화한다. 구멍이 열리면 막 사이 공간에 있던 </a:t>
            </a:r>
            <a:r>
              <a:rPr sz="1400" b="1" i="0">
                <a:solidFill>
                  <a:srgbClr val="11202B"/>
                </a:solidFill>
                <a:latin typeface="Malgun Gothic"/>
                <a:ea typeface="Malgun Gothic"/>
                <a:cs typeface="Malgun Gothic"/>
              </a:rPr>
              <a:t>cytochrome c</a:t>
            </a:r>
            <a:r>
              <a:rPr sz="1400" b="0" i="0">
                <a:solidFill>
                  <a:srgbClr val="11202B"/>
                </a:solidFill>
                <a:latin typeface="Malgun Gothic"/>
                <a:ea typeface="Malgun Gothic"/>
                <a:cs typeface="Malgun Gothic"/>
              </a:rPr>
              <a:t>가 세포질로 나오고, Apaf-1과 결합해 apoptosome을 만들어 caspase-9을 활성화한다. 이어지는 caspase 연쇄가 세포를 해체한다.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하나의 원리를 읽어야 한다. </a:t>
            </a:r>
            <a:r>
              <a:rPr sz="1400" b="1" i="0">
                <a:solidFill>
                  <a:srgbClr val="11202B"/>
                </a:solidFill>
                <a:latin typeface="Malgun Gothic"/>
                <a:ea typeface="Malgun Gothic"/>
                <a:cs typeface="Malgun Gothic"/>
              </a:rPr>
              <a:t>Cytochrome c는 호흡 사슬의 전자 운반체이면서 세포사멸의 방아쇠다.</a:t>
            </a:r>
            <a:r>
              <a:rPr sz="1400" b="0" i="0">
                <a:solidFill>
                  <a:srgbClr val="11202B"/>
                </a:solidFill>
                <a:latin typeface="Malgun Gothic"/>
                <a:ea typeface="Malgun Gothic"/>
                <a:cs typeface="Malgun Gothic"/>
              </a:rPr>
              <a:t> 같은 분자가 제자리에 있을 때는 생명을 유지하고 밖으로 나오면 죽음을 지시한다. 세포가 "미토콘드리아가 온전한가"를 생사의 판정 기준으로 삼고 있다는 뜻이며, 에너지 공급 기관을 생존 센서로 겸하게 한 설계다.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논리가 자연면역으로 확장된다. 미토콘드리아는 세균에서 유래했으므로 세균과 닮은 분자를 가지고 있다. </a:t>
            </a:r>
            <a:r>
              <a:rPr sz="1400" b="1" i="0">
                <a:solidFill>
                  <a:srgbClr val="11202B"/>
                </a:solidFill>
                <a:latin typeface="Malgun Gothic"/>
                <a:ea typeface="Malgun Gothic"/>
                <a:cs typeface="Malgun Gothic"/>
              </a:rPr>
              <a:t>mtDNA</a:t>
            </a:r>
            <a:r>
              <a:rPr sz="1400" b="0" i="0">
                <a:solidFill>
                  <a:srgbClr val="11202B"/>
                </a:solidFill>
                <a:latin typeface="Malgun Gothic"/>
                <a:ea typeface="Malgun Gothic"/>
                <a:cs typeface="Malgun Gothic"/>
              </a:rPr>
              <a:t>는 CpG가 많고 methylation이 적어 세균 DNA와 비슷하며, 내막에는 </a:t>
            </a:r>
            <a:r>
              <a:rPr sz="1400" b="1" i="0">
                <a:solidFill>
                  <a:srgbClr val="11202B"/>
                </a:solidFill>
                <a:latin typeface="Malgun Gothic"/>
                <a:ea typeface="Malgun Gothic"/>
                <a:cs typeface="Malgun Gothic"/>
              </a:rPr>
              <a:t>cardiolipin</a:t>
            </a:r>
            <a:r>
              <a:rPr sz="1400" b="0" i="0">
                <a:solidFill>
                  <a:srgbClr val="11202B"/>
                </a:solidFill>
                <a:latin typeface="Malgun Gothic"/>
                <a:ea typeface="Malgun Gothic"/>
                <a:cs typeface="Malgun Gothic"/>
              </a:rPr>
              <a:t>이, matrix에는 N-formyl peptide가 있다. 이들이 세포질이나 세포 밖으로 나오면 면역계가 침입자의 신호로 읽는다. 세포질로 새어 나온 mtDNA는 </a:t>
            </a:r>
            <a:r>
              <a:rPr sz="1400" b="1" i="0">
                <a:solidFill>
                  <a:srgbClr val="11202B"/>
                </a:solidFill>
                <a:latin typeface="Malgun Gothic"/>
                <a:ea typeface="Malgun Gothic"/>
                <a:cs typeface="Malgun Gothic"/>
              </a:rPr>
              <a:t>cGAS–STING</a:t>
            </a:r>
            <a:r>
              <a:rPr sz="1400" b="0" i="0">
                <a:solidFill>
                  <a:srgbClr val="11202B"/>
                </a:solidFill>
                <a:latin typeface="Malgun Gothic"/>
                <a:ea typeface="Malgun Gothic"/>
                <a:cs typeface="Malgun Gothic"/>
              </a:rPr>
              <a:t> 경로를 켜 인터페론 반응을 일으키고, inflammasome을 활성화하기도 한다. 조직 손상에서 염증이 일어나는 기전의 한 축이며, 자가면역 질환과 노화 관련 만성 염증에서 이 경로가 지목된다. </a:t>
            </a:r>
            <a:r>
              <a:rPr sz="1400" b="1" i="0">
                <a:solidFill>
                  <a:srgbClr val="11202B"/>
                </a:solidFill>
                <a:latin typeface="Malgun Gothic"/>
                <a:ea typeface="Malgun Gothic"/>
                <a:cs typeface="Malgun Gothic"/>
              </a:rPr>
              <a:t>내공생의 흔적이 지금은 손상 신호로 쓰이고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미토콘드리아와 세포사멸·자연면역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세포사멸과 관련된 두 종류의 막 변화를 구별하는 문제가 자주 나온다. </a:t>
            </a:r>
            <a:r>
              <a:rPr sz="1600" b="1" i="0">
                <a:solidFill>
                  <a:srgbClr val="11202B"/>
                </a:solidFill>
                <a:latin typeface="Malgun Gothic"/>
                <a:ea typeface="Malgun Gothic"/>
                <a:cs typeface="Malgun Gothic"/>
              </a:rPr>
              <a:t>바깥막 투과화(MOMP)</a:t>
            </a:r>
            <a:r>
              <a:rPr sz="1600" b="0" i="0">
                <a:solidFill>
                  <a:srgbClr val="11202B"/>
                </a:solidFill>
                <a:latin typeface="Malgun Gothic"/>
                <a:ea typeface="Malgun Gothic"/>
                <a:cs typeface="Malgun Gothic"/>
              </a:rPr>
              <a:t>는 BAX·BAK가 만드는 조절된 사건이고, cytochrome c가 나와 caspase를 켠다. 이 과정에는 ATP가 필요하므로(apoptosome 형성과 caspase 활성화에 dATP/ATP가 쓰인다) </a:t>
            </a:r>
            <a:r>
              <a:rPr sz="1600" b="1" i="0">
                <a:solidFill>
                  <a:srgbClr val="11202B"/>
                </a:solidFill>
                <a:latin typeface="Malgun Gothic"/>
                <a:ea typeface="Malgun Gothic"/>
                <a:cs typeface="Malgun Gothic"/>
              </a:rPr>
              <a:t>ATP가 남아 있는 세포에서 일어나며, 결과는 세포사멸이다.</a:t>
            </a:r>
            <a:r>
              <a:rPr sz="1600" b="0" i="0">
                <a:solidFill>
                  <a:srgbClr val="11202B"/>
                </a:solidFill>
                <a:latin typeface="Malgun Gothic"/>
                <a:ea typeface="Malgun Gothic"/>
                <a:cs typeface="Malgun Gothic"/>
              </a:rPr>
              <a:t> 반면 </a:t>
            </a:r>
            <a:r>
              <a:rPr sz="1600" b="1" i="0">
                <a:solidFill>
                  <a:srgbClr val="11202B"/>
                </a:solidFill>
                <a:latin typeface="Malgun Gothic"/>
                <a:ea typeface="Malgun Gothic"/>
                <a:cs typeface="Malgun Gothic"/>
              </a:rPr>
              <a:t>투과성 전이(mPTP)</a:t>
            </a:r>
            <a:r>
              <a:rPr sz="1600" b="0" i="0">
                <a:solidFill>
                  <a:srgbClr val="11202B"/>
                </a:solidFill>
                <a:latin typeface="Malgun Gothic"/>
                <a:ea typeface="Malgun Gothic"/>
                <a:cs typeface="Malgun Gothic"/>
              </a:rPr>
              <a:t>는 안쪽막의 비선택적 구멍으로, Ca²⁺ 과부하와 산화 스트레스에서 일어나고 양성자 기울기가 즉시 사라져 </a:t>
            </a:r>
            <a:r>
              <a:rPr sz="1600" b="1" i="0">
                <a:solidFill>
                  <a:srgbClr val="11202B"/>
                </a:solidFill>
                <a:latin typeface="Malgun Gothic"/>
                <a:ea typeface="Malgun Gothic"/>
                <a:cs typeface="Malgun Gothic"/>
              </a:rPr>
              <a:t>ATP가 고갈되므로 결과는 괴사에 가깝다.</a:t>
            </a:r>
            <a:r>
              <a:rPr sz="1600" b="0" i="0">
                <a:solidFill>
                  <a:srgbClr val="11202B"/>
                </a:solidFill>
                <a:latin typeface="Malgun Gothic"/>
                <a:ea typeface="Malgun Gothic"/>
                <a:cs typeface="Malgun Gothic"/>
              </a:rPr>
              <a:t> 그래서 같은 자극의 세기에 따라 결과가 갈린다. 약한 자극에서는 ATP가 유지되어 세포사멸로, 강한 자극에서는 ATP가 바닥나 괴사로 간다. 임상적으로는 허혈 후 재관류에서 투과성 전이가 중심이고, 항암제에 의한 세포 죽음에서는 MOMP가 중심이다. 치료 전략이 반대 방향인 것도 함께 알아 둔다. 심근 보호에서는 전이를 </a:t>
            </a:r>
            <a:r>
              <a:rPr sz="1600" b="1" i="0">
                <a:solidFill>
                  <a:srgbClr val="11202B"/>
                </a:solidFill>
                <a:latin typeface="Malgun Gothic"/>
                <a:ea typeface="Malgun Gothic"/>
                <a:cs typeface="Malgun Gothic"/>
              </a:rPr>
              <a:t>막으려</a:t>
            </a:r>
            <a:r>
              <a:rPr sz="1600" b="0" i="0">
                <a:solidFill>
                  <a:srgbClr val="11202B"/>
                </a:solidFill>
                <a:latin typeface="Malgun Gothic"/>
                <a:ea typeface="Malgun Gothic"/>
                <a:cs typeface="Malgun Gothic"/>
              </a:rPr>
              <a:t> 하고, 항암에서는 BCL-2를 억제해 MOMP를 </a:t>
            </a:r>
            <a:r>
              <a:rPr sz="1600" b="1" i="0">
                <a:solidFill>
                  <a:srgbClr val="11202B"/>
                </a:solidFill>
                <a:latin typeface="Malgun Gothic"/>
                <a:ea typeface="Malgun Gothic"/>
                <a:cs typeface="Malgun Gothic"/>
              </a:rPr>
              <a:t>일으키려</a:t>
            </a:r>
            <a:r>
              <a:rPr sz="1600" b="0" i="0">
                <a:solidFill>
                  <a:srgbClr val="11202B"/>
                </a:solidFill>
                <a:latin typeface="Malgun Gothic"/>
                <a:ea typeface="Malgun Gothic"/>
                <a:cs typeface="Malgun Gothic"/>
              </a:rPr>
              <a:t> 한다. BCL-2 억제제 venetoclax가 만성 림프구성 백혈병과 급성 골수성 백혈병에 쓰이는 것이 그 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안쪽막을 통한 대사물 수송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안쪽막이 불투과성이라는 사실은 대사 경로에 직접적인 제약을 건다. Matrix의 TCA cycle이 돌려면 pyruvate가 들어와야 하고, matrix에서 만든 ATP는 세포질로 나가야 하며, ADP와 phosphate는 들어와야 한다. 이 모든 이동이 전용 수송체를 거친다.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가장 많이 쓰이는 수송체는 </a:t>
            </a:r>
            <a:r>
              <a:rPr sz="1400" b="1" i="0">
                <a:solidFill>
                  <a:srgbClr val="11202B"/>
                </a:solidFill>
                <a:latin typeface="Malgun Gothic"/>
                <a:ea typeface="Malgun Gothic"/>
                <a:cs typeface="Malgun Gothic"/>
              </a:rPr>
              <a:t>ANT(adenine nucleotide translocator)</a:t>
            </a:r>
            <a:r>
              <a:rPr sz="1400" b="0" i="0">
                <a:solidFill>
                  <a:srgbClr val="11202B"/>
                </a:solidFill>
                <a:latin typeface="Malgun Gothic"/>
                <a:ea typeface="Malgun Gothic"/>
                <a:cs typeface="Malgun Gothic"/>
              </a:rPr>
              <a:t>다. ATP⁴⁻ 하나를 내보내고 ADP³⁻ 하나를 들여오는 1:1 교환체다. 전하를 보면 알짜로 음전하 하나가 나가므로 </a:t>
            </a:r>
            <a:r>
              <a:rPr sz="1400" b="1" i="0">
                <a:solidFill>
                  <a:srgbClr val="11202B"/>
                </a:solidFill>
                <a:latin typeface="Malgun Gothic"/>
                <a:ea typeface="Malgun Gothic"/>
                <a:cs typeface="Malgun Gothic"/>
              </a:rPr>
              <a:t>막전위(Δψ)를 소비한다.</a:t>
            </a:r>
            <a:r>
              <a:rPr sz="1400" b="0" i="0">
                <a:solidFill>
                  <a:srgbClr val="11202B"/>
                </a:solidFill>
                <a:latin typeface="Malgun Gothic"/>
                <a:ea typeface="Malgun Gothic"/>
                <a:cs typeface="Malgun Gothic"/>
              </a:rPr>
              <a:t> Phosphate는 </a:t>
            </a:r>
            <a:r>
              <a:rPr sz="1400" b="1" i="0">
                <a:solidFill>
                  <a:srgbClr val="11202B"/>
                </a:solidFill>
                <a:latin typeface="Malgun Gothic"/>
                <a:ea typeface="Malgun Gothic"/>
                <a:cs typeface="Malgun Gothic"/>
              </a:rPr>
              <a:t>phosphate carrier</a:t>
            </a:r>
            <a:r>
              <a:rPr sz="1400" b="0" i="0">
                <a:solidFill>
                  <a:srgbClr val="11202B"/>
                </a:solidFill>
                <a:latin typeface="Malgun Gothic"/>
                <a:ea typeface="Malgun Gothic"/>
                <a:cs typeface="Malgun Gothic"/>
              </a:rPr>
              <a:t>가 H⁺와 함께 들여오고, 이쪽은 </a:t>
            </a:r>
            <a:r>
              <a:rPr sz="1400" b="1" i="0">
                <a:solidFill>
                  <a:srgbClr val="11202B"/>
                </a:solidFill>
                <a:latin typeface="Malgun Gothic"/>
                <a:ea typeface="Malgun Gothic"/>
                <a:cs typeface="Malgun Gothic"/>
              </a:rPr>
              <a:t>ΔpH를 소비한다.</a:t>
            </a:r>
            <a:r>
              <a:rPr sz="1400" b="0" i="0">
                <a:solidFill>
                  <a:srgbClr val="11202B"/>
                </a:solidFill>
                <a:latin typeface="Malgun Gothic"/>
                <a:ea typeface="Malgun Gothic"/>
                <a:cs typeface="Malgun Gothic"/>
              </a:rPr>
              <a:t> Pyruvate 수송체도 pyruvate⁻를 들여오며 OH⁻를 내보내는 식이어서 전기적으로 중성이고 ΔpH만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여기에서 전기화학적 기울기의 두 성분이 나누어 쓰인다는 점이 드러난다.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전하를 띤 교환</a:t>
            </a:r>
            <a:r>
              <a:rPr sz="1400" b="0" i="0">
                <a:solidFill>
                  <a:srgbClr val="11202B"/>
                </a:solidFill>
                <a:latin typeface="Malgun Gothic"/>
                <a:ea typeface="Malgun Gothic"/>
                <a:cs typeface="Malgun Gothic"/>
              </a:rPr>
              <a:t>(ANT)은 전위 성분을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전기적으로 중성인 교환</a:t>
            </a:r>
            <a:r>
              <a:rPr sz="1400" b="0" i="0">
                <a:solidFill>
                  <a:srgbClr val="11202B"/>
                </a:solidFill>
                <a:latin typeface="Malgun Gothic"/>
                <a:ea typeface="Malgun Gothic"/>
                <a:cs typeface="Malgun Gothic"/>
              </a:rPr>
              <a:t>(pyruvate, phosphate)은 pH 성분을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양성자 기울기가 ATP 합성뿐 아니라 대사물 수송에도 쓰이므로, 호흡으로 얻은 에너지의 일부는 ATP가 되지 않고 수송에 소모된다. 이것이 NADH 한 분자당 ATP 수확이 이론값보다 작은 이유의 일부다.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세포질 NADH의 전자를 matrix로 들여오는 문제도 수송체로 해결된다. NADH 자체는 안쪽막을 통과하지 못하므로, malate-aspartate shuttle이나 glycerol phosphate shuttle이 전자만 옮긴다. 두 shuttle의 수확이 다르다. Malate-aspartate shuttle은 matrix에서 NADH를 만들고, glycerol phosphate shuttle은 FADH₂ 수준으로 전자를 넘기므로 ATP 수확이 약 1.5분자 적다. 심장과 간은 전자를, 골격근과 뇌는 후자를 많이 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안쪽막을 통한 대사물 수송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양성자 기울기를 ATP로 바꾸지 않고 </a:t>
            </a:r>
            <a:r>
              <a:rPr sz="1400" b="1" i="0">
                <a:solidFill>
                  <a:srgbClr val="11202B"/>
                </a:solidFill>
                <a:latin typeface="Malgun Gothic"/>
                <a:ea typeface="Malgun Gothic"/>
                <a:cs typeface="Malgun Gothic"/>
              </a:rPr>
              <a:t>열로 흘려보내는</a:t>
            </a:r>
            <a:r>
              <a:rPr sz="1400" b="0" i="0">
                <a:solidFill>
                  <a:srgbClr val="11202B"/>
                </a:solidFill>
                <a:latin typeface="Malgun Gothic"/>
                <a:ea typeface="Malgun Gothic"/>
                <a:cs typeface="Malgun Gothic"/>
              </a:rPr>
              <a:t> 길도 있다. 안쪽막의 </a:t>
            </a:r>
            <a:r>
              <a:rPr sz="1400" b="1" i="0">
                <a:solidFill>
                  <a:srgbClr val="11202B"/>
                </a:solidFill>
                <a:latin typeface="Malgun Gothic"/>
                <a:ea typeface="Malgun Gothic"/>
                <a:cs typeface="Malgun Gothic"/>
              </a:rPr>
              <a:t>짝풀림 단백질(uncoupling protein, UCP1)</a:t>
            </a:r>
            <a:r>
              <a:rPr sz="1400" b="0" i="0">
                <a:solidFill>
                  <a:srgbClr val="11202B"/>
                </a:solidFill>
                <a:latin typeface="Malgun Gothic"/>
                <a:ea typeface="Malgun Gothic"/>
                <a:cs typeface="Malgun Gothic"/>
              </a:rPr>
              <a:t>이 양성자를 ATP synthase를 거치지 않고 matrix로 되돌린다. 그러면 전자 전달은 계속되고 그 에너지가 전부 열이 된다. UCP1은 </a:t>
            </a:r>
            <a:r>
              <a:rPr sz="1400" b="1" i="0">
                <a:solidFill>
                  <a:srgbClr val="11202B"/>
                </a:solidFill>
                <a:latin typeface="Malgun Gothic"/>
                <a:ea typeface="Malgun Gothic"/>
                <a:cs typeface="Malgun Gothic"/>
              </a:rPr>
              <a:t>갈색지방</a:t>
            </a:r>
            <a:r>
              <a:rPr sz="1400" b="0" i="0">
                <a:solidFill>
                  <a:srgbClr val="11202B"/>
                </a:solidFill>
                <a:latin typeface="Malgun Gothic"/>
                <a:ea typeface="Malgun Gothic"/>
                <a:cs typeface="Malgun Gothic"/>
              </a:rPr>
              <a:t>에 많고, 미토콘드리아가 빽빽하고 cytochrome이 많아 조직이 갈색으로 보인다. 신생아와 추위에 노출된 성인에서 비떨림 열생산(non-shivering thermogenesis)의 중심이며, 교감신경의 노르아드레날린 신호가 지방 분해를 일으켜 공급된 지방산이 UCP1을 활성화한다. 사람 성인에게도 갈색지방과 그 중간 성질의 </a:t>
            </a:r>
            <a:r>
              <a:rPr sz="1400" b="1" i="0">
                <a:solidFill>
                  <a:srgbClr val="11202B"/>
                </a:solidFill>
                <a:latin typeface="Malgun Gothic"/>
                <a:ea typeface="Malgun Gothic"/>
                <a:cs typeface="Malgun Gothic"/>
              </a:rPr>
              <a:t>베이지색 지방</a:t>
            </a:r>
            <a:r>
              <a:rPr sz="1400" b="0" i="0">
                <a:solidFill>
                  <a:srgbClr val="11202B"/>
                </a:solidFill>
                <a:latin typeface="Malgun Gothic"/>
                <a:ea typeface="Malgun Gothic"/>
                <a:cs typeface="Malgun Gothic"/>
              </a:rPr>
              <a:t>이 있다는 것이 영상으로 확인되어, 대사 질환의 치료 표적으로 연구된다.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짝풀림이 생리적으로 조절된다는 사실은 앞 수업의 2,4-dinitrophenol과 비교하면 분명해진다. 약물은 막 전체에서 무차별적으로 양성자를 통과시켜 체온이 통제 없이 오르고 사망에 이를 수 있지만, UCP1은 조직에 국한되고 신호로 켜지고 꺼진다. </a:t>
            </a:r>
            <a:r>
              <a:rPr sz="1400" b="1" i="0">
                <a:solidFill>
                  <a:srgbClr val="11202B"/>
                </a:solidFill>
                <a:latin typeface="Malgun Gothic"/>
                <a:ea typeface="Malgun Gothic"/>
                <a:cs typeface="Malgun Gothic"/>
              </a:rPr>
              <a:t>같은 물리적 효과를 조절 가능한 장치로 구현한 것</a:t>
            </a:r>
            <a:r>
              <a:rPr sz="1400" b="0" i="0">
                <a:solidFill>
                  <a:srgbClr val="11202B"/>
                </a:solidFill>
                <a:latin typeface="Malgun Gothic"/>
                <a:ea typeface="Malgun Gothic"/>
                <a:cs typeface="Malgun Gothic"/>
              </a:rPr>
              <a:t>이 생리적 짝풀림이다.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열은 부산물이기도 하다. 호흡이 100% 효율일 수 없으므로 안정 상태의 체온 유지에 기초대사가 기여하며, 갑상샘호르몬이 이 기초 수준을 올린다. 갑상샘기능과잉증에서 열 불내성과 체중 감소가 나타나는 이유의 일부가 미토콘드리아 수준의 효율 변화로 설명된다.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안쪽막을 통한 대사물 수송</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미토콘드리아 단백질 수입에서 </a:t>
            </a:r>
            <a:r>
              <a:rPr sz="1600" b="1" i="0">
                <a:solidFill>
                  <a:srgbClr val="11202B"/>
                </a:solidFill>
                <a:latin typeface="Malgun Gothic"/>
                <a:ea typeface="Malgun Gothic"/>
                <a:cs typeface="Malgun Gothic"/>
              </a:rPr>
              <a:t>어느 단계가 무엇을 동력으로 쓰는가</a:t>
            </a:r>
            <a:r>
              <a:rPr sz="1600" b="0" i="0">
                <a:solidFill>
                  <a:srgbClr val="11202B"/>
                </a:solidFill>
                <a:latin typeface="Malgun Gothic"/>
                <a:ea typeface="Malgun Gothic"/>
                <a:cs typeface="Malgun Gothic"/>
              </a:rPr>
              <a:t>는 실험 결과를 해석하는 문제로 나온다. 세 가지를 구별한다. (1) </a:t>
            </a:r>
            <a:r>
              <a:rPr sz="1600" b="1" i="0">
                <a:solidFill>
                  <a:srgbClr val="11202B"/>
                </a:solidFill>
                <a:latin typeface="Malgun Gothic"/>
                <a:ea typeface="Malgun Gothic"/>
                <a:cs typeface="Malgun Gothic"/>
              </a:rPr>
              <a:t>바깥막 통과(Tom 복합체)</a:t>
            </a:r>
            <a:r>
              <a:rPr sz="1600" b="0" i="0">
                <a:solidFill>
                  <a:srgbClr val="11202B"/>
                </a:solidFill>
                <a:latin typeface="Malgun Gothic"/>
                <a:ea typeface="Malgun Gothic"/>
                <a:cs typeface="Malgun Gothic"/>
              </a:rPr>
              <a:t>는 막전위도 ATP도 요구하지 않는다. 신호와 수용체의 결합, 그리고 내부 쪽에서 더 강하게 붙잡는 친화도의 차이로 진행된다. (2) </a:t>
            </a:r>
            <a:r>
              <a:rPr sz="1600" b="1" i="0">
                <a:solidFill>
                  <a:srgbClr val="11202B"/>
                </a:solidFill>
                <a:latin typeface="Malgun Gothic"/>
                <a:ea typeface="Malgun Gothic"/>
                <a:cs typeface="Malgun Gothic"/>
              </a:rPr>
              <a:t>안쪽막 통과(Tim23)</a:t>
            </a:r>
            <a:r>
              <a:rPr sz="1600" b="0" i="0">
                <a:solidFill>
                  <a:srgbClr val="11202B"/>
                </a:solidFill>
                <a:latin typeface="Malgun Gothic"/>
                <a:ea typeface="Malgun Gothic"/>
                <a:cs typeface="Malgun Gothic"/>
              </a:rPr>
              <a:t>는 </a:t>
            </a:r>
            <a:r>
              <a:rPr sz="1600" b="1" i="0">
                <a:solidFill>
                  <a:srgbClr val="11202B"/>
                </a:solidFill>
                <a:latin typeface="Malgun Gothic"/>
                <a:ea typeface="Malgun Gothic"/>
                <a:cs typeface="Malgun Gothic"/>
              </a:rPr>
              <a:t>막전위를 요구한다.</a:t>
            </a:r>
            <a:r>
              <a:rPr sz="1600" b="0" i="0">
                <a:solidFill>
                  <a:srgbClr val="11202B"/>
                </a:solidFill>
                <a:latin typeface="Malgun Gothic"/>
                <a:ea typeface="Malgun Gothic"/>
                <a:cs typeface="Malgun Gothic"/>
              </a:rPr>
              <a:t> 신호서열이 양전하를 띠고 matrix 쪽이 음전하이므로 전기적 끌림이 작용하기 때문이다. 짝풀림제를 처리하면 이 단계에서 멈춘 중간체가 생긴다. (3) </a:t>
            </a:r>
            <a:r>
              <a:rPr sz="1600" b="1" i="0">
                <a:solidFill>
                  <a:srgbClr val="11202B"/>
                </a:solidFill>
                <a:latin typeface="Malgun Gothic"/>
                <a:ea typeface="Malgun Gothic"/>
                <a:cs typeface="Malgun Gothic"/>
              </a:rPr>
              <a:t>matrix로의 완전한 이동과 접힘</a:t>
            </a:r>
            <a:r>
              <a:rPr sz="1600" b="0" i="0">
                <a:solidFill>
                  <a:srgbClr val="11202B"/>
                </a:solidFill>
                <a:latin typeface="Malgun Gothic"/>
                <a:ea typeface="Malgun Gothic"/>
                <a:cs typeface="Malgun Gothic"/>
              </a:rPr>
              <a:t>은 </a:t>
            </a:r>
            <a:r>
              <a:rPr sz="1600" b="1" i="0">
                <a:solidFill>
                  <a:srgbClr val="11202B"/>
                </a:solidFill>
                <a:latin typeface="Malgun Gothic"/>
                <a:ea typeface="Malgun Gothic"/>
                <a:cs typeface="Malgun Gothic"/>
              </a:rPr>
              <a:t>ATP를 요구한다.</a:t>
            </a:r>
            <a:r>
              <a:rPr sz="1600" b="0" i="0">
                <a:solidFill>
                  <a:srgbClr val="11202B"/>
                </a:solidFill>
                <a:latin typeface="Malgun Gothic"/>
                <a:ea typeface="Malgun Gothic"/>
                <a:cs typeface="Malgun Gothic"/>
              </a:rPr>
              <a:t> matrix 쪽의 mtHsp70이 ATP를 쓰며 사슬을 당기고 접힘을 돕는다. 그래서 실험 소견이 두 갈래로 갈린다. </a:t>
            </a:r>
            <a:r>
              <a:rPr sz="1600" b="1" i="0">
                <a:solidFill>
                  <a:srgbClr val="11202B"/>
                </a:solidFill>
                <a:latin typeface="Malgun Gothic"/>
                <a:ea typeface="Malgun Gothic"/>
                <a:cs typeface="Malgun Gothic"/>
              </a:rPr>
              <a:t>막전위만 없애면</a:t>
            </a:r>
            <a:r>
              <a:rPr sz="1600" b="0" i="0">
                <a:solidFill>
                  <a:srgbClr val="11202B"/>
                </a:solidFill>
                <a:latin typeface="Malgun Gothic"/>
                <a:ea typeface="Malgun Gothic"/>
                <a:cs typeface="Malgun Gothic"/>
              </a:rPr>
              <a:t> 전구체가 바깥막은 통과했으나 안쪽막에 걸린 상태로 검출되고, </a:t>
            </a:r>
            <a:r>
              <a:rPr sz="1600" b="1" i="0">
                <a:solidFill>
                  <a:srgbClr val="11202B"/>
                </a:solidFill>
                <a:latin typeface="Malgun Gothic"/>
                <a:ea typeface="Malgun Gothic"/>
                <a:cs typeface="Malgun Gothic"/>
              </a:rPr>
              <a:t>ATP만 고갈시키면</a:t>
            </a:r>
            <a:r>
              <a:rPr sz="1600" b="0" i="0">
                <a:solidFill>
                  <a:srgbClr val="11202B"/>
                </a:solidFill>
                <a:latin typeface="Malgun Gothic"/>
                <a:ea typeface="Malgun Gothic"/>
                <a:cs typeface="Malgun Gothic"/>
              </a:rPr>
              <a:t> 통과는 되지만 접히지 않은 채 쌓인다. 안쪽막 단백질 가운데 다중 통과형은 Tim22 경로를, 바깥막의 β-barrel 단백질은 SAM 경로를, mtDNA가 암호화한 단백질은 matrix 쪽에서 막으로 꽂는 Oxa1 경로를 쓴다는 점도 함께 묻는다. 요점은 </a:t>
            </a:r>
            <a:r>
              <a:rPr sz="1600" b="1" i="0">
                <a:solidFill>
                  <a:srgbClr val="11202B"/>
                </a:solidFill>
                <a:latin typeface="Malgun Gothic"/>
                <a:ea typeface="Malgun Gothic"/>
                <a:cs typeface="Malgun Gothic"/>
              </a:rPr>
              <a:t>하나의 소기관 안에 목적지별로 다른 통로가 있고, 각 통로가 서로 다른 동력을 쓴다</a:t>
            </a:r>
            <a:r>
              <a:rPr sz="1600" b="0" i="0">
                <a:solidFill>
                  <a:srgbClr val="11202B"/>
                </a:solidFill>
                <a:latin typeface="Malgun Gothic"/>
                <a:ea typeface="Malgun Gothic"/>
                <a:cs typeface="Malgun Gothic"/>
              </a:rPr>
              <a:t>는 것이다.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엽록체: 세 번째 막계와 비교 설계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엽록체는 식물과 조류에서 광합성을 수행하는 소기관이다. 미토콘드리아와 비교하면 공통점과 한 가지 결정적 차이가 드러난다.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공통점은 두 겹의 envelope, 자체 유전체, 자체 리보솜, 양성자 기울기로 ATP를 만드는 설계, 그리고 post-translational import다. 차이는 </a:t>
            </a:r>
            <a:r>
              <a:rPr sz="1400" b="1" i="0">
                <a:solidFill>
                  <a:srgbClr val="11202B"/>
                </a:solidFill>
                <a:latin typeface="Malgun Gothic"/>
                <a:ea typeface="Malgun Gothic"/>
                <a:cs typeface="Malgun Gothic"/>
              </a:rPr>
              <a:t>세 번째 막계인 thylakoid membrane</a:t>
            </a:r>
            <a:r>
              <a:rPr sz="1400" b="0" i="0">
                <a:solidFill>
                  <a:srgbClr val="11202B"/>
                </a:solidFill>
                <a:latin typeface="Malgun Gothic"/>
                <a:ea typeface="Malgun Gothic"/>
                <a:cs typeface="Malgun Gothic"/>
              </a:rPr>
              <a:t>이 있다는 점이다. 미토콘드리아에서는 안쪽막이 전자 전달과 ATP 합성을 모두 담당하는데, 엽록체에서는 envelope이 아니라 </a:t>
            </a:r>
            <a:r>
              <a:rPr sz="1400" b="1" i="0">
                <a:solidFill>
                  <a:srgbClr val="11202B"/>
                </a:solidFill>
                <a:latin typeface="Malgun Gothic"/>
                <a:ea typeface="Malgun Gothic"/>
                <a:cs typeface="Malgun Gothic"/>
              </a:rPr>
              <a:t>내부의 thylakoid 막</a:t>
            </a:r>
            <a:r>
              <a:rPr sz="1400" b="0" i="0">
                <a:solidFill>
                  <a:srgbClr val="11202B"/>
                </a:solidFill>
                <a:latin typeface="Malgun Gothic"/>
                <a:ea typeface="Malgun Gothic"/>
                <a:cs typeface="Malgun Gothic"/>
              </a:rPr>
              <a:t>이 그 일을 한다. Thylakoid는 겹쳐 쌓여 granum을 이루고, thylakoid 안쪽 공간인 lumen으로 양성자가 밀려 들어가 산성이 된다. 양성자가 thylakoid lumen에서 </a:t>
            </a:r>
            <a:r>
              <a:rPr sz="1400" b="1" i="0">
                <a:solidFill>
                  <a:srgbClr val="11202B"/>
                </a:solidFill>
                <a:latin typeface="Malgun Gothic"/>
                <a:ea typeface="Malgun Gothic"/>
                <a:cs typeface="Malgun Gothic"/>
              </a:rPr>
              <a:t>stroma</a:t>
            </a:r>
            <a:r>
              <a:rPr sz="1400" b="0" i="0">
                <a:solidFill>
                  <a:srgbClr val="11202B"/>
                </a:solidFill>
                <a:latin typeface="Malgun Gothic"/>
                <a:ea typeface="Malgun Gothic"/>
                <a:cs typeface="Malgun Gothic"/>
              </a:rPr>
              <a:t> 쪽으로 돌아 나오면서 ATP synthase를 돌리므로, 생성된 ATP는 stroma에 쌓인다. Stroma는 Calvin cycle의 효소, cpDNA, 리보솜이 있는 공간으로 미토콘드리아의 matrix에 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유전체의 규모도 다르다. 엽록체 유전체는 종에 따라 대략 120~160 kb이고 약 150개의 유전자를 담는다. mtDNA보다 훨씬 크지만, 엽록체 단백질 수천 종 가운데 일부를 암호화할 뿐이다. 나머지는 핵 유전자 산물이고 </a:t>
            </a:r>
            <a:r>
              <a:rPr sz="1400" b="1" i="0">
                <a:solidFill>
                  <a:srgbClr val="11202B"/>
                </a:solidFill>
                <a:latin typeface="Malgun Gothic"/>
                <a:ea typeface="Malgun Gothic"/>
                <a:cs typeface="Malgun Gothic"/>
              </a:rPr>
              <a:t>transit peptide</a:t>
            </a:r>
            <a:r>
              <a:rPr sz="1400" b="0" i="0">
                <a:solidFill>
                  <a:srgbClr val="11202B"/>
                </a:solidFill>
                <a:latin typeface="Malgun Gothic"/>
                <a:ea typeface="Malgun Gothic"/>
                <a:cs typeface="Malgun Gothic"/>
              </a:rPr>
              <a:t>라는 N-말단 신호를 달고 수입된다. 경로는 바깥막의 </a:t>
            </a:r>
            <a:r>
              <a:rPr sz="1400" b="1" i="0">
                <a:solidFill>
                  <a:srgbClr val="11202B"/>
                </a:solidFill>
                <a:latin typeface="Malgun Gothic"/>
                <a:ea typeface="Malgun Gothic"/>
                <a:cs typeface="Malgun Gothic"/>
              </a:rPr>
              <a:t>Toc 복합체</a:t>
            </a:r>
            <a:r>
              <a:rPr sz="1400" b="0" i="0">
                <a:solidFill>
                  <a:srgbClr val="11202B"/>
                </a:solidFill>
                <a:latin typeface="Malgun Gothic"/>
                <a:ea typeface="Malgun Gothic"/>
                <a:cs typeface="Malgun Gothic"/>
              </a:rPr>
              <a:t>와 안쪽막의 </a:t>
            </a:r>
            <a:r>
              <a:rPr sz="1400" b="1" i="0">
                <a:solidFill>
                  <a:srgbClr val="11202B"/>
                </a:solidFill>
                <a:latin typeface="Malgun Gothic"/>
                <a:ea typeface="Malgun Gothic"/>
                <a:cs typeface="Malgun Gothic"/>
              </a:rPr>
              <a:t>Tic 복합체</a:t>
            </a:r>
            <a:r>
              <a:rPr sz="1400" b="0" i="0">
                <a:solidFill>
                  <a:srgbClr val="11202B"/>
                </a:solidFill>
                <a:latin typeface="Malgun Gothic"/>
                <a:ea typeface="Malgun Gothic"/>
                <a:cs typeface="Malgun Gothic"/>
              </a:rPr>
              <a:t>를 차례로 통과하는 것이고, stroma에 도달하면 </a:t>
            </a:r>
            <a:r>
              <a:rPr sz="1400" b="1" i="0">
                <a:solidFill>
                  <a:srgbClr val="11202B"/>
                </a:solidFill>
                <a:latin typeface="Malgun Gothic"/>
                <a:ea typeface="Malgun Gothic"/>
                <a:cs typeface="Malgun Gothic"/>
              </a:rPr>
              <a:t>SPP(stromal processing peptidase)</a:t>
            </a:r>
            <a:r>
              <a:rPr sz="1400" b="0" i="0">
                <a:solidFill>
                  <a:srgbClr val="11202B"/>
                </a:solidFill>
                <a:latin typeface="Malgun Gothic"/>
                <a:ea typeface="Malgun Gothic"/>
                <a:cs typeface="Malgun Gothic"/>
              </a:rPr>
              <a:t>가 transit peptide를 절단한다. Thylakoid로 가야 하는 단백질은 두 번째 신호를 갖고, stroma에 들어온 뒤 다시 thylakoid 막으로 보내진다. 즉 </a:t>
            </a:r>
            <a:r>
              <a:rPr sz="1400" b="1" i="0">
                <a:solidFill>
                  <a:srgbClr val="11202B"/>
                </a:solidFill>
                <a:latin typeface="Malgun Gothic"/>
                <a:ea typeface="Malgun Gothic"/>
                <a:cs typeface="Malgun Gothic"/>
              </a:rPr>
              <a:t>두 단계 표적화</a:t>
            </a:r>
            <a:r>
              <a:rPr sz="1400" b="0" i="0">
                <a:solidFill>
                  <a:srgbClr val="11202B"/>
                </a:solidFill>
                <a:latin typeface="Malgun Gothic"/>
                <a:ea typeface="Malgun Gothic"/>
                <a:cs typeface="Malgun Gothic"/>
              </a:rPr>
              <a:t>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엽록체: 세 번째 막계와 비교 설계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식물은 같은 조립 원리로 다른 plastid도 만든다. 미분화 전구체인 proplastid에서 출발해, 빛을 받으면 엽록체가 되고, 전분을 저장하면 </a:t>
            </a:r>
            <a:r>
              <a:rPr sz="2000" b="1" i="0">
                <a:solidFill>
                  <a:srgbClr val="11202B"/>
                </a:solidFill>
                <a:latin typeface="Malgun Gothic"/>
                <a:ea typeface="Malgun Gothic"/>
                <a:cs typeface="Malgun Gothic"/>
              </a:rPr>
              <a:t>amyloplast</a:t>
            </a:r>
            <a:r>
              <a:rPr sz="2000" b="0" i="0">
                <a:solidFill>
                  <a:srgbClr val="11202B"/>
                </a:solidFill>
                <a:latin typeface="Malgun Gothic"/>
                <a:ea typeface="Malgun Gothic"/>
                <a:cs typeface="Malgun Gothic"/>
              </a:rPr>
              <a:t>(감자 덩이), carotenoid를 쌓으면 </a:t>
            </a:r>
            <a:r>
              <a:rPr sz="2000" b="1" i="0">
                <a:solidFill>
                  <a:srgbClr val="11202B"/>
                </a:solidFill>
                <a:latin typeface="Malgun Gothic"/>
                <a:ea typeface="Malgun Gothic"/>
                <a:cs typeface="Malgun Gothic"/>
              </a:rPr>
              <a:t>chromoplast</a:t>
            </a:r>
            <a:r>
              <a:rPr sz="2000" b="0" i="0">
                <a:solidFill>
                  <a:srgbClr val="11202B"/>
                </a:solidFill>
                <a:latin typeface="Malgun Gothic"/>
                <a:ea typeface="Malgun Gothic"/>
                <a:cs typeface="Malgun Gothic"/>
              </a:rPr>
              <a:t>(열매와 꽃의 색), 지질을 저장하면 elaioplast가 된다. 한 유전체에서 출발한 소기관이 환경과 조직에 따라 다른 기능으로 분화한다.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엽록체: 세 번째 막계와 비교 설계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35</a:t>
            </a:r>
          </a:p>
        </p:txBody>
      </p:sp>
      <p:pic>
        <p:nvPicPr>
          <p:cNvPr id="7" name="Picture 6" descr="fig-chloroplast.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엽록체의 구획과 수입 경로. Envelope 두 막 안에 thylakoid 막계가 따로 있고, transit peptide를 가진 전구체가 Toc·Tic를 거쳐 stroma로 들어가며 SPP가 신호를 절단한다.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퍼옥시좀의 대사 기능과 단백질 수입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퍼옥시좀은 지름 0.1~1 μm의 작은 소기관으로, 막이 한 겹이고 유전체와 리보솜이 없다. 이름은 </a:t>
            </a:r>
            <a:r>
              <a:rPr sz="1400" b="1" i="0">
                <a:solidFill>
                  <a:srgbClr val="11202B"/>
                </a:solidFill>
                <a:latin typeface="Malgun Gothic"/>
                <a:ea typeface="Malgun Gothic"/>
                <a:cs typeface="Malgun Gothic"/>
              </a:rPr>
              <a:t>H₂O₂(hydrogen peroxide)</a:t>
            </a:r>
            <a:r>
              <a:rPr sz="1400" b="0" i="0">
                <a:solidFill>
                  <a:srgbClr val="11202B"/>
                </a:solidFill>
                <a:latin typeface="Malgun Gothic"/>
                <a:ea typeface="Malgun Gothic"/>
                <a:cs typeface="Malgun Gothic"/>
              </a:rPr>
              <a:t>를 만들고 또 분해한다는 데서 왔다. 내부 효소 가운데 </a:t>
            </a:r>
            <a:r>
              <a:rPr sz="1400" b="1" i="0">
                <a:solidFill>
                  <a:srgbClr val="11202B"/>
                </a:solidFill>
                <a:latin typeface="Malgun Gothic"/>
                <a:ea typeface="Malgun Gothic"/>
                <a:cs typeface="Malgun Gothic"/>
              </a:rPr>
              <a:t>oxidase</a:t>
            </a:r>
            <a:r>
              <a:rPr sz="1400" b="0" i="0">
                <a:solidFill>
                  <a:srgbClr val="11202B"/>
                </a:solidFill>
                <a:latin typeface="Malgun Gothic"/>
                <a:ea typeface="Malgun Gothic"/>
                <a:cs typeface="Malgun Gothic"/>
              </a:rPr>
              <a:t> 계열은 기질에서 떼어낸 전자를 O₂에 넘겨 H₂O₂를 만들고, </a:t>
            </a:r>
            <a:r>
              <a:rPr sz="1400" b="1" i="0">
                <a:solidFill>
                  <a:srgbClr val="11202B"/>
                </a:solidFill>
                <a:latin typeface="Malgun Gothic"/>
                <a:ea typeface="Malgun Gothic"/>
                <a:cs typeface="Malgun Gothic"/>
              </a:rPr>
              <a:t>catalase</a:t>
            </a:r>
            <a:r>
              <a:rPr sz="1400" b="0" i="0">
                <a:solidFill>
                  <a:srgbClr val="11202B"/>
                </a:solidFill>
                <a:latin typeface="Malgun Gothic"/>
                <a:ea typeface="Malgun Gothic"/>
                <a:cs typeface="Malgun Gothic"/>
              </a:rPr>
              <a:t>는 그 H₂O₂를 물과 O₂로 분해한다. Catalase는 퍼옥시좀 단백질의 큰 부분을 차지해, 조직 절편의 catalase 활성 염색이 퍼옥시좀을 찾는 고전적 방법으로 쓰였다.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퍼옥시좀이 수행하는 반응은 미토콘드리아와 겹치면서도 역할이 나뉘어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Very long chain fatty acid(VLCFA)의 β-oxidation.</a:t>
            </a:r>
            <a:r>
              <a:rPr sz="1400" b="0" i="0">
                <a:solidFill>
                  <a:srgbClr val="11202B"/>
                </a:solidFill>
                <a:latin typeface="Malgun Gothic"/>
                <a:ea typeface="Malgun Gothic"/>
                <a:cs typeface="Malgun Gothic"/>
              </a:rPr>
              <a:t> 탄소 22개 이상의 지방산은 미토콘드리아가 처리하지 못하므로 퍼옥시좀이 먼저 짧게 자른다. 다만 첫 산화 반응에서 전자를 FAD를 거쳐 O₂에 직접 넘기므로 </a:t>
            </a:r>
            <a:r>
              <a:rPr sz="1400" b="1" i="0">
                <a:solidFill>
                  <a:srgbClr val="11202B"/>
                </a:solidFill>
                <a:latin typeface="Malgun Gothic"/>
                <a:ea typeface="Malgun Gothic"/>
                <a:cs typeface="Malgun Gothic"/>
              </a:rPr>
              <a:t>ATP가 만들어지지 않고 H₂O₂가 생긴다.</a:t>
            </a:r>
            <a:r>
              <a:rPr sz="1400" b="0" i="0">
                <a:solidFill>
                  <a:srgbClr val="11202B"/>
                </a:solidFill>
                <a:latin typeface="Malgun Gothic"/>
                <a:ea typeface="Malgun Gothic"/>
                <a:cs typeface="Malgun Gothic"/>
              </a:rPr>
              <a:t> 짧아진 사슬은 미토콘드리아로 넘어가 ATP 생산에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Plasmalogen 합성.</a:t>
            </a:r>
            <a:r>
              <a:rPr sz="1400" b="0" i="0">
                <a:solidFill>
                  <a:srgbClr val="11202B"/>
                </a:solidFill>
                <a:latin typeface="Malgun Gothic"/>
                <a:ea typeface="Malgun Gothic"/>
                <a:cs typeface="Malgun Gothic"/>
              </a:rPr>
              <a:t> Ether 결합을 가진 인지질인 plasmalogen의 처음 두 단계가 퍼옥시좀에서만 일어난다. Plasmalogen은 myelin과 심근 막에 많다.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담즙산 합성의 일부 단계와 phytanic acid의 α-oxidation.</a:t>
            </a:r>
            <a:r>
              <a:rPr sz="1400" b="0" i="0">
                <a:solidFill>
                  <a:srgbClr val="11202B"/>
                </a:solidFill>
                <a:latin typeface="Malgun Gothic"/>
                <a:ea typeface="Malgun Gothic"/>
                <a:cs typeface="Malgun Gothic"/>
              </a:rPr>
              <a:t> 식물성 지질에서 오는 분지 지방산은 β-oxidation으로 분해되지 않아 먼저 α-oxidation을 거친다.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Glyoxylate의 transamination.</a:t>
            </a:r>
            <a:r>
              <a:rPr sz="1400" b="0" i="0">
                <a:solidFill>
                  <a:srgbClr val="11202B"/>
                </a:solidFill>
                <a:latin typeface="Malgun Gothic"/>
                <a:ea typeface="Malgun Gothic"/>
                <a:cs typeface="Malgun Gothic"/>
              </a:rPr>
              <a:t> 간 퍼옥시좀의 alanine-glyoxylate aminotransferase가 glyoxylate를 glycine으로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식물에서는 glyoxylate cycle로 지방을 당으로 전환하고, 잎에서는 photorespiration의 일부 반응을 담당한다.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퍼옥시좀의 대사 기능과 단백질 수입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수입 방식이 퍼옥시좀의 가장 두드러진 특징이다.</a:t>
            </a:r>
            <a:r>
              <a:rPr sz="1600" b="0" i="0">
                <a:solidFill>
                  <a:srgbClr val="11202B"/>
                </a:solidFill>
                <a:latin typeface="Malgun Gothic"/>
                <a:ea typeface="Malgun Gothic"/>
                <a:cs typeface="Malgun Gothic"/>
              </a:rPr>
              <a:t> 내부 단백질은 세포질에서 완성되고 </a:t>
            </a:r>
            <a:r>
              <a:rPr sz="1600" b="1" i="0">
                <a:solidFill>
                  <a:srgbClr val="11202B"/>
                </a:solidFill>
                <a:latin typeface="Malgun Gothic"/>
                <a:ea typeface="Malgun Gothic"/>
                <a:cs typeface="Malgun Gothic"/>
              </a:rPr>
              <a:t>접힌 다음에</a:t>
            </a:r>
            <a:r>
              <a:rPr sz="1600" b="0" i="0">
                <a:solidFill>
                  <a:srgbClr val="11202B"/>
                </a:solidFill>
                <a:latin typeface="Malgun Gothic"/>
                <a:ea typeface="Malgun Gothic"/>
                <a:cs typeface="Malgun Gothic"/>
              </a:rPr>
              <a:t> 수입된다. 신호는 두 가지다. 대부분의 기질 단백질은 C-말단의 세 잔기 </a:t>
            </a:r>
            <a:r>
              <a:rPr sz="1600" b="1" i="0">
                <a:solidFill>
                  <a:srgbClr val="11202B"/>
                </a:solidFill>
                <a:latin typeface="Malgun Gothic"/>
                <a:ea typeface="Malgun Gothic"/>
                <a:cs typeface="Malgun Gothic"/>
              </a:rPr>
              <a:t>PTS1(peroxisome targeting signal 1)</a:t>
            </a:r>
            <a:r>
              <a:rPr sz="1600" b="0" i="0">
                <a:solidFill>
                  <a:srgbClr val="11202B"/>
                </a:solidFill>
                <a:latin typeface="Malgun Gothic"/>
                <a:ea typeface="Malgun Gothic"/>
                <a:cs typeface="Malgun Gothic"/>
              </a:rPr>
              <a:t>을 갖는데, 전형적 서열은 Ser-Lys-Leu(SKL)이다. 일부 단백질은 N-말단 근처의 9 잔기 신호 </a:t>
            </a:r>
            <a:r>
              <a:rPr sz="1600" b="1" i="0">
                <a:solidFill>
                  <a:srgbClr val="11202B"/>
                </a:solidFill>
                <a:latin typeface="Malgun Gothic"/>
                <a:ea typeface="Malgun Gothic"/>
                <a:cs typeface="Malgun Gothic"/>
              </a:rPr>
              <a:t>PTS2</a:t>
            </a:r>
            <a:r>
              <a:rPr sz="1600" b="0" i="0">
                <a:solidFill>
                  <a:srgbClr val="11202B"/>
                </a:solidFill>
                <a:latin typeface="Malgun Gothic"/>
                <a:ea typeface="Malgun Gothic"/>
                <a:cs typeface="Malgun Gothic"/>
              </a:rPr>
              <a:t>를 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수입은 순환하는 수용체로 이루어진다. </a:t>
            </a:r>
            <a:r>
              <a:rPr sz="1600" b="1" i="0">
                <a:solidFill>
                  <a:srgbClr val="11202B"/>
                </a:solidFill>
                <a:latin typeface="Malgun Gothic"/>
                <a:ea typeface="Malgun Gothic"/>
                <a:cs typeface="Malgun Gothic"/>
              </a:rPr>
              <a:t>Pex5</a:t>
            </a:r>
            <a:r>
              <a:rPr sz="1600" b="0" i="0">
                <a:solidFill>
                  <a:srgbClr val="11202B"/>
                </a:solidFill>
                <a:latin typeface="Malgun Gothic"/>
                <a:ea typeface="Malgun Gothic"/>
                <a:cs typeface="Malgun Gothic"/>
              </a:rPr>
              <a:t>가 세포질에서 PTS1을 알아보고 결합한 뒤 막의 </a:t>
            </a:r>
            <a:r>
              <a:rPr sz="1600" b="1" i="0">
                <a:solidFill>
                  <a:srgbClr val="11202B"/>
                </a:solidFill>
                <a:latin typeface="Malgun Gothic"/>
                <a:ea typeface="Malgun Gothic"/>
                <a:cs typeface="Malgun Gothic"/>
              </a:rPr>
              <a:t>Pex13·Pex14</a:t>
            </a:r>
            <a:r>
              <a:rPr sz="1600" b="0" i="0">
                <a:solidFill>
                  <a:srgbClr val="11202B"/>
                </a:solidFill>
                <a:latin typeface="Malgun Gothic"/>
                <a:ea typeface="Malgun Gothic"/>
                <a:cs typeface="Malgun Gothic"/>
              </a:rPr>
              <a:t> 도킹 부위로 간다. 거기서 화물을 내부로 내려놓고, Pex5 자신은 ubiquitin이 붙은 뒤 ATP를 쓰는 기구로 세포질로 되돌려져 다시 쓰인다. PTS2 화물에는 </a:t>
            </a:r>
            <a:r>
              <a:rPr sz="1600" b="1" i="0">
                <a:solidFill>
                  <a:srgbClr val="11202B"/>
                </a:solidFill>
                <a:latin typeface="Malgun Gothic"/>
                <a:ea typeface="Malgun Gothic"/>
                <a:cs typeface="Malgun Gothic"/>
              </a:rPr>
              <a:t>Pex7</a:t>
            </a:r>
            <a:r>
              <a:rPr sz="1600" b="0" i="0">
                <a:solidFill>
                  <a:srgbClr val="11202B"/>
                </a:solidFill>
                <a:latin typeface="Malgun Gothic"/>
                <a:ea typeface="Malgun Gothic"/>
                <a:cs typeface="Malgun Gothic"/>
              </a:rPr>
              <a:t>이 같은 역할을 한다. 접힌 단백질, 심지어 올리고머까지 통과하므로 통로가 상당히 유연해야 하며, 이것이 소포체 translocon과 질적으로 다른 점이다.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퍼옥시좀 막단백질은 다른 경로로 온다. 상당수가 소포체의 특정 구역(peroxisomal ER)에서 소포 형태로 떨어져 나와 퍼옥시좀이 되거나 기존 퍼옥시좀에 합쳐진다. 따라서 퍼옥시좀은 </a:t>
            </a:r>
            <a:r>
              <a:rPr sz="1600" b="1" i="0">
                <a:solidFill>
                  <a:srgbClr val="11202B"/>
                </a:solidFill>
                <a:latin typeface="Malgun Gothic"/>
                <a:ea typeface="Malgun Gothic"/>
                <a:cs typeface="Malgun Gothic"/>
              </a:rPr>
              <a:t>기존 소기관의 성장과 분열로도, 소포체로부터 새로 만들어지는 방식으로도</a:t>
            </a:r>
            <a:r>
              <a:rPr sz="1600" b="0" i="0">
                <a:solidFill>
                  <a:srgbClr val="11202B"/>
                </a:solidFill>
                <a:latin typeface="Malgun Gothic"/>
                <a:ea typeface="Malgun Gothic"/>
                <a:cs typeface="Malgun Gothic"/>
              </a:rPr>
              <a:t> 늘어난다.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퍼옥시좀의 대사 기능과 단백질 수입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38</a:t>
            </a:r>
          </a:p>
        </p:txBody>
      </p:sp>
      <p:sp>
        <p:nvSpPr>
          <p:cNvPr id="7" name="Rectangle 6"/>
          <p:cNvSpPr/>
          <p:nvPr/>
        </p:nvSpPr>
        <p:spPr>
          <a:xfrm>
            <a:off x="640080" y="1325880"/>
            <a:ext cx="10881360" cy="1709767"/>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수용체 경로가 망가지면 퍼옥시좀 효소가 수입되지 못해 </a:t>
            </a:r>
            <a:r>
              <a:rPr sz="1600" b="1" i="0">
                <a:solidFill>
                  <a:srgbClr val="11202B"/>
                </a:solidFill>
                <a:latin typeface="Malgun Gothic"/>
                <a:ea typeface="Malgun Gothic"/>
                <a:cs typeface="Malgun Gothic"/>
              </a:rPr>
              <a:t>빈 막 구조(peroxisomal ghost)</a:t>
            </a:r>
            <a:r>
              <a:rPr sz="1600" b="0" i="0">
                <a:solidFill>
                  <a:srgbClr val="11202B"/>
                </a:solidFill>
                <a:latin typeface="Malgun Gothic"/>
                <a:ea typeface="Malgun Gothic"/>
                <a:cs typeface="Malgun Gothic"/>
              </a:rPr>
              <a:t>만 남는다. *PEX1*을 포함한 PEX 유전자의 양쪽 대립유전자 결손이 Zellweger 증후군 스펙트럼을 일으키며, VLCFA와 phytanic acid가 혈액에 쌓이고 plasmalogen은 줄어든다. 신생아기부터 근긴장 저하, 간 기능 이상, 심한 신경 발달 장애가 나타난다. 반면 단일 수송체 결손은 범위가 좁다. ABCD1 변이로 생기는 X-linked adrenoleukodystrophy에서는 VLCFA가 퍼옥시좀으로 들어가지 못해 뇌 백질과 부신에 쌓이고, 나머지 퍼옥시좀 기능은 유지된다. </a:t>
            </a:r>
            <a:r>
              <a:rPr sz="1600" b="1" i="0">
                <a:solidFill>
                  <a:srgbClr val="11202B"/>
                </a:solidFill>
                <a:latin typeface="Malgun Gothic"/>
                <a:ea typeface="Malgun Gothic"/>
                <a:cs typeface="Malgun Gothic"/>
              </a:rPr>
              <a:t>진단은 혈중 VLCFA(C26:0) 측정과 적혈구 plasmalogen 측정으로 두 범주를 구분한다.</a:t>
            </a:r>
          </a:p>
        </p:txBody>
      </p:sp>
      <p:sp>
        <p:nvSpPr>
          <p:cNvPr id="8" name="Rectangle 7"/>
          <p:cNvSpPr/>
          <p:nvPr/>
        </p:nvSpPr>
        <p:spPr>
          <a:xfrm>
            <a:off x="640080" y="3172807"/>
            <a:ext cx="10881360" cy="2999392"/>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퍼옥시좀 질환은 </a:t>
            </a:r>
            <a:r>
              <a:rPr sz="1600" b="1" i="0">
                <a:solidFill>
                  <a:srgbClr val="11202B"/>
                </a:solidFill>
                <a:latin typeface="Malgun Gothic"/>
                <a:ea typeface="Malgun Gothic"/>
                <a:cs typeface="Malgun Gothic"/>
              </a:rPr>
              <a:t>"수입이 망가졌는가, 효소 하나가 망가졌는가"</a:t>
            </a:r>
            <a:r>
              <a:rPr sz="1600" b="0" i="0">
                <a:solidFill>
                  <a:srgbClr val="11202B"/>
                </a:solidFill>
                <a:latin typeface="Malgun Gothic"/>
                <a:ea typeface="Malgun Gothic"/>
                <a:cs typeface="Malgun Gothic"/>
              </a:rPr>
              <a:t>로 갈리고 검사가 그 구분을 따른다. 수입 기구(PEX 유전자)의 결손에서는 거의 모든 기질 단백질이 들어가지 못해 퍼옥시좀의 기능 전체가 망가지므로, </a:t>
            </a:r>
            <a:r>
              <a:rPr sz="1600" b="1" i="0">
                <a:solidFill>
                  <a:srgbClr val="11202B"/>
                </a:solidFill>
                <a:latin typeface="Malgun Gothic"/>
                <a:ea typeface="Malgun Gothic"/>
                <a:cs typeface="Malgun Gothic"/>
              </a:rPr>
              <a:t>VLCFA가 쌓이고 plasmalogen이 줄고 phytanic acid와 담즙산 중간체도 비정상</a:t>
            </a:r>
            <a:r>
              <a:rPr sz="1600" b="0" i="0">
                <a:solidFill>
                  <a:srgbClr val="11202B"/>
                </a:solidFill>
                <a:latin typeface="Malgun Gothic"/>
                <a:ea typeface="Malgun Gothic"/>
                <a:cs typeface="Malgun Gothic"/>
              </a:rPr>
              <a:t>이 된다. Zellweger 증후군 스펙트럼이며 신생아기부터 근긴장 저하, 간 기능 이상, 심한 신경 발달 장애, 특징적 얼굴 모양을 보인다. 반면 단일 수송체나 단일 효소의 결손은 영향 범위가 좁다. ABCD1 결손인 X 연관 adrenoleukodystrophy에서는 VLCFA가 퍼옥시좀으로 들어가지 못해 </a:t>
            </a:r>
            <a:r>
              <a:rPr sz="1600" b="1" i="0">
                <a:solidFill>
                  <a:srgbClr val="11202B"/>
                </a:solidFill>
                <a:latin typeface="Malgun Gothic"/>
                <a:ea typeface="Malgun Gothic"/>
                <a:cs typeface="Malgun Gothic"/>
              </a:rPr>
              <a:t>VLCFA만 쌓이고 plasmalogen은 정상</a:t>
            </a:r>
            <a:r>
              <a:rPr sz="1600" b="0" i="0">
                <a:solidFill>
                  <a:srgbClr val="11202B"/>
                </a:solidFill>
                <a:latin typeface="Malgun Gothic"/>
                <a:ea typeface="Malgun Gothic"/>
                <a:cs typeface="Malgun Gothic"/>
              </a:rPr>
              <a:t>이며, 침범 부위가 뇌 백질과 부신에 집중된다. 그래서 검사 순서가 정해진다. 혈중 </a:t>
            </a:r>
            <a:r>
              <a:rPr sz="1600" b="1" i="0">
                <a:solidFill>
                  <a:srgbClr val="11202B"/>
                </a:solidFill>
                <a:latin typeface="Malgun Gothic"/>
                <a:ea typeface="Malgun Gothic"/>
                <a:cs typeface="Malgun Gothic"/>
              </a:rPr>
              <a:t>VLCFA(C26:0과 그 비)</a:t>
            </a:r>
            <a:r>
              <a:rPr sz="1600" b="0" i="0">
                <a:solidFill>
                  <a:srgbClr val="11202B"/>
                </a:solidFill>
                <a:latin typeface="Malgun Gothic"/>
                <a:ea typeface="Malgun Gothic"/>
                <a:cs typeface="Malgun Gothic"/>
              </a:rPr>
              <a:t>가 선별 검사이고, 올라가 있으면 적혈구 </a:t>
            </a:r>
            <a:r>
              <a:rPr sz="1600" b="1" i="0">
                <a:solidFill>
                  <a:srgbClr val="11202B"/>
                </a:solidFill>
                <a:latin typeface="Malgun Gothic"/>
                <a:ea typeface="Malgun Gothic"/>
                <a:cs typeface="Malgun Gothic"/>
              </a:rPr>
              <a:t>plasmalogen</a:t>
            </a:r>
            <a:r>
              <a:rPr sz="1600" b="0" i="0">
                <a:solidFill>
                  <a:srgbClr val="11202B"/>
                </a:solidFill>
                <a:latin typeface="Malgun Gothic"/>
                <a:ea typeface="Malgun Gothic"/>
                <a:cs typeface="Malgun Gothic"/>
              </a:rPr>
              <a:t>과 phytanic acid를 함께 보아 범위를 가린 뒤 유전자 검사로 확정한다. 남아에서 부신 기능 저하와 백질 병변이 함께 있으면 ALD를 먼저 의심하고, 신생아에서 다기관 침범이면 Zellweger 쪽을 생각한다. ALD는 신생아 선별검사 항목에 포함되어 있고 증상이 나타나기 전 조혈모세포 이식이 뇌형의 진행을 막을 수 있어, </a:t>
            </a:r>
            <a:r>
              <a:rPr sz="1600" b="1" i="0">
                <a:solidFill>
                  <a:srgbClr val="11202B"/>
                </a:solidFill>
                <a:latin typeface="Malgun Gothic"/>
                <a:ea typeface="Malgun Gothic"/>
                <a:cs typeface="Malgun Gothic"/>
              </a:rPr>
              <a:t>조기 발견이 치료 결과를 바꾸는 질환</a:t>
            </a:r>
            <a:r>
              <a:rPr sz="1600" b="0" i="0">
                <a:solidFill>
                  <a:srgbClr val="11202B"/>
                </a:solidFill>
                <a:latin typeface="Malgun Gothic"/>
                <a:ea typeface="Malgun Gothic"/>
                <a:cs typeface="Malgun Gothic"/>
              </a:rPr>
              <a:t>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퍼옥시좀의 대사 기능과 단백질 수입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39</a:t>
            </a:r>
          </a:p>
        </p:txBody>
      </p:sp>
      <p:pic>
        <p:nvPicPr>
          <p:cNvPr id="7" name="Picture 6" descr="fig-peroxisome.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퍼옥시좀의 기능과 PTS1 수입 순환. Pex5가 SKL 신호를 가진 접힌 단백질을 운반해 Pex13·Pex14에 도킹하고 화물을 내려놓은 뒤 재사용된다.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퍼옥시좀의 대사 기능과 단백질 수입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260690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미토콘드리아 질환의 치료는 오랫동안 보조적 관리에 머물렀으나, 지금은 네 방향이 임상과 전임상에 걸쳐 진행된다. 첫째, </a:t>
            </a:r>
            <a:r>
              <a:rPr sz="1600" b="1" i="0">
                <a:solidFill>
                  <a:srgbClr val="11202B"/>
                </a:solidFill>
                <a:latin typeface="Malgun Gothic"/>
                <a:ea typeface="Malgun Gothic"/>
                <a:cs typeface="Malgun Gothic"/>
              </a:rPr>
              <a:t>대사 우회</a:t>
            </a:r>
            <a:r>
              <a:rPr sz="1600" b="0" i="0">
                <a:solidFill>
                  <a:srgbClr val="11202B"/>
                </a:solidFill>
                <a:latin typeface="Malgun Gothic"/>
                <a:ea typeface="Malgun Gothic"/>
                <a:cs typeface="Malgun Gothic"/>
              </a:rPr>
              <a:t>다. 결손된 복합체를 건너뛰도록 전자를 다른 경로로 넣는 시도(예: 효모의 대체 산화효소를 도입하는 실험)와, 보조인자를 보충하는 접근(coenzyme Q10, riboflavin, thiamine)이 있다. 특정 유전자 결손에서만 반응하므로 유전형 진단이 전제된다. 둘째, </a:t>
            </a:r>
            <a:r>
              <a:rPr sz="1600" b="1" i="0">
                <a:solidFill>
                  <a:srgbClr val="11202B"/>
                </a:solidFill>
                <a:latin typeface="Malgun Gothic"/>
                <a:ea typeface="Malgun Gothic"/>
                <a:cs typeface="Malgun Gothic"/>
              </a:rPr>
              <a:t>mtDNA 자체를 겨냥하는 전략</a:t>
            </a:r>
            <a:r>
              <a:rPr sz="1600" b="0" i="0">
                <a:solidFill>
                  <a:srgbClr val="11202B"/>
                </a:solidFill>
                <a:latin typeface="Malgun Gothic"/>
                <a:ea typeface="Malgun Gothic"/>
                <a:cs typeface="Malgun Gothic"/>
              </a:rPr>
              <a:t>이다. 변이형 mtDNA만 선택적으로 끊어 비율을 낮추는 방법과, M01-W06-L02에서 다룬 DdCBE 계열의 염기 편집이 전임상에서 진행된다. 셋째, </a:t>
            </a:r>
            <a:r>
              <a:rPr sz="1600" b="1" i="0">
                <a:solidFill>
                  <a:srgbClr val="11202B"/>
                </a:solidFill>
                <a:latin typeface="Malgun Gothic"/>
                <a:ea typeface="Malgun Gothic"/>
                <a:cs typeface="Malgun Gothic"/>
              </a:rPr>
              <a:t>생식계열에서의 차단</a:t>
            </a:r>
            <a:r>
              <a:rPr sz="1600" b="0" i="0">
                <a:solidFill>
                  <a:srgbClr val="11202B"/>
                </a:solidFill>
                <a:latin typeface="Malgun Gothic"/>
                <a:ea typeface="Malgun Gothic"/>
                <a:cs typeface="Malgun Gothic"/>
              </a:rPr>
              <a:t>으로 미토콘드리아 대체 요법이 일부 국가에서 허용되었다. 넷째, </a:t>
            </a:r>
            <a:r>
              <a:rPr sz="1600" b="1" i="0">
                <a:solidFill>
                  <a:srgbClr val="11202B"/>
                </a:solidFill>
                <a:latin typeface="Malgun Gothic"/>
                <a:ea typeface="Malgun Gothic"/>
                <a:cs typeface="Malgun Gothic"/>
              </a:rPr>
              <a:t>미토콘드리아 품질 관리를 올리는 약물</a:t>
            </a:r>
            <a:r>
              <a:rPr sz="1600" b="0" i="0">
                <a:solidFill>
                  <a:srgbClr val="11202B"/>
                </a:solidFill>
                <a:latin typeface="Malgun Gothic"/>
                <a:ea typeface="Malgun Gothic"/>
                <a:cs typeface="Malgun Gothic"/>
              </a:rPr>
              <a:t>이다. Mitophagy를 촉진하거나 생합성을 자극하는 저분자가 시험되는데, 쟁점은 선택성이다. 품질 관리를 전반적으로 올리면 정상 미토콘드리아도 함께 제거되거나 종양에서 생존을 돕는 방향으로 작동할 수 있다. 공통의 어려움은 </a:t>
            </a:r>
            <a:r>
              <a:rPr sz="1600" b="1" i="0">
                <a:solidFill>
                  <a:srgbClr val="11202B"/>
                </a:solidFill>
                <a:latin typeface="Malgun Gothic"/>
                <a:ea typeface="Malgun Gothic"/>
                <a:cs typeface="Malgun Gothic"/>
              </a:rPr>
              <a:t>평가 지표</a:t>
            </a:r>
            <a:r>
              <a:rPr sz="1600" b="0" i="0">
                <a:solidFill>
                  <a:srgbClr val="11202B"/>
                </a:solidFill>
                <a:latin typeface="Malgun Gothic"/>
                <a:ea typeface="Malgun Gothic"/>
                <a:cs typeface="Malgun Gothic"/>
              </a:rPr>
              <a:t>다. 임상 양상이 조직마다 다르고 진행이 느려, 치료 효과를 수년 안에 측정할 수 있는 표지를 세우는 일이 임상 시험 설계의 병목이다.</a:t>
            </a:r>
          </a:p>
        </p:txBody>
      </p:sp>
      <p:sp>
        <p:nvSpPr>
          <p:cNvPr id="8" name="Rectangle 7"/>
          <p:cNvSpPr/>
          <p:nvPr/>
        </p:nvSpPr>
        <p:spPr>
          <a:xfrm>
            <a:off x="640080" y="4069948"/>
            <a:ext cx="10881360" cy="2102251"/>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미토콘드리아를 세포 사이에서 옮길 수 있다는 관찰이 새 분야를 열었다. 배양 세포에서 미토콘드리아가 없는 세포가 주변 세포로부터 미토콘드리아를 받아 호흡을 회복한다는 결과가 보고되었고, 생체에서도 손상된 조직으로 미토콘드리아가 이동한다는 자료가 있다. 전달 경로로는 세포 사이의 가느다란 돌기, 세포외 소포, 그리고 유리된 미토콘드리아의 직접 흡수가 제안된다. 임상 쪽에서는 환자의 근육에서 꺼낸 미토콘드리아를 허혈 조직에 주입하는 시도가 소규모로 보고되었다. 쟁점이 셋이다. 옮겨진 미토콘드리아가 실제로 기능하는지와 얼마나 오래 유지되는지, 이식된 mtDNA가 수혜 세포의 mtDNA와 섞여 heteroplasmy를 만들 때의 결과, 그리고 외래 미토콘드리아가 앞 절에서 본 자연면역 신호로 읽혀 염증을 일으킬 위험이다. 관찰은 재현되고 있으나 기전과 정량이 아직 부족한 단계이며, 그래서 "미토콘드리아 이식"이라는 표현을 쓸 때는 어느 수준의 증거를 말하는지 구별해야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세 소기관의 구조와 표적화를 다루었다. 그 안에서 일어나는 반응과, 소기관이 세포 전체의 결정에 참여하는 방식은 다음 수업들에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M01-W09-L02 생체에너지: 자유에너지와 ATP</a:t>
            </a:r>
            <a:r>
              <a:rPr sz="1400" b="0" i="0">
                <a:solidFill>
                  <a:srgbClr val="11202B"/>
                </a:solidFill>
                <a:latin typeface="Malgun Gothic"/>
                <a:ea typeface="Malgun Gothic"/>
                <a:cs typeface="Malgun Gothic"/>
              </a:rPr>
              <a:t> — 양성자 기울기의 두 성분과 환원 전위, 그리고 ATP 수지의 계산 근거를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M01-W09-L03 포도당과 지방산의 산화적 이화</a:t>
            </a:r>
            <a:r>
              <a:rPr sz="1400" b="0" i="0">
                <a:solidFill>
                  <a:srgbClr val="11202B"/>
                </a:solidFill>
                <a:latin typeface="Malgun Gothic"/>
                <a:ea typeface="Malgun Gothic"/>
                <a:cs typeface="Malgun Gothic"/>
              </a:rPr>
              <a:t> — matrix에서 일어나는 TCA cycle과 β-산화, 호흡 사슬의 복합체 배열과 억제제를 단계별로 다룬다. 퍼옥시좀이 깎아 넘긴 지방산이 거기서 처리된다.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공동 번역 수송과 번역 후 수송의 비교, 그리고 소포체에서 퍼옥시좀 막이 유래하는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mtDNA의 구조와 복제, heteroplasmy와 병목, NUMT를 유전체의 관점에서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미토콘드리아가 축삭을 따라 운반되는 기구를 다룬다. 분열이 왜 운반의 전제가 되는지가 거기서 완성된다.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Ca²⁺ 신호의 발생과 소멸, AMPK와 mTORC1에 의한 소기관 생합성의 조절을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BCL-2 계열에 의한 결정, caspase 연쇄, mitophagy를 세포사의 틀에서 상세히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M03-W02-L02 에너지대사와 미토콘드리아 질환</a:t>
            </a:r>
            <a:r>
              <a:rPr sz="1400" b="0" i="0">
                <a:solidFill>
                  <a:srgbClr val="11202B"/>
                </a:solidFill>
                <a:latin typeface="Malgun Gothic"/>
                <a:ea typeface="Malgun Gothic"/>
                <a:cs typeface="Malgun Gothic"/>
              </a:rPr>
              <a:t> — 호흡 사슬 결손의 유전 양식과 조직별 임상 양상, 치료를 임상의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M03-W03-L02 선천 대사 질환</a:t>
            </a:r>
            <a:r>
              <a:rPr sz="1400" b="0" i="0">
                <a:solidFill>
                  <a:srgbClr val="11202B"/>
                </a:solidFill>
                <a:latin typeface="Malgun Gothic"/>
                <a:ea typeface="Malgun Gothic"/>
                <a:cs typeface="Malgun Gothic"/>
              </a:rPr>
              <a:t> — 퍼옥시좀 질환과 지방산 산화 결손의 진단 경로를 함께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 소기관은 모두 완성된 단백질을 받아들이지만 방식이 다르다. 미토콘드리아는 접히지 않은 사슬을 Tom·Tim 통로로 통과시키며 막전위를 동력으로 쓰고, 엽록체는 같은 설계를 Toc·Tic로 구현하면서 thylakoid라는 한 단계를 더 둔다. 퍼옥시좀은 접힌 단백질을 순환 수용체 Pex5로 통째로 들여온다. 각 장치의 결손이 만드는 질환의 범위가 그 장치가 담당하는 단백질의 범위와 정확히 대응한다.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환자의 섬유아세포에서 미토콘드리아의 막전위를 측정했더니 정상이었으나, matrix로 수입되어야 할 전구체 단백질이 세포질에 쌓여 있었다. 수입 경로의 어느 단계가 망가졌을 가능성이 있는지 단계별로 나누어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막전위가 정상이라는 것은 안쪽막을 통과하는 단계의 구동력 자체는 유지된다는 뜻이므로, 결함은 인식·통과·가공의 구성 요소에 있을 가능성이 높다. 단계별로 보면 다음과 같다. 첫째, 전구체의 N 말단 신호 자체에 변이가 있어 바깥막의 </a:t>
            </a:r>
            <a:r>
              <a:rPr sz="1500" b="1" i="0">
                <a:solidFill>
                  <a:srgbClr val="11202B"/>
                </a:solidFill>
                <a:latin typeface="Malgun Gothic"/>
                <a:ea typeface="Malgun Gothic"/>
                <a:cs typeface="Malgun Gothic"/>
              </a:rPr>
              <a:t>Tom</a:t>
            </a:r>
            <a:r>
              <a:rPr sz="1500" b="0" i="0">
                <a:solidFill>
                  <a:srgbClr val="11202B"/>
                </a:solidFill>
                <a:latin typeface="Malgun Gothic"/>
                <a:ea typeface="Malgun Gothic"/>
                <a:cs typeface="Malgun Gothic"/>
              </a:rPr>
              <a:t> 수용체가 인식하지 못하는 경우다. 둘째, Tom 복합체의 구성 요소가 결손되어 바깥막 통과가 막힌 경우다. 셋째, matrix로 가는 화물이라면 안쪽막의 </a:t>
            </a:r>
            <a:r>
              <a:rPr sz="1500" b="1" i="0">
                <a:solidFill>
                  <a:srgbClr val="11202B"/>
                </a:solidFill>
                <a:latin typeface="Malgun Gothic"/>
                <a:ea typeface="Malgun Gothic"/>
                <a:cs typeface="Malgun Gothic"/>
              </a:rPr>
              <a:t>Tim23</a:t>
            </a:r>
            <a:r>
              <a:rPr sz="1500" b="0" i="0">
                <a:solidFill>
                  <a:srgbClr val="11202B"/>
                </a:solidFill>
                <a:latin typeface="Malgun Gothic"/>
                <a:ea typeface="Malgun Gothic"/>
                <a:cs typeface="Malgun Gothic"/>
              </a:rPr>
              <a:t> 복합체와 그 뒤에서 사슬을 당겨 주는 matrix 쪽 chaperone(mtHsp70)과 그 동반 인자의 결손이다. 이 단계는 막전위뿐 아니라 ATP도 요구하므로, matrix의 ATP가 모자라면 막전위가 정상이어도 수입이 멈춘다. 넷째, 수입 뒤 신호서열을 끊는 가공 peptidase의 결손이면 수입은 되지만 성숙하지 못한다. 구별 방법은 단계마다 다르다. 세포질에 쌓인 것이 전구체 크기인지 성숙 크기인지로 가공 단계를 가리고, 바깥막만 통과한 중간체가 검출되는지로 Tom과 Tim 단계를 가린다. 짝풀림제로 막전위를 없앤 대조 실험과 비교하면 막전위 의존 단계가 아님을 확인할 수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짝풀림제 2,4-dinitrophenol과 갈색지방의 UCP1은 같은 물리적 효과를 낸다. 두 경우의 결과가 다른 이유를 설명하고, 짝풀림이 일어났을 때 산소 소모와 ATP 생산이 각각 어떻게 변하는지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둘 다 양성자를 ATP synthase를 거치지 않고 matrix로 되돌려 양성자 기울기를 소산시킨다. 결과적으로 전자 전달에 걸려 있던 역압이 사라지므로 </a:t>
            </a:r>
            <a:r>
              <a:rPr sz="1500" b="1" i="0">
                <a:solidFill>
                  <a:srgbClr val="11202B"/>
                </a:solidFill>
                <a:latin typeface="Malgun Gothic"/>
                <a:ea typeface="Malgun Gothic"/>
                <a:cs typeface="Malgun Gothic"/>
              </a:rPr>
              <a:t>산소 소모는 오히려 늘어나고 ATP 생산은 줄어들며</a:t>
            </a:r>
            <a:r>
              <a:rPr sz="1500" b="0" i="0">
                <a:solidFill>
                  <a:srgbClr val="11202B"/>
                </a:solidFill>
                <a:latin typeface="Malgun Gothic"/>
                <a:ea typeface="Malgun Gothic"/>
                <a:cs typeface="Malgun Gothic"/>
              </a:rPr>
              <a:t>, 그 에너지는 전부 열로 나간다. 차이는 조절 가능성과 범위에 있다. UCP1은 갈색지방과 베이지색 지방에 국한되어 발현되고, 교감신경 자극과 지방 분해로 공급된 지방산에 의해 켜지고 자극이 멈추면 꺼진다. 즉 필요한 조직에서 필요한 동안만 열을 만드는 생리적 장치다. 2,4-dinitrophenol은 막을 가진 모든 세포에서 무차별적으로 작용하고 끌 수 없으므로, 체온이 통제 없이 오르고 ATP가 전신에서 고갈되어 치명적이다. 과거 체중 감량제로 쓰였다가 사망 사례로 금지된 역사가 여기에 있다. 이 비교의 요점은 생리와 독성의 차이가 기전이 아니라 </a:t>
            </a:r>
            <a:r>
              <a:rPr sz="1500" b="1" i="0">
                <a:solidFill>
                  <a:srgbClr val="11202B"/>
                </a:solidFill>
                <a:latin typeface="Malgun Gothic"/>
                <a:ea typeface="Malgun Gothic"/>
                <a:cs typeface="Malgun Gothic"/>
              </a:rPr>
              <a:t>조절과 국소화</a:t>
            </a:r>
            <a:r>
              <a:rPr sz="1500" b="0" i="0">
                <a:solidFill>
                  <a:srgbClr val="11202B"/>
                </a:solidFill>
                <a:latin typeface="Malgun Gothic"/>
                <a:ea typeface="Malgun Gothic"/>
                <a:cs typeface="Malgun Gothic"/>
              </a:rPr>
              <a:t>에 있다는 것이다.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허혈 후 재관류 시점에 세포 손상이 가장 커지는 현상을 미토콘드리아의 관점에서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허혈 동안 산소가 없어 전자 전달이 멈추고 ATP가 고갈되며, 이온 펌프가 멈춰 세포 내 Na⁺과 Ca²⁺이 늘고 산성화가 진행된다. 호흡 사슬의 운반체는 환원된 상태로 쌓인다. 재관류로 산소가 갑자기 공급되면 세 가지가 한꺼번에 일어난다. 첫째, 환원된 상태로 쌓여 있던 운반체에서 전자가 산소로 새어 나가 </a:t>
            </a:r>
            <a:r>
              <a:rPr sz="1500" b="1" i="0">
                <a:solidFill>
                  <a:srgbClr val="11202B"/>
                </a:solidFill>
                <a:latin typeface="Malgun Gothic"/>
                <a:ea typeface="Malgun Gothic"/>
                <a:cs typeface="Malgun Gothic"/>
              </a:rPr>
              <a:t>반응성 산소종이 대량으로 생성된다.</a:t>
            </a:r>
            <a:r>
              <a:rPr sz="1500" b="0" i="0">
                <a:solidFill>
                  <a:srgbClr val="11202B"/>
                </a:solidFill>
                <a:latin typeface="Malgun Gothic"/>
                <a:ea typeface="Malgun Gothic"/>
                <a:cs typeface="Malgun Gothic"/>
              </a:rPr>
              <a:t> 둘째, 세포질과 matrix의 Ca²⁺이 이미 과부하 상태이고, 산화 스트레스가 더해지면 안쪽막의 </a:t>
            </a:r>
            <a:r>
              <a:rPr sz="1500" b="1" i="0">
                <a:solidFill>
                  <a:srgbClr val="11202B"/>
                </a:solidFill>
                <a:latin typeface="Malgun Gothic"/>
                <a:ea typeface="Malgun Gothic"/>
                <a:cs typeface="Malgun Gothic"/>
              </a:rPr>
              <a:t>투과성 전이</a:t>
            </a:r>
            <a:r>
              <a:rPr sz="1500" b="0" i="0">
                <a:solidFill>
                  <a:srgbClr val="11202B"/>
                </a:solidFill>
                <a:latin typeface="Malgun Gothic"/>
                <a:ea typeface="Malgun Gothic"/>
                <a:cs typeface="Malgun Gothic"/>
              </a:rPr>
              <a:t>가 열린다. 셋째, 전이가 열리면 양성자 기울기가 사라져 ATP 합성이 멈추고 ATP synthase가 역방향으로 돌며 남은 ATP까지 소비하고, matrix가 부풀어 바깥막이 터져 세포가 죽는다. 즉 손상은 산소가 없을 때가 아니라 </a:t>
            </a:r>
            <a:r>
              <a:rPr sz="1500" b="1" i="0">
                <a:solidFill>
                  <a:srgbClr val="11202B"/>
                </a:solidFill>
                <a:latin typeface="Malgun Gothic"/>
                <a:ea typeface="Malgun Gothic"/>
                <a:cs typeface="Malgun Gothic"/>
              </a:rPr>
              <a:t>산소가 돌아오는 순간에 완성된다.</a:t>
            </a:r>
            <a:r>
              <a:rPr sz="1500" b="0" i="0">
                <a:solidFill>
                  <a:srgbClr val="11202B"/>
                </a:solidFill>
                <a:latin typeface="Malgun Gothic"/>
                <a:ea typeface="Malgun Gothic"/>
                <a:cs typeface="Malgun Gothic"/>
              </a:rPr>
              <a:t> 이 모형이 재관류 시점에 투과성 전이를 억제하거나 ROS 생성을 줄이는 치료를 시도하는 근거이며, cyclophilin D를 표적으로 한 접근과 복합체 I의 역방향 전자 흐름을 억제하는 접근이 그 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Cytochrome c가 호흡 사슬의 구성원이면서 세포사멸의 방아쇠라는 사실이 세포의 설계에 대해 무엇을 말하는지 설명하고, 이 배치를 이용한 치료의 예를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세포는 "미토콘드리아가 온전한가"를 생존의 판정 기준으로 쓰고 있다는 뜻이다. Cytochrome c는 막 사이 공간에서 복합체 III와 IV 사이의 전자를 옮기는 운반체이고, 그 자리에 있는 동안은 에너지 생산에 기여한다. BAX와 BAK가 바깥막에 구멍을 만들어 cytochrome c가 세포질로 나오면 Apaf-1과 결합해 apoptosome을 이루고 caspase-9을 활성화해 세포사멸을 실행한다. 즉 하나의 분자가 위치에 따라 정반대의 의미를 가지며, 에너지 공급 기관의 온전함이 곧 생존 신호가 된다. 손상된 미토콘드리아를 가진 세포를 제거하는 장치로서 합리적인 배치다. 치료 응용은 이 결정 지점을 인위적으로 움직이는 것이다. 종양세포는 흔히 BCL-2를 과발현해 BAX·BAK를 억제하고 세포사멸을 피하는데, BCL-2를 직접 막는 venetoclax가 그 억제를 풀어 MOMP를 일으킨다. 만성 림프구성 백혈병과 급성 골수성 백혈병에서 쓰이며, 종양이 그 억제에 의존하고 있을 때 효과가 크다는 점이 선택성의 근거다.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세포질로 새어 나온 mtDNA가 염증을 일으키는 기전을 설명하고, 이 현상이 미토콘드리아의 기원과 어떻게 연결되는지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mtDNA는 CpG가 많고 methylation이 적어 세균 DNA와 성질이 비슷하다. 세포질에는 외래 이중사슬 DNA를 감지하는 cGAS가 있어, mtDNA가 세포질로 나오면 이를 침입자의 DNA로 인식해 cGAMP를 만들고 STING을 거쳐 인터페론 반응을 켠다. 일부 상황에서는 inflammasome이 활성화되어 IL-1β 계열의 염증 매개체가 분비된다. mtDNA가 새어 나오는 경로로는 투과성 전이, BAX·BAK에 의한 바깥막 투과화 후 내막의 돌출, 그리고 산화 손상에 의한 막 손상이 제안된다. 기원과의 연결은 분명하다. 미토콘드리아는 세균에서 유래한 소기관이므로 세균의 분자적 특징을 여전히 가지고 있고, 면역계는 그 특징을 침입의 표지로 읽도록 진화했다. 그래서 자기 소기관의 구성 성분이 제자리를 벗어나면 외래 신호로 작동한다. cardiolipin과 N-formyl peptide도 같은 방식으로 손상 신호가 된다. 이 축은 무균 염증, 자가면역, 노화 관련 만성 염증의 기전으로 연구되며, 조직 손상 뒤 염증이 왜 일어나는지를 설명하는 한 축이다.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혈중 VLCFA가 올라간 두 환자에서 한 명은 적혈구 plasmalogen이 정상이고 다른 한 명은 감소했다. 두 환자의 진단이 어떻게 다른지 설명하고 그 근거를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Plasmalogen이 정상인 환자는 단일 수송체나 단일 효소의 결손이고, 감소한 환자는 퍼옥시좀 수입 기구 전체의 결손이다. 근거는 두 기능이 서로 다른 단백질에 의존한다는 점이다. VLCFA의 β-산화는 그 지방산을 퍼옥시좀으로 들여보내는 수송체 ABCD1과 내부의 산화 효소에 의존하고, plasmalogen 합성의 처음 두 단계는 다른 효소들이 담당한다. 수송체 하나만 망가지면 VLCFA만 쌓이고 나머지 퍼옥시좀 기능은 유지되므로 plasmalogen이 정상이다. 이것이 X 연관 adrenoleukodystrophy이며, 남아에서 부신 기능 저하와 뇌 백질 병변, 또는 성인에서 서서히 진행하는 척수 증상으로 나타난다. 반대로 PEX 유전자의 결손에서는 Pex5·Pex7 수용체 경로가 망가져 거의 모든 기질 단백질이 들어가지 못하므로, VLCFA가 쌓이고 plasmalogen이 줄고 phytanic acid와 담즙산 중간체도 비정상이 된다. 이것이 Zellweger 증후군 스펙트럼이고 신생아기부터 다기관 침범을 보인다. 확인은 유전자 검사이며, ALD는 신생아 선별검사로 발견해 증상 전에 조혈모세포 이식을 고려할 수 있어 조기 진단의 의미가 크다.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미토콘드리아의 바깥막을 통과하는 Tom 복합체는 막전위를 동력으로 쓰지 못하는데 안쪽막의 Tim23은 쓸 수 있다. 그 이유를 두 막의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바깥막에는 porin이 많아 분자량 5 kDa 이하의 용질과 이온이 자유롭게 통과한다. 이온이 양쪽으로 평형에 도달하므로 바깥막 양쪽에는 전위차와 pH 차가 생기지 않고, 따라서 쓸 수 있는 전기화학적 에너지가 없다. 반면 안쪽막은 이온에 불투과성이고 호흡 복합체가 양성자를 IMS로 밀어내므로 Δψ가 약 −160~−180 mV(matrix가 음전하)로 유지된다. Tim23을 통과하는 presequence는 Arg·Lys이 많아 양전하를 띠므로 음전하인 matrix 쪽으로 전기적으로 끌린다. 즉 Tim23 수송의 방향성과 동력이 막전위에서 직접 나온다. 같은 이유로 바깥막 β-barrel 단백질을 삽입하는 SAM 경로도 막전위를 필요로 하지 않는다.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환자에게서 혈중 lactate 상승, 근육 약화, 난청, 당뇨병이 함께 나타나고, 어머니와 외삼촌에게 유사한 증상이 있으나 아버지 쪽에는 없다. 이 가계도에서 어떤 유전 양식을 먼저 생각해야 하며, 증상의 조직 분포와 가족 내 중증도 차이를 어떻게 설명하는가.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모계 유전이므로 mtDNA 변이를 먼저 생각한다. 수정 시 정자의 미토콘드리아가 선택적으로 분해되므로 mtDNA는 난자에서만 전달되고, 어머니에서 남녀 자녀 모두로 전달되지만 아버지에서는 전달되지 않는다. 증상이 근육·내이·신경·췌장 β세포에 모이는 것은 threshold effect로 설명된다. 변이형 mtDNA 비율이 역치를 넘어야 표현형이 나타나고, 그 역치는 ATP 요구가 크고 대체 공급 수단이 없는 조직에서 가장 낮다. 가족 내 중증도 차이는 heteroplasmy 비율의 차이다. 난자 형성기의 bottleneck 때문에 한 어머니의 난자들이 서로 다른 변이형 비율을 가지며, 세포분열 때의 무작위 분배로 조직마다 비율이 또 달라진다. m.3243A&gt;G 같은 tRNA 유전자 변이가 이런 다장기 표현형의 전형적 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Mitophagy가 손상된 미토콘드리아만 선택적으로 제거할 수 있는 기전을 설명하고, 이 기전이 왜 막전위를 센서로 쓰는 것이 합리적인지 판단하라.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PINK1은 N-말단에 presequence를 가진 핵 암호화 kinase로, 정상 미토콘드리아에서는 Tim23을 통해 내막을 통과해 들어가 protease에 의해 분해되므로 바깥막에 남지 않는다. Tim23 수송은 막전위에 의존하므로, 막전위를 잃은 미토콘드리아에서는 PINK1이 수입되지 못하고 바깥막에 쌓인다. 쌓인 PINK1이 Parkin을 불러와 활성화하고 Parkin이 바깥막 단백질을 ubiquitination하면 autophagy 기구가 그 소기관만 알아본다. 막전위를 센서로 쓰는 것이 합리적인 이유는, 막전위가 호흡 사슬의 기능을 직접 반영하는 단일 지표이고 소기관 하나하나에 국소적으로 존재하기 때문이다. 세포질에 퍼지는 신호와 달리 손상된 개별 소기관만 표지할 수 있으며, 별도의 손상 감지 단백질을 두지 않고 이미 있는 수입 장치를 그대로 센서로 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안쪽막의 ANT는 ATP⁴⁻와 ADP³⁻를 1:1로 교환하고, phosphate carrier는 H₂PO₄⁻를 H⁺와 함께 들여온다. 두 수송체가 전기화학적 기울기의 서로 다른 성분을 소비하는 이유를 전하 수지로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ANT는 ATP⁴⁻ 하나를 matrix에서 내보내고 ADP³⁻ 하나를 들여오므로, 알짜로 음전하 하나가 matrix에서 빠져나간다. 전하가 이동했으므로 막전위 성분 Δψ가 소비된다. Phosphate carrier는 H₂PO₄⁻ 하나와 H⁺ 하나를 함께 들여오므로 알짜 전하 이동이 0이고 Δψ에는 영향이 없으나, 양성자 하나가 IMS에서 matrix로 들어오므로 ΔpH가 소비된다. Pyruvate 수송체처럼 음이온을 들여오고 OH⁻를 내보내는 교환도 전기적으로 중성이므로 ΔpH만 쓴다. 결론적으로 호흡으로 만든 양성자 기울기는 ATP 합성에만 쓰이지 않고 대사물 수송에도 나뉘어 쓰이며, 이 때문에 NADH당 실제 ATP 수확이 전위차 계산의 이론값보다 작다.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미토콘드리아와 엽록체는 둘 다 두 겹의 막과 자체 유전체를 갖지만, 엽록체에는 막계가 하나 더 있다. 이 차이가 ATP가 어느 공간에 쌓이는지에 어떤 결과를 가져오는지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미토콘드리아에서는 안쪽막이 전자 전달과 ATP 합성을 함께 담당한다. 양성자가 matrix에서 IMS로 밀려나고 ATP synthase를 통해 matrix로 돌아오므로 ATP는 matrix에 생성되며, 세포질로 나가려면 ANT를 거쳐야 한다. 엽록체에서는 envelope이 아니라 내부의 thylakoid 막이 전자 전달과 ATP 합성을 담당한다. 양성자는 stroma에서 thylakoid lumen으로 밀려 들어가 lumen이 산성이 되고, 되돌아 나오면서 ATP synthase를 돌리므로 ATP는 stroma에 생성된다. Stroma에는 Calvin cycle 효소가 있으므로 생성된 ATP와 NADPH가 같은 공간에서 바로 CO₂ 고정에 쓰이고, 막을 추가로 통과할 필요가 없다. 즉 세 번째 막계의 존재가 에너지 생산과 소비를 한 구획에 모아 둔다.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혈중 VLCFA(C26:0)가 상승한 두 환자가 있다. 한쪽은 적혈구 plasmalogen이 정상이고 다른 한쪽은 감소해 있다. 두 환자의 결손 지점을 각각 추정하고 근거를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Plasmalogen이 정상인 환자는 퍼옥시좀 자체는 정상으로 조립되고 특정 기능만 결손된 경우다. 가장 흔한 예가 ABCD1 변이로 생기는 X-linked adrenoleukodystrophy다. VLCFA를 퍼옥시좀 내부로 들여오는 수송체 하나만 망가지므로 VLCFA가 쌓이지만, plasmalogen 합성 효소는 정상적으로 수입되어 작동한다. Plasmalogen이 감소한 환자는 퍼옥시좀 단백질 수입 자체가 망가진 경우다. PEX 유전자(예: PEX1, PEX5, PEX7) 결손으로 Pex5 또는 Pex7 순환 수용체 경로가 작동하지 않으면 다수의 기질 효소가 수입되지 못해 빈 막 구조만 남는다. 그 결과 VLCFA β-oxidation과 plasmalogen 합성이 함께 멈추어 VLCFA는 상승하고 plasmalogen은 감소하며, Zellweger 스펙트럼의 임상상을 보인다. 즉 두 지표를 함께 보면 단일 기능 결손과 소기관 조립 결손을 구분할 수 있다.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퍼옥시좀은 이미 접힌 단백질을, 미토콘드리아는 접히지 않은 사슬을 수입한다. 두 방식의 차이가 각 수송 장치의 구조와 동력에 어떤 요구를 부과하는지 비교하라.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미토콘드리아는 좁은 통로(Tom40, Tim23)를 쓸 수 있으므로 사슬을 펴진 상태로 유지해야 한다. 그래서 세포질 Hsp70이 전구체를 접히지 않게 붙들고, 통과 뒤 matrix에서 chaperone이 접는다. 동력은 막전위와 mtHsp70의 ATP 가수분해에서 나오며, 사슬을 한 방향으로 반복해 잡아당기는 기전이 필요하다. 퍼옥시좀은 접힌 단백질과 올리고머까지 통과시켜야 하므로 통로가 훨씬 유연하거나 일시적으로 큰 구멍을 만들 수 있어야 한다. 대신 사슬을 펴는 chaperone 체계는 필요하지 않다. 동력은 막전위가 아니라 Pex5 수용체의 순환, 즉 ubiquitination과 ATP를 쓰는 retro-translocation에서 나온다. 퍼옥시좀 막에는 호흡 사슬이 없어 막전위를 만들 수 없으므로 전위에 의존하는 설계가 애초에 불가능하다.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12, Mitochondria, Chloroplasts, and Peroxisomes.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12, Intracellular Compartments and Protein Sorting; Chapter 14, Energy Conversion.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Wiedemann N, Pfanner N. Mitochondrial machineries for protein import and assembly. Annu Rev Biochem 2017;86:685–714.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Gustafsson CM, Falkenberg M, Larsson NG. Maintenance and expression of mammalian mitochondrial DNA. Annu Rev Biochem 2016;85:133–160.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Pickles S, Vigié P, Youle RJ. Mitophagy and quality control mechanisms in mitochondrial maintenance. Curr Biol 2018;28:R170–R185.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Waterham HR, Ferdinandusse S, Wanders RJA. Human disorders of peroxisome metabolism and biogenesis. Biochim Biophys Acta 2016;1863:922–933.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Jarvis P, López-Juez E. Biogenesis and homeostasis of chloroplasts and other plastids. Nat Rev Mol Cell Biol 2013;14:787–802.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M01-W10-L01  ·  미토콘드리아·엽록체·퍼옥시좀의 구조와 기능</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Rizzuto R, De Stefani D, Raffaello A, Mammucari C. Mitochondria as sensors and regulators of calcium signalling. Nat Rev Mol Cell Biol 2012;13:566–578.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Bernardi P, Di Lisa F. The mitochondrial permeability transition pore: molecular nature and role as a target in cardioprotection. J Mol Cell Cardiol 2015;78:100–106.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Tait SWG, Green DR. Mitochondria and cell death: outer membrane permeabilization and beyond. Nat Rev Mol Cell Biol 2010;11:621–632.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West AP, Shadel GS. Mitochondrial DNA in innate immune responses and inflammatory pathology. Nat Rev Immunol 2017;17:363–375.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Chouchani ET, Kazak L, Spiegelman BM. New advances in adaptive thermogenesis: UCP1 and beyond. Cell Metab 2019;29:27–37.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Wanders RJA, Waterham HR. Biochemistry of mammalian peroxisomes revisited. Annu Rev Biochem 2006;75:295–332.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Pfanner N, Warscheid B, Wiedemann N. Mitochondrial proteins: from biogenesis to functional networks. Nat Rev Mol Cell Biol 2019;20:267–284.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