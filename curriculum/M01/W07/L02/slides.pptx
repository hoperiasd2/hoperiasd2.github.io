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발현 조절이 가능한 단계와 전사 개시가 중심이 되는 이유. 염색질 접근성에서 단백질 안정성까지의 순서, 각 단계의 반응 속도와 유지 기간의 차이, 전사 단계에서 끄는 것이 자원을 아끼는 구조, 그리고 전사량의 차이가 단백질량으로 증폭되는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Reporter gene 분석의 설계와 두 가지 변형. 조사 구간 뒤에 측정하기 쉬운 유전자를 연결하는 기본 구성, 5′ 쪽을 점점 잘라 발현이 떨어지는 지점을 찾는 결실 분석, 길이를 유지한 채 구간을 바꿔치기해 길이 효과를 배제하는 linker scanning, 그리고 세 방법으로 해상도를 단계적으로 올리는 순서를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단백질-DNA 결합을 보는 세 방법. DNase I이 접근하지 못해 띠가 빠지는 footprinting의 원리, 단백질이 붙어 느려진 DNA의 띠 이동을 보는 EMSA, 세포를 고정해 항체로 침전시키고 함께 나온 DNA를 읽는 ChIP-seq, 그리고 세 방법이 각각 답하는 질문과 한계의 대응을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Promoter와 enhancer의 실험적 구분. 위치와 방향이 고정된 promoter와 떼어서 뒤집어 붙여도 작동하는 enhancer의 대비, reporter 분석으로 그 성질을 확인하는 설계, 그리고 거리에 구애받지 않는 결과로 생기는 표적 판정 문제와 DNA 고리를 통한 접촉을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전사인자의 모듈 구조를 밝힌 영역 교환 실험. GAL4의 DNA 결합 영역을 LexA의 것으로 바꿔 붙이면 표적 서열이 LexA의 것으로 바뀌는 설계와 결과, 결합 영역이 대상을 정하고 활성화 영역이 정도를 정하는 분업, 그리고 그 결과로 가능해진 인공 전사인자와 two-hybrid 분석을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결합 도메인의 네 가지 구조 계열과 이량체 형성의 효과. Helix-turn-helix와 homeodomain이 큰 홈에 들어가는 방식, Zn 이온이 접어 쥐는 zinc finger와 손가락 수에 따른 인식 길이, leucine의 7잔기 반복이 만드는 소수성 면과 감긴 이량체, helix-loop-helix의 구성, 그리고 이종 이량체의 조합이 단백질 수보다 많은 특이성을 만드는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활성화 영역이 수행하는 두 가지 일. 공동활성화인자를 불러 histone acetylation과 nucleosome 재배치로 염색질을 여는 경로, mediator가 enhancer의 전사인자와 promoter의 Pol II를 잇는 중계 구조, 전사인자가 어디와 얼마를 정하고 다른 기구가 어떻게를 수행하는 분업, 그리고 억제인자-공동억제인자가 같은 지점에서 반대로 작동하는 대칭을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외 신호가 promoter에 도달하는 네 경로. 막을 통과한 스테로이드가 세포질 수용체와 결합해 함께 핵으로 들어가는 경로, 핵에 대기하던 CREB이 PKA에 인산화되는 경로, JAK에 인산화된 STAT이 이량체가 되어야 들어가는 경로, IκB의 분해로 풀려나는 NF-κB 경로, 그리고 네 경로 모두 새 합성이 아니라 대기 상태의 전환이라는 공통 원리를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전사 조절과 후성유전</a:t>
            </a:r>
          </a:p>
          <a:p>
            <a:r>
              <a:rPr sz="1500" b="0" i="0">
                <a:solidFill>
                  <a:srgbClr val="B9D2E8"/>
                </a:solidFill>
                <a:latin typeface="Malgun Gothic"/>
                <a:ea typeface="Malgun Gothic"/>
                <a:cs typeface="Malgun Gothic"/>
              </a:rPr>
              <a:t>Transcriptional Regulation and Epigenetics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M01-W07-L02  ·  1부</a:t>
            </a:r>
          </a:p>
          <a:p>
            <a:r>
              <a:rPr sz="1100" b="0" i="0">
                <a:solidFill>
                  <a:srgbClr val="F2B705"/>
                </a:solidFill>
                <a:latin typeface="Malgun Gothic"/>
                <a:ea typeface="Malgun Gothic"/>
                <a:cs typeface="Malgun Gothic"/>
              </a:rPr>
              <a:t>전체 13절 가운데 9절</a:t>
            </a:r>
          </a:p>
          <a:p>
            <a:r>
              <a:rPr sz="1100" b="0" i="0">
                <a:solidFill>
                  <a:srgbClr val="9FBEDA"/>
                </a:solidFill>
                <a:latin typeface="Malgun Gothic"/>
                <a:ea typeface="Malgun Gothic"/>
                <a:cs typeface="Malgun Gothic"/>
              </a:rPr>
              <a:t>7주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유전자 발현을 바꿀 수 있는 단계를 모두 열거하고 전사 단계가 조절의 중심이 되는 이유를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Reporter gene 분석의 원리를 쓰고 결실 분석과 linker scanning이 각각 답하는 질문을 구분한다.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DNase footprinting, EMSA, ChIP-seq가 각각 무엇을 보여주는지 구분하고 세 방법을 함께 쓰는 이유를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Promoter와 enhancer를 실험적 기준으로 정의하고 enhancer의 위치·방향 독립성을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영역 교환 실험의 설계와 결과를 쓰고 전사인자가 모듈 구조라는 결론이 어떻게 도출되는지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DNA 결합 도메인의 네 가지 구조 계열을 쓰고 이량체 형성이 결합 특이성에 미치는 영향을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활성화 영역이 수행하는 두 가지 일을 쓰고 공동활성화인자와 mediator의 역할을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세포 외 신호가 promoter에 도달하는 네 경로를 전사인자의 대기 장소와 활성화 방식으로 구분한다.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Master regulator의 개념을 쓰고 조합 조절과 함께 조직 특이적 발현을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후성유전 조절이 전사 조절에 더하는 층이 무엇인지 쓰고 그 범위를 정의한다.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M01-W07-L01 RNA 합성과 가공 — Pol II, general transcription factor, preinitiation complex</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promoter, 조절서열, 염색질의 기본 구조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M01-W06-L01 재조합 DNA와 분자생물학 실험 기법 — 클로닝, 형질도입, 전기영동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들어가며: 같은 유전체로 다른 세포가 되는 일</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조절은 주로 어느 단계에서 일어나는가</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조절서열을 어떻게 찾는가 — reporter gene 분석</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단백질이 DNA의 어디에 붙는지 보는 방법</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Promoter와 enhancer — 실험이 정한 구분</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전사인자는 모듈로 되어 있다 — 영역 교환 실험</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DNA 결합 도메인의 구조 계열</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활성화 영역은 무엇을 하는가</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세포 외 신호가 promoter까지 도달하는 경로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같은 유전체로 다른 세포가 되는 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수업의 질문은 하나다. </a:t>
            </a:r>
            <a:r>
              <a:rPr sz="1400" b="1" i="0">
                <a:solidFill>
                  <a:srgbClr val="11202B"/>
                </a:solidFill>
                <a:latin typeface="Malgun Gothic"/>
                <a:ea typeface="Malgun Gothic"/>
                <a:cs typeface="Malgun Gothic"/>
              </a:rPr>
              <a:t>모든 세포가 같은 DNA를 갖는데 왜 서로 다른 세포가 되는가.</a:t>
            </a:r>
            <a:r>
              <a:rPr sz="1400" b="0" i="0">
                <a:solidFill>
                  <a:srgbClr val="11202B"/>
                </a:solidFill>
                <a:latin typeface="Malgun Gothic"/>
                <a:ea typeface="Malgun Gothic"/>
                <a:cs typeface="Malgun Gothic"/>
              </a:rPr>
              <a:t> 답은 간단히 말하면 켜진 유전자가 다르기 때문이고, 이 수업은 그 "켜고 끄는" 일이 실제로 어떻게 이루어지는지를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규모를 숫자로 잡아 두자. 사람의 유전자는 약 2만 개인데, 한 종류의 세포에서 동시에 켜져 있는 것은 그 가운데 일부다. 나머지는 꺼져 있다. 그래서 </a:t>
            </a:r>
            <a:r>
              <a:rPr sz="1400" b="1" i="0">
                <a:solidFill>
                  <a:srgbClr val="11202B"/>
                </a:solidFill>
                <a:latin typeface="Malgun Gothic"/>
                <a:ea typeface="Malgun Gothic"/>
                <a:cs typeface="Malgun Gothic"/>
              </a:rPr>
              <a:t>세포의 정체성은 유전체가 아니라 발현 양상</a:t>
            </a:r>
            <a:r>
              <a:rPr sz="1400" b="0" i="0">
                <a:solidFill>
                  <a:srgbClr val="11202B"/>
                </a:solidFill>
                <a:latin typeface="Malgun Gothic"/>
                <a:ea typeface="Malgun Gothic"/>
                <a:cs typeface="Malgun Gothic"/>
              </a:rPr>
              <a:t>으로 정해진다. 간세포를 간세포로 만드는 것은 간에만 있는 유전자가 아니라, 간에서만 켜지는 유전자의 조합이다.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기본 틀을 세워 두자. 유전자가 발현되어 단백질이 되기까지는 여러 단계가 있고, 원칙적으로 어느 단계에서든 조절할 수 있다. 전사를 할지, 만든 RNA를 어떻게 가공할지, 핵 밖으로 보낼지, 번역할지, 만든 단백질을 얼마나 오래 둘지가 모두 조절 지점이다. 그런데 </a:t>
            </a:r>
            <a:r>
              <a:rPr sz="1400" b="1" i="0">
                <a:solidFill>
                  <a:srgbClr val="11202B"/>
                </a:solidFill>
                <a:latin typeface="Malgun Gothic"/>
                <a:ea typeface="Malgun Gothic"/>
                <a:cs typeface="Malgun Gothic"/>
              </a:rPr>
              <a:t>가장 큰 몫은 전사 단계</a:t>
            </a:r>
            <a:r>
              <a:rPr sz="1400" b="0" i="0">
                <a:solidFill>
                  <a:srgbClr val="11202B"/>
                </a:solidFill>
                <a:latin typeface="Malgun Gothic"/>
                <a:ea typeface="Malgun Gothic"/>
                <a:cs typeface="Malgun Gothic"/>
              </a:rPr>
              <a:t>에서 조절된다. 이유는 경제적이다. 만들지 않는 것이 만들고 버리는 것보다 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용어 다섯 개를 먼저 정의한다.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전사인자(transcription factor)</a:t>
            </a:r>
            <a:r>
              <a:rPr sz="1400" b="0" i="0">
                <a:solidFill>
                  <a:srgbClr val="11202B"/>
                </a:solidFill>
                <a:latin typeface="Malgun Gothic"/>
                <a:ea typeface="Malgun Gothic"/>
                <a:cs typeface="Malgun Gothic"/>
              </a:rPr>
              <a:t>: 특정 DNA 서열에 붙어 그 유전자의 전사를 늘리거나 줄이는 단백질이다. 조절의 주된 행위자다.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promoter</a:t>
            </a:r>
            <a:r>
              <a:rPr sz="1400" b="0" i="0">
                <a:solidFill>
                  <a:srgbClr val="11202B"/>
                </a:solidFill>
                <a:latin typeface="Malgun Gothic"/>
                <a:ea typeface="Malgun Gothic"/>
                <a:cs typeface="Malgun Gothic"/>
              </a:rPr>
              <a:t>: 전사가 시작되는 자리와 그 부근이다. 전사 기구가 여기에 모인다.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enhancer</a:t>
            </a:r>
            <a:r>
              <a:rPr sz="1400" b="0" i="0">
                <a:solidFill>
                  <a:srgbClr val="11202B"/>
                </a:solidFill>
                <a:latin typeface="Malgun Gothic"/>
                <a:ea typeface="Malgun Gothic"/>
                <a:cs typeface="Malgun Gothic"/>
              </a:rPr>
              <a:t>: promoter에서 멀리 떨어져 있어도 그 유전자의 전사를 올리는 서열이다. 거리와 방향에 비교적 자유롭다는 점이 특징이다.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후성유전(epigenetic) 변화</a:t>
            </a:r>
            <a:r>
              <a:rPr sz="1400" b="0" i="0">
                <a:solidFill>
                  <a:srgbClr val="11202B"/>
                </a:solidFill>
                <a:latin typeface="Malgun Gothic"/>
                <a:ea typeface="Malgun Gothic"/>
                <a:cs typeface="Malgun Gothic"/>
              </a:rPr>
              <a:t>: DNA 서열을 바꾸지 않으면서 발현 상태를 바꾸고 그 상태가 세포 분열 뒤에도 유지되는 변화다. DNA 메틸화와 histone 수식이 그 수단이다.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접근성</a:t>
            </a:r>
            <a:r>
              <a:rPr sz="1400" b="0" i="0">
                <a:solidFill>
                  <a:srgbClr val="11202B"/>
                </a:solidFill>
                <a:latin typeface="Malgun Gothic"/>
                <a:ea typeface="Malgun Gothic"/>
                <a:cs typeface="Malgun Gothic"/>
              </a:rPr>
              <a:t>: DNA가 nucleosome에 감겨 있어 전사인자가 붙을 수 없는 상태와, 풀려 붙을 수 있는 상태의 차이다. </a:t>
            </a:r>
            <a:r>
              <a:rPr sz="1400" b="1" i="0">
                <a:solidFill>
                  <a:srgbClr val="11202B"/>
                </a:solidFill>
                <a:latin typeface="Malgun Gothic"/>
                <a:ea typeface="Malgun Gothic"/>
                <a:cs typeface="Malgun Gothic"/>
              </a:rPr>
              <a:t>조절을 결합의 유무가 아니라 접근의 가능성으로 보는 관점</a:t>
            </a:r>
            <a:r>
              <a:rPr sz="1400" b="0" i="0">
                <a:solidFill>
                  <a:srgbClr val="11202B"/>
                </a:solidFill>
                <a:latin typeface="Malgun Gothic"/>
                <a:ea typeface="Malgun Gothic"/>
                <a:cs typeface="Malgun Gothic"/>
              </a:rPr>
              <a:t>이 이 수업의 핵심이다.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절은 다음 순서로 쌓인다. 먼저 어느 단계에서 조절이 일어나는지를 정리하고(2절), 전사 조절의 구성 요소를 본다(3·4·5절). 이어서 chromatin 쪽의 조절(6·7절)과 DNA 메틸화(8절)를 다루고, 그 상태가 어떻게 유지되고 전달되는지(9·10절), 그리고 발생과 질환에서 어떻게 나타나는지(11·12절)를 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같은 유전체로 다른 세포가 되는 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세포의 정체성은 유전체가 아니라 발현 양상이 정한다. 조절은 여러 단계에서 가능하지만 가장 큰 몫은 전사 단계이며, 그 단계의 열쇠는 DNA에 접근할 수 있는지다.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조절은 주로 어느 단계에서 일어나는가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사람의 모든 체세포는 같은 유전체를 가진다. 그런데 간세포와 신경세포는 완전히 다르다. 차이를 만드는 것은 유전자의 유무가 아니라 </a:t>
            </a:r>
            <a:r>
              <a:rPr sz="2000" b="1" i="0">
                <a:solidFill>
                  <a:srgbClr val="11202B"/>
                </a:solidFill>
                <a:latin typeface="Malgun Gothic"/>
                <a:ea typeface="Malgun Gothic"/>
                <a:cs typeface="Malgun Gothic"/>
              </a:rPr>
              <a:t>어떤 유전자가 켜져 있는지</a:t>
            </a:r>
            <a:r>
              <a:rPr sz="2000" b="0" i="0">
                <a:solidFill>
                  <a:srgbClr val="11202B"/>
                </a:solidFill>
                <a:latin typeface="Malgun Gothic"/>
                <a:ea typeface="Malgun Gothic"/>
                <a:cs typeface="Malgun Gothic"/>
              </a:rPr>
              <a:t>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발현을 바꿀 수 있는 단계는 많다. 순서대로 보면 다음과 같다.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조절은 주로 어느 단계에서 일어나는가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조절 수단</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반응 속도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염색질 접근성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nucleosome 배치, histone 변형, DNA methylation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느림, 오래 유지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전사 개시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전사인자, 공동활성화인자, mediator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분~시간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전사 신장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II 일시정지의 해제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빠름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RNA 가공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대체 splicing, 3′ 말단 선택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전사체 수명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 UTR 결합 단백질, miRNA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번역 효율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개시인자의 인산화, 5′ UTR 구조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빠름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단백질 안정성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ubiquitin화와 proteasome 분해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빠름</a:t>
                      </a:r>
                    </a:p>
                  </a:txBody>
                  <a:tcPr marL="73152" marR="73152" marT="27432" marB="27432">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조절은 주로 어느 단계에서 일어나는가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가운데 </a:t>
            </a:r>
            <a:r>
              <a:rPr sz="2000" b="1" i="0">
                <a:solidFill>
                  <a:srgbClr val="11202B"/>
                </a:solidFill>
                <a:latin typeface="Malgun Gothic"/>
                <a:ea typeface="Malgun Gothic"/>
                <a:cs typeface="Malgun Gothic"/>
              </a:rPr>
              <a:t>전사 개시가 조절의 중심</a:t>
            </a:r>
            <a:r>
              <a:rPr sz="2000" b="0" i="0">
                <a:solidFill>
                  <a:srgbClr val="11202B"/>
                </a:solidFill>
                <a:latin typeface="Malgun Gothic"/>
                <a:ea typeface="Malgun Gothic"/>
                <a:cs typeface="Malgun Gothic"/>
              </a:rPr>
              <a:t>이다. 이유는 두 가지다.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경제성.</a:t>
            </a:r>
            <a:r>
              <a:rPr sz="2000" b="0" i="0">
                <a:solidFill>
                  <a:srgbClr val="11202B"/>
                </a:solidFill>
                <a:latin typeface="Malgun Gothic"/>
                <a:ea typeface="Malgun Gothic"/>
                <a:cs typeface="Malgun Gothic"/>
              </a:rPr>
              <a:t> 전사 단계에서 끄면 그 뒤의 모든 과정에 자원이 들지 않는다. 가공·번역·분해까지 다 한 뒤에 없애는 것은 낭비다.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증폭.</a:t>
            </a:r>
            <a:r>
              <a:rPr sz="2000" b="0" i="0">
                <a:solidFill>
                  <a:srgbClr val="11202B"/>
                </a:solidFill>
                <a:latin typeface="Malgun Gothic"/>
                <a:ea typeface="Malgun Gothic"/>
                <a:cs typeface="Malgun Gothic"/>
              </a:rPr>
              <a:t> 전사체 하나에서 단백질 수백 개가 나오므로, 전사량의 작은 차이가 단백질량의 큰 차이로 증폭된다.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따라서 발달과 분화, 신호 반응의 대부분은 전사 수준에서 결정된다. 나머지 단계는 전사가 정한 큰 틀 안에서 미세 조정을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조절은 주로 어느 단계에서 일어나는가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10</a:t>
            </a:r>
          </a:p>
        </p:txBody>
      </p:sp>
      <p:pic>
        <p:nvPicPr>
          <p:cNvPr id="7" name="Picture 6" descr="fig-regulation-level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발현 조절이 가능한 단계와 전사 개시가 중심이 되는 이유. 염색질 접근성에서 단백질 안정성까지의 순서, 각 단계의 반응 속도와 유지 기간의 차이, 전사 단계에서 끄는 것이 자원을 아끼는 구조, 그리고 전사량의 차이가 단백질량으로 증폭되는 관계를 함께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조절서열을 어떻게 찾는가 — reporter gene 분석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유전자의 발현을 정하는 DNA 구간은 어디인가"라는 질문에 답하는 방법을 먼저 익혀야 한다. 기전보다 방법을 먼저 보는 이유는, 이 분야의 개념 대부분이 특정 실험의 결과로 정의되었기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원리.</a:t>
            </a:r>
            <a:r>
              <a:rPr sz="1400" b="0" i="0">
                <a:solidFill>
                  <a:srgbClr val="11202B"/>
                </a:solidFill>
                <a:latin typeface="Malgun Gothic"/>
                <a:ea typeface="Malgun Gothic"/>
                <a:cs typeface="Malgun Gothic"/>
              </a:rPr>
              <a:t> 발현을 측정하기 어려운 유전자 대신, </a:t>
            </a:r>
            <a:r>
              <a:rPr sz="1400" b="1" i="0">
                <a:solidFill>
                  <a:srgbClr val="11202B"/>
                </a:solidFill>
                <a:latin typeface="Malgun Gothic"/>
                <a:ea typeface="Malgun Gothic"/>
                <a:cs typeface="Malgun Gothic"/>
              </a:rPr>
              <a:t>측정하기 쉬운 유전자</a:t>
            </a:r>
            <a:r>
              <a:rPr sz="1400" b="0" i="0">
                <a:solidFill>
                  <a:srgbClr val="11202B"/>
                </a:solidFill>
                <a:latin typeface="Malgun Gothic"/>
                <a:ea typeface="Malgun Gothic"/>
                <a:cs typeface="Malgun Gothic"/>
              </a:rPr>
              <a:t>를 붙인다. 조사하려는 DNA 구간을 클로닝해 그 뒤에 </a:t>
            </a:r>
            <a:r>
              <a:rPr sz="1400" b="1" i="0">
                <a:solidFill>
                  <a:srgbClr val="11202B"/>
                </a:solidFill>
                <a:latin typeface="Malgun Gothic"/>
                <a:ea typeface="Malgun Gothic"/>
                <a:cs typeface="Malgun Gothic"/>
              </a:rPr>
              <a:t>reporter gene</a:t>
            </a:r>
            <a:r>
              <a:rPr sz="1400" b="0" i="0">
                <a:solidFill>
                  <a:srgbClr val="11202B"/>
                </a:solidFill>
                <a:latin typeface="Malgun Gothic"/>
                <a:ea typeface="Malgun Gothic"/>
                <a:cs typeface="Malgun Gothic"/>
              </a:rPr>
              <a:t>을 연결하고, 세포에 넣어 reporter의 산물을 측정한다. 산물이 많으면 그 구간이 전사를 촉진한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Reporter로는 측정이 간단한 것을 쓴다. luciferase는 발광량으로, β-galactosidase는 발색으로, GFP는 형광으로 측정한다.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틀 위에서 두 가지 설계가 서로 다른 질문에 답한다.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결실 분석(deletion analysis).</a:t>
            </a:r>
            <a:r>
              <a:rPr sz="1400" b="0" i="0">
                <a:solidFill>
                  <a:srgbClr val="11202B"/>
                </a:solidFill>
                <a:latin typeface="Malgun Gothic"/>
                <a:ea typeface="Malgun Gothic"/>
                <a:cs typeface="Malgun Gothic"/>
              </a:rPr>
              <a:t> 조사 구간의 5′ 쪽을 점점 잘라 내면서 발현을 측정한다. 어느 지점을 자른 순간 발현이 떨어지면, </a:t>
            </a:r>
            <a:r>
              <a:rPr sz="1400" b="1" i="0">
                <a:solidFill>
                  <a:srgbClr val="11202B"/>
                </a:solidFill>
                <a:latin typeface="Malgun Gothic"/>
                <a:ea typeface="Malgun Gothic"/>
                <a:cs typeface="Malgun Gothic"/>
              </a:rPr>
              <a:t>잘려 나간 구간 안에 필요한 서열이 있다</a:t>
            </a:r>
            <a:r>
              <a:rPr sz="1400" b="0" i="0">
                <a:solidFill>
                  <a:srgbClr val="11202B"/>
                </a:solidFill>
                <a:latin typeface="Malgun Gothic"/>
                <a:ea typeface="Malgun Gothic"/>
                <a:cs typeface="Malgun Gothic"/>
              </a:rPr>
              <a:t>. 반대로 자른 뒤 발현이 올라가면 그 구간에 억제 서열이 있었다는 뜻이다. 이 방법은 </a:t>
            </a:r>
            <a:r>
              <a:rPr sz="1400" b="1" i="0">
                <a:solidFill>
                  <a:srgbClr val="11202B"/>
                </a:solidFill>
                <a:latin typeface="Malgun Gothic"/>
                <a:ea typeface="Malgun Gothic"/>
                <a:cs typeface="Malgun Gothic"/>
              </a:rPr>
              <a:t>대략의 위치</a:t>
            </a:r>
            <a:r>
              <a:rPr sz="1400" b="0" i="0">
                <a:solidFill>
                  <a:srgbClr val="11202B"/>
                </a:solidFill>
                <a:latin typeface="Malgun Gothic"/>
                <a:ea typeface="Malgun Gothic"/>
                <a:cs typeface="Malgun Gothic"/>
              </a:rPr>
              <a:t>를 좁힌다.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Linker scanning.</a:t>
            </a:r>
            <a:r>
              <a:rPr sz="1400" b="0" i="0">
                <a:solidFill>
                  <a:srgbClr val="11202B"/>
                </a:solidFill>
                <a:latin typeface="Malgun Gothic"/>
                <a:ea typeface="Malgun Gothic"/>
                <a:cs typeface="Malgun Gothic"/>
              </a:rPr>
              <a:t> 전체 길이는 유지하고, 짧은 구간씩 차례로 무관한 서열로 바꿔치기한다. 어느 구간을 바꿨을 때 발현이 떨어지면 그 구간이 필요한 서열이다. 길이가 변하지 않으므로 </a:t>
            </a:r>
            <a:r>
              <a:rPr sz="1400" b="1" i="0">
                <a:solidFill>
                  <a:srgbClr val="11202B"/>
                </a:solidFill>
                <a:latin typeface="Malgun Gothic"/>
                <a:ea typeface="Malgun Gothic"/>
                <a:cs typeface="Malgun Gothic"/>
              </a:rPr>
              <a:t>길이 변화의 영향과 서열 자체의 영향을 분리</a:t>
            </a:r>
            <a:r>
              <a:rPr sz="1400" b="0" i="0">
                <a:solidFill>
                  <a:srgbClr val="11202B"/>
                </a:solidFill>
                <a:latin typeface="Malgun Gothic"/>
                <a:ea typeface="Malgun Gothic"/>
                <a:cs typeface="Malgun Gothic"/>
              </a:rPr>
              <a:t>할 수 있다. 결실 분석보다 해상도가 높다.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더 좁히려면 </a:t>
            </a:r>
            <a:r>
              <a:rPr sz="1400" b="1" i="0">
                <a:solidFill>
                  <a:srgbClr val="11202B"/>
                </a:solidFill>
                <a:latin typeface="Malgun Gothic"/>
                <a:ea typeface="Malgun Gothic"/>
                <a:cs typeface="Malgun Gothic"/>
              </a:rPr>
              <a:t>부위 특이적 돌연변이(site-directed mutagenesis)</a:t>
            </a:r>
            <a:r>
              <a:rPr sz="1400" b="0" i="0">
                <a:solidFill>
                  <a:srgbClr val="11202B"/>
                </a:solidFill>
                <a:latin typeface="Malgun Gothic"/>
                <a:ea typeface="Malgun Gothic"/>
                <a:cs typeface="Malgun Gothic"/>
              </a:rPr>
              <a:t> 로 몇 개의 염기만 바꿔 본다. 이 단계에서 개별 염기의 기여를 알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조절서열을 어떻게 찾는가 — reporter gene 분석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세 방법의 관계를 정리하면 </a:t>
            </a:r>
            <a:r>
              <a:rPr sz="1600" b="1" i="0">
                <a:solidFill>
                  <a:srgbClr val="11202B"/>
                </a:solidFill>
                <a:latin typeface="Malgun Gothic"/>
                <a:ea typeface="Malgun Gothic"/>
                <a:cs typeface="Malgun Gothic"/>
              </a:rPr>
              <a:t>결실 분석으로 구간을 좁히고, linker scanning으로 요소를 특정하고, 점 변이로 염기를 확정한다</a:t>
            </a:r>
            <a:r>
              <a:rPr sz="1600" b="0" i="0">
                <a:solidFill>
                  <a:srgbClr val="11202B"/>
                </a:solidFill>
                <a:latin typeface="Malgun Gothic"/>
                <a:ea typeface="Malgun Gothic"/>
                <a:cs typeface="Malgun Gothic"/>
              </a:rPr>
              <a:t>. 해상도를 단계적으로 올려 가는 설계다.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조절서열을 어떻게 찾는가 — reporter gene 분석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13</a:t>
            </a:r>
          </a:p>
        </p:txBody>
      </p:sp>
      <p:pic>
        <p:nvPicPr>
          <p:cNvPr id="7" name="Picture 6" descr="fig-reporter-assay.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Reporter gene 분석의 설계와 두 가지 변형. 조사 구간 뒤에 측정하기 쉬운 유전자를 연결하는 기본 구성, 5′ 쪽을 점점 잘라 발현이 떨어지는 지점을 찾는 결실 분석, 길이를 유지한 채 구간을 바꿔치기해 길이 효과를 배제하는 linker scanning, 그리고 세 방법으로 해상도를 단계적으로 올리는 순서를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단백질이 DNA의 어디에 붙는지 보는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Reporter 분석은 </a:t>
            </a:r>
            <a:r>
              <a:rPr sz="1400" b="1" i="0">
                <a:solidFill>
                  <a:srgbClr val="11202B"/>
                </a:solidFill>
                <a:latin typeface="Malgun Gothic"/>
                <a:ea typeface="Malgun Gothic"/>
                <a:cs typeface="Malgun Gothic"/>
              </a:rPr>
              <a:t>어느 구간이 필요한가</a:t>
            </a:r>
            <a:r>
              <a:rPr sz="1400" b="0" i="0">
                <a:solidFill>
                  <a:srgbClr val="11202B"/>
                </a:solidFill>
                <a:latin typeface="Malgun Gothic"/>
                <a:ea typeface="Malgun Gothic"/>
                <a:cs typeface="Malgun Gothic"/>
              </a:rPr>
              <a:t>를 알려주지만 </a:t>
            </a:r>
            <a:r>
              <a:rPr sz="1400" b="1" i="0">
                <a:solidFill>
                  <a:srgbClr val="11202B"/>
                </a:solidFill>
                <a:latin typeface="Malgun Gothic"/>
                <a:ea typeface="Malgun Gothic"/>
                <a:cs typeface="Malgun Gothic"/>
              </a:rPr>
              <a:t>무엇이 거기 붙는가</a:t>
            </a:r>
            <a:r>
              <a:rPr sz="1400" b="0" i="0">
                <a:solidFill>
                  <a:srgbClr val="11202B"/>
                </a:solidFill>
                <a:latin typeface="Malgun Gothic"/>
                <a:ea typeface="Malgun Gothic"/>
                <a:cs typeface="Malgun Gothic"/>
              </a:rPr>
              <a:t>는 알려주지 않는다. 결합을 직접 보는 방법이 따로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DNase footprinting.</a:t>
            </a:r>
            <a:r>
              <a:rPr sz="1400" b="0" i="0">
                <a:solidFill>
                  <a:srgbClr val="11202B"/>
                </a:solidFill>
                <a:latin typeface="Malgun Gothic"/>
                <a:ea typeface="Malgun Gothic"/>
                <a:cs typeface="Malgun Gothic"/>
              </a:rPr>
              <a:t> DNA 조각을 표지하고 DNase I로 무작위 절단한다. 단백질이 붙어 있던 구간은 효소가 접근하지 못하므로 자리지 않는다. 전기영동에서 그 구간에 해당하는 띠가 </a:t>
            </a:r>
            <a:r>
              <a:rPr sz="1400" b="1" i="0">
                <a:solidFill>
                  <a:srgbClr val="11202B"/>
                </a:solidFill>
                <a:latin typeface="Malgun Gothic"/>
                <a:ea typeface="Malgun Gothic"/>
                <a:cs typeface="Malgun Gothic"/>
              </a:rPr>
              <a:t>빠져 있는 것</a:t>
            </a:r>
            <a:r>
              <a:rPr sz="1400" b="0" i="0">
                <a:solidFill>
                  <a:srgbClr val="11202B"/>
                </a:solidFill>
                <a:latin typeface="Malgun Gothic"/>
                <a:ea typeface="Malgun Gothic"/>
                <a:cs typeface="Malgun Gothic"/>
              </a:rPr>
              <a:t>으로 나타난다. 빈 자리가 발자국처럼 보이므로 footprint라 부른다. 이 방법은 </a:t>
            </a:r>
            <a:r>
              <a:rPr sz="1400" b="1" i="0">
                <a:solidFill>
                  <a:srgbClr val="11202B"/>
                </a:solidFill>
                <a:latin typeface="Malgun Gothic"/>
                <a:ea typeface="Malgun Gothic"/>
                <a:cs typeface="Malgun Gothic"/>
              </a:rPr>
              <a:t>결합 위치를 염기 수준으로</a:t>
            </a:r>
            <a:r>
              <a:rPr sz="1400" b="0" i="0">
                <a:solidFill>
                  <a:srgbClr val="11202B"/>
                </a:solidFill>
                <a:latin typeface="Malgun Gothic"/>
                <a:ea typeface="Malgun Gothic"/>
                <a:cs typeface="Malgun Gothic"/>
              </a:rPr>
              <a:t> 알려준다.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EMSA(electrophoretic mobility shift assay).</a:t>
            </a:r>
            <a:r>
              <a:rPr sz="1400" b="0" i="0">
                <a:solidFill>
                  <a:srgbClr val="11202B"/>
                </a:solidFill>
                <a:latin typeface="Malgun Gothic"/>
                <a:ea typeface="Malgun Gothic"/>
                <a:cs typeface="Malgun Gothic"/>
              </a:rPr>
              <a:t> 표지한 짧은 DNA에 단백질 추출물을 섞고 전기영동한다. 단백질이 붙은 DNA는 무거워져 느리게 이동하므로 띠의 위치가 </a:t>
            </a:r>
            <a:r>
              <a:rPr sz="1400" b="1" i="0">
                <a:solidFill>
                  <a:srgbClr val="11202B"/>
                </a:solidFill>
                <a:latin typeface="Malgun Gothic"/>
                <a:ea typeface="Malgun Gothic"/>
                <a:cs typeface="Malgun Gothic"/>
              </a:rPr>
              <a:t>이동(shift)</a:t>
            </a:r>
            <a:r>
              <a:rPr sz="1400" b="0" i="0">
                <a:solidFill>
                  <a:srgbClr val="11202B"/>
                </a:solidFill>
                <a:latin typeface="Malgun Gothic"/>
                <a:ea typeface="Malgun Gothic"/>
                <a:cs typeface="Malgun Gothic"/>
              </a:rPr>
              <a:t> 한다. 경쟁 DNA를 넣어 띠가 사라지는지 보면 결합의 서열 특이성을 확인할 수 있다. 이 방법은 </a:t>
            </a:r>
            <a:r>
              <a:rPr sz="1400" b="1" i="0">
                <a:solidFill>
                  <a:srgbClr val="11202B"/>
                </a:solidFill>
                <a:latin typeface="Malgun Gothic"/>
                <a:ea typeface="Malgun Gothic"/>
                <a:cs typeface="Malgun Gothic"/>
              </a:rPr>
              <a:t>결합이 일어나는지 여부와 특이성</a:t>
            </a:r>
            <a:r>
              <a:rPr sz="1400" b="0" i="0">
                <a:solidFill>
                  <a:srgbClr val="11202B"/>
                </a:solidFill>
                <a:latin typeface="Malgun Gothic"/>
                <a:ea typeface="Malgun Gothic"/>
                <a:cs typeface="Malgun Gothic"/>
              </a:rPr>
              <a:t>을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ChIP(chromatin immunoprecipitation).</a:t>
            </a:r>
            <a:r>
              <a:rPr sz="1400" b="0" i="0">
                <a:solidFill>
                  <a:srgbClr val="11202B"/>
                </a:solidFill>
                <a:latin typeface="Malgun Gothic"/>
                <a:ea typeface="Malgun Gothic"/>
                <a:cs typeface="Malgun Gothic"/>
              </a:rPr>
              <a:t> 앞의 두 방법은 시험관 안의 결합을 본다. 살아 있는 세포에서 실제로 붙어 있는지는 다른 문제다. ChIP는 세포를 고정해 단백질과 DNA를 결합된 상태로 묶고, 염색질을 조각 내고, 그 단백질에 대한 항체로 침전시킨 뒤 함께 붙어 나온 DNA를 분석한다. 염기서열 분석과 결합하면 </a:t>
            </a:r>
            <a:r>
              <a:rPr sz="1400" b="1" i="0">
                <a:solidFill>
                  <a:srgbClr val="11202B"/>
                </a:solidFill>
                <a:latin typeface="Malgun Gothic"/>
                <a:ea typeface="Malgun Gothic"/>
                <a:cs typeface="Malgun Gothic"/>
              </a:rPr>
              <a:t>ChIP-seq</a:t>
            </a:r>
            <a:r>
              <a:rPr sz="1400" b="0" i="0">
                <a:solidFill>
                  <a:srgbClr val="11202B"/>
                </a:solidFill>
                <a:latin typeface="Malgun Gothic"/>
                <a:ea typeface="Malgun Gothic"/>
                <a:cs typeface="Malgun Gothic"/>
              </a:rPr>
              <a:t>가 되고, 유전체 전체에서 그 단백질이 붙는 위치를 한 번에 얻는다.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방법을 함께 쓰는 이유는 각각이 다른 질문에 답하기 때문이다.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단백질이 DNA의 어디에 붙는지 보는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방법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답하는 질문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한계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DNase footprinting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어느 염기에 붙는가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시험관 조건, 정제된 성분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EMSA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붙는가, 서열 특이적인가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위치 해상도 낮음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ChIP-seq</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안에서 실제로 어디에 붙어 있는가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좋은 항체가 필요, 간접 결합 포함</a:t>
                      </a:r>
                    </a:p>
                  </a:txBody>
                  <a:tcPr marL="73152" marR="73152" marT="27432" marB="2743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단백질이 DNA의 어디에 붙는지 보는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ChIP-seq와 접근성 분석은 질환 연구의 기본 도구가 되었다. 전장 유전체 연관 분석(GWAS)에서 나온 질환 관련 변이의 대부분은 단백질을 암호화하지 않는 영역에 있다. 그 변이가 무엇을 하는지는 서열만 보면 알 수 없고, </a:t>
            </a:r>
            <a:r>
              <a:rPr sz="1600" b="1" i="0">
                <a:solidFill>
                  <a:srgbClr val="11202B"/>
                </a:solidFill>
                <a:latin typeface="Malgun Gothic"/>
                <a:ea typeface="Malgun Gothic"/>
                <a:cs typeface="Malgun Gothic"/>
              </a:rPr>
              <a:t>그 위치가 어느 세포 종류에서 조절 영역으로 쓰이는지</a:t>
            </a:r>
            <a:r>
              <a:rPr sz="1600" b="0" i="0">
                <a:solidFill>
                  <a:srgbClr val="11202B"/>
                </a:solidFill>
                <a:latin typeface="Malgun Gothic"/>
                <a:ea typeface="Malgun Gothic"/>
                <a:cs typeface="Malgun Gothic"/>
              </a:rPr>
              <a:t>를 봐야 해석된다. 자가면역질환의 위험 변이가 면역세포에서만 활성인 enhancer에 모여 있다는 발견이 그런 방식으로 나왔다. 변이의 의미가 세포 종류에 따라 달라진다는 점이 이 분야의 핵심 난제다.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단백질이 DNA의 어디에 붙는지 보는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17</a:t>
            </a:r>
          </a:p>
        </p:txBody>
      </p:sp>
      <p:pic>
        <p:nvPicPr>
          <p:cNvPr id="7" name="Picture 6" descr="fig-dna-protein-methods.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단백질-DNA 결합을 보는 세 방법. DNase I이 접근하지 못해 띠가 빠지는 footprinting의 원리, 단백질이 붙어 느려진 DNA의 띠 이동을 보는 EMSA, 세포를 고정해 항체로 침전시키고 함께 나온 DNA를 읽는 ChIP-seq, 그리고 세 방법이 각각 답하는 질문과 한계의 대응을 함께 보인다.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Promoter와 enhancer — 실험이 정한 구분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절의 방법으로 조절서열을 조사한 결과 두 종류가 드러났다. 구분의 기준이 실험적이라는 점이 중요하다.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Promoter.</a:t>
            </a:r>
            <a:r>
              <a:rPr sz="1400" b="0" i="0">
                <a:solidFill>
                  <a:srgbClr val="11202B"/>
                </a:solidFill>
                <a:latin typeface="Malgun Gothic"/>
                <a:ea typeface="Malgun Gothic"/>
                <a:cs typeface="Malgun Gothic"/>
              </a:rPr>
              <a:t> 전사 시작점 바로 앞에 있고, 전사가 시작되는 자리를 정한다. </a:t>
            </a:r>
            <a:r>
              <a:rPr sz="1400" b="1" i="0">
                <a:solidFill>
                  <a:srgbClr val="11202B"/>
                </a:solidFill>
                <a:latin typeface="Malgun Gothic"/>
                <a:ea typeface="Malgun Gothic"/>
                <a:cs typeface="Malgun Gothic"/>
              </a:rPr>
              <a:t>위치와 방향이 고정</a:t>
            </a:r>
            <a:r>
              <a:rPr sz="1400" b="0" i="0">
                <a:solidFill>
                  <a:srgbClr val="11202B"/>
                </a:solidFill>
                <a:latin typeface="Malgun Gothic"/>
                <a:ea typeface="Malgun Gothic"/>
                <a:cs typeface="Malgun Gothic"/>
              </a:rPr>
              <a:t>되어 있다. 전사 시작점에서 떼어 놓거나 방향을 뒤집으면 기능하지 않는다. TATA box와 그 주변의 core promoter 요소, 그리고 그보다 약간 상류에 있는 인접 조절서열이 여기에 속한다.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Enhancer.</a:t>
            </a:r>
            <a:r>
              <a:rPr sz="1400" b="0" i="0">
                <a:solidFill>
                  <a:srgbClr val="11202B"/>
                </a:solidFill>
                <a:latin typeface="Malgun Gothic"/>
                <a:ea typeface="Malgun Gothic"/>
                <a:cs typeface="Malgun Gothic"/>
              </a:rPr>
              <a:t> 전사를 강화하는데 성질이 다르다. 세 가지 성질로 정의된다.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거리 독립성.</a:t>
            </a:r>
            <a:r>
              <a:rPr sz="1400" b="0" i="0">
                <a:solidFill>
                  <a:srgbClr val="11202B"/>
                </a:solidFill>
                <a:latin typeface="Malgun Gothic"/>
                <a:ea typeface="Malgun Gothic"/>
                <a:cs typeface="Malgun Gothic"/>
              </a:rPr>
              <a:t> 전사 시작점에서 수천, 때로는 수십만 염기 떨어져 있어도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방향 독립성.</a:t>
            </a:r>
            <a:r>
              <a:rPr sz="1400" b="0" i="0">
                <a:solidFill>
                  <a:srgbClr val="11202B"/>
                </a:solidFill>
                <a:latin typeface="Malgun Gothic"/>
                <a:ea typeface="Malgun Gothic"/>
                <a:cs typeface="Malgun Gothic"/>
              </a:rPr>
              <a:t> 방향을 뒤집어도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위치 독립성.</a:t>
            </a:r>
            <a:r>
              <a:rPr sz="1400" b="0" i="0">
                <a:solidFill>
                  <a:srgbClr val="11202B"/>
                </a:solidFill>
                <a:latin typeface="Malgun Gothic"/>
                <a:ea typeface="Malgun Gothic"/>
                <a:cs typeface="Malgun Gothic"/>
              </a:rPr>
              <a:t> 유전자 상류, 하류, 심지어 intron 안에 넣어도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성질은 모두 reporter 분석으로 확인되었다. Enhancer 구간을 떼어 다른 위치, 다른 방향에 붙여도 reporter의 발현이 올라가는 것이 그 근거다.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즉시 문제가 생긴다. </a:t>
            </a:r>
            <a:r>
              <a:rPr sz="1400" b="1" i="0">
                <a:solidFill>
                  <a:srgbClr val="11202B"/>
                </a:solidFill>
                <a:latin typeface="Malgun Gothic"/>
                <a:ea typeface="Malgun Gothic"/>
                <a:cs typeface="Malgun Gothic"/>
              </a:rPr>
              <a:t>거리와 방향에 구애받지 않는다면, enhancer는 어느 유전자를 활성화하는가.</a:t>
            </a:r>
            <a:r>
              <a:rPr sz="1400" b="0" i="0">
                <a:solidFill>
                  <a:srgbClr val="11202B"/>
                </a:solidFill>
                <a:latin typeface="Malgun Gothic"/>
                <a:ea typeface="Malgun Gothic"/>
                <a:cs typeface="Malgun Gothic"/>
              </a:rPr>
              <a:t> 수십만 염기 안에는 여러 유전자가 있다. 답의 핵심은 두 가지다. </a:t>
            </a:r>
            <a:r>
              <a:rPr sz="1400" b="1" i="0">
                <a:solidFill>
                  <a:srgbClr val="11202B"/>
                </a:solidFill>
                <a:latin typeface="Malgun Gothic"/>
                <a:ea typeface="Malgun Gothic"/>
                <a:cs typeface="Malgun Gothic"/>
              </a:rPr>
              <a:t>DNA가 고리를 만들어 enhancer와 promoter를 물리적으로 접촉시킨다</a:t>
            </a:r>
            <a:r>
              <a:rPr sz="1400" b="0" i="0">
                <a:solidFill>
                  <a:srgbClr val="11202B"/>
                </a:solidFill>
                <a:latin typeface="Malgun Gothic"/>
                <a:ea typeface="Malgun Gothic"/>
                <a:cs typeface="Malgun Gothic"/>
              </a:rPr>
              <a:t>는 것, 그리고 </a:t>
            </a:r>
            <a:r>
              <a:rPr sz="1400" b="1" i="0">
                <a:solidFill>
                  <a:srgbClr val="11202B"/>
                </a:solidFill>
                <a:latin typeface="Malgun Gothic"/>
                <a:ea typeface="Malgun Gothic"/>
                <a:cs typeface="Malgun Gothic"/>
              </a:rPr>
              <a:t>접촉할 수 있는 범위가 구조적으로 제한되어 있다</a:t>
            </a:r>
            <a:r>
              <a:rPr sz="1400" b="0" i="0">
                <a:solidFill>
                  <a:srgbClr val="11202B"/>
                </a:solidFill>
                <a:latin typeface="Malgun Gothic"/>
                <a:ea typeface="Malgun Gothic"/>
                <a:cs typeface="Malgun Gothic"/>
              </a:rPr>
              <a:t>는 것이다. 이 범위를 정하는 구조와 고리 형성의 기전은 M03-W04-L03에서 다룬다.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Promoter와 enhancer — 실험이 정한 구분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19</a:t>
            </a:r>
          </a:p>
        </p:txBody>
      </p:sp>
      <p:pic>
        <p:nvPicPr>
          <p:cNvPr id="7" name="Picture 6" descr="fig-promoter-enhancer.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Promoter와 enhancer의 실험적 구분. 위치와 방향이 고정된 promoter와 떼어서 뒤집어 붙여도 작동하는 enhancer의 대비, reporter 분석으로 그 성질을 확인하는 설계, 그리고 거리에 구애받지 않는 결과로 생기는 표적 판정 문제와 DNA 고리를 통한 접촉을 함께 보인다.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전사인자는 모듈로 되어 있다 — 영역 교환 실험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Enhancer에 붙는 단백질이 </a:t>
            </a:r>
            <a:r>
              <a:rPr sz="1400" b="1" i="0">
                <a:solidFill>
                  <a:srgbClr val="11202B"/>
                </a:solidFill>
                <a:latin typeface="Malgun Gothic"/>
                <a:ea typeface="Malgun Gothic"/>
                <a:cs typeface="Malgun Gothic"/>
              </a:rPr>
              <a:t>전사인자</a:t>
            </a:r>
            <a:r>
              <a:rPr sz="1400" b="0" i="0">
                <a:solidFill>
                  <a:srgbClr val="11202B"/>
                </a:solidFill>
                <a:latin typeface="Malgun Gothic"/>
                <a:ea typeface="Malgun Gothic"/>
                <a:cs typeface="Malgun Gothic"/>
              </a:rPr>
              <a:t>다. 전사인자가 어떻게 작동하는지는 하나의 깔끔한 실험으로 밝혀졌다.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관찰.</a:t>
            </a:r>
            <a:r>
              <a:rPr sz="1400" b="0" i="0">
                <a:solidFill>
                  <a:srgbClr val="11202B"/>
                </a:solidFill>
                <a:latin typeface="Malgun Gothic"/>
                <a:ea typeface="Malgun Gothic"/>
                <a:cs typeface="Malgun Gothic"/>
              </a:rPr>
              <a:t> 효모의 전사인자 GAL4는 특정 서열에 붙고 전사를 활성화한다. 단백질을 잘라 보면 </a:t>
            </a:r>
            <a:r>
              <a:rPr sz="1400" b="1" i="0">
                <a:solidFill>
                  <a:srgbClr val="11202B"/>
                </a:solidFill>
                <a:latin typeface="Malgun Gothic"/>
                <a:ea typeface="Malgun Gothic"/>
                <a:cs typeface="Malgun Gothic"/>
              </a:rPr>
              <a:t>DNA에 붙는 부분</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전사를 활성화하는 부분</a:t>
            </a:r>
            <a:r>
              <a:rPr sz="1400" b="0" i="0">
                <a:solidFill>
                  <a:srgbClr val="11202B"/>
                </a:solidFill>
                <a:latin typeface="Malgun Gothic"/>
                <a:ea typeface="Malgun Gothic"/>
                <a:cs typeface="Malgun Gothic"/>
              </a:rPr>
              <a:t>이 서로 다른 구간에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설계.</a:t>
            </a:r>
            <a:r>
              <a:rPr sz="1400" b="0" i="0">
                <a:solidFill>
                  <a:srgbClr val="11202B"/>
                </a:solidFill>
                <a:latin typeface="Malgun Gothic"/>
                <a:ea typeface="Malgun Gothic"/>
                <a:cs typeface="Malgun Gothic"/>
              </a:rPr>
              <a:t> 두 기능이 정말 분리되어 있는지 확인하려면 </a:t>
            </a:r>
            <a:r>
              <a:rPr sz="1400" b="1" i="0">
                <a:solidFill>
                  <a:srgbClr val="11202B"/>
                </a:solidFill>
                <a:latin typeface="Malgun Gothic"/>
                <a:ea typeface="Malgun Gothic"/>
                <a:cs typeface="Malgun Gothic"/>
              </a:rPr>
              <a:t>바꿔 붙여 보면 된다</a:t>
            </a:r>
            <a:r>
              <a:rPr sz="1400" b="0" i="0">
                <a:solidFill>
                  <a:srgbClr val="11202B"/>
                </a:solidFill>
                <a:latin typeface="Malgun Gothic"/>
                <a:ea typeface="Malgun Gothic"/>
                <a:cs typeface="Malgun Gothic"/>
              </a:rPr>
              <a:t>. GAL4의 DNA 결합 영역을 떼고, 전혀 다른 단백질인 세균의 LexA의 DNA 결합 영역을 대신 붙인다. 활성화 영역은 GAL4의 것을 그대로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결과.</a:t>
            </a:r>
            <a:r>
              <a:rPr sz="1400" b="0" i="0">
                <a:solidFill>
                  <a:srgbClr val="11202B"/>
                </a:solidFill>
                <a:latin typeface="Malgun Gothic"/>
                <a:ea typeface="Malgun Gothic"/>
                <a:cs typeface="Malgun Gothic"/>
              </a:rPr>
              <a:t> 이 잡종 단백질은 </a:t>
            </a:r>
            <a:r>
              <a:rPr sz="1400" b="1" i="0">
                <a:solidFill>
                  <a:srgbClr val="11202B"/>
                </a:solidFill>
                <a:latin typeface="Malgun Gothic"/>
                <a:ea typeface="Malgun Gothic"/>
                <a:cs typeface="Malgun Gothic"/>
              </a:rPr>
              <a:t>LexA의 표적 서열</a:t>
            </a:r>
            <a:r>
              <a:rPr sz="1400" b="0" i="0">
                <a:solidFill>
                  <a:srgbClr val="11202B"/>
                </a:solidFill>
                <a:latin typeface="Malgun Gothic"/>
                <a:ea typeface="Malgun Gothic"/>
                <a:cs typeface="Malgun Gothic"/>
              </a:rPr>
              <a:t>에 붙고, 거기서 전사를 활성화한다. 반대 조합도 성립한다.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결론.</a:t>
            </a:r>
            <a:r>
              <a:rPr sz="1400" b="0" i="0">
                <a:solidFill>
                  <a:srgbClr val="11202B"/>
                </a:solidFill>
                <a:latin typeface="Malgun Gothic"/>
                <a:ea typeface="Malgun Gothic"/>
                <a:cs typeface="Malgun Gothic"/>
              </a:rPr>
              <a:t> 전사인자는 </a:t>
            </a:r>
            <a:r>
              <a:rPr sz="1400" b="1" i="0">
                <a:solidFill>
                  <a:srgbClr val="11202B"/>
                </a:solidFill>
                <a:latin typeface="Malgun Gothic"/>
                <a:ea typeface="Malgun Gothic"/>
                <a:cs typeface="Malgun Gothic"/>
              </a:rPr>
              <a:t>독립적으로 작동하는 두 모듈</a:t>
            </a:r>
            <a:r>
              <a:rPr sz="1400" b="0" i="0">
                <a:solidFill>
                  <a:srgbClr val="11202B"/>
                </a:solidFill>
                <a:latin typeface="Malgun Gothic"/>
                <a:ea typeface="Malgun Gothic"/>
                <a:cs typeface="Malgun Gothic"/>
              </a:rPr>
              <a:t>로 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결합 영역(DNA-binding domain).</a:t>
            </a:r>
            <a:r>
              <a:rPr sz="1400" b="0" i="0">
                <a:solidFill>
                  <a:srgbClr val="11202B"/>
                </a:solidFill>
                <a:latin typeface="Malgun Gothic"/>
                <a:ea typeface="Malgun Gothic"/>
                <a:cs typeface="Malgun Gothic"/>
              </a:rPr>
              <a:t> 어느 서열에 붙을지를 정한다. 즉 </a:t>
            </a:r>
            <a:r>
              <a:rPr sz="1400" b="1" i="0">
                <a:solidFill>
                  <a:srgbClr val="11202B"/>
                </a:solidFill>
                <a:latin typeface="Malgun Gothic"/>
                <a:ea typeface="Malgun Gothic"/>
                <a:cs typeface="Malgun Gothic"/>
              </a:rPr>
              <a:t>어느 유전자를 조절할지</a:t>
            </a:r>
            <a:r>
              <a:rPr sz="1400" b="0" i="0">
                <a:solidFill>
                  <a:srgbClr val="11202B"/>
                </a:solidFill>
                <a:latin typeface="Malgun Gothic"/>
                <a:ea typeface="Malgun Gothic"/>
                <a:cs typeface="Malgun Gothic"/>
              </a:rPr>
              <a:t>를 결정한다.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활성화 영역(activation domain).</a:t>
            </a:r>
            <a:r>
              <a:rPr sz="1400" b="0" i="0">
                <a:solidFill>
                  <a:srgbClr val="11202B"/>
                </a:solidFill>
                <a:latin typeface="Malgun Gothic"/>
                <a:ea typeface="Malgun Gothic"/>
                <a:cs typeface="Malgun Gothic"/>
              </a:rPr>
              <a:t> 붙은 자리에서 전사를 얼마나 올릴지를 정한다. 즉 </a:t>
            </a:r>
            <a:r>
              <a:rPr sz="1400" b="1" i="0">
                <a:solidFill>
                  <a:srgbClr val="11202B"/>
                </a:solidFill>
                <a:latin typeface="Malgun Gothic"/>
                <a:ea typeface="Malgun Gothic"/>
                <a:cs typeface="Malgun Gothic"/>
              </a:rPr>
              <a:t>얼마나 조절할지</a:t>
            </a:r>
            <a:r>
              <a:rPr sz="1400" b="0" i="0">
                <a:solidFill>
                  <a:srgbClr val="11202B"/>
                </a:solidFill>
                <a:latin typeface="Malgun Gothic"/>
                <a:ea typeface="Malgun Gothic"/>
                <a:cs typeface="Malgun Gothic"/>
              </a:rPr>
              <a:t>를 결정한다.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모듈 구조가 두 가지 결과를 낳는다.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설계가 가능하다.</a:t>
            </a:r>
            <a:r>
              <a:rPr sz="1400" b="0" i="0">
                <a:solidFill>
                  <a:srgbClr val="11202B"/>
                </a:solidFill>
                <a:latin typeface="Malgun Gothic"/>
                <a:ea typeface="Malgun Gothic"/>
                <a:cs typeface="Malgun Gothic"/>
              </a:rPr>
              <a:t> 원하는 DNA 결합 영역과 원하는 활성화 영역을 조합해 </a:t>
            </a:r>
            <a:r>
              <a:rPr sz="1400" b="1" i="0">
                <a:solidFill>
                  <a:srgbClr val="11202B"/>
                </a:solidFill>
                <a:latin typeface="Malgun Gothic"/>
                <a:ea typeface="Malgun Gothic"/>
                <a:cs typeface="Malgun Gothic"/>
              </a:rPr>
              <a:t>임의의 유전자를 켜는 인공 전사인자</a:t>
            </a:r>
            <a:r>
              <a:rPr sz="1400" b="0" i="0">
                <a:solidFill>
                  <a:srgbClr val="11202B"/>
                </a:solidFill>
                <a:latin typeface="Malgun Gothic"/>
                <a:ea typeface="Malgun Gothic"/>
                <a:cs typeface="Malgun Gothic"/>
              </a:rPr>
              <a:t>를 만들 수 있다. Zinc finger 조합, TALE, 그리고 촉매 활성을 없앤 Cas9에 활성화 영역을 붙인 CRISPR 활성화 도구가 모두 이 원리다.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상호작용을 측정할 수 있다.</a:t>
            </a:r>
            <a:r>
              <a:rPr sz="1400" b="0" i="0">
                <a:solidFill>
                  <a:srgbClr val="11202B"/>
                </a:solidFill>
                <a:latin typeface="Malgun Gothic"/>
                <a:ea typeface="Malgun Gothic"/>
                <a:cs typeface="Malgun Gothic"/>
              </a:rPr>
              <a:t> 두 단백질의 결합 여부를 전사 활성으로 바꾸어 읽을 수 있다. 한 단백질에 DNA 결합 영역을, 다른 단백질에 활성화 영역을 붙여 두면, 두 단백질이 결합할 때만 reporter가 켜진다. 이것이 </a:t>
            </a:r>
            <a:r>
              <a:rPr sz="1400" b="1" i="0">
                <a:solidFill>
                  <a:srgbClr val="11202B"/>
                </a:solidFill>
                <a:latin typeface="Malgun Gothic"/>
                <a:ea typeface="Malgun Gothic"/>
                <a:cs typeface="Malgun Gothic"/>
              </a:rPr>
              <a:t>two-hybrid 분석</a:t>
            </a:r>
            <a:r>
              <a:rPr sz="1400" b="0" i="0">
                <a:solidFill>
                  <a:srgbClr val="11202B"/>
                </a:solidFill>
                <a:latin typeface="Malgun Gothic"/>
                <a:ea typeface="Malgun Gothic"/>
                <a:cs typeface="Malgun Gothic"/>
              </a:rPr>
              <a:t>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전사인자는 모듈로 되어 있다 — 영역 교환 실험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영역 교환 실험이 모범적인 이유는 </a:t>
            </a:r>
            <a:r>
              <a:rPr sz="1600" b="1" i="0">
                <a:solidFill>
                  <a:srgbClr val="11202B"/>
                </a:solidFill>
                <a:latin typeface="Malgun Gothic"/>
                <a:ea typeface="Malgun Gothic"/>
                <a:cs typeface="Malgun Gothic"/>
              </a:rPr>
              <a:t>결론이 설계에서 직접 나온다</a:t>
            </a:r>
            <a:r>
              <a:rPr sz="1600" b="0" i="0">
                <a:solidFill>
                  <a:srgbClr val="11202B"/>
                </a:solidFill>
                <a:latin typeface="Malgun Gothic"/>
                <a:ea typeface="Malgun Gothic"/>
                <a:cs typeface="Malgun Gothic"/>
              </a:rPr>
              <a:t>는 데 있다. 두 기능이 분리되어 있다는 가설이 맞다면 바꿔 붙인 단백질은 새 서열에서 작동해야 하고, 틀리다면 작동하지 않아야 한다. 결과가 가설을 가를 수 있게 설계된 실험이다.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전사인자는 모듈로 되어 있다 — 영역 교환 실험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22</a:t>
            </a:r>
          </a:p>
        </p:txBody>
      </p:sp>
      <p:pic>
        <p:nvPicPr>
          <p:cNvPr id="7" name="Picture 6" descr="fig-domain-swap.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전사인자의 모듈 구조를 밝힌 영역 교환 실험. GAL4의 DNA 결합 영역을 LexA의 것으로 바꿔 붙이면 표적 서열이 LexA의 것으로 바뀌는 설계와 결과, 결합 영역이 대상을 정하고 활성화 영역이 정도를 정하는 분업, 그리고 그 결과로 가능해진 인공 전사인자와 two-hybrid 분석을 함께 보인다.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DNA 결합 도메인의 구조 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 결합 영역은 무한히 다양하지 않다. 몇 개의 구조 계열로 분류된다. 계열마다 DNA를 붙잡는 방식이 정해져 있고, 서열 특이성은 그 틀 안에서 접촉하는 아미노산이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Helix-turn-helix와 homeodomain.</a:t>
            </a:r>
            <a:r>
              <a:rPr sz="1400" b="0" i="0">
                <a:solidFill>
                  <a:srgbClr val="11202B"/>
                </a:solidFill>
                <a:latin typeface="Malgun Gothic"/>
                <a:ea typeface="Malgun Gothic"/>
                <a:cs typeface="Malgun Gothic"/>
              </a:rPr>
              <a:t> 두 개의 α helix가 짧은 굽힘으로 이어진 구조다. 뒤쪽 helix가 DNA의 큰 홈에 들어가 염기와 접촉한다. 세균의 조절 단백질에서 처음 발견되었고, 진핵세포에서는 </a:t>
            </a:r>
            <a:r>
              <a:rPr sz="1400" b="1" i="0">
                <a:solidFill>
                  <a:srgbClr val="11202B"/>
                </a:solidFill>
                <a:latin typeface="Malgun Gothic"/>
                <a:ea typeface="Malgun Gothic"/>
                <a:cs typeface="Malgun Gothic"/>
              </a:rPr>
              <a:t>homeodomain</a:t>
            </a:r>
            <a:r>
              <a:rPr sz="1400" b="0" i="0">
                <a:solidFill>
                  <a:srgbClr val="11202B"/>
                </a:solidFill>
                <a:latin typeface="Malgun Gothic"/>
                <a:ea typeface="Malgun Gothic"/>
                <a:cs typeface="Malgun Gothic"/>
              </a:rPr>
              <a:t>이 같은 구조를 쓴다. Homeodomain 단백질은 발달에서 체축의 구획을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Zinc finger.</a:t>
            </a:r>
            <a:r>
              <a:rPr sz="1400" b="0" i="0">
                <a:solidFill>
                  <a:srgbClr val="11202B"/>
                </a:solidFill>
                <a:latin typeface="Malgun Gothic"/>
                <a:ea typeface="Malgun Gothic"/>
                <a:cs typeface="Malgun Gothic"/>
              </a:rPr>
              <a:t> Zn²⁺ 이온 하나가 cysteine과 histidine 잔기에 배위되어 작은 구조 단위를 접어 쥔다. 이 단위 하나가 약 3개의 염기쌍을 읽고, 여러 개가 줄지어 더 긴 서열을 인식한다. 손가락 수를 늘려 특이성을 올릴 수 있으므로 인공 DNA 결합 단백질의 설계에 쓰였다. 사람 전사인자 가운데 가장 큰 계열이다. </a:t>
            </a:r>
            <a:r>
              <a:rPr sz="1400" b="1" i="0">
                <a:solidFill>
                  <a:srgbClr val="11202B"/>
                </a:solidFill>
                <a:latin typeface="Malgun Gothic"/>
                <a:ea typeface="Malgun Gothic"/>
                <a:cs typeface="Malgun Gothic"/>
              </a:rPr>
              <a:t>Steroid hormone receptor</a:t>
            </a:r>
            <a:r>
              <a:rPr sz="1400" b="0" i="0">
                <a:solidFill>
                  <a:srgbClr val="11202B"/>
                </a:solidFill>
                <a:latin typeface="Malgun Gothic"/>
                <a:ea typeface="Malgun Gothic"/>
                <a:cs typeface="Malgun Gothic"/>
              </a:rPr>
              <a:t>도 zinc finger 계열의 변형을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Leucine zipper.</a:t>
            </a:r>
            <a:r>
              <a:rPr sz="1400" b="0" i="0">
                <a:solidFill>
                  <a:srgbClr val="11202B"/>
                </a:solidFill>
                <a:latin typeface="Malgun Gothic"/>
                <a:ea typeface="Malgun Gothic"/>
                <a:cs typeface="Malgun Gothic"/>
              </a:rPr>
              <a:t> 긴 α helix에 leucine이 7잔기마다 반복되어 한쪽 면에 소수성 띠를 만든다. 두 분자의 소수성 면이 서로 감겨 이량체가 되고, 각 분자에서 뻗어 나온 염기성 구간이 DNA를 붙잡는다.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Helix-loop-helix.</a:t>
            </a:r>
            <a:r>
              <a:rPr sz="1400" b="0" i="0">
                <a:solidFill>
                  <a:srgbClr val="11202B"/>
                </a:solidFill>
                <a:latin typeface="Malgun Gothic"/>
                <a:ea typeface="Malgun Gothic"/>
                <a:cs typeface="Malgun Gothic"/>
              </a:rPr>
              <a:t> 두 helix가 고리로 이어진 구조로 역시 이량체를 만든다. 근육 분화를 정하는 MyoD가 이 계열이다.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뒤의 두 계열에서 중요한 성질이 나온다. </a:t>
            </a:r>
            <a:r>
              <a:rPr sz="1400" b="1" i="0">
                <a:solidFill>
                  <a:srgbClr val="11202B"/>
                </a:solidFill>
                <a:latin typeface="Malgun Gothic"/>
                <a:ea typeface="Malgun Gothic"/>
                <a:cs typeface="Malgun Gothic"/>
              </a:rPr>
              <a:t>이량체 형성이 특이성을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계열의 서로 다른 단백질이 짝을 이룰 수 있다. 세 종류의 단백질이 있다면 동종 이량체 3가지와 이종 이량체 3가지, 모두 6가지 조합이 가능하고 각 조합이 다른 서열을 선호한다. </a:t>
            </a:r>
            <a:r>
              <a:rPr sz="1400" b="1" i="0">
                <a:solidFill>
                  <a:srgbClr val="11202B"/>
                </a:solidFill>
                <a:latin typeface="Malgun Gothic"/>
                <a:ea typeface="Malgun Gothic"/>
                <a:cs typeface="Malgun Gothic"/>
              </a:rPr>
              <a:t>단백질의 종류 수보다 많은 결합 특이성</a:t>
            </a:r>
            <a:r>
              <a:rPr sz="1400" b="0" i="0">
                <a:solidFill>
                  <a:srgbClr val="11202B"/>
                </a:solidFill>
                <a:latin typeface="Malgun Gothic"/>
                <a:ea typeface="Malgun Gothic"/>
                <a:cs typeface="Malgun Gothic"/>
              </a:rPr>
              <a:t>이 조합에서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억제의 한 방식도 나온다. </a:t>
            </a:r>
            <a:r>
              <a:rPr sz="1400" b="1" i="0">
                <a:solidFill>
                  <a:srgbClr val="11202B"/>
                </a:solidFill>
                <a:latin typeface="Malgun Gothic"/>
                <a:ea typeface="Malgun Gothic"/>
                <a:cs typeface="Malgun Gothic"/>
              </a:rPr>
              <a:t>활성화 영역이 없는 짝</a:t>
            </a:r>
            <a:r>
              <a:rPr sz="1400" b="0" i="0">
                <a:solidFill>
                  <a:srgbClr val="11202B"/>
                </a:solidFill>
                <a:latin typeface="Malgun Gothic"/>
                <a:ea typeface="Malgun Gothic"/>
                <a:cs typeface="Malgun Gothic"/>
              </a:rPr>
              <a:t>이 끼어들어 이량체를 만들면, 그 이량체는 DNA에 붙어도 전사를 올리지 못하고 자리만 차지한다. 짝의 양을 바꾸는 것으로 발현을 끌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DNA 결합 도메인의 구조 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24</a:t>
            </a:r>
          </a:p>
        </p:txBody>
      </p:sp>
      <p:pic>
        <p:nvPicPr>
          <p:cNvPr id="7" name="Picture 6" descr="fig-binding-domains.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DNA 결합 도메인의 네 가지 구조 계열과 이량체 형성의 효과. Helix-turn-helix와 homeodomain이 큰 홈에 들어가는 방식, Zn 이온이 접어 쥐는 zinc finger와 손가락 수에 따른 인식 길이, leucine의 7잔기 반복이 만드는 소수성 면과 감긴 이량체, helix-loop-helix의 구성, 그리고 이종 이량체의 조합이 단백질 수보다 많은 특이성을 만드는 관계를 함께 보인다.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활성화 영역은 무엇을 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 결합 영역이 자리를 정했다면, 활성화 영역이 실제로 전사를 올려야 한다. 그 일은 두 가지로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일 1: 염색질을 열어 준다.</a:t>
            </a:r>
            <a:r>
              <a:rPr sz="1400" b="0" i="0">
                <a:solidFill>
                  <a:srgbClr val="11202B"/>
                </a:solidFill>
                <a:latin typeface="Malgun Gothic"/>
                <a:ea typeface="Malgun Gothic"/>
                <a:cs typeface="Malgun Gothic"/>
              </a:rPr>
              <a:t> 활성화 영역이 </a:t>
            </a:r>
            <a:r>
              <a:rPr sz="1400" b="1" i="0">
                <a:solidFill>
                  <a:srgbClr val="11202B"/>
                </a:solidFill>
                <a:latin typeface="Malgun Gothic"/>
                <a:ea typeface="Malgun Gothic"/>
                <a:cs typeface="Malgun Gothic"/>
              </a:rPr>
              <a:t>공동활성화인자(coactivator)</a:t>
            </a:r>
            <a:r>
              <a:rPr sz="1400" b="0" i="0">
                <a:solidFill>
                  <a:srgbClr val="11202B"/>
                </a:solidFill>
                <a:latin typeface="Malgun Gothic"/>
                <a:ea typeface="Malgun Gothic"/>
                <a:cs typeface="Malgun Gothic"/>
              </a:rPr>
              <a:t> 를 불러들인다. 공동활성화인자 가운데 상당수는 효소다. </a:t>
            </a:r>
            <a:r>
              <a:rPr sz="1400" b="1" i="0">
                <a:solidFill>
                  <a:srgbClr val="11202B"/>
                </a:solidFill>
                <a:latin typeface="Malgun Gothic"/>
                <a:ea typeface="Malgun Gothic"/>
                <a:cs typeface="Malgun Gothic"/>
              </a:rPr>
              <a:t>histone acetyltransferase</a:t>
            </a:r>
            <a:r>
              <a:rPr sz="1400" b="0" i="0">
                <a:solidFill>
                  <a:srgbClr val="11202B"/>
                </a:solidFill>
                <a:latin typeface="Malgun Gothic"/>
                <a:ea typeface="Malgun Gothic"/>
                <a:cs typeface="Malgun Gothic"/>
              </a:rPr>
              <a:t>는 histone에 acetyl기를 붙여 결합을 느슨하게 하고, </a:t>
            </a:r>
            <a:r>
              <a:rPr sz="1400" b="1" i="0">
                <a:solidFill>
                  <a:srgbClr val="11202B"/>
                </a:solidFill>
                <a:latin typeface="Malgun Gothic"/>
                <a:ea typeface="Malgun Gothic"/>
                <a:cs typeface="Malgun Gothic"/>
              </a:rPr>
              <a:t>chromatin remodeling 복합체</a:t>
            </a:r>
            <a:r>
              <a:rPr sz="1400" b="0" i="0">
                <a:solidFill>
                  <a:srgbClr val="11202B"/>
                </a:solidFill>
                <a:latin typeface="Malgun Gothic"/>
                <a:ea typeface="Malgun Gothic"/>
                <a:cs typeface="Malgun Gothic"/>
              </a:rPr>
              <a:t>는 ATP를 써서 nucleosome을 밀어낸다. 그 결과 promoter의 DNA가 노출된다.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일 2: 전사 기구를 모은다.</a:t>
            </a:r>
            <a:r>
              <a:rPr sz="1400" b="0" i="0">
                <a:solidFill>
                  <a:srgbClr val="11202B"/>
                </a:solidFill>
                <a:latin typeface="Malgun Gothic"/>
                <a:ea typeface="Malgun Gothic"/>
                <a:cs typeface="Malgun Gothic"/>
              </a:rPr>
              <a:t> 활성화 영역은 </a:t>
            </a:r>
            <a:r>
              <a:rPr sz="1400" b="1" i="0">
                <a:solidFill>
                  <a:srgbClr val="11202B"/>
                </a:solidFill>
                <a:latin typeface="Malgun Gothic"/>
                <a:ea typeface="Malgun Gothic"/>
                <a:cs typeface="Malgun Gothic"/>
              </a:rPr>
              <a:t>mediator</a:t>
            </a:r>
            <a:r>
              <a:rPr sz="1400" b="0" i="0">
                <a:solidFill>
                  <a:srgbClr val="11202B"/>
                </a:solidFill>
                <a:latin typeface="Malgun Gothic"/>
                <a:ea typeface="Malgun Gothic"/>
                <a:cs typeface="Malgun Gothic"/>
              </a:rPr>
              <a:t> 복합체와 상호작용한다. Mediator는 20개 이상의 소단위로 된 큰 복합체로, 한쪽은 전사인자와 닿고 다른 쪽은 Pol II와 general transcription factor에 닿는다. 멀리 있는 enhancer에 붙은 전사인자의 신호를 promoter의 전사 기구로 </a:t>
            </a:r>
            <a:r>
              <a:rPr sz="1400" b="1" i="0">
                <a:solidFill>
                  <a:srgbClr val="11202B"/>
                </a:solidFill>
                <a:latin typeface="Malgun Gothic"/>
                <a:ea typeface="Malgun Gothic"/>
                <a:cs typeface="Malgun Gothic"/>
              </a:rPr>
              <a:t>전달하는 중계자</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일의 관계를 정리하면 다음과 같다. 전사인자는 </a:t>
            </a:r>
            <a:r>
              <a:rPr sz="1400" b="1" i="0">
                <a:solidFill>
                  <a:srgbClr val="11202B"/>
                </a:solidFill>
                <a:latin typeface="Malgun Gothic"/>
                <a:ea typeface="Malgun Gothic"/>
                <a:cs typeface="Malgun Gothic"/>
              </a:rPr>
              <a:t>직접 전사를 시작하지 않는다.</a:t>
            </a:r>
            <a:r>
              <a:rPr sz="1400" b="0" i="0">
                <a:solidFill>
                  <a:srgbClr val="11202B"/>
                </a:solidFill>
                <a:latin typeface="Malgun Gothic"/>
                <a:ea typeface="Malgun Gothic"/>
                <a:cs typeface="Malgun Gothic"/>
              </a:rPr>
              <a:t> 전사인자는 신호를 제공하고, 실제로 염색질을 열고 폴리머라제를 앉히는 일은 공동활성화인자와 mediator, general transcription factor가 한다. 전사인자가 </a:t>
            </a:r>
            <a:r>
              <a:rPr sz="1400" b="1" i="0">
                <a:solidFill>
                  <a:srgbClr val="11202B"/>
                </a:solidFill>
                <a:latin typeface="Malgun Gothic"/>
                <a:ea typeface="Malgun Gothic"/>
                <a:cs typeface="Malgun Gothic"/>
              </a:rPr>
              <a:t>어디에서 얼마나</a:t>
            </a:r>
            <a:r>
              <a:rPr sz="1400" b="0" i="0">
                <a:solidFill>
                  <a:srgbClr val="11202B"/>
                </a:solidFill>
                <a:latin typeface="Malgun Gothic"/>
                <a:ea typeface="Malgun Gothic"/>
                <a:cs typeface="Malgun Gothic"/>
              </a:rPr>
              <a:t>를 정하고, 나머지 기구가 </a:t>
            </a:r>
            <a:r>
              <a:rPr sz="1400" b="1" i="0">
                <a:solidFill>
                  <a:srgbClr val="11202B"/>
                </a:solidFill>
                <a:latin typeface="Malgun Gothic"/>
                <a:ea typeface="Malgun Gothic"/>
                <a:cs typeface="Malgun Gothic"/>
              </a:rPr>
              <a:t>어떻게</a:t>
            </a:r>
            <a:r>
              <a:rPr sz="1400" b="0" i="0">
                <a:solidFill>
                  <a:srgbClr val="11202B"/>
                </a:solidFill>
                <a:latin typeface="Malgun Gothic"/>
                <a:ea typeface="Malgun Gothic"/>
                <a:cs typeface="Malgun Gothic"/>
              </a:rPr>
              <a:t>를 수행한다.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억제는 대칭적으로 작동한다. </a:t>
            </a:r>
            <a:r>
              <a:rPr sz="1400" b="1" i="0">
                <a:solidFill>
                  <a:srgbClr val="11202B"/>
                </a:solidFill>
                <a:latin typeface="Malgun Gothic"/>
                <a:ea typeface="Malgun Gothic"/>
                <a:cs typeface="Malgun Gothic"/>
              </a:rPr>
              <a:t>억제인자(repressor)</a:t>
            </a:r>
            <a:r>
              <a:rPr sz="1400" b="0" i="0">
                <a:solidFill>
                  <a:srgbClr val="11202B"/>
                </a:solidFill>
                <a:latin typeface="Malgun Gothic"/>
                <a:ea typeface="Malgun Gothic"/>
                <a:cs typeface="Malgun Gothic"/>
              </a:rPr>
              <a:t> 가 </a:t>
            </a:r>
            <a:r>
              <a:rPr sz="1400" b="1" i="0">
                <a:solidFill>
                  <a:srgbClr val="11202B"/>
                </a:solidFill>
                <a:latin typeface="Malgun Gothic"/>
                <a:ea typeface="Malgun Gothic"/>
                <a:cs typeface="Malgun Gothic"/>
              </a:rPr>
              <a:t>공동억제인자(corepressor)</a:t>
            </a:r>
            <a:r>
              <a:rPr sz="1400" b="0" i="0">
                <a:solidFill>
                  <a:srgbClr val="11202B"/>
                </a:solidFill>
                <a:latin typeface="Malgun Gothic"/>
                <a:ea typeface="Malgun Gothic"/>
                <a:cs typeface="Malgun Gothic"/>
              </a:rPr>
              <a:t> 를 불러들이고, 공동억제인자는 </a:t>
            </a:r>
            <a:r>
              <a:rPr sz="1400" b="1" i="0">
                <a:solidFill>
                  <a:srgbClr val="11202B"/>
                </a:solidFill>
                <a:latin typeface="Malgun Gothic"/>
                <a:ea typeface="Malgun Gothic"/>
                <a:cs typeface="Malgun Gothic"/>
              </a:rPr>
              <a:t>histone deacetylase</a:t>
            </a:r>
            <a:r>
              <a:rPr sz="1400" b="0" i="0">
                <a:solidFill>
                  <a:srgbClr val="11202B"/>
                </a:solidFill>
                <a:latin typeface="Malgun Gothic"/>
                <a:ea typeface="Malgun Gothic"/>
                <a:cs typeface="Malgun Gothic"/>
              </a:rPr>
              <a:t>나 methyltransferase를 동반해 염색질을 닫는다. 활성화와 억제가 같은 지점에서 반대 방향으로 작동하므로, 한 유전자의 발현은 양쪽 신호의 균형으로 정해진다.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활성화 영역은 무엇을 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이 구조 때문에 </a:t>
            </a:r>
            <a:r>
              <a:rPr sz="1600" b="1" i="0">
                <a:solidFill>
                  <a:srgbClr val="11202B"/>
                </a:solidFill>
                <a:latin typeface="Malgun Gothic"/>
                <a:ea typeface="Malgun Gothic"/>
                <a:cs typeface="Malgun Gothic"/>
              </a:rPr>
              <a:t>공동활성화인자와 공동억제인자가 약물 표적</a:t>
            </a:r>
            <a:r>
              <a:rPr sz="1600" b="0" i="0">
                <a:solidFill>
                  <a:srgbClr val="11202B"/>
                </a:solidFill>
                <a:latin typeface="Malgun Gothic"/>
                <a:ea typeface="Malgun Gothic"/>
                <a:cs typeface="Malgun Gothic"/>
              </a:rPr>
              <a:t>이 된다. 전사인자 자체는 결합 홈이 평평해 저분자 약물을 붙이기 어렵지만, 그 아래에서 일하는 효소는 표적으로 삼기 쉽다. </a:t>
            </a:r>
            <a:r>
              <a:rPr sz="1600" b="1" i="0">
                <a:solidFill>
                  <a:srgbClr val="11202B"/>
                </a:solidFill>
                <a:latin typeface="Malgun Gothic"/>
                <a:ea typeface="Malgun Gothic"/>
                <a:cs typeface="Malgun Gothic"/>
              </a:rPr>
              <a:t>HDAC 억제제</a:t>
            </a:r>
            <a:r>
              <a:rPr sz="1600" b="0" i="0">
                <a:solidFill>
                  <a:srgbClr val="11202B"/>
                </a:solidFill>
                <a:latin typeface="Malgun Gothic"/>
                <a:ea typeface="Malgun Gothic"/>
                <a:cs typeface="Malgun Gothic"/>
              </a:rPr>
              <a:t>(vorinostat, romidepsin)가 T세포 림프종 치료에 쓰이고, acetyl 표지를 읽는 단백질을 막는 BET 억제제가 개발되었다. 급성 전골수성 백혈병에서 PML-RARA 융합 단백질이 공동억제인자를 비정상적으로 붙잡고 있는 것이 병태의 핵심이고, all-trans retinoic acid가 그 결합을 풀어 분화를 재개시킨다. 전사 조절의 기전을 알면 치료 지점이 보인다는 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활성화 영역은 무엇을 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27</a:t>
            </a:r>
          </a:p>
        </p:txBody>
      </p:sp>
      <p:pic>
        <p:nvPicPr>
          <p:cNvPr id="7" name="Picture 6" descr="fig-activation-domai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활성화 영역이 수행하는 두 가지 일. 공동활성화인자를 불러 histone acetylation과 nucleosome 재배치로 염색질을 여는 경로, mediator가 enhancer의 전사인자와 promoter의 Pol II를 잇는 중계 구조, 전사인자가 어디와 얼마를 정하고 다른 기구가 어떻게를 수행하는 분업, 그리고 억제인자-공동억제인자가 같은 지점에서 반대로 작동하는 대칭을 함께 보인다.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외 신호가 promoter까지 도달하는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전사인자는 언제 활성화되는가. 세포 밖의 신호가 전사인자를 켜는 방식은 네 가지로 정리된다. 구분하는 기준은 </a:t>
            </a:r>
            <a:r>
              <a:rPr sz="1400" b="1" i="0">
                <a:solidFill>
                  <a:srgbClr val="11202B"/>
                </a:solidFill>
                <a:latin typeface="Malgun Gothic"/>
                <a:ea typeface="Malgun Gothic"/>
                <a:cs typeface="Malgun Gothic"/>
              </a:rPr>
              <a:t>전사인자가 활성화되기 전에 어디에서 대기하는가</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1: 세포질에 대기하다 리간드와 함께 들어간다 — steroid hormone receptor.</a:t>
            </a:r>
            <a:r>
              <a:rPr sz="1400" b="0" i="0">
                <a:solidFill>
                  <a:srgbClr val="11202B"/>
                </a:solidFill>
                <a:latin typeface="Malgun Gothic"/>
                <a:ea typeface="Malgun Gothic"/>
                <a:cs typeface="Malgun Gothic"/>
              </a:rPr>
              <a:t> Cortisol, estrogen, testosterone 같은 </a:t>
            </a:r>
            <a:r>
              <a:rPr sz="1400" b="1" i="0">
                <a:solidFill>
                  <a:srgbClr val="11202B"/>
                </a:solidFill>
                <a:latin typeface="Malgun Gothic"/>
                <a:ea typeface="Malgun Gothic"/>
                <a:cs typeface="Malgun Gothic"/>
              </a:rPr>
              <a:t>스테로이드</a:t>
            </a:r>
            <a:r>
              <a:rPr sz="1400" b="0" i="0">
                <a:solidFill>
                  <a:srgbClr val="11202B"/>
                </a:solidFill>
                <a:latin typeface="Malgun Gothic"/>
                <a:ea typeface="Malgun Gothic"/>
                <a:cs typeface="Malgun Gothic"/>
              </a:rPr>
              <a:t>는 지질이므로 세포막을 그대로 통과한다. 세포질에 있는 수용체와 결합하면 수용체의 구조가 바뀌어 억제 단백질이 떨어지고, 수용체가 핵으로 들어가 표적 서열(hormone response element)에 붙어 전사를 조절한다. </a:t>
            </a:r>
            <a:r>
              <a:rPr sz="1400" b="1" i="0">
                <a:solidFill>
                  <a:srgbClr val="11202B"/>
                </a:solidFill>
                <a:latin typeface="Malgun Gothic"/>
                <a:ea typeface="Malgun Gothic"/>
                <a:cs typeface="Malgun Gothic"/>
              </a:rPr>
              <a:t>수용체 자체가 전사인자</a:t>
            </a:r>
            <a:r>
              <a:rPr sz="1400" b="0" i="0">
                <a:solidFill>
                  <a:srgbClr val="11202B"/>
                </a:solidFill>
                <a:latin typeface="Malgun Gothic"/>
                <a:ea typeface="Malgun Gothic"/>
                <a:cs typeface="Malgun Gothic"/>
              </a:rPr>
              <a:t>이므로 신호 전달 단계가 가장 짧다.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2: 핵 안에 대기하다 인산화로 켜진다 — CREB.</a:t>
            </a:r>
            <a:r>
              <a:rPr sz="1400" b="0" i="0">
                <a:solidFill>
                  <a:srgbClr val="11202B"/>
                </a:solidFill>
                <a:latin typeface="Malgun Gothic"/>
                <a:ea typeface="Malgun Gothic"/>
                <a:cs typeface="Malgun Gothic"/>
              </a:rPr>
              <a:t> 호르몬이 G protein 연결 수용체에 붙으면 cAMP가 올라가고 protein kinase A가 활성화된다. PKA의 촉매 소단위가 핵으로 들어가 </a:t>
            </a:r>
            <a:r>
              <a:rPr sz="1400" b="1" i="0">
                <a:solidFill>
                  <a:srgbClr val="11202B"/>
                </a:solidFill>
                <a:latin typeface="Malgun Gothic"/>
                <a:ea typeface="Malgun Gothic"/>
                <a:cs typeface="Malgun Gothic"/>
              </a:rPr>
              <a:t>CREB</a:t>
            </a:r>
            <a:r>
              <a:rPr sz="1400" b="0" i="0">
                <a:solidFill>
                  <a:srgbClr val="11202B"/>
                </a:solidFill>
                <a:latin typeface="Malgun Gothic"/>
                <a:ea typeface="Malgun Gothic"/>
                <a:cs typeface="Malgun Gothic"/>
              </a:rPr>
              <a:t>을 인산화한다. 인산화된 CREB은 공동활성화인자 CBP를 불러들여 cAMP response element를 가진 유전자를 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3: 세포질에 대기하다 인산화 후 이량체로 들어간다 — STAT.</a:t>
            </a:r>
            <a:r>
              <a:rPr sz="1400" b="0" i="0">
                <a:solidFill>
                  <a:srgbClr val="11202B"/>
                </a:solidFill>
                <a:latin typeface="Malgun Gothic"/>
                <a:ea typeface="Malgun Gothic"/>
                <a:cs typeface="Malgun Gothic"/>
              </a:rPr>
              <a:t> Cytokine이나 성장인자가 수용체에 붙으면 수용체에 결합한 </a:t>
            </a:r>
            <a:r>
              <a:rPr sz="1400" b="1" i="0">
                <a:solidFill>
                  <a:srgbClr val="11202B"/>
                </a:solidFill>
                <a:latin typeface="Malgun Gothic"/>
                <a:ea typeface="Malgun Gothic"/>
                <a:cs typeface="Malgun Gothic"/>
              </a:rPr>
              <a:t>JAK</a:t>
            </a:r>
            <a:r>
              <a:rPr sz="1400" b="0" i="0">
                <a:solidFill>
                  <a:srgbClr val="11202B"/>
                </a:solidFill>
                <a:latin typeface="Malgun Gothic"/>
                <a:ea typeface="Malgun Gothic"/>
                <a:cs typeface="Malgun Gothic"/>
              </a:rPr>
              <a:t> kinase가 </a:t>
            </a:r>
            <a:r>
              <a:rPr sz="1400" b="1" i="0">
                <a:solidFill>
                  <a:srgbClr val="11202B"/>
                </a:solidFill>
                <a:latin typeface="Malgun Gothic"/>
                <a:ea typeface="Malgun Gothic"/>
                <a:cs typeface="Malgun Gothic"/>
              </a:rPr>
              <a:t>STAT</a:t>
            </a:r>
            <a:r>
              <a:rPr sz="1400" b="0" i="0">
                <a:solidFill>
                  <a:srgbClr val="11202B"/>
                </a:solidFill>
                <a:latin typeface="Malgun Gothic"/>
                <a:ea typeface="Malgun Gothic"/>
                <a:cs typeface="Malgun Gothic"/>
              </a:rPr>
              <a:t>을 인산화한다. 인산화된 STAT은 서로 결합해 이량체가 되고, 그 형태에서만 핵으로 들어가 표적 유전자를 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4: 세포질에 묶여 있다 억제자가 분해되며 풀린다 — NF-κB.</a:t>
            </a:r>
            <a:r>
              <a:rPr sz="1400" b="0" i="0">
                <a:solidFill>
                  <a:srgbClr val="11202B"/>
                </a:solidFill>
                <a:latin typeface="Malgun Gothic"/>
                <a:ea typeface="Malgun Gothic"/>
                <a:cs typeface="Malgun Gothic"/>
              </a:rPr>
              <a:t> NF-κB는 평소 </a:t>
            </a:r>
            <a:r>
              <a:rPr sz="1400" b="1" i="0">
                <a:solidFill>
                  <a:srgbClr val="11202B"/>
                </a:solidFill>
                <a:latin typeface="Malgun Gothic"/>
                <a:ea typeface="Malgun Gothic"/>
                <a:cs typeface="Malgun Gothic"/>
              </a:rPr>
              <a:t>IκB</a:t>
            </a:r>
            <a:r>
              <a:rPr sz="1400" b="0" i="0">
                <a:solidFill>
                  <a:srgbClr val="11202B"/>
                </a:solidFill>
                <a:latin typeface="Malgun Gothic"/>
                <a:ea typeface="Malgun Gothic"/>
                <a:cs typeface="Malgun Gothic"/>
              </a:rPr>
              <a:t>에 붙잡혀 세포질에 머문다. 염증 신호가 오면 IκB가 인산화되고 ubiquitin화되어 proteasome에서 분해된다. 묶여 있던 NF-κB가 풀려 핵으로 들어가 염증 유전자를 켠다.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외 신호가 promoter까지 도달하는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대기 장소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활성화 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신호</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Steroid receptor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리간드 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스테로이드 호르몬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CREB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인산화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cAMP, PKA</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STAT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인산화 후 이량체화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cytokine, JAK</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NF-κB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세포질 (IκB에 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억제자의 분해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염증 신호</a:t>
                      </a:r>
                    </a:p>
                  </a:txBody>
                  <a:tcPr marL="73152" marR="73152" marT="27432" marB="27432">
                    <a:solidFill>
                      <a:srgbClr val="EFF4F8"/>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외 신호가 promoter까지 도달하는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네 경로에서 공통 원리를 읽어야 한다. </a:t>
            </a:r>
            <a:r>
              <a:rPr sz="2000" b="1" i="0">
                <a:solidFill>
                  <a:srgbClr val="11202B"/>
                </a:solidFill>
                <a:latin typeface="Malgun Gothic"/>
                <a:ea typeface="Malgun Gothic"/>
                <a:cs typeface="Malgun Gothic"/>
              </a:rPr>
              <a:t>전사인자는 만들어진 뒤 바로 일하지 않는다.</a:t>
            </a:r>
            <a:r>
              <a:rPr sz="2000" b="0" i="0">
                <a:solidFill>
                  <a:srgbClr val="11202B"/>
                </a:solidFill>
                <a:latin typeface="Malgun Gothic"/>
                <a:ea typeface="Malgun Gothic"/>
                <a:cs typeface="Malgun Gothic"/>
              </a:rPr>
              <a:t> 이미 존재하는 단백질을 </a:t>
            </a:r>
            <a:r>
              <a:rPr sz="2000" b="1" i="0">
                <a:solidFill>
                  <a:srgbClr val="11202B"/>
                </a:solidFill>
                <a:latin typeface="Malgun Gothic"/>
                <a:ea typeface="Malgun Gothic"/>
                <a:cs typeface="Malgun Gothic"/>
              </a:rPr>
              <a:t>대기 상태에서 활성 상태로 전환</a:t>
            </a:r>
            <a:r>
              <a:rPr sz="2000" b="0" i="0">
                <a:solidFill>
                  <a:srgbClr val="11202B"/>
                </a:solidFill>
                <a:latin typeface="Malgun Gothic"/>
                <a:ea typeface="Malgun Gothic"/>
                <a:cs typeface="Malgun Gothic"/>
              </a:rPr>
              <a:t>하는 방식이 쓰인다. 새로 합성하는 것보다 훨씬 빠르기 때문이다. 신호가 오고 수분 안에 표적 유전자가 켜지는 것은 전사인자가 이미 준비되어 있어야만 가능하다.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외 신호가 promoter까지 도달하는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1648674"/>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네 경로가 모두 약물 표적이다. </a:t>
            </a:r>
            <a:r>
              <a:rPr sz="1600" b="1" i="0">
                <a:solidFill>
                  <a:srgbClr val="11202B"/>
                </a:solidFill>
                <a:latin typeface="Malgun Gothic"/>
                <a:ea typeface="Malgun Gothic"/>
                <a:cs typeface="Malgun Gothic"/>
              </a:rPr>
              <a:t>글루코코르티코이드</a:t>
            </a:r>
            <a:r>
              <a:rPr sz="1600" b="0" i="0">
                <a:solidFill>
                  <a:srgbClr val="11202B"/>
                </a:solidFill>
                <a:latin typeface="Malgun Gothic"/>
                <a:ea typeface="Malgun Gothic"/>
                <a:cs typeface="Malgun Gothic"/>
              </a:rPr>
              <a:t>는 경로 1을 직접 쓰는 약물로, 수용체를 통해 염증 유전자를 억제하고 동시에 NF-κB의 작용을 방해한다. 광범위한 효과와 광범위한 부작용이 같은 기전에서 나온다. 수용체가 수백 개의 유전자를 함께 조절하기 때문이다. </a:t>
            </a:r>
            <a:r>
              <a:rPr sz="1600" b="1" i="0">
                <a:solidFill>
                  <a:srgbClr val="11202B"/>
                </a:solidFill>
                <a:latin typeface="Malgun Gothic"/>
                <a:ea typeface="Malgun Gothic"/>
                <a:cs typeface="Malgun Gothic"/>
              </a:rPr>
              <a:t>JAK 억제제</a:t>
            </a:r>
            <a:r>
              <a:rPr sz="1600" b="0" i="0">
                <a:solidFill>
                  <a:srgbClr val="11202B"/>
                </a:solidFill>
                <a:latin typeface="Malgun Gothic"/>
                <a:ea typeface="Malgun Gothic"/>
                <a:cs typeface="Malgun Gothic"/>
              </a:rPr>
              <a:t>(tofacitinib, baricitinib)는 경로 3을 차단해 류마티스 관절염과 아토피 피부염에 쓰이며, 여러 cytokine 신호가 JAK-STAT으로 모이므로 하나의 약물이 여러 경로를 동시에 끈다. </a:t>
            </a:r>
            <a:r>
              <a:rPr sz="1600" b="1" i="0">
                <a:solidFill>
                  <a:srgbClr val="11202B"/>
                </a:solidFill>
                <a:latin typeface="Malgun Gothic"/>
                <a:ea typeface="Malgun Gothic"/>
                <a:cs typeface="Malgun Gothic"/>
              </a:rPr>
              <a:t>프로테아솜 억제제</a:t>
            </a:r>
            <a:r>
              <a:rPr sz="1600" b="0" i="0">
                <a:solidFill>
                  <a:srgbClr val="11202B"/>
                </a:solidFill>
                <a:latin typeface="Malgun Gothic"/>
                <a:ea typeface="Malgun Gothic"/>
                <a:cs typeface="Malgun Gothic"/>
              </a:rPr>
              <a:t>(bortezomib)는 IκB의 분해를 막아 NF-κB의 활성화를 간접적으로 억제한다.</a:t>
            </a:r>
          </a:p>
        </p:txBody>
      </p:sp>
      <p:sp>
        <p:nvSpPr>
          <p:cNvPr id="8" name="Rectangle 7"/>
          <p:cNvSpPr/>
          <p:nvPr/>
        </p:nvSpPr>
        <p:spPr>
          <a:xfrm>
            <a:off x="640080" y="3111714"/>
            <a:ext cx="10881360" cy="3060485"/>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핵수용체는 "신호가 전사인자를 직접 바꾸는" 가장 단순한 경로이면서, 세부에서 갈리는 지점이 많아 출제가 잦다. </a:t>
            </a:r>
            <a:r>
              <a:rPr sz="1600" b="1" i="0">
                <a:solidFill>
                  <a:srgbClr val="11202B"/>
                </a:solidFill>
                <a:latin typeface="Malgun Gothic"/>
                <a:ea typeface="Malgun Gothic"/>
                <a:cs typeface="Malgun Gothic"/>
              </a:rPr>
              <a:t>리간드가 없을 때 어디에 있는가</a:t>
            </a:r>
            <a:r>
              <a:rPr sz="1600" b="0" i="0">
                <a:solidFill>
                  <a:srgbClr val="11202B"/>
                </a:solidFill>
                <a:latin typeface="Malgun Gothic"/>
                <a:ea typeface="Malgun Gothic"/>
                <a:cs typeface="Malgun Gothic"/>
              </a:rPr>
              <a:t>가 첫 구분이다. 글루코코르티코이드 수용체와 광물부신피질호르몬 수용체는 세포질에서 chaperone과 결합해 있다가 리간드가 붙으면 핵으로 들어가고, 갑상샘호르몬 수용체와 레티노산 수용체는 리간드가 없어도 이미 DNA에 붙어 </a:t>
            </a:r>
            <a:r>
              <a:rPr sz="1600" b="1" i="0">
                <a:solidFill>
                  <a:srgbClr val="11202B"/>
                </a:solidFill>
                <a:latin typeface="Malgun Gothic"/>
                <a:ea typeface="Malgun Gothic"/>
                <a:cs typeface="Malgun Gothic"/>
              </a:rPr>
              <a:t>공동억제인자와 함께 유전자를 꺼 두고</a:t>
            </a:r>
            <a:r>
              <a:rPr sz="1600" b="0" i="0">
                <a:solidFill>
                  <a:srgbClr val="11202B"/>
                </a:solidFill>
                <a:latin typeface="Malgun Gothic"/>
                <a:ea typeface="Malgun Gothic"/>
                <a:cs typeface="Malgun Gothic"/>
              </a:rPr>
              <a:t> 있다가 리간드가 오면 공동활성화인자로 교체한다. 그래서 갑상샘호르몬 수용체의 기능 상실 변이는 단순한 기능 저하가 아니라 정상 수용체의 작용까지 막는 </a:t>
            </a:r>
            <a:r>
              <a:rPr sz="1600" b="1" i="0">
                <a:solidFill>
                  <a:srgbClr val="11202B"/>
                </a:solidFill>
                <a:latin typeface="Malgun Gothic"/>
                <a:ea typeface="Malgun Gothic"/>
                <a:cs typeface="Malgun Gothic"/>
              </a:rPr>
              <a:t>우성 음성</a:t>
            </a:r>
            <a:r>
              <a:rPr sz="1600" b="0" i="0">
                <a:solidFill>
                  <a:srgbClr val="11202B"/>
                </a:solidFill>
                <a:latin typeface="Malgun Gothic"/>
                <a:ea typeface="Malgun Gothic"/>
                <a:cs typeface="Malgun Gothic"/>
              </a:rPr>
              <a:t>으로 작동해 호르몬 저항 증후군을 만든다. 둘째 구분은 </a:t>
            </a:r>
            <a:r>
              <a:rPr sz="1600" b="1" i="0">
                <a:solidFill>
                  <a:srgbClr val="11202B"/>
                </a:solidFill>
                <a:latin typeface="Malgun Gothic"/>
                <a:ea typeface="Malgun Gothic"/>
                <a:cs typeface="Malgun Gothic"/>
              </a:rPr>
              <a:t>결합하는 DNA 서열의 배치</a:t>
            </a:r>
            <a:r>
              <a:rPr sz="1600" b="0" i="0">
                <a:solidFill>
                  <a:srgbClr val="11202B"/>
                </a:solidFill>
                <a:latin typeface="Malgun Gothic"/>
                <a:ea typeface="Malgun Gothic"/>
                <a:cs typeface="Malgun Gothic"/>
              </a:rPr>
              <a:t>다. 수용체가 같은 서열의 두 반복에 이량체로 붙는지, 다른 수용체와 짝을 이루는지가 반응 요소의 방향과 간격을 정한다. 셋째는 </a:t>
            </a:r>
            <a:r>
              <a:rPr sz="1600" b="1" i="0">
                <a:solidFill>
                  <a:srgbClr val="11202B"/>
                </a:solidFill>
                <a:latin typeface="Malgun Gothic"/>
                <a:ea typeface="Malgun Gothic"/>
                <a:cs typeface="Malgun Gothic"/>
              </a:rPr>
              <a:t>같은 수용체가 활성화와 억제를 함께 한다</a:t>
            </a:r>
            <a:r>
              <a:rPr sz="1600" b="0" i="0">
                <a:solidFill>
                  <a:srgbClr val="11202B"/>
                </a:solidFill>
                <a:latin typeface="Malgun Gothic"/>
                <a:ea typeface="Malgun Gothic"/>
                <a:cs typeface="Malgun Gothic"/>
              </a:rPr>
              <a:t>는 점이다. 글루코코르티코이드의 항염 작용 가운데 상당 부분은 반응 요소에 붙어 유전자를 켜는 것이 아니라 NF-κB와 AP-1의 작용을 방해하는 데서 온다. 치료 효과와 대사 부작용이 서로 다른 기전에서 온다는 이 분리가, 둘을 떼어 놓는 선택적 작용제 개발의 근거다.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외 신호가 promoter까지 도달하는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32</a:t>
            </a:r>
          </a:p>
        </p:txBody>
      </p:sp>
      <p:pic>
        <p:nvPicPr>
          <p:cNvPr id="7" name="Picture 6" descr="fig-signal-to-promoter.slide.png"/>
          <p:cNvPicPr>
            <a:picLocks noChangeAspect="1"/>
          </p:cNvPicPr>
          <p:nvPr/>
        </p:nvPicPr>
        <p:blipFill>
          <a:blip r:embed="rId2"/>
          <a:stretch>
            <a:fillRect/>
          </a:stretch>
        </p:blipFill>
        <p:spPr>
          <a:xfrm>
            <a:off x="2195652" y="1325880"/>
            <a:ext cx="7800391"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세포 외 신호가 promoter에 도달하는 네 경로. 막을 통과한 스테로이드가 세포질 수용체와 결합해 함께 핵으로 들어가는 경로, 핵에 대기하던 CREB이 PKA에 인산화되는 경로, JAK에 인산화된 STAT이 이량체가 되어야 들어가는 경로, IκB의 분해로 풀려나는 NF-κB 경로, 그리고 네 경로 모두 새 합성이 아니라 대기 상태의 전환이라는 공통 원리를 함께 보인다.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Chapter 7: Transcriptional Regulation and Epigenetics. Oxford University Press;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7: Control of Gene Expression.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Lambert SA, et al. The human transcription factors. Cell. 2018;172(4):650-65.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Spitz F, Furlong EEM. Transcription factors: from enhancer binding to developmental control. Nat Rev Genet. 2012;13(9):613-26.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Takahashi K, Yamanaka S. Induction of pluripotent stem cells from mouse embryonic and adult fibroblast cultures by defined factors. Cell. 2006;126(4):663-76.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Weintraub H, et al. Activation of muscle-specific genes in pigment, nerve, fat, liver, and fibroblast cell lines by forced expression of MyoD. Proc Natl Acad Sci USA. 1989;86(14):5434-8.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Allis CD, Jenuwein T. The molecular hallmarks of epigenetic control. Nat Rev Genet. 2016;17(8):487-500.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Bernstein BE, Mikkelsen TS, Xie X, et al. A bivalent chromatin structure marks key developmental genes in embryonic stem cells. Cell 2006;125:315–326.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Jones PA, Baylin SB. The epigenomics of cancer. Cell 2007;128:683–692.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Brockdorff N, Bowness JS, Wei G. Progress toward understanding chromosome silencing by Xist RNA. Genes Dev 2020;34:733–744.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Barlow DP, Bartolomei MS. Genomic imprinting in mammals. Cold Spring Harb Perspect Biol 2014;6:a018382.</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Kadoch C, Crabtree GR. Mammalian SWI/SNF chromatin remodeling complexes and cancer. Sci Adv 2015;1:e1500447.</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Hnisz D, Shrinivas K, Young RA, Chakraborty AK, Sharp PA. A phase separation model for transcriptional control. Cell 2017;169:13–23.</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ENCODE Project Consortium. An integrated encyclopedia of DNA elements in the human genome. Nature 2012;489:57–74.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