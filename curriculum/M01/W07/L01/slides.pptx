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RNA와 DNA의 화학적 차이와 그 결과. Ribose의 2′ hydroxyl기가 가수분해의 원인이면서 동시에 촉매 활성의 근거가 되는 양면성, uracil과 thymine의 구조 차이, 그리고 단일가닥 RNA가 자기 염기쌍으로 입체 구조를 만드는 방식을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세포 안 RNA의 종류와 기능 분담. 양으로는 rRNA가 압도적이고 mRNA는 소수라는 구성비, 각 종류를 만드는 polymerase의 분담, 그리고 정보 전달·촉매·조절·해독으로 나뉘는 기능의 범주를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세균 전사의 구성과 세 단계. Core enzyme과 sigma 인자의 분업, −35와 −10 영역의 위치, open complex 형성에서 sigma 방출까지의 개시 과정, 신장과 두 가지 종결 방식, 그리고 전사와 번역이 같은 공간에서 겹치는 배치를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진핵세포 세 RNA polymerase의 분담. 각 효소의 산물과 세포 내 위치, rRNA 유전자의 연속 배열에 Pol I이 빽빽하게 결합하는 배치, Pol III의 유전자 내부 promoter, 그리고 α-amanitin 감수성의 차이를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 II preinitiation complex의 조립 순서. TBP의 TATA box 결합과 DNA 굽힘, TFIIB가 정하는 전사 방향, TFIIF와 함께 들어오는 Pol II, TFIIH의 helicase와 kinase 두 활성, 그리고 인산화된 CTD가 가공 인자의 플랫폼이 되는 구조를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pre-mRNA 가공의 세 단계 개요. 5′ cap의 5′-5′ 결합과 세 기능, intron 제거와 exon 조합이 만드는 isoform, AAUAAA에 이어지는 절단과 주형 없는 poly(A) 부가, 그리고 가공 완료가 핵 밖 수송의 판정 기준이 되는 관문 구조를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Splicing의 두 단계 반응과 spliceosome의 조립. Branch point adenosine의 2′ hydroxyl 공격으로 생기는 lariat, 두 번째 에스터 교환으로 이어지는 exon, U1에서 U6까지의 snRNP 교체 순서, 그리고 SR 단백질과 hnRNP가 enhancer·silencer에 결합해 exon을 가려내는 배치를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pre-rRNA의 가공과 nucleolus의 구조. 18S-5.8S-28S가 한 전사체에 배열된 순서와 절단 지점, Pol III가 따로 만드는 5S의 합류, 두 소단위로 나뉘는 분배, 그리고 전사·가공·조립 세 기능이 집적되어 nucleolus를 이루는 배치를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snoRNP에 의한 위치 특이적 rRNA 변형. 2′-O-methylation과 pseudouridine 형성의 화학 구조 변화, snoRNA가 pre-rRNA와 염기쌍을 이루어 변형 지점을 지정하는 방식, box C/D와 box H/ACA 두 계열의 분담, 그리고 RNA가 위치를 정하고 단백질이 반응하는 공통 전략을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tRNA 가공의 네 단계와 RNA editing의 두 방식. RNase P에 의한 5′ 절단과 그것이 ribozyme이라는 점, 주형 없이 붙는 CCA와 아미노산 결합 자리, anticodon의 inosine, 그리고 apolipoprotein B의 C→U editing이 조직에 따라 다른 길이의 단백질을 만드는 과정을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mRNA 반감기와 분해 경로. 합성과 분해의 균형이 정상 상태의 양을 정하는 관계, 반감기에 따른 유전자 종류의 분포, 3′ UTR의 AU-rich element와 결합 단백질에 따라 갈리는 결과, deadenylation에서 decapping을 거쳐 exonuclease에 이르는 순서, 그리고 nonsense-mediated decay가 종결 codon 위치로 판정하는 기준을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2′-OH가 인접한 인산diester 결합을 공격할 수 있어 RNA가 알칼리 조건에서 쉽게 가수분해된다. RNA가 DNA보다 불안정하고 수명이 짧은 전령으로 쓰이는 근거다. 둘째, 바로 그 반응성 때문에 2′-OH가 공격하는 기가 될 수 있어 RNA가 촉매로 작동한다. Spliceosome의 splicing 반응과 RNase P의 절단이 그 예다. 불안정성과 촉매 활성이 같은 하나의 기에서 나온다.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Core enzyme(α2ββ′ω)은 RNA를 중합할 수 있지만 promoter를 찾지 못한다. Sigma 인자가 붙은 holoenzyme만 −35와 −10 영역을 인식해 올바른 지점에서 전사를 시작한다. 즉 중합 활성과 시작 지점의 선택이 서로 다른 소단위에 나뉘어 있고, sigma를 교체하면 같은 core enzyme이 다른 유전자군을 전사하게 되므로 이 분업 자체가 조절 수단이 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 I은 45S pre-rRNA(18S, 5.8S, 28S)를 nucleolus에서 만들며 α-amanitin에 저항한다. Pol II는 mRNA와 snRNA·snoRNA·miRNA·lncRNA를 만들며 α-amanitin에 매우 민감하다. Pol III는 tRNA와 5S rRNA를 만들며 중간 정도로 민감하다. Pol I의 활성이 가장 큰 이유는 세포가 ribosome을 끊임없이 만들어야 하고, rRNA 유전자가 수백 사본 연속 배열되어 그 위에 Pol I이 빽빽하게 결합해 동시에 전사하기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인자가 다음 인자의 결합 자리를 만들기 때문이다. TBP가 TATA box에 결합해 DNA를 약 80° 구부려 기하 구조를 만들고, TFIIB가 방향을 정하며 Pol II의 자리를 제공하고, TFIIF가 Pol II와 함께 들어오고, TFIIE가 TFIIH를 부른다. TFIIH는 helicase 활성으로 전사 시작점의 DNA를 풀어 주형을 노출시키고, kinase 활성으로 Pol II의 C 말단 꼬리를 인산화한다. 인산화로 Pol II가 개시 복합체에서 풀려 신장으로 전환하며, 인산화된 CTD는 가공 인자가 붙는 플랫폼이 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α-amanitin은 Pol II에 결합해 신장을 멈추므로 섭취 직후부터 간세포의 mRNA 합성이 차단된다. 그러나 이미 존재하는 mRNA와 단백질이 남아 있어 세포가 한동안 기능을 유지하고, 임상적으로는 위장관 증상만 나타난 뒤 회복한 듯 보인다. 기존 mRNA와 단백질이 반감기에 따라 소모되는 2~4일째에 비로소 세포 기능이 무너져 급성 간부전이 나타난다. 잠복기는 전사 차단과 단백질 소모 사이의 시간차이며, 이 때문에 초기 진료에서 중증도를 과소평가하기 쉽다.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pre-rRNA에는 5′ 쪽부터 18S, 5.8S, 28S가 한 줄로 들어 있고 가공으로 분리된다. 18S는 small subunit에, 5.8S와 28S는 large subunit에 들어간다. 5S rRNA는 45S에 포함되지 않고 별도의 유전자에서 Pol III가 전사해 nucleolus로 들어온다. Nucleolus는 막으로 둘러싸인 소기관이 아니라 rRNA 유전자가 모인 곳에 전사·가공·조립 기구가 집적되어 생긴 구조다. 기능이 구조를 만들었으므로 단백질 합성이 활발한 세포에서 크고 분열을 멈춘 세포에서 작다.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snoRNA가 변형될 지점 주변과 염기쌍을 이룰 수 있는 서열을 가지므로, snoRNA가 결합하면 복합체의 효소가 정확히 그 지점에 놓인다. 위치를 정하는 것은 RNA이고 반응을 하는 것은 단백질이다. box C/D 계열이 2′-O-methylation을, box H/ACA 계열이 pseudouridine 형성을 담당한다. 같은 원리의 다른 예로 spliceosome의 snRNA가 splice 부위를 인식하는 것, miRNA가 표적 mRNA를 고르는 것, CRISPR의 guide RNA가 표적을 지정하는 것이 있다. 염기쌍이 서열 특이성을 얻는 가장 경제적인 방법이기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아미노산이 결합하는 자리가 CCA의 마지막 A의 3′ hydroxyl기이므로 CCA가 없으면 tRNA는 아미노산을 실을 수 없고 기능하지 못한다. 그런데 이 세 nucleotide는 유전자에 적혀 있지 않고 전용 효소가 주형 없이 붙인다. 따라서 tRNA 유전자의 서열만으로는 완성된 tRNA를 알 수 없고, 기능하는 분자의 필수 부분이 전사 후 가공에서만 만들어진다. 또 말단이 손상되어도 다시 붙여 복구할 수 있다는 이점이 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Splicing은 전사체의 구간(intron)을 제거하고 남은 부분을 잇는 것이고, editing은 개별 염기를 다른 염기로 바꾸는 것이다. Editing이 일어나면 전사체의 서열이 유전체의 서열과 달라지므로 유전체만으로 단백질 서열을 예측할 수 없다. Apolipoprotein B에서는 간에서 전사체가 그대로 번역되어 전장 ApoB-100이 만들어지고, 소장에서는 특정 위치의 C가 U로 탈아미노화되어 그 codon이 종결 codon이 되므로 짧은 ApoB-48이 만들어진다. 하나의 유전자에서 조직에 따라 길이가 다른 두 단백질이 나온다.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정상 상태에서 mRNA의 양은 합성 속도와 분해 속도의 균형으로 정해지므로, 합성이 같아도 반감기가 길면 쌓이는 양이 그만큼 많아진다. 따라서 반감기만 바꾸어도 발현량이 달라진다. 분해는 poly(A) 꼬리가 짧아지는 deadenylation으로 시작하고, 꼬리가 일정 길이 이하로 줄어 PABP가 떨어지면 5′ cap이 제거되는 decapping이 일어나고, 드러난 말단에서 5′→3′ exonuclease와 3′→5′ exosome이 분해한다. 대개 deadenylation이 전체 속도를 정하는 rate-limiting step이다.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NMD는 종결 codon이 마지막 exon 경계보다 상류에 있는지를 기준으로 전사체를 분해한다. 상류의 종결 codon은 NMD로 전사체 자체가 사라져 단순한 기능 상실이 되고, 이형접합자에서는 정상 대립유전자의 산물이 절반 남아 증상이 가볍다. 반면 마지막 exon에 있는 종결 codon은 NMD를 피하므로 짧아진 단백질이 실제로 만들어지고, 그 단백질이 정상 단백질의 기능을 방해하면 우성 음성 효과로 더 중한 표현형이 나타난다. β-thalassemia에서 변이 위치에 따라 경증과 중증이 갈리는 데 이 차이가 작용한다.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RNA 합성과 가공</a:t>
            </a:r>
          </a:p>
          <a:p>
            <a:r>
              <a:rPr sz="1500" b="0" i="0">
                <a:solidFill>
                  <a:srgbClr val="B9D2E8"/>
                </a:solidFill>
                <a:latin typeface="Malgun Gothic"/>
                <a:ea typeface="Malgun Gothic"/>
                <a:cs typeface="Malgun Gothic"/>
              </a:rPr>
              <a:t>RNA Synthesis and Processing</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M01-W07-L01</a:t>
            </a:r>
          </a:p>
          <a:p>
            <a:r>
              <a:rPr sz="1100" b="0" i="0">
                <a:solidFill>
                  <a:srgbClr val="9FBEDA"/>
                </a:solidFill>
                <a:latin typeface="Malgun Gothic"/>
                <a:ea typeface="Malgun Gothic"/>
                <a:cs typeface="Malgun Gothic"/>
              </a:rPr>
              <a:t>7주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중심원리에서 RNA가 차지하는 위치를 쓰고 RNA와 DNA의 화학적 차이 세 가지와 그 결과를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세포 안 RNA의 종류를 기능으로 분류하고 각 종류를 만드는 효소를 연결한다.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세균 RNA polymerase의 구성과 sigma 인자의 역할을 쓰고 전사의 세 단계를 서술한다.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진핵세포의 세 가지 핵 RNA polymerase를 산물·promoter·억제제로 구분한다.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Pol II의 preinitiation complex가 조립되는 순서를 쓰고 각 general transcription factor의 역할을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pre-mRNA가 거치는 세 가공을 개요 수준에서 서술하고 각 가공의 결과를 쓴다.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45S pre-rRNA가 세 rRNA로 가공되는 과정을 설명하고 nucleolus의 기능을 쓴다.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snoRNP가 수행하는 두 가지 화학 변형을 쓰고 변형이 필요한 이유를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tRNA 가공의 네 단계를 쓰고 CCA 부가가 유전체에 암호화되지 않는다는 점의 의미를 설명한다.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RNA editing의 두 방식을 구분하고 splicing과의 차이를 설명한다.</a:t>
            </a:r>
          </a:p>
          <a:p>
            <a:pPr>
              <a:spcAft>
                <a:spcPts val="900"/>
              </a:spcAft>
            </a:pPr>
            <a:r>
              <a:rPr sz="1600" b="1" i="0">
                <a:solidFill>
                  <a:srgbClr val="F2B705"/>
                </a:solidFill>
                <a:latin typeface="Malgun Gothic"/>
                <a:ea typeface="Malgun Gothic"/>
                <a:cs typeface="Malgun Gothic"/>
              </a:rPr>
              <a:t>11.  </a:t>
            </a:r>
            <a:r>
              <a:rPr sz="1600" b="0" i="0">
                <a:solidFill>
                  <a:srgbClr val="11202B"/>
                </a:solidFill>
                <a:latin typeface="Malgun Gothic"/>
                <a:ea typeface="Malgun Gothic"/>
                <a:cs typeface="Malgun Gothic"/>
              </a:rPr>
              <a:t>mRNA 반감기가 발현량을 정하는 원리를 쓰고 분해 경로의 순서를 서술한다.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M01-W06-L02 유전자와 유전체의 구성 — exon과 intron, 유전자 구조</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M01-W06-L03 DNA 복제·복구와 유전체 재배열 — 주형 의존 중합, polymerase의 작동 방식</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당, 염기, 인산diester 결합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1. 중심원리 속의 RNA와 RNA의 화학</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2. RNA의 종류와 기능 분담</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3. 세균의 전사 — RNA polymerase와 sigma 인자</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4. 진핵세포의 세 가지 핵 RNA polymerase</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5. Pol II의 전사 개시 — preinitiation complex의 조립</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6. pre-mRNA 가공의 세 단계 — 개요</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7. Splicing의 기전과 대체 splicing</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8. rRNA의 가공과 nucleolus</a:t>
            </a:r>
          </a:p>
          <a:p>
            <a:pPr>
              <a:spcAft>
                <a:spcPts val="900"/>
              </a:spcAft>
            </a:pPr>
            <a:r>
              <a:rPr sz="1800" b="1" i="0">
                <a:solidFill>
                  <a:srgbClr val="F2B705"/>
                </a:solidFill>
                <a:latin typeface="Malgun Gothic"/>
                <a:ea typeface="Malgun Gothic"/>
                <a:cs typeface="Malgun Gothic"/>
              </a:rPr>
              <a:t>9.  </a:t>
            </a:r>
            <a:r>
              <a:rPr sz="1800" b="0" i="0">
                <a:solidFill>
                  <a:srgbClr val="11202B"/>
                </a:solidFill>
                <a:latin typeface="Malgun Gothic"/>
                <a:ea typeface="Malgun Gothic"/>
                <a:cs typeface="Malgun Gothic"/>
              </a:rPr>
              <a:t>9. snoRNP에 의한 rRNA의 화학 변형</a:t>
            </a:r>
          </a:p>
          <a:p>
            <a:pPr>
              <a:spcAft>
                <a:spcPts val="900"/>
              </a:spcAft>
            </a:pPr>
            <a:r>
              <a:rPr sz="1800" b="1" i="0">
                <a:solidFill>
                  <a:srgbClr val="F2B705"/>
                </a:solidFill>
                <a:latin typeface="Malgun Gothic"/>
                <a:ea typeface="Malgun Gothic"/>
                <a:cs typeface="Malgun Gothic"/>
              </a:rPr>
              <a:t>10.  </a:t>
            </a:r>
            <a:r>
              <a:rPr sz="1800" b="0" i="0">
                <a:solidFill>
                  <a:srgbClr val="11202B"/>
                </a:solidFill>
                <a:latin typeface="Malgun Gothic"/>
                <a:ea typeface="Malgun Gothic"/>
                <a:cs typeface="Malgun Gothic"/>
              </a:rPr>
              <a:t>10. tRNA의 가공과 RNA editing</a:t>
            </a:r>
          </a:p>
          <a:p>
            <a:pPr>
              <a:spcAft>
                <a:spcPts val="900"/>
              </a:spcAft>
            </a:pPr>
            <a:r>
              <a:rPr sz="1800" b="1" i="0">
                <a:solidFill>
                  <a:srgbClr val="F2B705"/>
                </a:solidFill>
                <a:latin typeface="Malgun Gothic"/>
                <a:ea typeface="Malgun Gothic"/>
                <a:cs typeface="Malgun Gothic"/>
              </a:rPr>
              <a:t>11.  </a:t>
            </a:r>
            <a:r>
              <a:rPr sz="1800" b="0" i="0">
                <a:solidFill>
                  <a:srgbClr val="11202B"/>
                </a:solidFill>
                <a:latin typeface="Malgun Gothic"/>
                <a:ea typeface="Malgun Gothic"/>
                <a:cs typeface="Malgun Gothic"/>
              </a:rPr>
              <a:t>11. mRNA의 안정성과 분해</a:t>
            </a:r>
          </a:p>
          <a:p>
            <a:pPr>
              <a:spcAft>
                <a:spcPts val="900"/>
              </a:spcAft>
            </a:pPr>
            <a:r>
              <a:rPr sz="1800" b="1" i="0">
                <a:solidFill>
                  <a:srgbClr val="F2B705"/>
                </a:solidFill>
                <a:latin typeface="Malgun Gothic"/>
                <a:ea typeface="Malgun Gothic"/>
                <a:cs typeface="Malgun Gothic"/>
              </a:rPr>
              <a:t>12.  </a:t>
            </a:r>
            <a:r>
              <a:rPr sz="1800" b="0" i="0">
                <a:solidFill>
                  <a:srgbClr val="11202B"/>
                </a:solidFill>
                <a:latin typeface="Malgun Gothic"/>
                <a:ea typeface="Malgun Gothic"/>
                <a:cs typeface="Malgun Gothic"/>
              </a:rPr>
              <a:t>12.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중심원리 속의 RNA와 RNA의 화학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유전정보는 DNA에 저장되고 단백질로 발현된다. 그 사이를 잇는 것이 RNA다. 이 흐름을 </a:t>
            </a:r>
            <a:r>
              <a:rPr sz="1400" b="1" i="0">
                <a:solidFill>
                  <a:srgbClr val="11202B"/>
                </a:solidFill>
                <a:latin typeface="Malgun Gothic"/>
                <a:ea typeface="Malgun Gothic"/>
                <a:cs typeface="Malgun Gothic"/>
              </a:rPr>
              <a:t>중심원리(central dogma)</a:t>
            </a:r>
            <a:r>
              <a:rPr sz="1400" b="0" i="0">
                <a:solidFill>
                  <a:srgbClr val="11202B"/>
                </a:solidFill>
                <a:latin typeface="Malgun Gothic"/>
                <a:ea typeface="Malgun Gothic"/>
                <a:cs typeface="Malgun Gothic"/>
              </a:rPr>
              <a:t> 라 부르고, DNA에서 RNA를 만드는 단계를 </a:t>
            </a:r>
            <a:r>
              <a:rPr sz="1400" b="1" i="0">
                <a:solidFill>
                  <a:srgbClr val="11202B"/>
                </a:solidFill>
                <a:latin typeface="Malgun Gothic"/>
                <a:ea typeface="Malgun Gothic"/>
                <a:cs typeface="Malgun Gothic"/>
              </a:rPr>
              <a:t>전사(transcription)</a:t>
            </a:r>
            <a:r>
              <a:rPr sz="1400" b="0" i="0">
                <a:solidFill>
                  <a:srgbClr val="11202B"/>
                </a:solidFill>
                <a:latin typeface="Malgun Gothic"/>
                <a:ea typeface="Malgun Gothic"/>
                <a:cs typeface="Malgun Gothic"/>
              </a:rPr>
              <a:t>, RNA에서 단백질을 만드는 단계를 </a:t>
            </a:r>
            <a:r>
              <a:rPr sz="1400" b="1" i="0">
                <a:solidFill>
                  <a:srgbClr val="11202B"/>
                </a:solidFill>
                <a:latin typeface="Malgun Gothic"/>
                <a:ea typeface="Malgun Gothic"/>
                <a:cs typeface="Malgun Gothic"/>
              </a:rPr>
              <a:t>번역(translation)</a:t>
            </a:r>
            <a:r>
              <a:rPr sz="1400" b="0" i="0">
                <a:solidFill>
                  <a:srgbClr val="11202B"/>
                </a:solidFill>
                <a:latin typeface="Malgun Gothic"/>
                <a:ea typeface="Malgun Gothic"/>
                <a:cs typeface="Malgun Gothic"/>
              </a:rPr>
              <a:t> 이라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RNA가 중간에 끼어 있는 이유를 먼저 분명히 해야 한다. 세 가지 이점이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증폭.</a:t>
            </a:r>
            <a:r>
              <a:rPr sz="1400" b="0" i="0">
                <a:solidFill>
                  <a:srgbClr val="11202B"/>
                </a:solidFill>
                <a:latin typeface="Malgun Gothic"/>
                <a:ea typeface="Malgun Gothic"/>
                <a:cs typeface="Malgun Gothic"/>
              </a:rPr>
              <a:t> 하나의 유전자에서 수백 개의 전사체를 만들 수 있고, 각 전사체에서 다시 수백 개의 단백질을 만들 수 있다. 두 단계가 곱해져 유전자 하나가 막대한 양의 단백질을 낼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조절 지점의 추가.</a:t>
            </a:r>
            <a:r>
              <a:rPr sz="1400" b="0" i="0">
                <a:solidFill>
                  <a:srgbClr val="11202B"/>
                </a:solidFill>
                <a:latin typeface="Malgun Gothic"/>
                <a:ea typeface="Malgun Gothic"/>
                <a:cs typeface="Malgun Gothic"/>
              </a:rPr>
              <a:t> 전사의 양, 전사체의 가공, 전사체의 수명, 번역의 효율이 모두 별개의 조절 지점이 된다. DNA에서 단백질로 바로 간다면 조절할 자리가 하나뿐이다.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원본의 보호.</a:t>
            </a:r>
            <a:r>
              <a:rPr sz="1400" b="0" i="0">
                <a:solidFill>
                  <a:srgbClr val="11202B"/>
                </a:solidFill>
                <a:latin typeface="Malgun Gothic"/>
                <a:ea typeface="Malgun Gothic"/>
                <a:cs typeface="Malgun Gothic"/>
              </a:rPr>
              <a:t> 사용되는 것은 복사본이고 원본인 DNA는 핵 안에 남는다.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RNA와 DNA의 차이는 세 가지이며, 각 차이가 기능의 차이로 이어진다.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차이 1: 당.</a:t>
            </a:r>
            <a:r>
              <a:rPr sz="1400" b="0" i="0">
                <a:solidFill>
                  <a:srgbClr val="11202B"/>
                </a:solidFill>
                <a:latin typeface="Malgun Gothic"/>
                <a:ea typeface="Malgun Gothic"/>
                <a:cs typeface="Malgun Gothic"/>
              </a:rPr>
              <a:t> RNA는 </a:t>
            </a:r>
            <a:r>
              <a:rPr sz="1400" b="1" i="0">
                <a:solidFill>
                  <a:srgbClr val="11202B"/>
                </a:solidFill>
                <a:latin typeface="Malgun Gothic"/>
                <a:ea typeface="Malgun Gothic"/>
                <a:cs typeface="Malgun Gothic"/>
              </a:rPr>
              <a:t>ribose</a:t>
            </a:r>
            <a:r>
              <a:rPr sz="1400" b="0" i="0">
                <a:solidFill>
                  <a:srgbClr val="11202B"/>
                </a:solidFill>
                <a:latin typeface="Malgun Gothic"/>
                <a:ea typeface="Malgun Gothic"/>
                <a:cs typeface="Malgun Gothic"/>
              </a:rPr>
              <a:t>, DNA는 </a:t>
            </a:r>
            <a:r>
              <a:rPr sz="1400" b="1" i="0">
                <a:solidFill>
                  <a:srgbClr val="11202B"/>
                </a:solidFill>
                <a:latin typeface="Malgun Gothic"/>
                <a:ea typeface="Malgun Gothic"/>
                <a:cs typeface="Malgun Gothic"/>
              </a:rPr>
              <a:t>deoxyribose</a:t>
            </a:r>
            <a:r>
              <a:rPr sz="1400" b="0" i="0">
                <a:solidFill>
                  <a:srgbClr val="11202B"/>
                </a:solidFill>
                <a:latin typeface="Malgun Gothic"/>
                <a:ea typeface="Malgun Gothic"/>
                <a:cs typeface="Malgun Gothic"/>
              </a:rPr>
              <a:t>를 쓴다. Ribose는 2′ 위치에 </a:t>
            </a:r>
            <a:r>
              <a:rPr sz="1400" b="1" i="0">
                <a:solidFill>
                  <a:srgbClr val="11202B"/>
                </a:solidFill>
                <a:latin typeface="Malgun Gothic"/>
                <a:ea typeface="Malgun Gothic"/>
                <a:cs typeface="Malgun Gothic"/>
              </a:rPr>
              <a:t>hydroxyl기</a:t>
            </a:r>
            <a:r>
              <a:rPr sz="1400" b="0" i="0">
                <a:solidFill>
                  <a:srgbClr val="11202B"/>
                </a:solidFill>
                <a:latin typeface="Malgun Gothic"/>
                <a:ea typeface="Malgun Gothic"/>
                <a:cs typeface="Malgun Gothic"/>
              </a:rPr>
              <a:t>를 가진다. 이 2′-OH는 두 가지 결과를 낳는다. 첫째, 인접한 인산diester 결합을 공격할 수 있어 RNA가 알칼리 조건에서 쉽게 가수분해된다. RNA가 DNA보다 불안정한 이유다. 둘째, 바로 그 반응성 때문에 RNA가 </a:t>
            </a:r>
            <a:r>
              <a:rPr sz="1400" b="1" i="0">
                <a:solidFill>
                  <a:srgbClr val="11202B"/>
                </a:solidFill>
                <a:latin typeface="Malgun Gothic"/>
                <a:ea typeface="Malgun Gothic"/>
                <a:cs typeface="Malgun Gothic"/>
              </a:rPr>
              <a:t>촉매</a:t>
            </a:r>
            <a:r>
              <a:rPr sz="1400" b="0" i="0">
                <a:solidFill>
                  <a:srgbClr val="11202B"/>
                </a:solidFill>
                <a:latin typeface="Malgun Gothic"/>
                <a:ea typeface="Malgun Gothic"/>
                <a:cs typeface="Malgun Gothic"/>
              </a:rPr>
              <a:t>로 작동할 수 있다. 2′-OH가 공격하는 기가 되기 때문이다.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차이 2: 염기.</a:t>
            </a:r>
            <a:r>
              <a:rPr sz="1400" b="0" i="0">
                <a:solidFill>
                  <a:srgbClr val="11202B"/>
                </a:solidFill>
                <a:latin typeface="Malgun Gothic"/>
                <a:ea typeface="Malgun Gothic"/>
                <a:cs typeface="Malgun Gothic"/>
              </a:rPr>
              <a:t> RNA는 thymine 대신 </a:t>
            </a:r>
            <a:r>
              <a:rPr sz="1400" b="1" i="0">
                <a:solidFill>
                  <a:srgbClr val="11202B"/>
                </a:solidFill>
                <a:latin typeface="Malgun Gothic"/>
                <a:ea typeface="Malgun Gothic"/>
                <a:cs typeface="Malgun Gothic"/>
              </a:rPr>
              <a:t>uracil</a:t>
            </a:r>
            <a:r>
              <a:rPr sz="1400" b="0" i="0">
                <a:solidFill>
                  <a:srgbClr val="11202B"/>
                </a:solidFill>
                <a:latin typeface="Malgun Gothic"/>
                <a:ea typeface="Malgun Gothic"/>
                <a:cs typeface="Malgun Gothic"/>
              </a:rPr>
              <a:t>을 쓴다. Uracil은 thymine에서 5번 탄소의 methyl기가 없는 형태다. 짝짓기 성질은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차이 3: 가닥 수.</a:t>
            </a:r>
            <a:r>
              <a:rPr sz="1400" b="0" i="0">
                <a:solidFill>
                  <a:srgbClr val="11202B"/>
                </a:solidFill>
                <a:latin typeface="Malgun Gothic"/>
                <a:ea typeface="Malgun Gothic"/>
                <a:cs typeface="Malgun Gothic"/>
              </a:rPr>
              <a:t> DNA는 이중나선이고 RNA는 보통 단일가닥이다. 단일가닥인 RNA는 자기 자신과 염기쌍을 이루어 </a:t>
            </a:r>
            <a:r>
              <a:rPr sz="1400" b="1" i="0">
                <a:solidFill>
                  <a:srgbClr val="11202B"/>
                </a:solidFill>
                <a:latin typeface="Malgun Gothic"/>
                <a:ea typeface="Malgun Gothic"/>
                <a:cs typeface="Malgun Gothic"/>
              </a:rPr>
              <a:t>입체 구조</a:t>
            </a:r>
            <a:r>
              <a:rPr sz="1400" b="0" i="0">
                <a:solidFill>
                  <a:srgbClr val="11202B"/>
                </a:solidFill>
                <a:latin typeface="Malgun Gothic"/>
                <a:ea typeface="Malgun Gothic"/>
                <a:cs typeface="Malgun Gothic"/>
              </a:rPr>
              <a:t>를 만든다. 머리핀, 고리, 가짜 매듭 같은 구조가 생기고, 이 구조가 RNA의 기능을 결정한다. tRNA의 L자 구조와 ribosome의 촉매 중심이 모두 이렇게 접힌 RNA다.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중심원리 속의 RNA와 RNA의 화학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6</a:t>
            </a:r>
          </a:p>
        </p:txBody>
      </p:sp>
      <p:pic>
        <p:nvPicPr>
          <p:cNvPr id="7" name="Picture 6" descr="fig-rna-chemistry.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RNA와 DNA의 화학적 차이와 그 결과. Ribose의 2′ hydroxyl기가 가수분해의 원인이면서 동시에 촉매 활성의 근거가 되는 양면성, uracil과 thymine의 구조 차이, 그리고 단일가닥 RNA가 자기 염기쌍으로 입체 구조를 만드는 방식을 함께 보인다.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중심원리 속의 RNA와 RNA의 화학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7</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이 절에서 기억할 핵심은 </a:t>
            </a:r>
            <a:r>
              <a:rPr sz="1600" b="1" i="0">
                <a:solidFill>
                  <a:srgbClr val="11202B"/>
                </a:solidFill>
                <a:latin typeface="Malgun Gothic"/>
                <a:ea typeface="Malgun Gothic"/>
                <a:cs typeface="Malgun Gothic"/>
              </a:rPr>
              <a:t>2′-OH 하나가 RNA의 성질 전체를 설명한다</a:t>
            </a:r>
            <a:r>
              <a:rPr sz="1600" b="0" i="0">
                <a:solidFill>
                  <a:srgbClr val="11202B"/>
                </a:solidFill>
                <a:latin typeface="Malgun Gothic"/>
                <a:ea typeface="Malgun Gothic"/>
                <a:cs typeface="Malgun Gothic"/>
              </a:rPr>
              <a:t>는 것이다. RNA가 수명이 짧은 전령으로 쓰이는 것도, RNA가 효소처럼 반응을 촉매할 수 있는 것도 같은 기에서 나온다.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RNA의 종류와 기능 분담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세포 안의 RNA는 한 종류가 아니다. 전체 RNA의 양으로 보면 rRNA가 압도적이고 mRNA는 소수다. 기능으로 분류하면 다음과 같다.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RNA의 종류와 기능 분담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RNA</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전체 RNA 중 비율</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기능</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만드는 효소</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rRNA (ribosomal RNA)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80%</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ribosome의 구조와 peptide 결합 촉매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Pol I (5S는 Pol III)</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tRNA (transfer RNA)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15%</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아미노산 운반, codon 해독</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Pol III</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mRNA (messenger RNA)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3~5%</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단백질의 아미노산 순서 지정</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Pol II</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snRNA (small nuclear RNA)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소량</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spliceosome의 구성과 촉매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Pol II</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snoRNA (small nucleolar RNA)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소량</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pre-rRNA 변형 위치 지정</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Pol II</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miRNA (microRNA)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소량</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mRNA의 번역 억제와 분해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Pol II</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lncRNA (long non-coding RNA)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소량</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염색질 조절, 골격</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Pol II</a:t>
                      </a:r>
                    </a:p>
                  </a:txBody>
                  <a:tcPr marL="73152" marR="73152"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RNA의 종류와 기능 분담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이 표에서 두 가지를 읽어야 한다.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첫째, </a:t>
            </a:r>
            <a:r>
              <a:rPr sz="2000" b="1" i="0">
                <a:solidFill>
                  <a:srgbClr val="11202B"/>
                </a:solidFill>
                <a:latin typeface="Malgun Gothic"/>
                <a:ea typeface="Malgun Gothic"/>
                <a:cs typeface="Malgun Gothic"/>
              </a:rPr>
              <a:t>단백질을 암호화하지 않는 RNA가 다수</a:t>
            </a:r>
            <a:r>
              <a:rPr sz="2000" b="0" i="0">
                <a:solidFill>
                  <a:srgbClr val="11202B"/>
                </a:solidFill>
                <a:latin typeface="Malgun Gothic"/>
                <a:ea typeface="Malgun Gothic"/>
                <a:cs typeface="Malgun Gothic"/>
              </a:rPr>
              <a:t>다. 사람 유전체에서 전사되는 영역의 대부분은 단백질을 만들지 않는다. 이 사실이 발견되기 전에는 전사의 목적이 곧 번역이라고 생각했다.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둘째, </a:t>
            </a:r>
            <a:r>
              <a:rPr sz="2000" b="1" i="0">
                <a:solidFill>
                  <a:srgbClr val="11202B"/>
                </a:solidFill>
                <a:latin typeface="Malgun Gothic"/>
                <a:ea typeface="Malgun Gothic"/>
                <a:cs typeface="Malgun Gothic"/>
              </a:rPr>
              <a:t>RNA는 전령 이상이다.</a:t>
            </a:r>
            <a:r>
              <a:rPr sz="2000" b="0" i="0">
                <a:solidFill>
                  <a:srgbClr val="11202B"/>
                </a:solidFill>
                <a:latin typeface="Malgun Gothic"/>
                <a:ea typeface="Malgun Gothic"/>
                <a:cs typeface="Malgun Gothic"/>
              </a:rPr>
              <a:t> rRNA와 snRNA는 촉매로, miRNA와 lncRNA는 조절자로, tRNA는 해독기로 작동한다. 정보 전달은 RNA가 하는 여러 일 가운데 하나다.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RNA의 종류와 기능 분담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11</a:t>
            </a:r>
          </a:p>
        </p:txBody>
      </p:sp>
      <p:pic>
        <p:nvPicPr>
          <p:cNvPr id="7" name="Picture 6" descr="fig-rna-classes.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세포 안 RNA의 종류와 기능 분담. 양으로는 rRNA가 압도적이고 mRNA는 소수라는 구성비, 각 종류를 만드는 polymerase의 분담, 그리고 정보 전달·촉매·조절·해독으로 나뉘는 기능의 범주를 함께 보인다.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000" b="1" i="0">
                <a:solidFill>
                  <a:srgbClr val="FFFFFF"/>
                </a:solidFill>
                <a:latin typeface="Malgun Gothic"/>
                <a:ea typeface="Malgun Gothic"/>
                <a:cs typeface="Malgun Gothic"/>
              </a:rPr>
              <a:t>3. 세균의 전사 — RNA polymerase와 sigma 인자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전사의 기본형을 세균에서 먼저 익힌다. 구성이 단순하고 조절이 직접적이기 때문이다.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대장균의 RNA polymerase는 </a:t>
            </a:r>
            <a:r>
              <a:rPr sz="1400" b="1" i="0">
                <a:solidFill>
                  <a:srgbClr val="11202B"/>
                </a:solidFill>
                <a:latin typeface="Malgun Gothic"/>
                <a:ea typeface="Malgun Gothic"/>
                <a:cs typeface="Malgun Gothic"/>
              </a:rPr>
              <a:t>다섯 개의 소단위</a:t>
            </a:r>
            <a:r>
              <a:rPr sz="1400" b="0" i="0">
                <a:solidFill>
                  <a:srgbClr val="11202B"/>
                </a:solidFill>
                <a:latin typeface="Malgun Gothic"/>
                <a:ea typeface="Malgun Gothic"/>
                <a:cs typeface="Malgun Gothic"/>
              </a:rPr>
              <a:t>로 된 복합체다. α 두 개, β, β′, ω가 </a:t>
            </a:r>
            <a:r>
              <a:rPr sz="1400" b="1" i="0">
                <a:solidFill>
                  <a:srgbClr val="11202B"/>
                </a:solidFill>
                <a:latin typeface="Malgun Gothic"/>
                <a:ea typeface="Malgun Gothic"/>
                <a:cs typeface="Malgun Gothic"/>
              </a:rPr>
              <a:t>core enzyme</a:t>
            </a:r>
            <a:r>
              <a:rPr sz="1400" b="0" i="0">
                <a:solidFill>
                  <a:srgbClr val="11202B"/>
                </a:solidFill>
                <a:latin typeface="Malgun Gothic"/>
                <a:ea typeface="Malgun Gothic"/>
                <a:cs typeface="Malgun Gothic"/>
              </a:rPr>
              <a:t>을 이루고, 여기에 </a:t>
            </a:r>
            <a:r>
              <a:rPr sz="1400" b="1" i="0">
                <a:solidFill>
                  <a:srgbClr val="11202B"/>
                </a:solidFill>
                <a:latin typeface="Malgun Gothic"/>
                <a:ea typeface="Malgun Gothic"/>
                <a:cs typeface="Malgun Gothic"/>
              </a:rPr>
              <a:t>sigma(σ) 인자</a:t>
            </a:r>
            <a:r>
              <a:rPr sz="1400" b="0" i="0">
                <a:solidFill>
                  <a:srgbClr val="11202B"/>
                </a:solidFill>
                <a:latin typeface="Malgun Gothic"/>
                <a:ea typeface="Malgun Gothic"/>
                <a:cs typeface="Malgun Gothic"/>
              </a:rPr>
              <a:t>가 붙으면 </a:t>
            </a:r>
            <a:r>
              <a:rPr sz="1400" b="1" i="0">
                <a:solidFill>
                  <a:srgbClr val="11202B"/>
                </a:solidFill>
                <a:latin typeface="Malgun Gothic"/>
                <a:ea typeface="Malgun Gothic"/>
                <a:cs typeface="Malgun Gothic"/>
              </a:rPr>
              <a:t>holoenzyme</a:t>
            </a:r>
            <a:r>
              <a:rPr sz="1400" b="0" i="0">
                <a:solidFill>
                  <a:srgbClr val="11202B"/>
                </a:solidFill>
                <a:latin typeface="Malgun Gothic"/>
                <a:ea typeface="Malgun Gothic"/>
                <a:cs typeface="Malgun Gothic"/>
              </a:rPr>
              <a:t>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중요한 분업이 있다. </a:t>
            </a:r>
            <a:r>
              <a:rPr sz="1400" b="1" i="0">
                <a:solidFill>
                  <a:srgbClr val="11202B"/>
                </a:solidFill>
                <a:latin typeface="Malgun Gothic"/>
                <a:ea typeface="Malgun Gothic"/>
                <a:cs typeface="Malgun Gothic"/>
              </a:rPr>
              <a:t>Core enzyme은 중합을 하지만 promoter를 찾지 못한다.</a:t>
            </a:r>
            <a:r>
              <a:rPr sz="1400" b="0" i="0">
                <a:solidFill>
                  <a:srgbClr val="11202B"/>
                </a:solidFill>
                <a:latin typeface="Malgun Gothic"/>
                <a:ea typeface="Malgun Gothic"/>
                <a:cs typeface="Malgun Gothic"/>
              </a:rPr>
              <a:t> 어디서 시작할지 아는 것은 sigma 인자다. Sigma가 붙은 holoenzyme만 올바른 지점에서 전사를 시작할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Sigma가 인식하는 것은 두 개의 보존 서열이다. 전사 시작점을 +1로 할 때 </a:t>
            </a:r>
            <a:r>
              <a:rPr sz="1400" b="1" i="0">
                <a:solidFill>
                  <a:srgbClr val="11202B"/>
                </a:solidFill>
                <a:latin typeface="Malgun Gothic"/>
                <a:ea typeface="Malgun Gothic"/>
                <a:cs typeface="Malgun Gothic"/>
              </a:rPr>
              <a:t>−10 영역(TATAAT, Pribnow box)</a:t>
            </a:r>
            <a:r>
              <a:rPr sz="1400" b="0" i="0">
                <a:solidFill>
                  <a:srgbClr val="11202B"/>
                </a:solidFill>
                <a:latin typeface="Malgun Gothic"/>
                <a:ea typeface="Malgun Gothic"/>
                <a:cs typeface="Malgun Gothic"/>
              </a:rPr>
              <a:t> 과 </a:t>
            </a:r>
            <a:r>
              <a:rPr sz="1400" b="1" i="0">
                <a:solidFill>
                  <a:srgbClr val="11202B"/>
                </a:solidFill>
                <a:latin typeface="Malgun Gothic"/>
                <a:ea typeface="Malgun Gothic"/>
                <a:cs typeface="Malgun Gothic"/>
              </a:rPr>
              <a:t>−35 영역(TTGACA)</a:t>
            </a:r>
            <a:r>
              <a:rPr sz="1400" b="0" i="0">
                <a:solidFill>
                  <a:srgbClr val="11202B"/>
                </a:solidFill>
                <a:latin typeface="Malgun Gothic"/>
                <a:ea typeface="Malgun Gothic"/>
                <a:cs typeface="Malgun Gothic"/>
              </a:rPr>
              <a:t> 이다. 두 서열이 합의 서열에 가까울수록 강한 promoter다.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전사는 세 단계로 진행한다.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개시(initiation).</a:t>
            </a:r>
            <a:r>
              <a:rPr sz="1400" b="0" i="0">
                <a:solidFill>
                  <a:srgbClr val="11202B"/>
                </a:solidFill>
                <a:latin typeface="Malgun Gothic"/>
                <a:ea typeface="Malgun Gothic"/>
                <a:cs typeface="Malgun Gothic"/>
              </a:rPr>
              <a:t> Holoenzyme이 promoter에 결합하고, DNA 약 14 염기쌍을 풀어 </a:t>
            </a:r>
            <a:r>
              <a:rPr sz="1400" b="1" i="0">
                <a:solidFill>
                  <a:srgbClr val="11202B"/>
                </a:solidFill>
                <a:latin typeface="Malgun Gothic"/>
                <a:ea typeface="Malgun Gothic"/>
                <a:cs typeface="Malgun Gothic"/>
              </a:rPr>
              <a:t>open complex</a:t>
            </a:r>
            <a:r>
              <a:rPr sz="1400" b="0" i="0">
                <a:solidFill>
                  <a:srgbClr val="11202B"/>
                </a:solidFill>
                <a:latin typeface="Malgun Gothic"/>
                <a:ea typeface="Malgun Gothic"/>
                <a:cs typeface="Malgun Gothic"/>
              </a:rPr>
              <a:t>를 만든다. 첫 nucleotide가 들어오고 사슬이 약 10 염기를 넘으면 sigma가 떨어진다.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신장(elongation).</a:t>
            </a:r>
            <a:r>
              <a:rPr sz="1400" b="0" i="0">
                <a:solidFill>
                  <a:srgbClr val="11202B"/>
                </a:solidFill>
                <a:latin typeface="Malgun Gothic"/>
                <a:ea typeface="Malgun Gothic"/>
                <a:cs typeface="Malgun Gothic"/>
              </a:rPr>
              <a:t> Core enzyme이 DNA를 따라 이동하며 3′ 방향으로 RNA를 늘린다. 속도는 초당 약 50 염기다. Polymerase가 지나간 자리에서 DNA는 다시 이중나선으로 닫힌다.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종결(termination).</a:t>
            </a:r>
            <a:r>
              <a:rPr sz="1400" b="0" i="0">
                <a:solidFill>
                  <a:srgbClr val="11202B"/>
                </a:solidFill>
                <a:latin typeface="Malgun Gothic"/>
                <a:ea typeface="Malgun Gothic"/>
                <a:cs typeface="Malgun Gothic"/>
              </a:rPr>
              <a:t> 두 방식이 있다. </a:t>
            </a:r>
            <a:r>
              <a:rPr sz="1400" b="1" i="0">
                <a:solidFill>
                  <a:srgbClr val="11202B"/>
                </a:solidFill>
                <a:latin typeface="Malgun Gothic"/>
                <a:ea typeface="Malgun Gothic"/>
                <a:cs typeface="Malgun Gothic"/>
              </a:rPr>
              <a:t>내재적 종결</a:t>
            </a:r>
            <a:r>
              <a:rPr sz="1400" b="0" i="0">
                <a:solidFill>
                  <a:srgbClr val="11202B"/>
                </a:solidFill>
                <a:latin typeface="Malgun Gothic"/>
                <a:ea typeface="Malgun Gothic"/>
                <a:cs typeface="Malgun Gothic"/>
              </a:rPr>
              <a:t>은 전사체에 GC가 풍부한 머리핀이 생기고 그 뒤에 U 연속 구간이 오면서 polymerase가 멈추는 방식이다. </a:t>
            </a:r>
            <a:r>
              <a:rPr sz="1400" b="1" i="0">
                <a:solidFill>
                  <a:srgbClr val="11202B"/>
                </a:solidFill>
                <a:latin typeface="Malgun Gothic"/>
                <a:ea typeface="Malgun Gothic"/>
                <a:cs typeface="Malgun Gothic"/>
              </a:rPr>
              <a:t>Rho 의존 종결</a:t>
            </a:r>
            <a:r>
              <a:rPr sz="1400" b="0" i="0">
                <a:solidFill>
                  <a:srgbClr val="11202B"/>
                </a:solidFill>
                <a:latin typeface="Malgun Gothic"/>
                <a:ea typeface="Malgun Gothic"/>
                <a:cs typeface="Malgun Gothic"/>
              </a:rPr>
              <a:t>은 Rho 단백질이 전사체를 따라 올라가 polymerase를 떼어내는 방식이다.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세균에서는 </a:t>
            </a:r>
            <a:r>
              <a:rPr sz="1400" b="1" i="0">
                <a:solidFill>
                  <a:srgbClr val="11202B"/>
                </a:solidFill>
                <a:latin typeface="Malgun Gothic"/>
                <a:ea typeface="Malgun Gothic"/>
                <a:cs typeface="Malgun Gothic"/>
              </a:rPr>
              <a:t>전사와 번역이 동시에 일어난다.</a:t>
            </a:r>
            <a:r>
              <a:rPr sz="1400" b="0" i="0">
                <a:solidFill>
                  <a:srgbClr val="11202B"/>
                </a:solidFill>
                <a:latin typeface="Malgun Gothic"/>
                <a:ea typeface="Malgun Gothic"/>
                <a:cs typeface="Malgun Gothic"/>
              </a:rPr>
              <a:t> 핵막이 없으므로 전사체의 5′ 쪽에 이미 ribosome이 붙어 번역이 시작된다. 이 결합이 진핵세포와의 가장 큰 차이이며, 다음 절에서 다룰 가공의 필요성이 세균에는 없는 이유다.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000" b="1" i="0">
                <a:solidFill>
                  <a:srgbClr val="FFFFFF"/>
                </a:solidFill>
                <a:latin typeface="Malgun Gothic"/>
                <a:ea typeface="Malgun Gothic"/>
                <a:cs typeface="Malgun Gothic"/>
              </a:rPr>
              <a:t>3. 세균의 전사 — RNA polymerase와 sigma 인자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13</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 </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Rifampicin</a:t>
            </a:r>
            <a:r>
              <a:rPr sz="1600" b="0" i="0">
                <a:solidFill>
                  <a:srgbClr val="11202B"/>
                </a:solidFill>
                <a:latin typeface="Malgun Gothic"/>
                <a:ea typeface="Malgun Gothic"/>
                <a:cs typeface="Malgun Gothic"/>
              </a:rPr>
              <a:t>은 세균 RNA polymerase의 β 소단위에 결합해 전사 개시를 차단한다. 사람의 RNA polymerase에는 결합하지 않으므로 선택적 항균제가 된다. 결핵 치료의 핵심 약물이고 수막염균 접촉자 예방에도 쓰인다. 내성은 대개 β 소단위를 암호화하는 </a:t>
            </a:r>
            <a:r>
              <a:rPr sz="1600" b="1" i="0">
                <a:solidFill>
                  <a:srgbClr val="11202B"/>
                </a:solidFill>
                <a:latin typeface="Malgun Gothic"/>
                <a:ea typeface="Malgun Gothic"/>
                <a:cs typeface="Malgun Gothic"/>
              </a:rPr>
              <a:t>rpoB</a:t>
            </a:r>
            <a:r>
              <a:rPr sz="1600" b="0" i="0">
                <a:solidFill>
                  <a:srgbClr val="11202B"/>
                </a:solidFill>
                <a:latin typeface="Malgun Gothic"/>
                <a:ea typeface="Malgun Gothic"/>
                <a:cs typeface="Malgun Gothic"/>
              </a:rPr>
              <a:t> 유전자의 변이로 생기며, 신속 분자진단에서 rpoB 변이를 보는 것이 rifampicin 내성 결핵을 빠르게 가려내는 방법이다. 약물이 작용하는 분자 지점을 알면 내성의 유전적 위치도 예측된다는 점을 보여주는 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000" b="1" i="0">
                <a:solidFill>
                  <a:srgbClr val="FFFFFF"/>
                </a:solidFill>
                <a:latin typeface="Malgun Gothic"/>
                <a:ea typeface="Malgun Gothic"/>
                <a:cs typeface="Malgun Gothic"/>
              </a:rPr>
              <a:t>3. 세균의 전사 — RNA polymerase와 sigma 인자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14</a:t>
            </a:r>
          </a:p>
        </p:txBody>
      </p:sp>
      <p:pic>
        <p:nvPicPr>
          <p:cNvPr id="7" name="Picture 6" descr="fig-bacterial-transcription.slide.png"/>
          <p:cNvPicPr>
            <a:picLocks noChangeAspect="1"/>
          </p:cNvPicPr>
          <p:nvPr/>
        </p:nvPicPr>
        <p:blipFill>
          <a:blip r:embed="rId2"/>
          <a:stretch>
            <a:fillRect/>
          </a:stretch>
        </p:blipFill>
        <p:spPr>
          <a:xfrm>
            <a:off x="2029686" y="1325880"/>
            <a:ext cx="813232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세균 전사의 구성과 세 단계. Core enzyme과 sigma 인자의 분업, −35와 −10 영역의 위치, open complex 형성에서 sigma 방출까지의 개시 과정, 신장과 두 가지 종결 방식, 그리고 전사와 번역이 같은 공간에서 겹치는 배치를 함께 보인다.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진핵세포의 세 가지 핵 RNA polymerase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진핵세포는 하나의 RNA polymerase로 모든 RNA를 만들지 않는다. 핵 안에 </a:t>
            </a:r>
            <a:r>
              <a:rPr sz="2000" b="1" i="0">
                <a:solidFill>
                  <a:srgbClr val="11202B"/>
                </a:solidFill>
                <a:latin typeface="Malgun Gothic"/>
                <a:ea typeface="Malgun Gothic"/>
                <a:cs typeface="Malgun Gothic"/>
              </a:rPr>
              <a:t>세 가지</a:t>
            </a:r>
            <a:r>
              <a:rPr sz="2000" b="0" i="0">
                <a:solidFill>
                  <a:srgbClr val="11202B"/>
                </a:solidFill>
                <a:latin typeface="Malgun Gothic"/>
                <a:ea typeface="Malgun Gothic"/>
                <a:cs typeface="Malgun Gothic"/>
              </a:rPr>
              <a:t>가 있고, 각자 다른 유전자를 담당한다.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진핵세포의 세 가지 핵 RNA polymerase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16</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구분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Pol I</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Pol II</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Pol III</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산물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45S pre-rRNA (18S, 5.8S, 28S)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mRNA, snRNA, snoRNA, miRNA, lncRNA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tRNA, 5S rRNA, 일부 snRNA</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위치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nucleolus</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핵질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핵질</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promoter 요소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core 요소, upstream 조절 요소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TATA box, Inr, 기타 core promoter 요소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유전자 내부 또는 상류</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α-amanitin 감수성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저항</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매우 민감</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중간</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전체 전사 활성 중 비율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가장 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중간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중간</a:t>
                      </a:r>
                    </a:p>
                  </a:txBody>
                  <a:tcPr marL="73152" marR="73152" marT="27432" marB="27432">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진핵세포의 세 가지 핵 RNA polymerase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분담에서 읽어야 할 점이 있다.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Pol I은 한 종류의 유전자만 전사한다.</a:t>
            </a:r>
            <a:r>
              <a:rPr sz="1600" b="0" i="0">
                <a:solidFill>
                  <a:srgbClr val="11202B"/>
                </a:solidFill>
                <a:latin typeface="Malgun Gothic"/>
                <a:ea typeface="Malgun Gothic"/>
                <a:cs typeface="Malgun Gothic"/>
              </a:rPr>
              <a:t> rRNA 유전자는 수백 개의 사본이 연속해 배열되어 있고, Pol I이 그 위에 빽빽하게 달라붙어 동시에 전사한다. 세포가 ribosome을 끊임없이 만들어야 하므로 전체 전사 활성 중 가장 큰 몫을 차지한다.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Pol II가 조절의 중심이다.</a:t>
            </a:r>
            <a:r>
              <a:rPr sz="1600" b="0" i="0">
                <a:solidFill>
                  <a:srgbClr val="11202B"/>
                </a:solidFill>
                <a:latin typeface="Malgun Gothic"/>
                <a:ea typeface="Malgun Gothic"/>
                <a:cs typeface="Malgun Gothic"/>
              </a:rPr>
              <a:t> 단백질을 암호화하는 모든 유전자와 조절 RNA의 대부분을 담당하므로, 유전자 발현 조절을 말할 때 대상은 거의 언제나 Pol II다.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Pol III는 짧은 RNA를 담당한다.</a:t>
            </a:r>
            <a:r>
              <a:rPr sz="1600" b="0" i="0">
                <a:solidFill>
                  <a:srgbClr val="11202B"/>
                </a:solidFill>
                <a:latin typeface="Malgun Gothic"/>
                <a:ea typeface="Malgun Gothic"/>
                <a:cs typeface="Malgun Gothic"/>
              </a:rPr>
              <a:t> 특이한 점은 promoter가 유전자 </a:t>
            </a:r>
            <a:r>
              <a:rPr sz="1600" b="1" i="0">
                <a:solidFill>
                  <a:srgbClr val="11202B"/>
                </a:solidFill>
                <a:latin typeface="Malgun Gothic"/>
                <a:ea typeface="Malgun Gothic"/>
                <a:cs typeface="Malgun Gothic"/>
              </a:rPr>
              <a:t>내부</a:t>
            </a:r>
            <a:r>
              <a:rPr sz="1600" b="0" i="0">
                <a:solidFill>
                  <a:srgbClr val="11202B"/>
                </a:solidFill>
                <a:latin typeface="Malgun Gothic"/>
                <a:ea typeface="Malgun Gothic"/>
                <a:cs typeface="Malgun Gothic"/>
              </a:rPr>
              <a:t>에 있는 경우가 있다는 것이다. 전사될 영역 자체가 결합 신호를 포함한다.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세 polymerase 모두 세균과 다른 공통점이 있다. </a:t>
            </a:r>
            <a:r>
              <a:rPr sz="1600" b="1" i="0">
                <a:solidFill>
                  <a:srgbClr val="11202B"/>
                </a:solidFill>
                <a:latin typeface="Malgun Gothic"/>
                <a:ea typeface="Malgun Gothic"/>
                <a:cs typeface="Malgun Gothic"/>
              </a:rPr>
              <a:t>promoter에 직접 결합하지 못한다.</a:t>
            </a:r>
            <a:r>
              <a:rPr sz="1600" b="0" i="0">
                <a:solidFill>
                  <a:srgbClr val="11202B"/>
                </a:solidFill>
                <a:latin typeface="Malgun Gothic"/>
                <a:ea typeface="Malgun Gothic"/>
                <a:cs typeface="Malgun Gothic"/>
              </a:rPr>
              <a:t> 별도의 단백질이 먼저 결합해 자리를 만들어 주어야 하고, 그 단백질을 </a:t>
            </a:r>
            <a:r>
              <a:rPr sz="1600" b="1" i="0">
                <a:solidFill>
                  <a:srgbClr val="11202B"/>
                </a:solidFill>
                <a:latin typeface="Malgun Gothic"/>
                <a:ea typeface="Malgun Gothic"/>
                <a:cs typeface="Malgun Gothic"/>
              </a:rPr>
              <a:t>general transcription factor</a:t>
            </a:r>
            <a:r>
              <a:rPr sz="1600" b="0" i="0">
                <a:solidFill>
                  <a:srgbClr val="11202B"/>
                </a:solidFill>
                <a:latin typeface="Malgun Gothic"/>
                <a:ea typeface="Malgun Gothic"/>
                <a:cs typeface="Malgun Gothic"/>
              </a:rPr>
              <a:t>라 부른다. 세균의 sigma 인자가 polymerase의 한 부분이었던 것과 달리, 진핵세포에서는 그 역할이 독립된 여러 단백질로 나뉘어 있다. 조절할 수 있는 지점이 그만큼 늘어난다.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진핵세포의 세 가지 핵 RNA polymerase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18</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 </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α-amanitin</a:t>
            </a:r>
            <a:r>
              <a:rPr sz="1600" b="0" i="0">
                <a:solidFill>
                  <a:srgbClr val="11202B"/>
                </a:solidFill>
                <a:latin typeface="Malgun Gothic"/>
                <a:ea typeface="Malgun Gothic"/>
                <a:cs typeface="Malgun Gothic"/>
              </a:rPr>
              <a:t>은 독우산광대버섯 등 Amanita 속 독버섯의 독소로, Pol II에 결합해 신장을 멈춘다. 중독의 임상 경과가 분자 기전과 정확히 맞아떨어진다. 섭취 후 6~12시간 동안은 위장관 증상만 나타나고 환자는 회복한 듯 보인다. 그러나 이미 간세포에서 mRNA 합성이 멈추어 있고, 기존 mRNA와 단백질이 소모되는 2~4일째에 급성 간부전이 나타난다. </a:t>
            </a:r>
            <a:r>
              <a:rPr sz="1600" b="1" i="0">
                <a:solidFill>
                  <a:srgbClr val="11202B"/>
                </a:solidFill>
                <a:latin typeface="Malgun Gothic"/>
                <a:ea typeface="Malgun Gothic"/>
                <a:cs typeface="Malgun Gothic"/>
              </a:rPr>
              <a:t>잠복기가 긴 이유가 전사 차단과 단백질 소모 사이의 시간차</a:t>
            </a:r>
            <a:r>
              <a:rPr sz="1600" b="0" i="0">
                <a:solidFill>
                  <a:srgbClr val="11202B"/>
                </a:solidFill>
                <a:latin typeface="Malgun Gothic"/>
                <a:ea typeface="Malgun Gothic"/>
                <a:cs typeface="Malgun Gothic"/>
              </a:rPr>
              <a:t>이며, 이 때문에 초기 진료에서 중증도를 과소평가하기 쉽다.</a:t>
            </a:r>
          </a:p>
        </p:txBody>
      </p:sp>
      <p:sp>
        <p:nvSpPr>
          <p:cNvPr id="8" name="Rectangle 7"/>
          <p:cNvSpPr/>
          <p:nvPr/>
        </p:nvSpPr>
        <p:spPr>
          <a:xfrm>
            <a:off x="640080" y="3144520"/>
            <a:ext cx="10881360" cy="256540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전사를 막는 약과 독소를 작용 지점으로 구별하는 문제가 반복된다. </a:t>
            </a:r>
            <a:r>
              <a:rPr sz="1600" b="1" i="0">
                <a:solidFill>
                  <a:srgbClr val="11202B"/>
                </a:solidFill>
                <a:latin typeface="Malgun Gothic"/>
                <a:ea typeface="Malgun Gothic"/>
                <a:cs typeface="Malgun Gothic"/>
              </a:rPr>
              <a:t>Rifampicin</a:t>
            </a:r>
            <a:r>
              <a:rPr sz="1600" b="0" i="0">
                <a:solidFill>
                  <a:srgbClr val="11202B"/>
                </a:solidFill>
                <a:latin typeface="Malgun Gothic"/>
                <a:ea typeface="Malgun Gothic"/>
                <a:cs typeface="Malgun Gothic"/>
              </a:rPr>
              <a:t>은 세균 RNA polymerase의 β 소단위에 결합해 개시를 막으므로 사람 세포에는 작용하지 않는다. </a:t>
            </a:r>
            <a:r>
              <a:rPr sz="1600" b="1" i="0">
                <a:solidFill>
                  <a:srgbClr val="11202B"/>
                </a:solidFill>
                <a:latin typeface="Malgun Gothic"/>
                <a:ea typeface="Malgun Gothic"/>
                <a:cs typeface="Malgun Gothic"/>
              </a:rPr>
              <a:t>α-amanitin</a:t>
            </a:r>
            <a:r>
              <a:rPr sz="1600" b="0" i="0">
                <a:solidFill>
                  <a:srgbClr val="11202B"/>
                </a:solidFill>
                <a:latin typeface="Malgun Gothic"/>
                <a:ea typeface="Malgun Gothic"/>
                <a:cs typeface="Malgun Gothic"/>
              </a:rPr>
              <a:t>은 진핵 Pol II의 신장을 막으므로 mRNA 합성이 멈추고, Pol I은 영향을 받지 않아 rRNA 합성은 한동안 계속된다. </a:t>
            </a:r>
            <a:r>
              <a:rPr sz="1600" b="1" i="0">
                <a:solidFill>
                  <a:srgbClr val="11202B"/>
                </a:solidFill>
                <a:latin typeface="Malgun Gothic"/>
                <a:ea typeface="Malgun Gothic"/>
                <a:cs typeface="Malgun Gothic"/>
              </a:rPr>
              <a:t>Actinomycin D</a:t>
            </a:r>
            <a:r>
              <a:rPr sz="1600" b="0" i="0">
                <a:solidFill>
                  <a:srgbClr val="11202B"/>
                </a:solidFill>
                <a:latin typeface="Malgun Gothic"/>
                <a:ea typeface="Malgun Gothic"/>
                <a:cs typeface="Malgun Gothic"/>
              </a:rPr>
              <a:t>는 DNA의 작은 홈에 끼어들어 모든 polymerase의 진행을 막되 낮은 농도에서는 rRNA 유전자처럼 전사량이 많은 구간에 먼저 영향을 주므로, 실험에서 Pol I을 선택적으로 억제하는 데 쓰였다. </a:t>
            </a:r>
            <a:r>
              <a:rPr sz="1600" b="1" i="0">
                <a:solidFill>
                  <a:srgbClr val="11202B"/>
                </a:solidFill>
                <a:latin typeface="Malgun Gothic"/>
                <a:ea typeface="Malgun Gothic"/>
                <a:cs typeface="Malgun Gothic"/>
              </a:rPr>
              <a:t>Fluoroquinolone</a:t>
            </a:r>
            <a:r>
              <a:rPr sz="1600" b="0" i="0">
                <a:solidFill>
                  <a:srgbClr val="11202B"/>
                </a:solidFill>
                <a:latin typeface="Malgun Gothic"/>
                <a:ea typeface="Malgun Gothic"/>
                <a:cs typeface="Malgun Gothic"/>
              </a:rPr>
              <a:t>과 </a:t>
            </a:r>
            <a:r>
              <a:rPr sz="1600" b="1" i="0">
                <a:solidFill>
                  <a:srgbClr val="11202B"/>
                </a:solidFill>
                <a:latin typeface="Malgun Gothic"/>
                <a:ea typeface="Malgun Gothic"/>
                <a:cs typeface="Malgun Gothic"/>
              </a:rPr>
              <a:t>doxorubicin</a:t>
            </a:r>
            <a:r>
              <a:rPr sz="1600" b="0" i="0">
                <a:solidFill>
                  <a:srgbClr val="11202B"/>
                </a:solidFill>
                <a:latin typeface="Malgun Gothic"/>
                <a:ea typeface="Malgun Gothic"/>
                <a:cs typeface="Malgun Gothic"/>
              </a:rPr>
              <a:t>은 전사가 아니라 topoisomerase를 표적으로 하므로 이 목록에 들어가지 않는다. 요구되는 구별은 (1) 원핵과 진핵 가운데 어느 효소인가, (2) 개시인가 신장인가, (3) 효소에 붙는가 DNA에 붙는가의 세 축이다.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진핵세포의 세 가지 핵 RNA polymerase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19</a:t>
            </a:r>
          </a:p>
        </p:txBody>
      </p:sp>
      <p:pic>
        <p:nvPicPr>
          <p:cNvPr id="7" name="Picture 6" descr="fig-three-polymerases.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진핵세포 세 RNA polymerase의 분담. 각 효소의 산물과 세포 내 위치, rRNA 유전자의 연속 배열에 Pol I이 빽빽하게 결합하는 배치, Pol III의 유전자 내부 promoter, 그리고 α-amanitin 감수성의 차이를 함께 보인다.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Pol II의 전사 개시 — preinitiation complex의 조립</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Pol II가 promoter에 앉는 과정은 정해진 순서가 있다. 이 순서를 외우는 것이 아니라 </a:t>
            </a:r>
            <a:r>
              <a:rPr sz="1400" b="1" i="0">
                <a:solidFill>
                  <a:srgbClr val="11202B"/>
                </a:solidFill>
                <a:latin typeface="Malgun Gothic"/>
                <a:ea typeface="Malgun Gothic"/>
                <a:cs typeface="Malgun Gothic"/>
              </a:rPr>
              <a:t>왜 순서가 있는지</a:t>
            </a:r>
            <a:r>
              <a:rPr sz="1400" b="0" i="0">
                <a:solidFill>
                  <a:srgbClr val="11202B"/>
                </a:solidFill>
                <a:latin typeface="Malgun Gothic"/>
                <a:ea typeface="Malgun Gothic"/>
                <a:cs typeface="Malgun Gothic"/>
              </a:rPr>
              <a:t>를 이해해야 한다. 각 인자가 다음 인자의 결합 자리를 만들기 때문이다.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 시작점 상류 약 −25에 </a:t>
            </a:r>
            <a:r>
              <a:rPr sz="1400" b="1" i="0">
                <a:solidFill>
                  <a:srgbClr val="11202B"/>
                </a:solidFill>
                <a:latin typeface="Malgun Gothic"/>
                <a:ea typeface="Malgun Gothic"/>
                <a:cs typeface="Malgun Gothic"/>
              </a:rPr>
              <a:t>TATA box</a:t>
            </a:r>
            <a:r>
              <a:rPr sz="1400" b="0" i="0">
                <a:solidFill>
                  <a:srgbClr val="11202B"/>
                </a:solidFill>
                <a:latin typeface="Malgun Gothic"/>
                <a:ea typeface="Malgun Gothic"/>
                <a:cs typeface="Malgun Gothic"/>
              </a:rPr>
              <a:t>가 있다. 여기에 결합하는 것이 첫 단계다.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TFIID.</a:t>
            </a:r>
            <a:r>
              <a:rPr sz="1400" b="0" i="0">
                <a:solidFill>
                  <a:srgbClr val="11202B"/>
                </a:solidFill>
                <a:latin typeface="Malgun Gothic"/>
                <a:ea typeface="Malgun Gothic"/>
                <a:cs typeface="Malgun Gothic"/>
              </a:rPr>
              <a:t> 구성 요소인 </a:t>
            </a:r>
            <a:r>
              <a:rPr sz="1400" b="1" i="0">
                <a:solidFill>
                  <a:srgbClr val="11202B"/>
                </a:solidFill>
                <a:latin typeface="Malgun Gothic"/>
                <a:ea typeface="Malgun Gothic"/>
                <a:cs typeface="Malgun Gothic"/>
              </a:rPr>
              <a:t>TBP(TATA-binding protein)</a:t>
            </a:r>
            <a:r>
              <a:rPr sz="1400" b="0" i="0">
                <a:solidFill>
                  <a:srgbClr val="11202B"/>
                </a:solidFill>
                <a:latin typeface="Malgun Gothic"/>
                <a:ea typeface="Malgun Gothic"/>
                <a:cs typeface="Malgun Gothic"/>
              </a:rPr>
              <a:t> 가 TATA box에 결합한다. TBP는 DNA의 작은 홈에 끼어들어 DNA를 약 80° 구부린다. 이 굽힘이 다음 인자들이 모일 수 있는 기하 구조를 만든다. TATA box가 없는 promoter에서는 TFIID의 다른 소단위(TAF)가 다른 core promoter 요소를 인식한다.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TFIIB.</a:t>
            </a:r>
            <a:r>
              <a:rPr sz="1400" b="0" i="0">
                <a:solidFill>
                  <a:srgbClr val="11202B"/>
                </a:solidFill>
                <a:latin typeface="Malgun Gothic"/>
                <a:ea typeface="Malgun Gothic"/>
                <a:cs typeface="Malgun Gothic"/>
              </a:rPr>
              <a:t> TBP에 붙어 방향을 정한다. TFIIB의 결합 위치가 전사가 어느 쪽으로 진행할지를 결정한다.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TFIIF와 Pol II.</a:t>
            </a:r>
            <a:r>
              <a:rPr sz="1400" b="0" i="0">
                <a:solidFill>
                  <a:srgbClr val="11202B"/>
                </a:solidFill>
                <a:latin typeface="Malgun Gothic"/>
                <a:ea typeface="Malgun Gothic"/>
                <a:cs typeface="Malgun Gothic"/>
              </a:rPr>
              <a:t> TFIIF가 Pol II와 함께 들어와 TFIIB가 만든 자리에 polymerase를 앉힌다.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TFIIE.</a:t>
            </a:r>
            <a:r>
              <a:rPr sz="1400" b="0" i="0">
                <a:solidFill>
                  <a:srgbClr val="11202B"/>
                </a:solidFill>
                <a:latin typeface="Malgun Gothic"/>
                <a:ea typeface="Malgun Gothic"/>
                <a:cs typeface="Malgun Gothic"/>
              </a:rPr>
              <a:t> 다음 인자를 불러들인다.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TFIIH.</a:t>
            </a:r>
            <a:r>
              <a:rPr sz="1400" b="0" i="0">
                <a:solidFill>
                  <a:srgbClr val="11202B"/>
                </a:solidFill>
                <a:latin typeface="Malgun Gothic"/>
                <a:ea typeface="Malgun Gothic"/>
                <a:cs typeface="Malgun Gothic"/>
              </a:rPr>
              <a:t> 두 가지 효소 활성을 가진다. </a:t>
            </a:r>
            <a:r>
              <a:rPr sz="1400" b="1" i="0">
                <a:solidFill>
                  <a:srgbClr val="11202B"/>
                </a:solidFill>
                <a:latin typeface="Malgun Gothic"/>
                <a:ea typeface="Malgun Gothic"/>
                <a:cs typeface="Malgun Gothic"/>
              </a:rPr>
              <a:t>Helicase</a:t>
            </a:r>
            <a:r>
              <a:rPr sz="1400" b="0" i="0">
                <a:solidFill>
                  <a:srgbClr val="11202B"/>
                </a:solidFill>
                <a:latin typeface="Malgun Gothic"/>
                <a:ea typeface="Malgun Gothic"/>
                <a:cs typeface="Malgun Gothic"/>
              </a:rPr>
              <a:t> 활성으로 전사 시작점의 DNA를 풀어 주형 가닥을 노출시키고, </a:t>
            </a:r>
            <a:r>
              <a:rPr sz="1400" b="1" i="0">
                <a:solidFill>
                  <a:srgbClr val="11202B"/>
                </a:solidFill>
                <a:latin typeface="Malgun Gothic"/>
                <a:ea typeface="Malgun Gothic"/>
                <a:cs typeface="Malgun Gothic"/>
              </a:rPr>
              <a:t>kinase</a:t>
            </a:r>
            <a:r>
              <a:rPr sz="1400" b="0" i="0">
                <a:solidFill>
                  <a:srgbClr val="11202B"/>
                </a:solidFill>
                <a:latin typeface="Malgun Gothic"/>
                <a:ea typeface="Malgun Gothic"/>
                <a:cs typeface="Malgun Gothic"/>
              </a:rPr>
              <a:t> 활성으로 Pol II의 </a:t>
            </a:r>
            <a:r>
              <a:rPr sz="1400" b="1" i="0">
                <a:solidFill>
                  <a:srgbClr val="11202B"/>
                </a:solidFill>
                <a:latin typeface="Malgun Gothic"/>
                <a:ea typeface="Malgun Gothic"/>
                <a:cs typeface="Malgun Gothic"/>
              </a:rPr>
              <a:t>C 말단 꼬리(CTD)</a:t>
            </a:r>
            <a:r>
              <a:rPr sz="1400" b="0" i="0">
                <a:solidFill>
                  <a:srgbClr val="11202B"/>
                </a:solidFill>
                <a:latin typeface="Malgun Gothic"/>
                <a:ea typeface="Malgun Gothic"/>
                <a:cs typeface="Malgun Gothic"/>
              </a:rPr>
              <a:t> 를 인산화한다. 인산화가 일어나면 Pol II가 개시 복합체에서 풀려나 신장으로 전환한다.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여기까지 조립된 것을 </a:t>
            </a:r>
            <a:r>
              <a:rPr sz="1400" b="1" i="0">
                <a:solidFill>
                  <a:srgbClr val="11202B"/>
                </a:solidFill>
                <a:latin typeface="Malgun Gothic"/>
                <a:ea typeface="Malgun Gothic"/>
                <a:cs typeface="Malgun Gothic"/>
              </a:rPr>
              <a:t>preinitiation complex(PIC)</a:t>
            </a:r>
            <a:r>
              <a:rPr sz="1400" b="0" i="0">
                <a:solidFill>
                  <a:srgbClr val="11202B"/>
                </a:solidFill>
                <a:latin typeface="Malgun Gothic"/>
                <a:ea typeface="Malgun Gothic"/>
                <a:cs typeface="Malgun Gothic"/>
              </a:rPr>
              <a:t> 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CTD의 인산화는 단순한 출발 신호가 아니다. 인산화된 CTD는 가공 인자들이 붙는 </a:t>
            </a:r>
            <a:r>
              <a:rPr sz="1400" b="1" i="0">
                <a:solidFill>
                  <a:srgbClr val="11202B"/>
                </a:solidFill>
                <a:latin typeface="Malgun Gothic"/>
                <a:ea typeface="Malgun Gothic"/>
                <a:cs typeface="Malgun Gothic"/>
              </a:rPr>
              <a:t>플랫폼</a:t>
            </a:r>
            <a:r>
              <a:rPr sz="1400" b="0" i="0">
                <a:solidFill>
                  <a:srgbClr val="11202B"/>
                </a:solidFill>
                <a:latin typeface="Malgun Gothic"/>
                <a:ea typeface="Malgun Gothic"/>
                <a:cs typeface="Malgun Gothic"/>
              </a:rPr>
              <a:t>이 된다. 전사가 진행되는 동안 CTD의 인산화 양상이 바뀌면서 cap을 붙이는 효소, splicing 인자, 3′ 말단 가공 인자가 차례로 불려 온다. 전사와 가공이 하나로 묶이는 구조적 근거가 여기에 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Pol II의 전사 개시 — preinitiation complex의 조립</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21</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인자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역할</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TFIID (TBP)</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TATA box 결합, DNA 굽힘</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TFIIB</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방향 결정, Pol II 결합 자리 제공</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TFIIF</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Pol II와 함께 진입</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TFIIE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TFIIH 모집</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TFIIH</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DNA 풀기(helicase), CTD 인산화(kinase)</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Mediator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조절 인자의 신호를 PIC에 전달한다</a:t>
                      </a:r>
                    </a:p>
                  </a:txBody>
                  <a:tcPr marL="73152" marR="73152" marT="27432" marB="27432">
                    <a:solidFill>
                      <a:srgbClr val="EFF4F8"/>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Pol II의 전사 개시 — preinitiation complex의 조립</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조립된 복합체가 곧바로 멀리 가는 것은 아니다. 포유류 유전자에서 Pol II는 전사 시작점에서 20~60 nucleotide 지점까지 진행한 뒤 </a:t>
            </a:r>
            <a:r>
              <a:rPr sz="1400" b="1" i="0">
                <a:solidFill>
                  <a:srgbClr val="11202B"/>
                </a:solidFill>
                <a:latin typeface="Malgun Gothic"/>
                <a:ea typeface="Malgun Gothic"/>
                <a:cs typeface="Malgun Gothic"/>
              </a:rPr>
              <a:t>멈춘 상태로 대기한다.</a:t>
            </a:r>
            <a:r>
              <a:rPr sz="1400" b="0" i="0">
                <a:solidFill>
                  <a:srgbClr val="11202B"/>
                </a:solidFill>
                <a:latin typeface="Malgun Gothic"/>
                <a:ea typeface="Malgun Gothic"/>
                <a:cs typeface="Malgun Gothic"/>
              </a:rPr>
              <a:t> DSIF와 NELF가 이 정지를 유지하고, 신호가 오면 CDK9을 가진 </a:t>
            </a:r>
            <a:r>
              <a:rPr sz="1400" b="1" i="0">
                <a:solidFill>
                  <a:srgbClr val="11202B"/>
                </a:solidFill>
                <a:latin typeface="Malgun Gothic"/>
                <a:ea typeface="Malgun Gothic"/>
                <a:cs typeface="Malgun Gothic"/>
              </a:rPr>
              <a:t>P-TEFb</a:t>
            </a:r>
            <a:r>
              <a:rPr sz="1400" b="0" i="0">
                <a:solidFill>
                  <a:srgbClr val="11202B"/>
                </a:solidFill>
                <a:latin typeface="Malgun Gothic"/>
                <a:ea typeface="Malgun Gothic"/>
                <a:cs typeface="Malgun Gothic"/>
              </a:rPr>
              <a:t>가 NELF와 CTD의 Ser2를 인산화해 정지를 풀고 신장으로 전환한다. 이 </a:t>
            </a:r>
            <a:r>
              <a:rPr sz="1400" b="1" i="0">
                <a:solidFill>
                  <a:srgbClr val="11202B"/>
                </a:solidFill>
                <a:latin typeface="Malgun Gothic"/>
                <a:ea typeface="Malgun Gothic"/>
                <a:cs typeface="Malgun Gothic"/>
              </a:rPr>
              <a:t>promoter-proximal pausing</a:t>
            </a:r>
            <a:r>
              <a:rPr sz="1400" b="0" i="0">
                <a:solidFill>
                  <a:srgbClr val="11202B"/>
                </a:solidFill>
                <a:latin typeface="Malgun Gothic"/>
                <a:ea typeface="Malgun Gothic"/>
                <a:cs typeface="Malgun Gothic"/>
              </a:rPr>
              <a:t>이 중요한 이유는 조절의 위치를 옮겨 놓는다는 점이다. 많은 유전자에서 조절 대상은 "Pol II가 앉는가"가 아니라 "앉아서 대기하던 Pol II가 풀리는가"이며, 그래서 자극에 수 분 안에 반응해야 하는 유전자가 미리 Pol II를 대기시켜 둔다. Heat shock 유전자와 즉각 초기 유전자가 그 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CTD의 인산화는 전사가 진행되는 동안 </a:t>
            </a:r>
            <a:r>
              <a:rPr sz="1400" b="1" i="0">
                <a:solidFill>
                  <a:srgbClr val="11202B"/>
                </a:solidFill>
                <a:latin typeface="Malgun Gothic"/>
                <a:ea typeface="Malgun Gothic"/>
                <a:cs typeface="Malgun Gothic"/>
              </a:rPr>
              <a:t>차례로 바뀌는 부호</a:t>
            </a:r>
            <a:r>
              <a:rPr sz="1400" b="0" i="0">
                <a:solidFill>
                  <a:srgbClr val="11202B"/>
                </a:solidFill>
                <a:latin typeface="Malgun Gothic"/>
                <a:ea typeface="Malgun Gothic"/>
                <a:cs typeface="Malgun Gothic"/>
              </a:rPr>
              <a:t>로 작동한다. 개시 직후에는 TFIIH의 CDK7이 Ser5를 인산화하고 이 상태의 CTD에 capping 효소가 붙으며, 신장으로 들어가면 Ser2 인산화가 늘어나 splicing 인자와 3′ 말단 가공 인자가 실린다. 전사가 종결 구간에 이르면 절단·polyadenylation 인자가 전사체를 자르고, 남은 전사체가 분해되며 Pol II가 떨어진다. 즉 </a:t>
            </a:r>
            <a:r>
              <a:rPr sz="1400" b="1" i="0">
                <a:solidFill>
                  <a:srgbClr val="11202B"/>
                </a:solidFill>
                <a:latin typeface="Malgun Gothic"/>
                <a:ea typeface="Malgun Gothic"/>
                <a:cs typeface="Malgun Gothic"/>
              </a:rPr>
              <a:t>하나의 꼬리에 실린 인산화 양상이 가공의 시간표를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신장은 nucleosome을 통과해야 하는 과정이기도 하다. FACT 같은 histone chaperone이 Pol II 앞의 nucleosome을 일시적으로 해체하고 뒤에서 다시 조립하며, 이 과정이 실패하면 전사가 지나간 구간에서 부적절한 전사 개시가 일어난다. 신장 속도는 평균 초당 약 2 kb 정도이고, 속도가 느려지면 약한 splice site가 쓰일 시간이 길어져 splicing의 결과까지 달라진다. 전사와 가공이 분리될 수 없다는 사실이 여기서도 나타난다.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Pol II의 전사 개시 — preinitiation complex의 조립</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23</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 </a:t>
            </a:r>
            <a:r>
              <a:rPr sz="1600" b="0" i="0">
                <a:solidFill>
                  <a:srgbClr val="11202B"/>
                </a:solidFill>
                <a:latin typeface="Malgun Gothic"/>
                <a:ea typeface="Malgun Gothic"/>
                <a:cs typeface="Malgun Gothic"/>
              </a:rPr>
              <a:t> TFIIH의 소단위인 </a:t>
            </a:r>
            <a:r>
              <a:rPr sz="1600" b="1" i="0">
                <a:solidFill>
                  <a:srgbClr val="11202B"/>
                </a:solidFill>
                <a:latin typeface="Malgun Gothic"/>
                <a:ea typeface="Malgun Gothic"/>
                <a:cs typeface="Malgun Gothic"/>
              </a:rPr>
              <a:t>XPB</a:t>
            </a:r>
            <a:r>
              <a:rPr sz="1600" b="0" i="0">
                <a:solidFill>
                  <a:srgbClr val="11202B"/>
                </a:solidFill>
                <a:latin typeface="Malgun Gothic"/>
                <a:ea typeface="Malgun Gothic"/>
                <a:cs typeface="Malgun Gothic"/>
              </a:rPr>
              <a:t>와 </a:t>
            </a:r>
            <a:r>
              <a:rPr sz="1600" b="1" i="0">
                <a:solidFill>
                  <a:srgbClr val="11202B"/>
                </a:solidFill>
                <a:latin typeface="Malgun Gothic"/>
                <a:ea typeface="Malgun Gothic"/>
                <a:cs typeface="Malgun Gothic"/>
              </a:rPr>
              <a:t>XPD</a:t>
            </a:r>
            <a:r>
              <a:rPr sz="1600" b="0" i="0">
                <a:solidFill>
                  <a:srgbClr val="11202B"/>
                </a:solidFill>
                <a:latin typeface="Malgun Gothic"/>
                <a:ea typeface="Malgun Gothic"/>
                <a:cs typeface="Malgun Gothic"/>
              </a:rPr>
              <a:t>는 nucleotide excision repair에도 쓰인다. 같은 단백질이 전사와 DNA 수선 두 과정에 참여한다. 이 소단위의 변이는 </a:t>
            </a:r>
            <a:r>
              <a:rPr sz="1600" b="1" i="0">
                <a:solidFill>
                  <a:srgbClr val="11202B"/>
                </a:solidFill>
                <a:latin typeface="Malgun Gothic"/>
                <a:ea typeface="Malgun Gothic"/>
                <a:cs typeface="Malgun Gothic"/>
              </a:rPr>
              <a:t>색소성 건피증(xeroderma pigmentosum)</a:t>
            </a:r>
            <a:r>
              <a:rPr sz="1600" b="0" i="0">
                <a:solidFill>
                  <a:srgbClr val="11202B"/>
                </a:solidFill>
                <a:latin typeface="Malgun Gothic"/>
                <a:ea typeface="Malgun Gothic"/>
                <a:cs typeface="Malgun Gothic"/>
              </a:rPr>
              <a:t> 과 </a:t>
            </a:r>
            <a:r>
              <a:rPr sz="1600" b="1" i="0">
                <a:solidFill>
                  <a:srgbClr val="11202B"/>
                </a:solidFill>
                <a:latin typeface="Malgun Gothic"/>
                <a:ea typeface="Malgun Gothic"/>
                <a:cs typeface="Malgun Gothic"/>
              </a:rPr>
              <a:t>Cockayne 증후군</a:t>
            </a:r>
            <a:r>
              <a:rPr sz="1600" b="0" i="0">
                <a:solidFill>
                  <a:srgbClr val="11202B"/>
                </a:solidFill>
                <a:latin typeface="Malgun Gothic"/>
                <a:ea typeface="Malgun Gothic"/>
                <a:cs typeface="Malgun Gothic"/>
              </a:rPr>
              <a:t>을 일으킨다. 두 질환의 표현형이 다른 이유를 분업으로 설명할 수 있다. 수선 기능만 손상되면 자외선 민감성과 피부암이 주로 나타나고, 전사 기능까지 손상되면 성장 장애와 신경 퇴화가 더해진다. 하나의 복합체가 두 일을 하므로 변이 위치에 따라 임상 양상이 갈린다.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Pol II의 전사 개시 — preinitiation complex의 조립</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24</a:t>
            </a:r>
          </a:p>
        </p:txBody>
      </p:sp>
      <p:pic>
        <p:nvPicPr>
          <p:cNvPr id="7" name="Picture 6" descr="fig-pic-assembly.slide.png"/>
          <p:cNvPicPr>
            <a:picLocks noChangeAspect="1"/>
          </p:cNvPicPr>
          <p:nvPr/>
        </p:nvPicPr>
        <p:blipFill>
          <a:blip r:embed="rId2"/>
          <a:stretch>
            <a:fillRect/>
          </a:stretch>
        </p:blipFill>
        <p:spPr>
          <a:xfrm>
            <a:off x="2029686" y="1325880"/>
            <a:ext cx="813232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Pol II preinitiation complex의 조립 순서. TBP의 TATA box 결합과 DNA 굽힘, TFIIB가 정하는 전사 방향, TFIIF와 함께 들어오는 Pol II, TFIIH의 helicase와 kinase 두 활성, 그리고 인산화된 CTD가 가공 인자의 플랫폼이 되는 구조를 함께 보인다.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pre-mRNA 가공의 세 단계 — 개요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Pol II가 만든 1차 전사체는 그대로 쓰이지 않는다. </a:t>
            </a:r>
            <a:r>
              <a:rPr sz="1400" b="1" i="0">
                <a:solidFill>
                  <a:srgbClr val="11202B"/>
                </a:solidFill>
                <a:latin typeface="Malgun Gothic"/>
                <a:ea typeface="Malgun Gothic"/>
                <a:cs typeface="Malgun Gothic"/>
              </a:rPr>
              <a:t>5′ cap 부가</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splicing</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3′ 말단 절단과 polyadenylation</a:t>
            </a:r>
            <a:r>
              <a:rPr sz="1400" b="0" i="0">
                <a:solidFill>
                  <a:srgbClr val="11202B"/>
                </a:solidFill>
                <a:latin typeface="Malgun Gothic"/>
                <a:ea typeface="Malgun Gothic"/>
                <a:cs typeface="Malgun Gothic"/>
              </a:rPr>
              <a:t>의 세 가공을 거쳐야 성숙한 mRNA가 된다. 여기서는 세 가공이 무엇을 하고 어떤 결과를 남기는지를 먼저 확정하고, 가장 복잡하고 임상적으로 중요한 splicing은 다음 절에서 기전까지 다룬다. Cap과 3′ 말단 가공의 효소 수준 상세는 M03-W02-L03에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5′ cap.</a:t>
            </a:r>
            <a:r>
              <a:rPr sz="1400" b="0" i="0">
                <a:solidFill>
                  <a:srgbClr val="11202B"/>
                </a:solidFill>
                <a:latin typeface="Malgun Gothic"/>
                <a:ea typeface="Malgun Gothic"/>
                <a:cs typeface="Malgun Gothic"/>
              </a:rPr>
              <a:t> 전사체가 25~30 염기일 때 5′ 말단에 </a:t>
            </a:r>
            <a:r>
              <a:rPr sz="1400" b="1" i="0">
                <a:solidFill>
                  <a:srgbClr val="11202B"/>
                </a:solidFill>
                <a:latin typeface="Malgun Gothic"/>
                <a:ea typeface="Malgun Gothic"/>
                <a:cs typeface="Malgun Gothic"/>
              </a:rPr>
              <a:t>7-methylguanosine</a:t>
            </a:r>
            <a:r>
              <a:rPr sz="1400" b="0" i="0">
                <a:solidFill>
                  <a:srgbClr val="11202B"/>
                </a:solidFill>
                <a:latin typeface="Malgun Gothic"/>
                <a:ea typeface="Malgun Gothic"/>
                <a:cs typeface="Malgun Gothic"/>
              </a:rPr>
              <a:t>이 붙는다. 결합이 특이하다. 일반적인 RNA 결합은 5′와 3′를 잇지만, cap은 </a:t>
            </a:r>
            <a:r>
              <a:rPr sz="1400" b="1" i="0">
                <a:solidFill>
                  <a:srgbClr val="11202B"/>
                </a:solidFill>
                <a:latin typeface="Malgun Gothic"/>
                <a:ea typeface="Malgun Gothic"/>
                <a:cs typeface="Malgun Gothic"/>
              </a:rPr>
              <a:t>5′-5′ 삼인산 결합</a:t>
            </a:r>
            <a:r>
              <a:rPr sz="1400" b="0" i="0">
                <a:solidFill>
                  <a:srgbClr val="11202B"/>
                </a:solidFill>
                <a:latin typeface="Malgun Gothic"/>
                <a:ea typeface="Malgun Gothic"/>
                <a:cs typeface="Malgun Gothic"/>
              </a:rPr>
              <a:t>이다. 자유로운 5′ 말단이 없어지므로 5′→3′ exonuclease가 공격할 자리가 사라진다. Cap은 분해 방지, 핵 밖 수송의 표시, 번역 개시의 발판 세 가지로 쓰인다.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Splicing.</a:t>
            </a:r>
            <a:r>
              <a:rPr sz="1400" b="0" i="0">
                <a:solidFill>
                  <a:srgbClr val="11202B"/>
                </a:solidFill>
                <a:latin typeface="Malgun Gothic"/>
                <a:ea typeface="Malgun Gothic"/>
                <a:cs typeface="Malgun Gothic"/>
              </a:rPr>
              <a:t> Intron이 제거되고 exon이 이어진다. 사람 유전자에서 전사체 길이의 대부분이 intron이므로 제거량이 매우 크다. Exon을 어떻게 조합하느냐에 따라 같은 유전자에서 여러 단백질이 나올 수 있다. 이것이 </a:t>
            </a:r>
            <a:r>
              <a:rPr sz="1400" b="1" i="0">
                <a:solidFill>
                  <a:srgbClr val="11202B"/>
                </a:solidFill>
                <a:latin typeface="Malgun Gothic"/>
                <a:ea typeface="Malgun Gothic"/>
                <a:cs typeface="Malgun Gothic"/>
              </a:rPr>
              <a:t>대체 splicing(alternative splicing)</a:t>
            </a:r>
            <a:r>
              <a:rPr sz="1400" b="0" i="0">
                <a:solidFill>
                  <a:srgbClr val="11202B"/>
                </a:solidFill>
                <a:latin typeface="Malgun Gothic"/>
                <a:ea typeface="Malgun Gothic"/>
                <a:cs typeface="Malgun Gothic"/>
              </a:rPr>
              <a:t> 이며, 사람 유전자의 90% 이상이 대체 splicing을 거친다.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말단 가공.</a:t>
            </a:r>
            <a:r>
              <a:rPr sz="1400" b="0" i="0">
                <a:solidFill>
                  <a:srgbClr val="11202B"/>
                </a:solidFill>
                <a:latin typeface="Malgun Gothic"/>
                <a:ea typeface="Malgun Gothic"/>
                <a:cs typeface="Malgun Gothic"/>
              </a:rPr>
              <a:t> 전사체에 </a:t>
            </a:r>
            <a:r>
              <a:rPr sz="1400" b="1" i="0">
                <a:solidFill>
                  <a:srgbClr val="11202B"/>
                </a:solidFill>
                <a:latin typeface="Malgun Gothic"/>
                <a:ea typeface="Malgun Gothic"/>
                <a:cs typeface="Malgun Gothic"/>
              </a:rPr>
              <a:t>AAUAAA</a:t>
            </a:r>
            <a:r>
              <a:rPr sz="1400" b="0" i="0">
                <a:solidFill>
                  <a:srgbClr val="11202B"/>
                </a:solidFill>
                <a:latin typeface="Malgun Gothic"/>
                <a:ea typeface="Malgun Gothic"/>
                <a:cs typeface="Malgun Gothic"/>
              </a:rPr>
              <a:t> 서열이 나타난 뒤 하류에서 절단되고, 주형 없이 약 200개의 A가 붙는다. 이 </a:t>
            </a:r>
            <a:r>
              <a:rPr sz="1400" b="1" i="0">
                <a:solidFill>
                  <a:srgbClr val="11202B"/>
                </a:solidFill>
                <a:latin typeface="Malgun Gothic"/>
                <a:ea typeface="Malgun Gothic"/>
                <a:cs typeface="Malgun Gothic"/>
              </a:rPr>
              <a:t>poly(A) 꼬리</a:t>
            </a:r>
            <a:r>
              <a:rPr sz="1400" b="0" i="0">
                <a:solidFill>
                  <a:srgbClr val="11202B"/>
                </a:solidFill>
                <a:latin typeface="Malgun Gothic"/>
                <a:ea typeface="Malgun Gothic"/>
                <a:cs typeface="Malgun Gothic"/>
              </a:rPr>
              <a:t>는 유전체에 암호화되어 있지 않다. 꼬리는 안정성, 핵 밖 수송, 번역 효율에 관여한다.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가공을 묶으면 두 가지 성격이 보인다.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가공은 품질 관문이다.</a:t>
            </a:r>
            <a:r>
              <a:rPr sz="1400" b="0" i="0">
                <a:solidFill>
                  <a:srgbClr val="11202B"/>
                </a:solidFill>
                <a:latin typeface="Malgun Gothic"/>
                <a:ea typeface="Malgun Gothic"/>
                <a:cs typeface="Malgun Gothic"/>
              </a:rPr>
              <a:t> 가공이 완료되지 않은 전사체는 핵을 떠나지 못하고 분해된다. 올바르게 가공된 전사체만 번역에 쓰인다.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가공은 전사와 동시에 일어난다.</a:t>
            </a:r>
            <a:r>
              <a:rPr sz="1400" b="0" i="0">
                <a:solidFill>
                  <a:srgbClr val="11202B"/>
                </a:solidFill>
                <a:latin typeface="Malgun Gothic"/>
                <a:ea typeface="Malgun Gothic"/>
                <a:cs typeface="Malgun Gothic"/>
              </a:rPr>
              <a:t> 전사가 끝난 뒤 따로 가공하는 것이 아니다. Pol II의 CTD에 가공 인자가 실려 있으므로 전사체가 나오는 동시에 가공이 진행된다.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pre-mRNA 가공의 세 단계 — 개요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26</a:t>
            </a:r>
          </a:p>
        </p:txBody>
      </p:sp>
      <p:pic>
        <p:nvPicPr>
          <p:cNvPr id="7" name="Picture 6" descr="fig-premrna-processing.slide.png"/>
          <p:cNvPicPr>
            <a:picLocks noChangeAspect="1"/>
          </p:cNvPicPr>
          <p:nvPr/>
        </p:nvPicPr>
        <p:blipFill>
          <a:blip r:embed="rId2"/>
          <a:stretch>
            <a:fillRect/>
          </a:stretch>
        </p:blipFill>
        <p:spPr>
          <a:xfrm>
            <a:off x="1941291" y="1325880"/>
            <a:ext cx="830911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pre-mRNA 가공의 세 단계 개요. 5′ cap의 5′-5′ 결합과 세 기능, intron 제거와 exon 조합이 만드는 isoform, AAUAAA에 이어지는 절단과 주형 없는 poly(A) 부가, 그리고 가공 완료가 핵 밖 수송의 판정 기준이 되는 관문 구조를 함께 보인다.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Splicing의 기전과 대체 splicing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Intron을 제거하는 반응은 두 번의 </a:t>
            </a:r>
            <a:r>
              <a:rPr sz="1600" b="1" i="0">
                <a:solidFill>
                  <a:srgbClr val="11202B"/>
                </a:solidFill>
                <a:latin typeface="Malgun Gothic"/>
                <a:ea typeface="Malgun Gothic"/>
                <a:cs typeface="Malgun Gothic"/>
              </a:rPr>
              <a:t>에스터 교환(transesterification)</a:t>
            </a:r>
            <a:r>
              <a:rPr sz="1600" b="0" i="0">
                <a:solidFill>
                  <a:srgbClr val="11202B"/>
                </a:solidFill>
                <a:latin typeface="Malgun Gothic"/>
                <a:ea typeface="Malgun Gothic"/>
                <a:cs typeface="Malgun Gothic"/>
              </a:rPr>
              <a:t>으로 이루어진다. 반응 자체는 에너지를 쓰지 않고 결합을 옮기는 것이며, 어디를 옮길지 정하는 데 ATP가 쓰인다.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1. Intron 안쪽의 </a:t>
            </a:r>
            <a:r>
              <a:rPr sz="1600" b="1" i="0">
                <a:solidFill>
                  <a:srgbClr val="11202B"/>
                </a:solidFill>
                <a:latin typeface="Malgun Gothic"/>
                <a:ea typeface="Malgun Gothic"/>
                <a:cs typeface="Malgun Gothic"/>
              </a:rPr>
              <a:t>branch point adenosine</a:t>
            </a:r>
            <a:r>
              <a:rPr sz="1600" b="0" i="0">
                <a:solidFill>
                  <a:srgbClr val="11202B"/>
                </a:solidFill>
                <a:latin typeface="Malgun Gothic"/>
                <a:ea typeface="Malgun Gothic"/>
                <a:cs typeface="Malgun Gothic"/>
              </a:rPr>
              <a:t>의 2′ hydroxyl기가 intron 5′ 경계의 인산을 공격해 결합을 끊는다. Intron이 자기 안쪽과 2′-5′ 결합을 만들어 </a:t>
            </a:r>
            <a:r>
              <a:rPr sz="1600" b="1" i="0">
                <a:solidFill>
                  <a:srgbClr val="11202B"/>
                </a:solidFill>
                <a:latin typeface="Malgun Gothic"/>
                <a:ea typeface="Malgun Gothic"/>
                <a:cs typeface="Malgun Gothic"/>
              </a:rPr>
              <a:t>올가미(lariat)</a:t>
            </a:r>
            <a:r>
              <a:rPr sz="1600" b="0" i="0">
                <a:solidFill>
                  <a:srgbClr val="11202B"/>
                </a:solidFill>
                <a:latin typeface="Malgun Gothic"/>
                <a:ea typeface="Malgun Gothic"/>
                <a:cs typeface="Malgun Gothic"/>
              </a:rPr>
              <a:t> 구조가 되고, 상류 exon의 3′ 말단이 자유로워진다.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2. 자유로워진 exon의 3′ hydroxyl기가 intron 3′ 경계의 인산을 공격한다. 두 exon이 이어지고 lariat 상태의 intron이 떨어져 나와 분해된다.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반응을 수행하는 것은 </a:t>
            </a:r>
            <a:r>
              <a:rPr sz="1600" b="1" i="0">
                <a:solidFill>
                  <a:srgbClr val="11202B"/>
                </a:solidFill>
                <a:latin typeface="Malgun Gothic"/>
                <a:ea typeface="Malgun Gothic"/>
                <a:cs typeface="Malgun Gothic"/>
              </a:rPr>
              <a:t>spliceosome</a:t>
            </a:r>
            <a:r>
              <a:rPr sz="1600" b="0" i="0">
                <a:solidFill>
                  <a:srgbClr val="11202B"/>
                </a:solidFill>
                <a:latin typeface="Malgun Gothic"/>
                <a:ea typeface="Malgun Gothic"/>
                <a:cs typeface="Malgun Gothic"/>
              </a:rPr>
              <a:t>이다. 다섯 개의 small nuclear RNA(U1, U2, U4, U5, U6)와 각각에 붙은 단백질이 이루는 snRNP들이 전사체 위에서 조립되고 재배열되며 반응을 만든다. 조립 순서가 정해져 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Splicing의 기전과 대체 splicing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28</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단계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일어나는 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E 복합체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U1 snRNP가 5′ splice site와 염기쌍으로 짝짓고, U2AF와 SF1이 3′ 쪽 신호에 붙는다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A 복합체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U2 snRNP가 branch point에 결합한다(ATP 소모)</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B 복합체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U4/U6·U5 삼중 snRNP가 들어온다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B* 활성화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U1과 U4가 떨어지고 U6가 5′ splice site를 대신 잡으며 촉매 중심이 만들어진다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 복합체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두 번의 에스터 교환이 일어나고 exon이 이어진다</a:t>
                      </a:r>
                    </a:p>
                  </a:txBody>
                  <a:tcPr marL="73152" marR="73152" marT="27432" marB="27432">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Splicing의 기전과 대체 splicing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순서에서 읽어야 할 점은 </a:t>
            </a:r>
            <a:r>
              <a:rPr sz="1600" b="1" i="0">
                <a:solidFill>
                  <a:srgbClr val="11202B"/>
                </a:solidFill>
                <a:latin typeface="Malgun Gothic"/>
                <a:ea typeface="Malgun Gothic"/>
                <a:cs typeface="Malgun Gothic"/>
              </a:rPr>
              <a:t>촉매를 수행하는 것이 단백질이 아니라 RNA라는 사실</a:t>
            </a:r>
            <a:r>
              <a:rPr sz="1600" b="0" i="0">
                <a:solidFill>
                  <a:srgbClr val="11202B"/>
                </a:solidFill>
                <a:latin typeface="Malgun Gothic"/>
                <a:ea typeface="Malgun Gothic"/>
                <a:cs typeface="Malgun Gothic"/>
              </a:rPr>
              <a:t>이다. U6와 U2 snRNA가 금속 이온을 배위해 반응 중심을 만들며, 구조가 group II self-splicing intron의 활성 중심과 겹친다. Spliceosome은 RNA가 촉매였던 시기의 유물을 단백질로 둘러싼 복합체로 해석된다.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Spliceosome이 읽는 신호는 약하다. 5′ splice site와 branch point, 3′ splice site의 공통 서열만으로는 실제 splice site와 유전체에 흔한 유사 서열을 구별할 수 없다. 사람에서 </a:t>
            </a:r>
            <a:r>
              <a:rPr sz="1600" b="1" i="0">
                <a:solidFill>
                  <a:srgbClr val="11202B"/>
                </a:solidFill>
                <a:latin typeface="Malgun Gothic"/>
                <a:ea typeface="Malgun Gothic"/>
                <a:cs typeface="Malgun Gothic"/>
              </a:rPr>
              <a:t>진짜 exon을 가려내는 일</a:t>
            </a:r>
            <a:r>
              <a:rPr sz="1600" b="0" i="0">
                <a:solidFill>
                  <a:srgbClr val="11202B"/>
                </a:solidFill>
                <a:latin typeface="Malgun Gothic"/>
                <a:ea typeface="Malgun Gothic"/>
                <a:cs typeface="Malgun Gothic"/>
              </a:rPr>
              <a:t>은 보조 서열과 단백질이 맡는다. Exon 안의 </a:t>
            </a:r>
            <a:r>
              <a:rPr sz="1600" b="1" i="0">
                <a:solidFill>
                  <a:srgbClr val="11202B"/>
                </a:solidFill>
                <a:latin typeface="Malgun Gothic"/>
                <a:ea typeface="Malgun Gothic"/>
                <a:cs typeface="Malgun Gothic"/>
              </a:rPr>
              <a:t>exonic splicing enhancer</a:t>
            </a:r>
            <a:r>
              <a:rPr sz="1600" b="0" i="0">
                <a:solidFill>
                  <a:srgbClr val="11202B"/>
                </a:solidFill>
                <a:latin typeface="Malgun Gothic"/>
                <a:ea typeface="Malgun Gothic"/>
                <a:cs typeface="Malgun Gothic"/>
              </a:rPr>
              <a:t>에 </a:t>
            </a:r>
            <a:r>
              <a:rPr sz="1600" b="1" i="0">
                <a:solidFill>
                  <a:srgbClr val="11202B"/>
                </a:solidFill>
                <a:latin typeface="Malgun Gothic"/>
                <a:ea typeface="Malgun Gothic"/>
                <a:cs typeface="Malgun Gothic"/>
              </a:rPr>
              <a:t>SR 단백질</a:t>
            </a:r>
            <a:r>
              <a:rPr sz="1600" b="0" i="0">
                <a:solidFill>
                  <a:srgbClr val="11202B"/>
                </a:solidFill>
                <a:latin typeface="Malgun Gothic"/>
                <a:ea typeface="Malgun Gothic"/>
                <a:cs typeface="Malgun Gothic"/>
              </a:rPr>
              <a:t>이 결합해 그 exon의 양쪽 splice site를 쓰도록 유도하고, </a:t>
            </a:r>
            <a:r>
              <a:rPr sz="1600" b="1" i="0">
                <a:solidFill>
                  <a:srgbClr val="11202B"/>
                </a:solidFill>
                <a:latin typeface="Malgun Gothic"/>
                <a:ea typeface="Malgun Gothic"/>
                <a:cs typeface="Malgun Gothic"/>
              </a:rPr>
              <a:t>silencer</a:t>
            </a:r>
            <a:r>
              <a:rPr sz="1600" b="0" i="0">
                <a:solidFill>
                  <a:srgbClr val="11202B"/>
                </a:solidFill>
                <a:latin typeface="Malgun Gothic"/>
                <a:ea typeface="Malgun Gothic"/>
                <a:cs typeface="Malgun Gothic"/>
              </a:rPr>
              <a:t>에 </a:t>
            </a:r>
            <a:r>
              <a:rPr sz="1600" b="1" i="0">
                <a:solidFill>
                  <a:srgbClr val="11202B"/>
                </a:solidFill>
                <a:latin typeface="Malgun Gothic"/>
                <a:ea typeface="Malgun Gothic"/>
                <a:cs typeface="Malgun Gothic"/>
              </a:rPr>
              <a:t>hnRNP</a:t>
            </a:r>
            <a:r>
              <a:rPr sz="1600" b="0" i="0">
                <a:solidFill>
                  <a:srgbClr val="11202B"/>
                </a:solidFill>
                <a:latin typeface="Malgun Gothic"/>
                <a:ea typeface="Malgun Gothic"/>
                <a:cs typeface="Malgun Gothic"/>
              </a:rPr>
              <a:t> 계열 단백질이 결합해 억제한다. 사람의 exon이 평균 150 염기쌍으로 짧고 intron이 길기 때문에, spliceosome은 긴 intron을 건너뛰며 짧은 exon을 단위로 인식하는 </a:t>
            </a:r>
            <a:r>
              <a:rPr sz="1600" b="1" i="0">
                <a:solidFill>
                  <a:srgbClr val="11202B"/>
                </a:solidFill>
                <a:latin typeface="Malgun Gothic"/>
                <a:ea typeface="Malgun Gothic"/>
                <a:cs typeface="Malgun Gothic"/>
              </a:rPr>
              <a:t>exon definition</a:t>
            </a:r>
            <a:r>
              <a:rPr sz="1600" b="0" i="0">
                <a:solidFill>
                  <a:srgbClr val="11202B"/>
                </a:solidFill>
                <a:latin typeface="Malgun Gothic"/>
                <a:ea typeface="Malgun Gothic"/>
                <a:cs typeface="Malgun Gothic"/>
              </a:rPr>
              <a:t> 방식으로 작동한다고 본다.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Splicing의 기전과 대체 splicing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30</a:t>
            </a:r>
          </a:p>
        </p:txBody>
      </p:sp>
      <p:pic>
        <p:nvPicPr>
          <p:cNvPr id="7" name="Picture 6" descr="fig-splicing.slide.png"/>
          <p:cNvPicPr>
            <a:picLocks noChangeAspect="1"/>
          </p:cNvPicPr>
          <p:nvPr/>
        </p:nvPicPr>
        <p:blipFill>
          <a:blip r:embed="rId2"/>
          <a:stretch>
            <a:fillRect/>
          </a:stretch>
        </p:blipFill>
        <p:spPr>
          <a:xfrm>
            <a:off x="2787163" y="1325880"/>
            <a:ext cx="661736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Splicing의 두 단계 반응과 spliceosome의 조립. Branch point adenosine의 2′ hydroxyl 공격으로 생기는 lariat, 두 번째 에스터 교환으로 이어지는 exon, U1에서 U6까지의 snRNP 교체 순서, 그리고 SR 단백질과 hnRNP가 enhancer·silencer에 결합해 exon을 가려내는 배치를 함께 보인다.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Splicing의 기전과 대체 splicing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대체 splicing</a:t>
            </a:r>
            <a:r>
              <a:rPr sz="2000" b="0" i="0">
                <a:solidFill>
                  <a:srgbClr val="11202B"/>
                </a:solidFill>
                <a:latin typeface="Malgun Gothic"/>
                <a:ea typeface="Malgun Gothic"/>
                <a:cs typeface="Malgun Gothic"/>
              </a:rPr>
              <a:t>의 양식은 다섯 가지로 분류된다.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Splicing의 기전과 대체 splicing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32</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양식</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내용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Exon skipping(cassette exon)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한 exon이 포함되거나 빠진다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가장 흔한 양식</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상호 배타적 exon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두 exon 중 하나만 쓰인다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서로 다른 성질의 도메인 교체</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대체 5′ splice site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exon의 끝 위치가 달라진다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도메인 길이 변화</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대체 3′ splice site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exon의 시작 위치가 달라진다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읽기틀 또는 N 말단 변화</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Intron retention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intron이 남는다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조기 종결, 핵 내 보관</a:t>
                      </a:r>
                    </a:p>
                  </a:txBody>
                  <a:tcPr marL="73152" marR="73152" marT="27432" marB="27432">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Splicing의 기전과 대체 splicing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여기에 대체 promoter와 대체 polyadenylation 부위가 더해지면 한 전사 단위에서 나올 수 있는 산물의 수가 크게 늘어난다. 극단적인 예가 *Drosophila*의 *Dscam*으로, 조합상 38,000종 이상의 isoform이 가능하다.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대체 splicing의 결과는 단순히 단백질의 종류를 늘리는 것이 아니다. 세 가지 서로 다른 쓰임이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기능이 다른 단백질을 만든다.</a:t>
            </a:r>
            <a:r>
              <a:rPr sz="1400" b="0" i="0">
                <a:solidFill>
                  <a:srgbClr val="11202B"/>
                </a:solidFill>
                <a:latin typeface="Malgun Gothic"/>
                <a:ea typeface="Malgun Gothic"/>
                <a:cs typeface="Malgun Gothic"/>
              </a:rPr>
              <a:t> Fibronectin은 간에서 만들어지는 혈장형에 세포 결합 도메인이 빠져 있고, 섬유아세포가 만드는 조직형에는 들어 있다. 같은 유전자에서 가용성 단백질과 기질 단백질이 나온다.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막 결합형과 분비형을 가른다.</a:t>
            </a:r>
            <a:r>
              <a:rPr sz="1400" b="0" i="0">
                <a:solidFill>
                  <a:srgbClr val="11202B"/>
                </a:solidFill>
                <a:latin typeface="Malgun Gothic"/>
                <a:ea typeface="Malgun Gothic"/>
                <a:cs typeface="Malgun Gothic"/>
              </a:rPr>
              <a:t> 면역글로불린 중쇄는 막 관통 도메인을 암호화하는 exon의 포함 여부로 B 세포 표면의 수용체와 분비되는 항체로 갈린다.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발현을 끈다.</a:t>
            </a:r>
            <a:r>
              <a:rPr sz="1400" b="0" i="0">
                <a:solidFill>
                  <a:srgbClr val="11202B"/>
                </a:solidFill>
                <a:latin typeface="Malgun Gothic"/>
                <a:ea typeface="Malgun Gothic"/>
                <a:cs typeface="Malgun Gothic"/>
              </a:rPr>
              <a:t> Intron retention이나 조기 종결 codon을 만드는 exon의 포함은 전사체를 nonsense-mediated decay로 보내므로, splicing이 발현량 조절 수단으로 쓰인다. SR 단백질 자신의 유전자가 이 방식으로 자기 양을 조절한다.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Splicing의 선택은 조절된다. 조절 단백질의 농도비가 그 자리에서의 결과를 정하므로, 조직마다 SR 단백질과 hnRNP의 조성이 다르면 같은 전사체에서 다른 isoform이 나온다. 신경계에서 NOVA와 PTBP, 근육에서 RBFOX, 상피-중간엽 전환에서 ESRP가 그런 조직 특이 조절자다. 또 </a:t>
            </a:r>
            <a:r>
              <a:rPr sz="1400" b="1" i="0">
                <a:solidFill>
                  <a:srgbClr val="11202B"/>
                </a:solidFill>
                <a:latin typeface="Malgun Gothic"/>
                <a:ea typeface="Malgun Gothic"/>
                <a:cs typeface="Malgun Gothic"/>
              </a:rPr>
              <a:t>전사 속도</a:t>
            </a:r>
            <a:r>
              <a:rPr sz="1400" b="0" i="0">
                <a:solidFill>
                  <a:srgbClr val="11202B"/>
                </a:solidFill>
                <a:latin typeface="Malgun Gothic"/>
                <a:ea typeface="Malgun Gothic"/>
                <a:cs typeface="Malgun Gothic"/>
              </a:rPr>
              <a:t>가 조절에 들어간다. Pol II가 느리게 지나가면 약한 splice site가 쓰일 시간이 길어지고, chromatin 상태가 신장 속도를 바꾸므로 후성유전 상태가 splicing에 영향을 준다.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Splicing의 기전과 대체 splicing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34</a:t>
            </a:r>
          </a:p>
        </p:txBody>
      </p:sp>
      <p:sp>
        <p:nvSpPr>
          <p:cNvPr id="7" name="Rectangle 6"/>
          <p:cNvSpPr/>
          <p:nvPr/>
        </p:nvSpPr>
        <p:spPr>
          <a:xfrm>
            <a:off x="640080" y="1325880"/>
            <a:ext cx="10881360" cy="2642358"/>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Splicing은 질환과 치료 양쪽에서 출제 빈도가 높다. 변이가 splicing을 바꾸는 경로는 네 가지다. (1) </a:t>
            </a:r>
            <a:r>
              <a:rPr sz="1600" b="1" i="0">
                <a:solidFill>
                  <a:srgbClr val="11202B"/>
                </a:solidFill>
                <a:latin typeface="Malgun Gothic"/>
                <a:ea typeface="Malgun Gothic"/>
                <a:cs typeface="Malgun Gothic"/>
              </a:rPr>
              <a:t>splice site 자체의 변이</a:t>
            </a:r>
            <a:r>
              <a:rPr sz="1600" b="0" i="0">
                <a:solidFill>
                  <a:srgbClr val="11202B"/>
                </a:solidFill>
                <a:latin typeface="Malgun Gothic"/>
                <a:ea typeface="Malgun Gothic"/>
                <a:cs typeface="Malgun Gothic"/>
              </a:rPr>
              <a:t>, (2) branch point나 pyrimidine 구간의 변이, (3) exon 안의 enhancer·silencer를 바꾸는 </a:t>
            </a:r>
            <a:r>
              <a:rPr sz="1600" b="1" i="0">
                <a:solidFill>
                  <a:srgbClr val="11202B"/>
                </a:solidFill>
                <a:latin typeface="Malgun Gothic"/>
                <a:ea typeface="Malgun Gothic"/>
                <a:cs typeface="Malgun Gothic"/>
              </a:rPr>
              <a:t>겉보기 silent 변이</a:t>
            </a:r>
            <a:r>
              <a:rPr sz="1600" b="0" i="0">
                <a:solidFill>
                  <a:srgbClr val="11202B"/>
                </a:solidFill>
                <a:latin typeface="Malgun Gothic"/>
                <a:ea typeface="Malgun Gothic"/>
                <a:cs typeface="Malgun Gothic"/>
              </a:rPr>
              <a:t>, (4) spliceosome 구성 요소나 조절 단백질의 변이. 네 번째의 예가 중요하다. SF3B1, U2AF1, SRSF2 변이는 myelodysplastic syndrome에서 흔하며, 조절 단백질 하나의 변이가 수백 개 전사체의 splicing을 함께 바꾼다. 치료 쪽에서는 같은 기전을 역이용한다. </a:t>
            </a:r>
            <a:r>
              <a:rPr sz="1600" b="1" i="0">
                <a:solidFill>
                  <a:srgbClr val="11202B"/>
                </a:solidFill>
                <a:latin typeface="Malgun Gothic"/>
                <a:ea typeface="Malgun Gothic"/>
                <a:cs typeface="Malgun Gothic"/>
              </a:rPr>
              <a:t>Nusinersen</a:t>
            </a:r>
            <a:r>
              <a:rPr sz="1600" b="0" i="0">
                <a:solidFill>
                  <a:srgbClr val="11202B"/>
                </a:solidFill>
                <a:latin typeface="Malgun Gothic"/>
                <a:ea typeface="Malgun Gothic"/>
                <a:cs typeface="Malgun Gothic"/>
              </a:rPr>
              <a:t>은 *SMN2*의 intron 7에 있는 silencer에 붙는 antisense oligonucleotide로, hnRNP의 결합을 막아 exon 7이 포함되도록 만들어 기능하는 SMN 단백질을 늘린다. 척수근위축의 치료 원리가 이것이다. 반대로 </a:t>
            </a:r>
            <a:r>
              <a:rPr sz="1600" b="1" i="0">
                <a:solidFill>
                  <a:srgbClr val="11202B"/>
                </a:solidFill>
                <a:latin typeface="Malgun Gothic"/>
                <a:ea typeface="Malgun Gothic"/>
                <a:cs typeface="Malgun Gothic"/>
              </a:rPr>
              <a:t>eteplirsen</a:t>
            </a:r>
            <a:r>
              <a:rPr sz="1600" b="0" i="0">
                <a:solidFill>
                  <a:srgbClr val="11202B"/>
                </a:solidFill>
                <a:latin typeface="Malgun Gothic"/>
                <a:ea typeface="Malgun Gothic"/>
                <a:cs typeface="Malgun Gothic"/>
              </a:rPr>
              <a:t> 계열은 *DMD*의 특정 exon을 일부러 건너뛰게 해 읽기틀을 복원한다. 같은 도구가 한쪽에서는 exon을 넣고 다른 쪽에서는 빼는 데 쓰인다는 점이 요점이다.</a:t>
            </a:r>
          </a:p>
        </p:txBody>
      </p:sp>
      <p:sp>
        <p:nvSpPr>
          <p:cNvPr id="8" name="Rectangle 7"/>
          <p:cNvSpPr/>
          <p:nvPr/>
        </p:nvSpPr>
        <p:spPr>
          <a:xfrm>
            <a:off x="640080" y="4105398"/>
            <a:ext cx="10881360" cy="2066801"/>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Spliceosome의 구조는 최근 10년 사이 저온전자현미경으로 단계마다 풀렸고, 그 결과가 약으로 이어졌다. </a:t>
            </a:r>
            <a:r>
              <a:rPr sz="1600" b="1" i="0">
                <a:solidFill>
                  <a:srgbClr val="11202B"/>
                </a:solidFill>
                <a:latin typeface="Malgun Gothic"/>
                <a:ea typeface="Malgun Gothic"/>
                <a:cs typeface="Malgun Gothic"/>
              </a:rPr>
              <a:t>Risdiplam</a:t>
            </a:r>
            <a:r>
              <a:rPr sz="1600" b="0" i="0">
                <a:solidFill>
                  <a:srgbClr val="11202B"/>
                </a:solidFill>
                <a:latin typeface="Malgun Gothic"/>
                <a:ea typeface="Malgun Gothic"/>
                <a:cs typeface="Malgun Gothic"/>
              </a:rPr>
              <a:t>과 branaplam은 U1 snRNP가 약한 5′ splice site를 쓰도록 안정화하는 저분자로, 주사가 아니라 먹는 약으로 척수근위축을 치료한다. 반대로 SF3B1에 결합해 splicing을 교란하는 저분자는 SF3B1 변이 종양이 정상 세포보다 더 민감하다는 관찰을 근거로 시험되고 있다. </a:t>
            </a:r>
            <a:r>
              <a:rPr sz="1600" b="1" i="0">
                <a:solidFill>
                  <a:srgbClr val="11202B"/>
                </a:solidFill>
                <a:latin typeface="Malgun Gothic"/>
                <a:ea typeface="Malgun Gothic"/>
                <a:cs typeface="Malgun Gothic"/>
              </a:rPr>
              <a:t>저분자로 splicing의 선택을 바꿀 수 있다</a:t>
            </a:r>
            <a:r>
              <a:rPr sz="1600" b="0" i="0">
                <a:solidFill>
                  <a:srgbClr val="11202B"/>
                </a:solidFill>
                <a:latin typeface="Malgun Gothic"/>
                <a:ea typeface="Malgun Gothic"/>
                <a:cs typeface="Malgun Gothic"/>
              </a:rPr>
              <a:t>는 것이 이 분야의 전환점이었고, 쟁점은 특이성이다. 하나의 약이 수백 개 전사체의 splicing을 함께 바꾸므로, 표적 전사체에서의 효과와 나머지에서의 부작용을 전사체 전체 수준에서 측정해야 한다. 아울러 종양에서 나타나는 비정상 splicing 산물이 신생항원의 원천이 될 수 있다는 관찰은 splicing을 면역치료의 표적으로 보는 새 방향을 열었다.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rRNA의 가공과 nucleolus</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35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mRNA 가공과 달리 rRNA와 tRNA의 가공은 </a:t>
            </a:r>
            <a:r>
              <a:rPr sz="1400" b="1" i="0">
                <a:solidFill>
                  <a:srgbClr val="11202B"/>
                </a:solidFill>
                <a:latin typeface="Malgun Gothic"/>
                <a:ea typeface="Malgun Gothic"/>
                <a:cs typeface="Malgun Gothic"/>
              </a:rPr>
              <a:t>하나의 긴 전사체를 잘라 여러 산물을 얻는</a:t>
            </a:r>
            <a:r>
              <a:rPr sz="1400" b="0" i="0">
                <a:solidFill>
                  <a:srgbClr val="11202B"/>
                </a:solidFill>
                <a:latin typeface="Malgun Gothic"/>
                <a:ea typeface="Malgun Gothic"/>
                <a:cs typeface="Malgun Gothic"/>
              </a:rPr>
              <a:t> 방식이 중심이다. 세균과 진핵세포에 공통된 전략이다.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진핵세포에서 Pol I은 </a:t>
            </a:r>
            <a:r>
              <a:rPr sz="1400" b="1" i="0">
                <a:solidFill>
                  <a:srgbClr val="11202B"/>
                </a:solidFill>
                <a:latin typeface="Malgun Gothic"/>
                <a:ea typeface="Malgun Gothic"/>
                <a:cs typeface="Malgun Gothic"/>
              </a:rPr>
              <a:t>45S pre-rRNA</a:t>
            </a:r>
            <a:r>
              <a:rPr sz="1400" b="0" i="0">
                <a:solidFill>
                  <a:srgbClr val="11202B"/>
                </a:solidFill>
                <a:latin typeface="Malgun Gothic"/>
                <a:ea typeface="Malgun Gothic"/>
                <a:cs typeface="Malgun Gothic"/>
              </a:rPr>
              <a:t>라는 하나의 긴 전사체를 만든다. 여기에 세 rRNA가 한 줄로 들어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쪽부터 </a:t>
            </a:r>
            <a:r>
              <a:rPr sz="1400" b="1" i="0">
                <a:solidFill>
                  <a:srgbClr val="11202B"/>
                </a:solidFill>
                <a:latin typeface="Malgun Gothic"/>
                <a:ea typeface="Malgun Gothic"/>
                <a:cs typeface="Malgun Gothic"/>
              </a:rPr>
              <a:t>18S — 5.8S — 28S</a:t>
            </a:r>
            <a:r>
              <a:rPr sz="1400" b="0" i="0">
                <a:solidFill>
                  <a:srgbClr val="11202B"/>
                </a:solidFill>
                <a:latin typeface="Malgun Gothic"/>
                <a:ea typeface="Malgun Gothic"/>
                <a:cs typeface="Malgun Gothic"/>
              </a:rPr>
              <a:t> 순서이고, 사이사이와 양 끝에 제거될 구간이 있다. 가공은 양 끝을 자르고 사이를 잘라 세 조각을 분리하는 과정이다.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18S</a:t>
            </a:r>
            <a:r>
              <a:rPr sz="1400" b="0" i="0">
                <a:solidFill>
                  <a:srgbClr val="11202B"/>
                </a:solidFill>
                <a:latin typeface="Malgun Gothic"/>
                <a:ea typeface="Malgun Gothic"/>
                <a:cs typeface="Malgun Gothic"/>
              </a:rPr>
              <a:t>는 small subunit(40S)에 들어가고, </a:t>
            </a:r>
            <a:r>
              <a:rPr sz="1400" b="1" i="0">
                <a:solidFill>
                  <a:srgbClr val="11202B"/>
                </a:solidFill>
                <a:latin typeface="Malgun Gothic"/>
                <a:ea typeface="Malgun Gothic"/>
                <a:cs typeface="Malgun Gothic"/>
              </a:rPr>
              <a:t>5.8S와 28S</a:t>
            </a:r>
            <a:r>
              <a:rPr sz="1400" b="0" i="0">
                <a:solidFill>
                  <a:srgbClr val="11202B"/>
                </a:solidFill>
                <a:latin typeface="Malgun Gothic"/>
                <a:ea typeface="Malgun Gothic"/>
                <a:cs typeface="Malgun Gothic"/>
              </a:rPr>
              <a:t>는 large subunit(60S)에 들어간다. 남은 하나인 </a:t>
            </a:r>
            <a:r>
              <a:rPr sz="1400" b="1" i="0">
                <a:solidFill>
                  <a:srgbClr val="11202B"/>
                </a:solidFill>
                <a:latin typeface="Malgun Gothic"/>
                <a:ea typeface="Malgun Gothic"/>
                <a:cs typeface="Malgun Gothic"/>
              </a:rPr>
              <a:t>5S rRNA</a:t>
            </a:r>
            <a:r>
              <a:rPr sz="1400" b="0" i="0">
                <a:solidFill>
                  <a:srgbClr val="11202B"/>
                </a:solidFill>
                <a:latin typeface="Malgun Gothic"/>
                <a:ea typeface="Malgun Gothic"/>
                <a:cs typeface="Malgun Gothic"/>
              </a:rPr>
              <a:t>는 45S에 포함되어 있지 않다. 별도의 유전자에서 </a:t>
            </a:r>
            <a:r>
              <a:rPr sz="1400" b="1" i="0">
                <a:solidFill>
                  <a:srgbClr val="11202B"/>
                </a:solidFill>
                <a:latin typeface="Malgun Gothic"/>
                <a:ea typeface="Malgun Gothic"/>
                <a:cs typeface="Malgun Gothic"/>
              </a:rPr>
              <a:t>Pol III</a:t>
            </a:r>
            <a:r>
              <a:rPr sz="1400" b="0" i="0">
                <a:solidFill>
                  <a:srgbClr val="11202B"/>
                </a:solidFill>
                <a:latin typeface="Malgun Gothic"/>
                <a:ea typeface="Malgun Gothic"/>
                <a:cs typeface="Malgun Gothic"/>
              </a:rPr>
              <a:t>가 따로 전사하고, 핵질에서 만들어진 뒤 nucleolus로 들어온다.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모든 일이 </a:t>
            </a:r>
            <a:r>
              <a:rPr sz="1400" b="1" i="0">
                <a:solidFill>
                  <a:srgbClr val="11202B"/>
                </a:solidFill>
                <a:latin typeface="Malgun Gothic"/>
                <a:ea typeface="Malgun Gothic"/>
                <a:cs typeface="Malgun Gothic"/>
              </a:rPr>
              <a:t>nucleolus</a:t>
            </a:r>
            <a:r>
              <a:rPr sz="1400" b="0" i="0">
                <a:solidFill>
                  <a:srgbClr val="11202B"/>
                </a:solidFill>
                <a:latin typeface="Malgun Gothic"/>
                <a:ea typeface="Malgun Gothic"/>
                <a:cs typeface="Malgun Gothic"/>
              </a:rPr>
              <a:t>에서 일어난다. Nucleolus는 막으로 둘러싸인 소기관이 아니다. </a:t>
            </a:r>
            <a:r>
              <a:rPr sz="1400" b="1" i="0">
                <a:solidFill>
                  <a:srgbClr val="11202B"/>
                </a:solidFill>
                <a:latin typeface="Malgun Gothic"/>
                <a:ea typeface="Malgun Gothic"/>
                <a:cs typeface="Malgun Gothic"/>
              </a:rPr>
              <a:t>rRNA 유전자가 모여 있는 곳에 전사·가공·조립 기구가 집적되어 만들어진 구조</a:t>
            </a:r>
            <a:r>
              <a:rPr sz="1400" b="0" i="0">
                <a:solidFill>
                  <a:srgbClr val="11202B"/>
                </a:solidFill>
                <a:latin typeface="Malgun Gothic"/>
                <a:ea typeface="Malgun Gothic"/>
                <a:cs typeface="Malgun Gothic"/>
              </a:rPr>
              <a:t>다. 기능이 구조를 만든 것이고, 그 기능은 세 가지다.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rRNA 유전자의 전사</a:t>
            </a:r>
            <a:r>
              <a:rPr sz="1400" b="0" i="0">
                <a:solidFill>
                  <a:srgbClr val="11202B"/>
                </a:solidFill>
                <a:latin typeface="Malgun Gothic"/>
                <a:ea typeface="Malgun Gothic"/>
                <a:cs typeface="Malgun Gothic"/>
              </a:rPr>
              <a:t>(Pol I), </a:t>
            </a:r>
            <a:r>
              <a:rPr sz="1400" b="1" i="0">
                <a:solidFill>
                  <a:srgbClr val="11202B"/>
                </a:solidFill>
                <a:latin typeface="Malgun Gothic"/>
                <a:ea typeface="Malgun Gothic"/>
                <a:cs typeface="Malgun Gothic"/>
              </a:rPr>
              <a:t>pre-rRNA의 절단과 변형</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ribosome 소단위의 조립</a:t>
            </a:r>
            <a:r>
              <a:rPr sz="1400" b="0" i="0">
                <a:solidFill>
                  <a:srgbClr val="11202B"/>
                </a:solidFill>
                <a:latin typeface="Malgun Gothic"/>
                <a:ea typeface="Malgun Gothic"/>
                <a:cs typeface="Malgun Gothic"/>
              </a:rPr>
              <a:t>이다. 조립된 소단위는 핵 밖으로 나가 세포질에서 합쳐진다.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Nucleolus의 크기는 세포의 상태를 반영한다. 단백질 합성이 활발한 세포에서 nucleolus는 크고, 분열을 멈춘 세포에서는 작다. 세포병리에서 nucleolus가 크고 뚜렷한 것을 악성의 소견으로 보는 근거가 여기에 있다. 빠르게 자라는 세포는 ribosome을 많이 만들어야 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rRNA의 가공과 nucleolus</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36</a:t>
            </a:r>
          </a:p>
        </p:txBody>
      </p:sp>
      <p:pic>
        <p:nvPicPr>
          <p:cNvPr id="7" name="Picture 6" descr="fig-rrna-processing.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45S pre-rRNA의 가공과 nucleolus의 구조. 18S-5.8S-28S가 한 전사체에 배열된 순서와 절단 지점, Pol III가 따로 만드는 5S의 합류, 두 소단위로 나뉘는 분배, 그리고 전사·가공·조립 세 기능이 집적되어 nucleolus를 이루는 배치를 함께 보인다.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snoRNP에 의한 rRNA의 화학 변형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rRNA 가공은 절단만이 아니다. 수십 곳의 염기와 당이 </a:t>
            </a:r>
            <a:r>
              <a:rPr sz="1400" b="1" i="0">
                <a:solidFill>
                  <a:srgbClr val="11202B"/>
                </a:solidFill>
                <a:latin typeface="Malgun Gothic"/>
                <a:ea typeface="Malgun Gothic"/>
                <a:cs typeface="Malgun Gothic"/>
              </a:rPr>
              <a:t>화학적으로 변형</a:t>
            </a:r>
            <a:r>
              <a:rPr sz="1400" b="0" i="0">
                <a:solidFill>
                  <a:srgbClr val="11202B"/>
                </a:solidFill>
                <a:latin typeface="Malgun Gothic"/>
                <a:ea typeface="Malgun Gothic"/>
                <a:cs typeface="Malgun Gothic"/>
              </a:rPr>
              <a:t>된다. 사람의 rRNA에서 약 100곳의 ribose가 methyl화되고 약 100곳의 uridine이 </a:t>
            </a:r>
            <a:r>
              <a:rPr sz="1400" b="1" i="0">
                <a:solidFill>
                  <a:srgbClr val="11202B"/>
                </a:solidFill>
                <a:latin typeface="Malgun Gothic"/>
                <a:ea typeface="Malgun Gothic"/>
                <a:cs typeface="Malgun Gothic"/>
              </a:rPr>
              <a:t>pseudouridine</a:t>
            </a:r>
            <a:r>
              <a:rPr sz="1400" b="0" i="0">
                <a:solidFill>
                  <a:srgbClr val="11202B"/>
                </a:solidFill>
                <a:latin typeface="Malgun Gothic"/>
                <a:ea typeface="Malgun Gothic"/>
                <a:cs typeface="Malgun Gothic"/>
              </a:rPr>
              <a:t>으로 바뀐다.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변형의 두 종류를 구분한다.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2′-O-methylation.</a:t>
            </a:r>
            <a:r>
              <a:rPr sz="1400" b="0" i="0">
                <a:solidFill>
                  <a:srgbClr val="11202B"/>
                </a:solidFill>
                <a:latin typeface="Malgun Gothic"/>
                <a:ea typeface="Malgun Gothic"/>
                <a:cs typeface="Malgun Gothic"/>
              </a:rPr>
              <a:t> Ribose의 2′ hydroxyl기에 methyl기가 붙는다. 반응성 있는 2′-OH가 가려지므로 그 지점의 RNA가 가수분해에 더 강해지고 구조가 고정된다.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Pseudouridine 형성.</a:t>
            </a:r>
            <a:r>
              <a:rPr sz="1400" b="0" i="0">
                <a:solidFill>
                  <a:srgbClr val="11202B"/>
                </a:solidFill>
                <a:latin typeface="Malgun Gothic"/>
                <a:ea typeface="Malgun Gothic"/>
                <a:cs typeface="Malgun Gothic"/>
              </a:rPr>
              <a:t> Uridine의 염기가 당과 연결되는 위치가 N1에서 C5로 바뀐다. 짝짓기 성질은 유지되면서 추가 수소결합을 할 수 있는 자리가 생겨 구조를 더 단단하게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문제는 </a:t>
            </a:r>
            <a:r>
              <a:rPr sz="1400" b="1" i="0">
                <a:solidFill>
                  <a:srgbClr val="11202B"/>
                </a:solidFill>
                <a:latin typeface="Malgun Gothic"/>
                <a:ea typeface="Malgun Gothic"/>
                <a:cs typeface="Malgun Gothic"/>
              </a:rPr>
              <a:t>어떻게 특정 위치만 변형하는가</a:t>
            </a:r>
            <a:r>
              <a:rPr sz="1400" b="0" i="0">
                <a:solidFill>
                  <a:srgbClr val="11202B"/>
                </a:solidFill>
                <a:latin typeface="Malgun Gothic"/>
                <a:ea typeface="Malgun Gothic"/>
                <a:cs typeface="Malgun Gothic"/>
              </a:rPr>
              <a:t>다. 효소가 서열을 직접 읽어서는 수천 염기 가운데 한 지점을 고를 수 없다. 해결 방식이 </a:t>
            </a:r>
            <a:r>
              <a:rPr sz="1400" b="1" i="0">
                <a:solidFill>
                  <a:srgbClr val="11202B"/>
                </a:solidFill>
                <a:latin typeface="Malgun Gothic"/>
                <a:ea typeface="Malgun Gothic"/>
                <a:cs typeface="Malgun Gothic"/>
              </a:rPr>
              <a:t>snoRNA</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snoRNP(small nucleolar ribonucleoprotein)</a:t>
            </a:r>
            <a:r>
              <a:rPr sz="1400" b="0" i="0">
                <a:solidFill>
                  <a:srgbClr val="11202B"/>
                </a:solidFill>
                <a:latin typeface="Malgun Gothic"/>
                <a:ea typeface="Malgun Gothic"/>
                <a:cs typeface="Malgun Gothic"/>
              </a:rPr>
              <a:t> 는 하나의 snoRNA와 8~10개의 단백질로 된 복합체다. snoRNA는 pre-rRNA의 변형될 지점 주변과 </a:t>
            </a:r>
            <a:r>
              <a:rPr sz="1400" b="1" i="0">
                <a:solidFill>
                  <a:srgbClr val="11202B"/>
                </a:solidFill>
                <a:latin typeface="Malgun Gothic"/>
                <a:ea typeface="Malgun Gothic"/>
                <a:cs typeface="Malgun Gothic"/>
              </a:rPr>
              <a:t>염기쌍을 이룰 수 있는 서열</a:t>
            </a:r>
            <a:r>
              <a:rPr sz="1400" b="0" i="0">
                <a:solidFill>
                  <a:srgbClr val="11202B"/>
                </a:solidFill>
                <a:latin typeface="Malgun Gothic"/>
                <a:ea typeface="Malgun Gothic"/>
                <a:cs typeface="Malgun Gothic"/>
              </a:rPr>
              <a:t>을 가진다. snoRNA가 결합하면 복합체의 효소가 정확히 그 지점에 놓이고, 변형이 일어난다.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snoRNA는 두 계열로 나뉘고 각각 한 종류의 변형을 담당한다. </a:t>
            </a:r>
            <a:r>
              <a:rPr sz="1400" b="1" i="0">
                <a:solidFill>
                  <a:srgbClr val="11202B"/>
                </a:solidFill>
                <a:latin typeface="Malgun Gothic"/>
                <a:ea typeface="Malgun Gothic"/>
                <a:cs typeface="Malgun Gothic"/>
              </a:rPr>
              <a:t>box C/D 계열</a:t>
            </a:r>
            <a:r>
              <a:rPr sz="1400" b="0" i="0">
                <a:solidFill>
                  <a:srgbClr val="11202B"/>
                </a:solidFill>
                <a:latin typeface="Malgun Gothic"/>
                <a:ea typeface="Malgun Gothic"/>
                <a:cs typeface="Malgun Gothic"/>
              </a:rPr>
              <a:t>이 2′-O-methylation을, </a:t>
            </a:r>
            <a:r>
              <a:rPr sz="1400" b="1" i="0">
                <a:solidFill>
                  <a:srgbClr val="11202B"/>
                </a:solidFill>
                <a:latin typeface="Malgun Gothic"/>
                <a:ea typeface="Malgun Gothic"/>
                <a:cs typeface="Malgun Gothic"/>
              </a:rPr>
              <a:t>box H/ACA 계열</a:t>
            </a:r>
            <a:r>
              <a:rPr sz="1400" b="0" i="0">
                <a:solidFill>
                  <a:srgbClr val="11202B"/>
                </a:solidFill>
                <a:latin typeface="Malgun Gothic"/>
                <a:ea typeface="Malgun Gothic"/>
                <a:cs typeface="Malgun Gothic"/>
              </a:rPr>
              <a:t>이 pseudouridine 형성을 수행한다.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snoRNP에 의한 rRNA의 화학 변형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38</a:t>
            </a:r>
          </a:p>
        </p:txBody>
      </p:sp>
      <p:sp>
        <p:nvSpPr>
          <p:cNvPr id="7" name="Rectangle 6"/>
          <p:cNvSpPr/>
          <p:nvPr/>
        </p:nvSpPr>
        <p:spPr>
          <a:xfrm>
            <a:off x="640080" y="1325880"/>
            <a:ext cx="10881360" cy="168148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이 구조에서 일반 원리를 읽어야 한다. </a:t>
            </a:r>
            <a:r>
              <a:rPr sz="1600" b="1" i="0">
                <a:solidFill>
                  <a:srgbClr val="11202B"/>
                </a:solidFill>
                <a:latin typeface="Malgun Gothic"/>
                <a:ea typeface="Malgun Gothic"/>
                <a:cs typeface="Malgun Gothic"/>
              </a:rPr>
              <a:t>위치를 정하는 것은 RNA이고 반응을 하는 것은 단백질이다.</a:t>
            </a:r>
            <a:r>
              <a:rPr sz="1600" b="0" i="0">
                <a:solidFill>
                  <a:srgbClr val="11202B"/>
                </a:solidFill>
                <a:latin typeface="Malgun Gothic"/>
                <a:ea typeface="Malgun Gothic"/>
                <a:cs typeface="Malgun Gothic"/>
              </a:rPr>
              <a:t> 염기쌍은 서열 특이성을 얻는 가장 경제적인 방법이므로, 세포는 특정 위치를 지정해야 할 때 반복적으로 이 전략을 쓴다. Spliceosome의 snRNA가 splice 부위를 인식하는 것도, miRNA가 표적 mRNA를 고르는 것도, CRISPR의 guide RNA가 표적을 지정하는 것도 같은 원리다.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snoRNP에 의한 rRNA의 화학 변형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39</a:t>
            </a:r>
          </a:p>
        </p:txBody>
      </p:sp>
      <p:pic>
        <p:nvPicPr>
          <p:cNvPr id="7" name="Picture 6" descr="fig-snornp.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snoRNP에 의한 위치 특이적 rRNA 변형. 2′-O-methylation과 pseudouridine 형성의 화학 구조 변화, snoRNA가 pre-rRNA와 염기쌍을 이루어 변형 지점을 지정하는 방식, box C/D와 box H/ACA 두 계열의 분담, 그리고 RNA가 위치를 정하고 단백질이 반응하는 공통 전략을 함께 보인다.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tRNA의 가공과 RNA editing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40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tRNA의 가공.</a:t>
            </a:r>
            <a:r>
              <a:rPr sz="1400" b="0" i="0">
                <a:solidFill>
                  <a:srgbClr val="11202B"/>
                </a:solidFill>
                <a:latin typeface="Malgun Gothic"/>
                <a:ea typeface="Malgun Gothic"/>
                <a:cs typeface="Malgun Gothic"/>
              </a:rPr>
              <a:t> Pol III가 만든 pre-tRNA도 여러 단계를 거친다.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5′ 말단 절단.</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RNase P</a:t>
            </a:r>
            <a:r>
              <a:rPr sz="1400" b="0" i="0">
                <a:solidFill>
                  <a:srgbClr val="11202B"/>
                </a:solidFill>
                <a:latin typeface="Malgun Gothic"/>
                <a:ea typeface="Malgun Gothic"/>
                <a:cs typeface="Malgun Gothic"/>
              </a:rPr>
              <a:t>가 여분의 5′ 구간을 자른다. RNase P는 RNA와 단백질로 되어 있고, </a:t>
            </a:r>
            <a:r>
              <a:rPr sz="1400" b="1" i="0">
                <a:solidFill>
                  <a:srgbClr val="11202B"/>
                </a:solidFill>
                <a:latin typeface="Malgun Gothic"/>
                <a:ea typeface="Malgun Gothic"/>
                <a:cs typeface="Malgun Gothic"/>
              </a:rPr>
              <a:t>촉매 활성을 가진 쪽이 RNA</a:t>
            </a:r>
            <a:r>
              <a:rPr sz="1400" b="0" i="0">
                <a:solidFill>
                  <a:srgbClr val="11202B"/>
                </a:solidFill>
                <a:latin typeface="Malgun Gothic"/>
                <a:ea typeface="Malgun Gothic"/>
                <a:cs typeface="Malgun Gothic"/>
              </a:rPr>
              <a:t>다. 즉 ribozyme이다.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말단 절단.</a:t>
            </a:r>
            <a:r>
              <a:rPr sz="1400" b="0" i="0">
                <a:solidFill>
                  <a:srgbClr val="11202B"/>
                </a:solidFill>
                <a:latin typeface="Malgun Gothic"/>
                <a:ea typeface="Malgun Gothic"/>
                <a:cs typeface="Malgun Gothic"/>
              </a:rPr>
              <a:t> 여분의 3′ 구간이 제거된다.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CCA 부가.</a:t>
            </a:r>
            <a:r>
              <a:rPr sz="1400" b="0" i="0">
                <a:solidFill>
                  <a:srgbClr val="11202B"/>
                </a:solidFill>
                <a:latin typeface="Malgun Gothic"/>
                <a:ea typeface="Malgun Gothic"/>
                <a:cs typeface="Malgun Gothic"/>
              </a:rPr>
              <a:t> 3′ 말단에 </a:t>
            </a:r>
            <a:r>
              <a:rPr sz="1400" b="1" i="0">
                <a:solidFill>
                  <a:srgbClr val="11202B"/>
                </a:solidFill>
                <a:latin typeface="Malgun Gothic"/>
                <a:ea typeface="Malgun Gothic"/>
                <a:cs typeface="Malgun Gothic"/>
              </a:rPr>
              <a:t>C-C-A</a:t>
            </a:r>
            <a:r>
              <a:rPr sz="1400" b="0" i="0">
                <a:solidFill>
                  <a:srgbClr val="11202B"/>
                </a:solidFill>
                <a:latin typeface="Malgun Gothic"/>
                <a:ea typeface="Malgun Gothic"/>
                <a:cs typeface="Malgun Gothic"/>
              </a:rPr>
              <a:t> 세 nucleotide가 붙는다. 이 서열은 </a:t>
            </a:r>
            <a:r>
              <a:rPr sz="1400" b="1" i="0">
                <a:solidFill>
                  <a:srgbClr val="11202B"/>
                </a:solidFill>
                <a:latin typeface="Malgun Gothic"/>
                <a:ea typeface="Malgun Gothic"/>
                <a:cs typeface="Malgun Gothic"/>
              </a:rPr>
              <a:t>유전체에 암호화되어 있지 않다.</a:t>
            </a:r>
            <a:r>
              <a:rPr sz="1400" b="0" i="0">
                <a:solidFill>
                  <a:srgbClr val="11202B"/>
                </a:solidFill>
                <a:latin typeface="Malgun Gothic"/>
                <a:ea typeface="Malgun Gothic"/>
                <a:cs typeface="Malgun Gothic"/>
              </a:rPr>
              <a:t> 전용 효소가 주형 없이 붙인다. 아미노산이 결합하는 자리가 바로 이 A의 3′-OH이므로, CCA 없이는 tRNA가 아미노산을 실을 수 없다.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염기 변형.</a:t>
            </a:r>
            <a:r>
              <a:rPr sz="1400" b="0" i="0">
                <a:solidFill>
                  <a:srgbClr val="11202B"/>
                </a:solidFill>
                <a:latin typeface="Malgun Gothic"/>
                <a:ea typeface="Malgun Gothic"/>
                <a:cs typeface="Malgun Gothic"/>
              </a:rPr>
              <a:t> 수십 종의 변형 염기가 만들어진다. dihydrouridine, pseudouridine, inosine, 여러 methyl 유도체가 그 예다. 특히 anticodon 첫 자리의 </a:t>
            </a:r>
            <a:r>
              <a:rPr sz="1400" b="1" i="0">
                <a:solidFill>
                  <a:srgbClr val="11202B"/>
                </a:solidFill>
                <a:latin typeface="Malgun Gothic"/>
                <a:ea typeface="Malgun Gothic"/>
                <a:cs typeface="Malgun Gothic"/>
              </a:rPr>
              <a:t>inosine</a:t>
            </a:r>
            <a:r>
              <a:rPr sz="1400" b="0" i="0">
                <a:solidFill>
                  <a:srgbClr val="11202B"/>
                </a:solidFill>
                <a:latin typeface="Malgun Gothic"/>
                <a:ea typeface="Malgun Gothic"/>
                <a:cs typeface="Malgun Gothic"/>
              </a:rPr>
              <a:t>은 여러 염기와 짝지을 수 있어 하나의 tRNA가 여러 codon을 읽게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일부 tRNA 유전자에는 </a:t>
            </a:r>
            <a:r>
              <a:rPr sz="1400" b="1" i="0">
                <a:solidFill>
                  <a:srgbClr val="11202B"/>
                </a:solidFill>
                <a:latin typeface="Malgun Gothic"/>
                <a:ea typeface="Malgun Gothic"/>
                <a:cs typeface="Malgun Gothic"/>
              </a:rPr>
              <a:t>intron</a:t>
            </a:r>
            <a:r>
              <a:rPr sz="1400" b="0" i="0">
                <a:solidFill>
                  <a:srgbClr val="11202B"/>
                </a:solidFill>
                <a:latin typeface="Malgun Gothic"/>
                <a:ea typeface="Malgun Gothic"/>
                <a:cs typeface="Malgun Gothic"/>
              </a:rPr>
              <a:t>이 있다. 이 intron은 spliceosome이 제거하지 않는다. 전용 endonuclease와 ligase가 처리하며, 기전이 pre-mRNA splicing과 완전히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RNA editing.</a:t>
            </a:r>
            <a:r>
              <a:rPr sz="1400" b="0" i="0">
                <a:solidFill>
                  <a:srgbClr val="11202B"/>
                </a:solidFill>
                <a:latin typeface="Malgun Gothic"/>
                <a:ea typeface="Malgun Gothic"/>
                <a:cs typeface="Malgun Gothic"/>
              </a:rPr>
              <a:t> Splicing이 구간을 제거하는 것이라면, editing은 </a:t>
            </a:r>
            <a:r>
              <a:rPr sz="1400" b="1" i="0">
                <a:solidFill>
                  <a:srgbClr val="11202B"/>
                </a:solidFill>
                <a:latin typeface="Malgun Gothic"/>
                <a:ea typeface="Malgun Gothic"/>
                <a:cs typeface="Malgun Gothic"/>
              </a:rPr>
              <a:t>개별 염기를 바꾸는 것</a:t>
            </a:r>
            <a:r>
              <a:rPr sz="1400" b="0" i="0">
                <a:solidFill>
                  <a:srgbClr val="11202B"/>
                </a:solidFill>
                <a:latin typeface="Malgun Gothic"/>
                <a:ea typeface="Malgun Gothic"/>
                <a:cs typeface="Malgun Gothic"/>
              </a:rPr>
              <a:t>이다. 전사체의 서열이 유전체의 서열과 달라지므로 유전체만 보고 단백질 서열을 예측할 수 없게 된다. 사람에서 두 방식이 알려져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C→U 탈아미노화.</a:t>
            </a:r>
            <a:r>
              <a:rPr sz="1400" b="0" i="0">
                <a:solidFill>
                  <a:srgbClr val="11202B"/>
                </a:solidFill>
                <a:latin typeface="Malgun Gothic"/>
                <a:ea typeface="Malgun Gothic"/>
                <a:cs typeface="Malgun Gothic"/>
              </a:rPr>
              <a:t> Cytosine이 uracil로 바뀐다. 대표 예가 </a:t>
            </a:r>
            <a:r>
              <a:rPr sz="1400" b="1" i="0">
                <a:solidFill>
                  <a:srgbClr val="11202B"/>
                </a:solidFill>
                <a:latin typeface="Malgun Gothic"/>
                <a:ea typeface="Malgun Gothic"/>
                <a:cs typeface="Malgun Gothic"/>
              </a:rPr>
              <a:t>apolipoprotein B</a:t>
            </a:r>
            <a:r>
              <a:rPr sz="1400" b="0" i="0">
                <a:solidFill>
                  <a:srgbClr val="11202B"/>
                </a:solidFill>
                <a:latin typeface="Malgun Gothic"/>
                <a:ea typeface="Malgun Gothic"/>
                <a:cs typeface="Malgun Gothic"/>
              </a:rPr>
              <a:t>다. 간에서는 전사체가 그대로 번역되어 전장 단백질 ApoB-100이 만들어진다. 소장에서는 특정 위치의 C가 U로 바뀌어 그 codon이 </a:t>
            </a:r>
            <a:r>
              <a:rPr sz="1400" b="1" i="0">
                <a:solidFill>
                  <a:srgbClr val="11202B"/>
                </a:solidFill>
                <a:latin typeface="Malgun Gothic"/>
                <a:ea typeface="Malgun Gothic"/>
                <a:cs typeface="Malgun Gothic"/>
              </a:rPr>
              <a:t>종결 codon</a:t>
            </a:r>
            <a:r>
              <a:rPr sz="1400" b="0" i="0">
                <a:solidFill>
                  <a:srgbClr val="11202B"/>
                </a:solidFill>
                <a:latin typeface="Malgun Gothic"/>
                <a:ea typeface="Malgun Gothic"/>
                <a:cs typeface="Malgun Gothic"/>
              </a:rPr>
              <a:t>이 되고, 짧은 ApoB-48이 만들어진다. 하나의 유전자에서 조직에 따라 길이가 다른 두 단백질이 나온다.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A→I 탈아미노화.</a:t>
            </a:r>
            <a:r>
              <a:rPr sz="1400" b="0" i="0">
                <a:solidFill>
                  <a:srgbClr val="11202B"/>
                </a:solidFill>
                <a:latin typeface="Malgun Gothic"/>
                <a:ea typeface="Malgun Gothic"/>
                <a:cs typeface="Malgun Gothic"/>
              </a:rPr>
              <a:t> Adenosine이 inosine으로 바뀐다. </a:t>
            </a:r>
            <a:r>
              <a:rPr sz="1400" b="1" i="0">
                <a:solidFill>
                  <a:srgbClr val="11202B"/>
                </a:solidFill>
                <a:latin typeface="Malgun Gothic"/>
                <a:ea typeface="Malgun Gothic"/>
                <a:cs typeface="Malgun Gothic"/>
              </a:rPr>
              <a:t>ADAR</a:t>
            </a:r>
            <a:r>
              <a:rPr sz="1400" b="0" i="0">
                <a:solidFill>
                  <a:srgbClr val="11202B"/>
                </a:solidFill>
                <a:latin typeface="Malgun Gothic"/>
                <a:ea typeface="Malgun Gothic"/>
                <a:cs typeface="Malgun Gothic"/>
              </a:rPr>
              <a:t> 계열 효소가 수행하고, 이중가닥 RNA 구간에서 일어난다. Inosine은 번역 기구에서 guanosine처럼 읽히므로 codon이 바뀔 수 있다. 신경계에서 흔하며, glutamate 수용체 소단위의 editing이 통로의 Ca²⁺ 투과성을 바꾸는 것이 잘 알려진 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A→I editing의 대부분은 단백질 서열을 바꾸지 않는다. 사람에서 확인된 editing 부위의 압도적 다수가 Alu를 비롯한 반복 서열이 서로 짝지어 만든 이중가닥 구간에 있고, 그 기능은 </a:t>
            </a:r>
            <a:r>
              <a:rPr sz="1400" b="1" i="0">
                <a:solidFill>
                  <a:srgbClr val="11202B"/>
                </a:solidFill>
                <a:latin typeface="Malgun Gothic"/>
                <a:ea typeface="Malgun Gothic"/>
                <a:cs typeface="Malgun Gothic"/>
              </a:rPr>
              <a:t>자기 RNA를 외부 RNA와 구별하는 것</a:t>
            </a:r>
            <a:r>
              <a:rPr sz="1400" b="0" i="0">
                <a:solidFill>
                  <a:srgbClr val="11202B"/>
                </a:solidFill>
                <a:latin typeface="Malgun Gothic"/>
                <a:ea typeface="Malgun Gothic"/>
                <a:cs typeface="Malgun Gothic"/>
              </a:rPr>
              <a:t>으로 해석된다. 세포질의 이중가닥 RNA는 바이러스의 표지이므로 MDA5 같은 센서가 이를 인식해 인터페론 반응을 켠다. ADAR1이 자기 유래 이중가닥 RNA를 editing해 구조를 흐트러뜨리면 이 센서가 작동하지 않는다. *ADAR1*의 기능 상실 변이가 인터페론이 만성적으로 켜진 상태인 Aicardi–Goutières 증후군을 일으키는 것이 이 해석의 임상적 근거다. 종양에서는 같은 축이 거꾸로 이용된다. ADAR1을 제거하면 종양세포가 자기 RNA를 외부 RNA로 인식해 인터페론 반응을 켜므로, ADAR1이 면역치료의 감작 표적으로 연구되고 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tRNA의 가공과 RNA editing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41</a:t>
            </a:r>
          </a:p>
        </p:txBody>
      </p:sp>
      <p:pic>
        <p:nvPicPr>
          <p:cNvPr id="7" name="Picture 6" descr="fig-trna-editing.slide.png"/>
          <p:cNvPicPr>
            <a:picLocks noChangeAspect="1"/>
          </p:cNvPicPr>
          <p:nvPr/>
        </p:nvPicPr>
        <p:blipFill>
          <a:blip r:embed="rId2"/>
          <a:stretch>
            <a:fillRect/>
          </a:stretch>
        </p:blipFill>
        <p:spPr>
          <a:xfrm>
            <a:off x="2029686" y="1325880"/>
            <a:ext cx="813232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tRNA 가공의 네 단계와 RNA editing의 두 방식. RNase P에 의한 5′ 절단과 그것이 ribozyme이라는 점, 주형 없이 붙는 CCA와 아미노산 결합 자리, anticodon의 inosine, 그리고 apolipoprotein B의 C→U editing이 조직에 따라 다른 길이의 단백질을 만드는 과정을 함께 보인다.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mRNA의 안정성과 분해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전사량만으로 단백질의 양이 정해지지 않는다. mRNA가 </a:t>
            </a:r>
            <a:r>
              <a:rPr sz="1400" b="1" i="0">
                <a:solidFill>
                  <a:srgbClr val="11202B"/>
                </a:solidFill>
                <a:latin typeface="Malgun Gothic"/>
                <a:ea typeface="Malgun Gothic"/>
                <a:cs typeface="Malgun Gothic"/>
              </a:rPr>
              <a:t>얼마나 오래 남아 있는지</a:t>
            </a:r>
            <a:r>
              <a:rPr sz="1400" b="0" i="0">
                <a:solidFill>
                  <a:srgbClr val="11202B"/>
                </a:solidFill>
                <a:latin typeface="Malgun Gothic"/>
                <a:ea typeface="Malgun Gothic"/>
                <a:cs typeface="Malgun Gothic"/>
              </a:rPr>
              <a:t>가 함께 작용한다.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원리는 간단하다. 정상 상태에서 mRNA의 양은 </a:t>
            </a:r>
            <a:r>
              <a:rPr sz="1400" b="1" i="0">
                <a:solidFill>
                  <a:srgbClr val="11202B"/>
                </a:solidFill>
                <a:latin typeface="Malgun Gothic"/>
                <a:ea typeface="Malgun Gothic"/>
                <a:cs typeface="Malgun Gothic"/>
              </a:rPr>
              <a:t>합성 속도와 분해 속도의 균형</a:t>
            </a:r>
            <a:r>
              <a:rPr sz="1400" b="0" i="0">
                <a:solidFill>
                  <a:srgbClr val="11202B"/>
                </a:solidFill>
                <a:latin typeface="Malgun Gothic"/>
                <a:ea typeface="Malgun Gothic"/>
                <a:cs typeface="Malgun Gothic"/>
              </a:rPr>
              <a:t>으로 정해진다. 합성이 같아도 반감기가 열 배 길면 쌓이는 양이 열 배가 된다. 따라서 </a:t>
            </a:r>
            <a:r>
              <a:rPr sz="1400" b="1" i="0">
                <a:solidFill>
                  <a:srgbClr val="11202B"/>
                </a:solidFill>
                <a:latin typeface="Malgun Gothic"/>
                <a:ea typeface="Malgun Gothic"/>
                <a:cs typeface="Malgun Gothic"/>
              </a:rPr>
              <a:t>반감기는 전사와 독립된 조절 지점</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 mRNA의 반감기는 종류에 따라 크게 다르다. 수십 분인 것부터 며칠인 것까지 있다. 짧은 쪽에는 즉각 작용이 필요한 유전자가 모인다. 성장인자, 사이토카인, 전사인자의 mRNA가 그렇다. 신호가 끊기면 빨리 사라져야 반응이 제때 끝난다. 긴 쪽에는 구조 단백질이나 상시 필요한 효소의 mRNA가 모인다.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반감기를 정하는 서열.</a:t>
            </a:r>
            <a:r>
              <a:rPr sz="1400" b="0" i="0">
                <a:solidFill>
                  <a:srgbClr val="11202B"/>
                </a:solidFill>
                <a:latin typeface="Malgun Gothic"/>
                <a:ea typeface="Malgun Gothic"/>
                <a:cs typeface="Malgun Gothic"/>
              </a:rPr>
              <a:t> 3′ 비번역 구간(3′ UTR)에 있는 서열이 주로 결정한다. 대표적인 것이 </a:t>
            </a:r>
            <a:r>
              <a:rPr sz="1400" b="1" i="0">
                <a:solidFill>
                  <a:srgbClr val="11202B"/>
                </a:solidFill>
                <a:latin typeface="Malgun Gothic"/>
                <a:ea typeface="Malgun Gothic"/>
                <a:cs typeface="Malgun Gothic"/>
              </a:rPr>
              <a:t>AU-rich element(ARE)</a:t>
            </a:r>
            <a:r>
              <a:rPr sz="1400" b="0" i="0">
                <a:solidFill>
                  <a:srgbClr val="11202B"/>
                </a:solidFill>
                <a:latin typeface="Malgun Gothic"/>
                <a:ea typeface="Malgun Gothic"/>
                <a:cs typeface="Malgun Gothic"/>
              </a:rPr>
              <a:t> 이며, UAUUUAU 같은 반복을 가진다. ARE에 결합하는 단백질에 따라 결과가 갈린다. 분해를 촉진하는 단백질이 붙으면 전사체가 빨리 사라지고, 안정화하는 단백질이 붙으면 오래 남는다.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분해의 경로.</a:t>
            </a:r>
            <a:r>
              <a:rPr sz="1400" b="0" i="0">
                <a:solidFill>
                  <a:srgbClr val="11202B"/>
                </a:solidFill>
                <a:latin typeface="Malgun Gothic"/>
                <a:ea typeface="Malgun Gothic"/>
                <a:cs typeface="Malgun Gothic"/>
              </a:rPr>
              <a:t> 순서가 정해져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1단계: deadenylation.</a:t>
            </a:r>
            <a:r>
              <a:rPr sz="1400" b="0" i="0">
                <a:solidFill>
                  <a:srgbClr val="11202B"/>
                </a:solidFill>
                <a:latin typeface="Malgun Gothic"/>
                <a:ea typeface="Malgun Gothic"/>
                <a:cs typeface="Malgun Gothic"/>
              </a:rPr>
              <a:t> Poly(A) 꼬리가 짧아진다. 꼬리가 일정 길이 이하로 줄면 PABP가 떨어지고 전사체가 분해에 노출된다. 대개 이 단계가 속도를 정하는 </a:t>
            </a:r>
            <a:r>
              <a:rPr sz="1400" b="1" i="0">
                <a:solidFill>
                  <a:srgbClr val="11202B"/>
                </a:solidFill>
                <a:latin typeface="Malgun Gothic"/>
                <a:ea typeface="Malgun Gothic"/>
                <a:cs typeface="Malgun Gothic"/>
              </a:rPr>
              <a:t>rate-limiting step</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2단계: decapping.</a:t>
            </a:r>
            <a:r>
              <a:rPr sz="1400" b="0" i="0">
                <a:solidFill>
                  <a:srgbClr val="11202B"/>
                </a:solidFill>
                <a:latin typeface="Malgun Gothic"/>
                <a:ea typeface="Malgun Gothic"/>
                <a:cs typeface="Malgun Gothic"/>
              </a:rPr>
              <a:t> 5′ cap이 제거된다. 자유로운 5′ 말단이 드러난다.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3단계: exonuclease 분해.</a:t>
            </a:r>
            <a:r>
              <a:rPr sz="1400" b="0" i="0">
                <a:solidFill>
                  <a:srgbClr val="11202B"/>
                </a:solidFill>
                <a:latin typeface="Malgun Gothic"/>
                <a:ea typeface="Malgun Gothic"/>
                <a:cs typeface="Malgun Gothic"/>
              </a:rPr>
              <a:t> 5′→3′ 방향 exonuclease와 3′→5′ 방향 exosome 복합체가 전사체를 분해한다.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품질 관리 경로.</a:t>
            </a:r>
            <a:r>
              <a:rPr sz="1400" b="0" i="0">
                <a:solidFill>
                  <a:srgbClr val="11202B"/>
                </a:solidFill>
                <a:latin typeface="Malgun Gothic"/>
                <a:ea typeface="Malgun Gothic"/>
                <a:cs typeface="Malgun Gothic"/>
              </a:rPr>
              <a:t> 정상 분해와 별도로, 결함 있는 전사체를 제거하는 경로가 있다. </a:t>
            </a:r>
            <a:r>
              <a:rPr sz="1400" b="1" i="0">
                <a:solidFill>
                  <a:srgbClr val="11202B"/>
                </a:solidFill>
                <a:latin typeface="Malgun Gothic"/>
                <a:ea typeface="Malgun Gothic"/>
                <a:cs typeface="Malgun Gothic"/>
              </a:rPr>
              <a:t>Nonsense-mediated decay(NMD)</a:t>
            </a:r>
            <a:r>
              <a:rPr sz="1400" b="0" i="0">
                <a:solidFill>
                  <a:srgbClr val="11202B"/>
                </a:solidFill>
                <a:latin typeface="Malgun Gothic"/>
                <a:ea typeface="Malgun Gothic"/>
                <a:cs typeface="Malgun Gothic"/>
              </a:rPr>
              <a:t> 는 번역 중 비정상적으로 이른 위치에서 종결 codon을 만나면 그 전사체를 분해한다. 판정 기준은 종결 codon이 마지막 exon 경계보다 </a:t>
            </a:r>
            <a:r>
              <a:rPr sz="1400" b="1" i="0">
                <a:solidFill>
                  <a:srgbClr val="11202B"/>
                </a:solidFill>
                <a:latin typeface="Malgun Gothic"/>
                <a:ea typeface="Malgun Gothic"/>
                <a:cs typeface="Malgun Gothic"/>
              </a:rPr>
              <a:t>상류에 있는지</a:t>
            </a:r>
            <a:r>
              <a:rPr sz="1400" b="0" i="0">
                <a:solidFill>
                  <a:srgbClr val="11202B"/>
                </a:solidFill>
                <a:latin typeface="Malgun Gothic"/>
                <a:ea typeface="Malgun Gothic"/>
                <a:cs typeface="Malgun Gothic"/>
              </a:rPr>
              <a:t>다. 이 경로 때문에 종결 codon을 만드는 변이는 단백질이 짧아지는 데 그치지 않고 전사체 자체가 사라지는 결과를 낳는다.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분해는 세포질의 특정 장소에 모여 일어난다. Decapping 효소와 5′→3′ exonuclease가 모인 </a:t>
            </a:r>
            <a:r>
              <a:rPr sz="1400" b="1" i="0">
                <a:solidFill>
                  <a:srgbClr val="11202B"/>
                </a:solidFill>
                <a:latin typeface="Malgun Gothic"/>
                <a:ea typeface="Malgun Gothic"/>
                <a:cs typeface="Malgun Gothic"/>
              </a:rPr>
              <a:t>P body</a:t>
            </a:r>
            <a:r>
              <a:rPr sz="1400" b="0" i="0">
                <a:solidFill>
                  <a:srgbClr val="11202B"/>
                </a:solidFill>
                <a:latin typeface="Malgun Gothic"/>
                <a:ea typeface="Malgun Gothic"/>
                <a:cs typeface="Malgun Gothic"/>
              </a:rPr>
              <a:t>, 그리고 스트레스에서 번역이 멈춘 전사체와 개시 인자가 모이는 </a:t>
            </a:r>
            <a:r>
              <a:rPr sz="1400" b="1" i="0">
                <a:solidFill>
                  <a:srgbClr val="11202B"/>
                </a:solidFill>
                <a:latin typeface="Malgun Gothic"/>
                <a:ea typeface="Malgun Gothic"/>
                <a:cs typeface="Malgun Gothic"/>
              </a:rPr>
              <a:t>stress granule</a:t>
            </a:r>
            <a:r>
              <a:rPr sz="1400" b="0" i="0">
                <a:solidFill>
                  <a:srgbClr val="11202B"/>
                </a:solidFill>
                <a:latin typeface="Malgun Gothic"/>
                <a:ea typeface="Malgun Gothic"/>
                <a:cs typeface="Malgun Gothic"/>
              </a:rPr>
              <a:t>은 막이 없는 응축체이며, 전사체가 이 사이를 오가며 분해되거나 보관되었다가 다시 번역에 들어간다. 즉 전사체의 운명은 "있다/없다"가 아니라 번역, 보관, 분해 사이의 분배로 정해진다. ALS와 전두측두엽 치매에서 변이가 보고된 TDP-43과 FUS가 이 응축체의 구성 단백질이며, 응축체가 비정상적으로 굳는 것이 병리와 연결된다는 모형이 제시되어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신호에 따른 안정성 조절.</a:t>
            </a:r>
            <a:r>
              <a:rPr sz="1400" b="0" i="0">
                <a:solidFill>
                  <a:srgbClr val="11202B"/>
                </a:solidFill>
                <a:latin typeface="Malgun Gothic"/>
                <a:ea typeface="Malgun Gothic"/>
                <a:cs typeface="Malgun Gothic"/>
              </a:rPr>
              <a:t> 세포 상태가 mRNA의 수명을 직접 바꾼다. </a:t>
            </a:r>
            <a:r>
              <a:rPr sz="1400" b="1" i="0">
                <a:solidFill>
                  <a:srgbClr val="11202B"/>
                </a:solidFill>
                <a:latin typeface="Malgun Gothic"/>
                <a:ea typeface="Malgun Gothic"/>
                <a:cs typeface="Malgun Gothic"/>
              </a:rPr>
              <a:t>Transferrin receptor</a:t>
            </a:r>
            <a:r>
              <a:rPr sz="1400" b="0" i="0">
                <a:solidFill>
                  <a:srgbClr val="11202B"/>
                </a:solidFill>
                <a:latin typeface="Malgun Gothic"/>
                <a:ea typeface="Malgun Gothic"/>
                <a:cs typeface="Malgun Gothic"/>
              </a:rPr>
              <a:t> mRNA가 전형이다. 3′ UTR에 </a:t>
            </a:r>
            <a:r>
              <a:rPr sz="1400" b="1" i="0">
                <a:solidFill>
                  <a:srgbClr val="11202B"/>
                </a:solidFill>
                <a:latin typeface="Malgun Gothic"/>
                <a:ea typeface="Malgun Gothic"/>
                <a:cs typeface="Malgun Gothic"/>
              </a:rPr>
              <a:t>iron-response element(IRE)</a:t>
            </a:r>
            <a:r>
              <a:rPr sz="1400" b="0" i="0">
                <a:solidFill>
                  <a:srgbClr val="11202B"/>
                </a:solidFill>
                <a:latin typeface="Malgun Gothic"/>
                <a:ea typeface="Malgun Gothic"/>
                <a:cs typeface="Malgun Gothic"/>
              </a:rPr>
              <a:t> 가 있고, 철이 부족하면 IRE-binding protein이 결합해 전사체를 분해로부터 보호한다. 수용체가 많아져 철을 더 들여온다. 철이 충분하면 결합이 풀려 전사체가 분해되고 수용체가 줄어든다. 전사를 건드리지 않고 반감기만 바꾸어 발현량을 조절하는 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mRNA의 안정성과 분해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43</a:t>
            </a:r>
          </a:p>
        </p:txBody>
      </p:sp>
      <p:sp>
        <p:nvSpPr>
          <p:cNvPr id="7" name="Rectangle 6"/>
          <p:cNvSpPr/>
          <p:nvPr/>
        </p:nvSpPr>
        <p:spPr>
          <a:xfrm>
            <a:off x="640080" y="1325880"/>
            <a:ext cx="10881360" cy="992428"/>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 </a:t>
            </a:r>
            <a:r>
              <a:rPr sz="1600" b="0" i="0">
                <a:solidFill>
                  <a:srgbClr val="11202B"/>
                </a:solidFill>
                <a:latin typeface="Malgun Gothic"/>
                <a:ea typeface="Malgun Gothic"/>
                <a:cs typeface="Malgun Gothic"/>
              </a:rPr>
              <a:t> NMD는 유전 질환의 표현형을 예측하는 데 직접 쓰인다. 같은 유전자의 종결 codon 변이라도 </a:t>
            </a:r>
            <a:r>
              <a:rPr sz="1600" b="1" i="0">
                <a:solidFill>
                  <a:srgbClr val="11202B"/>
                </a:solidFill>
                <a:latin typeface="Malgun Gothic"/>
                <a:ea typeface="Malgun Gothic"/>
                <a:cs typeface="Malgun Gothic"/>
              </a:rPr>
              <a:t>위치에 따라 결과가 다르다.</a:t>
            </a:r>
            <a:r>
              <a:rPr sz="1600" b="0" i="0">
                <a:solidFill>
                  <a:srgbClr val="11202B"/>
                </a:solidFill>
                <a:latin typeface="Malgun Gothic"/>
                <a:ea typeface="Malgun Gothic"/>
                <a:cs typeface="Malgun Gothic"/>
              </a:rPr>
              <a:t> 마지막 exon에 있는 종결 codon은 NMD를 피하므로 짧아진 단백질이 만들어지고, 그 단백질이 정상 단백질을 방해하면 </a:t>
            </a:r>
            <a:r>
              <a:rPr sz="1600" b="1" i="0">
                <a:solidFill>
                  <a:srgbClr val="11202B"/>
                </a:solidFill>
                <a:latin typeface="Malgun Gothic"/>
                <a:ea typeface="Malgun Gothic"/>
                <a:cs typeface="Malgun Gothic"/>
              </a:rPr>
              <a:t>우성 음성(dominant negative)</a:t>
            </a:r>
            <a:r>
              <a:rPr sz="1600" b="0" i="0">
                <a:solidFill>
                  <a:srgbClr val="11202B"/>
                </a:solidFill>
                <a:latin typeface="Malgun Gothic"/>
                <a:ea typeface="Malgun Gothic"/>
                <a:cs typeface="Malgun Gothic"/>
              </a:rPr>
              <a:t> 효과가 나타난다. 반면 상류의 종결 codon은 NMD로 전사체가 사라져 단순한 기능 상실이 되고, 이형접합자에서는 절반의 양이 남아 증상이 가볍다. β-thalassemia에서 변이 위치에 따라 경증과 중증이 갈리는 데 이 차이가 작용한다.</a:t>
            </a:r>
          </a:p>
        </p:txBody>
      </p:sp>
      <p:sp>
        <p:nvSpPr>
          <p:cNvPr id="8" name="Rectangle 7"/>
          <p:cNvSpPr/>
          <p:nvPr/>
        </p:nvSpPr>
        <p:spPr>
          <a:xfrm>
            <a:off x="640080" y="2455468"/>
            <a:ext cx="10881360" cy="1479702"/>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종결 codon 변이의 결과를 예측하는 문제는 </a:t>
            </a:r>
            <a:r>
              <a:rPr sz="1600" b="1" i="0">
                <a:solidFill>
                  <a:srgbClr val="11202B"/>
                </a:solidFill>
                <a:latin typeface="Malgun Gothic"/>
                <a:ea typeface="Malgun Gothic"/>
                <a:cs typeface="Malgun Gothic"/>
              </a:rPr>
              <a:t>위치</a:t>
            </a:r>
            <a:r>
              <a:rPr sz="1600" b="0" i="0">
                <a:solidFill>
                  <a:srgbClr val="11202B"/>
                </a:solidFill>
                <a:latin typeface="Malgun Gothic"/>
                <a:ea typeface="Malgun Gothic"/>
                <a:cs typeface="Malgun Gothic"/>
              </a:rPr>
              <a:t>로 답이 갈린다. (1) 마지막 exon에 있거나 마지막 exon 경계에서 55 nucleotide 이내에 있으면 NMD를 피해 짧아진 단백질이 만들어지고, 그 단백질이 정상 단백질과 복합체를 이루면 </a:t>
            </a:r>
            <a:r>
              <a:rPr sz="1600" b="1" i="0">
                <a:solidFill>
                  <a:srgbClr val="11202B"/>
                </a:solidFill>
                <a:latin typeface="Malgun Gothic"/>
                <a:ea typeface="Malgun Gothic"/>
                <a:cs typeface="Malgun Gothic"/>
              </a:rPr>
              <a:t>우성 음성</a:t>
            </a:r>
            <a:r>
              <a:rPr sz="1600" b="0" i="0">
                <a:solidFill>
                  <a:srgbClr val="11202B"/>
                </a:solidFill>
                <a:latin typeface="Malgun Gothic"/>
                <a:ea typeface="Malgun Gothic"/>
                <a:cs typeface="Malgun Gothic"/>
              </a:rPr>
              <a:t>으로 작동해 이형접합자에서도 증상이 나타난다. (2) 그보다 상류에 있으면 전사체가 분해되어 단순한 기능 상실(haploinsufficiency)이 되고, 유전자에 따라 이형접합자가 무증상이거나 경증이 된다. 같은 유전자에서 변이 위치에 따라 유전 양식이 우성과 열성으로 갈리는 사례가 이 기전으로 설명된다. 아울러 NMD는 치료 반응에도 들어간다. 조기 종결 codon을 건너뛰게 하는 read-through 약물은 전사체가 NMD로 이미 사라진 경우에는 효과를 볼 수 없으므로, NMD 억제와 함께 쓰는 전략이 시도된다.</a:t>
            </a:r>
          </a:p>
        </p:txBody>
      </p:sp>
      <p:sp>
        <p:nvSpPr>
          <p:cNvPr id="9" name="Rectangle 8"/>
          <p:cNvSpPr/>
          <p:nvPr/>
        </p:nvSpPr>
        <p:spPr>
          <a:xfrm>
            <a:off x="640080" y="4072330"/>
            <a:ext cx="10881360" cy="2099868"/>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RNA를 약으로 쓰는 분야가 지난 10년 사이에 임상으로 들어왔다. 세 갈래가 있다. 첫째, </a:t>
            </a:r>
            <a:r>
              <a:rPr sz="1600" b="1" i="0">
                <a:solidFill>
                  <a:srgbClr val="11202B"/>
                </a:solidFill>
                <a:latin typeface="Malgun Gothic"/>
                <a:ea typeface="Malgun Gothic"/>
                <a:cs typeface="Malgun Gothic"/>
              </a:rPr>
              <a:t>antisense oligonucleotide</a:t>
            </a:r>
            <a:r>
              <a:rPr sz="1600" b="0" i="0">
                <a:solidFill>
                  <a:srgbClr val="11202B"/>
                </a:solidFill>
                <a:latin typeface="Malgun Gothic"/>
                <a:ea typeface="Malgun Gothic"/>
                <a:cs typeface="Malgun Gothic"/>
              </a:rPr>
              <a:t>는 splicing을 바꾸거나 전사체를 분해해 nusinersen, eteplirsen, 그리고 transthyretin과 apolipoprotein을 표적으로 하는 약으로 승인되었다. 둘째, </a:t>
            </a:r>
            <a:r>
              <a:rPr sz="1600" b="1" i="0">
                <a:solidFill>
                  <a:srgbClr val="11202B"/>
                </a:solidFill>
                <a:latin typeface="Malgun Gothic"/>
                <a:ea typeface="Malgun Gothic"/>
                <a:cs typeface="Malgun Gothic"/>
              </a:rPr>
              <a:t>siRNA 치료제</a:t>
            </a:r>
            <a:r>
              <a:rPr sz="1600" b="0" i="0">
                <a:solidFill>
                  <a:srgbClr val="11202B"/>
                </a:solidFill>
                <a:latin typeface="Malgun Gothic"/>
                <a:ea typeface="Malgun Gothic"/>
                <a:cs typeface="Malgun Gothic"/>
              </a:rPr>
              <a:t>는 간을 표적으로 하는 전달이 확립되어 patisiran, inclisiran 등이 쓰이고 있으며, 과제는 간 이외의 장기다. 셋째, </a:t>
            </a:r>
            <a:r>
              <a:rPr sz="1600" b="1" i="0">
                <a:solidFill>
                  <a:srgbClr val="11202B"/>
                </a:solidFill>
                <a:latin typeface="Malgun Gothic"/>
                <a:ea typeface="Malgun Gothic"/>
                <a:cs typeface="Malgun Gothic"/>
              </a:rPr>
              <a:t>mRNA 치료제와 백신</a:t>
            </a:r>
            <a:r>
              <a:rPr sz="1600" b="0" i="0">
                <a:solidFill>
                  <a:srgbClr val="11202B"/>
                </a:solidFill>
                <a:latin typeface="Malgun Gothic"/>
                <a:ea typeface="Malgun Gothic"/>
                <a:cs typeface="Malgun Gothic"/>
              </a:rPr>
              <a:t>이다. 외부에서 넣은 mRNA가 선천 면역을 자극하는 문제를 uridine을 </a:t>
            </a:r>
            <a:r>
              <a:rPr sz="1600" b="1" i="0">
                <a:solidFill>
                  <a:srgbClr val="11202B"/>
                </a:solidFill>
                <a:latin typeface="Malgun Gothic"/>
                <a:ea typeface="Malgun Gothic"/>
                <a:cs typeface="Malgun Gothic"/>
              </a:rPr>
              <a:t>N1-methylpseudouridine</a:t>
            </a:r>
            <a:r>
              <a:rPr sz="1600" b="0" i="0">
                <a:solidFill>
                  <a:srgbClr val="11202B"/>
                </a:solidFill>
                <a:latin typeface="Malgun Gothic"/>
                <a:ea typeface="Malgun Gothic"/>
                <a:cs typeface="Malgun Gothic"/>
              </a:rPr>
              <a:t>으로 바꾸어 해결한 것이 결정적 진전이었고, 이 변형이 센서의 인식을 피하면서 번역 효율까지 올린다. 남은 과제는 반감기와 전달이다. 자기 복제 mRNA, 고리 모양 RNA, cap 유사체와 UTR 설계로 단백질 생산량과 지속 시간을 늘리려는 연구가 진행되며, 간 이외의 조직으로 보내는 지질 나노입자의 조성 탐색이 함께 이루어지고 있다. 이 분야는 "전사체의 수명과 번역 효율을 정하는 요소가 무엇인가"라는 이 절의 질문을 공학의 문제로 바꾸어 놓았다.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mRNA의 안정성과 분해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44</a:t>
            </a:r>
          </a:p>
        </p:txBody>
      </p:sp>
      <p:pic>
        <p:nvPicPr>
          <p:cNvPr id="7" name="Picture 6" descr="fig-mrna-decay.slide.png"/>
          <p:cNvPicPr>
            <a:picLocks noChangeAspect="1"/>
          </p:cNvPicPr>
          <p:nvPr/>
        </p:nvPicPr>
        <p:blipFill>
          <a:blip r:embed="rId2"/>
          <a:stretch>
            <a:fillRect/>
          </a:stretch>
        </p:blipFill>
        <p:spPr>
          <a:xfrm>
            <a:off x="2114397" y="1325880"/>
            <a:ext cx="79629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mRNA 반감기와 분해 경로. 합성과 분해의 균형이 정상 상태의 양을 정하는 관계, 반감기에 따른 유전자 종류의 분포, 3′ UTR의 AU-rich element와 결합 단백질에 따라 갈리는 결과, deadenylation에서 decapping을 거쳐 exonuclease에 이르는 순서, 그리고 nonsense-mediated decay가 종결 codon 위치로 판정하는 기준을 함께 보인다.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45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RNA가 만들어지고 다듬어지고 사라지는 과정을 다루었다. 그 각 지점이 조절의 대상이 되는 방식은 뒤의 수업에서 이어진다.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M01-W05-L03 유전정보의 흐름</a:t>
            </a:r>
            <a:r>
              <a:rPr sz="1400" b="0" i="0">
                <a:solidFill>
                  <a:srgbClr val="11202B"/>
                </a:solidFill>
                <a:latin typeface="Malgun Gothic"/>
                <a:ea typeface="Malgun Gothic"/>
                <a:cs typeface="Malgun Gothic"/>
              </a:rPr>
              <a:t> — 이 수업의 내용이 전체 흐름의 어느 자리에 놓이는지, 조절 지점의 지도를 다시 확인한다.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M01-W06-L02 유전자와 유전체의 구성</a:t>
            </a:r>
            <a:r>
              <a:rPr sz="1400" b="0" i="0">
                <a:solidFill>
                  <a:srgbClr val="11202B"/>
                </a:solidFill>
                <a:latin typeface="Malgun Gothic"/>
                <a:ea typeface="Malgun Gothic"/>
                <a:cs typeface="Malgun Gothic"/>
              </a:rPr>
              <a:t> — exon·intron의 구조와 intron의 분류를 유전체 쪽에서 다루었다. 이 수업의 splicing 기전과 함께 보아야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M01-W07-L02 전사 조절과 후성유전</a:t>
            </a:r>
            <a:r>
              <a:rPr sz="1400" b="0" i="0">
                <a:solidFill>
                  <a:srgbClr val="11202B"/>
                </a:solidFill>
                <a:latin typeface="Malgun Gothic"/>
                <a:ea typeface="Malgun Gothic"/>
                <a:cs typeface="Malgun Gothic"/>
              </a:rPr>
              <a:t> — enhancer, 전사인자, chromatin 상태가 여기서 다룬 개시와 신장을 어떻게 조절하는지를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M01-W07-L03 단백질 합성</a:t>
            </a:r>
            <a:r>
              <a:rPr sz="1400" b="0" i="0">
                <a:solidFill>
                  <a:srgbClr val="11202B"/>
                </a:solidFill>
                <a:latin typeface="Malgun Gothic"/>
                <a:ea typeface="Malgun Gothic"/>
                <a:cs typeface="Malgun Gothic"/>
              </a:rPr>
              <a:t> — 이 수업에서 만든 mRNA와 tRNA, rRNA가 ribosome에서 어떻게 쓰이는지를 다룬다. Cap과 poly(A) 꼬리의 기능이 거기서 번역 개시의 요소로 다시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M01-W08-L01 번역 후 가공·접힘·분해</a:t>
            </a:r>
            <a:r>
              <a:rPr sz="1400" b="0" i="0">
                <a:solidFill>
                  <a:srgbClr val="11202B"/>
                </a:solidFill>
                <a:latin typeface="Malgun Gothic"/>
                <a:ea typeface="Malgun Gothic"/>
                <a:cs typeface="Malgun Gothic"/>
              </a:rPr>
              <a:t> — 번역 이후의 조절 지점을 다루며, mRNA 수명과 단백질 수명이 각각 어떻게 발현량에 들어가는지를 비교한다.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M01-W08-L03 핵과 핵-세포질 수송</a:t>
            </a:r>
            <a:r>
              <a:rPr sz="1400" b="0" i="0">
                <a:solidFill>
                  <a:srgbClr val="11202B"/>
                </a:solidFill>
                <a:latin typeface="Malgun Gothic"/>
                <a:ea typeface="Malgun Gothic"/>
                <a:cs typeface="Malgun Gothic"/>
              </a:rPr>
              <a:t> — 가공이 완료된 전사체가 핵을 떠나는 과정과 그 품질 관문을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M02-W01-L02 유전 질환의 분자 기전</a:t>
            </a:r>
            <a:r>
              <a:rPr sz="1400" b="0" i="0">
                <a:solidFill>
                  <a:srgbClr val="11202B"/>
                </a:solidFill>
                <a:latin typeface="Malgun Gothic"/>
                <a:ea typeface="Malgun Gothic"/>
                <a:cs typeface="Malgun Gothic"/>
              </a:rPr>
              <a:t> — splice site 변이, NMD, 반복 확장에 의한 RNA 독성을 질환의 분류 안에서 정리한다.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M03-W02-L03 RNA 가공의 상세</a:t>
            </a:r>
            <a:r>
              <a:rPr sz="1400" b="0" i="0">
                <a:solidFill>
                  <a:srgbClr val="11202B"/>
                </a:solidFill>
                <a:latin typeface="Malgun Gothic"/>
                <a:ea typeface="Malgun Gothic"/>
                <a:cs typeface="Malgun Gothic"/>
              </a:rPr>
              <a:t> — cap 부가와 3′ 말단 가공의 효소 수준 기전, 그리고 non-coding RNA의 생성을 다룬다.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46</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이 수업 전체를 묶는 요점은 </a:t>
            </a:r>
            <a:r>
              <a:rPr sz="1600" b="1" i="0">
                <a:solidFill>
                  <a:srgbClr val="11202B"/>
                </a:solidFill>
                <a:latin typeface="Malgun Gothic"/>
                <a:ea typeface="Malgun Gothic"/>
                <a:cs typeface="Malgun Gothic"/>
              </a:rPr>
              <a:t>유전자 발현이 전사량 하나로 정해지지 않는다</a:t>
            </a:r>
            <a:r>
              <a:rPr sz="1600" b="0" i="0">
                <a:solidFill>
                  <a:srgbClr val="11202B"/>
                </a:solidFill>
                <a:latin typeface="Malgun Gothic"/>
                <a:ea typeface="Malgun Gothic"/>
                <a:cs typeface="Malgun Gothic"/>
              </a:rPr>
              <a:t>는 것이다. 어느 polymerase가 전사하는지, preinitiation complex가 얼마나 잘 조립되는지, 가공이 어떻게 되는지, 전사체가 얼마나 오래 남는지가 모두 최종 단백질량에 들어간다. 다음 수업에서는 이 가운데 전사 자체의 조절을 다룬다.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RNA의 ribose가 가진 2′ hydroxyl기가 서로 반대 방향으로 보이는 두 가지 결과를 낳는다. 각각을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2′-OH가 인접한 인산diester 결합을 공격할 수 있어 RNA가 알칼리 조건에서 쉽게 가수분해된다. RNA가 DNA보다 불안정하고 수명이 짧은 전령으로 쓰이는 근거다. 둘째, 바로 그 반응성 때문에 2′-OH가 공격하는 기가 될 수 있어 RNA가 촉매로 작동한다. Spliceosome의 splicing 반응과 RNase P의 절단이 그 예다. 불안정성과 촉매 활성이 같은 하나의 기에서 나온다.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세균에서 core enzyme과 holoenzyme의 기능 차이를 쓰고, 그 차이가 어떤 분업을 뜻하는지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Core enzyme(α2ββ′ω)은 RNA를 중합할 수 있지만 promoter를 찾지 못한다. Sigma 인자가 붙은 holoenzyme만 −35와 −10 영역을 인식해 올바른 지점에서 전사를 시작한다. 즉 중합 활성과 시작 지점의 선택이 서로 다른 소단위에 나뉘어 있고, sigma를 교체하면 같은 core enzyme이 다른 유전자군을 전사하게 되므로 이 분업 자체가 조절 수단이 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진핵세포의 세 핵 RNA polymerase를 산물과 α-amanitin 감수성으로 구분하고, Pol I이 전체 전사 활성에서 가장 큰 몫을 차지하는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Pol I은 45S pre-rRNA(18S, 5.8S, 28S)를 nucleolus에서 만들며 α-amanitin에 저항한다. Pol II는 mRNA와 snRNA·snoRNA·miRNA·lncRNA를 만들며 α-amanitin에 매우 민감하다. Pol III는 tRNA와 5S rRNA를 만들며 중간 정도로 민감하다. Pol I의 활성이 가장 큰 이유는 세포가 ribosome을 끊임없이 만들어야 하고, rRNA 유전자가 수백 사본 연속 배열되어 그 위에 Pol I이 빽빽하게 결합해 동시에 전사하기 때문이다.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Pol II preinitiation complex의 조립에 정해진 순서가 있는 이유를 쓰고, TFIIH의 두 활성과 그 결과를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각 인자가 다음 인자의 결합 자리를 만들기 때문이다. TBP가 TATA box에 결합해 DNA를 약 80° 구부려 기하 구조를 만들고, TFIIB가 방향을 정하며 Pol II의 자리를 제공하고, TFIIF가 Pol II와 함께 들어오고, TFIIE가 TFIIH를 부른다. TFIIH는 helicase 활성으로 전사 시작점의 DNA를 풀어 주형을 노출시키고, kinase 활성으로 Pol II의 C 말단 꼬리를 인산화한다. 인산화로 Pol II가 개시 복합체에서 풀려 신장으로 전환하며, 인산화된 CTD는 가공 인자가 붙는 플랫폼이 된다.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α-amanitin 중독에서 섭취 후 하루 가까이 증상이 가벼운 뒤 급성 간부전이 오는 이유를 분자 기전으로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α-amanitin은 Pol II에 결합해 신장을 멈추므로 섭취 직후부터 간세포의 mRNA 합성이 차단된다. 그러나 이미 존재하는 mRNA와 단백질이 남아 있어 세포가 한동안 기능을 유지하고, 임상적으로는 위장관 증상만 나타난 뒤 회복한 듯 보인다. 기존 mRNA와 단백질이 반감기에 따라 소모되는 2~4일째에 비로소 세포 기능이 무너져 급성 간부전이 나타난다. 잠복기는 전사 차단과 단백질 소모 사이의 시간차이며, 이 때문에 초기 진료에서 중증도를 과소평가하기 쉽다.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45S pre-rRNA에 포함된 rRNA와 포함되지 않은 rRNA를 구분하고, nucleolus가 소기관과 다른 점을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45S pre-rRNA에는 5′ 쪽부터 18S, 5.8S, 28S가 한 줄로 들어 있고 가공으로 분리된다. 18S는 small subunit에, 5.8S와 28S는 large subunit에 들어간다. 5S rRNA는 45S에 포함되지 않고 별도의 유전자에서 Pol III가 전사해 nucleolus로 들어온다. Nucleolus는 막으로 둘러싸인 소기관이 아니라 rRNA 유전자가 모인 곳에 전사·가공·조립 기구가 집적되어 생긴 구조다. 기능이 구조를 만들었으므로 단백질 합성이 활발한 세포에서 크고 분열을 멈춘 세포에서 작다.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snoRNP가 pre-rRNA의 특정 위치만 변형할 수 있는 원리를 쓰고, 같은 원리를 쓰는 다른 예를 들어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snoRNA가 변형될 지점 주변과 염기쌍을 이룰 수 있는 서열을 가지므로, snoRNA가 결합하면 복합체의 효소가 정확히 그 지점에 놓인다. 위치를 정하는 것은 RNA이고 반응을 하는 것은 단백질이다. box C/D 계열이 2′-O-methylation을, box H/ACA 계열이 pseudouridine 형성을 담당한다. 같은 원리의 다른 예로 spliceosome의 snRNA가 splice 부위를 인식하는 것, miRNA가 표적 mRNA를 고르는 것, CRISPR의 guide RNA가 표적을 지정하는 것이 있다. 염기쌍이 서열 특이성을 얻는 가장 경제적인 방법이기 때문이다.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54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tRNA의 CCA 부가가 유전체에 암호화되어 있지 않다는 사실이 왜 중요한지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아미노산이 결합하는 자리가 CCA의 마지막 A의 3′ hydroxyl기이므로 CCA가 없으면 tRNA는 아미노산을 실을 수 없고 기능하지 못한다. 그런데 이 세 nucleotide는 유전자에 적혀 있지 않고 전용 효소가 주형 없이 붙인다. 따라서 tRNA 유전자의 서열만으로는 완성된 tRNA를 알 수 없고, 기능하는 분자의 필수 부분이 전사 후 가공에서만 만들어진다. 또 말단이 손상되어도 다시 붙여 복구할 수 있다는 이점이 있다.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55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RNA editing과 splicing의 차이를 쓰고, apolipoprotein B에서 editing이 만드는 결과를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Splicing은 전사체의 구간(intron)을 제거하고 남은 부분을 잇는 것이고, editing은 개별 염기를 다른 염기로 바꾸는 것이다. Editing이 일어나면 전사체의 서열이 유전체의 서열과 달라지므로 유전체만으로 단백질 서열을 예측할 수 없다. Apolipoprotein B에서는 간에서 전사체가 그대로 번역되어 전장 ApoB-100이 만들어지고, 소장에서는 특정 위치의 C가 U로 탈아미노화되어 그 codon이 종결 codon이 되므로 짧은 ApoB-48이 만들어진다. 하나의 유전자에서 조직에 따라 길이가 다른 두 단백질이 나온다.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56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mRNA 반감기가 전사와 독립된 조절 지점이 되는 이유를 쓰고, 분해 경로의 순서와 속도를 정하는 단계를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정상 상태에서 mRNA의 양은 합성 속도와 분해 속도의 균형으로 정해지므로, 합성이 같아도 반감기가 길면 쌓이는 양이 그만큼 많아진다. 따라서 반감기만 바꾸어도 발현량이 달라진다. 분해는 poly(A) 꼬리가 짧아지는 deadenylation으로 시작하고, 꼬리가 일정 길이 이하로 줄어 PABP가 떨어지면 5′ cap이 제거되는 decapping이 일어나고, 드러난 말단에서 5′→3′ exonuclease와 3′→5′ exosome이 분해한다. 대개 deadenylation이 전체 속도를 정하는 rate-limiting step이다.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57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같은 유전자에 생긴 종결 codon 변이가 위치에 따라 다른 임상 결과를 내는 이유를 nonsense-mediated decay로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NMD는 종결 codon이 마지막 exon 경계보다 상류에 있는지를 기준으로 전사체를 분해한다. 상류의 종결 codon은 NMD로 전사체 자체가 사라져 단순한 기능 상실이 되고, 이형접합자에서는 정상 대립유전자의 산물이 절반 남아 증상이 가볍다. 반면 마지막 exon에 있는 종결 codon은 NMD를 피하므로 짧아진 단백질이 실제로 만들어지고, 그 단백질이 정상 단백질의 기능을 방해하면 우성 음성 효과로 더 중한 표현형이 나타난다. β-thalassemia에서 변이 위치에 따라 경증과 중증이 갈리는 데 이 차이가 작용한다.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58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The Cell: A Molecular Approach. 9th ed. Chapter 6: RNA Synthesis and Processing. Oxford University Press; 2022.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et al. Molecular Biology of the Cell. 7th ed. Chapter 6: How Cells Read the Genome. W.W. Norton; 2022.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Ferré-D'Amaré AR, Scott WG. Small self-cleaving ribozymes. Cold Spring Harb Perspect Biol. 2010;2(10):a003574.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Garneau NL, Wilusz J, Wilusz CJ. The highways and byways of mRNA decay. Nat Rev Mol Cell Biol. 2007;8(2):113-26.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Nishikura K. A-to-I editing of coding and non-coding RNAs by ADARs. Nat Rev Mol Cell Biol. 2016;17(2):83-96.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Kurosaki T, Popp MW, Maquat LE. Quality and quantity control of gene expression by nonsense-mediated mRNA decay. Nat Rev Mol Cell Biol. 2019;20(7):406-20.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Lafontaine DLJ, Riback JA, Bascetin R, Brangwynne CP. The nucleolus as a multiphase liquid condensate. Nat Rev Mol Cell Biol. 2021;22(3):165-82.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Will CL, Lührmann R. Spliceosome structure and function. Cold Spring Harb Perspect Biol 2011;3:a003707.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Wahl MC, Will CL, Lührmann R. The spliceosome: design principles of a dynamic RNP machine. Cell 2009;136:701–718.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Finkel RS, Mercuri E, Darras BT, et al. Nusinersen versus sham control in infantile-onset spinal muscular atrophy. N Engl J Med 2017;377:1723–1732.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Karikó K, Buckstein M, Ni H, Weissman D. Suppression of RNA recognition by Toll-like receptors: the impact of nucleoside modification. Immunity 2005;23:165–175.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Core L, Adelman K. Promoter-proximal pausing of RNA polymerase II: a nexus of gene regulation. Genes Dev 2019;33:960–982.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M01-W07-L01  ·  RNA 합성과 가공</a:t>
            </a:r>
            <a:r>
              <a:rPr sz="900" b="1" i="0">
                <a:solidFill>
                  <a:srgbClr val="003C71"/>
                </a:solidFill>
                <a:latin typeface="Malgun Gothic"/>
                <a:ea typeface="Malgun Gothic"/>
                <a:cs typeface="Malgun Gothic"/>
              </a:rPr>
              <a:t>      59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Yoshida K, Sanada M, Shiraishi Y, et al. Frequent pathway mutations of splicing machinery in myelodysplasia. Nature 2011;478:64–69.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