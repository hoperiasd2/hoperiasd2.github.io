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notesMaster" Target="notesMasters/notesMaster1.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포도당 완전 산화의 네 단계와 세포 내 위치. 탄소는 CO₂로, 전자는 NADH·FADH₂를 거쳐 O₂로 흐르며, ATP 생산이 어느 단계에 몰려 있는지를 보인다.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Glycolysis의 열 단계. 투입기에서 ATP 2개를 쓰고 수확기에서 ATP 4개와 NADH 2개를 얻으며, hexokinase·PFK-1·pyruvate kinase 세 지점이 비가역이라는 것을 보인다.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TCA cycle의 여덟 단계. 탄소 수의 변화(C4 → C6 → C5 → C4), 두 번의 decarboxylation 지점, NADH·FADH₂·GTP가 나오는 단계, 그리고 isocitrate dehydrogenase가 rate-limiting step이라는 것을 보인다.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Electron transport chain과 chemiosmosis. 복합체 I~IV의 전자 흐름, 복합체 I·III·IV의 양성자 펌프, ubiquinone과 cytochrome c의 이동, 그리고 ATP synthase의 F₀·F₁ 구조와 회전을 보인다.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포도당 한 분자의 ATP 수지. 각 단계의 산물과 ATP 환산, 두 shuttle에 따른 차이, 그리고 발효와 산소 호흡의 비교를 보인다.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광합성의 명반응과 암반응. Thylakoid 막의 photosystem II와 I, 물 분해에서 나오는 O₂, 양성자 기울기와 ATP synthase, 그리고 stroma의 Calvin cycle에서 rubisco가 CO₂를 고정하는 과정을 보인다.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지방산 산화 결손이다. 저혈당과 함께 ketone이 낮은 조합(저ketone성 저혈당)이 결정적 단서다. 금식이 길어지면 정상적으로는 지방 분해가 일어나 지방산이 간에서 β-산화되고, 그 산물인 acetyl-CoA가 ketone body로 전환되어 뇌가 쓸 연료가 되며, 동시에 생성된 NADH와 acetyl-CoA가 gluconeogenesis를 받쳐 준다. 산화가 막히면 ketone을 만들 수 없고 gluconeogenesis도 받쳐지지 않아 저혈당이 심해지며, 축적된 지방산과 그 대사물이 간과 심근에 독성을 준다. 간비대와 심근병증, 횡문근 분해가 함께 나타나는 이유다. 확진은 혈중 acylcarnitine 양상을 질량분석으로 보는 것이다. 중간 사슬 acylcarnitine이 쌓이면 MCAD 결핍, 장쇄가 쌓이면 CPT2나 CACT, VLCAD 결핍을 시사하고, carnitine이 매우 낮으면 일차성 carnitine 결핍을 생각한다. 소변 유기산 분석과 유전자 검사로 확정한다. 급성기 처치는 포도당 정주이고, 장기 관리의 핵심은 금식을 피하는 것이다. 장쇄 결손에서는 carnitine shuttle을 거치지 않는 중간 사슬 지방산으로 열량을 보충하지만, MCAD 결핍에서는 금기다.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Malonyl-CoA는 지방산 합성의 첫 중간체이므로, 그 농도가 높다는 것은 세포가 지방산을 만들고 있다는 뜻이다. CPT1은 긴 사슬 acyl-CoA를 미토콘드리아로 들여보내는 rate-limiting step이므로, 이를 억제하면 지방산 산화가 멈춘다. 즉 합성과 분해가 동시에 일어나지 않도록 하는 장치다. 이 조절이 없다면 지방산을 만들면서 동시에 태우는 무익한 순환이 생겨, 알짜 변화 없이 ATP와 NADPH만 소모된다. 지방산 하나를 만드는 데 ATP와 NADPH가 투입되고 태우면 ATP가 나오지만, 두 과정의 효율이 100%가 아니므로 순환이 돌 때마다 에너지가 열로 빠져나간다. 조절의 생리적 맥락도 분명하다. 식후에는 insulin이 acetyl-CoA carboxylase를 활성화해 malonyl-CoA를 늘리므로 산화가 꺼지고 저장이 켜진다. 공복에는 glucagon과 AMPK가 그 효소를 인산화해 불활성화하므로 malonyl-CoA가 줄고 산화가 켜진다. 하나의 중간체 농도가 두 경로의 방향을 반대로 돌리는 스위치로 쓰이는 전형적인 설계다.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활성이 정상으로 나올 수 있는 이유는 검사 대상 세포가 바뀌어 있기 때문이다. 흔한 변이형에서 효소는 불안정해 적혈구가 나이 들수록 활성이 떨어지므로, 산화 부담이 걸리면 오래된 적혈구가 먼저 파괴된다. 급성 용혈 중에는 그 세포들이 이미 제거되고 골수가 내보낸 어린 적혈구와 망상적혈구가 혈액을 채우는데, 이들은 효소 활성이 높다. 따라서 급성기에 측정한 평균 활성이 정상으로 나올 수 있고, 2~3개월 뒤 적혈구 연령 분포가 정상으로 돌아온 다음 다시 측정해야 한다. 적혈구가 취약한 이유는 두 가지다. 미토콘드리아가 없어 NADPH를 pentose phosphate 경로에서만 얻으므로 다른 공급원이 없고, 핵이 없어 효소를 새로 만들 수 없다. NADPH는 산화된 glutathione을 환원하는 데 쓰이므로 공급이 끊기면 환원형 glutathione이 바닥나고, hemoglobin이 산화·변성되어 Heinz body로 침전하며 막이 손상되어 용혈이 일어난다. 대식세포가 침전물을 뜯어낸 bite cell이 말초혈액 도말에서 관찰된다. 관리의 핵심은 유발 인자를 피하는 것이다.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간은 ketone body를 다시 acetyl-CoA로 되돌리는 효소(SCOT)가 없어 자기가 만든 ketone을 쓸 수 없다. 이 배치는 간이 자기 연료를 소비하지 않고 다른 조직에 연료를 공급하는 기관이라는 역할과 일치한다. 공복이 길어지면 지방 분해로 지방산이 간에 몰리고, β-산화로 생긴 acetyl-CoA가 TCA cycle의 처리 용량을 넘어 ketone body로 전환되어 혈액으로 나간다. 뇌는 지방산을 쓰지 못하지만 ketone은 쓸 수 있으므로, 이 전환이 포도당 요구를 줄여 근육 단백질의 분해를 아껴 준다. 즉 생리적 적응이다. 차이는 양과 조절에 있다. 정상 공복에서는 남아 있는 insulin이 지방 분해를 제한하므로 ketone 농도가 수 mM 수준에서 멈추고 혈액 pH가 유지된다. 1형 당뇨병에서 insulin이 거의 없으면 지방 분해가 억제되지 않아 ketone 생산이 폭주하고, acetoacetate와 β-hydroxybutyrate가 산이므로 농도가 10 mM을 넘으면 완충 능력을 넘겨 음이온 간격이 증가한 대사성 산증이 된다. 동시에 포도당이 이용되지 못해 고혈당과 삼투성 다뇨, 탈수가 겹친다. 치료가 insulin과 수분·전해질 보충인 이유는 두 기전을 함께 끊어야 하기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적혈구에는 미토콘드리아가 없어 pyruvate를 acetyl-CoA로 바꾸어 TCA cycle과 oxidative phosphorylation으로 보낼 수 없다. 따라서 ATP를 glycolysis만으로 얻는데, glycolysis의 6단계에서 NAD⁺가 NADH로 환원되므로 NAD⁺를 다시 산화형으로 되돌리지 않으면 경로가 곧 멈춘다. Lactate dehydrogenase가 pyruvate를 lactate로 환원하면서 NADH를 NAD⁺로 되돌리므로 glycolysis가 계속 돌 수 있다. 이 반응 자체는 ATP를 만들지 않으며, 얻는 것은 ATP가 아니라 재생된 NAD⁺다.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2,4-Dinitrophenol은 양성자를 운반하는 지용성 약산으로, 막 사이 공간에서 양성자를 받아 내막을 그냥 통과한 뒤 기질에서 양성자를 내놓는다. 그 결과 양성자 기울기가 사라진다. Chemiosmotic 가설에서 ATP 합성의 직접적인 구동력은 전자 전달 자체가 아니라 양성자가 ATP synthase를 통해 되돌아 들어오는 흐름이므로, 기울기가 없으면 ATP가 만들어지지 않는다. 동시에 기울기가 전자 전달에 걸던 역압이 사라져 복합체 I·III·IV가 최대 속도로 작동하고 산소 소모가 늘어난다. 전자 전달의 에너지는 모두 열로 나가므로 치명적 고열이 생긴다. 이 화합물이 전자 전달과 ATP 합성이 별개의 과정이며 양성자 기울기로만 연결된다는 증거가 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계에는 미토콘드리아의 electron transport chain 복합체가 전혀 없고, 서로 다른 생물에서 온 두 단백질만 들어 있다. Bacteriorhodopsin은 빛을 받아 양성자를 소포 안으로 퍼내는 일만 하고, ATP synthase는 양성자가 되돌아 들어오는 흐름으로 ATP를 만드는 일만 한다. 그런데도 빛을 비추면 ATP가 만들어졌다. 즉 두 단백질 사이에 직접적인 접촉이나 고에너지 화학 중간체가 없어도, 양성자 기울기만으로 에너지가 전달된다는 것이 증명되었다. 이는 전자 전달과 ATP 합성을 잇는 매개가 화학 중간체가 아니라 막을 가로지르는 양성자의 전기화학적 기울기라는 Mitchell의 주장을 직접 뒷받침한다.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ATP가 두 곳에 결합하기 때문이다. 활성 부위에서는 기질로 작용하고, 활성 부위가 아닌 allosteric 부위에서는 억제자로 작용한다. Allosteric 부위의 ATP 친화도가 낮으므로 ATP가 충분히 높을 때만 억제가 나타난다. 생리적 의미는 glycolysis의 속도를 기질 공급이 아니라 세포의 에너지 상태로 결정하는 데 있다. ATP가 많으면 에너지가 충분하므로 경로를 줄이고, AMP와 ADP가 늘면 억제가 풀려 경로가 빨라진다. 같은 논리로 citrate가 억제자인 것은 TCA cycle 중간체가 이미 쌓여 있다는 신호이고, fructose-2,6-bisphosphate가 활성화자인 것은 insulin 신호를 경로로 전달하는 장치다.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Cyanide는 복합체 IV(cytochrome c oxidase)의 heme 철에 결합해 전자가 O₂로 전달되는 마지막 단계를 차단한다. 조직은 혈액으로 운반된 산소를 쓸 수 없으므로 산소가 거의 소모되지 않고 정맥으로 되돌아가며, 그 결과 정맥혈 산소포화도가 비정상적으로 높게 유지된다. 동시에 oxidative phosphorylation이 멈추면 NADH가 재산화되지 않아 TCA cycle이 멈추고, 세포는 ATP를 glycolysis와 lactate 발효에만 의존한다. Lactate dehydrogenase가 NAD⁺를 재생하면서 lactate를 대량으로 내놓으므로 혈중 lactate가 급격히 올라가 lactic acidosis가 된다. 두 소견 모두 조직이 산소를 쓸 수 없는 상태, 즉 조직 저산소가 아니라 세포 호흡 차단의 결과다.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Oxidative phosphorylation에서 전자는 NADH(E°′ −0.32 V)와 FADH₂에서 출발해 O₂(+0.82 V)로 흐른다. 전위가 낮은 쪽에서 높은 쪽으로 가므로 자발적이고 자유에너지가 내려가며, 그 에너지로 양성자를 퍼낸다. 광합성의 명반응에서 전자는 H₂O(+0.82 V)에서 출발해 NADP⁺(−0.32 V)로 간다. 전위가 높은 쪽에서 낮은 쪽으로 가는 비자발적 방향이므로, photosystem II와 I이 빛 에너지로 전자를 두 번 들뜨게 해 에너지를 끌어올린다. 즉 두 과정은 같은 전위 범위를 반대 방향으로 지나며, 전자의 자유에너지가 내려가는지 올라가는지가 결정적 차이다. 공통점은 둘 다 전자 흐름을 막을 가로지르는 양성자 기울기로 바꾸고, 그 기울기로 회전형 ATP synthase를 돌려 ATP를 만든다는 점, 즉 chemiosmosis다.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M01  인체일반생물학과 기초세포생물학</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Glycolysis·oxidative phosphorylation과 광합성 개요</a:t>
            </a:r>
          </a:p>
          <a:p>
            <a:r>
              <a:rPr sz="1500" b="0" i="0">
                <a:solidFill>
                  <a:srgbClr val="B9D2E8"/>
                </a:solidFill>
                <a:latin typeface="Malgun Gothic"/>
                <a:ea typeface="Malgun Gothic"/>
                <a:cs typeface="Malgun Gothic"/>
              </a:rPr>
              <a:t>Glycolysis, Oxidative Phosphorylation and an Overview of Photosynthesis</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M01-W09-L03</a:t>
            </a:r>
          </a:p>
          <a:p>
            <a:r>
              <a:rPr sz="1100" b="0" i="0">
                <a:solidFill>
                  <a:srgbClr val="9FBEDA"/>
                </a:solidFill>
                <a:latin typeface="Malgun Gothic"/>
                <a:ea typeface="Malgun Gothic"/>
                <a:cs typeface="Malgun Gothic"/>
              </a:rPr>
              <a:t>9주 3회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1.  </a:t>
            </a:r>
            <a:r>
              <a:rPr sz="1600" b="0" i="0">
                <a:solidFill>
                  <a:srgbClr val="11202B"/>
                </a:solidFill>
                <a:latin typeface="Malgun Gothic"/>
                <a:ea typeface="Malgun Gothic"/>
                <a:cs typeface="Malgun Gothic"/>
              </a:rPr>
              <a:t>포도당의 완전 산화를 네 단계로 나누어 각 단계의 세포 내 위치와 산물을 설명한다.</a:t>
            </a:r>
          </a:p>
          <a:p>
            <a:pPr>
              <a:spcAft>
                <a:spcPts val="900"/>
              </a:spcAft>
            </a:pPr>
            <a:r>
              <a:rPr sz="1600" b="1" i="0">
                <a:solidFill>
                  <a:srgbClr val="F2B705"/>
                </a:solidFill>
                <a:latin typeface="Malgun Gothic"/>
                <a:ea typeface="Malgun Gothic"/>
                <a:cs typeface="Malgun Gothic"/>
              </a:rPr>
              <a:t>2.  </a:t>
            </a:r>
            <a:r>
              <a:rPr sz="1600" b="0" i="0">
                <a:solidFill>
                  <a:srgbClr val="11202B"/>
                </a:solidFill>
                <a:latin typeface="Malgun Gothic"/>
                <a:ea typeface="Malgun Gothic"/>
                <a:cs typeface="Malgun Gothic"/>
              </a:rPr>
              <a:t>Glycolysis 10단계를 에너지 투입기와 수확기로 나누어 설명하고 알짜 수지를 쓴다.</a:t>
            </a:r>
          </a:p>
          <a:p>
            <a:pPr>
              <a:spcAft>
                <a:spcPts val="900"/>
              </a:spcAft>
            </a:pPr>
            <a:r>
              <a:rPr sz="1600" b="1" i="0">
                <a:solidFill>
                  <a:srgbClr val="F2B705"/>
                </a:solidFill>
                <a:latin typeface="Malgun Gothic"/>
                <a:ea typeface="Malgun Gothic"/>
                <a:cs typeface="Malgun Gothic"/>
              </a:rPr>
              <a:t>3.  </a:t>
            </a:r>
            <a:r>
              <a:rPr sz="1600" b="0" i="0">
                <a:solidFill>
                  <a:srgbClr val="11202B"/>
                </a:solidFill>
                <a:latin typeface="Malgun Gothic"/>
                <a:ea typeface="Malgun Gothic"/>
                <a:cs typeface="Malgun Gothic"/>
              </a:rPr>
              <a:t>Phosphofructokinase-1이 rate-limiting step인 이유와 allosteric 조절을 설명한다.</a:t>
            </a:r>
          </a:p>
          <a:p>
            <a:pPr>
              <a:spcAft>
                <a:spcPts val="900"/>
              </a:spcAft>
            </a:pPr>
            <a:r>
              <a:rPr sz="1600" b="1" i="0">
                <a:solidFill>
                  <a:srgbClr val="F2B705"/>
                </a:solidFill>
                <a:latin typeface="Malgun Gothic"/>
                <a:ea typeface="Malgun Gothic"/>
                <a:cs typeface="Malgun Gothic"/>
              </a:rPr>
              <a:t>4.  </a:t>
            </a:r>
            <a:r>
              <a:rPr sz="1600" b="0" i="0">
                <a:solidFill>
                  <a:srgbClr val="11202B"/>
                </a:solidFill>
                <a:latin typeface="Malgun Gothic"/>
                <a:ea typeface="Malgun Gothic"/>
                <a:cs typeface="Malgun Gothic"/>
              </a:rPr>
              <a:t>Pyruvate dehydrogenase 복합체와 TCA cycle의 산물을 수지로 정리한다.</a:t>
            </a:r>
          </a:p>
          <a:p>
            <a:pPr>
              <a:spcAft>
                <a:spcPts val="900"/>
              </a:spcAft>
            </a:pPr>
            <a:r>
              <a:rPr sz="1600" b="1" i="0">
                <a:solidFill>
                  <a:srgbClr val="F2B705"/>
                </a:solidFill>
                <a:latin typeface="Malgun Gothic"/>
                <a:ea typeface="Malgun Gothic"/>
                <a:cs typeface="Malgun Gothic"/>
              </a:rPr>
              <a:t>5.  </a:t>
            </a:r>
            <a:r>
              <a:rPr sz="1600" b="0" i="0">
                <a:solidFill>
                  <a:srgbClr val="11202B"/>
                </a:solidFill>
                <a:latin typeface="Malgun Gothic"/>
                <a:ea typeface="Malgun Gothic"/>
                <a:cs typeface="Malgun Gothic"/>
              </a:rPr>
              <a:t>Electron transport chain의 네 복합체를 전위 순서로 배열하고 양성자 펌프 지점을 밝힌다.</a:t>
            </a:r>
          </a:p>
          <a:p>
            <a:pPr>
              <a:spcAft>
                <a:spcPts val="900"/>
              </a:spcAft>
            </a:pPr>
            <a:r>
              <a:rPr sz="1600" b="1" i="0">
                <a:solidFill>
                  <a:srgbClr val="F2B705"/>
                </a:solidFill>
                <a:latin typeface="Malgun Gothic"/>
                <a:ea typeface="Malgun Gothic"/>
                <a:cs typeface="Malgun Gothic"/>
              </a:rPr>
              <a:t>6.  </a:t>
            </a:r>
            <a:r>
              <a:rPr sz="1600" b="0" i="0">
                <a:solidFill>
                  <a:srgbClr val="11202B"/>
                </a:solidFill>
                <a:latin typeface="Malgun Gothic"/>
                <a:ea typeface="Malgun Gothic"/>
                <a:cs typeface="Malgun Gothic"/>
              </a:rPr>
              <a:t>Chemiosmotic 가설과 ATP synthase의 작동 원리를 실험적 근거와 함께 설명한다.</a:t>
            </a:r>
          </a:p>
          <a:p>
            <a:pPr>
              <a:spcAft>
                <a:spcPts val="900"/>
              </a:spcAft>
            </a:pPr>
            <a:r>
              <a:rPr sz="1600" b="1" i="0">
                <a:solidFill>
                  <a:srgbClr val="F2B705"/>
                </a:solidFill>
                <a:latin typeface="Malgun Gothic"/>
                <a:ea typeface="Malgun Gothic"/>
                <a:cs typeface="Malgun Gothic"/>
              </a:rPr>
              <a:t>7.  </a:t>
            </a:r>
            <a:r>
              <a:rPr sz="1600" b="0" i="0">
                <a:solidFill>
                  <a:srgbClr val="11202B"/>
                </a:solidFill>
                <a:latin typeface="Malgun Gothic"/>
                <a:ea typeface="Malgun Gothic"/>
                <a:cs typeface="Malgun Gothic"/>
              </a:rPr>
              <a:t>포도당 한 분자의 ATP 수지를 계산하고 shuttle에 따른 차이를 설명한다.</a:t>
            </a:r>
          </a:p>
          <a:p>
            <a:pPr>
              <a:spcAft>
                <a:spcPts val="900"/>
              </a:spcAft>
            </a:pPr>
            <a:r>
              <a:rPr sz="1600" b="1" i="0">
                <a:solidFill>
                  <a:srgbClr val="F2B705"/>
                </a:solidFill>
                <a:latin typeface="Malgun Gothic"/>
                <a:ea typeface="Malgun Gothic"/>
                <a:cs typeface="Malgun Gothic"/>
              </a:rPr>
              <a:t>8.  </a:t>
            </a:r>
            <a:r>
              <a:rPr sz="1600" b="0" i="0">
                <a:solidFill>
                  <a:srgbClr val="11202B"/>
                </a:solidFill>
                <a:latin typeface="Malgun Gothic"/>
                <a:ea typeface="Malgun Gothic"/>
                <a:cs typeface="Malgun Gothic"/>
              </a:rPr>
              <a:t>광합성의 명반응과 암반응을 oxidative phosphorylation과 비교해 공통 원리를 밝힌다.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M01-W09-L02 생체에너지: 자유에너지와 ATP — ΔG, 짝반응, 산화환원 전위, 효소 조절과 속도론</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M01-W05-L02 생체분자와 막의 구조 — 막의 투과성, 막단백질, 수송</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M01-W05-L01 세포의 기원·진화와 세포 연구 방법 — 미토콘드리아의 이중막 구조</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1.  </a:t>
            </a:r>
            <a:r>
              <a:rPr sz="1800" b="0" i="0">
                <a:solidFill>
                  <a:srgbClr val="11202B"/>
                </a:solidFill>
                <a:latin typeface="Malgun Gothic"/>
                <a:ea typeface="Malgun Gothic"/>
                <a:cs typeface="Malgun Gothic"/>
              </a:rPr>
              <a:t>1. 포도당 산화의 전체 구조</a:t>
            </a:r>
          </a:p>
          <a:p>
            <a:pPr>
              <a:spcAft>
                <a:spcPts val="900"/>
              </a:spcAft>
            </a:pPr>
            <a:r>
              <a:rPr sz="1800" b="1" i="0">
                <a:solidFill>
                  <a:srgbClr val="F2B705"/>
                </a:solidFill>
                <a:latin typeface="Malgun Gothic"/>
                <a:ea typeface="Malgun Gothic"/>
                <a:cs typeface="Malgun Gothic"/>
              </a:rPr>
              <a:t>2.  </a:t>
            </a:r>
            <a:r>
              <a:rPr sz="1800" b="0" i="0">
                <a:solidFill>
                  <a:srgbClr val="11202B"/>
                </a:solidFill>
                <a:latin typeface="Malgun Gothic"/>
                <a:ea typeface="Malgun Gothic"/>
                <a:cs typeface="Malgun Gothic"/>
              </a:rPr>
              <a:t>2. Glycolysis: 열 단계와 알짜 수지</a:t>
            </a:r>
          </a:p>
          <a:p>
            <a:pPr>
              <a:spcAft>
                <a:spcPts val="900"/>
              </a:spcAft>
            </a:pPr>
            <a:r>
              <a:rPr sz="1800" b="1" i="0">
                <a:solidFill>
                  <a:srgbClr val="F2B705"/>
                </a:solidFill>
                <a:latin typeface="Malgun Gothic"/>
                <a:ea typeface="Malgun Gothic"/>
                <a:cs typeface="Malgun Gothic"/>
              </a:rPr>
              <a:t>3.  </a:t>
            </a:r>
            <a:r>
              <a:rPr sz="1800" b="0" i="0">
                <a:solidFill>
                  <a:srgbClr val="11202B"/>
                </a:solidFill>
                <a:latin typeface="Malgun Gothic"/>
                <a:ea typeface="Malgun Gothic"/>
                <a:cs typeface="Malgun Gothic"/>
              </a:rPr>
              <a:t>3. Glycolysis의 조절과 pyruvate의 운명</a:t>
            </a:r>
          </a:p>
          <a:p>
            <a:pPr>
              <a:spcAft>
                <a:spcPts val="900"/>
              </a:spcAft>
            </a:pPr>
            <a:r>
              <a:rPr sz="1800" b="1" i="0">
                <a:solidFill>
                  <a:srgbClr val="F2B705"/>
                </a:solidFill>
                <a:latin typeface="Malgun Gothic"/>
                <a:ea typeface="Malgun Gothic"/>
                <a:cs typeface="Malgun Gothic"/>
              </a:rPr>
              <a:t>4.  </a:t>
            </a:r>
            <a:r>
              <a:rPr sz="1800" b="0" i="0">
                <a:solidFill>
                  <a:srgbClr val="11202B"/>
                </a:solidFill>
                <a:latin typeface="Malgun Gothic"/>
                <a:ea typeface="Malgun Gothic"/>
                <a:cs typeface="Malgun Gothic"/>
              </a:rPr>
              <a:t>4. Pyruvate dehydrogenase와 TCA cycle</a:t>
            </a:r>
          </a:p>
          <a:p>
            <a:pPr>
              <a:spcAft>
                <a:spcPts val="900"/>
              </a:spcAft>
            </a:pPr>
            <a:r>
              <a:rPr sz="1800" b="1" i="0">
                <a:solidFill>
                  <a:srgbClr val="F2B705"/>
                </a:solidFill>
                <a:latin typeface="Malgun Gothic"/>
                <a:ea typeface="Malgun Gothic"/>
                <a:cs typeface="Malgun Gothic"/>
              </a:rPr>
              <a:t>5.  </a:t>
            </a:r>
            <a:r>
              <a:rPr sz="1800" b="0" i="0">
                <a:solidFill>
                  <a:srgbClr val="11202B"/>
                </a:solidFill>
                <a:latin typeface="Malgun Gothic"/>
                <a:ea typeface="Malgun Gothic"/>
                <a:cs typeface="Malgun Gothic"/>
              </a:rPr>
              <a:t>5. Electron transport chain의 구성</a:t>
            </a:r>
          </a:p>
          <a:p>
            <a:pPr>
              <a:spcAft>
                <a:spcPts val="900"/>
              </a:spcAft>
            </a:pPr>
            <a:r>
              <a:rPr sz="1800" b="1" i="0">
                <a:solidFill>
                  <a:srgbClr val="F2B705"/>
                </a:solidFill>
                <a:latin typeface="Malgun Gothic"/>
                <a:ea typeface="Malgun Gothic"/>
                <a:cs typeface="Malgun Gothic"/>
              </a:rPr>
              <a:t>6.  </a:t>
            </a:r>
            <a:r>
              <a:rPr sz="1800" b="0" i="0">
                <a:solidFill>
                  <a:srgbClr val="11202B"/>
                </a:solidFill>
                <a:latin typeface="Malgun Gothic"/>
                <a:ea typeface="Malgun Gothic"/>
                <a:cs typeface="Malgun Gothic"/>
              </a:rPr>
              <a:t>6. Chemiosmosis와 ATP synthase</a:t>
            </a:r>
          </a:p>
          <a:p>
            <a:pPr>
              <a:spcAft>
                <a:spcPts val="900"/>
              </a:spcAft>
            </a:pPr>
            <a:r>
              <a:rPr sz="1800" b="1" i="0">
                <a:solidFill>
                  <a:srgbClr val="F2B705"/>
                </a:solidFill>
                <a:latin typeface="Malgun Gothic"/>
                <a:ea typeface="Malgun Gothic"/>
                <a:cs typeface="Malgun Gothic"/>
              </a:rPr>
              <a:t>7.  </a:t>
            </a:r>
            <a:r>
              <a:rPr sz="1800" b="0" i="0">
                <a:solidFill>
                  <a:srgbClr val="11202B"/>
                </a:solidFill>
                <a:latin typeface="Malgun Gothic"/>
                <a:ea typeface="Malgun Gothic"/>
                <a:cs typeface="Malgun Gothic"/>
              </a:rPr>
              <a:t>7. 포도당 한 분자의 ATP 수지</a:t>
            </a:r>
          </a:p>
          <a:p>
            <a:pPr>
              <a:spcAft>
                <a:spcPts val="900"/>
              </a:spcAft>
            </a:pPr>
            <a:r>
              <a:rPr sz="1800" b="1" i="0">
                <a:solidFill>
                  <a:srgbClr val="F2B705"/>
                </a:solidFill>
                <a:latin typeface="Malgun Gothic"/>
                <a:ea typeface="Malgun Gothic"/>
                <a:cs typeface="Malgun Gothic"/>
              </a:rPr>
              <a:t>8.  </a:t>
            </a:r>
            <a:r>
              <a:rPr sz="1800" b="0" i="0">
                <a:solidFill>
                  <a:srgbClr val="11202B"/>
                </a:solidFill>
                <a:latin typeface="Malgun Gothic"/>
                <a:ea typeface="Malgun Gothic"/>
                <a:cs typeface="Malgun Gothic"/>
              </a:rPr>
              <a:t>8. 지방산의 산화</a:t>
            </a:r>
          </a:p>
          <a:p>
            <a:pPr>
              <a:spcAft>
                <a:spcPts val="900"/>
              </a:spcAft>
            </a:pPr>
            <a:r>
              <a:rPr sz="1800" b="1" i="0">
                <a:solidFill>
                  <a:srgbClr val="F2B705"/>
                </a:solidFill>
                <a:latin typeface="Malgun Gothic"/>
                <a:ea typeface="Malgun Gothic"/>
                <a:cs typeface="Malgun Gothic"/>
              </a:rPr>
              <a:t>9.  </a:t>
            </a:r>
            <a:r>
              <a:rPr sz="1800" b="0" i="0">
                <a:solidFill>
                  <a:srgbClr val="11202B"/>
                </a:solidFill>
                <a:latin typeface="Malgun Gothic"/>
                <a:ea typeface="Malgun Gothic"/>
                <a:cs typeface="Malgun Gothic"/>
              </a:rPr>
              <a:t>9. Pentose phosphate 경로와 NADPH</a:t>
            </a:r>
          </a:p>
          <a:p>
            <a:pPr>
              <a:spcAft>
                <a:spcPts val="900"/>
              </a:spcAft>
            </a:pPr>
            <a:r>
              <a:rPr sz="1800" b="1" i="0">
                <a:solidFill>
                  <a:srgbClr val="F2B705"/>
                </a:solidFill>
                <a:latin typeface="Malgun Gothic"/>
                <a:ea typeface="Malgun Gothic"/>
                <a:cs typeface="Malgun Gothic"/>
              </a:rPr>
              <a:t>10.  </a:t>
            </a:r>
            <a:r>
              <a:rPr sz="1800" b="0" i="0">
                <a:solidFill>
                  <a:srgbClr val="11202B"/>
                </a:solidFill>
                <a:latin typeface="Malgun Gothic"/>
                <a:ea typeface="Malgun Gothic"/>
                <a:cs typeface="Malgun Gothic"/>
              </a:rPr>
              <a:t>10. 광합성: 명반응과 암반응</a:t>
            </a:r>
          </a:p>
          <a:p>
            <a:pPr>
              <a:spcAft>
                <a:spcPts val="900"/>
              </a:spcAft>
            </a:pPr>
            <a:r>
              <a:rPr sz="1800" b="1" i="0">
                <a:solidFill>
                  <a:srgbClr val="F2B705"/>
                </a:solidFill>
                <a:latin typeface="Malgun Gothic"/>
                <a:ea typeface="Malgun Gothic"/>
                <a:cs typeface="Malgun Gothic"/>
              </a:rPr>
              <a:t>11.  </a:t>
            </a:r>
            <a:r>
              <a:rPr sz="1800" b="0" i="0">
                <a:solidFill>
                  <a:srgbClr val="11202B"/>
                </a:solidFill>
                <a:latin typeface="Malgun Gothic"/>
                <a:ea typeface="Malgun Gothic"/>
                <a:cs typeface="Malgun Gothic"/>
              </a:rPr>
              <a:t>11. 연료 선택과 연결</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포도당 산화의 전체 구조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포도당이 CO₂와 물로 완전히 산화될 때의 전체 반응과 자유에너지는 다음과 같다.</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C₆H₁₂O₆ + 6 O₂ → 6 CO₂ + 6 H₂O, ΔG°′ = </a:t>
            </a:r>
            <a:r>
              <a:rPr sz="2000" b="1" i="0">
                <a:solidFill>
                  <a:srgbClr val="11202B"/>
                </a:solidFill>
                <a:latin typeface="Malgun Gothic"/>
                <a:ea typeface="Malgun Gothic"/>
                <a:cs typeface="Malgun Gothic"/>
              </a:rPr>
              <a:t>−2,840 kJ/mol</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이 에너지를 한 번에 열로 내보내면 세포에는 쓸모가 없다. 세포는 이 산화를 여러 단계로 나누어 에너지를 조금씩 꺼내고, 그 가운데 상당 부분을 ATP와 전자 운반체에 담는다. 네 단계로 나누어 본다.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포도당 산화의 전체 구조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6</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2212848"/>
                <a:gridCol w="2212848"/>
                <a:gridCol w="2212848"/>
                <a:gridCol w="2212848"/>
                <a:gridCol w="2212848"/>
              </a:tblGrid>
              <a:tr h="365760">
                <a:tc>
                  <a:txBody>
                    <a:bodyPr/>
                    <a:lstStyle/>
                    <a:p>
                      <a:r>
                        <a:rPr sz="1200" b="1" i="0">
                          <a:solidFill>
                            <a:srgbClr val="FFFFFF"/>
                          </a:solidFill>
                          <a:latin typeface="Malgun Gothic"/>
                          <a:ea typeface="Malgun Gothic"/>
                          <a:cs typeface="Malgun Gothic"/>
                        </a:rPr>
                        <a:t>단계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위치</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출발 → 도착</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직접 산물</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전자 운반체</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1. Glycolysis</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세포질</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포도당(C6) → pyruvate(C3) ×2</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ATP 2</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NADH 2</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2. Pyruvate oxidation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미토콘드리아 기질</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pyruvate → acetyl-CoA + CO₂</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NADH 2</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3. TCA cycle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미토콘드리아 기질</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acetyl-CoA → 2 CO₂</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GTP 2</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NADH 6, FADH₂ 2</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4. Oxidative phosphorylation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미토콘드리아 내막</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NADH·FADH₂의 전자 → O₂</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ATP 약 26</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a:t>
                      </a:r>
                    </a:p>
                  </a:txBody>
                  <a:tcPr marL="73152" marR="73152" marT="27432" marB="27432">
                    <a:solidFill>
                      <a:srgbClr val="EFF4F8"/>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포도당 산화의 전체 구조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단계 1~3에서 만들어지는 ATP는 적다. 대부분의 에너지는 </a:t>
            </a:r>
            <a:r>
              <a:rPr sz="1800" b="1" i="0">
                <a:solidFill>
                  <a:srgbClr val="11202B"/>
                </a:solidFill>
                <a:latin typeface="Malgun Gothic"/>
                <a:ea typeface="Malgun Gothic"/>
                <a:cs typeface="Malgun Gothic"/>
              </a:rPr>
              <a:t>NADH와 FADH₂의 전자</a:t>
            </a:r>
            <a:r>
              <a:rPr sz="1800" b="0" i="0">
                <a:solidFill>
                  <a:srgbClr val="11202B"/>
                </a:solidFill>
                <a:latin typeface="Malgun Gothic"/>
                <a:ea typeface="Malgun Gothic"/>
                <a:cs typeface="Malgun Gothic"/>
              </a:rPr>
              <a:t>에 담기고, 그 전자가 4단계에서 O₂로 흐를 때 ATP가 만들어진다. 즉 포도당 산화는 </a:t>
            </a:r>
            <a:r>
              <a:rPr sz="1800" b="1" i="0">
                <a:solidFill>
                  <a:srgbClr val="11202B"/>
                </a:solidFill>
                <a:latin typeface="Malgun Gothic"/>
                <a:ea typeface="Malgun Gothic"/>
                <a:cs typeface="Malgun Gothic"/>
              </a:rPr>
              <a:t>탄소를 CO₂로 보내고 전자를 O₂로 보내는 과정</a:t>
            </a:r>
            <a:r>
              <a:rPr sz="1800" b="0" i="0">
                <a:solidFill>
                  <a:srgbClr val="11202B"/>
                </a:solidFill>
                <a:latin typeface="Malgun Gothic"/>
                <a:ea typeface="Malgun Gothic"/>
                <a:cs typeface="Malgun Gothic"/>
              </a:rPr>
              <a:t>이며, 두 흐름이 서로 다른 곳에서 끝난다.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산소가 없으면 4단계가 멈추고, NADH가 NAD⁺로 재산화되지 않는다. NAD⁺가 없으면 glycolysis도 멈추므로, 혐기 조건에서 세포는 다른 방법으로 NAD⁺를 되돌려야 한다. 그것이 </a:t>
            </a:r>
            <a:r>
              <a:rPr sz="1800" b="1" i="0">
                <a:solidFill>
                  <a:srgbClr val="11202B"/>
                </a:solidFill>
                <a:latin typeface="Malgun Gothic"/>
                <a:ea typeface="Malgun Gothic"/>
                <a:cs typeface="Malgun Gothic"/>
              </a:rPr>
              <a:t>발효</a:t>
            </a:r>
            <a:r>
              <a:rPr sz="1800" b="0" i="0">
                <a:solidFill>
                  <a:srgbClr val="11202B"/>
                </a:solidFill>
                <a:latin typeface="Malgun Gothic"/>
                <a:ea typeface="Malgun Gothic"/>
                <a:cs typeface="Malgun Gothic"/>
              </a:rPr>
              <a:t>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포도당 산화의 전체 구조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8</a:t>
            </a:r>
          </a:p>
        </p:txBody>
      </p:sp>
      <p:pic>
        <p:nvPicPr>
          <p:cNvPr id="7" name="Picture 6" descr="fig-glucose-overview.slide.png"/>
          <p:cNvPicPr>
            <a:picLocks noChangeAspect="1"/>
          </p:cNvPicPr>
          <p:nvPr/>
        </p:nvPicPr>
        <p:blipFill>
          <a:blip r:embed="rId2"/>
          <a:stretch>
            <a:fillRect/>
          </a:stretch>
        </p:blipFill>
        <p:spPr>
          <a:xfrm>
            <a:off x="1647300" y="1325880"/>
            <a:ext cx="8897094"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포도당 완전 산화의 네 단계와 세포 내 위치. 탄소는 CO₂로, 전자는 NADH·FADH₂를 거쳐 O₂로 흐르며, ATP 생산이 어느 단계에 몰려 있는지를 보인다.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Glycolysis: 열 단계와 알짜 수지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Glycolysis는 포도당 한 분자를 pyruvate 두 분자로 쪼개는 세포질의 열 단계 경로다. 산소를 쓰지 않고, 모든 생물에 보존되어 있어 가장 오래된 대사 경로로 추정된다. 열 단계를 두 묶음으로 나누면 구조가 보인다.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에너지 투입기(1~5단계)</a:t>
            </a:r>
            <a:r>
              <a:rPr sz="1400" b="0" i="0">
                <a:solidFill>
                  <a:srgbClr val="11202B"/>
                </a:solidFill>
                <a:latin typeface="Malgun Gothic"/>
                <a:ea typeface="Malgun Gothic"/>
                <a:cs typeface="Malgun Gothic"/>
              </a:rPr>
              <a:t> ATP를 두 개 쓴다. 목적은 포도당을 쪼갤 수 있는 형태로 바꾸는 것이다.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Glucose → glucose-6-phosphate. </a:t>
            </a:r>
            <a:r>
              <a:rPr sz="1400" b="1" i="0">
                <a:solidFill>
                  <a:srgbClr val="11202B"/>
                </a:solidFill>
                <a:latin typeface="Malgun Gothic"/>
                <a:ea typeface="Malgun Gothic"/>
                <a:cs typeface="Malgun Gothic"/>
              </a:rPr>
              <a:t>Hexokinase</a:t>
            </a:r>
            <a:r>
              <a:rPr sz="1400" b="0" i="0">
                <a:solidFill>
                  <a:srgbClr val="11202B"/>
                </a:solidFill>
                <a:latin typeface="Malgun Gothic"/>
                <a:ea typeface="Malgun Gothic"/>
                <a:cs typeface="Malgun Gothic"/>
              </a:rPr>
              <a:t>(간은 glucokinase). ATP 소모. 인산기가 붙으면 음전하 때문에 막을 통과하지 못해 세포 안에 갇힌다.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Glucose-6-phosphate ⇌ fructose-6-phosphate. Phosphoglucose isomerase. 6각 고리가 5각 고리로 바뀌어 C1에 인산을 받을 준비가 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Fructose-6-phosphate → </a:t>
            </a:r>
            <a:r>
              <a:rPr sz="1400" b="1" i="0">
                <a:solidFill>
                  <a:srgbClr val="11202B"/>
                </a:solidFill>
                <a:latin typeface="Malgun Gothic"/>
                <a:ea typeface="Malgun Gothic"/>
                <a:cs typeface="Malgun Gothic"/>
              </a:rPr>
              <a:t>fructose-1,6-bisphosphate</a:t>
            </a:r>
            <a:r>
              <a:rPr sz="1400" b="0" i="0">
                <a:solidFill>
                  <a:srgbClr val="11202B"/>
                </a:solidFill>
                <a:latin typeface="Malgun Gothic"/>
                <a:ea typeface="Malgun Gothic"/>
                <a:cs typeface="Malgun Gothic"/>
              </a:rPr>
              <a:t>. </a:t>
            </a:r>
            <a:r>
              <a:rPr sz="1400" b="1" i="0">
                <a:solidFill>
                  <a:srgbClr val="11202B"/>
                </a:solidFill>
                <a:latin typeface="Malgun Gothic"/>
                <a:ea typeface="Malgun Gothic"/>
                <a:cs typeface="Malgun Gothic"/>
              </a:rPr>
              <a:t>Phosphofructokinase-1(PFK-1)</a:t>
            </a:r>
            <a:r>
              <a:rPr sz="1400" b="0" i="0">
                <a:solidFill>
                  <a:srgbClr val="11202B"/>
                </a:solidFill>
                <a:latin typeface="Malgun Gothic"/>
                <a:ea typeface="Malgun Gothic"/>
                <a:cs typeface="Malgun Gothic"/>
              </a:rPr>
              <a:t>. ATP 소모. </a:t>
            </a:r>
            <a:r>
              <a:rPr sz="1400" b="1" i="0">
                <a:solidFill>
                  <a:srgbClr val="11202B"/>
                </a:solidFill>
                <a:latin typeface="Malgun Gothic"/>
                <a:ea typeface="Malgun Gothic"/>
                <a:cs typeface="Malgun Gothic"/>
              </a:rPr>
              <a:t>비가역이며 이 경로의 rate-limiting step이다.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 Fructose-1,6-bisphosphate → dihydroxyacetone phosphate + glyceraldehyde-3-phosphate. Aldolase. 분자가 둘로 쪼개진다.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5. Dihydroxyacetone phosphate ⇌ glyceraldehyde-3-phosphate. Triose phosphate isomerase. 두 조각이 같은 분자가 되어 이후 단계가 하나로 통일된다.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에너지 수확기(6~10단계)</a:t>
            </a:r>
            <a:r>
              <a:rPr sz="1400" b="0" i="0">
                <a:solidFill>
                  <a:srgbClr val="11202B"/>
                </a:solidFill>
                <a:latin typeface="Malgun Gothic"/>
                <a:ea typeface="Malgun Gothic"/>
                <a:cs typeface="Malgun Gothic"/>
              </a:rPr>
              <a:t> 조각 하나당 ATP 두 개와 NADH 하나를 얻는다. 조각이 둘이므로 전체로는 ATP 4개, NADH 2개다.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Glyceraldehyde-3-phosphate → 1,3-bisphosphoglycerate. </a:t>
            </a:r>
            <a:r>
              <a:rPr sz="1400" b="1" i="0">
                <a:solidFill>
                  <a:srgbClr val="11202B"/>
                </a:solidFill>
                <a:latin typeface="Malgun Gothic"/>
                <a:ea typeface="Malgun Gothic"/>
                <a:cs typeface="Malgun Gothic"/>
              </a:rPr>
              <a:t>Glyceraldehyde-3-phosphate dehydrogenase</a:t>
            </a:r>
            <a:r>
              <a:rPr sz="1400" b="0" i="0">
                <a:solidFill>
                  <a:srgbClr val="11202B"/>
                </a:solidFill>
                <a:latin typeface="Malgun Gothic"/>
                <a:ea typeface="Malgun Gothic"/>
                <a:cs typeface="Malgun Gothic"/>
              </a:rPr>
              <a:t>. 산화와 인산화가 동시에 일어난다. NAD⁺가 NADH로 환원되고, 무기인산이 결합해 전이 능력이 큰 화합물(−49.4 kJ/mol)이 만들어진다.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1,3-Bisphosphoglycerate → 3-phosphoglycerate. Phosphoglycerate kinase. </a:t>
            </a:r>
            <a:r>
              <a:rPr sz="1400" b="1" i="0">
                <a:solidFill>
                  <a:srgbClr val="11202B"/>
                </a:solidFill>
                <a:latin typeface="Malgun Gothic"/>
                <a:ea typeface="Malgun Gothic"/>
                <a:cs typeface="Malgun Gothic"/>
              </a:rPr>
              <a:t>ATP 생성.</a:t>
            </a:r>
            <a:r>
              <a:rPr sz="1400" b="0" i="0">
                <a:solidFill>
                  <a:srgbClr val="11202B"/>
                </a:solidFill>
                <a:latin typeface="Malgun Gothic"/>
                <a:ea typeface="Malgun Gothic"/>
                <a:cs typeface="Malgun Gothic"/>
              </a:rPr>
              <a:t> 기질의 인산기를 ADP로 직접 넘기므로 substrate-level phosphorylation이다.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3-Phosphoglycerate ⇌ 2-phosphoglycerate. Phosphoglycerate mutase.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Glycolysis: 열 단계와 알짜 수지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4. 2-Phosphoglycerate → </a:t>
            </a:r>
            <a:r>
              <a:rPr sz="1800" b="1" i="0">
                <a:solidFill>
                  <a:srgbClr val="11202B"/>
                </a:solidFill>
                <a:latin typeface="Malgun Gothic"/>
                <a:ea typeface="Malgun Gothic"/>
                <a:cs typeface="Malgun Gothic"/>
              </a:rPr>
              <a:t>phosphoenolpyruvate</a:t>
            </a:r>
            <a:r>
              <a:rPr sz="1800" b="0" i="0">
                <a:solidFill>
                  <a:srgbClr val="11202B"/>
                </a:solidFill>
                <a:latin typeface="Malgun Gothic"/>
                <a:ea typeface="Malgun Gothic"/>
                <a:cs typeface="Malgun Gothic"/>
              </a:rPr>
              <a:t>. Enolase. 물이 떨어져 나가 전이 능력이 −61.9 kJ/mol로 매우 큰 화합물이 된다.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5. Phosphoenolpyruvate → pyruvate. </a:t>
            </a:r>
            <a:r>
              <a:rPr sz="1800" b="1" i="0">
                <a:solidFill>
                  <a:srgbClr val="11202B"/>
                </a:solidFill>
                <a:latin typeface="Malgun Gothic"/>
                <a:ea typeface="Malgun Gothic"/>
                <a:cs typeface="Malgun Gothic"/>
              </a:rPr>
              <a:t>Pyruvate kinase</a:t>
            </a:r>
            <a:r>
              <a:rPr sz="1800" b="0" i="0">
                <a:solidFill>
                  <a:srgbClr val="11202B"/>
                </a:solidFill>
                <a:latin typeface="Malgun Gothic"/>
                <a:ea typeface="Malgun Gothic"/>
                <a:cs typeface="Malgun Gothic"/>
              </a:rPr>
              <a:t>. </a:t>
            </a:r>
            <a:r>
              <a:rPr sz="1800" b="1" i="0">
                <a:solidFill>
                  <a:srgbClr val="11202B"/>
                </a:solidFill>
                <a:latin typeface="Malgun Gothic"/>
                <a:ea typeface="Malgun Gothic"/>
                <a:cs typeface="Malgun Gothic"/>
              </a:rPr>
              <a:t>ATP 생성.</a:t>
            </a:r>
            <a:r>
              <a:rPr sz="1800" b="0" i="0">
                <a:solidFill>
                  <a:srgbClr val="11202B"/>
                </a:solidFill>
                <a:latin typeface="Malgun Gothic"/>
                <a:ea typeface="Malgun Gothic"/>
                <a:cs typeface="Malgun Gothic"/>
              </a:rPr>
              <a:t> 비가역이다.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알짜 수지는 다음과 같다.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Glucose + 2 NAD⁺ + 2 ADP + 2 Pᵢ → 2 pyruvate + 2 NADH + 2 H⁺ + 2 ATP + 2 H₂O</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ATP 네 개가 만들어지고 두 개가 소모되어 </a:t>
            </a:r>
            <a:r>
              <a:rPr sz="1800" b="1" i="0">
                <a:solidFill>
                  <a:srgbClr val="11202B"/>
                </a:solidFill>
                <a:latin typeface="Malgun Gothic"/>
                <a:ea typeface="Malgun Gothic"/>
                <a:cs typeface="Malgun Gothic"/>
              </a:rPr>
              <a:t>알짜 2개</a:t>
            </a:r>
            <a:r>
              <a:rPr sz="1800" b="0" i="0">
                <a:solidFill>
                  <a:srgbClr val="11202B"/>
                </a:solidFill>
                <a:latin typeface="Malgun Gothic"/>
                <a:ea typeface="Malgun Gothic"/>
                <a:cs typeface="Malgun Gothic"/>
              </a:rPr>
              <a:t>다. 반응 전체의 ΔG°′는 약 −74 kJ/mol로 포도당이 가진 에너지의 일부만 꺼낸다. 남은 에너지는 pyruvate의 결합에 그대로 남아 있다.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Glycolysis: 열 단계와 알짜 수지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11</a:t>
            </a:r>
          </a:p>
        </p:txBody>
      </p:sp>
      <p:pic>
        <p:nvPicPr>
          <p:cNvPr id="7" name="Picture 6" descr="fig-glycolysis.slide.png"/>
          <p:cNvPicPr>
            <a:picLocks noChangeAspect="1"/>
          </p:cNvPicPr>
          <p:nvPr/>
        </p:nvPicPr>
        <p:blipFill>
          <a:blip r:embed="rId2"/>
          <a:stretch>
            <a:fillRect/>
          </a:stretch>
        </p:blipFill>
        <p:spPr>
          <a:xfrm>
            <a:off x="2503562" y="1325880"/>
            <a:ext cx="7184571"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Glycolysis의 열 단계. 투입기에서 ATP 2개를 쓰고 수확기에서 ATP 4개와 NADH 2개를 얻으며, hexokinase·PFK-1·pyruvate kinase 세 지점이 비가역이라는 것을 보인다.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Glycolysis: 열 단계와 알짜 수지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12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세 지점이 비가역</a:t>
            </a:r>
            <a:r>
              <a:rPr sz="2000" b="0" i="0">
                <a:solidFill>
                  <a:srgbClr val="11202B"/>
                </a:solidFill>
                <a:latin typeface="Malgun Gothic"/>
                <a:ea typeface="Malgun Gothic"/>
                <a:cs typeface="Malgun Gothic"/>
              </a:rPr>
              <a:t>이다. Hexokinase, PFK-1, pyruvate kinase 반응이다. 나머지 일곱 단계는 평형에 가까워 양방향으로 작동하므로, gluconeogenesis는 이 세 지점만 다른 효소로 우회하면 된다.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Glycolysis의 조절과 pyruvate의 운명</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PFK-1이 조절의 중심</a:t>
            </a:r>
            <a:r>
              <a:rPr sz="2000" b="0" i="0">
                <a:solidFill>
                  <a:srgbClr val="11202B"/>
                </a:solidFill>
                <a:latin typeface="Malgun Gothic"/>
                <a:ea typeface="Malgun Gothic"/>
                <a:cs typeface="Malgun Gothic"/>
              </a:rPr>
              <a:t>이다. 비가역이고, 경로에서 처음으로 glycolysis에만 쓰이는 단계이기 때문이다. 조절자는 포도당 농도가 아니라 </a:t>
            </a:r>
            <a:r>
              <a:rPr sz="2000" b="1" i="0">
                <a:solidFill>
                  <a:srgbClr val="11202B"/>
                </a:solidFill>
                <a:latin typeface="Malgun Gothic"/>
                <a:ea typeface="Malgun Gothic"/>
                <a:cs typeface="Malgun Gothic"/>
              </a:rPr>
              <a:t>세포의 에너지 상태와 탄소 공급 상태</a:t>
            </a:r>
            <a:r>
              <a:rPr sz="2000" b="0" i="0">
                <a:solidFill>
                  <a:srgbClr val="11202B"/>
                </a:solidFill>
                <a:latin typeface="Malgun Gothic"/>
                <a:ea typeface="Malgun Gothic"/>
                <a:cs typeface="Malgun Gothic"/>
              </a:rPr>
              <a:t>를 반영한다.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Glycolysis의 조절과 pyruvate의 운명</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14</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조절자</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방향</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의미</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ATP</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억제</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에너지가 충분하면 경로를 줄인다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AMP, ADP</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활성화</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에너지가 부족하면 경로를 늘린다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Citrate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억제</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TCA cycle 중간체가 쌓였으면 유입을 줄인다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H⁺(낮은 pH)</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억제</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lactate가 쌓여 산성화되면 경로를 멈춘다</a:t>
                      </a:r>
                    </a:p>
                  </a:txBody>
                  <a:tcPr marL="73152" marR="73152" marT="27432" marB="27432">
                    <a:solidFill>
                      <a:srgbClr val="EFF4F8"/>
                    </a:solidFill>
                  </a:tcPr>
                </a:tc>
              </a:tr>
              <a:tr h="365760">
                <a:tc>
                  <a:txBody>
                    <a:bodyPr/>
                    <a:lstStyle/>
                    <a:p>
                      <a:r>
                        <a:rPr sz="1200" b="1" i="0">
                          <a:solidFill>
                            <a:srgbClr val="11202B"/>
                          </a:solidFill>
                          <a:latin typeface="Malgun Gothic"/>
                          <a:ea typeface="Malgun Gothic"/>
                          <a:cs typeface="Malgun Gothic"/>
                        </a:rPr>
                        <a:t>Fructose-2,6-bisphosphate</a:t>
                      </a:r>
                    </a:p>
                  </a:txBody>
                  <a:tcPr marL="73152" marR="73152" marT="27432" marB="27432">
                    <a:solidFill>
                      <a:srgbClr val="FFFFFF"/>
                    </a:solidFill>
                  </a:tcPr>
                </a:tc>
                <a:tc>
                  <a:txBody>
                    <a:bodyPr/>
                    <a:lstStyle/>
                    <a:p>
                      <a:r>
                        <a:rPr sz="1200" b="1" i="0">
                          <a:solidFill>
                            <a:srgbClr val="11202B"/>
                          </a:solidFill>
                          <a:latin typeface="Malgun Gothic"/>
                          <a:ea typeface="Malgun Gothic"/>
                          <a:cs typeface="Malgun Gothic"/>
                        </a:rPr>
                        <a:t>강력한 활성화</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간에서 insulin 신호를 전달한다</a:t>
                      </a:r>
                    </a:p>
                  </a:txBody>
                  <a:tcPr marL="73152" marR="73152" marT="27432" marB="27432">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Glycolysis의 조절과 pyruvate의 운명</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Fructose-2,6-bisphosphate는 경로의 중간체가 아니라 조절 전용 분자다. 한 효소의 두 활성 부위(phosphofructokinase-2와 fructose-2,6-bisphosphatase)가 이 분자를 만들고 없애며, 그 균형이 인산화로 조절된다. Insulin은 이 분자를 늘려 glycolysis를 켜고, glucagon은 줄여 glycolysis를 끄고 gluconeogenesis를 켠다.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Hexokinase와 glucokinase의 차이도 조절의 한 부분이다.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Glycolysis의 조절과 pyruvate의 운명</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16</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항목</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Hexokinase (대부분 조직)</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Glucokinase (간, 췌장 β세포)</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K_m</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약 0.1 mM</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약 10 mM</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포도당 농도 민감도</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낮은 농도에서도 포화</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혈당이 올라갈 때 활성이 올라간다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Glucose-6-phosphate 억제</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받는다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받지 않는다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역할</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조직 자체의 에너지 확보</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혈당 완충, 혈당 감지</a:t>
                      </a:r>
                    </a:p>
                  </a:txBody>
                  <a:tcPr marL="73152" marR="73152" marT="27432" marB="27432">
                    <a:solidFill>
                      <a:srgbClr val="EFF4F8"/>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Glycolysis의 조절과 pyruvate의 운명</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17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혈당이 정상(약 5 mM)이면 glucokinase는 절반도 포화되지 않지만, 식후 문맥 혈당이 올라가면 활성이 비례해 올라가 간이 포도당을 흡수한다. 즉 </a:t>
            </a:r>
            <a:r>
              <a:rPr sz="1600" b="1" i="0">
                <a:solidFill>
                  <a:srgbClr val="11202B"/>
                </a:solidFill>
                <a:latin typeface="Malgun Gothic"/>
                <a:ea typeface="Malgun Gothic"/>
                <a:cs typeface="Malgun Gothic"/>
              </a:rPr>
              <a:t>간은 혈당 조절 장치로서 설계되어 있다.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Pyruvate의 운명은 세 가지</a:t>
            </a:r>
            <a:r>
              <a:rPr sz="1600" b="0" i="0">
                <a:solidFill>
                  <a:srgbClr val="11202B"/>
                </a:solidFill>
                <a:latin typeface="Malgun Gothic"/>
                <a:ea typeface="Malgun Gothic"/>
                <a:cs typeface="Malgun Gothic"/>
              </a:rPr>
              <a:t>다. 어느 쪽으로 갈지는 산소 공급과 조직의 종류가 정한다.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Acetyl-CoA</a:t>
            </a:r>
            <a:r>
              <a:rPr sz="1600" b="0" i="0">
                <a:solidFill>
                  <a:srgbClr val="11202B"/>
                </a:solidFill>
                <a:latin typeface="Malgun Gothic"/>
                <a:ea typeface="Malgun Gothic"/>
                <a:cs typeface="Malgun Gothic"/>
              </a:rPr>
              <a:t>: 산소가 있을 때. Pyruvate dehydrogenase 복합체가 미토콘드리아에서 촉매한다.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Lactate</a:t>
            </a:r>
            <a:r>
              <a:rPr sz="1600" b="0" i="0">
                <a:solidFill>
                  <a:srgbClr val="11202B"/>
                </a:solidFill>
                <a:latin typeface="Malgun Gothic"/>
                <a:ea typeface="Malgun Gothic"/>
                <a:cs typeface="Malgun Gothic"/>
              </a:rPr>
              <a:t>: 산소가 부족할 때. Lactate dehydrogenase가 pyruvate를 환원하면서 NADH를 NAD⁺로 되돌린다. </a:t>
            </a:r>
            <a:r>
              <a:rPr sz="1600" b="1" i="0">
                <a:solidFill>
                  <a:srgbClr val="11202B"/>
                </a:solidFill>
                <a:latin typeface="Malgun Gothic"/>
                <a:ea typeface="Malgun Gothic"/>
                <a:cs typeface="Malgun Gothic"/>
              </a:rPr>
              <a:t>ATP를 더 만들지는 않고, 다만 NAD⁺를 되돌려 glycolysis가 계속 돌게 한다.</a:t>
            </a:r>
            <a:r>
              <a:rPr sz="1600" b="0" i="0">
                <a:solidFill>
                  <a:srgbClr val="11202B"/>
                </a:solidFill>
                <a:latin typeface="Malgun Gothic"/>
                <a:ea typeface="Malgun Gothic"/>
                <a:cs typeface="Malgun Gothic"/>
              </a:rPr>
              <a:t> 적혈구는 미토콘드리아가 없어 산소가 있어도 항상 이 경로를 쓴다.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Ethanol과 CO₂</a:t>
            </a:r>
            <a:r>
              <a:rPr sz="1600" b="0" i="0">
                <a:solidFill>
                  <a:srgbClr val="11202B"/>
                </a:solidFill>
                <a:latin typeface="Malgun Gothic"/>
                <a:ea typeface="Malgun Gothic"/>
                <a:cs typeface="Malgun Gothic"/>
              </a:rPr>
              <a:t>: 효모의 알코올 발효. 사람에게는 없다.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Glycolysis의 조절과 pyruvate의 운명</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18</a:t>
            </a:r>
          </a:p>
        </p:txBody>
      </p:sp>
      <p:sp>
        <p:nvSpPr>
          <p:cNvPr id="7" name="Rectangle 6"/>
          <p:cNvSpPr/>
          <p:nvPr/>
        </p:nvSpPr>
        <p:spPr>
          <a:xfrm>
            <a:off x="640080" y="1325880"/>
            <a:ext cx="10881360" cy="197612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발효의 목적이 NAD⁺ 재생이라는 점이 임상 소견을 설명한다. 조직 저산소에서 lactate가 쌓여 혈중 lactate가 올라가면 </a:t>
            </a:r>
            <a:r>
              <a:rPr sz="1600" b="1" i="0">
                <a:solidFill>
                  <a:srgbClr val="11202B"/>
                </a:solidFill>
                <a:latin typeface="Malgun Gothic"/>
                <a:ea typeface="Malgun Gothic"/>
                <a:cs typeface="Malgun Gothic"/>
              </a:rPr>
              <a:t>lactic acidosis</a:t>
            </a:r>
            <a:r>
              <a:rPr sz="1600" b="0" i="0">
                <a:solidFill>
                  <a:srgbClr val="11202B"/>
                </a:solidFill>
                <a:latin typeface="Malgun Gothic"/>
                <a:ea typeface="Malgun Gothic"/>
                <a:cs typeface="Malgun Gothic"/>
              </a:rPr>
              <a:t>가 된다. 정상 혈중 lactate는 0.5~2.2 mmol/L이고 4 mmol/L를 넘으면 중증 패혈증이나 쇼크의 예후 지표로 쓰인다. 반면 종양 세포는 산소가 충분해도 glycolysis를 늘리고 lactate를 내보내는데(Warburg effect), 이것은 ATP 수확이 아니라 생합성용 탄소 골격과 NADPH 공급을 늘리기 위한 것으로 해석된다. ¹⁸F-fluorodeoxyglucose PET 검사는 이렇게 늘어난 포도당 섭취를 영상화한다.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000" b="1" i="0">
                <a:solidFill>
                  <a:srgbClr val="FFFFFF"/>
                </a:solidFill>
                <a:latin typeface="Malgun Gothic"/>
                <a:ea typeface="Malgun Gothic"/>
                <a:cs typeface="Malgun Gothic"/>
              </a:rPr>
              <a:t>4. Pyruvate dehydrogenase와 TCA cycle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19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Pyruvate는 수송체를 통해 미토콘드리아 기질로 들어가 </a:t>
            </a:r>
            <a:r>
              <a:rPr sz="1400" b="1" i="0">
                <a:solidFill>
                  <a:srgbClr val="11202B"/>
                </a:solidFill>
                <a:latin typeface="Malgun Gothic"/>
                <a:ea typeface="Malgun Gothic"/>
                <a:cs typeface="Malgun Gothic"/>
              </a:rPr>
              <a:t>pyruvate dehydrogenase 복합체(PDH)</a:t>
            </a:r>
            <a:r>
              <a:rPr sz="1400" b="0" i="0">
                <a:solidFill>
                  <a:srgbClr val="11202B"/>
                </a:solidFill>
                <a:latin typeface="Malgun Gothic"/>
                <a:ea typeface="Malgun Gothic"/>
                <a:cs typeface="Malgun Gothic"/>
              </a:rPr>
              <a:t>를 만난다. 이 복합체는 세 종류의 효소와 다섯 가지 보조인자(thiamine pyrophosphate, lipoamide, FAD, NAD⁺, coenzyme A)로 이루어진 거대 구조다. 반응은 하나지만 세 가지 변화가 함께 일어난다.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Pyruvate + CoA + NAD⁺ → acetyl-CoA + CO₂ + NADH, ΔG°′ = −33.5 kJ/mol</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decarboxylation으로 CO₂가 떨어지고, 남은 두 탄소가 산화되어 NADH가 생기고, 그 acetyl기가 coenzyme A에 thioester로 붙는다. </a:t>
            </a:r>
            <a:r>
              <a:rPr sz="1400" b="1" i="0">
                <a:solidFill>
                  <a:srgbClr val="11202B"/>
                </a:solidFill>
                <a:latin typeface="Malgun Gothic"/>
                <a:ea typeface="Malgun Gothic"/>
                <a:cs typeface="Malgun Gothic"/>
              </a:rPr>
              <a:t>비가역이다.</a:t>
            </a:r>
            <a:r>
              <a:rPr sz="1400" b="0" i="0">
                <a:solidFill>
                  <a:srgbClr val="11202B"/>
                </a:solidFill>
                <a:latin typeface="Malgun Gothic"/>
                <a:ea typeface="Malgun Gothic"/>
                <a:cs typeface="Malgun Gothic"/>
              </a:rPr>
              <a:t> 그래서 지방산과 포도당은 acetyl-CoA로 바뀔 수 있지만 acetyl-CoA에서 포도당으로 돌아갈 수 없다.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PDH는 인산화로 조절된다. PDH kinase가 인산화하면 비활성, PDH phosphatase가 탈인산화하면 활성이다. Acetyl-CoA와 NADH가 kinase를 활성화하므로 산물이 쌓이면 경로가 꺼지고, Ca²⁺와 insulin은 phosphatase를 활성화해 경로를 켠다.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TCA cycle</a:t>
            </a:r>
            <a:r>
              <a:rPr sz="1400" b="0" i="0">
                <a:solidFill>
                  <a:srgbClr val="11202B"/>
                </a:solidFill>
                <a:latin typeface="Malgun Gothic"/>
                <a:ea typeface="Malgun Gothic"/>
                <a:cs typeface="Malgun Gothic"/>
              </a:rPr>
              <a:t>은 acetyl-CoA의 두 탄소를 CO₂ 두 개로 산화하는 여덟 단계의 순환이다. 핵심 구조는 다음과 같다.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Acetyl-CoA(C2)가 oxaloacetate(C4)와 결합해 </a:t>
            </a:r>
            <a:r>
              <a:rPr sz="1400" b="1" i="0">
                <a:solidFill>
                  <a:srgbClr val="11202B"/>
                </a:solidFill>
                <a:latin typeface="Malgun Gothic"/>
                <a:ea typeface="Malgun Gothic"/>
                <a:cs typeface="Malgun Gothic"/>
              </a:rPr>
              <a:t>citrate</a:t>
            </a:r>
            <a:r>
              <a:rPr sz="1400" b="0" i="0">
                <a:solidFill>
                  <a:srgbClr val="11202B"/>
                </a:solidFill>
                <a:latin typeface="Malgun Gothic"/>
                <a:ea typeface="Malgun Gothic"/>
                <a:cs typeface="Malgun Gothic"/>
              </a:rPr>
              <a:t>(C6)가 된다. </a:t>
            </a:r>
            <a:r>
              <a:rPr sz="1400" b="1" i="0">
                <a:solidFill>
                  <a:srgbClr val="11202B"/>
                </a:solidFill>
                <a:latin typeface="Malgun Gothic"/>
                <a:ea typeface="Malgun Gothic"/>
                <a:cs typeface="Malgun Gothic"/>
              </a:rPr>
              <a:t>Citrate synthase</a:t>
            </a:r>
            <a:r>
              <a:rPr sz="1400" b="0" i="0">
                <a:solidFill>
                  <a:srgbClr val="11202B"/>
                </a:solidFill>
                <a:latin typeface="Malgun Gothic"/>
                <a:ea typeface="Malgun Gothic"/>
                <a:cs typeface="Malgun Gothic"/>
              </a:rPr>
              <a:t>. 비가역이며 유입량을 정한다.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Citrate → isocitrate. Aconitase.</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Isocitrate → α-ketoglutarate(C5) + CO₂ + NADH. </a:t>
            </a:r>
            <a:r>
              <a:rPr sz="1400" b="1" i="0">
                <a:solidFill>
                  <a:srgbClr val="11202B"/>
                </a:solidFill>
                <a:latin typeface="Malgun Gothic"/>
                <a:ea typeface="Malgun Gothic"/>
                <a:cs typeface="Malgun Gothic"/>
              </a:rPr>
              <a:t>Isocitrate dehydrogenase</a:t>
            </a:r>
            <a:r>
              <a:rPr sz="1400" b="0" i="0">
                <a:solidFill>
                  <a:srgbClr val="11202B"/>
                </a:solidFill>
                <a:latin typeface="Malgun Gothic"/>
                <a:ea typeface="Malgun Gothic"/>
                <a:cs typeface="Malgun Gothic"/>
              </a:rPr>
              <a:t>. 첫 decarboxylation이며 </a:t>
            </a:r>
            <a:r>
              <a:rPr sz="1400" b="1" i="0">
                <a:solidFill>
                  <a:srgbClr val="11202B"/>
                </a:solidFill>
                <a:latin typeface="Malgun Gothic"/>
                <a:ea typeface="Malgun Gothic"/>
                <a:cs typeface="Malgun Gothic"/>
              </a:rPr>
              <a:t>순환의 rate-limiting step</a:t>
            </a:r>
            <a:r>
              <a:rPr sz="1400" b="0" i="0">
                <a:solidFill>
                  <a:srgbClr val="11202B"/>
                </a:solidFill>
                <a:latin typeface="Malgun Gothic"/>
                <a:ea typeface="Malgun Gothic"/>
                <a:cs typeface="Malgun Gothic"/>
              </a:rPr>
              <a:t>이다. ADP에 활성화되고 NADH·ATP에 억제된다.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 α-Ketoglutarate → succinyl-CoA(C4) + CO₂ + NADH. </a:t>
            </a:r>
            <a:r>
              <a:rPr sz="1400" b="1" i="0">
                <a:solidFill>
                  <a:srgbClr val="11202B"/>
                </a:solidFill>
                <a:latin typeface="Malgun Gothic"/>
                <a:ea typeface="Malgun Gothic"/>
                <a:cs typeface="Malgun Gothic"/>
              </a:rPr>
              <a:t>α-Ketoglutarate dehydrogenase</a:t>
            </a:r>
            <a:r>
              <a:rPr sz="1400" b="0" i="0">
                <a:solidFill>
                  <a:srgbClr val="11202B"/>
                </a:solidFill>
                <a:latin typeface="Malgun Gothic"/>
                <a:ea typeface="Malgun Gothic"/>
                <a:cs typeface="Malgun Gothic"/>
              </a:rPr>
              <a:t>. PDH와 같은 구조와 보조인자를 쓴다. 비가역.</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5. Succinyl-CoA → succinate + </a:t>
            </a:r>
            <a:r>
              <a:rPr sz="1400" b="1" i="0">
                <a:solidFill>
                  <a:srgbClr val="11202B"/>
                </a:solidFill>
                <a:latin typeface="Malgun Gothic"/>
                <a:ea typeface="Malgun Gothic"/>
                <a:cs typeface="Malgun Gothic"/>
              </a:rPr>
              <a:t>GTP</a:t>
            </a:r>
            <a:r>
              <a:rPr sz="1400" b="0" i="0">
                <a:solidFill>
                  <a:srgbClr val="11202B"/>
                </a:solidFill>
                <a:latin typeface="Malgun Gothic"/>
                <a:ea typeface="Malgun Gothic"/>
                <a:cs typeface="Malgun Gothic"/>
              </a:rPr>
              <a:t>. Succinyl-CoA synthetase. 순환에서 유일한 substrate-level phosphorylation.</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6. Succinate → fumarate + </a:t>
            </a:r>
            <a:r>
              <a:rPr sz="1400" b="1" i="0">
                <a:solidFill>
                  <a:srgbClr val="11202B"/>
                </a:solidFill>
                <a:latin typeface="Malgun Gothic"/>
                <a:ea typeface="Malgun Gothic"/>
                <a:cs typeface="Malgun Gothic"/>
              </a:rPr>
              <a:t>FADH₂</a:t>
            </a:r>
            <a:r>
              <a:rPr sz="1400" b="0" i="0">
                <a:solidFill>
                  <a:srgbClr val="11202B"/>
                </a:solidFill>
                <a:latin typeface="Malgun Gothic"/>
                <a:ea typeface="Malgun Gothic"/>
                <a:cs typeface="Malgun Gothic"/>
              </a:rPr>
              <a:t>. </a:t>
            </a:r>
            <a:r>
              <a:rPr sz="1400" b="1" i="0">
                <a:solidFill>
                  <a:srgbClr val="11202B"/>
                </a:solidFill>
                <a:latin typeface="Malgun Gothic"/>
                <a:ea typeface="Malgun Gothic"/>
                <a:cs typeface="Malgun Gothic"/>
              </a:rPr>
              <a:t>Succinate dehydrogenase</a:t>
            </a:r>
            <a:r>
              <a:rPr sz="1400" b="0" i="0">
                <a:solidFill>
                  <a:srgbClr val="11202B"/>
                </a:solidFill>
                <a:latin typeface="Malgun Gothic"/>
                <a:ea typeface="Malgun Gothic"/>
                <a:cs typeface="Malgun Gothic"/>
              </a:rPr>
              <a:t>. 이 효소만 내막에 박혀 있고 electron transport chain의 복합체 II와 동일하다.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000" b="1" i="0">
                <a:solidFill>
                  <a:srgbClr val="FFFFFF"/>
                </a:solidFill>
                <a:latin typeface="Malgun Gothic"/>
                <a:ea typeface="Malgun Gothic"/>
                <a:cs typeface="Malgun Gothic"/>
              </a:rPr>
              <a:t>4. Pyruvate dehydrogenase와 TCA cycle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7. Fumarate → malate. Fumarase.</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8. Malate → oxaloacetate + NADH. Malate dehydrogenase. 순환이 닫힌다.</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Acetyl-CoA 한 분자당 산물은 </a:t>
            </a:r>
            <a:r>
              <a:rPr sz="2000" b="1" i="0">
                <a:solidFill>
                  <a:srgbClr val="11202B"/>
                </a:solidFill>
                <a:latin typeface="Malgun Gothic"/>
                <a:ea typeface="Malgun Gothic"/>
                <a:cs typeface="Malgun Gothic"/>
              </a:rPr>
              <a:t>CO₂ 2개, NADH 3개, FADH₂ 1개, GTP 1개</a:t>
            </a:r>
            <a:r>
              <a:rPr sz="2000" b="0" i="0">
                <a:solidFill>
                  <a:srgbClr val="11202B"/>
                </a:solidFill>
                <a:latin typeface="Malgun Gothic"/>
                <a:ea typeface="Malgun Gothic"/>
                <a:cs typeface="Malgun Gothic"/>
              </a:rPr>
              <a:t>다. 포도당 한 분자는 acetyl-CoA 두 개를 내므로 두 배가 된다.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000" b="1" i="0">
                <a:solidFill>
                  <a:srgbClr val="FFFFFF"/>
                </a:solidFill>
                <a:latin typeface="Malgun Gothic"/>
                <a:ea typeface="Malgun Gothic"/>
                <a:cs typeface="Malgun Gothic"/>
              </a:rPr>
              <a:t>4. Pyruvate dehydrogenase와 TCA cycle</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21</a:t>
            </a:r>
          </a:p>
        </p:txBody>
      </p:sp>
      <p:pic>
        <p:nvPicPr>
          <p:cNvPr id="7" name="Picture 6" descr="fig-tca.slide.png"/>
          <p:cNvPicPr>
            <a:picLocks noChangeAspect="1"/>
          </p:cNvPicPr>
          <p:nvPr/>
        </p:nvPicPr>
        <p:blipFill>
          <a:blip r:embed="rId2"/>
          <a:stretch>
            <a:fillRect/>
          </a:stretch>
        </p:blipFill>
        <p:spPr>
          <a:xfrm>
            <a:off x="2036595" y="1325880"/>
            <a:ext cx="8118504"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TCA cycle의 여덟 단계. 탄소 수의 변화(C4 → C6 → C5 → C4), 두 번의 decarboxylation 지점, NADH·FADH₂·GTP가 나오는 단계, 그리고 isocitrate dehydrogenase가 rate-limiting step이라는 것을 보인다.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000" b="1" i="0">
                <a:solidFill>
                  <a:srgbClr val="FFFFFF"/>
                </a:solidFill>
                <a:latin typeface="Malgun Gothic"/>
                <a:ea typeface="Malgun Gothic"/>
                <a:cs typeface="Malgun Gothic"/>
              </a:rPr>
              <a:t>4. Pyruvate dehydrogenase와 TCA cycle</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22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TCA cycle은 산화 경로이면서 동시에 </a:t>
            </a:r>
            <a:r>
              <a:rPr sz="1800" b="1" i="0">
                <a:solidFill>
                  <a:srgbClr val="11202B"/>
                </a:solidFill>
                <a:latin typeface="Malgun Gothic"/>
                <a:ea typeface="Malgun Gothic"/>
                <a:cs typeface="Malgun Gothic"/>
              </a:rPr>
              <a:t>생합성의 출발점</a:t>
            </a:r>
            <a:r>
              <a:rPr sz="1800" b="0" i="0">
                <a:solidFill>
                  <a:srgbClr val="11202B"/>
                </a:solidFill>
                <a:latin typeface="Malgun Gothic"/>
                <a:ea typeface="Malgun Gothic"/>
                <a:cs typeface="Malgun Gothic"/>
              </a:rPr>
              <a:t>이다. Citrate는 세포질로 나가 지방산과 cholesterol 합성에 쓰이고, α-ketoglutarate와 oxaloacetate는 아미노산으로 전환되며, succinyl-CoA는 heme 합성에 쓰인다. 중간체가 빠져나가면 순환이 멈추므로 보충이 필요하다. 이 보충 반응을 </a:t>
            </a:r>
            <a:r>
              <a:rPr sz="1800" b="1" i="0">
                <a:solidFill>
                  <a:srgbClr val="11202B"/>
                </a:solidFill>
                <a:latin typeface="Malgun Gothic"/>
                <a:ea typeface="Malgun Gothic"/>
                <a:cs typeface="Malgun Gothic"/>
              </a:rPr>
              <a:t>anaplerotic 반응</a:t>
            </a:r>
            <a:r>
              <a:rPr sz="1800" b="0" i="0">
                <a:solidFill>
                  <a:srgbClr val="11202B"/>
                </a:solidFill>
                <a:latin typeface="Malgun Gothic"/>
                <a:ea typeface="Malgun Gothic"/>
                <a:cs typeface="Malgun Gothic"/>
              </a:rPr>
              <a:t>이라 하며, pyruvate carboxylase가 pyruvate를 oxaloacetate로 바꾸는 반응이 가장 중요하다.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Electron transport chain의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23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NADH와 FADH₂에 담긴 전자는 미토콘드리아 </a:t>
            </a:r>
            <a:r>
              <a:rPr sz="2000" b="1" i="0">
                <a:solidFill>
                  <a:srgbClr val="11202B"/>
                </a:solidFill>
                <a:latin typeface="Malgun Gothic"/>
                <a:ea typeface="Malgun Gothic"/>
                <a:cs typeface="Malgun Gothic"/>
              </a:rPr>
              <a:t>내막</a:t>
            </a:r>
            <a:r>
              <a:rPr sz="2000" b="0" i="0">
                <a:solidFill>
                  <a:srgbClr val="11202B"/>
                </a:solidFill>
                <a:latin typeface="Malgun Gothic"/>
                <a:ea typeface="Malgun Gothic"/>
                <a:cs typeface="Malgun Gothic"/>
              </a:rPr>
              <a:t>의 네 복합체를 거쳐 O₂로 전달된다. 배열 순서는 환원 전위가 낮은 쪽에서 높은 쪽이다.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Electron transport chain의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24</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2212848"/>
                <a:gridCol w="2212848"/>
                <a:gridCol w="2212848"/>
                <a:gridCol w="2212848"/>
                <a:gridCol w="2212848"/>
              </a:tblGrid>
              <a:tr h="365760">
                <a:tc>
                  <a:txBody>
                    <a:bodyPr/>
                    <a:lstStyle/>
                    <a:p>
                      <a:r>
                        <a:rPr sz="1200" b="1" i="0">
                          <a:solidFill>
                            <a:srgbClr val="FFFFFF"/>
                          </a:solidFill>
                          <a:latin typeface="Malgun Gothic"/>
                          <a:ea typeface="Malgun Gothic"/>
                          <a:cs typeface="Malgun Gothic"/>
                        </a:rPr>
                        <a:t>복합체</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이름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전자 입력</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전자 출력</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양성자 펌프</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I</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NADH dehydrogenase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NADH</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ubiquinone</a:t>
                      </a:r>
                    </a:p>
                  </a:txBody>
                  <a:tcPr marL="73152" marR="73152" marT="27432" marB="27432">
                    <a:solidFill>
                      <a:srgbClr val="FFFFFF"/>
                    </a:solidFill>
                  </a:tcPr>
                </a:tc>
                <a:tc>
                  <a:txBody>
                    <a:bodyPr/>
                    <a:lstStyle/>
                    <a:p>
                      <a:r>
                        <a:rPr sz="1200" b="1" i="0">
                          <a:solidFill>
                            <a:srgbClr val="11202B"/>
                          </a:solidFill>
                          <a:latin typeface="Malgun Gothic"/>
                          <a:ea typeface="Malgun Gothic"/>
                          <a:cs typeface="Malgun Gothic"/>
                        </a:rPr>
                        <a:t>예</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II</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Succinate dehydrogenase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FADH₂(succinate)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ubiquinone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아니오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III</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Cytochrome bc₁ complex</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ubiquinol</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cytochrome c</a:t>
                      </a:r>
                    </a:p>
                  </a:txBody>
                  <a:tcPr marL="73152" marR="73152" marT="27432" marB="27432">
                    <a:solidFill>
                      <a:srgbClr val="FFFFFF"/>
                    </a:solidFill>
                  </a:tcPr>
                </a:tc>
                <a:tc>
                  <a:txBody>
                    <a:bodyPr/>
                    <a:lstStyle/>
                    <a:p>
                      <a:r>
                        <a:rPr sz="1200" b="1" i="0">
                          <a:solidFill>
                            <a:srgbClr val="11202B"/>
                          </a:solidFill>
                          <a:latin typeface="Malgun Gothic"/>
                          <a:ea typeface="Malgun Gothic"/>
                          <a:cs typeface="Malgun Gothic"/>
                        </a:rPr>
                        <a:t>예</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IV</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Cytochrome c oxidase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cytochrome c</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O₂ → H₂O</a:t>
                      </a:r>
                    </a:p>
                  </a:txBody>
                  <a:tcPr marL="73152" marR="73152" marT="27432" marB="27432">
                    <a:solidFill>
                      <a:srgbClr val="EFF4F8"/>
                    </a:solidFill>
                  </a:tcPr>
                </a:tc>
                <a:tc>
                  <a:txBody>
                    <a:bodyPr/>
                    <a:lstStyle/>
                    <a:p>
                      <a:r>
                        <a:rPr sz="1200" b="1" i="0">
                          <a:solidFill>
                            <a:srgbClr val="11202B"/>
                          </a:solidFill>
                          <a:latin typeface="Malgun Gothic"/>
                          <a:ea typeface="Malgun Gothic"/>
                          <a:cs typeface="Malgun Gothic"/>
                        </a:rPr>
                        <a:t>예</a:t>
                      </a:r>
                    </a:p>
                  </a:txBody>
                  <a:tcPr marL="73152" marR="73152" marT="27432" marB="27432">
                    <a:solidFill>
                      <a:srgbClr val="EFF4F8"/>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Electron transport chain의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25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두 가지 운반체가 복합체 사이를 잇는다. </a:t>
            </a:r>
            <a:r>
              <a:rPr sz="1400" b="1" i="0">
                <a:solidFill>
                  <a:srgbClr val="11202B"/>
                </a:solidFill>
                <a:latin typeface="Malgun Gothic"/>
                <a:ea typeface="Malgun Gothic"/>
                <a:cs typeface="Malgun Gothic"/>
              </a:rPr>
              <a:t>Ubiquinone(CoQ)</a:t>
            </a:r>
            <a:r>
              <a:rPr sz="1400" b="0" i="0">
                <a:solidFill>
                  <a:srgbClr val="11202B"/>
                </a:solidFill>
                <a:latin typeface="Malgun Gothic"/>
                <a:ea typeface="Malgun Gothic"/>
                <a:cs typeface="Malgun Gothic"/>
              </a:rPr>
              <a:t>은 지질에 녹아 내막 안을 움직이며 복합체 I·II에서 III로 전자를 옮긴다. </a:t>
            </a:r>
            <a:r>
              <a:rPr sz="1400" b="1" i="0">
                <a:solidFill>
                  <a:srgbClr val="11202B"/>
                </a:solidFill>
                <a:latin typeface="Malgun Gothic"/>
                <a:ea typeface="Malgun Gothic"/>
                <a:cs typeface="Malgun Gothic"/>
              </a:rPr>
              <a:t>Cytochrome c</a:t>
            </a:r>
            <a:r>
              <a:rPr sz="1400" b="0" i="0">
                <a:solidFill>
                  <a:srgbClr val="11202B"/>
                </a:solidFill>
                <a:latin typeface="Malgun Gothic"/>
                <a:ea typeface="Malgun Gothic"/>
                <a:cs typeface="Malgun Gothic"/>
              </a:rPr>
              <a:t>는 막 사이 공간에서 수용성 단백질로 움직이며 III에서 IV로 전자를 하나씩 옮긴다.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복합체 I, III, IV는 전자 전달의 자유에너지로 </a:t>
            </a:r>
            <a:r>
              <a:rPr sz="1400" b="1" i="0">
                <a:solidFill>
                  <a:srgbClr val="11202B"/>
                </a:solidFill>
                <a:latin typeface="Malgun Gothic"/>
                <a:ea typeface="Malgun Gothic"/>
                <a:cs typeface="Malgun Gothic"/>
              </a:rPr>
              <a:t>양성자를 기질에서 막 사이 공간으로 퍼낸다.</a:t>
            </a:r>
            <a:r>
              <a:rPr sz="1400" b="0" i="0">
                <a:solidFill>
                  <a:srgbClr val="11202B"/>
                </a:solidFill>
                <a:latin typeface="Malgun Gothic"/>
                <a:ea typeface="Malgun Gothic"/>
                <a:cs typeface="Malgun Gothic"/>
              </a:rPr>
              <a:t> 복합체 II는 펌프 기능이 없다. 그래서 FADH₂의 전자는 복합체 I을 건너뛰어 ubiquinone으로 들어가며, 양성자 펌프 지점을 하나 덜 거친다. </a:t>
            </a:r>
            <a:r>
              <a:rPr sz="1400" b="1" i="0">
                <a:solidFill>
                  <a:srgbClr val="11202B"/>
                </a:solidFill>
                <a:latin typeface="Malgun Gothic"/>
                <a:ea typeface="Malgun Gothic"/>
                <a:cs typeface="Malgun Gothic"/>
              </a:rPr>
              <a:t>이것이 NADH와 FADH₂의 ATP 수확이 다른 이유다.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복합체 IV는 전자 네 개와 O₂ 한 분자, H⁺ 네 개로 물 두 분자를 만든다. 산소가 네 전자를 모두 받기 전에 중간 단계에서 떨어져 나오면 superoxide(O₂⁻)가 생기는데, 복합체 IV는 중간 산물을 금속 중심에 붙잡아 이것을 최소화한다. 그래도 일부가 새어 나와 </a:t>
            </a:r>
            <a:r>
              <a:rPr sz="1400" b="1" i="0">
                <a:solidFill>
                  <a:srgbClr val="11202B"/>
                </a:solidFill>
                <a:latin typeface="Malgun Gothic"/>
                <a:ea typeface="Malgun Gothic"/>
                <a:cs typeface="Malgun Gothic"/>
              </a:rPr>
              <a:t>반응성 산소종(reactive oxygen species, ROS)</a:t>
            </a:r>
            <a:r>
              <a:rPr sz="1400" b="0" i="0">
                <a:solidFill>
                  <a:srgbClr val="11202B"/>
                </a:solidFill>
                <a:latin typeface="Malgun Gothic"/>
                <a:ea typeface="Malgun Gothic"/>
                <a:cs typeface="Malgun Gothic"/>
              </a:rPr>
              <a:t>이 되고, superoxide dismutase, catalase, glutathione peroxidase가 처리한다.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억제제의 작용 지점을 알면 사슬의 구조를 확인할 수 있다. Rotenone은 복합체 I, antimycin A는 복합체 III, </a:t>
            </a:r>
            <a:r>
              <a:rPr sz="1400" b="1" i="0">
                <a:solidFill>
                  <a:srgbClr val="11202B"/>
                </a:solidFill>
                <a:latin typeface="Malgun Gothic"/>
                <a:ea typeface="Malgun Gothic"/>
                <a:cs typeface="Malgun Gothic"/>
              </a:rPr>
              <a:t>cyanide와 CO는 복합체 IV</a:t>
            </a:r>
            <a:r>
              <a:rPr sz="1400" b="0" i="0">
                <a:solidFill>
                  <a:srgbClr val="11202B"/>
                </a:solidFill>
                <a:latin typeface="Malgun Gothic"/>
                <a:ea typeface="Malgun Gothic"/>
                <a:cs typeface="Malgun Gothic"/>
              </a:rPr>
              <a:t>를 차단한다. 복합체 IV가 막히면 그 앞의 모든 운반체가 환원 상태로 쌓이고 전자 흐름이 완전히 멈춘다.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Electron transport chain의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26</a:t>
            </a:r>
          </a:p>
        </p:txBody>
      </p:sp>
      <p:sp>
        <p:nvSpPr>
          <p:cNvPr id="7" name="Rectangle 6"/>
          <p:cNvSpPr/>
          <p:nvPr/>
        </p:nvSpPr>
        <p:spPr>
          <a:xfrm>
            <a:off x="640080" y="1325880"/>
            <a:ext cx="10881360" cy="1698209"/>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Cyanide는 복합체 IV의 heme 철에 결합해 전자 전달을 차단한다. 조직은 혈액에 산소가 충분히 있어도 그 산소를 쓸 수 없으므로 정맥혈 산소포화도가 비정상적으로 높게 유지되고, 세포는 발효에 의존해 lactic acidosis가 빠르게 진행한다. 치료는 두 방향이다. Hydroxocobalamin이 cyanide와 직접 결합하거나, nitrite로 methemoglobin을 만들어 cyanide를 복합체 IV보다 먼저 붙잡는다. 한편 </a:t>
            </a:r>
            <a:r>
              <a:rPr sz="1600" b="1" i="0">
                <a:solidFill>
                  <a:srgbClr val="11202B"/>
                </a:solidFill>
                <a:latin typeface="Malgun Gothic"/>
                <a:ea typeface="Malgun Gothic"/>
                <a:cs typeface="Malgun Gothic"/>
              </a:rPr>
              <a:t>2,4-dinitrophenol</a:t>
            </a:r>
            <a:r>
              <a:rPr sz="1600" b="0" i="0">
                <a:solidFill>
                  <a:srgbClr val="11202B"/>
                </a:solidFill>
                <a:latin typeface="Malgun Gothic"/>
                <a:ea typeface="Malgun Gothic"/>
                <a:cs typeface="Malgun Gothic"/>
              </a:rPr>
              <a:t>은 다른 기전으로 독성을 낸다. 양성자를 내막을 통해 직접 통과시켜 기울기를 없애는 uncoupler이므로, 전자 전달은 최대로 돌지만 ATP가 만들어지지 않고 에너지가 모두 열로 나가 치명적 고열이 생긴다. 신생아의 갈색지방에서 UCP1(thermogenin)이 같은 일을 생리적으로 수행해 체온을 유지한다.</a:t>
            </a:r>
          </a:p>
        </p:txBody>
      </p:sp>
      <p:sp>
        <p:nvSpPr>
          <p:cNvPr id="8" name="Rectangle 7"/>
          <p:cNvSpPr/>
          <p:nvPr/>
        </p:nvSpPr>
        <p:spPr>
          <a:xfrm>
            <a:off x="640080" y="3161249"/>
            <a:ext cx="10881360" cy="301095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호흡 사슬의 억제 지점을 묻는 문제는 "어디서 막히면 무엇이 쌓이고 무엇이 멈추는가"로 푼다. 억제제는 네 부류다. (1) </a:t>
            </a:r>
            <a:r>
              <a:rPr sz="1600" b="1" i="0">
                <a:solidFill>
                  <a:srgbClr val="11202B"/>
                </a:solidFill>
                <a:latin typeface="Malgun Gothic"/>
                <a:ea typeface="Malgun Gothic"/>
                <a:cs typeface="Malgun Gothic"/>
              </a:rPr>
              <a:t>복합체 I 억제</a:t>
            </a:r>
            <a:r>
              <a:rPr sz="1600" b="0" i="0">
                <a:solidFill>
                  <a:srgbClr val="11202B"/>
                </a:solidFill>
                <a:latin typeface="Malgun Gothic"/>
                <a:ea typeface="Malgun Gothic"/>
                <a:cs typeface="Malgun Gothic"/>
              </a:rPr>
              <a:t>(rotenone, barbiturate 고용량): NADH가 쌓이고 NADH 유래 전자는 멈추지만, succinate에서 복합체 II로 들어오는 전자는 계속 흐르므로 산소 소모가 완전히 멈추지는 않는다. (2) </a:t>
            </a:r>
            <a:r>
              <a:rPr sz="1600" b="1" i="0">
                <a:solidFill>
                  <a:srgbClr val="11202B"/>
                </a:solidFill>
                <a:latin typeface="Malgun Gothic"/>
                <a:ea typeface="Malgun Gothic"/>
                <a:cs typeface="Malgun Gothic"/>
              </a:rPr>
              <a:t>복합체 III 억제</a:t>
            </a:r>
            <a:r>
              <a:rPr sz="1600" b="0" i="0">
                <a:solidFill>
                  <a:srgbClr val="11202B"/>
                </a:solidFill>
                <a:latin typeface="Malgun Gothic"/>
                <a:ea typeface="Malgun Gothic"/>
                <a:cs typeface="Malgun Gothic"/>
              </a:rPr>
              <a:t>(antimycin A): 그 아래가 모두 멈춘다. (3) </a:t>
            </a:r>
            <a:r>
              <a:rPr sz="1600" b="1" i="0">
                <a:solidFill>
                  <a:srgbClr val="11202B"/>
                </a:solidFill>
                <a:latin typeface="Malgun Gothic"/>
                <a:ea typeface="Malgun Gothic"/>
                <a:cs typeface="Malgun Gothic"/>
              </a:rPr>
              <a:t>복합체 IV 억제</a:t>
            </a:r>
            <a:r>
              <a:rPr sz="1600" b="0" i="0">
                <a:solidFill>
                  <a:srgbClr val="11202B"/>
                </a:solidFill>
                <a:latin typeface="Malgun Gothic"/>
                <a:ea typeface="Malgun Gothic"/>
                <a:cs typeface="Malgun Gothic"/>
              </a:rPr>
              <a:t>(cyanide, 일산화탄소, azide): 전자가 산소로 갈 수 없어 사슬 전체가 멈춘다. 조직은 산소가 충분히 공급되어도 쓸 수 없으므로 </a:t>
            </a:r>
            <a:r>
              <a:rPr sz="1600" b="1" i="0">
                <a:solidFill>
                  <a:srgbClr val="11202B"/>
                </a:solidFill>
                <a:latin typeface="Malgun Gothic"/>
                <a:ea typeface="Malgun Gothic"/>
                <a:cs typeface="Malgun Gothic"/>
              </a:rPr>
              <a:t>정맥 산소 포화도가 오히려 높아지고</a:t>
            </a:r>
            <a:r>
              <a:rPr sz="1600" b="0" i="0">
                <a:solidFill>
                  <a:srgbClr val="11202B"/>
                </a:solidFill>
                <a:latin typeface="Malgun Gothic"/>
                <a:ea typeface="Malgun Gothic"/>
                <a:cs typeface="Malgun Gothic"/>
              </a:rPr>
              <a:t> 젖산산증이 생긴다. 일산화탄소 중독에서 hemoglobin 결합과 이 기전이 함께 작동한다는 점을 함께 알아 둔다. (4) </a:t>
            </a:r>
            <a:r>
              <a:rPr sz="1600" b="1" i="0">
                <a:solidFill>
                  <a:srgbClr val="11202B"/>
                </a:solidFill>
                <a:latin typeface="Malgun Gothic"/>
                <a:ea typeface="Malgun Gothic"/>
                <a:cs typeface="Malgun Gothic"/>
              </a:rPr>
              <a:t>ATP synthase 억제</a:t>
            </a:r>
            <a:r>
              <a:rPr sz="1600" b="0" i="0">
                <a:solidFill>
                  <a:srgbClr val="11202B"/>
                </a:solidFill>
                <a:latin typeface="Malgun Gothic"/>
                <a:ea typeface="Malgun Gothic"/>
                <a:cs typeface="Malgun Gothic"/>
              </a:rPr>
              <a:t>(oligomycin): 전자 전달이 양성자 기울기를 만들지만 쓰이지 않아 기울기가 커지고, 커진 기울기가 역압으로 작용해 전자 전달까지 느려진다. 여기에 성질이 다른 부류가 하나 더 있다. </a:t>
            </a:r>
            <a:r>
              <a:rPr sz="1600" b="1" i="0">
                <a:solidFill>
                  <a:srgbClr val="11202B"/>
                </a:solidFill>
                <a:latin typeface="Malgun Gothic"/>
                <a:ea typeface="Malgun Gothic"/>
                <a:cs typeface="Malgun Gothic"/>
              </a:rPr>
              <a:t>짝풀림제(uncoupler)</a:t>
            </a:r>
            <a:r>
              <a:rPr sz="1600" b="0" i="0">
                <a:solidFill>
                  <a:srgbClr val="11202B"/>
                </a:solidFill>
                <a:latin typeface="Malgun Gothic"/>
                <a:ea typeface="Malgun Gothic"/>
                <a:cs typeface="Malgun Gothic"/>
              </a:rPr>
              <a:t>인 2,4-dinitrophenol은 양성자를 막을 통해 그대로 통과시켜 기울기를 없앤다. 그러면 ATP 합성은 멈추지만 전자 전달은 오히려 </a:t>
            </a:r>
            <a:r>
              <a:rPr sz="1600" b="1" i="0">
                <a:solidFill>
                  <a:srgbClr val="11202B"/>
                </a:solidFill>
                <a:latin typeface="Malgun Gothic"/>
                <a:ea typeface="Malgun Gothic"/>
                <a:cs typeface="Malgun Gothic"/>
              </a:rPr>
              <a:t>빨라지고</a:t>
            </a:r>
            <a:r>
              <a:rPr sz="1600" b="0" i="0">
                <a:solidFill>
                  <a:srgbClr val="11202B"/>
                </a:solidFill>
                <a:latin typeface="Malgun Gothic"/>
                <a:ea typeface="Malgun Gothic"/>
                <a:cs typeface="Malgun Gothic"/>
              </a:rPr>
              <a:t> 에너지가 전부 열로 나가므로 체온이 오른다. 요점은 두 가지다. </a:t>
            </a:r>
            <a:r>
              <a:rPr sz="1600" b="1" i="0">
                <a:solidFill>
                  <a:srgbClr val="11202B"/>
                </a:solidFill>
                <a:latin typeface="Malgun Gothic"/>
                <a:ea typeface="Malgun Gothic"/>
                <a:cs typeface="Malgun Gothic"/>
              </a:rPr>
              <a:t>전자 전달과 ATP 합성은 양성자 기울기로만 연결되어 있고, 그 연결을 끊으면 두 과정이 반대 방향으로 변한다.</a:t>
            </a:r>
            <a:r>
              <a:rPr sz="1600" b="0" i="0">
                <a:solidFill>
                  <a:srgbClr val="11202B"/>
                </a:solidFill>
                <a:latin typeface="Malgun Gothic"/>
                <a:ea typeface="Malgun Gothic"/>
                <a:cs typeface="Malgun Gothic"/>
              </a:rPr>
              <a:t> 그리고 억제 지점이 아래쪽일수록 멈추는 범위가 넓다.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Chemiosmosis와 ATP synthase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27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전자 전달이 어떻게 ATP 합성과 연결되는가. 1961년 Peter Mitchell의 </a:t>
            </a:r>
            <a:r>
              <a:rPr sz="1400" b="1" i="0">
                <a:solidFill>
                  <a:srgbClr val="11202B"/>
                </a:solidFill>
                <a:latin typeface="Malgun Gothic"/>
                <a:ea typeface="Malgun Gothic"/>
                <a:cs typeface="Malgun Gothic"/>
              </a:rPr>
              <a:t>chemiosmotic 가설</a:t>
            </a:r>
            <a:r>
              <a:rPr sz="1400" b="0" i="0">
                <a:solidFill>
                  <a:srgbClr val="11202B"/>
                </a:solidFill>
                <a:latin typeface="Malgun Gothic"/>
                <a:ea typeface="Malgun Gothic"/>
                <a:cs typeface="Malgun Gothic"/>
              </a:rPr>
              <a:t>이 답을 주었다. 전자 전달의 에너지는 고에너지 화학 중간체로 저장되는 것이 아니라, </a:t>
            </a:r>
            <a:r>
              <a:rPr sz="1400" b="1" i="0">
                <a:solidFill>
                  <a:srgbClr val="11202B"/>
                </a:solidFill>
                <a:latin typeface="Malgun Gothic"/>
                <a:ea typeface="Malgun Gothic"/>
                <a:cs typeface="Malgun Gothic"/>
              </a:rPr>
              <a:t>내막을 가로지르는 양성자의 전기화학적 기울기</a:t>
            </a:r>
            <a:r>
              <a:rPr sz="1400" b="0" i="0">
                <a:solidFill>
                  <a:srgbClr val="11202B"/>
                </a:solidFill>
                <a:latin typeface="Malgun Gothic"/>
                <a:ea typeface="Malgun Gothic"/>
                <a:cs typeface="Malgun Gothic"/>
              </a:rPr>
              <a:t>로 저장된다.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기울기는 두 성분으로 이루어진다. 양성자 농도 차이(pH 차이로 약 0.75 단위, 막 사이 공간이 더 산성)와 전위 차이(약 −160 mV, 기질 쪽이 음성)다. 둘을 합해 </a:t>
            </a:r>
            <a:r>
              <a:rPr sz="1400" b="1" i="0">
                <a:solidFill>
                  <a:srgbClr val="11202B"/>
                </a:solidFill>
                <a:latin typeface="Malgun Gothic"/>
                <a:ea typeface="Malgun Gothic"/>
                <a:cs typeface="Malgun Gothic"/>
              </a:rPr>
              <a:t>양성자 구동력(proton-motive force)</a:t>
            </a:r>
            <a:r>
              <a:rPr sz="1400" b="0" i="0">
                <a:solidFill>
                  <a:srgbClr val="11202B"/>
                </a:solidFill>
                <a:latin typeface="Malgun Gothic"/>
                <a:ea typeface="Malgun Gothic"/>
                <a:cs typeface="Malgun Gothic"/>
              </a:rPr>
              <a:t>이라 부르며, 양성자 1 mol당 약 20 kJ에 해당한다.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가설의 핵심 주장은 두 가지다. 첫째, 내막은 양성자에 대해 불투과성이어야 한다. 둘째, 양성자가 되돌아 들어오는 유일한 길이 ATP synthase여야 한다. 실험적 근거가 이 주장을 뒷받침한다.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전자 전달이 일어나면 미토콘드리아 외부 매질이 산성화된다.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내막이 손상되어 양성자가 누출되면 전자 전달은 계속되지만 ATP가 만들어지지 않는다.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전자 전달 없이 인공적으로 pH 기울기만 만들어 주어도 ATP가 합성된다.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Efraim Racker와 Walther Stoeckenius는 세균의 광구동 양성자 펌프 bacteriorhodopsin과 소의 ATP synthase를 같은 인공 소포에 넣고 빛을 비추어 ATP가 만들어지는 것을 보였다. </a:t>
            </a:r>
            <a:r>
              <a:rPr sz="1400" b="1" i="0">
                <a:solidFill>
                  <a:srgbClr val="11202B"/>
                </a:solidFill>
                <a:latin typeface="Malgun Gothic"/>
                <a:ea typeface="Malgun Gothic"/>
                <a:cs typeface="Malgun Gothic"/>
              </a:rPr>
              <a:t>전자 전달 사슬이 전혀 없는 계에서 ATP가 만들어졌으므로, 둘을 잇는 것은 양성자 기울기뿐이다.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ATP synthase</a:t>
            </a:r>
            <a:r>
              <a:rPr sz="1400" b="0" i="0">
                <a:solidFill>
                  <a:srgbClr val="11202B"/>
                </a:solidFill>
                <a:latin typeface="Malgun Gothic"/>
                <a:ea typeface="Malgun Gothic"/>
                <a:cs typeface="Malgun Gothic"/>
              </a:rPr>
              <a:t>(복합체 V)는 두 부분으로 이루어진 회전 분자 기계다.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F₀</a:t>
            </a:r>
            <a:r>
              <a:rPr sz="1400" b="0" i="0">
                <a:solidFill>
                  <a:srgbClr val="11202B"/>
                </a:solidFill>
                <a:latin typeface="Malgun Gothic"/>
                <a:ea typeface="Malgun Gothic"/>
                <a:cs typeface="Malgun Gothic"/>
              </a:rPr>
              <a:t>: 내막에 박혀 있고 양성자 통로를 이룬다. 양성자가 통과하면서 c-ring이 회전한다.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F₁</a:t>
            </a:r>
            <a:r>
              <a:rPr sz="1400" b="0" i="0">
                <a:solidFill>
                  <a:srgbClr val="11202B"/>
                </a:solidFill>
                <a:latin typeface="Malgun Gothic"/>
                <a:ea typeface="Malgun Gothic"/>
                <a:cs typeface="Malgun Gothic"/>
              </a:rPr>
              <a:t>: 기질 쪽으로 돌출한 구형 부분이고 α₃β₃ 구조에 중심축 γ가 꽂혀 있다. c-ring의 회전이 γ를 돌리고, γ의 회전이 세 β 소단위를 차례로 세 가지 구조(ADP·Pᵢ 결합형, ATP 결합형, 빈 형태)로 바꾼다.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구조 변화가 ATP를 만드는 방식을 </a:t>
            </a:r>
            <a:r>
              <a:rPr sz="1400" b="1" i="0">
                <a:solidFill>
                  <a:srgbClr val="11202B"/>
                </a:solidFill>
                <a:latin typeface="Malgun Gothic"/>
                <a:ea typeface="Malgun Gothic"/>
                <a:cs typeface="Malgun Gothic"/>
              </a:rPr>
              <a:t>binding change mechanism</a:t>
            </a:r>
            <a:r>
              <a:rPr sz="1400" b="0" i="0">
                <a:solidFill>
                  <a:srgbClr val="11202B"/>
                </a:solidFill>
                <a:latin typeface="Malgun Gothic"/>
                <a:ea typeface="Malgun Gothic"/>
                <a:cs typeface="Malgun Gothic"/>
              </a:rPr>
              <a:t>이라 한다. 주목할 점은 ADP와 Pᵢ를 결합해 ATP를 만드는 화학 반응 자체에 큰 에너지가 들지 않는다는 것이다. 활성 부위에서 물이 배제되어 있으므로 결합 형성은 쉽게 일어난다. </a:t>
            </a:r>
            <a:r>
              <a:rPr sz="1400" b="1" i="0">
                <a:solidFill>
                  <a:srgbClr val="11202B"/>
                </a:solidFill>
                <a:latin typeface="Malgun Gothic"/>
                <a:ea typeface="Malgun Gothic"/>
                <a:cs typeface="Malgun Gothic"/>
              </a:rPr>
              <a:t>에너지가 실제로 드는 곳은 만들어진 ATP를 활성 부위에서 떼어내는 단계</a:t>
            </a:r>
            <a:r>
              <a:rPr sz="1400" b="0" i="0">
                <a:solidFill>
                  <a:srgbClr val="11202B"/>
                </a:solidFill>
                <a:latin typeface="Malgun Gothic"/>
                <a:ea typeface="Malgun Gothic"/>
                <a:cs typeface="Malgun Gothic"/>
              </a:rPr>
              <a:t>이고, 그 일을 양성자 흐름에 의한 구조 변화가 한다.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Chemiosmosis와 ATP synthase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28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회전 한 바퀴에 양성자 약 10개가 통과하고 ATP 세 분자가 만들어지므로, </a:t>
            </a:r>
            <a:r>
              <a:rPr sz="2000" b="1" i="0">
                <a:solidFill>
                  <a:srgbClr val="11202B"/>
                </a:solidFill>
                <a:latin typeface="Malgun Gothic"/>
                <a:ea typeface="Malgun Gothic"/>
                <a:cs typeface="Malgun Gothic"/>
              </a:rPr>
              <a:t>ATP 한 분자당 양성자 약 3~4개</a:t>
            </a:r>
            <a:r>
              <a:rPr sz="2000" b="0" i="0">
                <a:solidFill>
                  <a:srgbClr val="11202B"/>
                </a:solidFill>
                <a:latin typeface="Malgun Gothic"/>
                <a:ea typeface="Malgun Gothic"/>
                <a:cs typeface="Malgun Gothic"/>
              </a:rPr>
              <a:t>가 필요하다. 이 비율이 정수가 아니라는 사실이 ATP 수지가 정수로 딱 떨어지지 않는 이유다.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Chemiosmosis와 ATP synthase</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29</a:t>
            </a:r>
          </a:p>
        </p:txBody>
      </p:sp>
      <p:pic>
        <p:nvPicPr>
          <p:cNvPr id="7" name="Picture 6" descr="fig-etc.slide.png"/>
          <p:cNvPicPr>
            <a:picLocks noChangeAspect="1"/>
          </p:cNvPicPr>
          <p:nvPr/>
        </p:nvPicPr>
        <p:blipFill>
          <a:blip r:embed="rId2"/>
          <a:stretch>
            <a:fillRect/>
          </a:stretch>
        </p:blipFill>
        <p:spPr>
          <a:xfrm>
            <a:off x="1852739" y="1325880"/>
            <a:ext cx="8486216"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Electron transport chain과 chemiosmosis. 복합체 I~IV의 전자 흐름, 복합체 I·III·IV의 양성자 펌프, ubiquinone과 cytochrome c의 이동, 그리고 ATP synthase의 F₀·F₁ 구조와 회전을 보인다.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포도당 한 분자의 ATP 수지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30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수지를 계산하려면 세 가지를 정해야 한다. NADH와 FADH₂에서 나오는 ATP 수, 세포질 NADH가 미토콘드리아로 들어가는 방식, 그리고 수송 비용이다.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현재 쓰이는 값</a:t>
            </a:r>
            <a:r>
              <a:rPr sz="1800" b="0" i="0">
                <a:solidFill>
                  <a:srgbClr val="11202B"/>
                </a:solidFill>
                <a:latin typeface="Malgun Gothic"/>
                <a:ea typeface="Malgun Gothic"/>
                <a:cs typeface="Malgun Gothic"/>
              </a:rPr>
              <a:t>은 NADH 하나당 ATP 2.5개, FADH₂ 하나당 1.5개다. 예전 교재의 3과 2는 양성자/ATP 비를 정수로 가정한 값이고, 실측 비율(ATP 1개당 양성자 약 4개)을 쓰면 소수가 된다.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세포질에서 만들어진 NADH는 내막을 통과하지 못하므로 전자만 shuttle로 옮긴다. 두 방식이 있고 수확이 다르다.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포도당 한 분자의 ATP 수지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31</a:t>
            </a:r>
          </a:p>
        </p:txBody>
      </p:sp>
      <p:graphicFrame>
        <p:nvGraphicFramePr>
          <p:cNvPr id="7" name="Table 6"/>
          <p:cNvGraphicFramePr>
            <a:graphicFrameLocks noGrp="1"/>
          </p:cNvGraphicFramePr>
          <p:nvPr/>
        </p:nvGraphicFramePr>
        <p:xfrm>
          <a:off x="548640" y="1280160"/>
          <a:ext cx="11064240" cy="109728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Shuttle</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작동 조직</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전자를 넘기는 상대</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수확</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Malate-aspartate shuttle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간, 심장, 신장</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기질의 NAD⁺ → NADH</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2.5 ATP</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Glycerol-3-phosphate shuttle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골격근, 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내막의 FAD → FADH₂</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1.5 ATP</a:t>
                      </a:r>
                    </a:p>
                  </a:txBody>
                  <a:tcPr marL="73152" marR="73152" marT="27432" marB="27432">
                    <a:solidFill>
                      <a:srgbClr val="EFF4F8"/>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포도당 한 분자의 ATP 수지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32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Malate-aspartate shuttle은 전자를 NADH 수준으로 보존하지만, glycerol-3-phosphate shuttle은 FADH₂ 수준으로 떨어뜨려 복합체 I을 건너뛰게 한다. 그래서 같은 포도당이라도 조직에 따라 ATP 수확이 다르다.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포도당 한 분자의 ATP 수지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33</a:t>
            </a:r>
          </a:p>
        </p:txBody>
      </p:sp>
      <p:graphicFrame>
        <p:nvGraphicFramePr>
          <p:cNvPr id="7" name="Table 6"/>
          <p:cNvGraphicFramePr>
            <a:graphicFrameLocks noGrp="1"/>
          </p:cNvGraphicFramePr>
          <p:nvPr/>
        </p:nvGraphicFramePr>
        <p:xfrm>
          <a:off x="548640" y="1280160"/>
          <a:ext cx="11064240" cy="292608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단계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산물</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ATP 환산</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소계</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Glycolysis</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ATP 2 (알짜)</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2</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2</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Glycolysis</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NADH 2 (세포질)</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2 × 2.5 또는 2 × 1.5</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5 또는 3</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Pyruvate → acetyl-CoA</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NADH 2</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2 × 2.5</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5</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TCA cycle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GTP 2</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2</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2</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TCA cycle</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NADH 6</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6 × 2.5</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15</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TCA cycle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FADH₂ 2</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2 × 1.5</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3</a:t>
                      </a:r>
                    </a:p>
                  </a:txBody>
                  <a:tcPr marL="73152" marR="73152" marT="27432" marB="27432">
                    <a:solidFill>
                      <a:srgbClr val="EFF4F8"/>
                    </a:solidFill>
                  </a:tcPr>
                </a:tc>
              </a:tr>
              <a:tr h="365760">
                <a:tc>
                  <a:txBody>
                    <a:bodyPr/>
                    <a:lstStyle/>
                    <a:p>
                      <a:r>
                        <a:rPr sz="1200" b="1" i="0">
                          <a:solidFill>
                            <a:srgbClr val="11202B"/>
                          </a:solidFill>
                          <a:latin typeface="Malgun Gothic"/>
                          <a:ea typeface="Malgun Gothic"/>
                          <a:cs typeface="Malgun Gothic"/>
                        </a:rPr>
                        <a:t>합계</a:t>
                      </a:r>
                    </a:p>
                  </a:txBody>
                  <a:tcPr marL="73152" marR="73152" marT="27432" marB="27432">
                    <a:solidFill>
                      <a:srgbClr val="FFFFFF"/>
                    </a:solidFill>
                  </a:tcPr>
                </a:tc>
                <a:tc>
                  <a:txBody>
                    <a:bodyPr/>
                    <a:lstStyle/>
                    <a:p/>
                  </a:txBody>
                  <a:tcPr marL="73152" marR="73152" marT="27432" marB="27432">
                    <a:solidFill>
                      <a:srgbClr val="FFFFFF"/>
                    </a:solidFill>
                  </a:tcPr>
                </a:tc>
                <a:tc>
                  <a:txBody>
                    <a:bodyPr/>
                    <a:lstStyle/>
                    <a:p/>
                  </a:txBody>
                  <a:tcPr marL="73152" marR="73152" marT="27432" marB="27432">
                    <a:solidFill>
                      <a:srgbClr val="FFFFFF"/>
                    </a:solidFill>
                  </a:tcPr>
                </a:tc>
                <a:tc>
                  <a:txBody>
                    <a:bodyPr/>
                    <a:lstStyle/>
                    <a:p>
                      <a:r>
                        <a:rPr sz="1200" b="1" i="0">
                          <a:solidFill>
                            <a:srgbClr val="11202B"/>
                          </a:solidFill>
                          <a:latin typeface="Malgun Gothic"/>
                          <a:ea typeface="Malgun Gothic"/>
                          <a:cs typeface="Malgun Gothic"/>
                        </a:rPr>
                        <a:t>32 또는 30</a:t>
                      </a:r>
                    </a:p>
                  </a:txBody>
                  <a:tcPr marL="73152" marR="73152" marT="27432" marB="27432">
                    <a:solidFill>
                      <a:srgbClr val="FFFFFF"/>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포도당 한 분자의 ATP 수지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34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효율을 계산해 본다. ATP 30개를 만들면 30 × 30.5 = 약 915 kJ/mol이고, 포도당 산화의 ΔG°′가 2,840 kJ/mol이므로 약 32%다. 나머지는 열로 나간다. 세포 내 실제 농도를 반영하면 ATP 합성의 ΔG는 −50 kJ/mol 부근이어서 효율은 더 높게 계산된다.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발효와 비교</a:t>
            </a:r>
            <a:r>
              <a:rPr sz="1800" b="0" i="0">
                <a:solidFill>
                  <a:srgbClr val="11202B"/>
                </a:solidFill>
                <a:latin typeface="Malgun Gothic"/>
                <a:ea typeface="Malgun Gothic"/>
                <a:cs typeface="Malgun Gothic"/>
              </a:rPr>
              <a:t>하면 차이가 분명하다. 발효는 ATP 2개로 끝나고 산소 호흡은 약 30개를 얻어 15배다. 다만 glycolysis는 단계가 적어 </a:t>
            </a:r>
            <a:r>
              <a:rPr sz="1800" b="1" i="0">
                <a:solidFill>
                  <a:srgbClr val="11202B"/>
                </a:solidFill>
                <a:latin typeface="Malgun Gothic"/>
                <a:ea typeface="Malgun Gothic"/>
                <a:cs typeface="Malgun Gothic"/>
              </a:rPr>
              <a:t>속도가 빠르다.</a:t>
            </a:r>
            <a:r>
              <a:rPr sz="1800" b="0" i="0">
                <a:solidFill>
                  <a:srgbClr val="11202B"/>
                </a:solidFill>
                <a:latin typeface="Malgun Gothic"/>
                <a:ea typeface="Malgun Gothic"/>
                <a:cs typeface="Malgun Gothic"/>
              </a:rPr>
              <a:t> 그래서 산소 공급이 수요를 못 따라가는 격렬한 운동에서는 근육이 glycolysis에 의존하고 lactate를 내보낸다.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포도당 한 분자의 ATP 수지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35</a:t>
            </a:r>
          </a:p>
        </p:txBody>
      </p:sp>
      <p:pic>
        <p:nvPicPr>
          <p:cNvPr id="7" name="Picture 6" descr="fig-atp-yield.slide.png"/>
          <p:cNvPicPr>
            <a:picLocks noChangeAspect="1"/>
          </p:cNvPicPr>
          <p:nvPr/>
        </p:nvPicPr>
        <p:blipFill>
          <a:blip r:embed="rId2"/>
          <a:stretch>
            <a:fillRect/>
          </a:stretch>
        </p:blipFill>
        <p:spPr>
          <a:xfrm>
            <a:off x="1647300" y="1325880"/>
            <a:ext cx="8897094"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포도당 한 분자의 ATP 수지. 각 단계의 산물과 ATP 환산, 두 shuttle에 따른 차이, 그리고 발효와 산소 호흡의 비교를 보인다.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지방산의 산화</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36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포도당만이 연료가 아니다. 공복과 지속적인 운동에서 주된 연료는 지방산이며, 심근은 안정 상태에서도 에너지의 60~70%를 지방산에서 얻는다. 지방산 산화의 구조는 포도당과 같다. </a:t>
            </a:r>
            <a:r>
              <a:rPr sz="1400" b="1" i="0">
                <a:solidFill>
                  <a:srgbClr val="11202B"/>
                </a:solidFill>
                <a:latin typeface="Malgun Gothic"/>
                <a:ea typeface="Malgun Gothic"/>
                <a:cs typeface="Malgun Gothic"/>
              </a:rPr>
              <a:t>연료를 acetyl-CoA로 바꾸어 TCA cycle에 넣고, 거두어진 전자를 호흡 사슬로 보낸다.</a:t>
            </a:r>
            <a:r>
              <a:rPr sz="1400" b="0" i="0">
                <a:solidFill>
                  <a:srgbClr val="11202B"/>
                </a:solidFill>
                <a:latin typeface="Malgun Gothic"/>
                <a:ea typeface="Malgun Gothic"/>
                <a:cs typeface="Malgun Gothic"/>
              </a:rPr>
              <a:t> 다른 것은 acetyl-CoA에 이르는 앞단이다.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지방산이 산화되기까지 세 관문을 지난다.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1. 활성화.</a:t>
            </a:r>
            <a:r>
              <a:rPr sz="1400" b="0" i="0">
                <a:solidFill>
                  <a:srgbClr val="11202B"/>
                </a:solidFill>
                <a:latin typeface="Malgun Gothic"/>
                <a:ea typeface="Malgun Gothic"/>
                <a:cs typeface="Malgun Gothic"/>
              </a:rPr>
              <a:t> 세포질에서 지방산이 CoA와 결합해 </a:t>
            </a:r>
            <a:r>
              <a:rPr sz="1400" b="1" i="0">
                <a:solidFill>
                  <a:srgbClr val="11202B"/>
                </a:solidFill>
                <a:latin typeface="Malgun Gothic"/>
                <a:ea typeface="Malgun Gothic"/>
                <a:cs typeface="Malgun Gothic"/>
              </a:rPr>
              <a:t>acyl-CoA</a:t>
            </a:r>
            <a:r>
              <a:rPr sz="1400" b="0" i="0">
                <a:solidFill>
                  <a:srgbClr val="11202B"/>
                </a:solidFill>
                <a:latin typeface="Malgun Gothic"/>
                <a:ea typeface="Malgun Gothic"/>
                <a:cs typeface="Malgun Gothic"/>
              </a:rPr>
              <a:t>가 된다. Acyl-CoA synthetase가 촉매하며 ATP 하나를 AMP와 pyrophosphate로 쪼개 쓰므로 </a:t>
            </a:r>
            <a:r>
              <a:rPr sz="1400" b="1" i="0">
                <a:solidFill>
                  <a:srgbClr val="11202B"/>
                </a:solidFill>
                <a:latin typeface="Malgun Gothic"/>
                <a:ea typeface="Malgun Gothic"/>
                <a:cs typeface="Malgun Gothic"/>
              </a:rPr>
              <a:t>고에너지 결합 두 개</a:t>
            </a:r>
            <a:r>
              <a:rPr sz="1400" b="0" i="0">
                <a:solidFill>
                  <a:srgbClr val="11202B"/>
                </a:solidFill>
                <a:latin typeface="Malgun Gothic"/>
                <a:ea typeface="Malgun Gothic"/>
                <a:cs typeface="Malgun Gothic"/>
              </a:rPr>
              <a:t>가 소모된다. 수지를 계산할 때 이 투자를 빼야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2. 미토콘드리아로의 운반.</a:t>
            </a:r>
            <a:r>
              <a:rPr sz="1400" b="0" i="0">
                <a:solidFill>
                  <a:srgbClr val="11202B"/>
                </a:solidFill>
                <a:latin typeface="Malgun Gothic"/>
                <a:ea typeface="Malgun Gothic"/>
                <a:cs typeface="Malgun Gothic"/>
              </a:rPr>
              <a:t> 탄소 12개 이상의 긴 사슬 acyl-CoA는 내막을 통과하지 못한다. 그래서 </a:t>
            </a:r>
            <a:r>
              <a:rPr sz="1400" b="1" i="0">
                <a:solidFill>
                  <a:srgbClr val="11202B"/>
                </a:solidFill>
                <a:latin typeface="Malgun Gothic"/>
                <a:ea typeface="Malgun Gothic"/>
                <a:cs typeface="Malgun Gothic"/>
              </a:rPr>
              <a:t>carnitine shuttle</a:t>
            </a:r>
            <a:r>
              <a:rPr sz="1400" b="0" i="0">
                <a:solidFill>
                  <a:srgbClr val="11202B"/>
                </a:solidFill>
                <a:latin typeface="Malgun Gothic"/>
                <a:ea typeface="Malgun Gothic"/>
                <a:cs typeface="Malgun Gothic"/>
              </a:rPr>
              <a:t>을 쓴다. 외막 쪽의 </a:t>
            </a:r>
            <a:r>
              <a:rPr sz="1400" b="1" i="0">
                <a:solidFill>
                  <a:srgbClr val="11202B"/>
                </a:solidFill>
                <a:latin typeface="Malgun Gothic"/>
                <a:ea typeface="Malgun Gothic"/>
                <a:cs typeface="Malgun Gothic"/>
              </a:rPr>
              <a:t>CPT1</a:t>
            </a:r>
            <a:r>
              <a:rPr sz="1400" b="0" i="0">
                <a:solidFill>
                  <a:srgbClr val="11202B"/>
                </a:solidFill>
                <a:latin typeface="Malgun Gothic"/>
                <a:ea typeface="Malgun Gothic"/>
                <a:cs typeface="Malgun Gothic"/>
              </a:rPr>
              <a:t>이 acyl기를 CoA에서 carnitine으로 옮기고, 운반체 </a:t>
            </a:r>
            <a:r>
              <a:rPr sz="1400" b="1" i="0">
                <a:solidFill>
                  <a:srgbClr val="11202B"/>
                </a:solidFill>
                <a:latin typeface="Malgun Gothic"/>
                <a:ea typeface="Malgun Gothic"/>
                <a:cs typeface="Malgun Gothic"/>
              </a:rPr>
              <a:t>CACT</a:t>
            </a:r>
            <a:r>
              <a:rPr sz="1400" b="0" i="0">
                <a:solidFill>
                  <a:srgbClr val="11202B"/>
                </a:solidFill>
                <a:latin typeface="Malgun Gothic"/>
                <a:ea typeface="Malgun Gothic"/>
                <a:cs typeface="Malgun Gothic"/>
              </a:rPr>
              <a:t>가 acylcarnitine을 기질로 들여보내며, 내막 안쪽의 </a:t>
            </a:r>
            <a:r>
              <a:rPr sz="1400" b="1" i="0">
                <a:solidFill>
                  <a:srgbClr val="11202B"/>
                </a:solidFill>
                <a:latin typeface="Malgun Gothic"/>
                <a:ea typeface="Malgun Gothic"/>
                <a:cs typeface="Malgun Gothic"/>
              </a:rPr>
              <a:t>CPT2</a:t>
            </a:r>
            <a:r>
              <a:rPr sz="1400" b="0" i="0">
                <a:solidFill>
                  <a:srgbClr val="11202B"/>
                </a:solidFill>
                <a:latin typeface="Malgun Gothic"/>
                <a:ea typeface="Malgun Gothic"/>
                <a:cs typeface="Malgun Gothic"/>
              </a:rPr>
              <a:t>가 다시 CoA로 돌려놓는다. 이 단계가 지방산 산화의 </a:t>
            </a:r>
            <a:r>
              <a:rPr sz="1400" b="1" i="0">
                <a:solidFill>
                  <a:srgbClr val="11202B"/>
                </a:solidFill>
                <a:latin typeface="Malgun Gothic"/>
                <a:ea typeface="Malgun Gothic"/>
                <a:cs typeface="Malgun Gothic"/>
              </a:rPr>
              <a:t>rate-limiting step</a:t>
            </a:r>
            <a:r>
              <a:rPr sz="1400" b="0" i="0">
                <a:solidFill>
                  <a:srgbClr val="11202B"/>
                </a:solidFill>
                <a:latin typeface="Malgun Gothic"/>
                <a:ea typeface="Malgun Gothic"/>
                <a:cs typeface="Malgun Gothic"/>
              </a:rPr>
              <a:t>이며, 조절이 여기에 집중된다. 지방산 합성의 중간체 </a:t>
            </a:r>
            <a:r>
              <a:rPr sz="1400" b="1" i="0">
                <a:solidFill>
                  <a:srgbClr val="11202B"/>
                </a:solidFill>
                <a:latin typeface="Malgun Gothic"/>
                <a:ea typeface="Malgun Gothic"/>
                <a:cs typeface="Malgun Gothic"/>
              </a:rPr>
              <a:t>malonyl-CoA가 CPT1을 억제</a:t>
            </a:r>
            <a:r>
              <a:rPr sz="1400" b="0" i="0">
                <a:solidFill>
                  <a:srgbClr val="11202B"/>
                </a:solidFill>
                <a:latin typeface="Malgun Gothic"/>
                <a:ea typeface="Malgun Gothic"/>
                <a:cs typeface="Malgun Gothic"/>
              </a:rPr>
              <a:t>하므로, 지방산을 만들고 있는 상태에서는 지방산을 태우지 않는다. 합성과 분해가 동시에 일어나는 무익한 순환을 막는 장치이고, insulin이 malonyl-CoA를 늘려 산화를 끄는 경로의 중심이다. 짧은·중간 사슬 지방산은 shuttle 없이 들어가므로 이 조절을 받지 않는다.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3. β-산화.</a:t>
            </a:r>
            <a:r>
              <a:rPr sz="1400" b="0" i="0">
                <a:solidFill>
                  <a:srgbClr val="11202B"/>
                </a:solidFill>
                <a:latin typeface="Malgun Gothic"/>
                <a:ea typeface="Malgun Gothic"/>
                <a:cs typeface="Malgun Gothic"/>
              </a:rPr>
              <a:t> 기질 안에서 네 반응이 한 주기를 이루며, 한 주기마다 탄소 두 개가 acetyl-CoA로 떨어진다.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지방산의 산화</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37</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순서</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반응</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산물</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1</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산화(dehydrogenation)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FADH₂</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2</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수화(hydration)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3</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산화(dehydrogenation)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NADH</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4</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절단(thiolysis)</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acetyl-CoA, 두 탄소 짧아진 acyl-CoA</a:t>
                      </a:r>
                    </a:p>
                  </a:txBody>
                  <a:tcPr marL="73152" marR="73152" marT="27432" marB="27432">
                    <a:solidFill>
                      <a:srgbClr val="EFF4F8"/>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지방산의 산화</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38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첫 반응을 담당하는 acyl-CoA dehydrogenase는 사슬 길이에 따라 </a:t>
            </a:r>
            <a:r>
              <a:rPr sz="1400" b="1" i="0">
                <a:solidFill>
                  <a:srgbClr val="11202B"/>
                </a:solidFill>
                <a:latin typeface="Malgun Gothic"/>
                <a:ea typeface="Malgun Gothic"/>
                <a:cs typeface="Malgun Gothic"/>
              </a:rPr>
              <a:t>동위효소</a:t>
            </a:r>
            <a:r>
              <a:rPr sz="1400" b="0" i="0">
                <a:solidFill>
                  <a:srgbClr val="11202B"/>
                </a:solidFill>
                <a:latin typeface="Malgun Gothic"/>
                <a:ea typeface="Malgun Gothic"/>
                <a:cs typeface="Malgun Gothic"/>
              </a:rPr>
              <a:t>가 나뉘어 있다(VLCAD, LCAD, MCAD, SCAD). 사슬이 짧아지는 동안 담당 효소가 차례로 교체되며, 이 분업이 다음 상자의 질환 분류의 근거가 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수지를 비교해 본다. Palmitate(C16)는 β-산화를 7주기 돌아 acetyl-CoA 8개, NADH 7개, FADH₂ 7개를 낸다. ATP로 환산하면 acetyl-CoA 8개가 TCA cycle에서 각 10개씩 80개, NADH 7개가 17.5개, FADH₂ 7개가 10.5개로 합계 108개이고, 활성화에 쓴 2개를 빼면 </a:t>
            </a:r>
            <a:r>
              <a:rPr sz="1400" b="1" i="0">
                <a:solidFill>
                  <a:srgbClr val="11202B"/>
                </a:solidFill>
                <a:latin typeface="Malgun Gothic"/>
                <a:ea typeface="Malgun Gothic"/>
                <a:cs typeface="Malgun Gothic"/>
              </a:rPr>
              <a:t>약 106개</a:t>
            </a:r>
            <a:r>
              <a:rPr sz="1400" b="0" i="0">
                <a:solidFill>
                  <a:srgbClr val="11202B"/>
                </a:solidFill>
                <a:latin typeface="Malgun Gothic"/>
                <a:ea typeface="Malgun Gothic"/>
                <a:cs typeface="Malgun Gothic"/>
              </a:rPr>
              <a:t>다. 포도당 한 분자의 30~32개와 비교하면 분자당 세 배 이상이고, 그램당으로도 지방이 탄수화물의 두 배가 넘는다. 이유는 앞 수업에서 본 대로 </a:t>
            </a:r>
            <a:r>
              <a:rPr sz="1400" b="1" i="0">
                <a:solidFill>
                  <a:srgbClr val="11202B"/>
                </a:solidFill>
                <a:latin typeface="Malgun Gothic"/>
                <a:ea typeface="Malgun Gothic"/>
                <a:cs typeface="Malgun Gothic"/>
              </a:rPr>
              <a:t>지방산의 탄소가 더 환원된 상태</a:t>
            </a:r>
            <a:r>
              <a:rPr sz="1400" b="0" i="0">
                <a:solidFill>
                  <a:srgbClr val="11202B"/>
                </a:solidFill>
                <a:latin typeface="Malgun Gothic"/>
                <a:ea typeface="Malgun Gothic"/>
                <a:cs typeface="Malgun Gothic"/>
              </a:rPr>
              <a:t>여서 꺼낼 전자가 많기 때문이다.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변형도 알아 둔다. 홀수 탄소 지방산은 마지막에 </a:t>
            </a:r>
            <a:r>
              <a:rPr sz="1400" b="1" i="0">
                <a:solidFill>
                  <a:srgbClr val="11202B"/>
                </a:solidFill>
                <a:latin typeface="Malgun Gothic"/>
                <a:ea typeface="Malgun Gothic"/>
                <a:cs typeface="Malgun Gothic"/>
              </a:rPr>
              <a:t>propionyl-CoA</a:t>
            </a:r>
            <a:r>
              <a:rPr sz="1400" b="0" i="0">
                <a:solidFill>
                  <a:srgbClr val="11202B"/>
                </a:solidFill>
                <a:latin typeface="Malgun Gothic"/>
                <a:ea typeface="Malgun Gothic"/>
                <a:cs typeface="Malgun Gothic"/>
              </a:rPr>
              <a:t>를 남기고, 이것은 biotin과 vitamin B₁₂를 쓰는 효소들을 거쳐 succinyl-CoA로 바뀌어 TCA cycle에 들어간다. 그래서 B₁₂ 결핍에서 methylmalonic acid가 쌓인다. 탄소 20개 이상의 매우 긴 사슬 지방산과 분지 지방산은 </a:t>
            </a:r>
            <a:r>
              <a:rPr sz="1400" b="1" i="0">
                <a:solidFill>
                  <a:srgbClr val="11202B"/>
                </a:solidFill>
                <a:latin typeface="Malgun Gothic"/>
                <a:ea typeface="Malgun Gothic"/>
                <a:cs typeface="Malgun Gothic"/>
              </a:rPr>
              <a:t>퍼옥시좀</a:t>
            </a:r>
            <a:r>
              <a:rPr sz="1400" b="0" i="0">
                <a:solidFill>
                  <a:srgbClr val="11202B"/>
                </a:solidFill>
                <a:latin typeface="Malgun Gothic"/>
                <a:ea typeface="Malgun Gothic"/>
                <a:cs typeface="Malgun Gothic"/>
              </a:rPr>
              <a:t>에서 먼저 짧게 깎인 뒤 미토콘드리아로 넘겨진다. 이 경로의 결손이 X 연관 adrenoleukodystrophy와 Zellweger 증후군이다(M01-W10-L01).</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지방산 산화가 많아지면 간에서 acetyl-CoA가 TCA cycle의 처리 용량을 넘어 쌓이고, 남은 acetyl-CoA가 </a:t>
            </a:r>
            <a:r>
              <a:rPr sz="1400" b="1" i="0">
                <a:solidFill>
                  <a:srgbClr val="11202B"/>
                </a:solidFill>
                <a:latin typeface="Malgun Gothic"/>
                <a:ea typeface="Malgun Gothic"/>
                <a:cs typeface="Malgun Gothic"/>
              </a:rPr>
              <a:t>ketone body</a:t>
            </a:r>
            <a:r>
              <a:rPr sz="1400" b="0" i="0">
                <a:solidFill>
                  <a:srgbClr val="11202B"/>
                </a:solidFill>
                <a:latin typeface="Malgun Gothic"/>
                <a:ea typeface="Malgun Gothic"/>
                <a:cs typeface="Malgun Gothic"/>
              </a:rPr>
              <a:t>(acetoacetate, β-hydroxybutyrate)로 전환되어 혈액으로 나간다. 간은 ketone body를 쓰는 효소가 없어 자기가 만든 것을 쓰지 못하고, 뇌와 심장, 근육이 쓴다. 공복이 길어질 때 뇌가 포도당 의존을 줄이는 수단이며, 생리적 적응이다. 반면 insulin이 거의 없는 1형 당뇨병에서는 지방 분해가 억제되지 않아 ketone body가 과도하게 생산되어 </a:t>
            </a:r>
            <a:r>
              <a:rPr sz="1400" b="1" i="0">
                <a:solidFill>
                  <a:srgbClr val="11202B"/>
                </a:solidFill>
                <a:latin typeface="Malgun Gothic"/>
                <a:ea typeface="Malgun Gothic"/>
                <a:cs typeface="Malgun Gothic"/>
              </a:rPr>
              <a:t>당뇨병성 ketoacidosis</a:t>
            </a:r>
            <a:r>
              <a:rPr sz="1400" b="0" i="0">
                <a:solidFill>
                  <a:srgbClr val="11202B"/>
                </a:solidFill>
                <a:latin typeface="Malgun Gothic"/>
                <a:ea typeface="Malgun Gothic"/>
                <a:cs typeface="Malgun Gothic"/>
              </a:rPr>
              <a:t>가 된다. 같은 기전이 양에 따라 적응과 질환으로 갈린다.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지방산의 산화</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39</a:t>
            </a:r>
          </a:p>
        </p:txBody>
      </p:sp>
      <p:sp>
        <p:nvSpPr>
          <p:cNvPr id="7" name="Rectangle 6"/>
          <p:cNvSpPr/>
          <p:nvPr/>
        </p:nvSpPr>
        <p:spPr>
          <a:xfrm>
            <a:off x="640080" y="1325880"/>
            <a:ext cx="10881360" cy="3743960"/>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지방산 산화 결손은 "저혈당인데 ketone이 없다"는 소견에서 찾는다. 이 조합이 결정적이다. 공복이 길어지면 정상적으로는 지방산 산화가 올라가 ketone body를 만들고, 그 ketone이 포도당 대신 쓰이면서 간은 gluconeogenesis에 필요한 acetyl-CoA와 NADH를 얻는다. 산화가 막히면 세 가지가 동시에 일어난다. </a:t>
            </a:r>
            <a:r>
              <a:rPr sz="1600" b="1" i="0">
                <a:solidFill>
                  <a:srgbClr val="11202B"/>
                </a:solidFill>
                <a:latin typeface="Malgun Gothic"/>
                <a:ea typeface="Malgun Gothic"/>
                <a:cs typeface="Malgun Gothic"/>
              </a:rPr>
              <a:t>저혈당</a:t>
            </a:r>
            <a:r>
              <a:rPr sz="1600" b="0" i="0">
                <a:solidFill>
                  <a:srgbClr val="11202B"/>
                </a:solidFill>
                <a:latin typeface="Malgun Gothic"/>
                <a:ea typeface="Malgun Gothic"/>
                <a:cs typeface="Malgun Gothic"/>
              </a:rPr>
              <a:t>(포도당 소비가 계속되고 gluconeogenesis가 받쳐지지 않는다), </a:t>
            </a:r>
            <a:r>
              <a:rPr sz="1600" b="1" i="0">
                <a:solidFill>
                  <a:srgbClr val="11202B"/>
                </a:solidFill>
                <a:latin typeface="Malgun Gothic"/>
                <a:ea typeface="Malgun Gothic"/>
                <a:cs typeface="Malgun Gothic"/>
              </a:rPr>
              <a:t>저ketone</a:t>
            </a:r>
            <a:r>
              <a:rPr sz="1600" b="0" i="0">
                <a:solidFill>
                  <a:srgbClr val="11202B"/>
                </a:solidFill>
                <a:latin typeface="Malgun Gothic"/>
                <a:ea typeface="Malgun Gothic"/>
                <a:cs typeface="Malgun Gothic"/>
              </a:rPr>
              <a:t>(만들 재료가 없다), 그리고 </a:t>
            </a:r>
            <a:r>
              <a:rPr sz="1600" b="1" i="0">
                <a:solidFill>
                  <a:srgbClr val="11202B"/>
                </a:solidFill>
                <a:latin typeface="Malgun Gothic"/>
                <a:ea typeface="Malgun Gothic"/>
                <a:cs typeface="Malgun Gothic"/>
              </a:rPr>
              <a:t>에너지 요구가 큰 조직의 손상</a:t>
            </a:r>
            <a:r>
              <a:rPr sz="1600" b="0" i="0">
                <a:solidFill>
                  <a:srgbClr val="11202B"/>
                </a:solidFill>
                <a:latin typeface="Malgun Gothic"/>
                <a:ea typeface="Malgun Gothic"/>
                <a:cs typeface="Malgun Gothic"/>
              </a:rPr>
              <a:t>(심근병증, 간기능 이상, 횡문근 분해)이다. 이것을 저ketone성 저혈당(hypoketotic hypoglycemia)이라 하며, 신생아 선별검사의 표적이다. 결손의 위치를 혈중 acylcarnitine 양상으로 가린다. </a:t>
            </a:r>
            <a:r>
              <a:rPr sz="1600" b="1" i="0">
                <a:solidFill>
                  <a:srgbClr val="11202B"/>
                </a:solidFill>
                <a:latin typeface="Malgun Gothic"/>
                <a:ea typeface="Malgun Gothic"/>
                <a:cs typeface="Malgun Gothic"/>
              </a:rPr>
              <a:t>MCAD 결핍</a:t>
            </a:r>
            <a:r>
              <a:rPr sz="1600" b="0" i="0">
                <a:solidFill>
                  <a:srgbClr val="11202B"/>
                </a:solidFill>
                <a:latin typeface="Malgun Gothic"/>
                <a:ea typeface="Malgun Gothic"/>
                <a:cs typeface="Malgun Gothic"/>
              </a:rPr>
              <a:t>은 중간 사슬 acylcarnitine이 쌓이고 가장 흔하며, 금식이나 감염 때 급성으로 발현한다. </a:t>
            </a:r>
            <a:r>
              <a:rPr sz="1600" b="1" i="0">
                <a:solidFill>
                  <a:srgbClr val="11202B"/>
                </a:solidFill>
                <a:latin typeface="Malgun Gothic"/>
                <a:ea typeface="Malgun Gothic"/>
                <a:cs typeface="Malgun Gothic"/>
              </a:rPr>
              <a:t>CPT1 결핍</a:t>
            </a:r>
            <a:r>
              <a:rPr sz="1600" b="0" i="0">
                <a:solidFill>
                  <a:srgbClr val="11202B"/>
                </a:solidFill>
                <a:latin typeface="Malgun Gothic"/>
                <a:ea typeface="Malgun Gothic"/>
                <a:cs typeface="Malgun Gothic"/>
              </a:rPr>
              <a:t>은 간에서 운반이 막히는데 carnitine은 오히려 높게 나오고, </a:t>
            </a:r>
            <a:r>
              <a:rPr sz="1600" b="1" i="0">
                <a:solidFill>
                  <a:srgbClr val="11202B"/>
                </a:solidFill>
                <a:latin typeface="Malgun Gothic"/>
                <a:ea typeface="Malgun Gothic"/>
                <a:cs typeface="Malgun Gothic"/>
              </a:rPr>
              <a:t>CPT2와 CACT 결핍</a:t>
            </a:r>
            <a:r>
              <a:rPr sz="1600" b="0" i="0">
                <a:solidFill>
                  <a:srgbClr val="11202B"/>
                </a:solidFill>
                <a:latin typeface="Malgun Gothic"/>
                <a:ea typeface="Malgun Gothic"/>
                <a:cs typeface="Malgun Gothic"/>
              </a:rPr>
              <a:t>은 장쇄 acylcarnitine이 쌓이며 심근과 근육의 침범이 두드러진다. </a:t>
            </a:r>
            <a:r>
              <a:rPr sz="1600" b="1" i="0">
                <a:solidFill>
                  <a:srgbClr val="11202B"/>
                </a:solidFill>
                <a:latin typeface="Malgun Gothic"/>
                <a:ea typeface="Malgun Gothic"/>
                <a:cs typeface="Malgun Gothic"/>
              </a:rPr>
              <a:t>일차성 carnitine 결핍</a:t>
            </a:r>
            <a:r>
              <a:rPr sz="1600" b="0" i="0">
                <a:solidFill>
                  <a:srgbClr val="11202B"/>
                </a:solidFill>
                <a:latin typeface="Malgun Gothic"/>
                <a:ea typeface="Malgun Gothic"/>
                <a:cs typeface="Malgun Gothic"/>
              </a:rPr>
              <a:t>(수송체 OCTN2의 결손)은 혈중 carnitine이 매우 낮고 carnitine 보충으로 치료된다. 관리의 공통 원칙은 두 가지다. </a:t>
            </a:r>
            <a:r>
              <a:rPr sz="1600" b="1" i="0">
                <a:solidFill>
                  <a:srgbClr val="11202B"/>
                </a:solidFill>
                <a:latin typeface="Malgun Gothic"/>
                <a:ea typeface="Malgun Gothic"/>
                <a:cs typeface="Malgun Gothic"/>
              </a:rPr>
              <a:t>금식을 피하고</a:t>
            </a:r>
            <a:r>
              <a:rPr sz="1600" b="0" i="0">
                <a:solidFill>
                  <a:srgbClr val="11202B"/>
                </a:solidFill>
                <a:latin typeface="Malgun Gothic"/>
                <a:ea typeface="Malgun Gothic"/>
                <a:cs typeface="Malgun Gothic"/>
              </a:rPr>
              <a:t> 급성기에 포도당을 공급하는 것, 그리고 장쇄 결손에서는 shuttle을 거치지 않는 중간 사슬 지방산으로 열량을 공급하는 것이다. 반대로 MCAD 결핍에서는 중간 사슬 지방산이 금기라는 점이 함께 출제된다.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Pentose phosphate 경로와 NADPH</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40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포도당이 에너지를 내는 길만 있는 것은 아니다. 세포는 포도당의 일부를 </a:t>
            </a:r>
            <a:r>
              <a:rPr sz="1400" b="1" i="0">
                <a:solidFill>
                  <a:srgbClr val="11202B"/>
                </a:solidFill>
                <a:latin typeface="Malgun Gothic"/>
                <a:ea typeface="Malgun Gothic"/>
                <a:cs typeface="Malgun Gothic"/>
              </a:rPr>
              <a:t>pentose phosphate 경로</a:t>
            </a:r>
            <a:r>
              <a:rPr sz="1400" b="0" i="0">
                <a:solidFill>
                  <a:srgbClr val="11202B"/>
                </a:solidFill>
                <a:latin typeface="Malgun Gothic"/>
                <a:ea typeface="Malgun Gothic"/>
                <a:cs typeface="Malgun Gothic"/>
              </a:rPr>
              <a:t>로 보내 두 가지를 얻는다. </a:t>
            </a:r>
            <a:r>
              <a:rPr sz="1400" b="1" i="0">
                <a:solidFill>
                  <a:srgbClr val="11202B"/>
                </a:solidFill>
                <a:latin typeface="Malgun Gothic"/>
                <a:ea typeface="Malgun Gothic"/>
                <a:cs typeface="Malgun Gothic"/>
              </a:rPr>
              <a:t>NADPH</a:t>
            </a:r>
            <a:r>
              <a:rPr sz="1400" b="0" i="0">
                <a:solidFill>
                  <a:srgbClr val="11202B"/>
                </a:solidFill>
                <a:latin typeface="Malgun Gothic"/>
                <a:ea typeface="Malgun Gothic"/>
                <a:cs typeface="Malgun Gothic"/>
              </a:rPr>
              <a:t>와 </a:t>
            </a:r>
            <a:r>
              <a:rPr sz="1400" b="1" i="0">
                <a:solidFill>
                  <a:srgbClr val="11202B"/>
                </a:solidFill>
                <a:latin typeface="Malgun Gothic"/>
                <a:ea typeface="Malgun Gothic"/>
                <a:cs typeface="Malgun Gothic"/>
              </a:rPr>
              <a:t>ribose-5-phosphate</a:t>
            </a:r>
            <a:r>
              <a:rPr sz="1400" b="0" i="0">
                <a:solidFill>
                  <a:srgbClr val="11202B"/>
                </a:solidFill>
                <a:latin typeface="Malgun Gothic"/>
                <a:ea typeface="Malgun Gothic"/>
                <a:cs typeface="Malgun Gothic"/>
              </a:rPr>
              <a:t>다. 이 경로는 세포질에서 일어나고 ATP를 만들지 않는다.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경로는 두 부분으로 나뉜다.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산화 단계</a:t>
            </a:r>
            <a:r>
              <a:rPr sz="1400" b="0" i="0">
                <a:solidFill>
                  <a:srgbClr val="11202B"/>
                </a:solidFill>
                <a:latin typeface="Malgun Gothic"/>
                <a:ea typeface="Malgun Gothic"/>
                <a:cs typeface="Malgun Gothic"/>
              </a:rPr>
              <a:t>: glucose-6-phosphate가 두 번 산화되며 </a:t>
            </a:r>
            <a:r>
              <a:rPr sz="1400" b="1" i="0">
                <a:solidFill>
                  <a:srgbClr val="11202B"/>
                </a:solidFill>
                <a:latin typeface="Malgun Gothic"/>
                <a:ea typeface="Malgun Gothic"/>
                <a:cs typeface="Malgun Gothic"/>
              </a:rPr>
              <a:t>NADPH 두 개</a:t>
            </a:r>
            <a:r>
              <a:rPr sz="1400" b="0" i="0">
                <a:solidFill>
                  <a:srgbClr val="11202B"/>
                </a:solidFill>
                <a:latin typeface="Malgun Gothic"/>
                <a:ea typeface="Malgun Gothic"/>
                <a:cs typeface="Malgun Gothic"/>
              </a:rPr>
              <a:t>와 CO₂ 하나를 내고 ribulose-5-phosphate가 된다. 첫 효소 </a:t>
            </a:r>
            <a:r>
              <a:rPr sz="1400" b="1" i="0">
                <a:solidFill>
                  <a:srgbClr val="11202B"/>
                </a:solidFill>
                <a:latin typeface="Malgun Gothic"/>
                <a:ea typeface="Malgun Gothic"/>
                <a:cs typeface="Malgun Gothic"/>
              </a:rPr>
              <a:t>glucose-6-phosphate dehydrogenase(G6PD)</a:t>
            </a:r>
            <a:r>
              <a:rPr sz="1400" b="0" i="0">
                <a:solidFill>
                  <a:srgbClr val="11202B"/>
                </a:solidFill>
                <a:latin typeface="Malgun Gothic"/>
                <a:ea typeface="Malgun Gothic"/>
                <a:cs typeface="Malgun Gothic"/>
              </a:rPr>
              <a:t>가 rate-limiting step이며 NADP⁺ 농도로 조절된다. 즉 </a:t>
            </a:r>
            <a:r>
              <a:rPr sz="1400" b="1" i="0">
                <a:solidFill>
                  <a:srgbClr val="11202B"/>
                </a:solidFill>
                <a:latin typeface="Malgun Gothic"/>
                <a:ea typeface="Malgun Gothic"/>
                <a:cs typeface="Malgun Gothic"/>
              </a:rPr>
              <a:t>NADPH가 소모되어 NADP⁺가 늘어날 때 경로가 켜진다.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비산화 단계</a:t>
            </a:r>
            <a:r>
              <a:rPr sz="1400" b="0" i="0">
                <a:solidFill>
                  <a:srgbClr val="11202B"/>
                </a:solidFill>
                <a:latin typeface="Malgun Gothic"/>
                <a:ea typeface="Malgun Gothic"/>
                <a:cs typeface="Malgun Gothic"/>
              </a:rPr>
              <a:t>: 당의 탄소 골격을 서로 옮겨 ribose-5-phosphate, fructose-6-phosphate, glyceraldehyde-3-phosphate 사이를 가역적으로 전환한다. 그래서 세포는 NADPH만 필요할 때와 ribose만 필요할 때 각각 다른 조합으로 흐름을 조정할 수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NADPH가 쓰이는 곳은 세 갈래다. 지방산과 cholesterol, 핵산의 </a:t>
            </a:r>
            <a:r>
              <a:rPr sz="1400" b="1" i="0">
                <a:solidFill>
                  <a:srgbClr val="11202B"/>
                </a:solidFill>
                <a:latin typeface="Malgun Gothic"/>
                <a:ea typeface="Malgun Gothic"/>
                <a:cs typeface="Malgun Gothic"/>
              </a:rPr>
              <a:t>합성</a:t>
            </a:r>
            <a:r>
              <a:rPr sz="1400" b="0" i="0">
                <a:solidFill>
                  <a:srgbClr val="11202B"/>
                </a:solidFill>
                <a:latin typeface="Malgun Gothic"/>
                <a:ea typeface="Malgun Gothic"/>
                <a:cs typeface="Malgun Gothic"/>
              </a:rPr>
              <a:t>, 면역세포의 NADPH oxidase가 만드는 </a:t>
            </a:r>
            <a:r>
              <a:rPr sz="1400" b="1" i="0">
                <a:solidFill>
                  <a:srgbClr val="11202B"/>
                </a:solidFill>
                <a:latin typeface="Malgun Gothic"/>
                <a:ea typeface="Malgun Gothic"/>
                <a:cs typeface="Malgun Gothic"/>
              </a:rPr>
              <a:t>활성산소 생산</a:t>
            </a:r>
            <a:r>
              <a:rPr sz="1400" b="0" i="0">
                <a:solidFill>
                  <a:srgbClr val="11202B"/>
                </a:solidFill>
                <a:latin typeface="Malgun Gothic"/>
                <a:ea typeface="Malgun Gothic"/>
                <a:cs typeface="Malgun Gothic"/>
              </a:rPr>
              <a:t>, 그리고 </a:t>
            </a:r>
            <a:r>
              <a:rPr sz="1400" b="1" i="0">
                <a:solidFill>
                  <a:srgbClr val="11202B"/>
                </a:solidFill>
                <a:latin typeface="Malgun Gothic"/>
                <a:ea typeface="Malgun Gothic"/>
                <a:cs typeface="Malgun Gothic"/>
              </a:rPr>
              <a:t>항산화 방어</a:t>
            </a:r>
            <a:r>
              <a:rPr sz="1400" b="0" i="0">
                <a:solidFill>
                  <a:srgbClr val="11202B"/>
                </a:solidFill>
                <a:latin typeface="Malgun Gothic"/>
                <a:ea typeface="Malgun Gothic"/>
                <a:cs typeface="Malgun Gothic"/>
              </a:rPr>
              <a:t>다. 세 번째가 임상적으로 가장 중요하다. 산화 스트레스를 중화하는 glutathione은 산화되면 다시 환원되어야 하는데, glutathione reductase가 그 일을 하며 </a:t>
            </a:r>
            <a:r>
              <a:rPr sz="1400" b="1" i="0">
                <a:solidFill>
                  <a:srgbClr val="11202B"/>
                </a:solidFill>
                <a:latin typeface="Malgun Gothic"/>
                <a:ea typeface="Malgun Gothic"/>
                <a:cs typeface="Malgun Gothic"/>
              </a:rPr>
              <a:t>NADPH를 쓴다.</a:t>
            </a:r>
            <a:r>
              <a:rPr sz="1400" b="0" i="0">
                <a:solidFill>
                  <a:srgbClr val="11202B"/>
                </a:solidFill>
                <a:latin typeface="Malgun Gothic"/>
                <a:ea typeface="Malgun Gothic"/>
                <a:cs typeface="Malgun Gothic"/>
              </a:rPr>
              <a:t> 즉 NADPH의 공급이 끊기면 환원형 glutathione이 바닥나고 세포는 산화 손상에 노출된다.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Pentose phosphate 경로와 NADPH</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41</a:t>
            </a:r>
          </a:p>
        </p:txBody>
      </p:sp>
      <p:sp>
        <p:nvSpPr>
          <p:cNvPr id="7" name="Rectangle 6"/>
          <p:cNvSpPr/>
          <p:nvPr/>
        </p:nvSpPr>
        <p:spPr>
          <a:xfrm>
            <a:off x="640080" y="1325880"/>
            <a:ext cx="10881360" cy="1731309"/>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G6PD 결핍은 "왜 적혈구만, 왜 특정 자극에서만"이라는 두 질문으로 출제된다. 첫째, </a:t>
            </a:r>
            <a:r>
              <a:rPr sz="1600" b="1" i="0">
                <a:solidFill>
                  <a:srgbClr val="11202B"/>
                </a:solidFill>
                <a:latin typeface="Malgun Gothic"/>
                <a:ea typeface="Malgun Gothic"/>
                <a:cs typeface="Malgun Gothic"/>
              </a:rPr>
              <a:t>적혈구가 취약한 이유</a:t>
            </a:r>
            <a:r>
              <a:rPr sz="1600" b="0" i="0">
                <a:solidFill>
                  <a:srgbClr val="11202B"/>
                </a:solidFill>
                <a:latin typeface="Malgun Gothic"/>
                <a:ea typeface="Malgun Gothic"/>
                <a:cs typeface="Malgun Gothic"/>
              </a:rPr>
              <a:t>는 미토콘드리아가 없어 NADPH를 pentose phosphate 경로에서만 얻기 때문이다. 다른 세포는 다른 공급원이 있다. 게다가 적혈구는 핵이 없어 효소를 새로 만들 수 없으므로, 효소가 불안정한 변이형에서는 세포가 나이 들수록 활성이 더 떨어진다. 둘째, </a:t>
            </a:r>
            <a:r>
              <a:rPr sz="1600" b="1" i="0">
                <a:solidFill>
                  <a:srgbClr val="11202B"/>
                </a:solidFill>
                <a:latin typeface="Malgun Gothic"/>
                <a:ea typeface="Malgun Gothic"/>
                <a:cs typeface="Malgun Gothic"/>
              </a:rPr>
              <a:t>자극이 필요한 이유</a:t>
            </a:r>
            <a:r>
              <a:rPr sz="1600" b="0" i="0">
                <a:solidFill>
                  <a:srgbClr val="11202B"/>
                </a:solidFill>
                <a:latin typeface="Malgun Gothic"/>
                <a:ea typeface="Malgun Gothic"/>
                <a:cs typeface="Malgun Gothic"/>
              </a:rPr>
              <a:t>는 평소에는 남은 활성으로 충분하고 산화 부담이 커질 때만 모자라기 때문이다. 자극은 세 부류다. 감염, 특정 약물(primaquine, dapsone, nitrofurantoin, sulfonamide, rasburicase 등), 그리고 fava bean이다. 산화 손상을 받은 hemoglobin이 변성되어 침전한 것을 </a:t>
            </a:r>
            <a:r>
              <a:rPr sz="1600" b="1" i="0">
                <a:solidFill>
                  <a:srgbClr val="11202B"/>
                </a:solidFill>
                <a:latin typeface="Malgun Gothic"/>
                <a:ea typeface="Malgun Gothic"/>
                <a:cs typeface="Malgun Gothic"/>
              </a:rPr>
              <a:t>Heinz body</a:t>
            </a:r>
            <a:r>
              <a:rPr sz="1600" b="0" i="0">
                <a:solidFill>
                  <a:srgbClr val="11202B"/>
                </a:solidFill>
                <a:latin typeface="Malgun Gothic"/>
                <a:ea typeface="Malgun Gothic"/>
                <a:cs typeface="Malgun Gothic"/>
              </a:rPr>
              <a:t>라 하고, 대식세포가 그 부분을 뜯어내 생긴 적혈구가 </a:t>
            </a:r>
            <a:r>
              <a:rPr sz="1600" b="1" i="0">
                <a:solidFill>
                  <a:srgbClr val="11202B"/>
                </a:solidFill>
                <a:latin typeface="Malgun Gothic"/>
                <a:ea typeface="Malgun Gothic"/>
                <a:cs typeface="Malgun Gothic"/>
              </a:rPr>
              <a:t>bite cell</a:t>
            </a:r>
            <a:r>
              <a:rPr sz="1600" b="0" i="0">
                <a:solidFill>
                  <a:srgbClr val="11202B"/>
                </a:solidFill>
                <a:latin typeface="Malgun Gothic"/>
                <a:ea typeface="Malgun Gothic"/>
                <a:cs typeface="Malgun Gothic"/>
              </a:rPr>
              <a:t>이다. 급성 용혈 중에는 오래된(효소 활성이 낮은) 적혈구가 먼저 파괴되고 어린 적혈구만 남으므로, </a:t>
            </a:r>
            <a:r>
              <a:rPr sz="1600" b="1" i="0">
                <a:solidFill>
                  <a:srgbClr val="11202B"/>
                </a:solidFill>
                <a:latin typeface="Malgun Gothic"/>
                <a:ea typeface="Malgun Gothic"/>
                <a:cs typeface="Malgun Gothic"/>
              </a:rPr>
              <a:t>효소 활성 측정이 정상으로 나올 수 있다.</a:t>
            </a:r>
            <a:r>
              <a:rPr sz="1600" b="0" i="0">
                <a:solidFill>
                  <a:srgbClr val="11202B"/>
                </a:solidFill>
                <a:latin typeface="Malgun Gothic"/>
                <a:ea typeface="Malgun Gothic"/>
                <a:cs typeface="Malgun Gothic"/>
              </a:rPr>
              <a:t> 그래서 검사는 급성기가 지난 뒤 2~3개월 후에 다시 한다는 점이 실제 진료와 시험 양쪽에서 요구된다. 이 질환은 X 연관 유전이고 말라리아 유행 지역에서 빈도가 높은데, G6PD 결핍 적혈구에서 말라리아 기생충의 생존이 불리하다는 선택이 작용한 것으로 해석된다. 신생아 황달의 원인으로도 중요하다.</a:t>
            </a:r>
          </a:p>
        </p:txBody>
      </p:sp>
      <p:sp>
        <p:nvSpPr>
          <p:cNvPr id="8" name="Rectangle 7"/>
          <p:cNvSpPr/>
          <p:nvPr/>
        </p:nvSpPr>
        <p:spPr>
          <a:xfrm>
            <a:off x="640080" y="3194349"/>
            <a:ext cx="10881360" cy="1414983"/>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호흡 사슬의 복합체들이 막 안에 따로 떠 있는지, 서로 결합한 </a:t>
            </a:r>
            <a:r>
              <a:rPr sz="1600" b="1" i="0">
                <a:solidFill>
                  <a:srgbClr val="11202B"/>
                </a:solidFill>
                <a:latin typeface="Malgun Gothic"/>
                <a:ea typeface="Malgun Gothic"/>
                <a:cs typeface="Malgun Gothic"/>
              </a:rPr>
              <a:t>초복합체(supercomplex)</a:t>
            </a:r>
            <a:r>
              <a:rPr sz="1600" b="0" i="0">
                <a:solidFill>
                  <a:srgbClr val="11202B"/>
                </a:solidFill>
                <a:latin typeface="Malgun Gothic"/>
                <a:ea typeface="Malgun Gothic"/>
                <a:cs typeface="Malgun Gothic"/>
              </a:rPr>
              <a:t>를 이루는지가 지난 20년의 논쟁이었다. 저온전자현미경으로 복합체 I, III, IV가 결합한 구조가 풀리면서 초복합체의 존재는 확립되었고, 지금의 쟁점은 그 기능적 의미다. 초복합체가 전자 운반체의 이동 거리를 줄여 효율을 올리고 전자가 산소로 새는 것을 줄인다는 모형이 제시되었으나, 자유롭게 떠 있는 상태와 결합한 상태가 조건에 따라 전환되며 그 비율이 연료 선택과 함께 변한다는 결과도 있다. 임상적 동기는 분명하다. 심부전, 노화, 미토콘드리아 질환에서 초복합체의 조립이 어긋난다는 보고가 있고, 조립을 돕는 인자가 치료 표적으로 검토된다. 함께 다루어지는 주제가 </a:t>
            </a:r>
            <a:r>
              <a:rPr sz="1600" b="1" i="0">
                <a:solidFill>
                  <a:srgbClr val="11202B"/>
                </a:solidFill>
                <a:latin typeface="Malgun Gothic"/>
                <a:ea typeface="Malgun Gothic"/>
                <a:cs typeface="Malgun Gothic"/>
              </a:rPr>
              <a:t>반응성 산소종의 생산 지점</a:t>
            </a:r>
            <a:r>
              <a:rPr sz="1600" b="0" i="0">
                <a:solidFill>
                  <a:srgbClr val="11202B"/>
                </a:solidFill>
                <a:latin typeface="Malgun Gothic"/>
                <a:ea typeface="Malgun Gothic"/>
                <a:cs typeface="Malgun Gothic"/>
              </a:rPr>
              <a:t>이다. 복합체 I의 역방향 전자 흐름이 주된 생산 지점이라는 측정이 쌓였고, 허혈-재관류 손상에서 이 역방향 흐름을 억제하는 전략이 전임상에서 시험되고 있다. 쟁점은 ROS가 손상의 원인인지 신호인지다. 적당한 양의 ROS가 적응 반응을 켠다는 자료가 많아, 항산화제를 일괄 투여한 임상 시험이 대부분 실패한 것과 맞물려 해석된다.</a:t>
            </a:r>
          </a:p>
        </p:txBody>
      </p:sp>
      <p:sp>
        <p:nvSpPr>
          <p:cNvPr id="9" name="Rectangle 8"/>
          <p:cNvSpPr/>
          <p:nvPr/>
        </p:nvSpPr>
        <p:spPr>
          <a:xfrm>
            <a:off x="640080" y="4746492"/>
            <a:ext cx="10881360" cy="1425706"/>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종양세포가 산소가 있어도 포도당을 젖산으로 내보낸다는 관찰(Warburg 효과)은 100년 전에 보고되었으나, 그 해석은 최근에 바뀌었다. 과거에는 미토콘드리아가 망가져서 그렇다고 보았지만, 대부분의 종양에서 미토콘드리아는 정상으로 작동한다. 현재의 설명은 </a:t>
            </a:r>
            <a:r>
              <a:rPr sz="1600" b="1" i="0">
                <a:solidFill>
                  <a:srgbClr val="11202B"/>
                </a:solidFill>
                <a:latin typeface="Malgun Gothic"/>
                <a:ea typeface="Malgun Gothic"/>
                <a:cs typeface="Malgun Gothic"/>
              </a:rPr>
              <a:t>분열하는 세포의 요구가 에너지가 아니라 재료</a:t>
            </a:r>
            <a:r>
              <a:rPr sz="1600" b="0" i="0">
                <a:solidFill>
                  <a:srgbClr val="11202B"/>
                </a:solidFill>
                <a:latin typeface="Malgun Gothic"/>
                <a:ea typeface="Malgun Gothic"/>
                <a:cs typeface="Malgun Gothic"/>
              </a:rPr>
              <a:t>라는 것이다. 새 세포를 만들려면 핵산, 지질, 아미노산이 필요하고, 그 재료는 포도당과 glutamine의 탄소에서 나온다. 포도당을 완전히 산화하면 탄소가 CO₂로 날아가 버리므로, 재료를 쓰려면 중간에서 빼내야 한다. NADPH 요구도 크다. 그래서 종양에서는 pentose phosphate 경로와 serine 합성 경로의 흐름이 올라가고, glutamine이 TCA cycle의 중간체를 채우는 데 쓰인다. 치료 쪽의 시도는 세 방향이다. 특정 대사 효소를 억제하는 것(IDH 변이 억제제가 승인되었다), 종양이 의존하는 영양소를 제한하는 것, 그리고 대사 상태를 영상으로 읽어 치료 반응을 평가하는 것이다. 쟁점은 선택성이다. 정상 분열 세포도 같은 요구를 가지므로, 종양에서만 다른 지점을 찾는 것이 이 분야의 과제다.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광합성: 명반응과 암반응</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42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광합성은 빛 에너지를 화학결합 에너지로 바꾸는 과정이다. 전체 반응은 산소 호흡의 역방향으로 쓸 수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6 CO₂ + 6 H₂O + 빛 에너지 → C₆H₁₂O₆ + 6 O₂</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Chloroplast는 미토콘드리아처럼 이중막을 갖고, 내부에 </a:t>
            </a:r>
            <a:r>
              <a:rPr sz="1400" b="1" i="0">
                <a:solidFill>
                  <a:srgbClr val="11202B"/>
                </a:solidFill>
                <a:latin typeface="Malgun Gothic"/>
                <a:ea typeface="Malgun Gothic"/>
                <a:cs typeface="Malgun Gothic"/>
              </a:rPr>
              <a:t>thylakoid</a:t>
            </a:r>
            <a:r>
              <a:rPr sz="1400" b="0" i="0">
                <a:solidFill>
                  <a:srgbClr val="11202B"/>
                </a:solidFill>
                <a:latin typeface="Malgun Gothic"/>
                <a:ea typeface="Malgun Gothic"/>
                <a:cs typeface="Malgun Gothic"/>
              </a:rPr>
              <a:t>라는 막 구조가 겹쳐 있다. Thylakoid 막이 미토콘드리아 내막에 해당하고, 그 바깥의 </a:t>
            </a:r>
            <a:r>
              <a:rPr sz="1400" b="1" i="0">
                <a:solidFill>
                  <a:srgbClr val="11202B"/>
                </a:solidFill>
                <a:latin typeface="Malgun Gothic"/>
                <a:ea typeface="Malgun Gothic"/>
                <a:cs typeface="Malgun Gothic"/>
              </a:rPr>
              <a:t>stroma</a:t>
            </a:r>
            <a:r>
              <a:rPr sz="1400" b="0" i="0">
                <a:solidFill>
                  <a:srgbClr val="11202B"/>
                </a:solidFill>
                <a:latin typeface="Malgun Gothic"/>
                <a:ea typeface="Malgun Gothic"/>
                <a:cs typeface="Malgun Gothic"/>
              </a:rPr>
              <a:t>가 기질에 해당한다.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명반응(light reaction)</a:t>
            </a:r>
            <a:r>
              <a:rPr sz="1400" b="0" i="0">
                <a:solidFill>
                  <a:srgbClr val="11202B"/>
                </a:solidFill>
                <a:latin typeface="Malgun Gothic"/>
                <a:ea typeface="Malgun Gothic"/>
                <a:cs typeface="Malgun Gothic"/>
              </a:rPr>
              <a:t>은 thylakoid 막에서 일어난다.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Photosystem II</a:t>
            </a:r>
            <a:r>
              <a:rPr sz="1400" b="0" i="0">
                <a:solidFill>
                  <a:srgbClr val="11202B"/>
                </a:solidFill>
                <a:latin typeface="Malgun Gothic"/>
                <a:ea typeface="Malgun Gothic"/>
                <a:cs typeface="Malgun Gothic"/>
              </a:rPr>
              <a:t>의 엽록소가 빛을 흡수해 전자가 들뜬다. 들뜬 전자가 떠나면서 생긴 빈자리를 메우기 위해 </a:t>
            </a:r>
            <a:r>
              <a:rPr sz="1400" b="1" i="0">
                <a:solidFill>
                  <a:srgbClr val="11202B"/>
                </a:solidFill>
                <a:latin typeface="Malgun Gothic"/>
                <a:ea typeface="Malgun Gothic"/>
                <a:cs typeface="Malgun Gothic"/>
              </a:rPr>
              <a:t>물을 분해하고(water splitting) O₂를 내놓는다.</a:t>
            </a:r>
            <a:r>
              <a:rPr sz="1400" b="0" i="0">
                <a:solidFill>
                  <a:srgbClr val="11202B"/>
                </a:solidFill>
                <a:latin typeface="Malgun Gothic"/>
                <a:ea typeface="Malgun Gothic"/>
                <a:cs typeface="Malgun Gothic"/>
              </a:rPr>
              <a:t> 우리가 숨 쉬는 산소가 모두 이 반응에서 나온다.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전자가 plastoquinone, cytochrome b₆f 복합체, plastocyanin을 거쳐 흐르면서 </a:t>
            </a:r>
            <a:r>
              <a:rPr sz="1400" b="1" i="0">
                <a:solidFill>
                  <a:srgbClr val="11202B"/>
                </a:solidFill>
                <a:latin typeface="Malgun Gothic"/>
                <a:ea typeface="Malgun Gothic"/>
                <a:cs typeface="Malgun Gothic"/>
              </a:rPr>
              <a:t>양성자가 stroma에서 thylakoid 내부로 퍼내진다.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Photosystem I</a:t>
            </a:r>
            <a:r>
              <a:rPr sz="1400" b="0" i="0">
                <a:solidFill>
                  <a:srgbClr val="11202B"/>
                </a:solidFill>
                <a:latin typeface="Malgun Gothic"/>
                <a:ea typeface="Malgun Gothic"/>
                <a:cs typeface="Malgun Gothic"/>
              </a:rPr>
              <a:t>에서 다시 빛을 받아 더 높은 에너지로 들뜬 뒤, ferredoxin을 거쳐 NADP⁺를 환원해 </a:t>
            </a:r>
            <a:r>
              <a:rPr sz="1400" b="1" i="0">
                <a:solidFill>
                  <a:srgbClr val="11202B"/>
                </a:solidFill>
                <a:latin typeface="Malgun Gothic"/>
                <a:ea typeface="Malgun Gothic"/>
                <a:cs typeface="Malgun Gothic"/>
              </a:rPr>
              <a:t>NADPH</a:t>
            </a:r>
            <a:r>
              <a:rPr sz="1400" b="0" i="0">
                <a:solidFill>
                  <a:srgbClr val="11202B"/>
                </a:solidFill>
                <a:latin typeface="Malgun Gothic"/>
                <a:ea typeface="Malgun Gothic"/>
                <a:cs typeface="Malgun Gothic"/>
              </a:rPr>
              <a:t>를 만든다.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 Thylakoid 내부에 모인 양성자가 ATP synthase를 통해 stroma로 돌아가며 </a:t>
            </a:r>
            <a:r>
              <a:rPr sz="1400" b="1" i="0">
                <a:solidFill>
                  <a:srgbClr val="11202B"/>
                </a:solidFill>
                <a:latin typeface="Malgun Gothic"/>
                <a:ea typeface="Malgun Gothic"/>
                <a:cs typeface="Malgun Gothic"/>
              </a:rPr>
              <a:t>ATP</a:t>
            </a:r>
            <a:r>
              <a:rPr sz="1400" b="0" i="0">
                <a:solidFill>
                  <a:srgbClr val="11202B"/>
                </a:solidFill>
                <a:latin typeface="Malgun Gothic"/>
                <a:ea typeface="Malgun Gothic"/>
                <a:cs typeface="Malgun Gothic"/>
              </a:rPr>
              <a:t>를 만든다. 이것을 photophosphorylation이라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암반응(Calvin cycle)</a:t>
            </a:r>
            <a:r>
              <a:rPr sz="1400" b="0" i="0">
                <a:solidFill>
                  <a:srgbClr val="11202B"/>
                </a:solidFill>
                <a:latin typeface="Malgun Gothic"/>
                <a:ea typeface="Malgun Gothic"/>
                <a:cs typeface="Malgun Gothic"/>
              </a:rPr>
              <a:t>은 stroma에서 일어나며 빛을 직접 쓰지 않는다. 명반응이 만든 ATP와 NADPH로 CO₂를 당으로 고정한다. 첫 반응은 </a:t>
            </a:r>
            <a:r>
              <a:rPr sz="1400" b="1" i="0">
                <a:solidFill>
                  <a:srgbClr val="11202B"/>
                </a:solidFill>
                <a:latin typeface="Malgun Gothic"/>
                <a:ea typeface="Malgun Gothic"/>
                <a:cs typeface="Malgun Gothic"/>
              </a:rPr>
              <a:t>rubisco</a:t>
            </a:r>
            <a:r>
              <a:rPr sz="1400" b="0" i="0">
                <a:solidFill>
                  <a:srgbClr val="11202B"/>
                </a:solidFill>
                <a:latin typeface="Malgun Gothic"/>
                <a:ea typeface="Malgun Gothic"/>
                <a:cs typeface="Malgun Gothic"/>
              </a:rPr>
              <a:t>(ribulose-1,5-bisphosphate carboxylase/oxygenase)가 CO₂를 ribulose-1,5-bisphosphate(C5)에 붙여 3-phosphoglycerate(C3) 두 분자를 만드는 것이다. 이후 ATP와 NADPH를 써서 환원하고 C5를 재생한다. CO₂ 한 분자를 고정하는 데 ATP 3개와 NADPH 2개가 든다.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광합성: 명반응과 암반응</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43</a:t>
            </a:r>
          </a:p>
        </p:txBody>
      </p:sp>
      <p:pic>
        <p:nvPicPr>
          <p:cNvPr id="7" name="Picture 6" descr="fig-photosynthesis.slide.png"/>
          <p:cNvPicPr>
            <a:picLocks noChangeAspect="1"/>
          </p:cNvPicPr>
          <p:nvPr/>
        </p:nvPicPr>
        <p:blipFill>
          <a:blip r:embed="rId2"/>
          <a:stretch>
            <a:fillRect/>
          </a:stretch>
        </p:blipFill>
        <p:spPr>
          <a:xfrm>
            <a:off x="1852739" y="1325880"/>
            <a:ext cx="8486216"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광합성의 명반응과 암반응. Thylakoid 막의 photosystem II와 I, 물 분해에서 나오는 O₂, 양성자 기울기와 ATP synthase, 그리고 stroma의 Calvin cycle에서 rubisco가 CO₂를 고정하는 과정을 보인다.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광합성: 명반응과 암반응</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44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Oxidative phosphorylation과의 비교</a:t>
            </a:r>
            <a:r>
              <a:rPr sz="2000" b="0" i="0">
                <a:solidFill>
                  <a:srgbClr val="11202B"/>
                </a:solidFill>
                <a:latin typeface="Malgun Gothic"/>
                <a:ea typeface="Malgun Gothic"/>
                <a:cs typeface="Malgun Gothic"/>
              </a:rPr>
              <a:t>가 이 절의 목적이다. 두 과정은 방향이 반대이지만 원리가 같다.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광합성: 명반응과 암반응</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45</a:t>
            </a:r>
          </a:p>
        </p:txBody>
      </p:sp>
      <p:graphicFrame>
        <p:nvGraphicFramePr>
          <p:cNvPr id="7" name="Table 6"/>
          <p:cNvGraphicFramePr>
            <a:graphicFrameLocks noGrp="1"/>
          </p:cNvGraphicFramePr>
          <p:nvPr/>
        </p:nvGraphicFramePr>
        <p:xfrm>
          <a:off x="548640" y="1280160"/>
          <a:ext cx="11064240" cy="32918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항목</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Oxidative phosphorylation</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광합성의 명반응</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장소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미토콘드리아 내막</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chloroplast thylakoid 막</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에너지원</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유기물의 환원된 전자</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빛</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전자공여체</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NADH, FADH₂</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H₂O</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최종 전자수용체</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O₂ (→ H₂O)</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NADP⁺ (→ NADPH)</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전자의 자유에너지</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내려간다</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빛으로 끌어올린다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양성자가 모이는 곳</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막 사이 공간</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thylakoid 내부</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ATP synthase의 위치</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내막, F₁이 기질 쪽</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thylakoid 막, 머리가 stroma 쪽</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공통 원리</a:t>
                      </a:r>
                    </a:p>
                  </a:txBody>
                  <a:tcPr marL="73152" marR="73152" marT="27432" marB="27432">
                    <a:solidFill>
                      <a:srgbClr val="EFF4F8"/>
                    </a:solidFill>
                  </a:tcPr>
                </a:tc>
                <a:tc>
                  <a:txBody>
                    <a:bodyPr/>
                    <a:lstStyle/>
                    <a:p>
                      <a:r>
                        <a:rPr sz="1200" b="1" i="0">
                          <a:solidFill>
                            <a:srgbClr val="11202B"/>
                          </a:solidFill>
                          <a:latin typeface="Malgun Gothic"/>
                          <a:ea typeface="Malgun Gothic"/>
                          <a:cs typeface="Malgun Gothic"/>
                        </a:rPr>
                        <a:t>chemiosmosis</a:t>
                      </a:r>
                    </a:p>
                  </a:txBody>
                  <a:tcPr marL="73152" marR="73152" marT="27432" marB="27432">
                    <a:solidFill>
                      <a:srgbClr val="EFF4F8"/>
                    </a:solidFill>
                  </a:tcPr>
                </a:tc>
                <a:tc>
                  <a:txBody>
                    <a:bodyPr/>
                    <a:lstStyle/>
                    <a:p>
                      <a:r>
                        <a:rPr sz="1200" b="1" i="0">
                          <a:solidFill>
                            <a:srgbClr val="11202B"/>
                          </a:solidFill>
                          <a:latin typeface="Malgun Gothic"/>
                          <a:ea typeface="Malgun Gothic"/>
                          <a:cs typeface="Malgun Gothic"/>
                        </a:rPr>
                        <a:t>chemiosmosis</a:t>
                      </a:r>
                    </a:p>
                  </a:txBody>
                  <a:tcPr marL="73152" marR="73152" marT="27432" marB="27432">
                    <a:solidFill>
                      <a:srgbClr val="EFF4F8"/>
                    </a:solid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광합성: 명반응과 암반응</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46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두 체계는 모두 </a:t>
            </a:r>
            <a:r>
              <a:rPr sz="2000" b="1" i="0">
                <a:solidFill>
                  <a:srgbClr val="11202B"/>
                </a:solidFill>
                <a:latin typeface="Malgun Gothic"/>
                <a:ea typeface="Malgun Gothic"/>
                <a:cs typeface="Malgun Gothic"/>
              </a:rPr>
              <a:t>막을 가로지르는 양성자 기울기를 매개로 에너지를 전달하고, 회전하는 ATP synthase로 ATP를 만든다.</a:t>
            </a:r>
            <a:r>
              <a:rPr sz="2000" b="0" i="0">
                <a:solidFill>
                  <a:srgbClr val="11202B"/>
                </a:solidFill>
                <a:latin typeface="Malgun Gothic"/>
                <a:ea typeface="Malgun Gothic"/>
                <a:cs typeface="Malgun Gothic"/>
              </a:rPr>
              <a:t> 차이는 전자가 어디서 와서 어디로 가는가, 그리고 그 흐름이 자발적인가 빛으로 밀어 올려야 하는가에 있다. Chemiosmosis가 세균의 막, 미토콘드리아, chloroplast에 공통으로 쓰인다는 사실은 이 기전이 LUCA 단계에서 이미 성립했음을 시사한다.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광합성: 명반응과 암반응</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47</a:t>
            </a:r>
          </a:p>
        </p:txBody>
      </p:sp>
      <p:sp>
        <p:nvSpPr>
          <p:cNvPr id="7" name="Rectangle 6"/>
          <p:cNvSpPr/>
          <p:nvPr/>
        </p:nvSpPr>
        <p:spPr>
          <a:xfrm>
            <a:off x="640080" y="1325880"/>
            <a:ext cx="10881360" cy="1386839"/>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포도당 산화의 네 단계는 탄소를 CO₂로, 전자를 O₂로 보내는 두 흐름으로 요약된다. ATP의 대부분은 기질 수준의 인산화가 아니라 양성자 기울기를 매개한 chemiosmosis로 만들어지고, 그 기울기를 만드는 것은 전자가 전위를 따라 내려가며 내놓는 에너지다. 광합성은 같은 chemiosmosis를 쓰면서 전자를 빛으로 끌어올려 방향만 거꾸로 돌린 체계다.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연료 선택과 연결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48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마지막으로 이 수업의 경로들이 </a:t>
            </a:r>
            <a:r>
              <a:rPr sz="1400" b="1" i="0">
                <a:solidFill>
                  <a:srgbClr val="11202B"/>
                </a:solidFill>
                <a:latin typeface="Malgun Gothic"/>
                <a:ea typeface="Malgun Gothic"/>
                <a:cs typeface="Malgun Gothic"/>
              </a:rPr>
              <a:t>언제 쓰이는지</a:t>
            </a:r>
            <a:r>
              <a:rPr sz="1400" b="0" i="0">
                <a:solidFill>
                  <a:srgbClr val="11202B"/>
                </a:solidFill>
                <a:latin typeface="Malgun Gothic"/>
                <a:ea typeface="Malgun Gothic"/>
                <a:cs typeface="Malgun Gothic"/>
              </a:rPr>
              <a:t>를 한자리에 모은다. 세포와 조직은 연료를 동시에 똑같이 쓰지 않고 상황에 따라 고른다.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조절의 중심에 있는 관계가 </a:t>
            </a:r>
            <a:r>
              <a:rPr sz="1400" b="1" i="0">
                <a:solidFill>
                  <a:srgbClr val="11202B"/>
                </a:solidFill>
                <a:latin typeface="Malgun Gothic"/>
                <a:ea typeface="Malgun Gothic"/>
                <a:cs typeface="Malgun Gothic"/>
              </a:rPr>
              <a:t>포도당과 지방산 사이의 상호 억제</a:t>
            </a:r>
            <a:r>
              <a:rPr sz="1400" b="0" i="0">
                <a:solidFill>
                  <a:srgbClr val="11202B"/>
                </a:solidFill>
                <a:latin typeface="Malgun Gothic"/>
                <a:ea typeface="Malgun Gothic"/>
                <a:cs typeface="Malgun Gothic"/>
              </a:rPr>
              <a:t>다. 지방산 산화가 활발하면 acetyl-CoA와 NADH, citrate가 쌓이고, 이들이 pyruvate dehydrogenase를 억제하고 phosphofructokinase-1을 억제해 포도당의 산화를 줄인다. 반대로 포도당이 풍부하면 insulin이 malonyl-CoA를 늘려 CPT1을 억제하고 지방산 산화를 끈다. </a:t>
            </a:r>
            <a:r>
              <a:rPr sz="1400" b="1" i="0">
                <a:solidFill>
                  <a:srgbClr val="11202B"/>
                </a:solidFill>
                <a:latin typeface="Malgun Gothic"/>
                <a:ea typeface="Malgun Gothic"/>
                <a:cs typeface="Malgun Gothic"/>
              </a:rPr>
              <a:t>두 연료가 서로를 끄는 되먹임</a:t>
            </a:r>
            <a:r>
              <a:rPr sz="1400" b="0" i="0">
                <a:solidFill>
                  <a:srgbClr val="11202B"/>
                </a:solidFill>
                <a:latin typeface="Malgun Gothic"/>
                <a:ea typeface="Malgun Gothic"/>
                <a:cs typeface="Malgun Gothic"/>
              </a:rPr>
              <a:t>이며, 이 때문에 혈중 지방산이 높은 상태(비만, 공복)에서 근육의 포도당 이용이 떨어진다. 2형 당뇨병의 인슐린 저항성을 설명하는 여러 모형 가운데 하나가 이 축이다.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조직별 선택도 정해져 있다. 뇌는 포도당을 주로 쓰고 지방산을 쓰지 못하며, 공복이 길어지면 ketone body로 일부를 대체한다. 적혈구는 미토콘드리아가 없어 glycolysis만 쓴다. 심근은 지방산을 선호하고 젖산도 쓴다. 골격근은 상황에 따라 바꾸며, 격렬한 운동에서는 glycolysis에 의존해 젖산을 낸다. 간은 자기 연료를 쓰는 것보다 </a:t>
            </a:r>
            <a:r>
              <a:rPr sz="1400" b="1" i="0">
                <a:solidFill>
                  <a:srgbClr val="11202B"/>
                </a:solidFill>
                <a:latin typeface="Malgun Gothic"/>
                <a:ea typeface="Malgun Gothic"/>
                <a:cs typeface="Malgun Gothic"/>
              </a:rPr>
              <a:t>다른 조직에 연료를 공급하는 일</a:t>
            </a:r>
            <a:r>
              <a:rPr sz="1400" b="0" i="0">
                <a:solidFill>
                  <a:srgbClr val="11202B"/>
                </a:solidFill>
                <a:latin typeface="Malgun Gothic"/>
                <a:ea typeface="Malgun Gothic"/>
                <a:cs typeface="Malgun Gothic"/>
              </a:rPr>
              <a:t>을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수업이 이어지는 곳은 다음과 같다.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M01-W09-L02 생체에너지: 자유에너지와 ATP</a:t>
            </a:r>
            <a:r>
              <a:rPr sz="1400" b="0" i="0">
                <a:solidFill>
                  <a:srgbClr val="11202B"/>
                </a:solidFill>
                <a:latin typeface="Malgun Gothic"/>
                <a:ea typeface="Malgun Gothic"/>
                <a:cs typeface="Malgun Gothic"/>
              </a:rPr>
              <a:t> — 여기서 쓴 ΔG, 환원 전위, 조절 지점의 판정 기준이 거기에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M01-W04-L02 대사의 기초</a:t>
            </a:r>
            <a:r>
              <a:rPr sz="1400" b="0" i="0">
                <a:solidFill>
                  <a:srgbClr val="11202B"/>
                </a:solidFill>
                <a:latin typeface="Malgun Gothic"/>
                <a:ea typeface="Malgun Gothic"/>
                <a:cs typeface="Malgun Gothic"/>
              </a:rPr>
              <a:t> — 섭식과 공복의 전환, 전신 수준의 연료 분배를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M01-W10-L01 미토콘드리아·엽록체·퍼옥시좀</a:t>
            </a:r>
            <a:r>
              <a:rPr sz="1400" b="0" i="0">
                <a:solidFill>
                  <a:srgbClr val="11202B"/>
                </a:solidFill>
                <a:latin typeface="Malgun Gothic"/>
                <a:ea typeface="Malgun Gothic"/>
                <a:cs typeface="Malgun Gothic"/>
              </a:rPr>
              <a:t> — 양성자 기울기를 만드는 구조, 짝풀림과 열 생산, 퍼옥시좀의 지방산 산화를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M01-W10-L03 원형질막과 막수송</a:t>
            </a:r>
            <a:r>
              <a:rPr sz="1400" b="0" i="0">
                <a:solidFill>
                  <a:srgbClr val="11202B"/>
                </a:solidFill>
                <a:latin typeface="Malgun Gothic"/>
                <a:ea typeface="Malgun Gothic"/>
                <a:cs typeface="Malgun Gothic"/>
              </a:rPr>
              <a:t> — 포도당 수송체와 이차 능동수송을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M01-W11-L02 세포 신호전달</a:t>
            </a:r>
            <a:r>
              <a:rPr sz="1400" b="0" i="0">
                <a:solidFill>
                  <a:srgbClr val="11202B"/>
                </a:solidFill>
                <a:latin typeface="Malgun Gothic"/>
                <a:ea typeface="Malgun Gothic"/>
                <a:cs typeface="Malgun Gothic"/>
              </a:rPr>
              <a:t> — insulin 신호, AMPK, mTORC1이 대사를 전환하는 경로를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M01-W12-L03 암의 세포생물학</a:t>
            </a:r>
            <a:r>
              <a:rPr sz="1400" b="0" i="0">
                <a:solidFill>
                  <a:srgbClr val="11202B"/>
                </a:solidFill>
                <a:latin typeface="Malgun Gothic"/>
                <a:ea typeface="Malgun Gothic"/>
                <a:cs typeface="Malgun Gothic"/>
              </a:rPr>
              <a:t> — 종양의 대사 재편을 분열의 요구와 함께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M02-W09-L03 당대사 질환</a:t>
            </a:r>
            <a:r>
              <a:rPr sz="1400" b="0" i="0">
                <a:solidFill>
                  <a:srgbClr val="11202B"/>
                </a:solidFill>
                <a:latin typeface="Malgun Gothic"/>
                <a:ea typeface="Malgun Gothic"/>
                <a:cs typeface="Malgun Gothic"/>
              </a:rPr>
              <a:t> — 당뇨병의 병태생리와 ketoacidosis, 젖산산증의 임상 접근을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M03-W02-L01 대사의 통합과 조절</a:t>
            </a:r>
            <a:r>
              <a:rPr sz="1400" b="0" i="0">
                <a:solidFill>
                  <a:srgbClr val="11202B"/>
                </a:solidFill>
                <a:latin typeface="Malgun Gothic"/>
                <a:ea typeface="Malgun Gothic"/>
                <a:cs typeface="Malgun Gothic"/>
              </a:rPr>
              <a:t> — 조직 사이의 연료 교환과 호르몬 조절을 종합한다.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M03-W02-L02 에너지대사와 미토콘드리아 질환</a:t>
            </a:r>
            <a:r>
              <a:rPr sz="1400" b="0" i="0">
                <a:solidFill>
                  <a:srgbClr val="11202B"/>
                </a:solidFill>
                <a:latin typeface="Malgun Gothic"/>
                <a:ea typeface="Malgun Gothic"/>
                <a:cs typeface="Malgun Gothic"/>
              </a:rPr>
              <a:t> — 호흡 사슬 결손의 유전과 임상 양상을 다룬다.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49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생후 10개월 영아가 밤새 금식한 뒤 아침에 처짐과 경련으로 왔다. 혈당 35 mg/dL, 혈중 ketone은 거의 검출되지 않았고 간이 커져 있었다. 가능한 진단군과 그 기전, 확진 검사를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지방산 산화 결손이다. 저혈당과 함께 ketone이 낮은 조합(저ketone성 저혈당)이 결정적 단서다. 금식이 길어지면 정상적으로는 지방 분해가 일어나 지방산이 간에서 β-산화되고, 그 산물인 acetyl-CoA가 ketone body로 전환되어 뇌가 쓸 연료가 되며, 동시에 생성된 NADH와 acetyl-CoA가 gluconeogenesis를 받쳐 준다. 산화가 막히면 ketone을 만들 수 없고 gluconeogenesis도 받쳐지지 않아 저혈당이 심해지며, 축적된 지방산과 그 대사물이 간과 심근에 독성을 준다. 간비대와 심근병증, 횡문근 분해가 함께 나타나는 이유다. 확진은 혈중 acylcarnitine 양상을 질량분석으로 보는 것이다. 중간 사슬 acylcarnitine이 쌓이면 MCAD 결핍, 장쇄가 쌓이면 CPT2나 CACT, VLCAD 결핍을 시사하고, carnitine이 매우 낮으면 일차성 carnitine 결핍을 생각한다. 소변 유기산 분석과 유전자 검사로 확정한다. 급성기 처치는 포도당 정주이고, 장기 관리의 핵심은 금식을 피하는 것이다. 장쇄 결손에서는 carnitine shuttle을 거치지 않는 중간 사슬 지방산으로 열량을 보충하지만, MCAD 결핍에서는 금기다.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50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Malonyl-CoA가 CPT1을 억제하는 조절의 의미를 설명하고, 이 조절이 없다면 어떤 문제가 생길지 쓰라.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Malonyl-CoA는 지방산 합성의 첫 중간체이므로, 그 농도가 높다는 것은 세포가 지방산을 만들고 있다는 뜻이다. CPT1은 긴 사슬 acyl-CoA를 미토콘드리아로 들여보내는 rate-limiting step이므로, 이를 억제하면 지방산 산화가 멈춘다. 즉 </a:t>
            </a:r>
            <a:r>
              <a:rPr sz="1500" b="1" i="0">
                <a:solidFill>
                  <a:srgbClr val="11202B"/>
                </a:solidFill>
                <a:latin typeface="Malgun Gothic"/>
                <a:ea typeface="Malgun Gothic"/>
                <a:cs typeface="Malgun Gothic"/>
              </a:rPr>
              <a:t>합성과 분해가 동시에 일어나지 않도록 하는 장치</a:t>
            </a:r>
            <a:r>
              <a:rPr sz="1500" b="0" i="0">
                <a:solidFill>
                  <a:srgbClr val="11202B"/>
                </a:solidFill>
                <a:latin typeface="Malgun Gothic"/>
                <a:ea typeface="Malgun Gothic"/>
                <a:cs typeface="Malgun Gothic"/>
              </a:rPr>
              <a:t>다. 이 조절이 없다면 지방산을 만들면서 동시에 태우는 무익한 순환이 생겨, 알짜 변화 없이 ATP와 NADPH만 소모된다. 지방산 하나를 만드는 데 ATP와 NADPH가 투입되고 태우면 ATP가 나오지만, 두 과정의 효율이 100%가 아니므로 순환이 돌 때마다 에너지가 열로 빠져나간다. 조절의 생리적 맥락도 분명하다. 식후에는 insulin이 acetyl-CoA carboxylase를 활성화해 malonyl-CoA를 늘리므로 산화가 꺼지고 저장이 켜진다. 공복에는 glucagon과 AMPK가 그 효소를 인산화해 불활성화하므로 malonyl-CoA가 줄고 산화가 켜진다. 하나의 중간체 농도가 두 경로의 방향을 반대로 돌리는 스위치로 쓰이는 전형적인 설계다.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51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G6PD 결핍 환자가 감염 후 급성 용혈로 왔다. 이때 측정한 G6PD 활성이 정상 범위로 나올 수 있는 이유와, 적혈구가 특히 취약한 이유를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활성이 정상으로 나올 수 있는 이유는 검사 대상 세포가 바뀌어 있기 때문이다. 흔한 변이형에서 효소는 불안정해 적혈구가 나이 들수록 활성이 떨어지므로, 산화 부담이 걸리면 오래된 적혈구가 먼저 파괴된다. 급성 용혈 중에는 그 세포들이 이미 제거되고 골수가 내보낸 어린 적혈구와 망상적혈구가 혈액을 채우는데, 이들은 효소 활성이 높다. 따라서 급성기에 측정한 평균 활성이 정상으로 나올 수 있고, 2~3개월 뒤 적혈구 연령 분포가 정상으로 돌아온 다음 다시 측정해야 한다. 적혈구가 취약한 이유는 두 가지다. 미토콘드리아가 없어 NADPH를 pentose phosphate 경로에서만 얻으므로 다른 공급원이 없고, 핵이 없어 효소를 새로 만들 수 없다. NADPH는 산화된 glutathione을 환원하는 데 쓰이므로 공급이 끊기면 환원형 glutathione이 바닥나고, hemoglobin이 산화·변성되어 Heinz body로 침전하며 막이 손상되어 용혈이 일어난다. 대식세포가 침전물을 뜯어낸 bite cell이 말초혈액 도말에서 관찰된다. 관리의 핵심은 유발 인자를 피하는 것이다.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52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간에서 ketone body가 만들어지는데 간은 그것을 쓰지 못한다. 이 배치의 의미를 설명하고, 생리적 적응과 당뇨병성 ketoacidosis의 차이를 쓰라.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간은 ketone body를 다시 acetyl-CoA로 되돌리는 효소(SCOT)가 없어 자기가 만든 ketone을 쓸 수 없다. 이 배치는 간이 자기 연료를 소비하지 않고 다른 조직에 연료를 공급하는 기관이라는 역할과 일치한다. 공복이 길어지면 지방 분해로 지방산이 간에 몰리고, β-산화로 생긴 acetyl-CoA가 TCA cycle의 처리 용량을 넘어 ketone body로 전환되어 혈액으로 나간다. 뇌는 지방산을 쓰지 못하지만 ketone은 쓸 수 있으므로, 이 전환이 포도당 요구를 줄여 근육 단백질의 분해를 아껴 준다. 즉 생리적 적응이다. 차이는 양과 조절에 있다. 정상 공복에서는 남아 있는 insulin이 지방 분해를 제한하므로 ketone 농도가 수 mM 수준에서 멈추고 혈액 pH가 유지된다. 1형 당뇨병에서 insulin이 거의 없으면 지방 분해가 억제되지 않아 ketone 생산이 폭주하고, acetoacetate와 β-hydroxybutyrate가 산이므로 농도가 10 mM을 넘으면 완충 능력을 넘겨 음이온 간격이 증가한 대사성 산증이 된다. 동시에 포도당이 이용되지 못해 고혈당과 삼투성 다뇨, 탈수가 겹친다. 치료가 insulin과 수분·전해질 보충인 이유는 두 기전을 함께 끊어야 하기 때문이다.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53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적혈구는 산소가 충분한 혈액 안에서도 pyruvate를 lactate로 바꾼다. 그 이유와, 이 경로로 얻는 것이 무엇인지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적혈구에는 미토콘드리아가 없어 pyruvate를 acetyl-CoA로 바꾸어 TCA cycle과 oxidative phosphorylation으로 보낼 수 없다. 따라서 ATP를 glycolysis만으로 얻는데, glycolysis의 6단계에서 NAD⁺가 NADH로 환원되므로 NAD⁺를 다시 산화형으로 되돌리지 않으면 경로가 곧 멈춘다. Lactate dehydrogenase가 pyruvate를 lactate로 환원하면서 NADH를 NAD⁺로 되돌리므로 glycolysis가 계속 돌 수 있다. 이 반응 자체는 ATP를 만들지 않으며, 얻는 것은 ATP가 아니라 재생된 NAD⁺다.</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54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2,4-dinitrophenol을 세포에 가하면 산소 소모는 늘어나는데 ATP 생산은 줄어든다. 이 현상을 chemiosmotic 가설로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2,4-Dinitrophenol은 양성자를 운반하는 지용성 약산으로, 막 사이 공간에서 양성자를 받아 내막을 그냥 통과한 뒤 기질에서 양성자를 내놓는다. 그 결과 양성자 기울기가 사라진다. Chemiosmotic 가설에서 ATP 합성의 직접적인 구동력은 전자 전달 자체가 아니라 양성자가 ATP synthase를 통해 되돌아 들어오는 흐름이므로, 기울기가 없으면 ATP가 만들어지지 않는다. 동시에 기울기가 전자 전달에 걸던 역압이 사라져 복합체 I·III·IV가 최대 속도로 작동하고 산소 소모가 늘어난다. 전자 전달의 에너지는 모두 열로 나가므로 치명적 고열이 생긴다. 이 화합물이 전자 전달과 ATP 합성이 별개의 과정이며 양성자 기울기로만 연결된다는 증거가 된다.</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55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Racker와 Stoeckenius가 bacteriorhodopsin과 소 미토콘드리아의 ATP synthase를 함께 넣은 인공 소포에 빛을 비추어 ATP를 얻은 실험이, chemiosmotic 가설의 결정적 근거가 되는 이유를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이 계에는 미토콘드리아의 electron transport chain 복합체가 전혀 없고, 서로 다른 생물에서 온 두 단백질만 들어 있다. Bacteriorhodopsin은 빛을 받아 양성자를 소포 안으로 퍼내는 일만 하고, ATP synthase는 양성자가 되돌아 들어오는 흐름으로 ATP를 만드는 일만 한다. 그런데도 빛을 비추면 ATP가 만들어졌다. 즉 두 단백질 사이에 직접적인 접촉이나 고에너지 화학 중간체가 없어도, 양성자 기울기만으로 에너지가 전달된다는 것이 증명되었다. 이는 전자 전달과 ATP 합성을 잇는 매개가 화학 중간체가 아니라 막을 가로지르는 양성자의 전기화학적 기울기라는 Mitchell의 주장을 직접 뒷받침한다.</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56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Phosphofructokinase-1이 ATP에 의해 억제되는데 ATP는 이 효소의 기질이기도 하다. 모순이 아닌 이유와 이 조절의 생리적 의미를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ATP가 두 곳에 결합하기 때문이다. 활성 부위에서는 기질로 작용하고, 활성 부위가 아닌 allosteric 부위에서는 억제자로 작용한다. Allosteric 부위의 ATP 친화도가 낮으므로 ATP가 충분히 높을 때만 억제가 나타난다. 생리적 의미는 glycolysis의 속도를 기질 공급이 아니라 세포의 에너지 상태로 결정하는 데 있다. ATP가 많으면 에너지가 충분하므로 경로를 줄이고, AMP와 ADP가 늘면 억제가 풀려 경로가 빨라진다. 같은 논리로 citrate가 억제자인 것은 TCA cycle 중간체가 이미 쌓여 있다는 신호이고, fructose-2,6-bisphosphate가 활성화자인 것은 insulin 신호를 경로로 전달하는 장치다.</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Q9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57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환자가 cyanide에 노출되었다. 정맥혈 산소포화도가 비정상적으로 높고 혈중 lactate가 급격히 올라갔다. 두 소견을 하나의 기전으로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Cyanide는 복합체 IV(cytochrome c oxidase)의 heme 철에 결합해 전자가 O₂로 전달되는 마지막 단계를 차단한다. 조직은 혈액으로 운반된 산소를 쓸 수 없으므로 산소가 거의 소모되지 않고 정맥으로 되돌아가며, 그 결과 정맥혈 산소포화도가 비정상적으로 높게 유지된다. 동시에 oxidative phosphorylation이 멈추면 NADH가 재산화되지 않아 TCA cycle이 멈추고, 세포는 ATP를 glycolysis와 lactate 발효에만 의존한다. Lactate dehydrogenase가 NAD⁺를 재생하면서 lactate를 대량으로 내놓으므로 혈중 lactate가 급격히 올라가 lactic acidosis가 된다. 두 소견 모두 조직이 산소를 쓸 수 없는 상태, 즉 조직 저산소가 아니라 세포 호흡 차단의 결과다.</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Q10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58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광합성의 명반응과 미토콘드리아의 oxidative phosphorylation을 전자의 출발점·도착점과 자유에너지 변화 방향으로 비교하라.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Oxidative phosphorylation에서 전자는 NADH(E°′ −0.32 V)와 FADH₂에서 출발해 O₂(+0.82 V)로 흐른다. 전위가 낮은 쪽에서 높은 쪽으로 가므로 자발적이고 자유에너지가 내려가며, 그 에너지로 양성자를 퍼낸다. 광합성의 명반응에서 전자는 H₂O(+0.82 V)에서 출발해 NADP⁺(−0.32 V)로 간다. 전위가 높은 쪽에서 낮은 쪽으로 가는 비자발적 방향이므로, photosystem II와 I이 빛 에너지로 전자를 두 번 들뜨게 해 에너지를 끌어올린다. 즉 두 과정은 같은 전위 범위를 반대 방향으로 지나며, 전자의 자유에너지가 내려가는지 올라가는지가 결정적 차이다. 공통점은 둘 다 전자 흐름을 막을 가로지르는 양성자 기울기로 바꾸고, 그 기울기로 회전형 ATP synthase를 돌려 ATP를 만든다는 점, 즉 chemiosmosis다.</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59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Cooper GM, Adams K. The Cell: A Molecular Approach. 9th ed. Oxford University Press; 2022. Chapter 3, Bioenergetics and Metabolism; Chapter 11, Mitochondria, Chloroplasts and Peroxisomes.</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Alberts B, Heald R, Johnson A, et al. Molecular Biology of the Cell. 7th ed. W.W. Norton; 2022. Chapter 14, Energy Conversion: Mitochondria and Chloroplasts.</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Mitchell P. Coupling of phosphorylation to electron and hydrogen transfer by a chemi-osmotic type of mechanism. Nature 1961;191:144–148.</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Racker E, Stoeckenius W. Reconstitution of purple membrane vesicles catalyzing light-driven proton uptake and adenosine triphosphate formation. J Biol Chem 1974;249:662–663.</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Boyer PD. The ATP synthase: a splendid molecular machine. Annu Rev Biochem 1997;66:717–749.</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Hinkle PC. P/O ratios of mitochondrial oxidative phosphorylation. Biochim Biophys Acta 2005;1706:1–11.</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Vander Heiden MG, Cantley LC, Thompson CB. Understanding the Warburg effect: the metabolic requirements of cell proliferation. Science 2009;324:1029–1033.</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Nelson DL, Cox MM. Lehninger Principles of Biochemistry. 8th ed. Macmillan; 2021. Chapter 14, Glycolysis; Chapter 17, Fatty Acid Catabolism; Chapter 19, Oxidative Phosphorylation.</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M01-W09-L03  ·  Glycolysis·oxidative phosphorylation과 광합성 개요</a:t>
            </a:r>
            <a:r>
              <a:rPr sz="900" b="1" i="0">
                <a:solidFill>
                  <a:srgbClr val="003C71"/>
                </a:solidFill>
                <a:latin typeface="Malgun Gothic"/>
                <a:ea typeface="Malgun Gothic"/>
                <a:cs typeface="Malgun Gothic"/>
              </a:rPr>
              <a:t>      60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Houten SM, Wanders RJA. A general introduction to the biochemistry of mitochondrial fatty acid β-oxidation. J Inherit Metab Dis 2010;33:469–477.</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Luzzatto L, Ally M, Notaro R. Glucose-6-phosphate dehydrogenase deficiency. Blood 2020;136:1225–1240.</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Vander Heiden MG, Cantley LC, Thompson CB. Understanding the Warburg effect: the metabolic requirements of cell proliferation. Science 2009;324:1029–1033.</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Letts JA, Sazanov LA. Clarifying the supercomplex: the higher-order organization of the mitochondrial electron transport chain. Nat Struct Mol Biol 2017;24:800–808.</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Murphy MP. How mitochondria produce reactive oxygen species. Biochem J 2009;417:1–13.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