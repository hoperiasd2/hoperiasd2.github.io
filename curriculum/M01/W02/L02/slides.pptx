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신경 신호 전달과 내분비 신호 전달의 비교. 표적 지정 방식, 전달 속도, 작용 범위의 차이를 그림으로 나타내고, 수용체의 존재가 표적을 결정한다는 원리를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호르몬 세 부류의 구조와 그 구조에서 따라 나오는 성질의 연쇄. 용해도에서 운반 방식, 반감기, 수용체 위치, 작용 방식, 반응 속도로 이어지는 논리적 연결을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세포막 수용체와 핵 수용체의 두 경로. cAMP·IP3/Ca2+·수용체 tyrosine kinase 세 가지 막 수용체 경로의 단계, 단계마다 일어나는 증폭, 그리고 핵 수용체가 전사를 조절하는 경로와 두 경로의 반응 속도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음성 되먹임의 세 요소와 시상하부–뇌하수체–표적기관 축의 계층 구조. 짧은 고리와 긴 고리 되먹임의 작용 지점, 세 주요 축의 호르몬 이름, 그리고 양성 되먹임의 두 사례를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뇌하수체 전엽과 후엽의 발생학적 기원 차이와 그에 따른 작동 방식의 차이. 전엽의 hypophyseal portal system과 후엽의 축삭 수송 경로, 각 엽에서 나오는 호르몬 목록, 그리고 prolactin이 억제 신호로 조절되는 예외를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갑상샘 호르몬의 합성 다섯 단계. Follicle과 colloid의 구조, NIS에 의한 iodide 농축, TPO의 유기화와 결합 반응, thyroglobulin에 저장된 형태, 그리고 T4가 표적 조직에서 deiodinase에 의해 활성형 T3로 전환되는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부신 겉질 세 층과 속질의 구분. 각 층에서 생산되는 호르몬과 조절 자극, cholesterol에서 갈라지는 합성 경로, cortisol의 대사 작용 네 방향, 그리고 일중 변동 곡선을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내분비계 요약: 호르몬과 되먹임</a:t>
            </a:r>
          </a:p>
          <a:p>
            <a:r>
              <a:rPr sz="1500" b="0" i="0">
                <a:solidFill>
                  <a:srgbClr val="B9D2E8"/>
                </a:solidFill>
                <a:latin typeface="Malgun Gothic"/>
                <a:ea typeface="Malgun Gothic"/>
                <a:cs typeface="Malgun Gothic"/>
              </a:rPr>
              <a:t>The Endocrine System: Hormones and Feedback</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M01-W02-L02  ·  1부</a:t>
            </a:r>
          </a:p>
          <a:p>
            <a:r>
              <a:rPr sz="1100" b="0" i="0">
                <a:solidFill>
                  <a:srgbClr val="F2B705"/>
                </a:solidFill>
                <a:latin typeface="Malgun Gothic"/>
                <a:ea typeface="Malgun Gothic"/>
                <a:cs typeface="Malgun Gothic"/>
              </a:rPr>
              <a:t>전체 13절 가운데 7절</a:t>
            </a:r>
          </a:p>
          <a:p>
            <a:r>
              <a:rPr sz="1100" b="0" i="0">
                <a:solidFill>
                  <a:srgbClr val="9FBEDA"/>
                </a:solidFill>
                <a:latin typeface="Malgun Gothic"/>
                <a:ea typeface="Malgun Gothic"/>
                <a:cs typeface="Malgun Gothic"/>
              </a:rPr>
              <a:t>2주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내분비 신호 전달을 신경 신호 전달과 네 가지 기준으로 비교하고 각 방식이 적합한 상황을 구분한다.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호르몬을 화학 구조에 따라 세 부류로 나누고 각 부류의 용해도·운반 방식·반감기·수용체 위치를 표로 정리한다.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수용체가 세포막에 있는 경우와 핵 안에 있는 경우의 신호 전달 경로와 반응 속도 차이를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음성 되먹임의 구조를 세 요소로 나누어 설명하고 시상하부–뇌하수체–표적기관 축에서 되먹임이 작용하는 지점을 지목한다.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뇌하수체 전엽과 후엽의 발생학적·구조적 차이를 설명하고 각 엽에서 나오는 호르몬을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갑상샘 호르몬의 합성 단계를 순서대로 쓰고 T4와 T3의 관계를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부신 겉질의 세 층에서 나오는 호르몬을 구분하고 cortisol의 대사 작용을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혈당 조절에서 insulin과 glucagon이 작용하는 기관과 경로를 구분해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호르몬 분비 이상을 과다와 부족으로 나누고 되먹임 축의 어느 지점에 문제가 있는지로 원발성과 이차성을 구분한다.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호르몬 작용의 세 가지 상호작용 양식을 정의하고 사례를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RAAS, aldosterone, 혈압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M01-W02-L01 신장 요약 — aldosterone과 ADH의 작용 지점, vitamin D 활성화, PTH</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세포막 수송과 수용체의 기본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내분비 신호 전달이 해결하는 문제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호르몬의 세 부류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수용체와 신호 전달</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음성 되먹임과 시상하부–뇌하수체 축</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뇌하수체: 두 개의 서로 다른 기관</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갑상샘 호르몬</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부신: 겉질과 속질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내분비 신호 전달이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다세포 생물의 세포들은 서로 조율되어야 한다. 조율의 방식은 두 가지이며, 둘은 경쟁 관계가 아니라 </a:t>
            </a:r>
            <a:r>
              <a:rPr sz="2000" b="1" i="0">
                <a:solidFill>
                  <a:srgbClr val="11202B"/>
                </a:solidFill>
                <a:latin typeface="Malgun Gothic"/>
                <a:ea typeface="Malgun Gothic"/>
                <a:cs typeface="Malgun Gothic"/>
              </a:rPr>
              <a:t>서로 다른 종류의 문제에 적합한 서로 다른 해법</a:t>
            </a:r>
            <a:r>
              <a:rPr sz="2000" b="0" i="0">
                <a:solidFill>
                  <a:srgbClr val="11202B"/>
                </a:solidFill>
                <a:latin typeface="Malgun Gothic"/>
                <a:ea typeface="Malgun Gothic"/>
                <a:cs typeface="Malgun Gothic"/>
              </a:rPr>
              <a:t>이다.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신경 신호 전달</a:t>
            </a:r>
            <a:r>
              <a:rPr sz="2000" b="0" i="0">
                <a:solidFill>
                  <a:srgbClr val="11202B"/>
                </a:solidFill>
                <a:latin typeface="Malgun Gothic"/>
                <a:ea typeface="Malgun Gothic"/>
                <a:cs typeface="Malgun Gothic"/>
              </a:rPr>
              <a:t>은 특정 세포에 전기 신호를 보내 즉시 반응을 일으킨다. </a:t>
            </a:r>
            <a:r>
              <a:rPr sz="2000" b="1" i="0">
                <a:solidFill>
                  <a:srgbClr val="11202B"/>
                </a:solidFill>
                <a:latin typeface="Malgun Gothic"/>
                <a:ea typeface="Malgun Gothic"/>
                <a:cs typeface="Malgun Gothic"/>
              </a:rPr>
              <a:t>내분비 신호 전달</a:t>
            </a:r>
            <a:r>
              <a:rPr sz="2000" b="0" i="0">
                <a:solidFill>
                  <a:srgbClr val="11202B"/>
                </a:solidFill>
                <a:latin typeface="Malgun Gothic"/>
                <a:ea typeface="Malgun Gothic"/>
                <a:cs typeface="Malgun Gothic"/>
              </a:rPr>
              <a:t>은 호르몬을 혈액에 풀어 그 수용체를 가진 모든 세포에 작용한다. 네 기준으로 비교하면 차이가 분명해진다.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내분비 신호 전달이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기준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신경</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내분비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표적의 지정 방식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해부학적 연결 (축삭이 닿는 곳)</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수용체의 존재 (수용체를 가진 모든 세포)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전달 속도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밀리초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초~시간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작용 지속 시간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짧음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적합한 과제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빠르고 국소적인 반응</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느리고 전신적·지속적인 조절</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내분비 신호 전달이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비교에서 중요한 결론이 나온다. </a:t>
            </a:r>
            <a:r>
              <a:rPr sz="1600" b="1" i="0">
                <a:solidFill>
                  <a:srgbClr val="11202B"/>
                </a:solidFill>
                <a:latin typeface="Malgun Gothic"/>
                <a:ea typeface="Malgun Gothic"/>
                <a:cs typeface="Malgun Gothic"/>
              </a:rPr>
              <a:t>내분비 신호에서 표적을 정하는 것은 호르몬이 아니라 수용체다.</a:t>
            </a:r>
            <a:r>
              <a:rPr sz="1600" b="0" i="0">
                <a:solidFill>
                  <a:srgbClr val="11202B"/>
                </a:solidFill>
                <a:latin typeface="Malgun Gothic"/>
                <a:ea typeface="Malgun Gothic"/>
                <a:cs typeface="Malgun Gothic"/>
              </a:rPr>
              <a:t> 호르몬은 혈액을 타고 몸 전체를 돌지만, 수용체가 없는 세포는 그 호르몬을 느끼지 못한다. 반대로 한 호르몬이 여러 기관의 수용체에 작용해 서로 다른 효과를 낼 수도 있다. Angiotensin II가 혈관에서는 수축을, 부신에서는 aldosterone 분비를, 시상하부에서는 갈증을 일으키는 것이 그 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내분비 신호 전달이 적합한 과제는 다음과 같은 성질을 가진다. 여러 기관이 동시에 같은 방향으로 움직여야 하고, 효과가 오래 유지되어야 하고, 반응의 세기를 연속적으로 조절할 수 있어야 한다. 성장, 대사, 생식, 체액량 조절이 모두 이 성질을 가진다.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용어를 구분해야 한다. </a:t>
            </a:r>
            <a:r>
              <a:rPr sz="1600" b="1" i="0">
                <a:solidFill>
                  <a:srgbClr val="11202B"/>
                </a:solidFill>
                <a:latin typeface="Malgun Gothic"/>
                <a:ea typeface="Malgun Gothic"/>
                <a:cs typeface="Malgun Gothic"/>
              </a:rPr>
              <a:t>내분비(endocrine)</a:t>
            </a:r>
            <a:r>
              <a:rPr sz="1600" b="0" i="0">
                <a:solidFill>
                  <a:srgbClr val="11202B"/>
                </a:solidFill>
                <a:latin typeface="Malgun Gothic"/>
                <a:ea typeface="Malgun Gothic"/>
                <a:cs typeface="Malgun Gothic"/>
              </a:rPr>
              <a:t> 는 호르몬을 혈액으로 내보내 멀리 있는 표적에 작용하는 방식이다. </a:t>
            </a:r>
            <a:r>
              <a:rPr sz="1600" b="1" i="0">
                <a:solidFill>
                  <a:srgbClr val="11202B"/>
                </a:solidFill>
                <a:latin typeface="Malgun Gothic"/>
                <a:ea typeface="Malgun Gothic"/>
                <a:cs typeface="Malgun Gothic"/>
              </a:rPr>
              <a:t>외분비(exocrine)</a:t>
            </a:r>
            <a:r>
              <a:rPr sz="1600" b="0" i="0">
                <a:solidFill>
                  <a:srgbClr val="11202B"/>
                </a:solidFill>
                <a:latin typeface="Malgun Gothic"/>
                <a:ea typeface="Malgun Gothic"/>
                <a:cs typeface="Malgun Gothic"/>
              </a:rPr>
              <a:t> 는 관을 통해 체외나 소화관 lumen으로 분비하는 방식이며, 소화 효소가 그 예다. 그 밖에 분비한 세포 주위의 세포에 작용하는 </a:t>
            </a:r>
            <a:r>
              <a:rPr sz="1600" b="1" i="0">
                <a:solidFill>
                  <a:srgbClr val="11202B"/>
                </a:solidFill>
                <a:latin typeface="Malgun Gothic"/>
                <a:ea typeface="Malgun Gothic"/>
                <a:cs typeface="Malgun Gothic"/>
              </a:rPr>
              <a:t>paracrine</a:t>
            </a:r>
            <a:r>
              <a:rPr sz="1600" b="0" i="0">
                <a:solidFill>
                  <a:srgbClr val="11202B"/>
                </a:solidFill>
                <a:latin typeface="Malgun Gothic"/>
                <a:ea typeface="Malgun Gothic"/>
                <a:cs typeface="Malgun Gothic"/>
              </a:rPr>
              <a:t>, 분비한 세포 자신에 작용하는 </a:t>
            </a:r>
            <a:r>
              <a:rPr sz="1600" b="1" i="0">
                <a:solidFill>
                  <a:srgbClr val="11202B"/>
                </a:solidFill>
                <a:latin typeface="Malgun Gothic"/>
                <a:ea typeface="Malgun Gothic"/>
                <a:cs typeface="Malgun Gothic"/>
              </a:rPr>
              <a:t>autocrine</a:t>
            </a:r>
            <a:r>
              <a:rPr sz="1600" b="0" i="0">
                <a:solidFill>
                  <a:srgbClr val="11202B"/>
                </a:solidFill>
                <a:latin typeface="Malgun Gothic"/>
                <a:ea typeface="Malgun Gothic"/>
                <a:cs typeface="Malgun Gothic"/>
              </a:rPr>
              <a:t> 방식도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내분비 신호 전달이 해결하는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8</a:t>
            </a:r>
          </a:p>
        </p:txBody>
      </p:sp>
      <p:pic>
        <p:nvPicPr>
          <p:cNvPr id="7" name="Picture 6" descr="fig-endocrine-vs-neural.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신경 신호 전달과 내분비 신호 전달의 비교. 표적 지정 방식, 전달 속도, 작용 범위의 차이를 그림으로 나타내고, 수용체의 존재가 표적을 결정한다는 원리를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호르몬의 세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호르몬은 화학 구조에 따라 세 부류로 나뉘며, 구조가 그 호르몬의 거의 모든 성질을 결정한다.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Peptide·단백질 호르몬</a:t>
            </a:r>
            <a:r>
              <a:rPr sz="1400" b="0" i="0">
                <a:solidFill>
                  <a:srgbClr val="11202B"/>
                </a:solidFill>
                <a:latin typeface="Malgun Gothic"/>
                <a:ea typeface="Malgun Gothic"/>
                <a:cs typeface="Malgun Gothic"/>
              </a:rPr>
              <a:t>. 아미노산이 이어진 사슬이다. 가장 수가 많다. Insulin, glucagon, growth hormone, PTH, ADH, 뇌하수체 호르몬 대부분이 여기 속한다. 물에 녹으므로 혈액에 그대로 녹아 운반되고, 세포막을 통과하지 못하므로 수용체가 </a:t>
            </a:r>
            <a:r>
              <a:rPr sz="1400" b="1" i="0">
                <a:solidFill>
                  <a:srgbClr val="11202B"/>
                </a:solidFill>
                <a:latin typeface="Malgun Gothic"/>
                <a:ea typeface="Malgun Gothic"/>
                <a:cs typeface="Malgun Gothic"/>
              </a:rPr>
              <a:t>세포막에</a:t>
            </a:r>
            <a:r>
              <a:rPr sz="1400" b="0" i="0">
                <a:solidFill>
                  <a:srgbClr val="11202B"/>
                </a:solidFill>
                <a:latin typeface="Malgun Gothic"/>
                <a:ea typeface="Malgun Gothic"/>
                <a:cs typeface="Malgun Gothic"/>
              </a:rPr>
              <a:t> 있다. 미리 합성해 소포에 저장해 두고 자극이 오면 방출하므로 반응이 빠르다. 혈액에서 분해 효소에 노출되므로 반감기가 짧다(수 분).</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Steroid 호르몬</a:t>
            </a:r>
            <a:r>
              <a:rPr sz="1400" b="0" i="0">
                <a:solidFill>
                  <a:srgbClr val="11202B"/>
                </a:solidFill>
                <a:latin typeface="Malgun Gothic"/>
                <a:ea typeface="Malgun Gothic"/>
                <a:cs typeface="Malgun Gothic"/>
              </a:rPr>
              <a:t>. Cholesterol에서 만들어지는 분자들이다. Cortisol, aldosterone, 성호르몬(testosterone, estrogen, progesterone), 그리고 활성형 vitamin D가 여기 속한다. 지질에 녹으므로 혈액에서는 운반 단백질에 결합해 다니고, 세포막을 자유롭게 통과하므로 수용체가 </a:t>
            </a:r>
            <a:r>
              <a:rPr sz="1400" b="1" i="0">
                <a:solidFill>
                  <a:srgbClr val="11202B"/>
                </a:solidFill>
                <a:latin typeface="Malgun Gothic"/>
                <a:ea typeface="Malgun Gothic"/>
                <a:cs typeface="Malgun Gothic"/>
              </a:rPr>
              <a:t>세포 안(세포질 또는 핵)</a:t>
            </a:r>
            <a:r>
              <a:rPr sz="1400" b="0" i="0">
                <a:solidFill>
                  <a:srgbClr val="11202B"/>
                </a:solidFill>
                <a:latin typeface="Malgun Gothic"/>
                <a:ea typeface="Malgun Gothic"/>
                <a:cs typeface="Malgun Gothic"/>
              </a:rPr>
              <a:t> 에 있다. 저장되지 않고 필요할 때 cholesterol로부터 합성되므로 분비까지 시간이 걸린다. 운반 단백질에 결합한 상태는 분해되지 않으므로 반감기가 길다(수십 분~수 시간).</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Amine 호르몬</a:t>
            </a:r>
            <a:r>
              <a:rPr sz="1400" b="0" i="0">
                <a:solidFill>
                  <a:srgbClr val="11202B"/>
                </a:solidFill>
                <a:latin typeface="Malgun Gothic"/>
                <a:ea typeface="Malgun Gothic"/>
                <a:cs typeface="Malgun Gothic"/>
              </a:rPr>
              <a:t>. 단일 아미노산에서 유래한 분자들이다. Tyrosine에서 만들어지는 catecholamine(epinephrine, norepinephrine, dopamine)과 갑상샘 호르몬(T3, T4), 그리고 tryptophan에서 만들어지는 melatonin이 있다. 이 부류는 성질이 둘로 갈린다. Catecholamine은 물에 녹고 세포막 수용체를 쓰며 반감기가 짧아 peptide 호르몬처럼 행동한다. 갑상샘 호르몬은 지질에 녹고 핵 수용체를 쓰며 반감기가 매우 길어 steroid처럼 행동한다.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호르몬의 세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Peptide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Steroid</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Catecholamine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갑상샘 호르몬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원료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 사슬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cholesterol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tyrosine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tyrosine + iodine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물에 대한 용해도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혈중 운반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그대로 녹아서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운반 단백질에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그대로 녹아서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운반 단백질에 결합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소포에 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저장 안 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소포에 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colloid에 저장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수용체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주된 작용 방식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기존 단백질의 활성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유전자 발현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기존 단백질의 활성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유전자 발현 변화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반응 속도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초~분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반감기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분~시간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초~분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일 (T4는 약 7일)</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호르몬의 세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표의 각 행이 서로 독립적이지 않다는 점에 주의해야 한다. </a:t>
            </a:r>
            <a:r>
              <a:rPr sz="2000" b="1" i="0">
                <a:solidFill>
                  <a:srgbClr val="11202B"/>
                </a:solidFill>
                <a:latin typeface="Malgun Gothic"/>
                <a:ea typeface="Malgun Gothic"/>
                <a:cs typeface="Malgun Gothic"/>
              </a:rPr>
              <a:t>물에 녹지 않는다 → 운반 단백질이 필요하다 → 분해로부터 보호된다 → 반감기가 길다</a:t>
            </a:r>
            <a:r>
              <a:rPr sz="2000" b="0" i="0">
                <a:solidFill>
                  <a:srgbClr val="11202B"/>
                </a:solidFill>
                <a:latin typeface="Malgun Gothic"/>
                <a:ea typeface="Malgun Gothic"/>
                <a:cs typeface="Malgun Gothic"/>
              </a:rPr>
              <a:t>가 하나의 연쇄다. 또한 </a:t>
            </a:r>
            <a:r>
              <a:rPr sz="2000" b="1" i="0">
                <a:solidFill>
                  <a:srgbClr val="11202B"/>
                </a:solidFill>
                <a:latin typeface="Malgun Gothic"/>
                <a:ea typeface="Malgun Gothic"/>
                <a:cs typeface="Malgun Gothic"/>
              </a:rPr>
              <a:t>세포막을 통과한다 → 수용체가 세포 안에 있다 → 유전자 발현을 바꾼다 → 반응이 느리고 오래간다</a:t>
            </a:r>
            <a:r>
              <a:rPr sz="2000" b="0" i="0">
                <a:solidFill>
                  <a:srgbClr val="11202B"/>
                </a:solidFill>
                <a:latin typeface="Malgun Gothic"/>
                <a:ea typeface="Malgun Gothic"/>
                <a:cs typeface="Malgun Gothic"/>
              </a:rPr>
              <a:t>가 또 하나의 연쇄다. 구조 하나를 알면 나머지를 추론할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호르몬의 세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Steroid 호르몬은 지질에 녹아 세포막을 통과하므로 경구 투여가 가능하다. Prednisolone, estrogen, testosterone 제제가 알약으로 쓰이는 이유다. 반대로 peptide 호르몬은 소화관에서 분해되므로 경구 투여가 불가능하고 주사해야 한다. Insulin이 주사제인 근본적인 이유가 여기에 있다. 최근 개발된 경구 GLP-1 작용제는 흡수 촉진제를 함께 넣어 이 제약을 우회한 것이다.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호르몬의 세 부류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13</a:t>
            </a:r>
          </a:p>
        </p:txBody>
      </p:sp>
      <p:pic>
        <p:nvPicPr>
          <p:cNvPr id="7" name="Picture 6" descr="fig-hormone-classe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호르몬 세 부류의 구조와 그 구조에서 따라 나오는 성질의 연쇄. 용해도에서 운반 방식, 반감기, 수용체 위치, 작용 방식, 반응 속도로 이어지는 논리적 연결을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수용체와 신호 전달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호르몬이 표적 세포에서 반응을 일으키는 경로는 수용체의 위치에 따라 둘로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세포막 수용체 경로</a:t>
            </a:r>
            <a:r>
              <a:rPr sz="1400" b="0" i="0">
                <a:solidFill>
                  <a:srgbClr val="11202B"/>
                </a:solidFill>
                <a:latin typeface="Malgun Gothic"/>
                <a:ea typeface="Malgun Gothic"/>
                <a:cs typeface="Malgun Gothic"/>
              </a:rPr>
              <a:t>. 호르몬이 세포 밖에서 수용체에 결합하고, 신호가 막을 건너 세포 안으로 전달된다. 호르몬 자신은 세포에 들어가지 않으므로 </a:t>
            </a:r>
            <a:r>
              <a:rPr sz="1400" b="1" i="0">
                <a:solidFill>
                  <a:srgbClr val="11202B"/>
                </a:solidFill>
                <a:latin typeface="Malgun Gothic"/>
                <a:ea typeface="Malgun Gothic"/>
                <a:cs typeface="Malgun Gothic"/>
              </a:rPr>
              <a:t>2차 전령(second messenger)</a:t>
            </a:r>
            <a:r>
              <a:rPr sz="1400" b="0" i="0">
                <a:solidFill>
                  <a:srgbClr val="11202B"/>
                </a:solidFill>
                <a:latin typeface="Malgun Gothic"/>
                <a:ea typeface="Malgun Gothic"/>
                <a:cs typeface="Malgun Gothic"/>
              </a:rPr>
              <a:t> 이 필요하다. 주요 경로는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 단백질 연결 수용체 – cAMP 경로</a:t>
            </a:r>
            <a:r>
              <a:rPr sz="1400" b="0" i="0">
                <a:solidFill>
                  <a:srgbClr val="11202B"/>
                </a:solidFill>
                <a:latin typeface="Malgun Gothic"/>
                <a:ea typeface="Malgun Gothic"/>
                <a:cs typeface="Malgun Gothic"/>
              </a:rPr>
              <a:t>: 수용체가 Gs 단백질을 활성화하면 adenylyl cyclase가 ATP로부터 cAMP를 만들고, cAMP가 protein kinase A를 활성화해 여러 단백질을 인산화한다. Glucagon, PTH, ADH(V2), TSH, ACTH가 이 경로를 쓴다. Gi 단백질에 연결되면 반대로 cAMP를 줄인다.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 단백질 연결 수용체 – IP₃/Ca²⁺ 경로</a:t>
            </a:r>
            <a:r>
              <a:rPr sz="1400" b="0" i="0">
                <a:solidFill>
                  <a:srgbClr val="11202B"/>
                </a:solidFill>
                <a:latin typeface="Malgun Gothic"/>
                <a:ea typeface="Malgun Gothic"/>
                <a:cs typeface="Malgun Gothic"/>
              </a:rPr>
              <a:t>: Gq 단백질이 phospholipase C를 활성화하면 막의 인지질로부터 IP₃와 DAG가 생기고, IP₃가 ER에서 Ca²⁺을 방출시킨다. Angiotensin II, oxytocin, ADH(V1), TRH가 이 경로를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 tyrosine kinase 경로</a:t>
            </a:r>
            <a:r>
              <a:rPr sz="1400" b="0" i="0">
                <a:solidFill>
                  <a:srgbClr val="11202B"/>
                </a:solidFill>
                <a:latin typeface="Malgun Gothic"/>
                <a:ea typeface="Malgun Gothic"/>
                <a:cs typeface="Malgun Gothic"/>
              </a:rPr>
              <a:t>: 수용체 자신이 kinase 활성을 가져 결합 시 자신과 기질 단백질을 인산화한다. Insulin과 여러 성장인자가 이 경로를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세포막 수용체 경로의 특징은 </a:t>
            </a:r>
            <a:r>
              <a:rPr sz="1400" b="1" i="0">
                <a:solidFill>
                  <a:srgbClr val="11202B"/>
                </a:solidFill>
                <a:latin typeface="Malgun Gothic"/>
                <a:ea typeface="Malgun Gothic"/>
                <a:cs typeface="Malgun Gothic"/>
              </a:rPr>
              <a:t>증폭(amplification)</a:t>
            </a:r>
            <a:r>
              <a:rPr sz="1400" b="0" i="0">
                <a:solidFill>
                  <a:srgbClr val="11202B"/>
                </a:solidFill>
                <a:latin typeface="Malgun Gothic"/>
                <a:ea typeface="Malgun Gothic"/>
                <a:cs typeface="Malgun Gothic"/>
              </a:rPr>
              <a:t> 이다. 한 개의 호르몬 분자가 한 개의 수용체를 활성화하면, 그 수용체가 여러 개의 G 단백질을, 각 adenylyl cyclase가 수백 개의 cAMP를, 각 PKA가 수많은 기질을 처리한다. 단계마다 배수가 곱해지므로 매우 낮은 호르몬 농도(10⁻¹⁰ M 수준)로도 큰 반응을 만들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 수용체 경로</a:t>
            </a:r>
            <a:r>
              <a:rPr sz="1400" b="0" i="0">
                <a:solidFill>
                  <a:srgbClr val="11202B"/>
                </a:solidFill>
                <a:latin typeface="Malgun Gothic"/>
                <a:ea typeface="Malgun Gothic"/>
                <a:cs typeface="Malgun Gothic"/>
              </a:rPr>
              <a:t>. 호르몬이 세포막을 통과해 들어와 세포질이나 핵의 수용체에 결합한다. 결합한 복합체가 DNA의 특정 서열(hormone response element)에 붙어 전사를 조절한다. 결과는 </a:t>
            </a:r>
            <a:r>
              <a:rPr sz="1400" b="1" i="0">
                <a:solidFill>
                  <a:srgbClr val="11202B"/>
                </a:solidFill>
                <a:latin typeface="Malgun Gothic"/>
                <a:ea typeface="Malgun Gothic"/>
                <a:cs typeface="Malgun Gothic"/>
              </a:rPr>
              <a:t>새로운 단백질의 합성 또는 억제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차이가 반응 속도를 결정한다. 세포막 수용체 경로는 이미 있는 단백질의 활성을 바꾸므로 수 초에서 수 분 안에 효과가 나타난다. 핵 수용체 경로는 전사와 번역을 거쳐야 하므로 수 시간이 걸리고, 만들어진 단백질이 분해될 때까지 효과가 지속되므로 수 일간 유지될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수용체의 수도 조절 대상이다.</a:t>
            </a:r>
            <a:r>
              <a:rPr sz="1400" b="0" i="0">
                <a:solidFill>
                  <a:srgbClr val="11202B"/>
                </a:solidFill>
                <a:latin typeface="Malgun Gothic"/>
                <a:ea typeface="Malgun Gothic"/>
                <a:cs typeface="Malgun Gothic"/>
              </a:rPr>
              <a:t> 호르몬 농도가 오래 높게 유지되면 세포가 수용체 수를 줄여(</a:t>
            </a:r>
            <a:r>
              <a:rPr sz="1400" b="1" i="0">
                <a:solidFill>
                  <a:srgbClr val="11202B"/>
                </a:solidFill>
                <a:latin typeface="Malgun Gothic"/>
                <a:ea typeface="Malgun Gothic"/>
                <a:cs typeface="Malgun Gothic"/>
              </a:rPr>
              <a:t>down-regulation</a:t>
            </a:r>
            <a:r>
              <a:rPr sz="1400" b="0" i="0">
                <a:solidFill>
                  <a:srgbClr val="11202B"/>
                </a:solidFill>
                <a:latin typeface="Malgun Gothic"/>
                <a:ea typeface="Malgun Gothic"/>
                <a:cs typeface="Malgun Gothic"/>
              </a:rPr>
              <a:t>) 반응을 줄이고, 농도가 오래 낮으면 수용체를 늘려(</a:t>
            </a:r>
            <a:r>
              <a:rPr sz="1400" b="1" i="0">
                <a:solidFill>
                  <a:srgbClr val="11202B"/>
                </a:solidFill>
                <a:latin typeface="Malgun Gothic"/>
                <a:ea typeface="Malgun Gothic"/>
                <a:cs typeface="Malgun Gothic"/>
              </a:rPr>
              <a:t>up-regulation</a:t>
            </a:r>
            <a:r>
              <a:rPr sz="1400" b="0" i="0">
                <a:solidFill>
                  <a:srgbClr val="11202B"/>
                </a:solidFill>
                <a:latin typeface="Malgun Gothic"/>
                <a:ea typeface="Malgun Gothic"/>
                <a:cs typeface="Malgun Gothic"/>
              </a:rPr>
              <a:t>) 반응을 키운다. 즉 같은 호르몬 농도가 항상 같은 반응을 일으키지 않는다.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수용체와 신호 전달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제2형 당뇨병의 핵심 병태가 insulin 저항성이며, 여기에 수용체 수준의 변화가 관여한다. 만성적인 고insulin 상태에서 수용체가 down-regulation되고 수용체 이후의 신호 전달도 둔해진다. 혈중 insulin 농도가 높은데도 효과가 나타나지 않는 상태가 된다. 체중 감량과 운동이 치료의 기본인 이유는 이것이 수용체와 그 하류 신호의 민감도를 회복시키기 때문이다.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수용체와 신호 전달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16</a:t>
            </a:r>
          </a:p>
        </p:txBody>
      </p:sp>
      <p:pic>
        <p:nvPicPr>
          <p:cNvPr id="7" name="Picture 6" descr="fig-receptor-signaling.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세포막 수용체와 핵 수용체의 두 경로. cAMP·IP3/Ca2+·수용체 tyrosine kinase 세 가지 막 수용체 경로의 단계, 단계마다 일어나는 증폭, 그리고 핵 수용체가 전사를 조절하는 경로와 두 경로의 반응 속도 차이를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음성 되먹임과 시상하부–뇌하수체 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내분비 조절의 핵심 원리가 </a:t>
            </a:r>
            <a:r>
              <a:rPr sz="1400" b="1" i="0">
                <a:solidFill>
                  <a:srgbClr val="11202B"/>
                </a:solidFill>
                <a:latin typeface="Malgun Gothic"/>
                <a:ea typeface="Malgun Gothic"/>
                <a:cs typeface="Malgun Gothic"/>
              </a:rPr>
              <a:t>음성 되먹임(negative feedback)</a:t>
            </a:r>
            <a:r>
              <a:rPr sz="1400" b="0" i="0">
                <a:solidFill>
                  <a:srgbClr val="11202B"/>
                </a:solidFill>
                <a:latin typeface="Malgun Gothic"/>
                <a:ea typeface="Malgun Gothic"/>
                <a:cs typeface="Malgun Gothic"/>
              </a:rPr>
              <a:t> 이다. 구조는 세 요소로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감지기(sensor)</a:t>
            </a:r>
            <a:r>
              <a:rPr sz="1400" b="0" i="0">
                <a:solidFill>
                  <a:srgbClr val="11202B"/>
                </a:solidFill>
                <a:latin typeface="Malgun Gothic"/>
                <a:ea typeface="Malgun Gothic"/>
                <a:cs typeface="Malgun Gothic"/>
              </a:rPr>
              <a:t>: 조절 대상의 현재 값을 읽는다.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비교·명령 중추</a:t>
            </a:r>
            <a:r>
              <a:rPr sz="1400" b="0" i="0">
                <a:solidFill>
                  <a:srgbClr val="11202B"/>
                </a:solidFill>
                <a:latin typeface="Malgun Gothic"/>
                <a:ea typeface="Malgun Gothic"/>
                <a:cs typeface="Malgun Gothic"/>
              </a:rPr>
              <a:t>: 현재 값을 기준값과 비교해 교정 명령을 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실행기(effector)</a:t>
            </a:r>
            <a:r>
              <a:rPr sz="1400" b="0" i="0">
                <a:solidFill>
                  <a:srgbClr val="11202B"/>
                </a:solidFill>
                <a:latin typeface="Malgun Gothic"/>
                <a:ea typeface="Malgun Gothic"/>
                <a:cs typeface="Malgun Gothic"/>
              </a:rPr>
              <a:t>: 명령에 따라 조절 대상을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핵심은 실행기의 작용 결과가 감지기로 </a:t>
            </a:r>
            <a:r>
              <a:rPr sz="1400" b="1" i="0">
                <a:solidFill>
                  <a:srgbClr val="11202B"/>
                </a:solidFill>
                <a:latin typeface="Malgun Gothic"/>
                <a:ea typeface="Malgun Gothic"/>
                <a:cs typeface="Malgun Gothic"/>
              </a:rPr>
              <a:t>되돌아가</a:t>
            </a:r>
            <a:r>
              <a:rPr sz="1400" b="0" i="0">
                <a:solidFill>
                  <a:srgbClr val="11202B"/>
                </a:solidFill>
                <a:latin typeface="Malgun Gothic"/>
                <a:ea typeface="Malgun Gothic"/>
                <a:cs typeface="Malgun Gothic"/>
              </a:rPr>
              <a:t> 명령을 줄인다는 점이다. 그 결과 조절 대상이 기준값 주위의 좁은 범위에 머문다. 혈당, 혈중 Ca²⁺, 체온, 혈장 삼투압이 모두 이 방식으로 유지된다.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내분비계에서 음성 되먹임이 가장 정교하게 구현된 형태가 </a:t>
            </a:r>
            <a:r>
              <a:rPr sz="1400" b="1" i="0">
                <a:solidFill>
                  <a:srgbClr val="11202B"/>
                </a:solidFill>
                <a:latin typeface="Malgun Gothic"/>
                <a:ea typeface="Malgun Gothic"/>
                <a:cs typeface="Malgun Gothic"/>
              </a:rPr>
              <a:t>시상하부–뇌하수체–표적기관 축(hypothalamic–pituitary–target axis)</a:t>
            </a:r>
            <a:r>
              <a:rPr sz="1400" b="0" i="0">
                <a:solidFill>
                  <a:srgbClr val="11202B"/>
                </a:solidFill>
                <a:latin typeface="Malgun Gothic"/>
                <a:ea typeface="Malgun Gothic"/>
                <a:cs typeface="Malgun Gothic"/>
              </a:rPr>
              <a:t> 이다. 세 단계의 계층 구조를 가진다.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시상하부</a:t>
            </a:r>
            <a:r>
              <a:rPr sz="1400" b="0" i="0">
                <a:solidFill>
                  <a:srgbClr val="11202B"/>
                </a:solidFill>
                <a:latin typeface="Malgun Gothic"/>
                <a:ea typeface="Malgun Gothic"/>
                <a:cs typeface="Malgun Gothic"/>
              </a:rPr>
              <a:t>가 방출 호르몬(releasing hormone)을 내보낸다. 이 호르몬은 전신 혈액이 아니라 시상하부와 뇌하수체 전엽을 잇는 특수한 혈관(hypophyseal portal system)으로 바로 전달된다. 적은 양으로 충분하고 전신에 영향을 주지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뇌하수체 전엽</a:t>
            </a:r>
            <a:r>
              <a:rPr sz="1400" b="0" i="0">
                <a:solidFill>
                  <a:srgbClr val="11202B"/>
                </a:solidFill>
                <a:latin typeface="Malgun Gothic"/>
                <a:ea typeface="Malgun Gothic"/>
                <a:cs typeface="Malgun Gothic"/>
              </a:rPr>
              <a:t>이 자극 호르몬(tropic hormone)을 전신 혈액으로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표적 기관</a:t>
            </a:r>
            <a:r>
              <a:rPr sz="1400" b="0" i="0">
                <a:solidFill>
                  <a:srgbClr val="11202B"/>
                </a:solidFill>
                <a:latin typeface="Malgun Gothic"/>
                <a:ea typeface="Malgun Gothic"/>
                <a:cs typeface="Malgun Gothic"/>
              </a:rPr>
              <a:t>이 최종 호르몬을 내보내고, 이것이 몸 전체에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되먹임은 두 지점에서 작용한다. 최종 호르몬이 </a:t>
            </a:r>
            <a:r>
              <a:rPr sz="1400" b="1" i="0">
                <a:solidFill>
                  <a:srgbClr val="11202B"/>
                </a:solidFill>
                <a:latin typeface="Malgun Gothic"/>
                <a:ea typeface="Malgun Gothic"/>
                <a:cs typeface="Malgun Gothic"/>
              </a:rPr>
              <a:t>뇌하수체</a:t>
            </a:r>
            <a:r>
              <a:rPr sz="1400" b="0" i="0">
                <a:solidFill>
                  <a:srgbClr val="11202B"/>
                </a:solidFill>
                <a:latin typeface="Malgun Gothic"/>
                <a:ea typeface="Malgun Gothic"/>
                <a:cs typeface="Malgun Gothic"/>
              </a:rPr>
              <a:t>에 작용해 자극 호르몬 분비를 줄이고(짧은 고리), </a:t>
            </a:r>
            <a:r>
              <a:rPr sz="1400" b="1" i="0">
                <a:solidFill>
                  <a:srgbClr val="11202B"/>
                </a:solidFill>
                <a:latin typeface="Malgun Gothic"/>
                <a:ea typeface="Malgun Gothic"/>
                <a:cs typeface="Malgun Gothic"/>
              </a:rPr>
              <a:t>시상하부</a:t>
            </a:r>
            <a:r>
              <a:rPr sz="1400" b="0" i="0">
                <a:solidFill>
                  <a:srgbClr val="11202B"/>
                </a:solidFill>
                <a:latin typeface="Malgun Gothic"/>
                <a:ea typeface="Malgun Gothic"/>
                <a:cs typeface="Malgun Gothic"/>
              </a:rPr>
              <a:t>에도 작용해 방출 호르몬 분비를 줄인다(긴 고리). 두 지점에서 동시에 제동이 걸리므로 조절이 안정적이다.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주요 세 축은 다음과 같다.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음성 되먹임과 시상하부–뇌하수체 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시상하부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뇌하수체 전엽</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 기관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최종 호르몬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갑상샘 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TSH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갑상샘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T3, T4</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부신 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CRH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ACTH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부신 겉질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cortisol</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생식 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GnRH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LH, FSH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생식샘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testosterone, estrogen</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음성 되먹임과 시상하부–뇌하수체 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성장호르몬 축은 조금 다르다. 시상하부가 촉진 호르몬(GHRH)과 억제 호르몬(somatostatin)을 </a:t>
            </a:r>
            <a:r>
              <a:rPr sz="1800" b="1" i="0">
                <a:solidFill>
                  <a:srgbClr val="11202B"/>
                </a:solidFill>
                <a:latin typeface="Malgun Gothic"/>
                <a:ea typeface="Malgun Gothic"/>
                <a:cs typeface="Malgun Gothic"/>
              </a:rPr>
              <a:t>둘 다</a:t>
            </a:r>
            <a:r>
              <a:rPr sz="1800" b="0" i="0">
                <a:solidFill>
                  <a:srgbClr val="11202B"/>
                </a:solidFill>
                <a:latin typeface="Malgun Gothic"/>
                <a:ea typeface="Malgun Gothic"/>
                <a:cs typeface="Malgun Gothic"/>
              </a:rPr>
              <a:t> 보내며, 성장호르몬은 간에서 IGF-1을 만들어 그것이 성장 효과를 내고 되먹임도 담당한다.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양성 되먹임(positive feedback)</a:t>
            </a:r>
            <a:r>
              <a:rPr sz="1800" b="0" i="0">
                <a:solidFill>
                  <a:srgbClr val="11202B"/>
                </a:solidFill>
                <a:latin typeface="Malgun Gothic"/>
                <a:ea typeface="Malgun Gothic"/>
                <a:cs typeface="Malgun Gothic"/>
              </a:rPr>
              <a:t> 도 드물게 쓰인다. 작용 결과가 명령을 더 키우는 구조이므로 불안정하지만, 짧은 시간에 극적인 변화가 필요한 상황에서 쓸모가 있다. 배란 전 estrogen이 LH 분비를 증폭시켜 LH 급증을 만드는 것, 분만 중 oxytocin이 자궁 수축을 강화하고 그 수축이 다시 oxytocin을 늘리는 것이 예다. 두 경우 모두 </a:t>
            </a:r>
            <a:r>
              <a:rPr sz="1800" b="1" i="0">
                <a:solidFill>
                  <a:srgbClr val="11202B"/>
                </a:solidFill>
                <a:latin typeface="Malgun Gothic"/>
                <a:ea typeface="Malgun Gothic"/>
                <a:cs typeface="Malgun Gothic"/>
              </a:rPr>
              <a:t>종료 시점이 분명하다</a:t>
            </a:r>
            <a:r>
              <a:rPr sz="1800" b="0" i="0">
                <a:solidFill>
                  <a:srgbClr val="11202B"/>
                </a:solidFill>
                <a:latin typeface="Malgun Gothic"/>
                <a:ea typeface="Malgun Gothic"/>
                <a:cs typeface="Malgun Gothic"/>
              </a:rPr>
              <a:t>는 공통점이 있다. 배란이 일어나거나 아기가 나오면 자극이 사라져 고리가 끊긴다.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음성 되먹임과 시상하부–뇌하수체 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호르몬 질환을 볼 때 축의 어느 단계에 문제가 있는지를 묻는 습관이 중요하다. 최종 호르몬과 자극 호르몬을 함께 측정하면 답이 나온다. 둘 다 높으면 상위 단계의 문제이고, 최종 호르몬이 높은데 자극 호르몬이 낮으면 표적 기관 자체의 문제다.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음성 되먹임과 시상하부–뇌하수체 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21</a:t>
            </a:r>
          </a:p>
        </p:txBody>
      </p:sp>
      <p:pic>
        <p:nvPicPr>
          <p:cNvPr id="7" name="Picture 6" descr="fig-feedback-axi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음성 되먹임의 세 요소와 시상하부–뇌하수체–표적기관 축의 계층 구조. 짧은 고리와 긴 고리 되먹임의 작용 지점, 세 주요 축의 호르몬 이름, 그리고 양성 되먹임의 두 사례를 함께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뇌하수체: 두 개의 서로 다른 기관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뇌하수체는 하나의 구조물처럼 보이지만 발생 과정과 작동 방식이 전혀 다른 두 부분이 붙어 있는 것이다. 이 사실을 알면 두 엽의 호르몬 목록을 외우지 않아도 구분할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전엽(anterior pituitary, adenohypophysis)</a:t>
            </a:r>
            <a:r>
              <a:rPr sz="1400" b="0" i="0">
                <a:solidFill>
                  <a:srgbClr val="11202B"/>
                </a:solidFill>
                <a:latin typeface="Malgun Gothic"/>
                <a:ea typeface="Malgun Gothic"/>
                <a:cs typeface="Malgun Gothic"/>
              </a:rPr>
              <a:t> 은 발생 과정에서 </a:t>
            </a:r>
            <a:r>
              <a:rPr sz="1400" b="1" i="0">
                <a:solidFill>
                  <a:srgbClr val="11202B"/>
                </a:solidFill>
                <a:latin typeface="Malgun Gothic"/>
                <a:ea typeface="Malgun Gothic"/>
                <a:cs typeface="Malgun Gothic"/>
              </a:rPr>
              <a:t>입천장의 상피</a:t>
            </a:r>
            <a:r>
              <a:rPr sz="1400" b="0" i="0">
                <a:solidFill>
                  <a:srgbClr val="11202B"/>
                </a:solidFill>
                <a:latin typeface="Malgun Gothic"/>
                <a:ea typeface="Malgun Gothic"/>
                <a:cs typeface="Malgun Gothic"/>
              </a:rPr>
              <a:t>가 위로 자라 올라와 만들어진다. 즉 분비 상피 조직이다. 따라서 호르몬을 </a:t>
            </a:r>
            <a:r>
              <a:rPr sz="1400" b="1" i="0">
                <a:solidFill>
                  <a:srgbClr val="11202B"/>
                </a:solidFill>
                <a:latin typeface="Malgun Gothic"/>
                <a:ea typeface="Malgun Gothic"/>
                <a:cs typeface="Malgun Gothic"/>
              </a:rPr>
              <a:t>스스로 만든다</a:t>
            </a:r>
            <a:r>
              <a:rPr sz="1400" b="0" i="0">
                <a:solidFill>
                  <a:srgbClr val="11202B"/>
                </a:solidFill>
                <a:latin typeface="Malgun Gothic"/>
                <a:ea typeface="Malgun Gothic"/>
                <a:cs typeface="Malgun Gothic"/>
              </a:rPr>
              <a:t>. 시상하부와는 혈관(hypophyseal portal system)으로만 연결되며, 신경 연결은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전엽에서 나오는 호르몬은 여섯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TSH</a:t>
            </a:r>
            <a:r>
              <a:rPr sz="1400" b="0" i="0">
                <a:solidFill>
                  <a:srgbClr val="11202B"/>
                </a:solidFill>
                <a:latin typeface="Malgun Gothic"/>
                <a:ea typeface="Malgun Gothic"/>
                <a:cs typeface="Malgun Gothic"/>
              </a:rPr>
              <a:t>: 갑상샘을 자극한다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ACTH</a:t>
            </a:r>
            <a:r>
              <a:rPr sz="1400" b="0" i="0">
                <a:solidFill>
                  <a:srgbClr val="11202B"/>
                </a:solidFill>
                <a:latin typeface="Malgun Gothic"/>
                <a:ea typeface="Malgun Gothic"/>
                <a:cs typeface="Malgun Gothic"/>
              </a:rPr>
              <a:t>: 부신 겉질을 자극한다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LH, FSH</a:t>
            </a:r>
            <a:r>
              <a:rPr sz="1400" b="0" i="0">
                <a:solidFill>
                  <a:srgbClr val="11202B"/>
                </a:solidFill>
                <a:latin typeface="Malgun Gothic"/>
                <a:ea typeface="Malgun Gothic"/>
                <a:cs typeface="Malgun Gothic"/>
              </a:rPr>
              <a:t>: 생식샘을 자극한다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GH</a:t>
            </a:r>
            <a:r>
              <a:rPr sz="1400" b="0" i="0">
                <a:solidFill>
                  <a:srgbClr val="11202B"/>
                </a:solidFill>
                <a:latin typeface="Malgun Gothic"/>
                <a:ea typeface="Malgun Gothic"/>
                <a:cs typeface="Malgun Gothic"/>
              </a:rPr>
              <a:t>: 간에서 IGF-1 생성을 자극하고 전신 성장과 대사에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Prolactin</a:t>
            </a:r>
            <a:r>
              <a:rPr sz="1400" b="0" i="0">
                <a:solidFill>
                  <a:srgbClr val="11202B"/>
                </a:solidFill>
                <a:latin typeface="Malgun Gothic"/>
                <a:ea typeface="Malgun Gothic"/>
                <a:cs typeface="Malgun Gothic"/>
              </a:rPr>
              <a:t>: 유선의 젖 생산을 자극한다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앞의 네 가지는 다른 내분비 기관을 자극하는 </a:t>
            </a:r>
            <a:r>
              <a:rPr sz="1400" b="1" i="0">
                <a:solidFill>
                  <a:srgbClr val="11202B"/>
                </a:solidFill>
                <a:latin typeface="Malgun Gothic"/>
                <a:ea typeface="Malgun Gothic"/>
                <a:cs typeface="Malgun Gothic"/>
              </a:rPr>
              <a:t>자극 호르몬</a:t>
            </a:r>
            <a:r>
              <a:rPr sz="1400" b="0" i="0">
                <a:solidFill>
                  <a:srgbClr val="11202B"/>
                </a:solidFill>
                <a:latin typeface="Malgun Gothic"/>
                <a:ea typeface="Malgun Gothic"/>
                <a:cs typeface="Malgun Gothic"/>
              </a:rPr>
              <a:t>이고, 뒤의 두 가지는 비내분비 조직에 직접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후엽(posterior pituitary, neurohypophysis)</a:t>
            </a:r>
            <a:r>
              <a:rPr sz="1400" b="0" i="0">
                <a:solidFill>
                  <a:srgbClr val="11202B"/>
                </a:solidFill>
                <a:latin typeface="Malgun Gothic"/>
                <a:ea typeface="Malgun Gothic"/>
                <a:cs typeface="Malgun Gothic"/>
              </a:rPr>
              <a:t> 은 발생 과정에서 </a:t>
            </a:r>
            <a:r>
              <a:rPr sz="1400" b="1" i="0">
                <a:solidFill>
                  <a:srgbClr val="11202B"/>
                </a:solidFill>
                <a:latin typeface="Malgun Gothic"/>
                <a:ea typeface="Malgun Gothic"/>
                <a:cs typeface="Malgun Gothic"/>
              </a:rPr>
              <a:t>뇌의 일부가 아래로 자라 내려와</a:t>
            </a:r>
            <a:r>
              <a:rPr sz="1400" b="0" i="0">
                <a:solidFill>
                  <a:srgbClr val="11202B"/>
                </a:solidFill>
                <a:latin typeface="Malgun Gothic"/>
                <a:ea typeface="Malgun Gothic"/>
                <a:cs typeface="Malgun Gothic"/>
              </a:rPr>
              <a:t> 만들어진다. 즉 신경 조직이다. 따라서 호르몬을 만들지 못한다. 시상하부의 신경 세포체에서 만들어진 호르몬이 축삭을 따라 내려와 후엽의 축삭 말단에 저장되어 있다가, 신경 자극이 오면 방출된다. </a:t>
            </a:r>
            <a:r>
              <a:rPr sz="1400" b="1" i="0">
                <a:solidFill>
                  <a:srgbClr val="11202B"/>
                </a:solidFill>
                <a:latin typeface="Malgun Gothic"/>
                <a:ea typeface="Malgun Gothic"/>
                <a:cs typeface="Malgun Gothic"/>
              </a:rPr>
              <a:t>후엽은 저장과 방출의 장소일 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후엽에서 방출되는 호르몬은 두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ADH(vasopressin)</a:t>
            </a:r>
            <a:r>
              <a:rPr sz="1400" b="0" i="0">
                <a:solidFill>
                  <a:srgbClr val="11202B"/>
                </a:solidFill>
                <a:latin typeface="Malgun Gothic"/>
                <a:ea typeface="Malgun Gothic"/>
                <a:cs typeface="Malgun Gothic"/>
              </a:rPr>
              <a:t>: 집합관에서 물 재흡수를 늘린다(앞 수업)</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Oxytocin</a:t>
            </a:r>
            <a:r>
              <a:rPr sz="1400" b="0" i="0">
                <a:solidFill>
                  <a:srgbClr val="11202B"/>
                </a:solidFill>
                <a:latin typeface="Malgun Gothic"/>
                <a:ea typeface="Malgun Gothic"/>
                <a:cs typeface="Malgun Gothic"/>
              </a:rPr>
              <a:t>: 자궁 수축과 젖 사출을 일으킨다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Prolactin의 조절은 예외적이어서 따로 알아 둘 만하다. 시상하부가 prolactin에 대해 보내는 주된 신호는 </a:t>
            </a:r>
            <a:r>
              <a:rPr sz="1400" b="1" i="0">
                <a:solidFill>
                  <a:srgbClr val="11202B"/>
                </a:solidFill>
                <a:latin typeface="Malgun Gothic"/>
                <a:ea typeface="Malgun Gothic"/>
                <a:cs typeface="Malgun Gothic"/>
              </a:rPr>
              <a:t>억제</a:t>
            </a:r>
            <a:r>
              <a:rPr sz="1400" b="0" i="0">
                <a:solidFill>
                  <a:srgbClr val="11202B"/>
                </a:solidFill>
                <a:latin typeface="Malgun Gothic"/>
                <a:ea typeface="Malgun Gothic"/>
                <a:cs typeface="Malgun Gothic"/>
              </a:rPr>
              <a:t> 신호이며, 그 분자는 dopamine이다. 즉 시상하부와의 연결이 끊기면 다른 전엽 호르몬은 모두 줄어드는데 prolactin만 </a:t>
            </a:r>
            <a:r>
              <a:rPr sz="1400" b="1" i="0">
                <a:solidFill>
                  <a:srgbClr val="11202B"/>
                </a:solidFill>
                <a:latin typeface="Malgun Gothic"/>
                <a:ea typeface="Malgun Gothic"/>
                <a:cs typeface="Malgun Gothic"/>
              </a:rPr>
              <a:t>늘어난다</a:t>
            </a:r>
            <a:r>
              <a:rPr sz="1400" b="0" i="0">
                <a:solidFill>
                  <a:srgbClr val="11202B"/>
                </a:solidFill>
                <a:latin typeface="Malgun Gothic"/>
                <a:ea typeface="Malgun Gothic"/>
                <a:cs typeface="Malgun Gothic"/>
              </a:rPr>
              <a:t>. Dopamine 수용체를 차단하는 약물(일부 항정신병약)이 prolactin을 올려 유즙 분비와 생리 불규칙을 일으키는 이유가 여기에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뇌하수체: 두 개의 서로 다른 기관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뇌하수체 종양은 두 가지 방식으로 증상을 만든다. 첫째는 호르몬을 과다 분비하는 것으로, prolactin 분비 종양(가장 흔하다), GH 분비 종양(성장기에는 거인증, 성인에서는 말단비대증), ACTH 분비 종양(Cushing 병)이 있다. 둘째는 크기에 의한 압박으로, 바로 위를 지나는 optic chiasm을 눌러 양쪽 바깥쪽 시야가 먼저 좁아지는 특징적인 시야 장애를 만든다.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뇌하수체: 두 개의 서로 다른 기관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24</a:t>
            </a:r>
          </a:p>
        </p:txBody>
      </p:sp>
      <p:pic>
        <p:nvPicPr>
          <p:cNvPr id="7" name="Picture 6" descr="fig-pituitary.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뇌하수체 전엽과 후엽의 발생학적 기원 차이와 그에 따른 작동 방식의 차이. 전엽의 hypophyseal portal system과 후엽의 축삭 수송 경로, 각 엽에서 나오는 호르몬 목록, 그리고 prolactin이 억제 신호로 조절되는 예외를 함께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갑상샘 호르몬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갑상샘 호르몬은 기초대사율을 정하는 호르몬이며, 거의 모든 세포에 수용체가 있다. 합성 과정이 독특해 단계별로 알아 둘 필요가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갑상샘의 구조는 </a:t>
            </a:r>
            <a:r>
              <a:rPr sz="1400" b="1" i="0">
                <a:solidFill>
                  <a:srgbClr val="11202B"/>
                </a:solidFill>
                <a:latin typeface="Malgun Gothic"/>
                <a:ea typeface="Malgun Gothic"/>
                <a:cs typeface="Malgun Gothic"/>
              </a:rPr>
              <a:t>follicle</a:t>
            </a:r>
            <a:r>
              <a:rPr sz="1400" b="0" i="0">
                <a:solidFill>
                  <a:srgbClr val="11202B"/>
                </a:solidFill>
                <a:latin typeface="Malgun Gothic"/>
                <a:ea typeface="Malgun Gothic"/>
                <a:cs typeface="Malgun Gothic"/>
              </a:rPr>
              <a:t>이라 부르는 공 모양 단위들로 이루어진다. Follicle의 벽은 한 겹의 상피세포이고, 안쪽 공간에는 </a:t>
            </a:r>
            <a:r>
              <a:rPr sz="1400" b="1" i="0">
                <a:solidFill>
                  <a:srgbClr val="11202B"/>
                </a:solidFill>
                <a:latin typeface="Malgun Gothic"/>
                <a:ea typeface="Malgun Gothic"/>
                <a:cs typeface="Malgun Gothic"/>
              </a:rPr>
              <a:t>colloid</a:t>
            </a:r>
            <a:r>
              <a:rPr sz="1400" b="0" i="0">
                <a:solidFill>
                  <a:srgbClr val="11202B"/>
                </a:solidFill>
                <a:latin typeface="Malgun Gothic"/>
                <a:ea typeface="Malgun Gothic"/>
                <a:cs typeface="Malgun Gothic"/>
              </a:rPr>
              <a:t>라 부르는 걸쭉한 물질이 차 있다. Colloid의 주성분은 </a:t>
            </a:r>
            <a:r>
              <a:rPr sz="1400" b="1" i="0">
                <a:solidFill>
                  <a:srgbClr val="11202B"/>
                </a:solidFill>
                <a:latin typeface="Malgun Gothic"/>
                <a:ea typeface="Malgun Gothic"/>
                <a:cs typeface="Malgun Gothic"/>
              </a:rPr>
              <a:t>thyroglobulin</a:t>
            </a:r>
            <a:r>
              <a:rPr sz="1400" b="0" i="0">
                <a:solidFill>
                  <a:srgbClr val="11202B"/>
                </a:solidFill>
                <a:latin typeface="Malgun Gothic"/>
                <a:ea typeface="Malgun Gothic"/>
                <a:cs typeface="Malgun Gothic"/>
              </a:rPr>
              <a:t>이라는 큰 단백질이며, 이것이 갑상샘 호르몬의 저장 형태다.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합성 단계는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Iodide 포획(trapping)</a:t>
            </a:r>
            <a:r>
              <a:rPr sz="1400" b="0" i="0">
                <a:solidFill>
                  <a:srgbClr val="11202B"/>
                </a:solidFill>
                <a:latin typeface="Malgun Gothic"/>
                <a:ea typeface="Malgun Gothic"/>
                <a:cs typeface="Malgun Gothic"/>
              </a:rPr>
              <a:t>: 세포의 혈액 쪽 막에 있는 </a:t>
            </a:r>
            <a:r>
              <a:rPr sz="1400" b="1" i="0">
                <a:solidFill>
                  <a:srgbClr val="11202B"/>
                </a:solidFill>
                <a:latin typeface="Malgun Gothic"/>
                <a:ea typeface="Malgun Gothic"/>
                <a:cs typeface="Malgun Gothic"/>
              </a:rPr>
              <a:t>Na⁺/I⁻ symporter(NIS)</a:t>
            </a:r>
            <a:r>
              <a:rPr sz="1400" b="0" i="0">
                <a:solidFill>
                  <a:srgbClr val="11202B"/>
                </a:solidFill>
                <a:latin typeface="Malgun Gothic"/>
                <a:ea typeface="Malgun Gothic"/>
                <a:cs typeface="Malgun Gothic"/>
              </a:rPr>
              <a:t> 가 혈액의 I⁻을 세포 안으로 능동적으로 들여온다. 혈액보다 30배 이상 농축한다.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Thyroglobulin 합성과 분비</a:t>
            </a:r>
            <a:r>
              <a:rPr sz="1400" b="0" i="0">
                <a:solidFill>
                  <a:srgbClr val="11202B"/>
                </a:solidFill>
                <a:latin typeface="Malgun Gothic"/>
                <a:ea typeface="Malgun Gothic"/>
                <a:cs typeface="Malgun Gothic"/>
              </a:rPr>
              <a:t>: 세포가 thyroglobulin을 만들어 colloid로 내보낸다. 이 단백질에는 tyrosine 잔기가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산화와 유기화(organification)</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Thyroid peroxidase(TPO)</a:t>
            </a:r>
            <a:r>
              <a:rPr sz="1400" b="0" i="0">
                <a:solidFill>
                  <a:srgbClr val="11202B"/>
                </a:solidFill>
                <a:latin typeface="Malgun Gothic"/>
                <a:ea typeface="Malgun Gothic"/>
                <a:cs typeface="Malgun Gothic"/>
              </a:rPr>
              <a:t> 가 I⁻을 산화하고, thyroglobulin의 tyrosine 잔기에 붙인다. Iodine이 하나 붙으면 monoiodotyrosine(MIT), 둘 붙으면 diiodotyrosine(DIT)이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결합(coupling)</a:t>
            </a:r>
            <a:r>
              <a:rPr sz="1400" b="0" i="0">
                <a:solidFill>
                  <a:srgbClr val="11202B"/>
                </a:solidFill>
                <a:latin typeface="Malgun Gothic"/>
                <a:ea typeface="Malgun Gothic"/>
                <a:cs typeface="Malgun Gothic"/>
              </a:rPr>
              <a:t>: 같은 TPO가 두 개의 iodotyrosine을 연결한다. DIT + DIT = </a:t>
            </a:r>
            <a:r>
              <a:rPr sz="1400" b="1" i="0">
                <a:solidFill>
                  <a:srgbClr val="11202B"/>
                </a:solidFill>
                <a:latin typeface="Malgun Gothic"/>
                <a:ea typeface="Malgun Gothic"/>
                <a:cs typeface="Malgun Gothic"/>
              </a:rPr>
              <a:t>T4</a:t>
            </a:r>
            <a:r>
              <a:rPr sz="1400" b="0" i="0">
                <a:solidFill>
                  <a:srgbClr val="11202B"/>
                </a:solidFill>
                <a:latin typeface="Malgun Gothic"/>
                <a:ea typeface="Malgun Gothic"/>
                <a:cs typeface="Malgun Gothic"/>
              </a:rPr>
              <a:t>(thyroxine, iodine 4개), MIT + DIT = </a:t>
            </a:r>
            <a:r>
              <a:rPr sz="1400" b="1" i="0">
                <a:solidFill>
                  <a:srgbClr val="11202B"/>
                </a:solidFill>
                <a:latin typeface="Malgun Gothic"/>
                <a:ea typeface="Malgun Gothic"/>
                <a:cs typeface="Malgun Gothic"/>
              </a:rPr>
              <a:t>T3</a:t>
            </a:r>
            <a:r>
              <a:rPr sz="1400" b="0" i="0">
                <a:solidFill>
                  <a:srgbClr val="11202B"/>
                </a:solidFill>
                <a:latin typeface="Malgun Gothic"/>
                <a:ea typeface="Malgun Gothic"/>
                <a:cs typeface="Malgun Gothic"/>
              </a:rPr>
              <a:t>(iodine 3개). 이 상태로 thyroglobulin에 붙어 colloid에 저장된다.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방출</a:t>
            </a:r>
            <a:r>
              <a:rPr sz="1400" b="0" i="0">
                <a:solidFill>
                  <a:srgbClr val="11202B"/>
                </a:solidFill>
                <a:latin typeface="Malgun Gothic"/>
                <a:ea typeface="Malgun Gothic"/>
                <a:cs typeface="Malgun Gothic"/>
              </a:rPr>
              <a:t>: TSH 자극이 오면 세포가 colloid를 다시 흡수하고, lysosome의 효소가 thyroglobulin을 분해해 T3와 T4를 떼어내 혈액으로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사실이 있다. </a:t>
            </a:r>
            <a:r>
              <a:rPr sz="1400" b="1" i="0">
                <a:solidFill>
                  <a:srgbClr val="11202B"/>
                </a:solidFill>
                <a:latin typeface="Malgun Gothic"/>
                <a:ea typeface="Malgun Gothic"/>
                <a:cs typeface="Malgun Gothic"/>
              </a:rPr>
              <a:t>갑상샘이 분비하는 것은 주로 T4(약 90%)인데, 수용체에 결합해 작용하는 것은 주로 T3다.</a:t>
            </a:r>
            <a:r>
              <a:rPr sz="1400" b="0" i="0">
                <a:solidFill>
                  <a:srgbClr val="11202B"/>
                </a:solidFill>
                <a:latin typeface="Malgun Gothic"/>
                <a:ea typeface="Malgun Gothic"/>
                <a:cs typeface="Malgun Gothic"/>
              </a:rPr>
              <a:t> T3의 수용체 친화도가 T4의 약 10배이기 때문이다. T4는 표적 조직(주로 간과 신장)에서 </a:t>
            </a:r>
            <a:r>
              <a:rPr sz="1400" b="1" i="0">
                <a:solidFill>
                  <a:srgbClr val="11202B"/>
                </a:solidFill>
                <a:latin typeface="Malgun Gothic"/>
                <a:ea typeface="Malgun Gothic"/>
                <a:cs typeface="Malgun Gothic"/>
              </a:rPr>
              <a:t>deiodinase</a:t>
            </a:r>
            <a:r>
              <a:rPr sz="1400" b="0" i="0">
                <a:solidFill>
                  <a:srgbClr val="11202B"/>
                </a:solidFill>
                <a:latin typeface="Malgun Gothic"/>
                <a:ea typeface="Malgun Gothic"/>
                <a:cs typeface="Malgun Gothic"/>
              </a:rPr>
              <a:t>에 의해 iodine 하나를 떼어내 T3로 바뀐다. 즉 T4는 혈중을 도는 </a:t>
            </a:r>
            <a:r>
              <a:rPr sz="1400" b="1" i="0">
                <a:solidFill>
                  <a:srgbClr val="11202B"/>
                </a:solidFill>
                <a:latin typeface="Malgun Gothic"/>
                <a:ea typeface="Malgun Gothic"/>
                <a:cs typeface="Malgun Gothic"/>
              </a:rPr>
              <a:t>전구체 겸 저장 형태</a:t>
            </a:r>
            <a:r>
              <a:rPr sz="1400" b="0" i="0">
                <a:solidFill>
                  <a:srgbClr val="11202B"/>
                </a:solidFill>
                <a:latin typeface="Malgun Gothic"/>
                <a:ea typeface="Malgun Gothic"/>
                <a:cs typeface="Malgun Gothic"/>
              </a:rPr>
              <a:t>이고, T3가 활성 형태다.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구조의 이점은 두 가지다. 첫째, T4의 반감기가 약 7일로 길어 혈중 농도가 안정하다. 둘째, 각 조직이 자신의 deiodinase 활성을 조절해 필요한 만큼만 T3를 만들 수 있어 조직 수준의 미세 조절이 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갑상샘 호르몬의 작용은 핵 수용체를 통한 유전자 발현 조절이며, 주된 효과는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기초대사율 상승</a:t>
            </a:r>
            <a:r>
              <a:rPr sz="1400" b="0" i="0">
                <a:solidFill>
                  <a:srgbClr val="11202B"/>
                </a:solidFill>
                <a:latin typeface="Malgun Gothic"/>
                <a:ea typeface="Malgun Gothic"/>
                <a:cs typeface="Malgun Gothic"/>
              </a:rPr>
              <a:t>: Na⁺/K⁺-ATPase를 비롯한 여러 단백질의 발현을 늘려 산소 소비와 열 생산을 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심장에 대한 작용</a:t>
            </a:r>
            <a:r>
              <a:rPr sz="1400" b="0" i="0">
                <a:solidFill>
                  <a:srgbClr val="11202B"/>
                </a:solidFill>
                <a:latin typeface="Malgun Gothic"/>
                <a:ea typeface="Malgun Gothic"/>
                <a:cs typeface="Malgun Gothic"/>
              </a:rPr>
              <a:t>: β 수용체의 수를 늘려 catecholamine에 대한 민감도를 높인다. 갑상샘 기능 과다에서 심박수와 수축력이 올라가는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성장과 신경 발달</a:t>
            </a:r>
            <a:r>
              <a:rPr sz="1400" b="0" i="0">
                <a:solidFill>
                  <a:srgbClr val="11202B"/>
                </a:solidFill>
                <a:latin typeface="Malgun Gothic"/>
                <a:ea typeface="Malgun Gothic"/>
                <a:cs typeface="Malgun Gothic"/>
              </a:rPr>
              <a:t>: 특히 태아와 신생아 시기에 필수적이다. 결핍되면 되돌릴 수 없는 지적 장애와 성장 장애가 생긴다.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갑상샘 호르몬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신생아 갑상샘 기능 저하증은 선별 검사의 대표적인 대상이다. 출생 직후에는 증상이 거의 없지만 치료하지 않으면 영구적인 신경 발달 장애가 남고, T4를 투여하면 완전히 예방할 수 있기 때문이다. 증상이 나타난 뒤에는 이미 늦으므로 모든 신생아에서 혈액을 채취해 TSH를 측정한다. 치료 효과가 확실하고 조기 발견이 결정적인 질환의 전형적인 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갑상샘 호르몬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27</a:t>
            </a:r>
          </a:p>
        </p:txBody>
      </p:sp>
      <p:pic>
        <p:nvPicPr>
          <p:cNvPr id="7" name="Picture 6" descr="fig-thyroid.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갑상샘 호르몬의 합성 다섯 단계. Follicle과 colloid의 구조, NIS에 의한 iodide 농축, TPO의 유기화와 결합 반응, thyroglobulin에 저장된 형태, 그리고 T4가 표적 조직에서 deiodinase에 의해 활성형 T3로 전환되는 경로를 함께 보인다.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갑상샘 호르몬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갑상샘 검사에서 두 가지 함정이 반복된다. 첫째, </a:t>
            </a:r>
            <a:r>
              <a:rPr sz="1600" b="1" i="0">
                <a:solidFill>
                  <a:srgbClr val="11202B"/>
                </a:solidFill>
                <a:latin typeface="Malgun Gothic"/>
                <a:ea typeface="Malgun Gothic"/>
                <a:cs typeface="Malgun Gothic"/>
              </a:rPr>
              <a:t>임신과 경구 estrogen은 TBG를 늘려 총 T4를 올리지만 free T4는 정상</a:t>
            </a:r>
            <a:r>
              <a:rPr sz="1600" b="0" i="0">
                <a:solidFill>
                  <a:srgbClr val="11202B"/>
                </a:solidFill>
                <a:latin typeface="Malgun Gothic"/>
                <a:ea typeface="Malgun Gothic"/>
                <a:cs typeface="Malgun Gothic"/>
              </a:rPr>
              <a:t>이다. 기능 판단은 언제나 free T4로 한다. 둘째, </a:t>
            </a:r>
            <a:r>
              <a:rPr sz="1600" b="1" i="0">
                <a:solidFill>
                  <a:srgbClr val="11202B"/>
                </a:solidFill>
                <a:latin typeface="Malgun Gothic"/>
                <a:ea typeface="Malgun Gothic"/>
                <a:cs typeface="Malgun Gothic"/>
              </a:rPr>
              <a:t>중증 질환에서 나타나는 저T3 증후군</a:t>
            </a:r>
            <a:r>
              <a:rPr sz="1600" b="0" i="0">
                <a:solidFill>
                  <a:srgbClr val="11202B"/>
                </a:solidFill>
                <a:latin typeface="Malgun Gothic"/>
                <a:ea typeface="Malgun Gothic"/>
                <a:cs typeface="Malgun Gothic"/>
              </a:rPr>
              <a:t>은 갑상샘 질환이 아니다. 말초에서 T4를 T3로 바꾸는 탈요오드화 효소의 활성이 바뀌어 T3가 낮고 역T3가 높아지며 TSH는 대개 정상이다. 급성기에 갑상샘 기능검사를 하면 해석할 수 없는 값이 나오는 이유이고, 회복 뒤 다시 재는 것이 원칙이다. 셋째, 갑상샘 중독증에서 </a:t>
            </a:r>
            <a:r>
              <a:rPr sz="1600" b="1" i="0">
                <a:solidFill>
                  <a:srgbClr val="11202B"/>
                </a:solidFill>
                <a:latin typeface="Malgun Gothic"/>
                <a:ea typeface="Malgun Gothic"/>
                <a:cs typeface="Malgun Gothic"/>
              </a:rPr>
              <a:t>Graves 병과 갑상샘염</a:t>
            </a:r>
            <a:r>
              <a:rPr sz="1600" b="0" i="0">
                <a:solidFill>
                  <a:srgbClr val="11202B"/>
                </a:solidFill>
                <a:latin typeface="Malgun Gothic"/>
                <a:ea typeface="Malgun Gothic"/>
                <a:cs typeface="Malgun Gothic"/>
              </a:rPr>
              <a:t>을 가르는 것은 방사성 요오드 섭취율이다. Graves는 갑상샘이 스스로 만들고 있으므로 섭취율이 </a:t>
            </a:r>
            <a:r>
              <a:rPr sz="1600" b="1" i="0">
                <a:solidFill>
                  <a:srgbClr val="11202B"/>
                </a:solidFill>
                <a:latin typeface="Malgun Gothic"/>
                <a:ea typeface="Malgun Gothic"/>
                <a:cs typeface="Malgun Gothic"/>
              </a:rPr>
              <a:t>올라가고</a:t>
            </a:r>
            <a:r>
              <a:rPr sz="1600" b="0" i="0">
                <a:solidFill>
                  <a:srgbClr val="11202B"/>
                </a:solidFill>
                <a:latin typeface="Malgun Gothic"/>
                <a:ea typeface="Malgun Gothic"/>
                <a:cs typeface="Malgun Gothic"/>
              </a:rPr>
              <a:t>, 갑상샘염은 저장된 호르몬이 새어 나오는 것이므로 섭취율이 </a:t>
            </a:r>
            <a:r>
              <a:rPr sz="1600" b="1" i="0">
                <a:solidFill>
                  <a:srgbClr val="11202B"/>
                </a:solidFill>
                <a:latin typeface="Malgun Gothic"/>
                <a:ea typeface="Malgun Gothic"/>
                <a:cs typeface="Malgun Gothic"/>
              </a:rPr>
              <a:t>떨어진다</a:t>
            </a:r>
            <a:r>
              <a:rPr sz="1600" b="0" i="0">
                <a:solidFill>
                  <a:srgbClr val="11202B"/>
                </a:solidFill>
                <a:latin typeface="Malgun Gothic"/>
                <a:ea typeface="Malgun Gothic"/>
                <a:cs typeface="Malgun Gothic"/>
              </a:rPr>
              <a:t>. 치료가 정반대이므로 구분이 필수다.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부신: 겉질과 속질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부신도 뇌하수체처럼 발생 기원이 다른 두 부분이 합쳐진 기관이다. 바깥의 </a:t>
            </a:r>
            <a:r>
              <a:rPr sz="1800" b="1" i="0">
                <a:solidFill>
                  <a:srgbClr val="11202B"/>
                </a:solidFill>
                <a:latin typeface="Malgun Gothic"/>
                <a:ea typeface="Malgun Gothic"/>
                <a:cs typeface="Malgun Gothic"/>
              </a:rPr>
              <a:t>겉질(cortex)</a:t>
            </a:r>
            <a:r>
              <a:rPr sz="1800" b="0" i="0">
                <a:solidFill>
                  <a:srgbClr val="11202B"/>
                </a:solidFill>
                <a:latin typeface="Malgun Gothic"/>
                <a:ea typeface="Malgun Gothic"/>
                <a:cs typeface="Malgun Gothic"/>
              </a:rPr>
              <a:t> 은 중배엽에서 유래한 steroid 생산 조직이고, 안의 </a:t>
            </a:r>
            <a:r>
              <a:rPr sz="1800" b="1" i="0">
                <a:solidFill>
                  <a:srgbClr val="11202B"/>
                </a:solidFill>
                <a:latin typeface="Malgun Gothic"/>
                <a:ea typeface="Malgun Gothic"/>
                <a:cs typeface="Malgun Gothic"/>
              </a:rPr>
              <a:t>속질(medulla)</a:t>
            </a:r>
            <a:r>
              <a:rPr sz="1800" b="0" i="0">
                <a:solidFill>
                  <a:srgbClr val="11202B"/>
                </a:solidFill>
                <a:latin typeface="Malgun Gothic"/>
                <a:ea typeface="Malgun Gothic"/>
                <a:cs typeface="Malgun Gothic"/>
              </a:rPr>
              <a:t> 은 신경능에서 유래한 변형된 신경 조직이다.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부신 속질</a:t>
            </a:r>
            <a:r>
              <a:rPr sz="1800" b="0" i="0">
                <a:solidFill>
                  <a:srgbClr val="11202B"/>
                </a:solidFill>
                <a:latin typeface="Malgun Gothic"/>
                <a:ea typeface="Malgun Gothic"/>
                <a:cs typeface="Malgun Gothic"/>
              </a:rPr>
              <a:t>은 교감신경의 연장으로 보아야 한다. 교감신경절전 뉴런이 직접 자극하면 </a:t>
            </a:r>
            <a:r>
              <a:rPr sz="1800" b="1" i="0">
                <a:solidFill>
                  <a:srgbClr val="11202B"/>
                </a:solidFill>
                <a:latin typeface="Malgun Gothic"/>
                <a:ea typeface="Malgun Gothic"/>
                <a:cs typeface="Malgun Gothic"/>
              </a:rPr>
              <a:t>epinephrine(약 80%)과 norepinephrine(약 20%)</a:t>
            </a:r>
            <a:r>
              <a:rPr sz="1800" b="0" i="0">
                <a:solidFill>
                  <a:srgbClr val="11202B"/>
                </a:solidFill>
                <a:latin typeface="Malgun Gothic"/>
                <a:ea typeface="Malgun Gothic"/>
                <a:cs typeface="Malgun Gothic"/>
              </a:rPr>
              <a:t> 을 혈액으로 방출한다. 즉 신경 자극에 의해 호르몬이 나오는 구조이며, 교감신경 반응을 전신에 확산시키는 역할을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부신 겉질</a:t>
            </a:r>
            <a:r>
              <a:rPr sz="1800" b="0" i="0">
                <a:solidFill>
                  <a:srgbClr val="11202B"/>
                </a:solidFill>
                <a:latin typeface="Malgun Gothic"/>
                <a:ea typeface="Malgun Gothic"/>
                <a:cs typeface="Malgun Gothic"/>
              </a:rPr>
              <a:t>은 세 층으로 나뉘고 각 층에서 서로 다른 steroid가 나온다. 바깥에서 안으로 순서대로 다음과 같다.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부신: 겉질과 속질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생산 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조절 자극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작용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Zona glomerulosa (가장 바깥)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aldosterone (mineralocorticoid)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angiotensin II, 혈중 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신장 Na⁺ 재흡수, K⁺ 분비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Zona fasciculata (중간, 가장 두껍다)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cortisol (glucocorticoid)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ACTH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대사, 스트레스 반응, 면역 억제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Zona reticularis (가장 안쪽)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androgen (DHEA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약한 남성 호르몬 작용</a:t>
                      </a:r>
                    </a:p>
                  </a:txBody>
                  <a:tcPr marL="73152" marR="73152" marT="27432" marB="2743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부신: 겉질과 속질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층 모두 cholesterol에서 출발하지만, 각 층이 가진 효소가 달라 경로가 갈라진다. Zona glomerulosa에만 aldosterone synthase가 있고, zona fasciculata와 reticularis에만 17α-hydroxylase가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Cortisol</a:t>
            </a:r>
            <a:r>
              <a:rPr sz="1400" b="0" i="0">
                <a:solidFill>
                  <a:srgbClr val="11202B"/>
                </a:solidFill>
                <a:latin typeface="Malgun Gothic"/>
                <a:ea typeface="Malgun Gothic"/>
                <a:cs typeface="Malgun Gothic"/>
              </a:rPr>
              <a:t>은 가장 중요한 glucocorticoid이며, 이름대로 포도당 대사에 작용한다. 주된 작용은 </a:t>
            </a:r>
            <a:r>
              <a:rPr sz="1400" b="1" i="0">
                <a:solidFill>
                  <a:srgbClr val="11202B"/>
                </a:solidFill>
                <a:latin typeface="Malgun Gothic"/>
                <a:ea typeface="Malgun Gothic"/>
                <a:cs typeface="Malgun Gothic"/>
              </a:rPr>
              <a:t>혈당을 올리는 방향</a:t>
            </a:r>
            <a:r>
              <a:rPr sz="1400" b="0" i="0">
                <a:solidFill>
                  <a:srgbClr val="11202B"/>
                </a:solidFill>
                <a:latin typeface="Malgun Gothic"/>
                <a:ea typeface="Malgun Gothic"/>
                <a:cs typeface="Malgun Gothic"/>
              </a:rPr>
              <a:t>으로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간</a:t>
            </a:r>
            <a:r>
              <a:rPr sz="1400" b="0" i="0">
                <a:solidFill>
                  <a:srgbClr val="11202B"/>
                </a:solidFill>
                <a:latin typeface="Malgun Gothic"/>
                <a:ea typeface="Malgun Gothic"/>
                <a:cs typeface="Malgun Gothic"/>
              </a:rPr>
              <a:t>: 아미노산과 glycerol로부터 glucose를 새로 만드는 과정(gluconeogenesis)에 필요한 효소의 발현을 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근육</a:t>
            </a:r>
            <a:r>
              <a:rPr sz="1400" b="0" i="0">
                <a:solidFill>
                  <a:srgbClr val="11202B"/>
                </a:solidFill>
                <a:latin typeface="Malgun Gothic"/>
                <a:ea typeface="Malgun Gothic"/>
                <a:cs typeface="Malgun Gothic"/>
              </a:rPr>
              <a:t>: 단백질을 분해해 아미노산을 내보내 간에 원료를 공급한다. 오래 쓰면 근육이 줄어든다.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 조직</a:t>
            </a:r>
            <a:r>
              <a:rPr sz="1400" b="0" i="0">
                <a:solidFill>
                  <a:srgbClr val="11202B"/>
                </a:solidFill>
                <a:latin typeface="Malgun Gothic"/>
                <a:ea typeface="Malgun Gothic"/>
                <a:cs typeface="Malgun Gothic"/>
              </a:rPr>
              <a:t>: 지질을 분해해 지방산과 glycerol을 내보낸다. 동시에 몸통과 얼굴에는 지방이 쌓이는 특이한 재분포가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말초 조직</a:t>
            </a:r>
            <a:r>
              <a:rPr sz="1400" b="0" i="0">
                <a:solidFill>
                  <a:srgbClr val="11202B"/>
                </a:solidFill>
                <a:latin typeface="Malgun Gothic"/>
                <a:ea typeface="Malgun Gothic"/>
                <a:cs typeface="Malgun Gothic"/>
              </a:rPr>
              <a:t>: Insulin에 대한 반응을 둔하게 만들어 포도당 이용을 줄인다.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Cortisol의 다른 중요한 작용이 </a:t>
            </a:r>
            <a:r>
              <a:rPr sz="1400" b="1" i="0">
                <a:solidFill>
                  <a:srgbClr val="11202B"/>
                </a:solidFill>
                <a:latin typeface="Malgun Gothic"/>
                <a:ea typeface="Malgun Gothic"/>
                <a:cs typeface="Malgun Gothic"/>
              </a:rPr>
              <a:t>면역과 염증 억제</a:t>
            </a:r>
            <a:r>
              <a:rPr sz="1400" b="0" i="0">
                <a:solidFill>
                  <a:srgbClr val="11202B"/>
                </a:solidFill>
                <a:latin typeface="Malgun Gothic"/>
                <a:ea typeface="Malgun Gothic"/>
                <a:cs typeface="Malgun Gothic"/>
              </a:rPr>
              <a:t>다. 염증 매개체의 생산을 줄이고, 면역 세포의 활성과 이동을 억제한다. 이 작용이 glucocorticoid를 임상에서 가장 널리 쓰이는 약물 계열 가운데 하나로 만들었다.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Cortisol 분비는 </a:t>
            </a:r>
            <a:r>
              <a:rPr sz="1400" b="1" i="0">
                <a:solidFill>
                  <a:srgbClr val="11202B"/>
                </a:solidFill>
                <a:latin typeface="Malgun Gothic"/>
                <a:ea typeface="Malgun Gothic"/>
                <a:cs typeface="Malgun Gothic"/>
              </a:rPr>
              <a:t>일중 변동(diurnal rhythm)</a:t>
            </a:r>
            <a:r>
              <a:rPr sz="1400" b="0" i="0">
                <a:solidFill>
                  <a:srgbClr val="11202B"/>
                </a:solidFill>
                <a:latin typeface="Malgun Gothic"/>
                <a:ea typeface="Malgun Gothic"/>
                <a:cs typeface="Malgun Gothic"/>
              </a:rPr>
              <a:t> 을 보인다. 이른 아침에 가장 높고 밤에 가장 낮다. 따라서 cortisol을 측정할 때는 채혈 시각을 반드시 함께 기록해야 하며, 한 번의 수치만으로 판단할 수 없다.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부신: 겉질과 속질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Glucocorticoid를 오래 투여하면 두 가지 문제가 생긴다. 첫째, cortisol의 작용이 과도해져 Cushing 증후군과 같은 상태가 된다. 고혈당, 근육 위축, 중심성 비만, 뼈 약화, 감염 취약, 피부 얇아짐이 나타난다. 둘째, 외부에서 들어온 glucocorticoid가 축을 음성 되먹임으로 억제해 ACTH 분비가 줄고 부신 겉질이 위축된다. 이 상태에서 약을 갑자기 끊으면 cortisol이 부족해져 위험하므로, 반드시 서서히 줄여야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부신: 겉질과 속질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33</a:t>
            </a:r>
          </a:p>
        </p:txBody>
      </p:sp>
      <p:pic>
        <p:nvPicPr>
          <p:cNvPr id="7" name="Picture 6" descr="fig-adrenal.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부신 겉질 세 층과 속질의 구분. 각 층에서 생산되는 호르몬과 조절 자극, cholesterol에서 갈라지는 합성 경로, cortisol의 대사 작용 네 방향, 그리고 일중 변동 곡선을 함께 보인다.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Melmed S, Auchus RJ, Goldfine AB, et al., eds. Williams Textbook of Endocrinology. 14th ed. Elsevier; 2020.</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XIV, Endocrinology and Reproduction.</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IX, The Endocrine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Molina PE. Endocrine Physiology. 5th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9, Endocrine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Ferrier DR. Lippincott Illustrated Reviews: Biochemistry. 8th ed. Wolters Kluwer; 2023. Chapters 23 and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