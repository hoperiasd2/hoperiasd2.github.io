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혈당 조절에서 insulin과 glucagon의 작용. β cell의 insulin 분비 기전, GLUT4 이동을 통한 포도당 흡수, 기관별 효과의 차이, glucagon의 간 표적성, 그리고 혈당을 올리는 호르몬이 여럿인데 내리는 호르몬은 하나뿐인 비대칭을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호르몬 상호작용의 세 양식과 사례. 상승·허용·길항의 효과 크기 비교, 갑상샘 호르몬의 허용 작용 기전, 그리고 집합관의 11베타-HSD2가 cortisol과 aldosterone의 수용체 교차 작용을 막는 방식을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표적을 결정하는 것은 호르몬이 아니라 수용체다. 호르몬은 혈액을 타고 몸 전체를 돌지만 수용체가 없는 세포는 반응하지 않는다. 결과는 두 가지다. 첫째, 하나의 호르몬이 여러 기관에 동시에 작용할 수 있다. 둘째, 같은 호르몬이 기관마다 다른 수용체를 통해 서로 다른 효과를 낼 수 있다. Angiotensin II가 혈관에서는 수축, 부신에서는 aldosterone 분비, 시상하부에서는 갈증을 일으키는 것이 그 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Insulin은 peptide 호르몬이므로 소화관에서 단백질 분해 효소에 분해되어 경구 투여가 불가능하다. Prednisolone은 steroid이므로 지질에 녹아 소화관 상피의 세포막을 통과해 흡수되고, 분해 효소의 표적도 아니므로 경구 투여가 가능하다. 구조가 용해도를 정하고 용해도가 투여 경로를 정한다.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호르몬 한 분자가 수용체 하나를 활성화하면 그 수용체가 여러 개의 G 단백질을 활성화하고, 각 adenylyl cyclase가 수백 개의 cAMP를 만들고, 각 protein kinase A가 수많은 기질을 인산화한다. 단계마다 배수가 곱해지므로 10의 마이너스 10 제곱 M 수준의 매우 낮은 호르몬 농도로도 큰 세포 반응을 만들 수 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시상하부와 뇌하수체 전엽을 잇는 hypophyseal portal system으로 직접 전달하므로, 적은 양으로도 표적인 전엽에서 충분히 높은 농도를 만들 수 있다. 또한 전신 혈액으로 희석되지 않으므로 다른 기관에 영향을 주지 않는다. 적은 양으로 국소적으로 작용하게 하는 설계다.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후엽은 뇌의 일부가 아래로 자라 내려와 만들어진 신경 조직이므로 분비 상피가 아니다. 시상하부의 신경 세포체에서 만들어진 호르몬이 축삭을 따라 내려와 후엽의 말단에 저장되어 있다가 방출되며, 후엽은 저장과 방출의 장소일 뿐이다. 전엽은 입천장의 상피가 올라와 만들어진 분비 조직이므로 스스로 만든다. 따라서 신경 자극에 의해 즉시 방출되는 ADH와 oxytocin이 후엽, 나머지 여섯 가지 자극 호르몬이 전엽이라는 구분이 자연스럽게 따라온다.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T4의 반감기가 약 7일로 길어 혈중 농도가 안정하게 유지된다. 운반 단백질에 결합한 저장 겸 전구체 형태로 순환하는 것이다. 둘째, 각 조직이 자신의 deiodinase 활성을 조절해 필요한 만큼만 T3로 바꿀 수 있으므로, 전신의 호르몬 농도와 별개로 조직 수준의 미세 조절이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외부에서 들어온 glucocorticoid가 시상하부와 뇌하수체에 음성 되먹임으로 작용해 CRH와 ACTH 분비를 억제하고, 자극을 받지 못한 부신 겉질이 위축된다. 이 상태에서 약을 갑자기 끊으면 외부 공급도 없고 내부 생산도 되지 않아 cortisol이 급격히 부족해져 저혈압과 쇼크에 이를 수 있다. 따라서 축이 회복될 시간을 주기 위해 서서히 줄여야 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저혈당은 수 분 안에 뇌의 에너지 공급을 끊어 의식을 잃게 하고 생명을 위협하므로, glucagon·epinephrine·cortisol·growth hormone의 여러 겹 방어가 필요하다. 고혈당은 급성으로는 그만큼 위험하지 않고 장기간에 걸쳐 손상을 일으키므로, 하나의 호르몬으로 조절해도 생존에 지장이 없었다.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칼슘의 약 45%는 albumin에 결합해 있고 약 45%는 이온화된 자유 칼슘이며 나머지는 음이온과 복합체를 이룬다. 생리 활성을 가지는 것은 이온화 칼슘뿐이다. 알칼리증에서는 albumin의 음전하가 늘어 칼슘을 더 많이 붙잡으므로, 총 칼슘은 변하지 않아도 이온화 칼슘이 떨어진다. 그 결과 신경과 근육의 흥분성이 올라가 손발 저림과 경련이 나타난다. 과호흡 환자의 수족 경련이 이 기전이다.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PTH는 신장의 근위세뇨관에서 인 재흡수를 줄이므로 칼슘은 올리면서 인은 내린다. 활성형 vitamin D는 장에서 칼슘과 인의 흡수를 모두 늘리므로 둘 다 올린다. 따라서 칼슘이 올라간 상태에서 인이 낮으면 PTH 또는 PTHrP의 작용이 우세한 것이고, 칼슘과 인이 함께 올라가 있으면 vitamin D 과잉이나 육아종성 질환을 시사한다. 만성 신질환에서는 인 배설 자체가 안 되므로 이차성 부갑상샘 기능항진증인데도 인이 올라가는 예외가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PTH 수치로 구분한다. 악성종양에서 분비되는 PTHrP는 PTH 수용체를 자극하므로 칼슘 증가와 인 감소라는 같은 결과를 만들지만, 올라간 칼슘이 부갑상샘의 칼슘 감지 수용체를 통해 되먹임으로 PTH 분비를 억제한다. 따라서 PTH는 낮게 측정된다. 반면 일차성 부갑상샘 기능항진증에서는 부갑상샘 자체가 자율적으로 분비하므로 PTH가 올라가 있거나 고칼슘혈증에 비해 부적절하게 정상이다.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IGF-1을 잰다. GH는 박동성으로 분비되고 깊은 수면 초기에 큰 봉우리가 나오므로 무작위로 잰 값은 해석할 수 없다. IGF-1은 결합단백질에 실려 반감기가 길고 하루 동안 안정적이어서 축의 평균 활성을 반영한다. 다만 영양 상태와 간 기능에 영향을 받으므로 해석에 주의한다. 진단을 확정할 때는 되먹임을 이용해, 과다가 의심되면 경구 당부하 후 GH가 억제되는지를 보고 결핍이 의심되면 자극 검사를 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 과잉이 성장판이 닫히기 전에 생기면 긴뼈가 길이로 계속 자라 거인증이 되고, 닫힌 뒤에 생기면 길이로 자랄 수 없으므로 막성 골화가 계속되는 손발, 턱, 이마가 굵어지는 말단비대증이 된다. Estrogen은 사춘기에 성장 급증을 돕는 동시에 성장판을 닫는 호르몬이기도 하다. 남성에서도 testosterone이 aromatase를 통해 estrogen으로 전환되어 작용하므로, aromatase 결핍이나 estrogen 수용체 결함이 있으면 성인이 되어도 성장판이 닫히지 않아 키가 계속 자란다.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기능 과다가 의심되면 억제 검사를 쓴다. 정상이라면 되먹임으로 억제되어야 하는데 억제되지 않으면 자율적 분비를 뜻한다. Cushing 증후군의 dexamethasone 억제 검사, 말단비대증의 경구 당부하 후 GH 측정이 예다. 기능 저하가 의심되면 자극 검사를 쓴다. 정상이라면 자극에 반응해 올라가야 하는데 오르지 않으면 예비력이 없는 것이다. 부신 기능저하의 ACTH 자극 검사, GH 결핍의 insulin 저혈당 검사가 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색소침착과 고칼륨혈증이며 둘 다 일차성에만 나타난다. 색소침착은 부신에서 cortisol이 나오지 않아 되먹임이 풀리면서 ACTH와 그 전구체인 POMC 유래 펩타이드가 크게 늘고, 그 가운데 MSH 활성이 멜라닌세포를 자극하기 때문이다. 이차성에서는 ACTH 자체가 부족하므로 색소침착이 없다. 고칼륨혈증은 aldosterone 결핍 때문인데, aldosterone은 ACTH가 아니라 주로 renin-angiotensin 계와 혈중 칼륨의 지배를 받으므로 ACTH만 부족한 이차성에서는 분비가 보존된다. 따라서 이차성에서는 전해질 이상이 두드러지지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효과, biotin 간섭, 이종 항체 간섭이다. Hook 효과는 항원 농도가 지나치게 높아 측정 항체가 포화되면서 오히려 낮은 값이 나오는 현상으로, 거대 prolactinoma처럼 prolactin이 극단적으로 높을 때 정상 범위로 측정될 수 있다. 검체를 희석해 다시 재면 참값이 드러난다. Biotin 간섭은 고용량 보충제가 streptavidin 기반 측정법을 교란하는 것이고, 이종 항체 간섭은 환자 혈청의 항체가 측정 항체에 결합해 거짓 값을 만드는 것이다. 결과가 임상 양상과 맞지 않으면 질환을 찾기 전에 측정을 의심해야 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내분비계 요약: 호르몬과 되먹임</a:t>
            </a:r>
          </a:p>
          <a:p>
            <a:r>
              <a:rPr sz="1500" b="0" i="0">
                <a:solidFill>
                  <a:srgbClr val="B9D2E8"/>
                </a:solidFill>
                <a:latin typeface="Malgun Gothic"/>
                <a:ea typeface="Malgun Gothic"/>
                <a:cs typeface="Malgun Gothic"/>
              </a:rPr>
              <a:t>The Endocrine System: Hormones and Feedback</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M01-W02-L02  ·  2부</a:t>
            </a:r>
          </a:p>
          <a:p>
            <a:r>
              <a:rPr sz="1100" b="0" i="0">
                <a:solidFill>
                  <a:srgbClr val="F2B705"/>
                </a:solidFill>
                <a:latin typeface="Malgun Gothic"/>
                <a:ea typeface="Malgun Gothic"/>
                <a:cs typeface="Malgun Gothic"/>
              </a:rPr>
              <a:t>전체 13절 가운데 6절</a:t>
            </a:r>
          </a:p>
          <a:p>
            <a:r>
              <a:rPr sz="1100" b="0" i="0">
                <a:solidFill>
                  <a:srgbClr val="9FBEDA"/>
                </a:solidFill>
                <a:latin typeface="Malgun Gothic"/>
                <a:ea typeface="Malgun Gothic"/>
                <a:cs typeface="Malgun Gothic"/>
              </a:rPr>
              <a:t>2주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내분비 신호 전달을 신경 신호 전달과 네 가지 기준으로 비교하고 각 방식이 적합한 상황을 구분한다.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호르몬을 화학 구조에 따라 세 부류로 나누고 각 부류의 용해도·운반 방식·반감기·수용체 위치를 표로 정리한다.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수용체가 세포막에 있는 경우와 핵 안에 있는 경우의 신호 전달 경로와 반응 속도 차이를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음성 되먹임의 구조를 세 요소로 나누어 설명하고 시상하부–뇌하수체–표적기관 축에서 되먹임이 작용하는 지점을 지목한다.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뇌하수체 전엽과 후엽의 발생학적·구조적 차이를 설명하고 각 엽에서 나오는 호르몬을 구분한다.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갑상샘 호르몬의 합성 단계를 순서대로 쓰고 T4와 T3의 관계를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부신 겉질의 세 층에서 나오는 호르몬을 구분하고 cortisol의 대사 작용을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혈당 조절에서 insulin과 glucagon이 작용하는 기관과 경로를 구분해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호르몬 분비 이상을 과다와 부족으로 나누고 되먹임 축의 어느 지점에 문제가 있는지로 원발성과 이차성을 구분한다.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호르몬 작용의 세 가지 상호작용 양식을 정의하고 사례를 든다.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M01-W01-L01 순환계 요약: 심장·혈관·혈류와 항상성 — RAAS, aldosterone, 혈압 조절</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M01-W02-L01 신장·비뇨계 요약: 배설·체액·전해질 조절 — aldosterone과 ADH의 작용 지점, vitamin D 활성화, PTH</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세포막 수송과 수용체의 기본 개념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8. 혈당 조절: insulin과 glucagon</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9. 호르몬 작용의 상호작용 양식</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10. 칼슘·인 항상성과 뼈의 내분비 조절</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11. 성장의 내분비 조절</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12. 내분비 검사의 논리</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13. 내분비 질환을 읽는 기본 논리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혈당 조절: insulin과 glucagon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혈당 조절은 내분비 조절의 원리를 가장 선명하게 보여 주는 예다. 두 호르몬이 반대 방향으로 작용하며, 둘 다 췌장의 </a:t>
            </a:r>
            <a:r>
              <a:rPr sz="1400" b="1" i="0">
                <a:solidFill>
                  <a:srgbClr val="11202B"/>
                </a:solidFill>
                <a:latin typeface="Malgun Gothic"/>
                <a:ea typeface="Malgun Gothic"/>
                <a:cs typeface="Malgun Gothic"/>
              </a:rPr>
              <a:t>islet of Langerhans</a:t>
            </a:r>
            <a:r>
              <a:rPr sz="1400" b="0" i="0">
                <a:solidFill>
                  <a:srgbClr val="11202B"/>
                </a:solidFill>
                <a:latin typeface="Malgun Gothic"/>
                <a:ea typeface="Malgun Gothic"/>
                <a:cs typeface="Malgun Gothic"/>
              </a:rPr>
              <a:t>에서 나온다. β cell이 insulin을, α cell이 glucagon을, δ cell이 somatostatin을 분비한다.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Insulin: 혈당을 내리는 유일한 호르몬.</a:t>
            </a:r>
            <a:r>
              <a:rPr sz="1400" b="0" i="0">
                <a:solidFill>
                  <a:srgbClr val="11202B"/>
                </a:solidFill>
                <a:latin typeface="Malgun Gothic"/>
                <a:ea typeface="Malgun Gothic"/>
                <a:cs typeface="Malgun Gothic"/>
              </a:rPr>
              <a:t> 분비 자극은 혈당 상승이며, 앞 수업에서 본 incretin(GIP, GLP-1)이 이를 증폭한다. 분비 기전은 다음과 같다. 혈당이 올라가면 β cell이 GLUT2로 포도당을 받아들이고, 대사해 ATP를 만든다. ATP가 ATP 민감성 K⁺ 통로를 닫으면 세포가 탈분극하고, Ca²⁺ 통로가 열려 들어온 Ca²⁺이 insulin 소포의 방출을 일으킨다.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Insulin은 수용체 tyrosine kinase를 통해 작용하며, 기관별 효과는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근육과 지방 조직</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GLUT4</a:t>
            </a:r>
            <a:r>
              <a:rPr sz="1400" b="0" i="0">
                <a:solidFill>
                  <a:srgbClr val="11202B"/>
                </a:solidFill>
                <a:latin typeface="Malgun Gothic"/>
                <a:ea typeface="Malgun Gothic"/>
                <a:cs typeface="Malgun Gothic"/>
              </a:rPr>
              <a:t> 수송체를 세포막으로 이동시켜 포도당 흡수를 늘린다. 이것이 혈당을 내리는 주된 기전이다.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간</a:t>
            </a:r>
            <a:r>
              <a:rPr sz="1400" b="0" i="0">
                <a:solidFill>
                  <a:srgbClr val="11202B"/>
                </a:solidFill>
                <a:latin typeface="Malgun Gothic"/>
                <a:ea typeface="Malgun Gothic"/>
                <a:cs typeface="Malgun Gothic"/>
              </a:rPr>
              <a:t>: Glycogen 합성을 촉진하고 분해를 억제한다. Glucose를 새로 만드는 과정도 억제한다.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지방 조직</a:t>
            </a:r>
            <a:r>
              <a:rPr sz="1400" b="0" i="0">
                <a:solidFill>
                  <a:srgbClr val="11202B"/>
                </a:solidFill>
                <a:latin typeface="Malgun Gothic"/>
                <a:ea typeface="Malgun Gothic"/>
                <a:cs typeface="Malgun Gothic"/>
              </a:rPr>
              <a:t>: 지질 합성을 촉진하고 분해를 억제한다.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전신</a:t>
            </a:r>
            <a:r>
              <a:rPr sz="1400" b="0" i="0">
                <a:solidFill>
                  <a:srgbClr val="11202B"/>
                </a:solidFill>
                <a:latin typeface="Malgun Gothic"/>
                <a:ea typeface="Malgun Gothic"/>
                <a:cs typeface="Malgun Gothic"/>
              </a:rPr>
              <a:t>: 아미노산 흡수와 단백질 합성을 촉진한다.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Insulin을 </a:t>
            </a:r>
            <a:r>
              <a:rPr sz="1400" b="1" i="0">
                <a:solidFill>
                  <a:srgbClr val="11202B"/>
                </a:solidFill>
                <a:latin typeface="Malgun Gothic"/>
                <a:ea typeface="Malgun Gothic"/>
                <a:cs typeface="Malgun Gothic"/>
              </a:rPr>
              <a:t>저장의 호르몬</a:t>
            </a:r>
            <a:r>
              <a:rPr sz="1400" b="0" i="0">
                <a:solidFill>
                  <a:srgbClr val="11202B"/>
                </a:solidFill>
                <a:latin typeface="Malgun Gothic"/>
                <a:ea typeface="Malgun Gothic"/>
                <a:cs typeface="Malgun Gothic"/>
              </a:rPr>
              <a:t>으로 이해하는 것이 좋다. 영양소가 들어온 상태에서 그것을 세포로 들여보내고 저장 형태로 바꾸는 모든 방향으로 작용한다.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Glucagon: 혈당을 올리는 호르몬.</a:t>
            </a:r>
            <a:r>
              <a:rPr sz="1400" b="0" i="0">
                <a:solidFill>
                  <a:srgbClr val="11202B"/>
                </a:solidFill>
                <a:latin typeface="Malgun Gothic"/>
                <a:ea typeface="Malgun Gothic"/>
                <a:cs typeface="Malgun Gothic"/>
              </a:rPr>
              <a:t> 분비 자극은 혈당 저하다. 표적은 거의 전적으로 </a:t>
            </a:r>
            <a:r>
              <a:rPr sz="1400" b="1" i="0">
                <a:solidFill>
                  <a:srgbClr val="11202B"/>
                </a:solidFill>
                <a:latin typeface="Malgun Gothic"/>
                <a:ea typeface="Malgun Gothic"/>
                <a:cs typeface="Malgun Gothic"/>
              </a:rPr>
              <a:t>간</a:t>
            </a:r>
            <a:r>
              <a:rPr sz="1400" b="0" i="0">
                <a:solidFill>
                  <a:srgbClr val="11202B"/>
                </a:solidFill>
                <a:latin typeface="Malgun Gothic"/>
                <a:ea typeface="Malgun Gothic"/>
                <a:cs typeface="Malgun Gothic"/>
              </a:rPr>
              <a:t>이며, cAMP 경로를 통해 작용한다.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Glycogen을 분해해 glucose를 내보낸다(빠른 반응)</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아미노산과 glycerol로부터 glucose를 새로 만든다(지속적 반응)</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지방산을 산화해 ketone body를 만든다(긴 공복에서)</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Insulin과 glucagon의 표적 차이에 주목해야 한다. </a:t>
            </a:r>
            <a:r>
              <a:rPr sz="1400" b="1" i="0">
                <a:solidFill>
                  <a:srgbClr val="11202B"/>
                </a:solidFill>
                <a:latin typeface="Malgun Gothic"/>
                <a:ea typeface="Malgun Gothic"/>
                <a:cs typeface="Malgun Gothic"/>
              </a:rPr>
              <a:t>Insulin은 여러 기관에 작용하고, glucagon은 거의 간에만 작용한다.</a:t>
            </a:r>
            <a:r>
              <a:rPr sz="1400" b="0" i="0">
                <a:solidFill>
                  <a:srgbClr val="11202B"/>
                </a:solidFill>
                <a:latin typeface="Malgun Gothic"/>
                <a:ea typeface="Malgun Gothic"/>
                <a:cs typeface="Malgun Gothic"/>
              </a:rPr>
              <a:t> 혈당을 내리려면 여러 곳에서 포도당을 거두어들여야 하지만, 올리려면 포도당을 내보낼 수 있는 곳이 간뿐이기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혈당을 올리는 호르몬은 glucagon 하나가 아니다. Epinephrine(빠른 반응), cortisol(지속적 반응), growth hormone이 모두 혈당을 올린다. 반면 </a:t>
            </a:r>
            <a:r>
              <a:rPr sz="1400" b="1" i="0">
                <a:solidFill>
                  <a:srgbClr val="11202B"/>
                </a:solidFill>
                <a:latin typeface="Malgun Gothic"/>
                <a:ea typeface="Malgun Gothic"/>
                <a:cs typeface="Malgun Gothic"/>
              </a:rPr>
              <a:t>혈당을 내리는 호르몬은 insulin 하나뿐이다.</a:t>
            </a:r>
            <a:r>
              <a:rPr sz="1400" b="0" i="0">
                <a:solidFill>
                  <a:srgbClr val="11202B"/>
                </a:solidFill>
                <a:latin typeface="Malgun Gothic"/>
                <a:ea typeface="Malgun Gothic"/>
                <a:cs typeface="Malgun Gothic"/>
              </a:rPr>
              <a:t> 이 비대칭은 생존 조건에서 나온다. 저혈당은 수 분 안에 뇌 기능을 멈추게 하므로 여러 겹의 방어가 필요하고, 고혈당은 급성으로는 덜 위험하다.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혈당 조절: insulin과 glucagon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제1형 당뇨병은 β cell이 자가면역으로 파괴되어 insulin이 절대적으로 부족한 상태다. Insulin이 없으면 포도당이 세포로 들어가지 못해 혈당이 올라가는 동시에, 지질 분해가 억제되지 않아 지방산이 대량으로 간에 들어가 ketone body가 과도하게 만들어진다. 그 결과 고혈당과 산증이 함께 나타나는 당뇨병성 ketoacidosis가 된다. 제2형에서는 insulin이 남아 있어 지질 분해를 어느 정도 억제하므로 ketoacidosis가 드물다.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혈당 조절: insulin과 glucagon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7</a:t>
            </a:r>
          </a:p>
        </p:txBody>
      </p:sp>
      <p:pic>
        <p:nvPicPr>
          <p:cNvPr id="7" name="Picture 6" descr="fig-glucose-regulation.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혈당 조절에서 insulin과 glucagon의 작용. β cell의 insulin 분비 기전, GLUT4 이동을 통한 포도당 흡수, 기관별 효과의 차이, glucagon의 간 표적성, 그리고 혈당을 올리는 호르몬이 여럿인데 내리는 호르몬은 하나뿐인 비대칭을 함께 보인다.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호르몬 작용의 상호작용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호르몬은 혼자 작용하지 않는다. 여러 호르몬이 같은 표적에 함께 작용할 때 나타나는 양식을 세 가지로 구분하면 복잡한 상황을 정리할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상승(synergism)</a:t>
            </a:r>
            <a:r>
              <a:rPr sz="1400" b="0" i="0">
                <a:solidFill>
                  <a:srgbClr val="11202B"/>
                </a:solidFill>
                <a:latin typeface="Malgun Gothic"/>
                <a:ea typeface="Malgun Gothic"/>
                <a:cs typeface="Malgun Gothic"/>
              </a:rPr>
              <a:t>. 두 호르몬이 함께 작용할 때의 효과가 각각의 효과를 더한 것보다 크다. 혈당을 올리는 데 epinephrine, cortisol, glucagon이 함께 작용하면 각각의 합보다 큰 상승이 나타난다. 서로 다른 경로를 통해 같은 결과를 향하기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허용(permissiveness)</a:t>
            </a:r>
            <a:r>
              <a:rPr sz="1400" b="0" i="0">
                <a:solidFill>
                  <a:srgbClr val="11202B"/>
                </a:solidFill>
                <a:latin typeface="Malgun Gothic"/>
                <a:ea typeface="Malgun Gothic"/>
                <a:cs typeface="Malgun Gothic"/>
              </a:rPr>
              <a:t>. 한 호르몬이 자신은 효과를 내지 않으면서 다른 호르몬의 효과가 나타날 수 있게 한다. 갑상샘 호르몬이 β 수용체의 수를 늘려 catecholamine의 효과를 가능하게 하는 것이 대표적이다. 갑상샘 호르몬 자신은 심박수를 직접 크게 올리지 않지만, 그것이 없으면 catecholamine도 효과를 내지 못한다. Cortisol이 catecholamine의 혈관 수축 작용에 대해 가지는 허용 작용도 같은 범주이며, 부신 기능 저하 환자에서 혈압이 유지되지 않는 이유가 여기에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길항(antagonism)</a:t>
            </a:r>
            <a:r>
              <a:rPr sz="1400" b="0" i="0">
                <a:solidFill>
                  <a:srgbClr val="11202B"/>
                </a:solidFill>
                <a:latin typeface="Malgun Gothic"/>
                <a:ea typeface="Malgun Gothic"/>
                <a:cs typeface="Malgun Gothic"/>
              </a:rPr>
              <a:t>. 두 호르몬이 반대 방향으로 작용한다. Insulin과 glucagon, PTH와 calcitonin이 예다. 길항은 다시 두 종류로 나뉜다. 같은 수용체를 두고 경쟁하는 경우(수용체 수준 길항)와, 서로 다른 수용체를 통해 반대 결과를 만드는 경우(기능적 길항)다. Insulin과 glucagon은 후자다.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호르몬 수용체의 교차 작용</a:t>
            </a:r>
            <a:r>
              <a:rPr sz="1400" b="0" i="0">
                <a:solidFill>
                  <a:srgbClr val="11202B"/>
                </a:solidFill>
                <a:latin typeface="Malgun Gothic"/>
                <a:ea typeface="Malgun Gothic"/>
                <a:cs typeface="Malgun Gothic"/>
              </a:rPr>
              <a:t>도 알아 둘 만하다. 구조가 비슷한 호르몬은 서로의 수용체에 약하게 결합할 수 있다. Aldosterone과 cortisol이 대표적인 예다. 둘 다 steroid이고 구조가 비슷해 cortisol도 mineralocorticoid 수용체에 결합할 수 있으며, 혈중 cortisol 농도가 aldosterone보다 훨씬 높으므로 이론적으로는 cortisol이 그 수용체를 점령할 것이다.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문제를 해결하는 장치가 신장에 있다. 집합관 세포에는 </a:t>
            </a:r>
            <a:r>
              <a:rPr sz="1400" b="1" i="0">
                <a:solidFill>
                  <a:srgbClr val="11202B"/>
                </a:solidFill>
                <a:latin typeface="Malgun Gothic"/>
                <a:ea typeface="Malgun Gothic"/>
                <a:cs typeface="Malgun Gothic"/>
              </a:rPr>
              <a:t>11β-hydroxysteroid dehydrogenase type 2</a:t>
            </a:r>
            <a:r>
              <a:rPr sz="1400" b="0" i="0">
                <a:solidFill>
                  <a:srgbClr val="11202B"/>
                </a:solidFill>
                <a:latin typeface="Malgun Gothic"/>
                <a:ea typeface="Malgun Gothic"/>
                <a:cs typeface="Malgun Gothic"/>
              </a:rPr>
              <a:t>라는 효소가 있어 cortisol을 수용체에 결합하지 못하는 cortisone으로 바꾼다. 즉 수용체에 도달하기 전에 cortisol을 없애 aldosterone만 작용하게 한다. 이 효소를 억제하는 물질(감초의 glycyrrhizin이 대표)을 많이 섭취하면 cortisol이 mineralocorticoid 수용체를 자극해 고혈압과 저칼륨혈증이 생긴다.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호르몬 작용의 상호작용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9</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호르몬 작용을 볼 때 한 호르몬만 떼어 생각하면 안 된다. 같은 표적에 어떤 호르몬들이 함께 작용하는지, 그 관계가 상승·허용·길항 가운데 무엇인지를 묻는다. 임상에서 한 호르몬의 결핍이 예상과 다른 증상을 만드는 경우가 대개 허용 작용의 소실 때문이다.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호르몬 작용의 상호작용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10</a:t>
            </a:r>
          </a:p>
        </p:txBody>
      </p:sp>
      <p:pic>
        <p:nvPicPr>
          <p:cNvPr id="7" name="Picture 6" descr="fig-hormone-interaction.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호르몬 상호작용의 세 양식과 사례. 상승·허용·길항의 효과 크기 비교, 갑상샘 호르몬의 허용 작용 기전, 그리고 집합관의 11베타-HSD2가 cortisol과 aldosterone의 수용체 교차 작용을 막는 방식을 함께 보인다.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칼슘·인 항상성과 뼈의 내분비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혈중 칼슘은 좁은 범위(약 8.5~10.5 mg/dL)로 유지된다. 범위를 벗어나면 신경과 근육의 흥분성이 곧바로 바뀌므로 다른 어떤 전해질보다 엄격하게 지켜진다. 이 조절은 </a:t>
            </a:r>
            <a:r>
              <a:rPr sz="1400" b="1" i="0">
                <a:solidFill>
                  <a:srgbClr val="11202B"/>
                </a:solidFill>
                <a:latin typeface="Malgun Gothic"/>
                <a:ea typeface="Malgun Gothic"/>
                <a:cs typeface="Malgun Gothic"/>
              </a:rPr>
              <a:t>세 기관과 세 호르몬</a:t>
            </a:r>
            <a:r>
              <a:rPr sz="1400" b="0" i="0">
                <a:solidFill>
                  <a:srgbClr val="11202B"/>
                </a:solidFill>
                <a:latin typeface="Malgun Gothic"/>
                <a:ea typeface="Malgun Gothic"/>
                <a:cs typeface="Malgun Gothic"/>
              </a:rPr>
              <a:t>이 맞물려 돌아간다.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기관은 </a:t>
            </a:r>
            <a:r>
              <a:rPr sz="1400" b="1" i="0">
                <a:solidFill>
                  <a:srgbClr val="11202B"/>
                </a:solidFill>
                <a:latin typeface="Malgun Gothic"/>
                <a:ea typeface="Malgun Gothic"/>
                <a:cs typeface="Malgun Gothic"/>
              </a:rPr>
              <a:t>뼈</a:t>
            </a:r>
            <a:r>
              <a:rPr sz="1400" b="0" i="0">
                <a:solidFill>
                  <a:srgbClr val="11202B"/>
                </a:solidFill>
                <a:latin typeface="Malgun Gothic"/>
                <a:ea typeface="Malgun Gothic"/>
                <a:cs typeface="Malgun Gothic"/>
              </a:rPr>
              <a:t>(저장고), </a:t>
            </a:r>
            <a:r>
              <a:rPr sz="1400" b="1" i="0">
                <a:solidFill>
                  <a:srgbClr val="11202B"/>
                </a:solidFill>
                <a:latin typeface="Malgun Gothic"/>
                <a:ea typeface="Malgun Gothic"/>
                <a:cs typeface="Malgun Gothic"/>
              </a:rPr>
              <a:t>장</a:t>
            </a:r>
            <a:r>
              <a:rPr sz="1400" b="0" i="0">
                <a:solidFill>
                  <a:srgbClr val="11202B"/>
                </a:solidFill>
                <a:latin typeface="Malgun Gothic"/>
                <a:ea typeface="Malgun Gothic"/>
                <a:cs typeface="Malgun Gothic"/>
              </a:rPr>
              <a:t>(유입), </a:t>
            </a:r>
            <a:r>
              <a:rPr sz="1400" b="1" i="0">
                <a:solidFill>
                  <a:srgbClr val="11202B"/>
                </a:solidFill>
                <a:latin typeface="Malgun Gothic"/>
                <a:ea typeface="Malgun Gothic"/>
                <a:cs typeface="Malgun Gothic"/>
              </a:rPr>
              <a:t>신장</a:t>
            </a:r>
            <a:r>
              <a:rPr sz="1400" b="0" i="0">
                <a:solidFill>
                  <a:srgbClr val="11202B"/>
                </a:solidFill>
                <a:latin typeface="Malgun Gothic"/>
                <a:ea typeface="Malgun Gothic"/>
                <a:cs typeface="Malgun Gothic"/>
              </a:rPr>
              <a:t>(배출)이고, 호르몬은 </a:t>
            </a:r>
            <a:r>
              <a:rPr sz="1400" b="1" i="0">
                <a:solidFill>
                  <a:srgbClr val="11202B"/>
                </a:solidFill>
                <a:latin typeface="Malgun Gothic"/>
                <a:ea typeface="Malgun Gothic"/>
                <a:cs typeface="Malgun Gothic"/>
              </a:rPr>
              <a:t>PTH</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활성형 vitamin D</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FGF23</a:t>
            </a:r>
            <a:r>
              <a:rPr sz="1400" b="0" i="0">
                <a:solidFill>
                  <a:srgbClr val="11202B"/>
                </a:solidFill>
                <a:latin typeface="Malgun Gothic"/>
                <a:ea typeface="Malgun Gothic"/>
                <a:cs typeface="Malgun Gothic"/>
              </a:rPr>
              <a:t>이다. Calcitonin은 사람에서 생리적 비중이 작다.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혈중 칼슘의 형태.</a:t>
            </a:r>
            <a:r>
              <a:rPr sz="1400" b="0" i="0">
                <a:solidFill>
                  <a:srgbClr val="11202B"/>
                </a:solidFill>
                <a:latin typeface="Malgun Gothic"/>
                <a:ea typeface="Malgun Gothic"/>
                <a:cs typeface="Malgun Gothic"/>
              </a:rPr>
              <a:t> 전체 칼슘의 약 45%가 albumin에 결합해 있고, 약 45%가 이온화된 자유 칼슘, 나머지가 음이온과 복합체를 이룬다. 생리 활성을 가지는 것은 </a:t>
            </a:r>
            <a:r>
              <a:rPr sz="1400" b="1" i="0">
                <a:solidFill>
                  <a:srgbClr val="11202B"/>
                </a:solidFill>
                <a:latin typeface="Malgun Gothic"/>
                <a:ea typeface="Malgun Gothic"/>
                <a:cs typeface="Malgun Gothic"/>
              </a:rPr>
              <a:t>이온화 칼슘</a:t>
            </a:r>
            <a:r>
              <a:rPr sz="1400" b="0" i="0">
                <a:solidFill>
                  <a:srgbClr val="11202B"/>
                </a:solidFill>
                <a:latin typeface="Malgun Gothic"/>
                <a:ea typeface="Malgun Gothic"/>
                <a:cs typeface="Malgun Gothic"/>
              </a:rPr>
              <a:t>뿐이다. 두 가지 결과가 따라온다. 첫째, albumin이 낮으면 총 칼슘이 낮게 측정되지만 이온화 칼슘은 정상이므로 증상이 없다(보정식: 총 칼슘 + 0.8 × (4 − albumin)). 둘째, </a:t>
            </a:r>
            <a:r>
              <a:rPr sz="1400" b="1" i="0">
                <a:solidFill>
                  <a:srgbClr val="11202B"/>
                </a:solidFill>
                <a:latin typeface="Malgun Gothic"/>
                <a:ea typeface="Malgun Gothic"/>
                <a:cs typeface="Malgun Gothic"/>
              </a:rPr>
              <a:t>알칼리증에서는 albumin의 음전하가 늘어 칼슘을 더 붙잡으므로</a:t>
            </a:r>
            <a:r>
              <a:rPr sz="1400" b="0" i="0">
                <a:solidFill>
                  <a:srgbClr val="11202B"/>
                </a:solidFill>
                <a:latin typeface="Malgun Gothic"/>
                <a:ea typeface="Malgun Gothic"/>
                <a:cs typeface="Malgun Gothic"/>
              </a:rPr>
              <a:t> 총 칼슘이 정상인데도 이온화 칼슘이 떨어져 손발 저림과 경련이 생긴다. 과호흡 환자의 수족 경련이 이 기전이다.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PTH.</a:t>
            </a:r>
            <a:r>
              <a:rPr sz="1400" b="0" i="0">
                <a:solidFill>
                  <a:srgbClr val="11202B"/>
                </a:solidFill>
                <a:latin typeface="Malgun Gothic"/>
                <a:ea typeface="Malgun Gothic"/>
                <a:cs typeface="Malgun Gothic"/>
              </a:rPr>
              <a:t> 부갑상샘 주세포의 </a:t>
            </a:r>
            <a:r>
              <a:rPr sz="1400" b="1" i="0">
                <a:solidFill>
                  <a:srgbClr val="11202B"/>
                </a:solidFill>
                <a:latin typeface="Malgun Gothic"/>
                <a:ea typeface="Malgun Gothic"/>
                <a:cs typeface="Malgun Gothic"/>
              </a:rPr>
              <a:t>칼슘 감지 수용체(CaSR)</a:t>
            </a:r>
            <a:r>
              <a:rPr sz="1400" b="0" i="0">
                <a:solidFill>
                  <a:srgbClr val="11202B"/>
                </a:solidFill>
                <a:latin typeface="Malgun Gothic"/>
                <a:ea typeface="Malgun Gothic"/>
                <a:cs typeface="Malgun Gothic"/>
              </a:rPr>
              <a:t> 가 혈중 이온화 칼슘을 직접 감지한다. 칼슘이 떨어지면 PTH가 분비되어 세 방향으로 작용한다.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뼈</a:t>
            </a:r>
            <a:r>
              <a:rPr sz="1400" b="0" i="0">
                <a:solidFill>
                  <a:srgbClr val="11202B"/>
                </a:solidFill>
                <a:latin typeface="Malgun Gothic"/>
                <a:ea typeface="Malgun Gothic"/>
                <a:cs typeface="Malgun Gothic"/>
              </a:rPr>
              <a:t>: 골흡수를 자극해 칼슘과 인을 함께 내놓는다. 흥미롭게도 PTH는 osteoclast에 직접 작용하지 않는다. Osteoblast 계열 세포가 RANKL을 내고 이것이 osteoclast 전구세포의 RANK에 결합해 분화와 활성을 일으킨다. OPG는 RANKL을 가로채는 미끼 수용체다.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신장</a:t>
            </a:r>
            <a:r>
              <a:rPr sz="1400" b="0" i="0">
                <a:solidFill>
                  <a:srgbClr val="11202B"/>
                </a:solidFill>
                <a:latin typeface="Malgun Gothic"/>
                <a:ea typeface="Malgun Gothic"/>
                <a:cs typeface="Malgun Gothic"/>
              </a:rPr>
              <a:t>: 원위세뇨관에서 칼슘 재흡수를 늘리고, 근위세뇨관에서 </a:t>
            </a:r>
            <a:r>
              <a:rPr sz="1400" b="1" i="0">
                <a:solidFill>
                  <a:srgbClr val="11202B"/>
                </a:solidFill>
                <a:latin typeface="Malgun Gothic"/>
                <a:ea typeface="Malgun Gothic"/>
                <a:cs typeface="Malgun Gothic"/>
              </a:rPr>
              <a:t>인 재흡수를 줄인다</a:t>
            </a:r>
            <a:r>
              <a:rPr sz="1400" b="0" i="0">
                <a:solidFill>
                  <a:srgbClr val="11202B"/>
                </a:solidFill>
                <a:latin typeface="Malgun Gothic"/>
                <a:ea typeface="Malgun Gothic"/>
                <a:cs typeface="Malgun Gothic"/>
              </a:rPr>
              <a:t>(인을 버린다). 또한 1α-hydroxylase를 활성화한다.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장</a:t>
            </a:r>
            <a:r>
              <a:rPr sz="1400" b="0" i="0">
                <a:solidFill>
                  <a:srgbClr val="11202B"/>
                </a:solidFill>
                <a:latin typeface="Malgun Gothic"/>
                <a:ea typeface="Malgun Gothic"/>
                <a:cs typeface="Malgun Gothic"/>
              </a:rPr>
              <a:t>(간접): 활성형 vitamin D를 통해 칼슘과 인의 흡수를 늘린다.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방향이 갈리는 지점이 여기다.</a:t>
            </a:r>
            <a:r>
              <a:rPr sz="1400" b="0" i="0">
                <a:solidFill>
                  <a:srgbClr val="11202B"/>
                </a:solidFill>
                <a:latin typeface="Malgun Gothic"/>
                <a:ea typeface="Malgun Gothic"/>
                <a:cs typeface="Malgun Gothic"/>
              </a:rPr>
              <a:t> PTH는 칼슘은 올리고 </a:t>
            </a:r>
            <a:r>
              <a:rPr sz="1400" b="1" i="0">
                <a:solidFill>
                  <a:srgbClr val="11202B"/>
                </a:solidFill>
                <a:latin typeface="Malgun Gothic"/>
                <a:ea typeface="Malgun Gothic"/>
                <a:cs typeface="Malgun Gothic"/>
              </a:rPr>
              <a:t>인은 내린다</a:t>
            </a:r>
            <a:r>
              <a:rPr sz="1400" b="0" i="0">
                <a:solidFill>
                  <a:srgbClr val="11202B"/>
                </a:solidFill>
                <a:latin typeface="Malgun Gothic"/>
                <a:ea typeface="Malgun Gothic"/>
                <a:cs typeface="Malgun Gothic"/>
              </a:rPr>
              <a:t>. 반면 활성형 vitamin D는 </a:t>
            </a:r>
            <a:r>
              <a:rPr sz="1400" b="1" i="0">
                <a:solidFill>
                  <a:srgbClr val="11202B"/>
                </a:solidFill>
                <a:latin typeface="Malgun Gothic"/>
                <a:ea typeface="Malgun Gothic"/>
                <a:cs typeface="Malgun Gothic"/>
              </a:rPr>
              <a:t>칼슘과 인을 모두 올린다</a:t>
            </a:r>
            <a:r>
              <a:rPr sz="1400" b="0" i="0">
                <a:solidFill>
                  <a:srgbClr val="11202B"/>
                </a:solidFill>
                <a:latin typeface="Malgun Gothic"/>
                <a:ea typeface="Malgun Gothic"/>
                <a:cs typeface="Malgun Gothic"/>
              </a:rPr>
              <a:t>. 두 호르몬의 인에 대한 방향이 반대라는 점이 질환 감별의 핵심이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FGF23.</a:t>
            </a:r>
            <a:r>
              <a:rPr sz="1400" b="0" i="0">
                <a:solidFill>
                  <a:srgbClr val="11202B"/>
                </a:solidFill>
                <a:latin typeface="Malgun Gothic"/>
                <a:ea typeface="Malgun Gothic"/>
                <a:cs typeface="Malgun Gothic"/>
              </a:rPr>
              <a:t> 골세포(osteocyte)가 인이 쌓일 때 분비한다. 신장에서 인 재흡수를 줄이고 1α-hydroxylase를 억제한다. 즉 </a:t>
            </a:r>
            <a:r>
              <a:rPr sz="1400" b="1" i="0">
                <a:solidFill>
                  <a:srgbClr val="11202B"/>
                </a:solidFill>
                <a:latin typeface="Malgun Gothic"/>
                <a:ea typeface="Malgun Gothic"/>
                <a:cs typeface="Malgun Gothic"/>
              </a:rPr>
              <a:t>인만 전문으로 내리는 호르몬</a:t>
            </a:r>
            <a:r>
              <a:rPr sz="1400" b="0" i="0">
                <a:solidFill>
                  <a:srgbClr val="11202B"/>
                </a:solidFill>
                <a:latin typeface="Malgun Gothic"/>
                <a:ea typeface="Malgun Gothic"/>
                <a:cs typeface="Malgun Gothic"/>
              </a:rPr>
              <a:t>이며, vitamin D까지 함께 억제한다는 점에서 PTH와 다르다.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칼슘·인 항상성과 뼈의 내분비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상태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혈중 Ca</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혈중 P</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PTH</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일차성 부갑상샘 기능항진증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증가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증가</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부갑상샘 기능저하증</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증가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Vitamin D 결핍</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감소 또는 정상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증가(이차성)</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만성 신질환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증가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증가(이차성)</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악성종양의 체액성 고칼슘혈증(PTHrP)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증가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감소</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감소</a:t>
                      </a:r>
                    </a:p>
                  </a:txBody>
                  <a:tcPr marL="73152" marR="73152"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칼슘·인 항상성과 뼈의 내분비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13</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고칼슘혈증에서 가장 먼저 보는 것은 </a:t>
            </a:r>
            <a:r>
              <a:rPr sz="1600" b="1" i="0">
                <a:solidFill>
                  <a:srgbClr val="11202B"/>
                </a:solidFill>
                <a:latin typeface="Malgun Gothic"/>
                <a:ea typeface="Malgun Gothic"/>
                <a:cs typeface="Malgun Gothic"/>
              </a:rPr>
              <a:t>PTH</a:t>
            </a:r>
            <a:r>
              <a:rPr sz="1600" b="0" i="0">
                <a:solidFill>
                  <a:srgbClr val="11202B"/>
                </a:solidFill>
                <a:latin typeface="Malgun Gothic"/>
                <a:ea typeface="Malgun Gothic"/>
                <a:cs typeface="Malgun Gothic"/>
              </a:rPr>
              <a:t>다. PTH가 올라가 있거나 부적절하게 정상이면 일차성 부갑상샘 기능항진증이고, 억제되어 있으면 PTH와 무관한 원인, 즉 악성종양, vitamin D 중독, 육아종성 질환이다. 악성종양에서 PTHrP가 PTH 수용체를 자극하므로 검사 양상은 일차성 부갑상샘 기능항진증과 </a:t>
            </a:r>
            <a:r>
              <a:rPr sz="1600" b="1" i="0">
                <a:solidFill>
                  <a:srgbClr val="11202B"/>
                </a:solidFill>
                <a:latin typeface="Malgun Gothic"/>
                <a:ea typeface="Malgun Gothic"/>
                <a:cs typeface="Malgun Gothic"/>
              </a:rPr>
              <a:t>똑같이</a:t>
            </a:r>
            <a:r>
              <a:rPr sz="1600" b="0" i="0">
                <a:solidFill>
                  <a:srgbClr val="11202B"/>
                </a:solidFill>
                <a:latin typeface="Malgun Gothic"/>
                <a:ea typeface="Malgun Gothic"/>
                <a:cs typeface="Malgun Gothic"/>
              </a:rPr>
              <a:t> 칼슘 증가와 인 감소인데, PTH 자체는 되먹임으로 </a:t>
            </a:r>
            <a:r>
              <a:rPr sz="1600" b="1" i="0">
                <a:solidFill>
                  <a:srgbClr val="11202B"/>
                </a:solidFill>
                <a:latin typeface="Malgun Gothic"/>
                <a:ea typeface="Malgun Gothic"/>
                <a:cs typeface="Malgun Gothic"/>
              </a:rPr>
              <a:t>억제</a:t>
            </a:r>
            <a:r>
              <a:rPr sz="1600" b="0" i="0">
                <a:solidFill>
                  <a:srgbClr val="11202B"/>
                </a:solidFill>
                <a:latin typeface="Malgun Gothic"/>
                <a:ea typeface="Malgun Gothic"/>
                <a:cs typeface="Malgun Gothic"/>
              </a:rPr>
              <a:t>된다는 점이 결정적 차이다. 또 하나 자주 묻는 것은 </a:t>
            </a:r>
            <a:r>
              <a:rPr sz="1600" b="1" i="0">
                <a:solidFill>
                  <a:srgbClr val="11202B"/>
                </a:solidFill>
                <a:latin typeface="Malgun Gothic"/>
                <a:ea typeface="Malgun Gothic"/>
                <a:cs typeface="Malgun Gothic"/>
              </a:rPr>
              <a:t>가족성 저칼슘뇨성 고칼슘혈증</a:t>
            </a:r>
            <a:r>
              <a:rPr sz="1600" b="0" i="0">
                <a:solidFill>
                  <a:srgbClr val="11202B"/>
                </a:solidFill>
                <a:latin typeface="Malgun Gothic"/>
                <a:ea typeface="Malgun Gothic"/>
                <a:cs typeface="Malgun Gothic"/>
              </a:rPr>
              <a:t>으로, CaSR의 기능 상실 변이 때문에 부갑상샘이 칼슘을 낮게 인식해 PTH가 적절히 억제되지 않는다. 수술 대상이 아니므로 구분이 중요하며, </a:t>
            </a:r>
            <a:r>
              <a:rPr sz="1600" b="1" i="0">
                <a:solidFill>
                  <a:srgbClr val="11202B"/>
                </a:solidFill>
                <a:latin typeface="Malgun Gothic"/>
                <a:ea typeface="Malgun Gothic"/>
                <a:cs typeface="Malgun Gothic"/>
              </a:rPr>
              <a:t>소변 칼슘이 낮은 것</a:t>
            </a:r>
            <a:r>
              <a:rPr sz="1600" b="0" i="0">
                <a:solidFill>
                  <a:srgbClr val="11202B"/>
                </a:solidFill>
                <a:latin typeface="Malgun Gothic"/>
                <a:ea typeface="Malgun Gothic"/>
                <a:cs typeface="Malgun Gothic"/>
              </a:rPr>
              <a:t>(칼슘/creatinine 청소율 비 0.01 미만)으로 가른다. 신장도 같은 수용체를 쓰기 때문이다.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성장의 내분비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성장은 한 호르몬이 아니라 시기마다 다른 주역이 이끈다. 이 사실 자체가 내분비 조절의 성격을 보여 준다.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성장의 내분비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시기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성장을 주로 이끄는 것</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태아기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insulin, IGF-2, 영양 공급(GH는 거의 관여하지 않는다)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영아기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영양 상태</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소아기</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GH–IGF-1 축</a:t>
                      </a:r>
                      <a:r>
                        <a:rPr sz="1200" b="0" i="0">
                          <a:solidFill>
                            <a:srgbClr val="11202B"/>
                          </a:solidFill>
                          <a:latin typeface="Malgun Gothic"/>
                          <a:ea typeface="Malgun Gothic"/>
                          <a:cs typeface="Malgun Gothic"/>
                        </a:rPr>
                        <a:t>, 갑상샘 호르몬</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사춘기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성호르몬 + GH의 상승 작용</a:t>
                      </a:r>
                    </a:p>
                  </a:txBody>
                  <a:tcPr marL="73152" marR="73152" marT="27432" marB="27432">
                    <a:solidFill>
                      <a:srgbClr val="EFF4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성장의 내분비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GH–IGF-1 축.</a:t>
            </a:r>
            <a:r>
              <a:rPr sz="1400" b="0" i="0">
                <a:solidFill>
                  <a:srgbClr val="11202B"/>
                </a:solidFill>
                <a:latin typeface="Malgun Gothic"/>
                <a:ea typeface="Malgun Gothic"/>
                <a:cs typeface="Malgun Gothic"/>
              </a:rPr>
              <a:t> 시상하부가 GHRH(촉진)와 somatostatin(억제) 두 호르몬으로 뇌하수체 전엽을 조절하고, GH는 간에서 </a:t>
            </a:r>
            <a:r>
              <a:rPr sz="1400" b="1" i="0">
                <a:solidFill>
                  <a:srgbClr val="11202B"/>
                </a:solidFill>
                <a:latin typeface="Malgun Gothic"/>
                <a:ea typeface="Malgun Gothic"/>
                <a:cs typeface="Malgun Gothic"/>
              </a:rPr>
              <a:t>IGF-1</a:t>
            </a:r>
            <a:r>
              <a:rPr sz="1400" b="0" i="0">
                <a:solidFill>
                  <a:srgbClr val="11202B"/>
                </a:solidFill>
                <a:latin typeface="Malgun Gothic"/>
                <a:ea typeface="Malgun Gothic"/>
                <a:cs typeface="Malgun Gothic"/>
              </a:rPr>
              <a:t>을 만들게 한다. 성장판에 직접 작용하는 것은 주로 IGF-1이며, GH는 지방 분해와 인슐린 저항을 올리는 대사 작용도 따로 가진다. 되먹임은 IGF-1이 시상하부와 뇌하수체를 억제하는 방식으로 닫힌다.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GH는 </a:t>
            </a:r>
            <a:r>
              <a:rPr sz="1400" b="1" i="0">
                <a:solidFill>
                  <a:srgbClr val="11202B"/>
                </a:solidFill>
                <a:latin typeface="Malgun Gothic"/>
                <a:ea typeface="Malgun Gothic"/>
                <a:cs typeface="Malgun Gothic"/>
              </a:rPr>
              <a:t>박동성으로 분비</a:t>
            </a:r>
            <a:r>
              <a:rPr sz="1400" b="0" i="0">
                <a:solidFill>
                  <a:srgbClr val="11202B"/>
                </a:solidFill>
                <a:latin typeface="Malgun Gothic"/>
                <a:ea typeface="Malgun Gothic"/>
                <a:cs typeface="Malgun Gothic"/>
              </a:rPr>
              <a:t>되고 깊은 수면 초기에 가장 큰 봉우리가 나온다. 따라서 </a:t>
            </a:r>
            <a:r>
              <a:rPr sz="1400" b="1" i="0">
                <a:solidFill>
                  <a:srgbClr val="11202B"/>
                </a:solidFill>
                <a:latin typeface="Malgun Gothic"/>
                <a:ea typeface="Malgun Gothic"/>
                <a:cs typeface="Malgun Gothic"/>
              </a:rPr>
              <a:t>무작위로 잰 GH 수치는 해석할 수 없다.</a:t>
            </a:r>
            <a:r>
              <a:rPr sz="1400" b="0" i="0">
                <a:solidFill>
                  <a:srgbClr val="11202B"/>
                </a:solidFill>
                <a:latin typeface="Malgun Gothic"/>
                <a:ea typeface="Malgun Gothic"/>
                <a:cs typeface="Malgun Gothic"/>
              </a:rPr>
              <a:t> 반면 IGF-1은 결합단백질에 실려 반감기가 길고 하루 동안 안정적이므로 축의 평균 활성을 반영한다. 이 차이가 검사 선택을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성장판.</a:t>
            </a:r>
            <a:r>
              <a:rPr sz="1400" b="0" i="0">
                <a:solidFill>
                  <a:srgbClr val="11202B"/>
                </a:solidFill>
                <a:latin typeface="Malgun Gothic"/>
                <a:ea typeface="Malgun Gothic"/>
                <a:cs typeface="Malgun Gothic"/>
              </a:rPr>
              <a:t> 긴뼈의 성장판에서 연골세포가 증식하고 비대해진 뒤 뼈로 치환되며 길이가 늘어난다. 성호르몬, 특히 </a:t>
            </a:r>
            <a:r>
              <a:rPr sz="1400" b="1" i="0">
                <a:solidFill>
                  <a:srgbClr val="11202B"/>
                </a:solidFill>
                <a:latin typeface="Malgun Gothic"/>
                <a:ea typeface="Malgun Gothic"/>
                <a:cs typeface="Malgun Gothic"/>
              </a:rPr>
              <a:t>estrogen</a:t>
            </a:r>
            <a:r>
              <a:rPr sz="1400" b="0" i="0">
                <a:solidFill>
                  <a:srgbClr val="11202B"/>
                </a:solidFill>
                <a:latin typeface="Malgun Gothic"/>
                <a:ea typeface="Malgun Gothic"/>
                <a:cs typeface="Malgun Gothic"/>
              </a:rPr>
              <a:t>이 성장판을 닫는다. 남성에서도 testosterone이 aromatase로 estrogen이 되어 작용하므로, aromatase 결핍이나 estrogen 수용체 결함이 있으면 성인이 되어도 성장판이 닫히지 않아 키가 계속 자란다. 사춘기에 키가 급히 크고 그 뒤 멈추는 것이 같은 호르몬의 두 작용이 시간차를 두고 나타나는 결과다.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과잉과 결핍.</a:t>
            </a:r>
            <a:r>
              <a:rPr sz="1400" b="0" i="0">
                <a:solidFill>
                  <a:srgbClr val="11202B"/>
                </a:solidFill>
                <a:latin typeface="Malgun Gothic"/>
                <a:ea typeface="Malgun Gothic"/>
                <a:cs typeface="Malgun Gothic"/>
              </a:rPr>
              <a:t> GH 과잉이 성장판이 닫히기 전에 생기면 </a:t>
            </a:r>
            <a:r>
              <a:rPr sz="1400" b="1" i="0">
                <a:solidFill>
                  <a:srgbClr val="11202B"/>
                </a:solidFill>
                <a:latin typeface="Malgun Gothic"/>
                <a:ea typeface="Malgun Gothic"/>
                <a:cs typeface="Malgun Gothic"/>
              </a:rPr>
              <a:t>거인증</a:t>
            </a:r>
            <a:r>
              <a:rPr sz="1400" b="0" i="0">
                <a:solidFill>
                  <a:srgbClr val="11202B"/>
                </a:solidFill>
                <a:latin typeface="Malgun Gothic"/>
                <a:ea typeface="Malgun Gothic"/>
                <a:cs typeface="Malgun Gothic"/>
              </a:rPr>
              <a:t>, 닫힌 뒤에 생기면 </a:t>
            </a:r>
            <a:r>
              <a:rPr sz="1400" b="1" i="0">
                <a:solidFill>
                  <a:srgbClr val="11202B"/>
                </a:solidFill>
                <a:latin typeface="Malgun Gothic"/>
                <a:ea typeface="Malgun Gothic"/>
                <a:cs typeface="Malgun Gothic"/>
              </a:rPr>
              <a:t>말단비대증</a:t>
            </a:r>
            <a:r>
              <a:rPr sz="1400" b="0" i="0">
                <a:solidFill>
                  <a:srgbClr val="11202B"/>
                </a:solidFill>
                <a:latin typeface="Malgun Gothic"/>
                <a:ea typeface="Malgun Gothic"/>
                <a:cs typeface="Malgun Gothic"/>
              </a:rPr>
              <a:t>이 된다. 길이로 자랄 수 없으므로 손발, 턱, 이마처럼 막성 골화가 계속되는 부위가 굵어진다. 결핍은 성장 속도의 저하로 나타나며, 비례적 저신장이 특징이다.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성장의 내분비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저신장을 평가할 때 한 시점의 키보다 </a:t>
            </a:r>
            <a:r>
              <a:rPr sz="1600" b="1" i="0">
                <a:solidFill>
                  <a:srgbClr val="11202B"/>
                </a:solidFill>
                <a:latin typeface="Malgun Gothic"/>
                <a:ea typeface="Malgun Gothic"/>
                <a:cs typeface="Malgun Gothic"/>
              </a:rPr>
              <a:t>성장 속도</a:t>
            </a:r>
            <a:r>
              <a:rPr sz="1600" b="0" i="0">
                <a:solidFill>
                  <a:srgbClr val="11202B"/>
                </a:solidFill>
                <a:latin typeface="Malgun Gothic"/>
                <a:ea typeface="Malgun Gothic"/>
                <a:cs typeface="Malgun Gothic"/>
              </a:rPr>
              <a:t>와 </a:t>
            </a:r>
            <a:r>
              <a:rPr sz="1600" b="1" i="0">
                <a:solidFill>
                  <a:srgbClr val="11202B"/>
                </a:solidFill>
                <a:latin typeface="Malgun Gothic"/>
                <a:ea typeface="Malgun Gothic"/>
                <a:cs typeface="Malgun Gothic"/>
              </a:rPr>
              <a:t>골연령</a:t>
            </a:r>
            <a:r>
              <a:rPr sz="1600" b="0" i="0">
                <a:solidFill>
                  <a:srgbClr val="11202B"/>
                </a:solidFill>
                <a:latin typeface="Malgun Gothic"/>
                <a:ea typeface="Malgun Gothic"/>
                <a:cs typeface="Malgun Gothic"/>
              </a:rPr>
              <a:t>이 중요하다. 체질성 성장 지연은 골연령이 실제 나이보다 늦어 성장 기간이 길어지므로 최종 키가 정상에 이른다. 반면 GH 결핍과 갑상샘 기능저하증은 성장 속도 자체가 떨어진다. 갑상샘 기능저하증에서는 골연령 지연이 특히 심하고, 치료하면 급속한 따라잡기 성장이 일어난다. 비례가 맞지 않는 저신장(사지가 짧은)은 호르몬 문제가 아니라 골격 이형성을 시사한다.</a:t>
            </a:r>
          </a:p>
        </p:txBody>
      </p:sp>
      <p:sp>
        <p:nvSpPr>
          <p:cNvPr id="8" name="Rectangle 7"/>
          <p:cNvSpPr/>
          <p:nvPr/>
        </p:nvSpPr>
        <p:spPr>
          <a:xfrm>
            <a:off x="640080" y="3144520"/>
            <a:ext cx="10881360" cy="197612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GH–IGF-1 축은 수명 연구에서 역설적인 위치에 있다. 효모, 선충, 초파리, 생쥐에서 </a:t>
            </a:r>
            <a:r>
              <a:rPr sz="1600" b="1" i="0">
                <a:solidFill>
                  <a:srgbClr val="11202B"/>
                </a:solidFill>
                <a:latin typeface="Malgun Gothic"/>
                <a:ea typeface="Malgun Gothic"/>
                <a:cs typeface="Malgun Gothic"/>
              </a:rPr>
              <a:t>이 축의 신호를 줄이면 수명이 늘어난다</a:t>
            </a:r>
            <a:r>
              <a:rPr sz="1600" b="0" i="0">
                <a:solidFill>
                  <a:srgbClr val="11202B"/>
                </a:solidFill>
                <a:latin typeface="Malgun Gothic"/>
                <a:ea typeface="Malgun Gothic"/>
                <a:cs typeface="Malgun Gothic"/>
              </a:rPr>
              <a:t>는 결과가 반복해서 나왔다. 생쥐에서 GH 수용체를 없애면 체구는 작아지지만 가장 오래 산다. 사람에서도 GH 수용체 결함인 Laron 증후군 집단에서 당뇨와 암 발생이 매우 낮다는 관찰이 보고되었다. 그러나 사람 집단 연구에서 IGF-1 수치와 사망률의 관계는 U자 모양으로 나타나 낮아도 높아도 불리하며, 근감소와 골절 위험이 함께 늘어난다. 노화 억제 표적으로서 이 축을 조절하는 것이 가능한지, 가능하다면 어느 시기에 어느 정도로 해야 하는지가 아직 열린 질문이다.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내분비 검사의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내분비 질환의 진단은 "호르몬 수치를 재면 된다"로 끝나지 않는다. 수치를 해석하려면 네 가지를 함께 따져야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짝을 지어 본다.</a:t>
            </a:r>
            <a:r>
              <a:rPr sz="1400" b="0" i="0">
                <a:solidFill>
                  <a:srgbClr val="11202B"/>
                </a:solidFill>
                <a:latin typeface="Malgun Gothic"/>
                <a:ea typeface="Malgun Gothic"/>
                <a:cs typeface="Malgun Gothic"/>
              </a:rPr>
              <a:t> 호르몬 하나만으로는 의미가 정해지지 않는다. 축의 위와 아래를 함께 보아야 병변의 위치가 나온다. 갑상샘 호르몬이 낮은데 TSH가 높으면 갑상샘 자체의 문제(일차성)이고, TSH도 낮거나 부적절하게 정상이면 뇌하수체나 시상하부의 문제(이차성·삼차성)다. </a:t>
            </a:r>
            <a:r>
              <a:rPr sz="1400" b="1" i="0">
                <a:solidFill>
                  <a:srgbClr val="11202B"/>
                </a:solidFill>
                <a:latin typeface="Malgun Gothic"/>
                <a:ea typeface="Malgun Gothic"/>
                <a:cs typeface="Malgun Gothic"/>
              </a:rPr>
              <a:t>낮은 호르몬에 낮은 자극 호르몬이 짝지어진 것은 그 자체로 이상</a:t>
            </a:r>
            <a:r>
              <a:rPr sz="1400" b="0" i="0">
                <a:solidFill>
                  <a:srgbClr val="11202B"/>
                </a:solidFill>
                <a:latin typeface="Malgun Gothic"/>
                <a:ea typeface="Malgun Gothic"/>
                <a:cs typeface="Malgun Gothic"/>
              </a:rPr>
              <a:t>이라는 점이 요점이다.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결합단백질과 자유 호르몬을 구분한다.</a:t>
            </a:r>
            <a:r>
              <a:rPr sz="1400" b="0" i="0">
                <a:solidFill>
                  <a:srgbClr val="11202B"/>
                </a:solidFill>
                <a:latin typeface="Malgun Gothic"/>
                <a:ea typeface="Malgun Gothic"/>
                <a:cs typeface="Malgun Gothic"/>
              </a:rPr>
              <a:t> 갑상샘 호르몬은 대부분 thyroxine-binding globulin에 실려 있고, cortisol은 cortisol-binding globulin에, 성호르몬은 SHBG에 실려 있다. 활성을 가지는 것은 자유 형태뿐이다. 임신이나 경구 estrogen은 TBG를 늘리므로 </a:t>
            </a:r>
            <a:r>
              <a:rPr sz="1400" b="1" i="0">
                <a:solidFill>
                  <a:srgbClr val="11202B"/>
                </a:solidFill>
                <a:latin typeface="Malgun Gothic"/>
                <a:ea typeface="Malgun Gothic"/>
                <a:cs typeface="Malgun Gothic"/>
              </a:rPr>
              <a:t>총 T4는 올라가지만 free T4는 정상</a:t>
            </a:r>
            <a:r>
              <a:rPr sz="1400" b="0" i="0">
                <a:solidFill>
                  <a:srgbClr val="11202B"/>
                </a:solidFill>
                <a:latin typeface="Malgun Gothic"/>
                <a:ea typeface="Malgun Gothic"/>
                <a:cs typeface="Malgun Gothic"/>
              </a:rPr>
              <a:t>이다. 간경변과 신증후군에서는 결합단백질이 줄어 반대가 된다. 그래서 갑상샘 기능은 free T4로 판단한다.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시간을 고려한다.</a:t>
            </a:r>
            <a:r>
              <a:rPr sz="1400" b="0" i="0">
                <a:solidFill>
                  <a:srgbClr val="11202B"/>
                </a:solidFill>
                <a:latin typeface="Malgun Gothic"/>
                <a:ea typeface="Malgun Gothic"/>
                <a:cs typeface="Malgun Gothic"/>
              </a:rPr>
              <a:t> 호르몬은 일정하게 나오지 않는다. Cortisol은 새벽에 가장 높고 자정에 가장 낮으며, GH와 LH는 박동성으로 나온다. 따라서 </a:t>
            </a:r>
            <a:r>
              <a:rPr sz="1400" b="1" i="0">
                <a:solidFill>
                  <a:srgbClr val="11202B"/>
                </a:solidFill>
                <a:latin typeface="Malgun Gothic"/>
                <a:ea typeface="Malgun Gothic"/>
                <a:cs typeface="Malgun Gothic"/>
              </a:rPr>
              <a:t>무작위 수치가 해석되지 않는 호르몬</a:t>
            </a:r>
            <a:r>
              <a:rPr sz="1400" b="0" i="0">
                <a:solidFill>
                  <a:srgbClr val="11202B"/>
                </a:solidFill>
                <a:latin typeface="Malgun Gothic"/>
                <a:ea typeface="Malgun Gothic"/>
                <a:cs typeface="Malgun Gothic"/>
              </a:rPr>
              <a:t>이 있다. Cortisol은 측정 시각을 정하거나 자정 타액 cortisol을 쓰고, GH는 IGF-1로 대신하며, LH는 박동을 포착하기 위해 반복 측정하거나 자극 검사를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4. 되먹임을 이용해 검사를 설계한다.</a:t>
            </a:r>
            <a:r>
              <a:rPr sz="1400" b="0" i="0">
                <a:solidFill>
                  <a:srgbClr val="11202B"/>
                </a:solidFill>
                <a:latin typeface="Malgun Gothic"/>
                <a:ea typeface="Malgun Gothic"/>
                <a:cs typeface="Malgun Gothic"/>
              </a:rPr>
              <a:t> 이것이 내분비 검사의 핵심 원리다.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기능 과다가 의심되면 억제 검사.</a:t>
            </a:r>
            <a:r>
              <a:rPr sz="1400" b="0" i="0">
                <a:solidFill>
                  <a:srgbClr val="11202B"/>
                </a:solidFill>
                <a:latin typeface="Malgun Gothic"/>
                <a:ea typeface="Malgun Gothic"/>
                <a:cs typeface="Malgun Gothic"/>
              </a:rPr>
              <a:t> 정상이라면 되먹임으로 억제되어야 하는데 억제되지 않으면 자율적 분비다. Cushing 증후군에서 dexamethasone 억제 검사, 말단비대증에서 경구 당부하 후 GH 억제 검사가 그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기능 저하가 의심되면 자극 검사.</a:t>
            </a:r>
            <a:r>
              <a:rPr sz="1400" b="0" i="0">
                <a:solidFill>
                  <a:srgbClr val="11202B"/>
                </a:solidFill>
                <a:latin typeface="Malgun Gothic"/>
                <a:ea typeface="Malgun Gothic"/>
                <a:cs typeface="Malgun Gothic"/>
              </a:rPr>
              <a:t> 정상이라면 자극에 반응해 올라가야 하는데 오르지 않으면 예비력이 없는 것이다. 부신 기능저하에서 ACTH 자극 검사, GH 결핍에서 insulin 저혈당 검사가 그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5. 측정법 자체의 함정을 안다.</a:t>
            </a:r>
            <a:r>
              <a:rPr sz="1400" b="0" i="0">
                <a:solidFill>
                  <a:srgbClr val="11202B"/>
                </a:solidFill>
                <a:latin typeface="Malgun Gothic"/>
                <a:ea typeface="Malgun Gothic"/>
                <a:cs typeface="Malgun Gothic"/>
              </a:rPr>
              <a:t> 호르몬은 대부분 면역측정법으로 재며, 세 가지 전형적인 오류가 있다. </a:t>
            </a:r>
            <a:r>
              <a:rPr sz="1400" b="1" i="0">
                <a:solidFill>
                  <a:srgbClr val="11202B"/>
                </a:solidFill>
                <a:latin typeface="Malgun Gothic"/>
                <a:ea typeface="Malgun Gothic"/>
                <a:cs typeface="Malgun Gothic"/>
              </a:rPr>
              <a:t>Hook 효과</a:t>
            </a:r>
            <a:r>
              <a:rPr sz="1400" b="0" i="0">
                <a:solidFill>
                  <a:srgbClr val="11202B"/>
                </a:solidFill>
                <a:latin typeface="Malgun Gothic"/>
                <a:ea typeface="Malgun Gothic"/>
                <a:cs typeface="Malgun Gothic"/>
              </a:rPr>
              <a:t>는 항원 농도가 지나치게 높을 때 오히려 낮게 측정되는 현상으로, 거대 prolactinoma에서 prolactin이 정상처럼 나오는 원인이 된다. 희석해 다시 재면 드러난다. </a:t>
            </a:r>
            <a:r>
              <a:rPr sz="1400" b="1" i="0">
                <a:solidFill>
                  <a:srgbClr val="11202B"/>
                </a:solidFill>
                <a:latin typeface="Malgun Gothic"/>
                <a:ea typeface="Malgun Gothic"/>
                <a:cs typeface="Malgun Gothic"/>
              </a:rPr>
              <a:t>Biotin 간섭</a:t>
            </a:r>
            <a:r>
              <a:rPr sz="1400" b="0" i="0">
                <a:solidFill>
                  <a:srgbClr val="11202B"/>
                </a:solidFill>
                <a:latin typeface="Malgun Gothic"/>
                <a:ea typeface="Malgun Gothic"/>
                <a:cs typeface="Malgun Gothic"/>
              </a:rPr>
              <a:t>은 고용량 biotin 보충제가 streptavidin 기반 측정법을 교란해 호르몬에 따라 높게 또는 낮게 나오게 한다. </a:t>
            </a:r>
            <a:r>
              <a:rPr sz="1400" b="1" i="0">
                <a:solidFill>
                  <a:srgbClr val="11202B"/>
                </a:solidFill>
                <a:latin typeface="Malgun Gothic"/>
                <a:ea typeface="Malgun Gothic"/>
                <a:cs typeface="Malgun Gothic"/>
              </a:rPr>
              <a:t>이종 항체 간섭</a:t>
            </a:r>
            <a:r>
              <a:rPr sz="1400" b="0" i="0">
                <a:solidFill>
                  <a:srgbClr val="11202B"/>
                </a:solidFill>
                <a:latin typeface="Malgun Gothic"/>
                <a:ea typeface="Malgun Gothic"/>
                <a:cs typeface="Malgun Gothic"/>
              </a:rPr>
              <a:t>은 환자 혈청의 항체가 측정 항체에 결합해 거짓 값을 만든다. 검사 결과가 임상 양상과 맞지 않으면 질환을 찾기 전에 측정을 의심하는 것이 순서다.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내분비 검사의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2273661"/>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검사 양상으로 병변 위치를 정하는 문제가 반복된다. 갑상샘 기능저하에서 </a:t>
            </a:r>
            <a:r>
              <a:rPr sz="1600" b="1" i="0">
                <a:solidFill>
                  <a:srgbClr val="11202B"/>
                </a:solidFill>
                <a:latin typeface="Malgun Gothic"/>
                <a:ea typeface="Malgun Gothic"/>
                <a:cs typeface="Malgun Gothic"/>
              </a:rPr>
              <a:t>TSH 상승 + free T4 저하는 일차성</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TSH 정상이거나 저하 + free T4 저하는 이차성</a:t>
            </a:r>
            <a:r>
              <a:rPr sz="1600" b="0" i="0">
                <a:solidFill>
                  <a:srgbClr val="11202B"/>
                </a:solidFill>
                <a:latin typeface="Malgun Gothic"/>
                <a:ea typeface="Malgun Gothic"/>
                <a:cs typeface="Malgun Gothic"/>
              </a:rPr>
              <a:t>이다. Cushing 증후군에서는 </a:t>
            </a:r>
            <a:r>
              <a:rPr sz="1600" b="1" i="0">
                <a:solidFill>
                  <a:srgbClr val="11202B"/>
                </a:solidFill>
                <a:latin typeface="Malgun Gothic"/>
                <a:ea typeface="Malgun Gothic"/>
                <a:cs typeface="Malgun Gothic"/>
              </a:rPr>
              <a:t>ACTH가 억제되어 있으면 부신 자체의 문제</a:t>
            </a:r>
            <a:r>
              <a:rPr sz="1600" b="0" i="0">
                <a:solidFill>
                  <a:srgbClr val="11202B"/>
                </a:solidFill>
                <a:latin typeface="Malgun Gothic"/>
                <a:ea typeface="Malgun Gothic"/>
                <a:cs typeface="Malgun Gothic"/>
              </a:rPr>
              <a:t>이고, 정상이거나 올라가 있으면 ACTH 의존성이다. ACTH 의존성 가운데 뇌하수체 선종은 고용량 dexamethasone에 </a:t>
            </a:r>
            <a:r>
              <a:rPr sz="1600" b="1" i="0">
                <a:solidFill>
                  <a:srgbClr val="11202B"/>
                </a:solidFill>
                <a:latin typeface="Malgun Gothic"/>
                <a:ea typeface="Malgun Gothic"/>
                <a:cs typeface="Malgun Gothic"/>
              </a:rPr>
              <a:t>억제되지만</a:t>
            </a:r>
            <a:r>
              <a:rPr sz="1600" b="0" i="0">
                <a:solidFill>
                  <a:srgbClr val="11202B"/>
                </a:solidFill>
                <a:latin typeface="Malgun Gothic"/>
                <a:ea typeface="Malgun Gothic"/>
                <a:cs typeface="Malgun Gothic"/>
              </a:rPr>
              <a:t> 이소성 ACTH 분비는 </a:t>
            </a:r>
            <a:r>
              <a:rPr sz="1600" b="1" i="0">
                <a:solidFill>
                  <a:srgbClr val="11202B"/>
                </a:solidFill>
                <a:latin typeface="Malgun Gothic"/>
                <a:ea typeface="Malgun Gothic"/>
                <a:cs typeface="Malgun Gothic"/>
              </a:rPr>
              <a:t>억제되지 않는다</a:t>
            </a:r>
            <a:r>
              <a:rPr sz="1600" b="0" i="0">
                <a:solidFill>
                  <a:srgbClr val="11202B"/>
                </a:solidFill>
                <a:latin typeface="Malgun Gothic"/>
                <a:ea typeface="Malgun Gothic"/>
                <a:cs typeface="Malgun Gothic"/>
              </a:rPr>
              <a:t>. 일차성 부신 기능저하(Addison)와 이차성을 가르는 임상 소견도 자주 출제되는데, </a:t>
            </a:r>
            <a:r>
              <a:rPr sz="1600" b="1" i="0">
                <a:solidFill>
                  <a:srgbClr val="11202B"/>
                </a:solidFill>
                <a:latin typeface="Malgun Gothic"/>
                <a:ea typeface="Malgun Gothic"/>
                <a:cs typeface="Malgun Gothic"/>
              </a:rPr>
              <a:t>색소침착과 고칼륨혈증은 일차성에만</a:t>
            </a:r>
            <a:r>
              <a:rPr sz="1600" b="0" i="0">
                <a:solidFill>
                  <a:srgbClr val="11202B"/>
                </a:solidFill>
                <a:latin typeface="Malgun Gothic"/>
                <a:ea typeface="Malgun Gothic"/>
                <a:cs typeface="Malgun Gothic"/>
              </a:rPr>
              <a:t> 나타난다. 색소침착은 ACTH 전구체가 늘면서 MSH 활성이 함께 올라가기 때문이고, 고칼륨혈증은 aldosterone이 ACTH가 아니라 주로 RAAS의 지배를 받으므로 이차성에서는 보존되기 때문이다.</a:t>
            </a:r>
          </a:p>
        </p:txBody>
      </p:sp>
      <p:sp>
        <p:nvSpPr>
          <p:cNvPr id="8" name="Rectangle 7"/>
          <p:cNvSpPr/>
          <p:nvPr/>
        </p:nvSpPr>
        <p:spPr>
          <a:xfrm>
            <a:off x="640080" y="3736701"/>
            <a:ext cx="10881360" cy="2435498"/>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호르몬의 </a:t>
            </a:r>
            <a:r>
              <a:rPr sz="1600" b="1" i="0">
                <a:solidFill>
                  <a:srgbClr val="11202B"/>
                </a:solidFill>
                <a:latin typeface="Malgun Gothic"/>
                <a:ea typeface="Malgun Gothic"/>
                <a:cs typeface="Malgun Gothic"/>
              </a:rPr>
              <a:t>박동성</a:t>
            </a:r>
            <a:r>
              <a:rPr sz="1600" b="0" i="0">
                <a:solidFill>
                  <a:srgbClr val="11202B"/>
                </a:solidFill>
                <a:latin typeface="Malgun Gothic"/>
                <a:ea typeface="Malgun Gothic"/>
                <a:cs typeface="Malgun Gothic"/>
              </a:rPr>
              <a:t> 자체가 신호라는 사실은 오래전에 밝혀졌지만(GnRH의 박동 빈도가 LH와 FSH의 비를 정한다, M01-W02-L03), 그 원리를 치료에 옮기는 일은 아직 초보적이다. 현재의 호르몬 보충은 대부분 일정한 농도를 만드는 방식이고, 그래서 생리적 분비 양상과 어긋난다. 부신 기능저하에서 하루 두세 번 나눠 먹는 hydrocortisone이 새벽의 cortisol 상승을 재현하지 못한다는 문제가 대표적이며, 서방형 제제와 지속 피하 주입 펌프가 시도되고 있다. 더 근본적으로는 환자 자신의 세포로 호르몬 분비 조직을 만들어 되먹임까지 복원하려는 접근이 있다. 줄기세포에서 분화시킨 췌도 β세포 이식이 제1형 당뇨에서 임상 시험 단계에 들어가 인슐린 비의존 상태를 달성한 사례가 보고되었으며, 부신 피질과 갑상샘에서도 같은 전략이 전임상 단계에 있다. 공통 과제는 면역 거부를 어떻게 피할 것인가다.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내분비 질환을 읽는 기본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내분비 질환은 두 축으로 분류하면 체계가 잡힌다. </a:t>
            </a:r>
            <a:r>
              <a:rPr sz="2000" b="1" i="0">
                <a:solidFill>
                  <a:srgbClr val="11202B"/>
                </a:solidFill>
                <a:latin typeface="Malgun Gothic"/>
                <a:ea typeface="Malgun Gothic"/>
                <a:cs typeface="Malgun Gothic"/>
              </a:rPr>
              <a:t>과다인가 부족인가</a:t>
            </a:r>
            <a:r>
              <a:rPr sz="2000" b="0" i="0">
                <a:solidFill>
                  <a:srgbClr val="11202B"/>
                </a:solidFill>
                <a:latin typeface="Malgun Gothic"/>
                <a:ea typeface="Malgun Gothic"/>
                <a:cs typeface="Malgun Gothic"/>
              </a:rPr>
              <a:t>, 그리고 </a:t>
            </a:r>
            <a:r>
              <a:rPr sz="2000" b="1" i="0">
                <a:solidFill>
                  <a:srgbClr val="11202B"/>
                </a:solidFill>
                <a:latin typeface="Malgun Gothic"/>
                <a:ea typeface="Malgun Gothic"/>
                <a:cs typeface="Malgun Gothic"/>
              </a:rPr>
              <a:t>축의 어느 단계에 문제가 있는가</a:t>
            </a:r>
            <a:r>
              <a:rPr sz="2000" b="0" i="0">
                <a:solidFill>
                  <a:srgbClr val="11202B"/>
                </a:solidFill>
                <a:latin typeface="Malgun Gothic"/>
                <a:ea typeface="Malgun Gothic"/>
                <a:cs typeface="Malgun Gothic"/>
              </a:rPr>
              <a:t>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원발성(primary)과 이차성(secondary)의 구분</a:t>
            </a:r>
            <a:r>
              <a:rPr sz="2000" b="0" i="0">
                <a:solidFill>
                  <a:srgbClr val="11202B"/>
                </a:solidFill>
                <a:latin typeface="Malgun Gothic"/>
                <a:ea typeface="Malgun Gothic"/>
                <a:cs typeface="Malgun Gothic"/>
              </a:rPr>
              <a:t>이 핵심이다. 원발성은 최종 호르몬을 만드는 표적 기관 자체의 문제이고, 이차성은 뇌하수체(또는 시상하부)의 문제다. 두 호르몬을 함께 측정하면 구별된다.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내분비 질환을 읽는 기본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21</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상태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최종 호르몬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자극 호르몬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해석</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원발성 기능 저하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높음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표적 기관이 반응하지 못해 되먹임 제동이 풀림</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이차성 기능 저하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낮음</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낮음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자극이 없어 표적 기관이 일하지 않음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원발성 기능 과다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높음</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낮음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표적 기관이 과도하게 만들어 되먹임으로 자극이 억제됨</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이차성 기능 과다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높음</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높음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자극이 과도해 표적 기관이 과도하게 일함</a:t>
                      </a:r>
                    </a:p>
                  </a:txBody>
                  <a:tcPr marL="73152" marR="73152" marT="27432" marB="27432">
                    <a:solidFill>
                      <a:srgbClr val="EFF4F8"/>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내분비 질환을 읽는 기본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표가 내분비 진단의 출발점이다. 예를 들어 갑상샘 기능 저하에서 TSH가 높으면 갑상샘 자체의 문제(Hashimoto 갑상샘염이 가장 흔하다)이고, TSH가 낮으면 뇌하수체의 문제다.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자극 검사와 억제 검사</a:t>
            </a:r>
            <a:r>
              <a:rPr sz="1400" b="0" i="0">
                <a:solidFill>
                  <a:srgbClr val="11202B"/>
                </a:solidFill>
                <a:latin typeface="Malgun Gothic"/>
                <a:ea typeface="Malgun Gothic"/>
                <a:cs typeface="Malgun Gothic"/>
              </a:rPr>
              <a:t>의 논리도 되먹임에서 나온다. 기능 저하가 의심되면 </a:t>
            </a:r>
            <a:r>
              <a:rPr sz="1400" b="1" i="0">
                <a:solidFill>
                  <a:srgbClr val="11202B"/>
                </a:solidFill>
                <a:latin typeface="Malgun Gothic"/>
                <a:ea typeface="Malgun Gothic"/>
                <a:cs typeface="Malgun Gothic"/>
              </a:rPr>
              <a:t>자극</a:t>
            </a:r>
            <a:r>
              <a:rPr sz="1400" b="0" i="0">
                <a:solidFill>
                  <a:srgbClr val="11202B"/>
                </a:solidFill>
                <a:latin typeface="Malgun Gothic"/>
                <a:ea typeface="Malgun Gothic"/>
                <a:cs typeface="Malgun Gothic"/>
              </a:rPr>
              <a:t>을 주어 반응하는지를 본다. 기능 과다가 의심되면 </a:t>
            </a:r>
            <a:r>
              <a:rPr sz="1400" b="1" i="0">
                <a:solidFill>
                  <a:srgbClr val="11202B"/>
                </a:solidFill>
                <a:latin typeface="Malgun Gothic"/>
                <a:ea typeface="Malgun Gothic"/>
                <a:cs typeface="Malgun Gothic"/>
              </a:rPr>
              <a:t>억제</a:t>
            </a:r>
            <a:r>
              <a:rPr sz="1400" b="0" i="0">
                <a:solidFill>
                  <a:srgbClr val="11202B"/>
                </a:solidFill>
                <a:latin typeface="Malgun Gothic"/>
                <a:ea typeface="Malgun Gothic"/>
                <a:cs typeface="Malgun Gothic"/>
              </a:rPr>
              <a:t>를 주어 억제되는지를 본다. 정상 조직은 되먹임에 반응하지만 종양은 반응하지 않는다는 원리를 이용한다. Cushing 증후군에서 dexamethasone 억제 검사를 하는 것이 그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주요 질환을 축별로 정리하면</a:t>
            </a:r>
            <a:r>
              <a:rPr sz="1400" b="0" i="0">
                <a:solidFill>
                  <a:srgbClr val="11202B"/>
                </a:solidFill>
                <a:latin typeface="Malgun Gothic"/>
                <a:ea typeface="Malgun Gothic"/>
                <a:cs typeface="Malgun Gothic"/>
              </a:rPr>
              <a:t>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갑상샘</a:t>
            </a:r>
            <a:r>
              <a:rPr sz="1400" b="0" i="0">
                <a:solidFill>
                  <a:srgbClr val="11202B"/>
                </a:solidFill>
                <a:latin typeface="Malgun Gothic"/>
                <a:ea typeface="Malgun Gothic"/>
                <a:cs typeface="Malgun Gothic"/>
              </a:rPr>
              <a:t>: 기능 과다의 대표가 Graves 병이며, TSH 수용체를 자극하는 자가항체가 원인이다. 자가항체가 되먹임과 무관하게 수용체를 계속 자극하므로 T3·T4가 높고 TSH는 억제된다. 기능 저하의 대표가 Hashimoto 갑상샘염으로 자가면역에 의한 갑상샘 파괴다.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부신</a:t>
            </a:r>
            <a:r>
              <a:rPr sz="1400" b="0" i="0">
                <a:solidFill>
                  <a:srgbClr val="11202B"/>
                </a:solidFill>
                <a:latin typeface="Malgun Gothic"/>
                <a:ea typeface="Malgun Gothic"/>
                <a:cs typeface="Malgun Gothic"/>
              </a:rPr>
              <a:t>: 기능 과다가 Cushing 증후군이며, 외부 투여가 가장 흔한 원인이고 그 외에 뇌하수체 종양(Cushing 병)과 부신 종양이 있다. 기능 저하가 Addison 병이며, 원발성인 경우 cortisol과 aldosterone이 함께 부족해 저혈압, 저나트륨혈증, 고칼륨혈증, 색소 침착(ACTH 증가에 따른)이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뇌하수체</a:t>
            </a:r>
            <a:r>
              <a:rPr sz="1400" b="0" i="0">
                <a:solidFill>
                  <a:srgbClr val="11202B"/>
                </a:solidFill>
                <a:latin typeface="Malgun Gothic"/>
                <a:ea typeface="Malgun Gothic"/>
                <a:cs typeface="Malgun Gothic"/>
              </a:rPr>
              <a:t>: 과다는 종양에 의한 것으로 prolactin, GH, ACTH 순으로 흔하다. 부족은 종양·수술·출혈에 의한 것으로, 여러 축이 함께 영향을 받는다.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부갑상샘</a:t>
            </a:r>
            <a:r>
              <a:rPr sz="1400" b="0" i="0">
                <a:solidFill>
                  <a:srgbClr val="11202B"/>
                </a:solidFill>
                <a:latin typeface="Malgun Gothic"/>
                <a:ea typeface="Malgun Gothic"/>
                <a:cs typeface="Malgun Gothic"/>
              </a:rPr>
              <a:t>: 과다에서 혈중 Ca²⁺이 올라가 결석, 뼈 통증, 변비, 의식 변화가 나타난다. 부족에서 Ca²⁺이 떨어져 근육 경련과 감각 이상이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췌장</a:t>
            </a:r>
            <a:r>
              <a:rPr sz="1400" b="0" i="0">
                <a:solidFill>
                  <a:srgbClr val="11202B"/>
                </a:solidFill>
                <a:latin typeface="Malgun Gothic"/>
                <a:ea typeface="Malgun Gothic"/>
                <a:cs typeface="Malgun Gothic"/>
              </a:rPr>
              <a:t>: 제1형과 제2형 당뇨병이 대표이며, 앞 절에서 다루었다.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수용체 수준의 문제</a:t>
            </a:r>
            <a:r>
              <a:rPr sz="1400" b="0" i="0">
                <a:solidFill>
                  <a:srgbClr val="11202B"/>
                </a:solidFill>
                <a:latin typeface="Malgun Gothic"/>
                <a:ea typeface="Malgun Gothic"/>
                <a:cs typeface="Malgun Gothic"/>
              </a:rPr>
              <a:t>도 범주 하나를 이룬다. 호르몬 농도는 충분하거나 오히려 높은데 효과가 나타나지 않는 상태다. 제2형 당뇨병의 insulin 저항성, androgen 수용체 결함에 의한 androgen 불감 증후군, PTH 수용체 이후 신호의 결함에 의한 가성 부갑상샘 기능 저하증이 예다. 이런 경우 호르몬을 더 투여해도 효과가 없다는 점이 치료의 제약이 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내분비 질환을 읽는 기본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23</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내분비를 공부하는 순서는 질환에서 시작하지 않는다. 신호 전달 방식의 비교 → 호르몬 세 부류와 그 성질의 연쇄 → 수용체와 신호 경로 → 음성 되먹임과 축의 구조 → 각 기관의 호르몬과 작용 → 상호작용 양식을 세우면, 질환은 어느 호르몬이 많거나 적고 그 문제가 축의 어느 단계에 있는지로 정리된다.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내분비 신호 전달에서 표적을 결정하는 것이 무엇인지 쓰고, 그 원리에서 나오는 결과 두 가지를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표적을 결정하는 것은 호르몬이 아니라 수용체다. 호르몬은 혈액을 타고 몸 전체를 돌지만 수용체가 없는 세포는 반응하지 않는다. 결과는 두 가지다. 첫째, 하나의 호르몬이 여러 기관에 동시에 작용할 수 있다. 둘째, 같은 호르몬이 기관마다 다른 수용체를 통해 서로 다른 효과를 낼 수 있다. Angiotensin II가 혈관에서는 수축, 부신에서는 aldosterone 분비, 시상하부에서는 갈증을 일으키는 것이 그 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Insulin이 주사제이고 prednisolone이 알약인 이유를 호르몬의 화학 구조와 연결해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Insulin은 peptide 호르몬이므로 소화관에서 단백질 분해 효소에 분해되어 경구 투여가 불가능하다. Prednisolone은 steroid이므로 지질에 녹아 소화관 상피의 세포막을 통과해 흡수되고, 분해 효소의 표적도 아니므로 경구 투여가 가능하다. 구조가 용해도를 정하고 용해도가 투여 경로를 정한다.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세포막 수용체 경로에서 일어나는 증폭을 단계별로 설명하고, 그 결과가 무엇을 가능하게 하는지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호르몬 한 분자가 수용체 하나를 활성화하면 그 수용체가 여러 개의 G 단백질을 활성화하고, 각 adenylyl cyclase가 수백 개의 cAMP를 만들고, 각 protein kinase A가 수많은 기질을 인산화한다. 단계마다 배수가 곱해지므로 10의 마이너스 10 제곱 M 수준의 매우 낮은 호르몬 농도로도 큰 세포 반응을 만들 수 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시상하부가 방출 호르몬을 전신 혈액이 아니라 특수한 혈관으로 보내는 이점을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시상하부와 뇌하수체 전엽을 잇는 hypophyseal portal system으로 직접 전달하므로, 적은 양으로도 표적인 전엽에서 충분히 높은 농도를 만들 수 있다. 또한 전신 혈액으로 희석되지 않으므로 다른 기관에 영향을 주지 않는다. 적은 양으로 국소적으로 작용하게 하는 설계다.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뇌하수체 후엽이 호르몬을 스스로 만들지 못하는 이유를 발생학적 기원으로 설명하고, 이 사실이 두 엽의 호르몬 목록을 구분하는 데 어떻게 도움이 되는지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후엽은 뇌의 일부가 아래로 자라 내려와 만들어진 신경 조직이므로 분비 상피가 아니다. 시상하부의 신경 세포체에서 만들어진 호르몬이 축삭을 따라 내려와 후엽의 말단에 저장되어 있다가 방출되며, 후엽은 저장과 방출의 장소일 뿐이다. 전엽은 입천장의 상피가 올라와 만들어진 분비 조직이므로 스스로 만든다. 따라서 신경 자극에 의해 즉시 방출되는 ADH와 oxytocin이 후엽, 나머지 여섯 가지 자극 호르몬이 전엽이라는 구분이 자연스럽게 따라온다.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갑상샘이 주로 T4를 분비하는데 활성 형태는 T3인 구조가 갖는 두 가지 이점을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T4의 반감기가 약 7일로 길어 혈중 농도가 안정하게 유지된다. 운반 단백질에 결합한 저장 겸 전구체 형태로 순환하는 것이다. 둘째, 각 조직이 자신의 deiodinase 활성을 조절해 필요한 만큼만 T3로 바꿀 수 있으므로, 전신의 호르몬 농도와 별개로 조직 수준의 미세 조절이 가능하다.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Glucocorticoid를 오래 투여한 환자에서 약을 갑자기 끊으면 위험한 이유를 음성 되먹임으로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외부에서 들어온 glucocorticoid가 시상하부와 뇌하수체에 음성 되먹임으로 작용해 CRH와 ACTH 분비를 억제하고, 자극을 받지 못한 부신 겉질이 위축된다. 이 상태에서 약을 갑자기 끊으면 외부 공급도 없고 내부 생산도 되지 않아 cortisol이 급격히 부족해져 저혈압과 쇼크에 이를 수 있다. 따라서 축이 회복될 시간을 주기 위해 서서히 줄여야 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혈당을 올리는 호르몬은 여럿인데 내리는 호르몬은 insulin 하나뿐인 비대칭을 생존 조건으로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저혈당은 수 분 안에 뇌의 에너지 공급을 끊어 의식을 잃게 하고 생명을 위협하므로, glucagon·epinephrine·cortisol·growth hormone의 여러 겹 방어가 필요하다. 고혈당은 급성으로는 그만큼 위험하지 않고 장기간에 걸쳐 손상을 일으키므로, 하나의 호르몬으로 조절해도 생존에 지장이 없었다.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혈중 칼슘의 형태를 구분하고, 알칼리증에서 총 칼슘이 정상인데도 경련이 생기는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전체 칼슘의 약 45%는 albumin에 결합해 있고 약 45%는 이온화된 자유 칼슘이며 나머지는 음이온과 복합체를 이룬다. 생리 활성을 가지는 것은 이온화 칼슘뿐이다. 알칼리증에서는 albumin의 음전하가 늘어 칼슘을 더 많이 붙잡으므로, 총 칼슘은 변하지 않아도 이온화 칼슘이 떨어진다. 그 결과 신경과 근육의 흥분성이 올라가 손발 저림과 경련이 나타난다. 과호흡 환자의 수족 경련이 이 기전이다.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PTH와 활성형 vitamin D가 인에 대해 반대 방향으로 작용한다는 것을 설명하고, 이 차이가 감별에 어떻게 쓰이는지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PTH는 신장의 근위세뇨관에서 인 재흡수를 줄이므로 칼슘은 올리면서 인은 내린다. 활성형 vitamin D는 장에서 칼슘과 인의 흡수를 모두 늘리므로 둘 다 올린다. 따라서 칼슘이 올라간 상태에서 인이 낮으면 PTH 또는 PTHrP의 작용이 우세한 것이고, 칼슘과 인이 함께 올라가 있으면 vitamin D 과잉이나 육아종성 질환을 시사한다. 만성 신질환에서는 인 배설 자체가 안 되므로 이차성 부갑상샘 기능항진증인데도 인이 올라가는 예외가 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악성종양에 의한 고칼슘혈증과 일차성 부갑상샘 기능항진증은 칼슘과 인의 양상이 같다. 무엇으로 구분하며 그 이유는 무엇인가.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PTH 수치로 구분한다. 악성종양에서 분비되는 PTHrP는 PTH 수용체를 자극하므로 칼슘 증가와 인 감소라는 같은 결과를 만들지만, 올라간 칼슘이 부갑상샘의 칼슘 감지 수용체를 통해 되먹임으로 PTH 분비를 억제한다. 따라서 PTH는 낮게 측정된다. 반면 일차성 부갑상샘 기능항진증에서는 부갑상샘 자체가 자율적으로 분비하므로 PTH가 올라가 있거나 고칼슘혈증에 비해 부적절하게 정상이다.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GH와 IGF-1 가운데 어느 것을 재야 하는지 쓰고 그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IGF-1을 잰다. GH는 박동성으로 분비되고 깊은 수면 초기에 큰 봉우리가 나오므로 무작위로 잰 값은 해석할 수 없다. IGF-1은 결합단백질에 실려 반감기가 길고 하루 동안 안정적이어서 축의 평균 활성을 반영한다. 다만 영양 상태와 간 기능에 영향을 받으므로 해석에 주의한다. 진단을 확정할 때는 되먹임을 이용해, 과다가 의심되면 경구 당부하 후 GH가 억제되는지를 보고 결핍이 의심되면 자극 검사를 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거인증과 말단비대증의 차이를 성장판으로 설명하고, estrogen이 성장에서 갖는 이중적 역할을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GH 과잉이 성장판이 닫히기 전에 생기면 긴뼈가 길이로 계속 자라 거인증이 되고, 닫힌 뒤에 생기면 길이로 자랄 수 없으므로 막성 골화가 계속되는 손발, 턱, 이마가 굵어지는 말단비대증이 된다. Estrogen은 사춘기에 성장 급증을 돕는 동시에 성장판을 닫는 호르몬이기도 하다. 남성에서도 testosterone이 aromatase를 통해 estrogen으로 전환되어 작용하므로, aromatase 결핍이나 estrogen 수용체 결함이 있으면 성인이 되어도 성장판이 닫히지 않아 키가 계속 자란다.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내분비 검사에서 억제 검사와 자극 검사를 언제 쓰는지 되먹임으로 설명하고 각각의 예를 드시오.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기능 과다가 의심되면 억제 검사를 쓴다. 정상이라면 되먹임으로 억제되어야 하는데 억제되지 않으면 자율적 분비를 뜻한다. Cushing 증후군의 dexamethasone 억제 검사, 말단비대증의 경구 당부하 후 GH 측정이 예다. 기능 저하가 의심되면 자극 검사를 쓴다. 정상이라면 자극에 반응해 올라가야 하는데 오르지 않으면 예비력이 없는 것이다. 부신 기능저하의 ACTH 자극 검사, GH 결핍의 insulin 저혈당 검사가 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일차성 부신 기능저하와 이차성 부신 기능저하를 가르는 두 가지 임상 소견을 쓰고 각각의 기전을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색소침착과 고칼륨혈증이며 둘 다 일차성에만 나타난다. 색소침착은 부신에서 cortisol이 나오지 않아 되먹임이 풀리면서 ACTH와 그 전구체인 POMC 유래 펩타이드가 크게 늘고, 그 가운데 MSH 활성이 멜라닌세포를 자극하기 때문이다. 이차성에서는 ACTH 자체가 부족하므로 색소침착이 없다. 고칼륨혈증은 aldosterone 결핍 때문인데, aldosterone은 ACTH가 아니라 주로 renin-angiotensin 계와 혈중 칼륨의 지배를 받으므로 ACTH만 부족한 이차성에서는 분비가 보존된다. 따라서 이차성에서는 전해질 이상이 두드러지지 않는다.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호르몬 면역측정법의 세 가지 전형적 오류를 쓰고, 거대 prolactinoma에서 prolactin이 정상으로 나올 수 있는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Hook 효과, biotin 간섭, 이종 항체 간섭이다. Hook 효과는 항원 농도가 지나치게 높아 측정 항체가 포화되면서 오히려 낮은 값이 나오는 현상으로, 거대 prolactinoma처럼 prolactin이 극단적으로 높을 때 정상 범위로 측정될 수 있다. 검체를 희석해 다시 재면 참값이 드러난다. Biotin 간섭은 고용량 보충제가 streptavidin 기반 측정법을 교란하는 것이고, 이종 항체 간섭은 환자 혈청의 항체가 측정 항체에 결합해 거짓 값을 만드는 것이다. 결과가 임상 양상과 맞지 않으면 질환을 찾기 전에 측정을 의심해야 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M01-W02-L02  ·  내분비계 요약: 호르몬과 되먹임</a:t>
            </a:r>
            <a:r>
              <a:rPr sz="900" b="1" i="0">
                <a:solidFill>
                  <a:srgbClr val="003C71"/>
                </a:solidFill>
                <a:latin typeface="Malgun Gothic"/>
                <a:ea typeface="Malgun Gothic"/>
                <a:cs typeface="Malgun Gothic"/>
              </a:rPr>
              <a:t>      40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Melmed S, Auchus RJ, Goldfine AB, et al., eds. Williams Textbook of Endocrinology. 14th ed. Elsevier; 2020.</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Hall JE, Hall ME. Guyton and Hall Textbook of Medical Physiology. 14th ed. Elsevier; 2021. Unit XIV, Endocrinology and Reproduction.</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Boron WF, Boulpaep EL. Medical Physiology. 3rd ed. Elsevier; 2017. Section IX, The Endocrine System.</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Molina PE. Endocrine Physiology. 5th ed. McGraw Hill; 2018.</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Costanzo LS. Physiology. 7th ed. Elsevier; 2022. Chapter 9, Endocrine Physiology.</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Ferrier DR. Lippincott Illustrated Reviews: Biochemistry. 8th ed. Wolters Kluwer; 2023. Chapters 23 and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