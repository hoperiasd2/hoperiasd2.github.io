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Estrogen 되먹임 방향의 전환과 LH 급증. 농도와 지속 시간에 따른 음성·양성 되먹임의 경계, 양성 되먹임이 만드는 LH 급증 곡선, 급증이 일으키는 세 가지 결과, 그리고 progesterone의 되먹임이 급증을 종료시키는 과정을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수정에서 착상까지의 과정과 임신 유지의 호르몬 교대. 난관 ampulla에서의 수정, acrosome 반응과 다수정 차단, cleavage와 blastocyst 형성, 착상, 그리고 hCG가 황체를 유지하다가 태반으로 progesterone 공급이 교대되는 곡선을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교차는 meiosis I 전기에 상동염색체가 일부를 교환하는 것이고, 독립적 분리는 23쌍의 상동염색체가 서로 독립적으로 나뉘어 약 840만 가지 조합을 만드는 것이며, 무작위 수정은 어느 정자와 어느 난자가 만날지가 무작위인 것으로 조합이 두 번 곱해져 약 70조 가지가 된다. 환경이 변할 때 집단 안에 다양한 유전형이 있으면 적합한 개체가 존재할 확률이 높아진다. 특히 세대가 짧아 빠르게 변하는 병원체에 대한 저항성에서 이 이점이 크다.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유전적 성은 수정 시 정자가 가진 X 또는 Y가, 생식샘 성은 발생 7주경 SRY의 발현 여부가, 표현형 성은 생식샘이 만드는 호르몬이 결정한다. 발생 초기에는 남녀 모두 Wolffian duct와 Müllerian duct를 함께 가지고 있다. 따라서 남성이 되려면 testosterone이 Wolffian duct를 발달시키는 촉진과 AMH가 Müllerian duct를 퇴화시키는 억제가 모두 필요하다. 여성은 두 물질이 모두 없으면 되므로 호르몬을 필요로 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Androgen 불감 증후군은 XY이고 고환이 testosterone과 AMH를 정상 분비하지만 수용체 결함으로 androgen이 전혀 작용하지 못한다. AMH 작용으로 Müllerian duct는 퇴화하고, testosterone이 작용하지 못해 Wolffian duct도 발달하지 않으며, 외부 생식기는 여성형이 된다. 5알파-reductase 결핍에서는 testosterone은 작용하므로 내부 생식관이 남성형으로 발달하지만, DHT가 만들어지지 않아 외부 생식기만 모호하다. 즉 내부 생식관은 testosterone이, 외부 생식기는 DHT가 담당한다.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Sertoli cell은 FSH의 표적이며 생식세포를 감싸 영양과 신호를 공급하고 inhibin을 분비하며, 발생기에는 AMH를 분비한다. Leydig cell은 LH의 표적이며 cholesterol로부터 testosterone을 만든다. Sertoli cell 사이의 tight junction이 만드는 혈액-고환 장벽은 혈액 성분과 면역 세포가 생식세포에 닿지 못하게 한다. 생식세포는 반수체이고 재조합되어 있어 체세포와 유전적으로 다르므로 면역계가 이물질로 인식할 수 있기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후 초기 배아는 외부에서 영양을 받지 못하고 난자가 가진 저장분으로 분열해야 하므로, 한 세포에 가능한 많은 세포질과 저장 물질을 모으는 것이 유리하다. 염색체 수를 줄이는 목적은 달성하면서 세포질은 나누지 않는 방법이 극체다. 정자는 유전물질을 운반하는 역할만 하므로 반대로 세포질을 거의 모두 버리고 운동 장치만 남긴다.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연속 자극에 의해 뇌하수체의 GnRH 수용체가 down-regulation되어 반응이 사라지므로, 처음의 상승 뒤 수 일 안에 LH와 FSH가 거의 0으로 떨어진다. 박동성 분비는 수용체가 회복할 시간을 주어 민감도를 유지한다. 응용은 두 방향이다. 시상하부 문제로 GnRH가 나오지 않는 환자에게 박동 방식으로 투여하면 축이 회복된다. 반대로 GnRH 작용제를 연속 투여하면 성 steroid 생산을 억제할 수 있어 전립샘암, 자궁내막증, 조기 사춘기, 보조 생식술에서 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Estrogen의 되먹임 방향이 농도와 지속 시간에 따라 바뀐다. 낮거나 중간 농도에서는 음성 되먹임으로 LH를 억제하지만, 매우 높은 농도가 약 36시간 이상 지속되면 양성 되먹임으로 전환해 GnRH 분비와 뇌하수체의 GnRH 민감도를 크게 높인다. 생리적 의미는 estrogen 농도가 follicle의 성숙도를 보고하는 신호로 쓰인다는 점이다. Follicle이 충분히 자라야 역치를 넘으므로, 난자가 준비되었을 때만 배란이 일어난다.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follicle 벽을 분해하는 효소를 유도해 배란을 일으키고, 둘째 태아기부터 멈춰 있던 meiosis I을 완료시키고, 셋째 남은 follicle 세포를 progesterone을 만드는 황체로 바꾼다. 황체가 만드는 progesterone이 강한 음성 되먹임으로 작용해 LH를 떨어뜨리므로, 급증은 자신이 만든 결과에 의해 종료된다. 양성 되먹임이 종료 시점을 가진다는 조건이 충족된다.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태반에는 17α-hydroxylase가 없어 전구체를 스스로 만들지 못하고 태아 부신에서 공급받아야 한다. 따라서 estrogen 생산에는 태아, 태아 부신, 태반이 모두 필요하며 이를 태아–태반 단위라 한다. 그 결과 모체의 estriol 수치가 태아의 생존과 부신 기능을 반영하므로, 태아 상태를 간접적으로 보는 지표로 쓰인다. 모체에서 estriol이 낮게 측정되면 태아 사망이나 부신 발달 이상, 태반 황화효소 결핍을 의심한다.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혈액에서는 혈장량이 약 50%, 적혈구량이 약 25% 늘어 희석에 의한 생리적 빈혈이 생기므로 헤모글로빈 기준이 낮아진다. 호흡에서는 progesterone이 호흡 중추를 자극해 과환기가 되므로 PCO₂ 정상치가 약 30 mmHg로 낮아지고, 40 mmHg는 오히려 환기 부족을 뜻한다. 신장에서는 GFR이 약 50% 늘어 혈청 creatinine 정상 상한이 낮아지므로 1.0 mg/dL는 이미 신기능 저하를 시사한다. 대사에서는 hPL에 의한 인슐린 저항으로 식후 혈당이 오래 유지되며, 24~28주에 임신성 당뇨를 선별하는 근거가 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부계 연령은 새 점 돌연변이를 늘린다. 남성의 생식세포는 사춘기 이후 평생 분열을 반복하므로 DNA 복제 횟수가 나이와 함께 누적되고 복제 오류가 쌓인다. Achondroplasia나 Apert 증후군처럼 특정 점 돌연변이로 생기는 질환이 부계 연령과 연관되는 이유다. 모계 연령은 염색체 비분리를 늘린다. 난자는 태아기에 만들어져 제1감수분열 전기에서 멈춘 채 수십 년을 기다리는데 그동안 염색체를 붙드는 cohesin이 소실되어 분리가 부정확해진다. 그 결과 삼염색체 빈도가 모체 연령과 함께 급격히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민감도와 특이도가 높아도 유병률이 낮은 집단에서는 양성 예측도가 낮아지기 때문이다. 드문 질환을 선별할 때 양성 가운데 참양성의 비율이 떨어지는 것은 검사 성능과 무관한 통계적 귀결이며, 따라서 양성은 확진 검사로 확인해야 한다. 거짓 양성의 원인으로는 태반에만 국한된 모자이크, 소실된 쌍둥이의 DNA, 드물게 모체 자신의 미진단 악성종양에서 유래한 DNA가 알려져 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난소가 반응하지 못하면 estrogen이 낮아 되먹임 억제가 풀리므로 LH와 FSH가 높게 나온다. 조기 난소 부전과 폐경이 이 상태다. 반대로 시상하부나 뇌하수체의 문제이면 자극 호르몬 자체가 나오지 않으므로 LH와 FSH가 낮다. 체중 저하, 과도한 운동, 스트레스가 원인이다. 고prolactin혈증은 prolactin이 난소에 직접 작용하는 것이 아니라 GnRH의 박동성 분비를 억제해 무배란을 만든다. 따라서 치료는 난소가 아니라 dopamine 작용제로 prolactin을 낮추는 것이 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배란 유도는 배란 자체가 일어나지 않는 단계를 해결하고, 자궁내 정자 주입은 정자가 자궁경부를 통과하는 단계를 건너뛰며, 체외수정은 난관을 통째로 건너뛰고, 세포질내 정자 주입은 정자가 난자에 침투하는 단계까지 건너뛴다. 여성의 나이가 결정적인 이유는 난자가 태아기에 모두 만들어지기 때문이다. 시간이 지날수록 수가 줄어 난소 예비력이 감소하고, 오래 멈춰 있던 난자일수록 염색체 비분리가 늘어 질이 떨어진다. 그래서 나이가 들수록 임신율이 떨어지고 유산율이 올라간다. AMH와 동난포 수는 남은 수를 추정할 뿐 질을 알려 주지 않는다.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생식계 요약: 생식기관·생식세포·호르몬</a:t>
            </a:r>
          </a:p>
          <a:p>
            <a:r>
              <a:rPr sz="1500" b="0" i="0">
                <a:solidFill>
                  <a:srgbClr val="B9D2E8"/>
                </a:solidFill>
                <a:latin typeface="Malgun Gothic"/>
                <a:ea typeface="Malgun Gothic"/>
                <a:cs typeface="Malgun Gothic"/>
              </a:rPr>
              <a:t>The Reproductive System: Organs, Germ Cells and Hormones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M01-W02-L03  ·  2부</a:t>
            </a:r>
          </a:p>
          <a:p>
            <a:r>
              <a:rPr sz="1100" b="0" i="0">
                <a:solidFill>
                  <a:srgbClr val="F2B705"/>
                </a:solidFill>
                <a:latin typeface="Malgun Gothic"/>
                <a:ea typeface="Malgun Gothic"/>
                <a:cs typeface="Malgun Gothic"/>
              </a:rPr>
              <a:t>전체 13절 가운데 6절</a:t>
            </a:r>
          </a:p>
          <a:p>
            <a:r>
              <a:rPr sz="1100" b="0" i="0">
                <a:solidFill>
                  <a:srgbClr val="9FBEDA"/>
                </a:solidFill>
                <a:latin typeface="Malgun Gothic"/>
                <a:ea typeface="Malgun Gothic"/>
                <a:cs typeface="Malgun Gothic"/>
              </a:rPr>
              <a:t>2주 3회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유성 생식이 해결하는 문제를 유전적 다양성의 관점에서 설명하고 반수체 생식세포가 필요한 이유를 쓴다.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성 결정의 단계를 유전적 성·생식샘 성·표현형 성으로 나누어 설명하고 SRY 유전자의 역할을 쓴다.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남성과 여성 생식기관의 구조를 생식세포 생산·수송·외분비 요소로 나누어 구분한다.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Spermatogenesis의 단계를 쓰고 Sertoli cell과 Leydig cell의 역할을 구분한다.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Oogenesis의 단계를 쓰고 남성과 다른 세 가지 특징을 시기·수·분열 양상으로 설명한다.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생식 축에서 GnRH의 박동성 분비가 왜 필수적인지 설명하고 이 성질의 임상적 응용을 쓴다.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월경 주기를 난소 주기와 자궁 주기로 나누어 각 시기의 호르몬 변화와 대응시킨다.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배란 전 LH 급증이 일어나는 기전을 estrogen의 되먹임 방향 전환으로 설명한다.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수정에서 착상까지의 과정을 순서대로 쓰고 임신 유지에 관여하는 호르몬의 교대를 설명한다.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사춘기와 폐경에서 일어나는 호르몬 변화를 생식 축의 어느 단계 변화인지로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M01-W02-L02 내분비계 요약 — 시상하부–뇌하수체 축, 음성·양성 되먹임, steroid 호르몬의 성질</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세포주기와 분열의 기본 — mitosis와 meiosis의 차이, 염색체와 염색분체</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M01-W01-L01 순환계 요약 — 호르몬의 혈중 운반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8. LH 급증: 되먹임 방향의 전환</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9. 수정에서 착상, 그리고 임신 유지</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10. 태반과 임신의 모체 적응</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11. 감수분열의 오류와 염색체 이상</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12. 불임을 분석하는 법</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13. 사춘기와 폐경, 그리고 생식계 질환의 논리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LH 급증: 되먹임 방향의 전환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월경 주기에서 가장 설명이 필요한 사건이 배란 전 </a:t>
            </a:r>
            <a:r>
              <a:rPr sz="1400" b="1" i="0">
                <a:solidFill>
                  <a:srgbClr val="11202B"/>
                </a:solidFill>
                <a:latin typeface="Malgun Gothic"/>
                <a:ea typeface="Malgun Gothic"/>
                <a:cs typeface="Malgun Gothic"/>
              </a:rPr>
              <a:t>LH 급증(LH surge)</a:t>
            </a:r>
            <a:r>
              <a:rPr sz="1400" b="0" i="0">
                <a:solidFill>
                  <a:srgbClr val="11202B"/>
                </a:solidFill>
                <a:latin typeface="Malgun Gothic"/>
                <a:ea typeface="Malgun Gothic"/>
                <a:cs typeface="Malgun Gothic"/>
              </a:rPr>
              <a:t> 이다. Estrogen은 음성 되먹임으로 LH를 억제하는 호르몬인데, 배란 직전에는 estrogen이 가장 높은 상태에서 LH가 급증한다. 이 모순을 해결해야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답은 </a:t>
            </a:r>
            <a:r>
              <a:rPr sz="1400" b="1" i="0">
                <a:solidFill>
                  <a:srgbClr val="11202B"/>
                </a:solidFill>
                <a:latin typeface="Malgun Gothic"/>
                <a:ea typeface="Malgun Gothic"/>
                <a:cs typeface="Malgun Gothic"/>
              </a:rPr>
              <a:t>estrogen의 되먹임 방향이 농도와 지속 시간에 따라 바뀐다</a:t>
            </a:r>
            <a:r>
              <a:rPr sz="1400" b="0" i="0">
                <a:solidFill>
                  <a:srgbClr val="11202B"/>
                </a:solidFill>
                <a:latin typeface="Malgun Gothic"/>
                <a:ea typeface="Malgun Gothic"/>
                <a:cs typeface="Malgun Gothic"/>
              </a:rPr>
              <a:t>는 것이다.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낮거나 중간 농도의 estrogen</a:t>
            </a:r>
            <a:r>
              <a:rPr sz="1400" b="0" i="0">
                <a:solidFill>
                  <a:srgbClr val="11202B"/>
                </a:solidFill>
                <a:latin typeface="Malgun Gothic"/>
                <a:ea typeface="Malgun Gothic"/>
                <a:cs typeface="Malgun Gothic"/>
              </a:rPr>
              <a:t>: 음성 되먹임. GnRH와 LH 분비를 억제한다. Follicular phase 대부분과 luteal phase가 이 상태다.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매우 높은 농도의 estrogen이 약 36시간 이상 지속</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양성 되먹임</a:t>
            </a:r>
            <a:r>
              <a:rPr sz="1400" b="0" i="0">
                <a:solidFill>
                  <a:srgbClr val="11202B"/>
                </a:solidFill>
                <a:latin typeface="Malgun Gothic"/>
                <a:ea typeface="Malgun Gothic"/>
                <a:cs typeface="Malgun Gothic"/>
              </a:rPr>
              <a:t>으로 전환한다. GnRH 분비를 늘리고, 뇌하수체의 GnRH 민감도를 크게 높여 LH 분비를 폭발적으로 늘린다.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전환의 분자적 근거로는 뇌하수체 세포의 GnRH 수용체 수 증가, 그리고 시상하부의 kisspeptin 뉴런 집단이 estrogen에 양성으로 반응하는 것이 제시된다.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구조의 생리적 의미는 분명하다. </a:t>
            </a:r>
            <a:r>
              <a:rPr sz="1400" b="1" i="0">
                <a:solidFill>
                  <a:srgbClr val="11202B"/>
                </a:solidFill>
                <a:latin typeface="Malgun Gothic"/>
                <a:ea typeface="Malgun Gothic"/>
                <a:cs typeface="Malgun Gothic"/>
              </a:rPr>
              <a:t>Estrogen 농도가 follicle의 성숙도를 보고하는 신호</a:t>
            </a:r>
            <a:r>
              <a:rPr sz="1400" b="0" i="0">
                <a:solidFill>
                  <a:srgbClr val="11202B"/>
                </a:solidFill>
                <a:latin typeface="Malgun Gothic"/>
                <a:ea typeface="Malgun Gothic"/>
                <a:cs typeface="Malgun Gothic"/>
              </a:rPr>
              <a:t>로 쓰인다. Follicle이 충분히 자라야 estrogen이 양성 되먹임 역치를 넘을 만큼 나오고, 그때 LH 급증이 일어나 배란이 된다. 즉 난자가 준비되었을 때만 배란이 일어나도록 보장하는 장치다.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LH 급증이 일으키는 일은 셋이다.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배란</a:t>
            </a:r>
            <a:r>
              <a:rPr sz="1400" b="0" i="0">
                <a:solidFill>
                  <a:srgbClr val="11202B"/>
                </a:solidFill>
                <a:latin typeface="Malgun Gothic"/>
                <a:ea typeface="Malgun Gothic"/>
                <a:cs typeface="Malgun Gothic"/>
              </a:rPr>
              <a:t>: Follicle 벽을 분해하는 효소를 유도해 난자가 방출되게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Meiosis I 완료</a:t>
            </a:r>
            <a:r>
              <a:rPr sz="1400" b="0" i="0">
                <a:solidFill>
                  <a:srgbClr val="11202B"/>
                </a:solidFill>
                <a:latin typeface="Malgun Gothic"/>
                <a:ea typeface="Malgun Gothic"/>
                <a:cs typeface="Malgun Gothic"/>
              </a:rPr>
              <a:t>: 태아기부터 멈춰 있던 분열을 재개시킨다.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황체 형성(luteinization)</a:t>
            </a:r>
            <a:r>
              <a:rPr sz="1400" b="0" i="0">
                <a:solidFill>
                  <a:srgbClr val="11202B"/>
                </a:solidFill>
                <a:latin typeface="Malgun Gothic"/>
                <a:ea typeface="Malgun Gothic"/>
                <a:cs typeface="Malgun Gothic"/>
              </a:rPr>
              <a:t>: 남은 follicle 세포들이 progesterone을 만드는 황체로 바뀌게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황체가 만드는 progesterone은 다시 강한 음성 되먹임으로 작용해 LH를 떨어뜨린다. 따라서 LH 급증은 자신이 만든 결과에 의해 종료된다. 앞 수업에서 본 양성 되먹임의 조건, 즉 </a:t>
            </a:r>
            <a:r>
              <a:rPr sz="1400" b="1" i="0">
                <a:solidFill>
                  <a:srgbClr val="11202B"/>
                </a:solidFill>
                <a:latin typeface="Malgun Gothic"/>
                <a:ea typeface="Malgun Gothic"/>
                <a:cs typeface="Malgun Gothic"/>
              </a:rPr>
              <a:t>종료 시점이 분명해야 한다</a:t>
            </a:r>
            <a:r>
              <a:rPr sz="1400" b="0" i="0">
                <a:solidFill>
                  <a:srgbClr val="11202B"/>
                </a:solidFill>
                <a:latin typeface="Malgun Gothic"/>
                <a:ea typeface="Malgun Gothic"/>
                <a:cs typeface="Malgun Gothic"/>
              </a:rPr>
              <a:t>는 조건이 여기서 충족된다.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수정이 일어나지 않으면 황체는 약 14일 뒤 퇴화한다. 황체의 수명이 유한한 이유는 그것을 유지하는 LH가 progesterone의 되먹임으로 낮아져 있기 때문이다. 황체가 퇴화하면 progesterone과 estrogen이 급감해 자궁내막이 떨어지고(월경), 되먹임 억제가 풀려 FSH가 올라가 다음 주기가 시작된다.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LH 급증: 되먹임 방향의 전환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6</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월경 주기는 되먹임 방향이 한 번 뒤집히는 구조로 되어 있고, 그 뒤집힘이 주기를 앞으로 밀어 준다. 이 지점을 이해하면 주기 전체가 하나의 논리로 연결된다.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LH 급증: 되먹임 방향의 전환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7</a:t>
            </a:r>
          </a:p>
        </p:txBody>
      </p:sp>
      <p:pic>
        <p:nvPicPr>
          <p:cNvPr id="7" name="Picture 6" descr="fig-lh-surge.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Estrogen 되먹임 방향의 전환과 LH 급증. 농도와 지속 시간에 따른 음성·양성 되먹임의 경계, 양성 되먹임이 만드는 LH 급증 곡선, 급증이 일으키는 세 가지 결과, 그리고 progesterone의 되먹임이 급증을 종료시키는 과정을 함께 보인다.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LH 급증: 되먹임 방향의 전환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사람의 난소 예비력이 고정되어 있다는 전제, 즉 태아기 이후 새 난자가 만들어지지 않는다는 명제는 한동안 논쟁의 대상이었다. 성체 난소에서 생식선 줄기세포를 분리했다는 보고가 2000년대에 나왔으나 재현과 계통 추적에서 비판을 받았고, 현재는 포유류에서 성체 난자 신생이 일어난다는 근거가 충분하지 않다는 쪽이 우세하다. 대신 </a:t>
            </a:r>
            <a:r>
              <a:rPr sz="1600" b="1" i="0">
                <a:solidFill>
                  <a:srgbClr val="11202B"/>
                </a:solidFill>
                <a:latin typeface="Malgun Gothic"/>
                <a:ea typeface="Malgun Gothic"/>
                <a:cs typeface="Malgun Gothic"/>
              </a:rPr>
              <a:t>체외 배우자 형성(in vitro gametogenesis)</a:t>
            </a:r>
            <a:r>
              <a:rPr sz="1600" b="0" i="0">
                <a:solidFill>
                  <a:srgbClr val="11202B"/>
                </a:solidFill>
                <a:latin typeface="Malgun Gothic"/>
                <a:ea typeface="Malgun Gothic"/>
                <a:cs typeface="Malgun Gothic"/>
              </a:rPr>
              <a:t> 이 더 현실적인 경로로 떠올랐다. 생쥐에서는 유도 만능 줄기세포로부터 난자를 만들어 수정시키고 정상 개체를 얻는 데까지 성공했다. 사람 세포에서는 감수분열을 완주시키는 단계에서 막혀 있으며, 성공하더라도 유전적 안전성과 윤리적 허용 범위가 함께 결정되어야 한다. 이 기술은 M01-W12-L02에서 다루는 세포 운명 전환의 응용이기도 하다.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수정에서 착상, 그리고 임신 유지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배란된 난자는 난관 끝의 fimbriae에 붙잡혀 난관으로 들어가고, 난관 상피의 cilia와 근육의 수축이 자궁 쪽으로 밀어 보낸다. 수정이 일어나는 장소는 자궁이 아니라 </a:t>
            </a:r>
            <a:r>
              <a:rPr sz="1400" b="1" i="0">
                <a:solidFill>
                  <a:srgbClr val="11202B"/>
                </a:solidFill>
                <a:latin typeface="Malgun Gothic"/>
                <a:ea typeface="Malgun Gothic"/>
                <a:cs typeface="Malgun Gothic"/>
              </a:rPr>
              <a:t>난관의 위쪽(ampulla)</a:t>
            </a:r>
            <a:r>
              <a:rPr sz="1400" b="0" i="0">
                <a:solidFill>
                  <a:srgbClr val="11202B"/>
                </a:solidFill>
                <a:latin typeface="Malgun Gothic"/>
                <a:ea typeface="Malgun Gothic"/>
                <a:cs typeface="Malgun Gothic"/>
              </a:rPr>
              <a:t> 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수정(fertilization)</a:t>
            </a:r>
            <a:r>
              <a:rPr sz="1400" b="0" i="0">
                <a:solidFill>
                  <a:srgbClr val="11202B"/>
                </a:solidFill>
                <a:latin typeface="Malgun Gothic"/>
                <a:ea typeface="Malgun Gothic"/>
                <a:cs typeface="Malgun Gothic"/>
              </a:rPr>
              <a:t> 의 과정은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활성화(capacitation)</a:t>
            </a:r>
            <a:r>
              <a:rPr sz="1400" b="0" i="0">
                <a:solidFill>
                  <a:srgbClr val="11202B"/>
                </a:solidFill>
                <a:latin typeface="Malgun Gothic"/>
                <a:ea typeface="Malgun Gothic"/>
                <a:cs typeface="Malgun Gothic"/>
              </a:rPr>
              <a:t>: 여성 생식관에 들어온 정자가 몇 시간에 걸쳐 변화를 겪어 수정 능력을 얻는다. 이 과정이 끝나야 다음 단계가 가능하다.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Zona pellucida 통과</a:t>
            </a:r>
            <a:r>
              <a:rPr sz="1400" b="0" i="0">
                <a:solidFill>
                  <a:srgbClr val="11202B"/>
                </a:solidFill>
                <a:latin typeface="Malgun Gothic"/>
                <a:ea typeface="Malgun Gothic"/>
                <a:cs typeface="Malgun Gothic"/>
              </a:rPr>
              <a:t>: 난자를 둘러싼 당단백질 층이다. 정자가 여기에 결합하면 </a:t>
            </a:r>
            <a:r>
              <a:rPr sz="1400" b="1" i="0">
                <a:solidFill>
                  <a:srgbClr val="11202B"/>
                </a:solidFill>
                <a:latin typeface="Malgun Gothic"/>
                <a:ea typeface="Malgun Gothic"/>
                <a:cs typeface="Malgun Gothic"/>
              </a:rPr>
              <a:t>acrosome 반응</a:t>
            </a:r>
            <a:r>
              <a:rPr sz="1400" b="0" i="0">
                <a:solidFill>
                  <a:srgbClr val="11202B"/>
                </a:solidFill>
                <a:latin typeface="Malgun Gothic"/>
                <a:ea typeface="Malgun Gothic"/>
                <a:cs typeface="Malgun Gothic"/>
              </a:rPr>
              <a:t>이 일어나 acrosome의 효소가 방출되어 층을 분해한다.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막 융합</a:t>
            </a:r>
            <a:r>
              <a:rPr sz="1400" b="0" i="0">
                <a:solidFill>
                  <a:srgbClr val="11202B"/>
                </a:solidFill>
                <a:latin typeface="Malgun Gothic"/>
                <a:ea typeface="Malgun Gothic"/>
                <a:cs typeface="Malgun Gothic"/>
              </a:rPr>
              <a:t>: 정자의 막과 난자의 막이 융합하고 정자의 핵이 난자 안으로 들어간다.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다수정 차단(block to polyspermy)</a:t>
            </a:r>
            <a:r>
              <a:rPr sz="1400" b="0" i="0">
                <a:solidFill>
                  <a:srgbClr val="11202B"/>
                </a:solidFill>
                <a:latin typeface="Malgun Gothic"/>
                <a:ea typeface="Malgun Gothic"/>
                <a:cs typeface="Malgun Gothic"/>
              </a:rPr>
              <a:t>: 정자가 들어오면 난자 안의 Ca²⁺이 급증하고, 저장된 과립이 방출되어 zona pellucida를 단단하게 바꾼다. 두 번째 정자가 들어오지 못하게 하는 장치다. 다수정이 되면 3n이 되어 생존할 수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 </a:t>
            </a:r>
            <a:r>
              <a:rPr sz="1400" b="1" i="0">
                <a:solidFill>
                  <a:srgbClr val="11202B"/>
                </a:solidFill>
                <a:latin typeface="Malgun Gothic"/>
                <a:ea typeface="Malgun Gothic"/>
                <a:cs typeface="Malgun Gothic"/>
              </a:rPr>
              <a:t>Meiosis II 완료</a:t>
            </a:r>
            <a:r>
              <a:rPr sz="1400" b="0" i="0">
                <a:solidFill>
                  <a:srgbClr val="11202B"/>
                </a:solidFill>
                <a:latin typeface="Malgun Gothic"/>
                <a:ea typeface="Malgun Gothic"/>
                <a:cs typeface="Malgun Gothic"/>
              </a:rPr>
              <a:t>: Ca²⁺ 급증이 멈춰 있던 분열을 재개시키고, 두 번째 극체가 방출된다.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6. </a:t>
            </a:r>
            <a:r>
              <a:rPr sz="1400" b="1" i="0">
                <a:solidFill>
                  <a:srgbClr val="11202B"/>
                </a:solidFill>
                <a:latin typeface="Malgun Gothic"/>
                <a:ea typeface="Malgun Gothic"/>
                <a:cs typeface="Malgun Gothic"/>
              </a:rPr>
              <a:t>핵의 결합</a:t>
            </a:r>
            <a:r>
              <a:rPr sz="1400" b="0" i="0">
                <a:solidFill>
                  <a:srgbClr val="11202B"/>
                </a:solidFill>
                <a:latin typeface="Malgun Gothic"/>
                <a:ea typeface="Malgun Gothic"/>
                <a:cs typeface="Malgun Gothic"/>
              </a:rPr>
              <a:t>: 정자와 난자의 반수체 핵이 합쳐져 2n의 zygote가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착상까지</a:t>
            </a:r>
            <a:r>
              <a:rPr sz="1400" b="0" i="0">
                <a:solidFill>
                  <a:srgbClr val="11202B"/>
                </a:solidFill>
                <a:latin typeface="Malgun Gothic"/>
                <a:ea typeface="Malgun Gothic"/>
                <a:cs typeface="Malgun Gothic"/>
              </a:rPr>
              <a:t>의 과정은 다음과 같다. Zygote는 난관을 내려오면서 mitosis를 반복한다(cleavage). 중요한 점은 이 분열에서 </a:t>
            </a:r>
            <a:r>
              <a:rPr sz="1400" b="1" i="0">
                <a:solidFill>
                  <a:srgbClr val="11202B"/>
                </a:solidFill>
                <a:latin typeface="Malgun Gothic"/>
                <a:ea typeface="Malgun Gothic"/>
                <a:cs typeface="Malgun Gothic"/>
              </a:rPr>
              <a:t>전체 크기가 커지지 않는다</a:t>
            </a:r>
            <a:r>
              <a:rPr sz="1400" b="0" i="0">
                <a:solidFill>
                  <a:srgbClr val="11202B"/>
                </a:solidFill>
                <a:latin typeface="Malgun Gothic"/>
                <a:ea typeface="Malgun Gothic"/>
                <a:cs typeface="Malgun Gothic"/>
              </a:rPr>
              <a:t>는 것이다. 외부에서 영양을 받지 못하므로 난자의 세포질을 나누어 쓸 뿐이다. 세포가 16~32개가 되면 morula, 안쪽에 공간이 생기면 </a:t>
            </a:r>
            <a:r>
              <a:rPr sz="1400" b="1" i="0">
                <a:solidFill>
                  <a:srgbClr val="11202B"/>
                </a:solidFill>
                <a:latin typeface="Malgun Gothic"/>
                <a:ea typeface="Malgun Gothic"/>
                <a:cs typeface="Malgun Gothic"/>
              </a:rPr>
              <a:t>blastocyst</a:t>
            </a:r>
            <a:r>
              <a:rPr sz="1400" b="0" i="0">
                <a:solidFill>
                  <a:srgbClr val="11202B"/>
                </a:solidFill>
                <a:latin typeface="Malgun Gothic"/>
                <a:ea typeface="Malgun Gothic"/>
                <a:cs typeface="Malgun Gothic"/>
              </a:rPr>
              <a:t>가 된다. Blastocyst는 외층의 </a:t>
            </a:r>
            <a:r>
              <a:rPr sz="1400" b="1" i="0">
                <a:solidFill>
                  <a:srgbClr val="11202B"/>
                </a:solidFill>
                <a:latin typeface="Malgun Gothic"/>
                <a:ea typeface="Malgun Gothic"/>
                <a:cs typeface="Malgun Gothic"/>
              </a:rPr>
              <a:t>trophoblast</a:t>
            </a:r>
            <a:r>
              <a:rPr sz="1400" b="0" i="0">
                <a:solidFill>
                  <a:srgbClr val="11202B"/>
                </a:solidFill>
                <a:latin typeface="Malgun Gothic"/>
                <a:ea typeface="Malgun Gothic"/>
                <a:cs typeface="Malgun Gothic"/>
              </a:rPr>
              <a:t>(태반이 될 부분)와 안쪽의 inner cell mass(배아가 될 부분)로 구분된다.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수정 후 약 6~7일에 blastocyst가 자궁내막에 붙고 trophoblast가 내막을 파고 들어간다. 이것이 </a:t>
            </a:r>
            <a:r>
              <a:rPr sz="1400" b="1" i="0">
                <a:solidFill>
                  <a:srgbClr val="11202B"/>
                </a:solidFill>
                <a:latin typeface="Malgun Gothic"/>
                <a:ea typeface="Malgun Gothic"/>
                <a:cs typeface="Malgun Gothic"/>
              </a:rPr>
              <a:t>착상(implantation)</a:t>
            </a:r>
            <a:r>
              <a:rPr sz="1400" b="0" i="0">
                <a:solidFill>
                  <a:srgbClr val="11202B"/>
                </a:solidFill>
                <a:latin typeface="Malgun Gothic"/>
                <a:ea typeface="Malgun Gothic"/>
                <a:cs typeface="Malgun Gothic"/>
              </a:rPr>
              <a:t> 이다. Progesterone이 준비해 놓은 분비기 내막이 이 과정의 조건이다.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임신 유지</a:t>
            </a:r>
            <a:r>
              <a:rPr sz="1400" b="0" i="0">
                <a:solidFill>
                  <a:srgbClr val="11202B"/>
                </a:solidFill>
                <a:latin typeface="Malgun Gothic"/>
                <a:ea typeface="Malgun Gothic"/>
                <a:cs typeface="Malgun Gothic"/>
              </a:rPr>
              <a:t>의 호르몬 교대가 이 절의 핵심이다. 착상이 되지 않으면 황체가 14일 뒤 퇴화해 progesterone이 떨어지고 내막이 떨어진다. 임신이 유지되려면 황체를 살려 두어야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일을 </a:t>
            </a:r>
            <a:r>
              <a:rPr sz="1400" b="1" i="0">
                <a:solidFill>
                  <a:srgbClr val="11202B"/>
                </a:solidFill>
                <a:latin typeface="Malgun Gothic"/>
                <a:ea typeface="Malgun Gothic"/>
                <a:cs typeface="Malgun Gothic"/>
              </a:rPr>
              <a:t>hCG(human chorionic gonadotropin)</a:t>
            </a:r>
            <a:r>
              <a:rPr sz="1400" b="0" i="0">
                <a:solidFill>
                  <a:srgbClr val="11202B"/>
                </a:solidFill>
                <a:latin typeface="Malgun Gothic"/>
                <a:ea typeface="Malgun Gothic"/>
                <a:cs typeface="Malgun Gothic"/>
              </a:rPr>
              <a:t> 가 한다. 착상한 trophoblast가 hCG를 분비하고, hCG가 LH와 구조가 비슷해 LH 수용체에 결합해 황체를 계속 자극한다. 그 결과 황체가 퇴화하지 않고 progesterone을 계속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hCG는 임신 초기에 급격히 올라가 8~10주에 정점을 이루고 그 뒤 떨어진다. 떨어지는 이유는 그때쯤 </a:t>
            </a:r>
            <a:r>
              <a:rPr sz="1400" b="1" i="0">
                <a:solidFill>
                  <a:srgbClr val="11202B"/>
                </a:solidFill>
                <a:latin typeface="Malgun Gothic"/>
                <a:ea typeface="Malgun Gothic"/>
                <a:cs typeface="Malgun Gothic"/>
              </a:rPr>
              <a:t>태반 자신이 progesterone을 충분히 만들게 되어</a:t>
            </a:r>
            <a:r>
              <a:rPr sz="1400" b="0" i="0">
                <a:solidFill>
                  <a:srgbClr val="11202B"/>
                </a:solidFill>
                <a:latin typeface="Malgun Gothic"/>
                <a:ea typeface="Malgun Gothic"/>
                <a:cs typeface="Malgun Gothic"/>
              </a:rPr>
              <a:t> 황체가 필요 없어지기 때문이다. 즉 progesterone 공급원이 황체에서 태반으로 교대한다.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hCG가 소변과 혈액에서 검출된다는 점이 임신 검사의 원리다. 착상 직후부터 분비되므로 매우 이른 시기에 임신을 확인할 수 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수정에서 착상, 그리고 임신 유지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10</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수정이 난관에서 일어나고 착상이 자궁에서 일어난다는 사실 때문에, 둘 사이의 이동이 막히면 난관에 착상할 수 있다. 이것이 자궁외 임신(ectopic pregnancy)이며, 가장 흔한 위치가 난관이다. 난관은 자라는 배아를 담을 수 없으므로 터져 대량 출혈을 일으킬 수 있다. 난관 염증이나 수술로 생긴 반흔이 위험 요인이다. hCG는 올라가는데 초음파에서 자궁 안에 임신 주머니가 보이지 않으면 의심한다.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수정에서 착상, 그리고 임신 유지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11</a:t>
            </a:r>
          </a:p>
        </p:txBody>
      </p:sp>
      <p:pic>
        <p:nvPicPr>
          <p:cNvPr id="7" name="Picture 6" descr="fig-fertilization.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수정에서 착상까지의 과정과 임신 유지의 호르몬 교대. 난관 ampulla에서의 수정, acrosome 반응과 다수정 차단, cleavage와 blastocyst 형성, 착상, 그리고 hCG가 황체를 유지하다가 태반으로 progesterone 공급이 교대되는 곡선을 함께 보인다.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태반과 임신의 모체 적응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착상 이후 임신을 끌고 가는 것은 </a:t>
            </a:r>
            <a:r>
              <a:rPr sz="1400" b="1" i="0">
                <a:solidFill>
                  <a:srgbClr val="11202B"/>
                </a:solidFill>
                <a:latin typeface="Malgun Gothic"/>
                <a:ea typeface="Malgun Gothic"/>
                <a:cs typeface="Malgun Gothic"/>
              </a:rPr>
              <a:t>태반</a:t>
            </a:r>
            <a:r>
              <a:rPr sz="1400" b="0" i="0">
                <a:solidFill>
                  <a:srgbClr val="11202B"/>
                </a:solidFill>
                <a:latin typeface="Malgun Gothic"/>
                <a:ea typeface="Malgun Gothic"/>
                <a:cs typeface="Malgun Gothic"/>
              </a:rPr>
              <a:t>이다. 태반은 가스와 영양소를 교환하는 기관이면서 동시에 임신 기간 중 가장 큰 내분비 기관이다. 이 두 성격을 함께 보아야 임신의 생리가 정리된다.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태반이 만드는 호르몬.</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hCG</a:t>
            </a:r>
            <a:r>
              <a:rPr sz="1400" b="0" i="0">
                <a:solidFill>
                  <a:srgbClr val="11202B"/>
                </a:solidFill>
                <a:latin typeface="Malgun Gothic"/>
                <a:ea typeface="Malgun Gothic"/>
                <a:cs typeface="Malgun Gothic"/>
              </a:rPr>
              <a:t>: 9절에서 본 대로 황체를 유지한다. LH와 α 소단위를 공유하므로 LH 수용체를 자극한다. 같은 이유로 매우 높은 hCG는 TSH 수용체까지 약하게 자극해 </a:t>
            </a:r>
            <a:r>
              <a:rPr sz="1400" b="1" i="0">
                <a:solidFill>
                  <a:srgbClr val="11202B"/>
                </a:solidFill>
                <a:latin typeface="Malgun Gothic"/>
                <a:ea typeface="Malgun Gothic"/>
                <a:cs typeface="Malgun Gothic"/>
              </a:rPr>
              <a:t>임신 초기의 일시적 갑상샘 기능항진</a:t>
            </a:r>
            <a:r>
              <a:rPr sz="1400" b="0" i="0">
                <a:solidFill>
                  <a:srgbClr val="11202B"/>
                </a:solidFill>
                <a:latin typeface="Malgun Gothic"/>
                <a:ea typeface="Malgun Gothic"/>
                <a:cs typeface="Malgun Gothic"/>
              </a:rPr>
              <a:t>을 일으킬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Progesterone</a:t>
            </a:r>
            <a:r>
              <a:rPr sz="1400" b="0" i="0">
                <a:solidFill>
                  <a:srgbClr val="11202B"/>
                </a:solidFill>
                <a:latin typeface="Malgun Gothic"/>
                <a:ea typeface="Malgun Gothic"/>
                <a:cs typeface="Malgun Gothic"/>
              </a:rPr>
              <a:t>: 임신 7~9주 무렵 생산의 주체가 황체에서 태반으로 넘어간다(</a:t>
            </a:r>
            <a:r>
              <a:rPr sz="1400" b="1" i="0">
                <a:solidFill>
                  <a:srgbClr val="11202B"/>
                </a:solidFill>
                <a:latin typeface="Malgun Gothic"/>
                <a:ea typeface="Malgun Gothic"/>
                <a:cs typeface="Malgun Gothic"/>
              </a:rPr>
              <a:t>황체–태반 전환</a:t>
            </a:r>
            <a:r>
              <a:rPr sz="1400" b="0" i="0">
                <a:solidFill>
                  <a:srgbClr val="11202B"/>
                </a:solidFill>
                <a:latin typeface="Malgun Gothic"/>
                <a:ea typeface="Malgun Gothic"/>
                <a:cs typeface="Malgun Gothic"/>
              </a:rPr>
              <a:t>). 자궁 수축을 억제해 임신을 유지한다.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Estrogen</a:t>
            </a:r>
            <a:r>
              <a:rPr sz="1400" b="0" i="0">
                <a:solidFill>
                  <a:srgbClr val="11202B"/>
                </a:solidFill>
                <a:latin typeface="Malgun Gothic"/>
                <a:ea typeface="Malgun Gothic"/>
                <a:cs typeface="Malgun Gothic"/>
              </a:rPr>
              <a:t>: 태반 단독으로는 만들지 못한다. 태반에는 17α-hydroxylase가 없어 전구체를 </a:t>
            </a:r>
            <a:r>
              <a:rPr sz="1400" b="1" i="0">
                <a:solidFill>
                  <a:srgbClr val="11202B"/>
                </a:solidFill>
                <a:latin typeface="Malgun Gothic"/>
                <a:ea typeface="Malgun Gothic"/>
                <a:cs typeface="Malgun Gothic"/>
              </a:rPr>
              <a:t>태아 부신</a:t>
            </a:r>
            <a:r>
              <a:rPr sz="1400" b="0" i="0">
                <a:solidFill>
                  <a:srgbClr val="11202B"/>
                </a:solidFill>
                <a:latin typeface="Malgun Gothic"/>
                <a:ea typeface="Malgun Gothic"/>
                <a:cs typeface="Malgun Gothic"/>
              </a:rPr>
              <a:t>에서 받아야 한다. 즉 estrogen 생산에는 태아, 태아 부신, 태반이 모두 필요하며 이를 </a:t>
            </a:r>
            <a:r>
              <a:rPr sz="1400" b="1" i="0">
                <a:solidFill>
                  <a:srgbClr val="11202B"/>
                </a:solidFill>
                <a:latin typeface="Malgun Gothic"/>
                <a:ea typeface="Malgun Gothic"/>
                <a:cs typeface="Malgun Gothic"/>
              </a:rPr>
              <a:t>태아–태반 단위(fetoplacental unit)</a:t>
            </a:r>
            <a:r>
              <a:rPr sz="1400" b="0" i="0">
                <a:solidFill>
                  <a:srgbClr val="11202B"/>
                </a:solidFill>
                <a:latin typeface="Malgun Gothic"/>
                <a:ea typeface="Malgun Gothic"/>
                <a:cs typeface="Malgun Gothic"/>
              </a:rPr>
              <a:t> 라 한다. 모체 estriol 수치가 태아의 상태를 반영하는 근거가 여기에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hPL(human placental lactogen)</a:t>
            </a:r>
            <a:r>
              <a:rPr sz="1400" b="0" i="0">
                <a:solidFill>
                  <a:srgbClr val="11202B"/>
                </a:solidFill>
                <a:latin typeface="Malgun Gothic"/>
                <a:ea typeface="Malgun Gothic"/>
                <a:cs typeface="Malgun Gothic"/>
              </a:rPr>
              <a:t>: GH와 구조가 비슷하며 모체에 </a:t>
            </a:r>
            <a:r>
              <a:rPr sz="1400" b="1" i="0">
                <a:solidFill>
                  <a:srgbClr val="11202B"/>
                </a:solidFill>
                <a:latin typeface="Malgun Gothic"/>
                <a:ea typeface="Malgun Gothic"/>
                <a:cs typeface="Malgun Gothic"/>
              </a:rPr>
              <a:t>인슐린 저항</a:t>
            </a:r>
            <a:r>
              <a:rPr sz="1400" b="0" i="0">
                <a:solidFill>
                  <a:srgbClr val="11202B"/>
                </a:solidFill>
                <a:latin typeface="Malgun Gothic"/>
                <a:ea typeface="Malgun Gothic"/>
                <a:cs typeface="Malgun Gothic"/>
              </a:rPr>
              <a:t>을 만든다. 모체가 포도당 대신 지방을 쓰게 해 포도당을 태아에게 보내는 것이 목적이다.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모체의 적응.</a:t>
            </a:r>
            <a:r>
              <a:rPr sz="1400" b="0" i="0">
                <a:solidFill>
                  <a:srgbClr val="11202B"/>
                </a:solidFill>
                <a:latin typeface="Malgun Gothic"/>
                <a:ea typeface="Malgun Gothic"/>
                <a:cs typeface="Malgun Gothic"/>
              </a:rPr>
              <a:t> 임신 중 모체 생리는 크게 바뀌며, 변화의 방향이 대부분 "태아에게 더 보내기"로 설명된다.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태반과 임신의 모체 적응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계통</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변화</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이유 또는 결과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혈액</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혈장량 약 50% 증가, 적혈구량 약 25% 증가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희석되어 </a:t>
                      </a:r>
                      <a:r>
                        <a:rPr sz="1200" b="1" i="0">
                          <a:solidFill>
                            <a:srgbClr val="11202B"/>
                          </a:solidFill>
                          <a:latin typeface="Malgun Gothic"/>
                          <a:ea typeface="Malgun Gothic"/>
                          <a:cs typeface="Malgun Gothic"/>
                        </a:rPr>
                        <a:t>생리적 빈혈</a:t>
                      </a:r>
                      <a:r>
                        <a:rPr sz="1200" b="0" i="0">
                          <a:solidFill>
                            <a:srgbClr val="11202B"/>
                          </a:solidFill>
                          <a:latin typeface="Malgun Gothic"/>
                          <a:ea typeface="Malgun Gothic"/>
                          <a:cs typeface="Malgun Gothic"/>
                        </a:rPr>
                        <a:t>로 보인다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순환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심박출량 증가, 전신 혈관 저항 감소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혈압은 중기에 오히려 낮아진다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호흡</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progesterone이 호흡 중추를 자극해 과환기</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호흡성 알칼리증</a:t>
                      </a:r>
                      <a:r>
                        <a:rPr sz="1200" b="0" i="0">
                          <a:solidFill>
                            <a:srgbClr val="11202B"/>
                          </a:solidFill>
                          <a:latin typeface="Malgun Gothic"/>
                          <a:ea typeface="Malgun Gothic"/>
                          <a:cs typeface="Malgun Gothic"/>
                        </a:rPr>
                        <a:t>이 정상이다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신장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GFR 약 50% 증가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혈청 creatinine이 낮아진다. 정상치를 그대로 쓰면 안 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대사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hPL에 의한 인슐린 저항</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식후 혈당이 오래 유지되어 태아에게 공급된다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응고</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응고 인자 증가, 섬유소 용해 감소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출산 출혈에 대비하나 </a:t>
                      </a:r>
                      <a:r>
                        <a:rPr sz="1200" b="1" i="0">
                          <a:solidFill>
                            <a:srgbClr val="11202B"/>
                          </a:solidFill>
                          <a:latin typeface="Malgun Gothic"/>
                          <a:ea typeface="Malgun Gothic"/>
                          <a:cs typeface="Malgun Gothic"/>
                        </a:rPr>
                        <a:t>혈전 위험이 는다</a:t>
                      </a:r>
                    </a:p>
                  </a:txBody>
                  <a:tcPr marL="73152" marR="73152" marT="27432" marB="27432">
                    <a:solidFill>
                      <a:srgbClr val="EFF4F8"/>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태반과 임신의 모체 적응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14</a:t>
            </a:r>
          </a:p>
        </p:txBody>
      </p:sp>
      <p:sp>
        <p:nvSpPr>
          <p:cNvPr id="7" name="Rectangle 6"/>
          <p:cNvSpPr/>
          <p:nvPr/>
        </p:nvSpPr>
        <p:spPr>
          <a:xfrm>
            <a:off x="640080" y="132588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임신에서는 </a:t>
            </a:r>
            <a:r>
              <a:rPr sz="1600" b="1" i="0">
                <a:solidFill>
                  <a:srgbClr val="11202B"/>
                </a:solidFill>
                <a:latin typeface="Malgun Gothic"/>
                <a:ea typeface="Malgun Gothic"/>
                <a:cs typeface="Malgun Gothic"/>
              </a:rPr>
              <a:t>정상치가 달라진다</a:t>
            </a:r>
            <a:r>
              <a:rPr sz="1600" b="0" i="0">
                <a:solidFill>
                  <a:srgbClr val="11202B"/>
                </a:solidFill>
                <a:latin typeface="Malgun Gothic"/>
                <a:ea typeface="Malgun Gothic"/>
                <a:cs typeface="Malgun Gothic"/>
              </a:rPr>
              <a:t>는 점이 반복 출제된다. 혈청 creatinine 1.0 mg/dL는 비임신에서 정상이지만 임신 중에는 </a:t>
            </a:r>
            <a:r>
              <a:rPr sz="1600" b="1" i="0">
                <a:solidFill>
                  <a:srgbClr val="11202B"/>
                </a:solidFill>
                <a:latin typeface="Malgun Gothic"/>
                <a:ea typeface="Malgun Gothic"/>
                <a:cs typeface="Malgun Gothic"/>
              </a:rPr>
              <a:t>이미 신기능 저하를 시사</a:t>
            </a:r>
            <a:r>
              <a:rPr sz="1600" b="0" i="0">
                <a:solidFill>
                  <a:srgbClr val="11202B"/>
                </a:solidFill>
                <a:latin typeface="Malgun Gothic"/>
                <a:ea typeface="Malgun Gothic"/>
                <a:cs typeface="Malgun Gothic"/>
              </a:rPr>
              <a:t>한다. GFR이 50% 늘어 기준이 0.4~0.8 수준으로 내려가기 때문이다. 같은 논리로 PCO₂ 40 mmHg는 임신에서 </a:t>
            </a:r>
            <a:r>
              <a:rPr sz="1600" b="1" i="0">
                <a:solidFill>
                  <a:srgbClr val="11202B"/>
                </a:solidFill>
                <a:latin typeface="Malgun Gothic"/>
                <a:ea typeface="Malgun Gothic"/>
                <a:cs typeface="Malgun Gothic"/>
              </a:rPr>
              <a:t>정상이 아니라 환기 부족</a:t>
            </a:r>
            <a:r>
              <a:rPr sz="1600" b="0" i="0">
                <a:solidFill>
                  <a:srgbClr val="11202B"/>
                </a:solidFill>
                <a:latin typeface="Malgun Gothic"/>
                <a:ea typeface="Malgun Gothic"/>
                <a:cs typeface="Malgun Gothic"/>
              </a:rPr>
              <a:t>을 뜻한다(정상 약 30 mmHg). 헤모글로빈 10.5 g/dL는 희석에 의한 생리적 변화일 수 있으나, 평균 적혈구 용적이 작으면 철 결핍을 따로 평가해야 한다. 임신성 당뇨 선별을 24~28주에 하는 이유도 hPL에 의한 인슐린 저항이 그 무렵 뚜렷해지기 때문이다.</a:t>
            </a:r>
          </a:p>
        </p:txBody>
      </p:sp>
      <p:sp>
        <p:nvSpPr>
          <p:cNvPr id="8" name="Rectangle 7"/>
          <p:cNvSpPr/>
          <p:nvPr/>
        </p:nvSpPr>
        <p:spPr>
          <a:xfrm>
            <a:off x="640080" y="3439160"/>
            <a:ext cx="10881360" cy="227075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전자간증(preeclampsia)</a:t>
            </a:r>
            <a:r>
              <a:rPr sz="1600" b="0" i="0">
                <a:solidFill>
                  <a:srgbClr val="11202B"/>
                </a:solidFill>
                <a:latin typeface="Malgun Gothic"/>
                <a:ea typeface="Malgun Gothic"/>
                <a:cs typeface="Malgun Gothic"/>
              </a:rPr>
              <a:t> 은 태반 형성의 실패에서 시작하는 전신 내피 질환으로 이해된다. 정상 임신에서는 trophoblast가 나선동맥을 침윤해 저저항 혈관으로 바꾸는데, 이 개조가 불충분하면 태반이 저관류 상태가 된다. 저관류 태반이 </a:t>
            </a:r>
            <a:r>
              <a:rPr sz="1600" b="1" i="0">
                <a:solidFill>
                  <a:srgbClr val="11202B"/>
                </a:solidFill>
                <a:latin typeface="Malgun Gothic"/>
                <a:ea typeface="Malgun Gothic"/>
                <a:cs typeface="Malgun Gothic"/>
              </a:rPr>
              <a:t>sFlt-1</a:t>
            </a:r>
            <a:r>
              <a:rPr sz="1600" b="0" i="0">
                <a:solidFill>
                  <a:srgbClr val="11202B"/>
                </a:solidFill>
                <a:latin typeface="Malgun Gothic"/>
                <a:ea typeface="Malgun Gothic"/>
                <a:cs typeface="Malgun Gothic"/>
              </a:rPr>
              <a:t>(VEGF와 PlGF를 가로채는 가용성 수용체)과 soluble endoglin을 과도하게 분비하고, 이들이 모체 전신의 내피를 손상시켜 고혈압, 단백뇨, 간·신장 기능 이상, 경련(자간증)을 일으킨다. 치료가 분만인 이유가 분명해진다. 원인 기관이 태반이므로 태반을 제거해야 끝난다. sFlt-1/PlGF 비가 단기 발병 예측에 쓰이고, 저용량 aspirin이 고위험군에서 발생을 줄인다는 것이 확립되었다.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감수분열의 오류와 염색체 이상</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4절과 5절에서 spermatogenesis와 oogenesis를 보았다. 두 과정의 </a:t>
            </a:r>
            <a:r>
              <a:rPr sz="1400" b="1" i="0">
                <a:solidFill>
                  <a:srgbClr val="11202B"/>
                </a:solidFill>
                <a:latin typeface="Malgun Gothic"/>
                <a:ea typeface="Malgun Gothic"/>
                <a:cs typeface="Malgun Gothic"/>
              </a:rPr>
              <a:t>시간 구조의 차이</a:t>
            </a:r>
            <a:r>
              <a:rPr sz="1400" b="0" i="0">
                <a:solidFill>
                  <a:srgbClr val="11202B"/>
                </a:solidFill>
                <a:latin typeface="Malgun Gothic"/>
                <a:ea typeface="Malgun Gothic"/>
                <a:cs typeface="Malgun Gothic"/>
              </a:rPr>
              <a:t>가 임상적으로 큰 결과를 낳는다.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두 과정의 근본적 차이.</a:t>
            </a:r>
            <a:r>
              <a:rPr sz="1400" b="0" i="0">
                <a:solidFill>
                  <a:srgbClr val="11202B"/>
                </a:solidFill>
                <a:latin typeface="Malgun Gothic"/>
                <a:ea typeface="Malgun Gothic"/>
                <a:cs typeface="Malgun Gothic"/>
              </a:rPr>
              <a:t> 남성의 생식세포는 사춘기 이후 평생 분열을 반복한다. 정자 하나를 만드는 데 약 70일이 걸리고, 줄기세포가 계속 분열하므로 </a:t>
            </a:r>
            <a:r>
              <a:rPr sz="1400" b="1" i="0">
                <a:solidFill>
                  <a:srgbClr val="11202B"/>
                </a:solidFill>
                <a:latin typeface="Malgun Gothic"/>
                <a:ea typeface="Malgun Gothic"/>
                <a:cs typeface="Malgun Gothic"/>
              </a:rPr>
              <a:t>DNA 복제 횟수가 나이와 함께 누적</a:t>
            </a:r>
            <a:r>
              <a:rPr sz="1400" b="0" i="0">
                <a:solidFill>
                  <a:srgbClr val="11202B"/>
                </a:solidFill>
                <a:latin typeface="Malgun Gothic"/>
                <a:ea typeface="Malgun Gothic"/>
                <a:cs typeface="Malgun Gothic"/>
              </a:rPr>
              <a:t>된다. 여성의 난자는 태아기에 이미 모두 만들어져 제1감수분열 전기에서 멈춘 채 수십 년을 기다린다. 배란 직전에야 제1감수분열을 마치고, 수정이 되어야 제2감수분열을 마친다.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차이가 두 종류의 오류로 이어진다.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남성의 나이는 새 점 돌연변이(de novo point mutation)를 늘린다.</a:t>
            </a:r>
            <a:r>
              <a:rPr sz="1400" b="0" i="0">
                <a:solidFill>
                  <a:srgbClr val="11202B"/>
                </a:solidFill>
                <a:latin typeface="Malgun Gothic"/>
                <a:ea typeface="Malgun Gothic"/>
                <a:cs typeface="Malgun Gothic"/>
              </a:rPr>
              <a:t> 복제 횟수가 많을수록 복제 오류가 쌓인다. 아버지 나이가 많을수록 자녀의 새 돌연변이 수가 거의 직선적으로 늘어난다는 것이 전장 유전체 염기서열 분석으로 확인되었다. Achondroplasia, Apert 증후군처럼 특정 점 돌연변이로 생기는 질환이 부계 연령과 연관되는 이유다.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여성의 나이는 염색체 비분리(nondisjunction)를 늘린다.</a:t>
            </a:r>
            <a:r>
              <a:rPr sz="1400" b="0" i="0">
                <a:solidFill>
                  <a:srgbClr val="11202B"/>
                </a:solidFill>
                <a:latin typeface="Malgun Gothic"/>
                <a:ea typeface="Malgun Gothic"/>
                <a:cs typeface="Malgun Gothic"/>
              </a:rPr>
              <a:t> 수십 년 동안 멈춰 있는 사이 염색체를 붙들고 있는 cohesin이 소실되어 분리가 부정확해진다. 그 결과 삼염색체의 빈도가 모체 연령과 함께 급격히 올라간다.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비분리가 일어나는 시점.</a:t>
            </a:r>
            <a:r>
              <a:rPr sz="1400" b="0" i="0">
                <a:solidFill>
                  <a:srgbClr val="11202B"/>
                </a:solidFill>
                <a:latin typeface="Malgun Gothic"/>
                <a:ea typeface="Malgun Gothic"/>
                <a:cs typeface="Malgun Gothic"/>
              </a:rPr>
              <a:t> 제1감수분열에서 일어나면 상동 염색체가 함께 가고, 제2감수분열에서 일어나면 자매 염색분체가 함께 간다. 대부분의 삼염색체는 </a:t>
            </a:r>
            <a:r>
              <a:rPr sz="1400" b="1" i="0">
                <a:solidFill>
                  <a:srgbClr val="11202B"/>
                </a:solidFill>
                <a:latin typeface="Malgun Gothic"/>
                <a:ea typeface="Malgun Gothic"/>
                <a:cs typeface="Malgun Gothic"/>
              </a:rPr>
              <a:t>모체의 제1감수분열</a:t>
            </a:r>
            <a:r>
              <a:rPr sz="1400" b="0" i="0">
                <a:solidFill>
                  <a:srgbClr val="11202B"/>
                </a:solidFill>
                <a:latin typeface="Malgun Gothic"/>
                <a:ea typeface="Malgun Gothic"/>
                <a:cs typeface="Malgun Gothic"/>
              </a:rPr>
              <a:t> 오류에서 비롯한다.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감수분열의 오류와 염색체 이상</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16</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이상</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염색체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주요 특징</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Down 증후군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21 삼염색체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지적 장애, 심장 기형, 모체 연령과 강한 연관</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Edwards 증후군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18 삼염색체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중증 기형, 생존 기간 짧음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Patau 증후군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13 삼염색체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중증 기형, 생존 기간 짧음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Klinefelter 증후군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47,XXY</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남성, 고환 위축, 불임, 키가 큼</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Turner 증후군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45,X</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여성, 난소 형성 부전, 저신장, 대동맥 축착</a:t>
                      </a:r>
                    </a:p>
                  </a:txBody>
                  <a:tcPr marL="73152" marR="73152" marT="27432" marB="27432">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감수분열의 오류와 염색체 이상</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Turner 증후군이 다른 이유.</a:t>
            </a:r>
            <a:r>
              <a:rPr sz="1800" b="0" i="0">
                <a:solidFill>
                  <a:srgbClr val="11202B"/>
                </a:solidFill>
                <a:latin typeface="Malgun Gothic"/>
                <a:ea typeface="Malgun Gothic"/>
                <a:cs typeface="Malgun Gothic"/>
              </a:rPr>
              <a:t> 대부분의 단일염색체는 치명적인데 45,X만 생존한다. X 염색체 하나가 어차피 불활성화되기 때문이라고 설명하기 쉽지만 정확하지 않다. X 불활성화를 피하는 유전자들이 있고, 이들이 두 벌 필요하기 때문에 표현형이 나타난다. 또 45,X의 약 70%에서 잃어버린 염색체가 </a:t>
            </a:r>
            <a:r>
              <a:rPr sz="1800" b="1" i="0">
                <a:solidFill>
                  <a:srgbClr val="11202B"/>
                </a:solidFill>
                <a:latin typeface="Malgun Gothic"/>
                <a:ea typeface="Malgun Gothic"/>
                <a:cs typeface="Malgun Gothic"/>
              </a:rPr>
              <a:t>부계 유래</a:t>
            </a:r>
            <a:r>
              <a:rPr sz="1800" b="0" i="0">
                <a:solidFill>
                  <a:srgbClr val="11202B"/>
                </a:solidFill>
                <a:latin typeface="Malgun Gothic"/>
                <a:ea typeface="Malgun Gothic"/>
                <a:cs typeface="Malgun Gothic"/>
              </a:rPr>
              <a:t>이며, 상당수가 감수분열이 아니라 수정 후 유사분열 오류에서 생겨 모자이크를 이룬다.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각인과 부모 기원.</a:t>
            </a:r>
            <a:r>
              <a:rPr sz="1800" b="0" i="0">
                <a:solidFill>
                  <a:srgbClr val="11202B"/>
                </a:solidFill>
                <a:latin typeface="Malgun Gothic"/>
                <a:ea typeface="Malgun Gothic"/>
                <a:cs typeface="Malgun Gothic"/>
              </a:rPr>
              <a:t> 일부 유전자는 부모 어느 쪽에서 왔는지에 따라 발현이 달라진다. 같은 15번 염색체의 같은 구간이 결실되어도 </a:t>
            </a:r>
            <a:r>
              <a:rPr sz="1800" b="1" i="0">
                <a:solidFill>
                  <a:srgbClr val="11202B"/>
                </a:solidFill>
                <a:latin typeface="Malgun Gothic"/>
                <a:ea typeface="Malgun Gothic"/>
                <a:cs typeface="Malgun Gothic"/>
              </a:rPr>
              <a:t>부계 결실이면 Prader–Willi, 모계 결실이면 Angelman</a:t>
            </a:r>
            <a:r>
              <a:rPr sz="1800" b="0" i="0">
                <a:solidFill>
                  <a:srgbClr val="11202B"/>
                </a:solidFill>
                <a:latin typeface="Malgun Gothic"/>
                <a:ea typeface="Malgun Gothic"/>
                <a:cs typeface="Malgun Gothic"/>
              </a:rPr>
              <a:t>이 된다. 염색체의 양이 아니라 </a:t>
            </a:r>
            <a:r>
              <a:rPr sz="1800" b="1" i="0">
                <a:solidFill>
                  <a:srgbClr val="11202B"/>
                </a:solidFill>
                <a:latin typeface="Malgun Gothic"/>
                <a:ea typeface="Malgun Gothic"/>
                <a:cs typeface="Malgun Gothic"/>
              </a:rPr>
              <a:t>출처</a:t>
            </a:r>
            <a:r>
              <a:rPr sz="1800" b="0" i="0">
                <a:solidFill>
                  <a:srgbClr val="11202B"/>
                </a:solidFill>
                <a:latin typeface="Malgun Gothic"/>
                <a:ea typeface="Malgun Gothic"/>
                <a:cs typeface="Malgun Gothic"/>
              </a:rPr>
              <a:t>가 표현형을 정하는 사례이며, 분자 기전은 M03-W05-L01에서 다룬다.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감수분열의 오류와 염색체 이상</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18</a:t>
            </a:r>
          </a:p>
        </p:txBody>
      </p:sp>
      <p:sp>
        <p:nvSpPr>
          <p:cNvPr id="7" name="Rectangle 6"/>
          <p:cNvSpPr/>
          <p:nvPr/>
        </p:nvSpPr>
        <p:spPr>
          <a:xfrm>
            <a:off x="640080" y="1325880"/>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산전 검사가 지난 10년 사이에 바뀌었다. 모체 혈액에 떠다니는 태아 유래 DNA 조각을 읽는 </a:t>
            </a:r>
            <a:r>
              <a:rPr sz="1600" b="1" i="0">
                <a:solidFill>
                  <a:srgbClr val="11202B"/>
                </a:solidFill>
                <a:latin typeface="Malgun Gothic"/>
                <a:ea typeface="Malgun Gothic"/>
                <a:cs typeface="Malgun Gothic"/>
              </a:rPr>
              <a:t>비침습 산전 검사(NIPT)</a:t>
            </a:r>
            <a:r>
              <a:rPr sz="1600" b="0" i="0">
                <a:solidFill>
                  <a:srgbClr val="11202B"/>
                </a:solidFill>
                <a:latin typeface="Malgun Gothic"/>
                <a:ea typeface="Malgun Gothic"/>
                <a:cs typeface="Malgun Gothic"/>
              </a:rPr>
              <a:t> 가 삼염색체 선별의 주된 방법이 되었다. 21 삼염색체에 대해 민감도와 특이도가 매우 높지만, 유병률이 낮은 집단에서는 </a:t>
            </a:r>
            <a:r>
              <a:rPr sz="1600" b="1" i="0">
                <a:solidFill>
                  <a:srgbClr val="11202B"/>
                </a:solidFill>
                <a:latin typeface="Malgun Gothic"/>
                <a:ea typeface="Malgun Gothic"/>
                <a:cs typeface="Malgun Gothic"/>
              </a:rPr>
              <a:t>양성 예측도가 낮아</a:t>
            </a:r>
            <a:r>
              <a:rPr sz="1600" b="0" i="0">
                <a:solidFill>
                  <a:srgbClr val="11202B"/>
                </a:solidFill>
                <a:latin typeface="Malgun Gothic"/>
                <a:ea typeface="Malgun Gothic"/>
                <a:cs typeface="Malgun Gothic"/>
              </a:rPr>
              <a:t> 양성 결과가 확진이 아니라는 점이 반복해서 문제가 되었다. 거짓 양성의 원인도 밝혀졌는데, 태반에만 국한된 모자이크, 사라진 쌍둥이, 그리고 드물게 </a:t>
            </a:r>
            <a:r>
              <a:rPr sz="1600" b="1" i="0">
                <a:solidFill>
                  <a:srgbClr val="11202B"/>
                </a:solidFill>
                <a:latin typeface="Malgun Gothic"/>
                <a:ea typeface="Malgun Gothic"/>
                <a:cs typeface="Malgun Gothic"/>
              </a:rPr>
              <a:t>모체 자신의 미진단 악성종양</a:t>
            </a:r>
            <a:r>
              <a:rPr sz="1600" b="0" i="0">
                <a:solidFill>
                  <a:srgbClr val="11202B"/>
                </a:solidFill>
                <a:latin typeface="Malgun Gothic"/>
                <a:ea typeface="Malgun Gothic"/>
                <a:cs typeface="Malgun Gothic"/>
              </a:rPr>
              <a:t>에서 나온 DNA가 포함된다. 검사 범위를 미세결실까지 넓히려는 시도는 예측도가 더 낮아져 논란이 있다. 기술적 과제는 태아 분획을 높이는 것이고, 윤리적 과제는 선별의 범위를 어디까지 넓힐 것인가다.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불임을 분석하는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불임은 피임 없이 1년간 임신이 되지 않는 상태로 정의한다. 원인을 찾는 일은 앞 절들에서 세운 구조를 거꾸로 따라가는 작업이다. 임신이 성립하려면 네 가지가 모두 필요하다.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정자가 충분하고 기능할 것</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배란이 일어날 것</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난관이 열려 있어 수정이 가능할 것</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자궁내막이 착상을 받을 수 있을 것</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평가는 이 순서를 그대로 따른다. 가장 간단하고 비침습적인 것부터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정액 검사.</a:t>
            </a:r>
            <a:r>
              <a:rPr sz="1400" b="0" i="0">
                <a:solidFill>
                  <a:srgbClr val="11202B"/>
                </a:solidFill>
                <a:latin typeface="Malgun Gothic"/>
                <a:ea typeface="Malgun Gothic"/>
                <a:cs typeface="Malgun Gothic"/>
              </a:rPr>
              <a:t> 남성 요인이 전체의 약 절반에 관여하므로 가장 먼저 한다. 농도, 총 운동성, 정상 형태를 본다. 한 번의 이상으로 판단하지 않고 반복한다.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배란의 확인.</a:t>
            </a:r>
            <a:r>
              <a:rPr sz="1400" b="0" i="0">
                <a:solidFill>
                  <a:srgbClr val="11202B"/>
                </a:solidFill>
                <a:latin typeface="Malgun Gothic"/>
                <a:ea typeface="Malgun Gothic"/>
                <a:cs typeface="Malgun Gothic"/>
              </a:rPr>
              <a:t> 규칙적인 월경 주기 자체가 배란의 좋은 지표다. 확인이 필요하면 황체기 중반의 progesterone을 재거나 소변 LH 급증을 본다. 무배란이면 7절과 8절의 축을 따라 위치를 가린다.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시상하부성(저성선자극호르몬성)</a:t>
            </a:r>
            <a:r>
              <a:rPr sz="1400" b="0" i="0">
                <a:solidFill>
                  <a:srgbClr val="11202B"/>
                </a:solidFill>
                <a:latin typeface="Malgun Gothic"/>
                <a:ea typeface="Malgun Gothic"/>
                <a:cs typeface="Malgun Gothic"/>
              </a:rPr>
              <a:t>: LH와 FSH가 낮다. 체중 저하, 과도한 운동, 스트레스, 고prolactin혈증이 원인이며 </a:t>
            </a:r>
            <a:r>
              <a:rPr sz="1400" b="1" i="0">
                <a:solidFill>
                  <a:srgbClr val="11202B"/>
                </a:solidFill>
                <a:latin typeface="Malgun Gothic"/>
                <a:ea typeface="Malgun Gothic"/>
                <a:cs typeface="Malgun Gothic"/>
              </a:rPr>
              <a:t>GnRH의 박동이 억제된 상태</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난소성(고성선자극호르몬성)</a:t>
            </a:r>
            <a:r>
              <a:rPr sz="1400" b="0" i="0">
                <a:solidFill>
                  <a:srgbClr val="11202B"/>
                </a:solidFill>
                <a:latin typeface="Malgun Gothic"/>
                <a:ea typeface="Malgun Gothic"/>
                <a:cs typeface="Malgun Gothic"/>
              </a:rPr>
              <a:t>: LH와 FSH가 높다. 난소가 반응하지 못하므로 되먹임이 풀린 것이다. 조기 난소 부전이 해당한다.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다낭성 난소 증후군(PCOS)</a:t>
            </a:r>
            <a:r>
              <a:rPr sz="1400" b="0" i="0">
                <a:solidFill>
                  <a:srgbClr val="11202B"/>
                </a:solidFill>
                <a:latin typeface="Malgun Gothic"/>
                <a:ea typeface="Malgun Gothic"/>
                <a:cs typeface="Malgun Gothic"/>
              </a:rPr>
              <a:t>: 가장 흔한 무배란의 원인이다. 안드로겐 과다, 무배란, 초음파 소견 가운데 둘 이상으로 진단한다. 인슐린 저항이 흔히 동반되며, 고인슐린혈증이 난소의 안드로겐 생산을 늘리고 SHBG를 낮춰 자유 안드로겐을 더 올린다.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난관과 자궁의 평가.</a:t>
            </a:r>
            <a:r>
              <a:rPr sz="1400" b="0" i="0">
                <a:solidFill>
                  <a:srgbClr val="11202B"/>
                </a:solidFill>
                <a:latin typeface="Malgun Gothic"/>
                <a:ea typeface="Malgun Gothic"/>
                <a:cs typeface="Malgun Gothic"/>
              </a:rPr>
              <a:t> 자궁난관조영술로 난관의 개통과 자궁강의 모양을 본다. 과거 골반염, 자궁내막증, 수술 병력이 위험 요인이다.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보조생식술의 논리.</a:t>
            </a:r>
            <a:r>
              <a:rPr sz="1400" b="0" i="0">
                <a:solidFill>
                  <a:srgbClr val="11202B"/>
                </a:solidFill>
                <a:latin typeface="Malgun Gothic"/>
                <a:ea typeface="Malgun Gothic"/>
                <a:cs typeface="Malgun Gothic"/>
              </a:rPr>
              <a:t> 치료는 막힌 단계를 건너뛰는 방식으로 설계된다.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배란 유도</a:t>
            </a:r>
            <a:r>
              <a:rPr sz="1400" b="0" i="0">
                <a:solidFill>
                  <a:srgbClr val="11202B"/>
                </a:solidFill>
                <a:latin typeface="Malgun Gothic"/>
                <a:ea typeface="Malgun Gothic"/>
                <a:cs typeface="Malgun Gothic"/>
              </a:rPr>
              <a:t>: 배란이 문제일 때. Letrozole은 aromatase를 억제해 estrogen을 낮추고 되먹임을 풀어 FSH를 올린다. PCOS에서 clomiphene보다 배란율과 출생률이 높다는 것이 무작위 시험에서 확인되었다.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자궁내 정자 주입(IUI)</a:t>
            </a:r>
            <a:r>
              <a:rPr sz="1400" b="0" i="0">
                <a:solidFill>
                  <a:srgbClr val="11202B"/>
                </a:solidFill>
                <a:latin typeface="Malgun Gothic"/>
                <a:ea typeface="Malgun Gothic"/>
                <a:cs typeface="Malgun Gothic"/>
              </a:rPr>
              <a:t>: 정자가 자궁경부를 통과하는 단계를 건너뛴다.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체외수정(IVF)</a:t>
            </a:r>
            <a:r>
              <a:rPr sz="1400" b="0" i="0">
                <a:solidFill>
                  <a:srgbClr val="11202B"/>
                </a:solidFill>
                <a:latin typeface="Malgun Gothic"/>
                <a:ea typeface="Malgun Gothic"/>
                <a:cs typeface="Malgun Gothic"/>
              </a:rPr>
              <a:t>: 난관을 통째로 건너뛴다. 난관 폐쇄, 중증 남성 요인, 원인 불명에서 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세포질내 정자 주입(ICSI)</a:t>
            </a:r>
            <a:r>
              <a:rPr sz="1400" b="0" i="0">
                <a:solidFill>
                  <a:srgbClr val="11202B"/>
                </a:solidFill>
                <a:latin typeface="Malgun Gothic"/>
                <a:ea typeface="Malgun Gothic"/>
                <a:cs typeface="Malgun Gothic"/>
              </a:rPr>
              <a:t>: 정자가 난자에 침투하는 단계까지 건너뛴다. 중증 남성 요인에서 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불임을 분석하는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20</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여성의 나이가 불임 치료 결과를 정하는 가장 강력한 단일 변수다. 난자가 태아기에 모두 만들어진다는 5절의 사실에서 두 가지가 따라온다. 수가 계속 줄어들고(난소 예비력 감소), 오래 멈춰 있던 난자일수록 염색체 비분리가 늘어난다(질 저하). 따라서 나이가 들수록 </a:t>
            </a:r>
            <a:r>
              <a:rPr sz="1600" b="1" i="0">
                <a:solidFill>
                  <a:srgbClr val="11202B"/>
                </a:solidFill>
                <a:latin typeface="Malgun Gothic"/>
                <a:ea typeface="Malgun Gothic"/>
                <a:cs typeface="Malgun Gothic"/>
              </a:rPr>
              <a:t>임신율은 떨어지고 유산율은 올라간다</a:t>
            </a:r>
            <a:r>
              <a:rPr sz="1600" b="0" i="0">
                <a:solidFill>
                  <a:srgbClr val="11202B"/>
                </a:solidFill>
                <a:latin typeface="Malgun Gothic"/>
                <a:ea typeface="Malgun Gothic"/>
                <a:cs typeface="Malgun Gothic"/>
              </a:rPr>
              <a:t>. 항뮐러관 호르몬(AMH)과 동난포 수는 남은 난자의 </a:t>
            </a:r>
            <a:r>
              <a:rPr sz="1600" b="1" i="0">
                <a:solidFill>
                  <a:srgbClr val="11202B"/>
                </a:solidFill>
                <a:latin typeface="Malgun Gothic"/>
                <a:ea typeface="Malgun Gothic"/>
                <a:cs typeface="Malgun Gothic"/>
              </a:rPr>
              <a:t>수</a:t>
            </a:r>
            <a:r>
              <a:rPr sz="1600" b="0" i="0">
                <a:solidFill>
                  <a:srgbClr val="11202B"/>
                </a:solidFill>
                <a:latin typeface="Malgun Gothic"/>
                <a:ea typeface="Malgun Gothic"/>
                <a:cs typeface="Malgun Gothic"/>
              </a:rPr>
              <a:t>를 추정하지만 </a:t>
            </a:r>
            <a:r>
              <a:rPr sz="1600" b="1" i="0">
                <a:solidFill>
                  <a:srgbClr val="11202B"/>
                </a:solidFill>
                <a:latin typeface="Malgun Gothic"/>
                <a:ea typeface="Malgun Gothic"/>
                <a:cs typeface="Malgun Gothic"/>
              </a:rPr>
              <a:t>질</a:t>
            </a:r>
            <a:r>
              <a:rPr sz="1600" b="0" i="0">
                <a:solidFill>
                  <a:srgbClr val="11202B"/>
                </a:solidFill>
                <a:latin typeface="Malgun Gothic"/>
                <a:ea typeface="Malgun Gothic"/>
                <a:cs typeface="Malgun Gothic"/>
              </a:rPr>
              <a:t>은 알려 주지 않으므로, AMH가 정상이라고 해서 나이에 따른 위험이 상쇄되지 않는다는 점을 설명해야 한다.</a:t>
            </a:r>
          </a:p>
        </p:txBody>
      </p:sp>
      <p:sp>
        <p:nvSpPr>
          <p:cNvPr id="8" name="Rectangle 7"/>
          <p:cNvSpPr/>
          <p:nvPr/>
        </p:nvSpPr>
        <p:spPr>
          <a:xfrm>
            <a:off x="640080" y="314452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무배란의 위치를 LH와 FSH로 가르는 문제가 반복된다. </a:t>
            </a:r>
            <a:r>
              <a:rPr sz="1600" b="1" i="0">
                <a:solidFill>
                  <a:srgbClr val="11202B"/>
                </a:solidFill>
                <a:latin typeface="Malgun Gothic"/>
                <a:ea typeface="Malgun Gothic"/>
                <a:cs typeface="Malgun Gothic"/>
              </a:rPr>
              <a:t>낮은 LH·FSH는 시상하부–뇌하수체</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높은 LH·FSH는 난소</a:t>
            </a:r>
            <a:r>
              <a:rPr sz="1600" b="0" i="0">
                <a:solidFill>
                  <a:srgbClr val="11202B"/>
                </a:solidFill>
                <a:latin typeface="Malgun Gothic"/>
                <a:ea typeface="Malgun Gothic"/>
                <a:cs typeface="Malgun Gothic"/>
              </a:rPr>
              <a:t>다. 되먹임의 방향을 생각하면 외울 필요가 없다. 난소가 반응하지 못하면 estrogen이 낮아 억제가 풀리므로 자극 호르몬이 올라간다. 폐경이 이 상태의 생리적 형태다. PCOS에서는 LH/FSH 비가 올라가는 경향이 있으나 진단 기준은 아니다. 또 하나 자주 갈리는 것은 </a:t>
            </a:r>
            <a:r>
              <a:rPr sz="1600" b="1" i="0">
                <a:solidFill>
                  <a:srgbClr val="11202B"/>
                </a:solidFill>
                <a:latin typeface="Malgun Gothic"/>
                <a:ea typeface="Malgun Gothic"/>
                <a:cs typeface="Malgun Gothic"/>
              </a:rPr>
              <a:t>고prolactin혈증이 무배란을 만드는 기전</a:t>
            </a:r>
            <a:r>
              <a:rPr sz="1600" b="0" i="0">
                <a:solidFill>
                  <a:srgbClr val="11202B"/>
                </a:solidFill>
                <a:latin typeface="Malgun Gothic"/>
                <a:ea typeface="Malgun Gothic"/>
                <a:cs typeface="Malgun Gothic"/>
              </a:rPr>
              <a:t>으로, prolactin이 난소에 직접 작용하는 것이 아니라 </a:t>
            </a:r>
            <a:r>
              <a:rPr sz="1600" b="1" i="0">
                <a:solidFill>
                  <a:srgbClr val="11202B"/>
                </a:solidFill>
                <a:latin typeface="Malgun Gothic"/>
                <a:ea typeface="Malgun Gothic"/>
                <a:cs typeface="Malgun Gothic"/>
              </a:rPr>
              <a:t>GnRH의 박동성 분비를 억제</a:t>
            </a:r>
            <a:r>
              <a:rPr sz="1600" b="0" i="0">
                <a:solidFill>
                  <a:srgbClr val="11202B"/>
                </a:solidFill>
                <a:latin typeface="Malgun Gothic"/>
                <a:ea typeface="Malgun Gothic"/>
                <a:cs typeface="Malgun Gothic"/>
              </a:rPr>
              <a:t>하기 때문이다. 그래서 치료는 난소가 아니라 prolactin을 낮추는 쪽(dopamine 작용제)이 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사춘기와 폐경, 그리고 생식계 질환의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생식 기능은 평생 일정하지 않고 시작과 종료가 있다. 두 전환점을 생식 축의 어느 단계가 변하는지로 설명할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사춘기(puberty)</a:t>
            </a:r>
            <a:r>
              <a:rPr sz="1400" b="0" i="0">
                <a:solidFill>
                  <a:srgbClr val="11202B"/>
                </a:solidFill>
                <a:latin typeface="Malgun Gothic"/>
                <a:ea typeface="Malgun Gothic"/>
                <a:cs typeface="Malgun Gothic"/>
              </a:rPr>
              <a:t>. 흥미로운 사실은 생식 축이 태아기와 신생아기에 이미 작동하고 있다가 유아기에 </a:t>
            </a:r>
            <a:r>
              <a:rPr sz="1400" b="1" i="0">
                <a:solidFill>
                  <a:srgbClr val="11202B"/>
                </a:solidFill>
                <a:latin typeface="Malgun Gothic"/>
                <a:ea typeface="Malgun Gothic"/>
                <a:cs typeface="Malgun Gothic"/>
              </a:rPr>
              <a:t>억제된다</a:t>
            </a:r>
            <a:r>
              <a:rPr sz="1400" b="0" i="0">
                <a:solidFill>
                  <a:srgbClr val="11202B"/>
                </a:solidFill>
                <a:latin typeface="Malgun Gothic"/>
                <a:ea typeface="Malgun Gothic"/>
                <a:cs typeface="Malgun Gothic"/>
              </a:rPr>
              <a:t>는 점이다. 즉 사춘기는 없던 축이 새로 생기는 것이 아니라, </a:t>
            </a:r>
            <a:r>
              <a:rPr sz="1400" b="1" i="0">
                <a:solidFill>
                  <a:srgbClr val="11202B"/>
                </a:solidFill>
                <a:latin typeface="Malgun Gothic"/>
                <a:ea typeface="Malgun Gothic"/>
                <a:cs typeface="Malgun Gothic"/>
              </a:rPr>
              <a:t>억제가 풀리는 것</a:t>
            </a:r>
            <a:r>
              <a:rPr sz="1400" b="0" i="0">
                <a:solidFill>
                  <a:srgbClr val="11202B"/>
                </a:solidFill>
                <a:latin typeface="Malgun Gothic"/>
                <a:ea typeface="Malgun Gothic"/>
                <a:cs typeface="Malgun Gothic"/>
              </a:rPr>
              <a:t>이다. 억제가 풀리는 첫 신호가 </a:t>
            </a:r>
            <a:r>
              <a:rPr sz="1400" b="1" i="0">
                <a:solidFill>
                  <a:srgbClr val="11202B"/>
                </a:solidFill>
                <a:latin typeface="Malgun Gothic"/>
                <a:ea typeface="Malgun Gothic"/>
                <a:cs typeface="Malgun Gothic"/>
              </a:rPr>
              <a:t>수면 중 GnRH 박동의 증가</a:t>
            </a:r>
            <a:r>
              <a:rPr sz="1400" b="0" i="0">
                <a:solidFill>
                  <a:srgbClr val="11202B"/>
                </a:solidFill>
                <a:latin typeface="Malgun Gothic"/>
                <a:ea typeface="Malgun Gothic"/>
                <a:cs typeface="Malgun Gothic"/>
              </a:rPr>
              <a:t>이고, 이것이 점차 하루 전체로 퍼진다.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억제를 풀는 신호가 무엇인지는 완전히 밝혀지지 않았으나, </a:t>
            </a:r>
            <a:r>
              <a:rPr sz="1400" b="1" i="0">
                <a:solidFill>
                  <a:srgbClr val="11202B"/>
                </a:solidFill>
                <a:latin typeface="Malgun Gothic"/>
                <a:ea typeface="Malgun Gothic"/>
                <a:cs typeface="Malgun Gothic"/>
              </a:rPr>
              <a:t>kisspeptin</a:t>
            </a:r>
            <a:r>
              <a:rPr sz="1400" b="0" i="0">
                <a:solidFill>
                  <a:srgbClr val="11202B"/>
                </a:solidFill>
                <a:latin typeface="Malgun Gothic"/>
                <a:ea typeface="Malgun Gothic"/>
                <a:cs typeface="Malgun Gothic"/>
              </a:rPr>
              <a:t> 뉴런의 활성 증가가 중심 기전으로 제시된다. 또한 체지방에서 나오는 </a:t>
            </a:r>
            <a:r>
              <a:rPr sz="1400" b="1" i="0">
                <a:solidFill>
                  <a:srgbClr val="11202B"/>
                </a:solidFill>
                <a:latin typeface="Malgun Gothic"/>
                <a:ea typeface="Malgun Gothic"/>
                <a:cs typeface="Malgun Gothic"/>
              </a:rPr>
              <a:t>leptin</a:t>
            </a:r>
            <a:r>
              <a:rPr sz="1400" b="0" i="0">
                <a:solidFill>
                  <a:srgbClr val="11202B"/>
                </a:solidFill>
                <a:latin typeface="Malgun Gothic"/>
                <a:ea typeface="Malgun Gothic"/>
                <a:cs typeface="Malgun Gothic"/>
              </a:rPr>
              <a:t>이 축의 활성화에 필요하다는 것이 알려져 있다. 영양 상태가 생식 기능의 시작 조건이라는 점이 이로써 설명된다. 심한 체중 감소나 과도한 운동에서 월경이 멈추는 것도 같은 축의 반대 방향 변화다.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폐경(menopause)</a:t>
            </a:r>
            <a:r>
              <a:rPr sz="1400" b="0" i="0">
                <a:solidFill>
                  <a:srgbClr val="11202B"/>
                </a:solidFill>
                <a:latin typeface="Malgun Gothic"/>
                <a:ea typeface="Malgun Gothic"/>
                <a:cs typeface="Malgun Gothic"/>
              </a:rPr>
              <a:t>. 폐경은 뇌하수체나 시상하부의 문제가 아니라 </a:t>
            </a:r>
            <a:r>
              <a:rPr sz="1400" b="1" i="0">
                <a:solidFill>
                  <a:srgbClr val="11202B"/>
                </a:solidFill>
                <a:latin typeface="Malgun Gothic"/>
                <a:ea typeface="Malgun Gothic"/>
                <a:cs typeface="Malgun Gothic"/>
              </a:rPr>
              <a:t>난소의 소진</a:t>
            </a:r>
            <a:r>
              <a:rPr sz="1400" b="0" i="0">
                <a:solidFill>
                  <a:srgbClr val="11202B"/>
                </a:solidFill>
                <a:latin typeface="Malgun Gothic"/>
                <a:ea typeface="Malgun Gothic"/>
                <a:cs typeface="Malgun Gothic"/>
              </a:rPr>
              <a:t>이다. Primary oocyte 풀이 바닥나 반응할 follicle이 남지 않으므로 estrogen과 inhibin이 떨어진다. 그 결과 음성 되먹임이 사라져 </a:t>
            </a:r>
            <a:r>
              <a:rPr sz="1400" b="1" i="0">
                <a:solidFill>
                  <a:srgbClr val="11202B"/>
                </a:solidFill>
                <a:latin typeface="Malgun Gothic"/>
                <a:ea typeface="Malgun Gothic"/>
                <a:cs typeface="Malgun Gothic"/>
              </a:rPr>
              <a:t>FSH와 LH가 매우 높아진다.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패턴이 진단의 근거가 된다. 앞 수업의 표를 적용하면, 최종 호르몬(estrogen)이 낮고 자극 호르몬(FSH)이 높으므로 </a:t>
            </a:r>
            <a:r>
              <a:rPr sz="1400" b="1" i="0">
                <a:solidFill>
                  <a:srgbClr val="11202B"/>
                </a:solidFill>
                <a:latin typeface="Malgun Gothic"/>
                <a:ea typeface="Malgun Gothic"/>
                <a:cs typeface="Malgun Gothic"/>
              </a:rPr>
              <a:t>원발성 생식샘 기능 저하</a:t>
            </a:r>
            <a:r>
              <a:rPr sz="1400" b="0" i="0">
                <a:solidFill>
                  <a:srgbClr val="11202B"/>
                </a:solidFill>
                <a:latin typeface="Malgun Gothic"/>
                <a:ea typeface="Malgun Gothic"/>
                <a:cs typeface="Malgun Gothic"/>
              </a:rPr>
              <a:t>다. 반대로 시상하부나 뇌하수체의 문제라면 estrogen이 낮고 FSH도 낮다. 체중 감소나 과도한 운동에 의한 무월경이 후자에 해당한다.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Estrogen 감소의 결과는 생식 기능에 그치지 않는다. Estrogen은 뼈에서 흡수를 억제하는 작용을 하므로, 폐경 후 뼈 손실이 빨라져 골감소와 골절 위험이 올라간다. 혈관 운동 증상(안면 홍조), 비뇨생식기 위축, 지질 변화도 나타난다.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남성에서는 이에 대응하는 급격한 전환이 없다. Testosterone이 서서히 떨어지지만 spermatogenesis는 고령까지 유지된다. 줄기세포가 남아 있기 때문이다.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생식계 질환을 읽는 논리</a:t>
            </a:r>
            <a:r>
              <a:rPr sz="1400" b="0" i="0">
                <a:solidFill>
                  <a:srgbClr val="11202B"/>
                </a:solidFill>
                <a:latin typeface="Malgun Gothic"/>
                <a:ea typeface="Malgun Gothic"/>
                <a:cs typeface="Malgun Gothic"/>
              </a:rPr>
              <a:t>는 앞 수업과 같다. 축의 어느 단계인지, 과다인지 부족인지를 묻는다.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원발성 생식샘 기능 저하</a:t>
            </a:r>
            <a:r>
              <a:rPr sz="1400" b="0" i="0">
                <a:solidFill>
                  <a:srgbClr val="11202B"/>
                </a:solidFill>
                <a:latin typeface="Malgun Gothic"/>
                <a:ea typeface="Malgun Gothic"/>
                <a:cs typeface="Malgun Gothic"/>
              </a:rPr>
              <a:t>: 생식샘 자체의 문제. 성 steroid 낮고 FSH·LH 높다. 폐경, Klinefelter 증후군(XXY), Turner 증후군(XO), 고환 손상이 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이차성 생식샘 기능 저하</a:t>
            </a:r>
            <a:r>
              <a:rPr sz="1400" b="0" i="0">
                <a:solidFill>
                  <a:srgbClr val="11202B"/>
                </a:solidFill>
                <a:latin typeface="Malgun Gothic"/>
                <a:ea typeface="Malgun Gothic"/>
                <a:cs typeface="Malgun Gothic"/>
              </a:rPr>
              <a:t>: 시상하부·뇌하수체의 문제. 성 steroid 낮고 FSH·LH도 낮다. Kallmann 증후군(GnRH 뉴런의 발생 이상), 뇌하수체 종양, 심한 체중 감소, prolactin 과다가 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Prolactin 과다</a:t>
            </a:r>
            <a:r>
              <a:rPr sz="1400" b="0" i="0">
                <a:solidFill>
                  <a:srgbClr val="11202B"/>
                </a:solidFill>
                <a:latin typeface="Malgun Gothic"/>
                <a:ea typeface="Malgun Gothic"/>
                <a:cs typeface="Malgun Gothic"/>
              </a:rPr>
              <a:t>: 생식 축을 억제하는 별도의 경로다. Prolactin이 GnRH 분비를 억제하므로 무월경과 성욕 저하가 생긴다. 수유 중 배란이 억제되는 것이 같은 기전의 생리적 형태다.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다낭성 난소 증후군(PCOS)</a:t>
            </a:r>
            <a:r>
              <a:rPr sz="1400" b="0" i="0">
                <a:solidFill>
                  <a:srgbClr val="11202B"/>
                </a:solidFill>
                <a:latin typeface="Malgun Gothic"/>
                <a:ea typeface="Malgun Gothic"/>
                <a:cs typeface="Malgun Gothic"/>
              </a:rPr>
              <a:t>: 배란이 되지 않고 androgen이 높은 상태다. Follicle이 자라다가 성숙에 이르지 못해 estrogen이 양성 되먹임 역치에 도달하지 못하고 LH 급증이 일어나지 않는다. Insulin 저항성이 흔히 동반되며, 체중 감량이 배란 회복에 도움이 되는 이유다.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수용체 수준의 문제</a:t>
            </a:r>
            <a:r>
              <a:rPr sz="1400" b="0" i="0">
                <a:solidFill>
                  <a:srgbClr val="11202B"/>
                </a:solidFill>
                <a:latin typeface="Malgun Gothic"/>
                <a:ea typeface="Malgun Gothic"/>
                <a:cs typeface="Malgun Gothic"/>
              </a:rPr>
              <a:t>: 앞서 본 androgen 불감 증후군이 대표다. 호르몬은 충분한데 작용하지 못한다.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사춘기와 폐경, 그리고 생식계 질환의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22</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생식계를 공부하는 순서는 질환에서 시작하지 않는다. 유성 생식의 이유 → 성 결정의 세 단계 → 기관 구조 → 두 생식세포 형성 과정의 차이 → 축과 GnRH 박동성 → 월경 주기 → 되먹임 전환 → 수정과 임신 유지 → 시작과 종료를 세우면, 질환은 그 틀의 어느 자리가 어떻게 틀어진 상태인지로 정리된다.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유성 생식이 유전적 다양성을 만드는 세 기전을 쓰고, 다양성이 왜 이점이 되는지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교차는 meiosis I 전기에 상동염색체가 일부를 교환하는 것이고, 독립적 분리는 23쌍의 상동염색체가 서로 독립적으로 나뉘어 약 840만 가지 조합을 만드는 것이며, 무작위 수정은 어느 정자와 어느 난자가 만날지가 무작위인 것으로 조합이 두 번 곱해져 약 70조 가지가 된다. 환경이 변할 때 집단 안에 다양한 유전형이 있으면 적합한 개체가 존재할 확률이 높아진다. 특히 세대가 짧아 빠르게 변하는 병원체에 대한 저항성에서 이 이점이 크다.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성 결정의 세 단계를 쓰고 각 단계의 결정 요인을 지목하시오. 남성 발달에 촉진과 억제가 모두 필요한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유전적 성은 수정 시 정자가 가진 X 또는 Y가, 생식샘 성은 발생 7주경 SRY의 발현 여부가, 표현형 성은 생식샘이 만드는 호르몬이 결정한다. 발생 초기에는 남녀 모두 Wolffian duct와 Müllerian duct를 함께 가지고 있다. 따라서 남성이 되려면 testosterone이 Wolffian duct를 발달시키는 촉진과 AMH가 Müllerian duct를 퇴화시키는 억제가 모두 필요하다. 여성은 두 물질이 모두 없으면 되므로 호르몬을 필요로 하지 않는다.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25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Androgen 불감 증후군과 5알파-reductase 결핍의 표현형 차이를 설명하고, 이 차이가 testosterone과 DHT의 역할 분담을 어떻게 보여 주는지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Androgen 불감 증후군은 XY이고 고환이 testosterone과 AMH를 정상 분비하지만 수용체 결함으로 androgen이 전혀 작용하지 못한다. AMH 작용으로 Müllerian duct는 퇴화하고, testosterone이 작용하지 못해 Wolffian duct도 발달하지 않으며, 외부 생식기는 여성형이 된다. 5알파-reductase 결핍에서는 testosterone은 작용하므로 내부 생식관이 남성형으로 발달하지만, DHT가 만들어지지 않아 외부 생식기만 모호하다. 즉 내부 생식관은 testosterone이, 외부 생식기는 DHT가 담당한다.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26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Sertoli cell과 Leydig cell의 역할을 구분하고 각각 어느 뇌하수체 호르몬의 표적인지 쓰시오. Sertoli cell이 만드는 장벽의 필요성을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Sertoli cell은 FSH의 표적이며 생식세포를 감싸 영양과 신호를 공급하고 inhibin을 분비하며, 발생기에는 AMH를 분비한다. Leydig cell은 LH의 표적이며 cholesterol로부터 testosterone을 만든다. Sertoli cell 사이의 tight junction이 만드는 혈액-고환 장벽은 혈액 성분과 면역 세포가 생식세포에 닿지 못하게 한다. 생식세포는 반수체이고 재조합되어 있어 체세포와 유전적으로 다르므로 면역계가 이물질로 인식할 수 있기 때문이다.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27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Oogenesis에서 분열이 불균등하게 일어나 극체를 만드는 이유를 설명하고, 정자가 세포질을 버리는 것과 대비하시오.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수정 후 초기 배아는 외부에서 영양을 받지 못하고 난자가 가진 저장분으로 분열해야 하므로, 한 세포에 가능한 많은 세포질과 저장 물질을 모으는 것이 유리하다. 염색체 수를 줄이는 목적은 달성하면서 세포질은 나누지 않는 방법이 극체다. 정자는 유전물질을 운반하는 역할만 하므로 반대로 세포질을 거의 모두 버리고 운동 장치만 남긴다.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28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GnRH를 연속적으로 투여하면 왜 LH와 FSH 분비가 억제되는지 설명하고, 이 성질의 임상적 응용을 두 방향으로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연속 자극에 의해 뇌하수체의 GnRH 수용체가 down-regulation되어 반응이 사라지므로, 처음의 상승 뒤 수 일 안에 LH와 FSH가 거의 0으로 떨어진다. 박동성 분비는 수용체가 회복할 시간을 주어 민감도를 유지한다. 응용은 두 방향이다. 시상하부 문제로 GnRH가 나오지 않는 환자에게 박동 방식으로 투여하면 축이 회복된다. 반대로 GnRH 작용제를 연속 투여하면 성 steroid 생산을 억제할 수 있어 전립샘암, 자궁내막증, 조기 사춘기, 보조 생식술에서 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29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Estrogen이 음성 되먹임 호르몬인데도 배란 직전에 LH 급증이 일어나는 모순을 해결하시오. 이 구조의 생리적 의미를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Estrogen의 되먹임 방향이 농도와 지속 시간에 따라 바뀐다. 낮거나 중간 농도에서는 음성 되먹임으로 LH를 억제하지만, 매우 높은 농도가 약 36시간 이상 지속되면 양성 되먹임으로 전환해 GnRH 분비와 뇌하수체의 GnRH 민감도를 크게 높인다. 생리적 의미는 estrogen 농도가 follicle의 성숙도를 보고하는 신호로 쓰인다는 점이다. Follicle이 충분히 자라야 역치를 넘으므로, 난자가 준비되었을 때만 배란이 일어난다.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30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LH 급증이 일으키는 세 가지 결과를 쓰고, 급증이 스스로 종료되는 기전을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follicle 벽을 분해하는 효소를 유도해 배란을 일으키고, 둘째 태아기부터 멈춰 있던 meiosis I을 완료시키고, 셋째 남은 follicle 세포를 progesterone을 만드는 황체로 바꾼다. 황체가 만드는 progesterone이 강한 음성 되먹임으로 작용해 LH를 떨어뜨리므로, 급증은 자신이 만든 결과에 의해 종료된다. 양성 되먹임이 종료 시점을 가진다는 조건이 충족된다.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31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태반이 estrogen을 만들려면 태아가 필요한 이유를 설명하고, 이 사실이 임상에서 무엇에 쓰이는지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태반에는 17α-hydroxylase가 없어 전구체를 스스로 만들지 못하고 태아 부신에서 공급받아야 한다. 따라서 estrogen 생산에는 태아, 태아 부신, 태반이 모두 필요하며 이를 태아–태반 단위라 한다. 그 결과 모체의 estriol 수치가 태아의 생존과 부신 기능을 반영하므로, 태아 상태를 간접적으로 보는 지표로 쓰인다. 모체에서 estriol이 낮게 측정되면 태아 사망이나 부신 발달 이상, 태반 황화효소 결핍을 의심한다.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32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임신 중 모체의 변화를 네 가지 계통에서 쓰고, 각 변화가 검사 정상치 해석에 미치는 영향을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혈액에서는 혈장량이 약 50%, 적혈구량이 약 25% 늘어 희석에 의한 생리적 빈혈이 생기므로 헤모글로빈 기준이 낮아진다. 호흡에서는 progesterone이 호흡 중추를 자극해 과환기가 되므로 PCO₂ 정상치가 약 30 mmHg로 낮아지고, 40 mmHg는 오히려 환기 부족을 뜻한다. 신장에서는 GFR이 약 50% 늘어 혈청 creatinine 정상 상한이 낮아지므로 1.0 mg/dL는 이미 신기능 저하를 시사한다. 대사에서는 hPL에 의한 인슐린 저항으로 식후 혈당이 오래 유지되며, 24~28주에 임신성 당뇨를 선별하는 근거가 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33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부계 연령과 모계 연령이 각각 어떤 종류의 유전적 위험을 늘리는지 구분하고 그 기전을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부계 연령은 새 점 돌연변이를 늘린다. 남성의 생식세포는 사춘기 이후 평생 분열을 반복하므로 DNA 복제 횟수가 나이와 함께 누적되고 복제 오류가 쌓인다. Achondroplasia나 Apert 증후군처럼 특정 점 돌연변이로 생기는 질환이 부계 연령과 연관되는 이유다. 모계 연령은 염색체 비분리를 늘린다. 난자는 태아기에 만들어져 제1감수분열 전기에서 멈춘 채 수십 년을 기다리는데 그동안 염색체를 붙드는 cohesin이 소실되어 분리가 부정확해진다. 그 결과 삼염색체 빈도가 모체 연령과 함께 급격히 올라간다.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34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비침습 산전 검사의 양성 결과가 확진이 아닌 이유를 설명하고, 거짓 양성의 원인을 드시오.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민감도와 특이도가 높아도 유병률이 낮은 집단에서는 양성 예측도가 낮아지기 때문이다. 드문 질환을 선별할 때 양성 가운데 참양성의 비율이 떨어지는 것은 검사 성능과 무관한 통계적 귀결이며, 따라서 양성은 확진 검사로 확인해야 한다. 거짓 양성의 원인으로는 태반에만 국한된 모자이크, 소실된 쌍둥이의 DNA, 드물게 모체 자신의 미진단 악성종양에서 유래한 DNA가 알려져 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35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무배란의 위치를 LH와 FSH로 가르는 방법을 되먹임으로 설명하고, 고prolactin혈증이 무배란을 만드는 기전을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난소가 반응하지 못하면 estrogen이 낮아 되먹임 억제가 풀리므로 LH와 FSH가 높게 나온다. 조기 난소 부전과 폐경이 이 상태다. 반대로 시상하부나 뇌하수체의 문제이면 자극 호르몬 자체가 나오지 않으므로 LH와 FSH가 낮다. 체중 저하, 과도한 운동, 스트레스가 원인이다. 고prolactin혈증은 prolactin이 난소에 직접 작용하는 것이 아니라 GnRH의 박동성 분비를 억제해 무배란을 만든다. 따라서 치료는 난소가 아니라 dopamine 작용제로 prolactin을 낮추는 것이 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보조생식술의 각 단계가 어느 과정을 건너뛰는지 설명하고, 여성의 나이가 결과를 정하는 가장 강력한 변수인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배란 유도는 배란 자체가 일어나지 않는 단계를 해결하고, 자궁내 정자 주입은 정자가 자궁경부를 통과하는 단계를 건너뛰며, 체외수정은 난관을 통째로 건너뛰고, 세포질내 정자 주입은 정자가 난자에 침투하는 단계까지 건너뛴다. 여성의 나이가 결정적인 이유는 난자가 태아기에 모두 만들어지기 때문이다. 시간이 지날수록 수가 줄어 난소 예비력이 감소하고, 오래 멈춰 있던 난자일수록 염색체 비분리가 늘어 질이 떨어진다. 그래서 나이가 들수록 임신율이 떨어지고 유산율이 올라간다. AMH와 동난포 수는 남은 수를 추정할 뿐 질을 알려 주지 않는다.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M01-W02-L03  ·  생식계 요약: 생식기관·생식세포·호르몬</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Hall JE, Hall ME. Guyton and Hall Textbook of Medical Physiology. 14th ed. Elsevier; 2021. Unit XIV, Chapters 81–83.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Boron WF, Boulpaep EL. Medical Physiology. 3rd ed. Elsevier; 2017. Section IX, Chapters 53–56.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Melmed S, Auchus RJ, Goldfine AB, et al., eds. Williams Textbook of Endocrinology. 14th ed. Elsevier; 2020. Sections on reproductive endocrinology.</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Strauss JF, Barbieri RL, eds. Yen &amp; Jaffe's Reproductive Endocrinology. 8th ed. Elsevier; 2019.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Sadler TW. Langman's Medical Embryology. 14th ed. Wolters Kluwer; 2018. Chapter 16, Urogenital System.</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Costanzo LS. Physiology. 7th ed. Elsevier; 2022. Chapter 10, Reproductive Physiology.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