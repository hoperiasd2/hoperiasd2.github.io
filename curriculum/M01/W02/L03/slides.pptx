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유성 생식이 유전적 다양성을 만드는 세 기전과 meiosis의 구조. 교차·독립적 분리·무작위 수정이 만드는 조합의 수, 그리고 한 번의 S기 뒤 두 번 분열해 네 개의 반수체 세포를 만드는 과정.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 결정의 세 단계와 각 단계의 결정 요인. SRY의 방아쇠 역할, Wolffian·Müllerian duct의 운명을 가르는 testosterone과 AMH의 작용, 그리고 DHT가 외부 생식기를 결정하는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남성과 여성 생식기관의 구조를 생식세포 생산·수송·외분비 요소로 나누어 대응시킨 그림. 고환의 seminiferous tubule과 Leydig cell, 난소의 follicle과 granulosa·theca cell, 그리고 난소와 난관이 직접 연결되지 않은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Spermatogenesis의 단계와 seminiferous tubule 안에서의 위치 변화. Sertoli cell의 혈액–고환 장벽과 FSH 표적 역할, Leydig cell의 LH 표적과 testosterone 생산, 그리고 inhibin에 의한 되먹임을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Oogenesis의 시기별 진행과 두 번의 정지 지점. 태아기 mitosis 종료와 oocyte 수의 감소 곡선, prophase I과 metaphase II에서의 정지, 불균등 분열에 의한 극체 형성, 그리고 spermatogenesis와의 비교를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생식 축의 구조와 GnRH 박동성 분비의 필수성. 박동성과 연속 투여에 따른 LH·FSH 반응의 차이, LH와 FSH의 남녀 표적 세포 대응, theca–granulosa 두 세포 협동에 의한 estrogen 생산, 그리고 inhibin의 선택적 되먹임을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월경 주기의 난소 주기와 자궁 주기를 나란히 놓은 그림. 네 호르몬의 농도 곡선, follicle의 성장과 배란 및 황체 형성, 자궁내막의 두께 변화, 그리고 estrogen과 progesterone의 역할 분담을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Estrogen 되먹임 방향의 전환과 LH 급증. 농도와 지속 시간에 따른 음성·양성 되먹임의 경계, 양성 되먹임이 만드는 LH 급증 곡선, 급증이 일으키는 세 가지 결과, 그리고 progesterone의 되먹임이 급증을 종료시키는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수정에서 착상까지의 과정과 임신 유지의 호르몬 교대. 난관 ampulla에서의 수정, acrosome 반응과 다수정 차단, cleavage와 blastocyst 형성, 착상, 그리고 hCG가 황체를 유지하다가 태반으로 progesterone 공급이 교대되는 곡선을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교차는 meiosis I 전기에 상동염색체가 일부를 교환하는 것이고, 독립적 분리는 23쌍의 상동염색체가 서로 독립적으로 나뉘어 약 840만 가지 조합을 만드는 것이며, 무작위 수정은 어느 정자와 어느 난자가 만날지가 무작위인 것으로 조합이 두 번 곱해져 약 70조 가지가 된다. 환경이 변할 때 집단 안에 다양한 유전형이 있으면 적합한 개체가 존재할 확률이 높아진다. 특히 세대가 짧아 빠르게 변하는 병원체에 대한 저항성에서 이 이점이 크다.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유전적 성은 수정 시 정자가 가진 X 또는 Y가, 생식샘 성은 발생 7주경 SRY의 발현 여부가, 표현형 성은 생식샘이 만드는 호르몬이 결정한다. 발생 초기에는 남녀 모두 Wolffian duct와 Müllerian duct를 함께 가지고 있다. 따라서 남성이 되려면 testosterone이 Wolffian duct를 발달시키는 촉진과 AMH가 Müllerian duct를 퇴화시키는 억제가 모두 필요하다. 여성은 두 물질이 모두 없으면 되므로 호르몬을 필요로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Androgen 불감 증후군은 XY이고 고환이 testosterone과 AMH를 정상 분비하지만 수용체 결함으로 androgen이 전혀 작용하지 못한다. AMH 작용으로 Müllerian duct는 퇴화하고, testosterone이 작용하지 못해 Wolffian duct도 발달하지 않으며, 외부 생식기는 여성형이 된다. 5알파-reductase 결핍에서는 testosterone은 작용하므로 내부 생식관이 남성형으로 발달하지만, DHT가 만들어지지 않아 외부 생식기만 모호하다. 즉 내부 생식관은 testosterone이, 외부 생식기는 DHT가 담당한다.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Sertoli cell은 FSH의 표적이며 생식세포를 감싸 영양과 신호를 공급하고 inhibin을 분비하며, 발생기에는 AMH를 분비한다. Leydig cell은 LH의 표적이며 cholesterol로부터 testosterone을 만든다. Sertoli cell 사이의 tight junction이 만드는 혈액-고환 장벽은 혈액 성분과 면역 세포가 생식세포에 닿지 못하게 한다. 생식세포는 반수체이고 재조합되어 있어 체세포와 유전적으로 다르므로 면역계가 이물질로 인식할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후 초기 배아는 외부에서 영양을 받지 못하고 난자가 가진 저장분으로 분열해야 하므로, 한 세포에 가능한 많은 세포질과 저장 물질을 모으는 것이 유리하다. 염색체 수를 줄이는 목적은 달성하면서 세포질은 나누지 않는 방법이 극체다. 정자는 유전물질을 운반하는 역할만 하므로 반대로 세포질을 거의 모두 버리고 운동 장치만 남긴다.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연속 자극에 의해 뇌하수체의 GnRH 수용체가 down-regulation되어 반응이 사라지므로, 처음의 상승 뒤 수 일 안에 LH와 FSH가 거의 0으로 떨어진다. 박동성 분비는 수용체가 회복할 시간을 주어 민감도를 유지한다. 응용은 두 방향이다. 시상하부 문제로 GnRH가 나오지 않는 환자에게 박동 방식으로 투여하면 축이 회복된다. 반대로 GnRH 작용제를 연속 투여하면 성 steroid 생산을 억제할 수 있어 전립샘암, 자궁내막증, 조기 사춘기, 보조 생식술에서 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Estrogen의 되먹임 방향이 농도와 지속 시간에 따라 바뀐다. 낮거나 중간 농도에서는 음성 되먹임으로 LH를 억제하지만, 매우 높은 농도가 약 36시간 이상 지속되면 양성 되먹임으로 전환해 GnRH 분비와 뇌하수체의 GnRH 민감도를 크게 높인다. 생리적 의미는 estrogen 농도가 follicle의 성숙도를 보고하는 신호로 쓰인다는 점이다. Follicle이 충분히 자라야 역치를 넘으므로, 난자가 준비되었을 때만 배란이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follicle 벽을 분해하는 효소를 유도해 배란을 일으키고, 둘째 태아기부터 멈춰 있던 meiosis I을 완료시키고, 셋째 남은 follicle 세포를 progesterone을 만드는 황체로 바꾼다. 황체가 만드는 progesterone이 강한 음성 되먹임으로 작용해 LH를 떨어뜨리므로, 급증은 자신이 만든 결과에 의해 종료된다. 양성 되먹임이 종료 시점을 가진다는 조건이 충족된다.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생식계 요약: 생식기관·생식세포·호르몬</a:t>
            </a:r>
          </a:p>
          <a:p>
            <a:r>
              <a:rPr sz="1500" b="0" i="0">
                <a:solidFill>
                  <a:srgbClr val="B9D2E8"/>
                </a:solidFill>
                <a:latin typeface="Malgun Gothic"/>
                <a:ea typeface="Malgun Gothic"/>
                <a:cs typeface="Malgun Gothic"/>
              </a:rPr>
              <a:t>The Reproductive System: Organs, Germ Cells and Hormones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M01-W02-L03</a:t>
            </a:r>
          </a:p>
          <a:p>
            <a:r>
              <a:rPr sz="1100" b="0" i="0">
                <a:solidFill>
                  <a:srgbClr val="9FBEDA"/>
                </a:solidFill>
                <a:latin typeface="Malgun Gothic"/>
                <a:ea typeface="Malgun Gothic"/>
                <a:cs typeface="Malgun Gothic"/>
              </a:rPr>
              <a:t>2주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유성 생식이 해결하는 문제를 유전적 다양성의 관점에서 설명하고 반수체 생식세포가 필요한 이유를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성 결정의 단계를 유전적 성·생식샘 성·표현형 성으로 나누어 설명하고 SRY 유전자의 역할을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남성과 여성 생식기관의 구조를 생식세포 생산·수송·외분비 요소로 나누어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Spermatogenesis의 단계를 쓰고 Sertoli cell과 Leydig cell의 역할을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Oogenesis의 단계를 쓰고 남성과 다른 세 가지 특징을 시기·수·분열 양상으로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생식 축에서 GnRH의 박동성 분비가 왜 필수적인지 설명하고 이 성질의 임상적 응용을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월경 주기를 난소 주기와 자궁 주기로 나누어 각 시기의 호르몬 변화와 대응시킨다.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배란 전 LH 급증이 일어나는 기전을 estrogen의 되먹임 방향 전환으로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수정에서 착상까지의 과정을 순서대로 쓰고 임신 유지에 관여하는 호르몬의 교대를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사춘기와 폐경에서 일어나는 호르몬 변화를 생식 축의 어느 단계 변화인지로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시상하부–뇌하수체 축, 음성·양성 되먹임, steroid 호르몬의 성질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세포주기와 분열의 기본 — mitosis와 meiosis의 차이, 염색체와 염색분체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호르몬의 혈중 운반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유성 생식이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성 결정의 세 단계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생식기관의 구조</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Spermatogenesis</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Oogenesis</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생식 축과 GnRH의 박동성 분비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월경 주기</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LH 급증: 되먹임 방향의 전환</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수정에서 착상, 그리고 임신 유지</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사춘기와 폐경, 그리고 생식계 질환의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생식의 목적은 다음 세대를 만드는 것이다. 그런데 이 목적만 보면 무성 생식이 훨씬 효율적이다. 짝을 찾을 필요가 없고, 자신의 유전자를 100% 전달하며, 생식에 드는 비용도 적다. 유성 생식이 이 모든 불리함을 안고도 널리 퍼져 있다는 사실은 그만큼 큰 이점이 있음을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이점이 </a:t>
            </a:r>
            <a:r>
              <a:rPr sz="1400" b="1" i="0">
                <a:solidFill>
                  <a:srgbClr val="11202B"/>
                </a:solidFill>
                <a:latin typeface="Malgun Gothic"/>
                <a:ea typeface="Malgun Gothic"/>
                <a:cs typeface="Malgun Gothic"/>
              </a:rPr>
              <a:t>유전적 다양성</a:t>
            </a:r>
            <a:r>
              <a:rPr sz="1400" b="0" i="0">
                <a:solidFill>
                  <a:srgbClr val="11202B"/>
                </a:solidFill>
                <a:latin typeface="Malgun Gothic"/>
                <a:ea typeface="Malgun Gothic"/>
                <a:cs typeface="Malgun Gothic"/>
              </a:rPr>
              <a:t>이다. 유성 생식은 두 부모의 유전자를 섞어 부모 어느 쪽과도 다른 조합을 만든다. 다양성을 만드는 기전은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교차(crossing over)</a:t>
            </a:r>
            <a:r>
              <a:rPr sz="1400" b="0" i="0">
                <a:solidFill>
                  <a:srgbClr val="11202B"/>
                </a:solidFill>
                <a:latin typeface="Malgun Gothic"/>
                <a:ea typeface="Malgun Gothic"/>
                <a:cs typeface="Malgun Gothic"/>
              </a:rPr>
              <a:t>: Meiosis I의 전기에 상동염색체가 짝지어 일부를 서로 교환한다. 한 염색체 안에서 부모 양쪽의 대립유전자가 섞인다. 2. </a:t>
            </a:r>
            <a:r>
              <a:rPr sz="1400" b="1" i="0">
                <a:solidFill>
                  <a:srgbClr val="11202B"/>
                </a:solidFill>
                <a:latin typeface="Malgun Gothic"/>
                <a:ea typeface="Malgun Gothic"/>
                <a:cs typeface="Malgun Gothic"/>
              </a:rPr>
              <a:t>독립적 분리(independent assortment)</a:t>
            </a:r>
            <a:r>
              <a:rPr sz="1400" b="0" i="0">
                <a:solidFill>
                  <a:srgbClr val="11202B"/>
                </a:solidFill>
                <a:latin typeface="Malgun Gothic"/>
                <a:ea typeface="Malgun Gothic"/>
                <a:cs typeface="Malgun Gothic"/>
              </a:rPr>
              <a:t>: 각 상동염색체 쌍이 서로 독립적으로 양극으로 나뉜다. 23쌍이 있으므로 2²³, 약 840만 가지 조합이 가능하다. 3. </a:t>
            </a:r>
            <a:r>
              <a:rPr sz="1400" b="1" i="0">
                <a:solidFill>
                  <a:srgbClr val="11202B"/>
                </a:solidFill>
                <a:latin typeface="Malgun Gothic"/>
                <a:ea typeface="Malgun Gothic"/>
                <a:cs typeface="Malgun Gothic"/>
              </a:rPr>
              <a:t>무작위 수정(random fertilization)</a:t>
            </a:r>
            <a:r>
              <a:rPr sz="1400" b="0" i="0">
                <a:solidFill>
                  <a:srgbClr val="11202B"/>
                </a:solidFill>
                <a:latin typeface="Malgun Gothic"/>
                <a:ea typeface="Malgun Gothic"/>
                <a:cs typeface="Malgun Gothic"/>
              </a:rPr>
              <a:t>: 어느 정자와 어느 난자가 만날지는 무작위다. 위의 조합이 두 번 곱해지므로 약 70조 가지가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다양성이 중요한 이유는 환경이 변하기 때문이다. 집단 안에 다양한 유전형이 있으면 환경이 바뀌었을 때 그 환경에 적합한 개체가 존재할 확률이 높아진다. 특히 감염병에 대한 저항성에서 이 이점이 크다. 병원체는 세대가 짧아 빠르게 변하므로, 숙주가 매 세대 같은 유전형을 내놓으면 곧 돌파된다.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유성 생식을 실현하려면 </a:t>
            </a:r>
            <a:r>
              <a:rPr sz="1400" b="1" i="0">
                <a:solidFill>
                  <a:srgbClr val="11202B"/>
                </a:solidFill>
                <a:latin typeface="Malgun Gothic"/>
                <a:ea typeface="Malgun Gothic"/>
                <a:cs typeface="Malgun Gothic"/>
              </a:rPr>
              <a:t>반수체(haploid) 생식세포</a:t>
            </a:r>
            <a:r>
              <a:rPr sz="1400" b="0" i="0">
                <a:solidFill>
                  <a:srgbClr val="11202B"/>
                </a:solidFill>
                <a:latin typeface="Malgun Gothic"/>
                <a:ea typeface="Malgun Gothic"/>
                <a:cs typeface="Malgun Gothic"/>
              </a:rPr>
              <a:t>가 필요하다. 체세포는 염색체를 2n(사람에서 46개)으로 가지고 있는데, 두 개체의 체세포가 합쳐지면 4n이 되어 세대마다 염색체 수가 두 배로 늘어난다. 따라서 생식세포는 n(23개)이어야 하고, 이 감수를 담당하는 분열이 </a:t>
            </a:r>
            <a:r>
              <a:rPr sz="1400" b="1" i="0">
                <a:solidFill>
                  <a:srgbClr val="11202B"/>
                </a:solidFill>
                <a:latin typeface="Malgun Gothic"/>
                <a:ea typeface="Malgun Gothic"/>
                <a:cs typeface="Malgun Gothic"/>
              </a:rPr>
              <a:t>meiosis</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Meiosis의 구조를 다시 정리하면 다음과 같다. 한 번의 S기(DNA 복제) 뒤에 </a:t>
            </a:r>
            <a:r>
              <a:rPr sz="1400" b="1" i="0">
                <a:solidFill>
                  <a:srgbClr val="11202B"/>
                </a:solidFill>
                <a:latin typeface="Malgun Gothic"/>
                <a:ea typeface="Malgun Gothic"/>
                <a:cs typeface="Malgun Gothic"/>
              </a:rPr>
              <a:t>두 번의 분열</a:t>
            </a:r>
            <a:r>
              <a:rPr sz="1400" b="0" i="0">
                <a:solidFill>
                  <a:srgbClr val="11202B"/>
                </a:solidFill>
                <a:latin typeface="Malgun Gothic"/>
                <a:ea typeface="Malgun Gothic"/>
                <a:cs typeface="Malgun Gothic"/>
              </a:rPr>
              <a:t>이 일어난다. Meiosis I에서는 상동염색체가 갈라져 염색체 수가 절반이 되고(reduction division), Meiosis II에서는 자매염색분체가 갈라진다. 결과적으로 하나의 전구세포에서 네 개의 반수체 세포가 나온다.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Meiosis I에서 상동염색체가 제대로 갈라지지 않으면(nondisjunction) 염색체 수가 비정상인 생식세포가 만들어진다. 이것이 수정되면 trisomy나 monosomy가 된다. 21번 염색체의 trisomy가 Down 증후군이며, 산모의 나이가 많을수록 빈도가 높아진다. 뒤에서 볼 oogenesis의 특징, 즉 난자가 수십 년간 meiosis I 중간에 멈춰 있다는 사실이 그 이유를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7</a:t>
            </a:r>
          </a:p>
        </p:txBody>
      </p:sp>
      <p:pic>
        <p:nvPicPr>
          <p:cNvPr id="7" name="Picture 6" descr="fig-sexual-reproduc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유성 생식이 유전적 다양성을 만드는 세 기전과 meiosis의 구조. 교차·독립적 분리·무작위 수정이 만드는 조합의 수, 그리고 한 번의 S기 뒤 두 번 분열해 네 개의 반수체 세포를 만드는 과정.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성은 하나의 사건으로 정해지지 않고 세 단계를 거친다. 이 단계를 구분하면 성 발달 이상을 체계적으로 이해할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유전적 성(genetic sex)</a:t>
            </a:r>
            <a:r>
              <a:rPr sz="1400" b="0" i="0">
                <a:solidFill>
                  <a:srgbClr val="11202B"/>
                </a:solidFill>
                <a:latin typeface="Malgun Gothic"/>
                <a:ea typeface="Malgun Gothic"/>
                <a:cs typeface="Malgun Gothic"/>
              </a:rPr>
              <a:t>. 수정 순간에 정해진다. 난자는 항상 X 염색체를 주고, 정자는 X 또는 Y를 준다. XX면 여성, XY면 남성의 유전적 성이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생식샘 성(gonadal sex)</a:t>
            </a:r>
            <a:r>
              <a:rPr sz="1400" b="0" i="0">
                <a:solidFill>
                  <a:srgbClr val="11202B"/>
                </a:solidFill>
                <a:latin typeface="Malgun Gothic"/>
                <a:ea typeface="Malgun Gothic"/>
                <a:cs typeface="Malgun Gothic"/>
              </a:rPr>
              <a:t>. 발생 7주경까지 생식샘은 남녀 구분이 없는 상태(indifferent gonad)로 있다. 이때 Y 염색체에 있는 </a:t>
            </a:r>
            <a:r>
              <a:rPr sz="1400" b="1" i="0">
                <a:solidFill>
                  <a:srgbClr val="11202B"/>
                </a:solidFill>
                <a:latin typeface="Malgun Gothic"/>
                <a:ea typeface="Malgun Gothic"/>
                <a:cs typeface="Malgun Gothic"/>
              </a:rPr>
              <a:t>SRY(sex-determining region Y)</a:t>
            </a:r>
            <a:r>
              <a:rPr sz="1400" b="0" i="0">
                <a:solidFill>
                  <a:srgbClr val="11202B"/>
                </a:solidFill>
                <a:latin typeface="Malgun Gothic"/>
                <a:ea typeface="Malgun Gothic"/>
                <a:cs typeface="Malgun Gothic"/>
              </a:rPr>
              <a:t> 유전자가 발현되면 생식샘이 고환으로 발달하고, 발현되지 않으면 난소로 발달한다.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점이 두 가지 있다. 첫째, </a:t>
            </a:r>
            <a:r>
              <a:rPr sz="1400" b="1" i="0">
                <a:solidFill>
                  <a:srgbClr val="11202B"/>
                </a:solidFill>
                <a:latin typeface="Malgun Gothic"/>
                <a:ea typeface="Malgun Gothic"/>
                <a:cs typeface="Malgun Gothic"/>
              </a:rPr>
              <a:t>SRY 하나가 방아쇠다.</a:t>
            </a:r>
            <a:r>
              <a:rPr sz="1400" b="0" i="0">
                <a:solidFill>
                  <a:srgbClr val="11202B"/>
                </a:solidFill>
                <a:latin typeface="Malgun Gothic"/>
                <a:ea typeface="Malgun Gothic"/>
                <a:cs typeface="Malgun Gothic"/>
              </a:rPr>
              <a:t> SRY는 전사 인자를 만들어 고환 발달 유전자들을 켠다. 둘째, </a:t>
            </a:r>
            <a:r>
              <a:rPr sz="1400" b="1" i="0">
                <a:solidFill>
                  <a:srgbClr val="11202B"/>
                </a:solidFill>
                <a:latin typeface="Malgun Gothic"/>
                <a:ea typeface="Malgun Gothic"/>
                <a:cs typeface="Malgun Gothic"/>
              </a:rPr>
              <a:t>난소 발달은 SRY가 없을 때의 기본 경로가 아니라 자체의 유전자들을 필요로 한다.</a:t>
            </a:r>
            <a:r>
              <a:rPr sz="1400" b="0" i="0">
                <a:solidFill>
                  <a:srgbClr val="11202B"/>
                </a:solidFill>
                <a:latin typeface="Malgun Gothic"/>
                <a:ea typeface="Malgun Gothic"/>
                <a:cs typeface="Malgun Gothic"/>
              </a:rPr>
              <a:t> 다만 SRY가 있으면 그 경로가 억제된다.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표현형 성(phenotypic sex)</a:t>
            </a:r>
            <a:r>
              <a:rPr sz="1400" b="0" i="0">
                <a:solidFill>
                  <a:srgbClr val="11202B"/>
                </a:solidFill>
                <a:latin typeface="Malgun Gothic"/>
                <a:ea typeface="Malgun Gothic"/>
                <a:cs typeface="Malgun Gothic"/>
              </a:rPr>
              <a:t>. 생식샘이 만드는 호르몬이 내부 생식관과 외부 생식기의 형태를 결정한다. 발생 초기에는 남녀 모두 두 가지 관을 가지고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Wolffian duct</a:t>
            </a:r>
            <a:r>
              <a:rPr sz="1400" b="0" i="0">
                <a:solidFill>
                  <a:srgbClr val="11202B"/>
                </a:solidFill>
                <a:latin typeface="Malgun Gothic"/>
                <a:ea typeface="Malgun Gothic"/>
                <a:cs typeface="Malgun Gothic"/>
              </a:rPr>
              <a:t>: 남성의 내부 생식관(부속 고환, 정관, 정낭)으로 발달할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Müllerian duct</a:t>
            </a:r>
            <a:r>
              <a:rPr sz="1400" b="0" i="0">
                <a:solidFill>
                  <a:srgbClr val="11202B"/>
                </a:solidFill>
                <a:latin typeface="Malgun Gothic"/>
                <a:ea typeface="Malgun Gothic"/>
                <a:cs typeface="Malgun Gothic"/>
              </a:rPr>
              <a:t>: 여성의 내부 생식관(난관, 자궁, 질 상부)으로 발달할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고환이 만들어지면 두 가지 물질을 분비한다. Leydig cell이 </a:t>
            </a:r>
            <a:r>
              <a:rPr sz="1400" b="1" i="0">
                <a:solidFill>
                  <a:srgbClr val="11202B"/>
                </a:solidFill>
                <a:latin typeface="Malgun Gothic"/>
                <a:ea typeface="Malgun Gothic"/>
                <a:cs typeface="Malgun Gothic"/>
              </a:rPr>
              <a:t>testosterone</a:t>
            </a:r>
            <a:r>
              <a:rPr sz="1400" b="0" i="0">
                <a:solidFill>
                  <a:srgbClr val="11202B"/>
                </a:solidFill>
                <a:latin typeface="Malgun Gothic"/>
                <a:ea typeface="Malgun Gothic"/>
                <a:cs typeface="Malgun Gothic"/>
              </a:rPr>
              <a:t>을 분비해 Wolffian duct를 발달시키고, Sertoli cell이 </a:t>
            </a:r>
            <a:r>
              <a:rPr sz="1400" b="1" i="0">
                <a:solidFill>
                  <a:srgbClr val="11202B"/>
                </a:solidFill>
                <a:latin typeface="Malgun Gothic"/>
                <a:ea typeface="Malgun Gothic"/>
                <a:cs typeface="Malgun Gothic"/>
              </a:rPr>
              <a:t>anti-Müllerian hormone(AMH)</a:t>
            </a:r>
            <a:r>
              <a:rPr sz="1400" b="0" i="0">
                <a:solidFill>
                  <a:srgbClr val="11202B"/>
                </a:solidFill>
                <a:latin typeface="Malgun Gothic"/>
                <a:ea typeface="Malgun Gothic"/>
                <a:cs typeface="Malgun Gothic"/>
              </a:rPr>
              <a:t> 을 분비해 Müllerian duct를 퇴화시킨다. 즉 남성 발달에는 </a:t>
            </a:r>
            <a:r>
              <a:rPr sz="1400" b="1" i="0">
                <a:solidFill>
                  <a:srgbClr val="11202B"/>
                </a:solidFill>
                <a:latin typeface="Malgun Gothic"/>
                <a:ea typeface="Malgun Gothic"/>
                <a:cs typeface="Malgun Gothic"/>
              </a:rPr>
              <a:t>촉진과 억제가 모두 필요</a:t>
            </a:r>
            <a:r>
              <a:rPr sz="1400" b="0" i="0">
                <a:solidFill>
                  <a:srgbClr val="11202B"/>
                </a:solidFill>
                <a:latin typeface="Malgun Gothic"/>
                <a:ea typeface="Malgun Gothic"/>
                <a:cs typeface="Malgun Gothic"/>
              </a:rPr>
              <a:t>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난소가 만들어지면 두 물질이 모두 없으므로, Wolffian duct가 퇴화하고 Müllerian duct가 발달한다. 즉 </a:t>
            </a:r>
            <a:r>
              <a:rPr sz="1400" b="1" i="0">
                <a:solidFill>
                  <a:srgbClr val="11202B"/>
                </a:solidFill>
                <a:latin typeface="Malgun Gothic"/>
                <a:ea typeface="Malgun Gothic"/>
                <a:cs typeface="Malgun Gothic"/>
              </a:rPr>
              <a:t>여성의 내부 생식관 발달은 호르몬을 필요로 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외부 생식기는 또 다른 호르몬에 달려 있다. Testosterone이 피부에서 5α-reductase에 의해 </a:t>
            </a:r>
            <a:r>
              <a:rPr sz="1400" b="1" i="0">
                <a:solidFill>
                  <a:srgbClr val="11202B"/>
                </a:solidFill>
                <a:latin typeface="Malgun Gothic"/>
                <a:ea typeface="Malgun Gothic"/>
                <a:cs typeface="Malgun Gothic"/>
              </a:rPr>
              <a:t>dihydrotestosterone(DHT)</a:t>
            </a:r>
            <a:r>
              <a:rPr sz="1400" b="0" i="0">
                <a:solidFill>
                  <a:srgbClr val="11202B"/>
                </a:solidFill>
                <a:latin typeface="Malgun Gothic"/>
                <a:ea typeface="Malgun Gothic"/>
                <a:cs typeface="Malgun Gothic"/>
              </a:rPr>
              <a:t> 으로 바뀌고, DHT가 남성 외부 생식기의 발달을 일으킨다. DHT가 없으면 같은 조직이 여성 외부 생식기로 발달한다.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결정 시점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결정 요인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유전적 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정자가 가진 X 또는 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XX 또는 XY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생식샘 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발생 7주경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SRY의 발현 여부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고환 또는 난소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표현형 성 (내부)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 8~12주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testosterone과 AMH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Wolffian 또는 Müllerian duct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표현형 성 (외부)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발생 9~12주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DHT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남성형 또는 여성형</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세 단계가 서로 어긋날 수 있다. Androgen 불감 증후군에서는 유전적으로 XY이고 고환이 만들어져 testosterone과 AMH를 정상적으로 분비하지만, androgen 수용체에 결함이 있어 testosterone이 작용하지 못한다. 그 결과 AMH의 작용으로 Müllerian duct는 퇴화하고, testosterone이 작용하지 못해 Wolffian duct도 발달하지 않으며, DHT가 작용하지 못해 외부 생식기가 여성형으로 발달한다. 5α-reductase 결핍에서는 testosterone은 작용하므로 내부 생식관은 남성형이지만 DHT가 없어 외부 생식기만 모호하게 발달한다. 두 질환의 차이가 testosterone과 DHT의 역할 분담을 그대로 보여 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11</a:t>
            </a:r>
          </a:p>
        </p:txBody>
      </p:sp>
      <p:pic>
        <p:nvPicPr>
          <p:cNvPr id="7" name="Picture 6" descr="fig-sex-determin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성 결정의 세 단계와 각 단계의 결정 요인. SRY의 방아쇠 역할, Wolffian·Müllerian duct의 운명을 가르는 testosterone과 AMH의 작용, 그리고 DHT가 외부 생식기를 결정하는 경로를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생식기관의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생식기관을 세 가지 기능 요소로 나누어 보면 남녀의 구조가 대응 관계로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생산</a:t>
            </a:r>
            <a:r>
              <a:rPr sz="1400" b="0" i="0">
                <a:solidFill>
                  <a:srgbClr val="11202B"/>
                </a:solidFill>
                <a:latin typeface="Malgun Gothic"/>
                <a:ea typeface="Malgun Gothic"/>
                <a:cs typeface="Malgun Gothic"/>
              </a:rPr>
              <a:t>: 생식샘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수송</a:t>
            </a:r>
            <a:r>
              <a:rPr sz="1400" b="0" i="0">
                <a:solidFill>
                  <a:srgbClr val="11202B"/>
                </a:solidFill>
                <a:latin typeface="Malgun Gothic"/>
                <a:ea typeface="Malgun Gothic"/>
                <a:cs typeface="Malgun Gothic"/>
              </a:rPr>
              <a:t>: 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외분비 요소</a:t>
            </a:r>
            <a:r>
              <a:rPr sz="1400" b="0" i="0">
                <a:solidFill>
                  <a:srgbClr val="11202B"/>
                </a:solidFill>
                <a:latin typeface="Malgun Gothic"/>
                <a:ea typeface="Malgun Gothic"/>
                <a:cs typeface="Malgun Gothic"/>
              </a:rPr>
              <a:t>: 액체를 만들어 보태는 부속샘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남성</a:t>
            </a:r>
            <a:r>
              <a:rPr sz="1400" b="0" i="0">
                <a:solidFill>
                  <a:srgbClr val="11202B"/>
                </a:solidFill>
                <a:latin typeface="Malgun Gothic"/>
                <a:ea typeface="Malgun Gothic"/>
                <a:cs typeface="Malgun Gothic"/>
              </a:rPr>
              <a:t>의 구조는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고환(testis)</a:t>
            </a:r>
            <a:r>
              <a:rPr sz="1400" b="0" i="0">
                <a:solidFill>
                  <a:srgbClr val="11202B"/>
                </a:solidFill>
                <a:latin typeface="Malgun Gothic"/>
                <a:ea typeface="Malgun Gothic"/>
                <a:cs typeface="Malgun Gothic"/>
              </a:rPr>
              <a:t> 이 생식세포를 만든다. 고환 안은 </a:t>
            </a:r>
            <a:r>
              <a:rPr sz="1400" b="1" i="0">
                <a:solidFill>
                  <a:srgbClr val="11202B"/>
                </a:solidFill>
                <a:latin typeface="Malgun Gothic"/>
                <a:ea typeface="Malgun Gothic"/>
                <a:cs typeface="Malgun Gothic"/>
              </a:rPr>
              <a:t>seminiferous tubule</a:t>
            </a:r>
            <a:r>
              <a:rPr sz="1400" b="0" i="0">
                <a:solidFill>
                  <a:srgbClr val="11202B"/>
                </a:solidFill>
                <a:latin typeface="Malgun Gothic"/>
                <a:ea typeface="Malgun Gothic"/>
                <a:cs typeface="Malgun Gothic"/>
              </a:rPr>
              <a:t>이라는 가늘고 긴 관들로 채워져 있고, 이 관의 벽에서 정자가 만들어진다. 관 사이의 공간에 </a:t>
            </a:r>
            <a:r>
              <a:rPr sz="1400" b="1" i="0">
                <a:solidFill>
                  <a:srgbClr val="11202B"/>
                </a:solidFill>
                <a:latin typeface="Malgun Gothic"/>
                <a:ea typeface="Malgun Gothic"/>
                <a:cs typeface="Malgun Gothic"/>
              </a:rPr>
              <a:t>Leydig cell</a:t>
            </a:r>
            <a:r>
              <a:rPr sz="1400" b="0" i="0">
                <a:solidFill>
                  <a:srgbClr val="11202B"/>
                </a:solidFill>
                <a:latin typeface="Malgun Gothic"/>
                <a:ea typeface="Malgun Gothic"/>
                <a:cs typeface="Malgun Gothic"/>
              </a:rPr>
              <a:t>이 있어 testosterone을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고환은 몸 밖의 음낭에 있다. 이 위치가 중요한 이유는 spermatogenesis가 체온보다 2~3도 낮은 온도를 필요로 하기 때문이다. 음낭의 근육이 온도에 따라 고환을 몸에 가까이 당기거나 멀리 떨어뜨려 온도를 조절한다. 고환이 복강에 머물러 있으면(cryptorchidism) 정자 생산이 되지 않고 종양 위험도 높아진다.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경로는 seminiferous tubule → </a:t>
            </a:r>
            <a:r>
              <a:rPr sz="1400" b="1" i="0">
                <a:solidFill>
                  <a:srgbClr val="11202B"/>
                </a:solidFill>
                <a:latin typeface="Malgun Gothic"/>
                <a:ea typeface="Malgun Gothic"/>
                <a:cs typeface="Malgun Gothic"/>
              </a:rPr>
              <a:t>epididymis</a:t>
            </a:r>
            <a:r>
              <a:rPr sz="1400" b="0" i="0">
                <a:solidFill>
                  <a:srgbClr val="11202B"/>
                </a:solidFill>
                <a:latin typeface="Malgun Gothic"/>
                <a:ea typeface="Malgun Gothic"/>
                <a:cs typeface="Malgun Gothic"/>
              </a:rPr>
              <a:t>(정자가 운동 능력과 수정 능력을 얻는 성숙 장소) → </a:t>
            </a:r>
            <a:r>
              <a:rPr sz="1400" b="1" i="0">
                <a:solidFill>
                  <a:srgbClr val="11202B"/>
                </a:solidFill>
                <a:latin typeface="Malgun Gothic"/>
                <a:ea typeface="Malgun Gothic"/>
                <a:cs typeface="Malgun Gothic"/>
              </a:rPr>
              <a:t>vas deferens</a:t>
            </a:r>
            <a:r>
              <a:rPr sz="1400" b="0" i="0">
                <a:solidFill>
                  <a:srgbClr val="11202B"/>
                </a:solidFill>
                <a:latin typeface="Malgun Gothic"/>
                <a:ea typeface="Malgun Gothic"/>
                <a:cs typeface="Malgun Gothic"/>
              </a:rPr>
              <a:t> → urethra다.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부속샘은 세 가지다. </a:t>
            </a:r>
            <a:r>
              <a:rPr sz="1400" b="1" i="0">
                <a:solidFill>
                  <a:srgbClr val="11202B"/>
                </a:solidFill>
                <a:latin typeface="Malgun Gothic"/>
                <a:ea typeface="Malgun Gothic"/>
                <a:cs typeface="Malgun Gothic"/>
              </a:rPr>
              <a:t>정낭(seminal vesicle)</a:t>
            </a:r>
            <a:r>
              <a:rPr sz="1400" b="0" i="0">
                <a:solidFill>
                  <a:srgbClr val="11202B"/>
                </a:solidFill>
                <a:latin typeface="Malgun Gothic"/>
                <a:ea typeface="Malgun Gothic"/>
                <a:cs typeface="Malgun Gothic"/>
              </a:rPr>
              <a:t> 이 정액의 약 60%를 만들고 fructose를 공급해 정자의 에너지원이 된다. </a:t>
            </a:r>
            <a:r>
              <a:rPr sz="1400" b="1" i="0">
                <a:solidFill>
                  <a:srgbClr val="11202B"/>
                </a:solidFill>
                <a:latin typeface="Malgun Gothic"/>
                <a:ea typeface="Malgun Gothic"/>
                <a:cs typeface="Malgun Gothic"/>
              </a:rPr>
              <a:t>전립샘(prostate)</a:t>
            </a:r>
            <a:r>
              <a:rPr sz="1400" b="0" i="0">
                <a:solidFill>
                  <a:srgbClr val="11202B"/>
                </a:solidFill>
                <a:latin typeface="Malgun Gothic"/>
                <a:ea typeface="Malgun Gothic"/>
                <a:cs typeface="Malgun Gothic"/>
              </a:rPr>
              <a:t> 이 약 30%를 만들고 알칼리성 액체로 질의 산성 환경을 중화한다. </a:t>
            </a:r>
            <a:r>
              <a:rPr sz="1400" b="1" i="0">
                <a:solidFill>
                  <a:srgbClr val="11202B"/>
                </a:solidFill>
                <a:latin typeface="Malgun Gothic"/>
                <a:ea typeface="Malgun Gothic"/>
                <a:cs typeface="Malgun Gothic"/>
              </a:rPr>
              <a:t>Bulbourethral gland</a:t>
            </a:r>
            <a:r>
              <a:rPr sz="1400" b="0" i="0">
                <a:solidFill>
                  <a:srgbClr val="11202B"/>
                </a:solidFill>
                <a:latin typeface="Malgun Gothic"/>
                <a:ea typeface="Malgun Gothic"/>
                <a:cs typeface="Malgun Gothic"/>
              </a:rPr>
              <a:t>가 윤활액을 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여성</a:t>
            </a:r>
            <a:r>
              <a:rPr sz="1400" b="0" i="0">
                <a:solidFill>
                  <a:srgbClr val="11202B"/>
                </a:solidFill>
                <a:latin typeface="Malgun Gothic"/>
                <a:ea typeface="Malgun Gothic"/>
                <a:cs typeface="Malgun Gothic"/>
              </a:rPr>
              <a:t>의 구조는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난소(ovary)</a:t>
            </a:r>
            <a:r>
              <a:rPr sz="1400" b="0" i="0">
                <a:solidFill>
                  <a:srgbClr val="11202B"/>
                </a:solidFill>
                <a:latin typeface="Malgun Gothic"/>
                <a:ea typeface="Malgun Gothic"/>
                <a:cs typeface="Malgun Gothic"/>
              </a:rPr>
              <a:t> 가 생식세포를 만든다. 난소 안에는 </a:t>
            </a:r>
            <a:r>
              <a:rPr sz="1400" b="1" i="0">
                <a:solidFill>
                  <a:srgbClr val="11202B"/>
                </a:solidFill>
                <a:latin typeface="Malgun Gothic"/>
                <a:ea typeface="Malgun Gothic"/>
                <a:cs typeface="Malgun Gothic"/>
              </a:rPr>
              <a:t>follicle</a:t>
            </a:r>
            <a:r>
              <a:rPr sz="1400" b="0" i="0">
                <a:solidFill>
                  <a:srgbClr val="11202B"/>
                </a:solidFill>
                <a:latin typeface="Malgun Gothic"/>
                <a:ea typeface="Malgun Gothic"/>
                <a:cs typeface="Malgun Gothic"/>
              </a:rPr>
              <a:t>이라는 단위가 있고, 각 follicle이 하나의 난자와 그것을 둘러싼 지지 세포들로 이루어진다. 지지 세포는 두 종류로, 안쪽의 </a:t>
            </a:r>
            <a:r>
              <a:rPr sz="1400" b="1" i="0">
                <a:solidFill>
                  <a:srgbClr val="11202B"/>
                </a:solidFill>
                <a:latin typeface="Malgun Gothic"/>
                <a:ea typeface="Malgun Gothic"/>
                <a:cs typeface="Malgun Gothic"/>
              </a:rPr>
              <a:t>granulosa cell</a:t>
            </a:r>
            <a:r>
              <a:rPr sz="1400" b="0" i="0">
                <a:solidFill>
                  <a:srgbClr val="11202B"/>
                </a:solidFill>
                <a:latin typeface="Malgun Gothic"/>
                <a:ea typeface="Malgun Gothic"/>
                <a:cs typeface="Malgun Gothic"/>
              </a:rPr>
              <a:t>과 바깥쪽의 </a:t>
            </a:r>
            <a:r>
              <a:rPr sz="1400" b="1" i="0">
                <a:solidFill>
                  <a:srgbClr val="11202B"/>
                </a:solidFill>
                <a:latin typeface="Malgun Gothic"/>
                <a:ea typeface="Malgun Gothic"/>
                <a:cs typeface="Malgun Gothic"/>
              </a:rPr>
              <a:t>theca cell</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경로는 난소 → </a:t>
            </a:r>
            <a:r>
              <a:rPr sz="1400" b="1" i="0">
                <a:solidFill>
                  <a:srgbClr val="11202B"/>
                </a:solidFill>
                <a:latin typeface="Malgun Gothic"/>
                <a:ea typeface="Malgun Gothic"/>
                <a:cs typeface="Malgun Gothic"/>
              </a:rPr>
              <a:t>난관(fallopian tube)</a:t>
            </a:r>
            <a:r>
              <a:rPr sz="1400" b="0" i="0">
                <a:solidFill>
                  <a:srgbClr val="11202B"/>
                </a:solidFill>
                <a:latin typeface="Malgun Gothic"/>
                <a:ea typeface="Malgun Gothic"/>
                <a:cs typeface="Malgun Gothic"/>
              </a:rPr>
              <a:t> → </a:t>
            </a:r>
            <a:r>
              <a:rPr sz="1400" b="1" i="0">
                <a:solidFill>
                  <a:srgbClr val="11202B"/>
                </a:solidFill>
                <a:latin typeface="Malgun Gothic"/>
                <a:ea typeface="Malgun Gothic"/>
                <a:cs typeface="Malgun Gothic"/>
              </a:rPr>
              <a:t>자궁(uterus)</a:t>
            </a:r>
            <a:r>
              <a:rPr sz="1400" b="0" i="0">
                <a:solidFill>
                  <a:srgbClr val="11202B"/>
                </a:solidFill>
                <a:latin typeface="Malgun Gothic"/>
                <a:ea typeface="Malgun Gothic"/>
                <a:cs typeface="Malgun Gothic"/>
              </a:rPr>
              <a:t> → 질이다. 여기서 남성과 결정적으로 다른 점이 있다. </a:t>
            </a:r>
            <a:r>
              <a:rPr sz="1400" b="1" i="0">
                <a:solidFill>
                  <a:srgbClr val="11202B"/>
                </a:solidFill>
                <a:latin typeface="Malgun Gothic"/>
                <a:ea typeface="Malgun Gothic"/>
                <a:cs typeface="Malgun Gothic"/>
              </a:rPr>
              <a:t>난소와 난관은 직접 연결되어 있지 않다.</a:t>
            </a:r>
            <a:r>
              <a:rPr sz="1400" b="0" i="0">
                <a:solidFill>
                  <a:srgbClr val="11202B"/>
                </a:solidFill>
                <a:latin typeface="Malgun Gothic"/>
                <a:ea typeface="Malgun Gothic"/>
                <a:cs typeface="Malgun Gothic"/>
              </a:rPr>
              <a:t> 난관 끝의 손가락 모양 구조(fimbriae)가 난소 표면을 덮고 있어 배란된 난자를 붙잡지만, 물리적으로 이어진 관이 아니다. 이 때문에 난자가 난관 밖으로 떨어질 수 있고, 또한 감염이 복강으로 퍼질 수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생식기관의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자궁 벽은 세 층이다. 안쪽의 </a:t>
            </a:r>
            <a:r>
              <a:rPr sz="2000" b="1" i="0">
                <a:solidFill>
                  <a:srgbClr val="11202B"/>
                </a:solidFill>
                <a:latin typeface="Malgun Gothic"/>
                <a:ea typeface="Malgun Gothic"/>
                <a:cs typeface="Malgun Gothic"/>
              </a:rPr>
              <a:t>endometrium</a:t>
            </a:r>
            <a:r>
              <a:rPr sz="2000" b="0" i="0">
                <a:solidFill>
                  <a:srgbClr val="11202B"/>
                </a:solidFill>
                <a:latin typeface="Malgun Gothic"/>
                <a:ea typeface="Malgun Gothic"/>
                <a:cs typeface="Malgun Gothic"/>
              </a:rPr>
              <a:t>(주기에 따라 두꺼워지고 떨어진다), 두꺼운 근육층 </a:t>
            </a:r>
            <a:r>
              <a:rPr sz="2000" b="1" i="0">
                <a:solidFill>
                  <a:srgbClr val="11202B"/>
                </a:solidFill>
                <a:latin typeface="Malgun Gothic"/>
                <a:ea typeface="Malgun Gothic"/>
                <a:cs typeface="Malgun Gothic"/>
              </a:rPr>
              <a:t>myometrium</a:t>
            </a:r>
            <a:r>
              <a:rPr sz="2000" b="0" i="0">
                <a:solidFill>
                  <a:srgbClr val="11202B"/>
                </a:solidFill>
                <a:latin typeface="Malgun Gothic"/>
                <a:ea typeface="Malgun Gothic"/>
                <a:cs typeface="Malgun Gothic"/>
              </a:rPr>
              <a:t>(분만 시 수축한다), 바깥의 perimetrium이다.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여성 생식계의 큰 차이는 </a:t>
            </a:r>
            <a:r>
              <a:rPr sz="2000" b="1" i="0">
                <a:solidFill>
                  <a:srgbClr val="11202B"/>
                </a:solidFill>
                <a:latin typeface="Malgun Gothic"/>
                <a:ea typeface="Malgun Gothic"/>
                <a:cs typeface="Malgun Gothic"/>
              </a:rPr>
              <a:t>임신과 출산이라는 추가 기능</a:t>
            </a:r>
            <a:r>
              <a:rPr sz="2000" b="0" i="0">
                <a:solidFill>
                  <a:srgbClr val="11202B"/>
                </a:solidFill>
                <a:latin typeface="Malgun Gothic"/>
                <a:ea typeface="Malgun Gothic"/>
                <a:cs typeface="Malgun Gothic"/>
              </a:rPr>
              <a:t>을 담당한다는 점이다. 자궁은 생식세포 수송로이면서 태아가 자라는 장소이고, 유선은 출산 후 영양 공급을 담당한다.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생식기관의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14</a:t>
            </a:r>
          </a:p>
        </p:txBody>
      </p:sp>
      <p:pic>
        <p:nvPicPr>
          <p:cNvPr id="7" name="Picture 6" descr="fig-reproductive-anatom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남성과 여성 생식기관의 구조를 생식세포 생산·수송·외분비 요소로 나누어 대응시킨 그림. 고환의 seminiferous tubule과 Leydig cell, 난소의 follicle과 granulosa·theca cell, 그리고 난소와 난관이 직접 연결되지 않은 구조를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Spermatogenesis는 seminiferous tubule의 벽에서 일어나며, 관의 바깥쪽에서 lumen 쪽으로 이동하면서 단계가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Spermatogonium</a:t>
            </a:r>
            <a:r>
              <a:rPr sz="1400" b="0" i="0">
                <a:solidFill>
                  <a:srgbClr val="11202B"/>
                </a:solidFill>
                <a:latin typeface="Malgun Gothic"/>
                <a:ea typeface="Malgun Gothic"/>
                <a:cs typeface="Malgun Gothic"/>
              </a:rPr>
              <a:t>(2n): 관의 바깥쪽 기저막에 붙어 있는 줄기세포다. Mitosis로 분열해 하나는 줄기세포로 남고 하나는 다음 단계로 간다. 이 때문에 줄기세포 풀이 소모되지 않는다. 2. </a:t>
            </a:r>
            <a:r>
              <a:rPr sz="1400" b="1" i="0">
                <a:solidFill>
                  <a:srgbClr val="11202B"/>
                </a:solidFill>
                <a:latin typeface="Malgun Gothic"/>
                <a:ea typeface="Malgun Gothic"/>
                <a:cs typeface="Malgun Gothic"/>
              </a:rPr>
              <a:t>Primary spermatocyte</a:t>
            </a:r>
            <a:r>
              <a:rPr sz="1400" b="0" i="0">
                <a:solidFill>
                  <a:srgbClr val="11202B"/>
                </a:solidFill>
                <a:latin typeface="Malgun Gothic"/>
                <a:ea typeface="Malgun Gothic"/>
                <a:cs typeface="Malgun Gothic"/>
              </a:rPr>
              <a:t>(2n, DNA는 4n): Meiosis I에 들어간다. 3. </a:t>
            </a:r>
            <a:r>
              <a:rPr sz="1400" b="1" i="0">
                <a:solidFill>
                  <a:srgbClr val="11202B"/>
                </a:solidFill>
                <a:latin typeface="Malgun Gothic"/>
                <a:ea typeface="Malgun Gothic"/>
                <a:cs typeface="Malgun Gothic"/>
              </a:rPr>
              <a:t>Secondary spermatocyte</a:t>
            </a:r>
            <a:r>
              <a:rPr sz="1400" b="0" i="0">
                <a:solidFill>
                  <a:srgbClr val="11202B"/>
                </a:solidFill>
                <a:latin typeface="Malgun Gothic"/>
                <a:ea typeface="Malgun Gothic"/>
                <a:cs typeface="Malgun Gothic"/>
              </a:rPr>
              <a:t>(n, DNA는 2n): Meiosis I의 결과로 두 개가 생긴다. 바로 Meiosis II에 들어간다. 4. </a:t>
            </a:r>
            <a:r>
              <a:rPr sz="1400" b="1" i="0">
                <a:solidFill>
                  <a:srgbClr val="11202B"/>
                </a:solidFill>
                <a:latin typeface="Malgun Gothic"/>
                <a:ea typeface="Malgun Gothic"/>
                <a:cs typeface="Malgun Gothic"/>
              </a:rPr>
              <a:t>Spermatid</a:t>
            </a:r>
            <a:r>
              <a:rPr sz="1400" b="0" i="0">
                <a:solidFill>
                  <a:srgbClr val="11202B"/>
                </a:solidFill>
                <a:latin typeface="Malgun Gothic"/>
                <a:ea typeface="Malgun Gothic"/>
                <a:cs typeface="Malgun Gothic"/>
              </a:rPr>
              <a:t>(n): Meiosis II의 결과로 네 개가 생긴다. 아직 정자의 모양이 아니다. 5. </a:t>
            </a:r>
            <a:r>
              <a:rPr sz="1400" b="1" i="0">
                <a:solidFill>
                  <a:srgbClr val="11202B"/>
                </a:solidFill>
                <a:latin typeface="Malgun Gothic"/>
                <a:ea typeface="Malgun Gothic"/>
                <a:cs typeface="Malgun Gothic"/>
              </a:rPr>
              <a:t>Spermatozoon</a:t>
            </a:r>
            <a:r>
              <a:rPr sz="1400" b="0" i="0">
                <a:solidFill>
                  <a:srgbClr val="11202B"/>
                </a:solidFill>
                <a:latin typeface="Malgun Gothic"/>
                <a:ea typeface="Malgun Gothic"/>
                <a:cs typeface="Malgun Gothic"/>
              </a:rPr>
              <a:t>(정자): Spermatid가 형태를 바꾸는 과정(spermiogenesis)을 거친다. 세포질 대부분을 버리고, 핵이 응축되고, 꼬리(flagellum)가 생기고, 머리 앞쪽에 </a:t>
            </a:r>
            <a:r>
              <a:rPr sz="1400" b="1" i="0">
                <a:solidFill>
                  <a:srgbClr val="11202B"/>
                </a:solidFill>
                <a:latin typeface="Malgun Gothic"/>
                <a:ea typeface="Malgun Gothic"/>
                <a:cs typeface="Malgun Gothic"/>
              </a:rPr>
              <a:t>acrosome</a:t>
            </a:r>
            <a:r>
              <a:rPr sz="1400" b="0" i="0">
                <a:solidFill>
                  <a:srgbClr val="11202B"/>
                </a:solidFill>
                <a:latin typeface="Malgun Gothic"/>
                <a:ea typeface="Malgun Gothic"/>
                <a:cs typeface="Malgun Gothic"/>
              </a:rPr>
              <a:t>(수정 시 쓸 효소를 담은 소포)이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전체 과정에 약 64~72일이 걸리고, 하루에 약 1억 개의 정자가 만들어진다. 사춘기부터 평생 계속된다.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종류의 체세포가 이 과정을 지원하며, 역할이 분명히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Sertoli cell</a:t>
            </a:r>
            <a:r>
              <a:rPr sz="1400" b="0" i="0">
                <a:solidFill>
                  <a:srgbClr val="11202B"/>
                </a:solidFill>
                <a:latin typeface="Malgun Gothic"/>
                <a:ea typeface="Malgun Gothic"/>
                <a:cs typeface="Malgun Gothic"/>
              </a:rPr>
              <a:t>은 seminiferous tubule의 벽에 있으며 발달 중인 생식세포를 감싸고 있다. 하는 일은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혈액–고환 장벽(blood–testis barrier)</a:t>
            </a:r>
            <a:r>
              <a:rPr sz="1400" b="0" i="0">
                <a:solidFill>
                  <a:srgbClr val="11202B"/>
                </a:solidFill>
                <a:latin typeface="Malgun Gothic"/>
                <a:ea typeface="Malgun Gothic"/>
                <a:cs typeface="Malgun Gothic"/>
              </a:rPr>
              <a:t> 을 만든다. Sertoli cell 사이의 tight junction이 혈액의 성분과 면역 세포가 생식세포에 닿지 못하게 한다. 생식세포는 체세포와 유전적으로 다르므로(반수체이고 재조합되어 있다) 면역계가 이물질로 인식할 수 있는데, 이 장벽이 그것을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생식세포에 영양과 신호를 공급한다.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FSH의 표적</a:t>
            </a:r>
            <a:r>
              <a:rPr sz="1400" b="0" i="0">
                <a:solidFill>
                  <a:srgbClr val="11202B"/>
                </a:solidFill>
                <a:latin typeface="Malgun Gothic"/>
                <a:ea typeface="Malgun Gothic"/>
                <a:cs typeface="Malgun Gothic"/>
              </a:rPr>
              <a:t>이다. FSH가 Sertoli cell에 작용해 spermatogenesis를 지원하게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Inhibin</a:t>
            </a:r>
            <a:r>
              <a:rPr sz="1400" b="0" i="0">
                <a:solidFill>
                  <a:srgbClr val="11202B"/>
                </a:solidFill>
                <a:latin typeface="Malgun Gothic"/>
                <a:ea typeface="Malgun Gothic"/>
                <a:cs typeface="Malgun Gothic"/>
              </a:rPr>
              <a:t>을 분비해 FSH 분비를 음성 되먹임으로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발생기에 </a:t>
            </a:r>
            <a:r>
              <a:rPr sz="1400" b="1" i="0">
                <a:solidFill>
                  <a:srgbClr val="11202B"/>
                </a:solidFill>
                <a:latin typeface="Malgun Gothic"/>
                <a:ea typeface="Malgun Gothic"/>
                <a:cs typeface="Malgun Gothic"/>
              </a:rPr>
              <a:t>AMH</a:t>
            </a:r>
            <a:r>
              <a:rPr sz="1400" b="0" i="0">
                <a:solidFill>
                  <a:srgbClr val="11202B"/>
                </a:solidFill>
                <a:latin typeface="Malgun Gothic"/>
                <a:ea typeface="Malgun Gothic"/>
                <a:cs typeface="Malgun Gothic"/>
              </a:rPr>
              <a:t>를 분비한다(앞 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Leydig cell</a:t>
            </a:r>
            <a:r>
              <a:rPr sz="1800" b="0" i="0">
                <a:solidFill>
                  <a:srgbClr val="11202B"/>
                </a:solidFill>
                <a:latin typeface="Malgun Gothic"/>
                <a:ea typeface="Malgun Gothic"/>
                <a:cs typeface="Malgun Gothic"/>
              </a:rPr>
              <a:t>은 관 사이의 공간에 있으며, </a:t>
            </a:r>
            <a:r>
              <a:rPr sz="1800" b="1" i="0">
                <a:solidFill>
                  <a:srgbClr val="11202B"/>
                </a:solidFill>
                <a:latin typeface="Malgun Gothic"/>
                <a:ea typeface="Malgun Gothic"/>
                <a:cs typeface="Malgun Gothic"/>
              </a:rPr>
              <a:t>LH의 표적</a:t>
            </a:r>
            <a:r>
              <a:rPr sz="1800" b="0" i="0">
                <a:solidFill>
                  <a:srgbClr val="11202B"/>
                </a:solidFill>
                <a:latin typeface="Malgun Gothic"/>
                <a:ea typeface="Malgun Gothic"/>
                <a:cs typeface="Malgun Gothic"/>
              </a:rPr>
              <a:t>이다. LH 자극을 받아 cholesterol로부터 </a:t>
            </a:r>
            <a:r>
              <a:rPr sz="1800" b="1" i="0">
                <a:solidFill>
                  <a:srgbClr val="11202B"/>
                </a:solidFill>
                <a:latin typeface="Malgun Gothic"/>
                <a:ea typeface="Malgun Gothic"/>
                <a:cs typeface="Malgun Gothic"/>
              </a:rPr>
              <a:t>testosterone</a:t>
            </a:r>
            <a:r>
              <a:rPr sz="1800" b="0" i="0">
                <a:solidFill>
                  <a:srgbClr val="11202B"/>
                </a:solidFill>
                <a:latin typeface="Malgun Gothic"/>
                <a:ea typeface="Malgun Gothic"/>
                <a:cs typeface="Malgun Gothic"/>
              </a:rPr>
              <a:t>을 만든다. 만들어진 testosterone의 일부는 혈액으로 나가 전신에 작용하고, 일부는 바로 옆의 seminiferous tubule로 들어가 spermatogenesis에 필요한 높은 국소 농도를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표적의 분담을 기억하는 방식이 있다. </a:t>
            </a:r>
            <a:r>
              <a:rPr sz="1800" b="1" i="0">
                <a:solidFill>
                  <a:srgbClr val="11202B"/>
                </a:solidFill>
                <a:latin typeface="Malgun Gothic"/>
                <a:ea typeface="Malgun Gothic"/>
                <a:cs typeface="Malgun Gothic"/>
              </a:rPr>
              <a:t>FSH는 Sertoli(생식세포 지원), LH는 Leydig(호르몬 생산)</a:t>
            </a:r>
            <a:r>
              <a:rPr sz="1800" b="0" i="0">
                <a:solidFill>
                  <a:srgbClr val="11202B"/>
                </a:solidFill>
                <a:latin typeface="Malgun Gothic"/>
                <a:ea typeface="Malgun Gothic"/>
                <a:cs typeface="Malgun Gothic"/>
              </a:rPr>
              <a:t> 다. 머리글자가 각각 S와 L로 대응한다.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Testosterone의 작용은 생식 기능에 그치지 않는다. 사춘기에 이차 성징(근육량 증가, 체모, 목소리 변화, 뼈 성장)을 일으키고, 성인에서 근육과 뼈의 질량을 유지하며, 성욕과 적혈구 생성에도 관여한다.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운동 능력 향상을 위해 외부에서 androgen을 투여하면 음성 되먹임으로 GnRH와 LH 분비가 억제된다. LH가 없으면 Leydig cell이 testosterone을 만들지 않고, seminiferous tubule 내의 국소 농도가 떨어져 spermatogenesis가 멈춘다. 즉 androgen을 많이 투여하면 혈중 androgen은 높은데 정자 생산은 중단되고 고환이 작아진다. 같은 원리가 남성 호르몬 피임법 연구의 근거이기도 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18</a:t>
            </a:r>
          </a:p>
        </p:txBody>
      </p:sp>
      <p:pic>
        <p:nvPicPr>
          <p:cNvPr id="7" name="Picture 6" descr="fig-spermatogenesi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Spermatogenesis의 단계와 seminiferous tubule 안에서의 위치 변화. Sertoli cell의 혈액–고환 장벽과 FSH 표적 역할, Leydig cell의 LH 표적과 testosterone 생산, 그리고 inhibin에 의한 되먹임을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Oogenesis는 spermatogenesis와 같은 meiosis를 쓰지만, 시기·수·분열 양상이 모두 다르다. 세 가지 차이를 축으로 정리하면 전체가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1: 시기 — 태아기에 시작하고 수십 년간 멈춰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Oogonium의 mitosis는 </a:t>
            </a:r>
            <a:r>
              <a:rPr sz="1400" b="1" i="0">
                <a:solidFill>
                  <a:srgbClr val="11202B"/>
                </a:solidFill>
                <a:latin typeface="Malgun Gothic"/>
                <a:ea typeface="Malgun Gothic"/>
                <a:cs typeface="Malgun Gothic"/>
              </a:rPr>
              <a:t>태아기에 모두 끝난다.</a:t>
            </a:r>
            <a:r>
              <a:rPr sz="1400" b="0" i="0">
                <a:solidFill>
                  <a:srgbClr val="11202B"/>
                </a:solidFill>
                <a:latin typeface="Malgun Gothic"/>
                <a:ea typeface="Malgun Gothic"/>
                <a:cs typeface="Malgun Gothic"/>
              </a:rPr>
              <a:t> 태아 5개월경에 약 700만 개로 최대가 되고, 이들이 meiosis I에 들어간 뒤 </a:t>
            </a:r>
            <a:r>
              <a:rPr sz="1400" b="1" i="0">
                <a:solidFill>
                  <a:srgbClr val="11202B"/>
                </a:solidFill>
                <a:latin typeface="Malgun Gothic"/>
                <a:ea typeface="Malgun Gothic"/>
                <a:cs typeface="Malgun Gothic"/>
              </a:rPr>
              <a:t>전기(prophase I)에서 멈춘다.</a:t>
            </a:r>
            <a:r>
              <a:rPr sz="1400" b="0" i="0">
                <a:solidFill>
                  <a:srgbClr val="11202B"/>
                </a:solidFill>
                <a:latin typeface="Malgun Gothic"/>
                <a:ea typeface="Malgun Gothic"/>
                <a:cs typeface="Malgun Gothic"/>
              </a:rPr>
              <a:t> 이 상태를 primary oocyte라 하며, 출생 시 약 100만 개, 사춘기에 약 30~40만 개가 남는다. 나머지는 자연적으로 소멸한다(atresia).</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매 주기에 몇 개의 follicle이 발달을 시작하고, 그중 하나가 배란 직전에 </a:t>
            </a:r>
            <a:r>
              <a:rPr sz="1400" b="1" i="0">
                <a:solidFill>
                  <a:srgbClr val="11202B"/>
                </a:solidFill>
                <a:latin typeface="Malgun Gothic"/>
                <a:ea typeface="Malgun Gothic"/>
                <a:cs typeface="Malgun Gothic"/>
              </a:rPr>
              <a:t>meiosis I을 완료한다.</a:t>
            </a:r>
            <a:r>
              <a:rPr sz="1400" b="0" i="0">
                <a:solidFill>
                  <a:srgbClr val="11202B"/>
                </a:solidFill>
                <a:latin typeface="Malgun Gothic"/>
                <a:ea typeface="Malgun Gothic"/>
                <a:cs typeface="Malgun Gothic"/>
              </a:rPr>
              <a:t> 즉 태아기에 멈춘 분열이 10~50년 뒤에 재개되는 것이다. 그리고 다시 </a:t>
            </a:r>
            <a:r>
              <a:rPr sz="1400" b="1" i="0">
                <a:solidFill>
                  <a:srgbClr val="11202B"/>
                </a:solidFill>
                <a:latin typeface="Malgun Gothic"/>
                <a:ea typeface="Malgun Gothic"/>
                <a:cs typeface="Malgun Gothic"/>
              </a:rPr>
              <a:t>meiosis II의 중기에서 멈추며</a:t>
            </a:r>
            <a:r>
              <a:rPr sz="1400" b="0" i="0">
                <a:solidFill>
                  <a:srgbClr val="11202B"/>
                </a:solidFill>
                <a:latin typeface="Malgun Gothic"/>
                <a:ea typeface="Malgun Gothic"/>
                <a:cs typeface="Malgun Gothic"/>
              </a:rPr>
              <a:t>, 정자가 침투한 뒤에야 meiosis II를 완료한다.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2: 수 — 하나의 전구세포에서 하나의 난자만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Meiosis는 네 개의 반수체 세포를 만들지만, oogenesis에서는 분열이 </a:t>
            </a:r>
            <a:r>
              <a:rPr sz="1400" b="1" i="0">
                <a:solidFill>
                  <a:srgbClr val="11202B"/>
                </a:solidFill>
                <a:latin typeface="Malgun Gothic"/>
                <a:ea typeface="Malgun Gothic"/>
                <a:cs typeface="Malgun Gothic"/>
              </a:rPr>
              <a:t>불균등하게</a:t>
            </a:r>
            <a:r>
              <a:rPr sz="1400" b="0" i="0">
                <a:solidFill>
                  <a:srgbClr val="11202B"/>
                </a:solidFill>
                <a:latin typeface="Malgun Gothic"/>
                <a:ea typeface="Malgun Gothic"/>
                <a:cs typeface="Malgun Gothic"/>
              </a:rPr>
              <a:t> 일어난다. 세포질이 거의 전부 한쪽으로 가고, 나머지 쪽은 핵만 가진 작은 세포가 되어 버려진다. 이 작은 세포를 </a:t>
            </a:r>
            <a:r>
              <a:rPr sz="1400" b="1" i="0">
                <a:solidFill>
                  <a:srgbClr val="11202B"/>
                </a:solidFill>
                <a:latin typeface="Malgun Gothic"/>
                <a:ea typeface="Malgun Gothic"/>
                <a:cs typeface="Malgun Gothic"/>
              </a:rPr>
              <a:t>극체(polar body)</a:t>
            </a:r>
            <a:r>
              <a:rPr sz="1400" b="0" i="0">
                <a:solidFill>
                  <a:srgbClr val="11202B"/>
                </a:solidFill>
                <a:latin typeface="Malgun Gothic"/>
                <a:ea typeface="Malgun Gothic"/>
                <a:cs typeface="Malgun Gothic"/>
              </a:rPr>
              <a:t> 라 한다. Meiosis I에서 하나, meiosis II에서 하나가 생기므로, 결과는 </a:t>
            </a:r>
            <a:r>
              <a:rPr sz="1400" b="1" i="0">
                <a:solidFill>
                  <a:srgbClr val="11202B"/>
                </a:solidFill>
                <a:latin typeface="Malgun Gothic"/>
                <a:ea typeface="Malgun Gothic"/>
                <a:cs typeface="Malgun Gothic"/>
              </a:rPr>
              <a:t>난자 하나 + 극체 둘(또는 셋)</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왜 이런 방식인가. 수정 후 초기 배아는 외부에서 영양을 받지 못하고 난자가 가진 저장분으로 분열해야 한다. 따라서 </a:t>
            </a:r>
            <a:r>
              <a:rPr sz="1400" b="1" i="0">
                <a:solidFill>
                  <a:srgbClr val="11202B"/>
                </a:solidFill>
                <a:latin typeface="Malgun Gothic"/>
                <a:ea typeface="Malgun Gothic"/>
                <a:cs typeface="Malgun Gothic"/>
              </a:rPr>
              <a:t>하나의 세포에 가능한 많은 세포질과 저장 물질을 모으는 것</a:t>
            </a:r>
            <a:r>
              <a:rPr sz="1400" b="0" i="0">
                <a:solidFill>
                  <a:srgbClr val="11202B"/>
                </a:solidFill>
                <a:latin typeface="Malgun Gothic"/>
                <a:ea typeface="Malgun Gothic"/>
                <a:cs typeface="Malgun Gothic"/>
              </a:rPr>
              <a:t>이 유리하다. 염색체 수를 줄이는 목적은 달성하면서 세포질은 나누지 않는 것이 극체 방식이다. 정자는 운반만 하면 되므로 반대로 세포질을 모두 버린다.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3: 끝 — 생식 가능 기간이 유한하다.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남성은 줄기세포(spermatogonium)가 평생 유지되므로 정자 생산이 계속된다. 여성은 태아기 이후 oogonium의 mitosis가 없으므로 primary oocyte 풀이 </a:t>
            </a:r>
            <a:r>
              <a:rPr sz="1400" b="1" i="0">
                <a:solidFill>
                  <a:srgbClr val="11202B"/>
                </a:solidFill>
                <a:latin typeface="Malgun Gothic"/>
                <a:ea typeface="Malgun Gothic"/>
                <a:cs typeface="Malgun Gothic"/>
              </a:rPr>
              <a:t>소모되기만 한다.</a:t>
            </a:r>
            <a:r>
              <a:rPr sz="1400" b="0" i="0">
                <a:solidFill>
                  <a:srgbClr val="11202B"/>
                </a:solidFill>
                <a:latin typeface="Malgun Gothic"/>
                <a:ea typeface="Malgun Gothic"/>
                <a:cs typeface="Malgun Gothic"/>
              </a:rPr>
              <a:t> 이 풀이 거의 바닥나는 시점이 폐경이다.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Spermatogenesis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Oogenesis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시작 시기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사춘기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태아기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Mitosis 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평생 지속</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태아기에 종료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멈추는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 (연속 진행)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Prophase I, 그리고 Metaphase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전구세포의 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정자 4개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난자 1개 + 극체 2~3개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세포질 분배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균등, 대부분 버림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불균등, 한쪽에 집중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생산 기간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사춘기 이후 평생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사춘기부터 폐경까지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1회 산물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하루 약 1억 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주기당 보통 1개</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산모 나이와 Down 증후군의 관계가 oogenesis의 특징에서 설명된다. Primary oocyte는 태아기부터 prophase I에서 멈춰 있으며, 상동염색체를 붙잡고 있는 단백질과 방추사 부착 장치가 수십 년간 유지되어야 한다. 시간이 길어지면 이 장치가 약해져 meiosis I 재개 시 상동염색체가 제대로 갈라지지 않을 확률이 높아진다. 35세 이후 trisomy 빈도가 급격히 올라가는 이유다.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22</a:t>
            </a:r>
          </a:p>
        </p:txBody>
      </p:sp>
      <p:pic>
        <p:nvPicPr>
          <p:cNvPr id="7" name="Picture 6" descr="fig-oogenesi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Oogenesis의 시기별 진행과 두 번의 정지 지점. 태아기 mitosis 종료와 oocyte 수의 감소 곡선, prophase I과 metaphase II에서의 정지, 불균등 분열에 의한 극체 형성, 그리고 spermatogenesis와의 비교를 함께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 호르몬 조절도 앞 수업에서 본 시상하부–뇌하수체–표적기관 축의 형태를 따른다.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가 </a:t>
            </a:r>
            <a:r>
              <a:rPr sz="1400" b="1" i="0">
                <a:solidFill>
                  <a:srgbClr val="11202B"/>
                </a:solidFill>
                <a:latin typeface="Malgun Gothic"/>
                <a:ea typeface="Malgun Gothic"/>
                <a:cs typeface="Malgun Gothic"/>
              </a:rPr>
              <a:t>GnRH</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 전엽</a:t>
            </a:r>
            <a:r>
              <a:rPr sz="1400" b="0" i="0">
                <a:solidFill>
                  <a:srgbClr val="11202B"/>
                </a:solidFill>
                <a:latin typeface="Malgun Gothic"/>
                <a:ea typeface="Malgun Gothic"/>
                <a:cs typeface="Malgun Gothic"/>
              </a:rPr>
              <a:t>이 </a:t>
            </a:r>
            <a:r>
              <a:rPr sz="1400" b="1" i="0">
                <a:solidFill>
                  <a:srgbClr val="11202B"/>
                </a:solidFill>
                <a:latin typeface="Malgun Gothic"/>
                <a:ea typeface="Malgun Gothic"/>
                <a:cs typeface="Malgun Gothic"/>
              </a:rPr>
              <a:t>LH와 FSH</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생식샘</a:t>
            </a:r>
            <a:r>
              <a:rPr sz="1400" b="0" i="0">
                <a:solidFill>
                  <a:srgbClr val="11202B"/>
                </a:solidFill>
                <a:latin typeface="Malgun Gothic"/>
                <a:ea typeface="Malgun Gothic"/>
                <a:cs typeface="Malgun Gothic"/>
              </a:rPr>
              <a:t>이 성 steroid와 inhibin을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그런데 이 축에는 다른 축에 없는 결정적인 성질이 있다. </a:t>
            </a:r>
            <a:r>
              <a:rPr sz="1400" b="1" i="0">
                <a:solidFill>
                  <a:srgbClr val="11202B"/>
                </a:solidFill>
                <a:latin typeface="Malgun Gothic"/>
                <a:ea typeface="Malgun Gothic"/>
                <a:cs typeface="Malgun Gothic"/>
              </a:rPr>
              <a:t>GnRH는 연속적으로 분비되지 않고 1~3시간 간격으로 박동성(pulsatile)으로 분비된다.</a:t>
            </a:r>
            <a:r>
              <a:rPr sz="1400" b="0" i="0">
                <a:solidFill>
                  <a:srgbClr val="11202B"/>
                </a:solidFill>
                <a:latin typeface="Malgun Gothic"/>
                <a:ea typeface="Malgun Gothic"/>
                <a:cs typeface="Malgun Gothic"/>
              </a:rPr>
              <a:t> 그리고 이 박동성이 필수적이다.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GnRH를 </a:t>
            </a:r>
            <a:r>
              <a:rPr sz="1400" b="1" i="0">
                <a:solidFill>
                  <a:srgbClr val="11202B"/>
                </a:solidFill>
                <a:latin typeface="Malgun Gothic"/>
                <a:ea typeface="Malgun Gothic"/>
                <a:cs typeface="Malgun Gothic"/>
              </a:rPr>
              <a:t>연속적으로</a:t>
            </a:r>
            <a:r>
              <a:rPr sz="1400" b="0" i="0">
                <a:solidFill>
                  <a:srgbClr val="11202B"/>
                </a:solidFill>
                <a:latin typeface="Malgun Gothic"/>
                <a:ea typeface="Malgun Gothic"/>
                <a:cs typeface="Malgun Gothic"/>
              </a:rPr>
              <a:t> 투여하면 어떻게 되는가. 처음에는 LH와 FSH가 올라가지만, 수 일 안에 뇌하수체의 GnRH 수용체가 down-regulation되어 반응이 사라지고, LH와 FSH 분비가 </a:t>
            </a:r>
            <a:r>
              <a:rPr sz="1400" b="1" i="0">
                <a:solidFill>
                  <a:srgbClr val="11202B"/>
                </a:solidFill>
                <a:latin typeface="Malgun Gothic"/>
                <a:ea typeface="Malgun Gothic"/>
                <a:cs typeface="Malgun Gothic"/>
              </a:rPr>
              <a:t>거의 0으로 떨어진다.</a:t>
            </a:r>
            <a:r>
              <a:rPr sz="1400" b="0" i="0">
                <a:solidFill>
                  <a:srgbClr val="11202B"/>
                </a:solidFill>
                <a:latin typeface="Malgun Gothic"/>
                <a:ea typeface="Malgun Gothic"/>
                <a:cs typeface="Malgun Gothic"/>
              </a:rPr>
              <a:t> 즉 자극 호르몬을 계속 주면 자극이 아니라 억제가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성질은 앞 수업에서 본 수용체 down-regulation의 가장 극적인 예다. 박동성 분비는 수용체가 회복할 시간을 주어 민감도를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원리가 임상에서 두 방향으로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GnRH 박동성 투여</a:t>
            </a:r>
            <a:r>
              <a:rPr sz="1400" b="0" i="0">
                <a:solidFill>
                  <a:srgbClr val="11202B"/>
                </a:solidFill>
                <a:latin typeface="Malgun Gothic"/>
                <a:ea typeface="Malgun Gothic"/>
                <a:cs typeface="Malgun Gothic"/>
              </a:rPr>
              <a:t>: 시상하부의 문제로 GnRH가 나오지 않는 환자에게 박동 방식으로 투여하면 축이 정상적으로 작동해 배란이나 정자 생산이 회복된다.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GnRH 작용제 연속 투여</a:t>
            </a:r>
            <a:r>
              <a:rPr sz="1400" b="0" i="0">
                <a:solidFill>
                  <a:srgbClr val="11202B"/>
                </a:solidFill>
                <a:latin typeface="Malgun Gothic"/>
                <a:ea typeface="Malgun Gothic"/>
                <a:cs typeface="Malgun Gothic"/>
              </a:rPr>
              <a:t>: 성 steroid 생산을 억제하고자 할 때 쓴다. 전립샘암(testosterone 의존성), 자궁내막증, 조기 사춘기, 그리고 보조 생식술에서 자연적인 LH 급증을 막기 위해 쓴다. 역설적으로 '작용제'를 주어 기능을 끄는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LH와 FSH의 표적은 남녀에서 대응 관계를 이룬다.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남성의 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여성의 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LH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Leydig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 생산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theca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androgen 생산 (estrogen의 원료)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FSH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Sertoli cell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spermatogenesis 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granulosa cell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androgen을 estrogen으로 전환, follicle 성장</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여성의 estrogen 생산이 </a:t>
            </a:r>
            <a:r>
              <a:rPr sz="1800" b="1" i="0">
                <a:solidFill>
                  <a:srgbClr val="11202B"/>
                </a:solidFill>
                <a:latin typeface="Malgun Gothic"/>
                <a:ea typeface="Malgun Gothic"/>
                <a:cs typeface="Malgun Gothic"/>
              </a:rPr>
              <a:t>두 세포의 협동</a:t>
            </a:r>
            <a:r>
              <a:rPr sz="1800" b="0" i="0">
                <a:solidFill>
                  <a:srgbClr val="11202B"/>
                </a:solidFill>
                <a:latin typeface="Malgun Gothic"/>
                <a:ea typeface="Malgun Gothic"/>
                <a:cs typeface="Malgun Gothic"/>
              </a:rPr>
              <a:t>으로 이루어진다는 점이 중요하다. Theca cell이 LH 자극으로 androgen을 만들고, 그것이 옆의 granulosa cell로 넘어가 FSH가 유도한 </a:t>
            </a:r>
            <a:r>
              <a:rPr sz="1800" b="1" i="0">
                <a:solidFill>
                  <a:srgbClr val="11202B"/>
                </a:solidFill>
                <a:latin typeface="Malgun Gothic"/>
                <a:ea typeface="Malgun Gothic"/>
                <a:cs typeface="Malgun Gothic"/>
              </a:rPr>
              <a:t>aromatase</a:t>
            </a:r>
            <a:r>
              <a:rPr sz="1800" b="0" i="0">
                <a:solidFill>
                  <a:srgbClr val="11202B"/>
                </a:solidFill>
                <a:latin typeface="Malgun Gothic"/>
                <a:ea typeface="Malgun Gothic"/>
                <a:cs typeface="Malgun Gothic"/>
              </a:rPr>
              <a:t>에 의해 estrogen으로 바뀐다. 두 세포 가운데 어느 하나만으로는 estrogen을 만들 수 없다.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되먹임도 남녀에서 대응한다. 성 steroid가 GnRH와 LH 분비를 억제하고, </a:t>
            </a:r>
            <a:r>
              <a:rPr sz="1800" b="1" i="0">
                <a:solidFill>
                  <a:srgbClr val="11202B"/>
                </a:solidFill>
                <a:latin typeface="Malgun Gothic"/>
                <a:ea typeface="Malgun Gothic"/>
                <a:cs typeface="Malgun Gothic"/>
              </a:rPr>
              <a:t>inhibin</a:t>
            </a:r>
            <a:r>
              <a:rPr sz="1800" b="0" i="0">
                <a:solidFill>
                  <a:srgbClr val="11202B"/>
                </a:solidFill>
                <a:latin typeface="Malgun Gothic"/>
                <a:ea typeface="Malgun Gothic"/>
                <a:cs typeface="Malgun Gothic"/>
              </a:rPr>
              <a:t>이 FSH 분비를 선택적으로 억제한다. Inhibin은 남성에서 Sertoli cell, 여성에서 granulosa cell이 분비한다. 즉 생식세포를 지원하는 세포가 자신을 지원하는 호르몬을 제어한다.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생식 축을 공부할 때 LH와 FSH가 각각 어느 세포를 표적으로 하고 무엇을 만들게 하는지를 축으로 삼는다. 남녀의 차이는 그 세포의 이름과 생산물일 뿐 구조는 같다.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27</a:t>
            </a:r>
          </a:p>
        </p:txBody>
      </p:sp>
      <p:pic>
        <p:nvPicPr>
          <p:cNvPr id="7" name="Picture 6" descr="fig-reproductive-axi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생식 축의 구조와 GnRH 박동성 분비의 필수성. 박동성과 연속 투여에 따른 LH·FSH 반응의 차이, LH와 FSH의 남녀 표적 세포 대응, theca–granulosa 두 세포 협동에 의한 estrogen 생산, 그리고 inhibin의 선택적 되먹임을 함께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월경 주기는 약 28일이며, 두 개의 주기가 동시에 진행된다. </a:t>
            </a:r>
            <a:r>
              <a:rPr sz="1400" b="1" i="0">
                <a:solidFill>
                  <a:srgbClr val="11202B"/>
                </a:solidFill>
                <a:latin typeface="Malgun Gothic"/>
                <a:ea typeface="Malgun Gothic"/>
                <a:cs typeface="Malgun Gothic"/>
              </a:rPr>
              <a:t>난소 주기</a:t>
            </a:r>
            <a:r>
              <a:rPr sz="1400" b="0" i="0">
                <a:solidFill>
                  <a:srgbClr val="11202B"/>
                </a:solidFill>
                <a:latin typeface="Malgun Gothic"/>
                <a:ea typeface="Malgun Gothic"/>
                <a:cs typeface="Malgun Gothic"/>
              </a:rPr>
              <a:t>(난소에서 일어나는 일)와 </a:t>
            </a:r>
            <a:r>
              <a:rPr sz="1400" b="1" i="0">
                <a:solidFill>
                  <a:srgbClr val="11202B"/>
                </a:solidFill>
                <a:latin typeface="Malgun Gothic"/>
                <a:ea typeface="Malgun Gothic"/>
                <a:cs typeface="Malgun Gothic"/>
              </a:rPr>
              <a:t>자궁 주기</a:t>
            </a:r>
            <a:r>
              <a:rPr sz="1400" b="0" i="0">
                <a:solidFill>
                  <a:srgbClr val="11202B"/>
                </a:solidFill>
                <a:latin typeface="Malgun Gothic"/>
                <a:ea typeface="Malgun Gothic"/>
                <a:cs typeface="Malgun Gothic"/>
              </a:rPr>
              <a:t>(자궁내막에서 일어나는 일)이고, 자궁 주기는 난소 주기가 만든 호르몬에 따라 움직인다. 두 주기를 나란히 놓고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 주기</a:t>
            </a:r>
            <a:r>
              <a:rPr sz="1400" b="0" i="0">
                <a:solidFill>
                  <a:srgbClr val="11202B"/>
                </a:solidFill>
                <a:latin typeface="Malgun Gothic"/>
                <a:ea typeface="Malgun Gothic"/>
                <a:cs typeface="Malgun Gothic"/>
              </a:rPr>
              <a:t>는 세 시기로 나뉜다.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Follicular phase (1~13일)</a:t>
            </a:r>
            <a:r>
              <a:rPr sz="1400" b="0" i="0">
                <a:solidFill>
                  <a:srgbClr val="11202B"/>
                </a:solidFill>
                <a:latin typeface="Malgun Gothic"/>
                <a:ea typeface="Malgun Gothic"/>
                <a:cs typeface="Malgun Gothic"/>
              </a:rPr>
              <a:t>: 여러 follicle이 발달을 시작하고, 그중 하나가 선택되어(dominant follicle) 성숙한다. FSH가 이 성장을 이끌고, 자라는 follicle이 estrogen을 점점 많이 분비한다. 선택되지 않은 follicle들은 퇴화한다. 2. </a:t>
            </a:r>
            <a:r>
              <a:rPr sz="1400" b="1" i="0">
                <a:solidFill>
                  <a:srgbClr val="11202B"/>
                </a:solidFill>
                <a:latin typeface="Malgun Gothic"/>
                <a:ea typeface="Malgun Gothic"/>
                <a:cs typeface="Malgun Gothic"/>
              </a:rPr>
              <a:t>배란 (약 14일)</a:t>
            </a:r>
            <a:r>
              <a:rPr sz="1400" b="0" i="0">
                <a:solidFill>
                  <a:srgbClr val="11202B"/>
                </a:solidFill>
                <a:latin typeface="Malgun Gothic"/>
                <a:ea typeface="Malgun Gothic"/>
                <a:cs typeface="Malgun Gothic"/>
              </a:rPr>
              <a:t>: LH 급증이 일어나 follicle이 터지고 난자가 방출된다. 동시에 멈춰 있던 meiosis I이 완료된다. 3. </a:t>
            </a:r>
            <a:r>
              <a:rPr sz="1400" b="1" i="0">
                <a:solidFill>
                  <a:srgbClr val="11202B"/>
                </a:solidFill>
                <a:latin typeface="Malgun Gothic"/>
                <a:ea typeface="Malgun Gothic"/>
                <a:cs typeface="Malgun Gothic"/>
              </a:rPr>
              <a:t>Luteal phase (15~28일)</a:t>
            </a:r>
            <a:r>
              <a:rPr sz="1400" b="0" i="0">
                <a:solidFill>
                  <a:srgbClr val="11202B"/>
                </a:solidFill>
                <a:latin typeface="Malgun Gothic"/>
                <a:ea typeface="Malgun Gothic"/>
                <a:cs typeface="Malgun Gothic"/>
              </a:rPr>
              <a:t>: 터진 follicle의 잔해가 </a:t>
            </a:r>
            <a:r>
              <a:rPr sz="1400" b="1" i="0">
                <a:solidFill>
                  <a:srgbClr val="11202B"/>
                </a:solidFill>
                <a:latin typeface="Malgun Gothic"/>
                <a:ea typeface="Malgun Gothic"/>
                <a:cs typeface="Malgun Gothic"/>
              </a:rPr>
              <a:t>corpus luteum(황체)</a:t>
            </a:r>
            <a:r>
              <a:rPr sz="1400" b="0" i="0">
                <a:solidFill>
                  <a:srgbClr val="11202B"/>
                </a:solidFill>
                <a:latin typeface="Malgun Gothic"/>
                <a:ea typeface="Malgun Gothic"/>
                <a:cs typeface="Malgun Gothic"/>
              </a:rPr>
              <a:t> 으로 바뀌어 </a:t>
            </a:r>
            <a:r>
              <a:rPr sz="1400" b="1" i="0">
                <a:solidFill>
                  <a:srgbClr val="11202B"/>
                </a:solidFill>
                <a:latin typeface="Malgun Gothic"/>
                <a:ea typeface="Malgun Gothic"/>
                <a:cs typeface="Malgun Gothic"/>
              </a:rPr>
              <a:t>progesterone</a:t>
            </a:r>
            <a:r>
              <a:rPr sz="1400" b="0" i="0">
                <a:solidFill>
                  <a:srgbClr val="11202B"/>
                </a:solidFill>
                <a:latin typeface="Malgun Gothic"/>
                <a:ea typeface="Malgun Gothic"/>
                <a:cs typeface="Malgun Gothic"/>
              </a:rPr>
              <a:t>과 estrogen을 분비한다. 수정이 없으면 약 14일 뒤 황체가 퇴화해 두 호르몬이 급감한다.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Luteal phase의 길이가 약 14일로 거의 일정하다는 점에 주의해야 한다. 주기 길이가 사람마다 다른 것은 주로 follicular phase의 길이가 다르기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자궁 주기</a:t>
            </a:r>
            <a:r>
              <a:rPr sz="1400" b="0" i="0">
                <a:solidFill>
                  <a:srgbClr val="11202B"/>
                </a:solidFill>
                <a:latin typeface="Malgun Gothic"/>
                <a:ea typeface="Malgun Gothic"/>
                <a:cs typeface="Malgun Gothic"/>
              </a:rPr>
              <a:t>는 호르몬에 대한 반응이다.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월경기 (1~5일)</a:t>
            </a:r>
            <a:r>
              <a:rPr sz="1400" b="0" i="0">
                <a:solidFill>
                  <a:srgbClr val="11202B"/>
                </a:solidFill>
                <a:latin typeface="Malgun Gothic"/>
                <a:ea typeface="Malgun Gothic"/>
                <a:cs typeface="Malgun Gothic"/>
              </a:rPr>
              <a:t>: 이전 주기의 황체가 퇴화해 progesterone과 estrogen이 떨어진 결과로 자궁내막이 떨어져 나간다. 2. </a:t>
            </a:r>
            <a:r>
              <a:rPr sz="1400" b="1" i="0">
                <a:solidFill>
                  <a:srgbClr val="11202B"/>
                </a:solidFill>
                <a:latin typeface="Malgun Gothic"/>
                <a:ea typeface="Malgun Gothic"/>
                <a:cs typeface="Malgun Gothic"/>
              </a:rPr>
              <a:t>증식기 (6~13일)</a:t>
            </a:r>
            <a:r>
              <a:rPr sz="1400" b="0" i="0">
                <a:solidFill>
                  <a:srgbClr val="11202B"/>
                </a:solidFill>
                <a:latin typeface="Malgun Gothic"/>
                <a:ea typeface="Malgun Gothic"/>
                <a:cs typeface="Malgun Gothic"/>
              </a:rPr>
              <a:t>: Follicle에서 나오는 estrogen이 자궁내막을 다시 두껍게 만들고 샘과 혈관을 늘린다. 3. </a:t>
            </a:r>
            <a:r>
              <a:rPr sz="1400" b="1" i="0">
                <a:solidFill>
                  <a:srgbClr val="11202B"/>
                </a:solidFill>
                <a:latin typeface="Malgun Gothic"/>
                <a:ea typeface="Malgun Gothic"/>
                <a:cs typeface="Malgun Gothic"/>
              </a:rPr>
              <a:t>분비기 (15~28일)</a:t>
            </a:r>
            <a:r>
              <a:rPr sz="1400" b="0" i="0">
                <a:solidFill>
                  <a:srgbClr val="11202B"/>
                </a:solidFill>
                <a:latin typeface="Malgun Gothic"/>
                <a:ea typeface="Malgun Gothic"/>
                <a:cs typeface="Malgun Gothic"/>
              </a:rPr>
              <a:t>: 황체의 progesterone이 자궁내막의 샘에서 영양 물질을 분비하게 하고, 내막을 착상에 적합한 상태로 만든다. 또한 자궁 수축을 억제해 착상을 돕는다.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Estrogen과 progesterone의 역할 분담을 이렇게 정리할 수 있다. </a:t>
            </a:r>
            <a:r>
              <a:rPr sz="1400" b="1" i="0">
                <a:solidFill>
                  <a:srgbClr val="11202B"/>
                </a:solidFill>
                <a:latin typeface="Malgun Gothic"/>
                <a:ea typeface="Malgun Gothic"/>
                <a:cs typeface="Malgun Gothic"/>
              </a:rPr>
              <a:t>Estrogen은 내막을 짓고, progesterone은 그것을 착상에 쓸 수 있게 만든다.</a:t>
            </a:r>
            <a:r>
              <a:rPr sz="1400" b="0" i="0">
                <a:solidFill>
                  <a:srgbClr val="11202B"/>
                </a:solidFill>
                <a:latin typeface="Malgun Gothic"/>
                <a:ea typeface="Malgun Gothic"/>
                <a:cs typeface="Malgun Gothic"/>
              </a:rPr>
              <a:t> Progesterone의 작용은 estrogen이 먼저 작용해 progesterone 수용체를 만들어 놓았을 때만 나타나므로, 순서가 바뀔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 농도의 변화를 요약하면 다음과 같다.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시기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FSH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Estrogen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Progesterone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월경기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올라감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증식기 후반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내려감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올라감</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급증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배란기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상승</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급증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정점 후 하강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분비기 중반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정점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분비기 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올라감 시작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급감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급감</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경구 피임약의 작용 기전이 이 주기 조절에서 나온다. Estrogen과 progesterone을 일정하게 투여하면 음성 되먹임으로 FSH와 LH 분비가 억제되어 follicle이 자라지 않고 LH 급증도 일어나지 않으므로 배란이 되지 않는다. 동시에 progesterone이 자궁내막을 착상에 부적합한 상태로 만들고 자궁목 점액을 걸쭉하게 해 정자의 통과를 방해한다. 세 겹의 작용이 겹쳐 효과가 높다.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31</a:t>
            </a:r>
          </a:p>
        </p:txBody>
      </p:sp>
      <p:pic>
        <p:nvPicPr>
          <p:cNvPr id="7" name="Picture 6" descr="fig-menstrual-cycle.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월경 주기의 난소 주기와 자궁 주기를 나란히 놓은 그림. 네 호르몬의 농도 곡선, follicle의 성장과 배란 및 황체 형성, 자궁내막의 두께 변화, 그리고 estrogen과 progesterone의 역할 분담을 함께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월경 주기에서 가장 설명이 필요한 사건이 배란 전 </a:t>
            </a:r>
            <a:r>
              <a:rPr sz="1400" b="1" i="0">
                <a:solidFill>
                  <a:srgbClr val="11202B"/>
                </a:solidFill>
                <a:latin typeface="Malgun Gothic"/>
                <a:ea typeface="Malgun Gothic"/>
                <a:cs typeface="Malgun Gothic"/>
              </a:rPr>
              <a:t>LH 급증(LH surge)</a:t>
            </a:r>
            <a:r>
              <a:rPr sz="1400" b="0" i="0">
                <a:solidFill>
                  <a:srgbClr val="11202B"/>
                </a:solidFill>
                <a:latin typeface="Malgun Gothic"/>
                <a:ea typeface="Malgun Gothic"/>
                <a:cs typeface="Malgun Gothic"/>
              </a:rPr>
              <a:t> 이다. Estrogen은 음성 되먹임으로 LH를 억제하는 호르몬인데, 배란 직전에는 estrogen이 가장 높은 상태에서 LH가 급증한다. 이 모순을 해결해야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답은 </a:t>
            </a:r>
            <a:r>
              <a:rPr sz="1400" b="1" i="0">
                <a:solidFill>
                  <a:srgbClr val="11202B"/>
                </a:solidFill>
                <a:latin typeface="Malgun Gothic"/>
                <a:ea typeface="Malgun Gothic"/>
                <a:cs typeface="Malgun Gothic"/>
              </a:rPr>
              <a:t>estrogen의 되먹임 방향이 농도와 지속 시간에 따라 바뀐다</a:t>
            </a:r>
            <a:r>
              <a:rPr sz="1400" b="0" i="0">
                <a:solidFill>
                  <a:srgbClr val="11202B"/>
                </a:solidFill>
                <a:latin typeface="Malgun Gothic"/>
                <a:ea typeface="Malgun Gothic"/>
                <a:cs typeface="Malgun Gothic"/>
              </a:rPr>
              <a:t>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낮거나 중간 농도의 estrogen</a:t>
            </a:r>
            <a:r>
              <a:rPr sz="1400" b="0" i="0">
                <a:solidFill>
                  <a:srgbClr val="11202B"/>
                </a:solidFill>
                <a:latin typeface="Malgun Gothic"/>
                <a:ea typeface="Malgun Gothic"/>
                <a:cs typeface="Malgun Gothic"/>
              </a:rPr>
              <a:t>: 음성 되먹임. GnRH와 LH 분비를 억제한다. Follicular phase 대부분과 luteal phase가 이 상태다.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매우 높은 농도의 estrogen이 약 36시간 이상 지속</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양성 되먹임</a:t>
            </a:r>
            <a:r>
              <a:rPr sz="1400" b="0" i="0">
                <a:solidFill>
                  <a:srgbClr val="11202B"/>
                </a:solidFill>
                <a:latin typeface="Malgun Gothic"/>
                <a:ea typeface="Malgun Gothic"/>
                <a:cs typeface="Malgun Gothic"/>
              </a:rPr>
              <a:t>으로 전환한다. GnRH 분비를 늘리고, 뇌하수체의 GnRH 민감도를 크게 높여 LH 분비를 폭발적으로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전환의 분자적 근거로는 뇌하수체 세포의 GnRH 수용체 수 증가, 그리고 시상하부의 kisspeptin 뉴런 집단이 estrogen에 양성으로 반응하는 것이 제시된다.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생리적 의미는 분명하다. </a:t>
            </a:r>
            <a:r>
              <a:rPr sz="1400" b="1" i="0">
                <a:solidFill>
                  <a:srgbClr val="11202B"/>
                </a:solidFill>
                <a:latin typeface="Malgun Gothic"/>
                <a:ea typeface="Malgun Gothic"/>
                <a:cs typeface="Malgun Gothic"/>
              </a:rPr>
              <a:t>Estrogen 농도가 follicle의 성숙도를 보고하는 신호</a:t>
            </a:r>
            <a:r>
              <a:rPr sz="1400" b="0" i="0">
                <a:solidFill>
                  <a:srgbClr val="11202B"/>
                </a:solidFill>
                <a:latin typeface="Malgun Gothic"/>
                <a:ea typeface="Malgun Gothic"/>
                <a:cs typeface="Malgun Gothic"/>
              </a:rPr>
              <a:t>로 쓰인다. Follicle이 충분히 자라야 estrogen이 양성 되먹임 역치를 넘을 만큼 나오고, 그때 LH 급증이 일어나 배란이 된다. 즉 난자가 준비되었을 때만 배란이 일어나도록 보장하는 장치다.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LH 급증이 일으키는 일은 셋이다.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배란</a:t>
            </a:r>
            <a:r>
              <a:rPr sz="1400" b="0" i="0">
                <a:solidFill>
                  <a:srgbClr val="11202B"/>
                </a:solidFill>
                <a:latin typeface="Malgun Gothic"/>
                <a:ea typeface="Malgun Gothic"/>
                <a:cs typeface="Malgun Gothic"/>
              </a:rPr>
              <a:t>: Follicle 벽을 분해하는 효소를 유도해 난자가 방출되게 한다. 2. </a:t>
            </a:r>
            <a:r>
              <a:rPr sz="1400" b="1" i="0">
                <a:solidFill>
                  <a:srgbClr val="11202B"/>
                </a:solidFill>
                <a:latin typeface="Malgun Gothic"/>
                <a:ea typeface="Malgun Gothic"/>
                <a:cs typeface="Malgun Gothic"/>
              </a:rPr>
              <a:t>Meiosis I 완료</a:t>
            </a:r>
            <a:r>
              <a:rPr sz="1400" b="0" i="0">
                <a:solidFill>
                  <a:srgbClr val="11202B"/>
                </a:solidFill>
                <a:latin typeface="Malgun Gothic"/>
                <a:ea typeface="Malgun Gothic"/>
                <a:cs typeface="Malgun Gothic"/>
              </a:rPr>
              <a:t>: 태아기부터 멈춰 있던 분열을 재개시킨다. 3. </a:t>
            </a:r>
            <a:r>
              <a:rPr sz="1400" b="1" i="0">
                <a:solidFill>
                  <a:srgbClr val="11202B"/>
                </a:solidFill>
                <a:latin typeface="Malgun Gothic"/>
                <a:ea typeface="Malgun Gothic"/>
                <a:cs typeface="Malgun Gothic"/>
              </a:rPr>
              <a:t>황체 형성(luteinization)</a:t>
            </a:r>
            <a:r>
              <a:rPr sz="1400" b="0" i="0">
                <a:solidFill>
                  <a:srgbClr val="11202B"/>
                </a:solidFill>
                <a:latin typeface="Malgun Gothic"/>
                <a:ea typeface="Malgun Gothic"/>
                <a:cs typeface="Malgun Gothic"/>
              </a:rPr>
              <a:t>: 남은 follicle 세포들이 progesterone을 만드는 황체로 바뀌게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황체가 만드는 progesterone은 다시 강한 음성 되먹임으로 작용해 LH를 떨어뜨린다. 따라서 LH 급증은 자신이 만든 결과에 의해 종료된다. 앞 수업에서 본 양성 되먹임의 조건, 즉 </a:t>
            </a:r>
            <a:r>
              <a:rPr sz="1400" b="1" i="0">
                <a:solidFill>
                  <a:srgbClr val="11202B"/>
                </a:solidFill>
                <a:latin typeface="Malgun Gothic"/>
                <a:ea typeface="Malgun Gothic"/>
                <a:cs typeface="Malgun Gothic"/>
              </a:rPr>
              <a:t>종료 시점이 분명해야 한다</a:t>
            </a:r>
            <a:r>
              <a:rPr sz="1400" b="0" i="0">
                <a:solidFill>
                  <a:srgbClr val="11202B"/>
                </a:solidFill>
                <a:latin typeface="Malgun Gothic"/>
                <a:ea typeface="Malgun Gothic"/>
                <a:cs typeface="Malgun Gothic"/>
              </a:rPr>
              <a:t>는 조건이 여기서 충족된다.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수정이 일어나지 않으면 황체는 약 14일 뒤 퇴화한다. 황체의 수명이 유한한 이유는 그것을 유지하는 LH가 progesterone의 되먹임으로 낮아져 있기 때문이다. 황체가 퇴화하면 progesterone과 estrogen이 급감해 자궁내막이 떨어지고(월경), 되먹임 억제가 풀려 FSH가 올라가 다음 주기가 시작된다.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월경 주기는 되먹임 방향이 한 번 뒤집히는 구조로 되어 있고, 그 뒤집힘이 주기를 앞으로 밀어 준다. 이 지점을 이해하면 주기 전체가 하나의 논리로 연결된다.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LH 급증: 되먹임 방향의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35</a:t>
            </a:r>
          </a:p>
        </p:txBody>
      </p:sp>
      <p:pic>
        <p:nvPicPr>
          <p:cNvPr id="7" name="Picture 6" descr="fig-lh-sur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Estrogen 되먹임 방향의 전환과 LH 급증. 농도와 지속 시간에 따른 음성·양성 되먹임의 경계, 양성 되먹임이 만드는 LH 급증 곡선, 급증이 일으키는 세 가지 결과, 그리고 progesterone의 되먹임이 급증을 종료시키는 과정을 함께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배란된 난자는 난관 끝의 fimbriae에 붙잡혀 난관으로 들어가고, 난관 상피의 cilia와 근육의 수축이 자궁 쪽으로 밀어 보낸다. 수정이 일어나는 장소는 자궁이 아니라 </a:t>
            </a:r>
            <a:r>
              <a:rPr sz="1400" b="1" i="0">
                <a:solidFill>
                  <a:srgbClr val="11202B"/>
                </a:solidFill>
                <a:latin typeface="Malgun Gothic"/>
                <a:ea typeface="Malgun Gothic"/>
                <a:cs typeface="Malgun Gothic"/>
              </a:rPr>
              <a:t>난관의 위쪽(ampulla)</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수정(fertilization)</a:t>
            </a:r>
            <a:r>
              <a:rPr sz="1400" b="0" i="0">
                <a:solidFill>
                  <a:srgbClr val="11202B"/>
                </a:solidFill>
                <a:latin typeface="Malgun Gothic"/>
                <a:ea typeface="Malgun Gothic"/>
                <a:cs typeface="Malgun Gothic"/>
              </a:rPr>
              <a:t> 의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활성화(capacitation)</a:t>
            </a:r>
            <a:r>
              <a:rPr sz="1400" b="0" i="0">
                <a:solidFill>
                  <a:srgbClr val="11202B"/>
                </a:solidFill>
                <a:latin typeface="Malgun Gothic"/>
                <a:ea typeface="Malgun Gothic"/>
                <a:cs typeface="Malgun Gothic"/>
              </a:rPr>
              <a:t>: 여성 생식관에 들어온 정자가 몇 시간에 걸쳐 변화를 겪어 수정 능력을 얻는다. 이 과정이 끝나야 다음 단계가 가능하다. 2. </a:t>
            </a:r>
            <a:r>
              <a:rPr sz="1400" b="1" i="0">
                <a:solidFill>
                  <a:srgbClr val="11202B"/>
                </a:solidFill>
                <a:latin typeface="Malgun Gothic"/>
                <a:ea typeface="Malgun Gothic"/>
                <a:cs typeface="Malgun Gothic"/>
              </a:rPr>
              <a:t>Zona pellucida 통과</a:t>
            </a:r>
            <a:r>
              <a:rPr sz="1400" b="0" i="0">
                <a:solidFill>
                  <a:srgbClr val="11202B"/>
                </a:solidFill>
                <a:latin typeface="Malgun Gothic"/>
                <a:ea typeface="Malgun Gothic"/>
                <a:cs typeface="Malgun Gothic"/>
              </a:rPr>
              <a:t>: 난자를 둘러싼 당단백질 층이다. 정자가 여기에 결합하면 </a:t>
            </a:r>
            <a:r>
              <a:rPr sz="1400" b="1" i="0">
                <a:solidFill>
                  <a:srgbClr val="11202B"/>
                </a:solidFill>
                <a:latin typeface="Malgun Gothic"/>
                <a:ea typeface="Malgun Gothic"/>
                <a:cs typeface="Malgun Gothic"/>
              </a:rPr>
              <a:t>acrosome 반응</a:t>
            </a:r>
            <a:r>
              <a:rPr sz="1400" b="0" i="0">
                <a:solidFill>
                  <a:srgbClr val="11202B"/>
                </a:solidFill>
                <a:latin typeface="Malgun Gothic"/>
                <a:ea typeface="Malgun Gothic"/>
                <a:cs typeface="Malgun Gothic"/>
              </a:rPr>
              <a:t>이 일어나 acrosome의 효소가 방출되어 층을 분해한다. 3. </a:t>
            </a:r>
            <a:r>
              <a:rPr sz="1400" b="1" i="0">
                <a:solidFill>
                  <a:srgbClr val="11202B"/>
                </a:solidFill>
                <a:latin typeface="Malgun Gothic"/>
                <a:ea typeface="Malgun Gothic"/>
                <a:cs typeface="Malgun Gothic"/>
              </a:rPr>
              <a:t>막 융합</a:t>
            </a:r>
            <a:r>
              <a:rPr sz="1400" b="0" i="0">
                <a:solidFill>
                  <a:srgbClr val="11202B"/>
                </a:solidFill>
                <a:latin typeface="Malgun Gothic"/>
                <a:ea typeface="Malgun Gothic"/>
                <a:cs typeface="Malgun Gothic"/>
              </a:rPr>
              <a:t>: 정자의 막과 난자의 막이 융합하고 정자의 핵이 난자 안으로 들어간다. 4. </a:t>
            </a:r>
            <a:r>
              <a:rPr sz="1400" b="1" i="0">
                <a:solidFill>
                  <a:srgbClr val="11202B"/>
                </a:solidFill>
                <a:latin typeface="Malgun Gothic"/>
                <a:ea typeface="Malgun Gothic"/>
                <a:cs typeface="Malgun Gothic"/>
              </a:rPr>
              <a:t>다수정 차단(block to polyspermy)</a:t>
            </a:r>
            <a:r>
              <a:rPr sz="1400" b="0" i="0">
                <a:solidFill>
                  <a:srgbClr val="11202B"/>
                </a:solidFill>
                <a:latin typeface="Malgun Gothic"/>
                <a:ea typeface="Malgun Gothic"/>
                <a:cs typeface="Malgun Gothic"/>
              </a:rPr>
              <a:t>: 정자가 들어오면 난자 안의 Ca²⁺이 급증하고, 저장된 과립이 방출되어 zona pellucida를 단단하게 바꾼다. 두 번째 정자가 들어오지 못하게 하는 장치다. 다수정이 되면 3n이 되어 생존할 수 없다. 5. </a:t>
            </a:r>
            <a:r>
              <a:rPr sz="1400" b="1" i="0">
                <a:solidFill>
                  <a:srgbClr val="11202B"/>
                </a:solidFill>
                <a:latin typeface="Malgun Gothic"/>
                <a:ea typeface="Malgun Gothic"/>
                <a:cs typeface="Malgun Gothic"/>
              </a:rPr>
              <a:t>Meiosis II 완료</a:t>
            </a:r>
            <a:r>
              <a:rPr sz="1400" b="0" i="0">
                <a:solidFill>
                  <a:srgbClr val="11202B"/>
                </a:solidFill>
                <a:latin typeface="Malgun Gothic"/>
                <a:ea typeface="Malgun Gothic"/>
                <a:cs typeface="Malgun Gothic"/>
              </a:rPr>
              <a:t>: Ca²⁺ 급증이 멈춰 있던 분열을 재개시키고, 두 번째 극체가 방출된다. 6. </a:t>
            </a:r>
            <a:r>
              <a:rPr sz="1400" b="1" i="0">
                <a:solidFill>
                  <a:srgbClr val="11202B"/>
                </a:solidFill>
                <a:latin typeface="Malgun Gothic"/>
                <a:ea typeface="Malgun Gothic"/>
                <a:cs typeface="Malgun Gothic"/>
              </a:rPr>
              <a:t>핵의 결합</a:t>
            </a:r>
            <a:r>
              <a:rPr sz="1400" b="0" i="0">
                <a:solidFill>
                  <a:srgbClr val="11202B"/>
                </a:solidFill>
                <a:latin typeface="Malgun Gothic"/>
                <a:ea typeface="Malgun Gothic"/>
                <a:cs typeface="Malgun Gothic"/>
              </a:rPr>
              <a:t>: 정자와 난자의 반수체 핵이 합쳐져 2n의 zygote가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착상까지</a:t>
            </a:r>
            <a:r>
              <a:rPr sz="1400" b="0" i="0">
                <a:solidFill>
                  <a:srgbClr val="11202B"/>
                </a:solidFill>
                <a:latin typeface="Malgun Gothic"/>
                <a:ea typeface="Malgun Gothic"/>
                <a:cs typeface="Malgun Gothic"/>
              </a:rPr>
              <a:t>의 과정은 다음과 같다. Zygote는 난관을 내려오면서 mitosis를 반복한다(cleavage). 중요한 점은 이 분열에서 </a:t>
            </a:r>
            <a:r>
              <a:rPr sz="1400" b="1" i="0">
                <a:solidFill>
                  <a:srgbClr val="11202B"/>
                </a:solidFill>
                <a:latin typeface="Malgun Gothic"/>
                <a:ea typeface="Malgun Gothic"/>
                <a:cs typeface="Malgun Gothic"/>
              </a:rPr>
              <a:t>전체 크기가 커지지 않는다</a:t>
            </a:r>
            <a:r>
              <a:rPr sz="1400" b="0" i="0">
                <a:solidFill>
                  <a:srgbClr val="11202B"/>
                </a:solidFill>
                <a:latin typeface="Malgun Gothic"/>
                <a:ea typeface="Malgun Gothic"/>
                <a:cs typeface="Malgun Gothic"/>
              </a:rPr>
              <a:t>는 것이다. 외부에서 영양을 받지 못하므로 난자의 세포질을 나누어 쓸 뿐이다. 세포가 16~32개가 되면 morula, 안쪽에 공간이 생기면 </a:t>
            </a:r>
            <a:r>
              <a:rPr sz="1400" b="1" i="0">
                <a:solidFill>
                  <a:srgbClr val="11202B"/>
                </a:solidFill>
                <a:latin typeface="Malgun Gothic"/>
                <a:ea typeface="Malgun Gothic"/>
                <a:cs typeface="Malgun Gothic"/>
              </a:rPr>
              <a:t>blastocyst</a:t>
            </a:r>
            <a:r>
              <a:rPr sz="1400" b="0" i="0">
                <a:solidFill>
                  <a:srgbClr val="11202B"/>
                </a:solidFill>
                <a:latin typeface="Malgun Gothic"/>
                <a:ea typeface="Malgun Gothic"/>
                <a:cs typeface="Malgun Gothic"/>
              </a:rPr>
              <a:t>가 된다. Blastocyst는 외층의 </a:t>
            </a:r>
            <a:r>
              <a:rPr sz="1400" b="1" i="0">
                <a:solidFill>
                  <a:srgbClr val="11202B"/>
                </a:solidFill>
                <a:latin typeface="Malgun Gothic"/>
                <a:ea typeface="Malgun Gothic"/>
                <a:cs typeface="Malgun Gothic"/>
              </a:rPr>
              <a:t>trophoblast</a:t>
            </a:r>
            <a:r>
              <a:rPr sz="1400" b="0" i="0">
                <a:solidFill>
                  <a:srgbClr val="11202B"/>
                </a:solidFill>
                <a:latin typeface="Malgun Gothic"/>
                <a:ea typeface="Malgun Gothic"/>
                <a:cs typeface="Malgun Gothic"/>
              </a:rPr>
              <a:t>(태반이 될 부분)와 안쪽의 inner cell mass(배아가 될 부분)로 구분된다.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 후 약 6~7일에 blastocyst가 자궁내막에 붙고 trophoblast가 내막을 파고 들어간다. 이것이 </a:t>
            </a:r>
            <a:r>
              <a:rPr sz="1400" b="1" i="0">
                <a:solidFill>
                  <a:srgbClr val="11202B"/>
                </a:solidFill>
                <a:latin typeface="Malgun Gothic"/>
                <a:ea typeface="Malgun Gothic"/>
                <a:cs typeface="Malgun Gothic"/>
              </a:rPr>
              <a:t>착상(implantation)</a:t>
            </a:r>
            <a:r>
              <a:rPr sz="1400" b="0" i="0">
                <a:solidFill>
                  <a:srgbClr val="11202B"/>
                </a:solidFill>
                <a:latin typeface="Malgun Gothic"/>
                <a:ea typeface="Malgun Gothic"/>
                <a:cs typeface="Malgun Gothic"/>
              </a:rPr>
              <a:t> 이다. Progesterone이 준비해 놓은 분비기 내막이 이 과정의 조건이다.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임신 유지</a:t>
            </a:r>
            <a:r>
              <a:rPr sz="1600" b="0" i="0">
                <a:solidFill>
                  <a:srgbClr val="11202B"/>
                </a:solidFill>
                <a:latin typeface="Malgun Gothic"/>
                <a:ea typeface="Malgun Gothic"/>
                <a:cs typeface="Malgun Gothic"/>
              </a:rPr>
              <a:t>의 호르몬 교대가 이 절의 핵심이다. 착상이 되지 않으면 황체가 14일 뒤 퇴화해 progesterone이 떨어지고 내막이 떨어진다. 임신이 유지되려면 황체를 살려 두어야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일을 </a:t>
            </a:r>
            <a:r>
              <a:rPr sz="1600" b="1" i="0">
                <a:solidFill>
                  <a:srgbClr val="11202B"/>
                </a:solidFill>
                <a:latin typeface="Malgun Gothic"/>
                <a:ea typeface="Malgun Gothic"/>
                <a:cs typeface="Malgun Gothic"/>
              </a:rPr>
              <a:t>hCG(human chorionic gonadotropin)</a:t>
            </a:r>
            <a:r>
              <a:rPr sz="1600" b="0" i="0">
                <a:solidFill>
                  <a:srgbClr val="11202B"/>
                </a:solidFill>
                <a:latin typeface="Malgun Gothic"/>
                <a:ea typeface="Malgun Gothic"/>
                <a:cs typeface="Malgun Gothic"/>
              </a:rPr>
              <a:t> 가 한다. 착상한 trophoblast가 hCG를 분비하고, hCG가 LH와 구조가 비슷해 LH 수용체에 결합해 황체를 계속 자극한다. 그 결과 황체가 퇴화하지 않고 progesterone을 계속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hCG는 임신 초기에 급격히 올라가 8~10주에 정점을 이루고 그 뒤 떨어진다. 떨어지는 이유는 그때쯤 </a:t>
            </a:r>
            <a:r>
              <a:rPr sz="1600" b="1" i="0">
                <a:solidFill>
                  <a:srgbClr val="11202B"/>
                </a:solidFill>
                <a:latin typeface="Malgun Gothic"/>
                <a:ea typeface="Malgun Gothic"/>
                <a:cs typeface="Malgun Gothic"/>
              </a:rPr>
              <a:t>태반 자신이 progesterone을 충분히 만들게 되어</a:t>
            </a:r>
            <a:r>
              <a:rPr sz="1600" b="0" i="0">
                <a:solidFill>
                  <a:srgbClr val="11202B"/>
                </a:solidFill>
                <a:latin typeface="Malgun Gothic"/>
                <a:ea typeface="Malgun Gothic"/>
                <a:cs typeface="Malgun Gothic"/>
              </a:rPr>
              <a:t> 황체가 필요 없어지기 때문이다. 즉 progesterone 공급원이 황체에서 태반으로 교대한다.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hCG가 소변과 혈액에서 검출된다는 점이 임신 검사의 원리다. 착상 직후부터 분비되므로 매우 이른 시기에 임신을 확인할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수정이 난관에서 일어나고 착상이 자궁에서 일어난다는 사실 때문에, 둘 사이의 이동이 막히면 난관에 착상할 수 있다. 이것이 자궁외 임신(ectopic pregnancy)이며, 가장 흔한 위치가 난관이다. 난관은 자라는 배아를 담을 수 없으므로 터져 대량 출혈을 일으킬 수 있다. 난관 염증이나 수술로 생긴 반흔이 위험 요인이다. hCG는 올라가는데 초음파에서 자궁 안에 임신 주머니가 보이지 않으면 의심한다.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수정에서 착상, 그리고 임신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39</a:t>
            </a:r>
          </a:p>
        </p:txBody>
      </p:sp>
      <p:pic>
        <p:nvPicPr>
          <p:cNvPr id="7" name="Picture 6" descr="fig-fertiliz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수정에서 착상까지의 과정과 임신 유지의 호르몬 교대. 난관 ampulla에서의 수정, acrosome 반응과 다수정 차단, cleavage와 blastocyst 형성, 착상, 그리고 hCG가 황체를 유지하다가 태반으로 progesterone 공급이 교대되는 곡선을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사춘기와 폐경, 그리고 생식계 질환의 논리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 기능은 평생 일정하지 않고 시작과 종료가 있다. 두 전환점을 생식 축의 어느 단계가 변하는지로 설명할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사춘기(puberty)</a:t>
            </a:r>
            <a:r>
              <a:rPr sz="1400" b="0" i="0">
                <a:solidFill>
                  <a:srgbClr val="11202B"/>
                </a:solidFill>
                <a:latin typeface="Malgun Gothic"/>
                <a:ea typeface="Malgun Gothic"/>
                <a:cs typeface="Malgun Gothic"/>
              </a:rPr>
              <a:t>. 흥미로운 사실은 생식 축이 태아기와 신생아기에 이미 작동하고 있다가 유아기에 </a:t>
            </a:r>
            <a:r>
              <a:rPr sz="1400" b="1" i="0">
                <a:solidFill>
                  <a:srgbClr val="11202B"/>
                </a:solidFill>
                <a:latin typeface="Malgun Gothic"/>
                <a:ea typeface="Malgun Gothic"/>
                <a:cs typeface="Malgun Gothic"/>
              </a:rPr>
              <a:t>억제된다</a:t>
            </a:r>
            <a:r>
              <a:rPr sz="1400" b="0" i="0">
                <a:solidFill>
                  <a:srgbClr val="11202B"/>
                </a:solidFill>
                <a:latin typeface="Malgun Gothic"/>
                <a:ea typeface="Malgun Gothic"/>
                <a:cs typeface="Malgun Gothic"/>
              </a:rPr>
              <a:t>는 점이다. 즉 사춘기는 없던 축이 새로 생기는 것이 아니라, </a:t>
            </a:r>
            <a:r>
              <a:rPr sz="1400" b="1" i="0">
                <a:solidFill>
                  <a:srgbClr val="11202B"/>
                </a:solidFill>
                <a:latin typeface="Malgun Gothic"/>
                <a:ea typeface="Malgun Gothic"/>
                <a:cs typeface="Malgun Gothic"/>
              </a:rPr>
              <a:t>억제가 풀리는 것</a:t>
            </a:r>
            <a:r>
              <a:rPr sz="1400" b="0" i="0">
                <a:solidFill>
                  <a:srgbClr val="11202B"/>
                </a:solidFill>
                <a:latin typeface="Malgun Gothic"/>
                <a:ea typeface="Malgun Gothic"/>
                <a:cs typeface="Malgun Gothic"/>
              </a:rPr>
              <a:t>이다. 억제가 풀리는 첫 신호가 </a:t>
            </a:r>
            <a:r>
              <a:rPr sz="1400" b="1" i="0">
                <a:solidFill>
                  <a:srgbClr val="11202B"/>
                </a:solidFill>
                <a:latin typeface="Malgun Gothic"/>
                <a:ea typeface="Malgun Gothic"/>
                <a:cs typeface="Malgun Gothic"/>
              </a:rPr>
              <a:t>수면 중 GnRH 박동의 증가</a:t>
            </a:r>
            <a:r>
              <a:rPr sz="1400" b="0" i="0">
                <a:solidFill>
                  <a:srgbClr val="11202B"/>
                </a:solidFill>
                <a:latin typeface="Malgun Gothic"/>
                <a:ea typeface="Malgun Gothic"/>
                <a:cs typeface="Malgun Gothic"/>
              </a:rPr>
              <a:t>이고, 이것이 점차 하루 전체로 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억제를 풀는 신호가 무엇인지는 완전히 밝혀지지 않았으나, </a:t>
            </a:r>
            <a:r>
              <a:rPr sz="1400" b="1" i="0">
                <a:solidFill>
                  <a:srgbClr val="11202B"/>
                </a:solidFill>
                <a:latin typeface="Malgun Gothic"/>
                <a:ea typeface="Malgun Gothic"/>
                <a:cs typeface="Malgun Gothic"/>
              </a:rPr>
              <a:t>kisspeptin</a:t>
            </a:r>
            <a:r>
              <a:rPr sz="1400" b="0" i="0">
                <a:solidFill>
                  <a:srgbClr val="11202B"/>
                </a:solidFill>
                <a:latin typeface="Malgun Gothic"/>
                <a:ea typeface="Malgun Gothic"/>
                <a:cs typeface="Malgun Gothic"/>
              </a:rPr>
              <a:t> 뉴런의 활성 증가가 중심 기전으로 제시된다. 또한 체지방에서 나오는 </a:t>
            </a:r>
            <a:r>
              <a:rPr sz="1400" b="1" i="0">
                <a:solidFill>
                  <a:srgbClr val="11202B"/>
                </a:solidFill>
                <a:latin typeface="Malgun Gothic"/>
                <a:ea typeface="Malgun Gothic"/>
                <a:cs typeface="Malgun Gothic"/>
              </a:rPr>
              <a:t>leptin</a:t>
            </a:r>
            <a:r>
              <a:rPr sz="1400" b="0" i="0">
                <a:solidFill>
                  <a:srgbClr val="11202B"/>
                </a:solidFill>
                <a:latin typeface="Malgun Gothic"/>
                <a:ea typeface="Malgun Gothic"/>
                <a:cs typeface="Malgun Gothic"/>
              </a:rPr>
              <a:t>이 축의 활성화에 필요하다는 것이 알려져 있다. 영양 상태가 생식 기능의 시작 조건이라는 점이 이로써 설명된다. 심한 체중 감소나 과도한 운동에서 월경이 멈추는 것도 같은 축의 반대 방향 변화다.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폐경(menopause)</a:t>
            </a:r>
            <a:r>
              <a:rPr sz="1400" b="0" i="0">
                <a:solidFill>
                  <a:srgbClr val="11202B"/>
                </a:solidFill>
                <a:latin typeface="Malgun Gothic"/>
                <a:ea typeface="Malgun Gothic"/>
                <a:cs typeface="Malgun Gothic"/>
              </a:rPr>
              <a:t>. 폐경은 뇌하수체나 시상하부의 문제가 아니라 </a:t>
            </a:r>
            <a:r>
              <a:rPr sz="1400" b="1" i="0">
                <a:solidFill>
                  <a:srgbClr val="11202B"/>
                </a:solidFill>
                <a:latin typeface="Malgun Gothic"/>
                <a:ea typeface="Malgun Gothic"/>
                <a:cs typeface="Malgun Gothic"/>
              </a:rPr>
              <a:t>난소의 소진</a:t>
            </a:r>
            <a:r>
              <a:rPr sz="1400" b="0" i="0">
                <a:solidFill>
                  <a:srgbClr val="11202B"/>
                </a:solidFill>
                <a:latin typeface="Malgun Gothic"/>
                <a:ea typeface="Malgun Gothic"/>
                <a:cs typeface="Malgun Gothic"/>
              </a:rPr>
              <a:t>이다. Primary oocyte 풀이 바닥나 반응할 follicle이 남지 않으므로 estrogen과 inhibin이 떨어진다. 그 결과 음성 되먹임이 사라져 </a:t>
            </a:r>
            <a:r>
              <a:rPr sz="1400" b="1" i="0">
                <a:solidFill>
                  <a:srgbClr val="11202B"/>
                </a:solidFill>
                <a:latin typeface="Malgun Gothic"/>
                <a:ea typeface="Malgun Gothic"/>
                <a:cs typeface="Malgun Gothic"/>
              </a:rPr>
              <a:t>FSH와 LH가 매우 높아진다.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패턴이 진단의 근거가 된다. 앞 수업의 표를 적용하면, 최종 호르몬(estrogen)이 낮고 자극 호르몬(FSH)이 높으므로 </a:t>
            </a:r>
            <a:r>
              <a:rPr sz="1400" b="1" i="0">
                <a:solidFill>
                  <a:srgbClr val="11202B"/>
                </a:solidFill>
                <a:latin typeface="Malgun Gothic"/>
                <a:ea typeface="Malgun Gothic"/>
                <a:cs typeface="Malgun Gothic"/>
              </a:rPr>
              <a:t>원발성 생식샘 기능 저하</a:t>
            </a:r>
            <a:r>
              <a:rPr sz="1400" b="0" i="0">
                <a:solidFill>
                  <a:srgbClr val="11202B"/>
                </a:solidFill>
                <a:latin typeface="Malgun Gothic"/>
                <a:ea typeface="Malgun Gothic"/>
                <a:cs typeface="Malgun Gothic"/>
              </a:rPr>
              <a:t>다. 반대로 시상하부나 뇌하수체의 문제라면 estrogen이 낮고 FSH도 낮다. 체중 감소나 과도한 운동에 의한 무월경이 후자에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Estrogen 감소의 결과는 생식 기능에 그치지 않는다. Estrogen은 뼈에서 흡수를 억제하는 작용을 하므로, 폐경 후 뼈 손실이 빨라져 골감소와 골절 위험이 올라간다. 혈관 운동 증상(안면 홍조), 비뇨생식기 위축, 지질 변화도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남성에서는 이에 대응하는 급격한 전환이 없다. Testosterone이 서서히 떨어지지만 spermatogenesis는 고령까지 유지된다. 줄기세포가 남아 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생식계 질환을 읽는 논리</a:t>
            </a:r>
            <a:r>
              <a:rPr sz="1400" b="0" i="0">
                <a:solidFill>
                  <a:srgbClr val="11202B"/>
                </a:solidFill>
                <a:latin typeface="Malgun Gothic"/>
                <a:ea typeface="Malgun Gothic"/>
                <a:cs typeface="Malgun Gothic"/>
              </a:rPr>
              <a:t>는 앞 수업과 같다. 축의 어느 단계인지, 과다인지 부족인지를 묻는다.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사춘기와 폐경, 그리고 생식계 질환의 논리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원발성 생식샘 기능 저하</a:t>
            </a:r>
            <a:r>
              <a:rPr sz="1600" b="0" i="0">
                <a:solidFill>
                  <a:srgbClr val="11202B"/>
                </a:solidFill>
                <a:latin typeface="Malgun Gothic"/>
                <a:ea typeface="Malgun Gothic"/>
                <a:cs typeface="Malgun Gothic"/>
              </a:rPr>
              <a:t>: 생식샘 자체의 문제. 성 steroid 낮고 FSH·LH 높다. 폐경, Klinefelter 증후군(XXY), Turner 증후군(XO), 고환 손상이 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이차성 생식샘 기능 저하</a:t>
            </a:r>
            <a:r>
              <a:rPr sz="1600" b="0" i="0">
                <a:solidFill>
                  <a:srgbClr val="11202B"/>
                </a:solidFill>
                <a:latin typeface="Malgun Gothic"/>
                <a:ea typeface="Malgun Gothic"/>
                <a:cs typeface="Malgun Gothic"/>
              </a:rPr>
              <a:t>: 시상하부·뇌하수체의 문제. 성 steroid 낮고 FSH·LH도 낮다. Kallmann 증후군(GnRH 뉴런의 발생 이상), 뇌하수체 종양, 심한 체중 감소, prolactin 과다가 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Prolactin 과다</a:t>
            </a:r>
            <a:r>
              <a:rPr sz="1600" b="0" i="0">
                <a:solidFill>
                  <a:srgbClr val="11202B"/>
                </a:solidFill>
                <a:latin typeface="Malgun Gothic"/>
                <a:ea typeface="Malgun Gothic"/>
                <a:cs typeface="Malgun Gothic"/>
              </a:rPr>
              <a:t>: 생식 축을 억제하는 별도의 경로다. Prolactin이 GnRH 분비를 억제하므로 무월경과 성욕 저하가 생긴다. 수유 중 배란이 억제되는 것이 같은 기전의 생리적 형태다.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다낭성 난소 증후군(PCOS)</a:t>
            </a:r>
            <a:r>
              <a:rPr sz="1600" b="0" i="0">
                <a:solidFill>
                  <a:srgbClr val="11202B"/>
                </a:solidFill>
                <a:latin typeface="Malgun Gothic"/>
                <a:ea typeface="Malgun Gothic"/>
                <a:cs typeface="Malgun Gothic"/>
              </a:rPr>
              <a:t>: 배란이 되지 않고 androgen이 높은 상태다. Follicle이 자라다가 성숙에 이르지 못해 estrogen이 양성 되먹임 역치에 도달하지 못하고 LH 급증이 일어나지 않는다. Insulin 저항성이 흔히 동반되며, 체중 감량이 배란 회복에 도움이 되는 이유다.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수용체 수준의 문제</a:t>
            </a:r>
            <a:r>
              <a:rPr sz="1600" b="0" i="0">
                <a:solidFill>
                  <a:srgbClr val="11202B"/>
                </a:solidFill>
                <a:latin typeface="Malgun Gothic"/>
                <a:ea typeface="Malgun Gothic"/>
                <a:cs typeface="Malgun Gothic"/>
              </a:rPr>
              <a:t>: 앞서 본 androgen 불감 증후군이 대표다. 호르몬은 충분한데 작용하지 못한다.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사춘기와 폐경, 그리고 생식계 질환의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생식계를 공부하는 순서는 질환에서 시작하지 않는다. 유성 생식의 이유 → 성 결정의 세 단계 → 기관 구조 → 두 생식세포 형성 과정의 차이 → 축과 GnRH 박동성 → 월경 주기 → 되먹임 전환 → 수정과 임신 유지 → 시작과 종료를 세우면, 질환은 그 틀의 어느 자리가 어떻게 틀어진 상태인지로 정리된다.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유성 생식이 유전적 다양성을 만드는 세 기전을 쓰고, 다양성이 왜 이점이 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교차는 meiosis I 전기에 상동염색체가 일부를 교환하는 것이고, 독립적 분리는 23쌍의 상동염색체가 서로 독립적으로 나뉘어 약 840만 가지 조합을 만드는 것이며, 무작위 수정은 어느 정자와 어느 난자가 만날지가 무작위인 것으로 조합이 두 번 곱해져 약 70조 가지가 된다. 환경이 변할 때 집단 안에 다양한 유전형이 있으면 적합한 개체가 존재할 확률이 높아진다. 특히 세대가 짧아 빠르게 변하는 병원체에 대한 저항성에서 이 이점이 크다.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 결정의 세 단계를 쓰고 각 단계의 결정 요인을 지목하시오. 남성 발달에 촉진과 억제가 모두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유전적 성은 수정 시 정자가 가진 X 또는 Y가, 생식샘 성은 발생 7주경 SRY의 발현 여부가, 표현형 성은 생식샘이 만드는 호르몬이 결정한다. 발생 초기에는 남녀 모두 Wolffian duct와 Müllerian duct를 함께 가지고 있다. 따라서 남성이 되려면 testosterone이 Wolffian duct를 발달시키는 촉진과 AMH가 Müllerian duct를 퇴화시키는 억제가 모두 필요하다. 여성은 두 물질이 모두 없으면 되므로 호르몬을 필요로 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Androgen 불감 증후군과 5알파-reductase 결핍의 표현형 차이를 설명하고, 이 차이가 testosterone과 DHT의 역할 분담을 어떻게 보여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Androgen 불감 증후군은 XY이고 고환이 testosterone과 AMH를 정상 분비하지만 수용체 결함으로 androgen이 전혀 작용하지 못한다. AMH 작용으로 Müllerian duct는 퇴화하고, testosterone이 작용하지 못해 Wolffian duct도 발달하지 않으며, 외부 생식기는 여성형이 된다. 5알파-reductase 결핍에서는 testosterone은 작용하므로 내부 생식관이 남성형으로 발달하지만, DHT가 만들어지지 않아 외부 생식기만 모호하다. 즉 내부 생식관은 testosterone이, 외부 생식기는 DHT가 담당한다.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Sertoli cell과 Leydig cell의 역할을 구분하고 각각 어느 뇌하수체 호르몬의 표적인지 쓰시오. Sertoli cell이 만드는 장벽의 필요성을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Sertoli cell은 FSH의 표적이며 생식세포를 감싸 영양과 신호를 공급하고 inhibin을 분비하며, 발생기에는 AMH를 분비한다. Leydig cell은 LH의 표적이며 cholesterol로부터 testosterone을 만든다. Sertoli cell 사이의 tight junction이 만드는 혈액-고환 장벽은 혈액 성분과 면역 세포가 생식세포에 닿지 못하게 한다. 생식세포는 반수체이고 재조합되어 있어 체세포와 유전적으로 다르므로 면역계가 이물질로 인식할 수 있기 때문이다.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Oogenesis에서 분열이 불균등하게 일어나 극체를 만드는 이유를 설명하고, 정자가 세포질을 버리는 것과 대비하시오.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수정 후 초기 배아는 외부에서 영양을 받지 못하고 난자가 가진 저장분으로 분열해야 하므로, 한 세포에 가능한 많은 세포질과 저장 물질을 모으는 것이 유리하다. 염색체 수를 줄이는 목적은 달성하면서 세포질은 나누지 않는 방법이 극체다. 정자는 유전물질을 운반하는 역할만 하므로 반대로 세포질을 거의 모두 버리고 운동 장치만 남긴다.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GnRH를 연속적으로 투여하면 왜 LH와 FSH 분비가 억제되는지 설명하고, 이 성질의 임상적 응용을 두 방향으로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연속 자극에 의해 뇌하수체의 GnRH 수용체가 down-regulation되어 반응이 사라지므로, 처음의 상승 뒤 수 일 안에 LH와 FSH가 거의 0으로 떨어진다. 박동성 분비는 수용체가 회복할 시간을 주어 민감도를 유지한다. 응용은 두 방향이다. 시상하부 문제로 GnRH가 나오지 않는 환자에게 박동 방식으로 투여하면 축이 회복된다. 반대로 GnRH 작용제를 연속 투여하면 성 steroid 생산을 억제할 수 있어 전립샘암, 자궁내막증, 조기 사춘기, 보조 생식술에서 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Estrogen이 음성 되먹임 호르몬인데도 배란 직전에 LH 급증이 일어나는 모순을 해결하시오. 이 구조의 생리적 의미를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Estrogen의 되먹임 방향이 농도와 지속 시간에 따라 바뀐다. 낮거나 중간 농도에서는 음성 되먹임으로 LH를 억제하지만, 매우 높은 농도가 약 36시간 이상 지속되면 양성 되먹임으로 전환해 GnRH 분비와 뇌하수체의 GnRH 민감도를 크게 높인다. 생리적 의미는 estrogen 농도가 follicle의 성숙도를 보고하는 신호로 쓰인다는 점이다. Follicle이 충분히 자라야 역치를 넘으므로, 난자가 준비되었을 때만 배란이 일어난다.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LH 급증이 일으키는 세 가지 결과를 쓰고, 급증이 스스로 종료되는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follicle 벽을 분해하는 효소를 유도해 배란을 일으키고, 둘째 태아기부터 멈춰 있던 meiosis I을 완료시키고, 셋째 남은 follicle 세포를 progesterone을 만드는 황체로 바꾼다. 황체가 만드는 progesterone이 강한 음성 되먹임으로 작용해 LH를 떨어뜨리므로, 급증은 자신이 만든 결과에 의해 종료된다. 양성 되먹임이 종료 시점을 가진다는 조건이 충족된다.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XIV, Chapters 81–83.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IX, Chapters 53–56.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Melmed S, Auchus RJ, Goldfine AB, et al., eds. Williams Textbook of Endocrinology. 14th ed. Elsevier; 2020. Sections on reproductive endocrinology.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Strauss JF, Barbieri RL, eds. Yen &amp; Jaffe's Reproductive Endocrinology. 8th ed. Elsevier;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14th ed. Wolters Kluwer; 2018. Chapter 16, Urogenital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10, Reproductive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