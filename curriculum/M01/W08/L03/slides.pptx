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핵공 복합체의 구조와 두 가지 투과 양식. 8중 대칭의 세포질 섬유·막 고리·핵 바구니 배치, FG 반복 사슬이 메운 중앙 통로, 작은 분자의 수동 확산과 수용체 매개 촉진 수송의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 기울기에 의한 수송 방향의 결정. 핵 안의 RCC1과 세포질의 RanGAP이 만드는 Ran-GTP 농도 기울기, importin이 핵에서 기질을 놓는 과정과 exportin이 핵에서 기질을 잡는 과정, 그리고 Ran 자체가 NTF2에 의해 핵으로 되돌아오는 재순환을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실험은 그 구간을 없애거나 변이시켜 단백질이 더 이상 핵으로 가지 않음을 보이는 것이다. 이것은 그 구간이 필요하다는 것을 보인다. 두 번째 실험은 그 구간을 원래 핵에 가지 않는 다른 단백질에 붙여 그 단백질이 핵으로 들어감을 보이는 것이다. 이것은 그 구간이 충분하다는 것을 보인다. 둘이 모두 필요한 이유는 각각만으로는 다른 해석이 남기 때문이다. 제거 실험만 하면 그 구간의 결손이 단백질의 접힘을 망가뜨려 간접적으로 수송을 막은 경우를 배제할 수 없고, 부착 실험만 하면 그 구간이 원래 단백질에서 실제로 쓰이는 신호인지(다른 신호가 주로 작동할 수도 있다) 확정할 수 없다. 필요성과 충분성을 함께 보이는 쌍방향 설계가 신호 동정의 표준이며, SV40 큰 T 항원의 NLS가 이 방식으로 확립되었다. 부착 실험에서는 수동 확산의 가능성을 배제하기 위해 융합 단백질의 크기를 40 kDa보다 충분히 크게 만드는 것이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양방향이 모두 멈춘다. 근거는 Ran-GTP가 importin과 exportin에게 정반대의 의미를 가진다는 데 있다. 가수분해가 일어나지 않으면 Ran-GTP가 세포질에도 쌓여 농도 기울기가 사라진다. 들여오기에서는 importin이 세포질에서 이미 Ran-GTP와 결합하게 되고, 그 결합이 기질을 밀어내므로 importin이 기질을 싣지 못한다. 따라서 NLS를 가진 단백질이 핵으로 들어가지 못한다. 내보내기에서는 exportin이 Ran-GTP가 있을 때 기질을 붙잡으므로, 세포질에 도착해도 Ran-GTP가 떨어지지 않아 기질을 놓지 못한다. 결과적으로 기질이 핵공 주변에 붙잡힌 채 방출되지 않는다. 즉 수송의 방향성은 Ran-GTP의 공간적 분리에서 나오는 것이므로, 분리가 사라지면 두 방향의 알짜 흐름이 모두 없어진다. 추가로 Ran 기울기는 분열기 방추 조립에도 쓰이므로 분열 이상이 함께 나타날 것으로 예상된다.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핵공은 두 가지 양식으로 물질을 통과시킨다. 약 40 kDa 이하의 작은 분자는 FG 사슬이 메운 통로를 신호 없이 수동 확산으로 지날 수 있고, 그보다 큰 분자는 수송 수용체에 실려야만 통과한다. 30 kDa 단백질은 수동 확산의 범위에 있으므로 신호가 없어도 양쪽을 자유롭게 오가며 평형에 이르러 고르게 분포한다. 60 kDa 형태는 그 한계를 넘으므로 수동 확산이 막히고, 핵 국소화 신호가 없어 수용체에도 실리지 않아 세포질에 남는다. 들여보내려면 핵 국소화 신호를 붙이면 된다. 염기성 잔기가 몰린 짧은 구간(예: SV40 큰 T 항원의 PKKKRKV)을 융합하면 importin α가 읽고 importin β가 핵공을 통과시킨다. 이 실험 설계는 신호의 효과를 보려 할 때 수동 확산을 먼저 차단해야 한다는 원칙을 보여 주며, 그래서 신호 연구에서는 작은 보고 단백질을 일부러 크게 만들어 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위치다. Signal sequence는 대개 N 말단에 있고 NLS는 단백질 내부 어디에나 있을 수 있다. Signal sequence는 사슬이 합성되는 동안 가장 먼저 나와야 SRP가 인식해 번역을 소포체 막으로 끌고 갈 수 있으므로 N 말단이어야 하고, NLS는 완성되어 접힌 단백질 위에서 읽히므로 위치가 자유롭다. 둘째, 제거 여부다. Signal sequence는 막을 통과하는 동안 signal peptidase에 의해 잘려 나가고 NLS는 남는다. 분비 단백질은 한 번 소포체에 들어가면 다시 세포질로 돌아갈 일이 없지만, 핵 단백질은 세포 분열 때 핵막이 해체되어 세포질에 섞이므로 분열마다 같은 신호를 다시 써야 한다. 셋째, 통과하는 사슬의 상태다. 소포체로의 수송은 사슬이 펴진 상태로 번역과 동시에 막을 통과하지만, 핵 수송은 완전히 접힌 단백질이 접힌 상태로 핵공을 지난다. 핵공의 통로가 충분히 넓어 거대 복합체도 통과할 수 있기 때문이다. 이 차이 때문에 핵에는 ribosome 소단위처럼 이미 조립된 거대 구조물도 드나들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mRNA의 수출은 가공의 완료와 묶여 있다. 전사와 가공이 진행되는 동안 cap 결합 복합체, splicing을 수행한 spliceosome이 남긴 exon junction complex, 3′ 말단 가공 인자가 전사체 위에 실리고, 이 인자들이 수출 수용체 NXF1-NXT1을 불러온다. 즉 가공을 거쳤다는 사실 자체가 수출 허가증이다. Intron이 남은 전사체에는 이 인자들이 제대로 실리지 않고 대신 핵 내 감시 기구가 붙잡아 분해로 보낸다. HIV-1은 이 관문을 Rev 단백질로 우회한다. 바이러스 RNA에는 Rev가 결합하는 구조(Rev response element)가 있고, Rev는 핵 수출 신호를 가지고 있어 숙주의 exportin CRM1을 끌어온다. 그 결과 splicing되지 않은 전장 전사체가 핵을 떠나 유전체 RNA로 포장되거나 Gag-Pol의 번역에 쓰인다. 임상적 함의는 두 가지다. 첫째, 하나의 전사 단위에서 splicing 정도가 다른 여러 전사체를 모두 쓰는 바이러스의 전략이 가능해진다. 둘째, Rev–RRE 상호작용과 CRM1 의존 수출이 치료 표적의 후보가 된다. 다만 CRM1은 숙주의 필수 경로이므로 선택성을 얻기 어렵다는 한계가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조직 특이성에는 두 가지 설명이 제시된다. 첫째, 기계적 부하다. 핵막층은 핵의 모양과 강도를 유지하고 LINC 복합체를 통해 세포질의 세포골격과 연결되어 있으므로, 심장과 뼈대근육처럼 반복적인 힘을 받는 조직에서 약해진 핵이 먼저 손상된다. 둘째, 발현 조절이다. 핵막층은 전사가 억제된 염색질 구간을 붙잡고 있고 그 구간의 구성은 세포 종류마다 다르므로, 같은 결손이 조직마다 다른 유전자군의 발현 변화로 나타난다. 지방이상증에서 지방세포 분화 전사인자가 영향을 받는 것이 그 예로 제시된다. 조로증(Hutchinson–Gilford progeria)은 기전이 다르다. 전형적 변이는 아미노산을 바꾸지 않는 겉보기 silent 변이이면서 내부의 약한 splice site를 활성화해 50잔기가 빠진 progerin을 만든다. 빠진 구간에 farnesyl기를 제거하기 위한 절단 부위가 들어 있으므로, progerin은 farnesyl기를 영구히 달고 내막에 박혀 축적된다. 즉 다른 표현형은 대개 기능 상실 또는 부분적 기능 이상이지만 조로증은 독성 획득이며, 그래서 farnesyltransferase 억제제가 치료로 시도된다.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핵소체가 미리 만들어진 구조물 안에서 기능이 수행되는 것이 아니라, 기능이 수행되는 자리에서 구조가 생겨난다는 것을 말한다. 핵소체는 막으로 둘러싸여 있지 않고, rRNA 유전자가 모여 전사되는 자리에 rRNA와 결합 단백질이 다가 상호작용으로 모여 주변 핵질과 구별되는 상태를 이루는 것이다. 전사가 멈추면 모으는 힘이 사라져 구성 성분이 핵질로 흩어지고, 전사를 다시 켜면 그 자리에서 다시 모인다. 또한 다시 나타나는 자리가 같다는 사실은 rRNA 유전자가 있는 염색체 구간(핵소체 조직 영역)이 위치를 지정한다는 것을 보여 준다. 같은 원리가 적용되는 구획으로는 splicing 인자가 모인 nuclear speckle, 스트레스에서 번역이 멈춘 전사체가 모이는 stress granule, 분해 효소가 모인 P body가 있다. 이들은 모두 막이 없고, 구성 성분이 주변과 빠르게 교환되며, 무정형 영역이 많은 단백질로 이루어져 있다. 다만 세포 안의 농도에서 상 분리가 실제로 일어나는지, 구획화가 기능에 필요한지는 아직 논쟁 중이다.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미세핵의 핵막은 불완전하게 조립되어 쉽게 터진다. 첫째 결과는 유전체 재배열이다. 터진 미세핵의 DNA가 세포질에 노출되면 손상을 입어 수십 조각으로 부서지고, 세포가 다음 분열에서 이 조각들을 무작위로 다시 이어 붙이면 한 염색체에 국한된 대규모 재배열, 즉 chromothripsis가 생긴다. 종양 유전체에서 관찰되는 이 양상이 한 번의 재난적 사건으로 설명되는 근거이며, 증폭된 구간이 염색체 밖 고리 DNA로 떨어져 나와 비멘델 방식으로 분배되는 현상과도 연결된다. 둘째 결과는 염증이다. 세포질의 DNA를 감지하는 cGAS–STING 경로가 켜져 인터페론 반응과 염증 신호가 생긴다. 이 축은 양면적이다. 염증이 종양의 성장을 돕기도 하고, 면역계가 종양을 인식하는 계기가 되기도 한다. 염색체 불안정성이 큰 종양에서 면역치료의 반응이 달라지는 현상을 이 경로로 설명하려는 연구가 진행된다. 요점은 핵막 재조립의 실패가 유전체 불안정성과 자연 면역 활성화를 동시에 만든다는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논리는 종양 억제 단백질의 위치를 되돌리는 것이다. p53, p21, FOXO, IκB 같은 단백질은 핵 수출 신호를 가지고 있어 CRM1에 의해 핵에서 내보내지는데, 일부 종양에서는 이 수출이 과도해 단백질이 세포질에 머물며 전사 조절 기능을 수행하지 못한다. CRM1을 억제하면 이들이 핵에 붙잡혀 분열 정지와 세포사멸을 유도할 수 있다. 서열에 변이가 없어도 기능이 회복될 수 있다는 점이 이 접근의 특징이다. Multiple myeloma에서 selinexor가 승인되었다. 한계는 세 가지다. 첫째, CRM1은 수백 종의 기질을 내보내는 숙주의 필수 경로이므로, 억제가 정상 세포에도 광범위하게 작용해 식욕 저하, 구역, 혈구 감소 같은 부작용이 흔하다. 둘째, 치료 범위는 종양이 이 수송에 더 의존한다는 전제에서만 생기므로, 어떤 종양이 그런지를 미리 가려낼 표지가 필요하다. 셋째, p53이 변이로 기능을 잃은 종양에서는 핵에 붙잡아 두어도 효과를 기대할 수 없으므로 유전형에 따라 반응이 갈린다. 따라서 이 부류의 약은 단독보다 병합으로, 그리고 의존성을 보이는 환자군을 가려내어 쓰는 방향으로 개발된다.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전달 과정에는 두 개의 막 장벽이 있다. 세포막과 핵막이다. 지질 나노입자나 전기천공으로 세포막을 넘긴 플라스미드 DNA는 크고 핵 국소화 신호를 가지지 않으므로 핵공을 통한 촉진 수송에 실리지 못하고, 수동 확산의 크기 한계를 크게 넘으므로 핵으로 들어가지 못한다. 분열하는 세포에서는 M기에 핵막이 해체되는 동안 DNA가 염색체 주변에 놓였다가 핵막이 다시 닫힐 때 핵 안에 갇히게 되므로 발현이 일어난다. 따라서 분열이 핵 진입의 기회를 준다는 것이 전통적인 설명이며, 분열하지 않는 세포(신경세포, 심근세포, 휴지기 세포)에서는 그 기회가 없어 효율이 급격히 떨어진다. 같은 이유로 retrovirus 벡터도 분열하는 세포만 감염시킨다. Lentivirus는 capsid가 핵공 복합체와 상호작용해 핵막이 닫힌 상태에서도 유전체를 핵 안으로 들여보낼 수 있으므로 이 제약을 받지 않으며, 분열하지 않는 조혈모세포나 신경세포에도 유전자를 넣을 수 있다. 이것이 체외 유전자 치료에서 lentivirus 벡터가 널리 쓰이는 이유다. mRNA를 쓰는 전달은 핵에 들어갈 필요가 없으므로 이 장벽 자체를 피한다는 점도 함께 알아 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핵과 핵-세포질 수송</a:t>
            </a:r>
          </a:p>
          <a:p>
            <a:r>
              <a:rPr sz="1500" b="0" i="0">
                <a:solidFill>
                  <a:srgbClr val="B9D2E8"/>
                </a:solidFill>
                <a:latin typeface="Malgun Gothic"/>
                <a:ea typeface="Malgun Gothic"/>
                <a:cs typeface="Malgun Gothic"/>
              </a:rPr>
              <a:t>The Nucleus and Nucleocytoplasmic Transport</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M01-W08-L03</a:t>
            </a:r>
          </a:p>
          <a:p>
            <a:r>
              <a:rPr sz="1100" b="0" i="0">
                <a:solidFill>
                  <a:srgbClr val="9FBEDA"/>
                </a:solidFill>
                <a:latin typeface="Malgun Gothic"/>
                <a:ea typeface="Malgun Gothic"/>
                <a:cs typeface="Malgun Gothic"/>
              </a:rPr>
              <a:t>8주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핵막의 구조를 세 요소로 나누어 설명하고 핵막이 소포체와 연속이라는 사실의 의미를 쓴다.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핵공 복합체의 구성과 선택적 투과의 두 양식을 구분하고 크기에 따른 통과 방식을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핵 국소화 신호와 핵 수출 신호의 특성을 쓰고 importin·exportin에 의한 수송 주기를 서술한다.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Ran GTPase의 농도 기울기가 수송의 방향을 정하는 기전을 설명하고 그 기울기가 유지되는 방식을 쓴다.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신호 전달과 발생에서 핵 수송 조절이 쓰이는 예를 들고 수송 조절의 세 가지 방식을 구분한다.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RNA의 종류별 수출 경로를 비교하고 mRNA 수출이 가공 완료와 묶여 있는 이유를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핵막층의 구성과 기능을 쓰고 핵막층 유전자 변이가 조직 특이적 질환을 만드는 이유를 논한다.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핵소체의 구조를 세 구역으로 나누어 ribosome 조립 과정과 대응시키고 핵소체 스트레스의 결과를 쓴다.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세포 분열에서 핵막이 해체되고 재조립되는 과정을 인산화 조절과 함께 서술한다.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핵 수송을 표적으로 하는 약물과 바이러스의 전략을 들고 그 분자적 근거를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염색체 영역, A/B compartment와 핵막 결합 구역, 핵소체 조직 영역</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M01-W07-L01 RNA 합성과 가공 — 가공이 핵 밖 수송의 전제가 된다는 점, rRNA 가공과 핵소체</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M01-W08-L01 번역 후 가공, 단백질 접힘과 분해 — 인산화에 의한 조절, 가역적 수식</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인지질 이중층, 막단백질의 배치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핵이 해결하는 문제와 핵막의 구조</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핵공 복합체의 구조와 두 가지 투과 양식</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핵 국소화 신호와 수용체에 의한 수송</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Ran 기울기가 방향을 정한다</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수송의 조절 — 위치가 신호가 된다</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RNA의 수출</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핵막층과 내막 단백질</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핵소체 — 막 없는 구획의 모범 사례</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세포 분열에서의 핵막 해체와 재조립</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핵 경계를 표적으로 하는 약물과 감염</a:t>
            </a:r>
          </a:p>
          <a:p>
            <a:pPr>
              <a:spcAft>
                <a:spcPts val="900"/>
              </a:spcAft>
            </a:pPr>
            <a:r>
              <a:rPr sz="2000" b="1" i="0">
                <a:solidFill>
                  <a:srgbClr val="F2B705"/>
                </a:solidFill>
                <a:latin typeface="Malgun Gothic"/>
                <a:ea typeface="Malgun Gothic"/>
                <a:cs typeface="Malgun Gothic"/>
              </a:rPr>
              <a:t>11.  </a:t>
            </a:r>
            <a:r>
              <a:rPr sz="2000" b="0" i="0">
                <a:solidFill>
                  <a:srgbClr val="11202B"/>
                </a:solidFill>
                <a:latin typeface="Malgun Gothic"/>
                <a:ea typeface="Malgun Gothic"/>
                <a:cs typeface="Malgun Gothic"/>
              </a:rPr>
              <a:t>11.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핵이 해결하는 문제와 핵막의 구조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Prokaryote는 전사와 번역을 같은 공간에서 동시에 수행한다. 전사체의 5′ 쪽에 이미 ribosome이 붙어 번역이 시작되므로, 전사된 RNA가 가공을 거칠 시간도 없고 거칠 필요도 없다. Eukaryote가 핵막을 두어 두 과정을 공간적으로 나눈 결과가 무엇인지를 먼저 분명히 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가공이 가능해진다.</a:t>
            </a:r>
            <a:r>
              <a:rPr sz="1400" b="0" i="0">
                <a:solidFill>
                  <a:srgbClr val="11202B"/>
                </a:solidFill>
                <a:latin typeface="Malgun Gothic"/>
                <a:ea typeface="Malgun Gothic"/>
                <a:cs typeface="Malgun Gothic"/>
              </a:rPr>
              <a:t> 전사체가 ribosome에 닿기 전에 cap이 붙고 intron이 제거되고 poly(A)가 붙는다. 번역이 전사와 동시에 일어난다면 intron이 제거되기 전에 번역이 시작되어 잘못된 단백질이 만들어진다. </a:t>
            </a:r>
            <a:r>
              <a:rPr sz="1400" b="1" i="0">
                <a:solidFill>
                  <a:srgbClr val="11202B"/>
                </a:solidFill>
                <a:latin typeface="Malgun Gothic"/>
                <a:ea typeface="Malgun Gothic"/>
                <a:cs typeface="Malgun Gothic"/>
              </a:rPr>
              <a:t>Intron을 가진 유전자 구조가 성립할 수 있는 전제가 핵막</a:t>
            </a:r>
            <a:r>
              <a:rPr sz="1400" b="0" i="0">
                <a:solidFill>
                  <a:srgbClr val="11202B"/>
                </a:solidFill>
                <a:latin typeface="Malgun Gothic"/>
                <a:ea typeface="Malgun Gothic"/>
                <a:cs typeface="Malgun Gothic"/>
              </a:rPr>
              <a:t>이라고 말할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조절 지점이 늘어난다.</a:t>
            </a:r>
            <a:r>
              <a:rPr sz="1400" b="0" i="0">
                <a:solidFill>
                  <a:srgbClr val="11202B"/>
                </a:solidFill>
                <a:latin typeface="Malgun Gothic"/>
                <a:ea typeface="Malgun Gothic"/>
                <a:cs typeface="Malgun Gothic"/>
              </a:rPr>
              <a:t> 전사와 번역 사이에 "핵을 떠날 수 있는가"라는 관문이 생긴다. 가공이 완료되지 않은 전사체는 핵에 머물다 분해되고, 완료된 것만 나간다. 또 전사인자를 핵 밖에 붙잡아 두었다가 신호가 오면 들여보내는 방식으로, </a:t>
            </a:r>
            <a:r>
              <a:rPr sz="1400" b="1" i="0">
                <a:solidFill>
                  <a:srgbClr val="11202B"/>
                </a:solidFill>
                <a:latin typeface="Malgun Gothic"/>
                <a:ea typeface="Malgun Gothic"/>
                <a:cs typeface="Malgun Gothic"/>
              </a:rPr>
              <a:t>단백질의 위치 자체가 조절 수단</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셋째, 비용이 생긴다.</a:t>
            </a:r>
            <a:r>
              <a:rPr sz="1400" b="0" i="0">
                <a:solidFill>
                  <a:srgbClr val="11202B"/>
                </a:solidFill>
                <a:latin typeface="Malgun Gothic"/>
                <a:ea typeface="Malgun Gothic"/>
                <a:cs typeface="Malgun Gothic"/>
              </a:rPr>
              <a:t> 모든 핵 단백질은 세포질에서 만들어진 뒤 핵으로 들어와야 하고, 모든 RNA는 핵을 떠나야 한다. 이 왕복 수송에 전용 기구와 에너지가 필요하다. 이 수업은 그 기구를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핵을 둘러싼 구조는 세 요소로 이루어진다.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핵막(nuclear envelope)</a:t>
            </a:r>
            <a:r>
              <a:rPr sz="1400" b="0" i="0">
                <a:solidFill>
                  <a:srgbClr val="11202B"/>
                </a:solidFill>
                <a:latin typeface="Malgun Gothic"/>
                <a:ea typeface="Malgun Gothic"/>
                <a:cs typeface="Malgun Gothic"/>
              </a:rPr>
              <a:t>: 두 겹의 막이다. </a:t>
            </a:r>
            <a:r>
              <a:rPr sz="1400" b="1" i="0">
                <a:solidFill>
                  <a:srgbClr val="11202B"/>
                </a:solidFill>
                <a:latin typeface="Malgun Gothic"/>
                <a:ea typeface="Malgun Gothic"/>
                <a:cs typeface="Malgun Gothic"/>
              </a:rPr>
              <a:t>외막</a:t>
            </a:r>
            <a:r>
              <a:rPr sz="1400" b="0" i="0">
                <a:solidFill>
                  <a:srgbClr val="11202B"/>
                </a:solidFill>
                <a:latin typeface="Malgun Gothic"/>
                <a:ea typeface="Malgun Gothic"/>
                <a:cs typeface="Malgun Gothic"/>
              </a:rPr>
              <a:t>은 소포체 막과 연속이고 그 표면에 ribosome이 붙어 있다. </a:t>
            </a:r>
            <a:r>
              <a:rPr sz="1400" b="1" i="0">
                <a:solidFill>
                  <a:srgbClr val="11202B"/>
                </a:solidFill>
                <a:latin typeface="Malgun Gothic"/>
                <a:ea typeface="Malgun Gothic"/>
                <a:cs typeface="Malgun Gothic"/>
              </a:rPr>
              <a:t>내막</a:t>
            </a:r>
            <a:r>
              <a:rPr sz="1400" b="0" i="0">
                <a:solidFill>
                  <a:srgbClr val="11202B"/>
                </a:solidFill>
                <a:latin typeface="Malgun Gothic"/>
                <a:ea typeface="Malgun Gothic"/>
                <a:cs typeface="Malgun Gothic"/>
              </a:rPr>
              <a:t>은 핵 안쪽을 향하며 고유한 막단백질을 가진다. 두 막 사이의 공간(perinuclear space, 20~40 nm)은 소포체 내강과 통한다. 외막이 소포체와 연속이라는 사실의 의미가 두 가지다. 핵막의 지질이 소포체에서 공급되고, 내막의 막단백질이 소포체에서 만들어진 뒤 막을 따라 이동해 자리를 잡는다.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핵이 해결하는 문제와 핵막의 구조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핵공 복합체(nuclear pore complex)</a:t>
            </a:r>
            <a:r>
              <a:rPr sz="1800" b="0" i="0">
                <a:solidFill>
                  <a:srgbClr val="11202B"/>
                </a:solidFill>
                <a:latin typeface="Malgun Gothic"/>
                <a:ea typeface="Malgun Gothic"/>
                <a:cs typeface="Malgun Gothic"/>
              </a:rPr>
              <a:t>: 두 막이 융합되어 생긴 구멍에 끼워진 거대 단백질 복합체다. 핵과 세포질 사이의 모든 물질 교환이 여기를 지난다.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핵막층(nuclear lamina)</a:t>
            </a:r>
            <a:r>
              <a:rPr sz="1800" b="0" i="0">
                <a:solidFill>
                  <a:srgbClr val="11202B"/>
                </a:solidFill>
                <a:latin typeface="Malgun Gothic"/>
                <a:ea typeface="Malgun Gothic"/>
                <a:cs typeface="Malgun Gothic"/>
              </a:rPr>
              <a:t>: 내막 안쪽에 붙은 섬유 그물이다. 핵의 모양을 유지하고 염색질을 붙잡는다.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핵의 지름은 보통 5~10 μm이고, 사람 체세포의 핵공 복합체 수는 2,000~4,000개 수준이다. 분열이 왕성한 세포에서는 더 많다. 핵공 하나를 지나는 왕복량이 상당하다. 성장하는 세포에서는 분당 수백 개의 ribosome 소단위가 핵을 떠나고, 그에 더해 histone과 ribosome 단백질, 전사·복제 기구가 끊임없이 들어온다.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핵이 해결하는 문제와 핵막의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핵막은 전사와 번역을 분리해 가공을 가능하게 하고 "핵을 떠날 수 있는가"라는 조절 관문을 만든다. 그 대가로 모든 핵 단백질과 모든 RNA가 핵공을 통과해야 하며, 그 통과를 담당하는 기구가 이 수업의 주제다.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핵공 복합체의 구조와 두 가지 투과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핵공 복합체는 세포에서 가장 큰 단백질 복합체 가운데 하나다. 사람에서 질량이 약 110 MDa이고, 약 30종의 </a:t>
            </a:r>
            <a:r>
              <a:rPr sz="1600" b="1" i="0">
                <a:solidFill>
                  <a:srgbClr val="11202B"/>
                </a:solidFill>
                <a:latin typeface="Malgun Gothic"/>
                <a:ea typeface="Malgun Gothic"/>
                <a:cs typeface="Malgun Gothic"/>
              </a:rPr>
              <a:t>nucleoporin</a:t>
            </a:r>
            <a:r>
              <a:rPr sz="1600" b="0" i="0">
                <a:solidFill>
                  <a:srgbClr val="11202B"/>
                </a:solidFill>
                <a:latin typeface="Malgun Gothic"/>
                <a:ea typeface="Malgun Gothic"/>
                <a:cs typeface="Malgun Gothic"/>
              </a:rPr>
              <a:t>이 각각 여러 copy로 모여 </a:t>
            </a:r>
            <a:r>
              <a:rPr sz="1600" b="1" i="0">
                <a:solidFill>
                  <a:srgbClr val="11202B"/>
                </a:solidFill>
                <a:latin typeface="Malgun Gothic"/>
                <a:ea typeface="Malgun Gothic"/>
                <a:cs typeface="Malgun Gothic"/>
              </a:rPr>
              <a:t>8중 대칭</a:t>
            </a:r>
            <a:r>
              <a:rPr sz="1600" b="0" i="0">
                <a:solidFill>
                  <a:srgbClr val="11202B"/>
                </a:solidFill>
                <a:latin typeface="Malgun Gothic"/>
                <a:ea typeface="Malgun Gothic"/>
                <a:cs typeface="Malgun Gothic"/>
              </a:rPr>
              <a:t> 구조를 이룬다. 배치는 세 부분이다. 세포질 쪽으로 뻗은 </a:t>
            </a:r>
            <a:r>
              <a:rPr sz="1600" b="1" i="0">
                <a:solidFill>
                  <a:srgbClr val="11202B"/>
                </a:solidFill>
                <a:latin typeface="Malgun Gothic"/>
                <a:ea typeface="Malgun Gothic"/>
                <a:cs typeface="Malgun Gothic"/>
              </a:rPr>
              <a:t>섬유(filament)</a:t>
            </a:r>
            <a:r>
              <a:rPr sz="1600" b="0" i="0">
                <a:solidFill>
                  <a:srgbClr val="11202B"/>
                </a:solidFill>
                <a:latin typeface="Malgun Gothic"/>
                <a:ea typeface="Malgun Gothic"/>
                <a:cs typeface="Malgun Gothic"/>
              </a:rPr>
              <a:t>, 막에 박힌 </a:t>
            </a:r>
            <a:r>
              <a:rPr sz="1600" b="1" i="0">
                <a:solidFill>
                  <a:srgbClr val="11202B"/>
                </a:solidFill>
                <a:latin typeface="Malgun Gothic"/>
                <a:ea typeface="Malgun Gothic"/>
                <a:cs typeface="Malgun Gothic"/>
              </a:rPr>
              <a:t>고리와 뼈대</a:t>
            </a:r>
            <a:r>
              <a:rPr sz="1600" b="0" i="0">
                <a:solidFill>
                  <a:srgbClr val="11202B"/>
                </a:solidFill>
                <a:latin typeface="Malgun Gothic"/>
                <a:ea typeface="Malgun Gothic"/>
                <a:cs typeface="Malgun Gothic"/>
              </a:rPr>
              <a:t>, 그리고 핵 안쪽의 </a:t>
            </a:r>
            <a:r>
              <a:rPr sz="1600" b="1" i="0">
                <a:solidFill>
                  <a:srgbClr val="11202B"/>
                </a:solidFill>
                <a:latin typeface="Malgun Gothic"/>
                <a:ea typeface="Malgun Gothic"/>
                <a:cs typeface="Malgun Gothic"/>
              </a:rPr>
              <a:t>바구니(basket)</a:t>
            </a:r>
            <a:r>
              <a:rPr sz="1600" b="0" i="0">
                <a:solidFill>
                  <a:srgbClr val="11202B"/>
                </a:solidFill>
                <a:latin typeface="Malgun Gothic"/>
                <a:ea typeface="Malgun Gothic"/>
                <a:cs typeface="Malgun Gothic"/>
              </a:rPr>
              <a:t> 구조다. 전체는 지름 약 100 nm의 통이고, 가운데 통로의 유효 지름은 약 40 nm다.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통로가 그렇게 넓은데도 아무것이나 지나가지 못한다. 통로의 안쪽 벽이 특수한 성질을 가진 nucleoporin으로 덮여 있기 때문이다. 이들은 phenylalanine과 glycine이 반복되는 </a:t>
            </a:r>
            <a:r>
              <a:rPr sz="1600" b="1" i="0">
                <a:solidFill>
                  <a:srgbClr val="11202B"/>
                </a:solidFill>
                <a:latin typeface="Malgun Gothic"/>
                <a:ea typeface="Malgun Gothic"/>
                <a:cs typeface="Malgun Gothic"/>
              </a:rPr>
              <a:t>FG 반복</a:t>
            </a:r>
            <a:r>
              <a:rPr sz="1600" b="0" i="0">
                <a:solidFill>
                  <a:srgbClr val="11202B"/>
                </a:solidFill>
                <a:latin typeface="Malgun Gothic"/>
                <a:ea typeface="Malgun Gothic"/>
                <a:cs typeface="Malgun Gothic"/>
              </a:rPr>
              <a:t> 구간을 가지며, 그 구간은 고정된 구조를 갖지 않는 무정형 사슬이다. 수백 개의 FG 사슬이 통로를 느슨하게 메워, 물과 작은 분자는 통과하지만 큰 분자는 걸리는 </a:t>
            </a:r>
            <a:r>
              <a:rPr sz="1600" b="1" i="0">
                <a:solidFill>
                  <a:srgbClr val="11202B"/>
                </a:solidFill>
                <a:latin typeface="Malgun Gothic"/>
                <a:ea typeface="Malgun Gothic"/>
                <a:cs typeface="Malgun Gothic"/>
              </a:rPr>
              <a:t>그물 또는 상 분리된 겔</a:t>
            </a:r>
            <a:r>
              <a:rPr sz="1600" b="0" i="0">
                <a:solidFill>
                  <a:srgbClr val="11202B"/>
                </a:solidFill>
                <a:latin typeface="Malgun Gothic"/>
                <a:ea typeface="Malgun Gothic"/>
                <a:cs typeface="Malgun Gothic"/>
              </a:rPr>
              <a:t>처럼 작동한다. 수송 수용체는 이 FG 사슬과 약하게 결합하며 사슬 사이를 비집고 지나간다. </a:t>
            </a:r>
            <a:r>
              <a:rPr sz="1600" b="1" i="0">
                <a:solidFill>
                  <a:srgbClr val="11202B"/>
                </a:solidFill>
                <a:latin typeface="Malgun Gothic"/>
                <a:ea typeface="Malgun Gothic"/>
                <a:cs typeface="Malgun Gothic"/>
              </a:rPr>
              <a:t>열쇠는 구멍의 크기가 아니라 FG 사슬과 결합할 수 있는가</a:t>
            </a:r>
            <a:r>
              <a:rPr sz="1600" b="0" i="0">
                <a:solidFill>
                  <a:srgbClr val="11202B"/>
                </a:solidFill>
                <a:latin typeface="Malgun Gothic"/>
                <a:ea typeface="Malgun Gothic"/>
                <a:cs typeface="Malgun Gothic"/>
              </a:rPr>
              <a:t>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그래서 통과 양식이 둘로 갈린다.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핵공 복합체의 구조와 두 가지 투과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양식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에너지</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수동 확산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40 kDa 이하, 지름 5 nm 이하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FG 그물을 그대로 통과한다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필요 없다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촉진 수송</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신호를 가진 단백질과 RNA, 크기 제한 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수용체가 FG와 상호작용하며 운반한다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Ran의 GTP 가수분해에 기댄다</a:t>
                      </a:r>
                    </a:p>
                  </a:txBody>
                  <a:tcPr marL="73152" marR="73152" marT="27432" marB="27432">
                    <a:solidFill>
                      <a:srgbClr val="EFF4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핵공 복합체의 구조와 두 가지 투과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수동 확산의 한계가 약 40 kDa이라는 점에는 생물학적 결과가 있다. 작은 단백질은 신호가 없어도 핵에 들어갈 수 있으므로, 작은 단백질의 핵 안 농도를 조절하려면 </a:t>
            </a:r>
            <a:r>
              <a:rPr sz="1800" b="1" i="0">
                <a:solidFill>
                  <a:srgbClr val="11202B"/>
                </a:solidFill>
                <a:latin typeface="Malgun Gothic"/>
                <a:ea typeface="Malgun Gothic"/>
                <a:cs typeface="Malgun Gothic"/>
              </a:rPr>
              <a:t>핵 안에 붙잡아 두는 장치나 핵 밖으로 내보내는 신호</a:t>
            </a:r>
            <a:r>
              <a:rPr sz="1800" b="0" i="0">
                <a:solidFill>
                  <a:srgbClr val="11202B"/>
                </a:solidFill>
                <a:latin typeface="Malgun Gothic"/>
                <a:ea typeface="Malgun Gothic"/>
                <a:cs typeface="Malgun Gothic"/>
              </a:rPr>
              <a:t>가 따로 필요하다. 반대로 큰 단백질은 신호가 없으면 결코 들어가지 못하므로, 신호의 유무만으로 위치가 결정된다. 실험적으로는 작은 단백질에 큰 단백질을 융합해 수동 확산을 막은 뒤 신호의 효과를 보는 설계가 쓰인다.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핵공 복합체의 구조와 두 가지 투과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11</a:t>
            </a:r>
          </a:p>
        </p:txBody>
      </p:sp>
      <p:pic>
        <p:nvPicPr>
          <p:cNvPr id="7" name="Picture 6" descr="fig-npc.slide.png"/>
          <p:cNvPicPr>
            <a:picLocks noChangeAspect="1"/>
          </p:cNvPicPr>
          <p:nvPr/>
        </p:nvPicPr>
        <p:blipFill>
          <a:blip r:embed="rId2"/>
          <a:stretch>
            <a:fillRect/>
          </a:stretch>
        </p:blipFill>
        <p:spPr>
          <a:xfrm>
            <a:off x="2008816" y="1325880"/>
            <a:ext cx="817406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핵공 복합체의 구조와 두 가지 투과 양식. 8중 대칭의 세포질 섬유·막 고리·핵 바구니 배치, FG 반복 사슬이 메운 중앙 통로, 작은 분자의 수동 확산과 수용체 매개 촉진 수송의 차이를 함께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핵공 복합체의 구조와 두 가지 투과 양식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핵공 복합체가 만들어지는 방식도 두 가지다. 분열 직후에는 염색체 표면에 핵막이 다시 덮일 때 복합체가 </a:t>
            </a:r>
            <a:r>
              <a:rPr sz="1800" b="1" i="0">
                <a:solidFill>
                  <a:srgbClr val="11202B"/>
                </a:solidFill>
                <a:latin typeface="Malgun Gothic"/>
                <a:ea typeface="Malgun Gothic"/>
                <a:cs typeface="Malgun Gothic"/>
              </a:rPr>
              <a:t>한꺼번에 조립</a:t>
            </a:r>
            <a:r>
              <a:rPr sz="1800" b="0" i="0">
                <a:solidFill>
                  <a:srgbClr val="11202B"/>
                </a:solidFill>
                <a:latin typeface="Malgun Gothic"/>
                <a:ea typeface="Malgun Gothic"/>
                <a:cs typeface="Malgun Gothic"/>
              </a:rPr>
              <a:t>되고, 간기에는 이미 닫혀 있는 두 겹 막 사이에 새 구멍을 뚫으며 </a:t>
            </a:r>
            <a:r>
              <a:rPr sz="1800" b="1" i="0">
                <a:solidFill>
                  <a:srgbClr val="11202B"/>
                </a:solidFill>
                <a:latin typeface="Malgun Gothic"/>
                <a:ea typeface="Malgun Gothic"/>
                <a:cs typeface="Malgun Gothic"/>
              </a:rPr>
              <a:t>하나씩 끼워 넣는</a:t>
            </a:r>
            <a:r>
              <a:rPr sz="1800" b="0" i="0">
                <a:solidFill>
                  <a:srgbClr val="11202B"/>
                </a:solidFill>
                <a:latin typeface="Malgun Gothic"/>
                <a:ea typeface="Malgun Gothic"/>
                <a:cs typeface="Malgun Gothic"/>
              </a:rPr>
              <a:t> 방식으로 수가 늘어난다. 후자는 두 막을 융합시켜야 하므로 전용 인자가 필요하고, 세포가 자라면서 핵이 커질 때 핵공 수를 맞추는 수단이 된다. 핵공의 수는 고정된 값이 아니라 </a:t>
            </a:r>
            <a:r>
              <a:rPr sz="1800" b="1" i="0">
                <a:solidFill>
                  <a:srgbClr val="11202B"/>
                </a:solidFill>
                <a:latin typeface="Malgun Gothic"/>
                <a:ea typeface="Malgun Gothic"/>
                <a:cs typeface="Malgun Gothic"/>
              </a:rPr>
              <a:t>세포의 성장 속도와 수송 요구에 맞추어 조절되는 양</a:t>
            </a:r>
            <a:r>
              <a:rPr sz="1800" b="0" i="0">
                <a:solidFill>
                  <a:srgbClr val="11202B"/>
                </a:solidFill>
                <a:latin typeface="Malgun Gothic"/>
                <a:ea typeface="Malgun Gothic"/>
                <a:cs typeface="Malgun Gothic"/>
              </a:rPr>
              <a:t>이며, 분열이 왕성한 세포와 단백질 합성이 많은 세포에서 많다.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핵 국소화 신호와 수용체에 의한 수송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핵으로 들여보내는 주소가 </a:t>
            </a:r>
            <a:r>
              <a:rPr sz="1400" b="1" i="0">
                <a:solidFill>
                  <a:srgbClr val="11202B"/>
                </a:solidFill>
                <a:latin typeface="Malgun Gothic"/>
                <a:ea typeface="Malgun Gothic"/>
                <a:cs typeface="Malgun Gothic"/>
              </a:rPr>
              <a:t>핵 국소화 신호(nuclear localization signal, NLS)</a:t>
            </a:r>
            <a:r>
              <a:rPr sz="1400" b="0" i="0">
                <a:solidFill>
                  <a:srgbClr val="11202B"/>
                </a:solidFill>
                <a:latin typeface="Malgun Gothic"/>
                <a:ea typeface="Malgun Gothic"/>
                <a:cs typeface="Malgun Gothic"/>
              </a:rPr>
              <a:t>다. 1984년에 SV40 바이러스의 큰 T 항원에서 처음 동정되었다. 실험의 논리가 명확하다. 큰 T 항원의 특정 짧은 구간에 변이를 주면 단백질이 세포질에 남고, 반대로 그 구간을 핵에 가지 않는 다른 단백질(예: pyruvate kinase)에 붙이면 그 단백질이 핵으로 들어간다. </a:t>
            </a:r>
            <a:r>
              <a:rPr sz="1400" b="1" i="0">
                <a:solidFill>
                  <a:srgbClr val="11202B"/>
                </a:solidFill>
                <a:latin typeface="Malgun Gothic"/>
                <a:ea typeface="Malgun Gothic"/>
                <a:cs typeface="Malgun Gothic"/>
              </a:rPr>
              <a:t>떼면 가지 않고 붙이면 간다</a:t>
            </a:r>
            <a:r>
              <a:rPr sz="1400" b="0" i="0">
                <a:solidFill>
                  <a:srgbClr val="11202B"/>
                </a:solidFill>
                <a:latin typeface="Malgun Gothic"/>
                <a:ea typeface="Malgun Gothic"/>
                <a:cs typeface="Malgun Gothic"/>
              </a:rPr>
              <a:t>는 쌍방향 실험이 그 구간이 신호임을 증명한다.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NLS의 성질을 정리해 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짧다.</a:t>
            </a:r>
            <a:r>
              <a:rPr sz="1400" b="0" i="0">
                <a:solidFill>
                  <a:srgbClr val="11202B"/>
                </a:solidFill>
                <a:latin typeface="Malgun Gothic"/>
                <a:ea typeface="Malgun Gothic"/>
                <a:cs typeface="Malgun Gothic"/>
              </a:rPr>
              <a:t> 전형적인 고전적 NLS는 7~20잔기다.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염기성 잔기가 많다.</a:t>
            </a:r>
            <a:r>
              <a:rPr sz="1400" b="0" i="0">
                <a:solidFill>
                  <a:srgbClr val="11202B"/>
                </a:solidFill>
                <a:latin typeface="Malgun Gothic"/>
                <a:ea typeface="Malgun Gothic"/>
                <a:cs typeface="Malgun Gothic"/>
              </a:rPr>
              <a:t> Lysine과 arginine이 몰려 있다. 큰 T 항원의 NLS는 PKKKRKV다. 두 덩어리로 나뉘어 10~12잔기 간격을 두는 </a:t>
            </a:r>
            <a:r>
              <a:rPr sz="1400" b="1" i="0">
                <a:solidFill>
                  <a:srgbClr val="11202B"/>
                </a:solidFill>
                <a:latin typeface="Malgun Gothic"/>
                <a:ea typeface="Malgun Gothic"/>
                <a:cs typeface="Malgun Gothic"/>
              </a:rPr>
              <a:t>이분(bipartite)</a:t>
            </a:r>
            <a:r>
              <a:rPr sz="1400" b="0" i="0">
                <a:solidFill>
                  <a:srgbClr val="11202B"/>
                </a:solidFill>
                <a:latin typeface="Malgun Gothic"/>
                <a:ea typeface="Malgun Gothic"/>
                <a:cs typeface="Malgun Gothic"/>
              </a:rPr>
              <a:t> 형식도 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위치가 자유롭다.</a:t>
            </a:r>
            <a:r>
              <a:rPr sz="1400" b="0" i="0">
                <a:solidFill>
                  <a:srgbClr val="11202B"/>
                </a:solidFill>
                <a:latin typeface="Malgun Gothic"/>
                <a:ea typeface="Malgun Gothic"/>
                <a:cs typeface="Malgun Gothic"/>
              </a:rPr>
              <a:t> N 말단, 내부, C 말단 어디에 있어도 작동한다. 이 점이 소포체로 보내는 signal sequence와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제거되지 않는다.</a:t>
            </a:r>
            <a:r>
              <a:rPr sz="1400" b="0" i="0">
                <a:solidFill>
                  <a:srgbClr val="11202B"/>
                </a:solidFill>
                <a:latin typeface="Malgun Gothic"/>
                <a:ea typeface="Malgun Gothic"/>
                <a:cs typeface="Malgun Gothic"/>
              </a:rPr>
              <a:t> Signal sequence는 수송 뒤 잘려 나가지만 NLS는 남는다. 세포 분열 때 핵막이 해체되고 단백질이 세포질에 섞이므로, </a:t>
            </a:r>
            <a:r>
              <a:rPr sz="1400" b="1" i="0">
                <a:solidFill>
                  <a:srgbClr val="11202B"/>
                </a:solidFill>
                <a:latin typeface="Malgun Gothic"/>
                <a:ea typeface="Malgun Gothic"/>
                <a:cs typeface="Malgun Gothic"/>
              </a:rPr>
              <a:t>다시 들어갈 때 같은 신호를 또 써야 하기 때문</a:t>
            </a:r>
            <a:r>
              <a:rPr sz="1400" b="0" i="0">
                <a:solidFill>
                  <a:srgbClr val="11202B"/>
                </a:solidFill>
                <a:latin typeface="Malgun Gothic"/>
                <a:ea typeface="Malgun Gothic"/>
                <a:cs typeface="Malgun Gothic"/>
              </a:rPr>
              <a:t>이다. 이 차이는 수송 방식의 차이에서 바로 따라 나온다.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핵 국소화 신호와 수용체에 의한 수송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수송을 수행하는 수용체가 </a:t>
            </a:r>
            <a:r>
              <a:rPr sz="1400" b="1" i="0">
                <a:solidFill>
                  <a:srgbClr val="11202B"/>
                </a:solidFill>
                <a:latin typeface="Malgun Gothic"/>
                <a:ea typeface="Malgun Gothic"/>
                <a:cs typeface="Malgun Gothic"/>
              </a:rPr>
              <a:t>importin</a:t>
            </a:r>
            <a:r>
              <a:rPr sz="1400" b="0" i="0">
                <a:solidFill>
                  <a:srgbClr val="11202B"/>
                </a:solidFill>
                <a:latin typeface="Malgun Gothic"/>
                <a:ea typeface="Malgun Gothic"/>
                <a:cs typeface="Malgun Gothic"/>
              </a:rPr>
              <a:t> 계열이다. 고전적 경로에서는 importin α가 NLS를 직접 읽고, importin β가 FG 반복과 상호작용하며 복합체를 핵공을 통해 끌고 들어간다. 즉 importin α는 </a:t>
            </a:r>
            <a:r>
              <a:rPr sz="1400" b="1" i="0">
                <a:solidFill>
                  <a:srgbClr val="11202B"/>
                </a:solidFill>
                <a:latin typeface="Malgun Gothic"/>
                <a:ea typeface="Malgun Gothic"/>
                <a:cs typeface="Malgun Gothic"/>
              </a:rPr>
              <a:t>어댑터</a:t>
            </a:r>
            <a:r>
              <a:rPr sz="1400" b="0" i="0">
                <a:solidFill>
                  <a:srgbClr val="11202B"/>
                </a:solidFill>
                <a:latin typeface="Malgun Gothic"/>
                <a:ea typeface="Malgun Gothic"/>
                <a:cs typeface="Malgun Gothic"/>
              </a:rPr>
              <a:t>, importin β는 </a:t>
            </a:r>
            <a:r>
              <a:rPr sz="1400" b="1" i="0">
                <a:solidFill>
                  <a:srgbClr val="11202B"/>
                </a:solidFill>
                <a:latin typeface="Malgun Gothic"/>
                <a:ea typeface="Malgun Gothic"/>
                <a:cs typeface="Malgun Gothic"/>
              </a:rPr>
              <a:t>운반체</a:t>
            </a:r>
            <a:r>
              <a:rPr sz="1400" b="0" i="0">
                <a:solidFill>
                  <a:srgbClr val="11202B"/>
                </a:solidFill>
                <a:latin typeface="Malgun Gothic"/>
                <a:ea typeface="Malgun Gothic"/>
                <a:cs typeface="Malgun Gothic"/>
              </a:rPr>
              <a:t>다. 핵 안에서 복합체가 풀리면 importin은 다시 세포질로 돌아가 다음 기질을 받는다. 사람에는 importin β 계열(karyopherin)이 20종 이상 있어 서로 다른 기질군을 담당하며, 어댑터 없이 기질을 직접 읽는 것도 많다.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반대 방향의 주소도 있다. </a:t>
            </a:r>
            <a:r>
              <a:rPr sz="1400" b="1" i="0">
                <a:solidFill>
                  <a:srgbClr val="11202B"/>
                </a:solidFill>
                <a:latin typeface="Malgun Gothic"/>
                <a:ea typeface="Malgun Gothic"/>
                <a:cs typeface="Malgun Gothic"/>
              </a:rPr>
              <a:t>핵 수출 신호(nuclear export signal, NES)</a:t>
            </a:r>
            <a:r>
              <a:rPr sz="1400" b="0" i="0">
                <a:solidFill>
                  <a:srgbClr val="11202B"/>
                </a:solidFill>
                <a:latin typeface="Malgun Gothic"/>
                <a:ea typeface="Malgun Gothic"/>
                <a:cs typeface="Malgun Gothic"/>
              </a:rPr>
              <a:t>는 leucine을 비롯한 소수성 잔기가 일정 간격으로 배치된 짧은 구간이고, </a:t>
            </a:r>
            <a:r>
              <a:rPr sz="1400" b="1" i="0">
                <a:solidFill>
                  <a:srgbClr val="11202B"/>
                </a:solidFill>
                <a:latin typeface="Malgun Gothic"/>
                <a:ea typeface="Malgun Gothic"/>
                <a:cs typeface="Malgun Gothic"/>
              </a:rPr>
              <a:t>exportin(대표적으로 CRM1, 다른 이름은 XPO1)</a:t>
            </a:r>
            <a:r>
              <a:rPr sz="1400" b="0" i="0">
                <a:solidFill>
                  <a:srgbClr val="11202B"/>
                </a:solidFill>
                <a:latin typeface="Malgun Gothic"/>
                <a:ea typeface="Malgun Gothic"/>
                <a:cs typeface="Malgun Gothic"/>
              </a:rPr>
              <a:t>이 이를 읽어 기질을 세포질로 내보낸다.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수송은 </a:t>
            </a:r>
            <a:r>
              <a:rPr sz="1400" b="1" i="0">
                <a:solidFill>
                  <a:srgbClr val="11202B"/>
                </a:solidFill>
                <a:latin typeface="Malgun Gothic"/>
                <a:ea typeface="Malgun Gothic"/>
                <a:cs typeface="Malgun Gothic"/>
              </a:rPr>
              <a:t>방향에 따라 결합과 해리의 순서가 반대</a:t>
            </a:r>
            <a:r>
              <a:rPr sz="1400" b="0" i="0">
                <a:solidFill>
                  <a:srgbClr val="11202B"/>
                </a:solidFill>
                <a:latin typeface="Malgun Gothic"/>
                <a:ea typeface="Malgun Gothic"/>
                <a:cs typeface="Malgun Gothic"/>
              </a:rPr>
              <a:t>라는 점이 핵심이다. Importin은 세포질에서 기질과 결합하고 핵에서 놓아야 한다. Exportin은 핵에서 기질과 결합하고 세포질에서 놓아야 한다. 같은 수용체가 두 공간에서 반대로 행동하려면, 두 공간을 구별하는 신호가 필요하다. 그 신호가 다음 절의 Ran 기울기다.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Ran 기울기가 방향을 정한다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Ran</a:t>
            </a:r>
            <a:r>
              <a:rPr sz="1400" b="0" i="0">
                <a:solidFill>
                  <a:srgbClr val="11202B"/>
                </a:solidFill>
                <a:latin typeface="Malgun Gothic"/>
                <a:ea typeface="Malgun Gothic"/>
                <a:cs typeface="Malgun Gothic"/>
              </a:rPr>
              <a:t>은 작은 GTP 결합 단백질이다. GTP가 붙은 상태와 GDP가 붙은 상태를 오가며, 두 상태의 구조가 달라 수송 수용체와의 결합이 달라진다. 결정적인 사실은 두 상태가 </a:t>
            </a:r>
            <a:r>
              <a:rPr sz="1400" b="1" i="0">
                <a:solidFill>
                  <a:srgbClr val="11202B"/>
                </a:solidFill>
                <a:latin typeface="Malgun Gothic"/>
                <a:ea typeface="Malgun Gothic"/>
                <a:cs typeface="Malgun Gothic"/>
              </a:rPr>
              <a:t>공간적으로 분리되어 있다</a:t>
            </a:r>
            <a:r>
              <a:rPr sz="1400" b="0" i="0">
                <a:solidFill>
                  <a:srgbClr val="11202B"/>
                </a:solidFill>
                <a:latin typeface="Malgun Gothic"/>
                <a:ea typeface="Malgun Gothic"/>
                <a:cs typeface="Malgun Gothic"/>
              </a:rPr>
              <a:t>는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 안에는 Ran의 GDP를 GTP로 바꿔 주는 교환인자 </a:t>
            </a:r>
            <a:r>
              <a:rPr sz="1400" b="1" i="0">
                <a:solidFill>
                  <a:srgbClr val="11202B"/>
                </a:solidFill>
                <a:latin typeface="Malgun Gothic"/>
                <a:ea typeface="Malgun Gothic"/>
                <a:cs typeface="Malgun Gothic"/>
              </a:rPr>
              <a:t>RCC1</a:t>
            </a:r>
            <a:r>
              <a:rPr sz="1400" b="0" i="0">
                <a:solidFill>
                  <a:srgbClr val="11202B"/>
                </a:solidFill>
                <a:latin typeface="Malgun Gothic"/>
                <a:ea typeface="Malgun Gothic"/>
                <a:cs typeface="Malgun Gothic"/>
              </a:rPr>
              <a:t>이 있고, RCC1은 염색질에 붙어 있어 핵을 떠나지 않는다. 따라서 핵 안의 Ran은 대부분 </a:t>
            </a:r>
            <a:r>
              <a:rPr sz="1400" b="1" i="0">
                <a:solidFill>
                  <a:srgbClr val="11202B"/>
                </a:solidFill>
                <a:latin typeface="Malgun Gothic"/>
                <a:ea typeface="Malgun Gothic"/>
                <a:cs typeface="Malgun Gothic"/>
              </a:rPr>
              <a:t>Ran-GTP</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세포질에는 Ran의 GTP 가수분해를 촉진하는 </a:t>
            </a:r>
            <a:r>
              <a:rPr sz="1400" b="1" i="0">
                <a:solidFill>
                  <a:srgbClr val="11202B"/>
                </a:solidFill>
                <a:latin typeface="Malgun Gothic"/>
                <a:ea typeface="Malgun Gothic"/>
                <a:cs typeface="Malgun Gothic"/>
              </a:rPr>
              <a:t>RanGAP</a:t>
            </a:r>
            <a:r>
              <a:rPr sz="1400" b="0" i="0">
                <a:solidFill>
                  <a:srgbClr val="11202B"/>
                </a:solidFill>
                <a:latin typeface="Malgun Gothic"/>
                <a:ea typeface="Malgun Gothic"/>
                <a:cs typeface="Malgun Gothic"/>
              </a:rPr>
              <a:t>과 보조 인자가 있다. 따라서 세포질의 Ran은 대부분 </a:t>
            </a:r>
            <a:r>
              <a:rPr sz="1400" b="1" i="0">
                <a:solidFill>
                  <a:srgbClr val="11202B"/>
                </a:solidFill>
                <a:latin typeface="Malgun Gothic"/>
                <a:ea typeface="Malgun Gothic"/>
                <a:cs typeface="Malgun Gothic"/>
              </a:rPr>
              <a:t>Ran-GDP</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결과는 핵막을 가로지르는 </a:t>
            </a:r>
            <a:r>
              <a:rPr sz="1400" b="1" i="0">
                <a:solidFill>
                  <a:srgbClr val="11202B"/>
                </a:solidFill>
                <a:latin typeface="Malgun Gothic"/>
                <a:ea typeface="Malgun Gothic"/>
                <a:cs typeface="Malgun Gothic"/>
              </a:rPr>
              <a:t>Ran-GTP의 농도 기울기</a:t>
            </a:r>
            <a:r>
              <a:rPr sz="1400" b="0" i="0">
                <a:solidFill>
                  <a:srgbClr val="11202B"/>
                </a:solidFill>
                <a:latin typeface="Malgun Gothic"/>
                <a:ea typeface="Malgun Gothic"/>
                <a:cs typeface="Malgun Gothic"/>
              </a:rPr>
              <a:t>다. 이 기울기가 수송의 방향을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들여오기(import)의 주기</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세포질에서 importin이 NLS를 가진 기질과 결합한다. Ran-GTP 농도가 낮으므로 결합이 유지된다. 2. 복합체가 핵공을 통과한다. 3. 핵 안에서 Ran-GTP가 importin에 결합하고, 그 결합이 기질을 밀어낸다. 기질이 핵에 남는다. 4. Importin은 Ran-GTP를 달고 세포질로 돌아온다. 5. 세포질에서 RanGAP이 GTP를 가수분해하면 Ran-GDP가 떨어지고, importin이 다음 기질을 받을 수 있는 상태가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내보내기(export)의 주기</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핵 안에서 exportin이 NES를 가진 기질과 </a:t>
            </a:r>
            <a:r>
              <a:rPr sz="1400" b="1" i="0">
                <a:solidFill>
                  <a:srgbClr val="11202B"/>
                </a:solidFill>
                <a:latin typeface="Malgun Gothic"/>
                <a:ea typeface="Malgun Gothic"/>
                <a:cs typeface="Malgun Gothic"/>
              </a:rPr>
              <a:t>Ran-GTP와 함께</a:t>
            </a:r>
            <a:r>
              <a:rPr sz="1400" b="0" i="0">
                <a:solidFill>
                  <a:srgbClr val="11202B"/>
                </a:solidFill>
                <a:latin typeface="Malgun Gothic"/>
                <a:ea typeface="Malgun Gothic"/>
                <a:cs typeface="Malgun Gothic"/>
              </a:rPr>
              <a:t> 삼중 복합체를 이룬다. Exportin은 Ran-GTP가 있을 때 기질에 대한 친화도가 높다. 2. 복합체가 핵공을 통과한다. 3. 세포질에서 GTP가 가수분해되면 복합체가 풀려 기질이 세포질에 놓인다. 4. Exportin이 핵으로 돌아간다.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Ran 기울기가 방향을 정한다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주기를 나란히 보면 원리가 하나로 보인다. </a:t>
            </a:r>
            <a:r>
              <a:rPr sz="2000" b="1" i="0">
                <a:solidFill>
                  <a:srgbClr val="11202B"/>
                </a:solidFill>
                <a:latin typeface="Malgun Gothic"/>
                <a:ea typeface="Malgun Gothic"/>
                <a:cs typeface="Malgun Gothic"/>
              </a:rPr>
              <a:t>Ran-GTP는 importin에게 "놓아라", exportin에게 "잡아라"라는 같은 신호로 작동한다.</a:t>
            </a:r>
            <a:r>
              <a:rPr sz="2000" b="0" i="0">
                <a:solidFill>
                  <a:srgbClr val="11202B"/>
                </a:solidFill>
                <a:latin typeface="Malgun Gothic"/>
                <a:ea typeface="Malgun Gothic"/>
                <a:cs typeface="Malgun Gothic"/>
              </a:rPr>
              <a:t> 그리고 Ran-GTP가 있는 곳이 핵 안뿐이므로, importin은 핵에서 놓고 exportin은 핵에서 잡게 된다. 방향성이 수용체의 성질과 기울기의 조합에서 자동으로 나온다.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Ran 기울기가 방향을 정한다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17</a:t>
            </a:r>
          </a:p>
        </p:txBody>
      </p:sp>
      <p:pic>
        <p:nvPicPr>
          <p:cNvPr id="7" name="Picture 6" descr="fig-ran-cycle.slide.png"/>
          <p:cNvPicPr>
            <a:picLocks noChangeAspect="1"/>
          </p:cNvPicPr>
          <p:nvPr/>
        </p:nvPicPr>
        <p:blipFill>
          <a:blip r:embed="rId2"/>
          <a:stretch>
            <a:fillRect/>
          </a:stretch>
        </p:blipFill>
        <p:spPr>
          <a:xfrm>
            <a:off x="2008816" y="1325880"/>
            <a:ext cx="817406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Ran 기울기에 의한 수송 방향의 결정. 핵 안의 RCC1과 세포질의 RanGAP이 만드는 Ran-GTP 농도 기울기, importin이 핵에서 기질을 놓는 과정과 exportin이 핵에서 기질을 잡는 과정, 그리고 Ran 자체가 NTF2에 의해 핵으로 되돌아오는 재순환을 함께 보인다.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Ran 기울기가 방향을 정한다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에너지 수지를 짚어 둔다. 기질이 핵공을 통과하는 과정 자체에는 ATP가 쓰이지 않는다. 통과는 FG 사슬과의 상호작용에 기댄 확산에 가깝다. 에너지는 </a:t>
            </a:r>
            <a:r>
              <a:rPr sz="1800" b="1" i="0">
                <a:solidFill>
                  <a:srgbClr val="11202B"/>
                </a:solidFill>
                <a:latin typeface="Malgun Gothic"/>
                <a:ea typeface="Malgun Gothic"/>
                <a:cs typeface="Malgun Gothic"/>
              </a:rPr>
              <a:t>Ran의 GTP 가수분해</a:t>
            </a:r>
            <a:r>
              <a:rPr sz="1800" b="0" i="0">
                <a:solidFill>
                  <a:srgbClr val="11202B"/>
                </a:solidFill>
                <a:latin typeface="Malgun Gothic"/>
                <a:ea typeface="Malgun Gothic"/>
                <a:cs typeface="Malgun Gothic"/>
              </a:rPr>
              <a:t>에서 오고, 그 가수분해가 하는 일은 농도 기울기를 유지하는 것이다. 즉 이 체계는 </a:t>
            </a:r>
            <a:r>
              <a:rPr sz="1800" b="1" i="0">
                <a:solidFill>
                  <a:srgbClr val="11202B"/>
                </a:solidFill>
                <a:latin typeface="Malgun Gothic"/>
                <a:ea typeface="Malgun Gothic"/>
                <a:cs typeface="Malgun Gothic"/>
              </a:rPr>
              <a:t>기질을 밀어 넣는 펌프가 아니라, 결합과 해리의 위치를 고정해 알짜 흐름을 만드는 장치</a:t>
            </a:r>
            <a:r>
              <a:rPr sz="1800" b="0" i="0">
                <a:solidFill>
                  <a:srgbClr val="11202B"/>
                </a:solidFill>
                <a:latin typeface="Malgun Gothic"/>
                <a:ea typeface="Malgun Gothic"/>
                <a:cs typeface="Malgun Gothic"/>
              </a:rPr>
              <a:t>다. 가수분해된 Ran-GDP는 전용 운반체 NTF2에 의해 핵으로 되돌아와 다시 GTP를 받는다. Ran 자체가 끊임없이 왕복하며 기울기를 지탱한다.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Ran 기울기가 방향을 정한다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수송의 방향성 문제는 "기울기를 없애면 어떻게 되는가"로 출제된다. 세 가지를 예측할 수 있어야 한다. 첫째, </a:t>
            </a:r>
            <a:r>
              <a:rPr sz="1600" b="1" i="0">
                <a:solidFill>
                  <a:srgbClr val="11202B"/>
                </a:solidFill>
                <a:latin typeface="Malgun Gothic"/>
                <a:ea typeface="Malgun Gothic"/>
                <a:cs typeface="Malgun Gothic"/>
              </a:rPr>
              <a:t>GTP 가수분해가 불가능한 Ran 변이체</a:t>
            </a:r>
            <a:r>
              <a:rPr sz="1600" b="0" i="0">
                <a:solidFill>
                  <a:srgbClr val="11202B"/>
                </a:solidFill>
                <a:latin typeface="Malgun Gothic"/>
                <a:ea typeface="Malgun Gothic"/>
                <a:cs typeface="Malgun Gothic"/>
              </a:rPr>
              <a:t>를 넣으면 Ran-GTP가 세포질에도 쌓인다. 그러면 importin이 세포질에서 이미 기질을 놓아 버려 들여오기가 멈추고, exportin은 세포질에서도 기질을 붙잡고 있어 내보내기도 완결되지 않는다. </a:t>
            </a:r>
            <a:r>
              <a:rPr sz="1600" b="1" i="0">
                <a:solidFill>
                  <a:srgbClr val="11202B"/>
                </a:solidFill>
                <a:latin typeface="Malgun Gothic"/>
                <a:ea typeface="Malgun Gothic"/>
                <a:cs typeface="Malgun Gothic"/>
              </a:rPr>
              <a:t>양방향이 모두 멈춘다</a:t>
            </a:r>
            <a:r>
              <a:rPr sz="1600" b="0" i="0">
                <a:solidFill>
                  <a:srgbClr val="11202B"/>
                </a:solidFill>
                <a:latin typeface="Malgun Gothic"/>
                <a:ea typeface="Malgun Gothic"/>
                <a:cs typeface="Malgun Gothic"/>
              </a:rPr>
              <a:t>는 것이 요점이다. 둘째, RCC1을 핵에서 없애면 Ran-GTP가 만들어지지 않아 같은 결과가 된다. 셋째, 에너지를 고갈시키면 수동 확산은 남지만 촉진 수송은 멈추므로, 작은 단백질은 여전히 드나들고 큰 단백질만 멈춘다. 실험에서 "40 kDa 단백질은 정상인데 80 kDa 단백질만 핵에 들어가지 못한다"는 결과는 에너지나 Ran 체계의 이상을 가리킨다. 아울러 Ran 기울기는 수송 외에도 분열기 방추의 형성을 조절하므로, Ran 체계의 교란은 수송 장애와 분열 이상을 함께 만든다.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수송의 조절 — 위치가 신호가 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 수송은 상시 작동하는 배관이 아니다. 어떤 단백질이 언제 핵에 들어가는지를 조절하는 것 자체가 널리 쓰이는 신호 전달 방식이다. 조절의 방식은 세 가지로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신호를 가린다.</a:t>
            </a:r>
            <a:r>
              <a:rPr sz="1400" b="0" i="0">
                <a:solidFill>
                  <a:srgbClr val="11202B"/>
                </a:solidFill>
                <a:latin typeface="Malgun Gothic"/>
                <a:ea typeface="Malgun Gothic"/>
                <a:cs typeface="Malgun Gothic"/>
              </a:rPr>
              <a:t> 단백질이 다른 단백질과 결합해 NLS가 덮여 있으면 importin이 읽지 못한다. </a:t>
            </a:r>
            <a:r>
              <a:rPr sz="1400" b="1" i="0">
                <a:solidFill>
                  <a:srgbClr val="11202B"/>
                </a:solidFill>
                <a:latin typeface="Malgun Gothic"/>
                <a:ea typeface="Malgun Gothic"/>
                <a:cs typeface="Malgun Gothic"/>
              </a:rPr>
              <a:t>NF-κB</a:t>
            </a:r>
            <a:r>
              <a:rPr sz="1400" b="0" i="0">
                <a:solidFill>
                  <a:srgbClr val="11202B"/>
                </a:solidFill>
                <a:latin typeface="Malgun Gothic"/>
                <a:ea typeface="Malgun Gothic"/>
                <a:cs typeface="Malgun Gothic"/>
              </a:rPr>
              <a:t>가 표준 예다. 평소에 NF-κB는 억제자 IκB와 결합해 세포질에 머문다. 염증 신호가 오면 IκB가 인산화되어 ubiquitin 표지를 받고 proteasome에서 분해되며, 드러난 NLS가 읽혀 NF-κB가 핵으로 들어가 염증 유전자를 켠다. 전사인자는 이미 만들어져 있으므로 반응이 </a:t>
            </a:r>
            <a:r>
              <a:rPr sz="1400" b="1" i="0">
                <a:solidFill>
                  <a:srgbClr val="11202B"/>
                </a:solidFill>
                <a:latin typeface="Malgun Gothic"/>
                <a:ea typeface="Malgun Gothic"/>
                <a:cs typeface="Malgun Gothic"/>
              </a:rPr>
              <a:t>수 분 안에</a:t>
            </a:r>
            <a:r>
              <a:rPr sz="1400" b="0" i="0">
                <a:solidFill>
                  <a:srgbClr val="11202B"/>
                </a:solidFill>
                <a:latin typeface="Malgun Gothic"/>
                <a:ea typeface="Malgun Gothic"/>
                <a:cs typeface="Malgun Gothic"/>
              </a:rPr>
              <a:t> 일어난다. 새로 전사하고 번역해야 하는 조절보다 훨씬 빠르다.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신호를 인산화로 켜거나 끈다.</a:t>
            </a:r>
            <a:r>
              <a:rPr sz="1400" b="0" i="0">
                <a:solidFill>
                  <a:srgbClr val="11202B"/>
                </a:solidFill>
                <a:latin typeface="Malgun Gothic"/>
                <a:ea typeface="Malgun Gothic"/>
                <a:cs typeface="Malgun Gothic"/>
              </a:rPr>
              <a:t> NLS나 NES 주변의 인산화가 수용체의 결합을 바꾼다. </a:t>
            </a:r>
            <a:r>
              <a:rPr sz="1400" b="1" i="0">
                <a:solidFill>
                  <a:srgbClr val="11202B"/>
                </a:solidFill>
                <a:latin typeface="Malgun Gothic"/>
                <a:ea typeface="Malgun Gothic"/>
                <a:cs typeface="Malgun Gothic"/>
              </a:rPr>
              <a:t>NFAT</a:t>
            </a:r>
            <a:r>
              <a:rPr sz="1400" b="0" i="0">
                <a:solidFill>
                  <a:srgbClr val="11202B"/>
                </a:solidFill>
                <a:latin typeface="Malgun Gothic"/>
                <a:ea typeface="Malgun Gothic"/>
                <a:cs typeface="Malgun Gothic"/>
              </a:rPr>
              <a:t>는 세포질에서 인산화된 상태로 머물다가, Ca²⁺ 신호로 활성화된 calcineurin이 탈인산화하면 핵으로 들어간다. Cyclosporine과 tacrolimus가 calcineurin을 억제해 면역을 억제하는 지점이 바로 이것이다. 반대 방향의 예가 </a:t>
            </a:r>
            <a:r>
              <a:rPr sz="1400" b="1" i="0">
                <a:solidFill>
                  <a:srgbClr val="11202B"/>
                </a:solidFill>
                <a:latin typeface="Malgun Gothic"/>
                <a:ea typeface="Malgun Gothic"/>
                <a:cs typeface="Malgun Gothic"/>
              </a:rPr>
              <a:t>p53</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FOXO</a:t>
            </a:r>
            <a:r>
              <a:rPr sz="1400" b="0" i="0">
                <a:solidFill>
                  <a:srgbClr val="11202B"/>
                </a:solidFill>
                <a:latin typeface="Malgun Gothic"/>
                <a:ea typeface="Malgun Gothic"/>
                <a:cs typeface="Malgun Gothic"/>
              </a:rPr>
              <a:t>다. FOXO는 인산화되면 NES가 작동해 핵에서 나가고, 인슐린 신호가 끊기면 핵에 머물며 공복 반응 유전자를 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결합 상대를 바꾸어 붙잡아 둔다.</a:t>
            </a:r>
            <a:r>
              <a:rPr sz="1400" b="0" i="0">
                <a:solidFill>
                  <a:srgbClr val="11202B"/>
                </a:solidFill>
                <a:latin typeface="Malgun Gothic"/>
                <a:ea typeface="Malgun Gothic"/>
                <a:cs typeface="Malgun Gothic"/>
              </a:rPr>
              <a:t> 핵 안에서 염색질이나 다른 복합체에 붙으면 수출되지 않고 머문다. </a:t>
            </a:r>
            <a:r>
              <a:rPr sz="1400" b="1" i="0">
                <a:solidFill>
                  <a:srgbClr val="11202B"/>
                </a:solidFill>
                <a:latin typeface="Malgun Gothic"/>
                <a:ea typeface="Malgun Gothic"/>
                <a:cs typeface="Malgun Gothic"/>
              </a:rPr>
              <a:t>스테로이드 수용체</a:t>
            </a:r>
            <a:r>
              <a:rPr sz="1400" b="0" i="0">
                <a:solidFill>
                  <a:srgbClr val="11202B"/>
                </a:solidFill>
                <a:latin typeface="Malgun Gothic"/>
                <a:ea typeface="Malgun Gothic"/>
                <a:cs typeface="Malgun Gothic"/>
              </a:rPr>
              <a:t>는 리간드가 없으면 세포질에서 chaperone과 함께 있다가, 리간드가 붙으면 구조가 바뀌어 핵으로 들어가고 DNA에 결합해 머문다.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체계가 가진 공통점은 </a:t>
            </a:r>
            <a:r>
              <a:rPr sz="1400" b="1" i="0">
                <a:solidFill>
                  <a:srgbClr val="11202B"/>
                </a:solidFill>
                <a:latin typeface="Malgun Gothic"/>
                <a:ea typeface="Malgun Gothic"/>
                <a:cs typeface="Malgun Gothic"/>
              </a:rPr>
              <a:t>단백질의 양을 바꾸지 않고 위치만 바꾼다</a:t>
            </a:r>
            <a:r>
              <a:rPr sz="1400" b="0" i="0">
                <a:solidFill>
                  <a:srgbClr val="11202B"/>
                </a:solidFill>
                <a:latin typeface="Malgun Gothic"/>
                <a:ea typeface="Malgun Gothic"/>
                <a:cs typeface="Malgun Gothic"/>
              </a:rPr>
              <a:t>는 것이다. 합성과 분해를 거치지 않으므로 빠르고, 되돌릴 수 있다. 그래서 급한 반응과 반복되는 반응에 쓰인다.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수송의 조절 — 위치가 신호가 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256540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핵 수송의 조절은 약물 표적이 된다. </a:t>
            </a:r>
            <a:r>
              <a:rPr sz="1600" b="1" i="0">
                <a:solidFill>
                  <a:srgbClr val="11202B"/>
                </a:solidFill>
                <a:latin typeface="Malgun Gothic"/>
                <a:ea typeface="Malgun Gothic"/>
                <a:cs typeface="Malgun Gothic"/>
              </a:rPr>
              <a:t>Selinexor</a:t>
            </a:r>
            <a:r>
              <a:rPr sz="1600" b="0" i="0">
                <a:solidFill>
                  <a:srgbClr val="11202B"/>
                </a:solidFill>
                <a:latin typeface="Malgun Gothic"/>
                <a:ea typeface="Malgun Gothic"/>
                <a:cs typeface="Malgun Gothic"/>
              </a:rPr>
              <a:t>는 exportin CRM1(XPO1)을 억제해 핵 수출을 막는다. 종양에서 p53, p21, FOXO 같은 종양 억제 단백질이 핵 밖으로 과도하게 내보내져 기능을 못하는 경우가 있으므로, 수출을 막아 핵에 붙잡아 두면 기능이 회복된다는 논리다. Multiple myeloma에서 승인되었고 부작용은 수송 억제가 전신에 미치는 데서 온다. 반대 방향에서는 바이러스가 같은 경로를 이용한다. HIV-1의 Rev 단백질은 NES를 가지고 있어 CRM1을 이용해, splicing이 완료되지 않은 바이러스 RNA를 핵에서 내보낸다. 숙주 세포가 가공되지 않은 전사체를 핵에 억류하는 품질 관문을 Rev가 우회하는 것이다. Influenza virus의 NS1과 여러 바이러스 단백질은 핵공을 막아 숙주의 mRNA 수출을 차단하면서 자기 RNA만 내보낸다. </a:t>
            </a:r>
            <a:r>
              <a:rPr sz="1600" b="1" i="0">
                <a:solidFill>
                  <a:srgbClr val="11202B"/>
                </a:solidFill>
                <a:latin typeface="Malgun Gothic"/>
                <a:ea typeface="Malgun Gothic"/>
                <a:cs typeface="Malgun Gothic"/>
              </a:rPr>
              <a:t>같은 통로를 두고 숙주의 품질 관리와 바이러스의 우회가 충돌하는 지점</a:t>
            </a:r>
            <a:r>
              <a:rPr sz="1600" b="0" i="0">
                <a:solidFill>
                  <a:srgbClr val="11202B"/>
                </a:solidFill>
                <a:latin typeface="Malgun Gothic"/>
                <a:ea typeface="Malgun Gothic"/>
                <a:cs typeface="Malgun Gothic"/>
              </a:rPr>
              <a:t>이 핵공이다.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RNA의 수출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단백질은 신호를 가지고 수용체에 실려 나가지만, RNA는 종류마다 경로가 다르다. 그 차이를 정리하는 것이 이 절의 목표다.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RNA의 수출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RNA</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수출 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mRNA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NXF1(TAP)–NXT1 이종이량체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Karyopherin 계열이 아니고 Ran에 직접 의존하지 않는다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exportin-t(XPOT)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Ran-GTP 의존. 가공과 적재 상태를 확인한다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rRNA(ribosome 소단위)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CRM1 의존, 어댑터 단백질을 거친다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소단위 전체가 거대 복합체로 나간다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snRNA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CRM1 의존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세포질에서 단백질과 조립된 뒤 다시 핵으로 들어온다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microRNA 전구체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exportin-5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Ran-GTP 의존. 세포질에서 Dicer가 가공한다</a:t>
                      </a:r>
                    </a:p>
                  </a:txBody>
                  <a:tcPr marL="73152" marR="73152" marT="27432" marB="27432">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RNA의 수출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mRNA 수출이 특별하다. 수용체가 Ran에 직접 의존하지 않고, </a:t>
            </a:r>
            <a:r>
              <a:rPr sz="1400" b="1" i="0">
                <a:solidFill>
                  <a:srgbClr val="11202B"/>
                </a:solidFill>
                <a:latin typeface="Malgun Gothic"/>
                <a:ea typeface="Malgun Gothic"/>
                <a:cs typeface="Malgun Gothic"/>
              </a:rPr>
              <a:t>가공의 완료와 묶여 있다.</a:t>
            </a:r>
            <a:r>
              <a:rPr sz="1400" b="0" i="0">
                <a:solidFill>
                  <a:srgbClr val="11202B"/>
                </a:solidFill>
                <a:latin typeface="Malgun Gothic"/>
                <a:ea typeface="Malgun Gothic"/>
                <a:cs typeface="Malgun Gothic"/>
              </a:rPr>
              <a:t> 전사체가 만들어지는 동안 cap 결합 복합체, splicing을 수행한 spliceosome이 남긴 exon junction complex, 3′ 말단 가공 인자가 전사체 위에 쌓이고, 이 인자들이 수출 수용체 NXF1을 불러온다. 즉 </a:t>
            </a:r>
            <a:r>
              <a:rPr sz="1400" b="1" i="0">
                <a:solidFill>
                  <a:srgbClr val="11202B"/>
                </a:solidFill>
                <a:latin typeface="Malgun Gothic"/>
                <a:ea typeface="Malgun Gothic"/>
                <a:cs typeface="Malgun Gothic"/>
              </a:rPr>
              <a:t>가공을 거쳤다는 사실 자체가 수출 허가증</a:t>
            </a:r>
            <a:r>
              <a:rPr sz="1400" b="0" i="0">
                <a:solidFill>
                  <a:srgbClr val="11202B"/>
                </a:solidFill>
                <a:latin typeface="Malgun Gothic"/>
                <a:ea typeface="Malgun Gothic"/>
                <a:cs typeface="Malgun Gothic"/>
              </a:rPr>
              <a:t>이 된다. 가공이 완료되지 않은 전사체에는 수출 인자가 실리지 않고, 대신 핵 안의 감시 기구가 이를 붙잡아 분해한다. Intron이 남은 전사체가 핵을 떠나지 못하는 이유가 여기에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방향성이 어디서 오는지도 다르다. mRNA가 핵공을 통과한 뒤 세포질 쪽에서 helicase DDX19가 수출 인자를 떼어 내므로, 전사체가 다시 돌아갈 수 없다. </a:t>
            </a:r>
            <a:r>
              <a:rPr sz="1400" b="1" i="0">
                <a:solidFill>
                  <a:srgbClr val="11202B"/>
                </a:solidFill>
                <a:latin typeface="Malgun Gothic"/>
                <a:ea typeface="Malgun Gothic"/>
                <a:cs typeface="Malgun Gothic"/>
              </a:rPr>
              <a:t>핵에서 밀어내는 것이 아니라 세포질에서 되돌아가지 못하게 막는 방식</a:t>
            </a:r>
            <a:r>
              <a:rPr sz="1400" b="0" i="0">
                <a:solidFill>
                  <a:srgbClr val="11202B"/>
                </a:solidFill>
                <a:latin typeface="Malgun Gothic"/>
                <a:ea typeface="Malgun Gothic"/>
                <a:cs typeface="Malgun Gothic"/>
              </a:rPr>
              <a:t>으로 알짜 흐름이 만들어진다.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반대로 세포질에서 핵으로 들어가는 RNA도 있다. snRNA는 핵에서 전사된 뒤 세포질로 나가 Sm 단백질과 조립되고, 완성된 snRNP가 다시 핵으로 들어와 splicing에 쓰인다. 조립 단계를 세포질에서 수행하는 이 우회가 품질 관리의 일부로 해석된다. 이 과정에 관여하는 SMN 단백질의 결손이 척수근위축의 원인이며, snRNP 조립의 결함이 왜 운동신경세포를 먼저 침범하는지는 아직 정리되지 않은 문제다.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RNA의 수출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핵공과 수송의 이상은 신경퇴행과 연결되어 있다. *C9orf72*의 GGGGCC 반복 확장은 ALS와 전두측두엽 치매의 가장 흔한 유전적 원인인데, 확장된 반복에서 만들어지는 RNA와 비정규 번역 산물(dipeptide repeat 단백질)이 핵공 복합체의 구성 요소와 수송 인자를 격리해 핵-세포질 수송을 교란한다는 결과가 보고되었다. TDP-43의 세포질 축적과 핵에서의 소실이라는 이 질환군의 공통 병리도 수송 장애와 맞물려 해석된다. 핵공의 구성 요소는 일부 세포에서 평생 교체되지 않는 것으로 보고되어, 수명이 긴 신경세포에서 손상이 누적된다는 설명이 함께 제시된다.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핵막층과 내막 단백질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내막의 안쪽에는 </a:t>
            </a:r>
            <a:r>
              <a:rPr sz="1400" b="1" i="0">
                <a:solidFill>
                  <a:srgbClr val="11202B"/>
                </a:solidFill>
                <a:latin typeface="Malgun Gothic"/>
                <a:ea typeface="Malgun Gothic"/>
                <a:cs typeface="Malgun Gothic"/>
              </a:rPr>
              <a:t>핵막층(nuclear lamina)</a:t>
            </a:r>
            <a:r>
              <a:rPr sz="1400" b="0" i="0">
                <a:solidFill>
                  <a:srgbClr val="11202B"/>
                </a:solidFill>
                <a:latin typeface="Malgun Gothic"/>
                <a:ea typeface="Malgun Gothic"/>
                <a:cs typeface="Malgun Gothic"/>
              </a:rPr>
              <a:t>이 깔려 있다. 구성 단백질은 </a:t>
            </a:r>
            <a:r>
              <a:rPr sz="1400" b="1" i="0">
                <a:solidFill>
                  <a:srgbClr val="11202B"/>
                </a:solidFill>
                <a:latin typeface="Malgun Gothic"/>
                <a:ea typeface="Malgun Gothic"/>
                <a:cs typeface="Malgun Gothic"/>
              </a:rPr>
              <a:t>lamin</a:t>
            </a:r>
            <a:r>
              <a:rPr sz="1400" b="0" i="0">
                <a:solidFill>
                  <a:srgbClr val="11202B"/>
                </a:solidFill>
                <a:latin typeface="Malgun Gothic"/>
                <a:ea typeface="Malgun Gothic"/>
                <a:cs typeface="Malgun Gothic"/>
              </a:rPr>
              <a:t>이고, 중간섬유(intermediate filament) 계열에 속한다. 즉 핵막층은 세포질의 중간섬유와 같은 조립 원리를 쓰는 섬유 그물이며, actin이나 microtubule처럼 극성과 운동 단백질을 갖지 않고 </a:t>
            </a:r>
            <a:r>
              <a:rPr sz="1400" b="1" i="0">
                <a:solidFill>
                  <a:srgbClr val="11202B"/>
                </a:solidFill>
                <a:latin typeface="Malgun Gothic"/>
                <a:ea typeface="Malgun Gothic"/>
                <a:cs typeface="Malgun Gothic"/>
              </a:rPr>
              <a:t>장력을 견디는 구조</a:t>
            </a:r>
            <a:r>
              <a:rPr sz="1400" b="0" i="0">
                <a:solidFill>
                  <a:srgbClr val="11202B"/>
                </a:solidFill>
                <a:latin typeface="Malgun Gothic"/>
                <a:ea typeface="Malgun Gothic"/>
                <a:cs typeface="Malgun Gothic"/>
              </a:rPr>
              <a:t>로 작동한다.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Lamin은 두 부류로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A형 lamin</a:t>
            </a:r>
            <a:r>
              <a:rPr sz="1400" b="0" i="0">
                <a:solidFill>
                  <a:srgbClr val="11202B"/>
                </a:solidFill>
                <a:latin typeface="Malgun Gothic"/>
                <a:ea typeface="Malgun Gothic"/>
                <a:cs typeface="Malgun Gothic"/>
              </a:rPr>
              <a:t>: LMNA 하나의 유전자에서 대체 splicing으로 lamin A와 lamin C가 만들어진다. 분화한 세포에서 발현되고, 조직에 따라 양이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B형 lamin</a:t>
            </a:r>
            <a:r>
              <a:rPr sz="1400" b="0" i="0">
                <a:solidFill>
                  <a:srgbClr val="11202B"/>
                </a:solidFill>
                <a:latin typeface="Malgun Gothic"/>
                <a:ea typeface="Malgun Gothic"/>
                <a:cs typeface="Malgun Gothic"/>
              </a:rPr>
              <a:t>: *LMNB1*과 *LMNB2*에서 만들어진다. 거의 모든 세포에서 발현되며, farnesyl기가 영구적으로 붙어 내막에 단단히 고정된다.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핵막층이 하는 일은 네 가지다. 첫째, </a:t>
            </a:r>
            <a:r>
              <a:rPr sz="1400" b="1" i="0">
                <a:solidFill>
                  <a:srgbClr val="11202B"/>
                </a:solidFill>
                <a:latin typeface="Malgun Gothic"/>
                <a:ea typeface="Malgun Gothic"/>
                <a:cs typeface="Malgun Gothic"/>
              </a:rPr>
              <a:t>핵의 모양과 기계적 강도를 유지한다.</a:t>
            </a:r>
            <a:r>
              <a:rPr sz="1400" b="0" i="0">
                <a:solidFill>
                  <a:srgbClr val="11202B"/>
                </a:solidFill>
                <a:latin typeface="Malgun Gothic"/>
                <a:ea typeface="Malgun Gothic"/>
                <a:cs typeface="Malgun Gothic"/>
              </a:rPr>
              <a:t> 둘째, </a:t>
            </a:r>
            <a:r>
              <a:rPr sz="1400" b="1" i="0">
                <a:solidFill>
                  <a:srgbClr val="11202B"/>
                </a:solidFill>
                <a:latin typeface="Malgun Gothic"/>
                <a:ea typeface="Malgun Gothic"/>
                <a:cs typeface="Malgun Gothic"/>
              </a:rPr>
              <a:t>염색질을 붙잡는다.</a:t>
            </a:r>
            <a:r>
              <a:rPr sz="1400" b="0" i="0">
                <a:solidFill>
                  <a:srgbClr val="11202B"/>
                </a:solidFill>
                <a:latin typeface="Malgun Gothic"/>
                <a:ea typeface="Malgun Gothic"/>
                <a:cs typeface="Malgun Gothic"/>
              </a:rPr>
              <a:t> M01-W06-L02에서 다룬 핵막 결합 구역(LAD)이 이 그물에 붙어 있고, 그 구간은 대개 전사가 억제되어 있다. 셋째, </a:t>
            </a:r>
            <a:r>
              <a:rPr sz="1400" b="1" i="0">
                <a:solidFill>
                  <a:srgbClr val="11202B"/>
                </a:solidFill>
                <a:latin typeface="Malgun Gothic"/>
                <a:ea typeface="Malgun Gothic"/>
                <a:cs typeface="Malgun Gothic"/>
              </a:rPr>
              <a:t>핵공 복합체의 배치를 지탱한다.</a:t>
            </a:r>
            <a:r>
              <a:rPr sz="1400" b="0" i="0">
                <a:solidFill>
                  <a:srgbClr val="11202B"/>
                </a:solidFill>
                <a:latin typeface="Malgun Gothic"/>
                <a:ea typeface="Malgun Gothic"/>
                <a:cs typeface="Malgun Gothic"/>
              </a:rPr>
              <a:t> 넷째, </a:t>
            </a:r>
            <a:r>
              <a:rPr sz="1400" b="1" i="0">
                <a:solidFill>
                  <a:srgbClr val="11202B"/>
                </a:solidFill>
                <a:latin typeface="Malgun Gothic"/>
                <a:ea typeface="Malgun Gothic"/>
                <a:cs typeface="Malgun Gothic"/>
              </a:rPr>
              <a:t>세포질의 세포골격과 연결된다.</a:t>
            </a:r>
            <a:r>
              <a:rPr sz="1400" b="0" i="0">
                <a:solidFill>
                  <a:srgbClr val="11202B"/>
                </a:solidFill>
                <a:latin typeface="Malgun Gothic"/>
                <a:ea typeface="Malgun Gothic"/>
                <a:cs typeface="Malgun Gothic"/>
              </a:rPr>
              <a:t> 내막의 SUN 단백질과 외막의 KASH 단백질(nesprin)이 두 막을 가로질러 짝을 이루는 LINC 복합체를 만들어, 핵막층과 세포질의 actin·중간섬유·microtubule을 잇는다. 그래서 세포가 받는 기계적 힘이 핵까지 전달되고, 핵의 변형이 유전자 발현의 변화로 이어지는 </a:t>
            </a:r>
            <a:r>
              <a:rPr sz="1400" b="1" i="0">
                <a:solidFill>
                  <a:srgbClr val="11202B"/>
                </a:solidFill>
                <a:latin typeface="Malgun Gothic"/>
                <a:ea typeface="Malgun Gothic"/>
                <a:cs typeface="Malgun Gothic"/>
              </a:rPr>
              <a:t>기계적 신호 전달</a:t>
            </a:r>
            <a:r>
              <a:rPr sz="1400" b="0" i="0">
                <a:solidFill>
                  <a:srgbClr val="11202B"/>
                </a:solidFill>
                <a:latin typeface="Malgun Gothic"/>
                <a:ea typeface="Malgun Gothic"/>
                <a:cs typeface="Malgun Gothic"/>
              </a:rPr>
              <a:t>의 통로가 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핵막층과 내막 단백질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374396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LMNA 변이는 "하나의 유전자가 어떻게 여러 개의 전혀 다른 질환을 만드는가"라는 문제의 표준 사례로 출제된다. 보고된 표현형이 넓다. </a:t>
            </a:r>
            <a:r>
              <a:rPr sz="1600" b="1" i="0">
                <a:solidFill>
                  <a:srgbClr val="11202B"/>
                </a:solidFill>
                <a:latin typeface="Malgun Gothic"/>
                <a:ea typeface="Malgun Gothic"/>
                <a:cs typeface="Malgun Gothic"/>
              </a:rPr>
              <a:t>Emery–Dreifuss 근육병</a:t>
            </a:r>
            <a:r>
              <a:rPr sz="1600" b="0" i="0">
                <a:solidFill>
                  <a:srgbClr val="11202B"/>
                </a:solidFill>
                <a:latin typeface="Malgun Gothic"/>
                <a:ea typeface="Malgun Gothic"/>
                <a:cs typeface="Malgun Gothic"/>
              </a:rPr>
              <a:t>과 </a:t>
            </a:r>
            <a:r>
              <a:rPr sz="1600" b="1" i="0">
                <a:solidFill>
                  <a:srgbClr val="11202B"/>
                </a:solidFill>
                <a:latin typeface="Malgun Gothic"/>
                <a:ea typeface="Malgun Gothic"/>
                <a:cs typeface="Malgun Gothic"/>
              </a:rPr>
              <a:t>사지대 근육병</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확장성 심근병증과 전도 장애</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Charcot–Marie–Tooth 2B1 말초신경병</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부분 지방이상증(Dunnigan형)</a:t>
            </a:r>
            <a:r>
              <a:rPr sz="1600" b="0" i="0">
                <a:solidFill>
                  <a:srgbClr val="11202B"/>
                </a:solidFill>
                <a:latin typeface="Malgun Gothic"/>
                <a:ea typeface="Malgun Gothic"/>
                <a:cs typeface="Malgun Gothic"/>
              </a:rPr>
              <a:t>, 그리고 조로증인 </a:t>
            </a:r>
            <a:r>
              <a:rPr sz="1600" b="1" i="0">
                <a:solidFill>
                  <a:srgbClr val="11202B"/>
                </a:solidFill>
                <a:latin typeface="Malgun Gothic"/>
                <a:ea typeface="Malgun Gothic"/>
                <a:cs typeface="Malgun Gothic"/>
              </a:rPr>
              <a:t>Hutchinson–Gilford progeria</a:t>
            </a:r>
            <a:r>
              <a:rPr sz="1600" b="0" i="0">
                <a:solidFill>
                  <a:srgbClr val="11202B"/>
                </a:solidFill>
                <a:latin typeface="Malgun Gothic"/>
                <a:ea typeface="Malgun Gothic"/>
                <a:cs typeface="Malgun Gothic"/>
              </a:rPr>
              <a:t>다. 두 가지 질문에 답할 수 있어야 한다. 첫째, </a:t>
            </a:r>
            <a:r>
              <a:rPr sz="1600" b="1" i="0">
                <a:solidFill>
                  <a:srgbClr val="11202B"/>
                </a:solidFill>
                <a:latin typeface="Malgun Gothic"/>
                <a:ea typeface="Malgun Gothic"/>
                <a:cs typeface="Malgun Gothic"/>
              </a:rPr>
              <a:t>왜 조직 특이적인가.</a:t>
            </a:r>
            <a:r>
              <a:rPr sz="1600" b="0" i="0">
                <a:solidFill>
                  <a:srgbClr val="11202B"/>
                </a:solidFill>
                <a:latin typeface="Malgun Gothic"/>
                <a:ea typeface="Malgun Gothic"/>
                <a:cs typeface="Malgun Gothic"/>
              </a:rPr>
              <a:t> Lamin A/C는 거의 모든 세포에 있는데 침범되는 조직은 심장, 뼈대근육, 지방, 말초신경에 몰려 있다. 유력한 설명은 기계적 부하가 큰 조직에서 약해진 핵이 먼저 손상된다는 것, 그리고 조직마다 핵막층에 붙는 염색질과 전사인자의 조합이 달라 발현 변화가 다르게 나타난다는 것이다. 둘째, </a:t>
            </a:r>
            <a:r>
              <a:rPr sz="1600" b="1" i="0">
                <a:solidFill>
                  <a:srgbClr val="11202B"/>
                </a:solidFill>
                <a:latin typeface="Malgun Gothic"/>
                <a:ea typeface="Malgun Gothic"/>
                <a:cs typeface="Malgun Gothic"/>
              </a:rPr>
              <a:t>왜 progeria는 다른가.</a:t>
            </a:r>
            <a:r>
              <a:rPr sz="1600" b="0" i="0">
                <a:solidFill>
                  <a:srgbClr val="11202B"/>
                </a:solidFill>
                <a:latin typeface="Malgun Gothic"/>
                <a:ea typeface="Malgun Gothic"/>
                <a:cs typeface="Malgun Gothic"/>
              </a:rPr>
              <a:t> Progeria의 전형적 변이(c.1824C&gt;T)는 아미노산을 바꾸지 않는 겉보기 silent 변이이면서 내부의 약한 splice site를 활성화해, 50잔기가 빠진 </a:t>
            </a:r>
            <a:r>
              <a:rPr sz="1600" b="1" i="0">
                <a:solidFill>
                  <a:srgbClr val="11202B"/>
                </a:solidFill>
                <a:latin typeface="Malgun Gothic"/>
                <a:ea typeface="Malgun Gothic"/>
                <a:cs typeface="Malgun Gothic"/>
              </a:rPr>
              <a:t>progerin</a:t>
            </a:r>
            <a:r>
              <a:rPr sz="1600" b="0" i="0">
                <a:solidFill>
                  <a:srgbClr val="11202B"/>
                </a:solidFill>
                <a:latin typeface="Malgun Gothic"/>
                <a:ea typeface="Malgun Gothic"/>
                <a:cs typeface="Malgun Gothic"/>
              </a:rPr>
              <a:t>을 만든다. 빠진 구간에는 farnesyl기를 떼어 내기 위한 절단 부위가 들어 있으므로, progerin은 farnesyl기를 영구히 달고 내막에 박혀 축적된다. 즉 이것은 단순한 기능 상실이 아니라 </a:t>
            </a:r>
            <a:r>
              <a:rPr sz="1600" b="1" i="0">
                <a:solidFill>
                  <a:srgbClr val="11202B"/>
                </a:solidFill>
                <a:latin typeface="Malgun Gothic"/>
                <a:ea typeface="Malgun Gothic"/>
                <a:cs typeface="Malgun Gothic"/>
              </a:rPr>
              <a:t>독성 획득</a:t>
            </a:r>
            <a:r>
              <a:rPr sz="1600" b="0" i="0">
                <a:solidFill>
                  <a:srgbClr val="11202B"/>
                </a:solidFill>
                <a:latin typeface="Malgun Gothic"/>
                <a:ea typeface="Malgun Gothic"/>
                <a:cs typeface="Malgun Gothic"/>
              </a:rPr>
              <a:t>이며, 그래서 farnesyltransferase 억제제(lonafarnib)가 치료로 시도되는 근거가 된다. "같은 유전자, 다른 기전"을 구별하는 것이 이 문제의 핵심이다.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핵막층과 내막 단백질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LINC 복합체를 통한 기계적 연결은 추상적인 이야기가 아니다. 세포가 단단한 기질 위에서 당겨질 때 그 힘이 핵막까지 전달되어 핵이 납작해지고, 그 변형이 핵공의 투과성과 핵막층에 붙은 염색질의 배치를 바꾼다. 전사 보조인자 YAP이 기질의 단단함에 따라 핵과 세포질을 오가는 현상이 그 결과로 설명되며, 조직의 강성이 줄기세포의 분화 방향을 바꾸는 관찰도 같은 축에 놓인다. 즉 </a:t>
            </a:r>
            <a:r>
              <a:rPr sz="1600" b="1" i="0">
                <a:solidFill>
                  <a:srgbClr val="11202B"/>
                </a:solidFill>
                <a:latin typeface="Malgun Gothic"/>
                <a:ea typeface="Malgun Gothic"/>
                <a:cs typeface="Malgun Gothic"/>
              </a:rPr>
              <a:t>핵은 기계적 자극을 받아들이는 기관이기도 하다.</a:t>
            </a:r>
            <a:r>
              <a:rPr sz="1600" b="0" i="0">
                <a:solidFill>
                  <a:srgbClr val="11202B"/>
                </a:solidFill>
                <a:latin typeface="Malgun Gothic"/>
                <a:ea typeface="Malgun Gothic"/>
                <a:cs typeface="Malgun Gothic"/>
              </a:rPr>
              <a:t> 섬유화된 조직에서 세포의 거동이 달라지는 현상, 그리고 종양의 단단한 기질이 세포의 발현 양상을 바꾸는 현상을 이 경로로 설명하려는 연구가 진행된다.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내막에는 lamin 외에도 고유한 막단백질이 수십 종 있다(LBR, emerin, LAP2 등). 이들은 소포체에서 합성된 뒤 막을 따라 이동해 내막에 자리 잡으며, 염색질과 핵막층을 잇는 중개자로 작동한다. EMD(emerin) 변이가 X 연관 Emery–Dreifuss 근육병을 일으키는 것은 LMNA 변이와 같은 표현형이 </a:t>
            </a:r>
            <a:r>
              <a:rPr sz="1600" b="1" i="0">
                <a:solidFill>
                  <a:srgbClr val="11202B"/>
                </a:solidFill>
                <a:latin typeface="Malgun Gothic"/>
                <a:ea typeface="Malgun Gothic"/>
                <a:cs typeface="Malgun Gothic"/>
              </a:rPr>
              <a:t>같은 구조물의 다른 구성 요소에서 나온다</a:t>
            </a:r>
            <a:r>
              <a:rPr sz="1600" b="0" i="0">
                <a:solidFill>
                  <a:srgbClr val="11202B"/>
                </a:solidFill>
                <a:latin typeface="Malgun Gothic"/>
                <a:ea typeface="Malgun Gothic"/>
                <a:cs typeface="Malgun Gothic"/>
              </a:rPr>
              <a:t>는 점을 보여 준다.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핵소체 — 막 없는 구획의 모범 사례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핵 안에는 막으로 둘러싸이지 않은 구획이 여러 개 있다. 가장 크고 오래 연구된 것이 </a:t>
            </a:r>
            <a:r>
              <a:rPr sz="1800" b="1" i="0">
                <a:solidFill>
                  <a:srgbClr val="11202B"/>
                </a:solidFill>
                <a:latin typeface="Malgun Gothic"/>
                <a:ea typeface="Malgun Gothic"/>
                <a:cs typeface="Malgun Gothic"/>
              </a:rPr>
              <a:t>핵소체(nucleolus)</a:t>
            </a:r>
            <a:r>
              <a:rPr sz="1800" b="0" i="0">
                <a:solidFill>
                  <a:srgbClr val="11202B"/>
                </a:solidFill>
                <a:latin typeface="Malgun Gothic"/>
                <a:ea typeface="Malgun Gothic"/>
                <a:cs typeface="Malgun Gothic"/>
              </a:rPr>
              <a:t>다. 핵소체는 </a:t>
            </a:r>
            <a:r>
              <a:rPr sz="1800" b="1" i="0">
                <a:solidFill>
                  <a:srgbClr val="11202B"/>
                </a:solidFill>
                <a:latin typeface="Malgun Gothic"/>
                <a:ea typeface="Malgun Gothic"/>
                <a:cs typeface="Malgun Gothic"/>
              </a:rPr>
              <a:t>rRNA 유전자가 모여 있는 자리에서 그 기능 때문에 생겨난 구조</a:t>
            </a:r>
            <a:r>
              <a:rPr sz="1800" b="0" i="0">
                <a:solidFill>
                  <a:srgbClr val="11202B"/>
                </a:solidFill>
                <a:latin typeface="Malgun Gothic"/>
                <a:ea typeface="Malgun Gothic"/>
                <a:cs typeface="Malgun Gothic"/>
              </a:rPr>
              <a:t>이고, 이 인과의 방향이 중요하다. rRNA 전사를 멈추면 핵소체가 해체되고, 전사를 다시 켜면 그 자리에서 다시 만들어진다. </a:t>
            </a:r>
            <a:r>
              <a:rPr sz="1800" b="1" i="0">
                <a:solidFill>
                  <a:srgbClr val="11202B"/>
                </a:solidFill>
                <a:latin typeface="Malgun Gothic"/>
                <a:ea typeface="Malgun Gothic"/>
                <a:cs typeface="Malgun Gothic"/>
              </a:rPr>
              <a:t>구조가 기능을 만드는 것이 아니라 기능이 구조를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사람의 rRNA 유전자는 다섯 쌍의 염색체 단완에 수십 copy씩 반복되어 있고(핵소체 조직 영역), 이 구간들이 한자리에 모여 하나의 핵소체를 이룬다. 내부는 세 구역으로 나뉘며, 각 구역이 ribosome 조립의 단계에 대응한다.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핵소체 — 막 없는 구획의 모범 사례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30</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구역</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일어나는 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섬유 중심(fibrillar center)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I이 45S pre-rRNA를 전사한다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조밀 섬유 성분(dense fibrillar component)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snoRNP에 의한 화학 변형과 초기 절단이 일어난다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과립 성분(granular component)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rRNA가 단백질과 조립되어 소단위 전구체가 된다</a:t>
                      </a:r>
                    </a:p>
                  </a:txBody>
                  <a:tcPr marL="73152" marR="73152" marT="27432" marB="27432">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핵소체 — 막 없는 구획의 모범 사례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조립에는 핵 밖에서 만들어진 재료가 필요하다. Ribosome 단백질 약 80종이 세포질에서 합성되어 importin에 실려 핵소체로 오고, 5S rRNA는 Pol III가 핵질에서 전사해 들여보낸다. 완성된 소단위 전구체는 다시 핵공을 통해 세포질로 나간다. 즉 </a:t>
            </a:r>
            <a:r>
              <a:rPr sz="1400" b="1" i="0">
                <a:solidFill>
                  <a:srgbClr val="11202B"/>
                </a:solidFill>
                <a:latin typeface="Malgun Gothic"/>
                <a:ea typeface="Malgun Gothic"/>
                <a:cs typeface="Malgun Gothic"/>
              </a:rPr>
              <a:t>ribosome 하나를 만드는 과정이 핵공을 여러 번 왕복한다.</a:t>
            </a:r>
            <a:r>
              <a:rPr sz="1400" b="0" i="0">
                <a:solidFill>
                  <a:srgbClr val="11202B"/>
                </a:solidFill>
                <a:latin typeface="Malgun Gothic"/>
                <a:ea typeface="Malgun Gothic"/>
                <a:cs typeface="Malgun Gothic"/>
              </a:rPr>
              <a:t> 성장하는 세포에서 핵 수송량의 상당 부분이 이 작업에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핵소체가 막 없이 유지되는 방식은 </a:t>
            </a:r>
            <a:r>
              <a:rPr sz="1400" b="1" i="0">
                <a:solidFill>
                  <a:srgbClr val="11202B"/>
                </a:solidFill>
                <a:latin typeface="Malgun Gothic"/>
                <a:ea typeface="Malgun Gothic"/>
                <a:cs typeface="Malgun Gothic"/>
              </a:rPr>
              <a:t>상 분리(phase separation)</a:t>
            </a:r>
            <a:r>
              <a:rPr sz="1400" b="0" i="0">
                <a:solidFill>
                  <a:srgbClr val="11202B"/>
                </a:solidFill>
                <a:latin typeface="Malgun Gothic"/>
                <a:ea typeface="Malgun Gothic"/>
                <a:cs typeface="Malgun Gothic"/>
              </a:rPr>
              <a:t> 모형으로 설명된다. rRNA와 여러 결합 단백질이 다가 상호작용으로 서로 붙어 주변 핵질과 구별되는 액체 상태의 방울을 만든다는 것이다. 근거는 세 가지다. 핵소체가 둥근 모양을 유지하고 서로 융합한다는 관찰, 구성 성분이 핵질과 빠르게 교환된다는 측정, 그리고 핵소체 단백질에 무정형 영역이 공통적으로 많다는 점이다. 같은 설명이 splicing 인자가 모인 speckle, 스트레스 과립, 그리고 M01-W08-L01에서 다룬 응집체에도 적용된다.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핵소체는 ribosome을 만드는 자리에 그치지 않는다. 세포가 성장을 멈추거나 스트레스를 받으면 핵소체의 구조가 흐트러지고, 그 결과가 신호로 번역된다. </a:t>
            </a:r>
            <a:r>
              <a:rPr sz="1400" b="1" i="0">
                <a:solidFill>
                  <a:srgbClr val="11202B"/>
                </a:solidFill>
                <a:latin typeface="Malgun Gothic"/>
                <a:ea typeface="Malgun Gothic"/>
                <a:cs typeface="Malgun Gothic"/>
              </a:rPr>
              <a:t>핵소체 스트레스 반응</a:t>
            </a:r>
            <a:r>
              <a:rPr sz="1400" b="0" i="0">
                <a:solidFill>
                  <a:srgbClr val="11202B"/>
                </a:solidFill>
                <a:latin typeface="Malgun Gothic"/>
                <a:ea typeface="Malgun Gothic"/>
                <a:cs typeface="Malgun Gothic"/>
              </a:rPr>
              <a:t>이다. 조립에 쓰이지 못한 ribosome 단백질(RPL5, RPL11)이 p53을 분해하는 E3 ligase MDM2를 붙잡으면 p53이 분해되지 않고 쌓여 분열이 멈춘다. M01-W07-L03에서 다룬 </a:t>
            </a:r>
            <a:r>
              <a:rPr sz="1400" b="1" i="0">
                <a:solidFill>
                  <a:srgbClr val="11202B"/>
                </a:solidFill>
                <a:latin typeface="Malgun Gothic"/>
                <a:ea typeface="Malgun Gothic"/>
                <a:cs typeface="Malgun Gothic"/>
              </a:rPr>
              <a:t>ribosomopathy</a:t>
            </a:r>
            <a:r>
              <a:rPr sz="1400" b="0" i="0">
                <a:solidFill>
                  <a:srgbClr val="11202B"/>
                </a:solidFill>
                <a:latin typeface="Malgun Gothic"/>
                <a:ea typeface="Malgun Gothic"/>
                <a:cs typeface="Malgun Gothic"/>
              </a:rPr>
              <a:t>의 표현형이 조혈계에 집중되는 이유 가운데 하나가 이 축이며, 핵소체를 조립이 일어나는 자리에 그치지 않고 </a:t>
            </a:r>
            <a:r>
              <a:rPr sz="1400" b="1" i="0">
                <a:solidFill>
                  <a:srgbClr val="11202B"/>
                </a:solidFill>
                <a:latin typeface="Malgun Gothic"/>
                <a:ea typeface="Malgun Gothic"/>
                <a:cs typeface="Malgun Gothic"/>
              </a:rPr>
              <a:t>세포의 성장 상태를 감지하는 센서</a:t>
            </a:r>
            <a:r>
              <a:rPr sz="1400" b="0" i="0">
                <a:solidFill>
                  <a:srgbClr val="11202B"/>
                </a:solidFill>
                <a:latin typeface="Malgun Gothic"/>
                <a:ea typeface="Malgun Gothic"/>
                <a:cs typeface="Malgun Gothic"/>
              </a:rPr>
              <a:t>로 보는 관점의 근거다.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핵소체 — 막 없는 구획의 모범 사례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286004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막 없는 구획을 상 분리로 설명하는 모형은 지난 10여 년 사이 세포생물학의 중심 주제가 되었다가, 지금은 비판적으로 재검토되는 단계에 있다. 쟁점이 세 가지다. 첫째, </a:t>
            </a:r>
            <a:r>
              <a:rPr sz="1600" b="1" i="0">
                <a:solidFill>
                  <a:srgbClr val="11202B"/>
                </a:solidFill>
                <a:latin typeface="Malgun Gothic"/>
                <a:ea typeface="Malgun Gothic"/>
                <a:cs typeface="Malgun Gothic"/>
              </a:rPr>
              <a:t>세포 안의 농도에서 실제로 상 분리가 일어나는가.</a:t>
            </a:r>
            <a:r>
              <a:rPr sz="1600" b="0" i="0">
                <a:solidFill>
                  <a:srgbClr val="11202B"/>
                </a:solidFill>
                <a:latin typeface="Malgun Gothic"/>
                <a:ea typeface="Malgun Gothic"/>
                <a:cs typeface="Malgun Gothic"/>
              </a:rPr>
              <a:t> 시험관에서 상 분리를 보이는 농도가 세포 안의 농도보다 훨씬 높은 경우가 많아, 세포에서는 다른 기전(특정 결합 자리에 의한 집결, 염색질에의 고정)이 주된 요인일 수 있다는 반론이 제기되었다. 둘째, </a:t>
            </a:r>
            <a:r>
              <a:rPr sz="1600" b="1" i="0">
                <a:solidFill>
                  <a:srgbClr val="11202B"/>
                </a:solidFill>
                <a:latin typeface="Malgun Gothic"/>
                <a:ea typeface="Malgun Gothic"/>
                <a:cs typeface="Malgun Gothic"/>
              </a:rPr>
              <a:t>상 분리가 기능에 필요한가.</a:t>
            </a:r>
            <a:r>
              <a:rPr sz="1600" b="0" i="0">
                <a:solidFill>
                  <a:srgbClr val="11202B"/>
                </a:solidFill>
                <a:latin typeface="Malgun Gothic"/>
                <a:ea typeface="Malgun Gothic"/>
                <a:cs typeface="Malgun Gothic"/>
              </a:rPr>
              <a:t> 구획이 반응을 가속한다는 가정이 널리 쓰였으나, 구획화가 오히려 기질을 격리해 반응을 늦추는 경우도 보고되었다. 셋째, </a:t>
            </a:r>
            <a:r>
              <a:rPr sz="1600" b="1" i="0">
                <a:solidFill>
                  <a:srgbClr val="11202B"/>
                </a:solidFill>
                <a:latin typeface="Malgun Gothic"/>
                <a:ea typeface="Malgun Gothic"/>
                <a:cs typeface="Malgun Gothic"/>
              </a:rPr>
              <a:t>질환과의 연결이 어디까지 성립하는가.</a:t>
            </a:r>
            <a:r>
              <a:rPr sz="1600" b="0" i="0">
                <a:solidFill>
                  <a:srgbClr val="11202B"/>
                </a:solidFill>
                <a:latin typeface="Malgun Gothic"/>
                <a:ea typeface="Malgun Gothic"/>
                <a:cs typeface="Malgun Gothic"/>
              </a:rPr>
              <a:t> ALS 관련 단백질의 응축체가 시간이 지나며 액체에서 고체로 바뀌는 전이가 병리의 출발점이라는 모형은 매력적이지만, 환자 조직에서 그 전이를 직접 측정하는 방법이 아직 없다. 이 논쟁은 "세포 안의 구획화를 어떤 물리적 언어로 기술할 것인가"라는 더 일반적인 질문으로 이어지고 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분열에서의 핵막 해체와 재조립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동물 세포의 분열은 </a:t>
            </a:r>
            <a:r>
              <a:rPr sz="1400" b="1" i="0">
                <a:solidFill>
                  <a:srgbClr val="11202B"/>
                </a:solidFill>
                <a:latin typeface="Malgun Gothic"/>
                <a:ea typeface="Malgun Gothic"/>
                <a:cs typeface="Malgun Gothic"/>
              </a:rPr>
              <a:t>개방 분열(open mitosis)</a:t>
            </a:r>
            <a:r>
              <a:rPr sz="1400" b="0" i="0">
                <a:solidFill>
                  <a:srgbClr val="11202B"/>
                </a:solidFill>
                <a:latin typeface="Malgun Gothic"/>
                <a:ea typeface="Malgun Gothic"/>
                <a:cs typeface="Malgun Gothic"/>
              </a:rPr>
              <a:t>이다. 핵막이 완전히 해체되어 염색체가 세포질의 방추에 직접 노출된다. 효모를 비롯한 일부 생물은 핵막을 유지한 채 분열하므로(폐쇄 분열), 이 차이가 방추 조립 방식의 차이를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해체의 순서는 인산화로 조절된다.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M기에 </a:t>
            </a:r>
            <a:r>
              <a:rPr sz="1400" b="1" i="0">
                <a:solidFill>
                  <a:srgbClr val="11202B"/>
                </a:solidFill>
                <a:latin typeface="Malgun Gothic"/>
                <a:ea typeface="Malgun Gothic"/>
                <a:cs typeface="Malgun Gothic"/>
              </a:rPr>
              <a:t>CDK1-cyclin B</a:t>
            </a:r>
            <a:r>
              <a:rPr sz="1400" b="0" i="0">
                <a:solidFill>
                  <a:srgbClr val="11202B"/>
                </a:solidFill>
                <a:latin typeface="Malgun Gothic"/>
                <a:ea typeface="Malgun Gothic"/>
                <a:cs typeface="Malgun Gothic"/>
              </a:rPr>
              <a:t>가 활성화되어 lamin의 특정 serine을 인산화한다. 인산화된 lamin은 중합 상태를 유지하지 못하고 풀어진다. 2. 핵공 복합체의 nucleoporin도 인산화되어 복합체가 조각으로 해체된다. 3. 내막 단백질이 염색질에서 떨어지고, 핵막은 소포체 막에 흡수되어 구별되지 않는다. 4. 염색체가 응축되어 방추에 붙는다.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재조립은 역순이며 </a:t>
            </a:r>
            <a:r>
              <a:rPr sz="1400" b="1" i="0">
                <a:solidFill>
                  <a:srgbClr val="11202B"/>
                </a:solidFill>
                <a:latin typeface="Malgun Gothic"/>
                <a:ea typeface="Malgun Gothic"/>
                <a:cs typeface="Malgun Gothic"/>
              </a:rPr>
              <a:t>탈인산화</a:t>
            </a:r>
            <a:r>
              <a:rPr sz="1400" b="0" i="0">
                <a:solidFill>
                  <a:srgbClr val="11202B"/>
                </a:solidFill>
                <a:latin typeface="Malgun Gothic"/>
                <a:ea typeface="Malgun Gothic"/>
                <a:cs typeface="Malgun Gothic"/>
              </a:rPr>
              <a:t>가 방아쇠다. 염색체 분리가 끝나면 cyclin B가 anaphase-promoting complex에 의해 분해되어 CDK1 활성이 떨어지고, phosphatase가 lamin과 nucleoporin의 인산기를 떼어 낸다. 소포체 막이 염색체 표면으로 끌려와 평평하게 덮이고, 핵공 복합체가 그 자리에서 다시 조립되며, lamin이 중합해 핵막층을 만든다. 핵막이 닫히고 나면 Ran 기울기가 다시 세워지고, 세포질에 흩어져 있던 핵 단백질이 NLS를 통해 다시 들여와진다. </a:t>
            </a:r>
            <a:r>
              <a:rPr sz="1400" b="1" i="0">
                <a:solidFill>
                  <a:srgbClr val="11202B"/>
                </a:solidFill>
                <a:latin typeface="Malgun Gothic"/>
                <a:ea typeface="Malgun Gothic"/>
                <a:cs typeface="Malgun Gothic"/>
              </a:rPr>
              <a:t>NLS가 수송 뒤에도 제거되지 않는 이유</a:t>
            </a:r>
            <a:r>
              <a:rPr sz="1400" b="0" i="0">
                <a:solidFill>
                  <a:srgbClr val="11202B"/>
                </a:solidFill>
                <a:latin typeface="Malgun Gothic"/>
                <a:ea typeface="Malgun Gothic"/>
                <a:cs typeface="Malgun Gothic"/>
              </a:rPr>
              <a:t>가 여기서 분명해진다. 분열마다 같은 신호를 다시 써야 하기 때문이다.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분열에서의 핵막 해체와 재조립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재조립의 정확도가 중요하다. 염색체 하나가 방추에서 뒤처져 주된 핵 밖에 남으면 그 염색체만 둘러싸는 </a:t>
            </a:r>
            <a:r>
              <a:rPr sz="1800" b="1" i="0">
                <a:solidFill>
                  <a:srgbClr val="11202B"/>
                </a:solidFill>
                <a:latin typeface="Malgun Gothic"/>
                <a:ea typeface="Malgun Gothic"/>
                <a:cs typeface="Malgun Gothic"/>
              </a:rPr>
              <a:t>미세핵(micronucleus)</a:t>
            </a:r>
            <a:r>
              <a:rPr sz="1800" b="0" i="0">
                <a:solidFill>
                  <a:srgbClr val="11202B"/>
                </a:solidFill>
                <a:latin typeface="Malgun Gothic"/>
                <a:ea typeface="Malgun Gothic"/>
                <a:cs typeface="Malgun Gothic"/>
              </a:rPr>
              <a:t>이 생긴다. 미세핵의 핵막은 불완전해 쉽게 터지고, 터지면 염색체 DNA가 세포질에 노출된다. 결과가 두 가지다. 첫째, 노출된 DNA가 손상을 받아 수십 조각으로 부서진 뒤 무작위로 다시 이어 붙는 </a:t>
            </a:r>
            <a:r>
              <a:rPr sz="1800" b="1" i="0">
                <a:solidFill>
                  <a:srgbClr val="11202B"/>
                </a:solidFill>
                <a:latin typeface="Malgun Gothic"/>
                <a:ea typeface="Malgun Gothic"/>
                <a:cs typeface="Malgun Gothic"/>
              </a:rPr>
              <a:t>chromothripsis</a:t>
            </a:r>
            <a:r>
              <a:rPr sz="1800" b="0" i="0">
                <a:solidFill>
                  <a:srgbClr val="11202B"/>
                </a:solidFill>
                <a:latin typeface="Malgun Gothic"/>
                <a:ea typeface="Malgun Gothic"/>
                <a:cs typeface="Malgun Gothic"/>
              </a:rPr>
              <a:t>가 일어난다(M01-W06-L03). 둘째, 세포질의 DNA를 감지하는 cGAS–STING 경로가 켜져 염증 신호가 생긴다. 즉 </a:t>
            </a:r>
            <a:r>
              <a:rPr sz="1800" b="1" i="0">
                <a:solidFill>
                  <a:srgbClr val="11202B"/>
                </a:solidFill>
                <a:latin typeface="Malgun Gothic"/>
                <a:ea typeface="Malgun Gothic"/>
                <a:cs typeface="Malgun Gothic"/>
              </a:rPr>
              <a:t>핵막 재조립의 실패가 유전체 재배열과 염증을 함께 만든다.</a:t>
            </a:r>
            <a:r>
              <a:rPr sz="1800" b="0" i="0">
                <a:solidFill>
                  <a:srgbClr val="11202B"/>
                </a:solidFill>
                <a:latin typeface="Malgun Gothic"/>
                <a:ea typeface="Malgun Gothic"/>
                <a:cs typeface="Malgun Gothic"/>
              </a:rPr>
              <a:t> 이 연결은 종양에서 염색체 불안정성과 염증이 함께 관찰되는 이유로 제시된다.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분열에서의 핵막 해체와 재조립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35</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핵공 복합체를 지나는 통로는 약물 전달의 장벽이기도 하다. 유전자 치료에서 플라스미드 DNA는 크고 신호가 없으므로 핵에 들어가기 어렵고, 그래서 분열하지 않는 세포에서 효율이 급격히 떨어진다. 핵막이 해체되는 분열기에 DNA가 핵에 들어간다는 것이 전통적인 설명이며, retrovirus 벡터가 분열하는 세포만 감염시키는 이유와 같다. 반면 </a:t>
            </a:r>
            <a:r>
              <a:rPr sz="1600" b="1" i="0">
                <a:solidFill>
                  <a:srgbClr val="11202B"/>
                </a:solidFill>
                <a:latin typeface="Malgun Gothic"/>
                <a:ea typeface="Malgun Gothic"/>
                <a:cs typeface="Malgun Gothic"/>
              </a:rPr>
              <a:t>lentivirus</a:t>
            </a:r>
            <a:r>
              <a:rPr sz="1600" b="0" i="0">
                <a:solidFill>
                  <a:srgbClr val="11202B"/>
                </a:solidFill>
                <a:latin typeface="Malgun Gothic"/>
                <a:ea typeface="Malgun Gothic"/>
                <a:cs typeface="Malgun Gothic"/>
              </a:rPr>
              <a:t>는 capsid에 핵 수송 신호에 해당하는 요소를 가져 핵공을 통해 들어갈 수 있어 분열하지 않는 세포도 감염시킨다. AAV와 지질 나노입자를 쓰는 전달에서도 핵막 통과가 효율을 정하는 단계로 남아 있다. 전달 기술을 비교할 때 "세포막을 넘는가"와 "핵막을 넘는가"를 따로 보아야 한다는 것이 요점이다.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세포 분열에서의 핵막 해체와 재조립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핵소체의 크기와 수는 세포의 상태를 그대로 반영한다. 성장이 왕성하고 단백질 합성이 많은 세포에서는 핵소체가 크고 뚜렷하며, 분화해 분열을 멈춘 세포에서는 작다. 병리 진단에서 </a:t>
            </a:r>
            <a:r>
              <a:rPr sz="1400" b="1" i="0">
                <a:solidFill>
                  <a:srgbClr val="11202B"/>
                </a:solidFill>
                <a:latin typeface="Malgun Gothic"/>
                <a:ea typeface="Malgun Gothic"/>
                <a:cs typeface="Malgun Gothic"/>
              </a:rPr>
              <a:t>뚜렷한 핵소체(prominent nucleolus)</a:t>
            </a:r>
            <a:r>
              <a:rPr sz="1400" b="0" i="0">
                <a:solidFill>
                  <a:srgbClr val="11202B"/>
                </a:solidFill>
                <a:latin typeface="Malgun Gothic"/>
                <a:ea typeface="Malgun Gothic"/>
                <a:cs typeface="Malgun Gothic"/>
              </a:rPr>
              <a:t>가 악성의 소견으로 읽히는 근거가 여기에 있다. 종양세포가 ribosome을 많이 만들어야 하므로 rRNA 전사가 올라가 있고, 그 결과가 광학 현미경 수준의 형태로 드러나는 것이다. 이 의존을 역이용해 Pol I의 전사를 선택적으로 억제하는 저분자가 항암제 후보로 개발되었으며, 정상 세포보다 종양세포가 rRNA 합성에 더 의존한다는 전제 위에 서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맥락에서 성장 신호와 핵소체가 직접 연결되어 있다는 점도 확인해 둔다. mTORC1은 Pol I의 전사와 ribosome 단백질의 번역을 함께 올려 ribosome 생산량을 조절한다(M01-W07-L03). 즉 세포가 "자랄 것인가"를 정하는 신호가 핵소체의 활동량으로 번역된다. 반대로 영양이 부족하면 rRNA 전사가 먼저 떨어지는데, ribosome 생산이 세포의 에너지 예산에서 가장 큰 항목이기 때문이다. </a:t>
            </a:r>
            <a:r>
              <a:rPr sz="1400" b="1" i="0">
                <a:solidFill>
                  <a:srgbClr val="11202B"/>
                </a:solidFill>
                <a:latin typeface="Malgun Gothic"/>
                <a:ea typeface="Malgun Gothic"/>
                <a:cs typeface="Malgun Gothic"/>
              </a:rPr>
              <a:t>핵소체의 크기는 세포가 성장에 얼마를 지출하고 있는지를 보여 주는 지표</a:t>
            </a:r>
            <a:r>
              <a:rPr sz="1400" b="0" i="0">
                <a:solidFill>
                  <a:srgbClr val="11202B"/>
                </a:solidFill>
                <a:latin typeface="Malgun Gothic"/>
                <a:ea typeface="Malgun Gothic"/>
                <a:cs typeface="Malgun Gothic"/>
              </a:rPr>
              <a:t>로 읽을 수 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핵 경계를 표적으로 하는 약물과 감염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핵막과 핵공은 치료와 감염 양쪽에서 전선이 된다. 이 절은 앞의 절들에서 흩어져 나온 예들을 하나의 틀로 정리한다. 기준은 </a:t>
            </a:r>
            <a:r>
              <a:rPr sz="1600" b="1" i="0">
                <a:solidFill>
                  <a:srgbClr val="11202B"/>
                </a:solidFill>
                <a:latin typeface="Malgun Gothic"/>
                <a:ea typeface="Malgun Gothic"/>
                <a:cs typeface="Malgun Gothic"/>
              </a:rPr>
              <a:t>어느 단계를 건드리는가</a:t>
            </a:r>
            <a:r>
              <a:rPr sz="1600" b="0" i="0">
                <a:solidFill>
                  <a:srgbClr val="11202B"/>
                </a:solidFill>
                <a:latin typeface="Malgun Gothic"/>
                <a:ea typeface="Malgun Gothic"/>
                <a:cs typeface="Malgun Gothic"/>
              </a:rPr>
              <a:t>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숙주의 수송을 막는 약물.</a:t>
            </a:r>
            <a:r>
              <a:rPr sz="1600" b="0" i="0">
                <a:solidFill>
                  <a:srgbClr val="11202B"/>
                </a:solidFill>
                <a:latin typeface="Malgun Gothic"/>
                <a:ea typeface="Malgun Gothic"/>
                <a:cs typeface="Malgun Gothic"/>
              </a:rPr>
              <a:t> CRM1(XPO1)을 억제하는 selinexor는 핵 수출을 막아 종양 억제 단백질을 핵에 붙잡아 둔다. 반대로 들여오기를 막는 저분자도 개발되었는데, 들여오기는 생존에 필수적인 과정이 많아 치료 범위를 잡기 어렵다. 수송 억제가 성립하는 조건이 여기서 드러난다. </a:t>
            </a:r>
            <a:r>
              <a:rPr sz="1600" b="1" i="0">
                <a:solidFill>
                  <a:srgbClr val="11202B"/>
                </a:solidFill>
                <a:latin typeface="Malgun Gothic"/>
                <a:ea typeface="Malgun Gothic"/>
                <a:cs typeface="Malgun Gothic"/>
              </a:rPr>
              <a:t>종양이 정상 세포보다 그 수송에 더 의존하고 있을 때만</a:t>
            </a:r>
            <a:r>
              <a:rPr sz="1600" b="0" i="0">
                <a:solidFill>
                  <a:srgbClr val="11202B"/>
                </a:solidFill>
                <a:latin typeface="Malgun Gothic"/>
                <a:ea typeface="Malgun Gothic"/>
                <a:cs typeface="Malgun Gothic"/>
              </a:rPr>
              <a:t> 선택성이 생긴다.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수송 조절을 건드리는 약물.</a:t>
            </a:r>
            <a:r>
              <a:rPr sz="1600" b="0" i="0">
                <a:solidFill>
                  <a:srgbClr val="11202B"/>
                </a:solidFill>
                <a:latin typeface="Malgun Gothic"/>
                <a:ea typeface="Malgun Gothic"/>
                <a:cs typeface="Malgun Gothic"/>
              </a:rPr>
              <a:t> 수송 기구 자체가 아니라 그 기구를 켜고 끄는 신호를 막는 방식이다. Calcineurin을 억제해 NFAT의 핵 진입을 막는 cyclosporine과 tacrolimus가 대표적이다. 글루코코르티코이드는 반대로 수용체의 핵 진입을 유도한다. 이 부류는 특정 전사인자만 겨냥하므로 전면적 수송 억제보다 부작용의 성격이 다르다.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바이러스의 전략.</a:t>
            </a:r>
            <a:r>
              <a:rPr sz="1600" b="0" i="0">
                <a:solidFill>
                  <a:srgbClr val="11202B"/>
                </a:solidFill>
                <a:latin typeface="Malgun Gothic"/>
                <a:ea typeface="Malgun Gothic"/>
                <a:cs typeface="Malgun Gothic"/>
              </a:rPr>
              <a:t> 네 가지로 나뉜다.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핵 경계를 표적으로 하는 약물과 감염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핵으로 들어가기.</a:t>
            </a:r>
            <a:r>
              <a:rPr sz="1600" b="0" i="0">
                <a:solidFill>
                  <a:srgbClr val="11202B"/>
                </a:solidFill>
                <a:latin typeface="Malgun Gothic"/>
                <a:ea typeface="Malgun Gothic"/>
                <a:cs typeface="Malgun Gothic"/>
              </a:rPr>
              <a:t> 유전체를 핵에서 복제하는 바이러스는 핵막을 넘어야 한다. Lentivirus는 capsid가 핵공과 상호작용해 분열하지 않는 세포에도 들어가고, herpesvirus는 핵공 앞에서 capsid를 열어 유전체만 통과시킨다. Influenza는 vRNP에 NLS를 두어 숙주의 importin에 실려 들어간다. 2. </a:t>
            </a:r>
            <a:r>
              <a:rPr sz="1600" b="1" i="0">
                <a:solidFill>
                  <a:srgbClr val="11202B"/>
                </a:solidFill>
                <a:latin typeface="Malgun Gothic"/>
                <a:ea typeface="Malgun Gothic"/>
                <a:cs typeface="Malgun Gothic"/>
              </a:rPr>
              <a:t>품질 관문을 우회해 나오기.</a:t>
            </a:r>
            <a:r>
              <a:rPr sz="1600" b="0" i="0">
                <a:solidFill>
                  <a:srgbClr val="11202B"/>
                </a:solidFill>
                <a:latin typeface="Malgun Gothic"/>
                <a:ea typeface="Malgun Gothic"/>
                <a:cs typeface="Malgun Gothic"/>
              </a:rPr>
              <a:t> HIV-1의 Rev는 NES를 가지고 CRM1을 이용해, splicing이 완료되지 않은 전사체를 내보낸다. 숙주의 "가공을 거친 것만 내보낸다"는 규칙을 깨는 것이다. 3. </a:t>
            </a:r>
            <a:r>
              <a:rPr sz="1600" b="1" i="0">
                <a:solidFill>
                  <a:srgbClr val="11202B"/>
                </a:solidFill>
                <a:latin typeface="Malgun Gothic"/>
                <a:ea typeface="Malgun Gothic"/>
                <a:cs typeface="Malgun Gothic"/>
              </a:rPr>
              <a:t>숙주의 수송을 막기.</a:t>
            </a:r>
            <a:r>
              <a:rPr sz="1600" b="0" i="0">
                <a:solidFill>
                  <a:srgbClr val="11202B"/>
                </a:solidFill>
                <a:latin typeface="Malgun Gothic"/>
                <a:ea typeface="Malgun Gothic"/>
                <a:cs typeface="Malgun Gothic"/>
              </a:rPr>
              <a:t> 자기 RNA만 내보내고 숙주의 mRNA 수출을 차단하는 전략이다. Poliovirus와 rhinovirus의 protease는 FG 반복을 가진 nucleoporin을 잘라 핵공의 선택성을 무너뜨린다. 4. </a:t>
            </a:r>
            <a:r>
              <a:rPr sz="1600" b="1" i="0">
                <a:solidFill>
                  <a:srgbClr val="11202B"/>
                </a:solidFill>
                <a:latin typeface="Malgun Gothic"/>
                <a:ea typeface="Malgun Gothic"/>
                <a:cs typeface="Malgun Gothic"/>
              </a:rPr>
              <a:t>면역 신호 전달을 끊기.</a:t>
            </a:r>
            <a:r>
              <a:rPr sz="1600" b="0" i="0">
                <a:solidFill>
                  <a:srgbClr val="11202B"/>
                </a:solidFill>
                <a:latin typeface="Malgun Gothic"/>
                <a:ea typeface="Malgun Gothic"/>
                <a:cs typeface="Malgun Gothic"/>
              </a:rPr>
              <a:t> 인터페론 신호는 STAT1이 핵으로 들어가야 작동하므로, 그 수송을 막으면 면역 반응이 차단된다. SARS-CoV-2의 ORF6는 핵공 쪽 인자와 결합해 STAT1의 핵 진입을 방해하고, Ebola virus의 VP24는 STAT1을 운반하는 importin을 선점한다.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핵 경계를 표적으로 하는 약물과 감염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39</a:t>
            </a:r>
          </a:p>
        </p:txBody>
      </p:sp>
      <p:sp>
        <p:nvSpPr>
          <p:cNvPr id="7" name="Rectangle 6"/>
          <p:cNvSpPr/>
          <p:nvPr/>
        </p:nvSpPr>
        <p:spPr>
          <a:xfrm>
            <a:off x="640080" y="1325880"/>
            <a:ext cx="10881360" cy="2308301"/>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바이러스와 약물의 전략을 구별하는 문제는 "같은 통로를 두고 무엇을 바꾸는가"로 정리하면 답이 보인다. 세 축을 가린다. 첫째, </a:t>
            </a:r>
            <a:r>
              <a:rPr sz="1600" b="1" i="0">
                <a:solidFill>
                  <a:srgbClr val="11202B"/>
                </a:solidFill>
                <a:latin typeface="Malgun Gothic"/>
                <a:ea typeface="Malgun Gothic"/>
                <a:cs typeface="Malgun Gothic"/>
              </a:rPr>
              <a:t>들여오기인가 내보내기인가.</a:t>
            </a:r>
            <a:r>
              <a:rPr sz="1600" b="0" i="0">
                <a:solidFill>
                  <a:srgbClr val="11202B"/>
                </a:solidFill>
                <a:latin typeface="Malgun Gothic"/>
                <a:ea typeface="Malgun Gothic"/>
                <a:cs typeface="Malgun Gothic"/>
              </a:rPr>
              <a:t> Rev와 selinexor는 둘 다 CRM1에 작용하지만 방향이 같고 효과는 반대다. Rev는 CRM1을 써서 내보내고, selinexor는 CRM1을 막아 못 내보내게 한다. 둘째, </a:t>
            </a:r>
            <a:r>
              <a:rPr sz="1600" b="1" i="0">
                <a:solidFill>
                  <a:srgbClr val="11202B"/>
                </a:solidFill>
                <a:latin typeface="Malgun Gothic"/>
                <a:ea typeface="Malgun Gothic"/>
                <a:cs typeface="Malgun Gothic"/>
              </a:rPr>
              <a:t>수송 기구를 건드리는가 신호를 건드리는가.</a:t>
            </a:r>
            <a:r>
              <a:rPr sz="1600" b="0" i="0">
                <a:solidFill>
                  <a:srgbClr val="11202B"/>
                </a:solidFill>
                <a:latin typeface="Malgun Gothic"/>
                <a:ea typeface="Malgun Gothic"/>
                <a:cs typeface="Malgun Gothic"/>
              </a:rPr>
              <a:t> Poliovirus의 nucleoporin 절단은 통로 자체를 망가뜨리는 것이고, VP24의 importin 선점은 특정 기질의 자리를 빼앗는 것이다. 후자는 그 기질만 영향을 받으므로 세포는 살아 있고 면역만 꺼진다. 셋째, </a:t>
            </a:r>
            <a:r>
              <a:rPr sz="1600" b="1" i="0">
                <a:solidFill>
                  <a:srgbClr val="11202B"/>
                </a:solidFill>
                <a:latin typeface="Malgun Gothic"/>
                <a:ea typeface="Malgun Gothic"/>
                <a:cs typeface="Malgun Gothic"/>
              </a:rPr>
              <a:t>왜 그 바이러스에 그 전략이 필요한가.</a:t>
            </a:r>
            <a:r>
              <a:rPr sz="1600" b="0" i="0">
                <a:solidFill>
                  <a:srgbClr val="11202B"/>
                </a:solidFill>
                <a:latin typeface="Malgun Gothic"/>
                <a:ea typeface="Malgun Gothic"/>
                <a:cs typeface="Malgun Gothic"/>
              </a:rPr>
              <a:t> 핵에서 복제하지 않는 바이러스(대부분의 RNA 바이러스)는 들여오기 기구가 필요하지 않지만, 인터페론 신호를 끊기 위해 수송을 건드린다. 반대로 핵에서 복제하는 바이러스는 들여오기가 필수다. </a:t>
            </a:r>
            <a:r>
              <a:rPr sz="1600" b="1" i="0">
                <a:solidFill>
                  <a:srgbClr val="11202B"/>
                </a:solidFill>
                <a:latin typeface="Malgun Gothic"/>
                <a:ea typeface="Malgun Gothic"/>
                <a:cs typeface="Malgun Gothic"/>
              </a:rPr>
              <a:t>유전체의 복제 장소가 그 바이러스가 쓰는 전략을 제약한다.</a:t>
            </a:r>
          </a:p>
        </p:txBody>
      </p:sp>
      <p:sp>
        <p:nvSpPr>
          <p:cNvPr id="8" name="Rectangle 7"/>
          <p:cNvSpPr/>
          <p:nvPr/>
        </p:nvSpPr>
        <p:spPr>
          <a:xfrm>
            <a:off x="640080" y="3771341"/>
            <a:ext cx="10881360" cy="2400858"/>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핵공의 선택성이 평생 유지되는지가 노화 연구의 쟁점으로 떠올랐다. 일부 nucleoporin이 신경세포와 심근세포처럼 분열하지 않는 세포에서 거의 교체되지 않는다는 보고가 있고, 그렇다면 산화 손상과 응집이 누적되어 통로의 선택성이 서서히 떨어질 수 있다. 실제로 노화한 조직과 신경퇴행 모형에서 핵막의 변형, nucleoporin의 소실, 그리고 원래 핵에 있어야 할 단백질이 세포질로 새어 나오는 현상이 관찰된다. C9orf72 반복 확장과 huntingtin 응집체가 수송 인자를 격리한다는 결과도 같은 방향을 가리킨다. 다만 인과의 방향이 확정되지 않았다. 수송 장애가 병을 만드는지, 병리의 결과로 수송이 흐트러지는지를 가리려면 수송 용량을 세포 단위로 정량하는 방법이 필요하고, 이것이 현재 개발 중인 부분이다. 치료 쪽에서는 수송 인자를 보충하거나 격리를 풀어 주는 전략이 전임상에서 시험되고 있다. 이 분야는 핵공을 "고정된 구조물"에서 "유지 보수가 필요한 소모성 부품"으로 보는 관점의 전환을 요구한다.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핵 경계를 표적으로 하는 약물과 감염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수송의 용량 자체가 조절의 대상이라는 점도 확인해 둔다. 세포가 성장 신호를 받으면 importin과 nucleoporin의 발현이 함께 올라가고, 핵공의 수가 늘어 수송 용량이 커진다. 반대로 스트레스에서는 수송이 일시적으로 억제되는데, 열충격이나 산화 스트레스에서 Ran 기울기가 약해지고 일부 수용체가 응집체에 격리된다는 보고가 있다. 즉 </a:t>
            </a:r>
            <a:r>
              <a:rPr sz="1800" b="1" i="0">
                <a:solidFill>
                  <a:srgbClr val="11202B"/>
                </a:solidFill>
                <a:latin typeface="Malgun Gothic"/>
                <a:ea typeface="Malgun Gothic"/>
                <a:cs typeface="Malgun Gothic"/>
              </a:rPr>
              <a:t>수송은 상시 일정한 배관이 아니라 세포의 상태에 따라 용량이 변하는 체계</a:t>
            </a:r>
            <a:r>
              <a:rPr sz="1800" b="0" i="0">
                <a:solidFill>
                  <a:srgbClr val="11202B"/>
                </a:solidFill>
                <a:latin typeface="Malgun Gothic"/>
                <a:ea typeface="Malgun Gothic"/>
                <a:cs typeface="Malgun Gothic"/>
              </a:rPr>
              <a:t>이며, 이 변동이 스트레스에서 어떤 단백질이 핵에 도달하는지를 바꾼다. 스트레스에서 특정 전사인자만 핵에 들어가는 현상의 일부가 이 변동으로 설명된다.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핵의 경계와 그 경계를 넘는 수송을 다루었다. 경계 안쪽의 일과 바깥쪽의 일은 앞뒤 수업에 나누어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염색체 영역, A/B compartment, 핵막 결합 구역(LAD), 핵소체 조직 영역을 유전체의 배치로 다룬다. 이 수업의 핵막층이 그 배치를 어떻게 지탱하는지와 함께 보아야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M01-W07-L01 RNA 합성과 가공</a:t>
            </a:r>
            <a:r>
              <a:rPr sz="1400" b="0" i="0">
                <a:solidFill>
                  <a:srgbClr val="11202B"/>
                </a:solidFill>
                <a:latin typeface="Malgun Gothic"/>
                <a:ea typeface="Malgun Gothic"/>
                <a:cs typeface="Malgun Gothic"/>
              </a:rPr>
              <a:t> — 가공이 수출의 허가증이 되는 기전의 앞쪽, 즉 cap·splicing·3′ 말단 가공을 다룬다. 핵소체에서의 rRNA 가공도 거기에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전사인자의 핵 진입이 조절의 한 수단이라는 것을, 조절의 전체 그림 안에서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M01-W07-L03 단백질 합성</a:t>
            </a:r>
            <a:r>
              <a:rPr sz="1400" b="0" i="0">
                <a:solidFill>
                  <a:srgbClr val="11202B"/>
                </a:solidFill>
                <a:latin typeface="Malgun Gothic"/>
                <a:ea typeface="Malgun Gothic"/>
                <a:cs typeface="Malgun Gothic"/>
              </a:rPr>
              <a:t> — 핵소체에서 조립된 ribosome이 세포질에서 하는 일, 그리고 ribosomopathy를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M01-W08-L01 번역 후 가공·접힘·분해</a:t>
            </a:r>
            <a:r>
              <a:rPr sz="1400" b="0" i="0">
                <a:solidFill>
                  <a:srgbClr val="11202B"/>
                </a:solidFill>
                <a:latin typeface="Malgun Gothic"/>
                <a:ea typeface="Malgun Gothic"/>
                <a:cs typeface="Malgun Gothic"/>
              </a:rPr>
              <a:t> — 인산화에 의한 조절, 상 분리로 설명되는 응축체, 핵 단백질의 품질 관리를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M01-W09-L01 단백질 표적화와 소포 수송</a:t>
            </a:r>
            <a:r>
              <a:rPr sz="1400" b="0" i="0">
                <a:solidFill>
                  <a:srgbClr val="11202B"/>
                </a:solidFill>
                <a:latin typeface="Malgun Gothic"/>
                <a:ea typeface="Malgun Gothic"/>
                <a:cs typeface="Malgun Gothic"/>
              </a:rPr>
              <a:t> — 소포체로 보내는 signal sequence와 이 수업의 NLS가 어떻게 다른지가 거기서 분명해진다. 신호가 잘려 나가는가, 막을 통과하는가, 접힌 상태로 가는가의 세 축으로 비교한다.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M01-W10-L01 미토콘드리아·엽록체·퍼옥시좀</a:t>
            </a:r>
            <a:r>
              <a:rPr sz="1400" b="0" i="0">
                <a:solidFill>
                  <a:srgbClr val="11202B"/>
                </a:solidFill>
                <a:latin typeface="Malgun Gothic"/>
                <a:ea typeface="Malgun Gothic"/>
                <a:cs typeface="Malgun Gothic"/>
              </a:rPr>
              <a:t> — 세 소기관으로 보내는 신호와 수송 방식을 다룬다. 핵·소포체·미토콘드리아의 세 체계를 비교하면 표적화의 일반 원리가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CDK1-cyclin B의 활성화와 anaphase-promoting complex에 의한 분해가 핵막 해체와 재조립의 시점을 정하는 과정을 다룬다.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M01-W12-L03 암의 세포생물학</a:t>
            </a:r>
            <a:r>
              <a:rPr sz="2000" b="0" i="0">
                <a:solidFill>
                  <a:srgbClr val="11202B"/>
                </a:solidFill>
                <a:latin typeface="Malgun Gothic"/>
                <a:ea typeface="Malgun Gothic"/>
                <a:cs typeface="Malgun Gothic"/>
              </a:rPr>
              <a:t> — 미세핵, chromothripsis, cGAS–STING에 의한 염증이 종양에서 작동하는 방식을 다룬다.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M02-W01-L02 유전 질환의 분자 기전</a:t>
            </a:r>
            <a:r>
              <a:rPr sz="2000" b="0" i="0">
                <a:solidFill>
                  <a:srgbClr val="11202B"/>
                </a:solidFill>
                <a:latin typeface="Malgun Gothic"/>
                <a:ea typeface="Malgun Gothic"/>
                <a:cs typeface="Malgun Gothic"/>
              </a:rPr>
              <a:t> — LMNA 변이처럼 하나의 유전자가 여러 표현형을 만드는 경우의 해석을 임상 유전학의 틀에서 정리한다.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43</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핵공은 구멍의 크기로 고르지 않고 </a:t>
            </a:r>
            <a:r>
              <a:rPr sz="1600" b="1" i="0">
                <a:solidFill>
                  <a:srgbClr val="11202B"/>
                </a:solidFill>
                <a:latin typeface="Malgun Gothic"/>
                <a:ea typeface="Malgun Gothic"/>
                <a:cs typeface="Malgun Gothic"/>
              </a:rPr>
              <a:t>FG 사슬과 결합할 수 있는가</a:t>
            </a:r>
            <a:r>
              <a:rPr sz="1600" b="0" i="0">
                <a:solidFill>
                  <a:srgbClr val="11202B"/>
                </a:solidFill>
                <a:latin typeface="Malgun Gothic"/>
                <a:ea typeface="Malgun Gothic"/>
                <a:cs typeface="Malgun Gothic"/>
              </a:rPr>
              <a:t>로 고른다. 수송의 방향은 Ran-GTP 농도 기울기가 정하며, 그 기울기는 핵 안의 RCC1과 세포질의 RanGAP이 공간적으로 분리되어 있다는 사실 하나에서 나온다. GTP 가수분해는 기질을 밀어 넣는 데 쓰이지 않고 기울기를 유지하는 데 쓰인다. mRNA는 예외적으로 Ran에 직접 의존하지 않고, 가공이 완료되었다는 표지가 수출 허가증이 된다. 그리고 단백질의 위치 자체가 빠르고 가역적인 조절 수단이므로, 핵 경계는 구조물이면서 동시에 신호 전달의 장치다.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연구자가 핵 국소화 신호를 찾기 위해 후보 구간을 다루는 두 방향의 실험을 설계했다. 두 실험이 각각 무엇을 보이는지와, 둘이 모두 필요한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 번째 실험은 그 구간을 없애거나 변이시켜 단백질이 더 이상 핵으로 가지 않음을 보이는 것이다. 이것은 그 구간이 </a:t>
            </a:r>
            <a:r>
              <a:rPr sz="1500" b="1" i="0">
                <a:solidFill>
                  <a:srgbClr val="11202B"/>
                </a:solidFill>
                <a:latin typeface="Malgun Gothic"/>
                <a:ea typeface="Malgun Gothic"/>
                <a:cs typeface="Malgun Gothic"/>
              </a:rPr>
              <a:t>필요하다</a:t>
            </a:r>
            <a:r>
              <a:rPr sz="1500" b="0" i="0">
                <a:solidFill>
                  <a:srgbClr val="11202B"/>
                </a:solidFill>
                <a:latin typeface="Malgun Gothic"/>
                <a:ea typeface="Malgun Gothic"/>
                <a:cs typeface="Malgun Gothic"/>
              </a:rPr>
              <a:t>는 것을 보인다. 두 번째 실험은 그 구간을 원래 핵에 가지 않는 다른 단백질에 붙여 그 단백질이 핵으로 들어감을 보이는 것이다. 이것은 그 구간이 </a:t>
            </a:r>
            <a:r>
              <a:rPr sz="1500" b="1" i="0">
                <a:solidFill>
                  <a:srgbClr val="11202B"/>
                </a:solidFill>
                <a:latin typeface="Malgun Gothic"/>
                <a:ea typeface="Malgun Gothic"/>
                <a:cs typeface="Malgun Gothic"/>
              </a:rPr>
              <a:t>충분하다</a:t>
            </a:r>
            <a:r>
              <a:rPr sz="1500" b="0" i="0">
                <a:solidFill>
                  <a:srgbClr val="11202B"/>
                </a:solidFill>
                <a:latin typeface="Malgun Gothic"/>
                <a:ea typeface="Malgun Gothic"/>
                <a:cs typeface="Malgun Gothic"/>
              </a:rPr>
              <a:t>는 것을 보인다. 둘이 모두 필요한 이유는 각각만으로는 다른 해석이 남기 때문이다. 제거 실험만 하면 그 구간의 결손이 단백질의 접힘을 망가뜨려 간접적으로 수송을 막은 경우를 배제할 수 없고, 부착 실험만 하면 그 구간이 원래 단백질에서 실제로 쓰이는 신호인지(다른 신호가 주로 작동할 수도 있다) 확정할 수 없다. 필요성과 충분성을 함께 보이는 쌍방향 설계가 신호 동정의 표준이며, SV40 큰 T 항원의 NLS가 이 방식으로 확립되었다. 부착 실험에서는 수동 확산의 가능성을 배제하기 위해 융합 단백질의 크기를 40 kDa보다 충분히 크게 만드는 것이 중요하다.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GTP를 가수분해하지 못하는 Ran 변이체를 세포에 발현시키면 핵 수송에 어떤 변화가 생길지 들여오기와 내보내기로 나누어 예측하고 근거를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양방향이 모두 멈춘다. 근거는 Ran-GTP가 importin과 exportin에게 정반대의 의미를 가진다는 데 있다. 가수분해가 일어나지 않으면 Ran-GTP가 세포질에도 쌓여 농도 기울기가 사라진다. 들여오기에서는 importin이 세포질에서 이미 Ran-GTP와 결합하게 되고, 그 결합이 기질을 밀어내므로 importin이 기질을 싣지 못한다. 따라서 NLS를 가진 단백질이 핵으로 들어가지 못한다. 내보내기에서는 exportin이 Ran-GTP가 있을 때 기질을 붙잡으므로, 세포질에 도착해도 Ran-GTP가 떨어지지 않아 기질을 놓지 못한다. 결과적으로 기질이 핵공 주변에 붙잡힌 채 방출되지 않는다. 즉 수송의 방향성은 Ran-GTP의 공간적 분리에서 나오는 것이므로, 분리가 사라지면 두 방향의 알짜 흐름이 모두 없어진다. 추가로 Ran 기울기는 분열기 방추 조립에도 쓰이므로 분열 이상이 함께 나타날 것으로 예상된다.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세포에서 분자량 30 kDa인 형광 단백질은 핵과 세포질에 고르게 분포하는데, 같은 단백질 두 개를 이어 붙인 60 kDa 형태는 세포질에만 머물렀다. 이 결과를 설명하고, 60 kDa 형태를 핵으로 들여보내려면 무엇을 하면 되는지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핵공은 두 가지 양식으로 물질을 통과시킨다. 약 40 kDa 이하의 작은 분자는 FG 사슬이 메운 통로를 신호 없이 수동 확산으로 지날 수 있고, 그보다 큰 분자는 수송 수용체에 실려야만 통과한다. 30 kDa 단백질은 수동 확산의 범위에 있으므로 신호가 없어도 양쪽을 자유롭게 오가며 평형에 이르러 고르게 분포한다. 60 kDa 형태는 그 한계를 넘으므로 수동 확산이 막히고, 핵 국소화 신호가 없어 수용체에도 실리지 않아 세포질에 남는다. 들여보내려면 핵 국소화 신호를 붙이면 된다. 염기성 잔기가 몰린 짧은 구간(예: SV40 큰 T 항원의 PKKKRKV)을 융합하면 importin α가 읽고 importin β가 핵공을 통과시킨다. 이 실험 설계는 신호의 효과를 보려 할 때 수동 확산을 먼저 차단해야 한다는 원칙을 보여 주며, 그래서 신호 연구에서는 작은 보고 단백질을 일부러 크게 만들어 쓴다.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소포체로 보내는 signal sequence와 핵 국소화 신호를 세 가지 축에서 비교하고, 그 차이가 각 수송 방식의 어떤 성질에서 오는지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위치다. Signal sequence는 대개 N 말단에 있고 NLS는 단백질 내부 어디에나 있을 수 있다. Signal sequence는 사슬이 합성되는 동안 가장 먼저 나와야 SRP가 인식해 번역을 소포체 막으로 끌고 갈 수 있으므로 N 말단이어야 하고, NLS는 완성되어 접힌 단백질 위에서 읽히므로 위치가 자유롭다. 둘째, 제거 여부다. Signal sequence는 막을 통과하는 동안 signal peptidase에 의해 잘려 나가고 NLS는 남는다. 분비 단백질은 한 번 소포체에 들어가면 다시 세포질로 돌아갈 일이 없지만, 핵 단백질은 세포 분열 때 핵막이 해체되어 세포질에 섞이므로 분열마다 같은 신호를 다시 써야 한다. 셋째, 통과하는 사슬의 상태다. 소포체로의 수송은 사슬이 펴진 상태로 번역과 동시에 막을 통과하지만, 핵 수송은 </a:t>
            </a:r>
            <a:r>
              <a:rPr sz="1500" b="1" i="0">
                <a:solidFill>
                  <a:srgbClr val="11202B"/>
                </a:solidFill>
                <a:latin typeface="Malgun Gothic"/>
                <a:ea typeface="Malgun Gothic"/>
                <a:cs typeface="Malgun Gothic"/>
              </a:rPr>
              <a:t>완전히 접힌 단백질이 접힌 상태로</a:t>
            </a:r>
            <a:r>
              <a:rPr sz="1500" b="0" i="0">
                <a:solidFill>
                  <a:srgbClr val="11202B"/>
                </a:solidFill>
                <a:latin typeface="Malgun Gothic"/>
                <a:ea typeface="Malgun Gothic"/>
                <a:cs typeface="Malgun Gothic"/>
              </a:rPr>
              <a:t> 핵공을 지난다. 핵공의 통로가 충분히 넓어 거대 복합체도 통과할 수 있기 때문이다. 이 차이 때문에 핵에는 ribosome 소단위처럼 이미 조립된 거대 구조물도 드나들 수 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Intron이 남아 있는 전사체가 핵을 떠나지 못하는 기전을 설명하고, HIV-1이 이 규칙을 우회하는 방법과 그 임상적 함의를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mRNA의 수출은 가공의 완료와 묶여 있다. 전사와 가공이 진행되는 동안 cap 결합 복합체, splicing을 수행한 spliceosome이 남긴 exon junction complex, 3′ 말단 가공 인자가 전사체 위에 실리고, 이 인자들이 수출 수용체 NXF1-NXT1을 불러온다. 즉 가공을 거쳤다는 사실 자체가 수출 허가증이다. Intron이 남은 전사체에는 이 인자들이 제대로 실리지 않고 대신 핵 내 감시 기구가 붙잡아 분해로 보낸다. HIV-1은 이 관문을 Rev 단백질로 우회한다. 바이러스 RNA에는 Rev가 결합하는 구조(Rev response element)가 있고, Rev는 핵 수출 신호를 가지고 있어 숙주의 exportin CRM1을 끌어온다. 그 결과 splicing되지 않은 전장 전사체가 핵을 떠나 유전체 RNA로 포장되거나 Gag-Pol의 번역에 쓰인다. 임상적 함의는 두 가지다. 첫째, 하나의 전사 단위에서 splicing 정도가 다른 여러 전사체를 모두 쓰는 바이러스의 전략이 가능해진다. 둘째, Rev–RRE 상호작용과 CRM1 의존 수출이 치료 표적의 후보가 된다. 다만 CRM1은 숙주의 필수 경로이므로 선택성을 얻기 어렵다는 한계가 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LMNA 유전자 하나의 변이가 근육병, 심근병증, 지방이상증, 조로증까지 서로 다른 질환을 만든다. 조직 특이성이 나타나는 이유와, 조로증의 기전이 다른 표현형과 구별되는 점을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조직 특이성에는 두 가지 설명이 제시된다. 첫째, 기계적 부하다. 핵막층은 핵의 모양과 강도를 유지하고 LINC 복합체를 통해 세포질의 세포골격과 연결되어 있으므로, 심장과 뼈대근육처럼 반복적인 힘을 받는 조직에서 약해진 핵이 먼저 손상된다. 둘째, 발현 조절이다. 핵막층은 전사가 억제된 염색질 구간을 붙잡고 있고 그 구간의 구성은 세포 종류마다 다르므로, 같은 결손이 조직마다 다른 유전자군의 발현 변화로 나타난다. 지방이상증에서 지방세포 분화 전사인자가 영향을 받는 것이 그 예로 제시된다. 조로증(Hutchinson–Gilford progeria)은 기전이 다르다. 전형적 변이는 아미노산을 바꾸지 않는 겉보기 silent 변이이면서 내부의 약한 splice site를 활성화해 50잔기가 빠진 progerin을 만든다. 빠진 구간에 farnesyl기를 제거하기 위한 절단 부위가 들어 있으므로, progerin은 farnesyl기를 영구히 달고 내막에 박혀 축적된다. 즉 다른 표현형은 대개 기능 상실 또는 부분적 기능 이상이지만 조로증은 </a:t>
            </a:r>
            <a:r>
              <a:rPr sz="1500" b="1" i="0">
                <a:solidFill>
                  <a:srgbClr val="11202B"/>
                </a:solidFill>
                <a:latin typeface="Malgun Gothic"/>
                <a:ea typeface="Malgun Gothic"/>
                <a:cs typeface="Malgun Gothic"/>
              </a:rPr>
              <a:t>독성 획득</a:t>
            </a:r>
            <a:r>
              <a:rPr sz="1500" b="0" i="0">
                <a:solidFill>
                  <a:srgbClr val="11202B"/>
                </a:solidFill>
                <a:latin typeface="Malgun Gothic"/>
                <a:ea typeface="Malgun Gothic"/>
                <a:cs typeface="Malgun Gothic"/>
              </a:rPr>
              <a:t>이며, 그래서 farnesyltransferase 억제제가 치료로 시도된다.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세포에서 rRNA 전사를 억제했더니 핵소체가 사라졌다가, 억제를 풀자 같은 자리에서 다시 나타났다. 이 관찰이 핵소체의 성질에 대해 무엇을 말하는지 설명하고, 같은 원리가 적용되는 다른 구획을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핵소체가 미리 만들어진 구조물 안에서 기능이 수행되는 것이 아니라, </a:t>
            </a:r>
            <a:r>
              <a:rPr sz="1500" b="1" i="0">
                <a:solidFill>
                  <a:srgbClr val="11202B"/>
                </a:solidFill>
                <a:latin typeface="Malgun Gothic"/>
                <a:ea typeface="Malgun Gothic"/>
                <a:cs typeface="Malgun Gothic"/>
              </a:rPr>
              <a:t>기능이 수행되는 자리에서 구조가 생겨난다</a:t>
            </a:r>
            <a:r>
              <a:rPr sz="1500" b="0" i="0">
                <a:solidFill>
                  <a:srgbClr val="11202B"/>
                </a:solidFill>
                <a:latin typeface="Malgun Gothic"/>
                <a:ea typeface="Malgun Gothic"/>
                <a:cs typeface="Malgun Gothic"/>
              </a:rPr>
              <a:t>는 것을 말한다. 핵소체는 막으로 둘러싸여 있지 않고, rRNA 유전자가 모여 전사되는 자리에 rRNA와 결합 단백질이 다가 상호작용으로 모여 주변 핵질과 구별되는 상태를 이루는 것이다. 전사가 멈추면 모으는 힘이 사라져 구성 성분이 핵질로 흩어지고, 전사를 다시 켜면 그 자리에서 다시 모인다. 또한 다시 나타나는 자리가 같다는 사실은 rRNA 유전자가 있는 염색체 구간(핵소체 조직 영역)이 위치를 지정한다는 것을 보여 준다. 같은 원리가 적용되는 구획으로는 splicing 인자가 모인 nuclear speckle, 스트레스에서 번역이 멈춘 전사체가 모이는 stress granule, 분해 효소가 모인 P body가 있다. 이들은 모두 막이 없고, 구성 성분이 주변과 빠르게 교환되며, 무정형 영역이 많은 단백질로 이루어져 있다. 다만 세포 안의 농도에서 상 분리가 실제로 일어나는지, 구획화가 기능에 필요한지는 아직 논쟁 중이다.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분열 중에 염색체 하나가 뒤처져 주된 핵 밖에 미세핵으로 남았다. 이후에 일어날 수 있는 결과를 두 가지 들고, 각각이 종양 생물학에서 어떤 의미를 가지는지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미세핵의 핵막은 불완전하게 조립되어 쉽게 터진다. 첫째 결과는 유전체 재배열이다. 터진 미세핵의 DNA가 세포질에 노출되면 손상을 입어 수십 조각으로 부서지고, 세포가 다음 분열에서 이 조각들을 무작위로 다시 이어 붙이면 한 염색체에 국한된 대규모 재배열, 즉 chromothripsis가 생긴다. 종양 유전체에서 관찰되는 이 양상이 한 번의 재난적 사건으로 설명되는 근거이며, 증폭된 구간이 염색체 밖 고리 DNA로 떨어져 나와 비멘델 방식으로 분배되는 현상과도 연결된다. 둘째 결과는 염증이다. 세포질의 DNA를 감지하는 cGAS–STING 경로가 켜져 인터페론 반응과 염증 신호가 생긴다. 이 축은 양면적이다. 염증이 종양의 성장을 돕기도 하고, 면역계가 종양을 인식하는 계기가 되기도 한다. 염색체 불안정성이 큰 종양에서 면역치료의 반응이 달라지는 현상을 이 경로로 설명하려는 연구가 진행된다. 요점은 핵막 재조립의 실패가 </a:t>
            </a:r>
            <a:r>
              <a:rPr sz="1500" b="1" i="0">
                <a:solidFill>
                  <a:srgbClr val="11202B"/>
                </a:solidFill>
                <a:latin typeface="Malgun Gothic"/>
                <a:ea typeface="Malgun Gothic"/>
                <a:cs typeface="Malgun Gothic"/>
              </a:rPr>
              <a:t>유전체 불안정성과 자연 면역 활성화를 동시에</a:t>
            </a:r>
            <a:r>
              <a:rPr sz="1500" b="0" i="0">
                <a:solidFill>
                  <a:srgbClr val="11202B"/>
                </a:solidFill>
                <a:latin typeface="Malgun Gothic"/>
                <a:ea typeface="Malgun Gothic"/>
                <a:cs typeface="Malgun Gothic"/>
              </a:rPr>
              <a:t> 만든다는 것이다.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Exportin CRM1을 억제하는 약물이 종양 치료에 쓰이는 논리와, 이 접근이 가진 한계를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논리는 종양 억제 단백질의 위치를 되돌리는 것이다. p53, p21, FOXO, IκB 같은 단백질은 핵 수출 신호를 가지고 있어 CRM1에 의해 핵에서 내보내지는데, 일부 종양에서는 이 수출이 과도해 단백질이 세포질에 머물며 전사 조절 기능을 수행하지 못한다. CRM1을 억제하면 이들이 핵에 붙잡혀 분열 정지와 세포사멸을 유도할 수 있다. 서열에 변이가 없어도 기능이 회복될 수 있다는 점이 이 접근의 특징이다. Multiple myeloma에서 selinexor가 승인되었다. 한계는 세 가지다. 첫째, CRM1은 수백 종의 기질을 내보내는 숙주의 필수 경로이므로, 억제가 정상 세포에도 광범위하게 작용해 식욕 저하, 구역, 혈구 감소 같은 부작용이 흔하다. 둘째, 치료 범위는 종양이 이 수송에 더 의존한다는 전제에서만 생기므로, 어떤 종양이 그런지를 미리 가려낼 표지가 필요하다. 셋째, p53이 변이로 기능을 잃은 종양에서는 핵에 붙잡아 두어도 효과를 기대할 수 없으므로 유전형에 따라 반응이 갈린다. 따라서 이 부류의 약은 단독보다 병합으로, 그리고 의존성을 보이는 환자군을 가려내어 쓰는 방향으로 개발된다.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유전자 치료에서 플라스미드 DNA를 쓰는 비바이러스 전달이 분열하지 않는 세포에서 효율이 낮은 이유를 설명하고, lentivirus 벡터가 그 제약을 받지 않는 이유를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전달 과정에는 두 개의 막 장벽이 있다. 세포막과 핵막이다. 지질 나노입자나 전기천공으로 세포막을 넘긴 플라스미드 DNA는 크고 핵 국소화 신호를 가지지 않으므로 핵공을 통한 촉진 수송에 실리지 못하고, 수동 확산의 크기 한계를 크게 넘으므로 핵으로 들어가지 못한다. 분열하는 세포에서는 M기에 핵막이 해체되는 동안 DNA가 염색체 주변에 놓였다가 핵막이 다시 닫힐 때 핵 안에 갇히게 되므로 발현이 일어난다. 따라서 </a:t>
            </a:r>
            <a:r>
              <a:rPr sz="1500" b="1" i="0">
                <a:solidFill>
                  <a:srgbClr val="11202B"/>
                </a:solidFill>
                <a:latin typeface="Malgun Gothic"/>
                <a:ea typeface="Malgun Gothic"/>
                <a:cs typeface="Malgun Gothic"/>
              </a:rPr>
              <a:t>분열이 핵 진입의 기회를 준다</a:t>
            </a:r>
            <a:r>
              <a:rPr sz="1500" b="0" i="0">
                <a:solidFill>
                  <a:srgbClr val="11202B"/>
                </a:solidFill>
                <a:latin typeface="Malgun Gothic"/>
                <a:ea typeface="Malgun Gothic"/>
                <a:cs typeface="Malgun Gothic"/>
              </a:rPr>
              <a:t>는 것이 전통적인 설명이며, 분열하지 않는 세포(신경세포, 심근세포, 휴지기 세포)에서는 그 기회가 없어 효율이 급격히 떨어진다. 같은 이유로 retrovirus 벡터도 분열하는 세포만 감염시킨다. Lentivirus는 capsid가 핵공 복합체와 상호작용해 핵막이 닫힌 상태에서도 유전체를 핵 안으로 들여보낼 수 있으므로 이 제약을 받지 않으며, 분열하지 않는 조혈모세포나 신경세포에도 유전자를 넣을 수 있다. 이것이 체외 유전자 치료에서 lentivirus 벡터가 널리 쓰이는 이유다. mRNA를 쓰는 전달은 핵에 들어갈 필요가 없으므로 이 장벽 자체를 피한다는 점도 함께 알아 둔다.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10, The Nucleus.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12, Intracellular Organization and Protein Sorting.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Kalderon D, Roberts BL, Richardson WD, Smith AE. A short amino acid sequence able to specify nuclear location. Cell 1984;39:499–509.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Görlich D, Kutay U. Transport between the cell nucleus and the cytoplasm. Annu Rev Cell Dev Biol 1999;15:607–660.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Beck M, Hurt E. The nuclear pore complex: understanding its function through structural insight. Nat Rev Mol Cell Biol 2017;18:73–89.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Köhler A, Hurt E. Exporting RNA from the nucleus to the cytoplasm. Nat Rev Mol Cell Biol 2007;8:761–773.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M01-W08-L03  ·  핵과 핵-세포질 수송</a:t>
            </a:r>
            <a:r>
              <a:rPr sz="900" b="1" i="0">
                <a:solidFill>
                  <a:srgbClr val="003C71"/>
                </a:solidFill>
                <a:latin typeface="Malgun Gothic"/>
                <a:ea typeface="Malgun Gothic"/>
                <a:cs typeface="Malgun Gothic"/>
              </a:rPr>
              <a:t>      55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Dechat T, Pfleghaar K, Sengupta K, et al. Nuclear lamins: major factors in the structural organization and function of the nucleus and chromatin. Genes Dev 2008;22:832–853.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Eriksson M, Brown WT, Gordon LB, et al. Recurrent de novo point mutations in lamin A cause Hutchinson-Gilford progeria syndrome. Nature 2003;423:293–298.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Boulon S, Westman BJ, Hutten S, Boisvert FM, Lamond AI. The nucleolus under stress. Mol Cell 2010;40:216–227.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Zhang K, Donnelly CJ, Haeusler AR, et al. The C9orf72 repeat expansion disrupts nucleocytoplasmic transport. Nature 2015;525:56–61.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Zhang K, Daigle JG, Cunningham KM, et al. Stress granule assembly disrupts nucleocytoplasmic transport. Cell 2018;173:958–971.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Hatch EM, Fischer AH, Deerinck TJ, Hetzer MW. Catastrophic nuclear envelope collapse in cancer cell micronuclei. Cell 2013;154:47–60.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