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열역학적으로 되돌릴 수 없는 단계가 있기 때문이다. 분해에서 크게 에너지를 방출한 단계는 역방향으로 그냥 돌릴 수 없어 다른 효소로 우회해야 한다. 둘째, 따로 조절하기 위해서다. 같은 효소가 양방향을 담당하면 한쪽을 켜는 신호가 다른 쪽도 켜게 되고 두 경로가 동시에 돌아 ATP만 소모하는 무익 회로가 된다. 서로 다른 효소를 쓰면 하나를 켜면서 다른 하나를 끌 수 있다. 셋째, 공간을 나눌 수 있다. 분해와 합성을 서로 다른 구획에서 수행하면 간섭이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안에는 ATP보다 인산 전달 전위가 높은 분자도 있으므로 에너지 크기가 선택의 이유는 아니다. ATP가 적합한 것은 전위의 중간에 있어 더 높은 전위의 분자에서 인산을 받고 더 낮은 전위의 분자에 넘길 수 있는 중개자 위치에 있기 때문이다. 또 반응성의 균형이 맞다. 열역학적으로는 불안정해 가수분해에서 큰 에너지를 내지만 속도론적으로는 안정해 효소가 없으면 쉽게 분해되지 않으므로, 세포가 원하는 시점과 장소에서만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ΔG°′는 모든 반응물과 생성물이 표준 농도일 때의 값으로 그 반응의 고유한 성질이고, ΔG는 실제 세포 안의 농도에서의 값으로 반응이 실제로 어느 방향으로 진행하는지를 정한다. ΔG°′가 양수인 반응도 생성물이 다음 반응에서 계속 소비되어 농도가 낮게 유지되면 실제 ΔG는 음수가 되어 정방향으로 진행한다. 따라서 경로 안의 개별 반응을 따로 떼어 평가할 수 없으며, 경로가 연결되어 있다는 사실 자체가 각 반응을 끌고 가는 힘이 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분자는 인산기 하나만 다르지만 효소가 이를 구별하므로 세포는 두 풀을 독립적으로 유지할 수 있다. NAD는 대부분 산화형으로 유지되어 전자를 받을 준비가 되어 있고 이화 작용에서 전자를 거두어 electron transport chain으로 가져간다. NADP는 대부분 환원형인 NADPH로 유지되어 전자를 줄 준비가 되어 있고 합성 반응의 환원력과 항산화 방어에 쓰인다. 분해와 합성을 동시에 수행하면서 서로 간섭하지 않게 하는 장치이며, 이화와 동화를 분리한다는 원칙이 조효소 수준에서 구현된 것이다.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경제성이다. 영양소마다 완전한 산화 경로를 따로 갖출 필요 없이 공통 구간 하나로 처리한다. 둘째, 유연성이다. 들어오는 연료의 종류가 바뀌어도 같은 기계가 처리하므로 식사 내용이 달라져도 대응할 수 있다. 셋째, 상호 전환의 교차로가 된다. 공통 중간체가 있으므로 한 영양소를 다른 영양소로 바꿀 수 있다. 다만 acetyl-CoA에서 포도당으로 가는 경로가 없으므로 지방산을 포도당으로 바꾸는 방향만은 불가능하다.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triacylglycerol이 분해될 때 나오는 glycerol은 glycolysis 중간체로 들어가 gluconeogenesis에 쓰일 수 있다. 다만 지방산 세 분자당 glycerol 하나이므로 양이 제한된다. 둘째, 홀수 탄소 지방산은 β 산화의 마지막에 propionyl-CoA를 남기고 이것이 succinyl-CoA를 거쳐 포도당이 될 수 있다. 사람의 식이에서 홀수 탄소 지방산은 소량이므로 실질적 기여는 작다. 두 예외 모두 원칙을 뒤집지 못하며, 공복에서 지방만으로 혈당을 유지할 수 없다는 결론은 그대로 유지된다.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삼투압 때문이다. 수천 개의 포도당 분자를 자유롭게 두면 세포 안 삼투압이 감당할 수 없이 올라가지만, 하나의 거대 분자로 묶으면 삼투압 부담이 수천 분의 일로 줄어든다. 둘째, 동원 속도 때문이다. glycogen은 가지가 많은 구조여서 여러 끝에서 동시에 포도당을 떼어 낼 수 있으므로 필요할 때 빠르게 공급된다. 저장 효율과 동원 속도를 함께 얻은 구조이지만 저장량은 간과 근육을 합쳐 약 400~500 g으로 하루분에 못 미치므로 장기 저장은 지방이 맡는다.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지방산의 탄소가 더 환원된 상태여서 그램당 에너지가 약 9 kcal로 탄수화물과 단백질의 두 배 이상이다. 둘째, 소수성이어서 물을 끌고 다니지 않는다. glycogen은 자기 무게의 두세 배의 물과 함께 저장되므로 실제 저장 효율에서 지방이 약 여섯 배 유리하다. 대가는 동원 속도와 조건이다. 지방조직에서 분해하고 운반하고 미토콘드리아로 들여와야 하므로 느리고, β 산화가 산소를 필요로 하므로 무산소 상태에서는 쓸 수 없다.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간은 ketone body를 분해해 쓰는 데 필요한 효소가 없다. 이는 결함이 아니라 분업의 결과다. 공복에서 간은 지방산을 대량으로 산화해 남는 acetyl-CoA를 ketone body로 묶어 혈액으로 내보내는 공급자 역할을 한다. 만든 것을 자기가 소비하면 다른 기관으로 보낼 것이 남지 않으므로, 쓰는 능력을 갖지 않는 편이 공급자로서 합리적이다. 뇌는 지방산을 쓰지 못하지만 ketone body는 쓸 수 있으므로 장기 공복에서 이 공급이 결정적이 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질소는 아미노기가 떨어져 암모니아가 되는데 신경 독성이 크므로 조직에서 glutamine과 alanine 형태로 안전하게 운반한 뒤 간의 urea cycle에서 요소로 바꾸어 신장으로 배설한다. 탄소 골격은 어느 중간체로 들어가느냐에 따라 갈린다. pyruvate나 TCA cycle 중간체가 되면 포도당으로 갈 수 있어 당생성이고, acetyl-CoA나 acetoacetate만 내놓으면 포도당이 될 수 없어 ketone생성이다. leucine과 lysine이 순수 ketone생성인 것은 이 둘이 분해되면 acetyl-CoA 또는 acetoacetyl-CoA만 나오는데 acetyl-CoA에서 포도당으로 가는 경로가 없기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식후 4~16시간에는 간의 glycogen 분해가 혈당을 유지하지만 12~24시간이면 고갈된다. 이후 1~3일에는 gluconeogenesis가 주 공급원이 되며 근육에서 온 아미노산, glycerol, 젖산을 재료로 쓴다. 3일 이후에는 간의 ketone body 생산이 크게 늘고 뇌가 연료의 상당 부분을 ketone body로 전환한다. 이 전환의 목적은 단백질을 보호하는 것이다. 지방에서 포도당을 만들 수 없으므로 포도당은 근육 단백질을 희생해야 얻을 수 있는데, 가장 큰 포도당 소비자인 뇌가 ketone body로 일부 전환하면 gluconeogenesis의 부담이 줄고 단백질 분해 속도가 떨어져 생존 기간이 크게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아미노산은 insulin 분비를 자극한다. 그런데 탄수화물 없이 insulin만 올라가면 간에서 포도당 방출이 억제되고 조직의 포도당 섭취가 늘어 저혈당이 올 수 있다. 아미노산이 glucagon 분비도 함께 자극하므로 간에서 glycogen 분해와 gluconeogenesis가 유지되어 혈당이 떨어지지 않는다. 결과적으로 두 호르몬이 함께 올라가 비율은 크게 변하지 않고, 아미노산만 조직으로 들어가 단백질 합성에 쓰인다. 대사 방향을 정하는 것이 각 호르몬의 절대 농도가 아니라 둘의 비율이라는 점을 보여 주는 사례다.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근육에는 glucagon 수용체가 없어 혈당이 떨어졌다는 신호를 받지 못한다. 근육 glycogen을 동원하는 것은 운동 시의 에피네프린과 근육 자체의 수축 신호다. 둘째, 근육에는 glucose-6-phosphatase가 없어 분해해 얻은 glucose-6-phosphate를 자유 포도당으로 바꾸어 혈액으로 내보낼 수 없고 자기가 쓸 수밖에 없다. 간접적으로는 기여하는데, 근육에서 나온 젖산과 alanine이 혈액을 타고 간으로 가서 gluconeogenesis의 재료가 되어 포도당으로 재합성되는 경로를 통해서다.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기초대사량을 정하는 가장 큰 요인은 제지방량이다. 지방조직은 대사가 느리고 근육과 내장은 빠르므로 같은 체중이라도 근육이 많으면 기초대사량이 높다. 남녀 차이와 연령 차이도 대부분 제지방량 차이로 설명된다. 체중 감량이 어려워지는 것은 섭취를 줄이면 소비도 함께 줄기 때문이며, 제지방량 감소로 설명되는 것보다 더 크게 줄어드는 적응성 열생성이 더해진다. 과잉 섭취에서는 소비 증가의 폭이 작아, 몸이 체중 감소에 더 강하게 저항하는 비대칭이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비타민은 모두 일탄소 전달에 관여해 DNA 합성에 필요하므로, 결핍되면 분열이 빠른 세포에서 먼저 문제가 생겨 거대적혈모구 빈혈이라는 같은 혈액 소견을 낸다. 그러나 신경 증상은 B₁₂ 결핍에서만 나타난다. B₁₂는 methylmalonyl-CoA의 처리에도 쓰이고 말이집 유지에 관여하기 때문이다. 문제는 folate를 보충하면 혈액 소견이 호전되어 결핍이 교정된 것처럼 보이는데 신경 손상은 계속 진행한다는 점이다. 신경 손상은 되돌리기 어려우므로, 보충을 시작하기 전에 반드시 B₁₂ 상태를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오래 굶은 환자는 세포 안의 인, 칼륨, 마그네슘이 고갈되어 있지만 혈중 농도는 정상으로 보인다. 영양을 공급하면 insulin이 급격히 분비되어 포도당과 함께 이 전해질들이 세포 안으로 몰려 들어가고 혈중 농도가 급락한다. 특히 저인산혈증이 위험한데 인이 없으면 ATP를 만들 수 없어 심부전, 호흡부전, 부정맥, 신경 증상이 생기고 사망에 이를 수 있다. Thiamine을 먼저 주어야 하는 이유는 thiamine이 pyruvate의 처리에 쓰이는 조효소이기 때문이다. 이미 고갈된 상태에서 포도당을 주면 남은 thiamine이 급격히 소모되어 Wernicke 뇌병증이 유발된다.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호흡 지수는 배출한 CO₂를 소비한 O₂로 나눈 값이다. 탄수화물은 분자 안에 산소가 이미 많아 적은 O₂로 같은 양의 CO₂를 내므로 RQ가 1.0이고, 지방은 환원된 상태여서 많은 O₂를 쓰므로 약 0.7이며, 혼합 식사에서는 약 0.85가 된다. 탄수화물을 과도하게 공급하면 남는 탄수화물로 지방을 합성하게 되고 이 과정에서 CO₂가 추가로 생성되어 RQ가 1을 넘는다. 늘어난 CO₂는 환기 부담을 키우므로 호흡이 약한 환자에서 인공호흡기 이탈을 어렵게 만든다.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수소와 산소에 안정 동위원소를 표지한 물을 마시게 한 뒤 두 원소가 몸에서 사라지는 속도를 비교한다. 표지된 수소는 물의 형태로만 빠져나가지만 표지된 산소는 물과 CO₂ 양쪽으로 빠져나가므로, 두 소실 속도의 차이가 CO₂ 생산량에 해당한다. 여기서 에너지 소비를 계산한다. 장점은 피험자를 실험실에 묶어 두지 않고 평소대로 생활하게 하면서 측정할 수 있다는 것이며, 자유 생활 상태의 에너지 소비를 비교하는 연구가 이 방법으로 가능해졌다.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지방은 탄소가 더 환원되어 있어 그램당 약 9 kcal로 탄수화물과 단백질의 두 배 이상이지만, 완전히 산화하는 데 그만큼 많은 산소를 필요로 한다. 그 결과 산소 1 L당 얻는 에너지는 세 영양소 모두 약 4.8~5.0 kcal로 비슷해진다. 이 사실은 산소 공급이 제한된 상황에서 의미를 갖는다. 산소가 제한 요인이라면 어떤 연료를 태우든 얻을 수 있는 에너지의 총량이 비슷하므로, 연료의 선택이 산소 효율을 크게 바꾸지는 못한다.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되돌릴 수 없는 단계에 놓인다. 평형에 가까운 반응은 농도 변화로 방향이 쉽게 뒤집히므로 조절에 부적합하고, 사실상 한 방향으로만 가는 단계라야 그 속도가 경로 전체를 정한다. 둘째, 경로의 앞쪽, 특히 첫 번째 분기점에 놓인다. 쓰지 않을 물질을 만든 뒤 버리는 것보다 들어가기 전에 결정하는 편이 낭비가 적고 자원 배분까지 정할 수 있다. 셋째, 최종 산물이 앞쪽 효소를 억제하는 되먹임 구조를 쓴다. 중앙의 지시 없이 각 경로가 스스로 생산량을 맞춘다. 넷째, ATP와 AMP의 비처럼 에너지 상태 자체가 신호가 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대사 조절은 세포 수준과 전신 수준에서 겹쳐 일어난다. 전신 수준에서 운동 중에는 insulin이 낮고 glucagon과 카테콜아민이 높아 동원 쪽 신호가 지배한다. 그러나 세포 수준에서는 수축으로 ATP가 소모되고 AMP가 늘어 AMPK가 활성화되며, 이것이 포도당 수송체를 세포막으로 이동시켜 포도당 섭취를 늘린다. 두 신호가 겉으로는 충돌하지만 실제로는 역할이 다르다. 전신 신호는 연료를 어디로 보낼지를 정하고 세포 신호는 지금 일하는 세포가 연료를 받게 한다. 운동이 insulin 저항성이 있는 사람에게도 혈당 조절에 도움이 되는 기전의 하나다.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대사기초 요약: 에너지·영양소·섭식과 공복</a:t>
            </a:r>
          </a:p>
          <a:p>
            <a:r>
              <a:rPr sz="1500" b="0" i="0">
                <a:solidFill>
                  <a:srgbClr val="B9D2E8"/>
                </a:solidFill>
                <a:latin typeface="Malgun Gothic"/>
                <a:ea typeface="Malgun Gothic"/>
                <a:cs typeface="Malgun Gothic"/>
              </a:rPr>
              <a:t>Metabolism: Energy, Nutrients, Feeding and Fasting</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M01-W04-L02  ·  2부</a:t>
            </a:r>
          </a:p>
          <a:p>
            <a:r>
              <a:rPr sz="1100" b="0" i="0">
                <a:solidFill>
                  <a:srgbClr val="F2B705"/>
                </a:solidFill>
                <a:latin typeface="Malgun Gothic"/>
                <a:ea typeface="Malgun Gothic"/>
                <a:cs typeface="Malgun Gothic"/>
              </a:rPr>
              <a:t>전체 15절 가운데 6절</a:t>
            </a:r>
          </a:p>
          <a:p>
            <a:r>
              <a:rPr sz="1100" b="0" i="0">
                <a:solidFill>
                  <a:srgbClr val="9FBEDA"/>
                </a:solidFill>
                <a:latin typeface="Malgun Gothic"/>
                <a:ea typeface="Malgun Gothic"/>
                <a:cs typeface="Malgun Gothic"/>
              </a:rPr>
              <a:t>4주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대사를 이화와 동화로 나누고 두 방향이 왜 서로 다른 경로를 쓰는지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ATP가 에너지 통화로 쓰이는 이유를 공역의 관점에서 설명하고 자유에너지의 부호를 해석한다.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산화환원 반응에서 전자 운반체가 하는 일을 쓰고 NAD⁺와 NADPH의 역할 차이를 구분한다.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세 영양소의 분해 경로가 공통 중간체로 모이는 구조를 설명하고 그 이점을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포도당이 갈 수 있는 네 갈래 경로를 들고 각 경로가 선택되는 조건을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지방이 저장과 동원에 유리한 이유를 화학 구조로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아미노산의 탄소 골격과 질소가 서로 다른 운명을 갖는다는 것을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섭식 상태와 공복 상태에서 장기별 대사의 역할 분담을 서술한다.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Insulin과 glucagon이 대사 방향을 바꾸는 방식을 설명하고 두 호르몬의 비율이 갖는 의미를 쓴다.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에너지 균형의 식을 쓰고 기초대사량을 정하는 요인을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비타민과 무기질의 기능을 범주로 분류하고 결핍이 특정 증상을 내는 이유를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M01-W01-L03 소화계 요약 — 영양소의 소화와 흡수, 간의 기능</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M01-W02-L02 내분비계 요약 — insulin과 glucagon, 호르몬의 작용 방식</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탄수화물, 지질, 단백질의 기본 구조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10. 대사 경로는 어디서 조절되는가</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11. 에너지 균형과 기초대사량</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12. 대사를 측정하는 법</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13. 미량영양소 — 비타민과 무기질</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14. 대사 이상을 읽는 논리</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15. 이 수업이 이어지는 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대사 경로는 어디서 조절되는가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 전체를 외우지 않고도 조절을 이해하는 방법이 있다. </a:t>
            </a:r>
            <a:r>
              <a:rPr sz="1400" b="1" i="0">
                <a:solidFill>
                  <a:srgbClr val="11202B"/>
                </a:solidFill>
                <a:latin typeface="Malgun Gothic"/>
                <a:ea typeface="Malgun Gothic"/>
                <a:cs typeface="Malgun Gothic"/>
              </a:rPr>
              <a:t>조절 지점이 어디에 놓이는지에 규칙이 있기 때문</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규칙 1: 되돌릴 수 없는 단계에 놓인다.</a:t>
            </a:r>
            <a:r>
              <a:rPr sz="1400" b="0" i="0">
                <a:solidFill>
                  <a:srgbClr val="11202B"/>
                </a:solidFill>
                <a:latin typeface="Malgun Gothic"/>
                <a:ea typeface="Malgun Gothic"/>
                <a:cs typeface="Malgun Gothic"/>
              </a:rPr>
              <a:t> 평형에 가까운 반응은 농도만 조금 바뀌어도 방향이 뒤집히므로 조절 지점으로 부적합하다. ΔG가 크게 음수여서 사실상 한 방향으로만 가는 단계라야 그 속도가 경로 전체의 속도를 정한다. 이런 단계를 </a:t>
            </a:r>
            <a:r>
              <a:rPr sz="1400" b="1" i="0">
                <a:solidFill>
                  <a:srgbClr val="11202B"/>
                </a:solidFill>
                <a:latin typeface="Malgun Gothic"/>
                <a:ea typeface="Malgun Gothic"/>
                <a:cs typeface="Malgun Gothic"/>
              </a:rPr>
              <a:t>rate-limiting step</a:t>
            </a:r>
            <a:r>
              <a:rPr sz="1400" b="0" i="0">
                <a:solidFill>
                  <a:srgbClr val="11202B"/>
                </a:solidFill>
                <a:latin typeface="Malgun Gothic"/>
                <a:ea typeface="Malgun Gothic"/>
                <a:cs typeface="Malgun Gothic"/>
              </a:rPr>
              <a:t>이라 하고, 거기에 작용하는 효소가 조절의 표적이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규칙 2: 경로의 앞쪽, 특히 첫 번째 분기점에 놓인다.</a:t>
            </a:r>
            <a:r>
              <a:rPr sz="1400" b="0" i="0">
                <a:solidFill>
                  <a:srgbClr val="11202B"/>
                </a:solidFill>
                <a:latin typeface="Malgun Gothic"/>
                <a:ea typeface="Malgun Gothic"/>
                <a:cs typeface="Malgun Gothic"/>
              </a:rPr>
              <a:t> 쓰지 않을 물질을 만든 뒤 버리는 것은 낭비이므로, 들어가기 전에 결정하는 편이 낫다. 여러 경로로 갈라지는 지점에서 조절하면 자원의 배분까지 함께 정할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규칙 3: 최종 산물이 앞쪽 효소를 억제한다.</a:t>
            </a:r>
            <a:r>
              <a:rPr sz="1400" b="0" i="0">
                <a:solidFill>
                  <a:srgbClr val="11202B"/>
                </a:solidFill>
                <a:latin typeface="Malgun Gothic"/>
                <a:ea typeface="Malgun Gothic"/>
                <a:cs typeface="Malgun Gothic"/>
              </a:rPr>
              <a:t> 산물이 충분하면 경로를 끄는 </a:t>
            </a:r>
            <a:r>
              <a:rPr sz="1400" b="1" i="0">
                <a:solidFill>
                  <a:srgbClr val="11202B"/>
                </a:solidFill>
                <a:latin typeface="Malgun Gothic"/>
                <a:ea typeface="Malgun Gothic"/>
                <a:cs typeface="Malgun Gothic"/>
              </a:rPr>
              <a:t>되먹임 억제</a:t>
            </a:r>
            <a:r>
              <a:rPr sz="1400" b="0" i="0">
                <a:solidFill>
                  <a:srgbClr val="11202B"/>
                </a:solidFill>
                <a:latin typeface="Malgun Gothic"/>
                <a:ea typeface="Malgun Gothic"/>
                <a:cs typeface="Malgun Gothic"/>
              </a:rPr>
              <a:t>다. 중앙의 지시 없이 각 경로가 스스로 생산량을 맞추는 분산적 조절이며, 신호 전달에 걸리는 시간이 없어 매우 빠르다.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규칙 4: 에너지 상태 자체가 신호가 된다.</a:t>
            </a:r>
            <a:r>
              <a:rPr sz="1400" b="0" i="0">
                <a:solidFill>
                  <a:srgbClr val="11202B"/>
                </a:solidFill>
                <a:latin typeface="Malgun Gothic"/>
                <a:ea typeface="Malgun Gothic"/>
                <a:cs typeface="Malgun Gothic"/>
              </a:rPr>
              <a:t> ATP가 많으면 이화 경로의 핵심 효소가 억제되고, AMP가 늘면 활성화된다. ATP와 AMP의 비는 세포의 에너지 사정을 직접 반영하므로 호르몬보다 빠르고 세포 자율적이다. 이 원리를 쓰는 대표적 감지자가 </a:t>
            </a:r>
            <a:r>
              <a:rPr sz="1400" b="1" i="0">
                <a:solidFill>
                  <a:srgbClr val="11202B"/>
                </a:solidFill>
                <a:latin typeface="Malgun Gothic"/>
                <a:ea typeface="Malgun Gothic"/>
                <a:cs typeface="Malgun Gothic"/>
              </a:rPr>
              <a:t>AMPK</a:t>
            </a:r>
            <a:r>
              <a:rPr sz="1400" b="0" i="0">
                <a:solidFill>
                  <a:srgbClr val="11202B"/>
                </a:solidFill>
                <a:latin typeface="Malgun Gothic"/>
                <a:ea typeface="Malgun Gothic"/>
                <a:cs typeface="Malgun Gothic"/>
              </a:rPr>
              <a:t>로, AMP가 늘면 활성화되어 ATP를 쓰는 합성 경로를 끄고 ATP를 만드는 분해 경로를 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두 층위의 조절이 겹친다.</a:t>
            </a:r>
            <a:r>
              <a:rPr sz="1400" b="0" i="0">
                <a:solidFill>
                  <a:srgbClr val="11202B"/>
                </a:solidFill>
                <a:latin typeface="Malgun Gothic"/>
                <a:ea typeface="Malgun Gothic"/>
                <a:cs typeface="Malgun Gothic"/>
              </a:rPr>
              <a:t> 세포 수준의 조절은 "이 세포에 지금 에너지가 있는가"에 답하고, 호르몬에 의한 전신 조절은 "몸 전체가 지금 어떤 상태인가"에 답한다. 둘이 충돌할 수도 있다. 운동 중인 근육은 전신적으로는 공복 신호를 받고 있지만 세포 안에서는 AMP가 올라가 포도당 섭취를 늘린다. 실제로 운동 중 근육의 포도당 섭취는 insulin 없이도 일어나며, 이것이 운동이 혈당 조절에 도움이 되는 기전의 하나다.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대사 경로는 어디서 조절되는가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조절 효소를 외울 때 "경로의 첫 번째 되돌릴 수 없는 단계"라는 규칙을 적용하면 대부분 맞는다. Glycolysis에서는 phosphofructokinase-1이 그 자리에 있고 ATP가 억제, AMP가 활성화한다. 지방산 합성에서는 acetyl-CoA carboxylase가, cholesterol 합성에서는 HMG-CoA reductase가 같은 위치에 있다. 특히 HMG-CoA reductase가 statin의 표적이라는 점이 중요한데, </a:t>
            </a:r>
            <a:r>
              <a:rPr sz="1600" b="1" i="0">
                <a:solidFill>
                  <a:srgbClr val="11202B"/>
                </a:solidFill>
                <a:latin typeface="Malgun Gothic"/>
                <a:ea typeface="Malgun Gothic"/>
                <a:cs typeface="Malgun Gothic"/>
              </a:rPr>
              <a:t>경로의 rate-limiting step을 막는 것이 약물 설계의 기본 전략</a:t>
            </a:r>
            <a:r>
              <a:rPr sz="1600" b="0" i="0">
                <a:solidFill>
                  <a:srgbClr val="11202B"/>
                </a:solidFill>
                <a:latin typeface="Malgun Gothic"/>
                <a:ea typeface="Malgun Gothic"/>
                <a:cs typeface="Malgun Gothic"/>
              </a:rPr>
              <a:t>이기 때문이다. 하류를 막으면 중간체가 쌓여 독성이 생길 수 있지만, 가장 앞의 결정 단계를 막으면 그런 축적이 적다.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에너지 균형과 기초대사량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에너지 균형의 식.</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체내 에너지 저장의 변화 = 섭취 에너지 − 소비 에너지</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단순해 보이지만 양변이 모두 측정하기 어렵고 서로 독립적이지 않다는 점이 문제의 핵심이다.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소비의 구성.</a:t>
            </a:r>
            <a:r>
              <a:rPr sz="1400" b="0" i="0">
                <a:solidFill>
                  <a:srgbClr val="11202B"/>
                </a:solidFill>
                <a:latin typeface="Malgun Gothic"/>
                <a:ea typeface="Malgun Gothic"/>
                <a:cs typeface="Malgun Gothic"/>
              </a:rPr>
              <a:t> 하루 총 에너지 소비는 세 부분으로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기초대사량(BMR)</a:t>
            </a:r>
            <a:r>
              <a:rPr sz="1400" b="0" i="0">
                <a:solidFill>
                  <a:srgbClr val="11202B"/>
                </a:solidFill>
                <a:latin typeface="Malgun Gothic"/>
                <a:ea typeface="Malgun Gothic"/>
                <a:cs typeface="Malgun Gothic"/>
              </a:rPr>
              <a:t>: 완전한 휴식 상태에서 생명 유지에 쓰이는 양. 총 소비의 </a:t>
            </a:r>
            <a:r>
              <a:rPr sz="1400" b="1" i="0">
                <a:solidFill>
                  <a:srgbClr val="11202B"/>
                </a:solidFill>
                <a:latin typeface="Malgun Gothic"/>
                <a:ea typeface="Malgun Gothic"/>
                <a:cs typeface="Malgun Gothic"/>
              </a:rPr>
              <a:t>약 60~70%</a:t>
            </a:r>
            <a:r>
              <a:rPr sz="1400" b="0" i="0">
                <a:solidFill>
                  <a:srgbClr val="11202B"/>
                </a:solidFill>
                <a:latin typeface="Malgun Gothic"/>
                <a:ea typeface="Malgun Gothic"/>
                <a:cs typeface="Malgun Gothic"/>
              </a:rPr>
              <a:t> 로 가장 큰 몫이다.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식이성 발열</a:t>
            </a:r>
            <a:r>
              <a:rPr sz="1400" b="0" i="0">
                <a:solidFill>
                  <a:srgbClr val="11202B"/>
                </a:solidFill>
                <a:latin typeface="Malgun Gothic"/>
                <a:ea typeface="Malgun Gothic"/>
                <a:cs typeface="Malgun Gothic"/>
              </a:rPr>
              <a:t>: 음식을 소화하고 흡수하고 저장하는 데 드는 양. 약 10%. 단백질이 가장 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신체 활동</a:t>
            </a:r>
            <a:r>
              <a:rPr sz="1400" b="0" i="0">
                <a:solidFill>
                  <a:srgbClr val="11202B"/>
                </a:solidFill>
                <a:latin typeface="Malgun Gothic"/>
                <a:ea typeface="Malgun Gothic"/>
                <a:cs typeface="Malgun Gothic"/>
              </a:rPr>
              <a:t>: 나머지. 개인차가 가장 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기초대사량을 정하는 요인.</a:t>
            </a:r>
            <a:r>
              <a:rPr sz="1400" b="0" i="0">
                <a:solidFill>
                  <a:srgbClr val="11202B"/>
                </a:solidFill>
                <a:latin typeface="Malgun Gothic"/>
                <a:ea typeface="Malgun Gothic"/>
                <a:cs typeface="Malgun Gothic"/>
              </a:rPr>
              <a:t> 가장 큰 결정 요인은 </a:t>
            </a:r>
            <a:r>
              <a:rPr sz="1400" b="1" i="0">
                <a:solidFill>
                  <a:srgbClr val="11202B"/>
                </a:solidFill>
                <a:latin typeface="Malgun Gothic"/>
                <a:ea typeface="Malgun Gothic"/>
                <a:cs typeface="Malgun Gothic"/>
              </a:rPr>
              <a:t>제지방량</a:t>
            </a:r>
            <a:r>
              <a:rPr sz="1400" b="0" i="0">
                <a:solidFill>
                  <a:srgbClr val="11202B"/>
                </a:solidFill>
                <a:latin typeface="Malgun Gothic"/>
                <a:ea typeface="Malgun Gothic"/>
                <a:cs typeface="Malgun Gothic"/>
              </a:rPr>
              <a:t>이다. 지방조직은 대사가 느리고 근육과 내장은 빠르기 때문이다. 같은 체중이라도 근육이 많으면 기초대사량이 높다. 남성이 여성보다, 젊은 사람이 노인보다 높은 것도 대부분 제지방량 차이로 설명된다. 여기에 갑상샘 호르몬이 강하게 작용하고, 체온과 질병 상태가 영향을 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적응이 식을 비선형으로 만든다.</a:t>
            </a:r>
            <a:r>
              <a:rPr sz="1400" b="0" i="0">
                <a:solidFill>
                  <a:srgbClr val="11202B"/>
                </a:solidFill>
                <a:latin typeface="Malgun Gothic"/>
                <a:ea typeface="Malgun Gothic"/>
                <a:cs typeface="Malgun Gothic"/>
              </a:rPr>
              <a:t> 섭취를 줄이면 소비도 함께 줄어든다. 제지방량 감소로 설명되는 것보다 더 많이 줄어드는 현상이 관찰되며 이를 적응성 열생성이라 한다. 체중 감량이 시간이 갈수록 어려워지고 감량 후 유지가 힘든 생물학적 배경이다. 반대로 과잉 섭취에서도 소비가 다소 늘지만 그 폭은 작다. </a:t>
            </a:r>
            <a:r>
              <a:rPr sz="1400" b="1" i="0">
                <a:solidFill>
                  <a:srgbClr val="11202B"/>
                </a:solidFill>
                <a:latin typeface="Malgun Gothic"/>
                <a:ea typeface="Malgun Gothic"/>
                <a:cs typeface="Malgun Gothic"/>
              </a:rPr>
              <a:t>몸이 체중 감소에 저항하는 쪽으로 더 강하게 반응한다</a:t>
            </a:r>
            <a:r>
              <a:rPr sz="1400" b="0" i="0">
                <a:solidFill>
                  <a:srgbClr val="11202B"/>
                </a:solidFill>
                <a:latin typeface="Malgun Gothic"/>
                <a:ea typeface="Malgun Gothic"/>
                <a:cs typeface="Malgun Gothic"/>
              </a:rPr>
              <a:t>는 비대칭이 있으며, 기아가 비만보다 훨씬 흔했던 진화적 조건으로 설명된다.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에너지 균형과 기초대사량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에너지 균형 식의 오른쪽 항이 생각보다 고정적이라는 연구가 통념을 흔들었다. 수렵채집 생활을 하는 집단과 도시 거주자의 하루 총 에너지 소비를 이중표지수법으로 측정했을 때, 신체 활동량의 큰 차이에도 총 소비가 비슷했다는 보고가 나왔다. 활동이 늘면 다른 항목의 소비가 줄어 총량이 일정하게 유지된다는 </a:t>
            </a:r>
            <a:r>
              <a:rPr sz="1600" b="1" i="0">
                <a:solidFill>
                  <a:srgbClr val="11202B"/>
                </a:solidFill>
                <a:latin typeface="Malgun Gothic"/>
                <a:ea typeface="Malgun Gothic"/>
                <a:cs typeface="Malgun Gothic"/>
              </a:rPr>
              <a:t>제한적 총에너지 소비 모형</a:t>
            </a:r>
            <a:r>
              <a:rPr sz="1600" b="0" i="0">
                <a:solidFill>
                  <a:srgbClr val="11202B"/>
                </a:solidFill>
                <a:latin typeface="Malgun Gothic"/>
                <a:ea typeface="Malgun Gothic"/>
                <a:cs typeface="Malgun Gothic"/>
              </a:rPr>
              <a:t>이 제안되었다. 받아들여진다면 운동이 체중 감량에 기여하는 몫이 기대보다 작다는 뜻이 되지만, 운동의 건강상 이익 자체를 부정하지는 않는다. 다른 항목의 소비가 줄어드는 것이 염증과 스트레스 반응의 감소라면 그 자체가 이익일 수 있기 때문이다. 측정법의 정밀도와 집단 비교의 교란 요인을 두고 논쟁이 이어지고 있으며, 대사 연구에서 </a:t>
            </a:r>
            <a:r>
              <a:rPr sz="1600" b="1" i="0">
                <a:solidFill>
                  <a:srgbClr val="11202B"/>
                </a:solidFill>
                <a:latin typeface="Malgun Gothic"/>
                <a:ea typeface="Malgun Gothic"/>
                <a:cs typeface="Malgun Gothic"/>
              </a:rPr>
              <a:t>단순한 식이 실제 생리를 얼마나 설명하는가</a:t>
            </a:r>
            <a:r>
              <a:rPr sz="1600" b="0" i="0">
                <a:solidFill>
                  <a:srgbClr val="11202B"/>
                </a:solidFill>
                <a:latin typeface="Malgun Gothic"/>
                <a:ea typeface="Malgun Gothic"/>
                <a:cs typeface="Malgun Gothic"/>
              </a:rPr>
              <a:t>를 묻는 사례로 자주 인용된다.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대사를 측정하는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대사는 눈에 보이지 않으므로 측정이 곧 이해의 한계를 정한다. 어떤 방법이 무엇을 재는지를 알아야 자료를 읽을 수 있다.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간접 열량 측정.</a:t>
            </a:r>
            <a:r>
              <a:rPr sz="1800" b="0" i="0">
                <a:solidFill>
                  <a:srgbClr val="11202B"/>
                </a:solidFill>
                <a:latin typeface="Malgun Gothic"/>
                <a:ea typeface="Malgun Gothic"/>
                <a:cs typeface="Malgun Gothic"/>
              </a:rPr>
              <a:t> 몸이 내는 열을 직접 재는 것은 어렵지만, </a:t>
            </a:r>
            <a:r>
              <a:rPr sz="1800" b="1" i="0">
                <a:solidFill>
                  <a:srgbClr val="11202B"/>
                </a:solidFill>
                <a:latin typeface="Malgun Gothic"/>
                <a:ea typeface="Malgun Gothic"/>
                <a:cs typeface="Malgun Gothic"/>
              </a:rPr>
              <a:t>산소 소비량과 이산화탄소 배출량</a:t>
            </a:r>
            <a:r>
              <a:rPr sz="1800" b="0" i="0">
                <a:solidFill>
                  <a:srgbClr val="11202B"/>
                </a:solidFill>
                <a:latin typeface="Malgun Gothic"/>
                <a:ea typeface="Malgun Gothic"/>
                <a:cs typeface="Malgun Gothic"/>
              </a:rPr>
              <a:t>을 재면 에너지 소비를 추정할 수 있다. 영양소를 산화할 때 소비하는 산소와 내놓는 CO₂의 양이 정해져 있기 때문이다.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호흡 지수(RQ).</a:t>
            </a:r>
            <a:r>
              <a:rPr sz="1800" b="0" i="0">
                <a:solidFill>
                  <a:srgbClr val="11202B"/>
                </a:solidFill>
                <a:latin typeface="Malgun Gothic"/>
                <a:ea typeface="Malgun Gothic"/>
                <a:cs typeface="Malgun Gothic"/>
              </a:rPr>
              <a:t> 배출한 CO₂를 소비한 O₂로 나눈 값이며, </a:t>
            </a:r>
            <a:r>
              <a:rPr sz="1800" b="1" i="0">
                <a:solidFill>
                  <a:srgbClr val="11202B"/>
                </a:solidFill>
                <a:latin typeface="Malgun Gothic"/>
                <a:ea typeface="Malgun Gothic"/>
                <a:cs typeface="Malgun Gothic"/>
              </a:rPr>
              <a:t>어떤 연료를 태우고 있는지</a:t>
            </a:r>
            <a:r>
              <a:rPr sz="1800" b="0" i="0">
                <a:solidFill>
                  <a:srgbClr val="11202B"/>
                </a:solidFill>
                <a:latin typeface="Malgun Gothic"/>
                <a:ea typeface="Malgun Gothic"/>
                <a:cs typeface="Malgun Gothic"/>
              </a:rPr>
              <a:t>를 알려 준다.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대사를 측정하는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연료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RQ</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탄수화물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분자 안에 산소가 이미 많아 적은 O₂로 같은 양의 CO₂를 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지방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0.7</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환원된 상태여서 많은 O₂가 필요하다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0.8</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둘의 중간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혼합 식사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0.85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실제로 관찰되는 값</a:t>
                      </a:r>
                    </a:p>
                  </a:txBody>
                  <a:tcPr marL="73152" marR="73152" marT="27432" marB="27432">
                    <a:solidFill>
                      <a:srgbClr val="EF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대사를 측정하는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RQ가 연료를 알려 준다는 사실이 임상에서 쓰인다. 중환자에게 탄수화물을 과도하게 공급하면 RQ가 1을 넘을 수 있는데, 이는 </a:t>
            </a:r>
            <a:r>
              <a:rPr sz="1400" b="1" i="0">
                <a:solidFill>
                  <a:srgbClr val="11202B"/>
                </a:solidFill>
                <a:latin typeface="Malgun Gothic"/>
                <a:ea typeface="Malgun Gothic"/>
                <a:cs typeface="Malgun Gothic"/>
              </a:rPr>
              <a:t>지방 합성이 일어나고 있다</a:t>
            </a:r>
            <a:r>
              <a:rPr sz="1400" b="0" i="0">
                <a:solidFill>
                  <a:srgbClr val="11202B"/>
                </a:solidFill>
                <a:latin typeface="Malgun Gothic"/>
                <a:ea typeface="Malgun Gothic"/>
                <a:cs typeface="Malgun Gothic"/>
              </a:rPr>
              <a:t>는 뜻이다. 지방 합성은 CO₂를 추가로 내놓으므로 환기 부담이 늘고, 호흡이 약한 환자에서 이탈을 어렵게 만든다. 영양 공급의 조성을 정할 때 고려하는 지점이다.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이중표지수법.</a:t>
            </a:r>
            <a:r>
              <a:rPr sz="1400" b="0" i="0">
                <a:solidFill>
                  <a:srgbClr val="11202B"/>
                </a:solidFill>
                <a:latin typeface="Malgun Gothic"/>
                <a:ea typeface="Malgun Gothic"/>
                <a:cs typeface="Malgun Gothic"/>
              </a:rPr>
              <a:t> 자유롭게 생활하는 사람의 하루 총 에너지 소비를 재는 표준 방법이다. 수소와 산소에 안정 동위원소를 표지한 물을 마시게 하고, 두 원소가 몸에서 사라지는 속도의 차이로 CO₂ 생산량을 계산한다. 수소는 물로만 빠져나가고 산소는 물과 CO₂ 양쪽으로 빠져나가기 때문이다. 실험실에 묶어 두지 않고 측정할 수 있다는 것이 결정적인 장점이며, 10절에서 본 에너지 소비 연구가 이 방법으로 가능해졌다.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체성분 측정.</a:t>
            </a:r>
            <a:r>
              <a:rPr sz="1400" b="0" i="0">
                <a:solidFill>
                  <a:srgbClr val="11202B"/>
                </a:solidFill>
                <a:latin typeface="Malgun Gothic"/>
                <a:ea typeface="Malgun Gothic"/>
                <a:cs typeface="Malgun Gothic"/>
              </a:rPr>
              <a:t> 기초대사량이 제지방량으로 결정되므로 체중만으로는 부족하다. 이중에너지 X선 흡수법, 생체전기저항, 수중 체중법이 쓰이며 각각 가정과 오차가 다르다. 생체전기저항은 간편하지만 수분 상태에 크게 영향을 받으므로 탈수나 부종에서 신뢰도가 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혈액과 소변의 지표.</a:t>
            </a:r>
            <a:r>
              <a:rPr sz="1400" b="0" i="0">
                <a:solidFill>
                  <a:srgbClr val="11202B"/>
                </a:solidFill>
                <a:latin typeface="Malgun Gothic"/>
                <a:ea typeface="Malgun Gothic"/>
                <a:cs typeface="Malgun Gothic"/>
              </a:rPr>
              <a:t> 질소 균형은 섭취한 질소와 배설한 질소를 비교해 단백질이 쌓이고 있는지 빠져나가고 있는지를 본다. 음의 질소 균형은 이화가 우세하다는 뜻으로, 기아, 중증 질환, 수술 후에 나타난다.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대사를 측정하는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RQ가 1.0을 </a:t>
            </a:r>
            <a:r>
              <a:rPr sz="1600" b="1" i="0">
                <a:solidFill>
                  <a:srgbClr val="11202B"/>
                </a:solidFill>
                <a:latin typeface="Malgun Gothic"/>
                <a:ea typeface="Malgun Gothic"/>
                <a:cs typeface="Malgun Gothic"/>
              </a:rPr>
              <a:t>넘는</a:t>
            </a:r>
            <a:r>
              <a:rPr sz="1600" b="0" i="0">
                <a:solidFill>
                  <a:srgbClr val="11202B"/>
                </a:solidFill>
                <a:latin typeface="Malgun Gothic"/>
                <a:ea typeface="Malgun Gothic"/>
                <a:cs typeface="Malgun Gothic"/>
              </a:rPr>
              <a:t> 상황과 0.7 </a:t>
            </a:r>
            <a:r>
              <a:rPr sz="1600" b="1" i="0">
                <a:solidFill>
                  <a:srgbClr val="11202B"/>
                </a:solidFill>
                <a:latin typeface="Malgun Gothic"/>
                <a:ea typeface="Malgun Gothic"/>
                <a:cs typeface="Malgun Gothic"/>
              </a:rPr>
              <a:t>아래</a:t>
            </a:r>
            <a:r>
              <a:rPr sz="1600" b="0" i="0">
                <a:solidFill>
                  <a:srgbClr val="11202B"/>
                </a:solidFill>
                <a:latin typeface="Malgun Gothic"/>
                <a:ea typeface="Malgun Gothic"/>
                <a:cs typeface="Malgun Gothic"/>
              </a:rPr>
              <a:t>로 내려가는 상황을 묻는 문제가 있다. 1.0을 넘으면 탄수화물에서 지방을 합성하고 있다는 뜻으로, 과도한 탄수화물 공급에서 나타난다. 0.7 아래는 거의 나타나지 않지만 ketone body가 주된 연료일 때 이론적으로 가능하다. 또 하나는 영양소별 </a:t>
            </a:r>
            <a:r>
              <a:rPr sz="1600" b="1" i="0">
                <a:solidFill>
                  <a:srgbClr val="11202B"/>
                </a:solidFill>
                <a:latin typeface="Malgun Gothic"/>
                <a:ea typeface="Malgun Gothic"/>
                <a:cs typeface="Malgun Gothic"/>
              </a:rPr>
              <a:t>산소 소비당 열량</a:t>
            </a:r>
            <a:r>
              <a:rPr sz="1600" b="0" i="0">
                <a:solidFill>
                  <a:srgbClr val="11202B"/>
                </a:solidFill>
                <a:latin typeface="Malgun Gothic"/>
                <a:ea typeface="Malgun Gothic"/>
                <a:cs typeface="Malgun Gothic"/>
              </a:rPr>
              <a:t>으로, 세 영양소 모두 산소 1 L당 약 4.8~5.0 kcal로 비슷하다는 점이다. 그램당 열량은 크게 다른데 산소당 열량이 비슷한 것은, 지방이 그램당 에너지가 큰 만큼 산소도 많이 쓰기 때문이다. 이 때문에 산소 공급이 제한된 상황에서는 어떤 연료를 쓰든 산소당 얻는 에너지가 비슷하다.</a:t>
            </a:r>
          </a:p>
        </p:txBody>
      </p:sp>
      <p:sp>
        <p:nvSpPr>
          <p:cNvPr id="8" name="Rectangle 7"/>
          <p:cNvSpPr/>
          <p:nvPr/>
        </p:nvSpPr>
        <p:spPr>
          <a:xfrm>
            <a:off x="640080" y="3439160"/>
            <a:ext cx="10881360" cy="25654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언제 먹는가가 무엇을 먹는가만큼 중요한지를 두고 연구가 활발하다. </a:t>
            </a:r>
            <a:r>
              <a:rPr sz="1600" b="1" i="0">
                <a:solidFill>
                  <a:srgbClr val="11202B"/>
                </a:solidFill>
                <a:latin typeface="Malgun Gothic"/>
                <a:ea typeface="Malgun Gothic"/>
                <a:cs typeface="Malgun Gothic"/>
              </a:rPr>
              <a:t>시간 제한 섭식</a:t>
            </a:r>
            <a:r>
              <a:rPr sz="1600" b="0" i="0">
                <a:solidFill>
                  <a:srgbClr val="11202B"/>
                </a:solidFill>
                <a:latin typeface="Malgun Gothic"/>
                <a:ea typeface="Malgun Gothic"/>
                <a:cs typeface="Malgun Gothic"/>
              </a:rPr>
              <a:t>은 섭취 시간을 하루 8~10시간으로 제한하는 방식으로, 생쥐에서 총 섭취량이 같아도 대사 지표가 개선되었다는 결과가 보고되면서 주목받았다. 설명으로는 말초 시계와 식사 시각의 정렬(M01-W03-L02), 공복 시간 동안의 자가포식 활성화, 그리고 insulin 노출 시간의 단축이 제시된다. 그러나 사람 대상 무작위 시험의 결과는 엇갈린다. 체중 감량 효과가 총 섭취량 감소로 대부분 설명되고 시간 제한 자체의 독립적 효과는 작거나 없었다는 보고가 여러 건 나왔다. 반면 혈당 변동과 혈압에서는 총 섭취량과 무관한 개선이 관찰되기도 했다. 현재의 쟁점은 </a:t>
            </a:r>
            <a:r>
              <a:rPr sz="1600" b="1" i="0">
                <a:solidFill>
                  <a:srgbClr val="11202B"/>
                </a:solidFill>
                <a:latin typeface="Malgun Gothic"/>
                <a:ea typeface="Malgun Gothic"/>
                <a:cs typeface="Malgun Gothic"/>
              </a:rPr>
              <a:t>효과가 있다면 누구에게, 어떤 지표에서인가</a:t>
            </a:r>
            <a:r>
              <a:rPr sz="1600" b="0" i="0">
                <a:solidFill>
                  <a:srgbClr val="11202B"/>
                </a:solidFill>
                <a:latin typeface="Malgun Gothic"/>
                <a:ea typeface="Malgun Gothic"/>
                <a:cs typeface="Malgun Gothic"/>
              </a:rPr>
              <a:t>이며, 식사 시각을 늦은 시간대로 옮겼을 때 오히려 나빠진다는 관찰이 덧붙여져 시각 자체의 중요성이 다시 검토되고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미량영양소 — 비타민과 무기질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대량영양소가 연료와 재료라면 미량영양소는 </a:t>
            </a:r>
            <a:r>
              <a:rPr sz="2000" b="1" i="0">
                <a:solidFill>
                  <a:srgbClr val="11202B"/>
                </a:solidFill>
                <a:latin typeface="Malgun Gothic"/>
                <a:ea typeface="Malgun Gothic"/>
                <a:cs typeface="Malgun Gothic"/>
              </a:rPr>
              <a:t>그것을 처리하는 기계의 부품</a:t>
            </a:r>
            <a:r>
              <a:rPr sz="2000" b="0" i="0">
                <a:solidFill>
                  <a:srgbClr val="11202B"/>
                </a:solidFill>
                <a:latin typeface="Malgun Gothic"/>
                <a:ea typeface="Malgun Gothic"/>
                <a:cs typeface="Malgun Gothic"/>
              </a:rPr>
              <a:t>이다. 기능을 범주로 묶으면 결핍 증상을 외우지 않고 추론할 수 있다.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1. 조효소로 작용한다.</a:t>
            </a:r>
            <a:r>
              <a:rPr sz="2000" b="0" i="0">
                <a:solidFill>
                  <a:srgbClr val="11202B"/>
                </a:solidFill>
                <a:latin typeface="Malgun Gothic"/>
                <a:ea typeface="Malgun Gothic"/>
                <a:cs typeface="Malgun Gothic"/>
              </a:rPr>
              <a:t> 수용성 비타민의 대부분이 여기 속하며, 대사 경로의 특정 반응 유형에 대응한다.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미량영양소 — 비타민과 무기질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비타민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조효소로서의 역할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B₁ (thiamine)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α-ketoacid의 decarboxylation. pyruvate와 α-ketoglutarate의 처리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B₂ (riboflavin)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FAD의 구성. 산화환원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B₃ (niacin)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NAD와 NADP의 구성. 산화환원</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B₅ (pantothenate)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CoA의 구성. acyl기 전달</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B₆ (pyridoxine)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아미노기 전이. 아미노산 대사 전반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B₇ (biotin)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카르복실화. gluconeogenesis와 지방산 합성</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B₉ (folate), B₁₂</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일탄소 전달. 핵산 합성과 methylation</a:t>
                      </a:r>
                    </a:p>
                  </a:txBody>
                  <a:tcPr marL="73152" marR="73152" marT="27432" marB="2743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미량영양소 — 비타민과 무기질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역할을 알면 결핍 증상이 따라 나온다. B₁이 부족하면 pyruvate가 처리되지 못해 에너지 생산이 많은 조직, 즉 신경과 심장이 먼저 타격을 받는다. Folate와 B₁₂가 부족하면 DNA 합성이 막혀 분열이 빠른 세포에서 먼저 문제가 생기고, 그 결과가 거대적혈모구 빈혈이다.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구조 성분이다.</a:t>
            </a:r>
            <a:r>
              <a:rPr sz="1400" b="0" i="0">
                <a:solidFill>
                  <a:srgbClr val="11202B"/>
                </a:solidFill>
                <a:latin typeface="Malgun Gothic"/>
                <a:ea typeface="Malgun Gothic"/>
                <a:cs typeface="Malgun Gothic"/>
              </a:rPr>
              <a:t> 칼슘과 인이 뼈의 무기질을, 철이 heme을, 요오드가 갑상샘 호르몬을 이룬다. 이 범주에서는 결핍이 그 구조물의 기능 저하로 직접 나타나므로 추론이 쉽다. 철이 부족하면 산소 운반이, 요오드가 부족하면 갑상샘 호르몬 합성이 막힌다.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항산화 방어에 참여한다.</a:t>
            </a:r>
            <a:r>
              <a:rPr sz="1400" b="0" i="0">
                <a:solidFill>
                  <a:srgbClr val="11202B"/>
                </a:solidFill>
                <a:latin typeface="Malgun Gothic"/>
                <a:ea typeface="Malgun Gothic"/>
                <a:cs typeface="Malgun Gothic"/>
              </a:rPr>
              <a:t> Vitamin C와 E, 그리고 selenium이 여기 속한다. Vitamin C는 수용성이어서 세포질에서, vitamin E는 지용성이어서 막의 지질에서 작용해 서로 다른 구획을 맡는다. Vitamin C는 collagen 합성에서 proline과 lysine의 hydroxylation에도 반드시 필요하며, 결핍에서 혈관과 결합조직이 약해지는 괴혈병이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유전자 발현을 조절한다.</a:t>
            </a:r>
            <a:r>
              <a:rPr sz="1400" b="0" i="0">
                <a:solidFill>
                  <a:srgbClr val="11202B"/>
                </a:solidFill>
                <a:latin typeface="Malgun Gothic"/>
                <a:ea typeface="Malgun Gothic"/>
                <a:cs typeface="Malgun Gothic"/>
              </a:rPr>
              <a:t> Vitamin A와 D는 조효소가 아니라 </a:t>
            </a:r>
            <a:r>
              <a:rPr sz="1400" b="1" i="0">
                <a:solidFill>
                  <a:srgbClr val="11202B"/>
                </a:solidFill>
                <a:latin typeface="Malgun Gothic"/>
                <a:ea typeface="Malgun Gothic"/>
                <a:cs typeface="Malgun Gothic"/>
              </a:rPr>
              <a:t>핵 수용체에 결합하는 호르몬처럼</a:t>
            </a:r>
            <a:r>
              <a:rPr sz="1400" b="0" i="0">
                <a:solidFill>
                  <a:srgbClr val="11202B"/>
                </a:solidFill>
                <a:latin typeface="Malgun Gothic"/>
                <a:ea typeface="Malgun Gothic"/>
                <a:cs typeface="Malgun Gothic"/>
              </a:rPr>
              <a:t> 작용한다. 그래서 작용 범위가 넓고 과잉에서도 독성이 나타난다.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미량영양소 — 비타민과 무기질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지용성 비타민(A, D, E, K)과 수용성 비타민의 차이가 임상 양상을 가른다. </a:t>
            </a:r>
            <a:r>
              <a:rPr sz="1600" b="1" i="0">
                <a:solidFill>
                  <a:srgbClr val="11202B"/>
                </a:solidFill>
                <a:latin typeface="Malgun Gothic"/>
                <a:ea typeface="Malgun Gothic"/>
                <a:cs typeface="Malgun Gothic"/>
              </a:rPr>
              <a:t>지용성은 저장되므로 결핍이 늦게 나타나지만 과잉에서 독성이 생긴다.</a:t>
            </a:r>
            <a:r>
              <a:rPr sz="1600" b="0" i="0">
                <a:solidFill>
                  <a:srgbClr val="11202B"/>
                </a:solidFill>
                <a:latin typeface="Malgun Gothic"/>
                <a:ea typeface="Malgun Gothic"/>
                <a:cs typeface="Malgun Gothic"/>
              </a:rPr>
              <a:t> 또 흡수에 담즙산과 micelle이 필요하므로 지방 흡수 장애에서 함께 결핍된다(M01-W01-L03). </a:t>
            </a:r>
            <a:r>
              <a:rPr sz="1600" b="1" i="0">
                <a:solidFill>
                  <a:srgbClr val="11202B"/>
                </a:solidFill>
                <a:latin typeface="Malgun Gothic"/>
                <a:ea typeface="Malgun Gothic"/>
                <a:cs typeface="Malgun Gothic"/>
              </a:rPr>
              <a:t>수용성은 저장되지 않아 결핍이 빨리 나타나지만 과잉은 대개 배설된다.</a:t>
            </a:r>
            <a:r>
              <a:rPr sz="1600" b="0" i="0">
                <a:solidFill>
                  <a:srgbClr val="11202B"/>
                </a:solidFill>
                <a:latin typeface="Malgun Gothic"/>
                <a:ea typeface="Malgun Gothic"/>
                <a:cs typeface="Malgun Gothic"/>
              </a:rPr>
              <a:t> 예외가 두 가지 있는데, </a:t>
            </a:r>
            <a:r>
              <a:rPr sz="1600" b="1" i="0">
                <a:solidFill>
                  <a:srgbClr val="11202B"/>
                </a:solidFill>
                <a:latin typeface="Malgun Gothic"/>
                <a:ea typeface="Malgun Gothic"/>
                <a:cs typeface="Malgun Gothic"/>
              </a:rPr>
              <a:t>B₁₂는 간에 수년 분이 저장되므로</a:t>
            </a:r>
            <a:r>
              <a:rPr sz="1600" b="0" i="0">
                <a:solidFill>
                  <a:srgbClr val="11202B"/>
                </a:solidFill>
                <a:latin typeface="Malgun Gothic"/>
                <a:ea typeface="Malgun Gothic"/>
                <a:cs typeface="Malgun Gothic"/>
              </a:rPr>
              <a:t> 흡수가 끊겨도 결핍까지 오래 걸리고, </a:t>
            </a:r>
            <a:r>
              <a:rPr sz="1600" b="1" i="0">
                <a:solidFill>
                  <a:srgbClr val="11202B"/>
                </a:solidFill>
                <a:latin typeface="Malgun Gothic"/>
                <a:ea typeface="Malgun Gothic"/>
                <a:cs typeface="Malgun Gothic"/>
              </a:rPr>
              <a:t>B₆는 수용성인데도 과량에서 말초신경병을 일으킨다.</a:t>
            </a:r>
            <a:r>
              <a:rPr sz="1600" b="0" i="0">
                <a:solidFill>
                  <a:srgbClr val="11202B"/>
                </a:solidFill>
                <a:latin typeface="Malgun Gothic"/>
                <a:ea typeface="Malgun Gothic"/>
                <a:cs typeface="Malgun Gothic"/>
              </a:rPr>
              <a:t> 또 하나 자주 묻는 것은 B₁₂ 결핍과 folate 결핍이 </a:t>
            </a:r>
            <a:r>
              <a:rPr sz="1600" b="1" i="0">
                <a:solidFill>
                  <a:srgbClr val="11202B"/>
                </a:solidFill>
                <a:latin typeface="Malgun Gothic"/>
                <a:ea typeface="Malgun Gothic"/>
                <a:cs typeface="Malgun Gothic"/>
              </a:rPr>
              <a:t>같은 혈액 소견</a:t>
            </a:r>
            <a:r>
              <a:rPr sz="1600" b="0" i="0">
                <a:solidFill>
                  <a:srgbClr val="11202B"/>
                </a:solidFill>
                <a:latin typeface="Malgun Gothic"/>
                <a:ea typeface="Malgun Gothic"/>
                <a:cs typeface="Malgun Gothic"/>
              </a:rPr>
              <a:t>(거대적혈모구 빈혈)을 내지만 </a:t>
            </a:r>
            <a:r>
              <a:rPr sz="1600" b="1" i="0">
                <a:solidFill>
                  <a:srgbClr val="11202B"/>
                </a:solidFill>
                <a:latin typeface="Malgun Gothic"/>
                <a:ea typeface="Malgun Gothic"/>
                <a:cs typeface="Malgun Gothic"/>
              </a:rPr>
              <a:t>신경 증상은 B₁₂에서만</a:t>
            </a:r>
            <a:r>
              <a:rPr sz="1600" b="0" i="0">
                <a:solidFill>
                  <a:srgbClr val="11202B"/>
                </a:solidFill>
                <a:latin typeface="Malgun Gothic"/>
                <a:ea typeface="Malgun Gothic"/>
                <a:cs typeface="Malgun Gothic"/>
              </a:rPr>
              <a:t> 나타난다는 점이다. 따라서 folate만 보충하면 빈혈은 좋아지는데 신경 손상은 진행하므로, 보충 전에 반드시 B₁₂를 확인해야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대사 이상을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대사 질환은 종류가 많아 보이지만 묻는 질문은 네 가지뿐이다.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경로의 어디가 막혔는가.</a:t>
            </a:r>
            <a:r>
              <a:rPr sz="1400" b="0" i="0">
                <a:solidFill>
                  <a:srgbClr val="11202B"/>
                </a:solidFill>
                <a:latin typeface="Malgun Gothic"/>
                <a:ea typeface="Malgun Gothic"/>
                <a:cs typeface="Malgun Gothic"/>
              </a:rPr>
              <a:t> 선천성 대사 이상의 기본 구조다. 효소 하나가 없으면 세 가지 결과가 동시에 생긴다. </a:t>
            </a:r>
            <a:r>
              <a:rPr sz="1400" b="1" i="0">
                <a:solidFill>
                  <a:srgbClr val="11202B"/>
                </a:solidFill>
                <a:latin typeface="Malgun Gothic"/>
                <a:ea typeface="Malgun Gothic"/>
                <a:cs typeface="Malgun Gothic"/>
              </a:rPr>
              <a:t>기질이 쌓이고</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생성물이 부족해지고</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평소에는 쓰이지 않던 우회 경로의 산물이 늘어난다</a:t>
            </a:r>
            <a:r>
              <a:rPr sz="1400" b="0" i="0">
                <a:solidFill>
                  <a:srgbClr val="11202B"/>
                </a:solidFill>
                <a:latin typeface="Malgun Gothic"/>
                <a:ea typeface="Malgun Gothic"/>
                <a:cs typeface="Malgun Gothic"/>
              </a:rPr>
              <a:t>. 증상이 이 셋 가운데 무엇에서 오는지를 가려야 치료 방향이 정해진다. 기질 축적이 문제면 섭취를 제한하고, 생성물 부족이 문제면 그것을 보충하며, 우회 산물이 문제면 그 경로를 막거나 배설을 돕는다.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연료의 전환이 되는가.</a:t>
            </a:r>
            <a:r>
              <a:rPr sz="1400" b="0" i="0">
                <a:solidFill>
                  <a:srgbClr val="11202B"/>
                </a:solidFill>
                <a:latin typeface="Malgun Gothic"/>
                <a:ea typeface="Malgun Gothic"/>
                <a:cs typeface="Malgun Gothic"/>
              </a:rPr>
              <a:t> 8절의 상태 전환이 막힌 경우다. 지방산 산화 장애가 대표적으로, 공복에서 지방으로 전환하지 못해 저혈당이 오는데 </a:t>
            </a:r>
            <a:r>
              <a:rPr sz="1400" b="1" i="0">
                <a:solidFill>
                  <a:srgbClr val="11202B"/>
                </a:solidFill>
                <a:latin typeface="Malgun Gothic"/>
                <a:ea typeface="Malgun Gothic"/>
                <a:cs typeface="Malgun Gothic"/>
              </a:rPr>
              <a:t>ketone body가 적절히 올라가지 않는다</a:t>
            </a:r>
            <a:r>
              <a:rPr sz="1400" b="0" i="0">
                <a:solidFill>
                  <a:srgbClr val="11202B"/>
                </a:solidFill>
                <a:latin typeface="Malgun Gothic"/>
                <a:ea typeface="Malgun Gothic"/>
                <a:cs typeface="Malgun Gothic"/>
              </a:rPr>
              <a:t>는 특징이 있다. 저혈당인데 ketone이 낮다는 조합이 진단의 열쇠가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호르몬 신호가 정상인가.</a:t>
            </a:r>
            <a:r>
              <a:rPr sz="1400" b="0" i="0">
                <a:solidFill>
                  <a:srgbClr val="11202B"/>
                </a:solidFill>
                <a:latin typeface="Malgun Gothic"/>
                <a:ea typeface="Malgun Gothic"/>
                <a:cs typeface="Malgun Gothic"/>
              </a:rPr>
              <a:t> 당뇨병이 전형이다. 제1형은 insulin이 없는 것이고 제2형은 있어도 듣지 않는 것인데, 두 경우 모두 세포는 </a:t>
            </a:r>
            <a:r>
              <a:rPr sz="1400" b="1" i="0">
                <a:solidFill>
                  <a:srgbClr val="11202B"/>
                </a:solidFill>
                <a:latin typeface="Malgun Gothic"/>
                <a:ea typeface="Malgun Gothic"/>
                <a:cs typeface="Malgun Gothic"/>
              </a:rPr>
              <a:t>에너지가 남는 상황에서도 모자란다고 판단</a:t>
            </a:r>
            <a:r>
              <a:rPr sz="1400" b="0" i="0">
                <a:solidFill>
                  <a:srgbClr val="11202B"/>
                </a:solidFill>
                <a:latin typeface="Malgun Gothic"/>
                <a:ea typeface="Malgun Gothic"/>
                <a:cs typeface="Malgun Gothic"/>
              </a:rPr>
              <a:t>한다. 그래서 혈당이 높은데도 지방 분해와 ketone 생산이 진행되는 역설이 생긴다. 당뇨병 케톤산증의 본질이 이것이다.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네 질문이 선천성 대사 이상을 처음 만났을 때도 작동한다. 질환의 이름을 모르더라도 </a:t>
            </a:r>
            <a:r>
              <a:rPr sz="1400" b="1" i="0">
                <a:solidFill>
                  <a:srgbClr val="11202B"/>
                </a:solidFill>
                <a:latin typeface="Malgun Gothic"/>
                <a:ea typeface="Malgun Gothic"/>
                <a:cs typeface="Malgun Gothic"/>
              </a:rPr>
              <a:t>증상이 나타나는 시점</a:t>
            </a:r>
            <a:r>
              <a:rPr sz="1400" b="0" i="0">
                <a:solidFill>
                  <a:srgbClr val="11202B"/>
                </a:solidFill>
                <a:latin typeface="Malgun Gothic"/>
                <a:ea typeface="Malgun Gothic"/>
                <a:cs typeface="Malgun Gothic"/>
              </a:rPr>
              <a:t>이 단서가 된다. 출생 직후 수유를 시작하면서 나빠지는 것은 섭취한 특정 영양소를 처리하지 못한다는 뜻이고, 수유 간격이 길어지거나 열병으로 못 먹을 때 나빠지는 것은 공복 대응이 되지 않는다는 뜻이다. 전자는 섭취 제한이, 후자는 공복을 피하는 것이 치료의 중심이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공급과 수요가 맞는가.</a:t>
            </a:r>
            <a:r>
              <a:rPr sz="1400" b="0" i="0">
                <a:solidFill>
                  <a:srgbClr val="11202B"/>
                </a:solidFill>
                <a:latin typeface="Malgun Gothic"/>
                <a:ea typeface="Malgun Gothic"/>
                <a:cs typeface="Malgun Gothic"/>
              </a:rPr>
              <a:t> 질병과 수술, 외상에서 대사 요구가 급격히 늘고 호르몬 환경이 이화 쪽으로 기운다. 영양 지원의 근거가 여기에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대사 이상을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256540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오래 굶은 환자에게 갑자기 영양을 공급할 때 생기는 </a:t>
            </a:r>
            <a:r>
              <a:rPr sz="1600" b="1" i="0">
                <a:solidFill>
                  <a:srgbClr val="11202B"/>
                </a:solidFill>
                <a:latin typeface="Malgun Gothic"/>
                <a:ea typeface="Malgun Gothic"/>
                <a:cs typeface="Malgun Gothic"/>
              </a:rPr>
              <a:t>재급식 증후군</a:t>
            </a:r>
            <a:r>
              <a:rPr sz="1600" b="0" i="0">
                <a:solidFill>
                  <a:srgbClr val="11202B"/>
                </a:solidFill>
                <a:latin typeface="Malgun Gothic"/>
                <a:ea typeface="Malgun Gothic"/>
                <a:cs typeface="Malgun Gothic"/>
              </a:rPr>
              <a:t>이 이 수업의 여러 조각을 한자리에 모은다. 기아 동안 세포 안의 인, 칼륨, 마그네슘이 고갈되어 있는데 혈중 농도는 정상으로 보인다. 여기에 포도당을 주면 insulin이 급격히 분비되어 포도당과 함께 이 전해질들이 세포 안으로 몰려 들어가고, 혈중 농도가 급락한다. 특히 </a:t>
            </a:r>
            <a:r>
              <a:rPr sz="1600" b="1" i="0">
                <a:solidFill>
                  <a:srgbClr val="11202B"/>
                </a:solidFill>
                <a:latin typeface="Malgun Gothic"/>
                <a:ea typeface="Malgun Gothic"/>
                <a:cs typeface="Malgun Gothic"/>
              </a:rPr>
              <a:t>저인산혈증</a:t>
            </a:r>
            <a:r>
              <a:rPr sz="1600" b="0" i="0">
                <a:solidFill>
                  <a:srgbClr val="11202B"/>
                </a:solidFill>
                <a:latin typeface="Malgun Gothic"/>
                <a:ea typeface="Malgun Gothic"/>
                <a:cs typeface="Malgun Gothic"/>
              </a:rPr>
              <a:t>이 위험한데, 인이 없으면 ATP를 만들 수 없기 때문이다. 심부전, 호흡부전, 부정맥, 신경 증상이 나타나고 사망에 이를 수 있다. 또 thiamine이 고갈된 상태에서 포도당을 주면 남은 thiamine이 소모되어 Wernicke 뇌병증이 유발된다. 그래서 </a:t>
            </a:r>
            <a:r>
              <a:rPr sz="1600" b="1" i="0">
                <a:solidFill>
                  <a:srgbClr val="11202B"/>
                </a:solidFill>
                <a:latin typeface="Malgun Gothic"/>
                <a:ea typeface="Malgun Gothic"/>
                <a:cs typeface="Malgun Gothic"/>
              </a:rPr>
              <a:t>포도당보다 thiamine을 먼저 주고</a:t>
            </a:r>
            <a:r>
              <a:rPr sz="1600" b="0" i="0">
                <a:solidFill>
                  <a:srgbClr val="11202B"/>
                </a:solidFill>
                <a:latin typeface="Malgun Gothic"/>
                <a:ea typeface="Malgun Gothic"/>
                <a:cs typeface="Malgun Gothic"/>
              </a:rPr>
              <a:t>, 열량을 천천히 올리며, 전해질을 자주 확인한다. "굶주린 사람에게 많이 먹이면 좋다"는 직관이 생리를 모르면 해가 되는 사례다.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대사의 </a:t>
            </a:r>
            <a:r>
              <a:rPr sz="1400" b="1" i="0">
                <a:solidFill>
                  <a:srgbClr val="11202B"/>
                </a:solidFill>
                <a:latin typeface="Malgun Gothic"/>
                <a:ea typeface="Malgun Gothic"/>
                <a:cs typeface="Malgun Gothic"/>
              </a:rPr>
              <a:t>지도</a:t>
            </a:r>
            <a:r>
              <a:rPr sz="1400" b="0" i="0">
                <a:solidFill>
                  <a:srgbClr val="11202B"/>
                </a:solidFill>
                <a:latin typeface="Malgun Gothic"/>
                <a:ea typeface="Malgun Gothic"/>
                <a:cs typeface="Malgun Gothic"/>
              </a:rPr>
              <a:t>를 세우는 것이 목적이다. 각 경로의 효소, 중간체, 조절 지점의 상세는 모듈 2 전체가 다룬다. 어디로 이어지는지를 미리 확인해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에너지와 산화환원의 원리</a:t>
            </a:r>
            <a:r>
              <a:rPr sz="1400" b="0" i="0">
                <a:solidFill>
                  <a:srgbClr val="11202B"/>
                </a:solidFill>
                <a:latin typeface="Malgun Gothic"/>
                <a:ea typeface="Malgun Gothic"/>
                <a:cs typeface="Malgun Gothic"/>
              </a:rPr>
              <a:t>: M01-W09-L02에서 자유에너지와 ATP를, M01-W09-L03에서 glycolysis와 oxidative phosphorylation의 개요를 다룬다. 상세는 M02-W03-L01과 M02-W03-L02에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단백질과 효소</a:t>
            </a:r>
            <a:r>
              <a:rPr sz="1400" b="0" i="0">
                <a:solidFill>
                  <a:srgbClr val="11202B"/>
                </a:solidFill>
                <a:latin typeface="Malgun Gothic"/>
                <a:ea typeface="Malgun Gothic"/>
                <a:cs typeface="Malgun Gothic"/>
              </a:rPr>
              <a:t>: M02-W01-L02의 단백질 구조, M02-W02-L02의 효소 촉매 원리와 동역학, M02-W02-L03의 억제와 조절.</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포도당 대사</a:t>
            </a:r>
            <a:r>
              <a:rPr sz="1400" b="0" i="0">
                <a:solidFill>
                  <a:srgbClr val="11202B"/>
                </a:solidFill>
                <a:latin typeface="Malgun Gothic"/>
                <a:ea typeface="Malgun Gothic"/>
                <a:cs typeface="Malgun Gothic"/>
              </a:rPr>
              <a:t>: Glycolysis는 M02-W04-L01과 M02-W04-L02, pyruvate dehydrogenase는 M02-W04-L03, TCA cycle은 M02-W05-L01, gluconeogenesis는 M02-W05-L02, glycogen은 M02-W05-L03과 M02-W06-L01, pentose phosphate pathway는 M02-W06-L03.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지질 대사</a:t>
            </a:r>
            <a:r>
              <a:rPr sz="1400" b="0" i="0">
                <a:solidFill>
                  <a:srgbClr val="11202B"/>
                </a:solidFill>
                <a:latin typeface="Malgun Gothic"/>
                <a:ea typeface="Malgun Gothic"/>
                <a:cs typeface="Malgun Gothic"/>
              </a:rPr>
              <a:t>: M02-W07과 M02-W08에서 지방산 산화와 합성, ketone body, cholesterol, lipoprotein을 다룬다. 이상지질혈증은 M02-W09-L03.</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질소 대사</a:t>
            </a:r>
            <a:r>
              <a:rPr sz="1400" b="0" i="0">
                <a:solidFill>
                  <a:srgbClr val="11202B"/>
                </a:solidFill>
                <a:latin typeface="Malgun Gothic"/>
                <a:ea typeface="Malgun Gothic"/>
                <a:cs typeface="Malgun Gothic"/>
              </a:rPr>
              <a:t>: Urea cycle과 고암모니아혈증은 M02-W10-L02, 아미노산 분해는 M02-W10-L03, 선천성 아미노산 대사질환은 M02-W11-L01.</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대사 통합과 질환</a:t>
            </a:r>
            <a:r>
              <a:rPr sz="1400" b="0" i="0">
                <a:solidFill>
                  <a:srgbClr val="11202B"/>
                </a:solidFill>
                <a:latin typeface="Malgun Gothic"/>
                <a:ea typeface="Malgun Gothic"/>
                <a:cs typeface="Malgun Gothic"/>
              </a:rPr>
              <a:t>: Insulin과 glucagon의 작용은 M02-W12-L01, 섭식과 공복의 장기별 통합은 M02-W12-L02, 에너지 센서는 M02-W12-L03, 인슐린 저항성은 M02-W13-L02, 당뇨병은 M02-W13-L03, 비만은 M02-W14-L01.</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섭식 행동의 조절</a:t>
            </a:r>
            <a:r>
              <a:rPr sz="1400" b="0" i="0">
                <a:solidFill>
                  <a:srgbClr val="11202B"/>
                </a:solidFill>
                <a:latin typeface="Malgun Gothic"/>
                <a:ea typeface="Malgun Gothic"/>
                <a:cs typeface="Malgun Gothic"/>
              </a:rPr>
              <a:t>: M01-W03-L02에서 시상하부 회로를 다루었다.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모듈 2로 넘어갈 때 이 수업에서 가져가야 할 것은 경로의 이름이 아니라 </a:t>
            </a:r>
            <a:r>
              <a:rPr sz="1600" b="1" i="0">
                <a:solidFill>
                  <a:srgbClr val="11202B"/>
                </a:solidFill>
                <a:latin typeface="Malgun Gothic"/>
                <a:ea typeface="Malgun Gothic"/>
                <a:cs typeface="Malgun Gothic"/>
              </a:rPr>
              <a:t>네 가지 틀</a:t>
            </a:r>
            <a:r>
              <a:rPr sz="1600" b="0" i="0">
                <a:solidFill>
                  <a:srgbClr val="11202B"/>
                </a:solidFill>
                <a:latin typeface="Malgun Gothic"/>
                <a:ea typeface="Malgun Gothic"/>
                <a:cs typeface="Malgun Gothic"/>
              </a:rPr>
              <a:t>이다. 첫째, 이화와 동화는 따로 조절되어야 하므로 다른 경로를 쓴다. 둘째, 세 영양소는 acetyl-CoA로 수렴하고 지방에서 포도당으로는 갈 수 없다. 셋째, 상태가 바뀌면 같은 기관이 반대 방향으로 일한다. 넷째, 조절은 속도가 다른 세 수준에서 함께 일어난다. 이 네 가지를 쥐고 있으면 모듈 2의 각 수업이 지도 위의 어느 구간을 확대하는 것인지가 분명해진다.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이화 경로와 동화 경로가 서로 다른 효소를 쓰는 이유를 세 가지로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열역학적으로 되돌릴 수 없는 단계가 있기 때문이다. 분해에서 크게 에너지를 방출한 단계는 역방향으로 그냥 돌릴 수 없어 다른 효소로 우회해야 한다. 둘째, 따로 조절하기 위해서다. 같은 효소가 양방향을 담당하면 한쪽을 켜는 신호가 다른 쪽도 켜게 되고 두 경로가 동시에 돌아 ATP만 소모하는 무익 회로가 된다. 서로 다른 효소를 쓰면 하나를 켜면서 다른 하나를 끌 수 있다. 셋째, 공간을 나눌 수 있다. 분해와 합성을 서로 다른 구획에서 수행하면 간섭이 줄어든다.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ATP가 에너지 통화로 선택된 이유를 설명하시오. 가장 큰 에너지를 가진 분자가 아니라는 점을 포함하시오.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 안에는 ATP보다 인산 전달 전위가 높은 분자도 있으므로 에너지 크기가 선택의 이유는 아니다. ATP가 적합한 것은 전위의 중간에 있어 더 높은 전위의 분자에서 인산을 받고 더 낮은 전위의 분자에 넘길 수 있는 중개자 위치에 있기 때문이다. 또 반응성의 균형이 맞다. 열역학적으로는 불안정해 가수분해에서 큰 에너지를 내지만 속도론적으로는 안정해 효소가 없으면 쉽게 분해되지 않으므로, 세포가 원하는 시점과 장소에서만 쓸 수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ΔG°′와 ΔG의 차이를 설명하고, 둘의 부호가 다를 수 있다는 것이 대사에서 어떤 의미를 갖는지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ΔG°′는 모든 반응물과 생성물이 표준 농도일 때의 값으로 그 반응의 고유한 성질이고, ΔG는 실제 세포 안의 농도에서의 값으로 반응이 실제로 어느 방향으로 진행하는지를 정한다. ΔG°′가 양수인 반응도 생성물이 다음 반응에서 계속 소비되어 농도가 낮게 유지되면 실제 ΔG는 음수가 되어 정방향으로 진행한다. 따라서 경로 안의 개별 반응을 따로 떼어 평가할 수 없으며, 경로가 연결되어 있다는 사실 자체가 각 반응을 끌고 가는 힘이 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NAD와 NADP가 구조는 거의 같은데 쓰임이 다르다는 사실의 의미를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분자는 인산기 하나만 다르지만 효소가 이를 구별하므로 세포는 두 풀을 독립적으로 유지할 수 있다. NAD는 대부분 산화형으로 유지되어 전자를 받을 준비가 되어 있고 이화 작용에서 전자를 거두어 electron transport chain으로 가져간다. NADP는 대부분 환원형인 NADPH로 유지되어 전자를 줄 준비가 되어 있고 합성 반응의 환원력과 항산화 방어에 쓰인다. 분해와 합성을 동시에 수행하면서 서로 간섭하지 않게 하는 장치이며, 이화와 동화를 분리한다는 원칙이 조효소 수준에서 구현된 것이다.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 영양소의 분해 경로가 acetyl-CoA로 수렴하는 구조의 이점을 세 가지로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경제성이다. 영양소마다 완전한 산화 경로를 따로 갖출 필요 없이 공통 구간 하나로 처리한다. 둘째, 유연성이다. 들어오는 연료의 종류가 바뀌어도 같은 기계가 처리하므로 식사 내용이 달라져도 대응할 수 있다. 셋째, 상호 전환의 교차로가 된다. 공통 중간체가 있으므로 한 영양소를 다른 영양소로 바꿀 수 있다. 다만 acetyl-CoA에서 포도당으로 가는 경로가 없으므로 지방산을 포도당으로 바꾸는 방향만은 불가능하다.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지방산을 포도당으로 바꿀 수 없다는 원칙의 두 가지 예외를 쓰고 각각의 실질적 중요성을 평가하시오.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triacylglycerol이 분해될 때 나오는 glycerol은 glycolysis 중간체로 들어가 gluconeogenesis에 쓰일 수 있다. 다만 지방산 세 분자당 glycerol 하나이므로 양이 제한된다. 둘째, 홀수 탄소 지방산은 β 산화의 마지막에 propionyl-CoA를 남기고 이것이 succinyl-CoA를 거쳐 포도당이 될 수 있다. 사람의 식이에서 홀수 탄소 지방산은 소량이므로 실질적 기여는 작다. 두 예외 모두 원칙을 뒤집지 못하며, 공복에서 지방만으로 혈당을 유지할 수 없다는 결론은 그대로 유지된다.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포도당을 glycogen 형태로 저장하는 두 가지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삼투압 때문이다. 수천 개의 포도당 분자를 자유롭게 두면 세포 안 삼투압이 감당할 수 없이 올라가지만, 하나의 거대 분자로 묶으면 삼투압 부담이 수천 분의 일로 줄어든다. 둘째, 동원 속도 때문이다. glycogen은 가지가 많은 구조여서 여러 끝에서 동시에 포도당을 떼어 낼 수 있으므로 필요할 때 빠르게 공급된다. 저장 효율과 동원 속도를 함께 얻은 구조이지만 저장량은 간과 근육을 합쳐 약 400~500 g으로 하루분에 못 미치므로 장기 저장은 지방이 맡는다.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지방이 장기 에너지 저장에 유리한 두 가지 이유와 그 대가를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지방산의 탄소가 더 환원된 상태여서 그램당 에너지가 약 9 kcal로 탄수화물과 단백질의 두 배 이상이다. 둘째, 소수성이어서 물을 끌고 다니지 않는다. glycogen은 자기 무게의 두세 배의 물과 함께 저장되므로 실제 저장 효율에서 지방이 약 여섯 배 유리하다. 대가는 동원 속도와 조건이다. 지방조직에서 분해하고 운반하고 미토콘드리아로 들여와야 하므로 느리고, β 산화가 산소를 필요로 하므로 무산소 상태에서는 쓸 수 없다.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간이 ketone body를 만들면서도 스스로 쓰지 못하는 구조가 무엇을 위한 설계인지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간은 ketone body를 분해해 쓰는 데 필요한 효소가 없다. 이는 결함이 아니라 분업의 결과다. 공복에서 간은 지방산을 대량으로 산화해 남는 acetyl-CoA를 ketone body로 묶어 혈액으로 내보내는 공급자 역할을 한다. 만든 것을 자기가 소비하면 다른 기관으로 보낼 것이 남지 않으므로, 쓰는 능력을 갖지 않는 편이 공급자로서 합리적이다. 뇌는 지방산을 쓰지 못하지만 ketone body는 쓸 수 있으므로 장기 공복에서 이 공급이 결정적이 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아미노산 분해에서 탄소 골격과 질소가 서로 다른 운명을 갖는다는 것을 설명하고, 순수 ketone생성 아미노산이 둘뿐인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질소는 아미노기가 떨어져 암모니아가 되는데 신경 독성이 크므로 조직에서 glutamine과 alanine 형태로 안전하게 운반한 뒤 간의 urea cycle에서 요소로 바꾸어 신장으로 배설한다. 탄소 골격은 어느 중간체로 들어가느냐에 따라 갈린다. pyruvate나 TCA cycle 중간체가 되면 포도당으로 갈 수 있어 당생성이고, acetyl-CoA나 acetoacetate만 내놓으면 포도당이 될 수 없어 ketone생성이다. leucine과 lysine이 순수 ketone생성인 것은 이 둘이 분해되면 acetyl-CoA 또는 acetoacetyl-CoA만 나오는데 acetyl-CoA에서 포도당으로 가는 경로가 없기 때문이다.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공복이 길어질 때 주 연료가 바뀌는 순서를 쓰고, 그 전환이 무엇을 보호하기 위한 것인지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식후 4~16시간에는 간의 glycogen 분해가 혈당을 유지하지만 12~24시간이면 고갈된다. 이후 1~3일에는 gluconeogenesis가 주 공급원이 되며 근육에서 온 아미노산, glycerol, 젖산을 재료로 쓴다. 3일 이후에는 간의 ketone body 생산이 크게 늘고 뇌가 연료의 상당 부분을 ketone body로 전환한다. 이 전환의 목적은 단백질을 보호하는 것이다. 지방에서 포도당을 만들 수 없으므로 포도당은 근육 단백질을 희생해야 얻을 수 있는데, 가장 큰 포도당 소비자인 뇌가 ketone body로 일부 전환하면 gluconeogenesis의 부담이 줄고 단백질 분해 속도가 떨어져 생존 기간이 크게 늘어난다.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단백질만 많이 섭취했을 때 insulin과 glucagon이 함께 올라가는 이유를 비율 개념으로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아미노산은 insulin 분비를 자극한다. 그런데 탄수화물 없이 insulin만 올라가면 간에서 포도당 방출이 억제되고 조직의 포도당 섭취가 늘어 저혈당이 올 수 있다. 아미노산이 glucagon 분비도 함께 자극하므로 간에서 glycogen 분해와 gluconeogenesis가 유지되어 혈당이 떨어지지 않는다. 결과적으로 두 호르몬이 함께 올라가 비율은 크게 변하지 않고, 아미노산만 조직으로 들어가 단백질 합성에 쓰인다. 대사 방향을 정하는 것이 각 호르몬의 절대 농도가 아니라 둘의 비율이라는 점을 보여 주는 사례다.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근육의 glycogen이 전신 혈당 유지에 직접 기여하지 못하는 이유를 두 가지로 설명하고, 간접적으로 기여하는 경로를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근육에는 glucagon 수용체가 없어 혈당이 떨어졌다는 신호를 받지 못한다. 근육 glycogen을 동원하는 것은 운동 시의 에피네프린과 근육 자체의 수축 신호다. 둘째, 근육에는 glucose-6-phosphatase가 없어 분해해 얻은 glucose-6-phosphate를 자유 포도당으로 바꾸어 혈액으로 내보낼 수 없고 자기가 쓸 수밖에 없다. 간접적으로는 기여하는데, 근육에서 나온 젖산과 alanine이 혈액을 타고 간으로 가서 gluconeogenesis의 재료가 되어 포도당으로 재합성되는 경로를 통해서다.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기초대사량을 정하는 가장 큰 요인을 쓰고, 체중 감량이 시간이 갈수록 어려워지는 생물학적 배경을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기초대사량을 정하는 가장 큰 요인은 제지방량이다. 지방조직은 대사가 느리고 근육과 내장은 빠르므로 같은 체중이라도 근육이 많으면 기초대사량이 높다. 남녀 차이와 연령 차이도 대부분 제지방량 차이로 설명된다. 체중 감량이 어려워지는 것은 섭취를 줄이면 소비도 함께 줄기 때문이며, 제지방량 감소로 설명되는 것보다 더 크게 줄어드는 적응성 열생성이 더해진다. 과잉 섭취에서는 소비 증가의 폭이 작아, 몸이 체중 감소에 더 강하게 저항하는 비대칭이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비타민 B₁₂ 결핍과 folate 결핍이 같은 혈액 소견을 내는데도 구분이 반드시 필요한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비타민은 모두 일탄소 전달에 관여해 DNA 합성에 필요하므로, 결핍되면 분열이 빠른 세포에서 먼저 문제가 생겨 거대적혈모구 빈혈이라는 같은 혈액 소견을 낸다. 그러나 신경 증상은 B₁₂ 결핍에서만 나타난다. B₁₂는 methylmalonyl-CoA의 처리에도 쓰이고 말이집 유지에 관여하기 때문이다. 문제는 folate를 보충하면 혈액 소견이 호전되어 결핍이 교정된 것처럼 보이는데 신경 손상은 계속 진행한다는 점이다. 신경 손상은 되돌리기 어려우므로, 보충을 시작하기 전에 반드시 B₁₂ 상태를 확인해야 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재급식 증후군의 기전을 설명하고, 포도당보다 thiamine을 먼저 주어야 하는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오래 굶은 환자는 세포 안의 인, 칼륨, 마그네슘이 고갈되어 있지만 혈중 농도는 정상으로 보인다. 영양을 공급하면 insulin이 급격히 분비되어 포도당과 함께 이 전해질들이 세포 안으로 몰려 들어가고 혈중 농도가 급락한다. 특히 저인산혈증이 위험한데 인이 없으면 ATP를 만들 수 없어 심부전, 호흡부전, 부정맥, 신경 증상이 생기고 사망에 이를 수 있다. Thiamine을 먼저 주어야 하는 이유는 thiamine이 pyruvate의 처리에 쓰이는 조효소이기 때문이다. 이미 고갈된 상태에서 포도당을 주면 남은 thiamine이 급격히 소모되어 Wernicke 뇌병증이 유발된다.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호흡 지수가 연료의 종류를 알려 주는 원리를 설명하고, 중환자에게 탄수화물을 과잉 공급했을 때 생기는 문제를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호흡 지수는 배출한 CO₂를 소비한 O₂로 나눈 값이다. 탄수화물은 분자 안에 산소가 이미 많아 적은 O₂로 같은 양의 CO₂를 내므로 RQ가 1.0이고, 지방은 환원된 상태여서 많은 O₂를 쓰므로 약 0.7이며, 혼합 식사에서는 약 0.85가 된다. 탄수화물을 과도하게 공급하면 남는 탄수화물로 지방을 합성하게 되고 이 과정에서 CO₂가 추가로 생성되어 RQ가 1을 넘는다. 늘어난 CO₂는 환기 부담을 키우므로 호흡이 약한 환자에서 인공호흡기 이탈을 어렵게 만든다.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이중표지수법이 하루 총 에너지 소비를 측정하는 원리를 설명하고, 이 방법의 장점을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수소와 산소에 안정 동위원소를 표지한 물을 마시게 한 뒤 두 원소가 몸에서 사라지는 속도를 비교한다. 표지된 수소는 물의 형태로만 빠져나가지만 표지된 산소는 물과 CO₂ 양쪽으로 빠져나가므로, 두 소실 속도의 차이가 CO₂ 생산량에 해당한다. 여기서 에너지 소비를 계산한다. 장점은 피험자를 실험실에 묶어 두지 않고 평소대로 생활하게 하면서 측정할 수 있다는 것이며, 자유 생활 상태의 에너지 소비를 비교하는 연구가 이 방법으로 가능해졌다.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 영양소의 그램당 열량은 크게 다른데 산소 소비량당 열량은 비슷한 이유를 설명하고, 이 사실이 어떤 상황에서 의미를 갖는지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지방은 탄소가 더 환원되어 있어 그램당 약 9 kcal로 탄수화물과 단백질의 두 배 이상이지만, 완전히 산화하는 데 그만큼 많은 산소를 필요로 한다. 그 결과 산소 1 L당 얻는 에너지는 세 영양소 모두 약 4.8~5.0 kcal로 비슷해진다. 이 사실은 산소 공급이 제한된 상황에서 의미를 갖는다. 산소가 제한 요인이라면 어떤 연료를 태우든 얻을 수 있는 에너지의 총량이 비슷하므로, 연료의 선택이 산소 효율을 크게 바꾸지는 못한다.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대사 경로의 조절 지점이 놓이는 위치에 어떤 규칙이 있는지 네 가지로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되돌릴 수 없는 단계에 놓인다. 평형에 가까운 반응은 농도 변화로 방향이 쉽게 뒤집히므로 조절에 부적합하고, 사실상 한 방향으로만 가는 단계라야 그 속도가 경로 전체를 정한다. 둘째, 경로의 앞쪽, 특히 첫 번째 분기점에 놓인다. 쓰지 않을 물질을 만든 뒤 버리는 것보다 들어가기 전에 결정하는 편이 낭비가 적고 자원 배분까지 정할 수 있다. 셋째, 최종 산물이 앞쪽 효소를 억제하는 되먹임 구조를 쓴다. 중앙의 지시 없이 각 경로가 스스로 생산량을 맞춘다. 넷째, ATP와 AMP의 비처럼 에너지 상태 자체가 신호가 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운동 중인 근육이 insulin 없이도 포도당을 섭취하는 현상을 두 층위의 조절로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대사 조절은 세포 수준과 전신 수준에서 겹쳐 일어난다. 전신 수준에서 운동 중에는 insulin이 낮고 glucagon과 카테콜아민이 높아 동원 쪽 신호가 지배한다. 그러나 세포 수준에서는 수축으로 ATP가 소모되고 AMP가 늘어 AMPK가 활성화되며, 이것이 포도당 수송체를 세포막으로 이동시켜 포도당 섭취를 늘린다. 두 신호가 겉으로는 충돌하지만 실제로는 역할이 다르다. 전신 신호는 연료를 어디로 보낼지를 정하고 세포 신호는 지금 일하는 세포가 연료를 받게 한다. 운동이 insulin 저항성이 있는 사람에게도 혈당 조절에 도움이 되는 기전의 하나다.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M01-W04-L02  ·  대사기초 요약: 에너지·영양소·섭식과 공복</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Rodwell VW, et al. Harper's Illustrated Biochemistry. 32nd ed. McGraw Hill;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Berg JM, Tymoczko JL, Gatto GJ, Stryer L. Biochemistry. 9th ed. W.H. Freeman; 2019.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Nelson DL, Cox MM. Lehninger Principles of Biochemistry. 8th ed. W.H. Freeman;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Unit XIII, Metabolism and Temperature Regulation.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Cahill GF Jr. Fuel metabolism in starvation. Annu Rev Nutr. 2006;26:1–22.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Pontzer H, et al. Constrained total energy expenditure and metabolic adaptation to physical activity in adult humans. Curr Biol. 2016;26(3):410–417.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Mehanna HM, Moledina J, Travis J. Refeeding syndrome: what it is, and how to prevent and treat it. BMJ. 2008;336(7659):1495–1498.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