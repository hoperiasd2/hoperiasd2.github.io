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영양소가 acetyl-CoA로 수렴하는 구조. 탄수화물, 지방, 단백질이 각각의 경로를 거쳐 공통 중간체에 모이는 배치, TCA cycle과 electron transport chain의 공통 구간, 그리고 지방산에서 포도당으로 가는 길이 끊겨 있다는 비대칭을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섭식 상태와 공복 상태에서 장기 사이의 물질 흐름. 간, 근육, 지방조직, 뇌 사이에서 방향이 뒤집히는 구조, 공복이 길어질수록 glycogen에서 gluconeogenesis로, 다시 ketone body로 주 연료가 옮겨 가는 순서, 그리고 그 전환이 단백질을 아끼는 결과로 이어지는 관계를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대사기초 요약: 에너지·영양소·섭식과 공복</a:t>
            </a:r>
          </a:p>
          <a:p>
            <a:r>
              <a:rPr sz="1500" b="0" i="0">
                <a:solidFill>
                  <a:srgbClr val="B9D2E8"/>
                </a:solidFill>
                <a:latin typeface="Malgun Gothic"/>
                <a:ea typeface="Malgun Gothic"/>
                <a:cs typeface="Malgun Gothic"/>
              </a:rPr>
              <a:t>Metabolism: Energy, Nutrients, Feeding and Fasting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M01-W04-L02  ·  1부</a:t>
            </a:r>
          </a:p>
          <a:p>
            <a:r>
              <a:rPr sz="1100" b="0" i="0">
                <a:solidFill>
                  <a:srgbClr val="F2B705"/>
                </a:solidFill>
                <a:latin typeface="Malgun Gothic"/>
                <a:ea typeface="Malgun Gothic"/>
                <a:cs typeface="Malgun Gothic"/>
              </a:rPr>
              <a:t>전체 15절 가운데 9절</a:t>
            </a:r>
          </a:p>
          <a:p>
            <a:r>
              <a:rPr sz="1100" b="0" i="0">
                <a:solidFill>
                  <a:srgbClr val="9FBEDA"/>
                </a:solidFill>
                <a:latin typeface="Malgun Gothic"/>
                <a:ea typeface="Malgun Gothic"/>
                <a:cs typeface="Malgun Gothic"/>
              </a:rPr>
              <a:t>4주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대사를 이화와 동화로 나누고 두 방향이 왜 서로 다른 경로를 쓰는지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ATP가 에너지 통화로 쓰이는 이유를 공역의 관점에서 설명하고 자유에너지의 부호를 해석한다.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산화환원 반응에서 전자 운반체가 하는 일을 쓰고 NAD⁺와 NADPH의 역할 차이를 구분한다.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세 영양소의 분해 경로가 공통 중간체로 모이는 구조를 설명하고 그 이점을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포도당이 갈 수 있는 네 갈래 경로를 들고 각 경로가 선택되는 조건을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지방이 저장과 동원에 유리한 이유를 화학 구조로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아미노산의 탄소 골격과 질소가 서로 다른 운명을 갖는다는 것을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섭식 상태와 공복 상태에서 장기별 대사의 역할 분담을 서술한다.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Insulin과 glucagon이 대사 방향을 바꾸는 방식을 설명하고 두 호르몬의 비율이 갖는 의미를 쓴다.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에너지 균형의 식을 쓰고 기초대사량을 정하는 요인을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비타민과 무기질의 기능을 범주로 분류하고 결핍이 특정 증상을 내는 이유를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M01-W01-L03 소화계 요약: 소화·흡수·간의 역할 — 영양소의 소화와 흡수, 간의 기능</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M01-W02-L02 내분비계 요약: 호르몬과 되먹임 — insulin과 glucagon, 호르몬의 작용 방식</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탄수화물, 지질, 단백질의 기본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대사가 답해야 하는 질문</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에너지의 통화 — ATP와 공역</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산화환원과 전자 운반체</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세 영양소의 큰 지도</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포도당의 네 갈래</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지방 — 왜 저장에 유리한가</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아미노산 — 탄소와 질소가 갈라진다</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섭식과 공복 — 장기별 역할 분담</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호르몬 스위치 — 방향을 정하는 신호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대사가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살아 있다는 것은 </a:t>
            </a:r>
            <a:r>
              <a:rPr sz="1400" b="1" i="0">
                <a:solidFill>
                  <a:srgbClr val="11202B"/>
                </a:solidFill>
                <a:latin typeface="Malgun Gothic"/>
                <a:ea typeface="Malgun Gothic"/>
                <a:cs typeface="Malgun Gothic"/>
              </a:rPr>
              <a:t>질서를 유지하는 일</a:t>
            </a:r>
            <a:r>
              <a:rPr sz="1400" b="0" i="0">
                <a:solidFill>
                  <a:srgbClr val="11202B"/>
                </a:solidFill>
                <a:latin typeface="Malgun Gothic"/>
                <a:ea typeface="Malgun Gothic"/>
                <a:cs typeface="Malgun Gothic"/>
              </a:rPr>
              <a:t>이다. 열역학 제2법칙에 따르면 고립계의 무질서는 증가하는데, 생물은 고도로 조직된 상태를 유지한다. 모순이 아니다. 생물은 고립계가 아니며, 주변에서 에너지를 받아들여 질서를 만들고 그 대가로 주변의 무질서를 더 크게 늘린다. </a:t>
            </a:r>
            <a:r>
              <a:rPr sz="1400" b="1" i="0">
                <a:solidFill>
                  <a:srgbClr val="11202B"/>
                </a:solidFill>
                <a:latin typeface="Malgun Gothic"/>
                <a:ea typeface="Malgun Gothic"/>
                <a:cs typeface="Malgun Gothic"/>
              </a:rPr>
              <a:t>대사(metabolism)</a:t>
            </a:r>
            <a:r>
              <a:rPr sz="1400" b="0" i="0">
                <a:solidFill>
                  <a:srgbClr val="11202B"/>
                </a:solidFill>
                <a:latin typeface="Malgun Gothic"/>
                <a:ea typeface="Malgun Gothic"/>
                <a:cs typeface="Malgun Gothic"/>
              </a:rPr>
              <a:t> 는 이 거래를 수행하는 화학 반응의 총체다.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대사는 두 방향으로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이화(catabolism)</a:t>
            </a:r>
            <a:r>
              <a:rPr sz="1400" b="0" i="0">
                <a:solidFill>
                  <a:srgbClr val="11202B"/>
                </a:solidFill>
                <a:latin typeface="Malgun Gothic"/>
                <a:ea typeface="Malgun Gothic"/>
                <a:cs typeface="Malgun Gothic"/>
              </a:rPr>
              <a:t>: 큰 분자를 작은 분자로 분해하며 에너지를 꺼낸다. 산화 반응이 중심이고 전자 운반체가 환원된다.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동화(anabolism)</a:t>
            </a:r>
            <a:r>
              <a:rPr sz="1400" b="0" i="0">
                <a:solidFill>
                  <a:srgbClr val="11202B"/>
                </a:solidFill>
                <a:latin typeface="Malgun Gothic"/>
                <a:ea typeface="Malgun Gothic"/>
                <a:cs typeface="Malgun Gothic"/>
              </a:rPr>
              <a:t>: 작은 분자로 큰 분자를 만든다. 에너지를 쓰고 환원력이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두 방향이 왜 다른 경로를 쓰는가.</a:t>
            </a:r>
            <a:r>
              <a:rPr sz="1400" b="0" i="0">
                <a:solidFill>
                  <a:srgbClr val="11202B"/>
                </a:solidFill>
                <a:latin typeface="Malgun Gothic"/>
                <a:ea typeface="Malgun Gothic"/>
                <a:cs typeface="Malgun Gothic"/>
              </a:rPr>
              <a:t> 포도당을 분해하는 경로와 만드는 경로는 대부분의 단계를 공유하지만 몇몇 단계에서 서로 다른 효소를 쓴다. 이유가 세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 </a:t>
            </a:r>
            <a:r>
              <a:rPr sz="1400" b="1" i="0">
                <a:solidFill>
                  <a:srgbClr val="11202B"/>
                </a:solidFill>
                <a:latin typeface="Malgun Gothic"/>
                <a:ea typeface="Malgun Gothic"/>
                <a:cs typeface="Malgun Gothic"/>
              </a:rPr>
              <a:t>열역학적으로 되돌릴 수 없는 단계가 있다.</a:t>
            </a:r>
            <a:r>
              <a:rPr sz="1400" b="0" i="0">
                <a:solidFill>
                  <a:srgbClr val="11202B"/>
                </a:solidFill>
                <a:latin typeface="Malgun Gothic"/>
                <a:ea typeface="Malgun Gothic"/>
                <a:cs typeface="Malgun Gothic"/>
              </a:rPr>
              <a:t> 분해에서 크게 에너지를 방출한 단계는 역방향으로 그냥 돌릴 수 없고, 다른 방법으로 우회해야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 </a:t>
            </a:r>
            <a:r>
              <a:rPr sz="1400" b="1" i="0">
                <a:solidFill>
                  <a:srgbClr val="11202B"/>
                </a:solidFill>
                <a:latin typeface="Malgun Gothic"/>
                <a:ea typeface="Malgun Gothic"/>
                <a:cs typeface="Malgun Gothic"/>
              </a:rPr>
              <a:t>따로 조절하기 위해서다.</a:t>
            </a:r>
            <a:r>
              <a:rPr sz="1400" b="0" i="0">
                <a:solidFill>
                  <a:srgbClr val="11202B"/>
                </a:solidFill>
                <a:latin typeface="Malgun Gothic"/>
                <a:ea typeface="Malgun Gothic"/>
                <a:cs typeface="Malgun Gothic"/>
              </a:rPr>
              <a:t> 같은 효소가 양방향을 담당하면 한쪽을 켜는 신호가 다른 쪽도 켜게 된다. 두 경로가 동시에 돌면 ATP만 소모하는 무익 회로가 된다. 서로 다른 효소를 쓰면 하나를 켜면서 다른 하나를 끌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셋째, </a:t>
            </a:r>
            <a:r>
              <a:rPr sz="1400" b="1" i="0">
                <a:solidFill>
                  <a:srgbClr val="11202B"/>
                </a:solidFill>
                <a:latin typeface="Malgun Gothic"/>
                <a:ea typeface="Malgun Gothic"/>
                <a:cs typeface="Malgun Gothic"/>
              </a:rPr>
              <a:t>공간을 나눌 수 있다.</a:t>
            </a:r>
            <a:r>
              <a:rPr sz="1400" b="0" i="0">
                <a:solidFill>
                  <a:srgbClr val="11202B"/>
                </a:solidFill>
                <a:latin typeface="Malgun Gothic"/>
                <a:ea typeface="Malgun Gothic"/>
                <a:cs typeface="Malgun Gothic"/>
              </a:rPr>
              <a:t> 분해는 세포질에서, 합성은 미토콘드리아 안에서처럼 구획을 달리하면 두 과정이 간섭하지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대사가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대사를 공부할 때 반응식을 외우는 것은 효율이 낮다. 물어야 할 것은 세 가지다. </a:t>
            </a:r>
            <a:r>
              <a:rPr sz="1600" b="1" i="0">
                <a:solidFill>
                  <a:srgbClr val="11202B"/>
                </a:solidFill>
                <a:latin typeface="Malgun Gothic"/>
                <a:ea typeface="Malgun Gothic"/>
                <a:cs typeface="Malgun Gothic"/>
              </a:rPr>
              <a:t>지금 에너지가 남는가 모자라는가</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어느 기관이 무엇을 보내고 무엇을 받는가</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어느 단계가 속도를 정하고 무엇이 그 단계를 조절하는가</a:t>
            </a:r>
            <a:r>
              <a:rPr sz="1600" b="0" i="0">
                <a:solidFill>
                  <a:srgbClr val="11202B"/>
                </a:solidFill>
                <a:latin typeface="Malgun Gothic"/>
                <a:ea typeface="Malgun Gothic"/>
                <a:cs typeface="Malgun Gothic"/>
              </a:rPr>
              <a:t>. 이 세 질문이 대사 전체를 관통한다.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에너지의 통화 — ATP와 공역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자유에너지.</a:t>
            </a:r>
            <a:r>
              <a:rPr sz="1400" b="0" i="0">
                <a:solidFill>
                  <a:srgbClr val="11202B"/>
                </a:solidFill>
                <a:latin typeface="Malgun Gothic"/>
                <a:ea typeface="Malgun Gothic"/>
                <a:cs typeface="Malgun Gothic"/>
              </a:rPr>
              <a:t> 반응이 저절로 일어나는지를 정하는 것은 자유에너지 변화(ΔG)다. 음수이면 저절로 일어나고(발열성), 양수이면 에너지를 넣어야 일어난다(흡열성). 중요한 것은 </a:t>
            </a:r>
            <a:r>
              <a:rPr sz="1400" b="1" i="0">
                <a:solidFill>
                  <a:srgbClr val="11202B"/>
                </a:solidFill>
                <a:latin typeface="Malgun Gothic"/>
                <a:ea typeface="Malgun Gothic"/>
                <a:cs typeface="Malgun Gothic"/>
              </a:rPr>
              <a:t>ΔG가 속도를 말하지 않는다</a:t>
            </a:r>
            <a:r>
              <a:rPr sz="1400" b="0" i="0">
                <a:solidFill>
                  <a:srgbClr val="11202B"/>
                </a:solidFill>
                <a:latin typeface="Malgun Gothic"/>
                <a:ea typeface="Malgun Gothic"/>
                <a:cs typeface="Malgun Gothic"/>
              </a:rPr>
              <a:t>는 점이다. 포도당이 산소와 반응해 CO₂와 물이 되는 반응은 ΔG가 크게 음수이지만, 설탕이 상온에서 저절로 타지는 않는다. 속도를 정하는 것은 활성화 에너지이며, 효소가 그것을 낮춘다. </a:t>
            </a:r>
            <a:r>
              <a:rPr sz="1400" b="1" i="0">
                <a:solidFill>
                  <a:srgbClr val="11202B"/>
                </a:solidFill>
                <a:latin typeface="Malgun Gothic"/>
                <a:ea typeface="Malgun Gothic"/>
                <a:cs typeface="Malgun Gothic"/>
              </a:rPr>
              <a:t>효소는 반응의 방향이나 평형을 바꾸지 않고 도달 속도만 바꾼다.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공역(coupling).</a:t>
            </a:r>
            <a:r>
              <a:rPr sz="1400" b="0" i="0">
                <a:solidFill>
                  <a:srgbClr val="11202B"/>
                </a:solidFill>
                <a:latin typeface="Malgun Gothic"/>
                <a:ea typeface="Malgun Gothic"/>
                <a:cs typeface="Malgun Gothic"/>
              </a:rPr>
              <a:t> 세포는 ΔG가 양수인 반응을 ΔG가 음수인 반응과 묶어 전체의 합을 음수로 만든다. 두 반응이 </a:t>
            </a:r>
            <a:r>
              <a:rPr sz="1400" b="1" i="0">
                <a:solidFill>
                  <a:srgbClr val="11202B"/>
                </a:solidFill>
                <a:latin typeface="Malgun Gothic"/>
                <a:ea typeface="Malgun Gothic"/>
                <a:cs typeface="Malgun Gothic"/>
              </a:rPr>
              <a:t>공통 중간체를 공유하거나 같은 효소 위에서 함께 일어나야</a:t>
            </a:r>
            <a:r>
              <a:rPr sz="1400" b="0" i="0">
                <a:solidFill>
                  <a:srgbClr val="11202B"/>
                </a:solidFill>
                <a:latin typeface="Malgun Gothic"/>
                <a:ea typeface="Malgun Gothic"/>
                <a:cs typeface="Malgun Gothic"/>
              </a:rPr>
              <a:t> 성립한다. 단순히 옆에서 에너지가 나오는 것으로는 부족하다.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ATP가 통화인 이유.</a:t>
            </a:r>
            <a:r>
              <a:rPr sz="1400" b="0" i="0">
                <a:solidFill>
                  <a:srgbClr val="11202B"/>
                </a:solidFill>
                <a:latin typeface="Malgun Gothic"/>
                <a:ea typeface="Malgun Gothic"/>
                <a:cs typeface="Malgun Gothic"/>
              </a:rPr>
              <a:t> ATP의 말단 인산 결합이 가수분해될 때 상당한 자유에너지가 방출된다. 그런데 ATP가 선택된 이유는 에너지가 가장 크기 때문이 아니다. 세포 안에는 ATP보다 인산 전달 전위가 높은 분자도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ATP가 적합한 이유는 </a:t>
            </a:r>
            <a:r>
              <a:rPr sz="1400" b="1" i="0">
                <a:solidFill>
                  <a:srgbClr val="11202B"/>
                </a:solidFill>
                <a:latin typeface="Malgun Gothic"/>
                <a:ea typeface="Malgun Gothic"/>
                <a:cs typeface="Malgun Gothic"/>
              </a:rPr>
              <a:t>중간에 있기 때문</a:t>
            </a:r>
            <a:r>
              <a:rPr sz="1400" b="0" i="0">
                <a:solidFill>
                  <a:srgbClr val="11202B"/>
                </a:solidFill>
                <a:latin typeface="Malgun Gothic"/>
                <a:ea typeface="Malgun Gothic"/>
                <a:cs typeface="Malgun Gothic"/>
              </a:rPr>
              <a:t>이다. 더 높은 전위를 가진 분자(phosphoenolpyruvate, creatine phosphate 등)에서 인산을 받을 수 있고, 더 낮은 전위를 가진 분자에 인산을 넘길 수 있다. 에너지를 받는 쪽과 주는 쪽 사이에 놓인 </a:t>
            </a:r>
            <a:r>
              <a:rPr sz="1400" b="1" i="0">
                <a:solidFill>
                  <a:srgbClr val="11202B"/>
                </a:solidFill>
                <a:latin typeface="Malgun Gothic"/>
                <a:ea typeface="Malgun Gothic"/>
                <a:cs typeface="Malgun Gothic"/>
              </a:rPr>
              <a:t>중개자</a:t>
            </a:r>
            <a:r>
              <a:rPr sz="1400" b="0" i="0">
                <a:solidFill>
                  <a:srgbClr val="11202B"/>
                </a:solidFill>
                <a:latin typeface="Malgun Gothic"/>
                <a:ea typeface="Malgun Gothic"/>
                <a:cs typeface="Malgun Gothic"/>
              </a:rPr>
              <a:t>로서 적합한 위치에 있다. 돈이 금보다 가치가 커서가 아니라 교환의 매개로 적합해서 통화가 되는 것과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또 하나의 조건은 </a:t>
            </a:r>
            <a:r>
              <a:rPr sz="1400" b="1" i="0">
                <a:solidFill>
                  <a:srgbClr val="11202B"/>
                </a:solidFill>
                <a:latin typeface="Malgun Gothic"/>
                <a:ea typeface="Malgun Gothic"/>
                <a:cs typeface="Malgun Gothic"/>
              </a:rPr>
              <a:t>반응성의 균형</a:t>
            </a:r>
            <a:r>
              <a:rPr sz="1400" b="0" i="0">
                <a:solidFill>
                  <a:srgbClr val="11202B"/>
                </a:solidFill>
                <a:latin typeface="Malgun Gothic"/>
                <a:ea typeface="Malgun Gothic"/>
                <a:cs typeface="Malgun Gothic"/>
              </a:rPr>
              <a:t>이다. 너무 불안정하면 저절로 분해되어 낭비되고, 너무 안정하면 꺼내 쓰기 어렵다. ATP는 열역학적으로는 불안정하지만 </a:t>
            </a:r>
            <a:r>
              <a:rPr sz="1400" b="1" i="0">
                <a:solidFill>
                  <a:srgbClr val="11202B"/>
                </a:solidFill>
                <a:latin typeface="Malgun Gothic"/>
                <a:ea typeface="Malgun Gothic"/>
                <a:cs typeface="Malgun Gothic"/>
              </a:rPr>
              <a:t>반응 속도론적으로는 안정해</a:t>
            </a:r>
            <a:r>
              <a:rPr sz="1400" b="0" i="0">
                <a:solidFill>
                  <a:srgbClr val="11202B"/>
                </a:solidFill>
                <a:latin typeface="Malgun Gothic"/>
                <a:ea typeface="Malgun Gothic"/>
                <a:cs typeface="Malgun Gothic"/>
              </a:rPr>
              <a:t>, 효소가 없으면 쉽게 분해되지 않는다. 그래서 세포가 원하는 시점에 원하는 곳에서만 쓸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저장되지 않는다.</a:t>
            </a:r>
            <a:r>
              <a:rPr sz="1400" b="0" i="0">
                <a:solidFill>
                  <a:srgbClr val="11202B"/>
                </a:solidFill>
                <a:latin typeface="Malgun Gothic"/>
                <a:ea typeface="Malgun Gothic"/>
                <a:cs typeface="Malgun Gothic"/>
              </a:rPr>
              <a:t> 성인 몸의 ATP 총량은 약 50 g에 불과하지만 하루에 회전시키는 양은 체중과 비슷한 수십 kg에 이른다. 같은 분자가 하루에 수백에서 수천 번 재생된다는 뜻이다. ATP는 저장고가 아니라 </a:t>
            </a:r>
            <a:r>
              <a:rPr sz="1400" b="1" i="0">
                <a:solidFill>
                  <a:srgbClr val="11202B"/>
                </a:solidFill>
                <a:latin typeface="Malgun Gothic"/>
                <a:ea typeface="Malgun Gothic"/>
                <a:cs typeface="Malgun Gothic"/>
              </a:rPr>
              <a:t>흐름</a:t>
            </a:r>
            <a:r>
              <a:rPr sz="1400" b="0" i="0">
                <a:solidFill>
                  <a:srgbClr val="11202B"/>
                </a:solidFill>
                <a:latin typeface="Malgun Gothic"/>
                <a:ea typeface="Malgun Gothic"/>
                <a:cs typeface="Malgun Gothic"/>
              </a:rPr>
              <a:t>이며, 그래서 생산이 몇 분만 멈춰도 치명적이다.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에너지의 통화 — ATP와 공역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ΔG와 ΔG°′를 혼동하는 문제가 반복된다. </a:t>
            </a:r>
            <a:r>
              <a:rPr sz="1600" b="1" i="0">
                <a:solidFill>
                  <a:srgbClr val="11202B"/>
                </a:solidFill>
                <a:latin typeface="Malgun Gothic"/>
                <a:ea typeface="Malgun Gothic"/>
                <a:cs typeface="Malgun Gothic"/>
              </a:rPr>
              <a:t>ΔG°′</a:t>
            </a:r>
            <a:r>
              <a:rPr sz="1600" b="0" i="0">
                <a:solidFill>
                  <a:srgbClr val="11202B"/>
                </a:solidFill>
                <a:latin typeface="Malgun Gothic"/>
                <a:ea typeface="Malgun Gothic"/>
                <a:cs typeface="Malgun Gothic"/>
              </a:rPr>
              <a:t> 는 모든 반응물과 생성물이 표준 농도일 때의 값으로 그 반응의 고유한 성질이고, </a:t>
            </a:r>
            <a:r>
              <a:rPr sz="1600" b="1" i="0">
                <a:solidFill>
                  <a:srgbClr val="11202B"/>
                </a:solidFill>
                <a:latin typeface="Malgun Gothic"/>
                <a:ea typeface="Malgun Gothic"/>
                <a:cs typeface="Malgun Gothic"/>
              </a:rPr>
              <a:t>ΔG</a:t>
            </a:r>
            <a:r>
              <a:rPr sz="1600" b="0" i="0">
                <a:solidFill>
                  <a:srgbClr val="11202B"/>
                </a:solidFill>
                <a:latin typeface="Malgun Gothic"/>
                <a:ea typeface="Malgun Gothic"/>
                <a:cs typeface="Malgun Gothic"/>
              </a:rPr>
              <a:t>는 실제 세포 안의 농도에서의 값으로 반응이 실제로 어느 방향으로 가는지를 정한다. 둘의 부호가 다를 수 있다는 것이 핵심이다. ΔG°′가 양수인 반응도 생성물이 계속 소비되어 농도가 낮게 유지되면 실제로는 정방향으로 진행한다. Glycolysis의 여러 단계가 이런 방식으로 돌아가며, 경로의 연결 자체가 각 반응을 끌고 가는 힘이 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산화환원과 전자 운반체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이화 작용의 본질은 </a:t>
            </a:r>
            <a:r>
              <a:rPr sz="1400" b="1" i="0">
                <a:solidFill>
                  <a:srgbClr val="11202B"/>
                </a:solidFill>
                <a:latin typeface="Malgun Gothic"/>
                <a:ea typeface="Malgun Gothic"/>
                <a:cs typeface="Malgun Gothic"/>
              </a:rPr>
              <a:t>산화</a:t>
            </a:r>
            <a:r>
              <a:rPr sz="1400" b="0" i="0">
                <a:solidFill>
                  <a:srgbClr val="11202B"/>
                </a:solidFill>
                <a:latin typeface="Malgun Gothic"/>
                <a:ea typeface="Malgun Gothic"/>
                <a:cs typeface="Malgun Gothic"/>
              </a:rPr>
              <a:t>다. 영양소에서 전자를 떼어 내 결국 산소로 넘기고, 그 과정에서 방출되는 에너지로 ATP를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산화와 환원의 실제 모습.</a:t>
            </a:r>
            <a:r>
              <a:rPr sz="1400" b="0" i="0">
                <a:solidFill>
                  <a:srgbClr val="11202B"/>
                </a:solidFill>
                <a:latin typeface="Malgun Gothic"/>
                <a:ea typeface="Malgun Gothic"/>
                <a:cs typeface="Malgun Gothic"/>
              </a:rPr>
              <a:t> 생화학에서 산화는 대개 </a:t>
            </a:r>
            <a:r>
              <a:rPr sz="1400" b="1" i="0">
                <a:solidFill>
                  <a:srgbClr val="11202B"/>
                </a:solidFill>
                <a:latin typeface="Malgun Gothic"/>
                <a:ea typeface="Malgun Gothic"/>
                <a:cs typeface="Malgun Gothic"/>
              </a:rPr>
              <a:t>수소 원자(전자와 양성자)를 잃는 것</a:t>
            </a:r>
            <a:r>
              <a:rPr sz="1400" b="0" i="0">
                <a:solidFill>
                  <a:srgbClr val="11202B"/>
                </a:solidFill>
                <a:latin typeface="Malgun Gothic"/>
                <a:ea typeface="Malgun Gothic"/>
                <a:cs typeface="Malgun Gothic"/>
              </a:rPr>
              <a:t>으로 나타난다. 탄소에 수소가 많이 붙어 있을수록 환원된 상태이고 산화되었을 때 더 많은 에너지를 낼 수 있다. 지방이 탄수화물보다 그램당 열량이 두 배 이상인 근본 이유가 여기에 있다. 지방산의 탄소는 거의 수소로만 둘러싸여 있고, 탄수화물의 탄소는 이미 산소와 결합해 부분적으로 산화되어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전자 운반체.</a:t>
            </a:r>
            <a:r>
              <a:rPr sz="1400" b="0" i="0">
                <a:solidFill>
                  <a:srgbClr val="11202B"/>
                </a:solidFill>
                <a:latin typeface="Malgun Gothic"/>
                <a:ea typeface="Malgun Gothic"/>
                <a:cs typeface="Malgun Gothic"/>
              </a:rPr>
              <a:t> 전자를 직접 산소로 넘기면 에너지가 한꺼번에 열로 방출되어 쓸 수 없다. 세포는 전자를 운반체에 실어 단계적으로 전달하며 에너지를 조금씩 꺼낸다.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NAD⁺ / NADH</a:t>
            </a:r>
            <a:r>
              <a:rPr sz="1400" b="0" i="0">
                <a:solidFill>
                  <a:srgbClr val="11202B"/>
                </a:solidFill>
                <a:latin typeface="Malgun Gothic"/>
                <a:ea typeface="Malgun Gothic"/>
                <a:cs typeface="Malgun Gothic"/>
              </a:rPr>
              <a:t>: 이화 작용의 주된 운반체다. 받은 전자를 electron transport chain으로 가져가 ATP 생산에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FAD / FADH₂</a:t>
            </a:r>
            <a:r>
              <a:rPr sz="1400" b="0" i="0">
                <a:solidFill>
                  <a:srgbClr val="11202B"/>
                </a:solidFill>
                <a:latin typeface="Malgun Gothic"/>
                <a:ea typeface="Malgun Gothic"/>
                <a:cs typeface="Malgun Gothic"/>
              </a:rPr>
              <a:t>: 같은 역할이지만 전달 지점이 달라 NADH보다 적은 ATP를 낳는다.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NADP⁺ / NADPH</a:t>
            </a:r>
            <a:r>
              <a:rPr sz="1400" b="0" i="0">
                <a:solidFill>
                  <a:srgbClr val="11202B"/>
                </a:solidFill>
                <a:latin typeface="Malgun Gothic"/>
                <a:ea typeface="Malgun Gothic"/>
                <a:cs typeface="Malgun Gothic"/>
              </a:rPr>
              <a:t>: 구조는 NAD와 거의 같고 인산기 하나만 다르다. 그런데 </a:t>
            </a:r>
            <a:r>
              <a:rPr sz="1400" b="1" i="0">
                <a:solidFill>
                  <a:srgbClr val="11202B"/>
                </a:solidFill>
                <a:latin typeface="Malgun Gothic"/>
                <a:ea typeface="Malgun Gothic"/>
                <a:cs typeface="Malgun Gothic"/>
              </a:rPr>
              <a:t>쓰임이 완전히 다르다.</a:t>
            </a:r>
            <a:r>
              <a:rPr sz="1400" b="0" i="0">
                <a:solidFill>
                  <a:srgbClr val="11202B"/>
                </a:solidFill>
                <a:latin typeface="Malgun Gothic"/>
                <a:ea typeface="Malgun Gothic"/>
                <a:cs typeface="Malgun Gothic"/>
              </a:rPr>
              <a:t> NADPH는 ATP 생산이 아니라 </a:t>
            </a:r>
            <a:r>
              <a:rPr sz="1400" b="1" i="0">
                <a:solidFill>
                  <a:srgbClr val="11202B"/>
                </a:solidFill>
                <a:latin typeface="Malgun Gothic"/>
                <a:ea typeface="Malgun Gothic"/>
                <a:cs typeface="Malgun Gothic"/>
              </a:rPr>
              <a:t>합성 반응의 환원력</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항산화 방어</a:t>
            </a:r>
            <a:r>
              <a:rPr sz="1400" b="0" i="0">
                <a:solidFill>
                  <a:srgbClr val="11202B"/>
                </a:solidFill>
                <a:latin typeface="Malgun Gothic"/>
                <a:ea typeface="Malgun Gothic"/>
                <a:cs typeface="Malgun Gothic"/>
              </a:rPr>
              <a:t>에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NAD와 NADP를 구분하는 설계가 왜 중요한가.</a:t>
            </a:r>
            <a:r>
              <a:rPr sz="1400" b="0" i="0">
                <a:solidFill>
                  <a:srgbClr val="11202B"/>
                </a:solidFill>
                <a:latin typeface="Malgun Gothic"/>
                <a:ea typeface="Malgun Gothic"/>
                <a:cs typeface="Malgun Gothic"/>
              </a:rPr>
              <a:t> 인산기 하나 차이로 효소가 둘을 구별하므로, 세포는 두 풀을 </a:t>
            </a:r>
            <a:r>
              <a:rPr sz="1400" b="1" i="0">
                <a:solidFill>
                  <a:srgbClr val="11202B"/>
                </a:solidFill>
                <a:latin typeface="Malgun Gothic"/>
                <a:ea typeface="Malgun Gothic"/>
                <a:cs typeface="Malgun Gothic"/>
              </a:rPr>
              <a:t>독립적으로 유지</a:t>
            </a:r>
            <a:r>
              <a:rPr sz="1400" b="0" i="0">
                <a:solidFill>
                  <a:srgbClr val="11202B"/>
                </a:solidFill>
                <a:latin typeface="Malgun Gothic"/>
                <a:ea typeface="Malgun Gothic"/>
                <a:cs typeface="Malgun Gothic"/>
              </a:rPr>
              <a:t>할 수 있다. 실제로 세포 안에서 NAD는 대부분 산화형(NAD⁺)으로, NADP는 대부분 환원형(NADPH)으로 유지된다. 한쪽은 전자를 받을 준비가 되어 있고 다른 쪽은 전자를 줄 준비가 되어 있는 것이다. 분해와 합성을 동시에 수행하면서도 서로 간섭하지 않게 하는 장치이며, 1절에서 본 "두 방향을 분리한다"는 원칙이 조효소 수준에서 구현된 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산화환원과 전자 운반체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NADPH의 두 번째 역할인 항산화 방어가 적혈구에서 특히 중요하다. 적혈구는 미토콘드리아가 없어 NADPH를 pentose phosphate pathway에서만 얻는데, 이 경로의 첫 효소인 </a:t>
            </a:r>
            <a:r>
              <a:rPr sz="1600" b="1" i="0">
                <a:solidFill>
                  <a:srgbClr val="11202B"/>
                </a:solidFill>
                <a:latin typeface="Malgun Gothic"/>
                <a:ea typeface="Malgun Gothic"/>
                <a:cs typeface="Malgun Gothic"/>
              </a:rPr>
              <a:t>glucose-6-phosphate dehydrogenase(G6PD)</a:t>
            </a:r>
            <a:r>
              <a:rPr sz="1600" b="0" i="0">
                <a:solidFill>
                  <a:srgbClr val="11202B"/>
                </a:solidFill>
                <a:latin typeface="Malgun Gothic"/>
                <a:ea typeface="Malgun Gothic"/>
                <a:cs typeface="Malgun Gothic"/>
              </a:rPr>
              <a:t> 가 부족하면 NADPH가 모자란다. 평소에는 문제가 없다가 산화 스트레스가 가해지면(일부 약물, 잠두, 감염) 헤모글로빈이 산화되어 침전하고 적혈구가 파괴된다. 세계에서 가장 흔한 효소 결핍이며, 말라리아 유행 지역에서 빈도가 높은 것이 저항성과 관련 있다고 본다. 상세는 M02-W06-L03에서 다룬다.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큰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탄수화물, 지방, 단백질은 구조가 전혀 다르지만 분해 경로는 </a:t>
            </a:r>
            <a:r>
              <a:rPr sz="1400" b="1" i="0">
                <a:solidFill>
                  <a:srgbClr val="11202B"/>
                </a:solidFill>
                <a:latin typeface="Malgun Gothic"/>
                <a:ea typeface="Malgun Gothic"/>
                <a:cs typeface="Malgun Gothic"/>
              </a:rPr>
              <a:t>한 지점으로 수렴</a:t>
            </a:r>
            <a:r>
              <a:rPr sz="1400" b="0" i="0">
                <a:solidFill>
                  <a:srgbClr val="11202B"/>
                </a:solidFill>
                <a:latin typeface="Malgun Gothic"/>
                <a:ea typeface="Malgun Gothic"/>
                <a:cs typeface="Malgun Gothic"/>
              </a:rPr>
              <a:t>한다. 그 지점이 </a:t>
            </a:r>
            <a:r>
              <a:rPr sz="1400" b="1" i="0">
                <a:solidFill>
                  <a:srgbClr val="11202B"/>
                </a:solidFill>
                <a:latin typeface="Malgun Gothic"/>
                <a:ea typeface="Malgun Gothic"/>
                <a:cs typeface="Malgun Gothic"/>
              </a:rPr>
              <a:t>acetyl-CoA</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탄수화물</a:t>
            </a:r>
            <a:r>
              <a:rPr sz="1400" b="0" i="0">
                <a:solidFill>
                  <a:srgbClr val="11202B"/>
                </a:solidFill>
                <a:latin typeface="Malgun Gothic"/>
                <a:ea typeface="Malgun Gothic"/>
                <a:cs typeface="Malgun Gothic"/>
              </a:rPr>
              <a:t> → 포도당 → pyruvate → acetyl-CoA</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a:t>
            </a:r>
            <a:r>
              <a:rPr sz="1400" b="0" i="0">
                <a:solidFill>
                  <a:srgbClr val="11202B"/>
                </a:solidFill>
                <a:latin typeface="Malgun Gothic"/>
                <a:ea typeface="Malgun Gothic"/>
                <a:cs typeface="Malgun Gothic"/>
              </a:rPr>
              <a:t> → 지방산 → β 산화 → acetyl-CoA</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a:t>
            </a:r>
            <a:r>
              <a:rPr sz="1400" b="0" i="0">
                <a:solidFill>
                  <a:srgbClr val="11202B"/>
                </a:solidFill>
                <a:latin typeface="Malgun Gothic"/>
                <a:ea typeface="Malgun Gothic"/>
                <a:cs typeface="Malgun Gothic"/>
              </a:rPr>
              <a:t> → 아미노산 → 탄소 골격 → pyruvate, acetyl-CoA, 또는 TCA cycle의 중간체</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모인 acetyl-CoA는 </a:t>
            </a:r>
            <a:r>
              <a:rPr sz="1400" b="1" i="0">
                <a:solidFill>
                  <a:srgbClr val="11202B"/>
                </a:solidFill>
                <a:latin typeface="Malgun Gothic"/>
                <a:ea typeface="Malgun Gothic"/>
                <a:cs typeface="Malgun Gothic"/>
              </a:rPr>
              <a:t>TCA cycle</a:t>
            </a:r>
            <a:r>
              <a:rPr sz="1400" b="0" i="0">
                <a:solidFill>
                  <a:srgbClr val="11202B"/>
                </a:solidFill>
                <a:latin typeface="Malgun Gothic"/>
                <a:ea typeface="Malgun Gothic"/>
                <a:cs typeface="Malgun Gothic"/>
              </a:rPr>
              <a:t>에서 완전히 산화되어 CO₂가 되고, 떼어 낸 전자는 NADH와 FADH₂에 실려 </a:t>
            </a:r>
            <a:r>
              <a:rPr sz="1400" b="1" i="0">
                <a:solidFill>
                  <a:srgbClr val="11202B"/>
                </a:solidFill>
                <a:latin typeface="Malgun Gothic"/>
                <a:ea typeface="Malgun Gothic"/>
                <a:cs typeface="Malgun Gothic"/>
              </a:rPr>
              <a:t>electron transport chain</a:t>
            </a:r>
            <a:r>
              <a:rPr sz="1400" b="0" i="0">
                <a:solidFill>
                  <a:srgbClr val="11202B"/>
                </a:solidFill>
                <a:latin typeface="Malgun Gothic"/>
                <a:ea typeface="Malgun Gothic"/>
                <a:cs typeface="Malgun Gothic"/>
              </a:rPr>
              <a:t>으로 간다. 거기서 산소로 전달되며 만들어진 양성자 기울기가 </a:t>
            </a:r>
            <a:r>
              <a:rPr sz="1400" b="1" i="0">
                <a:solidFill>
                  <a:srgbClr val="11202B"/>
                </a:solidFill>
                <a:latin typeface="Malgun Gothic"/>
                <a:ea typeface="Malgun Gothic"/>
                <a:cs typeface="Malgun Gothic"/>
              </a:rPr>
              <a:t>ATP synthase</a:t>
            </a:r>
            <a:r>
              <a:rPr sz="1400" b="0" i="0">
                <a:solidFill>
                  <a:srgbClr val="11202B"/>
                </a:solidFill>
                <a:latin typeface="Malgun Gothic"/>
                <a:ea typeface="Malgun Gothic"/>
                <a:cs typeface="Malgun Gothic"/>
              </a:rPr>
              <a:t>를 돌려 ATP를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수렴 구조의 이점이 세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경제성.</a:t>
            </a:r>
            <a:r>
              <a:rPr sz="1400" b="0" i="0">
                <a:solidFill>
                  <a:srgbClr val="11202B"/>
                </a:solidFill>
                <a:latin typeface="Malgun Gothic"/>
                <a:ea typeface="Malgun Gothic"/>
                <a:cs typeface="Malgun Gothic"/>
              </a:rPr>
              <a:t> 세 영양소마다 완전한 산화 경로를 따로 갖출 필요가 없다. 공통 구간 하나로 충분하다.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유연성.</a:t>
            </a:r>
            <a:r>
              <a:rPr sz="1400" b="0" i="0">
                <a:solidFill>
                  <a:srgbClr val="11202B"/>
                </a:solidFill>
                <a:latin typeface="Malgun Gothic"/>
                <a:ea typeface="Malgun Gothic"/>
                <a:cs typeface="Malgun Gothic"/>
              </a:rPr>
              <a:t> 들어오는 연료의 종류가 바뀌어도 같은 기계가 처리한다. 식사 내용이 날마다 달라도 세포가 대응할 수 있는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상호 전환의 교차로.</a:t>
            </a:r>
            <a:r>
              <a:rPr sz="1400" b="0" i="0">
                <a:solidFill>
                  <a:srgbClr val="11202B"/>
                </a:solidFill>
                <a:latin typeface="Malgun Gothic"/>
                <a:ea typeface="Malgun Gothic"/>
                <a:cs typeface="Malgun Gothic"/>
              </a:rPr>
              <a:t> 공통 중간체가 있으므로 한 영양소에서 다른 영양소로 바꿀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 항목에는 중요한 제약이 하나 있다. </a:t>
            </a:r>
            <a:r>
              <a:rPr sz="1400" b="1" i="0">
                <a:solidFill>
                  <a:srgbClr val="11202B"/>
                </a:solidFill>
                <a:latin typeface="Malgun Gothic"/>
                <a:ea typeface="Malgun Gothic"/>
                <a:cs typeface="Malgun Gothic"/>
              </a:rPr>
              <a:t>사람은 지방산을 포도당으로 바꿀 수 없다.</a:t>
            </a:r>
            <a:r>
              <a:rPr sz="1400" b="0" i="0">
                <a:solidFill>
                  <a:srgbClr val="11202B"/>
                </a:solidFill>
                <a:latin typeface="Malgun Gothic"/>
                <a:ea typeface="Malgun Gothic"/>
                <a:cs typeface="Malgun Gothic"/>
              </a:rPr>
              <a:t> 지방산이 acetyl-CoA가 되는 단계는 되돌릴 수 없고, acetyl-CoA에서 포도당으로 가는 경로가 없기 때문이다. 반대 방향, 즉 포도당에서 지방을 만드는 것은 가능하다. 이 비대칭이 공복 대사 전체를 규정한다. 탄수화물이 떨어지면 지방으로 포도당을 만들 수 없으므로 다른 방법을 찾아야 하고, 그 결과가 8절에서 볼 단백질 분해와 ketone body다.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큰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"지방은 포도당이 될 수 없다"에는 두 가지 단서가 붙는다. 첫째, 지방을 구성하는 </a:t>
            </a:r>
            <a:r>
              <a:rPr sz="1600" b="1" i="0">
                <a:solidFill>
                  <a:srgbClr val="11202B"/>
                </a:solidFill>
                <a:latin typeface="Malgun Gothic"/>
                <a:ea typeface="Malgun Gothic"/>
                <a:cs typeface="Malgun Gothic"/>
              </a:rPr>
              <a:t>glycerol은 포도당이 될 수 있다.</a:t>
            </a:r>
            <a:r>
              <a:rPr sz="1600" b="0" i="0">
                <a:solidFill>
                  <a:srgbClr val="11202B"/>
                </a:solidFill>
                <a:latin typeface="Malgun Gothic"/>
                <a:ea typeface="Malgun Gothic"/>
                <a:cs typeface="Malgun Gothic"/>
              </a:rPr>
              <a:t> Triacylglycerol이 분해되면 지방산 세 개와 glycerol 하나가 나오는데, glycerol은 glycolysis 중간체로 들어가 gluconeogenesis에 쓰인다. 다만 양이 적다. 둘째, </a:t>
            </a:r>
            <a:r>
              <a:rPr sz="1600" b="1" i="0">
                <a:solidFill>
                  <a:srgbClr val="11202B"/>
                </a:solidFill>
                <a:latin typeface="Malgun Gothic"/>
                <a:ea typeface="Malgun Gothic"/>
                <a:cs typeface="Malgun Gothic"/>
              </a:rPr>
              <a:t>홀수 탄소 지방산</a:t>
            </a:r>
            <a:r>
              <a:rPr sz="1600" b="0" i="0">
                <a:solidFill>
                  <a:srgbClr val="11202B"/>
                </a:solidFill>
                <a:latin typeface="Malgun Gothic"/>
                <a:ea typeface="Malgun Gothic"/>
                <a:cs typeface="Malgun Gothic"/>
              </a:rPr>
              <a:t>은 마지막에 propionyl-CoA를 남기고 이것이 succinyl-CoA를 거쳐 포도당이 될 수 있다. 사람의 식이에서 홀수 탄소 지방산은 소량이므로 실질적 기여는 작다. 원칙과 예외를 함께 묻는 전형적인 문제다.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큰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13</a:t>
            </a:r>
          </a:p>
        </p:txBody>
      </p:sp>
      <p:pic>
        <p:nvPicPr>
          <p:cNvPr id="7" name="Picture 6" descr="fig-metabolic-map.slide.png"/>
          <p:cNvPicPr>
            <a:picLocks noChangeAspect="1"/>
          </p:cNvPicPr>
          <p:nvPr/>
        </p:nvPicPr>
        <p:blipFill>
          <a:blip r:embed="rId2"/>
          <a:stretch>
            <a:fillRect/>
          </a:stretch>
        </p:blipFill>
        <p:spPr>
          <a:xfrm>
            <a:off x="1878954" y="1325880"/>
            <a:ext cx="843378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 영양소가 acetyl-CoA로 수렴하는 구조. 탄수화물, 지방, 단백질이 각각의 경로를 거쳐 공통 중간체에 모이는 배치, TCA cycle과 electron transport chain의 공통 구간, 그리고 지방산에서 포도당으로 가는 길이 끊겨 있다는 비대칭을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포도당의 네 갈래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세포로 들어온 포도당은 바로 인산화되어 glucose-6-phosphate가 된다. 인산이 붙으면 막을 통과하지 못하므로 </a:t>
            </a:r>
            <a:r>
              <a:rPr sz="1400" b="1" i="0">
                <a:solidFill>
                  <a:srgbClr val="11202B"/>
                </a:solidFill>
                <a:latin typeface="Malgun Gothic"/>
                <a:ea typeface="Malgun Gothic"/>
                <a:cs typeface="Malgun Gothic"/>
              </a:rPr>
              <a:t>세포 안에 가두는 효과</a:t>
            </a:r>
            <a:r>
              <a:rPr sz="1400" b="0" i="0">
                <a:solidFill>
                  <a:srgbClr val="11202B"/>
                </a:solidFill>
                <a:latin typeface="Malgun Gothic"/>
                <a:ea typeface="Malgun Gothic"/>
                <a:cs typeface="Malgun Gothic"/>
              </a:rPr>
              <a:t>가 있다. 여기서 네 갈래로 갈린다.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Glycolysis</a:t>
            </a:r>
            <a:r>
              <a:rPr sz="1400" b="0" i="0">
                <a:solidFill>
                  <a:srgbClr val="11202B"/>
                </a:solidFill>
                <a:latin typeface="Malgun Gothic"/>
                <a:ea typeface="Malgun Gothic"/>
                <a:cs typeface="Malgun Gothic"/>
              </a:rPr>
              <a:t>: 세포질에서 pyruvate까지 분해한다. 산소가 있으면 pyruvate가 미토콘드리아로 들어가 acetyl-CoA가 되고, 없으면 젖산이 된다. 적은 양이지만 </a:t>
            </a:r>
            <a:r>
              <a:rPr sz="1400" b="1" i="0">
                <a:solidFill>
                  <a:srgbClr val="11202B"/>
                </a:solidFill>
                <a:latin typeface="Malgun Gothic"/>
                <a:ea typeface="Malgun Gothic"/>
                <a:cs typeface="Malgun Gothic"/>
              </a:rPr>
              <a:t>산소 없이도 ATP를 낼 수 있는 유일한 경로</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Glycogen 합성</a:t>
            </a:r>
            <a:r>
              <a:rPr sz="1400" b="0" i="0">
                <a:solidFill>
                  <a:srgbClr val="11202B"/>
                </a:solidFill>
                <a:latin typeface="Malgun Gothic"/>
                <a:ea typeface="Malgun Gothic"/>
                <a:cs typeface="Malgun Gothic"/>
              </a:rPr>
              <a:t>: 간과 근육에서 저장 형태로 쌓는다. 간의 glycogen은 혈당 유지에 쓰이고, 근육의 glycogen은 그 근육 자신만 쓴다. 근육에는 glucose-6-phosphatase가 없어 포도당을 혈액으로 내보낼 수 없기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Pentose phosphate pathway</a:t>
            </a:r>
            <a:r>
              <a:rPr sz="1400" b="0" i="0">
                <a:solidFill>
                  <a:srgbClr val="11202B"/>
                </a:solidFill>
                <a:latin typeface="Malgun Gothic"/>
                <a:ea typeface="Malgun Gothic"/>
                <a:cs typeface="Malgun Gothic"/>
              </a:rPr>
              <a:t>: ATP를 만들지 않는다. </a:t>
            </a:r>
            <a:r>
              <a:rPr sz="1400" b="1" i="0">
                <a:solidFill>
                  <a:srgbClr val="11202B"/>
                </a:solidFill>
                <a:latin typeface="Malgun Gothic"/>
                <a:ea typeface="Malgun Gothic"/>
                <a:cs typeface="Malgun Gothic"/>
              </a:rPr>
              <a:t>NADPH</a:t>
            </a:r>
            <a:r>
              <a:rPr sz="1400" b="0" i="0">
                <a:solidFill>
                  <a:srgbClr val="11202B"/>
                </a:solidFill>
                <a:latin typeface="Malgun Gothic"/>
                <a:ea typeface="Malgun Gothic"/>
                <a:cs typeface="Malgun Gothic"/>
              </a:rPr>
              <a:t>와 핵산 합성에 쓰이는 </a:t>
            </a:r>
            <a:r>
              <a:rPr sz="1400" b="1" i="0">
                <a:solidFill>
                  <a:srgbClr val="11202B"/>
                </a:solidFill>
                <a:latin typeface="Malgun Gothic"/>
                <a:ea typeface="Malgun Gothic"/>
                <a:cs typeface="Malgun Gothic"/>
              </a:rPr>
              <a:t>ribose-5-phosphate</a:t>
            </a:r>
            <a:r>
              <a:rPr sz="1400" b="0" i="0">
                <a:solidFill>
                  <a:srgbClr val="11202B"/>
                </a:solidFill>
                <a:latin typeface="Malgun Gothic"/>
                <a:ea typeface="Malgun Gothic"/>
                <a:cs typeface="Malgun Gothic"/>
              </a:rPr>
              <a:t>를 만든다. 지방 합성이 활발한 조직과 적혈구에서 중요하다.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지방 합성으로의 전환</a:t>
            </a:r>
            <a:r>
              <a:rPr sz="1400" b="0" i="0">
                <a:solidFill>
                  <a:srgbClr val="11202B"/>
                </a:solidFill>
                <a:latin typeface="Malgun Gothic"/>
                <a:ea typeface="Malgun Gothic"/>
                <a:cs typeface="Malgun Gothic"/>
              </a:rPr>
              <a:t>: 남으면 acetyl-CoA를 거쳐 지방산으로 바뀌어 저장된다.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어느 갈래로 갈지는 세포의 종류와 상태가 정한다.</a:t>
            </a:r>
            <a:r>
              <a:rPr sz="1400" b="0" i="0">
                <a:solidFill>
                  <a:srgbClr val="11202B"/>
                </a:solidFill>
                <a:latin typeface="Malgun Gothic"/>
                <a:ea typeface="Malgun Gothic"/>
                <a:cs typeface="Malgun Gothic"/>
              </a:rPr>
              <a:t> 간은 네 갈래를 모두 쓰고, 적혈구는 1번과 3번만 쓸 수 있으며, 뇌는 주로 1번을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저장 형태로 glycogen을 쓰는 이유.</a:t>
            </a:r>
            <a:r>
              <a:rPr sz="1400" b="0" i="0">
                <a:solidFill>
                  <a:srgbClr val="11202B"/>
                </a:solidFill>
                <a:latin typeface="Malgun Gothic"/>
                <a:ea typeface="Malgun Gothic"/>
                <a:cs typeface="Malgun Gothic"/>
              </a:rPr>
              <a:t> 포도당을 그대로 쌓으면 삼투압이 감당할 수 없이 올라간다. 수천 개의 포도당을 하나의 거대 분자로 묶으면 삼투압 부담이 수천 분의 일로 줄어든다. 또 가지가 많은 구조이므로 </a:t>
            </a:r>
            <a:r>
              <a:rPr sz="1400" b="1" i="0">
                <a:solidFill>
                  <a:srgbClr val="11202B"/>
                </a:solidFill>
                <a:latin typeface="Malgun Gothic"/>
                <a:ea typeface="Malgun Gothic"/>
                <a:cs typeface="Malgun Gothic"/>
              </a:rPr>
              <a:t>여러 끝에서 동시에 떼어 낼 수 있어</a:t>
            </a:r>
            <a:r>
              <a:rPr sz="1400" b="0" i="0">
                <a:solidFill>
                  <a:srgbClr val="11202B"/>
                </a:solidFill>
                <a:latin typeface="Malgun Gothic"/>
                <a:ea typeface="Malgun Gothic"/>
                <a:cs typeface="Malgun Gothic"/>
              </a:rPr>
              <a:t> 빠르게 동원된다. 저장 효율과 동원 속도를 함께 얻은 구조다.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다만 glycogen의 저장량에는 한계가 있다. 간과 근육을 합쳐 약 400~500 g이고, 열량으로는 하루분이 되지 않는다. 장기 저장은 지방이 맡는다.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지방 — 왜 저장에 유리한가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지방이 장기 저장 형태로 선택된 이유는 두 가지이며, 둘 다 화학 구조에서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그램당 에너지가 크다.</a:t>
            </a:r>
            <a:r>
              <a:rPr sz="1400" b="0" i="0">
                <a:solidFill>
                  <a:srgbClr val="11202B"/>
                </a:solidFill>
                <a:latin typeface="Malgun Gothic"/>
                <a:ea typeface="Malgun Gothic"/>
                <a:cs typeface="Malgun Gothic"/>
              </a:rPr>
              <a:t> 지방 1 g이 약 9 kcal, 탄수화물과 단백질이 약 4 kcal다. 3절에서 본 대로 지방산의 탄소가 더 환원된 상태이기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물을 끌고 다니지 않는다.</a:t>
            </a:r>
            <a:r>
              <a:rPr sz="1400" b="0" i="0">
                <a:solidFill>
                  <a:srgbClr val="11202B"/>
                </a:solidFill>
                <a:latin typeface="Malgun Gothic"/>
                <a:ea typeface="Malgun Gothic"/>
                <a:cs typeface="Malgun Gothic"/>
              </a:rPr>
              <a:t> Glycogen은 친수성이어서 자기 무게의 약 2~3배의 물과 함께 저장된다. 실제 저장 효율로 계산하면 지방이 glycogen의 약 6배가 된다. 같은 에너지를 glycogen으로 저장한다면 체중이 수십 kg 더 나가게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대가는 속도와 조건이다.</a:t>
            </a:r>
            <a:r>
              <a:rPr sz="1400" b="0" i="0">
                <a:solidFill>
                  <a:srgbClr val="11202B"/>
                </a:solidFill>
                <a:latin typeface="Malgun Gothic"/>
                <a:ea typeface="Malgun Gothic"/>
                <a:cs typeface="Malgun Gothic"/>
              </a:rPr>
              <a:t> 지방산을 동원하려면 지방조직에서 분해하고 혈액으로 운반하고 미토콘드리아로 들여와야 하므로 glycogen보다 느리다. 또 </a:t>
            </a:r>
            <a:r>
              <a:rPr sz="1400" b="1" i="0">
                <a:solidFill>
                  <a:srgbClr val="11202B"/>
                </a:solidFill>
                <a:latin typeface="Malgun Gothic"/>
                <a:ea typeface="Malgun Gothic"/>
                <a:cs typeface="Malgun Gothic"/>
              </a:rPr>
              <a:t>β 산화는 산소를 필요로 하므로</a:t>
            </a:r>
            <a:r>
              <a:rPr sz="1400" b="0" i="0">
                <a:solidFill>
                  <a:srgbClr val="11202B"/>
                </a:solidFill>
                <a:latin typeface="Malgun Gothic"/>
                <a:ea typeface="Malgun Gothic"/>
                <a:cs typeface="Malgun Gothic"/>
              </a:rPr>
              <a:t> 무산소 상태에서는 쓸 수 없다. 단거리 전력 질주에 지방을 쓸 수 없는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지방산의 미토콘드리아 진입.</a:t>
            </a:r>
            <a:r>
              <a:rPr sz="1400" b="0" i="0">
                <a:solidFill>
                  <a:srgbClr val="11202B"/>
                </a:solidFill>
                <a:latin typeface="Malgun Gothic"/>
                <a:ea typeface="Malgun Gothic"/>
                <a:cs typeface="Malgun Gothic"/>
              </a:rPr>
              <a:t> 긴사슬 지방산은 미토콘드리아 내막을 그냥 통과하지 못하고 </a:t>
            </a:r>
            <a:r>
              <a:rPr sz="1400" b="1" i="0">
                <a:solidFill>
                  <a:srgbClr val="11202B"/>
                </a:solidFill>
                <a:latin typeface="Malgun Gothic"/>
                <a:ea typeface="Malgun Gothic"/>
                <a:cs typeface="Malgun Gothic"/>
              </a:rPr>
              <a:t>carnitine 운반 체계</a:t>
            </a:r>
            <a:r>
              <a:rPr sz="1400" b="0" i="0">
                <a:solidFill>
                  <a:srgbClr val="11202B"/>
                </a:solidFill>
                <a:latin typeface="Malgun Gothic"/>
                <a:ea typeface="Malgun Gothic"/>
                <a:cs typeface="Malgun Gothic"/>
              </a:rPr>
              <a:t>를 거쳐야 한다. 이 지점이 조절의 자리가 된다. 지방 합성이 활발할 때 생기는 중간체(malonyl-CoA)가 이 운반 체계를 억제하므로, </a:t>
            </a:r>
            <a:r>
              <a:rPr sz="1400" b="1" i="0">
                <a:solidFill>
                  <a:srgbClr val="11202B"/>
                </a:solidFill>
                <a:latin typeface="Malgun Gothic"/>
                <a:ea typeface="Malgun Gothic"/>
                <a:cs typeface="Malgun Gothic"/>
              </a:rPr>
              <a:t>지방을 만들면서 동시에 태우는 일이 일어나지 않는다.</a:t>
            </a:r>
            <a:r>
              <a:rPr sz="1400" b="0" i="0">
                <a:solidFill>
                  <a:srgbClr val="11202B"/>
                </a:solidFill>
                <a:latin typeface="Malgun Gothic"/>
                <a:ea typeface="Malgun Gothic"/>
                <a:cs typeface="Malgun Gothic"/>
              </a:rPr>
              <a:t> 1절에서 본 무익 회로의 방지가 여기서 구현된다.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ketone body.</a:t>
            </a:r>
            <a:r>
              <a:rPr sz="1400" b="0" i="0">
                <a:solidFill>
                  <a:srgbClr val="11202B"/>
                </a:solidFill>
                <a:latin typeface="Malgun Gothic"/>
                <a:ea typeface="Malgun Gothic"/>
                <a:cs typeface="Malgun Gothic"/>
              </a:rPr>
              <a:t> 지방산 산화가 과도하게 늘고 TCA cycle이 포화되면 간에서 acetyl-CoA가 남아돌고, 이것을 묶어 </a:t>
            </a:r>
            <a:r>
              <a:rPr sz="1400" b="1" i="0">
                <a:solidFill>
                  <a:srgbClr val="11202B"/>
                </a:solidFill>
                <a:latin typeface="Malgun Gothic"/>
                <a:ea typeface="Malgun Gothic"/>
                <a:cs typeface="Malgun Gothic"/>
              </a:rPr>
              <a:t>ketone body</a:t>
            </a:r>
            <a:r>
              <a:rPr sz="1400" b="0" i="0">
                <a:solidFill>
                  <a:srgbClr val="11202B"/>
                </a:solidFill>
                <a:latin typeface="Malgun Gothic"/>
                <a:ea typeface="Malgun Gothic"/>
                <a:cs typeface="Malgun Gothic"/>
              </a:rPr>
              <a:t>를 만들어 혈액으로 내보낸다. 뇌는 지방산을 쓰지 못하지만 ketone body는 쓸 수 있으므로, 장기 공복에서 뇌의 연료가 된다. 간 자신은 ketone body를 쓰지 못한다. 쓰는 데 필요한 효소가 없기 때문이며, 만든 것을 자기가 쓰지 않고 다른 기관에 보내도록 설계된 것이다.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아미노산 — 탄소와 질소가 갈라진다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단백질은 저장 형태가 아니다. 모든 단백질은 구조나 기능을 담당하고 있으므로, 단백질을 분해해 에너지로 쓰는 것은 </a:t>
            </a:r>
            <a:r>
              <a:rPr sz="1400" b="1" i="0">
                <a:solidFill>
                  <a:srgbClr val="11202B"/>
                </a:solidFill>
                <a:latin typeface="Malgun Gothic"/>
                <a:ea typeface="Malgun Gothic"/>
                <a:cs typeface="Malgun Gothic"/>
              </a:rPr>
              <a:t>기능을 희생하는 일</a:t>
            </a:r>
            <a:r>
              <a:rPr sz="1400" b="0" i="0">
                <a:solidFill>
                  <a:srgbClr val="11202B"/>
                </a:solidFill>
                <a:latin typeface="Malgun Gothic"/>
                <a:ea typeface="Malgun Gothic"/>
                <a:cs typeface="Malgun Gothic"/>
              </a:rPr>
              <a:t>이다. 그런데도 공복에서 단백질이 분해되는 이유는 4절에서 본 비대칭 때문이다. 지방에서 포도당을 만들 수 없으므로, 포도당이 반드시 필요한 조직을 위해 아미노산을 쓸 수밖에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아미노산이 분해될 때 </a:t>
            </a:r>
            <a:r>
              <a:rPr sz="1400" b="1" i="0">
                <a:solidFill>
                  <a:srgbClr val="11202B"/>
                </a:solidFill>
                <a:latin typeface="Malgun Gothic"/>
                <a:ea typeface="Malgun Gothic"/>
                <a:cs typeface="Malgun Gothic"/>
              </a:rPr>
              <a:t>탄소 골격과 질소가 서로 다른 운명</a:t>
            </a:r>
            <a:r>
              <a:rPr sz="1400" b="0" i="0">
                <a:solidFill>
                  <a:srgbClr val="11202B"/>
                </a:solidFill>
                <a:latin typeface="Malgun Gothic"/>
                <a:ea typeface="Malgun Gothic"/>
                <a:cs typeface="Malgun Gothic"/>
              </a:rPr>
              <a:t>을 갖는다는 점이 핵심이다.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질소.</a:t>
            </a:r>
            <a:r>
              <a:rPr sz="1400" b="0" i="0">
                <a:solidFill>
                  <a:srgbClr val="11202B"/>
                </a:solidFill>
                <a:latin typeface="Malgun Gothic"/>
                <a:ea typeface="Malgun Gothic"/>
                <a:cs typeface="Malgun Gothic"/>
              </a:rPr>
              <a:t> 아미노기가 떨어져 나와 암모니아가 되는데, 암모니아는 신경계에 독성이 크므로 그대로 둘 수 없다. 두 단계로 처리한다. 먼저 조직에서 안전한 운반 형태로 바꾸어(glutamine, alanine) 혈액으로 보내고, 간에서 </a:t>
            </a:r>
            <a:r>
              <a:rPr sz="1400" b="1" i="0">
                <a:solidFill>
                  <a:srgbClr val="11202B"/>
                </a:solidFill>
                <a:latin typeface="Malgun Gothic"/>
                <a:ea typeface="Malgun Gothic"/>
                <a:cs typeface="Malgun Gothic"/>
              </a:rPr>
              <a:t>urea cycle</a:t>
            </a:r>
            <a:r>
              <a:rPr sz="1400" b="0" i="0">
                <a:solidFill>
                  <a:srgbClr val="11202B"/>
                </a:solidFill>
                <a:latin typeface="Malgun Gothic"/>
                <a:ea typeface="Malgun Gothic"/>
                <a:cs typeface="Malgun Gothic"/>
              </a:rPr>
              <a:t>을 거쳐 요소로 만들어 신장으로 배설한다.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탄소 골격.</a:t>
            </a:r>
            <a:r>
              <a:rPr sz="1400" b="0" i="0">
                <a:solidFill>
                  <a:srgbClr val="11202B"/>
                </a:solidFill>
                <a:latin typeface="Malgun Gothic"/>
                <a:ea typeface="Malgun Gothic"/>
                <a:cs typeface="Malgun Gothic"/>
              </a:rPr>
              <a:t> 어떤 중간체로 들어가느냐에 따라 두 부류로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당생성(glucogenic)</a:t>
            </a:r>
            <a:r>
              <a:rPr sz="1400" b="0" i="0">
                <a:solidFill>
                  <a:srgbClr val="11202B"/>
                </a:solidFill>
                <a:latin typeface="Malgun Gothic"/>
                <a:ea typeface="Malgun Gothic"/>
                <a:cs typeface="Malgun Gothic"/>
              </a:rPr>
              <a:t>: pyruvate나 TCA cycle의 중간체가 되어 포도당으로 갈 수 있다. 대부분의 아미노산이 여기 속한다.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ketone생성(ketogenic)</a:t>
            </a:r>
            <a:r>
              <a:rPr sz="1400" b="0" i="0">
                <a:solidFill>
                  <a:srgbClr val="11202B"/>
                </a:solidFill>
                <a:latin typeface="Malgun Gothic"/>
                <a:ea typeface="Malgun Gothic"/>
                <a:cs typeface="Malgun Gothic"/>
              </a:rPr>
              <a:t>: acetyl-CoA나 acetoacetate가 되어 포도당이 될 수 없다. </a:t>
            </a:r>
            <a:r>
              <a:rPr sz="1400" b="1" i="0">
                <a:solidFill>
                  <a:srgbClr val="11202B"/>
                </a:solidFill>
                <a:latin typeface="Malgun Gothic"/>
                <a:ea typeface="Malgun Gothic"/>
                <a:cs typeface="Malgun Gothic"/>
              </a:rPr>
              <a:t>leucine과 lysine</a:t>
            </a:r>
            <a:r>
              <a:rPr sz="1400" b="0" i="0">
                <a:solidFill>
                  <a:srgbClr val="11202B"/>
                </a:solidFill>
                <a:latin typeface="Malgun Gothic"/>
                <a:ea typeface="Malgun Gothic"/>
                <a:cs typeface="Malgun Gothic"/>
              </a:rPr>
              <a:t> 둘만 순수하게 ketone생성이며, 몇 가지가 양쪽 성질을 함께 가진다.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아미노산 — 탄소와 질소가 갈라진다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순수 ketone생성 아미노산이 </a:t>
            </a:r>
            <a:r>
              <a:rPr sz="1600" b="1" i="0">
                <a:solidFill>
                  <a:srgbClr val="11202B"/>
                </a:solidFill>
                <a:latin typeface="Malgun Gothic"/>
                <a:ea typeface="Malgun Gothic"/>
                <a:cs typeface="Malgun Gothic"/>
              </a:rPr>
              <a:t>leucine과 lysine</a:t>
            </a:r>
            <a:r>
              <a:rPr sz="1600" b="0" i="0">
                <a:solidFill>
                  <a:srgbClr val="11202B"/>
                </a:solidFill>
                <a:latin typeface="Malgun Gothic"/>
                <a:ea typeface="Malgun Gothic"/>
                <a:cs typeface="Malgun Gothic"/>
              </a:rPr>
              <a:t> 둘뿐이라는 사실이 반복 출제된다. 외우는 방법보다 </a:t>
            </a:r>
            <a:r>
              <a:rPr sz="1600" b="1" i="0">
                <a:solidFill>
                  <a:srgbClr val="11202B"/>
                </a:solidFill>
                <a:latin typeface="Malgun Gothic"/>
                <a:ea typeface="Malgun Gothic"/>
                <a:cs typeface="Malgun Gothic"/>
              </a:rPr>
              <a:t>왜 그런가</a:t>
            </a:r>
            <a:r>
              <a:rPr sz="1600" b="0" i="0">
                <a:solidFill>
                  <a:srgbClr val="11202B"/>
                </a:solidFill>
                <a:latin typeface="Malgun Gothic"/>
                <a:ea typeface="Malgun Gothic"/>
                <a:cs typeface="Malgun Gothic"/>
              </a:rPr>
              <a:t>를 이해하면 다른 문제도 풀린다. 이 둘은 분해되면 acetyl-CoA 또는 acetoacetyl-CoA만 내놓는데, acetyl-CoA에서 포도당으로 가는 길이 없기 때문이다(4절). 반대로 탄소 골격이 TCA cycle의 중간체로 들어가는 아미노산은 모두 당생성이 된다. 같은 논리로 고암모니아혈증의 증상이 왜 신경계에 집중되는지도 설명된다. 암모니아가 뇌에서 glutamate와 결합해 glutamine이 되면서 신경전달물질이 소모되고 별아교세포가 부어 뇌부종이 생긴다. 상세는 M02-W10-L02에서 다룬다.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섭식과 공복 — 장기별 역할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대사를 이해하는 가장 좋은 틀은 </a:t>
            </a:r>
            <a:r>
              <a:rPr sz="2000" b="1" i="0">
                <a:solidFill>
                  <a:srgbClr val="11202B"/>
                </a:solidFill>
                <a:latin typeface="Malgun Gothic"/>
                <a:ea typeface="Malgun Gothic"/>
                <a:cs typeface="Malgun Gothic"/>
              </a:rPr>
              <a:t>시간에 따른 상태 변화</a:t>
            </a:r>
            <a:r>
              <a:rPr sz="2000" b="0" i="0">
                <a:solidFill>
                  <a:srgbClr val="11202B"/>
                </a:solidFill>
                <a:latin typeface="Malgun Gothic"/>
                <a:ea typeface="Malgun Gothic"/>
                <a:cs typeface="Malgun Gothic"/>
              </a:rPr>
              <a:t>다. 같은 기관이 상태에 따라 정반대의 일을 한다.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섭식 상태(식후 2~4시간).</a:t>
            </a:r>
            <a:r>
              <a:rPr sz="2000" b="0" i="0">
                <a:solidFill>
                  <a:srgbClr val="11202B"/>
                </a:solidFill>
                <a:latin typeface="Malgun Gothic"/>
                <a:ea typeface="Malgun Gothic"/>
                <a:cs typeface="Malgun Gothic"/>
              </a:rPr>
              <a:t> 혈당이 오르고 insulin이 분비된다. 전체 방향은 </a:t>
            </a:r>
            <a:r>
              <a:rPr sz="2000" b="1" i="0">
                <a:solidFill>
                  <a:srgbClr val="11202B"/>
                </a:solidFill>
                <a:latin typeface="Malgun Gothic"/>
                <a:ea typeface="Malgun Gothic"/>
                <a:cs typeface="Malgun Gothic"/>
              </a:rPr>
              <a:t>저장</a:t>
            </a:r>
            <a:r>
              <a:rPr sz="2000" b="0" i="0">
                <a:solidFill>
                  <a:srgbClr val="11202B"/>
                </a:solidFill>
                <a:latin typeface="Malgun Gothic"/>
                <a:ea typeface="Malgun Gothic"/>
                <a:cs typeface="Malgun Gothic"/>
              </a:rPr>
              <a:t>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섭식과 공복 — 장기별 역할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기관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하는 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포도당을 받아 glycogen으로 저장, 남으면 지방으로 전환해 내보낸다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근육</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포도당을 받아 glycogen 저장, 아미노산을 받아 단백질 합성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지방조직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포도당과 지방산을 받아 triacylglycerol로 저장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포도당을 쓴다(상태와 무관하게 언제나)</a:t>
                      </a:r>
                    </a:p>
                  </a:txBody>
                  <a:tcPr marL="73152" marR="73152" marT="27432" marB="27432">
                    <a:solidFill>
                      <a:srgbClr val="EFF4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섭식과 공복 — 장기별 역할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공복 초기(식후 4~16시간).</a:t>
            </a:r>
            <a:r>
              <a:rPr sz="1600" b="0" i="0">
                <a:solidFill>
                  <a:srgbClr val="11202B"/>
                </a:solidFill>
                <a:latin typeface="Malgun Gothic"/>
                <a:ea typeface="Malgun Gothic"/>
                <a:cs typeface="Malgun Gothic"/>
              </a:rPr>
              <a:t> 혈당이 떨어지고 glucagon이 올라간다. 방향은 </a:t>
            </a:r>
            <a:r>
              <a:rPr sz="1600" b="1" i="0">
                <a:solidFill>
                  <a:srgbClr val="11202B"/>
                </a:solidFill>
                <a:latin typeface="Malgun Gothic"/>
                <a:ea typeface="Malgun Gothic"/>
                <a:cs typeface="Malgun Gothic"/>
              </a:rPr>
              <a:t>혈당 유지</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간의 glycogen이 분해되어 포도당을 내보낸다. 이것이 가장 빠른 수단이지만 </a:t>
            </a:r>
            <a:r>
              <a:rPr sz="1600" b="1" i="0">
                <a:solidFill>
                  <a:srgbClr val="11202B"/>
                </a:solidFill>
                <a:latin typeface="Malgun Gothic"/>
                <a:ea typeface="Malgun Gothic"/>
                <a:cs typeface="Malgun Gothic"/>
              </a:rPr>
              <a:t>12~24시간이면 고갈</a:t>
            </a:r>
            <a:r>
              <a:rPr sz="1600" b="0" i="0">
                <a:solidFill>
                  <a:srgbClr val="11202B"/>
                </a:solidFill>
                <a:latin typeface="Malgun Gothic"/>
                <a:ea typeface="Malgun Gothic"/>
                <a:cs typeface="Malgun Gothic"/>
              </a:rPr>
              <a:t>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공복 중기(1~3일).</a:t>
            </a:r>
            <a:r>
              <a:rPr sz="1600" b="0" i="0">
                <a:solidFill>
                  <a:srgbClr val="11202B"/>
                </a:solidFill>
                <a:latin typeface="Malgun Gothic"/>
                <a:ea typeface="Malgun Gothic"/>
                <a:cs typeface="Malgun Gothic"/>
              </a:rPr>
              <a:t> Glycogen이 떨어지면 </a:t>
            </a:r>
            <a:r>
              <a:rPr sz="1600" b="1" i="0">
                <a:solidFill>
                  <a:srgbClr val="11202B"/>
                </a:solidFill>
                <a:latin typeface="Malgun Gothic"/>
                <a:ea typeface="Malgun Gothic"/>
                <a:cs typeface="Malgun Gothic"/>
              </a:rPr>
              <a:t>gluconeogenesis</a:t>
            </a:r>
            <a:r>
              <a:rPr sz="1600" b="0" i="0">
                <a:solidFill>
                  <a:srgbClr val="11202B"/>
                </a:solidFill>
                <a:latin typeface="Malgun Gothic"/>
                <a:ea typeface="Malgun Gothic"/>
                <a:cs typeface="Malgun Gothic"/>
              </a:rPr>
              <a:t>가 주된 공급원이 된다. 재료는 세 가지다. 근육에서 온 아미노산, 지방 분해에서 온 glycerol, 그리고 혐기성 대사에서 돌아온 젖산이다. 동시에 지방 분해가 활발해져 대부분의 조직이 지방산을 쓰기 시작한다.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시기의 문제는 </a:t>
            </a:r>
            <a:r>
              <a:rPr sz="1600" b="1" i="0">
                <a:solidFill>
                  <a:srgbClr val="11202B"/>
                </a:solidFill>
                <a:latin typeface="Malgun Gothic"/>
                <a:ea typeface="Malgun Gothic"/>
                <a:cs typeface="Malgun Gothic"/>
              </a:rPr>
              <a:t>단백질 소모</a:t>
            </a:r>
            <a:r>
              <a:rPr sz="1600" b="0" i="0">
                <a:solidFill>
                  <a:srgbClr val="11202B"/>
                </a:solidFill>
                <a:latin typeface="Malgun Gothic"/>
                <a:ea typeface="Malgun Gothic"/>
                <a:cs typeface="Malgun Gothic"/>
              </a:rPr>
              <a:t>다. 하루에 상당량의 근육 단백질이 포도당을 만들기 위해 희생된다. 이 속도가 유지되면 수 주 안에 치명적이 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공복 후기(3일 이후).</a:t>
            </a:r>
            <a:r>
              <a:rPr sz="1600" b="0" i="0">
                <a:solidFill>
                  <a:srgbClr val="11202B"/>
                </a:solidFill>
                <a:latin typeface="Malgun Gothic"/>
                <a:ea typeface="Malgun Gothic"/>
                <a:cs typeface="Malgun Gothic"/>
              </a:rPr>
              <a:t> 적응이 일어난다. 간에서 ketone body 생산이 크게 늘고, </a:t>
            </a:r>
            <a:r>
              <a:rPr sz="1600" b="1" i="0">
                <a:solidFill>
                  <a:srgbClr val="11202B"/>
                </a:solidFill>
                <a:latin typeface="Malgun Gothic"/>
                <a:ea typeface="Malgun Gothic"/>
                <a:cs typeface="Malgun Gothic"/>
              </a:rPr>
              <a:t>뇌가 연료의 상당 부분을 ketone body로 바꾼다</a:t>
            </a:r>
            <a:r>
              <a:rPr sz="1600" b="0" i="0">
                <a:solidFill>
                  <a:srgbClr val="11202B"/>
                </a:solidFill>
                <a:latin typeface="Malgun Gothic"/>
                <a:ea typeface="Malgun Gothic"/>
                <a:cs typeface="Malgun Gothic"/>
              </a:rPr>
              <a:t>. 뇌의 포도당 요구가 줄면 gluconeogenesis의 부담이 줄고, 따라서 </a:t>
            </a:r>
            <a:r>
              <a:rPr sz="1600" b="1" i="0">
                <a:solidFill>
                  <a:srgbClr val="11202B"/>
                </a:solidFill>
                <a:latin typeface="Malgun Gothic"/>
                <a:ea typeface="Malgun Gothic"/>
                <a:cs typeface="Malgun Gothic"/>
              </a:rPr>
              <a:t>단백질 분해 속도가 떨어진다</a:t>
            </a:r>
            <a:r>
              <a:rPr sz="1600" b="0" i="0">
                <a:solidFill>
                  <a:srgbClr val="11202B"/>
                </a:solidFill>
                <a:latin typeface="Malgun Gothic"/>
                <a:ea typeface="Malgun Gothic"/>
                <a:cs typeface="Malgun Gothic"/>
              </a:rPr>
              <a:t>. 생존 기간을 크게 늘리는 적응이다.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섭식과 공복 — 장기별 역할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공복 대사의 전체 논리는 하나의 문장으로 정리된다. </a:t>
            </a:r>
            <a:r>
              <a:rPr sz="1600" b="1" i="0">
                <a:solidFill>
                  <a:srgbClr val="11202B"/>
                </a:solidFill>
                <a:latin typeface="Malgun Gothic"/>
                <a:ea typeface="Malgun Gothic"/>
                <a:cs typeface="Malgun Gothic"/>
              </a:rPr>
              <a:t>포도당을 반드시 써야 하는 조직을 위해 포도당을 아끼고, 나머지는 모두 지방으로 돌린다.</a:t>
            </a:r>
            <a:r>
              <a:rPr sz="1600" b="0" i="0">
                <a:solidFill>
                  <a:srgbClr val="11202B"/>
                </a:solidFill>
                <a:latin typeface="Malgun Gothic"/>
                <a:ea typeface="Malgun Gothic"/>
                <a:cs typeface="Malgun Gothic"/>
              </a:rPr>
              <a:t> 뇌가 ketone body를 쓰게 되는 것은 이 전략의 정점이다. 포도당만 쓰던 가장 큰 소비자를 부분적으로 전환시켜 단백질을 지킨다.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섭식과 공복 — 장기별 역할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포도당을 반드시 써야 하는 조직.</a:t>
            </a:r>
            <a:r>
              <a:rPr sz="2000" b="0" i="0">
                <a:solidFill>
                  <a:srgbClr val="11202B"/>
                </a:solidFill>
                <a:latin typeface="Malgun Gothic"/>
                <a:ea typeface="Malgun Gothic"/>
                <a:cs typeface="Malgun Gothic"/>
              </a:rPr>
              <a:t> 적혈구는 미토콘드리아가 없어 glycolysis에만 의존하므로 공복에도 포도당이 필요하다. 신장 속질과 수정체, 각막처럼 혈류나 산소 공급이 제한된 조직도 같다. 뇌는 ketone body로 일부 전환할 수 있으나 완전히 대체하지는 못한다.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섭식과 공복 — 장기별 역할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23</a:t>
            </a:r>
          </a:p>
        </p:txBody>
      </p:sp>
      <p:pic>
        <p:nvPicPr>
          <p:cNvPr id="7" name="Picture 6" descr="fig-fed-fasted.slide.png"/>
          <p:cNvPicPr>
            <a:picLocks noChangeAspect="1"/>
          </p:cNvPicPr>
          <p:nvPr/>
        </p:nvPicPr>
        <p:blipFill>
          <a:blip r:embed="rId2"/>
          <a:stretch>
            <a:fillRect/>
          </a:stretch>
        </p:blipFill>
        <p:spPr>
          <a:xfrm>
            <a:off x="1871497" y="1325880"/>
            <a:ext cx="84487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섭식 상태와 공복 상태에서 장기 사이의 물질 흐름. 간, 근육, 지방조직, 뇌 사이에서 방향이 뒤집히는 구조, 공복이 길어질수록 glycogen에서 gluconeogenesis로, 다시 ketone body로 주 연료가 옮겨 가는 순서, 그리고 그 전환이 단백질을 아끼는 결과로 이어지는 관계를 함께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스위치 — 방향을 정하는 신호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8절의 전환을 실제로 일으키는 것은 호르몬이다. 핵심은 </a:t>
            </a:r>
            <a:r>
              <a:rPr sz="1600" b="1" i="0">
                <a:solidFill>
                  <a:srgbClr val="11202B"/>
                </a:solidFill>
                <a:latin typeface="Malgun Gothic"/>
                <a:ea typeface="Malgun Gothic"/>
                <a:cs typeface="Malgun Gothic"/>
              </a:rPr>
              <a:t>절대 농도가 아니라 비율</a:t>
            </a:r>
            <a:r>
              <a:rPr sz="1600" b="0" i="0">
                <a:solidFill>
                  <a:srgbClr val="11202B"/>
                </a:solidFill>
                <a:latin typeface="Malgun Gothic"/>
                <a:ea typeface="Malgun Gothic"/>
                <a:cs typeface="Malgun Gothic"/>
              </a:rPr>
              <a:t>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Insulin.</a:t>
            </a:r>
            <a:r>
              <a:rPr sz="1600" b="0" i="0">
                <a:solidFill>
                  <a:srgbClr val="11202B"/>
                </a:solidFill>
                <a:latin typeface="Malgun Gothic"/>
                <a:ea typeface="Malgun Gothic"/>
                <a:cs typeface="Malgun Gothic"/>
              </a:rPr>
              <a:t> 혈당이 오르면 췌장 β세포에서 분비된다. 신호는 "에너지가 남는다"이며, 작용의 방향은 전부 </a:t>
            </a:r>
            <a:r>
              <a:rPr sz="1600" b="1" i="0">
                <a:solidFill>
                  <a:srgbClr val="11202B"/>
                </a:solidFill>
                <a:latin typeface="Malgun Gothic"/>
                <a:ea typeface="Malgun Gothic"/>
                <a:cs typeface="Malgun Gothic"/>
              </a:rPr>
              <a:t>저장과 합성</a:t>
            </a:r>
            <a:r>
              <a:rPr sz="1600" b="0" i="0">
                <a:solidFill>
                  <a:srgbClr val="11202B"/>
                </a:solidFill>
                <a:latin typeface="Malgun Gothic"/>
                <a:ea typeface="Malgun Gothic"/>
                <a:cs typeface="Malgun Gothic"/>
              </a:rPr>
              <a:t>이다. 포도당 섭취를 늘리고, glycogen 합성을 켜고 분해를 끄며, 지방 합성을 켜고 분해를 끄고, 단백질 합성을 촉진한다.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Glucagon.</a:t>
            </a:r>
            <a:r>
              <a:rPr sz="1600" b="0" i="0">
                <a:solidFill>
                  <a:srgbClr val="11202B"/>
                </a:solidFill>
                <a:latin typeface="Malgun Gothic"/>
                <a:ea typeface="Malgun Gothic"/>
                <a:cs typeface="Malgun Gothic"/>
              </a:rPr>
              <a:t> 혈당이 떨어지면 α세포에서 분비된다. 신호는 "에너지가 모자란다"이며, 방향은 </a:t>
            </a:r>
            <a:r>
              <a:rPr sz="1600" b="1" i="0">
                <a:solidFill>
                  <a:srgbClr val="11202B"/>
                </a:solidFill>
                <a:latin typeface="Malgun Gothic"/>
                <a:ea typeface="Malgun Gothic"/>
                <a:cs typeface="Malgun Gothic"/>
              </a:rPr>
              <a:t>동원</a:t>
            </a:r>
            <a:r>
              <a:rPr sz="1600" b="0" i="0">
                <a:solidFill>
                  <a:srgbClr val="11202B"/>
                </a:solidFill>
                <a:latin typeface="Malgun Gothic"/>
                <a:ea typeface="Malgun Gothic"/>
                <a:cs typeface="Malgun Gothic"/>
              </a:rPr>
              <a:t>이다. 주 표적이 </a:t>
            </a:r>
            <a:r>
              <a:rPr sz="1600" b="1" i="0">
                <a:solidFill>
                  <a:srgbClr val="11202B"/>
                </a:solidFill>
                <a:latin typeface="Malgun Gothic"/>
                <a:ea typeface="Malgun Gothic"/>
                <a:cs typeface="Malgun Gothic"/>
              </a:rPr>
              <a:t>간</a:t>
            </a:r>
            <a:r>
              <a:rPr sz="1600" b="0" i="0">
                <a:solidFill>
                  <a:srgbClr val="11202B"/>
                </a:solidFill>
                <a:latin typeface="Malgun Gothic"/>
                <a:ea typeface="Malgun Gothic"/>
                <a:cs typeface="Malgun Gothic"/>
              </a:rPr>
              <a:t>이라는 점이 중요하다. Glycogen 분해와 gluconeogenesis를 켜고, ketone body 생산을 늘린다.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두 호르몬은 쌍으로 작동한다.</a:t>
            </a:r>
            <a:r>
              <a:rPr sz="1600" b="0" i="0">
                <a:solidFill>
                  <a:srgbClr val="11202B"/>
                </a:solidFill>
                <a:latin typeface="Malgun Gothic"/>
                <a:ea typeface="Malgun Gothic"/>
                <a:cs typeface="Malgun Gothic"/>
              </a:rPr>
              <a:t> 혈당 조절에서 의미 있는 것은 insulin/glucagon 비율이다. 식후에는 비율이 높아 저장 쪽으로, 공복에는 낮아 동원 쪽으로 기운다. 단백질만 많이 먹었을 때 두 호르몬이 </a:t>
            </a:r>
            <a:r>
              <a:rPr sz="1600" b="1" i="0">
                <a:solidFill>
                  <a:srgbClr val="11202B"/>
                </a:solidFill>
                <a:latin typeface="Malgun Gothic"/>
                <a:ea typeface="Malgun Gothic"/>
                <a:cs typeface="Malgun Gothic"/>
              </a:rPr>
              <a:t>함께</a:t>
            </a:r>
            <a:r>
              <a:rPr sz="1600" b="0" i="0">
                <a:solidFill>
                  <a:srgbClr val="11202B"/>
                </a:solidFill>
                <a:latin typeface="Malgun Gothic"/>
                <a:ea typeface="Malgun Gothic"/>
                <a:cs typeface="Malgun Gothic"/>
              </a:rPr>
              <a:t> 올라가는 현상이 비율 개념의 유용성을 보여 준다. Insulin만 올라가면 혈당이 떨어질 텐데, glucagon이 함께 올라가 간에서 포도당을 내보내므로 혈당이 유지되면서 아미노산만 조직으로 들어간다.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조절의 세 가지 시간 규모.</a:t>
            </a:r>
            <a:r>
              <a:rPr sz="1600" b="0" i="0">
                <a:solidFill>
                  <a:srgbClr val="11202B"/>
                </a:solidFill>
                <a:latin typeface="Malgun Gothic"/>
                <a:ea typeface="Malgun Gothic"/>
                <a:cs typeface="Malgun Gothic"/>
              </a:rPr>
              <a:t> 효소 활성을 바꾸는 방법이 세 가지이며 속도가 다르다.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스위치 — 방향을 정하는 신호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방법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시간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다른자리 조절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대사물질이 효소에 직접 결합해 활성을 바꾼다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공유결합 수정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인산화·탈인산화. 호르몬 신호가 쓰는 주된 방법</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효소량 변화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시간~일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 조절로 효소 자체를 더 만들거나 줄인다</a:t>
                      </a:r>
                    </a:p>
                  </a:txBody>
                  <a:tcPr marL="73152" marR="73152"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스위치 — 방향을 정하는 신호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방법이 함께 쓰인다. 갑작스러운 변화에는 첫 번째가, 식사와 공복의 전환에는 두 번째가, 장기간의 식이 변화나 기아에는 세 번째가 대응한다.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스위치 — 방향을 정하는 신호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호르몬의 작용 지점을 </a:t>
            </a:r>
            <a:r>
              <a:rPr sz="1600" b="1" i="0">
                <a:solidFill>
                  <a:srgbClr val="11202B"/>
                </a:solidFill>
                <a:latin typeface="Malgun Gothic"/>
                <a:ea typeface="Malgun Gothic"/>
                <a:cs typeface="Malgun Gothic"/>
              </a:rPr>
              <a:t>간과 근육에서 다르게</a:t>
            </a:r>
            <a:r>
              <a:rPr sz="1600" b="0" i="0">
                <a:solidFill>
                  <a:srgbClr val="11202B"/>
                </a:solidFill>
                <a:latin typeface="Malgun Gothic"/>
                <a:ea typeface="Malgun Gothic"/>
                <a:cs typeface="Malgun Gothic"/>
              </a:rPr>
              <a:t> 묻는 문제가 많다. Glucagon의 수용체는 간에는 있지만 </a:t>
            </a:r>
            <a:r>
              <a:rPr sz="1600" b="1" i="0">
                <a:solidFill>
                  <a:srgbClr val="11202B"/>
                </a:solidFill>
                <a:latin typeface="Malgun Gothic"/>
                <a:ea typeface="Malgun Gothic"/>
                <a:cs typeface="Malgun Gothic"/>
              </a:rPr>
              <a:t>근육에는 없다</a:t>
            </a:r>
            <a:r>
              <a:rPr sz="1600" b="0" i="0">
                <a:solidFill>
                  <a:srgbClr val="11202B"/>
                </a:solidFill>
                <a:latin typeface="Malgun Gothic"/>
                <a:ea typeface="Malgun Gothic"/>
                <a:cs typeface="Malgun Gothic"/>
              </a:rPr>
              <a:t>. 따라서 glucagon은 근육의 glycogen을 동원하지 못한다. 근육 glycogen을 동원하는 것은 운동 시의 </a:t>
            </a:r>
            <a:r>
              <a:rPr sz="1600" b="1" i="0">
                <a:solidFill>
                  <a:srgbClr val="11202B"/>
                </a:solidFill>
                <a:latin typeface="Malgun Gothic"/>
                <a:ea typeface="Malgun Gothic"/>
                <a:cs typeface="Malgun Gothic"/>
              </a:rPr>
              <a:t>에피네프린과 근육 자체의 수축 신호</a:t>
            </a:r>
            <a:r>
              <a:rPr sz="1600" b="0" i="0">
                <a:solidFill>
                  <a:srgbClr val="11202B"/>
                </a:solidFill>
                <a:latin typeface="Malgun Gothic"/>
                <a:ea typeface="Malgun Gothic"/>
                <a:cs typeface="Malgun Gothic"/>
              </a:rPr>
              <a:t>다. 또 근육에는 glucose-6-phosphatase가 없어 분해한 포도당을 혈액으로 내보내지 못하고 자기가 쓴다. 두 사실을 합치면 "근육 glycogen은 전신 혈당 유지에 직접 기여하지 않는다"는 결론이 나오며, 이것이 자주 출제되는 지점이다. 간접적으로는 기여하는데, 근육에서 나온 젖산과 alanine이 간으로 가서 포도당으로 재합성되는 경로를 통해서다.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Rodwell VW, et al. Harper's Illustrated Biochemistry. 32nd ed. McGraw Hill;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Berg JM, Tymoczko JL, Gatto GJ, Stryer L. Biochemistry. 9th ed. W.H. Freeman;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Nelson DL, Cox MM. Lehninger Principles of Biochemistry. 8th ed. W.H. Freeman;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XIII, Metabolism and Temperature Regulation.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Cahill GF Jr. Fuel metabolism in starvation. Annu Rev Nutr. 2006;26:1–22.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Pontzer H, et al. Constrained total energy expenditure and metabolic adaptation to physical activity in adult humans. Curr Biol. 2016;26(3):410–417.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Mehanna HM, Moledina J, Travis J. Refeeding syndrome: what it is, and how to prevent and treat it. BMJ. 2008;336(7659):1495–1498.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