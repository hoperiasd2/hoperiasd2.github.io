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지지와 보호를 위해서는 단단하고 변하지 않아야 하지만, 무기질 저장소로서는 칼슘을 쉽게 꺼내 쓸 수 있어야 한다. 또 움직임의 비용을 줄이려면 가벼워야 한다. 뼈는 이를 끊임없이 허물고 다시 짓는 재형성으로 해결한다. 모양은 유지하면서 재료를 교체하므로 구조적 요구와 대사적 요구를 동시에 만족하며, 성인에서도 해마다 전체 골격의 약 10%가 교체된다. 가벼움은 재료를 중심축에서 먼 바깥에 배치한 관 구조와 힘의 방향을 따라 배열된 해면뼈 기둥으로 해결한다.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유기 성분인 I형 collagen이 인장 강도와 유연성을, 무기 성분인 hydroxyapatite가 압축 강도와 단단함을 담당한다. 뼈를 산에 담가 무기질을 녹이면 모양은 유지되지만 고무처럼 휘고, 태워서 유기 성분을 없애면 형태는 남지만 쉽게 바스러진다. 두 성분이 각각 없을 때 잃는 성질이 다르다는 것이 역할 분담의 근거다.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골다공증은 정상적으로 무기질화된 뼈의 양 자체가 줄어든 것이고, 골연화증은 기질은 정상적으로 만들어지는데 칼슘과 인이 충분히 침착되지 않아 뼈가 물러진 것이다. 골다공증은 대사가 정상이므로 칼슘, 인, alkaline phosphatase, PTH가 모두 정상이며 골절이 생기기 전까지 증상이 없다. 골연화증은 칼슘과 인이 낮고 alkaline phosphatase가 높으며 PTH가 이차적으로 올라가고, 뼈 통증과 미세 골절이 나타난다. 성장판이 열려 있는 소아에서는 같은 병태가 구루병으로 나타나 다리가 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Osteoclast는 중간엽이 아니라 단핵구·대식세포 계통의 조혈 전구세포가 융합해 만들어진다. 첫째, 조혈 계통이므로 골수 이식으로 교체할 수 있고 osteoclast 기능 이상에 의한 골화석증이 골수 이식으로 치료된다. 둘째, 산 분비에 carbonic anhydrase II를 쓰므로 이 효소의 결핍은 골화석증과 신세뇨관 산증을 함께 일으킨다. 셋째, 골화석증에서는 뼈가 두꺼워지는데도 낡은 뼈가 교체되지 않아 미세 손상이 쌓여 골절이 잦고, 골수 공간이 좁아져 빈혈과 감염이, 신경 구멍이 좁아져 뇌신경 마비가 생긴다.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굽힘에 대한 저항은 재료가 중심축에서 멀리 있을수록 커진다. 따라서 같은 양의 재료라면 가운데를 비우고 바깥쪽에 배치하는 편이 훨씬 강하다. 속이 빈 구조는 재료를 아끼려다 생긴 타협이 아니라 주어진 재료로 강도를 최대화한 결과다. 또한 비워진 가운데 공간이 골수로 쓰여 조혈이 일어나므로 공간이 낭비되지도 않는다.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막내골화는 중간엽 세포가 직접 osteoblast로 분화해 뼈를 만드는 방식으로 머리뼈의 납작뼈, 얼굴뼈, 빗장뼈가 이렇게 생긴다. 연골내골화는 유리연골 모형을 먼저 만들고 뼈로 치환하는 방식으로 긴뼈를 포함한 대부분의 뼈가 이렇게 생기며 성장판을 남긴다. 말단비대증은 성장판이 닫힌 뒤에 GH가 과잉된 상태이므로 연골내골화에 의한 길이 성장은 불가능하다. 반면 막내골화로 자라는 얼굴뼈와 턱, 이마, 그리고 뼈의 둘레 방향 성장은 계속되므로 굵어지고 커진다.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골단에서 골간 쪽으로 휴지 구역, 증식 구역, 비대 구역, 석회화 구역, 골화 구역의 순서다. 증식 구역에서 연골세포가 분열해 세로로 쌓이고 비대 구역에서 세포가 크게 부풀어 길이가 늘며, 석회화와 골화를 거쳐 뼈로 치환된다. 사춘기에 estrogen이 올라가면 증식 구역의 세포가 고갈되고 성장판 전체가 뼈로 치환되어 닫힌다. 남성에서도 testosterone이 aromatase를 통해 estrogen으로 전환되어 작용하므로, aromatase 결핍이나 estrogen 수용체 결함에서는 성인이 되어도 키가 계속 자란다.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Osteoclast에 의한 흡수는 약 2~3주에 끝나지만 osteoblast에 의한 형성은 약 3개월이 걸린다. 따라서 재형성의 빈도 자체가 올라가면 어느 시점에나 파였지만 아직 채워지지 않은 자리가 많아져 전체 골량이 순감소한다. 폐경 후 골소실이 빠른 것이 estrogen 감소로 재형성 빈도가 올라가기 때문이며, 흡수를 억제하는 약물이 효과를 내는 것도 이 빈도를 낮추어 미완성 상태의 자리를 줄이기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RANKL은 osteoblast 계열 세포와 osteocyte가 분비해 osteoclast 전구세포의 RANK에 결합함으로써 분화와 활성을 일으킨다. OPG는 같은 세포들이 분비하는 미끼 수용체로 RANKL을 가로채 RANK에 닿지 못하게 한다. 따라서 흡수량은 두 분자의 비율이 정하며, 뼈를 짓는 쪽이 허무는 쪽을 지휘하는 구조다. Osteoclast에는 PTH 수용체가 없으므로 PTH는 직접 작용하지 않는다. PTH는 osteoblast 계열 세포와 osteocyte에 작용해 RANKL을 늘리고 OPG를 줄여 간접적으로 osteoclast를 활성화한다.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PTH가 지속적으로 높으면 RANKL이 늘고 OPG가 줄어 골흡수가 우세해져 뼈가 줄어든다. 그러나 하루 한 번처럼 간헐적으로 투여하면 osteoblast의 활동과 생존이 더 크게 자극되어 뼈 형성이 흡수를 앞서고 골량이 늘어난다. Teriparatide가 이 방식을 쓴다. 이는 같은 신호 분자라도 농도의 시간적 양상이 다르면 반대 결과가 나올 수 있다는 원리를 보여 주며, GnRH의 박동성 분비가 지속 투여 시 오히려 생식축을 억제하는 것과 같은 구조다.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골다공증은 네 값이 모두 정상이다. 뼈의 양이 줄었을 뿐 대사가 정상이기 때문이며, 골절 전까지 증상이 없다. 골연화증과 구루병은 칼슘과 인이 낮고 alkaline phosphatase가 높으며 PTH가 이차적으로 올라간다. 일차성 부갑상샘 기능항진증은 칼슘이 높고 인이 낮으며 PTH가 높다. Paget 병은 국소적으로 재형성이 폭주하는 상태로 칼슘과 인은 대개 정상인데 alkaline phosphatase만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뼈에 하중이 걸리면 뼈가 미세하게 변형되고 lacuna와 canaliculi 안의 액체가 흐른다. Osteocyte의 돌기가 이 액체 흐름에 의한 전단력을 감지한다. 뼈 자체의 변형량은 매우 작지만 좁은 통로에서의 액체 이동은 충분히 큰 신호가 된다. 하중을 충분히 받으면 osteocyte가 sclerostin 분비를 줄이고, sclerostin이 억제하던 Wnt 신호가 살아나 osteoblast의 활동이 늘어 뼈가 더해진다. 하중이 없으면 sclerostin과 RANKL이 늘어 뼈가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영양을 윤활액에서 확산으로 받아야 하며 관절이 움직일 때 연골이 눌렸다 펴지면서 액체가 드나드는 것이 교환을 돕는다. 그래서 움직이지 않는 관절의 연골이 나빠진다. 둘째, 신경도 없으므로 연골 자체는 통증을 느끼지 않으며 관절 통증은 윤활막, 뼈, 인대, 관절주머니에서 온다. 셋째, 재생이 거의 일어나지 않아 손상된 연골이 원래 조직으로 복구되지 않고 기계적 성질이 떨어지는 섬유연골로 메워진다.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골관절염은 연골 마모가 중심인 비염증성 과정으로 체중을 받는 관절과 손의 원위지간관절을 비대칭적으로 침범하고, 아침 경직이 30분 이내로 짧으며 쓸수록 아프고 쉬면 나아진다. 방사선에서 관절 간격이 비대칭적으로 좁아지고 뼈곁돌기와 연골밑 경화가 보인다. 류마티스 관절염은 윤활막의 자가면역 염증으로 손의 중수지절관절과 근위지간관절을 대칭적으로 침범하고 원위지간관절은 대개 보존되며, 아침 경직이 1시간 이상 지속되고 움직이면 나아진다. 방사선에서 관절 주위 골감소와 미란이 보인다.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혈종 형성, 염증 세포와 혈관의 침입, 연골성 가골 형성, 연골내골화와 같은 과정을 통한 뼈로의 치환, 그리고 재형성에 의한 모양 정리의 순서로 진행한다. 치유가 지연되는 조건은 각 단계의 요구와 대응한다. 혈액 공급이 나쁘면 세포와 산소가 공급되지 않아 늦어지고, 골절부가 안정되지 않으면 형성된 조직이 반복해 손상되며, 감염이 있으면 염증이 치유로 넘어가지 못한다. 흡연은 혈류를 줄이고 당뇨는 혈관과 세포 기능을 떨어뜨리며 영양 부족은 재료를 제한한다. 넙다리뼈 목이나 손배뼈처럼 혈액 공급이 한 방향에서만 들어오는 부위는 골절이 혈관을 끊어 무혈성 괴사가 생길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척추는 옆에서 보면 목과 허리가 앞으로, 등과 엉치가 뒤로 볼록한 네 개의 굽이를 이룬다. 이 굽이가 용수철처럼 작용해 충격을 흡수하고 하중을 분산하므로 곧은 기둥보다 훨씬 큰 힘을 견딘다. 태아기에는 전체가 뒤로 볼록한 하나의 굽이만 있고, 아기가 목을 들면서 목의 굽이가, 걷기 시작하면서 허리의 굽이가 생긴다. 이 두 이차 굽이는 발달 과정에서 기능적 요구에 따라 만들어진 것이다.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어깨는 운동 범위가 요구되므로 관절오목이 얕고 이음뼈가 빗장뼈 한 곳에서만 몸통과 관절하며 뼈가 가늘다. 그 결과 사람 몸에서 운동 범위가 가장 크지만 탈구도 가장 흔하다. 엉덩관절은 체중 지지와 안정성이 요구되므로 절구가 깊어 넙다리뼈 머리를 감싸고 볼기뼈가 엉치뼈와 단단히 결합하며 뼈가 굵다. 그 결과 탈구가 드물고 일어나려면 큰 외력이 필요하다. 움직임과 안정성을 맞바꾸는 원리가 같은 몸 안에서 두 방향으로 극단화된 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종자뼈는 힘줄 안에 생긴 뼈다. 무릎뼈는 넙다리네갈래근의 힘줄 안에 있으며, 힘줄이 무릎관절 앞에서 꺾이는 각도를 키워 관절 중심으로부터의 모멘트 팔을 늘린다. 같은 근력으로 더 큰 토크를 낼 수 있게 하는 장치이며, 무릎뼈를 제거하면 넙다리네갈래근의 효율이 크게 떨어진다. 지렛대의 모멘트 팔을 늘리는 역학적 해법이 뼈의 형태로 구현된 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영양 동맥이 몸통 가운데로 들어와 치밀뼈 안쪽 3분의 2와 골수를, 골막 동맥이 바깥 3분의 1을, 골단 동맥이 뼈 끝을 담당한다. 영양 동맥이 끊겨도 골막 동맥이 남으면 치유가 진행된다. 그런데 넙다리뼈 머리는 혈관이 관절면 쪽에서 거꾸로 올라오는 역행성 공급을 받으므로, 목 부위에서 골절이 생기면 그 혈관이 끊겨 머리 조각이 혈액을 받지 못하고 무혈성 괴사에 빠진다. 몸통 골절은 주위에 근육과 골막의 혈류가 풍부해 치유가 비교적 잘 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소아에서는 거의 모든 뼈에 적색 골수가 있지만 성인에서는 축성 골격과 긴뼈의 몸쪽 끝, 즉 척추, 복장뼈, 갈비뼈, 골반, 넙다리뼈와 위팔뼈의 몸쪽에 남고 나머지는 지방으로 대치된 황색 골수가 된다. 따라서 골수 검사는 적색 골수가 있는 엉덩뼈 능선에서 시행한다. 또 뼈 전이가 적색 골수가 있는 척추, 골반, 갈비뼈에 먼저 나타나는 경향이 있는데, 혈류가 풍부하고 혈관 구조가 느린 흐름을 허용하기 때문으로 설명된다.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골용해성 전이는 종양세포가 RANKL 생산을 늘리거나 RANKL을 유도하는 인자를 분비해 osteoclast를 과도하게 활성화한 결과이며, 뼈가 녹아 방사선에서 구멍처럼 보인다. 유방암, 폐암, 다발골수종에서 흔하다. 골형성성 전이는 종양세포가 osteoblast를 자극해 무질서한 뼈가 과도하게 만들어진 것으로 방사선에서 하얗게 보이며 전립선암에서 특징적이다. 두 경우 모두 종양이 뼈의 정상 재형성 회로를 가로채 쓰는 것이므로 bisphosphonate와 denosumab 같은 흡수 억제제가 치료에 쓰인다.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머리뼈의 납작뼈는 막내골화로 만들어져 성장판이 없고, 뼈와 뼈 사이의 봉합에서 가장자리에 뼈가 더해지며 자란다. 성장을 이끄는 것은 뼈가 아니라 뇌의 부피 증가이며, 자라는 뇌가 봉합을 밀어내면 그 자리에 새 뼈가 더해진다. 따라서 어느 봉합이 일찍 닫히면 그 봉합에 수직인 방향으로는 더 자라지 못하고, 열려 있는 다른 봉합 쪽으로 보상 성장이 일어나 머리 모양이 특징적으로 변형된다. 어느 봉합이 닫혔는지에 따라 변형의 방향이 정해진다.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에나멜질은 외배엽에서 유래하고 상아질, 백악질, 치수는 신경능에서 유래한다. 에나멜질은 약 96%가 무기질로 몸에서 가장 단단하지만, 이를 만드는 사기질모세포가 치아가 맹출하면서 사라지므로 한 번 손상되면 복구되지 않는다. 그래서 충치로 파괴된 에나멜질은 저절로 낫지 않고 수복해야 한다. 반면 상아질은 상아질모세포가 치수 쪽에 남아 있어 자극에 반응해 이차 상아질을 더 만들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치아는 치조골에 직접 융합되어 있지 않고 치주인대로 매달려 있다. 지속적인 힘을 주면 압박을 받는 쪽의 치조골에서 골흡수가 일어나고 당겨지는 쪽에서 골형성이 일어나, 치아가 힘의 방향으로 서서히 이동하고 그 자리에 뼈가 다시 만들어진다. 이는 기계적 자극이 osteocyte를 통해 감지되어 재형성의 방향을 바꾸는 원리, 즉 Wolff 법칙의 임상적 응용이다. 힘의 크기보다 지속성이 중요하며, 과도한 힘은 오히려 치주인대의 혈류를 끊어 괴사와 뿌리 흡수를 일으킨다.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골학 요약: 골격·관절·뼈의 재형성</a:t>
            </a:r>
          </a:p>
          <a:p>
            <a:r>
              <a:rPr sz="1500" b="0" i="0">
                <a:solidFill>
                  <a:srgbClr val="B9D2E8"/>
                </a:solidFill>
                <a:latin typeface="Malgun Gothic"/>
                <a:ea typeface="Malgun Gothic"/>
                <a:cs typeface="Malgun Gothic"/>
              </a:rPr>
              <a:t>Skeletal System: Bone, Joints and Remodelling</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M01-W04-L01  ·  2부</a:t>
            </a:r>
          </a:p>
          <a:p>
            <a:r>
              <a:rPr sz="1100" b="0" i="0">
                <a:solidFill>
                  <a:srgbClr val="F2B705"/>
                </a:solidFill>
                <a:latin typeface="Malgun Gothic"/>
                <a:ea typeface="Malgun Gothic"/>
                <a:cs typeface="Malgun Gothic"/>
              </a:rPr>
              <a:t>전체 15절 가운데 6절</a:t>
            </a:r>
          </a:p>
          <a:p>
            <a:r>
              <a:rPr sz="1100" b="0" i="0">
                <a:solidFill>
                  <a:srgbClr val="9FBEDA"/>
                </a:solidFill>
                <a:latin typeface="Malgun Gothic"/>
                <a:ea typeface="Malgun Gothic"/>
                <a:cs typeface="Malgun Gothic"/>
              </a:rPr>
              <a:t>4주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뼈가 수행하는 다섯 가지 기능을 들고 구조가 그 기능을 어떻게 뒷받침하는지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뼈 기질의 두 성분을 쓰고 각각이 담당하는 기계적 성질을 구분한다.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뼈의 네 가지 세포를 기원과 역할로 구분하고 osteocyte가 감지자로 작동하는 방식을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치밀뼈와 해면뼈의 구조 차이를 기능과 연결하고 osteon의 구성을 서술한다.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막내골화와 연골내골화를 비교하고 어느 뼈가 어느 방식으로 생기는지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성장판의 구역을 순서대로 쓰고 길이 성장이 멈추는 기전을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재형성 단위의 작동 순서를 쓰고 RANKL·OPG 체계가 균형을 정하는 방식을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칼슘 항상성에서 뼈가 맡는 역할을 PTH와 vitamin D의 작용으로 서술한다.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기계적 자극이 뼈 구조를 바꾸는 과정을 감지와 반응으로 나누어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관절의 세 종류를 구분하고 윤활관절의 구성 요소와 연골의 성질을 설명한다.</a:t>
            </a:r>
          </a:p>
          <a:p>
            <a:pPr>
              <a:spcAft>
                <a:spcPts val="900"/>
              </a:spcAft>
            </a:pPr>
            <a:r>
              <a:rPr sz="1600" b="1" i="0">
                <a:solidFill>
                  <a:srgbClr val="F2B705"/>
                </a:solidFill>
                <a:latin typeface="Malgun Gothic"/>
                <a:ea typeface="Malgun Gothic"/>
                <a:cs typeface="Malgun Gothic"/>
              </a:rPr>
              <a:t>11.  </a:t>
            </a:r>
            <a:r>
              <a:rPr sz="1600" b="0" i="0">
                <a:solidFill>
                  <a:srgbClr val="11202B"/>
                </a:solidFill>
                <a:latin typeface="Malgun Gothic"/>
                <a:ea typeface="Malgun Gothic"/>
                <a:cs typeface="Malgun Gothic"/>
              </a:rPr>
              <a:t>뼈와 관절 질환을 기질, 무기질화, 재형성 균형, 연골의 네 범주로 분류한다.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M01-W02-L02 내분비계 요약 — PTH, vitamin D, 칼슘 항상성</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M01-W03-L01 발생 요약 — 중배엽과 신경능, 체절과 사지 발생</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M01-W03-L03 근육 요약 — 지렛대와 근육이 뼈에 가하는 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10. 기계적 자극과 뼈의 적응</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11. 관절 — 움직임과 안정성의 교환</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12. 뼈의 혈액 공급과 골수</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13. 치아와 머리뼈 — 특수한 골격</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14. 뼈와 관절 질환을 읽는 논리</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15. 이 수업이 이어지는 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기계적 자극과 뼈의 적응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뼈는 받는 힘에 맞추어 구조를 바꾼다. 하중이 늘면 두꺼워지고 줄면 얇아진다. 이 경향을 19세기에 정리한 것이 </a:t>
            </a:r>
            <a:r>
              <a:rPr sz="1400" b="1" i="0">
                <a:solidFill>
                  <a:srgbClr val="11202B"/>
                </a:solidFill>
                <a:latin typeface="Malgun Gothic"/>
                <a:ea typeface="Malgun Gothic"/>
                <a:cs typeface="Malgun Gothic"/>
              </a:rPr>
              <a:t>Wolff 법칙</a:t>
            </a:r>
            <a:r>
              <a:rPr sz="1400" b="0" i="0">
                <a:solidFill>
                  <a:srgbClr val="11202B"/>
                </a:solidFill>
                <a:latin typeface="Malgun Gothic"/>
                <a:ea typeface="Malgun Gothic"/>
                <a:cs typeface="Malgun Gothic"/>
              </a:rPr>
              <a:t>이며, 해면뼈의 기둥이 주응력 방향을 따라 배열된다는 관찰이 근거였다.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감지는 누가 하는가.</a:t>
            </a:r>
            <a:r>
              <a:rPr sz="1400" b="0" i="0">
                <a:solidFill>
                  <a:srgbClr val="11202B"/>
                </a:solidFill>
                <a:latin typeface="Malgun Gothic"/>
                <a:ea typeface="Malgun Gothic"/>
                <a:cs typeface="Malgun Gothic"/>
              </a:rPr>
              <a:t> 지금은 </a:t>
            </a:r>
            <a:r>
              <a:rPr sz="1400" b="1" i="0">
                <a:solidFill>
                  <a:srgbClr val="11202B"/>
                </a:solidFill>
                <a:latin typeface="Malgun Gothic"/>
                <a:ea typeface="Malgun Gothic"/>
                <a:cs typeface="Malgun Gothic"/>
              </a:rPr>
              <a:t>osteocyte</a:t>
            </a:r>
            <a:r>
              <a:rPr sz="1400" b="0" i="0">
                <a:solidFill>
                  <a:srgbClr val="11202B"/>
                </a:solidFill>
                <a:latin typeface="Malgun Gothic"/>
                <a:ea typeface="Malgun Gothic"/>
                <a:cs typeface="Malgun Gothic"/>
              </a:rPr>
              <a:t>가 감지자라고 본다. 뼈에 하중이 걸리면 뼈가 아주 조금 변형되고, lacuna와 canaliculi 안의 액체가 흐른다. Osteocyte의 돌기가 이 </a:t>
            </a:r>
            <a:r>
              <a:rPr sz="1400" b="1" i="0">
                <a:solidFill>
                  <a:srgbClr val="11202B"/>
                </a:solidFill>
                <a:latin typeface="Malgun Gothic"/>
                <a:ea typeface="Malgun Gothic"/>
                <a:cs typeface="Malgun Gothic"/>
              </a:rPr>
              <a:t>액체 흐름에 의한 전단력</a:t>
            </a:r>
            <a:r>
              <a:rPr sz="1400" b="0" i="0">
                <a:solidFill>
                  <a:srgbClr val="11202B"/>
                </a:solidFill>
                <a:latin typeface="Malgun Gothic"/>
                <a:ea typeface="Malgun Gothic"/>
                <a:cs typeface="Malgun Gothic"/>
              </a:rPr>
              <a:t>을 감지하는 것으로 설명된다. 뼈 자체의 변형량은 매우 작지만 좁은 통로에서의 액체 이동은 충분히 큰 신호가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반응은 어떻게 나타나는가.</a:t>
            </a:r>
            <a:r>
              <a:rPr sz="1400" b="0" i="0">
                <a:solidFill>
                  <a:srgbClr val="11202B"/>
                </a:solidFill>
                <a:latin typeface="Malgun Gothic"/>
                <a:ea typeface="Malgun Gothic"/>
                <a:cs typeface="Malgun Gothic"/>
              </a:rPr>
              <a:t> 하중을 충분히 받는 osteocyte는 </a:t>
            </a:r>
            <a:r>
              <a:rPr sz="1400" b="1" i="0">
                <a:solidFill>
                  <a:srgbClr val="11202B"/>
                </a:solidFill>
                <a:latin typeface="Malgun Gothic"/>
                <a:ea typeface="Malgun Gothic"/>
                <a:cs typeface="Malgun Gothic"/>
              </a:rPr>
              <a:t>sclerostin</a:t>
            </a:r>
            <a:r>
              <a:rPr sz="1400" b="0" i="0">
                <a:solidFill>
                  <a:srgbClr val="11202B"/>
                </a:solidFill>
                <a:latin typeface="Malgun Gothic"/>
                <a:ea typeface="Malgun Gothic"/>
                <a:cs typeface="Malgun Gothic"/>
              </a:rPr>
              <a:t> 분비를 줄인다. Sclerostin은 Wnt 신호를 억제해 뼈 형성을 막는 인자이므로, 분비가 줄면 Wnt 신호가 살아나 osteoblast의 활동이 늘고 뼈가 더해진다. 반대로 하중이 없으면 sclerostin이 늘고 RANKL도 늘어 뼈가 줄어든다.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작동 범위가 있다.</a:t>
            </a:r>
            <a:r>
              <a:rPr sz="1400" b="0" i="0">
                <a:solidFill>
                  <a:srgbClr val="11202B"/>
                </a:solidFill>
                <a:latin typeface="Malgun Gothic"/>
                <a:ea typeface="Malgun Gothic"/>
                <a:cs typeface="Malgun Gothic"/>
              </a:rPr>
              <a:t> 뼈의 반응은 변형량에 대해 단순 비례하지 않는다. 변형이 아주 작으면(부동, 무중력) 흡수가 우세해 뼈가 줄고, 일상적인 범위에서는 평형이 유지되며, 그보다 크면 형성이 우세해 뼈가 더해진다. 더 커지면 미세 손상이 수리 속도를 앞질러 피로 골절이 된다. 네 구간이 있는 셈이며, 운동 처방과 재활이 두 번째와 세 번째 구간 사이를 겨냥한다는 점을 이해하면 "얼마나 해야 하는가"라는 질문의 성격이 분명해진다.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자극의 성질이 중요하다.</a:t>
            </a:r>
            <a:r>
              <a:rPr sz="1400" b="0" i="0">
                <a:solidFill>
                  <a:srgbClr val="11202B"/>
                </a:solidFill>
                <a:latin typeface="Malgun Gothic"/>
                <a:ea typeface="Malgun Gothic"/>
                <a:cs typeface="Malgun Gothic"/>
              </a:rPr>
              <a:t> 뼈가 반응하는 것은 하중의 총량이 아니라 </a:t>
            </a:r>
            <a:r>
              <a:rPr sz="1400" b="1" i="0">
                <a:solidFill>
                  <a:srgbClr val="11202B"/>
                </a:solidFill>
                <a:latin typeface="Malgun Gothic"/>
                <a:ea typeface="Malgun Gothic"/>
                <a:cs typeface="Malgun Gothic"/>
              </a:rPr>
              <a:t>크기, 변화율, 그리고 새로움</a:t>
            </a:r>
            <a:r>
              <a:rPr sz="1400" b="0" i="0">
                <a:solidFill>
                  <a:srgbClr val="11202B"/>
                </a:solidFill>
                <a:latin typeface="Malgun Gothic"/>
                <a:ea typeface="Malgun Gothic"/>
                <a:cs typeface="Malgun Gothic"/>
              </a:rPr>
              <a:t>이다. 같은 자극이 반복되면 osteocyte가 둔감해지므로, 오래 걷는 것보다 짧더라도 강하고 방향이 다양한 충격이 더 효과적이다. 수영과 자전거가 심폐 건강에 좋으면서도 골밀도 증가에는 효과가 적은 것이 체중 부하가 없기 때문이다.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기계적 자극과 뼈의 적응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하중이 사라졌을 때의 골소실은 매우 빠르다. 장기 침상 안정과 척수 손상에서 수주 안에 측정 가능한 골량 감소가 나타난다. </a:t>
            </a:r>
            <a:r>
              <a:rPr sz="1600" b="1" i="0">
                <a:solidFill>
                  <a:srgbClr val="11202B"/>
                </a:solidFill>
                <a:latin typeface="Malgun Gothic"/>
                <a:ea typeface="Malgun Gothic"/>
                <a:cs typeface="Malgun Gothic"/>
              </a:rPr>
              <a:t>우주 비행사</a:t>
            </a:r>
            <a:r>
              <a:rPr sz="1600" b="0" i="0">
                <a:solidFill>
                  <a:srgbClr val="11202B"/>
                </a:solidFill>
                <a:latin typeface="Malgun Gothic"/>
                <a:ea typeface="Malgun Gothic"/>
                <a:cs typeface="Malgun Gothic"/>
              </a:rPr>
              <a:t>에서 무중력 환경에서 월 1~2%의 골소실이 보고되었으며, 이는 폐경 후 여성의 연간 소실률과 비슷한 속도다. 지상의 운동 기구로 완전히 막지 못해 약물 병용이 검토되었다. 거꾸로 임상에서는 </a:t>
            </a:r>
            <a:r>
              <a:rPr sz="1600" b="1" i="0">
                <a:solidFill>
                  <a:srgbClr val="11202B"/>
                </a:solidFill>
                <a:latin typeface="Malgun Gothic"/>
                <a:ea typeface="Malgun Gothic"/>
                <a:cs typeface="Malgun Gothic"/>
              </a:rPr>
              <a:t>조기 보행과 체중 부하 재활</a:t>
            </a:r>
            <a:r>
              <a:rPr sz="1600" b="0" i="0">
                <a:solidFill>
                  <a:srgbClr val="11202B"/>
                </a:solidFill>
                <a:latin typeface="Malgun Gothic"/>
                <a:ea typeface="Malgun Gothic"/>
                <a:cs typeface="Malgun Gothic"/>
              </a:rPr>
              <a:t>이 골소실을 막는 가장 효과적인 수단이며, 고령 환자의 입원에서 침상 안정을 최소화하는 근거 가운데 하나다.</a:t>
            </a:r>
          </a:p>
        </p:txBody>
      </p:sp>
      <p:sp>
        <p:nvSpPr>
          <p:cNvPr id="8" name="Rectangle 7"/>
          <p:cNvSpPr/>
          <p:nvPr/>
        </p:nvSpPr>
        <p:spPr>
          <a:xfrm>
            <a:off x="640080" y="314452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Sclerostin이 발견된 과정은 희귀 질환이 약으로 이어진 사례다. 뼈가 비정상적으로 많아지는 희귀 유전 질환인 경화성 골이형성증과 van Buchem 병의 원인을 추적하다가 </a:t>
            </a:r>
            <a:r>
              <a:rPr sz="1600" b="1" i="0">
                <a:solidFill>
                  <a:srgbClr val="11202B"/>
                </a:solidFill>
                <a:latin typeface="Malgun Gothic"/>
                <a:ea typeface="Malgun Gothic"/>
                <a:cs typeface="Malgun Gothic"/>
              </a:rPr>
              <a:t>SOST 유전자</a:t>
            </a:r>
            <a:r>
              <a:rPr sz="1600" b="0" i="0">
                <a:solidFill>
                  <a:srgbClr val="11202B"/>
                </a:solidFill>
                <a:latin typeface="Malgun Gothic"/>
                <a:ea typeface="Malgun Gothic"/>
                <a:cs typeface="Malgun Gothic"/>
              </a:rPr>
              <a:t>와 그 산물 sclerostin이 밝혀졌다. 이 단백질이 없으면 뼈가 계속 늘어난다는 사실에서, 그것을 차단하면 뼈를 늘릴 수 있다는 추론이 나왔고 항체 약물 romosozumab으로 이어졌다. 실제로 골밀도 증가 효과는 기존 약보다 컸다. 그러나 임상 시험에서 </a:t>
            </a:r>
            <a:r>
              <a:rPr sz="1600" b="1" i="0">
                <a:solidFill>
                  <a:srgbClr val="11202B"/>
                </a:solidFill>
                <a:latin typeface="Malgun Gothic"/>
                <a:ea typeface="Malgun Gothic"/>
                <a:cs typeface="Malgun Gothic"/>
              </a:rPr>
              <a:t>심혈관 사건이 늘어나는 경향</a:t>
            </a:r>
            <a:r>
              <a:rPr sz="1600" b="0" i="0">
                <a:solidFill>
                  <a:srgbClr val="11202B"/>
                </a:solidFill>
                <a:latin typeface="Malgun Gothic"/>
                <a:ea typeface="Malgun Gothic"/>
                <a:cs typeface="Malgun Gothic"/>
              </a:rPr>
              <a:t>이 관찰되어 사용에 제한이 붙었다. Sclerostin과 Wnt 신호가 뼈에만 작용하지 않는다는 뜻이며, 전신에 쓰이는 신호 경로를 표적으로 할 때 반복해서 부딪히는 문제다. 뼈에만 작용하도록 약물을 전달하는 방법이 현재의 과제다.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관절 — 움직임과 안정성의 교환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관절은 뼈와 뼈가 만나는 자리이며, 움직임의 자유도와 안정성 사이에서 선택이 이루어진다. 움직임이 클수록 불안정하고, 안정할수록 움직이지 못한다.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 종류.</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섬유관절</a:t>
            </a:r>
            <a:r>
              <a:rPr sz="1400" b="0" i="0">
                <a:solidFill>
                  <a:srgbClr val="11202B"/>
                </a:solidFill>
                <a:latin typeface="Malgun Gothic"/>
                <a:ea typeface="Malgun Gothic"/>
                <a:cs typeface="Malgun Gothic"/>
              </a:rPr>
              <a:t>: 치밀결합조직이 직접 잇는다. 거의 움직이지 않는다. 머리뼈의 봉합, 치아와 치조골의 결합.</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연골관절</a:t>
            </a:r>
            <a:r>
              <a:rPr sz="1400" b="0" i="0">
                <a:solidFill>
                  <a:srgbClr val="11202B"/>
                </a:solidFill>
                <a:latin typeface="Malgun Gothic"/>
                <a:ea typeface="Malgun Gothic"/>
                <a:cs typeface="Malgun Gothic"/>
              </a:rPr>
              <a:t>: 연골이 잇는다. 약간 움직인다. 추간판, 두덩결합, 성장판.</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윤활관절</a:t>
            </a:r>
            <a:r>
              <a:rPr sz="1400" b="0" i="0">
                <a:solidFill>
                  <a:srgbClr val="11202B"/>
                </a:solidFill>
                <a:latin typeface="Malgun Gothic"/>
                <a:ea typeface="Malgun Gothic"/>
                <a:cs typeface="Malgun Gothic"/>
              </a:rPr>
              <a:t>: 관절강을 사이에 두고 마주한다. 자유롭게 움직인다. 팔다리의 대부분의 관절.</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윤활관절의 움직임 축.</a:t>
            </a:r>
            <a:r>
              <a:rPr sz="1400" b="0" i="0">
                <a:solidFill>
                  <a:srgbClr val="11202B"/>
                </a:solidFill>
                <a:latin typeface="Malgun Gothic"/>
                <a:ea typeface="Malgun Gothic"/>
                <a:cs typeface="Malgun Gothic"/>
              </a:rPr>
              <a:t> 관절면의 모양이 가능한 움직임을 정한다. 경첩관절(팔꿉, 무릎)은 한 축으로만, 중쇠관절(고리중쇠관절, 몸쪽 노자관절)은 회전만, 안장관절(엄지의 손목손허리관절)은 두 축으로, 절구관절(어깨, 엉덩)은 세 축으로 움직인다. 평면관절(손목뼈 사이)은 미끄러짐만 허용한다. 엄지의 안장관절이 사람의 손을 특별하게 만든 구조로, 맞섬 운동이 가능해 정밀한 쥐기가 성립한다.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윤활관절의 구성.</a:t>
            </a:r>
            <a:r>
              <a:rPr sz="1400" b="0" i="0">
                <a:solidFill>
                  <a:srgbClr val="11202B"/>
                </a:solidFill>
                <a:latin typeface="Malgun Gothic"/>
                <a:ea typeface="Malgun Gothic"/>
                <a:cs typeface="Malgun Gothic"/>
              </a:rPr>
              <a:t> 다섯 요소가 함께 작동한다.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관절연골</a:t>
            </a:r>
            <a:r>
              <a:rPr sz="1400" b="0" i="0">
                <a:solidFill>
                  <a:srgbClr val="11202B"/>
                </a:solidFill>
                <a:latin typeface="Malgun Gothic"/>
                <a:ea typeface="Malgun Gothic"/>
                <a:cs typeface="Malgun Gothic"/>
              </a:rPr>
              <a:t>: 마주 보는 뼈의 끝을 덮는 유리연골. 마찰을 줄이고 충격을 분산한다.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관절주머니</a:t>
            </a:r>
            <a:r>
              <a:rPr sz="1400" b="0" i="0">
                <a:solidFill>
                  <a:srgbClr val="11202B"/>
                </a:solidFill>
                <a:latin typeface="Malgun Gothic"/>
                <a:ea typeface="Malgun Gothic"/>
                <a:cs typeface="Malgun Gothic"/>
              </a:rPr>
              <a:t>: 바깥의 섬유층과 안쪽의 윤활막으로 이루어진다.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윤활액</a:t>
            </a:r>
            <a:r>
              <a:rPr sz="1400" b="0" i="0">
                <a:solidFill>
                  <a:srgbClr val="11202B"/>
                </a:solidFill>
                <a:latin typeface="Malgun Gothic"/>
                <a:ea typeface="Malgun Gothic"/>
                <a:cs typeface="Malgun Gothic"/>
              </a:rPr>
              <a:t>: 윤활막이 분비한다. Hyaluronan과 lubricin이 마찰을 극도로 낮추고, 혈관이 없는 연골에 영양을 공급한다.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인대</a:t>
            </a:r>
            <a:r>
              <a:rPr sz="1400" b="0" i="0">
                <a:solidFill>
                  <a:srgbClr val="11202B"/>
                </a:solidFill>
                <a:latin typeface="Malgun Gothic"/>
                <a:ea typeface="Malgun Gothic"/>
                <a:cs typeface="Malgun Gothic"/>
              </a:rPr>
              <a:t>: 뼈와 뼈를 이어 과도한 움직임을 막는다.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a:t>
            </a:r>
            <a:r>
              <a:rPr sz="1400" b="1" i="0">
                <a:solidFill>
                  <a:srgbClr val="11202B"/>
                </a:solidFill>
                <a:latin typeface="Malgun Gothic"/>
                <a:ea typeface="Malgun Gothic"/>
                <a:cs typeface="Malgun Gothic"/>
              </a:rPr>
              <a:t>보조 구조</a:t>
            </a:r>
            <a:r>
              <a:rPr sz="1400" b="0" i="0">
                <a:solidFill>
                  <a:srgbClr val="11202B"/>
                </a:solidFill>
                <a:latin typeface="Malgun Gothic"/>
                <a:ea typeface="Malgun Gothic"/>
                <a:cs typeface="Malgun Gothic"/>
              </a:rPr>
              <a:t>: 반월판, 관절순, 윤활주머니가 안정성과 완충을 더한다.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관절연골의 특이한 성질.</a:t>
            </a:r>
            <a:r>
              <a:rPr sz="1400" b="0" i="0">
                <a:solidFill>
                  <a:srgbClr val="11202B"/>
                </a:solidFill>
                <a:latin typeface="Malgun Gothic"/>
                <a:ea typeface="Malgun Gothic"/>
                <a:cs typeface="Malgun Gothic"/>
              </a:rPr>
              <a:t> 연골은 </a:t>
            </a:r>
            <a:r>
              <a:rPr sz="1400" b="1" i="0">
                <a:solidFill>
                  <a:srgbClr val="11202B"/>
                </a:solidFill>
                <a:latin typeface="Malgun Gothic"/>
                <a:ea typeface="Malgun Gothic"/>
                <a:cs typeface="Malgun Gothic"/>
              </a:rPr>
              <a:t>혈관, 림프관, 신경이 없다</a:t>
            </a:r>
            <a:r>
              <a:rPr sz="1400" b="0" i="0">
                <a:solidFill>
                  <a:srgbClr val="11202B"/>
                </a:solidFill>
                <a:latin typeface="Malgun Gothic"/>
                <a:ea typeface="Malgun Gothic"/>
                <a:cs typeface="Malgun Gothic"/>
              </a:rPr>
              <a:t>. 영양은 윤활액에서 확산으로 받으며, 관절이 움직일 때 연골이 눌렸다 펴지면서 액체가 드나드는 것이 그 교환을 돕는다. 움직이지 않는 관절의 연골이 나빠지는 이유다. 신경이 없으므로 연골 자체는 아프지 않고, 관절 통증은 윤활막, 뼈, 인대, 관절주머니에서 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혈관이 없다는 사실의 가장 큰 결과는 </a:t>
            </a:r>
            <a:r>
              <a:rPr sz="1400" b="1" i="0">
                <a:solidFill>
                  <a:srgbClr val="11202B"/>
                </a:solidFill>
                <a:latin typeface="Malgun Gothic"/>
                <a:ea typeface="Malgun Gothic"/>
                <a:cs typeface="Malgun Gothic"/>
              </a:rPr>
              <a:t>재생이 거의 되지 않는다</a:t>
            </a:r>
            <a:r>
              <a:rPr sz="1400" b="0" i="0">
                <a:solidFill>
                  <a:srgbClr val="11202B"/>
                </a:solidFill>
                <a:latin typeface="Malgun Gothic"/>
                <a:ea typeface="Malgun Gothic"/>
                <a:cs typeface="Malgun Gothic"/>
              </a:rPr>
              <a:t>는 것이다. 손상된 연골은 원래 조직으로 복구되지 않고 기계적 성질이 떨어지는 섬유연골로 메워진다. 연골 손상이 임상에서 어려운 문제인 근본 이유다.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관절 — 움직임과 안정성의 교환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골관절염과 류마티스 관절염을 가르는 문제가 반복된다. </a:t>
            </a:r>
            <a:r>
              <a:rPr sz="1600" b="1" i="0">
                <a:solidFill>
                  <a:srgbClr val="11202B"/>
                </a:solidFill>
                <a:latin typeface="Malgun Gothic"/>
                <a:ea typeface="Malgun Gothic"/>
                <a:cs typeface="Malgun Gothic"/>
              </a:rPr>
              <a:t>골관절염</a:t>
            </a:r>
            <a:r>
              <a:rPr sz="1600" b="0" i="0">
                <a:solidFill>
                  <a:srgbClr val="11202B"/>
                </a:solidFill>
                <a:latin typeface="Malgun Gothic"/>
                <a:ea typeface="Malgun Gothic"/>
                <a:cs typeface="Malgun Gothic"/>
              </a:rPr>
              <a:t>은 연골의 마모가 중심인 비염증성 과정으로, 체중을 받는 관절과 손의 원위지간관절을 침범하고, 아침 경직이 </a:t>
            </a:r>
            <a:r>
              <a:rPr sz="1600" b="1" i="0">
                <a:solidFill>
                  <a:srgbClr val="11202B"/>
                </a:solidFill>
                <a:latin typeface="Malgun Gothic"/>
                <a:ea typeface="Malgun Gothic"/>
                <a:cs typeface="Malgun Gothic"/>
              </a:rPr>
              <a:t>30분 이내</a:t>
            </a:r>
            <a:r>
              <a:rPr sz="1600" b="0" i="0">
                <a:solidFill>
                  <a:srgbClr val="11202B"/>
                </a:solidFill>
                <a:latin typeface="Malgun Gothic"/>
                <a:ea typeface="Malgun Gothic"/>
                <a:cs typeface="Malgun Gothic"/>
              </a:rPr>
              <a:t>로 짧으며, 쓸수록 아프고 쉬면 낫는다. 방사선에서 관절 간격이 </a:t>
            </a:r>
            <a:r>
              <a:rPr sz="1600" b="1" i="0">
                <a:solidFill>
                  <a:srgbClr val="11202B"/>
                </a:solidFill>
                <a:latin typeface="Malgun Gothic"/>
                <a:ea typeface="Malgun Gothic"/>
                <a:cs typeface="Malgun Gothic"/>
              </a:rPr>
              <a:t>비대칭적으로</a:t>
            </a:r>
            <a:r>
              <a:rPr sz="1600" b="0" i="0">
                <a:solidFill>
                  <a:srgbClr val="11202B"/>
                </a:solidFill>
                <a:latin typeface="Malgun Gothic"/>
                <a:ea typeface="Malgun Gothic"/>
                <a:cs typeface="Malgun Gothic"/>
              </a:rPr>
              <a:t> 좁아지고 뼈곁돌기와 연골밑 경화가 보인다. </a:t>
            </a:r>
            <a:r>
              <a:rPr sz="1600" b="1" i="0">
                <a:solidFill>
                  <a:srgbClr val="11202B"/>
                </a:solidFill>
                <a:latin typeface="Malgun Gothic"/>
                <a:ea typeface="Malgun Gothic"/>
                <a:cs typeface="Malgun Gothic"/>
              </a:rPr>
              <a:t>류마티스 관절염</a:t>
            </a:r>
            <a:r>
              <a:rPr sz="1600" b="0" i="0">
                <a:solidFill>
                  <a:srgbClr val="11202B"/>
                </a:solidFill>
                <a:latin typeface="Malgun Gothic"/>
                <a:ea typeface="Malgun Gothic"/>
                <a:cs typeface="Malgun Gothic"/>
              </a:rPr>
              <a:t>은 윤활막의 자가면역 염증이 중심으로, 손의 중수지절관절과 근위지간관절을 </a:t>
            </a:r>
            <a:r>
              <a:rPr sz="1600" b="1" i="0">
                <a:solidFill>
                  <a:srgbClr val="11202B"/>
                </a:solidFill>
                <a:latin typeface="Malgun Gothic"/>
                <a:ea typeface="Malgun Gothic"/>
                <a:cs typeface="Malgun Gothic"/>
              </a:rPr>
              <a:t>대칭적으로</a:t>
            </a:r>
            <a:r>
              <a:rPr sz="1600" b="0" i="0">
                <a:solidFill>
                  <a:srgbClr val="11202B"/>
                </a:solidFill>
                <a:latin typeface="Malgun Gothic"/>
                <a:ea typeface="Malgun Gothic"/>
                <a:cs typeface="Malgun Gothic"/>
              </a:rPr>
              <a:t> 침범하고 원위지간관절은 대개 보존되며, 아침 경직이 </a:t>
            </a:r>
            <a:r>
              <a:rPr sz="1600" b="1" i="0">
                <a:solidFill>
                  <a:srgbClr val="11202B"/>
                </a:solidFill>
                <a:latin typeface="Malgun Gothic"/>
                <a:ea typeface="Malgun Gothic"/>
                <a:cs typeface="Malgun Gothic"/>
              </a:rPr>
              <a:t>1시간 이상</a:t>
            </a:r>
            <a:r>
              <a:rPr sz="1600" b="0" i="0">
                <a:solidFill>
                  <a:srgbClr val="11202B"/>
                </a:solidFill>
                <a:latin typeface="Malgun Gothic"/>
                <a:ea typeface="Malgun Gothic"/>
                <a:cs typeface="Malgun Gothic"/>
              </a:rPr>
              <a:t> 지속되고 움직이면 나아진다. 방사선에서 관절 주위 골감소와 미란이 보이고 관절 간격이 대칭적으로 좁아진다. "원위지간관절이 침범되었는가"와 "아침 경직이 얼마나 긴가" 두 질문으로 대부분 갈린다.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뼈의 혈액 공급과 골수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뼈는 단단해서 혈관이 없을 것 같지만 실제로는 혈류가 매우 풍부하다. 안정 시 심박출량의 약 10%가 골격으로 간다. 재형성이 끊임없이 일어나고 골수에서 혈액세포를 만들어야 하므로 당연한 요구다.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 갈래의 공급.</a:t>
            </a:r>
            <a:r>
              <a:rPr sz="1400" b="0" i="0">
                <a:solidFill>
                  <a:srgbClr val="11202B"/>
                </a:solidFill>
                <a:latin typeface="Malgun Gothic"/>
                <a:ea typeface="Malgun Gothic"/>
                <a:cs typeface="Malgun Gothic"/>
              </a:rPr>
              <a:t> 긴뼈를 기준으로 혈액이 들어오는 경로가 셋이다.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영양 동맥</a:t>
            </a:r>
            <a:r>
              <a:rPr sz="1400" b="0" i="0">
                <a:solidFill>
                  <a:srgbClr val="11202B"/>
                </a:solidFill>
                <a:latin typeface="Malgun Gothic"/>
                <a:ea typeface="Malgun Gothic"/>
                <a:cs typeface="Malgun Gothic"/>
              </a:rPr>
              <a:t>: 몸통 가운데의 작은 구멍으로 들어와 골수강에서 갈라진다. 치밀뼈 안쪽 3분의 2와 골수를 담당한다.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골막 동맥</a:t>
            </a:r>
            <a:r>
              <a:rPr sz="1400" b="0" i="0">
                <a:solidFill>
                  <a:srgbClr val="11202B"/>
                </a:solidFill>
                <a:latin typeface="Malgun Gothic"/>
                <a:ea typeface="Malgun Gothic"/>
                <a:cs typeface="Malgun Gothic"/>
              </a:rPr>
              <a:t>: 골막에서 들어와 치밀뼈 바깥 3분의 1을 담당한다.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골단 동맥</a:t>
            </a:r>
            <a:r>
              <a:rPr sz="1400" b="0" i="0">
                <a:solidFill>
                  <a:srgbClr val="11202B"/>
                </a:solidFill>
                <a:latin typeface="Malgun Gothic"/>
                <a:ea typeface="Malgun Gothic"/>
                <a:cs typeface="Malgun Gothic"/>
              </a:rPr>
              <a:t>: 뼈 끝으로 들어온다.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배치가 임상적으로 중요한 이유는 </a:t>
            </a:r>
            <a:r>
              <a:rPr sz="1400" b="1" i="0">
                <a:solidFill>
                  <a:srgbClr val="11202B"/>
                </a:solidFill>
                <a:latin typeface="Malgun Gothic"/>
                <a:ea typeface="Malgun Gothic"/>
                <a:cs typeface="Malgun Gothic"/>
              </a:rPr>
              <a:t>골절이 혈액 공급을 끊을 수 있기 때문</a:t>
            </a:r>
            <a:r>
              <a:rPr sz="1400" b="0" i="0">
                <a:solidFill>
                  <a:srgbClr val="11202B"/>
                </a:solidFill>
                <a:latin typeface="Malgun Gothic"/>
                <a:ea typeface="Malgun Gothic"/>
                <a:cs typeface="Malgun Gothic"/>
              </a:rPr>
              <a:t>이다. 영양 동맥이 끊어져도 골막 동맥이 남으면 치유가 진행되지만, 골막까지 벗겨지면 그 구간이 괴사한다. 개방 골절과 광범위한 수술 박리가 치유를 늦추는 이유가 여기에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역행성 공급과 무혈성 괴사.</a:t>
            </a:r>
            <a:r>
              <a:rPr sz="1400" b="0" i="0">
                <a:solidFill>
                  <a:srgbClr val="11202B"/>
                </a:solidFill>
                <a:latin typeface="Malgun Gothic"/>
                <a:ea typeface="Malgun Gothic"/>
                <a:cs typeface="Malgun Gothic"/>
              </a:rPr>
              <a:t> 몇몇 부위는 혈관이 한 방향에서만, 그것도 관절면 쪽에서 거꾸로 들어온다. 넙다리뼈 머리, 손배뼈 몸쪽, 목말뼈, 위팔뼈 머리가 그렇다. 이 부위에서 골절선이 혈관을 끊으면 </a:t>
            </a:r>
            <a:r>
              <a:rPr sz="1400" b="1" i="0">
                <a:solidFill>
                  <a:srgbClr val="11202B"/>
                </a:solidFill>
                <a:latin typeface="Malgun Gothic"/>
                <a:ea typeface="Malgun Gothic"/>
                <a:cs typeface="Malgun Gothic"/>
              </a:rPr>
              <a:t>골절 조각이 혈액을 받지 못해 괴사</a:t>
            </a:r>
            <a:r>
              <a:rPr sz="1400" b="0" i="0">
                <a:solidFill>
                  <a:srgbClr val="11202B"/>
                </a:solidFill>
                <a:latin typeface="Malgun Gothic"/>
                <a:ea typeface="Malgun Gothic"/>
                <a:cs typeface="Malgun Gothic"/>
              </a:rPr>
              <a:t>한다. 같은 넙다리뼈 골절이라도 목 부위 골절과 몸통 골절의 예후가 전혀 다른 근본 이유다.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골수.</a:t>
            </a:r>
            <a:r>
              <a:rPr sz="1400" b="0" i="0">
                <a:solidFill>
                  <a:srgbClr val="11202B"/>
                </a:solidFill>
                <a:latin typeface="Malgun Gothic"/>
                <a:ea typeface="Malgun Gothic"/>
                <a:cs typeface="Malgun Gothic"/>
              </a:rPr>
              <a:t> 뼈 안의 공간을 채우는 조직이며 두 종류가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적색 골수</a:t>
            </a:r>
            <a:r>
              <a:rPr sz="1400" b="0" i="0">
                <a:solidFill>
                  <a:srgbClr val="11202B"/>
                </a:solidFill>
                <a:latin typeface="Malgun Gothic"/>
                <a:ea typeface="Malgun Gothic"/>
                <a:cs typeface="Malgun Gothic"/>
              </a:rPr>
              <a:t>: 조혈이 일어난다. 소아에서는 거의 모든 뼈에, 성인에서는 </a:t>
            </a:r>
            <a:r>
              <a:rPr sz="1400" b="1" i="0">
                <a:solidFill>
                  <a:srgbClr val="11202B"/>
                </a:solidFill>
                <a:latin typeface="Malgun Gothic"/>
                <a:ea typeface="Malgun Gothic"/>
                <a:cs typeface="Malgun Gothic"/>
              </a:rPr>
              <a:t>축성 골격과 긴뼈의 몸쪽 끝</a:t>
            </a:r>
            <a:r>
              <a:rPr sz="1400" b="0" i="0">
                <a:solidFill>
                  <a:srgbClr val="11202B"/>
                </a:solidFill>
                <a:latin typeface="Malgun Gothic"/>
                <a:ea typeface="Malgun Gothic"/>
                <a:cs typeface="Malgun Gothic"/>
              </a:rPr>
              <a:t>(척추, 복장뼈, 갈비뼈, 골반, 넙다리뼈와 위팔뼈의 몸쪽)에 남는다.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황색 골수</a:t>
            </a:r>
            <a:r>
              <a:rPr sz="1400" b="0" i="0">
                <a:solidFill>
                  <a:srgbClr val="11202B"/>
                </a:solidFill>
                <a:latin typeface="Malgun Gothic"/>
                <a:ea typeface="Malgun Gothic"/>
                <a:cs typeface="Malgun Gothic"/>
              </a:rPr>
              <a:t>: 지방으로 대치된 골수다. 조혈이 필요하면 다시 적색으로 전환될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성인에서 적색 골수가 남는 자리를 아는 것이 실제적인 이유는 </a:t>
            </a:r>
            <a:r>
              <a:rPr sz="1400" b="1" i="0">
                <a:solidFill>
                  <a:srgbClr val="11202B"/>
                </a:solidFill>
                <a:latin typeface="Malgun Gothic"/>
                <a:ea typeface="Malgun Gothic"/>
                <a:cs typeface="Malgun Gothic"/>
              </a:rPr>
              <a:t>골수 검사의 부위</a:t>
            </a:r>
            <a:r>
              <a:rPr sz="1400" b="0" i="0">
                <a:solidFill>
                  <a:srgbClr val="11202B"/>
                </a:solidFill>
                <a:latin typeface="Malgun Gothic"/>
                <a:ea typeface="Malgun Gothic"/>
                <a:cs typeface="Malgun Gothic"/>
              </a:rPr>
              <a:t>가 거기서 정해지기 때문이다. 엉덩뼈 능선이 표준 부위다. 또 전이암이 뼈로 퍼질 때 적색 골수가 있는 부위, 즉 척추와 골반, 갈비뼈에 먼저 나타나는 경향이 있다. 혈류가 풍부하고 혈관 구조가 느린 흐름을 허용하기 때문으로 설명된다.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뼈의 혈액 공급과 골수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10</a:t>
            </a:r>
          </a:p>
        </p:txBody>
      </p:sp>
      <p:sp>
        <p:nvSpPr>
          <p:cNvPr id="7" name="Rectangle 6"/>
          <p:cNvSpPr/>
          <p:nvPr/>
        </p:nvSpPr>
        <p:spPr>
          <a:xfrm>
            <a:off x="640080" y="1325880"/>
            <a:ext cx="10881360" cy="21231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뼈 전이는 암 환자에서 흔하며 통증, 병적 골절, 고칼슘혈증, 척수 압박을 일으킨다. 두 가지 양상으로 나뉘는데, 기전이 7절의 재형성 균형과 그대로 대응한다. </a:t>
            </a:r>
            <a:r>
              <a:rPr sz="1600" b="1" i="0">
                <a:solidFill>
                  <a:srgbClr val="11202B"/>
                </a:solidFill>
                <a:latin typeface="Malgun Gothic"/>
                <a:ea typeface="Malgun Gothic"/>
                <a:cs typeface="Malgun Gothic"/>
              </a:rPr>
              <a:t>골용해성 전이</a:t>
            </a:r>
            <a:r>
              <a:rPr sz="1600" b="0" i="0">
                <a:solidFill>
                  <a:srgbClr val="11202B"/>
                </a:solidFill>
                <a:latin typeface="Malgun Gothic"/>
                <a:ea typeface="Malgun Gothic"/>
                <a:cs typeface="Malgun Gothic"/>
              </a:rPr>
              <a:t>는 종양세포가 RANKL 생산을 늘려 osteoclast를 과도하게 활성화한 것으로 유방암과 폐암, 다발골수종에서 흔하며 뼈가 녹아 구멍이 생긴다. </a:t>
            </a:r>
            <a:r>
              <a:rPr sz="1600" b="1" i="0">
                <a:solidFill>
                  <a:srgbClr val="11202B"/>
                </a:solidFill>
                <a:latin typeface="Malgun Gothic"/>
                <a:ea typeface="Malgun Gothic"/>
                <a:cs typeface="Malgun Gothic"/>
              </a:rPr>
              <a:t>골형성성 전이</a:t>
            </a:r>
            <a:r>
              <a:rPr sz="1600" b="0" i="0">
                <a:solidFill>
                  <a:srgbClr val="11202B"/>
                </a:solidFill>
                <a:latin typeface="Malgun Gothic"/>
                <a:ea typeface="Malgun Gothic"/>
                <a:cs typeface="Malgun Gothic"/>
              </a:rPr>
              <a:t>는 osteoblast를 자극해 무질서한 뼈가 과도하게 만들어지는 것으로 전립선암에서 특징적이며 방사선에서 하얗게 보인다. 치료에서 bisphosphonate와 denosumab이 쓰이는 것도 같은 축을 표적으로 하기 때문이다. 종양이 뼈의 정상 조절 회로를 가로채 쓰는 구조이며, 종양과 뼈가 서로를 자극하는 악순환을 이룬다.</a:t>
            </a:r>
          </a:p>
        </p:txBody>
      </p:sp>
      <p:sp>
        <p:nvSpPr>
          <p:cNvPr id="8" name="Rectangle 7"/>
          <p:cNvSpPr/>
          <p:nvPr/>
        </p:nvSpPr>
        <p:spPr>
          <a:xfrm>
            <a:off x="640080" y="3586179"/>
            <a:ext cx="10881360" cy="256540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큰 뼈 결손을 재건하는 일은 아직 해결되지 않았다. 자가골 이식이 표준이지만 채취할 수 있는 양이 제한되고 채취 부위에 합병증이 남는다. 대안으로 세 갈래가 연구된다. 첫째는 </a:t>
            </a:r>
            <a:r>
              <a:rPr sz="1600" b="1" i="0">
                <a:solidFill>
                  <a:srgbClr val="11202B"/>
                </a:solidFill>
                <a:latin typeface="Malgun Gothic"/>
                <a:ea typeface="Malgun Gothic"/>
                <a:cs typeface="Malgun Gothic"/>
              </a:rPr>
              <a:t>골 형성 단백질(BMP)</a:t>
            </a:r>
            <a:r>
              <a:rPr sz="1600" b="0" i="0">
                <a:solidFill>
                  <a:srgbClr val="11202B"/>
                </a:solidFill>
                <a:latin typeface="Malgun Gothic"/>
                <a:ea typeface="Malgun Gothic"/>
                <a:cs typeface="Malgun Gothic"/>
              </a:rPr>
              <a:t> 을 담체에 실어 넣는 방법으로 일부 적응증에서 승인되었으나, 고용량에서 이소성 골형성과 부종 같은 합병증이 보고되어 사용이 제한되었다. 둘째는 </a:t>
            </a:r>
            <a:r>
              <a:rPr sz="1600" b="1" i="0">
                <a:solidFill>
                  <a:srgbClr val="11202B"/>
                </a:solidFill>
                <a:latin typeface="Malgun Gothic"/>
                <a:ea typeface="Malgun Gothic"/>
                <a:cs typeface="Malgun Gothic"/>
              </a:rPr>
              <a:t>세포 치료</a:t>
            </a:r>
            <a:r>
              <a:rPr sz="1600" b="0" i="0">
                <a:solidFill>
                  <a:srgbClr val="11202B"/>
                </a:solidFill>
                <a:latin typeface="Malgun Gothic"/>
                <a:ea typeface="Malgun Gothic"/>
                <a:cs typeface="Malgun Gothic"/>
              </a:rPr>
              <a:t>로 중간엽 줄기세포를 이식하는 접근인데, 이식한 세포가 실제로 뼈가 되기보다 주변 세포를 부르는 역할을 하는 것으로 보이며 효과의 일관성이 낮다. 셋째는 </a:t>
            </a:r>
            <a:r>
              <a:rPr sz="1600" b="1" i="0">
                <a:solidFill>
                  <a:srgbClr val="11202B"/>
                </a:solidFill>
                <a:latin typeface="Malgun Gothic"/>
                <a:ea typeface="Malgun Gothic"/>
                <a:cs typeface="Malgun Gothic"/>
              </a:rPr>
              <a:t>구조 재현</a:t>
            </a:r>
            <a:r>
              <a:rPr sz="1600" b="0" i="0">
                <a:solidFill>
                  <a:srgbClr val="11202B"/>
                </a:solidFill>
                <a:latin typeface="Malgun Gothic"/>
                <a:ea typeface="Malgun Gothic"/>
                <a:cs typeface="Malgun Gothic"/>
              </a:rPr>
              <a:t>으로, 3D 인쇄로 다공성 지지체를 만들어 세포와 혈관이 자라 들어오게 하는 방법이다. 세 접근 모두 같은 벽에 부딪힌다. 일정 크기를 넘으면 </a:t>
            </a:r>
            <a:r>
              <a:rPr sz="1600" b="1" i="0">
                <a:solidFill>
                  <a:srgbClr val="11202B"/>
                </a:solidFill>
                <a:latin typeface="Malgun Gothic"/>
                <a:ea typeface="Malgun Gothic"/>
                <a:cs typeface="Malgun Gothic"/>
              </a:rPr>
              <a:t>중심부에 혈관이 들어가지 못해 괴사</a:t>
            </a:r>
            <a:r>
              <a:rPr sz="1600" b="0" i="0">
                <a:solidFill>
                  <a:srgbClr val="11202B"/>
                </a:solidFill>
                <a:latin typeface="Malgun Gothic"/>
                <a:ea typeface="Malgun Gothic"/>
                <a:cs typeface="Malgun Gothic"/>
              </a:rPr>
              <a:t>한다. M01-W03-L01에서 본 장기유사체의 한계와 정확히 같은 문제이며, 조직공학 전반의 공통 과제다.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치아와 머리뼈 — 특수한 골격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골격 가운데 성질이 다른 두 부분을 따로 본다. 기초생물학 범위에서도 자주 언급되고, 발생 기원이 특이하기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머리뼈의 봉합과 숫구멍.</a:t>
            </a:r>
            <a:r>
              <a:rPr sz="1400" b="0" i="0">
                <a:solidFill>
                  <a:srgbClr val="11202B"/>
                </a:solidFill>
                <a:latin typeface="Malgun Gothic"/>
                <a:ea typeface="Malgun Gothic"/>
                <a:cs typeface="Malgun Gothic"/>
              </a:rPr>
              <a:t> 머리뼈의 납작뼈는 막내골화로 만들어지고 성장판이 없다. 대신 뼈와 뼈 사이의 </a:t>
            </a:r>
            <a:r>
              <a:rPr sz="1400" b="1" i="0">
                <a:solidFill>
                  <a:srgbClr val="11202B"/>
                </a:solidFill>
                <a:latin typeface="Malgun Gothic"/>
                <a:ea typeface="Malgun Gothic"/>
                <a:cs typeface="Malgun Gothic"/>
              </a:rPr>
              <a:t>봉합(suture)</a:t>
            </a:r>
            <a:r>
              <a:rPr sz="1400" b="0" i="0">
                <a:solidFill>
                  <a:srgbClr val="11202B"/>
                </a:solidFill>
                <a:latin typeface="Malgun Gothic"/>
                <a:ea typeface="Malgun Gothic"/>
                <a:cs typeface="Malgun Gothic"/>
              </a:rPr>
              <a:t> 에서 가장자리에 뼈가 더해지며 자란다. 봉합은 섬유관절이며 어린 시기에는 결합조직이 넓게 남아 있다. 여러 봉합이 만나는 넓은 자리가 </a:t>
            </a:r>
            <a:r>
              <a:rPr sz="1400" b="1" i="0">
                <a:solidFill>
                  <a:srgbClr val="11202B"/>
                </a:solidFill>
                <a:latin typeface="Malgun Gothic"/>
                <a:ea typeface="Malgun Gothic"/>
                <a:cs typeface="Malgun Gothic"/>
              </a:rPr>
              <a:t>숫구멍</a:t>
            </a:r>
            <a:r>
              <a:rPr sz="1400" b="0" i="0">
                <a:solidFill>
                  <a:srgbClr val="11202B"/>
                </a:solidFill>
                <a:latin typeface="Malgun Gothic"/>
                <a:ea typeface="Malgun Gothic"/>
                <a:cs typeface="Malgun Gothic"/>
              </a:rPr>
              <a:t>이다. 앞숫구멍은 생후 18~24개월경, 뒤숫구멍은 2~3개월경에 닫힌다.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구조가 두 가지 일을 한다. 첫째, 출산 시 머리뼈가 서로 겹쳐 좁은 산도를 통과하게 한다. 둘째, 출생 후 빠르게 커지는 뇌를 따라 머리뼈가 자랄 수 있게 한다. </a:t>
            </a:r>
            <a:r>
              <a:rPr sz="1400" b="1" i="0">
                <a:solidFill>
                  <a:srgbClr val="11202B"/>
                </a:solidFill>
                <a:latin typeface="Malgun Gothic"/>
                <a:ea typeface="Malgun Gothic"/>
                <a:cs typeface="Malgun Gothic"/>
              </a:rPr>
              <a:t>뇌의 성장이 머리뼈의 성장을 이끈다</a:t>
            </a:r>
            <a:r>
              <a:rPr sz="1400" b="0" i="0">
                <a:solidFill>
                  <a:srgbClr val="11202B"/>
                </a:solidFill>
                <a:latin typeface="Malgun Gothic"/>
                <a:ea typeface="Malgun Gothic"/>
                <a:cs typeface="Malgun Gothic"/>
              </a:rPr>
              <a:t>는 점이 중요하다. 머리뼈가 먼저 자라고 뇌가 채우는 것이 아니다.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따라서 봉합이 일찍 닫히면(</a:t>
            </a:r>
            <a:r>
              <a:rPr sz="1400" b="1" i="0">
                <a:solidFill>
                  <a:srgbClr val="11202B"/>
                </a:solidFill>
                <a:latin typeface="Malgun Gothic"/>
                <a:ea typeface="Malgun Gothic"/>
                <a:cs typeface="Malgun Gothic"/>
              </a:rPr>
              <a:t>두개골 조기유합증</a:t>
            </a:r>
            <a:r>
              <a:rPr sz="1400" b="0" i="0">
                <a:solidFill>
                  <a:srgbClr val="11202B"/>
                </a:solidFill>
                <a:latin typeface="Malgun Gothic"/>
                <a:ea typeface="Malgun Gothic"/>
                <a:cs typeface="Malgun Gothic"/>
              </a:rPr>
              <a:t>) 그 방향으로 자라지 못하고 다른 방향으로 보상 성장이 일어나 머리 모양이 변형된다. 어느 봉합이 닫혔는지에 따라 변형의 방향이 정해진다. 거꾸로 뇌가 자라지 못하면 봉합이 일찍 닫히고 머리가 작아진다(소두증). 숫구멍의 상태가 임상 징후가 되는 것도 같은 이유다. 두개내압이 오르면 앞숫구멍이 팽팽하게 부풀고, 탈수에서는 꺼진다.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치아.</a:t>
            </a:r>
            <a:r>
              <a:rPr sz="1400" b="0" i="0">
                <a:solidFill>
                  <a:srgbClr val="11202B"/>
                </a:solidFill>
                <a:latin typeface="Malgun Gothic"/>
                <a:ea typeface="Malgun Gothic"/>
                <a:cs typeface="Malgun Gothic"/>
              </a:rPr>
              <a:t> 치아는 뼈가 아니며 구성도 다르다. 네 가지 조직으로 이루어진다.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에나멜질</a:t>
            </a:r>
            <a:r>
              <a:rPr sz="1400" b="0" i="0">
                <a:solidFill>
                  <a:srgbClr val="11202B"/>
                </a:solidFill>
                <a:latin typeface="Malgun Gothic"/>
                <a:ea typeface="Malgun Gothic"/>
                <a:cs typeface="Malgun Gothic"/>
              </a:rPr>
              <a:t>: 몸에서 가장 단단한 조직으로 약 96%가 무기질이다. </a:t>
            </a:r>
            <a:r>
              <a:rPr sz="1400" b="1" i="0">
                <a:solidFill>
                  <a:srgbClr val="11202B"/>
                </a:solidFill>
                <a:latin typeface="Malgun Gothic"/>
                <a:ea typeface="Malgun Gothic"/>
                <a:cs typeface="Malgun Gothic"/>
              </a:rPr>
              <a:t>외배엽</a:t>
            </a:r>
            <a:r>
              <a:rPr sz="1400" b="0" i="0">
                <a:solidFill>
                  <a:srgbClr val="11202B"/>
                </a:solidFill>
                <a:latin typeface="Malgun Gothic"/>
                <a:ea typeface="Malgun Gothic"/>
                <a:cs typeface="Malgun Gothic"/>
              </a:rPr>
              <a:t>에서 유래하며, 만드는 세포가 치아가 나온 뒤 사라지므로 </a:t>
            </a:r>
            <a:r>
              <a:rPr sz="1400" b="1" i="0">
                <a:solidFill>
                  <a:srgbClr val="11202B"/>
                </a:solidFill>
                <a:latin typeface="Malgun Gothic"/>
                <a:ea typeface="Malgun Gothic"/>
                <a:cs typeface="Malgun Gothic"/>
              </a:rPr>
              <a:t>재생되지 않는다</a:t>
            </a:r>
            <a:r>
              <a:rPr sz="1400" b="0" i="0">
                <a:solidFill>
                  <a:srgbClr val="11202B"/>
                </a:solidFill>
                <a:latin typeface="Malgun Gothic"/>
                <a:ea typeface="Malgun Gothic"/>
                <a:cs typeface="Malgun Gothic"/>
              </a:rPr>
              <a:t>. 충치가 저절로 낫지 않는 근본 이유다.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상아질</a:t>
            </a:r>
            <a:r>
              <a:rPr sz="1400" b="0" i="0">
                <a:solidFill>
                  <a:srgbClr val="11202B"/>
                </a:solidFill>
                <a:latin typeface="Malgun Gothic"/>
                <a:ea typeface="Malgun Gothic"/>
                <a:cs typeface="Malgun Gothic"/>
              </a:rPr>
              <a:t>: 에나멜질 아래의 주된 부피를 이룬다. 신경능에서 유래하며 상아질모세포가 평생 조금씩 더 만든다. 미세한 관이 지나가 자극이 치수로 전달된다.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백악질</a:t>
            </a:r>
            <a:r>
              <a:rPr sz="1400" b="0" i="0">
                <a:solidFill>
                  <a:srgbClr val="11202B"/>
                </a:solidFill>
                <a:latin typeface="Malgun Gothic"/>
                <a:ea typeface="Malgun Gothic"/>
                <a:cs typeface="Malgun Gothic"/>
              </a:rPr>
              <a:t>: 뿌리를 덮으며 치주인대가 붙는다.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치수</a:t>
            </a:r>
            <a:r>
              <a:rPr sz="1400" b="0" i="0">
                <a:solidFill>
                  <a:srgbClr val="11202B"/>
                </a:solidFill>
                <a:latin typeface="Malgun Gothic"/>
                <a:ea typeface="Malgun Gothic"/>
                <a:cs typeface="Malgun Gothic"/>
              </a:rPr>
              <a:t>: 혈관과 신경이 들어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치아와 치조골의 결합은 섬유관절의 하나이며, 치주인대가 치아를 뼈에 매달아 하중을 분산한다. 치아가 뼈에 직접 융합되어 있지 않다는 점이 중요하다. 씹는 힘이 직접 전달되면 뼈가 손상되므로, 인대가 완충하면서 동시에 하중을 감지해 뼈의 재형성을 유도한다. 교정 치료에서 치아가 움직이는 것도 이 원리를 쓴다. 지속적인 힘을 주면 </a:t>
            </a:r>
            <a:r>
              <a:rPr sz="1400" b="1" i="0">
                <a:solidFill>
                  <a:srgbClr val="11202B"/>
                </a:solidFill>
                <a:latin typeface="Malgun Gothic"/>
                <a:ea typeface="Malgun Gothic"/>
                <a:cs typeface="Malgun Gothic"/>
              </a:rPr>
              <a:t>압박을 받는 쪽에서 골흡수가, 당겨지는 쪽에서 골형성이</a:t>
            </a:r>
            <a:r>
              <a:rPr sz="1400" b="0" i="0">
                <a:solidFill>
                  <a:srgbClr val="11202B"/>
                </a:solidFill>
                <a:latin typeface="Malgun Gothic"/>
                <a:ea typeface="Malgun Gothic"/>
                <a:cs typeface="Malgun Gothic"/>
              </a:rPr>
              <a:t> 일어나 치아가 서서히 이동한다. 9절의 재형성과 10절의 기계적 적응이 실제 치료로 쓰이는 사례다.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치아와 머리뼈 — 특수한 골격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에나멜질의 유래와 재생 불가능성이 자주 묻힌다. 에나멜질은 </a:t>
            </a:r>
            <a:r>
              <a:rPr sz="1600" b="1" i="0">
                <a:solidFill>
                  <a:srgbClr val="11202B"/>
                </a:solidFill>
                <a:latin typeface="Malgun Gothic"/>
                <a:ea typeface="Malgun Gothic"/>
                <a:cs typeface="Malgun Gothic"/>
              </a:rPr>
              <a:t>외배엽</a:t>
            </a:r>
            <a:r>
              <a:rPr sz="1600" b="0" i="0">
                <a:solidFill>
                  <a:srgbClr val="11202B"/>
                </a:solidFill>
                <a:latin typeface="Malgun Gothic"/>
                <a:ea typeface="Malgun Gothic"/>
                <a:cs typeface="Malgun Gothic"/>
              </a:rPr>
              <a:t> 유래이고 상아질과 백악질, 치수는 </a:t>
            </a:r>
            <a:r>
              <a:rPr sz="1600" b="1" i="0">
                <a:solidFill>
                  <a:srgbClr val="11202B"/>
                </a:solidFill>
                <a:latin typeface="Malgun Gothic"/>
                <a:ea typeface="Malgun Gothic"/>
                <a:cs typeface="Malgun Gothic"/>
              </a:rPr>
              <a:t>신경능</a:t>
            </a:r>
            <a:r>
              <a:rPr sz="1600" b="0" i="0">
                <a:solidFill>
                  <a:srgbClr val="11202B"/>
                </a:solidFill>
                <a:latin typeface="Malgun Gothic"/>
                <a:ea typeface="Malgun Gothic"/>
                <a:cs typeface="Malgun Gothic"/>
              </a:rPr>
              <a:t> 유래다. 에나멜질을 만드는 사기질모세포는 치아가 맹출하면서 소실되므로 한 번 손상된 에나멜질은 복구되지 않는다. 반면 상아질은 상아질모세포가 치수 쪽에 남아 있어 자극에 반응해 이차 상아질을 더 만들 수 있다. 또 </a:t>
            </a:r>
            <a:r>
              <a:rPr sz="1600" b="1" i="0">
                <a:solidFill>
                  <a:srgbClr val="11202B"/>
                </a:solidFill>
                <a:latin typeface="Malgun Gothic"/>
                <a:ea typeface="Malgun Gothic"/>
                <a:cs typeface="Malgun Gothic"/>
              </a:rPr>
              <a:t>불소</a:t>
            </a:r>
            <a:r>
              <a:rPr sz="1600" b="0" i="0">
                <a:solidFill>
                  <a:srgbClr val="11202B"/>
                </a:solidFill>
                <a:latin typeface="Malgun Gothic"/>
                <a:ea typeface="Malgun Gothic"/>
                <a:cs typeface="Malgun Gothic"/>
              </a:rPr>
              <a:t>가 충치를 예방하는 기전은 에나멜질의 hydroxyapatite를 fluorapatite로 바꾸어 산에 대한 저항을 높이는 것이며, 발육기에 과량 노출되면 에나멜질 형성이 교란되어 반점이 생긴다(치아 불소증).</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뼈와 관절 질환을 읽는 논리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 절들의 구조로 질환을 분류하면 외울 양이 크게 줄어든다. 네 범주로 묻는다.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기질이 문제인가.</a:t>
            </a:r>
            <a:r>
              <a:rPr sz="1400" b="0" i="0">
                <a:solidFill>
                  <a:srgbClr val="11202B"/>
                </a:solidFill>
                <a:latin typeface="Malgun Gothic"/>
                <a:ea typeface="Malgun Gothic"/>
                <a:cs typeface="Malgun Gothic"/>
              </a:rPr>
              <a:t> 유기 성분, 즉 collagen이 부실한 경우다. 골형성부전증이 대표적이다. 뼈의 양과 무기질화는 비교적 유지되는데 질이 나쁘다.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판단의 출발점은 언제나 </a:t>
            </a:r>
            <a:r>
              <a:rPr sz="1400" b="1" i="0">
                <a:solidFill>
                  <a:srgbClr val="11202B"/>
                </a:solidFill>
                <a:latin typeface="Malgun Gothic"/>
                <a:ea typeface="Malgun Gothic"/>
                <a:cs typeface="Malgun Gothic"/>
              </a:rPr>
              <a:t>골밀도가 아니라 네 가지 검사값과 임상 맥락</a:t>
            </a:r>
            <a:r>
              <a:rPr sz="1400" b="0" i="0">
                <a:solidFill>
                  <a:srgbClr val="11202B"/>
                </a:solidFill>
                <a:latin typeface="Malgun Gothic"/>
                <a:ea typeface="Malgun Gothic"/>
                <a:cs typeface="Malgun Gothic"/>
              </a:rPr>
              <a:t>이다. 골밀도는 양만 알려 주고 질을 알려 주지 않으며, 무기질화 이상에서는 오히려 오해를 부를 수 있다. 골연화증에서 골밀도가 낮게 나오지만 필요한 치료는 골흡수 억제제가 아니라 vitamin D와 인의 보충이다. 흡수 억제제를 잘못 쓰면 무기질화되지 않은 기질이 더 쌓여 악화된다.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무기질화가 문제인가.</a:t>
            </a:r>
            <a:r>
              <a:rPr sz="1400" b="0" i="0">
                <a:solidFill>
                  <a:srgbClr val="11202B"/>
                </a:solidFill>
                <a:latin typeface="Malgun Gothic"/>
                <a:ea typeface="Malgun Gothic"/>
                <a:cs typeface="Malgun Gothic"/>
              </a:rPr>
              <a:t> 기질은 만들어지는데 칼슘과 인이 침착되지 않는 경우다. 구루병과 골연화증이며, 원인은 vitamin D 결핍, 인 소실, 신장 질환으로 나뉜다. 검사에서 alkaline phosphatase가 오른다.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골다공증의 위험 요인도 기전으로 묶인다.</a:t>
            </a:r>
            <a:r>
              <a:rPr sz="1400" b="0" i="0">
                <a:solidFill>
                  <a:srgbClr val="11202B"/>
                </a:solidFill>
                <a:latin typeface="Malgun Gothic"/>
                <a:ea typeface="Malgun Gothic"/>
                <a:cs typeface="Malgun Gothic"/>
              </a:rPr>
              <a:t> 폐경은 estrogen 감소로 RANKL 쪽을 우세하게 만들고, 고령은 osteoblast의 기능과 vitamin D 활성화 능력을 함께 떨어뜨린다. Glucocorticoid는 osteoblast의 분화와 생존을 억제하고 장의 칼슘 흡수를 줄여 가장 흔한 이차성 골다공증의 원인이 된다. 부동은 10절의 기계적 신호를 없앤다. 흡연과 과도한 음주, 저체중, 영양 부족이 더해진다. 위험 요인을 외우는 대신 </a:t>
            </a:r>
            <a:r>
              <a:rPr sz="1400" b="1" i="0">
                <a:solidFill>
                  <a:srgbClr val="11202B"/>
                </a:solidFill>
                <a:latin typeface="Malgun Gothic"/>
                <a:ea typeface="Malgun Gothic"/>
                <a:cs typeface="Malgun Gothic"/>
              </a:rPr>
              <a:t>어느 경로를 건드리는지</a:t>
            </a:r>
            <a:r>
              <a:rPr sz="1400" b="0" i="0">
                <a:solidFill>
                  <a:srgbClr val="11202B"/>
                </a:solidFill>
                <a:latin typeface="Malgun Gothic"/>
                <a:ea typeface="Malgun Gothic"/>
                <a:cs typeface="Malgun Gothic"/>
              </a:rPr>
              <a:t>로 분류하면 치료와 예방의 방향도 함께 정해진다.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재형성의 균형이 문제인가.</a:t>
            </a:r>
            <a:r>
              <a:rPr sz="1400" b="0" i="0">
                <a:solidFill>
                  <a:srgbClr val="11202B"/>
                </a:solidFill>
                <a:latin typeface="Malgun Gothic"/>
                <a:ea typeface="Malgun Gothic"/>
                <a:cs typeface="Malgun Gothic"/>
              </a:rPr>
              <a:t> 양은 정상적으로 무기질화되었으나 전체 양이 줄거나 늘어난 경우다.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흡수 &gt; 형성: </a:t>
            </a:r>
            <a:r>
              <a:rPr sz="1400" b="1" i="0">
                <a:solidFill>
                  <a:srgbClr val="11202B"/>
                </a:solidFill>
                <a:latin typeface="Malgun Gothic"/>
                <a:ea typeface="Malgun Gothic"/>
                <a:cs typeface="Malgun Gothic"/>
              </a:rPr>
              <a:t>골다공증</a:t>
            </a:r>
            <a:r>
              <a:rPr sz="1400" b="0" i="0">
                <a:solidFill>
                  <a:srgbClr val="11202B"/>
                </a:solidFill>
                <a:latin typeface="Malgun Gothic"/>
                <a:ea typeface="Malgun Gothic"/>
                <a:cs typeface="Malgun Gothic"/>
              </a:rPr>
              <a:t>. 폐경, 고령, glucocorticoid, 부동이 원인이다.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흡수 &lt; 형성(또는 형성이 무질서): </a:t>
            </a:r>
            <a:r>
              <a:rPr sz="1400" b="1" i="0">
                <a:solidFill>
                  <a:srgbClr val="11202B"/>
                </a:solidFill>
                <a:latin typeface="Malgun Gothic"/>
                <a:ea typeface="Malgun Gothic"/>
                <a:cs typeface="Malgun Gothic"/>
              </a:rPr>
              <a:t>골화석증</a:t>
            </a:r>
            <a:r>
              <a:rPr sz="1400" b="0" i="0">
                <a:solidFill>
                  <a:srgbClr val="11202B"/>
                </a:solidFill>
                <a:latin typeface="Malgun Gothic"/>
                <a:ea typeface="Malgun Gothic"/>
                <a:cs typeface="Malgun Gothic"/>
              </a:rPr>
              <a:t>(흡수 불가), </a:t>
            </a:r>
            <a:r>
              <a:rPr sz="1400" b="1" i="0">
                <a:solidFill>
                  <a:srgbClr val="11202B"/>
                </a:solidFill>
                <a:latin typeface="Malgun Gothic"/>
                <a:ea typeface="Malgun Gothic"/>
                <a:cs typeface="Malgun Gothic"/>
              </a:rPr>
              <a:t>Paget 병</a:t>
            </a:r>
            <a:r>
              <a:rPr sz="1400" b="0" i="0">
                <a:solidFill>
                  <a:srgbClr val="11202B"/>
                </a:solidFill>
                <a:latin typeface="Malgun Gothic"/>
                <a:ea typeface="Malgun Gothic"/>
                <a:cs typeface="Malgun Gothic"/>
              </a:rPr>
              <a:t>(둘 다 폭주하며 구조가 무질서).</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4. 연골과 윤활막이 문제인가.</a:t>
            </a:r>
            <a:r>
              <a:rPr sz="1400" b="0" i="0">
                <a:solidFill>
                  <a:srgbClr val="11202B"/>
                </a:solidFill>
                <a:latin typeface="Malgun Gothic"/>
                <a:ea typeface="Malgun Gothic"/>
                <a:cs typeface="Malgun Gothic"/>
              </a:rPr>
              <a:t> 골관절염과 염증성 관절염이다. 연골은 재생되지 않으므로 치료의 목표가 복구가 아니라 진행의 지연과 증상 조절에 놓인다는 점에서 앞의 세 범주와 성격이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골절의 치유</a:t>
            </a:r>
            <a:r>
              <a:rPr sz="1400" b="0" i="0">
                <a:solidFill>
                  <a:srgbClr val="11202B"/>
                </a:solidFill>
                <a:latin typeface="Malgun Gothic"/>
                <a:ea typeface="Malgun Gothic"/>
                <a:cs typeface="Malgun Gothic"/>
              </a:rPr>
              <a:t>도 앞의 구조를 따른다. 혈종 형성 → 염증 세포와 혈관의 침입 → 연골성 가골 형성 → 뼈로 치환(연골내골화와 같은 과정) → 재형성으로 원래 모양에 가깝게 정리. 치유가 지연되는 조건이 그대로 예측된다. 혈액 공급이 나쁘거나(개방 골절, 특정 부위), 안정되지 않거나(고정 실패), 감염이 있거나, 전신 요인(흡연, 당뇨, 영양 부족, 일부 약물)이 있으면 늦어진다.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뼈와 관절 질환을 읽는 논리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치유의 두 방식.</a:t>
            </a:r>
            <a:r>
              <a:rPr sz="1800" b="0" i="0">
                <a:solidFill>
                  <a:srgbClr val="11202B"/>
                </a:solidFill>
                <a:latin typeface="Malgun Gothic"/>
                <a:ea typeface="Malgun Gothic"/>
                <a:cs typeface="Malgun Gothic"/>
              </a:rPr>
              <a:t> 골절이 어떻게 고정되었는지에 따라 치유 방식이 달라진다. 틈이 남고 약간의 움직임이 있으면 위에서 본 대로 가골을 거치는 </a:t>
            </a:r>
            <a:r>
              <a:rPr sz="1800" b="1" i="0">
                <a:solidFill>
                  <a:srgbClr val="11202B"/>
                </a:solidFill>
                <a:latin typeface="Malgun Gothic"/>
                <a:ea typeface="Malgun Gothic"/>
                <a:cs typeface="Malgun Gothic"/>
              </a:rPr>
              <a:t>이차 치유</a:t>
            </a:r>
            <a:r>
              <a:rPr sz="1800" b="0" i="0">
                <a:solidFill>
                  <a:srgbClr val="11202B"/>
                </a:solidFill>
                <a:latin typeface="Malgun Gothic"/>
                <a:ea typeface="Malgun Gothic"/>
                <a:cs typeface="Malgun Gothic"/>
              </a:rPr>
              <a:t>가 일어난다. 반면 수술로 골절면을 완벽히 맞추고 압박해 고정하면 가골 없이 osteon이 골절선을 가로질러 직접 자라는 </a:t>
            </a:r>
            <a:r>
              <a:rPr sz="1800" b="1" i="0">
                <a:solidFill>
                  <a:srgbClr val="11202B"/>
                </a:solidFill>
                <a:latin typeface="Malgun Gothic"/>
                <a:ea typeface="Malgun Gothic"/>
                <a:cs typeface="Malgun Gothic"/>
              </a:rPr>
              <a:t>일차 치유</a:t>
            </a:r>
            <a:r>
              <a:rPr sz="1800" b="0" i="0">
                <a:solidFill>
                  <a:srgbClr val="11202B"/>
                </a:solidFill>
                <a:latin typeface="Malgun Gothic"/>
                <a:ea typeface="Malgun Gothic"/>
                <a:cs typeface="Malgun Gothic"/>
              </a:rPr>
              <a:t>가 일어난다. 일차 치유는 가골이 생기지 않으므로 방사선에서 치유의 진행이 잘 보이지 않고, 고정이 조금이라도 불안정하면 실패한다. 어느 쪽을 목표로 하는지에 따라 수술 방법과 경과 판단의 기준이 달라진다.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골절의 부위가 예후를 정하는 예.</a:t>
            </a:r>
            <a:r>
              <a:rPr sz="1800" b="0" i="0">
                <a:solidFill>
                  <a:srgbClr val="11202B"/>
                </a:solidFill>
                <a:latin typeface="Malgun Gothic"/>
                <a:ea typeface="Malgun Gothic"/>
                <a:cs typeface="Malgun Gothic"/>
              </a:rPr>
              <a:t> 넙다리뼈 목, 손배뼈, 발목뼈의 일부는 혈액 공급이 한 방향에서만 들어오므로, 골절선이 혈관을 끊으면 </a:t>
            </a:r>
            <a:r>
              <a:rPr sz="1800" b="1" i="0">
                <a:solidFill>
                  <a:srgbClr val="11202B"/>
                </a:solidFill>
                <a:latin typeface="Malgun Gothic"/>
                <a:ea typeface="Malgun Gothic"/>
                <a:cs typeface="Malgun Gothic"/>
              </a:rPr>
              <a:t>무혈성 괴사</a:t>
            </a:r>
            <a:r>
              <a:rPr sz="1800" b="0" i="0">
                <a:solidFill>
                  <a:srgbClr val="11202B"/>
                </a:solidFill>
                <a:latin typeface="Malgun Gothic"/>
                <a:ea typeface="Malgun Gothic"/>
                <a:cs typeface="Malgun Gothic"/>
              </a:rPr>
              <a:t>가 생긴다. 해부학적 혈액 공급을 아는 것이 예후 판단의 근거가 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15   </a:t>
            </a:r>
            <a:r>
              <a:rPr sz="2400" b="1" i="0">
                <a:solidFill>
                  <a:srgbClr val="FFFFFF"/>
                </a:solidFill>
                <a:latin typeface="Malgun Gothic"/>
                <a:ea typeface="Malgun Gothic"/>
                <a:cs typeface="Malgun Gothic"/>
              </a:rPr>
              <a:t>15. 이 수업이 이어지는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칼슘과 인의 전신 조절, PTH와 vitamin D, FGF23</a:t>
            </a:r>
            <a:r>
              <a:rPr sz="1600" b="0" i="0">
                <a:solidFill>
                  <a:srgbClr val="11202B"/>
                </a:solidFill>
                <a:latin typeface="Malgun Gothic"/>
                <a:ea typeface="Malgun Gothic"/>
                <a:cs typeface="Malgun Gothic"/>
              </a:rPr>
              <a:t>: M01-W02-L02에서 다루었다. 만성 신질환의 뼈–무기질 이상은 M01-W02-L01에서 다루었다.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collagen의 구조와 합성, 번역 후 수정</a:t>
            </a:r>
            <a:r>
              <a:rPr sz="1600" b="0" i="0">
                <a:solidFill>
                  <a:srgbClr val="11202B"/>
                </a:solidFill>
                <a:latin typeface="Malgun Gothic"/>
                <a:ea typeface="Malgun Gothic"/>
                <a:cs typeface="Malgun Gothic"/>
              </a:rPr>
              <a:t>: M02-W02-L01에서 섬유성 단백질로 다룬다. Vitamin C가 collagen의 proline과 lysine을 hydroxylation하는 데 필요하다는 사실과 괴혈병의 기전이 여기서 설명된다.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세포외기질과 세포 접착</a:t>
            </a:r>
            <a:r>
              <a:rPr sz="1600" b="0" i="0">
                <a:solidFill>
                  <a:srgbClr val="11202B"/>
                </a:solidFill>
                <a:latin typeface="Malgun Gothic"/>
                <a:ea typeface="Malgun Gothic"/>
                <a:cs typeface="Malgun Gothic"/>
              </a:rPr>
              <a:t>: M01-W11-L01에서 다룬다. 연골과 뼈 기질은 세포외기질의 특수한 형태다.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Wnt 신호 경로</a:t>
            </a:r>
            <a:r>
              <a:rPr sz="1600" b="0" i="0">
                <a:solidFill>
                  <a:srgbClr val="11202B"/>
                </a:solidFill>
                <a:latin typeface="Malgun Gothic"/>
                <a:ea typeface="Malgun Gothic"/>
                <a:cs typeface="Malgun Gothic"/>
              </a:rPr>
              <a:t>: M01-W11-L02에서 다룬다. Sclerostin이 억제하는 경로다.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중간엽 줄기세포와 분화 운명 결정</a:t>
            </a:r>
            <a:r>
              <a:rPr sz="1600" b="0" i="0">
                <a:solidFill>
                  <a:srgbClr val="11202B"/>
                </a:solidFill>
                <a:latin typeface="Malgun Gothic"/>
                <a:ea typeface="Malgun Gothic"/>
                <a:cs typeface="Malgun Gothic"/>
              </a:rPr>
              <a:t>: M01-W12-L02에서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파골세포의 기원인 단핵구 계통</a:t>
            </a:r>
            <a:r>
              <a:rPr sz="1600" b="0" i="0">
                <a:solidFill>
                  <a:srgbClr val="11202B"/>
                </a:solidFill>
                <a:latin typeface="Malgun Gothic"/>
                <a:ea typeface="Malgun Gothic"/>
                <a:cs typeface="Malgun Gothic"/>
              </a:rPr>
              <a:t>: 혈액세포의 분화는 M01-W08-L02와 M05에서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사지와 체절의 발생</a:t>
            </a:r>
            <a:r>
              <a:rPr sz="1600" b="0" i="0">
                <a:solidFill>
                  <a:srgbClr val="11202B"/>
                </a:solidFill>
                <a:latin typeface="Malgun Gothic"/>
                <a:ea typeface="Malgun Gothic"/>
                <a:cs typeface="Malgun Gothic"/>
              </a:rPr>
              <a:t>: M01-W03-L01에서 다루었다.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15   </a:t>
            </a:r>
            <a:r>
              <a:rPr sz="2400" b="1" i="0">
                <a:solidFill>
                  <a:srgbClr val="FFFFFF"/>
                </a:solidFill>
                <a:latin typeface="Malgun Gothic"/>
                <a:ea typeface="Malgun Gothic"/>
                <a:cs typeface="Malgun Gothic"/>
              </a:rPr>
              <a:t>15. 이 수업이 이어지는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16</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뼈를 하나의 문장으로 요약하면 이렇다. </a:t>
            </a:r>
            <a:r>
              <a:rPr sz="1600" b="1" i="0">
                <a:solidFill>
                  <a:srgbClr val="11202B"/>
                </a:solidFill>
                <a:latin typeface="Malgun Gothic"/>
                <a:ea typeface="Malgun Gothic"/>
                <a:cs typeface="Malgun Gothic"/>
              </a:rPr>
              <a:t>뼈는 두 성분의 복합 재료이고, 네 세포가 지휘 관계를 이루며 끊임없이 허물고 다시 짓는 대사 조직이며, 받는 힘에 맞추어 구조를 바꾼다.</a:t>
            </a:r>
            <a:r>
              <a:rPr sz="1600" b="0" i="0">
                <a:solidFill>
                  <a:srgbClr val="11202B"/>
                </a:solidFill>
                <a:latin typeface="Malgun Gothic"/>
                <a:ea typeface="Malgun Gothic"/>
                <a:cs typeface="Malgun Gothic"/>
              </a:rPr>
              <a:t> 이 세 가지를 쥐고 있으면 대사성 뼈 질환, 골다공증 치료제, 골절 치유, 부동에 의한 골소실이 모두 같은 틀 안에서 설명된다.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뼈가 동시에 수행해야 하는 요구 가운데 서로 모순되는 것을 들고, 그 해결 방식을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지지와 보호를 위해서는 단단하고 변하지 않아야 하지만, 무기질 저장소로서는 칼슘을 쉽게 꺼내 쓸 수 있어야 한다. 또 움직임의 비용을 줄이려면 가벼워야 한다. 뼈는 이를 끊임없이 허물고 다시 짓는 재형성으로 해결한다. 모양은 유지하면서 재료를 교체하므로 구조적 요구와 대사적 요구를 동시에 만족하며, 성인에서도 해마다 전체 골격의 약 10%가 교체된다. 가벼움은 재료를 중심축에서 먼 바깥에 배치한 관 구조와 힘의 방향을 따라 배열된 해면뼈 기둥으로 해결한다.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뼈 기질의 두 성분과 각각이 담당하는 기계적 성질을 쓰고, 이를 확인하는 간단한 실험을 서술하시오.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유기 성분인 I형 collagen이 인장 강도와 유연성을, 무기 성분인 hydroxyapatite가 압축 강도와 단단함을 담당한다. 뼈를 산에 담가 무기질을 녹이면 모양은 유지되지만 고무처럼 휘고, 태워서 유기 성분을 없애면 형태는 남지만 쉽게 바스러진다. 두 성분이 각각 없을 때 잃는 성질이 다르다는 것이 역할 분담의 근거다.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골다공증과 골연화증의 차이를 기질과 무기질화의 관점에서 설명하고, 검사 소견의 차이를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골다공증은 정상적으로 무기질화된 뼈의 양 자체가 줄어든 것이고, 골연화증은 기질은 정상적으로 만들어지는데 칼슘과 인이 충분히 침착되지 않아 뼈가 물러진 것이다. 골다공증은 대사가 정상이므로 칼슘, 인, alkaline phosphatase, PTH가 모두 정상이며 골절이 생기기 전까지 증상이 없다. 골연화증은 칼슘과 인이 낮고 alkaline phosphatase가 높으며 PTH가 이차적으로 올라가고, 뼈 통증과 미세 골절이 나타난다. 성장판이 열려 있는 소아에서는 같은 병태가 구루병으로 나타나 다리가 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Osteoclast가 다른 세 세포와 기원이 다르다는 사실이 임상에서 어떤 결과를 낳는지 세 가지로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Osteoclast는 중간엽이 아니라 단핵구·대식세포 계통의 조혈 전구세포가 융합해 만들어진다. 첫째, 조혈 계통이므로 골수 이식으로 교체할 수 있고 osteoclast 기능 이상에 의한 골화석증이 골수 이식으로 치료된다. 둘째, 산 분비에 carbonic anhydrase II를 쓰므로 이 효소의 결핍은 골화석증과 신세뇨관 산증을 함께 일으킨다. 셋째, 골화석증에서는 뼈가 두꺼워지는데도 낡은 뼈가 교체되지 않아 미세 손상이 쌓여 골절이 잦고, 골수 공간이 좁아져 빈혈과 감염이, 신경 구멍이 좁아져 뇌신경 마비가 생긴다.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긴뼈의 몸통이 속이 빈 관 구조인 이유를 역학적으로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굽힘에 대한 저항은 재료가 중심축에서 멀리 있을수록 커진다. 따라서 같은 양의 재료라면 가운데를 비우고 바깥쪽에 배치하는 편이 훨씬 강하다. 속이 빈 구조는 재료를 아끼려다 생긴 타협이 아니라 주어진 재료로 강도를 최대화한 결과다. 또한 비워진 가운데 공간이 골수로 쓰여 조혈이 일어나므로 공간이 낭비되지도 않는다.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막내골화와 연골내골화를 비교하고, 말단비대증에서 길이가 아니라 굵기와 얼굴뼈가 커지는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막내골화는 중간엽 세포가 직접 osteoblast로 분화해 뼈를 만드는 방식으로 머리뼈의 납작뼈, 얼굴뼈, 빗장뼈가 이렇게 생긴다. 연골내골화는 유리연골 모형을 먼저 만들고 뼈로 치환하는 방식으로 긴뼈를 포함한 대부분의 뼈가 이렇게 생기며 성장판을 남긴다. 말단비대증은 성장판이 닫힌 뒤에 GH가 과잉된 상태이므로 연골내골화에 의한 길이 성장은 불가능하다. 반면 막내골화로 자라는 얼굴뼈와 턱, 이마, 그리고 뼈의 둘레 방향 성장은 계속되므로 굵어지고 커진다.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성장판의 구역을 순서대로 쓰고, 성장판이 닫히는 기전을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골단에서 골간 쪽으로 휴지 구역, 증식 구역, 비대 구역, 석회화 구역, 골화 구역의 순서다. 증식 구역에서 연골세포가 분열해 세로로 쌓이고 비대 구역에서 세포가 크게 부풀어 길이가 늘며, 석회화와 골화를 거쳐 뼈로 치환된다. 사춘기에 estrogen이 올라가면 증식 구역의 세포가 고갈되고 성장판 전체가 뼈로 치환되어 닫힌다. 남성에서도 testosterone이 aromatase를 통해 estrogen으로 전환되어 작용하므로, aromatase 결핍이나 estrogen 수용체 결함에서는 성인이 되어도 키가 계속 자란다.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재형성에서 흡수와 형성의 속도가 비대칭이라는 사실이 임상적으로 뜻하는 바를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Osteoclast에 의한 흡수는 약 2~3주에 끝나지만 osteoblast에 의한 형성은 약 3개월이 걸린다. 따라서 재형성의 빈도 자체가 올라가면 어느 시점에나 파였지만 아직 채워지지 않은 자리가 많아져 전체 골량이 순감소한다. 폐경 후 골소실이 빠른 것이 estrogen 감소로 재형성 빈도가 올라가기 때문이며, 흡수를 억제하는 약물이 효과를 내는 것도 이 빈도를 낮추어 미완성 상태의 자리를 줄이기 때문이다.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RANKL과 OPG가 뼈 흡수를 조절하는 방식을 설명하고, PTH가 osteoclast에 작용하는 경로를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RANKL은 osteoblast 계열 세포와 osteocyte가 분비해 osteoclast 전구세포의 RANK에 결합함으로써 분화와 활성을 일으킨다. OPG는 같은 세포들이 분비하는 미끼 수용체로 RANKL을 가로채 RANK에 닿지 못하게 한다. 따라서 흡수량은 두 분자의 비율이 정하며, 뼈를 짓는 쪽이 허무는 쪽을 지휘하는 구조다. Osteoclast에는 PTH 수용체가 없으므로 PTH는 직접 작용하지 않는다. PTH는 osteoblast 계열 세포와 osteocyte에 작용해 RANKL을 늘리고 OPG를 줄여 간접적으로 osteoclast를 활성화한다.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간헐적 PTH 투여가 지속적 PTH 상승과 반대 결과를 내는 현상을 설명하고, 이것이 어떤 일반 원리를 보여 주는지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PTH가 지속적으로 높으면 RANKL이 늘고 OPG가 줄어 골흡수가 우세해져 뼈가 줄어든다. 그러나 하루 한 번처럼 간헐적으로 투여하면 osteoblast의 활동과 생존이 더 크게 자극되어 뼈 형성이 흡수를 앞서고 골량이 늘어난다. Teriparatide가 이 방식을 쓴다. 이는 같은 신호 분자라도 농도의 시간적 양상이 다르면 반대 결과가 나올 수 있다는 원리를 보여 주며, GnRH의 박동성 분비가 지속 투여 시 오히려 생식축을 억제하는 것과 같은 구조다.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네 가지 대사성 뼈 질환을 칼슘, 인, alkaline phosphatase, PTH의 조합으로 구분하시오.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골다공증은 네 값이 모두 정상이다. 뼈의 양이 줄었을 뿐 대사가 정상이기 때문이며, 골절 전까지 증상이 없다. 골연화증과 구루병은 칼슘과 인이 낮고 alkaline phosphatase가 높으며 PTH가 이차적으로 올라간다. 일차성 부갑상샘 기능항진증은 칼슘이 높고 인이 낮으며 PTH가 높다. Paget 병은 국소적으로 재형성이 폭주하는 상태로 칼슘과 인은 대개 정상인데 alkaline phosphatase만 크게 올라간다.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Osteocyte가 기계적 자극을 감지하는 방식과 그에 대한 반응을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뼈에 하중이 걸리면 뼈가 미세하게 변형되고 lacuna와 canaliculi 안의 액체가 흐른다. Osteocyte의 돌기가 이 액체 흐름에 의한 전단력을 감지한다. 뼈 자체의 변형량은 매우 작지만 좁은 통로에서의 액체 이동은 충분히 큰 신호가 된다. 하중을 충분히 받으면 osteocyte가 sclerostin 분비를 줄이고, sclerostin이 억제하던 Wnt 신호가 살아나 osteoblast의 활동이 늘어 뼈가 더해진다. 하중이 없으면 sclerostin과 RANKL이 늘어 뼈가 줄어든다.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관절연골에 혈관이 없다는 사실에서 따라 나오는 결과를 세 가지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영양을 윤활액에서 확산으로 받아야 하며 관절이 움직일 때 연골이 눌렸다 펴지면서 액체가 드나드는 것이 교환을 돕는다. 그래서 움직이지 않는 관절의 연골이 나빠진다. 둘째, 신경도 없으므로 연골 자체는 통증을 느끼지 않으며 관절 통증은 윤활막, 뼈, 인대, 관절주머니에서 온다. 셋째, 재생이 거의 일어나지 않아 손상된 연골이 원래 조직으로 복구되지 않고 기계적 성질이 떨어지는 섬유연골로 메워진다.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골관절염과 류마티스 관절염을 침범 부위와 증상 양상으로 구분하시오.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골관절염은 연골 마모가 중심인 비염증성 과정으로 체중을 받는 관절과 손의 원위지간관절을 비대칭적으로 침범하고, 아침 경직이 30분 이내로 짧으며 쓸수록 아프고 쉬면 나아진다. 방사선에서 관절 간격이 비대칭적으로 좁아지고 뼈곁돌기와 연골밑 경화가 보인다. 류마티스 관절염은 윤활막의 자가면역 염증으로 손의 중수지절관절과 근위지간관절을 대칭적으로 침범하고 원위지간관절은 대개 보존되며, 아침 경직이 1시간 이상 지속되고 움직이면 나아진다. 방사선에서 관절 주위 골감소와 미란이 보인다.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골절 치유의 단계를 쓰고, 치유가 지연되는 조건을 기전과 함께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혈종 형성, 염증 세포와 혈관의 침입, 연골성 가골 형성, 연골내골화와 같은 과정을 통한 뼈로의 치환, 그리고 재형성에 의한 모양 정리의 순서로 진행한다. 치유가 지연되는 조건은 각 단계의 요구와 대응한다. 혈액 공급이 나쁘면 세포와 산소가 공급되지 않아 늦어지고, 골절부가 안정되지 않으면 형성된 조직이 반복해 손상되며, 감염이 있으면 염증이 치유로 넘어가지 못한다. 흡연은 혈류를 줄이고 당뇨는 혈관과 세포 기능을 떨어뜨리며 영양 부족은 재료를 제한한다. 넙다리뼈 목이나 손배뼈처럼 혈액 공급이 한 방향에서만 들어오는 부위는 골절이 혈관을 끊어 무혈성 괴사가 생길 수 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척추의 굽이가 하중을 견디는 데 유리한 이유를 쓰고, 이차 굽이가 생기는 시기를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척추는 옆에서 보면 목과 허리가 앞으로, 등과 엉치가 뒤로 볼록한 네 개의 굽이를 이룬다. 이 굽이가 용수철처럼 작용해 충격을 흡수하고 하중을 분산하므로 곧은 기둥보다 훨씬 큰 힘을 견딘다. 태아기에는 전체가 뒤로 볼록한 하나의 굽이만 있고, 아기가 목을 들면서 목의 굽이가, 걷기 시작하면서 허리의 굽이가 생긴다. 이 두 이차 굽이는 발달 과정에서 기능적 요구에 따라 만들어진 것이다.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어깨관절과 엉덩관절의 구조적 차이를 각각의 기능적 요구와 연결해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어깨는 운동 범위가 요구되므로 관절오목이 얕고 이음뼈가 빗장뼈 한 곳에서만 몸통과 관절하며 뼈가 가늘다. 그 결과 사람 몸에서 운동 범위가 가장 크지만 탈구도 가장 흔하다. 엉덩관절은 체중 지지와 안정성이 요구되므로 절구가 깊어 넙다리뼈 머리를 감싸고 볼기뼈가 엉치뼈와 단단히 결합하며 뼈가 굵다. 그 결과 탈구가 드물고 일어나려면 큰 외력이 필요하다. 움직임과 안정성을 맞바꾸는 원리가 같은 몸 안에서 두 방향으로 극단화된 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종자뼈의 역할을 무릎뼈를 예로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종자뼈는 힘줄 안에 생긴 뼈다. 무릎뼈는 넙다리네갈래근의 힘줄 안에 있으며, 힘줄이 무릎관절 앞에서 꺾이는 각도를 키워 관절 중심으로부터의 모멘트 팔을 늘린다. 같은 근력으로 더 큰 토크를 낼 수 있게 하는 장치이며, 무릎뼈를 제거하면 넙다리네갈래근의 효율이 크게 떨어진다. 지렛대의 모멘트 팔을 늘리는 역학적 해법이 뼈의 형태로 구현된 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긴뼈의 세 갈래 혈액 공급을 쓰고, 넙다리뼈 목 골절과 몸통 골절의 예후가 다른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영양 동맥이 몸통 가운데로 들어와 치밀뼈 안쪽 3분의 2와 골수를, 골막 동맥이 바깥 3분의 1을, 골단 동맥이 뼈 끝을 담당한다. 영양 동맥이 끊겨도 골막 동맥이 남으면 치유가 진행된다. 그런데 넙다리뼈 머리는 혈관이 관절면 쪽에서 거꾸로 올라오는 역행성 공급을 받으므로, 목 부위에서 골절이 생기면 그 혈관이 끊겨 머리 조각이 혈액을 받지 못하고 무혈성 괴사에 빠진다. 몸통 골절은 주위에 근육과 골막의 혈류가 풍부해 치유가 비교적 잘 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성인에서 적색 골수가 남는 부위를 쓰고, 이 사실이 임상에서 어떻게 쓰이는지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소아에서는 거의 모든 뼈에 적색 골수가 있지만 성인에서는 축성 골격과 긴뼈의 몸쪽 끝, 즉 척추, 복장뼈, 갈비뼈, 골반, 넙다리뼈와 위팔뼈의 몸쪽에 남고 나머지는 지방으로 대치된 황색 골수가 된다. 따라서 골수 검사는 적색 골수가 있는 엉덩뼈 능선에서 시행한다. 또 뼈 전이가 적색 골수가 있는 척추, 골반, 갈비뼈에 먼저 나타나는 경향이 있는데, 혈류가 풍부하고 혈관 구조가 느린 흐름을 허용하기 때문으로 설명된다.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골용해성 전이와 골형성성 전이의 기전을 재형성 조절의 관점에서 설명하고 대표적인 원발암을 드시오.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골용해성 전이는 종양세포가 RANKL 생산을 늘리거나 RANKL을 유도하는 인자를 분비해 osteoclast를 과도하게 활성화한 결과이며, 뼈가 녹아 방사선에서 구멍처럼 보인다. 유방암, 폐암, 다발골수종에서 흔하다. 골형성성 전이는 종양세포가 osteoblast를 자극해 무질서한 뼈가 과도하게 만들어진 것으로 방사선에서 하얗게 보이며 전립선암에서 특징적이다. 두 경우 모두 종양이 뼈의 정상 재형성 회로를 가로채 쓰는 것이므로 bisphosphonate와 denosumab 같은 흡수 억제제가 치료에 쓰인다.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머리뼈의 성장 방식이 긴뼈와 어떻게 다른지 쓰고, 두개골 조기유합증에서 머리 모양이 변형되는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머리뼈의 납작뼈는 막내골화로 만들어져 성장판이 없고, 뼈와 뼈 사이의 봉합에서 가장자리에 뼈가 더해지며 자란다. 성장을 이끄는 것은 뼈가 아니라 뇌의 부피 증가이며, 자라는 뇌가 봉합을 밀어내면 그 자리에 새 뼈가 더해진다. 따라서 어느 봉합이 일찍 닫히면 그 봉합에 수직인 방향으로는 더 자라지 못하고, 열려 있는 다른 봉합 쪽으로 보상 성장이 일어나 머리 모양이 특징적으로 변형된다. 어느 봉합이 닫혔는지에 따라 변형의 방향이 정해진다.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치아를 이루는 네 조직을 유래와 재생 가능성으로 구분하고, 충치가 저절로 낫지 않는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에나멜질은 외배엽에서 유래하고 상아질, 백악질, 치수는 신경능에서 유래한다. 에나멜질은 약 96%가 무기질로 몸에서 가장 단단하지만, 이를 만드는 사기질모세포가 치아가 맹출하면서 사라지므로 한 번 손상되면 복구되지 않는다. 그래서 충치로 파괴된 에나멜질은 저절로 낫지 않고 수복해야 한다. 반면 상아질은 상아질모세포가 치수 쪽에 남아 있어 자극에 반응해 이차 상아질을 더 만들 수 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치아 교정에서 치아가 이동하는 기전을 설명하고, 이것이 어떤 일반 원리의 응용인지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치아는 치조골에 직접 융합되어 있지 않고 치주인대로 매달려 있다. 지속적인 힘을 주면 압박을 받는 쪽의 치조골에서 골흡수가 일어나고 당겨지는 쪽에서 골형성이 일어나, 치아가 힘의 방향으로 서서히 이동하고 그 자리에 뼈가 다시 만들어진다. 이는 기계적 자극이 osteocyte를 통해 감지되어 재형성의 방향을 바꾸는 원리, 즉 Wolff 법칙의 임상적 응용이다. 힘의 크기보다 지속성이 중요하며, 과도한 힘은 오히려 치주인대의 혈류를 끊어 괴사와 뿌리 흡수를 일으킨다.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M01-W04-L01  ·  골학 요약: 골격·관절·뼈의 재형성</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Standring S, ed. Gray's Anatomy: The Anatomical Basis of Clinical Practice. 42nd ed. Elsevier; 2020.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Hall JE, Hall ME. Guyton and Hall Textbook of Medical Physiology. 14th ed. Elsevier; 2021. Chapter 80, Parathyroid Hormone, Calcitonin, Calcium and Phosphate Metabolism, Vitamin D, Bone and Teeth.</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Kumar V, Abbas AK, Aster JC. Robbins and Cotran Pathologic Basis of Disease. 10th ed. Elsevier; 2021. Chapter 26, Bones, Joints, and Soft Tissue Tumors.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et al. Molecular Biology of the Cell. 7th ed. Chapter 19: Cell Junctions and the Extracellular Matrix. W.W. Norton; 2022.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Boyle WJ, Simonet WS, Lacey DL. Osteoclast differentiation and activation. Nature. 2003;423(6937):337–342.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Bonewald LF. The amazing osteocyte. J Bone Miner Res. 2011;26(2):229–238.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Compston JE, McClung MR, Leslie WD. Osteoporosis. Lancet. 2019;393(10169):364–376.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