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유사분열과 감수분열의 비교, 그리고 다양성이 만들어지는 두 지점. 한 번의 복제 뒤 두 번 분열하는 구조, 제1분열에서 상동 염색체가 갈라지고 제2분열에서 자매 염색분체가 갈라지는 차이, 독립적 배열과 교차가 조합을 늘리는 방식을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유전기초 요약: DNA·유전자·유전과 변이</a:t>
            </a:r>
          </a:p>
          <a:p>
            <a:r>
              <a:rPr sz="1500" b="0" i="0">
                <a:solidFill>
                  <a:srgbClr val="B9D2E8"/>
                </a:solidFill>
                <a:latin typeface="Malgun Gothic"/>
                <a:ea typeface="Malgun Gothic"/>
                <a:cs typeface="Malgun Gothic"/>
              </a:rPr>
              <a:t>Genetics: DNA, Genes, Inheritance and Variation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M01-W04-L03  ·  1부</a:t>
            </a:r>
          </a:p>
          <a:p>
            <a:r>
              <a:rPr sz="1100" b="0" i="0">
                <a:solidFill>
                  <a:srgbClr val="F2B705"/>
                </a:solidFill>
                <a:latin typeface="Malgun Gothic"/>
                <a:ea typeface="Malgun Gothic"/>
                <a:cs typeface="Malgun Gothic"/>
              </a:rPr>
              <a:t>전체 18절 가운데 10절</a:t>
            </a:r>
          </a:p>
          <a:p>
            <a:r>
              <a:rPr sz="1100" b="0" i="0">
                <a:solidFill>
                  <a:srgbClr val="9FBEDA"/>
                </a:solidFill>
                <a:latin typeface="Malgun Gothic"/>
                <a:ea typeface="Malgun Gothic"/>
                <a:cs typeface="Malgun Gothic"/>
              </a:rPr>
              <a:t>4주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DNA가 유전물질이라는 결론에 이른 실험을 설계와 근거로 서술한다.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유전자에서 형질에 이르는 사슬을 단계로 나누고 한 유전자 한 효소 가설의 한계를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유사분열과 감수분열을 염색체 수와 유전적 결과로 비교한다.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멘델의 두 법칙을 서술하고 각각의 세포학적 근거를 감수분열로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우성과 열성이 상대적 개념인 이유를 설명하고 불완전우성·공동우성과 구분한다.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연관과 교차를 설명하고 재조합 빈도가 유전자 사이 거리를 알려 주는 원리를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X 연관 유전의 특징을 가계도에서 식별하고 X 불활성화가 여성 보인자에 미치는 영향을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비멘델 유전의 네 가지 양식을 구분하고 각각의 가계도 특징을 쓴다.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변이를 염기 수준과 염색체 수준으로 분류하고 결과를 예측한다.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다인자 형질의 유전을 역치 모형으로 설명하고 유전율의 의미를 정확히 서술한다.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Hardy–Weinberg 평형의 가정과 쓰임을 설명하고 보인자 빈도를 계산한다.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M01-W02-L03 생식계 요약: 생식기관·생식세포·호르몬 — 감수분열, 염색체 비분리, 부모 연령의 효과</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M01-W03-L01 발생 요약: 수정·배엽·기관 형성 — 유전자 발현과 세포 운명</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유전정보의 흐름: 복제·전사·번역 — 복제, 전사, 번역의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유전이 답해야 하는 질문</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무엇이 전해지는가 — DNA가 유전물질이라는 근거</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유전자에서 형질까지</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염색체와 두 종류의 세포분열</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멘델의 두 법칙과 그 세포학적 근거</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우성과 열성은 상대적이다</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연관과 교차 — 독립의 법칙이 깨지는 곳</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성 염색체와 X 불활성화</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비멘델 유전의 네 가지 양식</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변이는 어떻게 생기고 왜 대부분 교정되는가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유전이 답해야 하는 질문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자식이 부모를 닮는다는 사실은 누구나 안다. 유전학이 답해야 하는 것은 그 다음 질문들이다. </a:t>
            </a:r>
            <a:r>
              <a:rPr sz="1600" b="1" i="0">
                <a:solidFill>
                  <a:srgbClr val="11202B"/>
                </a:solidFill>
                <a:latin typeface="Malgun Gothic"/>
                <a:ea typeface="Malgun Gothic"/>
                <a:cs typeface="Malgun Gothic"/>
              </a:rPr>
              <a:t>무엇이 전해지는가, 어떤 규칙으로 전해지는가, 전해진 것이 어떻게 형질이 되는가, 그리고 왜 완전히 같지는 않은가.</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네 질문이 유전학의 네 층위에 대응한다.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전달 유전학</a:t>
            </a:r>
            <a:r>
              <a:rPr sz="1600" b="0" i="0">
                <a:solidFill>
                  <a:srgbClr val="11202B"/>
                </a:solidFill>
                <a:latin typeface="Malgun Gothic"/>
                <a:ea typeface="Malgun Gothic"/>
                <a:cs typeface="Malgun Gothic"/>
              </a:rPr>
              <a:t>: 형질이 세대를 건너 어떻게 분배되는지를 본다. 멘델에서 시작했다.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분자 유전학</a:t>
            </a:r>
            <a:r>
              <a:rPr sz="1600" b="0" i="0">
                <a:solidFill>
                  <a:srgbClr val="11202B"/>
                </a:solidFill>
                <a:latin typeface="Malgun Gothic"/>
                <a:ea typeface="Malgun Gothic"/>
                <a:cs typeface="Malgun Gothic"/>
              </a:rPr>
              <a:t>: 유전물질의 화학적 실체와 정보가 읽히는 방식을 본다.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집단 유전학</a:t>
            </a:r>
            <a:r>
              <a:rPr sz="1600" b="0" i="0">
                <a:solidFill>
                  <a:srgbClr val="11202B"/>
                </a:solidFill>
                <a:latin typeface="Malgun Gothic"/>
                <a:ea typeface="Malgun Gothic"/>
                <a:cs typeface="Malgun Gothic"/>
              </a:rPr>
              <a:t>: 집단 안에서 대립유전자의 빈도가 어떻게 변하는지를 본다.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양적 유전학</a:t>
            </a:r>
            <a:r>
              <a:rPr sz="1600" b="0" i="0">
                <a:solidFill>
                  <a:srgbClr val="11202B"/>
                </a:solidFill>
                <a:latin typeface="Malgun Gothic"/>
                <a:ea typeface="Malgun Gothic"/>
                <a:cs typeface="Malgun Gothic"/>
              </a:rPr>
              <a:t>: 키나 혈압처럼 연속적인 형질이 어떻게 유전되는지를 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역사적으로 전달 유전학이 먼저 확립되었고 분자적 실체는 뒤에 밝혀졌다는 점이 중요하다. 멘델은 DNA를 몰랐지만 </a:t>
            </a:r>
            <a:r>
              <a:rPr sz="1600" b="1" i="0">
                <a:solidFill>
                  <a:srgbClr val="11202B"/>
                </a:solidFill>
                <a:latin typeface="Malgun Gothic"/>
                <a:ea typeface="Malgun Gothic"/>
                <a:cs typeface="Malgun Gothic"/>
              </a:rPr>
              <a:t>입자처럼 분리되고 재조합되는 무언가</a:t>
            </a:r>
            <a:r>
              <a:rPr sz="1600" b="0" i="0">
                <a:solidFill>
                  <a:srgbClr val="11202B"/>
                </a:solidFill>
                <a:latin typeface="Malgun Gothic"/>
                <a:ea typeface="Malgun Gothic"/>
                <a:cs typeface="Malgun Gothic"/>
              </a:rPr>
              <a:t>가 있어야 한다는 것을 교배 결과만으로 추론했다. 관찰된 규칙에서 보이지 않는 실체를 추론하는 과정이 이 분야의 성격을 보여 준다.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유전이 답해야 하는 질문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수업의 목표는 </a:t>
            </a:r>
            <a:r>
              <a:rPr sz="1600" b="1" i="0">
                <a:solidFill>
                  <a:srgbClr val="11202B"/>
                </a:solidFill>
                <a:latin typeface="Malgun Gothic"/>
                <a:ea typeface="Malgun Gothic"/>
                <a:cs typeface="Malgun Gothic"/>
              </a:rPr>
              <a:t>사슬을 세우는 것</a:t>
            </a:r>
            <a:r>
              <a:rPr sz="1600" b="0" i="0">
                <a:solidFill>
                  <a:srgbClr val="11202B"/>
                </a:solidFill>
                <a:latin typeface="Malgun Gothic"/>
                <a:ea typeface="Malgun Gothic"/>
                <a:cs typeface="Malgun Gothic"/>
              </a:rPr>
              <a:t>이다. DNA → 유전자 → 전사와 번역 → 단백질 → 세포의 성질 → 개체의 형질, 그리고 그 위에 감수분열에 의한 세대 간 전달이 얹힌다. 사슬이 서 있으면 유전 질환이 사슬의 어느 고리가 바뀐 결과인지로 정리되고, 왜 같은 유전자의 변이가 때로는 중증이고 때로는 경증인지도 물을 수 있게 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무엇이 전해지는가 — DNA가 유전물질이라는 근거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절에서 유전학이 답해야 할 질문을 넷으로 나누었다. 그 첫 번째가 "무엇이 전해지는가"다. 지금은 당연해 보이지만 20세기 중반까지도 답이 정해져 있지 않았고, </a:t>
            </a:r>
            <a:r>
              <a:rPr sz="1400" b="1" i="0">
                <a:solidFill>
                  <a:srgbClr val="11202B"/>
                </a:solidFill>
                <a:latin typeface="Malgun Gothic"/>
                <a:ea typeface="Malgun Gothic"/>
                <a:cs typeface="Malgun Gothic"/>
              </a:rPr>
              <a:t>답을 가린 것은 논증이 아니라 실험이었다.</a:t>
            </a:r>
            <a:r>
              <a:rPr sz="1400" b="0" i="0">
                <a:solidFill>
                  <a:srgbClr val="11202B"/>
                </a:solidFill>
                <a:latin typeface="Malgun Gothic"/>
                <a:ea typeface="Malgun Gothic"/>
                <a:cs typeface="Malgun Gothic"/>
              </a:rPr>
              <a:t> 그 실험들이 어떻게 설계되었는지를 보는 것이 이 절의 목적이다.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20세기 초까지 유전물질의 후보는 단백질이 유력했다. 단백질은 20종의 아미노산으로 이루어져 다양하고, DNA는 네 종류의 염기뿐이라 단조로워 보였기 때문이다. 결론이 뒤집히는 데 세 실험이 결정적이었다.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Griffith의 형질전환(1928).</a:t>
            </a:r>
            <a:r>
              <a:rPr sz="1400" b="0" i="0">
                <a:solidFill>
                  <a:srgbClr val="11202B"/>
                </a:solidFill>
                <a:latin typeface="Malgun Gothic"/>
                <a:ea typeface="Malgun Gothic"/>
                <a:cs typeface="Malgun Gothic"/>
              </a:rPr>
              <a:t> 폐렴구균에 독성이 있는 매끄러운 균주와 독성이 없는 거친 균주가 있다. 열로 죽인 매끄러운 균과 살아 있는 거친 균을 함께 생쥐에 주입하면 생쥐가 죽고, 그 몸에서 </a:t>
            </a:r>
            <a:r>
              <a:rPr sz="1400" b="1" i="0">
                <a:solidFill>
                  <a:srgbClr val="11202B"/>
                </a:solidFill>
                <a:latin typeface="Malgun Gothic"/>
                <a:ea typeface="Malgun Gothic"/>
                <a:cs typeface="Malgun Gothic"/>
              </a:rPr>
              <a:t>살아 있는 매끄러운 균</a:t>
            </a:r>
            <a:r>
              <a:rPr sz="1400" b="0" i="0">
                <a:solidFill>
                  <a:srgbClr val="11202B"/>
                </a:solidFill>
                <a:latin typeface="Malgun Gothic"/>
                <a:ea typeface="Malgun Gothic"/>
                <a:cs typeface="Malgun Gothic"/>
              </a:rPr>
              <a:t>이 발견된다. 죽은 균에서 나온 무언가가 살아 있는 균의 성질을 바꾸었고, 그 변화가 </a:t>
            </a:r>
            <a:r>
              <a:rPr sz="1400" b="1" i="0">
                <a:solidFill>
                  <a:srgbClr val="11202B"/>
                </a:solidFill>
                <a:latin typeface="Malgun Gothic"/>
                <a:ea typeface="Malgun Gothic"/>
                <a:cs typeface="Malgun Gothic"/>
              </a:rPr>
              <a:t>유전되었다</a:t>
            </a:r>
            <a:r>
              <a:rPr sz="1400" b="0" i="0">
                <a:solidFill>
                  <a:srgbClr val="11202B"/>
                </a:solidFill>
                <a:latin typeface="Malgun Gothic"/>
                <a:ea typeface="Malgun Gothic"/>
                <a:cs typeface="Malgun Gothic"/>
              </a:rPr>
              <a:t>. 그 무언가를 형질전환 인자라 불렀으나 정체는 몰랐다.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Avery, MacLeod, McCarty(1944).</a:t>
            </a:r>
            <a:r>
              <a:rPr sz="1400" b="0" i="0">
                <a:solidFill>
                  <a:srgbClr val="11202B"/>
                </a:solidFill>
                <a:latin typeface="Malgun Gothic"/>
                <a:ea typeface="Malgun Gothic"/>
                <a:cs typeface="Malgun Gothic"/>
              </a:rPr>
              <a:t> 형질전환 인자를 분리하기 위해 죽은 균의 추출물에서 성분을 하나씩 없애 보았다. 단백질 분해 효소로 단백질을 없애도 형질전환이 일어났고, RNA를 없애도 일어났다. 그러나 </a:t>
            </a:r>
            <a:r>
              <a:rPr sz="1400" b="1" i="0">
                <a:solidFill>
                  <a:srgbClr val="11202B"/>
                </a:solidFill>
                <a:latin typeface="Malgun Gothic"/>
                <a:ea typeface="Malgun Gothic"/>
                <a:cs typeface="Malgun Gothic"/>
              </a:rPr>
              <a:t>DNA 분해 효소를 처리하면 형질전환이 사라졌다.</a:t>
            </a:r>
            <a:r>
              <a:rPr sz="1400" b="0" i="0">
                <a:solidFill>
                  <a:srgbClr val="11202B"/>
                </a:solidFill>
                <a:latin typeface="Malgun Gothic"/>
                <a:ea typeface="Malgun Gothic"/>
                <a:cs typeface="Malgun Gothic"/>
              </a:rPr>
              <a:t> 설계의 핵심은 </a:t>
            </a:r>
            <a:r>
              <a:rPr sz="1400" b="1" i="0">
                <a:solidFill>
                  <a:srgbClr val="11202B"/>
                </a:solidFill>
                <a:latin typeface="Malgun Gothic"/>
                <a:ea typeface="Malgun Gothic"/>
                <a:cs typeface="Malgun Gothic"/>
              </a:rPr>
              <a:t>제거</a:t>
            </a:r>
            <a:r>
              <a:rPr sz="1400" b="0" i="0">
                <a:solidFill>
                  <a:srgbClr val="11202B"/>
                </a:solidFill>
                <a:latin typeface="Malgun Gothic"/>
                <a:ea typeface="Malgun Gothic"/>
                <a:cs typeface="Malgun Gothic"/>
              </a:rPr>
              <a:t>다. 어떤 성분이 없을 때 현상이 사라지면 그 성분이 필요하다는 뜻이다.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Hershey와 Chase(1952).</a:t>
            </a:r>
            <a:r>
              <a:rPr sz="1400" b="0" i="0">
                <a:solidFill>
                  <a:srgbClr val="11202B"/>
                </a:solidFill>
                <a:latin typeface="Malgun Gothic"/>
                <a:ea typeface="Malgun Gothic"/>
                <a:cs typeface="Malgun Gothic"/>
              </a:rPr>
              <a:t> 박테리오파지는 단백질 껍질과 DNA로만 이루어져 있다. 황은 단백질에만, 인은 DNA에만 들어 있다는 사실을 이용해 한쪽은 방사성 황으로, 다른 쪽은 방사성 인으로 표지했다. 파지를 세균에 감염시킨 뒤 흔들어 껍질을 떼어 내고 보니, </a:t>
            </a:r>
            <a:r>
              <a:rPr sz="1400" b="1" i="0">
                <a:solidFill>
                  <a:srgbClr val="11202B"/>
                </a:solidFill>
                <a:latin typeface="Malgun Gothic"/>
                <a:ea typeface="Malgun Gothic"/>
                <a:cs typeface="Malgun Gothic"/>
              </a:rPr>
              <a:t>방사성 인은 세균 안에 들어가 있었고 방사성 황은 바깥에 남았다.</a:t>
            </a:r>
            <a:r>
              <a:rPr sz="1400" b="0" i="0">
                <a:solidFill>
                  <a:srgbClr val="11202B"/>
                </a:solidFill>
                <a:latin typeface="Malgun Gothic"/>
                <a:ea typeface="Malgun Gothic"/>
                <a:cs typeface="Malgun Gothic"/>
              </a:rPr>
              <a:t> 세균 안으로 들어가 다음 세대 파지를 만든 것은 DNA였다.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무엇이 전해지는가 — DNA가 유전물질이라는 근거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세 실험이 </a:t>
            </a:r>
            <a:r>
              <a:rPr sz="1600" b="1" i="0">
                <a:solidFill>
                  <a:srgbClr val="11202B"/>
                </a:solidFill>
                <a:latin typeface="Malgun Gothic"/>
                <a:ea typeface="Malgun Gothic"/>
                <a:cs typeface="Malgun Gothic"/>
              </a:rPr>
              <a:t>각각 무엇을 보였는지</a:t>
            </a:r>
            <a:r>
              <a:rPr sz="1600" b="0" i="0">
                <a:solidFill>
                  <a:srgbClr val="11202B"/>
                </a:solidFill>
                <a:latin typeface="Malgun Gothic"/>
                <a:ea typeface="Malgun Gothic"/>
                <a:cs typeface="Malgun Gothic"/>
              </a:rPr>
              <a:t>를 구분해야 한다. Griffith는 형질전환이라는 </a:t>
            </a:r>
            <a:r>
              <a:rPr sz="1600" b="1" i="0">
                <a:solidFill>
                  <a:srgbClr val="11202B"/>
                </a:solidFill>
                <a:latin typeface="Malgun Gothic"/>
                <a:ea typeface="Malgun Gothic"/>
                <a:cs typeface="Malgun Gothic"/>
              </a:rPr>
              <a:t>현상</a:t>
            </a:r>
            <a:r>
              <a:rPr sz="1600" b="0" i="0">
                <a:solidFill>
                  <a:srgbClr val="11202B"/>
                </a:solidFill>
                <a:latin typeface="Malgun Gothic"/>
                <a:ea typeface="Malgun Gothic"/>
                <a:cs typeface="Malgun Gothic"/>
              </a:rPr>
              <a:t>을 발견했을 뿐 물질을 특정하지 못했다. Avery 등은 그 물질이 </a:t>
            </a:r>
            <a:r>
              <a:rPr sz="1600" b="1" i="0">
                <a:solidFill>
                  <a:srgbClr val="11202B"/>
                </a:solidFill>
                <a:latin typeface="Malgun Gothic"/>
                <a:ea typeface="Malgun Gothic"/>
                <a:cs typeface="Malgun Gothic"/>
              </a:rPr>
              <a:t>DNA임을 보였지만</a:t>
            </a:r>
            <a:r>
              <a:rPr sz="1600" b="0" i="0">
                <a:solidFill>
                  <a:srgbClr val="11202B"/>
                </a:solidFill>
                <a:latin typeface="Malgun Gothic"/>
                <a:ea typeface="Malgun Gothic"/>
                <a:cs typeface="Malgun Gothic"/>
              </a:rPr>
              <a:t> 세균에 국한된 결과라는 비판을 받았다. Hershey와 Chase는 바이러스에서도 같은 결론을 얻어 </a:t>
            </a:r>
            <a:r>
              <a:rPr sz="1600" b="1" i="0">
                <a:solidFill>
                  <a:srgbClr val="11202B"/>
                </a:solidFill>
                <a:latin typeface="Malgun Gothic"/>
                <a:ea typeface="Malgun Gothic"/>
                <a:cs typeface="Malgun Gothic"/>
              </a:rPr>
              <a:t>일반성을 더했다</a:t>
            </a:r>
            <a:r>
              <a:rPr sz="1600" b="0" i="0">
                <a:solidFill>
                  <a:srgbClr val="11202B"/>
                </a:solidFill>
                <a:latin typeface="Malgun Gothic"/>
                <a:ea typeface="Malgun Gothic"/>
                <a:cs typeface="Malgun Gothic"/>
              </a:rPr>
              <a:t>. 세 실험이 순차적으로 가능성을 좁혀 간 구조이며, 하나의 실험이 모든 것을 증명한 것이 아니라는 점이 과학적 논증의 전형을 보여 준다. 이어서 Chargaff의 염기 비율 규칙과 X선 회절 자료가 1953년 이중나선 모형으로 수렴했다.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유전자에서 형질까지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절에서 전해지는 것이 DNA라는 데까지 왔다. 그런데 DNA는 화학물질일 뿐이고, 우리가 보는 것은 눈 색깔이나 혈액형 같은 형질이다. </a:t>
            </a:r>
            <a:r>
              <a:rPr sz="1400" b="1" i="0">
                <a:solidFill>
                  <a:srgbClr val="11202B"/>
                </a:solidFill>
                <a:latin typeface="Malgun Gothic"/>
                <a:ea typeface="Malgun Gothic"/>
                <a:cs typeface="Malgun Gothic"/>
              </a:rPr>
              <a:t>그 사이를 무엇이 잇는가.</a:t>
            </a:r>
            <a:r>
              <a:rPr sz="1400" b="0" i="0">
                <a:solidFill>
                  <a:srgbClr val="11202B"/>
                </a:solidFill>
                <a:latin typeface="Malgun Gothic"/>
                <a:ea typeface="Malgun Gothic"/>
                <a:cs typeface="Malgun Gothic"/>
              </a:rPr>
              <a:t> 이 절은 유전자와 형질 사이에 단백질이라는 중간 단계가 있다는 것, 그리고 그 사슬이 한 칸씩 끊어질 수 있다는 것을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한 유전자 한 효소.</a:t>
            </a:r>
            <a:r>
              <a:rPr sz="1400" b="0" i="0">
                <a:solidFill>
                  <a:srgbClr val="11202B"/>
                </a:solidFill>
                <a:latin typeface="Malgun Gothic"/>
                <a:ea typeface="Malgun Gothic"/>
                <a:cs typeface="Malgun Gothic"/>
              </a:rPr>
              <a:t> Beadle과 Tatum은 붉은빵곰팡이에 방사선을 쬐어 특정 영양소를 스스로 만들지 못하는 돌연변이를 만들고, 각 돌연변이가 </a:t>
            </a:r>
            <a:r>
              <a:rPr sz="1400" b="1" i="0">
                <a:solidFill>
                  <a:srgbClr val="11202B"/>
                </a:solidFill>
                <a:latin typeface="Malgun Gothic"/>
                <a:ea typeface="Malgun Gothic"/>
                <a:cs typeface="Malgun Gothic"/>
              </a:rPr>
              <a:t>경로의 한 단계씩</a:t>
            </a:r>
            <a:r>
              <a:rPr sz="1400" b="0" i="0">
                <a:solidFill>
                  <a:srgbClr val="11202B"/>
                </a:solidFill>
                <a:latin typeface="Malgun Gothic"/>
                <a:ea typeface="Malgun Gothic"/>
                <a:cs typeface="Malgun Gothic"/>
              </a:rPr>
              <a:t>을 잃었다는 것을 보였다. 유전자 하나가 효소 하나에 대응한다는 가설이 여기서 나왔다.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가설은 방향은 옳았으나 그대로는 성립하지 않는다. 지금은 여러 수정이 필요하다는 것이 알려져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많은 단백질이 </a:t>
            </a:r>
            <a:r>
              <a:rPr sz="1400" b="1" i="0">
                <a:solidFill>
                  <a:srgbClr val="11202B"/>
                </a:solidFill>
                <a:latin typeface="Malgun Gothic"/>
                <a:ea typeface="Malgun Gothic"/>
                <a:cs typeface="Malgun Gothic"/>
              </a:rPr>
              <a:t>여러 사슬</a:t>
            </a:r>
            <a:r>
              <a:rPr sz="1400" b="0" i="0">
                <a:solidFill>
                  <a:srgbClr val="11202B"/>
                </a:solidFill>
                <a:latin typeface="Malgun Gothic"/>
                <a:ea typeface="Malgun Gothic"/>
                <a:cs typeface="Malgun Gothic"/>
              </a:rPr>
              <a:t>로 이루어지므로 "한 유전자 한 폴리펩타이드"가 더 정확하다.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하나의 유전자에서 </a:t>
            </a:r>
            <a:r>
              <a:rPr sz="1400" b="1" i="0">
                <a:solidFill>
                  <a:srgbClr val="11202B"/>
                </a:solidFill>
                <a:latin typeface="Malgun Gothic"/>
                <a:ea typeface="Malgun Gothic"/>
                <a:cs typeface="Malgun Gothic"/>
              </a:rPr>
              <a:t>대체 splicing</a:t>
            </a:r>
            <a:r>
              <a:rPr sz="1400" b="0" i="0">
                <a:solidFill>
                  <a:srgbClr val="11202B"/>
                </a:solidFill>
                <a:latin typeface="Malgun Gothic"/>
                <a:ea typeface="Malgun Gothic"/>
                <a:cs typeface="Malgun Gothic"/>
              </a:rPr>
              <a:t>으로 여러 단백질이 나온다(M03-W02-L03).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단백질을 만들지 않고 </a:t>
            </a:r>
            <a:r>
              <a:rPr sz="1400" b="1" i="0">
                <a:solidFill>
                  <a:srgbClr val="11202B"/>
                </a:solidFill>
                <a:latin typeface="Malgun Gothic"/>
                <a:ea typeface="Malgun Gothic"/>
                <a:cs typeface="Malgun Gothic"/>
              </a:rPr>
              <a:t>RNA 자체로 기능</a:t>
            </a:r>
            <a:r>
              <a:rPr sz="1400" b="0" i="0">
                <a:solidFill>
                  <a:srgbClr val="11202B"/>
                </a:solidFill>
                <a:latin typeface="Malgun Gothic"/>
                <a:ea typeface="Malgun Gothic"/>
                <a:cs typeface="Malgun Gothic"/>
              </a:rPr>
              <a:t>하는 유전자가 많다(M03-W05-L02).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하나의 유전자가 여러 형질에 영향을 준다(</a:t>
            </a:r>
            <a:r>
              <a:rPr sz="1400" b="1" i="0">
                <a:solidFill>
                  <a:srgbClr val="11202B"/>
                </a:solidFill>
                <a:latin typeface="Malgun Gothic"/>
                <a:ea typeface="Malgun Gothic"/>
                <a:cs typeface="Malgun Gothic"/>
              </a:rPr>
              <a:t>다면발현</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하나의 형질에 여러 유전자가 관여한다(</a:t>
            </a:r>
            <a:r>
              <a:rPr sz="1400" b="1" i="0">
                <a:solidFill>
                  <a:srgbClr val="11202B"/>
                </a:solidFill>
                <a:latin typeface="Malgun Gothic"/>
                <a:ea typeface="Malgun Gothic"/>
                <a:cs typeface="Malgun Gothic"/>
              </a:rPr>
              <a:t>다인자</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사슬의 단계.</a:t>
            </a:r>
            <a:r>
              <a:rPr sz="1400" b="0" i="0">
                <a:solidFill>
                  <a:srgbClr val="11202B"/>
                </a:solidFill>
                <a:latin typeface="Malgun Gothic"/>
                <a:ea typeface="Malgun Gothic"/>
                <a:cs typeface="Malgun Gothic"/>
              </a:rPr>
              <a:t> 유전자에서 형질까지는 여러 단계를 거치며, </a:t>
            </a:r>
            <a:r>
              <a:rPr sz="1400" b="1" i="0">
                <a:solidFill>
                  <a:srgbClr val="11202B"/>
                </a:solidFill>
                <a:latin typeface="Malgun Gothic"/>
                <a:ea typeface="Malgun Gothic"/>
                <a:cs typeface="Malgun Gothic"/>
              </a:rPr>
              <a:t>각 단계가 변이의 결과를 바꾸는 자리</a:t>
            </a:r>
            <a:r>
              <a:rPr sz="1400" b="0" i="0">
                <a:solidFill>
                  <a:srgbClr val="11202B"/>
                </a:solidFill>
                <a:latin typeface="Malgun Gothic"/>
                <a:ea typeface="Malgun Gothic"/>
                <a:cs typeface="Malgun Gothic"/>
              </a:rPr>
              <a:t>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DNA 서열 → 전사량 → 전사체의 가공 → 단백질의 양 → 단백질의 기능 → 세포의 성질 → 조직과 개체의 형질</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유전자의 변이라도 어느 단계에 영향을 주는지에 따라 결과가 다르다. 조절 서열의 변이는 단백질의 구조는 그대로 두고 양만 바꾸고, 암호 구간의 변이는 구조를 바꾼다. 이 때문에 "유전자가 망가졌다"는 표현은 부정확하며, </a:t>
            </a:r>
            <a:r>
              <a:rPr sz="1400" b="1" i="0">
                <a:solidFill>
                  <a:srgbClr val="11202B"/>
                </a:solidFill>
                <a:latin typeface="Malgun Gothic"/>
                <a:ea typeface="Malgun Gothic"/>
                <a:cs typeface="Malgun Gothic"/>
              </a:rPr>
              <a:t>무엇이 얼마나 바뀌었는가</a:t>
            </a:r>
            <a:r>
              <a:rPr sz="1400" b="0" i="0">
                <a:solidFill>
                  <a:srgbClr val="11202B"/>
                </a:solidFill>
                <a:latin typeface="Malgun Gothic"/>
                <a:ea typeface="Malgun Gothic"/>
                <a:cs typeface="Malgun Gothic"/>
              </a:rPr>
              <a:t>를 물어야 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염색체와 두 종류의 세포분열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여기까지는 유전자가 무엇이고 무엇을 하는지였다. 이제 두 번째 질문, </a:t>
            </a:r>
            <a:r>
              <a:rPr sz="1600" b="1" i="0">
                <a:solidFill>
                  <a:srgbClr val="11202B"/>
                </a:solidFill>
                <a:latin typeface="Malgun Gothic"/>
                <a:ea typeface="Malgun Gothic"/>
                <a:cs typeface="Malgun Gothic"/>
              </a:rPr>
              <a:t>어떤 규칙으로 전해지는가</a:t>
            </a:r>
            <a:r>
              <a:rPr sz="1600" b="0" i="0">
                <a:solidFill>
                  <a:srgbClr val="11202B"/>
                </a:solidFill>
                <a:latin typeface="Malgun Gothic"/>
                <a:ea typeface="Malgun Gothic"/>
                <a:cs typeface="Malgun Gothic"/>
              </a:rPr>
              <a:t>로 넘어간다. 그런데 그 규칙은 추상적인 법칙이 아니라 </a:t>
            </a:r>
            <a:r>
              <a:rPr sz="1600" b="1" i="0">
                <a:solidFill>
                  <a:srgbClr val="11202B"/>
                </a:solidFill>
                <a:latin typeface="Malgun Gothic"/>
                <a:ea typeface="Malgun Gothic"/>
                <a:cs typeface="Malgun Gothic"/>
              </a:rPr>
              <a:t>염색체가 분열 때 실제로 어떻게 움직이는가</a:t>
            </a:r>
            <a:r>
              <a:rPr sz="1600" b="0" i="0">
                <a:solidFill>
                  <a:srgbClr val="11202B"/>
                </a:solidFill>
                <a:latin typeface="Malgun Gothic"/>
                <a:ea typeface="Malgun Gothic"/>
                <a:cs typeface="Malgun Gothic"/>
              </a:rPr>
              <a:t>에서 그대로 따라 나온다. 그래서 규칙을 보기 전에 분열부터 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유전의 규칙은 염색체의 행동에서 나온다. 두 분열을 비교하는 것이 출발점이다.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유사분열(mitosis).</a:t>
            </a:r>
            <a:r>
              <a:rPr sz="1600" b="0" i="0">
                <a:solidFill>
                  <a:srgbClr val="11202B"/>
                </a:solidFill>
                <a:latin typeface="Malgun Gothic"/>
                <a:ea typeface="Malgun Gothic"/>
                <a:cs typeface="Malgun Gothic"/>
              </a:rPr>
              <a:t> 체세포가 분열해 </a:t>
            </a:r>
            <a:r>
              <a:rPr sz="1600" b="1" i="0">
                <a:solidFill>
                  <a:srgbClr val="11202B"/>
                </a:solidFill>
                <a:latin typeface="Malgun Gothic"/>
                <a:ea typeface="Malgun Gothic"/>
                <a:cs typeface="Malgun Gothic"/>
              </a:rPr>
              <a:t>유전적으로 동일한 두 세포</a:t>
            </a:r>
            <a:r>
              <a:rPr sz="1600" b="0" i="0">
                <a:solidFill>
                  <a:srgbClr val="11202B"/>
                </a:solidFill>
                <a:latin typeface="Malgun Gothic"/>
                <a:ea typeface="Malgun Gothic"/>
                <a:cs typeface="Malgun Gothic"/>
              </a:rPr>
              <a:t>를 만든다. 복제된 염색체가 중기판에 한 줄로 늘어서고 자매 염색분체가 갈라진다. 염색체 수는 유지된다(2n → 2n).</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감수분열(meiosis).</a:t>
            </a:r>
            <a:r>
              <a:rPr sz="1600" b="0" i="0">
                <a:solidFill>
                  <a:srgbClr val="11202B"/>
                </a:solidFill>
                <a:latin typeface="Malgun Gothic"/>
                <a:ea typeface="Malgun Gothic"/>
                <a:cs typeface="Malgun Gothic"/>
              </a:rPr>
              <a:t> 생식세포를 만든다. </a:t>
            </a:r>
            <a:r>
              <a:rPr sz="1600" b="1" i="0">
                <a:solidFill>
                  <a:srgbClr val="11202B"/>
                </a:solidFill>
                <a:latin typeface="Malgun Gothic"/>
                <a:ea typeface="Malgun Gothic"/>
                <a:cs typeface="Malgun Gothic"/>
              </a:rPr>
              <a:t>한 번의 복제 뒤 두 번의 분열</a:t>
            </a:r>
            <a:r>
              <a:rPr sz="1600" b="0" i="0">
                <a:solidFill>
                  <a:srgbClr val="11202B"/>
                </a:solidFill>
                <a:latin typeface="Malgun Gothic"/>
                <a:ea typeface="Malgun Gothic"/>
                <a:cs typeface="Malgun Gothic"/>
              </a:rPr>
              <a:t>이 일어나 염색체 수가 절반이 된다(2n → n). 두 분열의 성격이 다르다.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제1감수분열</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상동 염색체</a:t>
            </a:r>
            <a:r>
              <a:rPr sz="1600" b="0" i="0">
                <a:solidFill>
                  <a:srgbClr val="11202B"/>
                </a:solidFill>
                <a:latin typeface="Malgun Gothic"/>
                <a:ea typeface="Malgun Gothic"/>
                <a:cs typeface="Malgun Gothic"/>
              </a:rPr>
              <a:t>가 짝을 지어 늘어섰다가 갈라진다. 염색체 수가 절반이 되는 것은 이 단계다. 짝을 짓는 동안 </a:t>
            </a:r>
            <a:r>
              <a:rPr sz="1600" b="1" i="0">
                <a:solidFill>
                  <a:srgbClr val="11202B"/>
                </a:solidFill>
                <a:latin typeface="Malgun Gothic"/>
                <a:ea typeface="Malgun Gothic"/>
                <a:cs typeface="Malgun Gothic"/>
              </a:rPr>
              <a:t>교차</a:t>
            </a:r>
            <a:r>
              <a:rPr sz="1600" b="0" i="0">
                <a:solidFill>
                  <a:srgbClr val="11202B"/>
                </a:solidFill>
                <a:latin typeface="Malgun Gothic"/>
                <a:ea typeface="Malgun Gothic"/>
                <a:cs typeface="Malgun Gothic"/>
              </a:rPr>
              <a:t>가 일어난다.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제2감수분열</a:t>
            </a:r>
            <a:r>
              <a:rPr sz="1600" b="0" i="0">
                <a:solidFill>
                  <a:srgbClr val="11202B"/>
                </a:solidFill>
                <a:latin typeface="Malgun Gothic"/>
                <a:ea typeface="Malgun Gothic"/>
                <a:cs typeface="Malgun Gothic"/>
              </a:rPr>
              <a:t>: 자매 염색분체가 갈라진다. 유사분열과 같은 방식이다.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염색체와 두 종류의 세포분열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유사분열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감수분열</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분열 횟수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딸세포 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4</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염색체 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2n 유지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n으로 감소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상동 염색체 짝짓기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제1분열에서 있다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교차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없다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있다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유전적 결과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동일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모두 다르다</a:t>
                      </a:r>
                    </a:p>
                  </a:txBody>
                  <a:tcPr marL="73152" marR="73152" marT="27432" marB="27432">
                    <a:solidFill>
                      <a:srgbClr val="EFF4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염색체와 두 종류의 세포분열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다양성이 만들어지는 두 지점.</a:t>
            </a:r>
            <a:r>
              <a:rPr sz="1800" b="0" i="0">
                <a:solidFill>
                  <a:srgbClr val="11202B"/>
                </a:solidFill>
                <a:latin typeface="Malgun Gothic"/>
                <a:ea typeface="Malgun Gothic"/>
                <a:cs typeface="Malgun Gothic"/>
              </a:rPr>
              <a:t> 감수분열은 유전적 다양성을 만드는 장치이며, 두 기전이 함께 작동한다.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 </a:t>
            </a:r>
            <a:r>
              <a:rPr sz="1800" b="1" i="0">
                <a:solidFill>
                  <a:srgbClr val="11202B"/>
                </a:solidFill>
                <a:latin typeface="Malgun Gothic"/>
                <a:ea typeface="Malgun Gothic"/>
                <a:cs typeface="Malgun Gothic"/>
              </a:rPr>
              <a:t>독립적 배열</a:t>
            </a:r>
            <a:r>
              <a:rPr sz="1800" b="0" i="0">
                <a:solidFill>
                  <a:srgbClr val="11202B"/>
                </a:solidFill>
                <a:latin typeface="Malgun Gothic"/>
                <a:ea typeface="Malgun Gothic"/>
                <a:cs typeface="Malgun Gothic"/>
              </a:rPr>
              <a:t>: 제1분열에서 각 상동 염색체 쌍이 어느 쪽으로 갈지가 쌍마다 독립적으로 정해진다. 사람의 23쌍에서 2의 23제곱, 약 840만 가지 조합이 나온다.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2. </a:t>
            </a:r>
            <a:r>
              <a:rPr sz="1800" b="1" i="0">
                <a:solidFill>
                  <a:srgbClr val="11202B"/>
                </a:solidFill>
                <a:latin typeface="Malgun Gothic"/>
                <a:ea typeface="Malgun Gothic"/>
                <a:cs typeface="Malgun Gothic"/>
              </a:rPr>
              <a:t>교차</a:t>
            </a:r>
            <a:r>
              <a:rPr sz="1800" b="0" i="0">
                <a:solidFill>
                  <a:srgbClr val="11202B"/>
                </a:solidFill>
                <a:latin typeface="Malgun Gothic"/>
                <a:ea typeface="Malgun Gothic"/>
                <a:cs typeface="Malgun Gothic"/>
              </a:rPr>
              <a:t>: 상동 염색체 사이에서 구간이 서로 교환된다. 조합의 수를 사실상 무한하게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여기에 수정에서 어느 정자와 어느 난자가 만나는지의 우연이 더해진다. 같은 부모에게서 유전적으로 같은 자녀가 나올 확률이 사실상 0인 이유다.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염색체와 두 종류의 세포분열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13</a:t>
            </a:r>
          </a:p>
        </p:txBody>
      </p:sp>
      <p:pic>
        <p:nvPicPr>
          <p:cNvPr id="7" name="Picture 6" descr="fig-meiosis.slide.png"/>
          <p:cNvPicPr>
            <a:picLocks noChangeAspect="1"/>
          </p:cNvPicPr>
          <p:nvPr/>
        </p:nvPicPr>
        <p:blipFill>
          <a:blip r:embed="rId2"/>
          <a:stretch>
            <a:fillRect/>
          </a:stretch>
        </p:blipFill>
        <p:spPr>
          <a:xfrm>
            <a:off x="1994783" y="1325880"/>
            <a:ext cx="820212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유사분열과 감수분열의 비교, 그리고 다양성이 만들어지는 두 지점. 한 번의 복제 뒤 두 번 분열하는 구조, 제1분열에서 상동 염색체가 갈라지고 제2분열에서 자매 염색분체가 갈라지는 차이, 독립적 배열과 교차가 조합을 늘리는 방식을 함께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멘델의 두 법칙과 그 세포학적 근거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절에서 감수분열 때 염색체가 어떻게 갈라지는지를 보았다. 멘델은 그 과정을 전혀 모른 채 완두콩의 교배 결과만으로 두 규칙을 찾아냈다. 뒤에 염색체의 행동이 밝혀졌을 때 </a:t>
            </a:r>
            <a:r>
              <a:rPr sz="1400" b="1" i="0">
                <a:solidFill>
                  <a:srgbClr val="11202B"/>
                </a:solidFill>
                <a:latin typeface="Malgun Gothic"/>
                <a:ea typeface="Malgun Gothic"/>
                <a:cs typeface="Malgun Gothic"/>
              </a:rPr>
              <a:t>두 규칙이 그 행동의 직접적 결과임이 드러났다.</a:t>
            </a:r>
            <a:r>
              <a:rPr sz="1400" b="0" i="0">
                <a:solidFill>
                  <a:srgbClr val="11202B"/>
                </a:solidFill>
                <a:latin typeface="Malgun Gothic"/>
                <a:ea typeface="Malgun Gothic"/>
                <a:cs typeface="Malgun Gothic"/>
              </a:rPr>
              <a:t> 이 일치가 유전학에서 가장 중요한 연결 가운데 하나다.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멘델은 완두콩 교배에서 두 규칙을 찾았다. 중요한 점은 이 규칙들이 </a:t>
            </a:r>
            <a:r>
              <a:rPr sz="1400" b="1" i="0">
                <a:solidFill>
                  <a:srgbClr val="11202B"/>
                </a:solidFill>
                <a:latin typeface="Malgun Gothic"/>
                <a:ea typeface="Malgun Gothic"/>
                <a:cs typeface="Malgun Gothic"/>
              </a:rPr>
              <a:t>감수분열의 직접적 결과</a:t>
            </a:r>
            <a:r>
              <a:rPr sz="1400" b="0" i="0">
                <a:solidFill>
                  <a:srgbClr val="11202B"/>
                </a:solidFill>
                <a:latin typeface="Malgun Gothic"/>
                <a:ea typeface="Malgun Gothic"/>
                <a:cs typeface="Malgun Gothic"/>
              </a:rPr>
              <a:t>라는 것이다. 멘델은 염색체를 몰랐지만, 뒤에 염색체 행동이 관찰되면서 두 규칙의 물리적 근거가 드러났다.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분리의 법칙.</a:t>
            </a:r>
            <a:r>
              <a:rPr sz="1400" b="0" i="0">
                <a:solidFill>
                  <a:srgbClr val="11202B"/>
                </a:solidFill>
                <a:latin typeface="Malgun Gothic"/>
                <a:ea typeface="Malgun Gothic"/>
                <a:cs typeface="Malgun Gothic"/>
              </a:rPr>
              <a:t> 한 형질에 대한 두 인자는 생식세포를 만들 때 서로 분리되어 각각 다른 생식세포로 들어간다. 세포학적 근거는 </a:t>
            </a:r>
            <a:r>
              <a:rPr sz="1400" b="1" i="0">
                <a:solidFill>
                  <a:srgbClr val="11202B"/>
                </a:solidFill>
                <a:latin typeface="Malgun Gothic"/>
                <a:ea typeface="Malgun Gothic"/>
                <a:cs typeface="Malgun Gothic"/>
              </a:rPr>
              <a:t>제1감수분열에서 상동 염색체가 갈라지는 것</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독립의 법칙.</a:t>
            </a:r>
            <a:r>
              <a:rPr sz="1400" b="0" i="0">
                <a:solidFill>
                  <a:srgbClr val="11202B"/>
                </a:solidFill>
                <a:latin typeface="Malgun Gothic"/>
                <a:ea typeface="Malgun Gothic"/>
                <a:cs typeface="Malgun Gothic"/>
              </a:rPr>
              <a:t> 서로 다른 형질의 인자는 독립적으로 분배된다. 세포학적 근거는 </a:t>
            </a:r>
            <a:r>
              <a:rPr sz="1400" b="1" i="0">
                <a:solidFill>
                  <a:srgbClr val="11202B"/>
                </a:solidFill>
                <a:latin typeface="Malgun Gothic"/>
                <a:ea typeface="Malgun Gothic"/>
                <a:cs typeface="Malgun Gothic"/>
              </a:rPr>
              <a:t>각 상동 염색체 쌍이 독립적으로 배열되는 것</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번째 법칙에는 중요한 단서가 붙는다. </a:t>
            </a:r>
            <a:r>
              <a:rPr sz="1400" b="1" i="0">
                <a:solidFill>
                  <a:srgbClr val="11202B"/>
                </a:solidFill>
                <a:latin typeface="Malgun Gothic"/>
                <a:ea typeface="Malgun Gothic"/>
                <a:cs typeface="Malgun Gothic"/>
              </a:rPr>
              <a:t>같은 염색체 위에 가까이 있는 유전자는 독립적으로 분배되지 않는다.</a:t>
            </a:r>
            <a:r>
              <a:rPr sz="1400" b="0" i="0">
                <a:solidFill>
                  <a:srgbClr val="11202B"/>
                </a:solidFill>
                <a:latin typeface="Malgun Gothic"/>
                <a:ea typeface="Malgun Gothic"/>
                <a:cs typeface="Malgun Gothic"/>
              </a:rPr>
              <a:t> 멘델이 고른 일곱 형질이 공교롭게도 대부분 서로 다른 염색체에 있거나 충분히 멀리 떨어져 있었기에 법칙이 깔끔하게 보였다. 예외가 7절의 연관이다.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교배 결과를 읽는 법.</a:t>
            </a:r>
            <a:r>
              <a:rPr sz="1400" b="0" i="0">
                <a:solidFill>
                  <a:srgbClr val="11202B"/>
                </a:solidFill>
                <a:latin typeface="Malgun Gothic"/>
                <a:ea typeface="Malgun Gothic"/>
                <a:cs typeface="Malgun Gothic"/>
              </a:rPr>
              <a:t> 한 형질의 이형접합자끼리 교배하면 자손의 표현형 비가 3:1, 유전자형 비가 1:2:1이 된다. 두 형질이면 9:3:3:1이 된다. 이 비율들은 외울 것이 아니라 </a:t>
            </a:r>
            <a:r>
              <a:rPr sz="1400" b="1" i="0">
                <a:solidFill>
                  <a:srgbClr val="11202B"/>
                </a:solidFill>
                <a:latin typeface="Malgun Gothic"/>
                <a:ea typeface="Malgun Gothic"/>
                <a:cs typeface="Malgun Gothic"/>
              </a:rPr>
              <a:t>분리와 독립에서 계산해 내는 것</a:t>
            </a:r>
            <a:r>
              <a:rPr sz="1400" b="0" i="0">
                <a:solidFill>
                  <a:srgbClr val="11202B"/>
                </a:solidFill>
                <a:latin typeface="Malgun Gothic"/>
                <a:ea typeface="Malgun Gothic"/>
                <a:cs typeface="Malgun Gothic"/>
              </a:rPr>
              <a:t>이다. 각 형질을 따로 계산해 곱하면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멘델이 성공한 이유도 짚어 둘 가치가 있다. 그는 형질을 </a:t>
            </a:r>
            <a:r>
              <a:rPr sz="1400" b="1" i="0">
                <a:solidFill>
                  <a:srgbClr val="11202B"/>
                </a:solidFill>
                <a:latin typeface="Malgun Gothic"/>
                <a:ea typeface="Malgun Gothic"/>
                <a:cs typeface="Malgun Gothic"/>
              </a:rPr>
              <a:t>둘로 뚜렷이 갈리는 것</a:t>
            </a:r>
            <a:r>
              <a:rPr sz="1400" b="0" i="0">
                <a:solidFill>
                  <a:srgbClr val="11202B"/>
                </a:solidFill>
                <a:latin typeface="Malgun Gothic"/>
                <a:ea typeface="Malgun Gothic"/>
                <a:cs typeface="Malgun Gothic"/>
              </a:rPr>
              <a:t>으로 골랐고, 많은 수를 세어 비율로 다루었으며, 여러 세대를 추적했다. 연속적으로 변하는 형질을 골랐다면 규칙을 찾지 못했을 것이다. 측정 대상의 선택이 결론의 가능성을 정한 사례다.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검정교배.</a:t>
            </a:r>
            <a:r>
              <a:rPr sz="1400" b="0" i="0">
                <a:solidFill>
                  <a:srgbClr val="11202B"/>
                </a:solidFill>
                <a:latin typeface="Malgun Gothic"/>
                <a:ea typeface="Malgun Gothic"/>
                <a:cs typeface="Malgun Gothic"/>
              </a:rPr>
              <a:t> 우성 표현형을 가진 개체가 동형접합인지 이형접합인지는 겉으로 구별되지 않는다. 열성 동형접합자와 교배해 자손에서 열성이 나오면 이형접합이고, 나오지 않으면 동형접합일 가능성이 높다. 숨은 유전자형을 겉으로 드러내는 설계다.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우성과 열성은 상대적이다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절의 규칙에서 우성과 열성이라는 말을 썼다. 그런데 이 말은 흔히 잘못 이해된다. "우성 유전자가 더 강하다"는 설명이 그것인데, 이 설명으로는 설명되지 않는 현상이 많다. 이 절은 그 말을 </a:t>
            </a:r>
            <a:r>
              <a:rPr sz="1400" b="1" i="0">
                <a:solidFill>
                  <a:srgbClr val="11202B"/>
                </a:solidFill>
                <a:latin typeface="Malgun Gothic"/>
                <a:ea typeface="Malgun Gothic"/>
                <a:cs typeface="Malgun Gothic"/>
              </a:rPr>
              <a:t>유전자의 성질이 아니라 관찰 수준에 따라 달라지는 관계</a:t>
            </a:r>
            <a:r>
              <a:rPr sz="1400" b="0" i="0">
                <a:solidFill>
                  <a:srgbClr val="11202B"/>
                </a:solidFill>
                <a:latin typeface="Malgun Gothic"/>
                <a:ea typeface="Malgun Gothic"/>
                <a:cs typeface="Malgun Gothic"/>
              </a:rPr>
              <a:t>로 바로 세운다.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"우성 유전자가 열성 유전자보다 강하다"는 설명은 부정확하다. 우성과 열성은 유전자의 성질이 아니라 </a:t>
            </a:r>
            <a:r>
              <a:rPr sz="1400" b="1" i="0">
                <a:solidFill>
                  <a:srgbClr val="11202B"/>
                </a:solidFill>
                <a:latin typeface="Malgun Gothic"/>
                <a:ea typeface="Malgun Gothic"/>
                <a:cs typeface="Malgun Gothic"/>
              </a:rPr>
              <a:t>어느 수준에서 관찰하는가에 따라 달라지는 관계</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열성의 분자적 의미.</a:t>
            </a:r>
            <a:r>
              <a:rPr sz="1400" b="0" i="0">
                <a:solidFill>
                  <a:srgbClr val="11202B"/>
                </a:solidFill>
                <a:latin typeface="Malgun Gothic"/>
                <a:ea typeface="Malgun Gothic"/>
                <a:cs typeface="Malgun Gothic"/>
              </a:rPr>
              <a:t> 대부분의 열성 질환은 효소의 기능 상실이다. 효소는 대개 </a:t>
            </a:r>
            <a:r>
              <a:rPr sz="1400" b="1" i="0">
                <a:solidFill>
                  <a:srgbClr val="11202B"/>
                </a:solidFill>
                <a:latin typeface="Malgun Gothic"/>
                <a:ea typeface="Malgun Gothic"/>
                <a:cs typeface="Malgun Gothic"/>
              </a:rPr>
              <a:t>절반의 양으로도 충분</a:t>
            </a:r>
            <a:r>
              <a:rPr sz="1400" b="0" i="0">
                <a:solidFill>
                  <a:srgbClr val="11202B"/>
                </a:solidFill>
                <a:latin typeface="Malgun Gothic"/>
                <a:ea typeface="Malgun Gothic"/>
                <a:cs typeface="Malgun Gothic"/>
              </a:rPr>
              <a:t>하므로, 이형접합자는 정상 대립유전자 하나만으로 정상 기능을 유지한다. 그래서 겉으로 드러나지 않는다. 열성인 이유는 유전자가 약해서가 아니라 </a:t>
            </a:r>
            <a:r>
              <a:rPr sz="1400" b="1" i="0">
                <a:solidFill>
                  <a:srgbClr val="11202B"/>
                </a:solidFill>
                <a:latin typeface="Malgun Gothic"/>
                <a:ea typeface="Malgun Gothic"/>
                <a:cs typeface="Malgun Gothic"/>
              </a:rPr>
              <a:t>몸에 여유가 있기 때문</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우성의 세 가지 기전.</a:t>
            </a:r>
            <a:r>
              <a:rPr sz="1400" b="0" i="0">
                <a:solidFill>
                  <a:srgbClr val="11202B"/>
                </a:solidFill>
                <a:latin typeface="Malgun Gothic"/>
                <a:ea typeface="Malgun Gothic"/>
                <a:cs typeface="Malgun Gothic"/>
              </a:rPr>
              <a:t> 반대로 이형접합에서 이미 표현형이 나타나려면 다음 가운데 하나여야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반수체 부족</a:t>
            </a:r>
            <a:r>
              <a:rPr sz="1400" b="0" i="0">
                <a:solidFill>
                  <a:srgbClr val="11202B"/>
                </a:solidFill>
                <a:latin typeface="Malgun Gothic"/>
                <a:ea typeface="Malgun Gothic"/>
                <a:cs typeface="Malgun Gothic"/>
              </a:rPr>
              <a:t>: 절반의 양으로 충분하지 않은 경우. 구조 단백질이나 수용체처럼 양이 중요한 경우에 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우성 음성</a:t>
            </a:r>
            <a:r>
              <a:rPr sz="1400" b="0" i="0">
                <a:solidFill>
                  <a:srgbClr val="11202B"/>
                </a:solidFill>
                <a:latin typeface="Malgun Gothic"/>
                <a:ea typeface="Malgun Gothic"/>
                <a:cs typeface="Malgun Gothic"/>
              </a:rPr>
              <a:t>: 변이 산물이 정상 산물의 기능까지 방해하는 경우. 여러 사슬이 모여 작동하는 단백질에서 흔하다. 골형성부전증에서 변이 collagen 사슬 하나가 삼중나선 전체를 망가뜨리는 것이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 획득</a:t>
            </a:r>
            <a:r>
              <a:rPr sz="1400" b="0" i="0">
                <a:solidFill>
                  <a:srgbClr val="11202B"/>
                </a:solidFill>
                <a:latin typeface="Malgun Gothic"/>
                <a:ea typeface="Malgun Gothic"/>
                <a:cs typeface="Malgun Gothic"/>
              </a:rPr>
              <a:t>: 변이 산물이 없던 활성을 갖거나 꺼지지 않게 되는 경우. 수용체가 리간드 없이 켜져 있는 변이가 그렇다.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관찰 수준에 따라 달라진다.</a:t>
            </a:r>
            <a:r>
              <a:rPr sz="1400" b="0" i="0">
                <a:solidFill>
                  <a:srgbClr val="11202B"/>
                </a:solidFill>
                <a:latin typeface="Malgun Gothic"/>
                <a:ea typeface="Malgun Gothic"/>
                <a:cs typeface="Malgun Gothic"/>
              </a:rPr>
              <a:t> 겉모습에서는 열성인 질환이 분자 수준에서는 공동우성일 수 있다. 낫적혈구 형질이 전형적인데, 빈혈이라는 임상 형질로는 열성이지만 헤모글로빈 전기영동에서는 두 종류가 모두 보이므로 공동우성이다. 같은 유전자, 같은 사람인데 보는 수준이 달라지면 분류가 달라진다.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중간 형태들.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불완전우성</a:t>
            </a:r>
            <a:r>
              <a:rPr sz="1400" b="0" i="0">
                <a:solidFill>
                  <a:srgbClr val="11202B"/>
                </a:solidFill>
                <a:latin typeface="Malgun Gothic"/>
                <a:ea typeface="Malgun Gothic"/>
                <a:cs typeface="Malgun Gothic"/>
              </a:rPr>
              <a:t>: 이형접합자의 표현형이 두 동형접합자의 중간이다.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공동우성</a:t>
            </a:r>
            <a:r>
              <a:rPr sz="1400" b="0" i="0">
                <a:solidFill>
                  <a:srgbClr val="11202B"/>
                </a:solidFill>
                <a:latin typeface="Malgun Gothic"/>
                <a:ea typeface="Malgun Gothic"/>
                <a:cs typeface="Malgun Gothic"/>
              </a:rPr>
              <a:t>: 두 대립유전자의 산물이 모두 나타난다. ABO 혈액형에서 A와 B의 관계가 그렇다.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복대립유전자</a:t>
            </a:r>
            <a:r>
              <a:rPr sz="1400" b="0" i="0">
                <a:solidFill>
                  <a:srgbClr val="11202B"/>
                </a:solidFill>
                <a:latin typeface="Malgun Gothic"/>
                <a:ea typeface="Malgun Gothic"/>
                <a:cs typeface="Malgun Gothic"/>
              </a:rPr>
              <a:t>: 한 유전자에 대립유전자가 셋 이상 존재한다. ABO가 그 예로, 개체는 그 가운데 둘만 가진다.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침투도와 발현도.</a:t>
            </a:r>
            <a:r>
              <a:rPr sz="1400" b="0" i="0">
                <a:solidFill>
                  <a:srgbClr val="11202B"/>
                </a:solidFill>
                <a:latin typeface="Malgun Gothic"/>
                <a:ea typeface="Malgun Gothic"/>
                <a:cs typeface="Malgun Gothic"/>
              </a:rPr>
              <a:t> 같은 유전자형이 같은 표현형을 내지 않는 경우가 흔하다. </a:t>
            </a:r>
            <a:r>
              <a:rPr sz="1400" b="1" i="0">
                <a:solidFill>
                  <a:srgbClr val="11202B"/>
                </a:solidFill>
                <a:latin typeface="Malgun Gothic"/>
                <a:ea typeface="Malgun Gothic"/>
                <a:cs typeface="Malgun Gothic"/>
              </a:rPr>
              <a:t>침투도</a:t>
            </a:r>
            <a:r>
              <a:rPr sz="1400" b="0" i="0">
                <a:solidFill>
                  <a:srgbClr val="11202B"/>
                </a:solidFill>
                <a:latin typeface="Malgun Gothic"/>
                <a:ea typeface="Malgun Gothic"/>
                <a:cs typeface="Malgun Gothic"/>
              </a:rPr>
              <a:t>는 그 유전자형을 가진 사람 가운데 표현형이 나타나는 비율이고, </a:t>
            </a:r>
            <a:r>
              <a:rPr sz="1400" b="1" i="0">
                <a:solidFill>
                  <a:srgbClr val="11202B"/>
                </a:solidFill>
                <a:latin typeface="Malgun Gothic"/>
                <a:ea typeface="Malgun Gothic"/>
                <a:cs typeface="Malgun Gothic"/>
              </a:rPr>
              <a:t>발현도</a:t>
            </a:r>
            <a:r>
              <a:rPr sz="1400" b="0" i="0">
                <a:solidFill>
                  <a:srgbClr val="11202B"/>
                </a:solidFill>
                <a:latin typeface="Malgun Gothic"/>
                <a:ea typeface="Malgun Gothic"/>
                <a:cs typeface="Malgun Gothic"/>
              </a:rPr>
              <a:t>는 나타났을 때의 정도다. 침투도가 낮으면 가계도에서 세대를 건너뛴 것처럼 보여 유전 양식을 오판하게 만든다.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우성과 열성은 상대적이다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가계도에서 유전 양식을 가르는 규칙을 외우지 말고 유도한다. </a:t>
            </a:r>
            <a:r>
              <a:rPr sz="1600" b="1" i="0">
                <a:solidFill>
                  <a:srgbClr val="11202B"/>
                </a:solidFill>
                <a:latin typeface="Malgun Gothic"/>
                <a:ea typeface="Malgun Gothic"/>
                <a:cs typeface="Malgun Gothic"/>
              </a:rPr>
              <a:t>상염색체 열성</a:t>
            </a:r>
            <a:r>
              <a:rPr sz="1600" b="0" i="0">
                <a:solidFill>
                  <a:srgbClr val="11202B"/>
                </a:solidFill>
                <a:latin typeface="Malgun Gothic"/>
                <a:ea typeface="Malgun Gothic"/>
                <a:cs typeface="Malgun Gothic"/>
              </a:rPr>
              <a:t>은 부모가 모두 정상인데 자녀에서 나타날 수 있고(둘 다 보인자), 남녀 빈도가 같으며, 근친 결혼에서 빈도가 올라간다. </a:t>
            </a:r>
            <a:r>
              <a:rPr sz="1600" b="1" i="0">
                <a:solidFill>
                  <a:srgbClr val="11202B"/>
                </a:solidFill>
                <a:latin typeface="Malgun Gothic"/>
                <a:ea typeface="Malgun Gothic"/>
                <a:cs typeface="Malgun Gothic"/>
              </a:rPr>
              <a:t>상염색체 우성</a:t>
            </a:r>
            <a:r>
              <a:rPr sz="1600" b="0" i="0">
                <a:solidFill>
                  <a:srgbClr val="11202B"/>
                </a:solidFill>
                <a:latin typeface="Malgun Gothic"/>
                <a:ea typeface="Malgun Gothic"/>
                <a:cs typeface="Malgun Gothic"/>
              </a:rPr>
              <a:t>은 모든 세대에 나타나고(수직 전달), 남녀 빈도가 같으며, 이환된 부모에서 자녀의 절반이 이환된다. </a:t>
            </a:r>
            <a:r>
              <a:rPr sz="1600" b="1" i="0">
                <a:solidFill>
                  <a:srgbClr val="11202B"/>
                </a:solidFill>
                <a:latin typeface="Malgun Gothic"/>
                <a:ea typeface="Malgun Gothic"/>
                <a:cs typeface="Malgun Gothic"/>
              </a:rPr>
              <a:t>X 연관 열성</a:t>
            </a:r>
            <a:r>
              <a:rPr sz="1600" b="0" i="0">
                <a:solidFill>
                  <a:srgbClr val="11202B"/>
                </a:solidFill>
                <a:latin typeface="Malgun Gothic"/>
                <a:ea typeface="Malgun Gothic"/>
                <a:cs typeface="Malgun Gothic"/>
              </a:rPr>
              <a:t>은 남성에 압도적으로 많고, </a:t>
            </a:r>
            <a:r>
              <a:rPr sz="1600" b="1" i="0">
                <a:solidFill>
                  <a:srgbClr val="11202B"/>
                </a:solidFill>
                <a:latin typeface="Malgun Gothic"/>
                <a:ea typeface="Malgun Gothic"/>
                <a:cs typeface="Malgun Gothic"/>
              </a:rPr>
              <a:t>아버지에서 아들로 전달되지 않으며</a:t>
            </a:r>
            <a:r>
              <a:rPr sz="1600" b="0" i="0">
                <a:solidFill>
                  <a:srgbClr val="11202B"/>
                </a:solidFill>
                <a:latin typeface="Malgun Gothic"/>
                <a:ea typeface="Malgun Gothic"/>
                <a:cs typeface="Malgun Gothic"/>
              </a:rPr>
              <a:t>(아들은 아버지에게서 Y를 받으므로), 이환된 남성의 딸은 모두 보인자가 된다. 마지막 조건이 가장 강력한 판별 기준이다. </a:t>
            </a:r>
            <a:r>
              <a:rPr sz="1600" b="1" i="0">
                <a:solidFill>
                  <a:srgbClr val="11202B"/>
                </a:solidFill>
                <a:latin typeface="Malgun Gothic"/>
                <a:ea typeface="Malgun Gothic"/>
                <a:cs typeface="Malgun Gothic"/>
              </a:rPr>
              <a:t>X 연관 우성</a:t>
            </a:r>
            <a:r>
              <a:rPr sz="1600" b="0" i="0">
                <a:solidFill>
                  <a:srgbClr val="11202B"/>
                </a:solidFill>
                <a:latin typeface="Malgun Gothic"/>
                <a:ea typeface="Malgun Gothic"/>
                <a:cs typeface="Malgun Gothic"/>
              </a:rPr>
              <a:t>은 이환된 아버지의 </a:t>
            </a:r>
            <a:r>
              <a:rPr sz="1600" b="1" i="0">
                <a:solidFill>
                  <a:srgbClr val="11202B"/>
                </a:solidFill>
                <a:latin typeface="Malgun Gothic"/>
                <a:ea typeface="Malgun Gothic"/>
                <a:cs typeface="Malgun Gothic"/>
              </a:rPr>
              <a:t>딸이 모두</a:t>
            </a:r>
            <a:r>
              <a:rPr sz="1600" b="0" i="0">
                <a:solidFill>
                  <a:srgbClr val="11202B"/>
                </a:solidFill>
                <a:latin typeface="Malgun Gothic"/>
                <a:ea typeface="Malgun Gothic"/>
                <a:cs typeface="Malgun Gothic"/>
              </a:rPr>
              <a:t> 이환되고 아들은 모두 정상이다. 아버지에서 아들로 전달되는 사례가 하나라도 있으면 X 연관은 배제된다.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연관과 교차 — 독립의 법칙이 깨지는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멘델의 두 번째 법칙은 서로 다른 형질이 독립적으로 전달된다는 것이었다. 그런데 멘델이 고른 일곱 형질이 마침 서로 다른 염색체에 있었기에 그 결과가 나왔다. </a:t>
            </a:r>
            <a:r>
              <a:rPr sz="1400" b="1" i="0">
                <a:solidFill>
                  <a:srgbClr val="11202B"/>
                </a:solidFill>
                <a:latin typeface="Malgun Gothic"/>
                <a:ea typeface="Malgun Gothic"/>
                <a:cs typeface="Malgun Gothic"/>
              </a:rPr>
              <a:t>같은 염색체에 있으면 어떻게 되는가.</a:t>
            </a:r>
            <a:r>
              <a:rPr sz="1400" b="0" i="0">
                <a:solidFill>
                  <a:srgbClr val="11202B"/>
                </a:solidFill>
                <a:latin typeface="Malgun Gothic"/>
                <a:ea typeface="Malgun Gothic"/>
                <a:cs typeface="Malgun Gothic"/>
              </a:rPr>
              <a:t> 이 절은 법칙이 깨지는 조건과, 그 깨짐이 오히려 유전자의 위치를 알아내는 도구가 된 과정을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염색체에 있는 유전자들은 함께 전달되는 경향이 있다. 이를 </a:t>
            </a:r>
            <a:r>
              <a:rPr sz="1400" b="1" i="0">
                <a:solidFill>
                  <a:srgbClr val="11202B"/>
                </a:solidFill>
                <a:latin typeface="Malgun Gothic"/>
                <a:ea typeface="Malgun Gothic"/>
                <a:cs typeface="Malgun Gothic"/>
              </a:rPr>
              <a:t>연관(linkage)</a:t>
            </a:r>
            <a:r>
              <a:rPr sz="1400" b="0" i="0">
                <a:solidFill>
                  <a:srgbClr val="11202B"/>
                </a:solidFill>
                <a:latin typeface="Malgun Gothic"/>
                <a:ea typeface="Malgun Gothic"/>
                <a:cs typeface="Malgun Gothic"/>
              </a:rPr>
              <a:t> 이라 한다. 그러나 완전히 함께 가지는 않는다. 제1감수분열에서 </a:t>
            </a:r>
            <a:r>
              <a:rPr sz="1400" b="1" i="0">
                <a:solidFill>
                  <a:srgbClr val="11202B"/>
                </a:solidFill>
                <a:latin typeface="Malgun Gothic"/>
                <a:ea typeface="Malgun Gothic"/>
                <a:cs typeface="Malgun Gothic"/>
              </a:rPr>
              <a:t>교차</a:t>
            </a:r>
            <a:r>
              <a:rPr sz="1400" b="0" i="0">
                <a:solidFill>
                  <a:srgbClr val="11202B"/>
                </a:solidFill>
                <a:latin typeface="Malgun Gothic"/>
                <a:ea typeface="Malgun Gothic"/>
                <a:cs typeface="Malgun Gothic"/>
              </a:rPr>
              <a:t>가 일어나 구간이 교환되기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재조합 빈도가 거리를 알려 준다.</a:t>
            </a:r>
            <a:r>
              <a:rPr sz="1400" b="0" i="0">
                <a:solidFill>
                  <a:srgbClr val="11202B"/>
                </a:solidFill>
                <a:latin typeface="Malgun Gothic"/>
                <a:ea typeface="Malgun Gothic"/>
                <a:cs typeface="Malgun Gothic"/>
              </a:rPr>
              <a:t> 두 유전자가 멀리 떨어져 있을수록 그 사이에서 교차가 일어날 확률이 높다. 따라서 자손에서 부모와 다른 조합이 나타나는 비율, 즉 </a:t>
            </a:r>
            <a:r>
              <a:rPr sz="1400" b="1" i="0">
                <a:solidFill>
                  <a:srgbClr val="11202B"/>
                </a:solidFill>
                <a:latin typeface="Malgun Gothic"/>
                <a:ea typeface="Malgun Gothic"/>
                <a:cs typeface="Malgun Gothic"/>
              </a:rPr>
              <a:t>재조합 빈도</a:t>
            </a:r>
            <a:r>
              <a:rPr sz="1400" b="0" i="0">
                <a:solidFill>
                  <a:srgbClr val="11202B"/>
                </a:solidFill>
                <a:latin typeface="Malgun Gothic"/>
                <a:ea typeface="Malgun Gothic"/>
                <a:cs typeface="Malgun Gothic"/>
              </a:rPr>
              <a:t>가 두 유전자 사이의 거리를 추정하는 척도가 된다. 재조합 빈도 1%를 1 centimorgan으로 정의한다.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중요한 한계가 있다. 재조합 빈도는 </a:t>
            </a:r>
            <a:r>
              <a:rPr sz="1400" b="1" i="0">
                <a:solidFill>
                  <a:srgbClr val="11202B"/>
                </a:solidFill>
                <a:latin typeface="Malgun Gothic"/>
                <a:ea typeface="Malgun Gothic"/>
                <a:cs typeface="Malgun Gothic"/>
              </a:rPr>
              <a:t>최대 50%를 넘지 않는다.</a:t>
            </a:r>
            <a:r>
              <a:rPr sz="1400" b="0" i="0">
                <a:solidFill>
                  <a:srgbClr val="11202B"/>
                </a:solidFill>
                <a:latin typeface="Malgun Gothic"/>
                <a:ea typeface="Malgun Gothic"/>
                <a:cs typeface="Malgun Gothic"/>
              </a:rPr>
              <a:t> 아주 멀리 떨어져 있거나 아예 다른 염색체에 있으면 둘 다 50%가 되어 구별되지 않는다. 그래서 이 방법으로는 가까운 거리만 측정할 수 있고, 먼 거리는 중간 표지자들을 징검다리로 삼아 이어 붙여야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연관 분석이 질환 유전자를 찾았다.</a:t>
            </a:r>
            <a:r>
              <a:rPr sz="1400" b="0" i="0">
                <a:solidFill>
                  <a:srgbClr val="11202B"/>
                </a:solidFill>
                <a:latin typeface="Malgun Gothic"/>
                <a:ea typeface="Malgun Gothic"/>
                <a:cs typeface="Malgun Gothic"/>
              </a:rPr>
              <a:t> 질환이 어느 유전자 때문인지 모를 때, 가계도에서 질환과 함께 전달되는 DNA 표지자를 찾으면 그 표지자 근처에 원인 유전자가 있다는 뜻이 된다. 헌팅턴병과 낭성 섬유증의 원인 유전자가 이 방식으로 발견되었다. 지금은 유전체 전체를 직접 읽을 수 있어 이 전략의 비중이 줄었지만, </a:t>
            </a:r>
            <a:r>
              <a:rPr sz="1400" b="1" i="0">
                <a:solidFill>
                  <a:srgbClr val="11202B"/>
                </a:solidFill>
                <a:latin typeface="Malgun Gothic"/>
                <a:ea typeface="Malgun Gothic"/>
                <a:cs typeface="Malgun Gothic"/>
              </a:rPr>
              <a:t>형질과 함께 유전되는 것을 찾는다</a:t>
            </a:r>
            <a:r>
              <a:rPr sz="1400" b="0" i="0">
                <a:solidFill>
                  <a:srgbClr val="11202B"/>
                </a:solidFill>
                <a:latin typeface="Malgun Gothic"/>
                <a:ea typeface="Malgun Gothic"/>
                <a:cs typeface="Malgun Gothic"/>
              </a:rPr>
              <a:t>는 논리 자체는 유전체 연관 분석에 그대로 이어진다.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성 염색체와 X 불활성화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지금까지는 두 벌이 똑같이 있는 상염색체를 전제로 했다. 그런데 성염색체는 그렇지 않다. 남성은 X를 한 벌만 가지고, 여성은 두 벌을 가진다. </a:t>
            </a:r>
            <a:r>
              <a:rPr sz="1400" b="1" i="0">
                <a:solidFill>
                  <a:srgbClr val="11202B"/>
                </a:solidFill>
                <a:latin typeface="Malgun Gothic"/>
                <a:ea typeface="Malgun Gothic"/>
                <a:cs typeface="Malgun Gothic"/>
              </a:rPr>
              <a:t>벌 수가 다르면 앞에서 세운 규칙이 그대로 적용되지 않는다.</a:t>
            </a:r>
            <a:r>
              <a:rPr sz="1400" b="0" i="0">
                <a:solidFill>
                  <a:srgbClr val="11202B"/>
                </a:solidFill>
                <a:latin typeface="Malgun Gothic"/>
                <a:ea typeface="Malgun Gothic"/>
                <a:cs typeface="Malgun Gothic"/>
              </a:rPr>
              <a:t> 이 절은 그 차이가 만드는 고유한 유전 양식을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성 결정.</a:t>
            </a:r>
            <a:r>
              <a:rPr sz="1400" b="0" i="0">
                <a:solidFill>
                  <a:srgbClr val="11202B"/>
                </a:solidFill>
                <a:latin typeface="Malgun Gothic"/>
                <a:ea typeface="Malgun Gothic"/>
                <a:cs typeface="Malgun Gothic"/>
              </a:rPr>
              <a:t> 사람에서 성을 정하는 것은 Y 염색체의 </a:t>
            </a:r>
            <a:r>
              <a:rPr sz="1400" b="1" i="0">
                <a:solidFill>
                  <a:srgbClr val="11202B"/>
                </a:solidFill>
                <a:latin typeface="Malgun Gothic"/>
                <a:ea typeface="Malgun Gothic"/>
                <a:cs typeface="Malgun Gothic"/>
              </a:rPr>
              <a:t>SRY</a:t>
            </a:r>
            <a:r>
              <a:rPr sz="1400" b="0" i="0">
                <a:solidFill>
                  <a:srgbClr val="11202B"/>
                </a:solidFill>
                <a:latin typeface="Malgun Gothic"/>
                <a:ea typeface="Malgun Gothic"/>
                <a:cs typeface="Malgun Gothic"/>
              </a:rPr>
              <a:t> 유전자다. X의 수가 아니라 Y의 존재가 기준이므로, 47,XXY는 남성이고 45,X는 여성이다(M01-W02-L03).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유전자량의 문제.</a:t>
            </a:r>
            <a:r>
              <a:rPr sz="1400" b="0" i="0">
                <a:solidFill>
                  <a:srgbClr val="11202B"/>
                </a:solidFill>
                <a:latin typeface="Malgun Gothic"/>
                <a:ea typeface="Malgun Gothic"/>
                <a:cs typeface="Malgun Gothic"/>
              </a:rPr>
              <a:t> 여성은 X를 두 개, 남성은 하나 가진다. X에는 1,000개가 넘는 유전자가 있으므로, 그대로 두면 여성에서 발현량이 두 배가 된다. 이를 맞추는 장치가 </a:t>
            </a:r>
            <a:r>
              <a:rPr sz="1400" b="1" i="0">
                <a:solidFill>
                  <a:srgbClr val="11202B"/>
                </a:solidFill>
                <a:latin typeface="Malgun Gothic"/>
                <a:ea typeface="Malgun Gothic"/>
                <a:cs typeface="Malgun Gothic"/>
              </a:rPr>
              <a:t>X 불활성화</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발생 초기에 각 세포가 두 X 가운데 </a:t>
            </a:r>
            <a:r>
              <a:rPr sz="1400" b="1" i="0">
                <a:solidFill>
                  <a:srgbClr val="11202B"/>
                </a:solidFill>
                <a:latin typeface="Malgun Gothic"/>
                <a:ea typeface="Malgun Gothic"/>
                <a:cs typeface="Malgun Gothic"/>
              </a:rPr>
              <a:t>하나를 무작위로</a:t>
            </a:r>
            <a:r>
              <a:rPr sz="1400" b="0" i="0">
                <a:solidFill>
                  <a:srgbClr val="11202B"/>
                </a:solidFill>
                <a:latin typeface="Malgun Gothic"/>
                <a:ea typeface="Malgun Gothic"/>
                <a:cs typeface="Malgun Gothic"/>
              </a:rPr>
              <a:t> 선택해 불활성화한다.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한 번 정해지면 그 세포의 모든 후손이 같은 선택을 유지한다.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여성의 몸은 두 종류의 세포가 섞인 </a:t>
            </a:r>
            <a:r>
              <a:rPr sz="1400" b="1" i="0">
                <a:solidFill>
                  <a:srgbClr val="11202B"/>
                </a:solidFill>
                <a:latin typeface="Malgun Gothic"/>
                <a:ea typeface="Malgun Gothic"/>
                <a:cs typeface="Malgun Gothic"/>
              </a:rPr>
              <a:t>모자이크</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결과가 임상에서 보인다.</a:t>
            </a:r>
            <a:r>
              <a:rPr sz="1400" b="0" i="0">
                <a:solidFill>
                  <a:srgbClr val="11202B"/>
                </a:solidFill>
                <a:latin typeface="Malgun Gothic"/>
                <a:ea typeface="Malgun Gothic"/>
                <a:cs typeface="Malgun Gothic"/>
              </a:rPr>
              <a:t> X 연관 질환의 여성 보인자는 대개 증상이 없지만, 우연히 정상 X가 불활성화된 세포가 많으면 증상이 나타날 수 있다(</a:t>
            </a:r>
            <a:r>
              <a:rPr sz="1400" b="1" i="0">
                <a:solidFill>
                  <a:srgbClr val="11202B"/>
                </a:solidFill>
                <a:latin typeface="Malgun Gothic"/>
                <a:ea typeface="Malgun Gothic"/>
                <a:cs typeface="Malgun Gothic"/>
              </a:rPr>
              <a:t>편향된 불활성화</a:t>
            </a:r>
            <a:r>
              <a:rPr sz="1400" b="0" i="0">
                <a:solidFill>
                  <a:srgbClr val="11202B"/>
                </a:solidFill>
                <a:latin typeface="Malgun Gothic"/>
                <a:ea typeface="Malgun Gothic"/>
                <a:cs typeface="Malgun Gothic"/>
              </a:rPr>
              <a:t>). 여성 보인자의 증상 유무가 일정하지 않은 이유이며, 같은 변이를 가진 자매 사이에서도 차이가 생긴다.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모자이크가 눈에 보이는 예도 있다. 삼색 고양이가 암컷에만 나타나는 것은 털색 유전자가 X에 있고 세포마다 다른 X가 활성화되어 색이 구역별로 다르게 나오기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Y 염색체.</a:t>
            </a:r>
            <a:r>
              <a:rPr sz="1400" b="0" i="0">
                <a:solidFill>
                  <a:srgbClr val="11202B"/>
                </a:solidFill>
                <a:latin typeface="Malgun Gothic"/>
                <a:ea typeface="Malgun Gothic"/>
                <a:cs typeface="Malgun Gothic"/>
              </a:rPr>
              <a:t> 유전자가 적고 대부분 정자 형성에 관여한다. 아버지에서 아들로만 전달되므로 부계 계통 추적에 쓰인다. X와 짝을 이루어 교차하는 구간이 양 끝의 짧은 영역에 한정되어 있어, 나머지 대부분은 재조합 없이 통째로 전달된다. 재조합이 없다는 것은 해로운 변이를 제거할 기회도 없다는 뜻이며, 진화 과정에서 Y가 크게 축소된 이유로 제시된다.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성 염색체와 X 불활성화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X 불활성화가 </a:t>
            </a:r>
            <a:r>
              <a:rPr sz="1600" b="1" i="0">
                <a:solidFill>
                  <a:srgbClr val="11202B"/>
                </a:solidFill>
                <a:latin typeface="Malgun Gothic"/>
                <a:ea typeface="Malgun Gothic"/>
                <a:cs typeface="Malgun Gothic"/>
              </a:rPr>
              <a:t>완전하지 않다</a:t>
            </a:r>
            <a:r>
              <a:rPr sz="1600" b="0" i="0">
                <a:solidFill>
                  <a:srgbClr val="11202B"/>
                </a:solidFill>
                <a:latin typeface="Malgun Gothic"/>
                <a:ea typeface="Malgun Gothic"/>
                <a:cs typeface="Malgun Gothic"/>
              </a:rPr>
              <a:t>는 사실이 최근 주목받고 있다. 불활성화된 X에서도 약 15~25%의 유전자가 계속 발현되며, 이를 피하는 유전자의 목록이 조직과 개인에 따라 다르다는 것이 단일세포 분석으로 드러났다. 이 사실이 자가면역질환의 여성 편중을 설명할 수 있다는 가설이 제기되었다. 면역 관련 유전자 가운데 불활성화를 피하는 것들이 있어 여성에서 발현량이 높고, 그것이 면역 반응의 강도와 자가면역 경향을 올린다는 것이다. X에 연관된 면역 유전자의 발현량과 질환 위험을 직접 연결한 자료가 쌓이고 있으나, 호르몬의 영향과 구분하기 어렵다는 문제가 남아 있다. 성별에 따른 질환 빈도와 약물 반응의 차이를 설명하려는 연구에서 중요한 축이 되었다.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비멘델 유전의 네 가지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절까지로 멘델의 규칙과 그 예외 둘(연관, 성 연관)을 보았다. 그런데 임상에서 마주치는 가계도 가운데에는 이 틀로도 설명되지 않는 것이 있다. 이 절은 그런 경우를 네 가지로 나누며, </a:t>
            </a:r>
            <a:r>
              <a:rPr sz="1400" b="1" i="0">
                <a:solidFill>
                  <a:srgbClr val="11202B"/>
                </a:solidFill>
                <a:latin typeface="Malgun Gothic"/>
                <a:ea typeface="Malgun Gothic"/>
                <a:cs typeface="Malgun Gothic"/>
              </a:rPr>
              <a:t>각각이 규칙의 어느 전제를 깨는지</a:t>
            </a:r>
            <a:r>
              <a:rPr sz="1400" b="0" i="0">
                <a:solidFill>
                  <a:srgbClr val="11202B"/>
                </a:solidFill>
                <a:latin typeface="Malgun Gothic"/>
                <a:ea typeface="Malgun Gothic"/>
                <a:cs typeface="Malgun Gothic"/>
              </a:rPr>
              <a:t>를 함께 짚는다.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가계도가 멘델의 규칙을 따르지 않는 경우가 있다. 네 가지를 구분한다.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미토콘드리아 유전.</a:t>
            </a:r>
            <a:r>
              <a:rPr sz="1400" b="0" i="0">
                <a:solidFill>
                  <a:srgbClr val="11202B"/>
                </a:solidFill>
                <a:latin typeface="Malgun Gothic"/>
                <a:ea typeface="Malgun Gothic"/>
                <a:cs typeface="Malgun Gothic"/>
              </a:rPr>
              <a:t> 미토콘드리아는 자체 DNA를 가지며 수정에서 </a:t>
            </a:r>
            <a:r>
              <a:rPr sz="1400" b="1" i="0">
                <a:solidFill>
                  <a:srgbClr val="11202B"/>
                </a:solidFill>
                <a:latin typeface="Malgun Gothic"/>
                <a:ea typeface="Malgun Gothic"/>
                <a:cs typeface="Malgun Gothic"/>
              </a:rPr>
              <a:t>난자의 것만 전달된다</a:t>
            </a:r>
            <a:r>
              <a:rPr sz="1400" b="0" i="0">
                <a:solidFill>
                  <a:srgbClr val="11202B"/>
                </a:solidFill>
                <a:latin typeface="Malgun Gothic"/>
                <a:ea typeface="Malgun Gothic"/>
                <a:cs typeface="Malgun Gothic"/>
              </a:rPr>
              <a:t>. 따라서 어머니가 이환되면 아들과 딸 모두에게 전달되고, 아버지가 이환되면 아무에게도 전달되지 않는다. 가계도에서 </a:t>
            </a:r>
            <a:r>
              <a:rPr sz="1400" b="1" i="0">
                <a:solidFill>
                  <a:srgbClr val="11202B"/>
                </a:solidFill>
                <a:latin typeface="Malgun Gothic"/>
                <a:ea typeface="Malgun Gothic"/>
                <a:cs typeface="Malgun Gothic"/>
              </a:rPr>
              <a:t>모계로만 이어지는 선</a:t>
            </a:r>
            <a:r>
              <a:rPr sz="1400" b="0" i="0">
                <a:solidFill>
                  <a:srgbClr val="11202B"/>
                </a:solidFill>
                <a:latin typeface="Malgun Gothic"/>
                <a:ea typeface="Malgun Gothic"/>
                <a:cs typeface="Malgun Gothic"/>
              </a:rPr>
              <a:t>이 보이면 이것을 의심한다.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증상의 정도가 사람마다 다른 것은 </a:t>
            </a:r>
            <a:r>
              <a:rPr sz="1400" b="1" i="0">
                <a:solidFill>
                  <a:srgbClr val="11202B"/>
                </a:solidFill>
                <a:latin typeface="Malgun Gothic"/>
                <a:ea typeface="Malgun Gothic"/>
                <a:cs typeface="Malgun Gothic"/>
              </a:rPr>
              <a:t>이형질성</a:t>
            </a:r>
            <a:r>
              <a:rPr sz="1400" b="0" i="0">
                <a:solidFill>
                  <a:srgbClr val="11202B"/>
                </a:solidFill>
                <a:latin typeface="Malgun Gothic"/>
                <a:ea typeface="Malgun Gothic"/>
                <a:cs typeface="Malgun Gothic"/>
              </a:rPr>
              <a:t> 때문이다. 세포 하나에 수백에서 수천 개의 미토콘드리아 DNA가 있고 정상과 변이가 섞여 있으므로, 변이의 비율이 조직마다 다르고 일정 비율을 넘어야 증상이 나타난다. 에너지 요구가 큰 신경과 근육이 먼저 영향을 받는다.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각인.</a:t>
            </a:r>
            <a:r>
              <a:rPr sz="1400" b="0" i="0">
                <a:solidFill>
                  <a:srgbClr val="11202B"/>
                </a:solidFill>
                <a:latin typeface="Malgun Gothic"/>
                <a:ea typeface="Malgun Gothic"/>
                <a:cs typeface="Malgun Gothic"/>
              </a:rPr>
              <a:t> 일부 유전자는 부모 어느 쪽에서 왔는지에 따라 발현이 달라진다. 같은 결실이라도 </a:t>
            </a:r>
            <a:r>
              <a:rPr sz="1400" b="1" i="0">
                <a:solidFill>
                  <a:srgbClr val="11202B"/>
                </a:solidFill>
                <a:latin typeface="Malgun Gothic"/>
                <a:ea typeface="Malgun Gothic"/>
                <a:cs typeface="Malgun Gothic"/>
              </a:rPr>
              <a:t>부계 유래면 Prader–Willi, 모계 유래면 Angelman</a:t>
            </a:r>
            <a:r>
              <a:rPr sz="1400" b="0" i="0">
                <a:solidFill>
                  <a:srgbClr val="11202B"/>
                </a:solidFill>
                <a:latin typeface="Malgun Gothic"/>
                <a:ea typeface="Malgun Gothic"/>
                <a:cs typeface="Malgun Gothic"/>
              </a:rPr>
              <a:t>이 되는 것이 대표적이다. 염색체의 양이 아니라 </a:t>
            </a:r>
            <a:r>
              <a:rPr sz="1400" b="1" i="0">
                <a:solidFill>
                  <a:srgbClr val="11202B"/>
                </a:solidFill>
                <a:latin typeface="Malgun Gothic"/>
                <a:ea typeface="Malgun Gothic"/>
                <a:cs typeface="Malgun Gothic"/>
              </a:rPr>
              <a:t>출처</a:t>
            </a:r>
            <a:r>
              <a:rPr sz="1400" b="0" i="0">
                <a:solidFill>
                  <a:srgbClr val="11202B"/>
                </a:solidFill>
                <a:latin typeface="Malgun Gothic"/>
                <a:ea typeface="Malgun Gothic"/>
                <a:cs typeface="Malgun Gothic"/>
              </a:rPr>
              <a:t>가 표현형을 정한다. 분자 기전은 M03-W05-L01에서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삼염기 반복 확장.</a:t>
            </a:r>
            <a:r>
              <a:rPr sz="1400" b="0" i="0">
                <a:solidFill>
                  <a:srgbClr val="11202B"/>
                </a:solidFill>
                <a:latin typeface="Malgun Gothic"/>
                <a:ea typeface="Malgun Gothic"/>
                <a:cs typeface="Malgun Gothic"/>
              </a:rPr>
              <a:t> 특정 구간의 반복 서열이 세대를 거치며 늘어난다. 반복이 길수록 증상이 심하고 발병이 빠르므로, 세대가 내려갈수록 중증화되는 </a:t>
            </a:r>
            <a:r>
              <a:rPr sz="1400" b="1" i="0">
                <a:solidFill>
                  <a:srgbClr val="11202B"/>
                </a:solidFill>
                <a:latin typeface="Malgun Gothic"/>
                <a:ea typeface="Malgun Gothic"/>
                <a:cs typeface="Malgun Gothic"/>
              </a:rPr>
              <a:t>예기 현상</a:t>
            </a:r>
            <a:r>
              <a:rPr sz="1400" b="0" i="0">
                <a:solidFill>
                  <a:srgbClr val="11202B"/>
                </a:solidFill>
                <a:latin typeface="Malgun Gothic"/>
                <a:ea typeface="Malgun Gothic"/>
                <a:cs typeface="Malgun Gothic"/>
              </a:rPr>
              <a:t>이 나타난다. 헌팅턴병과 취약 X 증후군이 그 예다. 확장이 일어나는 쪽이 부계인지 모계인지가 질환마다 정해져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모자이크.</a:t>
            </a:r>
            <a:r>
              <a:rPr sz="1400" b="0" i="0">
                <a:solidFill>
                  <a:srgbClr val="11202B"/>
                </a:solidFill>
                <a:latin typeface="Malgun Gothic"/>
                <a:ea typeface="Malgun Gothic"/>
                <a:cs typeface="Malgun Gothic"/>
              </a:rPr>
              <a:t> 수정 후에 생긴 변이는 몸의 일부 세포에만 존재한다. 변이가 생긴 시점이 이를수록 넓은 범위에 분포한다. </a:t>
            </a:r>
            <a:r>
              <a:rPr sz="1400" b="1" i="0">
                <a:solidFill>
                  <a:srgbClr val="11202B"/>
                </a:solidFill>
                <a:latin typeface="Malgun Gothic"/>
                <a:ea typeface="Malgun Gothic"/>
                <a:cs typeface="Malgun Gothic"/>
              </a:rPr>
              <a:t>생식선 모자이크</a:t>
            </a:r>
            <a:r>
              <a:rPr sz="1400" b="0" i="0">
                <a:solidFill>
                  <a:srgbClr val="11202B"/>
                </a:solidFill>
                <a:latin typeface="Malgun Gothic"/>
                <a:ea typeface="Malgun Gothic"/>
                <a:cs typeface="Malgun Gothic"/>
              </a:rPr>
              <a:t>가 특히 중요한데, 부모의 체세포에는 변이가 없어 검사에서 음성인데 생식세포의 일부에 변이가 있어 </a:t>
            </a:r>
            <a:r>
              <a:rPr sz="1400" b="1" i="0">
                <a:solidFill>
                  <a:srgbClr val="11202B"/>
                </a:solidFill>
                <a:latin typeface="Malgun Gothic"/>
                <a:ea typeface="Malgun Gothic"/>
                <a:cs typeface="Malgun Gothic"/>
              </a:rPr>
              <a:t>여러 자녀가 같은 질환을 가질 수 있다</a:t>
            </a:r>
            <a:r>
              <a:rPr sz="1400" b="0" i="0">
                <a:solidFill>
                  <a:srgbClr val="11202B"/>
                </a:solidFill>
                <a:latin typeface="Malgun Gothic"/>
                <a:ea typeface="Malgun Gothic"/>
                <a:cs typeface="Malgun Gothic"/>
              </a:rPr>
              <a:t>. 새 돌연변이로 설명되는 사례에서도 재발 위험을 0으로 말할 수 없는 이유다.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비멘델 유전의 네 가지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6814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가계도에서 비멘델 유전을 의심하는 단서가 각각 다르다. </a:t>
            </a:r>
            <a:r>
              <a:rPr sz="1600" b="1" i="0">
                <a:solidFill>
                  <a:srgbClr val="11202B"/>
                </a:solidFill>
                <a:latin typeface="Malgun Gothic"/>
                <a:ea typeface="Malgun Gothic"/>
                <a:cs typeface="Malgun Gothic"/>
              </a:rPr>
              <a:t>모계로만 전달되고 남녀 모두 이환</a:t>
            </a:r>
            <a:r>
              <a:rPr sz="1600" b="0" i="0">
                <a:solidFill>
                  <a:srgbClr val="11202B"/>
                </a:solidFill>
                <a:latin typeface="Malgun Gothic"/>
                <a:ea typeface="Malgun Gothic"/>
                <a:cs typeface="Malgun Gothic"/>
              </a:rPr>
              <a:t>되면 미토콘드리아, </a:t>
            </a:r>
            <a:r>
              <a:rPr sz="1600" b="1" i="0">
                <a:solidFill>
                  <a:srgbClr val="11202B"/>
                </a:solidFill>
                <a:latin typeface="Malgun Gothic"/>
                <a:ea typeface="Malgun Gothic"/>
                <a:cs typeface="Malgun Gothic"/>
              </a:rPr>
              <a:t>같은 결실인데 부모 쪽에 따라 다른 질환</a:t>
            </a:r>
            <a:r>
              <a:rPr sz="1600" b="0" i="0">
                <a:solidFill>
                  <a:srgbClr val="11202B"/>
                </a:solidFill>
                <a:latin typeface="Malgun Gothic"/>
                <a:ea typeface="Malgun Gothic"/>
                <a:cs typeface="Malgun Gothic"/>
              </a:rPr>
              <a:t>이면 각인, </a:t>
            </a:r>
            <a:r>
              <a:rPr sz="1600" b="1" i="0">
                <a:solidFill>
                  <a:srgbClr val="11202B"/>
                </a:solidFill>
                <a:latin typeface="Malgun Gothic"/>
                <a:ea typeface="Malgun Gothic"/>
                <a:cs typeface="Malgun Gothic"/>
              </a:rPr>
              <a:t>세대가 내려갈수록 빨리 발병하고 심해지면</a:t>
            </a:r>
            <a:r>
              <a:rPr sz="1600" b="0" i="0">
                <a:solidFill>
                  <a:srgbClr val="11202B"/>
                </a:solidFill>
                <a:latin typeface="Malgun Gothic"/>
                <a:ea typeface="Malgun Gothic"/>
                <a:cs typeface="Malgun Gothic"/>
              </a:rPr>
              <a:t> 삼염기 반복 확장, </a:t>
            </a:r>
            <a:r>
              <a:rPr sz="1600" b="1" i="0">
                <a:solidFill>
                  <a:srgbClr val="11202B"/>
                </a:solidFill>
                <a:latin typeface="Malgun Gothic"/>
                <a:ea typeface="Malgun Gothic"/>
                <a:cs typeface="Malgun Gothic"/>
              </a:rPr>
              <a:t>부모가 모두 정상인데 형제가 여럿 이환되고 체세포 검사는 음성</a:t>
            </a:r>
            <a:r>
              <a:rPr sz="1600" b="0" i="0">
                <a:solidFill>
                  <a:srgbClr val="11202B"/>
                </a:solidFill>
                <a:latin typeface="Malgun Gothic"/>
                <a:ea typeface="Malgun Gothic"/>
                <a:cs typeface="Malgun Gothic"/>
              </a:rPr>
              <a:t>이면 생식선 모자이크를 의심한다. 미토콘드리아 유전과 X 연관 열성을 혼동하기 쉬운데, 둘 다 어머니를 통해 전달되지만 </a:t>
            </a:r>
            <a:r>
              <a:rPr sz="1600" b="1" i="0">
                <a:solidFill>
                  <a:srgbClr val="11202B"/>
                </a:solidFill>
                <a:latin typeface="Malgun Gothic"/>
                <a:ea typeface="Malgun Gothic"/>
                <a:cs typeface="Malgun Gothic"/>
              </a:rPr>
              <a:t>미토콘드리아는 딸도 이환되고 X 연관 열성은 딸이 대개 보인자에 그친다</a:t>
            </a:r>
            <a:r>
              <a:rPr sz="1600" b="0" i="0">
                <a:solidFill>
                  <a:srgbClr val="11202B"/>
                </a:solidFill>
                <a:latin typeface="Malgun Gothic"/>
                <a:ea typeface="Malgun Gothic"/>
                <a:cs typeface="Malgun Gothic"/>
              </a:rPr>
              <a:t>는 점이 다르다.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변이는 어떻게 생기고 왜 대부분 교정되는가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여기까지가 세 번째 질문, 즉 전해지는 규칙이었다. 이제 네 번째 질문으로 넘어간다. </a:t>
            </a:r>
            <a:r>
              <a:rPr sz="1400" b="1" i="0">
                <a:solidFill>
                  <a:srgbClr val="11202B"/>
                </a:solidFill>
                <a:latin typeface="Malgun Gothic"/>
                <a:ea typeface="Malgun Gothic"/>
                <a:cs typeface="Malgun Gothic"/>
              </a:rPr>
              <a:t>전해지는 것이 달라지는 일은 어떻게 일어나는가.</a:t>
            </a:r>
            <a:r>
              <a:rPr sz="1400" b="0" i="0">
                <a:solidFill>
                  <a:srgbClr val="11202B"/>
                </a:solidFill>
                <a:latin typeface="Malgun Gothic"/>
                <a:ea typeface="Malgun Gothic"/>
                <a:cs typeface="Malgun Gothic"/>
              </a:rPr>
              <a:t> 변이가 없으면 모두가 똑같을 것이고 진화도 질병도 없다. 변이의 종류를 보기 전에 그것이 어디서 오는지부터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변이의 종류를 보기 전에 변이가 </a:t>
            </a:r>
            <a:r>
              <a:rPr sz="1400" b="1" i="0">
                <a:solidFill>
                  <a:srgbClr val="11202B"/>
                </a:solidFill>
                <a:latin typeface="Malgun Gothic"/>
                <a:ea typeface="Malgun Gothic"/>
                <a:cs typeface="Malgun Gothic"/>
              </a:rPr>
              <a:t>어디서 오는지</a:t>
            </a:r>
            <a:r>
              <a:rPr sz="1400" b="0" i="0">
                <a:solidFill>
                  <a:srgbClr val="11202B"/>
                </a:solidFill>
                <a:latin typeface="Malgun Gothic"/>
                <a:ea typeface="Malgun Gothic"/>
                <a:cs typeface="Malgun Gothic"/>
              </a:rPr>
              <a:t>를 정해 둔다. 세 갈래다.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복제 오류.</a:t>
            </a:r>
            <a:r>
              <a:rPr sz="1400" b="0" i="0">
                <a:solidFill>
                  <a:srgbClr val="11202B"/>
                </a:solidFill>
                <a:latin typeface="Malgun Gothic"/>
                <a:ea typeface="Malgun Gothic"/>
                <a:cs typeface="Malgun Gothic"/>
              </a:rPr>
              <a:t> DNA 중합효소가 염기를 잘못 넣는다. 효소 자체의 정확도는 1만 분의 1 수준이지만, 교정 기능과 복제 후 불일치 수선이 더해져 최종 오류율이 10억 분의 1 수준으로 떨어진다. </a:t>
            </a:r>
            <a:r>
              <a:rPr sz="1400" b="1" i="0">
                <a:solidFill>
                  <a:srgbClr val="11202B"/>
                </a:solidFill>
                <a:latin typeface="Malgun Gothic"/>
                <a:ea typeface="Malgun Gothic"/>
                <a:cs typeface="Malgun Gothic"/>
              </a:rPr>
              <a:t>세 겹의 장치가 곱해져</a:t>
            </a:r>
            <a:r>
              <a:rPr sz="1400" b="0" i="0">
                <a:solidFill>
                  <a:srgbClr val="11202B"/>
                </a:solidFill>
                <a:latin typeface="Malgun Gothic"/>
                <a:ea typeface="Malgun Gothic"/>
                <a:cs typeface="Malgun Gothic"/>
              </a:rPr>
              <a:t> 정확도가 만들어지는 구조이며, 어느 한 겹이 빠지면 오류율이 급격히 올라간다. 불일치 수선이 망가진 종양에서 미소부수체 불안정성이 나타나는 것이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자발적 화학 변화.</a:t>
            </a:r>
            <a:r>
              <a:rPr sz="1400" b="0" i="0">
                <a:solidFill>
                  <a:srgbClr val="11202B"/>
                </a:solidFill>
                <a:latin typeface="Malgun Gothic"/>
                <a:ea typeface="Malgun Gothic"/>
                <a:cs typeface="Malgun Gothic"/>
              </a:rPr>
              <a:t> DNA는 안정하지만 완전히 안정하지는 않다. 체온에서도 염기가 떨어져 나가거나(탈퓨린화) cytosine이 uracil로 바뀌는 탈아미노화가 끊임없이 일어난다. 사람 세포 하나에서 하루에 수천 건이 생긴다는 추정이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a:t>
            </a:r>
            <a:r>
              <a:rPr sz="1400" b="1" i="0">
                <a:solidFill>
                  <a:srgbClr val="11202B"/>
                </a:solidFill>
                <a:latin typeface="Malgun Gothic"/>
                <a:ea typeface="Malgun Gothic"/>
                <a:cs typeface="Malgun Gothic"/>
              </a:rPr>
              <a:t>DNA가 thymine을 쓰는 이유</a:t>
            </a:r>
            <a:r>
              <a:rPr sz="1400" b="0" i="0">
                <a:solidFill>
                  <a:srgbClr val="11202B"/>
                </a:solidFill>
                <a:latin typeface="Malgun Gothic"/>
                <a:ea typeface="Malgun Gothic"/>
                <a:cs typeface="Malgun Gothic"/>
              </a:rPr>
              <a:t>가 설명된다. Cytosine이 탈아미노화되면 uracil이 되는데, 만약 DNA가 본래 uracil을 쓴다면 이것이 원래 있던 것인지 손상된 것인지 구별할 수 없다. Thymine을 쓰면 DNA에서 발견된 uracil은 </a:t>
            </a:r>
            <a:r>
              <a:rPr sz="1400" b="1" i="0">
                <a:solidFill>
                  <a:srgbClr val="11202B"/>
                </a:solidFill>
                <a:latin typeface="Malgun Gothic"/>
                <a:ea typeface="Malgun Gothic"/>
                <a:cs typeface="Malgun Gothic"/>
              </a:rPr>
              <a:t>무조건 손상</a:t>
            </a:r>
            <a:r>
              <a:rPr sz="1400" b="0" i="0">
                <a:solidFill>
                  <a:srgbClr val="11202B"/>
                </a:solidFill>
                <a:latin typeface="Malgun Gothic"/>
                <a:ea typeface="Malgun Gothic"/>
                <a:cs typeface="Malgun Gothic"/>
              </a:rPr>
              <a:t>이므로 제거 대상이 된다. RNA는 수명이 짧아 이런 구별이 필요 없고, 그래서 uracil을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외부 요인.</a:t>
            </a:r>
            <a:r>
              <a:rPr sz="1400" b="0" i="0">
                <a:solidFill>
                  <a:srgbClr val="11202B"/>
                </a:solidFill>
                <a:latin typeface="Malgun Gothic"/>
                <a:ea typeface="Malgun Gothic"/>
                <a:cs typeface="Malgun Gothic"/>
              </a:rPr>
              <a:t> 자외선은 이웃한 pyrimidine을 결합시키고, 전리 방사선은 이중가닥을 끊으며, 여러 화학물질이 염기를 변형하거나 끼어든다.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교정이 기본이고 변이는 예외다.</a:t>
            </a:r>
            <a:r>
              <a:rPr sz="1400" b="0" i="0">
                <a:solidFill>
                  <a:srgbClr val="11202B"/>
                </a:solidFill>
                <a:latin typeface="Malgun Gothic"/>
                <a:ea typeface="Malgun Gothic"/>
                <a:cs typeface="Malgun Gothic"/>
              </a:rPr>
              <a:t> 위의 손상이 하루에 수만 건씩 생기는데도 실제 변이로 남는 것은 극히 일부다. 손상의 종류마다 대응하는 수선 경로가 있고, 복구되지 못한 것만 다음 복제에서 고정된다. 따라서 </a:t>
            </a:r>
            <a:r>
              <a:rPr sz="1400" b="1" i="0">
                <a:solidFill>
                  <a:srgbClr val="11202B"/>
                </a:solidFill>
                <a:latin typeface="Malgun Gothic"/>
                <a:ea typeface="Malgun Gothic"/>
                <a:cs typeface="Malgun Gothic"/>
              </a:rPr>
              <a:t>변이율은 손상 발생률이 아니라 수선 실패율</a:t>
            </a:r>
            <a:r>
              <a:rPr sz="1400" b="0" i="0">
                <a:solidFill>
                  <a:srgbClr val="11202B"/>
                </a:solidFill>
                <a:latin typeface="Malgun Gothic"/>
                <a:ea typeface="Malgun Gothic"/>
                <a:cs typeface="Malgun Gothic"/>
              </a:rPr>
              <a:t>이다. 수선 경로에 결함이 있는 사람에서 암 위험이 크게 올라가는 이유가 여기에 있다. 상세는 M01-W06-L03과 M03-W01-L03에서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변이가 전혀 없으면 안 된다.</a:t>
            </a:r>
            <a:r>
              <a:rPr sz="1400" b="0" i="0">
                <a:solidFill>
                  <a:srgbClr val="11202B"/>
                </a:solidFill>
                <a:latin typeface="Malgun Gothic"/>
                <a:ea typeface="Malgun Gothic"/>
                <a:cs typeface="Malgun Gothic"/>
              </a:rPr>
              <a:t> 수선을 더 완벽하게 만들지 않은 이유는 변이가 </a:t>
            </a:r>
            <a:r>
              <a:rPr sz="1400" b="1" i="0">
                <a:solidFill>
                  <a:srgbClr val="11202B"/>
                </a:solidFill>
                <a:latin typeface="Malgun Gothic"/>
                <a:ea typeface="Malgun Gothic"/>
                <a:cs typeface="Malgun Gothic"/>
              </a:rPr>
              <a:t>변이의 원천</a:t>
            </a:r>
            <a:r>
              <a:rPr sz="1400" b="0" i="0">
                <a:solidFill>
                  <a:srgbClr val="11202B"/>
                </a:solidFill>
                <a:latin typeface="Malgun Gothic"/>
                <a:ea typeface="Malgun Gothic"/>
                <a:cs typeface="Malgun Gothic"/>
              </a:rPr>
              <a:t>이기도 하기 때문이다. 유전적 다양성이 없으면 집단은 환경 변화에 적응할 수 없다. 실제 변이율은 개체의 손상을 줄이는 이익과 집단의 적응력을 유지하는 이익이 맞물린 지점에 있다고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생식세포 변이와 체세포 변이를 구분한다.</a:t>
            </a:r>
            <a:r>
              <a:rPr sz="1400" b="0" i="0">
                <a:solidFill>
                  <a:srgbClr val="11202B"/>
                </a:solidFill>
                <a:latin typeface="Malgun Gothic"/>
                <a:ea typeface="Malgun Gothic"/>
                <a:cs typeface="Malgun Gothic"/>
              </a:rPr>
              <a:t> 생식세포에서 생긴 변이는 다음 세대로 전달되고 그 사람의 모든 세포에 존재한다. 체세포에서 생긴 변이는 전달되지 않고 그 세포의 후손에만 존재한다. 암은 거의 전적으로 체세포 변이의 축적이며, 유전되는 것은 암 자체가 아니라 </a:t>
            </a:r>
            <a:r>
              <a:rPr sz="1400" b="1" i="0">
                <a:solidFill>
                  <a:srgbClr val="11202B"/>
                </a:solidFill>
                <a:latin typeface="Malgun Gothic"/>
                <a:ea typeface="Malgun Gothic"/>
                <a:cs typeface="Malgun Gothic"/>
              </a:rPr>
              <a:t>암에 걸리기 쉬운 소인</a:t>
            </a:r>
            <a:r>
              <a:rPr sz="1400" b="0" i="0">
                <a:solidFill>
                  <a:srgbClr val="11202B"/>
                </a:solidFill>
                <a:latin typeface="Malgun Gothic"/>
                <a:ea typeface="Malgun Gothic"/>
                <a:cs typeface="Malgun Gothic"/>
              </a:rPr>
              <a:t>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Nussbaum RL, McInnes RR, Willard HF. Thompson &amp; Thompson Genetics and Genomics in Medicine. 9th ed. Elsevier; 2023.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Griffiths AJF, et al. Introduction to Genetic Analysis. 12th ed. W.H. Freeman; 2020.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Hartwell LH, et al. Genetics: From Genes to Genomes. 7th ed. McGraw Hill; 2021.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4: DNA, Chromosomes and Genomes.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Avery OT, MacLeod CM, McCarty M. Studies on the chemical nature of the substance inducing transformation of pneumococcal types. J Exp Med. 1944;79(2):137–158.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Hershey AD, Chase M. Independent functions of viral protein and nucleic acid in growth of bacteriophage. J Gen Physiol. 1952;36(1):39–56.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Lyon MF. Gene action in the X-chromosome of the mouse. Nature. 1961;190:372–373.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Torkamani A, Wineinger NE, Topol EJ. The personal and clinical utility of polygenic risk scores. Nat Rev Genet. 2018;19(9):581–590.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