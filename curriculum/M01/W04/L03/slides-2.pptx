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2부</a:t>
            </a:r>
          </a:p>
          <a:p>
            <a:r>
              <a:rPr sz="1100" b="0" i="0">
                <a:solidFill>
                  <a:srgbClr val="F2B705"/>
                </a:solidFill>
                <a:latin typeface="Malgun Gothic"/>
                <a:ea typeface="Malgun Gothic"/>
                <a:cs typeface="Malgun Gothic"/>
              </a:rPr>
              <a:t>전체 18절 가운데 8절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11. 변이의 종류와 결과</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12. 사람 유전체의 규모와 구성</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13. 유전 정보를 읽는 기술</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14. 다인자 형질과 역치 모형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15. 유전자와 환경은 어떻게 함께 작용하는가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16. 집단 유전 — Hardy–Weinberg</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17. 가계도를 읽고 위험을 계산하기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18.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변이를 크기로 나누면 결과를 예측하기 쉽다.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염기 수준의 변이.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종류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단백질에 미치는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침묵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하나가 바뀌었으나 같은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영향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과오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하나가 바뀌어 다른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위치에 따라 다르다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무의미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생긴다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짧은 단백질 또는 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틀이동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이후 전체가 달라진다. 대개 심각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스플라이스 부위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가공 신호가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누락 또는 intron 잔류</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침묵 변이가 언제나 무해한 것은 아니다.</a:t>
            </a:r>
            <a:r>
              <a:rPr sz="1600" b="0" i="0">
                <a:solidFill>
                  <a:srgbClr val="11202B"/>
                </a:solidFill>
                <a:latin typeface="Malgun Gothic"/>
                <a:ea typeface="Malgun Gothic"/>
                <a:cs typeface="Malgun Gothic"/>
              </a:rPr>
              <a:t> 같은 아미노산을 지정하더라도 codon 사용 빈도가 바뀌어 번역 속도가 달라지거나, splicing 조절 서열이 손상될 수 있다. "침묵"은 아미노산 수준에서의 이야기일 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과오 변이의 결과는 위치가 정한다.</a:t>
            </a:r>
            <a:r>
              <a:rPr sz="1600" b="0" i="0">
                <a:solidFill>
                  <a:srgbClr val="11202B"/>
                </a:solidFill>
                <a:latin typeface="Malgun Gothic"/>
                <a:ea typeface="Malgun Gothic"/>
                <a:cs typeface="Malgun Gothic"/>
              </a:rPr>
              <a:t> 활성 부위나 접힘에 중요한 자리에서 일어나면 치명적이고, 표면의 덜 중요한 자리에서는 영향이 없을 수 있다. 바뀐 아미노산의 성질이 원래와 얼마나 다른지도 중요하다.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염색체 수준의 변이.</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수의 이상</a:t>
            </a:r>
            <a:r>
              <a:rPr sz="1600" b="0" i="0">
                <a:solidFill>
                  <a:srgbClr val="11202B"/>
                </a:solidFill>
                <a:latin typeface="Malgun Gothic"/>
                <a:ea typeface="Malgun Gothic"/>
                <a:cs typeface="Malgun Gothic"/>
              </a:rPr>
              <a:t>: 비분리로 생기는 삼염색체와 단일염색체(M01-W02-L03).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구조의 이상</a:t>
            </a:r>
            <a:r>
              <a:rPr sz="1600" b="0" i="0">
                <a:solidFill>
                  <a:srgbClr val="11202B"/>
                </a:solidFill>
                <a:latin typeface="Malgun Gothic"/>
                <a:ea typeface="Malgun Gothic"/>
                <a:cs typeface="Malgun Gothic"/>
              </a:rPr>
              <a:t>: 결실, 중복, 역위, 전좌.</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균형 전좌</a:t>
            </a:r>
            <a:r>
              <a:rPr sz="1600" b="0" i="0">
                <a:solidFill>
                  <a:srgbClr val="11202B"/>
                </a:solidFill>
                <a:latin typeface="Malgun Gothic"/>
                <a:ea typeface="Malgun Gothic"/>
                <a:cs typeface="Malgun Gothic"/>
              </a:rPr>
              <a:t>는 특별히 다룰 가치가 있다. 두 염색체가 조각을 맞바꾸었는데 </a:t>
            </a:r>
            <a:r>
              <a:rPr sz="1600" b="1" i="0">
                <a:solidFill>
                  <a:srgbClr val="11202B"/>
                </a:solidFill>
                <a:latin typeface="Malgun Gothic"/>
                <a:ea typeface="Malgun Gothic"/>
                <a:cs typeface="Malgun Gothic"/>
              </a:rPr>
              <a:t>유전물질의 총량이 유지된</a:t>
            </a:r>
            <a:r>
              <a:rPr sz="1600" b="0" i="0">
                <a:solidFill>
                  <a:srgbClr val="11202B"/>
                </a:solidFill>
                <a:latin typeface="Malgun Gothic"/>
                <a:ea typeface="Malgun Gothic"/>
                <a:cs typeface="Malgun Gothic"/>
              </a:rPr>
              <a:t> 경우다. 보인자 본인은 대개 정상인데, 감수분열에서 짝을 짓는 과정이 복잡해져 </a:t>
            </a:r>
            <a:r>
              <a:rPr sz="1600" b="1" i="0">
                <a:solidFill>
                  <a:srgbClr val="11202B"/>
                </a:solidFill>
                <a:latin typeface="Malgun Gothic"/>
                <a:ea typeface="Malgun Gothic"/>
                <a:cs typeface="Malgun Gothic"/>
              </a:rPr>
              <a:t>불균형한 생식세포</a:t>
            </a:r>
            <a:r>
              <a:rPr sz="1600" b="0" i="0">
                <a:solidFill>
                  <a:srgbClr val="11202B"/>
                </a:solidFill>
                <a:latin typeface="Malgun Gothic"/>
                <a:ea typeface="Malgun Gothic"/>
                <a:cs typeface="Malgun Gothic"/>
              </a:rPr>
              <a:t>가 만들어진다. 그 결과 반복 유산이나 염색체 이상 자녀의 출산으로 드러난다. 부모가 건강한데 반복 유산이 있으면 염색체 검사를 하는 근거다.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형질과 유전자의 관계를 다루기 전에 </a:t>
            </a:r>
            <a:r>
              <a:rPr sz="2000" b="1" i="0">
                <a:solidFill>
                  <a:srgbClr val="11202B"/>
                </a:solidFill>
                <a:latin typeface="Malgun Gothic"/>
                <a:ea typeface="Malgun Gothic"/>
                <a:cs typeface="Malgun Gothic"/>
              </a:rPr>
              <a:t>유전체 전체가 어떻게 생겼는지</a:t>
            </a:r>
            <a:r>
              <a:rPr sz="2000" b="0" i="0">
                <a:solidFill>
                  <a:srgbClr val="11202B"/>
                </a:solidFill>
                <a:latin typeface="Malgun Gothic"/>
                <a:ea typeface="Malgun Gothic"/>
                <a:cs typeface="Malgun Gothic"/>
              </a:rPr>
              <a:t>를 알아 두면 뒤의 논의가 구체적이 된다. 유전체 해독이 끝난 뒤 드러난 사실 가운데 예상과 달랐던 것이 많다.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값</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전체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32억 염기쌍(반수체 기준)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 암호화 유전자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19,000~20,000개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단백질을 암호화하는 염기의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전사되는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상당 부분이 전사된다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유전자당 평균 exon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8~9개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반복 서열의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 이상</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수가 예상보다 적었다.</a:t>
            </a:r>
            <a:r>
              <a:rPr sz="1400" b="0" i="0">
                <a:solidFill>
                  <a:srgbClr val="11202B"/>
                </a:solidFill>
                <a:latin typeface="Malgun Gothic"/>
                <a:ea typeface="Malgun Gothic"/>
                <a:cs typeface="Malgun Gothic"/>
              </a:rPr>
              <a:t> 해독 이전의 추정치는 10만 개 안팎이었는데 실제로는 2만 개에 못 미쳤다. 선충이 약 2만 개를 가진다는 사실과 비교하면 더 당혹스럽다. 복잡성이 유전자의 </a:t>
            </a:r>
            <a:r>
              <a:rPr sz="1400" b="1" i="0">
                <a:solidFill>
                  <a:srgbClr val="11202B"/>
                </a:solidFill>
                <a:latin typeface="Malgun Gothic"/>
                <a:ea typeface="Malgun Gothic"/>
                <a:cs typeface="Malgun Gothic"/>
              </a:rPr>
              <a:t>수</a:t>
            </a:r>
            <a:r>
              <a:rPr sz="1400" b="0" i="0">
                <a:solidFill>
                  <a:srgbClr val="11202B"/>
                </a:solidFill>
                <a:latin typeface="Malgun Gothic"/>
                <a:ea typeface="Malgun Gothic"/>
                <a:cs typeface="Malgun Gothic"/>
              </a:rPr>
              <a:t>가 아니라 다른 데서 온다는 뜻이며, 대체 splicing에 의한 산물의 다양화, 번역 후 수정, 그리고 </a:t>
            </a:r>
            <a:r>
              <a:rPr sz="1400" b="1" i="0">
                <a:solidFill>
                  <a:srgbClr val="11202B"/>
                </a:solidFill>
                <a:latin typeface="Malgun Gothic"/>
                <a:ea typeface="Malgun Gothic"/>
                <a:cs typeface="Malgun Gothic"/>
              </a:rPr>
              <a:t>조절의 정교함</a:t>
            </a:r>
            <a:r>
              <a:rPr sz="1400" b="0" i="0">
                <a:solidFill>
                  <a:srgbClr val="11202B"/>
                </a:solidFill>
                <a:latin typeface="Malgun Gothic"/>
                <a:ea typeface="Malgun Gothic"/>
                <a:cs typeface="Malgun Gothic"/>
              </a:rPr>
              <a:t>이 그 후보로 제시되었다.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단백질을 만들지 않는 영역이 대부분이다.</a:t>
            </a:r>
            <a:r>
              <a:rPr sz="1400" b="0" i="0">
                <a:solidFill>
                  <a:srgbClr val="11202B"/>
                </a:solidFill>
                <a:latin typeface="Malgun Gothic"/>
                <a:ea typeface="Malgun Gothic"/>
                <a:cs typeface="Malgun Gothic"/>
              </a:rPr>
              <a:t> 한때 이 영역을 쓸모없는 것으로 보았으나, 지금은 여기에 조절 서열과 기능성 RNA 유전자가 들어 있다는 것이 알려져 있다. 질환과 연관된 변이의 대부분이 단백질을 암호화하지 않는 영역에 있다는 사실이 이 영역의 중요성을 보여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사람 사이의 차이.</a:t>
            </a:r>
            <a:r>
              <a:rPr sz="1400" b="0" i="0">
                <a:solidFill>
                  <a:srgbClr val="11202B"/>
                </a:solidFill>
                <a:latin typeface="Malgun Gothic"/>
                <a:ea typeface="Malgun Gothic"/>
                <a:cs typeface="Malgun Gothic"/>
              </a:rPr>
              <a:t> 두 사람의 유전체는 약 99.9% 같다. 다른 0.1%가 수백만 곳의 차이에 해당하며, 형태로 분류하면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단일염기 다형성(SNP)</a:t>
            </a:r>
            <a:r>
              <a:rPr sz="1400" b="0" i="0">
                <a:solidFill>
                  <a:srgbClr val="11202B"/>
                </a:solidFill>
                <a:latin typeface="Malgun Gothic"/>
                <a:ea typeface="Malgun Gothic"/>
                <a:cs typeface="Malgun Gothic"/>
              </a:rPr>
              <a:t>: 염기 하나의 차이. 가장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삽입과 결실</a:t>
            </a:r>
            <a:r>
              <a:rPr sz="1400" b="0" i="0">
                <a:solidFill>
                  <a:srgbClr val="11202B"/>
                </a:solidFill>
                <a:latin typeface="Malgun Gothic"/>
                <a:ea typeface="Malgun Gothic"/>
                <a:cs typeface="Malgun Gothic"/>
              </a:rPr>
              <a:t>: 짧은 구간의 추가나 소실.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복제수 변이(CNV)</a:t>
            </a:r>
            <a:r>
              <a:rPr sz="1400" b="0" i="0">
                <a:solidFill>
                  <a:srgbClr val="11202B"/>
                </a:solidFill>
                <a:latin typeface="Malgun Gothic"/>
                <a:ea typeface="Malgun Gothic"/>
                <a:cs typeface="Malgun Gothic"/>
              </a:rPr>
              <a:t>: 비교적 긴 구간이 사람마다 다른 수로 존재한다. 전체 염기 수로 보면 SNP보다 더 많은 차이를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반복 서열의 길이 차이</a:t>
            </a:r>
            <a:r>
              <a:rPr sz="1400" b="0" i="0">
                <a:solidFill>
                  <a:srgbClr val="11202B"/>
                </a:solidFill>
                <a:latin typeface="Malgun Gothic"/>
                <a:ea typeface="Malgun Gothic"/>
                <a:cs typeface="Malgun Gothic"/>
              </a:rPr>
              <a:t>: 짧은 반복의 횟수가 다르다. 개인 식별에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변이와 질환의 관계는 빈도와 효과로 배치된다.</a:t>
            </a:r>
            <a:r>
              <a:rPr sz="1400" b="0" i="0">
                <a:solidFill>
                  <a:srgbClr val="11202B"/>
                </a:solidFill>
                <a:latin typeface="Malgun Gothic"/>
                <a:ea typeface="Malgun Gothic"/>
                <a:cs typeface="Malgun Gothic"/>
              </a:rPr>
              <a:t> 드문 변이는 효과가 크고(단일 유전자 질환), 흔한 변이는 효과가 작다(다인자 형질). 이 관계가 우연이 아닌 이유는 선택 때문이다. 효과가 큰 해로운 변이는 선택에 의해 빈도가 낮게 유지되고, 효과가 작으면 선택의 압력이 약해 흔하게 남는다. 이 배치가 </a:t>
            </a:r>
            <a:r>
              <a:rPr sz="1400" b="1" i="0">
                <a:solidFill>
                  <a:srgbClr val="11202B"/>
                </a:solidFill>
                <a:latin typeface="Malgun Gothic"/>
                <a:ea typeface="Malgun Gothic"/>
                <a:cs typeface="Malgun Gothic"/>
              </a:rPr>
              <a:t>어떤 질환에 어떤 연구 설계가 맞는지</a:t>
            </a:r>
            <a:r>
              <a:rPr sz="1400" b="0" i="0">
                <a:solidFill>
                  <a:srgbClr val="11202B"/>
                </a:solidFill>
                <a:latin typeface="Malgun Gothic"/>
                <a:ea typeface="Malgun Gothic"/>
                <a:cs typeface="Malgun Gothic"/>
              </a:rPr>
              <a:t>를 정한다. 드문 큰 효과는 가계 연구와 염기서열 분석으로, 흔한 작은 효과는 대규모 집단의 연관 분석으로 찾는다.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유전학의 주장은 측정 기술의 해상도에 묶여 있다. 어떤 방법이 어떤 크기의 변화를 볼 수 있는지를 알아야 검사 결과를 해석할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핵형 분석.</a:t>
            </a:r>
            <a:r>
              <a:rPr sz="1600" b="0" i="0">
                <a:solidFill>
                  <a:srgbClr val="11202B"/>
                </a:solidFill>
                <a:latin typeface="Malgun Gothic"/>
                <a:ea typeface="Malgun Gothic"/>
                <a:cs typeface="Malgun Gothic"/>
              </a:rPr>
              <a:t> 분열 중기의 염색체를 염색해 현미경으로 본다. 해상도는 약 500만~1,000만 염기쌍이다. 염색체의 </a:t>
            </a:r>
            <a:r>
              <a:rPr sz="1600" b="1" i="0">
                <a:solidFill>
                  <a:srgbClr val="11202B"/>
                </a:solidFill>
                <a:latin typeface="Malgun Gothic"/>
                <a:ea typeface="Malgun Gothic"/>
                <a:cs typeface="Malgun Gothic"/>
              </a:rPr>
              <a:t>수 이상과 큰 구조 이상</a:t>
            </a:r>
            <a:r>
              <a:rPr sz="1600" b="0" i="0">
                <a:solidFill>
                  <a:srgbClr val="11202B"/>
                </a:solidFill>
                <a:latin typeface="Malgun Gothic"/>
                <a:ea typeface="Malgun Gothic"/>
                <a:cs typeface="Malgun Gothic"/>
              </a:rPr>
              <a:t>을 본다. 균형 전좌처럼 양이 변하지 않은 재배열도 볼 수 있다는 것이 고유한 장점이다.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형광 제자리 부합법(FISH).</a:t>
            </a:r>
            <a:r>
              <a:rPr sz="1600" b="0" i="0">
                <a:solidFill>
                  <a:srgbClr val="11202B"/>
                </a:solidFill>
                <a:latin typeface="Malgun Gothic"/>
                <a:ea typeface="Malgun Gothic"/>
                <a:cs typeface="Malgun Gothic"/>
              </a:rPr>
              <a:t> 특정 서열에 결합하는 형광 탐침을 쓴다. 핵형 분석보다 작은 결실과 중복을 볼 수 있지만, </a:t>
            </a:r>
            <a:r>
              <a:rPr sz="1600" b="1" i="0">
                <a:solidFill>
                  <a:srgbClr val="11202B"/>
                </a:solidFill>
                <a:latin typeface="Malgun Gothic"/>
                <a:ea typeface="Malgun Gothic"/>
                <a:cs typeface="Malgun Gothic"/>
              </a:rPr>
              <a:t>찾을 곳을 미리 정해야 한다.</a:t>
            </a:r>
            <a:r>
              <a:rPr sz="1600" b="0" i="0">
                <a:solidFill>
                  <a:srgbClr val="11202B"/>
                </a:solidFill>
                <a:latin typeface="Malgun Gothic"/>
                <a:ea typeface="Malgun Gothic"/>
                <a:cs typeface="Malgun Gothic"/>
              </a:rPr>
              <a:t> 의심되는 질환이 분명할 때 빠르게 확인하는 방법이다.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염색체 마이크로어레이.</a:t>
            </a:r>
            <a:r>
              <a:rPr sz="1600" b="0" i="0">
                <a:solidFill>
                  <a:srgbClr val="11202B"/>
                </a:solidFill>
                <a:latin typeface="Malgun Gothic"/>
                <a:ea typeface="Malgun Gothic"/>
                <a:cs typeface="Malgun Gothic"/>
              </a:rPr>
              <a:t> 유전체 전체에서 복제수 변이를 찾는다. 해상도가 수만 염기쌍 수준으로 훨씬 높다. 다만 </a:t>
            </a:r>
            <a:r>
              <a:rPr sz="1600" b="1" i="0">
                <a:solidFill>
                  <a:srgbClr val="11202B"/>
                </a:solidFill>
                <a:latin typeface="Malgun Gothic"/>
                <a:ea typeface="Malgun Gothic"/>
                <a:cs typeface="Malgun Gothic"/>
              </a:rPr>
              <a:t>양이 변하지 않은 균형 전좌와 역위는 보지 못한다.</a:t>
            </a:r>
            <a:r>
              <a:rPr sz="1600" b="0" i="0">
                <a:solidFill>
                  <a:srgbClr val="11202B"/>
                </a:solidFill>
                <a:latin typeface="Malgun Gothic"/>
                <a:ea typeface="Malgun Gothic"/>
                <a:cs typeface="Malgun Gothic"/>
              </a:rPr>
              <a:t> 핵형 분석이 완전히 대체되지 않는 이유다.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염기서열 분석.</a:t>
            </a:r>
            <a:r>
              <a:rPr sz="1600" b="0" i="0">
                <a:solidFill>
                  <a:srgbClr val="11202B"/>
                </a:solidFill>
                <a:latin typeface="Malgun Gothic"/>
                <a:ea typeface="Malgun Gothic"/>
                <a:cs typeface="Malgun Gothic"/>
              </a:rPr>
              <a:t> 염기 하나 수준의 해상도를 가진다. 범위에 따라 나뉜다. 한 유전자만 읽기도 하고, 관련 유전자 묶음을 읽기도 하며, 단백질을 암호화하는 구간 전체(</a:t>
            </a:r>
            <a:r>
              <a:rPr sz="1600" b="1" i="0">
                <a:solidFill>
                  <a:srgbClr val="11202B"/>
                </a:solidFill>
                <a:latin typeface="Malgun Gothic"/>
                <a:ea typeface="Malgun Gothic"/>
                <a:cs typeface="Malgun Gothic"/>
              </a:rPr>
              <a:t>엑솜</a:t>
            </a:r>
            <a:r>
              <a:rPr sz="1600" b="0" i="0">
                <a:solidFill>
                  <a:srgbClr val="11202B"/>
                </a:solidFill>
                <a:latin typeface="Malgun Gothic"/>
                <a:ea typeface="Malgun Gothic"/>
                <a:cs typeface="Malgun Gothic"/>
              </a:rPr>
              <a:t>)나 유전체 전체를 읽기도 한다. 범위가 넓을수록 찾을 가능성이 커지지만 </a:t>
            </a:r>
            <a:r>
              <a:rPr sz="1600" b="1" i="0">
                <a:solidFill>
                  <a:srgbClr val="11202B"/>
                </a:solidFill>
                <a:latin typeface="Malgun Gothic"/>
                <a:ea typeface="Malgun Gothic"/>
                <a:cs typeface="Malgun Gothic"/>
              </a:rPr>
              <a:t>의미를 알 수 없는 변이</a:t>
            </a:r>
            <a:r>
              <a:rPr sz="1600" b="0" i="0">
                <a:solidFill>
                  <a:srgbClr val="11202B"/>
                </a:solidFill>
                <a:latin typeface="Malgun Gothic"/>
                <a:ea typeface="Malgun Gothic"/>
                <a:cs typeface="Malgun Gothic"/>
              </a:rPr>
              <a:t>도 함께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보는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놓치는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핵형 분석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500만 염기쌍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결실,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FISH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수십만 염기쌍, 표적 한정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지정하지 않은 부위 전부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마이크로어레이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수만 염기쌍, 양의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균형 전좌, 역위,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염기서열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구조 변화, 반복 구간</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어떤 검사를 선택할지는 </a:t>
            </a:r>
            <a:r>
              <a:rPr sz="1600" b="1" i="0">
                <a:solidFill>
                  <a:srgbClr val="11202B"/>
                </a:solidFill>
                <a:latin typeface="Malgun Gothic"/>
                <a:ea typeface="Malgun Gothic"/>
                <a:cs typeface="Malgun Gothic"/>
              </a:rPr>
              <a:t>무엇을 의심하는가</a:t>
            </a:r>
            <a:r>
              <a:rPr sz="1600" b="0" i="0">
                <a:solidFill>
                  <a:srgbClr val="11202B"/>
                </a:solidFill>
                <a:latin typeface="Malgun Gothic"/>
                <a:ea typeface="Malgun Gothic"/>
                <a:cs typeface="Malgun Gothic"/>
              </a:rPr>
              <a:t>가 정한다. 다발성 선천 기형과 발달 지연에서 원인을 모를 때는 범위가 넓은 마이크로어레이가 1차 검사가 된다. 특정 미세결실 증후군이 임상적으로 강하게 의심되면 FISH가 빠르다. 반복 유산에서는 균형 전좌를 보아야 하므로 </a:t>
            </a:r>
            <a:r>
              <a:rPr sz="1600" b="1" i="0">
                <a:solidFill>
                  <a:srgbClr val="11202B"/>
                </a:solidFill>
                <a:latin typeface="Malgun Gothic"/>
                <a:ea typeface="Malgun Gothic"/>
                <a:cs typeface="Malgun Gothic"/>
              </a:rPr>
              <a:t>마이크로어레이가 아니라 핵형 분석</a:t>
            </a:r>
            <a:r>
              <a:rPr sz="1600" b="0" i="0">
                <a:solidFill>
                  <a:srgbClr val="11202B"/>
                </a:solidFill>
                <a:latin typeface="Malgun Gothic"/>
                <a:ea typeface="Malgun Gothic"/>
                <a:cs typeface="Malgun Gothic"/>
              </a:rPr>
              <a:t>이 필요하다. 이 마지막 조합이 자주 출제된다. 또한 염기서열 분석에서 나오는 </a:t>
            </a:r>
            <a:r>
              <a:rPr sz="1600" b="1" i="0">
                <a:solidFill>
                  <a:srgbClr val="11202B"/>
                </a:solidFill>
                <a:latin typeface="Malgun Gothic"/>
                <a:ea typeface="Malgun Gothic"/>
                <a:cs typeface="Malgun Gothic"/>
              </a:rPr>
              <a:t>의미 불명 변이</a:t>
            </a:r>
            <a:r>
              <a:rPr sz="1600" b="0" i="0">
                <a:solidFill>
                  <a:srgbClr val="11202B"/>
                </a:solidFill>
                <a:latin typeface="Malgun Gothic"/>
                <a:ea typeface="Malgun Gothic"/>
                <a:cs typeface="Malgun Gothic"/>
              </a:rPr>
              <a:t>의 해석이 현재 임상 유전학의 가장 큰 부담이며, 변이가 발견되었다는 것과 그것이 질환의 원인이라는 것은 다른 주장이라는 점을 구분해야 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의미 불명 변이를 줄이려는 두 방향의 연구가 진행된다. 하나는 </a:t>
            </a:r>
            <a:r>
              <a:rPr sz="1600" b="1" i="0">
                <a:solidFill>
                  <a:srgbClr val="11202B"/>
                </a:solidFill>
                <a:latin typeface="Malgun Gothic"/>
                <a:ea typeface="Malgun Gothic"/>
                <a:cs typeface="Malgun Gothic"/>
              </a:rPr>
              <a:t>대규모 집단 자료</a:t>
            </a:r>
            <a:r>
              <a:rPr sz="1600" b="0" i="0">
                <a:solidFill>
                  <a:srgbClr val="11202B"/>
                </a:solidFill>
                <a:latin typeface="Malgun Gothic"/>
                <a:ea typeface="Malgun Gothic"/>
                <a:cs typeface="Malgun Gothic"/>
              </a:rPr>
              <a:t>의 축적으로, 수십만 명의 유전체에서 그 변이가 건강한 사람에게도 흔히 발견되면 병원성이 아닐 가능성이 커진다. 조상 배경이 다양한 집단의 자료가 부족한 것이 한계이며, 그 때문에 특정 집단에서 의미 불명 변이가 더 많이 보고되는 불균형이 생긴다. 다른 하나는 </a:t>
            </a:r>
            <a:r>
              <a:rPr sz="1600" b="1" i="0">
                <a:solidFill>
                  <a:srgbClr val="11202B"/>
                </a:solidFill>
                <a:latin typeface="Malgun Gothic"/>
                <a:ea typeface="Malgun Gothic"/>
                <a:cs typeface="Malgun Gothic"/>
              </a:rPr>
              <a:t>기능을 직접 측정</a:t>
            </a:r>
            <a:r>
              <a:rPr sz="1600" b="0" i="0">
                <a:solidFill>
                  <a:srgbClr val="11202B"/>
                </a:solidFill>
                <a:latin typeface="Malgun Gothic"/>
                <a:ea typeface="Malgun Gothic"/>
                <a:cs typeface="Malgun Gothic"/>
              </a:rPr>
              <a:t>하는 것으로, 한 유전자에서 가능한 모든 아미노산 치환을 미리 만들어 기능을 한꺼번에 평가해 두는 방식이다. 변이가 발견되기 전에 미리 표를 만들어 두는 접근이며 BRCA1과 몇몇 유전자에서 실제로 임상 해석에 쓰이기 시작했다. 다만 세포 수준의 기능과 사람에서의 질환 위험 사이에 거리가 있어, 실험 결과를 임상 등급으로 번역하는 기준을 세우는 일이 남아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다인자 형질과 역치 모형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키, 혈압, 혈당, 지능 같은 형질은 몇 개의 범주로 나뉘지 않고 </a:t>
            </a:r>
            <a:r>
              <a:rPr sz="1400" b="1" i="0">
                <a:solidFill>
                  <a:srgbClr val="11202B"/>
                </a:solidFill>
                <a:latin typeface="Malgun Gothic"/>
                <a:ea typeface="Malgun Gothic"/>
                <a:cs typeface="Malgun Gothic"/>
              </a:rPr>
              <a:t>연속 분포</a:t>
            </a:r>
            <a:r>
              <a:rPr sz="1400" b="0" i="0">
                <a:solidFill>
                  <a:srgbClr val="11202B"/>
                </a:solidFill>
                <a:latin typeface="Malgun Gothic"/>
                <a:ea typeface="Malgun Gothic"/>
                <a:cs typeface="Malgun Gothic"/>
              </a:rPr>
              <a:t>한다. 멘델의 규칙이 적용되지 않는 것처럼 보이지만, 실제로는 </a:t>
            </a:r>
            <a:r>
              <a:rPr sz="1400" b="1" i="0">
                <a:solidFill>
                  <a:srgbClr val="11202B"/>
                </a:solidFill>
                <a:latin typeface="Malgun Gothic"/>
                <a:ea typeface="Malgun Gothic"/>
                <a:cs typeface="Malgun Gothic"/>
              </a:rPr>
              <a:t>여러 유전자가 각각 작은 효과로 더해진 결과</a:t>
            </a:r>
            <a:r>
              <a:rPr sz="1400" b="0" i="0">
                <a:solidFill>
                  <a:srgbClr val="11202B"/>
                </a:solidFill>
                <a:latin typeface="Malgun Gothic"/>
                <a:ea typeface="Malgun Gothic"/>
                <a:cs typeface="Malgun Gothic"/>
              </a:rPr>
              <a:t>다. 관여하는 유전자가 많아질수록 분포가 연속적인 종 모양에 가까워지고, 환경 요인이 더해져 더 매끄러워진다.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역치 모형.</a:t>
            </a:r>
            <a:r>
              <a:rPr sz="1400" b="0" i="0">
                <a:solidFill>
                  <a:srgbClr val="11202B"/>
                </a:solidFill>
                <a:latin typeface="Malgun Gothic"/>
                <a:ea typeface="Malgun Gothic"/>
                <a:cs typeface="Malgun Gothic"/>
              </a:rPr>
              <a:t> 구개열, 유문협착증, 일부 선천성 심기형처럼 </a:t>
            </a:r>
            <a:r>
              <a:rPr sz="1400" b="1" i="0">
                <a:solidFill>
                  <a:srgbClr val="11202B"/>
                </a:solidFill>
                <a:latin typeface="Malgun Gothic"/>
                <a:ea typeface="Malgun Gothic"/>
                <a:cs typeface="Malgun Gothic"/>
              </a:rPr>
              <a:t>있거나 없거나</a:t>
            </a:r>
            <a:r>
              <a:rPr sz="1400" b="0" i="0">
                <a:solidFill>
                  <a:srgbClr val="11202B"/>
                </a:solidFill>
                <a:latin typeface="Malgun Gothic"/>
                <a:ea typeface="Malgun Gothic"/>
                <a:cs typeface="Malgun Gothic"/>
              </a:rPr>
              <a:t>로 나타나는 형질에도 다인자 유전이 적용된다. 바탕에는 연속적인 유전적·환경적 소인이 있고, 그 합이 일정한 역치를 넘으면 질환이 나타난다고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모형이 세 가지 관찰을 설명한다.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이환된 친척이 많을수록 위험이 올라간다.</a:t>
            </a:r>
            <a:r>
              <a:rPr sz="1400" b="0" i="0">
                <a:solidFill>
                  <a:srgbClr val="11202B"/>
                </a:solidFill>
                <a:latin typeface="Malgun Gothic"/>
                <a:ea typeface="Malgun Gothic"/>
                <a:cs typeface="Malgun Gothic"/>
              </a:rPr>
              <a:t> 그 가족이 소인 분포에서 오른쪽에 있다는 뜻이기 때문이다. 2. </a:t>
            </a:r>
            <a:r>
              <a:rPr sz="1400" b="1" i="0">
                <a:solidFill>
                  <a:srgbClr val="11202B"/>
                </a:solidFill>
                <a:latin typeface="Malgun Gothic"/>
                <a:ea typeface="Malgun Gothic"/>
                <a:cs typeface="Malgun Gothic"/>
              </a:rPr>
              <a:t>중증일수록 친척의 위험이 올라간다.</a:t>
            </a:r>
            <a:r>
              <a:rPr sz="1400" b="0" i="0">
                <a:solidFill>
                  <a:srgbClr val="11202B"/>
                </a:solidFill>
                <a:latin typeface="Malgun Gothic"/>
                <a:ea typeface="Malgun Gothic"/>
                <a:cs typeface="Malgun Gothic"/>
              </a:rPr>
              <a:t> 더 멀리 역치를 넘었다는 뜻이다. 3. </a:t>
            </a:r>
            <a:r>
              <a:rPr sz="1400" b="1" i="0">
                <a:solidFill>
                  <a:srgbClr val="11202B"/>
                </a:solidFill>
                <a:latin typeface="Malgun Gothic"/>
                <a:ea typeface="Malgun Gothic"/>
                <a:cs typeface="Malgun Gothic"/>
              </a:rPr>
              <a:t>드문 성별에서 이환되었을 때 자녀의 위험이 더 높다.</a:t>
            </a:r>
            <a:r>
              <a:rPr sz="1400" b="0" i="0">
                <a:solidFill>
                  <a:srgbClr val="11202B"/>
                </a:solidFill>
                <a:latin typeface="Malgun Gothic"/>
                <a:ea typeface="Malgun Gothic"/>
                <a:cs typeface="Malgun Gothic"/>
              </a:rPr>
              <a:t> 성별에 따라 역치가 다른 경우, 역치가 높은 쪽 성별에서 발병했다면 그만큼 소인이 많다는 뜻이다. 유문협착증이 남아에 흔한데 </a:t>
            </a:r>
            <a:r>
              <a:rPr sz="1400" b="1" i="0">
                <a:solidFill>
                  <a:srgbClr val="11202B"/>
                </a:solidFill>
                <a:latin typeface="Malgun Gothic"/>
                <a:ea typeface="Malgun Gothic"/>
                <a:cs typeface="Malgun Gothic"/>
              </a:rPr>
              <a:t>여아 환자의 자녀에서 위험이 더 높은</a:t>
            </a:r>
            <a:r>
              <a:rPr sz="1400" b="0" i="0">
                <a:solidFill>
                  <a:srgbClr val="11202B"/>
                </a:solidFill>
                <a:latin typeface="Malgun Gothic"/>
                <a:ea typeface="Malgun Gothic"/>
                <a:cs typeface="Malgun Gothic"/>
              </a:rPr>
              <a:t> 것이 이 예측과 맞는다.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유전율의 정확한 의미.</a:t>
            </a:r>
            <a:r>
              <a:rPr sz="1400" b="0" i="0">
                <a:solidFill>
                  <a:srgbClr val="11202B"/>
                </a:solidFill>
                <a:latin typeface="Malgun Gothic"/>
                <a:ea typeface="Malgun Gothic"/>
                <a:cs typeface="Malgun Gothic"/>
              </a:rPr>
              <a:t> 유전율이 0.5라는 것은 "그 사람 형질의 절반이 유전 때문"이라는 뜻이 </a:t>
            </a:r>
            <a:r>
              <a:rPr sz="1400" b="1" i="0">
                <a:solidFill>
                  <a:srgbClr val="11202B"/>
                </a:solidFill>
                <a:latin typeface="Malgun Gothic"/>
                <a:ea typeface="Malgun Gothic"/>
                <a:cs typeface="Malgun Gothic"/>
              </a:rPr>
              <a:t>아니다</a:t>
            </a:r>
            <a:r>
              <a:rPr sz="1400" b="0" i="0">
                <a:solidFill>
                  <a:srgbClr val="11202B"/>
                </a:solidFill>
                <a:latin typeface="Malgun Gothic"/>
                <a:ea typeface="Malgun Gothic"/>
                <a:cs typeface="Malgun Gothic"/>
              </a:rPr>
              <a:t>. 특정 집단에서 관찰된 </a:t>
            </a:r>
            <a:r>
              <a:rPr sz="1400" b="1" i="0">
                <a:solidFill>
                  <a:srgbClr val="11202B"/>
                </a:solidFill>
                <a:latin typeface="Malgun Gothic"/>
                <a:ea typeface="Malgun Gothic"/>
                <a:cs typeface="Malgun Gothic"/>
              </a:rPr>
              <a:t>변이의 절반이 유전적 변이로 설명된다</a:t>
            </a:r>
            <a:r>
              <a:rPr sz="1400" b="0" i="0">
                <a:solidFill>
                  <a:srgbClr val="11202B"/>
                </a:solidFill>
                <a:latin typeface="Malgun Gothic"/>
                <a:ea typeface="Malgun Gothic"/>
                <a:cs typeface="Malgun Gothic"/>
              </a:rPr>
              <a:t>는 뜻이다. 집단과 환경이 달라지면 값도 달라진다. 환경이 균일한 집단에서는 남은 변이가 주로 유전적이므로 유전율이 높게 나온다. 또 유전율이 높다고 개입이 무의미한 것도 아니다. 페닐케톤뇨증은 유전적 원인이 분명하지만 식이 조절로 결과가 달라진다(M01-W03-L02에서도 같은 논점을 다루었다).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유전자와 환경은 어떻게 함께 작용하는가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"유전인가 환경인가"가 잘못 세워진 질문이라는 점은 M01-W03-L02에서 다루었다. 여기서는 둘이 </a:t>
            </a:r>
            <a:r>
              <a:rPr sz="1400" b="1" i="0">
                <a:solidFill>
                  <a:srgbClr val="11202B"/>
                </a:solidFill>
                <a:latin typeface="Malgun Gothic"/>
                <a:ea typeface="Malgun Gothic"/>
                <a:cs typeface="Malgun Gothic"/>
              </a:rPr>
              <a:t>어떤 방식으로</a:t>
            </a:r>
            <a:r>
              <a:rPr sz="1400" b="0" i="0">
                <a:solidFill>
                  <a:srgbClr val="11202B"/>
                </a:solidFill>
                <a:latin typeface="Malgun Gothic"/>
                <a:ea typeface="Malgun Gothic"/>
                <a:cs typeface="Malgun Gothic"/>
              </a:rPr>
              <a:t> 함께 작용하는지를 구체화한다. 네 가지 양상이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더해진다.</a:t>
            </a:r>
            <a:r>
              <a:rPr sz="1400" b="0" i="0">
                <a:solidFill>
                  <a:srgbClr val="11202B"/>
                </a:solidFill>
                <a:latin typeface="Malgun Gothic"/>
                <a:ea typeface="Malgun Gothic"/>
                <a:cs typeface="Malgun Gothic"/>
              </a:rPr>
              <a:t> 유전적 소인과 환경 요인이 각각 독립적으로 위험을 올린다. 가장 단순한 경우이며 역치 모형의 기본 가정이다.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곱해진다(유전자–환경 상호작용).</a:t>
            </a:r>
            <a:r>
              <a:rPr sz="1400" b="0" i="0">
                <a:solidFill>
                  <a:srgbClr val="11202B"/>
                </a:solidFill>
                <a:latin typeface="Malgun Gothic"/>
                <a:ea typeface="Malgun Gothic"/>
                <a:cs typeface="Malgun Gothic"/>
              </a:rPr>
              <a:t> 환경의 효과가 유전형에 따라 달라지거나, 그 반대다. 알코올 대사 효소의 변이를 가진 사람에게 음주가 미치는 영향이 그렇지 않은 사람과 크게 다른 것이 예다. 이 경우 유전형만 보거나 환경만 보면 효과가 작아 보이고, 둘을 함께 보아야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환경이 유전형에 따라 달라진다(유전자–환경 상관).</a:t>
            </a:r>
            <a:r>
              <a:rPr sz="1400" b="0" i="0">
                <a:solidFill>
                  <a:srgbClr val="11202B"/>
                </a:solidFill>
                <a:latin typeface="Malgun Gothic"/>
                <a:ea typeface="Malgun Gothic"/>
                <a:cs typeface="Malgun Gothic"/>
              </a:rPr>
              <a:t> 유전적 성향이 특정 환경을 선택하게 만드는 경우다. 활동적인 성향을 가진 아이가 더 활동적인 환경을 찾는 식이다. 관찰 연구에서 환경의 효과처럼 보이는 것이 실은 유전적 성향의 결과일 수 있으므로, 인과를 가릴 때 주의해야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환경이 유전자 발현을 바꾼다.</a:t>
            </a:r>
            <a:r>
              <a:rPr sz="1400" b="0" i="0">
                <a:solidFill>
                  <a:srgbClr val="11202B"/>
                </a:solidFill>
                <a:latin typeface="Malgun Gothic"/>
                <a:ea typeface="Malgun Gothic"/>
                <a:cs typeface="Malgun Gothic"/>
              </a:rPr>
              <a:t> 영양, 스트레스, 독성 물질 노출이 유전자 발현 양상을 바꾸고 그 변화가 일정 기간 유지되는 경우다.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인과를 가리는 어려움.</a:t>
            </a:r>
            <a:r>
              <a:rPr sz="1400" b="0" i="0">
                <a:solidFill>
                  <a:srgbClr val="11202B"/>
                </a:solidFill>
                <a:latin typeface="Malgun Gothic"/>
                <a:ea typeface="Malgun Gothic"/>
                <a:cs typeface="Malgun Gothic"/>
              </a:rPr>
              <a:t> 관찰 연구에서 어떤 환경 요인과 질환의 연관이 나와도, 그것이 인과인지 공통 원인에 의한 것인지 알기 어렵다. 유전학이 여기에 도구를 하나 제공한다. </a:t>
            </a:r>
            <a:r>
              <a:rPr sz="1400" b="1" i="0">
                <a:solidFill>
                  <a:srgbClr val="11202B"/>
                </a:solidFill>
                <a:latin typeface="Malgun Gothic"/>
                <a:ea typeface="Malgun Gothic"/>
                <a:cs typeface="Malgun Gothic"/>
              </a:rPr>
              <a:t>멘델 무작위화</a:t>
            </a:r>
            <a:r>
              <a:rPr sz="1400" b="0" i="0">
                <a:solidFill>
                  <a:srgbClr val="11202B"/>
                </a:solidFill>
                <a:latin typeface="Malgun Gothic"/>
                <a:ea typeface="Malgun Gothic"/>
                <a:cs typeface="Malgun Gothic"/>
              </a:rPr>
              <a:t>는 특정 노출 수준과 연관된 유전 변이를 도구로 삼는 방법이다. 유전형은 수정 시점에 무작위로 정해지고 이후의 생활 습관에 영향을 받지 않으므로, 역방향 인과와 교란의 상당 부분을 피할 수 있다. 이 방법으로 혈중 지질과 관상동맥질환의 인과 관계가 강하게 지지된 반면, 한때 유력했던 몇몇 연관은 인과가 아닌 것으로 밝혀졌다.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가정이 필요하다. 그 변이가 노출을 통해서만 결과에 영향을 주어야 하는데, 다면발현이 있으면 가정이 깨진다. 결과를 읽을 때 이 가정이 검토되었는지를 보아야 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개체가 아니라 집단을 단위로 보면 다른 질문이 가능해진다. </a:t>
            </a:r>
            <a:r>
              <a:rPr sz="1400" b="1" i="0">
                <a:solidFill>
                  <a:srgbClr val="11202B"/>
                </a:solidFill>
                <a:latin typeface="Malgun Gothic"/>
                <a:ea typeface="Malgun Gothic"/>
                <a:cs typeface="Malgun Gothic"/>
              </a:rPr>
              <a:t>대립유전자의 빈도가 세대를 거쳐 어떻게 변하는가.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Hardy–Weinberg 평형.</a:t>
            </a:r>
            <a:r>
              <a:rPr sz="1400" b="0" i="0">
                <a:solidFill>
                  <a:srgbClr val="11202B"/>
                </a:solidFill>
                <a:latin typeface="Malgun Gothic"/>
                <a:ea typeface="Malgun Gothic"/>
                <a:cs typeface="Malgun Gothic"/>
              </a:rPr>
              <a:t> 대립유전자 빈도를 p와 q(p + q = 1)라 하면, 유전자형 빈도는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p² + 2pq + q² = 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p²는 우성 동형접합, 2pq는 이형접합, q²는 열성 동형접합의 비율이다.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성립하려면 다섯 가정이 필요하다.</a:t>
            </a:r>
            <a:r>
              <a:rPr sz="1400" b="0" i="0">
                <a:solidFill>
                  <a:srgbClr val="11202B"/>
                </a:solidFill>
                <a:latin typeface="Malgun Gothic"/>
                <a:ea typeface="Malgun Gothic"/>
                <a:cs typeface="Malgun Gothic"/>
              </a:rPr>
              <a:t> 무작위 교배, 돌연변이 없음, 이주 없음, 자연선택 없음, 집단이 충분히 큼. 현실에서 이 가정이 완전히 만족되는 경우는 없다. 그런데도 이 식이 유용한 이유는 </a:t>
            </a:r>
            <a:r>
              <a:rPr sz="1400" b="1" i="0">
                <a:solidFill>
                  <a:srgbClr val="11202B"/>
                </a:solidFill>
                <a:latin typeface="Malgun Gothic"/>
                <a:ea typeface="Malgun Gothic"/>
                <a:cs typeface="Malgun Gothic"/>
              </a:rPr>
              <a:t>기준선 역할</a:t>
            </a:r>
            <a:r>
              <a:rPr sz="1400" b="0" i="0">
                <a:solidFill>
                  <a:srgbClr val="11202B"/>
                </a:solidFill>
                <a:latin typeface="Malgun Gothic"/>
                <a:ea typeface="Malgun Gothic"/>
                <a:cs typeface="Malgun Gothic"/>
              </a:rPr>
              <a:t>을 하기 때문이다. 관찰된 빈도가 예측과 다르면 가정 가운데 무엇이 깨졌는지를 묻게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실용적 쓰임: 보인자 빈도 계산.</a:t>
            </a:r>
            <a:r>
              <a:rPr sz="1400" b="0" i="0">
                <a:solidFill>
                  <a:srgbClr val="11202B"/>
                </a:solidFill>
                <a:latin typeface="Malgun Gothic"/>
                <a:ea typeface="Malgun Gothic"/>
                <a:cs typeface="Malgun Gothic"/>
              </a:rPr>
              <a:t> 열성 질환의 발생률이 q²이므로, q는 그 제곱근이고 보인자 빈도는 2pq다. 질환이 드물면 p는 거의 1이므로 보인자 빈도는 약 2q가 된다. 예컨대 발생률이 1만 명당 1명이면 q = 0.01이고 보인자는 약 50명당 1명이다. </a:t>
            </a:r>
            <a:r>
              <a:rPr sz="1400" b="1" i="0">
                <a:solidFill>
                  <a:srgbClr val="11202B"/>
                </a:solidFill>
                <a:latin typeface="Malgun Gothic"/>
                <a:ea typeface="Malgun Gothic"/>
                <a:cs typeface="Malgun Gothic"/>
              </a:rPr>
              <a:t>드문 질환에서도 보인자는 훨씬 흔하다</a:t>
            </a:r>
            <a:r>
              <a:rPr sz="1400" b="0" i="0">
                <a:solidFill>
                  <a:srgbClr val="11202B"/>
                </a:solidFill>
                <a:latin typeface="Malgun Gothic"/>
                <a:ea typeface="Malgun Gothic"/>
                <a:cs typeface="Malgun Gothic"/>
              </a:rPr>
              <a:t>는 사실이 여기서 나오며, 보인자 선별 검사의 근거가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가정이 깨지는 방식도 정보가 된다.</a:t>
            </a:r>
            <a:r>
              <a:rPr sz="1400" b="0" i="0">
                <a:solidFill>
                  <a:srgbClr val="11202B"/>
                </a:solidFill>
                <a:latin typeface="Malgun Gothic"/>
                <a:ea typeface="Malgun Gothic"/>
                <a:cs typeface="Malgun Gothic"/>
              </a:rPr>
              <a:t> 관찰된 유전자형 빈도가 Hardy–Weinberg 예측에서 벗어나는 것은 검사 자체의 오류를 가리키기도 한다. 유전형 판정에 계통적 오류가 있으면 평형에서 벗어난 분포가 나오므로, 대규모 유전체 연구에서 평형 검정을 </a:t>
            </a:r>
            <a:r>
              <a:rPr sz="1400" b="1" i="0">
                <a:solidFill>
                  <a:srgbClr val="11202B"/>
                </a:solidFill>
                <a:latin typeface="Malgun Gothic"/>
                <a:ea typeface="Malgun Gothic"/>
                <a:cs typeface="Malgun Gothic"/>
              </a:rPr>
              <a:t>자료 품질 검사</a:t>
            </a:r>
            <a:r>
              <a:rPr sz="1400" b="0" i="0">
                <a:solidFill>
                  <a:srgbClr val="11202B"/>
                </a:solidFill>
                <a:latin typeface="Malgun Gothic"/>
                <a:ea typeface="Malgun Gothic"/>
                <a:cs typeface="Malgun Gothic"/>
              </a:rPr>
              <a:t>로 쓴다. 생물학적 현상을 보려고 만든 식이 기술적 오류를 거르는 데 쓰이는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빈도를 바꾸는 힘.</a:t>
            </a:r>
            <a:r>
              <a:rPr sz="1400" b="0" i="0">
                <a:solidFill>
                  <a:srgbClr val="11202B"/>
                </a:solidFill>
                <a:latin typeface="Malgun Gothic"/>
                <a:ea typeface="Malgun Gothic"/>
                <a:cs typeface="Malgun Gothic"/>
              </a:rPr>
              <a:t> 다섯 가정이 깨지는 방식이 곧 진화의 기전이다. 돌연변이는 새 대립유전자를 만들고, 자연선택은 생존과 번식에 유리한 것을 늘리며, 유전적 부동은 작은 집단에서 우연히 빈도를 바꾸고, 이주는 집단 사이에 대립유전자를 옮긴다.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은 해로운 대립유전자가 왜 높은 빈도로 유지되는지를 설명한다. 낫적혈구 대립유전자는 동형접합에서 중증 빈혈을 일으켜 강하게 선택에서 불리하지만, </a:t>
            </a:r>
            <a:r>
              <a:rPr sz="1600" b="1" i="0">
                <a:solidFill>
                  <a:srgbClr val="11202B"/>
                </a:solidFill>
                <a:latin typeface="Malgun Gothic"/>
                <a:ea typeface="Malgun Gothic"/>
                <a:cs typeface="Malgun Gothic"/>
              </a:rPr>
              <a:t>이형접합자가 말라리아에 저항성</a:t>
            </a:r>
            <a:r>
              <a:rPr sz="1600" b="0" i="0">
                <a:solidFill>
                  <a:srgbClr val="11202B"/>
                </a:solidFill>
                <a:latin typeface="Malgun Gothic"/>
                <a:ea typeface="Malgun Gothic"/>
                <a:cs typeface="Malgun Gothic"/>
              </a:rPr>
              <a:t>을 가진다. 말라리아가 유행하는 지역에서는 이형접합자의 생존 이익이 동형접합자의 손실을 상쇄해 대립유전자가 유지된다. 그래서 이 질환의 분포가 말라리아 유행 지역과 겹친다. 낭성 섬유증 대립유전자가 유럽인에서 높은 빈도로 유지되는 것도 비슷한 설명이 제안되었으나 어떤 감염에 대한 저항인지는 확정되지 않았다. 유전 질환의 빈도가 집단마다 다른 이유를 물을 때 </a:t>
            </a:r>
            <a:r>
              <a:rPr sz="1600" b="1" i="0">
                <a:solidFill>
                  <a:srgbClr val="11202B"/>
                </a:solidFill>
                <a:latin typeface="Malgun Gothic"/>
                <a:ea typeface="Malgun Gothic"/>
                <a:cs typeface="Malgun Gothic"/>
              </a:rPr>
              <a:t>창시자 효과</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 두 가지를 먼저 검토한다.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다인자 형질의 위험을 수치 하나로 요약하려는 </a:t>
            </a:r>
            <a:r>
              <a:rPr sz="1600" b="1" i="0">
                <a:solidFill>
                  <a:srgbClr val="11202B"/>
                </a:solidFill>
                <a:latin typeface="Malgun Gothic"/>
                <a:ea typeface="Malgun Gothic"/>
                <a:cs typeface="Malgun Gothic"/>
              </a:rPr>
              <a:t>다유전자 위험점수</a:t>
            </a:r>
            <a:r>
              <a:rPr sz="1600" b="0" i="0">
                <a:solidFill>
                  <a:srgbClr val="11202B"/>
                </a:solidFill>
                <a:latin typeface="Malgun Gothic"/>
                <a:ea typeface="Malgun Gothic"/>
                <a:cs typeface="Malgun Gothic"/>
              </a:rPr>
              <a:t>가 빠르게 발전했다. 유전체 전체에서 수십만 개의 변이가 미치는 작은 효과를 합산해 개인의 상대 위험을 추정하는 방법이며, 관상동맥질환과 제2형 당뇨, 일부 암에서 상위 몇 퍼센트가 단일 유전자 질환에 비견될 만한 위험을 가진다는 보고가 나왔다. 그러나 세 가지 한계가 분명하다. 첫째, 대부분의 자료가 유럽계 집단에서 나와 </a:t>
            </a:r>
            <a:r>
              <a:rPr sz="1600" b="1" i="0">
                <a:solidFill>
                  <a:srgbClr val="11202B"/>
                </a:solidFill>
                <a:latin typeface="Malgun Gothic"/>
                <a:ea typeface="Malgun Gothic"/>
                <a:cs typeface="Malgun Gothic"/>
              </a:rPr>
              <a:t>다른 조상 배경에서 예측력이 크게 떨어진다</a:t>
            </a:r>
            <a:r>
              <a:rPr sz="1600" b="0" i="0">
                <a:solidFill>
                  <a:srgbClr val="11202B"/>
                </a:solidFill>
                <a:latin typeface="Malgun Gothic"/>
                <a:ea typeface="Malgun Gothic"/>
                <a:cs typeface="Malgun Gothic"/>
              </a:rPr>
              <a:t>. 둘째, 상대 위험을 알려 줄 뿐 </a:t>
            </a:r>
            <a:r>
              <a:rPr sz="1600" b="1" i="0">
                <a:solidFill>
                  <a:srgbClr val="11202B"/>
                </a:solidFill>
                <a:latin typeface="Malgun Gothic"/>
                <a:ea typeface="Malgun Gothic"/>
                <a:cs typeface="Malgun Gothic"/>
              </a:rPr>
              <a:t>무엇을 해야 하는지는 알려 주지 않는다</a:t>
            </a:r>
            <a:r>
              <a:rPr sz="1600" b="0" i="0">
                <a:solidFill>
                  <a:srgbClr val="11202B"/>
                </a:solidFill>
                <a:latin typeface="Malgun Gothic"/>
                <a:ea typeface="Malgun Gothic"/>
                <a:cs typeface="Malgun Gothic"/>
              </a:rPr>
              <a:t>. 셋째, 유전율 가운데 알려진 변이로 설명되지 않는 몫이 여전히 크다. 집단 수준의 분포를 개인의 판단으로 옮기는 일이 통계적으로 정당한가라는 질문이 이 분야의 중심에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임상에서 유전 상담은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 양식을 정한다.</a:t>
            </a:r>
            <a:r>
              <a:rPr sz="1400" b="0" i="0">
                <a:solidFill>
                  <a:srgbClr val="11202B"/>
                </a:solidFill>
                <a:latin typeface="Malgun Gothic"/>
                <a:ea typeface="Malgun Gothic"/>
                <a:cs typeface="Malgun Gothic"/>
              </a:rPr>
              <a:t> 6절과 9절의 단서를 가계도에 적용한다. 주의할 점이 있다. 가계도의 크기가 작으면 우연에 의해 양식이 왜곡되어 보일 수 있고, 침투도가 낮으면 세대를 건너뛴 것처럼 보이며, 새 돌연변이는 가족력 없이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가계도를 그릴 때 반드시 확인할 것들이 있다. 양쪽 집안을 최소 3대까지 포함하고, 유산과 사산, 영아 사망을 빠뜨리지 않으며, 근친 관계가 있는지 묻고, 민족적 배경을 기록한다. 마지막 항목이 필요한 이유는 집단마다 특정 변이의 빈도가 다르기 때문이며, 12절에서 본 창시자 효과와 이형접합자 이점이 그 배경이다.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위험을 계산한다.</a:t>
            </a:r>
            <a:r>
              <a:rPr sz="1400" b="0" i="0">
                <a:solidFill>
                  <a:srgbClr val="11202B"/>
                </a:solidFill>
                <a:latin typeface="Malgun Gothic"/>
                <a:ea typeface="Malgun Gothic"/>
                <a:cs typeface="Malgun Gothic"/>
              </a:rPr>
              <a:t> 양식이 정해지면 확률 계산이 가능해진다. 상염색체 열성 질환에서 이환된 자녀를 둔 부모는 모두 보인자이므로 다음 자녀의 위험은 1/4이다. 이환되지 않은 형제가 보인자일 확률은 1/2이 아니라 </a:t>
            </a:r>
            <a:r>
              <a:rPr sz="1400" b="1" i="0">
                <a:solidFill>
                  <a:srgbClr val="11202B"/>
                </a:solidFill>
                <a:latin typeface="Malgun Gothic"/>
                <a:ea typeface="Malgun Gothic"/>
                <a:cs typeface="Malgun Gothic"/>
              </a:rPr>
              <a:t>2/3</a:t>
            </a:r>
            <a:r>
              <a:rPr sz="1400" b="0" i="0">
                <a:solidFill>
                  <a:srgbClr val="11202B"/>
                </a:solidFill>
                <a:latin typeface="Malgun Gothic"/>
                <a:ea typeface="Malgun Gothic"/>
                <a:cs typeface="Malgun Gothic"/>
              </a:rPr>
              <a:t>이다. 이미 이환되지 않았다는 정보가 네 경우 가운데 하나를 배제했기 때문이다. 이렇게 </a:t>
            </a:r>
            <a:r>
              <a:rPr sz="1400" b="1" i="0">
                <a:solidFill>
                  <a:srgbClr val="11202B"/>
                </a:solidFill>
                <a:latin typeface="Malgun Gothic"/>
                <a:ea typeface="Malgun Gothic"/>
                <a:cs typeface="Malgun Gothic"/>
              </a:rPr>
              <a:t>이미 아는 정보로 조건부 확률을 갱신하는 것</a:t>
            </a:r>
            <a:r>
              <a:rPr sz="1400" b="0" i="0">
                <a:solidFill>
                  <a:srgbClr val="11202B"/>
                </a:solidFill>
                <a:latin typeface="Malgun Gothic"/>
                <a:ea typeface="Malgun Gothic"/>
                <a:cs typeface="Malgun Gothic"/>
              </a:rPr>
              <a:t>이 유전 상담 계산의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경험적 위험과 계산된 위험을 구분한다.</a:t>
            </a:r>
            <a:r>
              <a:rPr sz="1400" b="0" i="0">
                <a:solidFill>
                  <a:srgbClr val="11202B"/>
                </a:solidFill>
                <a:latin typeface="Malgun Gothic"/>
                <a:ea typeface="Malgun Gothic"/>
                <a:cs typeface="Malgun Gothic"/>
              </a:rPr>
              <a:t> 단일 유전자 질환에서는 양식이 정해지면 위험을 계산할 수 있다. 그러나 다인자 질환에서는 계산이 불가능하므로, 같은 상황의 가족들에서 실제로 관찰된 빈도인 </a:t>
            </a:r>
            <a:r>
              <a:rPr sz="1400" b="1" i="0">
                <a:solidFill>
                  <a:srgbClr val="11202B"/>
                </a:solidFill>
                <a:latin typeface="Malgun Gothic"/>
                <a:ea typeface="Malgun Gothic"/>
                <a:cs typeface="Malgun Gothic"/>
              </a:rPr>
              <a:t>경험적 위험</a:t>
            </a:r>
            <a:r>
              <a:rPr sz="1400" b="0" i="0">
                <a:solidFill>
                  <a:srgbClr val="11202B"/>
                </a:solidFill>
                <a:latin typeface="Malgun Gothic"/>
                <a:ea typeface="Malgun Gothic"/>
                <a:cs typeface="Malgun Gothic"/>
              </a:rPr>
              <a:t>을 쓴다. 두 숫자의 성격이 다르다는 것을 설명해야 한다. 전자는 전달 규칙에서 연역된 값이고 후자는 관찰에서 나온 평균이므로, 후자는 그 집단과 상황에 묶여 있고 개별 가족에 그대로 적용되지 않을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정보를 전달한다.</a:t>
            </a:r>
            <a:r>
              <a:rPr sz="1400" b="0" i="0">
                <a:solidFill>
                  <a:srgbClr val="11202B"/>
                </a:solidFill>
                <a:latin typeface="Malgun Gothic"/>
                <a:ea typeface="Malgun Gothic"/>
                <a:cs typeface="Malgun Gothic"/>
              </a:rPr>
              <a:t> 숫자를 말하는 것으로 끝나지 않는다. 검사의 한계, 표현형의 변동 폭, 선택 가능한 대안을 함께 설명해야 하며, 결정은 당사자의 것이다.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조건부 확률 문제가 반복 출제된다. 핵심은 </a:t>
            </a:r>
            <a:r>
              <a:rPr sz="1600" b="1" i="0">
                <a:solidFill>
                  <a:srgbClr val="11202B"/>
                </a:solidFill>
                <a:latin typeface="Malgun Gothic"/>
                <a:ea typeface="Malgun Gothic"/>
                <a:cs typeface="Malgun Gothic"/>
              </a:rPr>
              <a:t>이미 알려진 사실이 가능한 경우의 수를 줄인다</a:t>
            </a:r>
            <a:r>
              <a:rPr sz="1600" b="0" i="0">
                <a:solidFill>
                  <a:srgbClr val="11202B"/>
                </a:solidFill>
                <a:latin typeface="Malgun Gothic"/>
                <a:ea typeface="Malgun Gothic"/>
                <a:cs typeface="Malgun Gothic"/>
              </a:rPr>
              <a:t>는 점이다. 상염색체 열성에서 보인자 부모의 자녀는 1:2:1로 정상 동형접합, 보인자, 이환자가 나오는데, 이환되지 않았다는 사실이 확인되면 네 경우 가운데 이환 한 경우가 빠져 세 경우만 남는다. 그 가운데 보인자는 둘이므로 2/3가 된다. 같은 논리로, 이환된 형제가 있는 건강한 사람이 보인자와 결혼했을 때 자녀가 이환될 확률은 2/3 × 1/2 × 1/4로 계산된다. 공식을 외우는 것이 아니라 </a:t>
            </a:r>
            <a:r>
              <a:rPr sz="1600" b="1" i="0">
                <a:solidFill>
                  <a:srgbClr val="11202B"/>
                </a:solidFill>
                <a:latin typeface="Malgun Gothic"/>
                <a:ea typeface="Malgun Gothic"/>
                <a:cs typeface="Malgun Gothic"/>
              </a:rPr>
              <a:t>가능한 경우를 모두 적고 배제되는 것을 지우는 것</a:t>
            </a:r>
            <a:r>
              <a:rPr sz="1600" b="0" i="0">
                <a:solidFill>
                  <a:srgbClr val="11202B"/>
                </a:solidFill>
                <a:latin typeface="Malgun Gothic"/>
                <a:ea typeface="Malgun Gothic"/>
                <a:cs typeface="Malgun Gothic"/>
              </a:rPr>
              <a:t>이 안전한 방법이다.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유전의 </a:t>
            </a:r>
            <a:r>
              <a:rPr sz="1600" b="1" i="0">
                <a:solidFill>
                  <a:srgbClr val="11202B"/>
                </a:solidFill>
                <a:latin typeface="Malgun Gothic"/>
                <a:ea typeface="Malgun Gothic"/>
                <a:cs typeface="Malgun Gothic"/>
              </a:rPr>
              <a:t>규칙과 사슬</a:t>
            </a:r>
            <a:r>
              <a:rPr sz="1600" b="0" i="0">
                <a:solidFill>
                  <a:srgbClr val="11202B"/>
                </a:solidFill>
                <a:latin typeface="Malgun Gothic"/>
                <a:ea typeface="Malgun Gothic"/>
                <a:cs typeface="Malgun Gothic"/>
              </a:rPr>
              <a:t>을 세우는 것이 목적이다. 분자 수준의 기전은 모듈 3이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DNA의 구조와 염색질 포장</a:t>
            </a:r>
            <a:r>
              <a:rPr sz="1600" b="0" i="0">
                <a:solidFill>
                  <a:srgbClr val="11202B"/>
                </a:solidFill>
                <a:latin typeface="Malgun Gothic"/>
                <a:ea typeface="Malgun Gothic"/>
                <a:cs typeface="Malgun Gothic"/>
              </a:rPr>
              <a:t>: M03-W01-L01. 복제의 기전은 M01-W06-L03과 M03-W01-L02.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손상과 복구, 복구 결함 질환</a:t>
            </a:r>
            <a:r>
              <a:rPr sz="1600" b="0" i="0">
                <a:solidFill>
                  <a:srgbClr val="11202B"/>
                </a:solidFill>
                <a:latin typeface="Malgun Gothic"/>
                <a:ea typeface="Malgun Gothic"/>
                <a:cs typeface="Malgun Gothic"/>
              </a:rPr>
              <a:t>: M03-W01-L03과 M03-W02-L01. 변이가 왜 생기고 왜 대부분 교정되는지가 여기서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전사와 번역의 기전</a:t>
            </a:r>
            <a:r>
              <a:rPr sz="1600" b="0" i="0">
                <a:solidFill>
                  <a:srgbClr val="11202B"/>
                </a:solidFill>
                <a:latin typeface="Malgun Gothic"/>
                <a:ea typeface="Malgun Gothic"/>
                <a:cs typeface="Malgun Gothic"/>
              </a:rPr>
              <a:t>: M01-W05-L03에서 개요를, M01-W07-L01과 M01-W07-L03에서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대체 splicing과 한 유전자 여러 산물</a:t>
            </a:r>
            <a:r>
              <a:rPr sz="1600" b="0" i="0">
                <a:solidFill>
                  <a:srgbClr val="11202B"/>
                </a:solidFill>
                <a:latin typeface="Malgun Gothic"/>
                <a:ea typeface="Malgun Gothic"/>
                <a:cs typeface="Malgun Gothic"/>
              </a:rPr>
              <a:t>: M03-W02-L03.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유전자 발현 조절과 전사인자</a:t>
            </a:r>
            <a:r>
              <a:rPr sz="1600" b="0" i="0">
                <a:solidFill>
                  <a:srgbClr val="11202B"/>
                </a:solidFill>
                <a:latin typeface="Malgun Gothic"/>
                <a:ea typeface="Malgun Gothic"/>
                <a:cs typeface="Malgun Gothic"/>
              </a:rPr>
              <a:t>: M01-W07-L02, M03-W04-L02, M03-W04-L03.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각인과 X 불활성화의 분자 기전</a:t>
            </a:r>
            <a:r>
              <a:rPr sz="1600" b="0" i="0">
                <a:solidFill>
                  <a:srgbClr val="11202B"/>
                </a:solidFill>
                <a:latin typeface="Malgun Gothic"/>
                <a:ea typeface="Malgun Gothic"/>
                <a:cs typeface="Malgun Gothic"/>
              </a:rPr>
              <a:t>: M03-W05-L01.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유전체의 구성과 반복 서열</a:t>
            </a:r>
            <a:r>
              <a:rPr sz="1600" b="0" i="0">
                <a:solidFill>
                  <a:srgbClr val="11202B"/>
                </a:solidFill>
                <a:latin typeface="Malgun Gothic"/>
                <a:ea typeface="Malgun Gothic"/>
                <a:cs typeface="Malgun Gothic"/>
              </a:rPr>
              <a:t>: M01-W06-L02.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유전자 진단과 염기서열 분석</a:t>
            </a:r>
            <a:r>
              <a:rPr sz="1600" b="0" i="0">
                <a:solidFill>
                  <a:srgbClr val="11202B"/>
                </a:solidFill>
                <a:latin typeface="Malgun Gothic"/>
                <a:ea typeface="Malgun Gothic"/>
                <a:cs typeface="Malgun Gothic"/>
              </a:rPr>
              <a:t>: M03-W06-L01. 유전자 치료와 유전체 편집은 M03-W06-L02.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감수분열과 염색체 이상</a:t>
            </a:r>
            <a:r>
              <a:rPr sz="1600" b="0" i="0">
                <a:solidFill>
                  <a:srgbClr val="11202B"/>
                </a:solidFill>
                <a:latin typeface="Malgun Gothic"/>
                <a:ea typeface="Malgun Gothic"/>
                <a:cs typeface="Malgun Gothic"/>
              </a:rPr>
              <a:t>: M01-W02-L03에서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다인자 형질의 대사적 배경</a:t>
            </a:r>
            <a:r>
              <a:rPr sz="1600" b="0" i="0">
                <a:solidFill>
                  <a:srgbClr val="11202B"/>
                </a:solidFill>
                <a:latin typeface="Malgun Gothic"/>
                <a:ea typeface="Malgun Gothic"/>
                <a:cs typeface="Malgun Gothic"/>
              </a:rPr>
              <a:t>: M02-W13과 M02-W14에서 인슐린 저항성과 비만을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3으로 넘어갈 때 가져가야 할 것은 세 가지다. 첫째, </a:t>
            </a:r>
            <a:r>
              <a:rPr sz="1600" b="1" i="0">
                <a:solidFill>
                  <a:srgbClr val="11202B"/>
                </a:solidFill>
                <a:latin typeface="Malgun Gothic"/>
                <a:ea typeface="Malgun Gothic"/>
                <a:cs typeface="Malgun Gothic"/>
              </a:rPr>
              <a:t>유전자에서 형질까지는 여러 단계의 사슬이고 변이는 그 가운데 어느 고리든 바꿀 수 있다.</a:t>
            </a:r>
            <a:r>
              <a:rPr sz="1600" b="0" i="0">
                <a:solidFill>
                  <a:srgbClr val="11202B"/>
                </a:solidFill>
                <a:latin typeface="Malgun Gothic"/>
                <a:ea typeface="Malgun Gothic"/>
                <a:cs typeface="Malgun Gothic"/>
              </a:rPr>
              <a:t> 둘째, </a:t>
            </a:r>
            <a:r>
              <a:rPr sz="1600" b="1" i="0">
                <a:solidFill>
                  <a:srgbClr val="11202B"/>
                </a:solidFill>
                <a:latin typeface="Malgun Gothic"/>
                <a:ea typeface="Malgun Gothic"/>
                <a:cs typeface="Malgun Gothic"/>
              </a:rPr>
              <a:t>우성과 열성은 유전자의 성질이 아니라 관찰 수준과 몸의 여유에 따라 달라지는 관계다.</a:t>
            </a:r>
            <a:r>
              <a:rPr sz="1600" b="0" i="0">
                <a:solidFill>
                  <a:srgbClr val="11202B"/>
                </a:solidFill>
                <a:latin typeface="Malgun Gothic"/>
                <a:ea typeface="Malgun Gothic"/>
                <a:cs typeface="Malgun Gothic"/>
              </a:rPr>
              <a:t> 셋째, </a:t>
            </a:r>
            <a:r>
              <a:rPr sz="1600" b="1" i="0">
                <a:solidFill>
                  <a:srgbClr val="11202B"/>
                </a:solidFill>
                <a:latin typeface="Malgun Gothic"/>
                <a:ea typeface="Malgun Gothic"/>
                <a:cs typeface="Malgun Gothic"/>
              </a:rPr>
              <a:t>집단 수준의 빈도와 개인 수준의 위험은 다른 질문이며, 둘을 잇는 데 가정이 필요하다.</a:t>
            </a:r>
            <a:r>
              <a:rPr sz="1600" b="0" i="0">
                <a:solidFill>
                  <a:srgbClr val="11202B"/>
                </a:solidFill>
                <a:latin typeface="Malgun Gothic"/>
                <a:ea typeface="Malgun Gothic"/>
                <a:cs typeface="Malgun Gothic"/>
              </a:rPr>
              <a:t> 이 세 가지를 쥐고 있으면 모듈 3의 분자 기전이 왜 그렇게 설계되었는지, 그리고 임상 유전학의 판단이 어디에 근거하는지가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유전물질임을 밝힌 세 실험이 각각 무엇을 보였는지 구분하고, 하나의 실험으로 결론이 나지 않은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 한 효소 가설이 수정되어야 하는 이유를 다섯 가지로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유사분열과 감수분열을 염색체 수, 분열 횟수, 유전적 결과로 비교하고, 감수분열에서 다양성이 만들어지는 두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멘델의 두 법칙과 각각의 세포학적 근거를 연결하고, 독립의 법칙에 붙는 단서를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질환이 열성인 이유를 분자 수준에서 설명하고, 우성이 되는 세 가지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낫적혈구 형질이 관찰 수준에 따라 열성이기도 하고 공동우성이기도 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연관 열성 유전을 가계도에서 판별하는 가장 강력한 기준을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불활성화가 여성 보인자의 증상에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 유전과 X 연관 열성 유전이 모두 어머니를 통해 전달되는데도 가계도에서 구분되는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균형 전좌 보인자가 건강한데도 임상적으로 문제가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역치 모형이 설명하는 세 가지 관찰을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Hardy–Weinberg 식의 다섯 가지 가정을 쓰고, 현실에서 만족되지 않는데도 이 식이 유용한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질환의 발생률이 1만 명당 1명일 때 보인자 빈도를 계산하고, 이 결과가 보인자 선별에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이형접합자 이점이 해로운 대립유전자의 높은 빈도를 설명하는 방식을 낫적혈구를 예로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상염색체 열성 질환에서 이환되지 않은 형제가 보인자일 확률이 1/2이 아니라 2/3인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유전체 해독에서 예상과 달랐던 사실 두 가지를 쓰고, 복잡성이 어디서 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변이의 빈도와 효과 크기 사이에 역관계가 나타나는 이유를 설명하고, 이것이 연구 설계에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반복 유산 환자에서 염색체 마이크로어레이가 아니라 핵형 분석이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복제의 최종 오류율이 매우 낮은 이유를 설명하고, 변이율이 손상 발생률과 같지 않은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uracil 대신 thymine을 쓰는 이유를 손상 인식의 관점에서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생식세포 변이와 체세포 변이를 구분하고, 암에서 무엇이 유전되는지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유전자와 환경이 함께 작용하는 네 가지 양상을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 무작위화가 인과를 가리는 데 쓰일 수 있는 이유와 그 한계를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