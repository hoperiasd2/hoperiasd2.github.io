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Griffith는 죽은 균에서 나온 무언가가 살아 있는 균의 성질을 바꾸고 그 변화가 유전된다는 형질전환 현상을 발견했으나 물질을 특정하지 못했다. Avery, MacLeod, McCarty는 추출물에서 성분을 하나씩 제거하는 설계로 DNA 분해 효소를 처리했을 때만 형질전환이 사라지는 것을 보여 물질이 DNA임을 밝혔으나 세균에 국한된 결과라는 비판을 받았다. Hershey와 Chase는 단백질에만 있는 황과 DNA에만 있는 인을 각각 표지해 바이러스에서도 세균 안으로 들어가는 것이 DNA임을 보여 일반성을 더했다. 세 실험이 순차적으로 가능성을 좁혀 간 구조다.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많은 단백질이 여러 폴리펩타이드 사슬로 이루어지므로 한 유전자 한 폴리펩타이드가 더 정확하다. 둘째, 대체 splicing으로 하나의 유전자에서 여러 단백질이 만들어진다. 셋째, 단백질을 만들지 않고 RNA 자체로 기능하는 유전자가 많다. 넷째, 하나의 유전자가 여러 형질에 영향을 주는 다면발현이 흔하다. 다섯째, 하나의 형질에 여러 유전자가 관여하는 다인자 형질이 많다.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유사분열은 한 번 분열해 두 개의 유전적으로 동일한 2n 세포를 만든다. 감수분열은 한 번의 복제 뒤 두 번 분열해 네 개의 n 세포를 만들고 각각이 서로 다르다. 다양성은 두 지점에서 생긴다. 첫째, 제1분열에서 각 상동 염색체 쌍이 어느 쪽으로 갈지가 쌍마다 독립적으로 정해지므로 사람의 23쌍에서 약 840만 가지 조합이 나온다. 둘째, 상동 염색체가 짝을 지은 동안 교차가 일어나 구간이 교환되므로 조합의 수가 사실상 무한해진다.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분리의 법칙은 한 형질의 두 인자가 생식세포 형성에서 서로 분리된다는 것이며, 세포학적 근거는 제1감수분열에서 상동 염색체가 갈라지는 것이다. 독립의 법칙은 서로 다른 형질의 인자가 독립적으로 분배된다는 것이며, 근거는 각 상동 염색체 쌍이 서로 무관하게 배열되는 것이다. 단서는 같은 염색체 위에 가까이 있는 유전자는 함께 전달되는 경향이 있어 독립적으로 분배되지 않는다는 점이다. 멘델이 고른 형질들이 대부분 서로 다른 염색체에 있거나 충분히 멀리 떨어져 있었기에 법칙이 깔끔하게 관찰되었다.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대부분의 열성 질환은 효소의 기능 상실인데 효소는 절반의 양으로도 충분한 경우가 많아, 이형접합자는 정상 대립유전자 하나만으로 정상 기능을 유지한다. 유전자가 약해서가 아니라 몸에 여유가 있기 때문이다. 우성이 되려면 세 가지 가운데 하나여야 한다. 반수체 부족은 절반의 양으로 충분하지 않은 경우다. 우성 음성은 변이 산물이 정상 산물의 기능까지 방해하는 경우로, 여러 사슬이 모여 작동하는 단백질에서 흔하다. 기능 획득은 변이 산물이 없던 활성을 갖거나 꺼지지 않게 되는 경우다.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임상 형질인 빈혈을 기준으로 보면 이형접합자는 증상이 거의 없으므로 열성이다. 그러나 헤모글로빈 전기영동으로 보면 이형접합자에서 정상형과 변이형 헤모글로빈이 모두 나타나므로 공동우성이다. 같은 유전자형을 가진 같은 사람인데 관찰하는 수준이 달라지면 분류가 달라지는 것이며, 우성과 열성이 유전자의 고유한 성질이 아니라 관찰 수준에 따라 달라지는 관계라는 점을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아버지에서 아들로 전달되지 않는다는 것이다. 아들은 아버지에게서 Y 염색체를 받고 X는 어머니에게서만 받으므로, 아버지의 X에 있는 변이가 아들에게 갈 수 없다. 따라서 가계도에서 이환된 아버지와 이환된 아들의 직접 전달이 한 사례라도 확인되면 X 연관은 배제된다. 반대로 이환된 남성의 딸은 아버지의 유일한 X를 반드시 받으므로 모두 보인자가 된다. 이 두 조건이 함께 쓰인다.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 초기에 각 세포가 두 X 가운데 하나를 무작위로 불활성화하고 그 선택이 후손 세포에 유지되므로, 여성의 몸은 두 종류의 세포가 섞인 모자이크가 된다. X 연관 질환의 보인자는 정상 X가 활성인 세포가 충분히 있으면 증상이 없지만, 우연히 정상 X가 불활성화된 세포가 많아지는 편향된 불활성화가 일어나면 증상이 나타날 수 있다. 같은 변이를 가진 자매 사이에서도 증상의 유무와 정도가 다를 수 있는 이유가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DNA는 난자의 것만 전달되므로 어머니가 이환되면 아들과 딸이 모두 이환될 수 있고, 아버지가 이환되면 자녀 누구에게도 전달되지 않는다. X 연관 열성에서는 보인자 어머니의 아들 가운데 절반이 이환되지만 딸은 대개 보인자에 그쳐 증상이 없다. 따라서 모계로 전달되면서 딸도 함께 이환되면 미토콘드리아 유전을, 아들에만 증상이 집중되면 X 연관 열성을 시사한다. 미토콘드리아 질환에서 증상의 정도가 사람마다 다른 것은 세포 안 변이 DNA의 비율이 다른 이형질성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균형 전좌는 두 염색체가 조각을 맞바꾸었지만 유전물질의 총량이 유지된 상태이므로 보인자 본인은 대개 정상이다. 문제는 감수분열에서 생긴다. 전좌된 염색체들이 상동 부위끼리 짝을 지으려면 복잡한 구조를 이루어야 하고, 이것이 분리될 때 일부 생식세포가 특정 구간을 중복해서 갖거나 결실한 불균형 상태가 된다. 그 결과 반복 유산이나 염색체 이상 자녀의 출산으로 드러난다. 부모가 건강한데 반복 유산이 있으면 염색체 검사를 하는 근거가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이환된 친척이 많을수록 위험이 올라간다. 그 가족이 소인 분포에서 역치에 가까운 쪽에 있다는 뜻이기 때문이다. 둘째, 환자의 중증도가 높을수록 친척의 위험이 올라간다. 역치를 더 멀리 넘었다는 것은 소인이 더 많다는 뜻이기 때문이다. 셋째, 성별에 따라 역치가 다른 질환에서 드문 성별의 환자가 나왔을 때 그 자녀의 위험이 더 높다. 높은 역치를 넘었다는 것은 그만큼 많은 소인을 가졌다는 뜻이고 그것이 자녀에게 전달되기 때문이다. 유문협착증이 남아에 흔한데 여아 환자의 자녀에서 위험이 더 높은 것이 이 예측과 맞는다.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무작위 교배, 돌연변이 없음, 이주 없음, 자연선택 없음, 집단의 크기가 충분히 큼의 다섯 가지다. 현실에서 이 가정이 모두 만족되는 경우는 없다. 그럼에도 유용한 이유는 이 식이 기준선 역할을 하기 때문이다. 관찰된 유전자형 빈도가 예측과 어긋나면 다섯 가정 가운데 무엇이 깨졌는지를 묻게 되고, 그것이 선택이나 이주, 비무작위 교배 같은 실제로 작동하는 힘을 찾는 출발점이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발생률이 열성 동형접합의 빈도인 q²이므로 q² = 1/10,000이고 q = 0.01이다. 보인자 빈도는 2pq이며 질환이 드물어 p가 거의 1이므로 약 2q = 0.02, 즉 50명당 1명이다. 환자는 1만 명당 1명인데 보인자는 50명당 1명으로 200배 흔하다. 드문 질환에서도 보인자는 훨씬 흔하다는 뜻이며, 이것이 보인자 선별 검사가 의미를 갖는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낫적혈구 대립유전자는 동형접합에서 중증 빈혈을 일으켜 강하게 불리하므로, 선택만 작용한다면 빈도가 매우 낮아야 한다. 그러나 이형접합자는 말라리아에 저항성을 가지므로 말라리아 유행 지역에서 생존과 번식에 유리하다. 이형접합자가 얻는 이익이 동형접합자가 입는 손실을 상쇄하면서 대립유전자가 상당한 빈도로 유지된다. 그 결과 이 질환의 지리적 분포가 말라리아 유행 지역과 겹친다. 유전 질환의 빈도가 집단마다 다를 때 창시자 효과와 함께 먼저 검토해야 하는 설명이다.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보인자 부모 둘 사이에서 자녀의 유전자형은 정상 동형접합, 보인자, 보인자, 이환 동형접합의 네 경우가 같은 확률로 나온다. 그런데 그 형제가 이환되지 않았다는 사실이 이미 확인되었으므로 이환 동형접합의 경우가 배제되고 세 경우만 남는다. 남은 셋 가운데 보인자가 둘이므로 확률은 2/3가 된다. 이미 알려진 정보가 가능한 경우의 수를 줄인다는 조건부 확률의 원리이며, 공식을 외우기보다 가능한 경우를 모두 적고 배제되는 것을 지우는 방법이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단백질 암호화 유전자의 수가 약 2만 개에 못 미쳐 해독 이전의 추정치인 10만 개 안팎보다 훨씬 적었다. 선충도 비슷한 수를 가진다는 점에서 유전자 수가 복잡성을 설명하지 못한다. 둘째, 단백질을 암호화하는 염기가 전체의 약 1.5%에 불과하고 반복 서열이 절반 이상을 차지한다. 복잡성은 유전자의 수가 아니라 대체 splicing에 의한 산물의 다양화, 번역 후 수정, 그리고 조절의 정교함에서 온다고 본다. 질환 연관 변이의 대부분이 단백질을 암호화하지 않는 조절 영역에 있다는 사실이 이를 뒷받침한다.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효과가 큰 해로운 변이는 생존과 번식에 불리해 자연선택에 의해 빈도가 낮게 유지된다. 반면 효과가 작은 변이는 선택의 압력이 약해 집단에 흔하게 남는다. 그 결과 드문 변이는 큰 효과를, 흔한 변이는 작은 효과를 갖는 배치가 생긴다. 연구 설계가 여기에 맞춰진다. 드문 큰 효과의 변이는 소수의 가계를 깊이 분석하거나 염기서열을 읽어 찾고, 흔한 작은 효과의 변이는 수만에서 수십만 명 규모의 집단에서 통계적 연관을 찾아야 검출된다.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반복 유산의 원인으로 부모의 균형 전좌를 확인해야 하는데, 균형 전좌는 두 염색체가 조각을 맞바꾸었을 뿐 유전물질의 총량이 변하지 않은 상태다. 마이크로어레이는 복제수의 변화, 즉 양의 증감을 검출하는 방법이므로 양이 그대로인 균형 전좌와 역위를 보지 못한다. 핵형 분석은 염색체의 형태를 직접 관찰하므로 해상도는 낮지만 균형 재배열을 볼 수 있다. 무엇을 의심하는가가 검사의 선택을 정한다는 원칙의 대표적 사례다.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중합효소 자체의 정확도는 1만 분의 1 수준이지만 여기에 효소의 교정 기능과 복제 후 불일치 수선이 더해져 최종 오류율이 10억 분의 1 수준이 된다. 세 겹의 장치가 곱해져 정확도가 만들어지므로 어느 한 겹이 빠지면 오류율이 급격히 올라가며, 불일치 수선 결함 종양의 미소부수체 불안정성이 그 예다. 변이율이 손상 발생률과 다른 이유는 손상이 하루 수만 건씩 생겨도 대부분 수선되기 때문이다. 수선되지 못한 것만 다음 복제에서 고정되므로 변이율은 사실상 수선 실패율이다.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Cytosine은 체온에서도 자발적으로 탈아미노화되어 uracil이 된다. 만약 DNA가 본래 uracil을 쓴다면 발견된 uracil이 원래 있던 정상 염기인지 cytosine이 손상되어 생긴 것인지 구별할 수 없다. Thymine을 쓰면 DNA에서 발견되는 uracil은 예외 없이 손상의 산물이므로 수선 기구가 주저 없이 제거할 수 있다. RNA는 수명이 짧아 손상이 축적되기 전에 교체되므로 이런 구별이 필요 없고, 그래서 uracil을 그대로 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생식세포에서 생긴 변이는 수정란을 거쳐 몸의 모든 세포에 존재하고 다음 세대로 전달된다. 체세포에서 생긴 변이는 그 세포와 그 후손에만 존재하고 자녀에게 전달되지 않는다. 암은 거의 전적으로 체세포 변이가 축적된 결과이므로 암 자체가 유전되는 것이 아니다. 유전되는 것은 암에 걸리기 쉬운 소인이며, 수선 경로나 종양 억제 유전자의 변이를 생식세포에서 물려받으면 체세포 변이가 축적될 때 암에 이를 확률이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더해지는 경우로 유전적 소인과 환경 요인이 각각 독립적으로 위험을 올린다. 둘째, 유전자–환경 상호작용으로 환경의 효과가 유전형에 따라 달라지며, 둘을 함께 보아야 효과가 드러나고 따로 보면 작아 보인다. 셋째, 유전자–환경 상관으로 유전적 성향이 특정 환경을 선택하게 만드는 경우이며, 환경의 효과처럼 보이는 것이 실은 유전적 성향의 결과일 수 있다. 넷째, 환경이 유전자 발현 양상을 바꾸고 그 변화가 일정 기간 유지되는 경우다.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노출 수준과 연관된 유전 변이를 도구로 삼아 그 변이와 질환의 연관을 보는 방법이다. 유전형은 수정 시점에 무작위로 정해지고 이후의 생활 습관이나 질병 상태에 영향을 받지 않으므로, 관찰 연구를 괴롭히는 역방향 인과와 교란의 상당 부분을 피할 수 있다. 한계는 가정에 있다. 그 변이가 오직 해당 노출을 통해서만 결과에 영향을 주어야 하는데, 변이가 여러 형질에 영향을 주는 다면발현이 있으면 이 가정이 깨진다. 따라서 결과를 읽을 때 다면발현의 가능성이 검토되었는지를 확인해야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유전기초 요약: DNA·유전자·유전과 변이</a:t>
            </a:r>
          </a:p>
          <a:p>
            <a:r>
              <a:rPr sz="1500" b="0" i="0">
                <a:solidFill>
                  <a:srgbClr val="B9D2E8"/>
                </a:solidFill>
                <a:latin typeface="Malgun Gothic"/>
                <a:ea typeface="Malgun Gothic"/>
                <a:cs typeface="Malgun Gothic"/>
              </a:rPr>
              <a:t>Genetics: DNA, Genes, Inheritance and Variation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M01-W04-L03  ·  2부</a:t>
            </a:r>
          </a:p>
          <a:p>
            <a:r>
              <a:rPr sz="1100" b="0" i="0">
                <a:solidFill>
                  <a:srgbClr val="F2B705"/>
                </a:solidFill>
                <a:latin typeface="Malgun Gothic"/>
                <a:ea typeface="Malgun Gothic"/>
                <a:cs typeface="Malgun Gothic"/>
              </a:rPr>
              <a:t>전체 18절 가운데 8절</a:t>
            </a:r>
          </a:p>
          <a:p>
            <a:r>
              <a:rPr sz="1100" b="0" i="0">
                <a:solidFill>
                  <a:srgbClr val="9FBEDA"/>
                </a:solidFill>
                <a:latin typeface="Malgun Gothic"/>
                <a:ea typeface="Malgun Gothic"/>
                <a:cs typeface="Malgun Gothic"/>
              </a:rPr>
              <a:t>4주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DNA가 유전물질이라는 결론에 이른 실험을 설계와 근거로 서술한다.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유전자에서 형질에 이르는 사슬을 단계로 나누고 한 유전자 한 효소 가설의 한계를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유사분열과 감수분열을 염색체 수와 유전적 결과로 비교한다.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멘델의 두 법칙을 서술하고 각각의 세포학적 근거를 감수분열로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우성과 열성이 상대적 개념인 이유를 설명하고 불완전우성·공동우성과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연관과 교차를 설명하고 재조합 빈도가 유전자 사이 거리를 알려 주는 원리를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X 연관 유전의 특징을 가계도에서 식별하고 X 불활성화가 여성 보인자에 미치는 영향을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비멘델 유전의 네 가지 양식을 구분하고 각각의 가계도 특징을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변이를 염기 수준과 염색체 수준으로 분류하고 결과를 예측한다.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다인자 형질의 유전을 역치 모형으로 설명하고 유전율의 의미를 정확히 서술한다.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Hardy–Weinberg 평형의 가정과 쓰임을 설명하고 보인자 빈도를 계산한다.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M01-W02-L03 생식계 요약 — 감수분열, 염색체 비분리, 부모 연령의 효과</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발생 요약 — 유전자 발현과 세포 운명</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복제, 전사, 번역의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11. 변이의 종류와 결과</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12. 사람 유전체의 규모와 구성</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13. 유전 정보를 읽는 기술</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14. 다인자 형질과 역치 모형</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15. 유전자와 환경은 어떻게 함께 작용하는가</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16. 집단 유전 — Hardy–Weinberg</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17. 가계도를 읽고 위험을 계산하기</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18.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변이의 종류와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변이를 크기로 나누면 결과를 예측하기 쉽다.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염기 수준의 변이.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변이의 종류와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종류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서열의 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단백질에 미치는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침묵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 하나가 바뀌었으나 같은 아미노산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대개 영향 없음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과오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염기 하나가 바뀌어 다른 아미노산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위치에 따라 다르다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무의미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종결 codon이 생긴다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짧은 단백질 또는 전사체 분해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틀이동</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3의 배수가 아닌 삽입·결실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이후 전체가 달라진다. 대개 심각</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스플라이스 부위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가공 신호가 바뀐다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exon 누락 또는 intron 잔류</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변이의 종류와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침묵 변이가 언제나 무해한 것은 아니다.</a:t>
            </a:r>
            <a:r>
              <a:rPr sz="1600" b="0" i="0">
                <a:solidFill>
                  <a:srgbClr val="11202B"/>
                </a:solidFill>
                <a:latin typeface="Malgun Gothic"/>
                <a:ea typeface="Malgun Gothic"/>
                <a:cs typeface="Malgun Gothic"/>
              </a:rPr>
              <a:t> 같은 아미노산을 지정하더라도 codon 사용 빈도가 바뀌어 번역 속도가 달라지거나, splicing 조절 서열이 손상될 수 있다. "침묵"은 아미노산 수준에서의 이야기일 뿐이다.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과오 변이의 결과는 위치가 정한다.</a:t>
            </a:r>
            <a:r>
              <a:rPr sz="1600" b="0" i="0">
                <a:solidFill>
                  <a:srgbClr val="11202B"/>
                </a:solidFill>
                <a:latin typeface="Malgun Gothic"/>
                <a:ea typeface="Malgun Gothic"/>
                <a:cs typeface="Malgun Gothic"/>
              </a:rPr>
              <a:t> 활성 부위나 접힘에 중요한 자리에서 일어나면 치명적이고, 표면의 덜 중요한 자리에서는 영향이 없을 수 있다. 바뀐 아미노산의 성질이 원래와 얼마나 다른지도 중요하다.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염색체 수준의 변이.</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수의 이상</a:t>
            </a:r>
            <a:r>
              <a:rPr sz="1600" b="0" i="0">
                <a:solidFill>
                  <a:srgbClr val="11202B"/>
                </a:solidFill>
                <a:latin typeface="Malgun Gothic"/>
                <a:ea typeface="Malgun Gothic"/>
                <a:cs typeface="Malgun Gothic"/>
              </a:rPr>
              <a:t>: 비분리로 생기는 삼염색체와 단일염색체(M01-W02-L03).</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구조의 이상</a:t>
            </a:r>
            <a:r>
              <a:rPr sz="1600" b="0" i="0">
                <a:solidFill>
                  <a:srgbClr val="11202B"/>
                </a:solidFill>
                <a:latin typeface="Malgun Gothic"/>
                <a:ea typeface="Malgun Gothic"/>
                <a:cs typeface="Malgun Gothic"/>
              </a:rPr>
              <a:t>: 결실, 중복, 역위, 전좌.</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균형 전좌</a:t>
            </a:r>
            <a:r>
              <a:rPr sz="1600" b="0" i="0">
                <a:solidFill>
                  <a:srgbClr val="11202B"/>
                </a:solidFill>
                <a:latin typeface="Malgun Gothic"/>
                <a:ea typeface="Malgun Gothic"/>
                <a:cs typeface="Malgun Gothic"/>
              </a:rPr>
              <a:t>는 특별히 다룰 가치가 있다. 두 염색체가 조각을 맞바꾸었는데 </a:t>
            </a:r>
            <a:r>
              <a:rPr sz="1600" b="1" i="0">
                <a:solidFill>
                  <a:srgbClr val="11202B"/>
                </a:solidFill>
                <a:latin typeface="Malgun Gothic"/>
                <a:ea typeface="Malgun Gothic"/>
                <a:cs typeface="Malgun Gothic"/>
              </a:rPr>
              <a:t>유전물질의 총량이 유지된</a:t>
            </a:r>
            <a:r>
              <a:rPr sz="1600" b="0" i="0">
                <a:solidFill>
                  <a:srgbClr val="11202B"/>
                </a:solidFill>
                <a:latin typeface="Malgun Gothic"/>
                <a:ea typeface="Malgun Gothic"/>
                <a:cs typeface="Malgun Gothic"/>
              </a:rPr>
              <a:t> 경우다. 보인자 본인은 대개 정상인데, 감수분열에서 짝을 짓는 과정이 복잡해져 </a:t>
            </a:r>
            <a:r>
              <a:rPr sz="1600" b="1" i="0">
                <a:solidFill>
                  <a:srgbClr val="11202B"/>
                </a:solidFill>
                <a:latin typeface="Malgun Gothic"/>
                <a:ea typeface="Malgun Gothic"/>
                <a:cs typeface="Malgun Gothic"/>
              </a:rPr>
              <a:t>불균형한 생식세포</a:t>
            </a:r>
            <a:r>
              <a:rPr sz="1600" b="0" i="0">
                <a:solidFill>
                  <a:srgbClr val="11202B"/>
                </a:solidFill>
                <a:latin typeface="Malgun Gothic"/>
                <a:ea typeface="Malgun Gothic"/>
                <a:cs typeface="Malgun Gothic"/>
              </a:rPr>
              <a:t>가 만들어진다. 그 결과 반복 유산이나 염색체 이상 자녀의 출산으로 드러난다. 부모가 건강한데 반복 유산이 있으면 염색체 검사를 하는 근거다.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사람 유전체의 규모와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형질과 유전자의 관계를 다루기 전에 </a:t>
            </a:r>
            <a:r>
              <a:rPr sz="2000" b="1" i="0">
                <a:solidFill>
                  <a:srgbClr val="11202B"/>
                </a:solidFill>
                <a:latin typeface="Malgun Gothic"/>
                <a:ea typeface="Malgun Gothic"/>
                <a:cs typeface="Malgun Gothic"/>
              </a:rPr>
              <a:t>유전체 전체가 어떻게 생겼는지</a:t>
            </a:r>
            <a:r>
              <a:rPr sz="2000" b="0" i="0">
                <a:solidFill>
                  <a:srgbClr val="11202B"/>
                </a:solidFill>
                <a:latin typeface="Malgun Gothic"/>
                <a:ea typeface="Malgun Gothic"/>
                <a:cs typeface="Malgun Gothic"/>
              </a:rPr>
              <a:t>를 알아 두면 뒤의 논의가 구체적이 된다. 유전체 해독이 끝난 뒤 드러난 사실 가운데 예상과 달랐던 것이 많다.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사람 유전체의 규모와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값</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전체 크기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32억 염기쌍(반수체 기준)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단백질 암호화 유전자 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19,000~20,000개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단백질을 암호화하는 염기의 비율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1.5%</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전사되는 비율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상당 부분이 전사된다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유전자당 평균 exon 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8~9개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반복 서열의 비율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50% 이상</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사람 유전체의 규모와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 수가 예상보다 적었다.</a:t>
            </a:r>
            <a:r>
              <a:rPr sz="1400" b="0" i="0">
                <a:solidFill>
                  <a:srgbClr val="11202B"/>
                </a:solidFill>
                <a:latin typeface="Malgun Gothic"/>
                <a:ea typeface="Malgun Gothic"/>
                <a:cs typeface="Malgun Gothic"/>
              </a:rPr>
              <a:t> 해독 이전의 추정치는 10만 개 안팎이었는데 실제로는 2만 개에 못 미쳤다. 선충이 약 2만 개를 가진다는 사실과 비교하면 더 당혹스럽다. 복잡성이 유전자의 </a:t>
            </a:r>
            <a:r>
              <a:rPr sz="1400" b="1" i="0">
                <a:solidFill>
                  <a:srgbClr val="11202B"/>
                </a:solidFill>
                <a:latin typeface="Malgun Gothic"/>
                <a:ea typeface="Malgun Gothic"/>
                <a:cs typeface="Malgun Gothic"/>
              </a:rPr>
              <a:t>수</a:t>
            </a:r>
            <a:r>
              <a:rPr sz="1400" b="0" i="0">
                <a:solidFill>
                  <a:srgbClr val="11202B"/>
                </a:solidFill>
                <a:latin typeface="Malgun Gothic"/>
                <a:ea typeface="Malgun Gothic"/>
                <a:cs typeface="Malgun Gothic"/>
              </a:rPr>
              <a:t>가 아니라 다른 데서 온다는 뜻이며, 대체 splicing에 의한 산물의 다양화, 번역 후 수정, 그리고 </a:t>
            </a:r>
            <a:r>
              <a:rPr sz="1400" b="1" i="0">
                <a:solidFill>
                  <a:srgbClr val="11202B"/>
                </a:solidFill>
                <a:latin typeface="Malgun Gothic"/>
                <a:ea typeface="Malgun Gothic"/>
                <a:cs typeface="Malgun Gothic"/>
              </a:rPr>
              <a:t>조절의 정교함</a:t>
            </a:r>
            <a:r>
              <a:rPr sz="1400" b="0" i="0">
                <a:solidFill>
                  <a:srgbClr val="11202B"/>
                </a:solidFill>
                <a:latin typeface="Malgun Gothic"/>
                <a:ea typeface="Malgun Gothic"/>
                <a:cs typeface="Malgun Gothic"/>
              </a:rPr>
              <a:t>이 그 후보로 제시되었다.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단백질을 만들지 않는 영역이 대부분이다.</a:t>
            </a:r>
            <a:r>
              <a:rPr sz="1400" b="0" i="0">
                <a:solidFill>
                  <a:srgbClr val="11202B"/>
                </a:solidFill>
                <a:latin typeface="Malgun Gothic"/>
                <a:ea typeface="Malgun Gothic"/>
                <a:cs typeface="Malgun Gothic"/>
              </a:rPr>
              <a:t> 한때 이 영역을 쓸모없는 것으로 보았으나, 지금은 여기에 조절 서열과 기능성 RNA 유전자가 들어 있다는 것이 알려져 있다. 질환과 연관된 변이의 대부분이 단백질을 암호화하지 않는 영역에 있다는 사실이 이 영역의 중요성을 보여 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사람 사이의 차이.</a:t>
            </a:r>
            <a:r>
              <a:rPr sz="1400" b="0" i="0">
                <a:solidFill>
                  <a:srgbClr val="11202B"/>
                </a:solidFill>
                <a:latin typeface="Malgun Gothic"/>
                <a:ea typeface="Malgun Gothic"/>
                <a:cs typeface="Malgun Gothic"/>
              </a:rPr>
              <a:t> 두 사람의 유전체는 약 99.9% 같다. 다른 0.1%가 수백만 곳의 차이에 해당하며, 형태로 분류하면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단일염기 다형성(SNP)</a:t>
            </a:r>
            <a:r>
              <a:rPr sz="1400" b="0" i="0">
                <a:solidFill>
                  <a:srgbClr val="11202B"/>
                </a:solidFill>
                <a:latin typeface="Malgun Gothic"/>
                <a:ea typeface="Malgun Gothic"/>
                <a:cs typeface="Malgun Gothic"/>
              </a:rPr>
              <a:t>: 염기 하나의 차이. 가장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삽입과 결실</a:t>
            </a:r>
            <a:r>
              <a:rPr sz="1400" b="0" i="0">
                <a:solidFill>
                  <a:srgbClr val="11202B"/>
                </a:solidFill>
                <a:latin typeface="Malgun Gothic"/>
                <a:ea typeface="Malgun Gothic"/>
                <a:cs typeface="Malgun Gothic"/>
              </a:rPr>
              <a:t>: 짧은 구간의 추가나 소실.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복제수 변이(CNV)</a:t>
            </a:r>
            <a:r>
              <a:rPr sz="1400" b="0" i="0">
                <a:solidFill>
                  <a:srgbClr val="11202B"/>
                </a:solidFill>
                <a:latin typeface="Malgun Gothic"/>
                <a:ea typeface="Malgun Gothic"/>
                <a:cs typeface="Malgun Gothic"/>
              </a:rPr>
              <a:t>: 비교적 긴 구간이 사람마다 다른 수로 존재한다. 전체 염기 수로 보면 SNP보다 더 많은 차이를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반복 서열의 길이 차이</a:t>
            </a:r>
            <a:r>
              <a:rPr sz="1400" b="0" i="0">
                <a:solidFill>
                  <a:srgbClr val="11202B"/>
                </a:solidFill>
                <a:latin typeface="Malgun Gothic"/>
                <a:ea typeface="Malgun Gothic"/>
                <a:cs typeface="Malgun Gothic"/>
              </a:rPr>
              <a:t>: 짧은 반복의 횟수가 다르다. 개인 식별에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변이와 질환의 관계는 빈도와 효과로 배치된다.</a:t>
            </a:r>
            <a:r>
              <a:rPr sz="1400" b="0" i="0">
                <a:solidFill>
                  <a:srgbClr val="11202B"/>
                </a:solidFill>
                <a:latin typeface="Malgun Gothic"/>
                <a:ea typeface="Malgun Gothic"/>
                <a:cs typeface="Malgun Gothic"/>
              </a:rPr>
              <a:t> 드문 변이는 효과가 크고(단일 유전자 질환), 흔한 변이는 효과가 작다(다인자 형질). 이 관계가 우연이 아닌 이유는 선택 때문이다. 효과가 큰 해로운 변이는 선택에 의해 빈도가 낮게 유지되고, 효과가 작으면 선택의 압력이 약해 흔하게 남는다. 이 배치가 </a:t>
            </a:r>
            <a:r>
              <a:rPr sz="1400" b="1" i="0">
                <a:solidFill>
                  <a:srgbClr val="11202B"/>
                </a:solidFill>
                <a:latin typeface="Malgun Gothic"/>
                <a:ea typeface="Malgun Gothic"/>
                <a:cs typeface="Malgun Gothic"/>
              </a:rPr>
              <a:t>어떤 질환에 어떤 연구 설계가 맞는지</a:t>
            </a:r>
            <a:r>
              <a:rPr sz="1400" b="0" i="0">
                <a:solidFill>
                  <a:srgbClr val="11202B"/>
                </a:solidFill>
                <a:latin typeface="Malgun Gothic"/>
                <a:ea typeface="Malgun Gothic"/>
                <a:cs typeface="Malgun Gothic"/>
              </a:rPr>
              <a:t>를 정한다. 드문 큰 효과는 가계 연구와 염기서열 분석으로, 흔한 작은 효과는 대규모 집단의 연관 분석으로 찾는다.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유전 정보를 읽는 기술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유전학의 주장은 측정 기술의 해상도에 묶여 있다. 어떤 방법이 어떤 크기의 변화를 볼 수 있는지를 알아야 검사 결과를 해석할 수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핵형 분석.</a:t>
            </a:r>
            <a:r>
              <a:rPr sz="1600" b="0" i="0">
                <a:solidFill>
                  <a:srgbClr val="11202B"/>
                </a:solidFill>
                <a:latin typeface="Malgun Gothic"/>
                <a:ea typeface="Malgun Gothic"/>
                <a:cs typeface="Malgun Gothic"/>
              </a:rPr>
              <a:t> 분열 중기의 염색체를 염색해 현미경으로 본다. 해상도는 약 500만~1,000만 염기쌍이다. 염색체의 </a:t>
            </a:r>
            <a:r>
              <a:rPr sz="1600" b="1" i="0">
                <a:solidFill>
                  <a:srgbClr val="11202B"/>
                </a:solidFill>
                <a:latin typeface="Malgun Gothic"/>
                <a:ea typeface="Malgun Gothic"/>
                <a:cs typeface="Malgun Gothic"/>
              </a:rPr>
              <a:t>수 이상과 큰 구조 이상</a:t>
            </a:r>
            <a:r>
              <a:rPr sz="1600" b="0" i="0">
                <a:solidFill>
                  <a:srgbClr val="11202B"/>
                </a:solidFill>
                <a:latin typeface="Malgun Gothic"/>
                <a:ea typeface="Malgun Gothic"/>
                <a:cs typeface="Malgun Gothic"/>
              </a:rPr>
              <a:t>을 본다. 균형 전좌처럼 양이 변하지 않은 재배열도 볼 수 있다는 것이 고유한 장점이다.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형광 제자리 부합법(FISH).</a:t>
            </a:r>
            <a:r>
              <a:rPr sz="1600" b="0" i="0">
                <a:solidFill>
                  <a:srgbClr val="11202B"/>
                </a:solidFill>
                <a:latin typeface="Malgun Gothic"/>
                <a:ea typeface="Malgun Gothic"/>
                <a:cs typeface="Malgun Gothic"/>
              </a:rPr>
              <a:t> 특정 서열에 결합하는 형광 탐침을 쓴다. 핵형 분석보다 작은 결실과 중복을 볼 수 있지만, </a:t>
            </a:r>
            <a:r>
              <a:rPr sz="1600" b="1" i="0">
                <a:solidFill>
                  <a:srgbClr val="11202B"/>
                </a:solidFill>
                <a:latin typeface="Malgun Gothic"/>
                <a:ea typeface="Malgun Gothic"/>
                <a:cs typeface="Malgun Gothic"/>
              </a:rPr>
              <a:t>찾을 곳을 미리 정해야 한다.</a:t>
            </a:r>
            <a:r>
              <a:rPr sz="1600" b="0" i="0">
                <a:solidFill>
                  <a:srgbClr val="11202B"/>
                </a:solidFill>
                <a:latin typeface="Malgun Gothic"/>
                <a:ea typeface="Malgun Gothic"/>
                <a:cs typeface="Malgun Gothic"/>
              </a:rPr>
              <a:t> 의심되는 질환이 분명할 때 빠르게 확인하는 방법이다.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염색체 마이크로어레이.</a:t>
            </a:r>
            <a:r>
              <a:rPr sz="1600" b="0" i="0">
                <a:solidFill>
                  <a:srgbClr val="11202B"/>
                </a:solidFill>
                <a:latin typeface="Malgun Gothic"/>
                <a:ea typeface="Malgun Gothic"/>
                <a:cs typeface="Malgun Gothic"/>
              </a:rPr>
              <a:t> 유전체 전체에서 복제수 변이를 찾는다. 해상도가 수만 염기쌍 수준으로 훨씬 높다. 다만 </a:t>
            </a:r>
            <a:r>
              <a:rPr sz="1600" b="1" i="0">
                <a:solidFill>
                  <a:srgbClr val="11202B"/>
                </a:solidFill>
                <a:latin typeface="Malgun Gothic"/>
                <a:ea typeface="Malgun Gothic"/>
                <a:cs typeface="Malgun Gothic"/>
              </a:rPr>
              <a:t>양이 변하지 않은 균형 전좌와 역위는 보지 못한다.</a:t>
            </a:r>
            <a:r>
              <a:rPr sz="1600" b="0" i="0">
                <a:solidFill>
                  <a:srgbClr val="11202B"/>
                </a:solidFill>
                <a:latin typeface="Malgun Gothic"/>
                <a:ea typeface="Malgun Gothic"/>
                <a:cs typeface="Malgun Gothic"/>
              </a:rPr>
              <a:t> 핵형 분석이 완전히 대체되지 않는 이유다.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염기서열 분석.</a:t>
            </a:r>
            <a:r>
              <a:rPr sz="1600" b="0" i="0">
                <a:solidFill>
                  <a:srgbClr val="11202B"/>
                </a:solidFill>
                <a:latin typeface="Malgun Gothic"/>
                <a:ea typeface="Malgun Gothic"/>
                <a:cs typeface="Malgun Gothic"/>
              </a:rPr>
              <a:t> 염기 하나 수준의 해상도를 가진다. 범위에 따라 나뉜다. 한 유전자만 읽기도 하고, 관련 유전자 묶음을 읽기도 하며, 단백질을 암호화하는 구간 전체(</a:t>
            </a:r>
            <a:r>
              <a:rPr sz="1600" b="1" i="0">
                <a:solidFill>
                  <a:srgbClr val="11202B"/>
                </a:solidFill>
                <a:latin typeface="Malgun Gothic"/>
                <a:ea typeface="Malgun Gothic"/>
                <a:cs typeface="Malgun Gothic"/>
              </a:rPr>
              <a:t>엑솜</a:t>
            </a:r>
            <a:r>
              <a:rPr sz="1600" b="0" i="0">
                <a:solidFill>
                  <a:srgbClr val="11202B"/>
                </a:solidFill>
                <a:latin typeface="Malgun Gothic"/>
                <a:ea typeface="Malgun Gothic"/>
                <a:cs typeface="Malgun Gothic"/>
              </a:rPr>
              <a:t>)나 유전체 전체를 읽기도 한다. 범위가 넓을수록 찾을 가능성이 커지지만 </a:t>
            </a:r>
            <a:r>
              <a:rPr sz="1600" b="1" i="0">
                <a:solidFill>
                  <a:srgbClr val="11202B"/>
                </a:solidFill>
                <a:latin typeface="Malgun Gothic"/>
                <a:ea typeface="Malgun Gothic"/>
                <a:cs typeface="Malgun Gothic"/>
              </a:rPr>
              <a:t>의미를 알 수 없는 변이</a:t>
            </a:r>
            <a:r>
              <a:rPr sz="1600" b="0" i="0">
                <a:solidFill>
                  <a:srgbClr val="11202B"/>
                </a:solidFill>
                <a:latin typeface="Malgun Gothic"/>
                <a:ea typeface="Malgun Gothic"/>
                <a:cs typeface="Malgun Gothic"/>
              </a:rPr>
              <a:t>도 함께 늘어난다.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유전 정보를 읽는 기술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방법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보는 크기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놓치는 것</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핵형 분석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500만 염기쌍 이상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작은 결실, 점 변이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FISH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수십만 염기쌍, 표적 한정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지정하지 않은 부위 전부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마이크로어레이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수만 염기쌍, 양의 변화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균형 전좌, 역위, 점 변이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염기서열 분석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염기 하나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큰 구조 변화, 반복 구간</a:t>
                      </a:r>
                    </a:p>
                  </a:txBody>
                  <a:tcPr marL="73152" marR="73152" marT="27432" marB="27432">
                    <a:solidFill>
                      <a:srgbClr val="EFF4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유전 정보를 읽는 기술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어떤 검사를 선택할지는 </a:t>
            </a:r>
            <a:r>
              <a:rPr sz="1600" b="1" i="0">
                <a:solidFill>
                  <a:srgbClr val="11202B"/>
                </a:solidFill>
                <a:latin typeface="Malgun Gothic"/>
                <a:ea typeface="Malgun Gothic"/>
                <a:cs typeface="Malgun Gothic"/>
              </a:rPr>
              <a:t>무엇을 의심하는가</a:t>
            </a:r>
            <a:r>
              <a:rPr sz="1600" b="0" i="0">
                <a:solidFill>
                  <a:srgbClr val="11202B"/>
                </a:solidFill>
                <a:latin typeface="Malgun Gothic"/>
                <a:ea typeface="Malgun Gothic"/>
                <a:cs typeface="Malgun Gothic"/>
              </a:rPr>
              <a:t>가 정한다. 다발성 선천 기형과 발달 지연에서 원인을 모를 때는 범위가 넓은 마이크로어레이가 1차 검사가 된다. 특정 미세결실 증후군이 임상적으로 강하게 의심되면 FISH가 빠르다. 반복 유산에서는 균형 전좌를 보아야 하므로 </a:t>
            </a:r>
            <a:r>
              <a:rPr sz="1600" b="1" i="0">
                <a:solidFill>
                  <a:srgbClr val="11202B"/>
                </a:solidFill>
                <a:latin typeface="Malgun Gothic"/>
                <a:ea typeface="Malgun Gothic"/>
                <a:cs typeface="Malgun Gothic"/>
              </a:rPr>
              <a:t>마이크로어레이가 아니라 핵형 분석</a:t>
            </a:r>
            <a:r>
              <a:rPr sz="1600" b="0" i="0">
                <a:solidFill>
                  <a:srgbClr val="11202B"/>
                </a:solidFill>
                <a:latin typeface="Malgun Gothic"/>
                <a:ea typeface="Malgun Gothic"/>
                <a:cs typeface="Malgun Gothic"/>
              </a:rPr>
              <a:t>이 필요하다. 이 마지막 조합이 자주 출제된다. 또한 염기서열 분석에서 나오는 </a:t>
            </a:r>
            <a:r>
              <a:rPr sz="1600" b="1" i="0">
                <a:solidFill>
                  <a:srgbClr val="11202B"/>
                </a:solidFill>
                <a:latin typeface="Malgun Gothic"/>
                <a:ea typeface="Malgun Gothic"/>
                <a:cs typeface="Malgun Gothic"/>
              </a:rPr>
              <a:t>의미 불명 변이</a:t>
            </a:r>
            <a:r>
              <a:rPr sz="1600" b="0" i="0">
                <a:solidFill>
                  <a:srgbClr val="11202B"/>
                </a:solidFill>
                <a:latin typeface="Malgun Gothic"/>
                <a:ea typeface="Malgun Gothic"/>
                <a:cs typeface="Malgun Gothic"/>
              </a:rPr>
              <a:t>의 해석이 현재 임상 유전학의 가장 큰 부담이며, 변이가 발견되었다는 것과 그것이 질환의 원인이라는 것은 다른 주장이라는 점을 구분해야 한다.</a:t>
            </a:r>
          </a:p>
        </p:txBody>
      </p:sp>
      <p:sp>
        <p:nvSpPr>
          <p:cNvPr id="8" name="Rectangle 7"/>
          <p:cNvSpPr/>
          <p:nvPr/>
        </p:nvSpPr>
        <p:spPr>
          <a:xfrm>
            <a:off x="640080" y="343916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의미 불명 변이를 줄이려는 두 방향의 연구가 진행된다. 하나는 </a:t>
            </a:r>
            <a:r>
              <a:rPr sz="1600" b="1" i="0">
                <a:solidFill>
                  <a:srgbClr val="11202B"/>
                </a:solidFill>
                <a:latin typeface="Malgun Gothic"/>
                <a:ea typeface="Malgun Gothic"/>
                <a:cs typeface="Malgun Gothic"/>
              </a:rPr>
              <a:t>대규모 집단 자료</a:t>
            </a:r>
            <a:r>
              <a:rPr sz="1600" b="0" i="0">
                <a:solidFill>
                  <a:srgbClr val="11202B"/>
                </a:solidFill>
                <a:latin typeface="Malgun Gothic"/>
                <a:ea typeface="Malgun Gothic"/>
                <a:cs typeface="Malgun Gothic"/>
              </a:rPr>
              <a:t>의 축적으로, 수십만 명의 유전체에서 그 변이가 건강한 사람에게도 흔히 발견되면 병원성이 아닐 가능성이 커진다. 조상 배경이 다양한 집단의 자료가 부족한 것이 한계이며, 그 때문에 특정 집단에서 의미 불명 변이가 더 많이 보고되는 불균형이 생긴다. 다른 하나는 </a:t>
            </a:r>
            <a:r>
              <a:rPr sz="1600" b="1" i="0">
                <a:solidFill>
                  <a:srgbClr val="11202B"/>
                </a:solidFill>
                <a:latin typeface="Malgun Gothic"/>
                <a:ea typeface="Malgun Gothic"/>
                <a:cs typeface="Malgun Gothic"/>
              </a:rPr>
              <a:t>기능을 직접 측정</a:t>
            </a:r>
            <a:r>
              <a:rPr sz="1600" b="0" i="0">
                <a:solidFill>
                  <a:srgbClr val="11202B"/>
                </a:solidFill>
                <a:latin typeface="Malgun Gothic"/>
                <a:ea typeface="Malgun Gothic"/>
                <a:cs typeface="Malgun Gothic"/>
              </a:rPr>
              <a:t>하는 것으로, 한 유전자에서 가능한 모든 아미노산 치환을 미리 만들어 기능을 한꺼번에 평가해 두는 방식이다. 변이가 발견되기 전에 미리 표를 만들어 두는 접근이며 BRCA1과 몇몇 유전자에서 실제로 임상 해석에 쓰이기 시작했다. 다만 세포 수준의 기능과 사람에서의 질환 위험 사이에 거리가 있어, 실험 결과를 임상 등급으로 번역하는 기준을 세우는 일이 남아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다인자 형질과 역치 모형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키, 혈압, 혈당, 지능 같은 형질은 몇 개의 범주로 나뉘지 않고 </a:t>
            </a:r>
            <a:r>
              <a:rPr sz="1400" b="1" i="0">
                <a:solidFill>
                  <a:srgbClr val="11202B"/>
                </a:solidFill>
                <a:latin typeface="Malgun Gothic"/>
                <a:ea typeface="Malgun Gothic"/>
                <a:cs typeface="Malgun Gothic"/>
              </a:rPr>
              <a:t>연속 분포</a:t>
            </a:r>
            <a:r>
              <a:rPr sz="1400" b="0" i="0">
                <a:solidFill>
                  <a:srgbClr val="11202B"/>
                </a:solidFill>
                <a:latin typeface="Malgun Gothic"/>
                <a:ea typeface="Malgun Gothic"/>
                <a:cs typeface="Malgun Gothic"/>
              </a:rPr>
              <a:t>한다. 멘델의 규칙이 적용되지 않는 것처럼 보이지만, 실제로는 </a:t>
            </a:r>
            <a:r>
              <a:rPr sz="1400" b="1" i="0">
                <a:solidFill>
                  <a:srgbClr val="11202B"/>
                </a:solidFill>
                <a:latin typeface="Malgun Gothic"/>
                <a:ea typeface="Malgun Gothic"/>
                <a:cs typeface="Malgun Gothic"/>
              </a:rPr>
              <a:t>여러 유전자가 각각 작은 효과로 더해진 결과</a:t>
            </a:r>
            <a:r>
              <a:rPr sz="1400" b="0" i="0">
                <a:solidFill>
                  <a:srgbClr val="11202B"/>
                </a:solidFill>
                <a:latin typeface="Malgun Gothic"/>
                <a:ea typeface="Malgun Gothic"/>
                <a:cs typeface="Malgun Gothic"/>
              </a:rPr>
              <a:t>다. 관여하는 유전자가 많아질수록 분포가 연속적인 종 모양에 가까워지고, 환경 요인이 더해져 더 매끄러워진다.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역치 모형.</a:t>
            </a:r>
            <a:r>
              <a:rPr sz="1400" b="0" i="0">
                <a:solidFill>
                  <a:srgbClr val="11202B"/>
                </a:solidFill>
                <a:latin typeface="Malgun Gothic"/>
                <a:ea typeface="Malgun Gothic"/>
                <a:cs typeface="Malgun Gothic"/>
              </a:rPr>
              <a:t> 구개열, 유문협착증, 일부 선천성 심기형처럼 </a:t>
            </a:r>
            <a:r>
              <a:rPr sz="1400" b="1" i="0">
                <a:solidFill>
                  <a:srgbClr val="11202B"/>
                </a:solidFill>
                <a:latin typeface="Malgun Gothic"/>
                <a:ea typeface="Malgun Gothic"/>
                <a:cs typeface="Malgun Gothic"/>
              </a:rPr>
              <a:t>있거나 없거나</a:t>
            </a:r>
            <a:r>
              <a:rPr sz="1400" b="0" i="0">
                <a:solidFill>
                  <a:srgbClr val="11202B"/>
                </a:solidFill>
                <a:latin typeface="Malgun Gothic"/>
                <a:ea typeface="Malgun Gothic"/>
                <a:cs typeface="Malgun Gothic"/>
              </a:rPr>
              <a:t>로 나타나는 형질에도 다인자 유전이 적용된다. 바탕에는 연속적인 유전적·환경적 소인이 있고, 그 합이 일정한 역치를 넘으면 질환이 나타난다고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모형이 세 가지 관찰을 설명한다.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이환된 친척이 많을수록 위험이 올라간다.</a:t>
            </a:r>
            <a:r>
              <a:rPr sz="1400" b="0" i="0">
                <a:solidFill>
                  <a:srgbClr val="11202B"/>
                </a:solidFill>
                <a:latin typeface="Malgun Gothic"/>
                <a:ea typeface="Malgun Gothic"/>
                <a:cs typeface="Malgun Gothic"/>
              </a:rPr>
              <a:t> 그 가족이 소인 분포에서 오른쪽에 있다는 뜻이기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중증일수록 친척의 위험이 올라간다.</a:t>
            </a:r>
            <a:r>
              <a:rPr sz="1400" b="0" i="0">
                <a:solidFill>
                  <a:srgbClr val="11202B"/>
                </a:solidFill>
                <a:latin typeface="Malgun Gothic"/>
                <a:ea typeface="Malgun Gothic"/>
                <a:cs typeface="Malgun Gothic"/>
              </a:rPr>
              <a:t> 더 멀리 역치를 넘었다는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드문 성별에서 이환되었을 때 자녀의 위험이 더 높다.</a:t>
            </a:r>
            <a:r>
              <a:rPr sz="1400" b="0" i="0">
                <a:solidFill>
                  <a:srgbClr val="11202B"/>
                </a:solidFill>
                <a:latin typeface="Malgun Gothic"/>
                <a:ea typeface="Malgun Gothic"/>
                <a:cs typeface="Malgun Gothic"/>
              </a:rPr>
              <a:t> 성별에 따라 역치가 다른 경우, 역치가 높은 쪽 성별에서 발병했다면 그만큼 소인이 많다는 뜻이다. 유문협착증이 남아에 흔한데 </a:t>
            </a:r>
            <a:r>
              <a:rPr sz="1400" b="1" i="0">
                <a:solidFill>
                  <a:srgbClr val="11202B"/>
                </a:solidFill>
                <a:latin typeface="Malgun Gothic"/>
                <a:ea typeface="Malgun Gothic"/>
                <a:cs typeface="Malgun Gothic"/>
              </a:rPr>
              <a:t>여아 환자의 자녀에서 위험이 더 높은</a:t>
            </a:r>
            <a:r>
              <a:rPr sz="1400" b="0" i="0">
                <a:solidFill>
                  <a:srgbClr val="11202B"/>
                </a:solidFill>
                <a:latin typeface="Malgun Gothic"/>
                <a:ea typeface="Malgun Gothic"/>
                <a:cs typeface="Malgun Gothic"/>
              </a:rPr>
              <a:t> 것이 이 예측과 맞는다.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유전율의 정확한 의미.</a:t>
            </a:r>
            <a:r>
              <a:rPr sz="1400" b="0" i="0">
                <a:solidFill>
                  <a:srgbClr val="11202B"/>
                </a:solidFill>
                <a:latin typeface="Malgun Gothic"/>
                <a:ea typeface="Malgun Gothic"/>
                <a:cs typeface="Malgun Gothic"/>
              </a:rPr>
              <a:t> 유전율이 0.5라는 것은 "그 사람 형질의 절반이 유전 때문"이라는 뜻이 </a:t>
            </a:r>
            <a:r>
              <a:rPr sz="1400" b="1" i="0">
                <a:solidFill>
                  <a:srgbClr val="11202B"/>
                </a:solidFill>
                <a:latin typeface="Malgun Gothic"/>
                <a:ea typeface="Malgun Gothic"/>
                <a:cs typeface="Malgun Gothic"/>
              </a:rPr>
              <a:t>아니다</a:t>
            </a:r>
            <a:r>
              <a:rPr sz="1400" b="0" i="0">
                <a:solidFill>
                  <a:srgbClr val="11202B"/>
                </a:solidFill>
                <a:latin typeface="Malgun Gothic"/>
                <a:ea typeface="Malgun Gothic"/>
                <a:cs typeface="Malgun Gothic"/>
              </a:rPr>
              <a:t>. 특정 집단에서 관찰된 </a:t>
            </a:r>
            <a:r>
              <a:rPr sz="1400" b="1" i="0">
                <a:solidFill>
                  <a:srgbClr val="11202B"/>
                </a:solidFill>
                <a:latin typeface="Malgun Gothic"/>
                <a:ea typeface="Malgun Gothic"/>
                <a:cs typeface="Malgun Gothic"/>
              </a:rPr>
              <a:t>변이의 절반이 유전적 변이로 설명된다</a:t>
            </a:r>
            <a:r>
              <a:rPr sz="1400" b="0" i="0">
                <a:solidFill>
                  <a:srgbClr val="11202B"/>
                </a:solidFill>
                <a:latin typeface="Malgun Gothic"/>
                <a:ea typeface="Malgun Gothic"/>
                <a:cs typeface="Malgun Gothic"/>
              </a:rPr>
              <a:t>는 뜻이다. 집단과 환경이 달라지면 값도 달라진다. 환경이 균일한 집단에서는 남은 변이가 주로 유전적이므로 유전율이 높게 나온다. 또 유전율이 높다고 개입이 무의미한 것도 아니다. 페닐케톤뇨증은 유전적 원인이 분명하지만 식이 조절로 결과가 달라진다(M01-W03-L02에서도 같은 논점을 다루었다).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유전자와 환경은 어떻게 함께 작용하는가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"유전인가 환경인가"가 잘못 세워진 질문이라는 점은 M01-W03-L02에서 다루었다. 여기서는 둘이 </a:t>
            </a:r>
            <a:r>
              <a:rPr sz="1400" b="1" i="0">
                <a:solidFill>
                  <a:srgbClr val="11202B"/>
                </a:solidFill>
                <a:latin typeface="Malgun Gothic"/>
                <a:ea typeface="Malgun Gothic"/>
                <a:cs typeface="Malgun Gothic"/>
              </a:rPr>
              <a:t>어떤 방식으로</a:t>
            </a:r>
            <a:r>
              <a:rPr sz="1400" b="0" i="0">
                <a:solidFill>
                  <a:srgbClr val="11202B"/>
                </a:solidFill>
                <a:latin typeface="Malgun Gothic"/>
                <a:ea typeface="Malgun Gothic"/>
                <a:cs typeface="Malgun Gothic"/>
              </a:rPr>
              <a:t> 함께 작용하는지를 구체화한다. 네 가지 양상이 구분된다.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더해진다.</a:t>
            </a:r>
            <a:r>
              <a:rPr sz="1400" b="0" i="0">
                <a:solidFill>
                  <a:srgbClr val="11202B"/>
                </a:solidFill>
                <a:latin typeface="Malgun Gothic"/>
                <a:ea typeface="Malgun Gothic"/>
                <a:cs typeface="Malgun Gothic"/>
              </a:rPr>
              <a:t> 유전적 소인과 환경 요인이 각각 독립적으로 위험을 올린다. 가장 단순한 경우이며 역치 모형의 기본 가정이다.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곱해진다(유전자–환경 상호작용).</a:t>
            </a:r>
            <a:r>
              <a:rPr sz="1400" b="0" i="0">
                <a:solidFill>
                  <a:srgbClr val="11202B"/>
                </a:solidFill>
                <a:latin typeface="Malgun Gothic"/>
                <a:ea typeface="Malgun Gothic"/>
                <a:cs typeface="Malgun Gothic"/>
              </a:rPr>
              <a:t> 환경의 효과가 유전형에 따라 달라지거나, 그 반대다. 알코올 대사 효소의 변이를 가진 사람에게 음주가 미치는 영향이 그렇지 않은 사람과 크게 다른 것이 예다. 이 경우 유전형만 보거나 환경만 보면 효과가 작아 보이고, 둘을 함께 보아야 드러난다.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환경이 유전형에 따라 달라진다(유전자–환경 상관).</a:t>
            </a:r>
            <a:r>
              <a:rPr sz="1400" b="0" i="0">
                <a:solidFill>
                  <a:srgbClr val="11202B"/>
                </a:solidFill>
                <a:latin typeface="Malgun Gothic"/>
                <a:ea typeface="Malgun Gothic"/>
                <a:cs typeface="Malgun Gothic"/>
              </a:rPr>
              <a:t> 유전적 성향이 특정 환경을 선택하게 만드는 경우다. 활동적인 성향을 가진 아이가 더 활동적인 환경을 찾는 식이다. 관찰 연구에서 환경의 효과처럼 보이는 것이 실은 유전적 성향의 결과일 수 있으므로, 인과를 가릴 때 주의해야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환경이 유전자 발현을 바꾼다.</a:t>
            </a:r>
            <a:r>
              <a:rPr sz="1400" b="0" i="0">
                <a:solidFill>
                  <a:srgbClr val="11202B"/>
                </a:solidFill>
                <a:latin typeface="Malgun Gothic"/>
                <a:ea typeface="Malgun Gothic"/>
                <a:cs typeface="Malgun Gothic"/>
              </a:rPr>
              <a:t> 영양, 스트레스, 독성 물질 노출이 유전자 발현 양상을 바꾸고 그 변화가 일정 기간 유지되는 경우다. 분자 기전은 M03-W05-L01에서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인과를 가리는 어려움.</a:t>
            </a:r>
            <a:r>
              <a:rPr sz="1400" b="0" i="0">
                <a:solidFill>
                  <a:srgbClr val="11202B"/>
                </a:solidFill>
                <a:latin typeface="Malgun Gothic"/>
                <a:ea typeface="Malgun Gothic"/>
                <a:cs typeface="Malgun Gothic"/>
              </a:rPr>
              <a:t> 관찰 연구에서 어떤 환경 요인과 질환의 연관이 나와도, 그것이 인과인지 공통 원인에 의한 것인지 알기 어렵다. 유전학이 여기에 도구를 하나 제공한다. </a:t>
            </a:r>
            <a:r>
              <a:rPr sz="1400" b="1" i="0">
                <a:solidFill>
                  <a:srgbClr val="11202B"/>
                </a:solidFill>
                <a:latin typeface="Malgun Gothic"/>
                <a:ea typeface="Malgun Gothic"/>
                <a:cs typeface="Malgun Gothic"/>
              </a:rPr>
              <a:t>멘델 무작위화</a:t>
            </a:r>
            <a:r>
              <a:rPr sz="1400" b="0" i="0">
                <a:solidFill>
                  <a:srgbClr val="11202B"/>
                </a:solidFill>
                <a:latin typeface="Malgun Gothic"/>
                <a:ea typeface="Malgun Gothic"/>
                <a:cs typeface="Malgun Gothic"/>
              </a:rPr>
              <a:t>는 특정 노출 수준과 연관된 유전 변이를 도구로 삼는 방법이다. 유전형은 수정 시점에 무작위로 정해지고 이후의 생활 습관에 영향을 받지 않으므로, 역방향 인과와 교란의 상당 부분을 피할 수 있다. 이 방법으로 혈중 지질과 관상동맥질환의 인과 관계가 강하게 지지된 반면, 한때 유력했던 몇몇 연관은 인과가 아닌 것으로 밝혀졌다.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다만 가정이 필요하다. 그 변이가 노출을 통해서만 결과에 영향을 주어야 하는데, 다면발현이 있으면 가정이 깨진다. 결과를 읽을 때 이 가정이 검토되었는지를 보아야 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16   </a:t>
            </a:r>
            <a:r>
              <a:rPr sz="2400" b="1" i="0">
                <a:solidFill>
                  <a:srgbClr val="FFFFFF"/>
                </a:solidFill>
                <a:latin typeface="Malgun Gothic"/>
                <a:ea typeface="Malgun Gothic"/>
                <a:cs typeface="Malgun Gothic"/>
              </a:rPr>
              <a:t>16. 집단 유전 — Hardy–Weinberg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개체가 아니라 집단을 단위로 보면 다른 질문이 가능해진다. </a:t>
            </a:r>
            <a:r>
              <a:rPr sz="1400" b="1" i="0">
                <a:solidFill>
                  <a:srgbClr val="11202B"/>
                </a:solidFill>
                <a:latin typeface="Malgun Gothic"/>
                <a:ea typeface="Malgun Gothic"/>
                <a:cs typeface="Malgun Gothic"/>
              </a:rPr>
              <a:t>대립유전자의 빈도가 세대를 거쳐 어떻게 변하는가.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Hardy–Weinberg 평형.</a:t>
            </a:r>
            <a:r>
              <a:rPr sz="1400" b="0" i="0">
                <a:solidFill>
                  <a:srgbClr val="11202B"/>
                </a:solidFill>
                <a:latin typeface="Malgun Gothic"/>
                <a:ea typeface="Malgun Gothic"/>
                <a:cs typeface="Malgun Gothic"/>
              </a:rPr>
              <a:t> 대립유전자 빈도를 p와 q(p + q = 1)라 하면, 유전자형 빈도는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p² + 2pq + q² = 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p²는 우성 동형접합, 2pq는 이형접합, q²는 열성 동형접합의 비율이다.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성립하려면 다섯 가정이 필요하다.</a:t>
            </a:r>
            <a:r>
              <a:rPr sz="1400" b="0" i="0">
                <a:solidFill>
                  <a:srgbClr val="11202B"/>
                </a:solidFill>
                <a:latin typeface="Malgun Gothic"/>
                <a:ea typeface="Malgun Gothic"/>
                <a:cs typeface="Malgun Gothic"/>
              </a:rPr>
              <a:t> 무작위 교배, 돌연변이 없음, 이주 없음, 자연선택 없음, 집단이 충분히 큼. 현실에서 이 가정이 완전히 만족되는 경우는 없다. 그런데도 이 식이 유용한 이유는 </a:t>
            </a:r>
            <a:r>
              <a:rPr sz="1400" b="1" i="0">
                <a:solidFill>
                  <a:srgbClr val="11202B"/>
                </a:solidFill>
                <a:latin typeface="Malgun Gothic"/>
                <a:ea typeface="Malgun Gothic"/>
                <a:cs typeface="Malgun Gothic"/>
              </a:rPr>
              <a:t>기준선 역할</a:t>
            </a:r>
            <a:r>
              <a:rPr sz="1400" b="0" i="0">
                <a:solidFill>
                  <a:srgbClr val="11202B"/>
                </a:solidFill>
                <a:latin typeface="Malgun Gothic"/>
                <a:ea typeface="Malgun Gothic"/>
                <a:cs typeface="Malgun Gothic"/>
              </a:rPr>
              <a:t>을 하기 때문이다. 관찰된 빈도가 예측과 다르면 가정 가운데 무엇이 깨졌는지를 묻게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실용적 쓰임: 보인자 빈도 계산.</a:t>
            </a:r>
            <a:r>
              <a:rPr sz="1400" b="0" i="0">
                <a:solidFill>
                  <a:srgbClr val="11202B"/>
                </a:solidFill>
                <a:latin typeface="Malgun Gothic"/>
                <a:ea typeface="Malgun Gothic"/>
                <a:cs typeface="Malgun Gothic"/>
              </a:rPr>
              <a:t> 열성 질환의 발생률이 q²이므로, q는 그 제곱근이고 보인자 빈도는 2pq다. 질환이 드물면 p는 거의 1이므로 보인자 빈도는 약 2q가 된다. 예컨대 발생률이 1만 명당 1명이면 q = 0.01이고 보인자는 약 50명당 1명이다. </a:t>
            </a:r>
            <a:r>
              <a:rPr sz="1400" b="1" i="0">
                <a:solidFill>
                  <a:srgbClr val="11202B"/>
                </a:solidFill>
                <a:latin typeface="Malgun Gothic"/>
                <a:ea typeface="Malgun Gothic"/>
                <a:cs typeface="Malgun Gothic"/>
              </a:rPr>
              <a:t>드문 질환에서도 보인자는 훨씬 흔하다</a:t>
            </a:r>
            <a:r>
              <a:rPr sz="1400" b="0" i="0">
                <a:solidFill>
                  <a:srgbClr val="11202B"/>
                </a:solidFill>
                <a:latin typeface="Malgun Gothic"/>
                <a:ea typeface="Malgun Gothic"/>
                <a:cs typeface="Malgun Gothic"/>
              </a:rPr>
              <a:t>는 사실이 여기서 나오며, 보인자 선별 검사의 근거가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가정이 깨지는 방식도 정보가 된다.</a:t>
            </a:r>
            <a:r>
              <a:rPr sz="1400" b="0" i="0">
                <a:solidFill>
                  <a:srgbClr val="11202B"/>
                </a:solidFill>
                <a:latin typeface="Malgun Gothic"/>
                <a:ea typeface="Malgun Gothic"/>
                <a:cs typeface="Malgun Gothic"/>
              </a:rPr>
              <a:t> 관찰된 유전자형 빈도가 Hardy–Weinberg 예측에서 벗어나는 것은 검사 자체의 오류를 가리키기도 한다. 유전형 판정에 계통적 오류가 있으면 평형에서 벗어난 분포가 나오므로, 대규모 유전체 연구에서 평형 검정을 </a:t>
            </a:r>
            <a:r>
              <a:rPr sz="1400" b="1" i="0">
                <a:solidFill>
                  <a:srgbClr val="11202B"/>
                </a:solidFill>
                <a:latin typeface="Malgun Gothic"/>
                <a:ea typeface="Malgun Gothic"/>
                <a:cs typeface="Malgun Gothic"/>
              </a:rPr>
              <a:t>자료 품질 검사</a:t>
            </a:r>
            <a:r>
              <a:rPr sz="1400" b="0" i="0">
                <a:solidFill>
                  <a:srgbClr val="11202B"/>
                </a:solidFill>
                <a:latin typeface="Malgun Gothic"/>
                <a:ea typeface="Malgun Gothic"/>
                <a:cs typeface="Malgun Gothic"/>
              </a:rPr>
              <a:t>로 쓴다. 생물학적 현상을 보려고 만든 식이 기술적 오류를 거르는 데 쓰이는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빈도를 바꾸는 힘.</a:t>
            </a:r>
            <a:r>
              <a:rPr sz="1400" b="0" i="0">
                <a:solidFill>
                  <a:srgbClr val="11202B"/>
                </a:solidFill>
                <a:latin typeface="Malgun Gothic"/>
                <a:ea typeface="Malgun Gothic"/>
                <a:cs typeface="Malgun Gothic"/>
              </a:rPr>
              <a:t> 다섯 가정이 깨지는 방식이 곧 진화의 기전이다. 돌연변이는 새 대립유전자를 만들고, 자연선택은 생존과 번식에 유리한 것을 늘리며, 유전적 부동은 작은 집단에서 우연히 빈도를 바꾸고, 이주는 집단 사이에 대립유전자를 옮긴다.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16   </a:t>
            </a:r>
            <a:r>
              <a:rPr sz="2400" b="1" i="0">
                <a:solidFill>
                  <a:srgbClr val="FFFFFF"/>
                </a:solidFill>
                <a:latin typeface="Malgun Gothic"/>
                <a:ea typeface="Malgun Gothic"/>
                <a:cs typeface="Malgun Gothic"/>
              </a:rPr>
              <a:t>16. 집단 유전 — Hardy–Weinberg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이형접합자 이점</a:t>
            </a:r>
            <a:r>
              <a:rPr sz="1600" b="0" i="0">
                <a:solidFill>
                  <a:srgbClr val="11202B"/>
                </a:solidFill>
                <a:latin typeface="Malgun Gothic"/>
                <a:ea typeface="Malgun Gothic"/>
                <a:cs typeface="Malgun Gothic"/>
              </a:rPr>
              <a:t>은 해로운 대립유전자가 왜 높은 빈도로 유지되는지를 설명한다. 낫적혈구 대립유전자는 동형접합에서 중증 빈혈을 일으켜 강하게 선택에서 불리하지만, </a:t>
            </a:r>
            <a:r>
              <a:rPr sz="1600" b="1" i="0">
                <a:solidFill>
                  <a:srgbClr val="11202B"/>
                </a:solidFill>
                <a:latin typeface="Malgun Gothic"/>
                <a:ea typeface="Malgun Gothic"/>
                <a:cs typeface="Malgun Gothic"/>
              </a:rPr>
              <a:t>이형접합자가 말라리아에 저항성</a:t>
            </a:r>
            <a:r>
              <a:rPr sz="1600" b="0" i="0">
                <a:solidFill>
                  <a:srgbClr val="11202B"/>
                </a:solidFill>
                <a:latin typeface="Malgun Gothic"/>
                <a:ea typeface="Malgun Gothic"/>
                <a:cs typeface="Malgun Gothic"/>
              </a:rPr>
              <a:t>을 가진다. 말라리아가 유행하는 지역에서는 이형접합자의 생존 이익이 동형접합자의 손실을 상쇄해 대립유전자가 유지된다. 그래서 이 질환의 분포가 말라리아 유행 지역과 겹친다. 낭성 섬유증 대립유전자가 유럽인에서 높은 빈도로 유지되는 것도 비슷한 설명이 제안되었으나 어떤 감염에 대한 저항인지는 확정되지 않았다. 유전 질환의 빈도가 집단마다 다른 이유를 물을 때 </a:t>
            </a:r>
            <a:r>
              <a:rPr sz="1600" b="1" i="0">
                <a:solidFill>
                  <a:srgbClr val="11202B"/>
                </a:solidFill>
                <a:latin typeface="Malgun Gothic"/>
                <a:ea typeface="Malgun Gothic"/>
                <a:cs typeface="Malgun Gothic"/>
              </a:rPr>
              <a:t>창시자 효과</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이형접합자 이점</a:t>
            </a:r>
            <a:r>
              <a:rPr sz="1600" b="0" i="0">
                <a:solidFill>
                  <a:srgbClr val="11202B"/>
                </a:solidFill>
                <a:latin typeface="Malgun Gothic"/>
                <a:ea typeface="Malgun Gothic"/>
                <a:cs typeface="Malgun Gothic"/>
              </a:rPr>
              <a:t> 두 가지를 먼저 검토한다.</a:t>
            </a:r>
          </a:p>
        </p:txBody>
      </p:sp>
      <p:sp>
        <p:nvSpPr>
          <p:cNvPr id="8" name="Rectangle 7"/>
          <p:cNvSpPr/>
          <p:nvPr/>
        </p:nvSpPr>
        <p:spPr>
          <a:xfrm>
            <a:off x="640080" y="343916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다인자 형질의 위험을 수치 하나로 요약하려는 </a:t>
            </a:r>
            <a:r>
              <a:rPr sz="1600" b="1" i="0">
                <a:solidFill>
                  <a:srgbClr val="11202B"/>
                </a:solidFill>
                <a:latin typeface="Malgun Gothic"/>
                <a:ea typeface="Malgun Gothic"/>
                <a:cs typeface="Malgun Gothic"/>
              </a:rPr>
              <a:t>다유전자 위험점수</a:t>
            </a:r>
            <a:r>
              <a:rPr sz="1600" b="0" i="0">
                <a:solidFill>
                  <a:srgbClr val="11202B"/>
                </a:solidFill>
                <a:latin typeface="Malgun Gothic"/>
                <a:ea typeface="Malgun Gothic"/>
                <a:cs typeface="Malgun Gothic"/>
              </a:rPr>
              <a:t>가 빠르게 발전했다. 유전체 전체에서 수십만 개의 변이가 미치는 작은 효과를 합산해 개인의 상대 위험을 추정하는 방법이며, 관상동맥질환과 제2형 당뇨, 일부 암에서 상위 몇 퍼센트가 단일 유전자 질환에 비견될 만한 위험을 가진다는 보고가 나왔다. 그러나 세 가지 한계가 분명하다. 첫째, 대부분의 자료가 유럽계 집단에서 나와 </a:t>
            </a:r>
            <a:r>
              <a:rPr sz="1600" b="1" i="0">
                <a:solidFill>
                  <a:srgbClr val="11202B"/>
                </a:solidFill>
                <a:latin typeface="Malgun Gothic"/>
                <a:ea typeface="Malgun Gothic"/>
                <a:cs typeface="Malgun Gothic"/>
              </a:rPr>
              <a:t>다른 조상 배경에서 예측력이 크게 떨어진다</a:t>
            </a:r>
            <a:r>
              <a:rPr sz="1600" b="0" i="0">
                <a:solidFill>
                  <a:srgbClr val="11202B"/>
                </a:solidFill>
                <a:latin typeface="Malgun Gothic"/>
                <a:ea typeface="Malgun Gothic"/>
                <a:cs typeface="Malgun Gothic"/>
              </a:rPr>
              <a:t>. 둘째, 상대 위험을 알려 줄 뿐 </a:t>
            </a:r>
            <a:r>
              <a:rPr sz="1600" b="1" i="0">
                <a:solidFill>
                  <a:srgbClr val="11202B"/>
                </a:solidFill>
                <a:latin typeface="Malgun Gothic"/>
                <a:ea typeface="Malgun Gothic"/>
                <a:cs typeface="Malgun Gothic"/>
              </a:rPr>
              <a:t>무엇을 해야 하는지는 알려 주지 않는다</a:t>
            </a:r>
            <a:r>
              <a:rPr sz="1600" b="0" i="0">
                <a:solidFill>
                  <a:srgbClr val="11202B"/>
                </a:solidFill>
                <a:latin typeface="Malgun Gothic"/>
                <a:ea typeface="Malgun Gothic"/>
                <a:cs typeface="Malgun Gothic"/>
              </a:rPr>
              <a:t>. 셋째, 유전율 가운데 알려진 변이로 설명되지 않는 몫이 여전히 크다. 집단 수준의 분포를 개인의 판단으로 옮기는 일이 통계적으로 정당한가라는 질문이 이 분야의 중심에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17   </a:t>
            </a:r>
            <a:r>
              <a:rPr sz="2400" b="1" i="0">
                <a:solidFill>
                  <a:srgbClr val="FFFFFF"/>
                </a:solidFill>
                <a:latin typeface="Malgun Gothic"/>
                <a:ea typeface="Malgun Gothic"/>
                <a:cs typeface="Malgun Gothic"/>
              </a:rPr>
              <a:t>17. 가계도를 읽고 위험을 계산하기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임상에서 유전 상담은 세 단계로 진행한다.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유전 양식을 정한다.</a:t>
            </a:r>
            <a:r>
              <a:rPr sz="1400" b="0" i="0">
                <a:solidFill>
                  <a:srgbClr val="11202B"/>
                </a:solidFill>
                <a:latin typeface="Malgun Gothic"/>
                <a:ea typeface="Malgun Gothic"/>
                <a:cs typeface="Malgun Gothic"/>
              </a:rPr>
              <a:t> 6절과 9절의 단서를 가계도에 적용한다. 주의할 점이 있다. 가계도의 크기가 작으면 우연에 의해 양식이 왜곡되어 보일 수 있고, 침투도가 낮으면 세대를 건너뛴 것처럼 보이며, 새 돌연변이는 가족력 없이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가계도를 그릴 때 반드시 확인할 것들이 있다. 양쪽 집안을 최소 3대까지 포함하고, 유산과 사산, 영아 사망을 빠뜨리지 않으며, 근친 관계가 있는지 묻고, 민족적 배경을 기록한다. 마지막 항목이 필요한 이유는 집단마다 특정 변이의 빈도가 다르기 때문이며, 12절에서 본 창시자 효과와 이형접합자 이점이 그 배경이다.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위험을 계산한다.</a:t>
            </a:r>
            <a:r>
              <a:rPr sz="1400" b="0" i="0">
                <a:solidFill>
                  <a:srgbClr val="11202B"/>
                </a:solidFill>
                <a:latin typeface="Malgun Gothic"/>
                <a:ea typeface="Malgun Gothic"/>
                <a:cs typeface="Malgun Gothic"/>
              </a:rPr>
              <a:t> 양식이 정해지면 확률 계산이 가능해진다. 상염색체 열성 질환에서 이환된 자녀를 둔 부모는 모두 보인자이므로 다음 자녀의 위험은 1/4이다. 이환되지 않은 형제가 보인자일 확률은 1/2이 아니라 </a:t>
            </a:r>
            <a:r>
              <a:rPr sz="1400" b="1" i="0">
                <a:solidFill>
                  <a:srgbClr val="11202B"/>
                </a:solidFill>
                <a:latin typeface="Malgun Gothic"/>
                <a:ea typeface="Malgun Gothic"/>
                <a:cs typeface="Malgun Gothic"/>
              </a:rPr>
              <a:t>2/3</a:t>
            </a:r>
            <a:r>
              <a:rPr sz="1400" b="0" i="0">
                <a:solidFill>
                  <a:srgbClr val="11202B"/>
                </a:solidFill>
                <a:latin typeface="Malgun Gothic"/>
                <a:ea typeface="Malgun Gothic"/>
                <a:cs typeface="Malgun Gothic"/>
              </a:rPr>
              <a:t>이다. 이미 이환되지 않았다는 정보가 네 경우 가운데 하나를 배제했기 때문이다. 이렇게 </a:t>
            </a:r>
            <a:r>
              <a:rPr sz="1400" b="1" i="0">
                <a:solidFill>
                  <a:srgbClr val="11202B"/>
                </a:solidFill>
                <a:latin typeface="Malgun Gothic"/>
                <a:ea typeface="Malgun Gothic"/>
                <a:cs typeface="Malgun Gothic"/>
              </a:rPr>
              <a:t>이미 아는 정보로 조건부 확률을 갱신하는 것</a:t>
            </a:r>
            <a:r>
              <a:rPr sz="1400" b="0" i="0">
                <a:solidFill>
                  <a:srgbClr val="11202B"/>
                </a:solidFill>
                <a:latin typeface="Malgun Gothic"/>
                <a:ea typeface="Malgun Gothic"/>
                <a:cs typeface="Malgun Gothic"/>
              </a:rPr>
              <a:t>이 유전 상담 계산의 핵심이다.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경험적 위험과 계산된 위험을 구분한다.</a:t>
            </a:r>
            <a:r>
              <a:rPr sz="1400" b="0" i="0">
                <a:solidFill>
                  <a:srgbClr val="11202B"/>
                </a:solidFill>
                <a:latin typeface="Malgun Gothic"/>
                <a:ea typeface="Malgun Gothic"/>
                <a:cs typeface="Malgun Gothic"/>
              </a:rPr>
              <a:t> 단일 유전자 질환에서는 양식이 정해지면 위험을 계산할 수 있다. 그러나 다인자 질환에서는 계산이 불가능하므로, 같은 상황의 가족들에서 실제로 관찰된 빈도인 </a:t>
            </a:r>
            <a:r>
              <a:rPr sz="1400" b="1" i="0">
                <a:solidFill>
                  <a:srgbClr val="11202B"/>
                </a:solidFill>
                <a:latin typeface="Malgun Gothic"/>
                <a:ea typeface="Malgun Gothic"/>
                <a:cs typeface="Malgun Gothic"/>
              </a:rPr>
              <a:t>경험적 위험</a:t>
            </a:r>
            <a:r>
              <a:rPr sz="1400" b="0" i="0">
                <a:solidFill>
                  <a:srgbClr val="11202B"/>
                </a:solidFill>
                <a:latin typeface="Malgun Gothic"/>
                <a:ea typeface="Malgun Gothic"/>
                <a:cs typeface="Malgun Gothic"/>
              </a:rPr>
              <a:t>을 쓴다. 두 숫자의 성격이 다르다는 것을 설명해야 한다. 전자는 전달 규칙에서 연역된 값이고 후자는 관찰에서 나온 평균이므로, 후자는 그 집단과 상황에 묶여 있고 개별 가족에 그대로 적용되지 않을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정보를 전달한다.</a:t>
            </a:r>
            <a:r>
              <a:rPr sz="1400" b="0" i="0">
                <a:solidFill>
                  <a:srgbClr val="11202B"/>
                </a:solidFill>
                <a:latin typeface="Malgun Gothic"/>
                <a:ea typeface="Malgun Gothic"/>
                <a:cs typeface="Malgun Gothic"/>
              </a:rPr>
              <a:t> 숫자를 말하는 것으로 끝나지 않는다. 검사의 한계, 표현형의 변동 폭, 선택 가능한 대안을 함께 설명해야 하며, 결정은 당사자의 것이다.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17   </a:t>
            </a:r>
            <a:r>
              <a:rPr sz="2400" b="1" i="0">
                <a:solidFill>
                  <a:srgbClr val="FFFFFF"/>
                </a:solidFill>
                <a:latin typeface="Malgun Gothic"/>
                <a:ea typeface="Malgun Gothic"/>
                <a:cs typeface="Malgun Gothic"/>
              </a:rPr>
              <a:t>17. 가계도를 읽고 위험을 계산하기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조건부 확률 문제가 반복 출제된다. 핵심은 </a:t>
            </a:r>
            <a:r>
              <a:rPr sz="1600" b="1" i="0">
                <a:solidFill>
                  <a:srgbClr val="11202B"/>
                </a:solidFill>
                <a:latin typeface="Malgun Gothic"/>
                <a:ea typeface="Malgun Gothic"/>
                <a:cs typeface="Malgun Gothic"/>
              </a:rPr>
              <a:t>이미 알려진 사실이 가능한 경우의 수를 줄인다</a:t>
            </a:r>
            <a:r>
              <a:rPr sz="1600" b="0" i="0">
                <a:solidFill>
                  <a:srgbClr val="11202B"/>
                </a:solidFill>
                <a:latin typeface="Malgun Gothic"/>
                <a:ea typeface="Malgun Gothic"/>
                <a:cs typeface="Malgun Gothic"/>
              </a:rPr>
              <a:t>는 점이다. 상염색체 열성에서 보인자 부모의 자녀는 1:2:1로 정상 동형접합, 보인자, 이환자가 나오는데, 이환되지 않았다는 사실이 확인되면 네 경우 가운데 이환 한 경우가 빠져 세 경우만 남는다. 그 가운데 보인자는 둘이므로 2/3가 된다. 같은 논리로, 이환된 형제가 있는 건강한 사람이 보인자와 결혼했을 때 자녀가 이환될 확률은 2/3 × 1/2 × 1/4로 계산된다. 공식을 외우는 것이 아니라 </a:t>
            </a:r>
            <a:r>
              <a:rPr sz="1600" b="1" i="0">
                <a:solidFill>
                  <a:srgbClr val="11202B"/>
                </a:solidFill>
                <a:latin typeface="Malgun Gothic"/>
                <a:ea typeface="Malgun Gothic"/>
                <a:cs typeface="Malgun Gothic"/>
              </a:rPr>
              <a:t>가능한 경우를 모두 적고 배제되는 것을 지우는 것</a:t>
            </a:r>
            <a:r>
              <a:rPr sz="1600" b="0" i="0">
                <a:solidFill>
                  <a:srgbClr val="11202B"/>
                </a:solidFill>
                <a:latin typeface="Malgun Gothic"/>
                <a:ea typeface="Malgun Gothic"/>
                <a:cs typeface="Malgun Gothic"/>
              </a:rPr>
              <a:t>이 안전한 방법이다.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18   </a:t>
            </a:r>
            <a:r>
              <a:rPr sz="2400" b="1" i="0">
                <a:solidFill>
                  <a:srgbClr val="FFFFFF"/>
                </a:solidFill>
                <a:latin typeface="Malgun Gothic"/>
                <a:ea typeface="Malgun Gothic"/>
                <a:cs typeface="Malgun Gothic"/>
              </a:rPr>
              <a:t>18.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수업은 유전의 </a:t>
            </a:r>
            <a:r>
              <a:rPr sz="1600" b="1" i="0">
                <a:solidFill>
                  <a:srgbClr val="11202B"/>
                </a:solidFill>
                <a:latin typeface="Malgun Gothic"/>
                <a:ea typeface="Malgun Gothic"/>
                <a:cs typeface="Malgun Gothic"/>
              </a:rPr>
              <a:t>규칙과 사슬</a:t>
            </a:r>
            <a:r>
              <a:rPr sz="1600" b="0" i="0">
                <a:solidFill>
                  <a:srgbClr val="11202B"/>
                </a:solidFill>
                <a:latin typeface="Malgun Gothic"/>
                <a:ea typeface="Malgun Gothic"/>
                <a:cs typeface="Malgun Gothic"/>
              </a:rPr>
              <a:t>을 세우는 것이 목적이다. 분자 수준의 기전은 모듈 3이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DNA의 구조와 염색질 포장</a:t>
            </a:r>
            <a:r>
              <a:rPr sz="1600" b="0" i="0">
                <a:solidFill>
                  <a:srgbClr val="11202B"/>
                </a:solidFill>
                <a:latin typeface="Malgun Gothic"/>
                <a:ea typeface="Malgun Gothic"/>
                <a:cs typeface="Malgun Gothic"/>
              </a:rPr>
              <a:t>: M03-W01-L01. 복제의 기전은 M01-W06-L03과 M03-W01-L02.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DNA 손상과 복구, 복구 결함 질환</a:t>
            </a:r>
            <a:r>
              <a:rPr sz="1600" b="0" i="0">
                <a:solidFill>
                  <a:srgbClr val="11202B"/>
                </a:solidFill>
                <a:latin typeface="Malgun Gothic"/>
                <a:ea typeface="Malgun Gothic"/>
                <a:cs typeface="Malgun Gothic"/>
              </a:rPr>
              <a:t>: M03-W01-L03과 M03-W02-L01. 변이가 왜 생기고 왜 대부분 교정되는지가 여기서 설명된다.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전사와 번역의 기전</a:t>
            </a:r>
            <a:r>
              <a:rPr sz="1600" b="0" i="0">
                <a:solidFill>
                  <a:srgbClr val="11202B"/>
                </a:solidFill>
                <a:latin typeface="Malgun Gothic"/>
                <a:ea typeface="Malgun Gothic"/>
                <a:cs typeface="Malgun Gothic"/>
              </a:rPr>
              <a:t>: M01-W05-L03에서 개요를, M01-W07-L01과 M01-W07-L03에서 상세를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대체 splicing과 한 유전자 여러 산물</a:t>
            </a:r>
            <a:r>
              <a:rPr sz="1600" b="0" i="0">
                <a:solidFill>
                  <a:srgbClr val="11202B"/>
                </a:solidFill>
                <a:latin typeface="Malgun Gothic"/>
                <a:ea typeface="Malgun Gothic"/>
                <a:cs typeface="Malgun Gothic"/>
              </a:rPr>
              <a:t>: M03-W02-L03.</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유전자 발현 조절과 전사인자</a:t>
            </a:r>
            <a:r>
              <a:rPr sz="1600" b="0" i="0">
                <a:solidFill>
                  <a:srgbClr val="11202B"/>
                </a:solidFill>
                <a:latin typeface="Malgun Gothic"/>
                <a:ea typeface="Malgun Gothic"/>
                <a:cs typeface="Malgun Gothic"/>
              </a:rPr>
              <a:t>: M01-W07-L02, M03-W04-L02, M03-W04-L03.</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각인과 X 불활성화의 분자 기전</a:t>
            </a:r>
            <a:r>
              <a:rPr sz="1600" b="0" i="0">
                <a:solidFill>
                  <a:srgbClr val="11202B"/>
                </a:solidFill>
                <a:latin typeface="Malgun Gothic"/>
                <a:ea typeface="Malgun Gothic"/>
                <a:cs typeface="Malgun Gothic"/>
              </a:rPr>
              <a:t>: M03-W05-L01.</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유전체의 구성과 반복 서열</a:t>
            </a:r>
            <a:r>
              <a:rPr sz="1600" b="0" i="0">
                <a:solidFill>
                  <a:srgbClr val="11202B"/>
                </a:solidFill>
                <a:latin typeface="Malgun Gothic"/>
                <a:ea typeface="Malgun Gothic"/>
                <a:cs typeface="Malgun Gothic"/>
              </a:rPr>
              <a:t>: M01-W06-L02.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유전자 진단과 염기서열 분석</a:t>
            </a:r>
            <a:r>
              <a:rPr sz="1600" b="0" i="0">
                <a:solidFill>
                  <a:srgbClr val="11202B"/>
                </a:solidFill>
                <a:latin typeface="Malgun Gothic"/>
                <a:ea typeface="Malgun Gothic"/>
                <a:cs typeface="Malgun Gothic"/>
              </a:rPr>
              <a:t>: M03-W06-L01. 유전자 치료와 유전체 편집은 M03-W06-L02.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감수분열과 염색체 이상</a:t>
            </a:r>
            <a:r>
              <a:rPr sz="1600" b="0" i="0">
                <a:solidFill>
                  <a:srgbClr val="11202B"/>
                </a:solidFill>
                <a:latin typeface="Malgun Gothic"/>
                <a:ea typeface="Malgun Gothic"/>
                <a:cs typeface="Malgun Gothic"/>
              </a:rPr>
              <a:t>: M01-W02-L03에서 다루었다.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다인자 형질의 대사적 배경</a:t>
            </a:r>
            <a:r>
              <a:rPr sz="1600" b="0" i="0">
                <a:solidFill>
                  <a:srgbClr val="11202B"/>
                </a:solidFill>
                <a:latin typeface="Malgun Gothic"/>
                <a:ea typeface="Malgun Gothic"/>
                <a:cs typeface="Malgun Gothic"/>
              </a:rPr>
              <a:t>: M02-W13과 M02-W14에서 인슐린 저항성과 비만을 다룬다.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18   </a:t>
            </a:r>
            <a:r>
              <a:rPr sz="2400" b="1" i="0">
                <a:solidFill>
                  <a:srgbClr val="FFFFFF"/>
                </a:solidFill>
                <a:latin typeface="Malgun Gothic"/>
                <a:ea typeface="Malgun Gothic"/>
                <a:cs typeface="Malgun Gothic"/>
              </a:rPr>
              <a:t>18.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모듈 3으로 넘어갈 때 가져가야 할 것은 세 가지다. 첫째, </a:t>
            </a:r>
            <a:r>
              <a:rPr sz="1600" b="1" i="0">
                <a:solidFill>
                  <a:srgbClr val="11202B"/>
                </a:solidFill>
                <a:latin typeface="Malgun Gothic"/>
                <a:ea typeface="Malgun Gothic"/>
                <a:cs typeface="Malgun Gothic"/>
              </a:rPr>
              <a:t>유전자에서 형질까지는 여러 단계의 사슬이고 변이는 그 가운데 어느 고리든 바꿀 수 있다.</a:t>
            </a:r>
            <a:r>
              <a:rPr sz="1600" b="0" i="0">
                <a:solidFill>
                  <a:srgbClr val="11202B"/>
                </a:solidFill>
                <a:latin typeface="Malgun Gothic"/>
                <a:ea typeface="Malgun Gothic"/>
                <a:cs typeface="Malgun Gothic"/>
              </a:rPr>
              <a:t> 둘째, </a:t>
            </a:r>
            <a:r>
              <a:rPr sz="1600" b="1" i="0">
                <a:solidFill>
                  <a:srgbClr val="11202B"/>
                </a:solidFill>
                <a:latin typeface="Malgun Gothic"/>
                <a:ea typeface="Malgun Gothic"/>
                <a:cs typeface="Malgun Gothic"/>
              </a:rPr>
              <a:t>우성과 열성은 유전자의 성질이 아니라 관찰 수준과 몸의 여유에 따라 달라지는 관계다.</a:t>
            </a:r>
            <a:r>
              <a:rPr sz="1600" b="0" i="0">
                <a:solidFill>
                  <a:srgbClr val="11202B"/>
                </a:solidFill>
                <a:latin typeface="Malgun Gothic"/>
                <a:ea typeface="Malgun Gothic"/>
                <a:cs typeface="Malgun Gothic"/>
              </a:rPr>
              <a:t> 셋째, </a:t>
            </a:r>
            <a:r>
              <a:rPr sz="1600" b="1" i="0">
                <a:solidFill>
                  <a:srgbClr val="11202B"/>
                </a:solidFill>
                <a:latin typeface="Malgun Gothic"/>
                <a:ea typeface="Malgun Gothic"/>
                <a:cs typeface="Malgun Gothic"/>
              </a:rPr>
              <a:t>집단 수준의 빈도와 개인 수준의 위험은 다른 질문이며, 둘을 잇는 데 가정이 필요하다.</a:t>
            </a:r>
            <a:r>
              <a:rPr sz="1600" b="0" i="0">
                <a:solidFill>
                  <a:srgbClr val="11202B"/>
                </a:solidFill>
                <a:latin typeface="Malgun Gothic"/>
                <a:ea typeface="Malgun Gothic"/>
                <a:cs typeface="Malgun Gothic"/>
              </a:rPr>
              <a:t> 이 세 가지를 쥐고 있으면 모듈 3의 분자 기전이 왜 그렇게 설계되었는지, 그리고 임상 유전학의 판단이 어디에 근거하는지가 함께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DNA가 유전물질임을 밝힌 세 실험이 각각 무엇을 보였는지 구분하고, 하나의 실험으로 결론이 나지 않은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Griffith는 죽은 균에서 나온 무언가가 살아 있는 균의 성질을 바꾸고 그 변화가 유전된다는 형질전환 현상을 발견했으나 물질을 특정하지 못했다. Avery, MacLeod, McCarty는 추출물에서 성분을 하나씩 제거하는 설계로 DNA 분해 효소를 처리했을 때만 형질전환이 사라지는 것을 보여 물질이 DNA임을 밝혔으나 세균에 국한된 결과라는 비판을 받았다. Hershey와 Chase는 단백질에만 있는 황과 DNA에만 있는 인을 각각 표지해 바이러스에서도 세균 안으로 들어가는 것이 DNA임을 보여 일반성을 더했다. 세 실험이 순차적으로 가능성을 좁혀 간 구조다.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한 유전자 한 효소 가설이 수정되어야 하는 이유를 다섯 가지로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많은 단백질이 여러 폴리펩타이드 사슬로 이루어지므로 한 유전자 한 폴리펩타이드가 더 정확하다. 둘째, 대체 splicing으로 하나의 유전자에서 여러 단백질이 만들어진다. 셋째, 단백질을 만들지 않고 RNA 자체로 기능하는 유전자가 많다. 넷째, 하나의 유전자가 여러 형질에 영향을 주는 다면발현이 흔하다. 다섯째, 하나의 형질에 여러 유전자가 관여하는 다인자 형질이 많다.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유사분열과 감수분열을 염색체 수, 분열 횟수, 유전적 결과로 비교하고, 감수분열에서 다양성이 만들어지는 두 지점을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유사분열은 한 번 분열해 두 개의 유전적으로 동일한 2n 세포를 만든다. 감수분열은 한 번의 복제 뒤 두 번 분열해 네 개의 n 세포를 만들고 각각이 서로 다르다. 다양성은 두 지점에서 생긴다. 첫째, 제1분열에서 각 상동 염색체 쌍이 어느 쪽으로 갈지가 쌍마다 독립적으로 정해지므로 사람의 23쌍에서 약 840만 가지 조합이 나온다. 둘째, 상동 염색체가 짝을 지은 동안 교차가 일어나 구간이 교환되므로 조합의 수가 사실상 무한해진다.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멘델의 두 법칙과 각각의 세포학적 근거를 연결하고, 독립의 법칙에 붙는 단서를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분리의 법칙은 한 형질의 두 인자가 생식세포 형성에서 서로 분리된다는 것이며, 세포학적 근거는 제1감수분열에서 상동 염색체가 갈라지는 것이다. 독립의 법칙은 서로 다른 형질의 인자가 독립적으로 분배된다는 것이며, 근거는 각 상동 염색체 쌍이 서로 무관하게 배열되는 것이다. 단서는 같은 염색체 위에 가까이 있는 유전자는 함께 전달되는 경향이 있어 독립적으로 분배되지 않는다는 점이다. 멘델이 고른 형질들이 대부분 서로 다른 염색체에 있거나 충분히 멀리 떨어져 있었기에 법칙이 깔끔하게 관찰되었다.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열성 질환이 열성인 이유를 분자 수준에서 설명하고, 우성이 되는 세 가지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대부분의 열성 질환은 효소의 기능 상실인데 효소는 절반의 양으로도 충분한 경우가 많아, 이형접합자는 정상 대립유전자 하나만으로 정상 기능을 유지한다. 유전자가 약해서가 아니라 몸에 여유가 있기 때문이다. 우성이 되려면 세 가지 가운데 하나여야 한다. 반수체 부족은 절반의 양으로 충분하지 않은 경우다. 우성 음성은 변이 산물이 정상 산물의 기능까지 방해하는 경우로, 여러 사슬이 모여 작동하는 단백질에서 흔하다. 기능 획득은 변이 산물이 없던 활성을 갖거나 꺼지지 않게 되는 경우다.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낫적혈구 형질이 관찰 수준에 따라 열성이기도 하고 공동우성이기도 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임상 형질인 빈혈을 기준으로 보면 이형접합자는 증상이 거의 없으므로 열성이다. 그러나 헤모글로빈 전기영동으로 보면 이형접합자에서 정상형과 변이형 헤모글로빈이 모두 나타나므로 공동우성이다. 같은 유전자형을 가진 같은 사람인데 관찰하는 수준이 달라지면 분류가 달라지는 것이며, 우성과 열성이 유전자의 고유한 성질이 아니라 관찰 수준에 따라 달라지는 관계라는 점을 보여 준다.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X 연관 열성 유전을 가계도에서 판별하는 가장 강력한 기준을 쓰고 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아버지에서 아들로 전달되지 않는다는 것이다. 아들은 아버지에게서 Y 염색체를 받고 X는 어머니에게서만 받으므로, 아버지의 X에 있는 변이가 아들에게 갈 수 없다. 따라서 가계도에서 이환된 아버지와 이환된 아들의 직접 전달이 한 사례라도 확인되면 X 연관은 배제된다. 반대로 이환된 남성의 딸은 아버지의 유일한 X를 반드시 받으므로 모두 보인자가 된다. 이 두 조건이 함께 쓰인다.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X 불활성화가 여성 보인자의 증상에 어떤 영향을 주는지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발생 초기에 각 세포가 두 X 가운데 하나를 무작위로 불활성화하고 그 선택이 후손 세포에 유지되므로, 여성의 몸은 두 종류의 세포가 섞인 모자이크가 된다. X 연관 질환의 보인자는 정상 X가 활성인 세포가 충분히 있으면 증상이 없지만, 우연히 정상 X가 불활성화된 세포가 많아지는 편향된 불활성화가 일어나면 증상이 나타날 수 있다. 같은 변이를 가진 자매 사이에서도 증상의 유무와 정도가 다를 수 있는 이유가 이것이다.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미토콘드리아 유전과 X 연관 열성 유전이 모두 어머니를 통해 전달되는데도 가계도에서 구분되는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 DNA는 난자의 것만 전달되므로 어머니가 이환되면 아들과 딸이 모두 이환될 수 있고, 아버지가 이환되면 자녀 누구에게도 전달되지 않는다. X 연관 열성에서는 보인자 어머니의 아들 가운데 절반이 이환되지만 딸은 대개 보인자에 그쳐 증상이 없다. 따라서 모계로 전달되면서 딸도 함께 이환되면 미토콘드리아 유전을, 아들에만 증상이 집중되면 X 연관 열성을 시사한다. 미토콘드리아 질환에서 증상의 정도가 사람마다 다른 것은 세포 안 변이 DNA의 비율이 다른 이형질성 때문이다.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균형 전좌 보인자가 건강한데도 임상적으로 문제가 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균형 전좌는 두 염색체가 조각을 맞바꾸었지만 유전물질의 총량이 유지된 상태이므로 보인자 본인은 대개 정상이다. 문제는 감수분열에서 생긴다. 전좌된 염색체들이 상동 부위끼리 짝을 지으려면 복잡한 구조를 이루어야 하고, 이것이 분리될 때 일부 생식세포가 특정 구간을 중복해서 갖거나 결실한 불균형 상태가 된다. 그 결과 반복 유산이나 염색체 이상 자녀의 출산으로 드러난다. 부모가 건강한데 반복 유산이 있으면 염색체 검사를 하는 근거가 여기에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역치 모형이 설명하는 세 가지 관찰을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이환된 친척이 많을수록 위험이 올라간다. 그 가족이 소인 분포에서 역치에 가까운 쪽에 있다는 뜻이기 때문이다. 둘째, 환자의 중증도가 높을수록 친척의 위험이 올라간다. 역치를 더 멀리 넘었다는 것은 소인이 더 많다는 뜻이기 때문이다. 셋째, 성별에 따라 역치가 다른 질환에서 드문 성별의 환자가 나왔을 때 그 자녀의 위험이 더 높다. 높은 역치를 넘었다는 것은 그만큼 많은 소인을 가졌다는 뜻이고 그것이 자녀에게 전달되기 때문이다. 유문협착증이 남아에 흔한데 여아 환자의 자녀에서 위험이 더 높은 것이 이 예측과 맞는다.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Hardy–Weinberg 식의 다섯 가지 가정을 쓰고, 현실에서 만족되지 않는데도 이 식이 유용한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무작위 교배, 돌연변이 없음, 이주 없음, 자연선택 없음, 집단의 크기가 충분히 큼의 다섯 가지다. 현실에서 이 가정이 모두 만족되는 경우는 없다. 그럼에도 유용한 이유는 이 식이 기준선 역할을 하기 때문이다. 관찰된 유전자형 빈도가 예측과 어긋나면 다섯 가정 가운데 무엇이 깨졌는지를 묻게 되고, 그것이 선택이나 이주, 비무작위 교배 같은 실제로 작동하는 힘을 찾는 출발점이 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열성 질환의 발생률이 1만 명당 1명일 때 보인자 빈도를 계산하고, 이 결과가 보인자 선별에 주는 함의를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발생률이 열성 동형접합의 빈도인 q²이므로 q² = 1/10,000이고 q = 0.01이다. 보인자 빈도는 2pq이며 질환이 드물어 p가 거의 1이므로 약 2q = 0.02, 즉 50명당 1명이다. 환자는 1만 명당 1명인데 보인자는 50명당 1명으로 200배 흔하다. 드문 질환에서도 보인자는 훨씬 흔하다는 뜻이며, 이것이 보인자 선별 검사가 의미를 갖는 근거가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이형접합자 이점이 해로운 대립유전자의 높은 빈도를 설명하는 방식을 낫적혈구를 예로 서술하시오.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낫적혈구 대립유전자는 동형접합에서 중증 빈혈을 일으켜 강하게 불리하므로, 선택만 작용한다면 빈도가 매우 낮아야 한다. 그러나 이형접합자는 말라리아에 저항성을 가지므로 말라리아 유행 지역에서 생존과 번식에 유리하다. 이형접합자가 얻는 이익이 동형접합자가 입는 손실을 상쇄하면서 대립유전자가 상당한 빈도로 유지된다. 그 결과 이 질환의 지리적 분포가 말라리아 유행 지역과 겹친다. 유전 질환의 빈도가 집단마다 다를 때 창시자 효과와 함께 먼저 검토해야 하는 설명이다.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상염색체 열성 질환에서 이환되지 않은 형제가 보인자일 확률이 1/2이 아니라 2/3인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보인자 부모 둘 사이에서 자녀의 유전자형은 정상 동형접합, 보인자, 보인자, 이환 동형접합의 네 경우가 같은 확률로 나온다. 그런데 그 형제가 이환되지 않았다는 사실이 이미 확인되었으므로 이환 동형접합의 경우가 배제되고 세 경우만 남는다. 남은 셋 가운데 보인자가 둘이므로 확률은 2/3가 된다. 이미 알려진 정보가 가능한 경우의 수를 줄인다는 조건부 확률의 원리이며, 공식을 외우기보다 가능한 경우를 모두 적고 배제되는 것을 지우는 방법이 안전하다.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사람 유전체 해독에서 예상과 달랐던 사실 두 가지를 쓰고, 복잡성이 어디서 오는지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단백질 암호화 유전자의 수가 약 2만 개에 못 미쳐 해독 이전의 추정치인 10만 개 안팎보다 훨씬 적었다. 선충도 비슷한 수를 가진다는 점에서 유전자 수가 복잡성을 설명하지 못한다. 둘째, 단백질을 암호화하는 염기가 전체의 약 1.5%에 불과하고 반복 서열이 절반 이상을 차지한다. 복잡성은 유전자의 수가 아니라 대체 splicing에 의한 산물의 다양화, 번역 후 수정, 그리고 조절의 정교함에서 온다고 본다. 질환 연관 변이의 대부분이 단백질을 암호화하지 않는 조절 영역에 있다는 사실이 이를 뒷받침한다.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변이의 빈도와 효과 크기 사이에 역관계가 나타나는 이유를 설명하고, 이것이 연구 설계에 주는 함의를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효과가 큰 해로운 변이는 생존과 번식에 불리해 자연선택에 의해 빈도가 낮게 유지된다. 반면 효과가 작은 변이는 선택의 압력이 약해 집단에 흔하게 남는다. 그 결과 드문 변이는 큰 효과를, 흔한 변이는 작은 효과를 갖는 배치가 생긴다. 연구 설계가 여기에 맞춰진다. 드문 큰 효과의 변이는 소수의 가계를 깊이 분석하거나 염기서열을 읽어 찾고, 흔한 작은 효과의 변이는 수만에서 수십만 명 규모의 집단에서 통계적 연관을 찾아야 검출된다.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반복 유산 환자에서 염색체 마이크로어레이가 아니라 핵형 분석이 필요한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반복 유산의 원인으로 부모의 균형 전좌를 확인해야 하는데, 균형 전좌는 두 염색체가 조각을 맞바꾸었을 뿐 유전물질의 총량이 변하지 않은 상태다. 마이크로어레이는 복제수의 변화, 즉 양의 증감을 검출하는 방법이므로 양이 그대로인 균형 전좌와 역위를 보지 못한다. 핵형 분석은 염색체의 형태를 직접 관찰하므로 해상도는 낮지만 균형 재배열을 볼 수 있다. 무엇을 의심하는가가 검사의 선택을 정한다는 원칙의 대표적 사례다.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복제의 최종 오류율이 매우 낮은 이유를 설명하고, 변이율이 손상 발생률과 같지 않은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 중합효소 자체의 정확도는 1만 분의 1 수준이지만 여기에 효소의 교정 기능과 복제 후 불일치 수선이 더해져 최종 오류율이 10억 분의 1 수준이 된다. 세 겹의 장치가 곱해져 정확도가 만들어지므로 어느 한 겹이 빠지면 오류율이 급격히 올라가며, 불일치 수선 결함 종양의 미소부수체 불안정성이 그 예다. 변이율이 손상 발생률과 다른 이유는 손상이 하루 수만 건씩 생겨도 대부분 수선되기 때문이다. 수선되지 못한 것만 다음 복제에서 고정되므로 변이율은 사실상 수선 실패율이다.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DNA가 uracil 대신 thymine을 쓰는 이유를 손상 인식의 관점에서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Cytosine은 체온에서도 자발적으로 탈아미노화되어 uracil이 된다. 만약 DNA가 본래 uracil을 쓴다면 발견된 uracil이 원래 있던 정상 염기인지 cytosine이 손상되어 생긴 것인지 구별할 수 없다. Thymine을 쓰면 DNA에서 발견되는 uracil은 예외 없이 손상의 산물이므로 수선 기구가 주저 없이 제거할 수 있다. RNA는 수명이 짧아 손상이 축적되기 전에 교체되므로 이런 구별이 필요 없고, 그래서 uracil을 그대로 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생식세포 변이와 체세포 변이를 구분하고, 암에서 무엇이 유전되는지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생식세포에서 생긴 변이는 수정란을 거쳐 몸의 모든 세포에 존재하고 다음 세대로 전달된다. 체세포에서 생긴 변이는 그 세포와 그 후손에만 존재하고 자녀에게 전달되지 않는다. 암은 거의 전적으로 체세포 변이가 축적된 결과이므로 암 자체가 유전되는 것이 아니다. 유전되는 것은 암에 걸리기 쉬운 소인이며, 수선 경로나 종양 억제 유전자의 변이를 생식세포에서 물려받으면 체세포 변이가 축적될 때 암에 이를 확률이 올라간다.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유전자와 환경이 함께 작용하는 네 가지 양상을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더해지는 경우로 유전적 소인과 환경 요인이 각각 독립적으로 위험을 올린다. 둘째, 유전자–환경 상호작용으로 환경의 효과가 유전형에 따라 달라지며, 둘을 함께 보아야 효과가 드러나고 따로 보면 작아 보인다. 셋째, 유전자–환경 상관으로 유전적 성향이 특정 환경을 선택하게 만드는 경우이며, 환경의 효과처럼 보이는 것이 실은 유전적 성향의 결과일 수 있다. 넷째, 환경이 유전자 발현 양상을 바꾸고 그 변화가 일정 기간 유지되는 경우다.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멘델 무작위화가 인과를 가리는 데 쓰일 수 있는 이유와 그 한계를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특정 노출 수준과 연관된 유전 변이를 도구로 삼아 그 변이와 질환의 연관을 보는 방법이다. 유전형은 수정 시점에 무작위로 정해지고 이후의 생활 습관이나 질병 상태에 영향을 받지 않으므로, 관찰 연구를 괴롭히는 역방향 인과와 교란의 상당 부분을 피할 수 있다. 한계는 가정에 있다. 그 변이가 오직 해당 노출을 통해서만 결과에 영향을 주어야 하는데, 변이가 여러 형질에 영향을 주는 다면발현이 있으면 이 가정이 깨진다. 따라서 결과를 읽을 때 다면발현의 가능성이 검토되었는지를 확인해야 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M01-W04-L03  ·  유전기초 요약: DNA·유전자·유전과 변이</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Nussbaum RL, McInnes RR, Willard HF. Thompson &amp; Thompson Genetics and Genomics in Medicine. 9th ed. Elsevier; 2023.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Griffiths AJF, et al. Introduction to Genetic Analysis. 12th ed. W.H. Freeman;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Hartwell LH, et al. Genetics: From Genes to Genomes. 7th ed. McGraw Hill;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4: DNA, Chromosomes and Genomes.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Avery OT, MacLeod CM, McCarty M. Studies on the chemical nature of the substance inducing transformation of pneumococcal types. J Exp Med. 1944;79(2):137–158.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Hershey AD, Chase M. Independent functions of viral protein and nucleic acid in growth of bacteriophage. J Gen Physiol. 1952;36(1):39–56.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Lyon MF. Gene action in the X-chromosome of the mouse. Nature. 1961;190:372–373.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Torkamani A, Wineinger NE, Topol EJ. The personal and clinical utility of polygenic risk scores. Nat Rev Genet. 2018;19(9):581–590.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