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notesMaster" Target="notesMasters/notesMaster1.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Central dogma와 그 예외. 복제·전사·번역의 방향, 그리고 reverse transcriptase와 RNA 의존 RNA polymerase가 추가하는 경로를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복제분기점의 구조. Helicase가 사슬을 풀고, leading strand는 연속 합성되며, lagging strand는 primer와 Okazaki fragment로 불연속 합성된 뒤 ligase로 이어진다.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전사와 진핵 mRNA의 가공. Promoter에서의 개시, 5′ cap, intron splicing, 3′ polyadenylation을 거쳐 성숙한 mRNA가 핵공을 통해 세포질로 나가는 과정을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유전암호 표와 tRNA의 구조. 64개 codon의 배치, 세 번째 염기의 중복성, 종결 codon, 그리고 anticodon과 아미노산 결합 부위를 가진 tRNA의 L자 구조를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번역의 세 단계. Ribosome의 A·P·E 자리, aminoacyl-tRNA의 진입, peptide 결합 형성, translocation의 순환과 종결 codon에서의 release를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1세대에서 중간 밀도의 띠 하나만 나온 결과가 보존적 복제를 배제한다. 보존적 복제라면 원래의 ¹⁵N 이중나선이 그대로 남고 완전히 새로운 ¹⁴N 이중나선이 따로 만들어져 무거운 띠와 가벼운 띠가 함께 보여야 한다. 2세대에서 중간 띠와 가벼운 띠가 1:1로 나뉘어 나온 결과가 분산적 복제를 배제한다. 분산적 복제라면 모든 분자에 새 조각과 옛 조각이 균일하게 섞여 단일한 띠가 세대마다 점점 가벼워지는 양상을 보여야 하고, 두 개의 분명한 띠로 나뉘지 않는다. 두 결과 모두 반보존적 복제의 예측과 일치한다.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복제분기점에서 두 주형 사슬은 서로 반대 방향으로 놓여 있다. 한 주형에 대해서는 합성 방향이 분기점 진행 방향과 일치하므로 primer 하나로 계속 따라가며 연속 합성할 수 있다(leading strand). 다른 주형에 대해서는 합성 방향이 분기점 진행 방향과 반대이므로, 분기점이 나아가 새 주형이 노출될 때마다 노출된 구간의 가장 분기점에 가까운 쪽에 primer를 새로 만들고 분기점 반대 방향으로 짧은 조각을 합성해야 한다. 그 결과 Okazaki fragment가 생기고, primer 제거, 빈자리 채우기, DNA ligase에 의한 연결이 뒤따른다. 만약 polymerase가 3′→5′ 방향으로도 합성할 수 있거나 primer 없이 시작할 수 있었다면 두 사슬 모두 연속 합성이 가능했을 것이다.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산물의 지속성과 복제 여부가 다르기 때문이다. DNA는 세포의 영속적 정보 저장체로 모든 딸세포에 전달되므로, 한 번의 오류가 그 세포 계통 전체에 영구히 남고 유전된다. 따라서 중합효소의 기질 선택, 3′→5′ exonuclease 교정, mismatch repair의 세 단계를 투자해 오류율을 10⁻¹⁰까지 낮출 가치가 있다. RNA는 일시적이고 한 유전자에서 여러 copy가 만들어진다. 전사체 하나에 오류가 있어도 나머지 copy가 정상 단백질을 만들고, 그 오류는 다음 세대로 전달되지 않는다. 교정 기구를 추가하면 속도가 떨어지고 에너지가 더 들므로, 정확도를 10⁻⁴에서 멈추는 것이 비용 대비 합리적이다.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유전암호는 세 염기 단위로 연속해서 읽히며 codon 사이에 구분 기호가 없다. 염기 하나가 삽입되면 그 지점부터 뒤쪽의 모든 codon 경계가 한 칸 밀려 읽기 틀이 바뀌는 frameshift가 된다. 삽입 지점 이후의 아미노산 서열이 전혀 달라지고, 대개 틀이 바뀐 서열에서 곧 종결 codon이 나타나 단백질이 짧게 끊긴다. 염기 세 개가 삽입되면 codon 하나가 추가되는 것이므로 읽기 틀이 유지되고, 그 자리에 아미노산 하나가 끼어드는 데 그친다. 기능에 결정적인 부위가 아니면 단백질이 어느 정도 기능을 유지할 수 있다. 결과의 크기 차이는 삽입된 염기 수가 3의 배수인지에 달려 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주된 기전은 alternative splicing이다. 진핵 유전자는 exon과 intron이 교대로 배열되어 있고, 하나의 전사체에서 exon을 다르게 조합해 여러 mRNA를 만들 수 있다. 사람 유전자의 90% 이상이 alternative splicing을 거치므로 유전자 하나가 여러 단백질 이형을 낸다. 이 외에도 여러 전사 개시점이나 여러 polyadenylation 지점의 사용으로 서로 다른 말단을 가진 전사체가 생기고, 번역 후 단백질 분해에 의한 절단과 인산화·당 사슬 부착 같은 공유결합 변형이 같은 아미노산 서열에서 기능이 다른 여러 형태를 만든다. 즉 정보의 다양성은 유전자 개수보다 전사체와 단백질 수준의 가공에서 나온다.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선택성의 근거는 ribosome의 구조 차이다. 세균의 ribosome은 70S로 50S와 30S 소단위로 이루어지고 사람의 것은 80S로 60S와 40S로 이루어진다. rRNA 서열과 단백질 구성이 다르므로, 세균의 30S에 결합하는 aminoglycoside와 tetracycline, 50S에 결합하는 macrolide와 chloramphenicol은 사람의 세포질 ribosome에는 거의 결합하지 않는다. 부작용이 나타나는 이유는 미토콘드리아에 있다. 미토콘드리아는 endosymbiosis로 세균에서 유래했으므로 자신의 ribosome이 세균의 것에 가깝고, 이 약물들이 미토콘드리아 단백질 합성을 일부 억제한다. 에너지 요구가 크고 재생이 어려운 조직이 먼저 영향을 받아 aminoglycoside의 이독성과 chloramphenicol의 골수 억제가 나타난다.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유전정보의 흐름: 복제·전사·번역</a:t>
            </a:r>
          </a:p>
          <a:p>
            <a:r>
              <a:rPr sz="1500" b="0" i="0">
                <a:solidFill>
                  <a:srgbClr val="B9D2E8"/>
                </a:solidFill>
                <a:latin typeface="Malgun Gothic"/>
                <a:ea typeface="Malgun Gothic"/>
                <a:cs typeface="Malgun Gothic"/>
              </a:rPr>
              <a:t>The Flow of Genetic Information: Replication, Transcription and Translation</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M01-W05-L03</a:t>
            </a:r>
          </a:p>
          <a:p>
            <a:r>
              <a:rPr sz="1100" b="0" i="0">
                <a:solidFill>
                  <a:srgbClr val="9FBEDA"/>
                </a:solidFill>
                <a:latin typeface="Malgun Gothic"/>
                <a:ea typeface="Malgun Gothic"/>
                <a:cs typeface="Malgun Gothic"/>
              </a:rPr>
              <a:t>5주 3회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1.  </a:t>
            </a:r>
            <a:r>
              <a:rPr sz="1800" b="0" i="0">
                <a:solidFill>
                  <a:srgbClr val="11202B"/>
                </a:solidFill>
                <a:latin typeface="Malgun Gothic"/>
                <a:ea typeface="Malgun Gothic"/>
                <a:cs typeface="Malgun Gothic"/>
              </a:rPr>
              <a:t>DNA가 유전물질임을 보인 실험들의 논리를 설명하고 central dogma의 내용과 예외를 든다.</a:t>
            </a:r>
          </a:p>
          <a:p>
            <a:pPr>
              <a:spcAft>
                <a:spcPts val="900"/>
              </a:spcAft>
            </a:pPr>
            <a:r>
              <a:rPr sz="1800" b="1" i="0">
                <a:solidFill>
                  <a:srgbClr val="F2B705"/>
                </a:solidFill>
                <a:latin typeface="Malgun Gothic"/>
                <a:ea typeface="Malgun Gothic"/>
                <a:cs typeface="Malgun Gothic"/>
              </a:rPr>
              <a:t>2.  </a:t>
            </a:r>
            <a:r>
              <a:rPr sz="1800" b="0" i="0">
                <a:solidFill>
                  <a:srgbClr val="11202B"/>
                </a:solidFill>
                <a:latin typeface="Malgun Gothic"/>
                <a:ea typeface="Malgun Gothic"/>
                <a:cs typeface="Malgun Gothic"/>
              </a:rPr>
              <a:t>DNA 복제가 반보존적임을 보인 Meselson-Stahl 실험의 설계와 결과를 해석한다.</a:t>
            </a:r>
          </a:p>
          <a:p>
            <a:pPr>
              <a:spcAft>
                <a:spcPts val="900"/>
              </a:spcAft>
            </a:pPr>
            <a:r>
              <a:rPr sz="1800" b="1" i="0">
                <a:solidFill>
                  <a:srgbClr val="F2B705"/>
                </a:solidFill>
                <a:latin typeface="Malgun Gothic"/>
                <a:ea typeface="Malgun Gothic"/>
                <a:cs typeface="Malgun Gothic"/>
              </a:rPr>
              <a:t>3.  </a:t>
            </a:r>
            <a:r>
              <a:rPr sz="1800" b="0" i="0">
                <a:solidFill>
                  <a:srgbClr val="11202B"/>
                </a:solidFill>
                <a:latin typeface="Malgun Gothic"/>
                <a:ea typeface="Malgun Gothic"/>
                <a:cs typeface="Malgun Gothic"/>
              </a:rPr>
              <a:t>복제분기점에서 leading strand와 lagging strand가 달리 합성되는 이유를 효소의 성질로 설명한다.</a:t>
            </a:r>
          </a:p>
          <a:p>
            <a:pPr>
              <a:spcAft>
                <a:spcPts val="900"/>
              </a:spcAft>
            </a:pPr>
            <a:r>
              <a:rPr sz="1800" b="1" i="0">
                <a:solidFill>
                  <a:srgbClr val="F2B705"/>
                </a:solidFill>
                <a:latin typeface="Malgun Gothic"/>
                <a:ea typeface="Malgun Gothic"/>
                <a:cs typeface="Malgun Gothic"/>
              </a:rPr>
              <a:t>4.  </a:t>
            </a:r>
            <a:r>
              <a:rPr sz="1800" b="0" i="0">
                <a:solidFill>
                  <a:srgbClr val="11202B"/>
                </a:solidFill>
                <a:latin typeface="Malgun Gothic"/>
                <a:ea typeface="Malgun Gothic"/>
                <a:cs typeface="Malgun Gothic"/>
              </a:rPr>
              <a:t>복제의 정확도를 높이는 세 가지 장치를 구분하고 telomere 문제와 그 해결을 설명한다.</a:t>
            </a:r>
          </a:p>
          <a:p>
            <a:pPr>
              <a:spcAft>
                <a:spcPts val="900"/>
              </a:spcAft>
            </a:pPr>
            <a:r>
              <a:rPr sz="1800" b="1" i="0">
                <a:solidFill>
                  <a:srgbClr val="F2B705"/>
                </a:solidFill>
                <a:latin typeface="Malgun Gothic"/>
                <a:ea typeface="Malgun Gothic"/>
                <a:cs typeface="Malgun Gothic"/>
              </a:rPr>
              <a:t>5.  </a:t>
            </a:r>
            <a:r>
              <a:rPr sz="1800" b="0" i="0">
                <a:solidFill>
                  <a:srgbClr val="11202B"/>
                </a:solidFill>
                <a:latin typeface="Malgun Gothic"/>
                <a:ea typeface="Malgun Gothic"/>
                <a:cs typeface="Malgun Gothic"/>
              </a:rPr>
              <a:t>전사의 개시·신장·종결을 원핵과 진핵에서 비교하고 promoter의 역할을 설명한다.</a:t>
            </a:r>
          </a:p>
          <a:p>
            <a:pPr>
              <a:spcAft>
                <a:spcPts val="900"/>
              </a:spcAft>
            </a:pPr>
            <a:r>
              <a:rPr sz="1800" b="1" i="0">
                <a:solidFill>
                  <a:srgbClr val="F2B705"/>
                </a:solidFill>
                <a:latin typeface="Malgun Gothic"/>
                <a:ea typeface="Malgun Gothic"/>
                <a:cs typeface="Malgun Gothic"/>
              </a:rPr>
              <a:t>6.  </a:t>
            </a:r>
            <a:r>
              <a:rPr sz="1800" b="0" i="0">
                <a:solidFill>
                  <a:srgbClr val="11202B"/>
                </a:solidFill>
                <a:latin typeface="Malgun Gothic"/>
                <a:ea typeface="Malgun Gothic"/>
                <a:cs typeface="Malgun Gothic"/>
              </a:rPr>
              <a:t>진핵 mRNA의 세 가지 가공 과정과 그 기능을 설명한다.</a:t>
            </a:r>
          </a:p>
          <a:p>
            <a:pPr>
              <a:spcAft>
                <a:spcPts val="900"/>
              </a:spcAft>
            </a:pPr>
            <a:r>
              <a:rPr sz="1800" b="1" i="0">
                <a:solidFill>
                  <a:srgbClr val="F2B705"/>
                </a:solidFill>
                <a:latin typeface="Malgun Gothic"/>
                <a:ea typeface="Malgun Gothic"/>
                <a:cs typeface="Malgun Gothic"/>
              </a:rPr>
              <a:t>7.  </a:t>
            </a:r>
            <a:r>
              <a:rPr sz="1800" b="0" i="0">
                <a:solidFill>
                  <a:srgbClr val="11202B"/>
                </a:solidFill>
                <a:latin typeface="Malgun Gothic"/>
                <a:ea typeface="Malgun Gothic"/>
                <a:cs typeface="Malgun Gothic"/>
              </a:rPr>
              <a:t>유전암호의 성질을 다섯 가지로 정리하고 codon 표를 읽어 서열을 번역한다.</a:t>
            </a:r>
          </a:p>
          <a:p>
            <a:pPr>
              <a:spcAft>
                <a:spcPts val="900"/>
              </a:spcAft>
            </a:pPr>
            <a:r>
              <a:rPr sz="1800" b="1" i="0">
                <a:solidFill>
                  <a:srgbClr val="F2B705"/>
                </a:solidFill>
                <a:latin typeface="Malgun Gothic"/>
                <a:ea typeface="Malgun Gothic"/>
                <a:cs typeface="Malgun Gothic"/>
              </a:rPr>
              <a:t>8.  </a:t>
            </a:r>
            <a:r>
              <a:rPr sz="1800" b="0" i="0">
                <a:solidFill>
                  <a:srgbClr val="11202B"/>
                </a:solidFill>
                <a:latin typeface="Malgun Gothic"/>
                <a:ea typeface="Malgun Gothic"/>
                <a:cs typeface="Malgun Gothic"/>
              </a:rPr>
              <a:t>번역의 개시·신장·종결 단계를 설명하고 원핵과 진핵의 차이를 든다.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M01-W05-L02 생체분자와 막의 구조 — nucleotide, phosphodiester 결합, 5′→3′ 방향, 염기쌍</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M01-W05-L01 세포의 기원·진화와 세포 연구 방법 — prokaryote와 eukaryote의 유전체 차이, 전사와 번역의 공간 분리</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M01-W05-L03 생체에너지: 자유에너지와 ATP — 효소의 촉매 작용, ATP와 GTP의 가수분해</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중심원리를 정확히 진술한다</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DNA 구조가 정보 체계에 부과하는 조건</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반보존적 복제와 Meselson-Stahl 실험</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DNA 복제의 기전</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복제의 정확도와 수선</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전사: RNA polymerase와 promoter</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진핵 mRNA의 가공</a:t>
            </a:r>
          </a:p>
          <a:p>
            <a:pPr>
              <a:spcAft>
                <a:spcPts val="900"/>
              </a:spcAft>
            </a:pPr>
            <a:r>
              <a:rPr sz="2000" b="1" i="0">
                <a:solidFill>
                  <a:srgbClr val="F2B705"/>
                </a:solidFill>
                <a:latin typeface="Malgun Gothic"/>
                <a:ea typeface="Malgun Gothic"/>
                <a:cs typeface="Malgun Gothic"/>
              </a:rPr>
              <a:t>8.  </a:t>
            </a:r>
            <a:r>
              <a:rPr sz="2000" b="0" i="0">
                <a:solidFill>
                  <a:srgbClr val="11202B"/>
                </a:solidFill>
                <a:latin typeface="Malgun Gothic"/>
                <a:ea typeface="Malgun Gothic"/>
                <a:cs typeface="Malgun Gothic"/>
              </a:rPr>
              <a:t>8. 유전암호와 tRNA</a:t>
            </a:r>
          </a:p>
          <a:p>
            <a:pPr>
              <a:spcAft>
                <a:spcPts val="900"/>
              </a:spcAft>
            </a:pPr>
            <a:r>
              <a:rPr sz="2000" b="1" i="0">
                <a:solidFill>
                  <a:srgbClr val="F2B705"/>
                </a:solidFill>
                <a:latin typeface="Malgun Gothic"/>
                <a:ea typeface="Malgun Gothic"/>
                <a:cs typeface="Malgun Gothic"/>
              </a:rPr>
              <a:t>9.  </a:t>
            </a:r>
            <a:r>
              <a:rPr sz="2000" b="0" i="0">
                <a:solidFill>
                  <a:srgbClr val="11202B"/>
                </a:solidFill>
                <a:latin typeface="Malgun Gothic"/>
                <a:ea typeface="Malgun Gothic"/>
                <a:cs typeface="Malgun Gothic"/>
              </a:rPr>
              <a:t>9. 번역: ribosome의 세 단계와 원핵·진핵의 차이</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중심원리를 정확히 진술한다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DNA가 유전물질이라는 결론에 이른 세 실험(Griffith, Avery, Hershey와 Chase)은 M01-W04-L03에서 다루었다. 여기서는 그 결론 위에 세워진 정보 흐름의 체계를 다룬다.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1958년 Francis Crick이 정리한 </a:t>
            </a:r>
            <a:r>
              <a:rPr sz="1800" b="1" i="0">
                <a:solidFill>
                  <a:srgbClr val="11202B"/>
                </a:solidFill>
                <a:latin typeface="Malgun Gothic"/>
                <a:ea typeface="Malgun Gothic"/>
                <a:cs typeface="Malgun Gothic"/>
              </a:rPr>
              <a:t>중심원리(central dogma)</a:t>
            </a:r>
            <a:r>
              <a:rPr sz="1800" b="0" i="0">
                <a:solidFill>
                  <a:srgbClr val="11202B"/>
                </a:solidFill>
                <a:latin typeface="Malgun Gothic"/>
                <a:ea typeface="Malgun Gothic"/>
                <a:cs typeface="Malgun Gothic"/>
              </a:rPr>
              <a:t> 는 흔히 다음 도식으로 요약된다.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DNA --(복제)--&gt; DNA --(전사)--&gt; RNA --(번역)--&gt; 단백질</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그런데 이 도식은 Crick이 말한 것을 정확히 옮긴 것이 아니다.</a:t>
            </a:r>
            <a:r>
              <a:rPr sz="1800" b="0" i="0">
                <a:solidFill>
                  <a:srgbClr val="11202B"/>
                </a:solidFill>
                <a:latin typeface="Malgun Gothic"/>
                <a:ea typeface="Malgun Gothic"/>
                <a:cs typeface="Malgun Gothic"/>
              </a:rPr>
              <a:t> 그가 주장한 것은 화살표의 목록이 아니라 하나의 금지였다.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중심원리를 정확히 진술한다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6</a:t>
            </a:r>
          </a:p>
        </p:txBody>
      </p:sp>
      <p:sp>
        <p:nvSpPr>
          <p:cNvPr id="7" name="Rectangle 6"/>
          <p:cNvSpPr/>
          <p:nvPr/>
        </p:nvSpPr>
        <p:spPr>
          <a:xfrm>
            <a:off x="640080" y="1325880"/>
            <a:ext cx="10881360" cy="79756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0" i="0">
                <a:solidFill>
                  <a:srgbClr val="11202B"/>
                </a:solidFill>
                <a:latin typeface="Malgun Gothic"/>
                <a:ea typeface="Malgun Gothic"/>
                <a:cs typeface="Malgun Gothic"/>
              </a:rPr>
              <a:t>일단 정보가 단백질로 들어가면 거기서 다시 빠져나올 수 없다.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중심원리를 정확히 진술한다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즉 중심원리의 내용은 "정보가 이 순서로 흐른다"가 아니라 </a:t>
            </a:r>
            <a:r>
              <a:rPr sz="1400" b="1" i="0">
                <a:solidFill>
                  <a:srgbClr val="11202B"/>
                </a:solidFill>
                <a:latin typeface="Malgun Gothic"/>
                <a:ea typeface="Malgun Gothic"/>
                <a:cs typeface="Malgun Gothic"/>
              </a:rPr>
              <a:t>"단백질의 아미노산 서열이 핵산 서열로 되돌아가지 않는다"</a:t>
            </a:r>
            <a:r>
              <a:rPr sz="1400" b="0" i="0">
                <a:solidFill>
                  <a:srgbClr val="11202B"/>
                </a:solidFill>
                <a:latin typeface="Malgun Gothic"/>
                <a:ea typeface="Malgun Gothic"/>
                <a:cs typeface="Malgun Gothic"/>
              </a:rPr>
              <a:t> 이다. 이 구분이 중요한 이유는 자주 거론되는 예외들이 실제로는 예외가 아니기 때문이다.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예외처럼 보이는 것들.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Reverse transcriptase</a:t>
            </a:r>
            <a:r>
              <a:rPr sz="1400" b="0" i="0">
                <a:solidFill>
                  <a:srgbClr val="11202B"/>
                </a:solidFill>
                <a:latin typeface="Malgun Gothic"/>
                <a:ea typeface="Malgun Gothic"/>
                <a:cs typeface="Malgun Gothic"/>
              </a:rPr>
              <a:t>: RNA를 주형으로 DNA를 만든다. Retrovirus가 쓰고 telomerase도 같은 원리로 작동한다. 그러나 이것은 </a:t>
            </a:r>
            <a:r>
              <a:rPr sz="1400" b="1" i="0">
                <a:solidFill>
                  <a:srgbClr val="11202B"/>
                </a:solidFill>
                <a:latin typeface="Malgun Gothic"/>
                <a:ea typeface="Malgun Gothic"/>
                <a:cs typeface="Malgun Gothic"/>
              </a:rPr>
              <a:t>핵산에서 핵산으로</a:t>
            </a:r>
            <a:r>
              <a:rPr sz="1400" b="0" i="0">
                <a:solidFill>
                  <a:srgbClr val="11202B"/>
                </a:solidFill>
                <a:latin typeface="Malgun Gothic"/>
                <a:ea typeface="Malgun Gothic"/>
                <a:cs typeface="Malgun Gothic"/>
              </a:rPr>
              <a:t>의 흐름이므로 금지 사항을 위반하지 않는다. 발견 당시 교과서의 도식을 수정하게 만들었을 뿐이다.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RNA 의존 RNA polymerase</a:t>
            </a:r>
            <a:r>
              <a:rPr sz="1400" b="0" i="0">
                <a:solidFill>
                  <a:srgbClr val="11202B"/>
                </a:solidFill>
                <a:latin typeface="Malgun Gothic"/>
                <a:ea typeface="Malgun Gothic"/>
                <a:cs typeface="Malgun Gothic"/>
              </a:rPr>
              <a:t>: RNA에서 RNA를 만든다. 많은 RNA 바이러스가 쓴다. 역시 핵산 사이의 흐름이다.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Prion</a:t>
            </a:r>
            <a:r>
              <a:rPr sz="1400" b="0" i="0">
                <a:solidFill>
                  <a:srgbClr val="11202B"/>
                </a:solidFill>
                <a:latin typeface="Malgun Gothic"/>
                <a:ea typeface="Malgun Gothic"/>
                <a:cs typeface="Malgun Gothic"/>
              </a:rPr>
              <a:t>: 잘못 접힌 단백질이 정상 단백질을 같은 형태로 바꾸어 증식한다. 정보가 단백질에서 단백질로 전달되는 것처럼 보이지만, 전달되는 것은 </a:t>
            </a:r>
            <a:r>
              <a:rPr sz="1400" b="1" i="0">
                <a:solidFill>
                  <a:srgbClr val="11202B"/>
                </a:solidFill>
                <a:latin typeface="Malgun Gothic"/>
                <a:ea typeface="Malgun Gothic"/>
                <a:cs typeface="Malgun Gothic"/>
              </a:rPr>
              <a:t>서열이 아니라 접힘 상태</a:t>
            </a:r>
            <a:r>
              <a:rPr sz="1400" b="0" i="0">
                <a:solidFill>
                  <a:srgbClr val="11202B"/>
                </a:solidFill>
                <a:latin typeface="Malgun Gothic"/>
                <a:ea typeface="Malgun Gothic"/>
                <a:cs typeface="Malgun Gothic"/>
              </a:rPr>
              <a:t>다. 아미노산 서열 자체는 여전히 유전자에서 온다. 따라서 이것도 금지를 위반하지 않으며, 다만 </a:t>
            </a:r>
            <a:r>
              <a:rPr sz="1400" b="1" i="0">
                <a:solidFill>
                  <a:srgbClr val="11202B"/>
                </a:solidFill>
                <a:latin typeface="Malgun Gothic"/>
                <a:ea typeface="Malgun Gothic"/>
                <a:cs typeface="Malgun Gothic"/>
              </a:rPr>
              <a:t>유전되는 정보가 서열에만 있는 것은 아니라는</a:t>
            </a:r>
            <a:r>
              <a:rPr sz="1400" b="0" i="0">
                <a:solidFill>
                  <a:srgbClr val="11202B"/>
                </a:solidFill>
                <a:latin typeface="Malgun Gothic"/>
                <a:ea typeface="Malgun Gothic"/>
                <a:cs typeface="Malgun Gothic"/>
              </a:rPr>
              <a:t> 점을 보여 준다(M01-W08-L01).</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도식이 숨기는 것.</a:t>
            </a:r>
            <a:r>
              <a:rPr sz="1400" b="0" i="0">
                <a:solidFill>
                  <a:srgbClr val="11202B"/>
                </a:solidFill>
                <a:latin typeface="Malgun Gothic"/>
                <a:ea typeface="Malgun Gothic"/>
                <a:cs typeface="Malgun Gothic"/>
              </a:rPr>
              <a:t> 위 도식은 한 번 지나가는 일방통행처럼 보이지만 실제로는 그렇지 않다. 단백질이 핵산 서열을 바꾸지는 못해도 </a:t>
            </a:r>
            <a:r>
              <a:rPr sz="1400" b="1" i="0">
                <a:solidFill>
                  <a:srgbClr val="11202B"/>
                </a:solidFill>
                <a:latin typeface="Malgun Gothic"/>
                <a:ea typeface="Malgun Gothic"/>
                <a:cs typeface="Malgun Gothic"/>
              </a:rPr>
              <a:t>흐름의 모든 단계를 조절한다.</a:t>
            </a:r>
            <a:r>
              <a:rPr sz="1400" b="0" i="0">
                <a:solidFill>
                  <a:srgbClr val="11202B"/>
                </a:solidFill>
                <a:latin typeface="Malgun Gothic"/>
                <a:ea typeface="Malgun Gothic"/>
                <a:cs typeface="Malgun Gothic"/>
              </a:rPr>
              <a:t> 전사인자가 전사량을 정하고, splicing 인자가 어떤 전사체가 만들어질지 정하며, 번역 조절 인자가 어느 mRNA가 읽힐지 정한다. 정보의 방향과 </a:t>
            </a:r>
            <a:r>
              <a:rPr sz="1400" b="1" i="0">
                <a:solidFill>
                  <a:srgbClr val="11202B"/>
                </a:solidFill>
                <a:latin typeface="Malgun Gothic"/>
                <a:ea typeface="Malgun Gothic"/>
                <a:cs typeface="Malgun Gothic"/>
              </a:rPr>
              <a:t>제어의 방향은 다르다</a:t>
            </a:r>
            <a:r>
              <a:rPr sz="1400" b="0" i="0">
                <a:solidFill>
                  <a:srgbClr val="11202B"/>
                </a:solidFill>
                <a:latin typeface="Malgun Gothic"/>
                <a:ea typeface="Malgun Gothic"/>
                <a:cs typeface="Malgun Gothic"/>
              </a:rPr>
              <a:t>는 점을 분명히 해야 한다. 도식에 되먹임 화살표를 그려 넣는다면 그것은 정보가 아니라 제어의 흐름이다.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중심원리를 정확히 진술한다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8</a:t>
            </a:r>
          </a:p>
        </p:txBody>
      </p:sp>
      <p:pic>
        <p:nvPicPr>
          <p:cNvPr id="7" name="Picture 6" descr="fig-central-dogma.slide.png"/>
          <p:cNvPicPr>
            <a:picLocks noChangeAspect="1"/>
          </p:cNvPicPr>
          <p:nvPr/>
        </p:nvPicPr>
        <p:blipFill>
          <a:blip r:embed="rId2"/>
          <a:stretch>
            <a:fillRect/>
          </a:stretch>
        </p:blipFill>
        <p:spPr>
          <a:xfrm>
            <a:off x="792327" y="1325880"/>
            <a:ext cx="10607040" cy="4194602"/>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Central dogma와 그 예외. 복제·전사·번역의 방향, 그리고 reverse transcriptase와 RNA 의존 RNA polymerase가 추가하는 경로를 보인다.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DNA 구조가 정보 체계에 부과하는 조건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복제와 전사의 기전은 모두 DNA 구조에서 따라 나온다. 구조의 네 가지 특징이 이후의 모든 기전을 제약한다.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1. 이중나선이고 두 가닥이 상보적이다.</a:t>
            </a:r>
            <a:r>
              <a:rPr sz="1400" b="0" i="0">
                <a:solidFill>
                  <a:srgbClr val="11202B"/>
                </a:solidFill>
                <a:latin typeface="Malgun Gothic"/>
                <a:ea typeface="Malgun Gothic"/>
                <a:cs typeface="Malgun Gothic"/>
              </a:rPr>
              <a:t> A는 T와, G는 C와 짝을 짓는다. 한 가닥의 서열을 알면 다른 가닥이 정해지므로, </a:t>
            </a:r>
            <a:r>
              <a:rPr sz="1400" b="1" i="0">
                <a:solidFill>
                  <a:srgbClr val="11202B"/>
                </a:solidFill>
                <a:latin typeface="Malgun Gothic"/>
                <a:ea typeface="Malgun Gothic"/>
                <a:cs typeface="Malgun Gothic"/>
              </a:rPr>
              <a:t>정보가 두 벌로 들어 있다</a:t>
            </a:r>
            <a:r>
              <a:rPr sz="1400" b="0" i="0">
                <a:solidFill>
                  <a:srgbClr val="11202B"/>
                </a:solidFill>
                <a:latin typeface="Malgun Gothic"/>
                <a:ea typeface="Malgun Gothic"/>
                <a:cs typeface="Malgun Gothic"/>
              </a:rPr>
              <a:t>. 이것이 복제의 원리이자 손상 수선의 근거다. 한 가닥이 망가져도 다른 가닥을 주형으로 복원할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2. 두 가닥이 역평행하다.</a:t>
            </a:r>
            <a:r>
              <a:rPr sz="1400" b="0" i="0">
                <a:solidFill>
                  <a:srgbClr val="11202B"/>
                </a:solidFill>
                <a:latin typeface="Malgun Gothic"/>
                <a:ea typeface="Malgun Gothic"/>
                <a:cs typeface="Malgun Gothic"/>
              </a:rPr>
              <a:t> 한 가닥이 5′에서 3′ 방향일 때 다른 가닥은 3′에서 5′ 방향이다. 그런데 모든 핵산 중합효소는 </a:t>
            </a:r>
            <a:r>
              <a:rPr sz="1400" b="1" i="0">
                <a:solidFill>
                  <a:srgbClr val="11202B"/>
                </a:solidFill>
                <a:latin typeface="Malgun Gothic"/>
                <a:ea typeface="Malgun Gothic"/>
                <a:cs typeface="Malgun Gothic"/>
              </a:rPr>
              <a:t>5′에서 3′ 방향으로만</a:t>
            </a:r>
            <a:r>
              <a:rPr sz="1400" b="0" i="0">
                <a:solidFill>
                  <a:srgbClr val="11202B"/>
                </a:solidFill>
                <a:latin typeface="Malgun Gothic"/>
                <a:ea typeface="Malgun Gothic"/>
                <a:cs typeface="Malgun Gothic"/>
              </a:rPr>
              <a:t> 사슬을 늘릴 수 있다. 두 사실이 충돌하면서 복제에 구조적 문제가 생기고, 그 해결책이 3절의 leading strand와 lagging strand다. 역평행이 불편을 만들고 세포가 복잡한 장치로 그 불편을 감수하는 것이다.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 홈의 폭이 다르다.</a:t>
            </a:r>
            <a:r>
              <a:rPr sz="1400" b="0" i="0">
                <a:solidFill>
                  <a:srgbClr val="11202B"/>
                </a:solidFill>
                <a:latin typeface="Malgun Gothic"/>
                <a:ea typeface="Malgun Gothic"/>
                <a:cs typeface="Malgun Gothic"/>
              </a:rPr>
              <a:t> 나선이 감기면서 큰 홈과 작은 홈이 생긴다. </a:t>
            </a:r>
            <a:r>
              <a:rPr sz="1400" b="1" i="0">
                <a:solidFill>
                  <a:srgbClr val="11202B"/>
                </a:solidFill>
                <a:latin typeface="Malgun Gothic"/>
                <a:ea typeface="Malgun Gothic"/>
                <a:cs typeface="Malgun Gothic"/>
              </a:rPr>
              <a:t>큰 홈에서는 염기쌍마다 노출되는 화학적 무늬가 서로 달라</a:t>
            </a:r>
            <a:r>
              <a:rPr sz="1400" b="0" i="0">
                <a:solidFill>
                  <a:srgbClr val="11202B"/>
                </a:solidFill>
                <a:latin typeface="Malgun Gothic"/>
                <a:ea typeface="Malgun Gothic"/>
                <a:cs typeface="Malgun Gothic"/>
              </a:rPr>
              <a:t> 나선을 풀지 않고도 서열을 읽을 수 있다. 전사인자가 DNA에 결합해 특정 서열을 인식하는 일이 가능한 이유이며, 작은 홈은 정보가 덜 구별되어 서열 특이적 인식에 덜 쓰인다.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4. 당-인산 골격이 바깥에, 염기가 안쪽에 있다.</a:t>
            </a:r>
            <a:r>
              <a:rPr sz="1400" b="0" i="0">
                <a:solidFill>
                  <a:srgbClr val="11202B"/>
                </a:solidFill>
                <a:latin typeface="Malgun Gothic"/>
                <a:ea typeface="Malgun Gothic"/>
                <a:cs typeface="Malgun Gothic"/>
              </a:rPr>
              <a:t> 음전하를 띤 골격이 물 쪽을 향하고 소수성 염기가 안으로 쌓인다. 골격의 음전하는 DNA가 양전하 단백질과 결합하는 근거가 되고(히스톤), 염기 사이의 쌓임 상호작용이 이중나선 안정성의 상당 부분을 담당한다. 수소결합만으로 안정한 것이 아니라는 점이 중요하다.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DNA 구조가 정보 체계에 부과하는 조건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GC 함량이 안정성을 정한다.</a:t>
            </a:r>
            <a:r>
              <a:rPr sz="2000" b="0" i="0">
                <a:solidFill>
                  <a:srgbClr val="11202B"/>
                </a:solidFill>
                <a:latin typeface="Malgun Gothic"/>
                <a:ea typeface="Malgun Gothic"/>
                <a:cs typeface="Malgun Gothic"/>
              </a:rPr>
              <a:t> A-T는 수소결합 두 개, G-C는 세 개다. 따라서 GC가 많은 구간일수록 풀기 어렵다. 복제와 전사가 시작되는 자리에 AT가 풍부한 서열이 흔한 것, PCR에서 GC 함량에 따라 조건을 바꾸는 것이 모두 여기서 나온다.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DNA 구조가 정보 체계에 부과하는 조건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11</a:t>
            </a:r>
          </a:p>
        </p:txBody>
      </p:sp>
      <p:sp>
        <p:nvSpPr>
          <p:cNvPr id="7" name="Rectangle 6"/>
          <p:cNvSpPr/>
          <p:nvPr/>
        </p:nvSpPr>
        <p:spPr>
          <a:xfrm>
            <a:off x="640080" y="1325880"/>
            <a:ext cx="10881360" cy="2270759"/>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DNA와 RNA의 차이를 묻는 문제에서 세 가지를 모두 짚어야 한다. 당(deoxyribose와 ribose), 염기(thymine과 uracil), 가닥 수(이중과 단일)다. 그리고 </a:t>
            </a:r>
            <a:r>
              <a:rPr sz="1600" b="1" i="0">
                <a:solidFill>
                  <a:srgbClr val="11202B"/>
                </a:solidFill>
                <a:latin typeface="Malgun Gothic"/>
                <a:ea typeface="Malgun Gothic"/>
                <a:cs typeface="Malgun Gothic"/>
              </a:rPr>
              <a:t>왜 그런 선택이 되었는지</a:t>
            </a:r>
            <a:r>
              <a:rPr sz="1600" b="0" i="0">
                <a:solidFill>
                  <a:srgbClr val="11202B"/>
                </a:solidFill>
                <a:latin typeface="Malgun Gothic"/>
                <a:ea typeface="Malgun Gothic"/>
                <a:cs typeface="Malgun Gothic"/>
              </a:rPr>
              <a:t>가 더 자주 묻힌다. RNA의 2′ hydroxyl기는 인접한 결합을 공격해 가수분해를 일으키므로 RNA가 덜 안정하고, 장기 저장에는 DNA가 적합하다. 동시에 그 반응성 때문에 RNA가 촉매로 작동할 수 있다. Thymine을 쓰는 이유는 cytosine이 탈아미노화되면 uracil이 되므로, DNA에서 발견된 uracil을 무조건 손상으로 판정해 제거하기 위해서다(M01-W04-L03). 수명이 짧은 RNA에는 이 구별이 필요 없다.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반보존적 복제와 Meselson-Stahl 실험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Watson과 Crick이 1953년 이중나선 구조를 제시하면서 복제 방식도 예측했다. 두 사슬이 상보적이므로, 사슬을 떼어 각각을 주형으로 쓰면 원래와 같은 두 분자가 만들어진다. 이것을 </a:t>
            </a:r>
            <a:r>
              <a:rPr sz="1600" b="1" i="0">
                <a:solidFill>
                  <a:srgbClr val="11202B"/>
                </a:solidFill>
                <a:latin typeface="Malgun Gothic"/>
                <a:ea typeface="Malgun Gothic"/>
                <a:cs typeface="Malgun Gothic"/>
              </a:rPr>
              <a:t>반보존적 복제(semiconservative replication)</a:t>
            </a:r>
            <a:r>
              <a:rPr sz="1600" b="0" i="0">
                <a:solidFill>
                  <a:srgbClr val="11202B"/>
                </a:solidFill>
                <a:latin typeface="Malgun Gothic"/>
                <a:ea typeface="Malgun Gothic"/>
                <a:cs typeface="Malgun Gothic"/>
              </a:rPr>
              <a:t>라 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경쟁 가설이 둘 있었다. </a:t>
            </a:r>
            <a:r>
              <a:rPr sz="1600" b="1" i="0">
                <a:solidFill>
                  <a:srgbClr val="11202B"/>
                </a:solidFill>
                <a:latin typeface="Malgun Gothic"/>
                <a:ea typeface="Malgun Gothic"/>
                <a:cs typeface="Malgun Gothic"/>
              </a:rPr>
              <a:t>보존적 복제</a:t>
            </a:r>
            <a:r>
              <a:rPr sz="1600" b="0" i="0">
                <a:solidFill>
                  <a:srgbClr val="11202B"/>
                </a:solidFill>
                <a:latin typeface="Malgun Gothic"/>
                <a:ea typeface="Malgun Gothic"/>
                <a:cs typeface="Malgun Gothic"/>
              </a:rPr>
              <a:t>는 원래 두 사슬이 함께 남고 완전히 새로운 두 사슬이 따로 만들어진다는 것이고, </a:t>
            </a:r>
            <a:r>
              <a:rPr sz="1600" b="1" i="0">
                <a:solidFill>
                  <a:srgbClr val="11202B"/>
                </a:solidFill>
                <a:latin typeface="Malgun Gothic"/>
                <a:ea typeface="Malgun Gothic"/>
                <a:cs typeface="Malgun Gothic"/>
              </a:rPr>
              <a:t>분산적 복제</a:t>
            </a:r>
            <a:r>
              <a:rPr sz="1600" b="0" i="0">
                <a:solidFill>
                  <a:srgbClr val="11202B"/>
                </a:solidFill>
                <a:latin typeface="Malgun Gothic"/>
                <a:ea typeface="Malgun Gothic"/>
                <a:cs typeface="Malgun Gothic"/>
              </a:rPr>
              <a:t>는 새 DNA가 원래 조각과 새 조각이 섞여 있다는 것이다.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Matthew Meselson과 Franklin Stahl(1958)이 세 가설을 구별했다. 설계가 명료하다.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1. *E. coli*를 무거운 질소 동위원소 ¹⁵N이 든 배지에서 여러 세대 키워 DNA 전체를 ¹⁵N으로 표지한다. 2. 이 세균을 보통 ¹⁴N 배지로 옮기고 한 세대, 두 세대 뒤의 DNA를 각각 뽑는다. 3. CsCl 밀도구배 평형 원심분리로 DNA를 밀도에 따라 분리한다.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결과는 다음과 같았다.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반보존적 복제와 Meselson-Stahl 실험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13</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2212848"/>
                <a:gridCol w="2212848"/>
                <a:gridCol w="2212848"/>
                <a:gridCol w="2212848"/>
                <a:gridCol w="2212848"/>
              </a:tblGrid>
              <a:tr h="365760">
                <a:tc>
                  <a:txBody>
                    <a:bodyPr/>
                    <a:lstStyle/>
                    <a:p>
                      <a:r>
                        <a:rPr sz="1200" b="1" i="0">
                          <a:solidFill>
                            <a:srgbClr val="FFFFFF"/>
                          </a:solidFill>
                          <a:latin typeface="Malgun Gothic"/>
                          <a:ea typeface="Malgun Gothic"/>
                          <a:cs typeface="Malgun Gothic"/>
                        </a:rPr>
                        <a:t>세대</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관찰된 띠</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반보존적 예측</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보존적 예측</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분산적 예측</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0세대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무거운 띠 1개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일치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일치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일치</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1세대</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중간 밀도 띠 1개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일치</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무거운 띠 + 가벼운 띠</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중간 띠</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2세대</a:t>
                      </a:r>
                    </a:p>
                  </a:txBody>
                  <a:tcPr marL="73152" marR="73152" marT="27432" marB="27432">
                    <a:solidFill>
                      <a:srgbClr val="FFFFFF"/>
                    </a:solidFill>
                  </a:tcPr>
                </a:tc>
                <a:tc>
                  <a:txBody>
                    <a:bodyPr/>
                    <a:lstStyle/>
                    <a:p>
                      <a:r>
                        <a:rPr sz="1200" b="1" i="0">
                          <a:solidFill>
                            <a:srgbClr val="11202B"/>
                          </a:solidFill>
                          <a:latin typeface="Malgun Gothic"/>
                          <a:ea typeface="Malgun Gothic"/>
                          <a:cs typeface="Malgun Gothic"/>
                        </a:rPr>
                        <a:t>중간 띠 + 가벼운 띠, 1:1</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일치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무거운 1 : 가벼운 3</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중간보다 가벼운 띠 1개</a:t>
                      </a:r>
                    </a:p>
                  </a:txBody>
                  <a:tcPr marL="73152" marR="73152" marT="27432" marB="27432">
                    <a:solidFill>
                      <a:srgbClr val="FFFFFF"/>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반보존적 복제와 Meselson-Stahl 실험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1세대에서 중간 밀도 띠만 나온 것이 </a:t>
            </a:r>
            <a:r>
              <a:rPr sz="2000" b="1" i="0">
                <a:solidFill>
                  <a:srgbClr val="11202B"/>
                </a:solidFill>
                <a:latin typeface="Malgun Gothic"/>
                <a:ea typeface="Malgun Gothic"/>
                <a:cs typeface="Malgun Gothic"/>
              </a:rPr>
              <a:t>보존적 복제를 배제</a:t>
            </a:r>
            <a:r>
              <a:rPr sz="2000" b="0" i="0">
                <a:solidFill>
                  <a:srgbClr val="11202B"/>
                </a:solidFill>
                <a:latin typeface="Malgun Gothic"/>
                <a:ea typeface="Malgun Gothic"/>
                <a:cs typeface="Malgun Gothic"/>
              </a:rPr>
              <a:t>했다. 2세대에서 중간 띠와 가벼운 띠가 같은 양으로 나뉘어 나온 것이 </a:t>
            </a:r>
            <a:r>
              <a:rPr sz="2000" b="1" i="0">
                <a:solidFill>
                  <a:srgbClr val="11202B"/>
                </a:solidFill>
                <a:latin typeface="Malgun Gothic"/>
                <a:ea typeface="Malgun Gothic"/>
                <a:cs typeface="Malgun Gothic"/>
              </a:rPr>
              <a:t>분산적 복제를 배제</a:t>
            </a:r>
            <a:r>
              <a:rPr sz="2000" b="0" i="0">
                <a:solidFill>
                  <a:srgbClr val="11202B"/>
                </a:solidFill>
                <a:latin typeface="Malgun Gothic"/>
                <a:ea typeface="Malgun Gothic"/>
                <a:cs typeface="Malgun Gothic"/>
              </a:rPr>
              <a:t>했다. 분산적이라면 모든 분자가 균일하게 가벼워져 하나의 띠로 나와야 한다.</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이 실험은 세포분획 기법(밀도구배 평형 원심분리)이 어떻게 분자 수준의 질문에 답하는지를 보여주는 사례이기도 하다.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DNA 복제의 기전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복제는 </a:t>
            </a:r>
            <a:r>
              <a:rPr sz="1400" b="1" i="0">
                <a:solidFill>
                  <a:srgbClr val="11202B"/>
                </a:solidFill>
                <a:latin typeface="Malgun Gothic"/>
                <a:ea typeface="Malgun Gothic"/>
                <a:cs typeface="Malgun Gothic"/>
              </a:rPr>
              <a:t>replication origin</a:t>
            </a:r>
            <a:r>
              <a:rPr sz="1400" b="0" i="0">
                <a:solidFill>
                  <a:srgbClr val="11202B"/>
                </a:solidFill>
                <a:latin typeface="Malgun Gothic"/>
                <a:ea typeface="Malgun Gothic"/>
                <a:cs typeface="Malgun Gothic"/>
              </a:rPr>
              <a:t>에서 시작한다. *E. coli*는 환상 유전체에 origin이 하나(oriC)지만, 사람의 염색체에는 수만 개가 있어 동시에 여러 지점에서 시작한다. 사람의 유전체 3,200 Mb를 하나의 origin으로 복제한다면 수 주가 걸리므로, 다중 origin이 S기를 몇 시간으로 줄인다.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Origin에서 두 방향으로 </a:t>
            </a:r>
            <a:r>
              <a:rPr sz="1400" b="1" i="0">
                <a:solidFill>
                  <a:srgbClr val="11202B"/>
                </a:solidFill>
                <a:latin typeface="Malgun Gothic"/>
                <a:ea typeface="Malgun Gothic"/>
                <a:cs typeface="Malgun Gothic"/>
              </a:rPr>
              <a:t>복제분기점(replication fork)</a:t>
            </a:r>
            <a:r>
              <a:rPr sz="1400" b="0" i="0">
                <a:solidFill>
                  <a:srgbClr val="11202B"/>
                </a:solidFill>
                <a:latin typeface="Malgun Gothic"/>
                <a:ea typeface="Malgun Gothic"/>
                <a:cs typeface="Malgun Gothic"/>
              </a:rPr>
              <a:t>이 진행한다. 분기점에서 일어나는 일을 순서대로 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Helicase</a:t>
            </a:r>
            <a:r>
              <a:rPr sz="1400" b="0" i="0">
                <a:solidFill>
                  <a:srgbClr val="11202B"/>
                </a:solidFill>
                <a:latin typeface="Malgun Gothic"/>
                <a:ea typeface="Malgun Gothic"/>
                <a:cs typeface="Malgun Gothic"/>
              </a:rPr>
              <a:t>가 ATP를 써서 두 사슬을 떼어낸다. *E. coli*는 DnaB, 사람은 MCM 복합체다.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Single-strand binding protein</a:t>
            </a:r>
            <a:r>
              <a:rPr sz="1400" b="0" i="0">
                <a:solidFill>
                  <a:srgbClr val="11202B"/>
                </a:solidFill>
                <a:latin typeface="Malgun Gothic"/>
                <a:ea typeface="Malgun Gothic"/>
                <a:cs typeface="Malgun Gothic"/>
              </a:rPr>
              <a:t>이 떨어진 사슬에 붙어 다시 짝지어지는 것을 막는다.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Topoisomerase</a:t>
            </a:r>
            <a:r>
              <a:rPr sz="1400" b="0" i="0">
                <a:solidFill>
                  <a:srgbClr val="11202B"/>
                </a:solidFill>
                <a:latin typeface="Malgun Gothic"/>
                <a:ea typeface="Malgun Gothic"/>
                <a:cs typeface="Malgun Gothic"/>
              </a:rPr>
              <a:t>가 사슬이 풀릴 때 앞쪽에 생기는 꼬임(supercoil)을 끊고 다시 이어 해소한다.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Primase</a:t>
            </a:r>
            <a:r>
              <a:rPr sz="1400" b="0" i="0">
                <a:solidFill>
                  <a:srgbClr val="11202B"/>
                </a:solidFill>
                <a:latin typeface="Malgun Gothic"/>
                <a:ea typeface="Malgun Gothic"/>
                <a:cs typeface="Malgun Gothic"/>
              </a:rPr>
              <a:t>가 짧은 RNA primer를 만든다.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DNA polymerase</a:t>
            </a:r>
            <a:r>
              <a:rPr sz="1400" b="0" i="0">
                <a:solidFill>
                  <a:srgbClr val="11202B"/>
                </a:solidFill>
                <a:latin typeface="Malgun Gothic"/>
                <a:ea typeface="Malgun Gothic"/>
                <a:cs typeface="Malgun Gothic"/>
              </a:rPr>
              <a:t>가 primer의 3′ 말단에 nucleotide를 붙여 사슬을 늘린다.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여기서 중요한 제약이 두 가지 있다. 첫째, </a:t>
            </a:r>
            <a:r>
              <a:rPr sz="1400" b="1" i="0">
                <a:solidFill>
                  <a:srgbClr val="11202B"/>
                </a:solidFill>
                <a:latin typeface="Malgun Gothic"/>
                <a:ea typeface="Malgun Gothic"/>
                <a:cs typeface="Malgun Gothic"/>
              </a:rPr>
              <a:t>모든 DNA polymerase는 5′→3′ 방향으로만 합성한다.</a:t>
            </a:r>
            <a:r>
              <a:rPr sz="1400" b="0" i="0">
                <a:solidFill>
                  <a:srgbClr val="11202B"/>
                </a:solidFill>
                <a:latin typeface="Malgun Gothic"/>
                <a:ea typeface="Malgun Gothic"/>
                <a:cs typeface="Malgun Gothic"/>
              </a:rPr>
              <a:t> 둘째, </a:t>
            </a:r>
            <a:r>
              <a:rPr sz="1400" b="1" i="0">
                <a:solidFill>
                  <a:srgbClr val="11202B"/>
                </a:solidFill>
                <a:latin typeface="Malgun Gothic"/>
                <a:ea typeface="Malgun Gothic"/>
                <a:cs typeface="Malgun Gothic"/>
              </a:rPr>
              <a:t>primer 없이 사슬을 새로 시작할 수 없다.</a:t>
            </a:r>
            <a:r>
              <a:rPr sz="1400" b="0" i="0">
                <a:solidFill>
                  <a:srgbClr val="11202B"/>
                </a:solidFill>
                <a:latin typeface="Malgun Gothic"/>
                <a:ea typeface="Malgun Gothic"/>
                <a:cs typeface="Malgun Gothic"/>
              </a:rPr>
              <a:t> 두 사슬은 서로 반대 방향이므로 이 제약 때문에 두 사슬의 합성 방식이 달라진다.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Leading strand</a:t>
            </a:r>
            <a:r>
              <a:rPr sz="1400" b="0" i="0">
                <a:solidFill>
                  <a:srgbClr val="11202B"/>
                </a:solidFill>
                <a:latin typeface="Malgun Gothic"/>
                <a:ea typeface="Malgun Gothic"/>
                <a:cs typeface="Malgun Gothic"/>
              </a:rPr>
              <a:t>: 분기점이 진행하는 방향과 합성 방향이 같다. primer 하나로 연속해서 합성한다.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Lagging strand</a:t>
            </a:r>
            <a:r>
              <a:rPr sz="1400" b="0" i="0">
                <a:solidFill>
                  <a:srgbClr val="11202B"/>
                </a:solidFill>
                <a:latin typeface="Malgun Gothic"/>
                <a:ea typeface="Malgun Gothic"/>
                <a:cs typeface="Malgun Gothic"/>
              </a:rPr>
              <a:t>: 분기점 진행 방향과 합성 방향이 반대다. 분기점이 나아가 주형이 노출될 때마다 primer를 새로 만들고 짧은 조각을 거꾸로 합성한다. 이 조각을 </a:t>
            </a:r>
            <a:r>
              <a:rPr sz="1400" b="1" i="0">
                <a:solidFill>
                  <a:srgbClr val="11202B"/>
                </a:solidFill>
                <a:latin typeface="Malgun Gothic"/>
                <a:ea typeface="Malgun Gothic"/>
                <a:cs typeface="Malgun Gothic"/>
              </a:rPr>
              <a:t>Okazaki fragment</a:t>
            </a:r>
            <a:r>
              <a:rPr sz="1400" b="0" i="0">
                <a:solidFill>
                  <a:srgbClr val="11202B"/>
                </a:solidFill>
                <a:latin typeface="Malgun Gothic"/>
                <a:ea typeface="Malgun Gothic"/>
                <a:cs typeface="Malgun Gothic"/>
              </a:rPr>
              <a:t>라 하며 세균에서 1,000~2,000 nucleotide, 진핵에서 100~200 nucleotide다.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DNA 복제의 기전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Lagging strand를 마무리하려면 세 단계가 더 필요하다. RNA primer를 제거하고(RNase H와 5′→3′ exonuclease 활성), 생긴 빈자리를 DNA polymerase가 채우고, </a:t>
            </a:r>
            <a:r>
              <a:rPr sz="2000" b="1" i="0">
                <a:solidFill>
                  <a:srgbClr val="11202B"/>
                </a:solidFill>
                <a:latin typeface="Malgun Gothic"/>
                <a:ea typeface="Malgun Gothic"/>
                <a:cs typeface="Malgun Gothic"/>
              </a:rPr>
              <a:t>DNA ligase</a:t>
            </a:r>
            <a:r>
              <a:rPr sz="2000" b="0" i="0">
                <a:solidFill>
                  <a:srgbClr val="11202B"/>
                </a:solidFill>
                <a:latin typeface="Malgun Gothic"/>
                <a:ea typeface="Malgun Gothic"/>
                <a:cs typeface="Malgun Gothic"/>
              </a:rPr>
              <a:t>가 인접 조각의 3′-OH와 5′-인산 사이에 phosphodiester 결합을 만든다.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DNA 복제의 기전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17</a:t>
            </a:r>
          </a:p>
        </p:txBody>
      </p:sp>
      <p:pic>
        <p:nvPicPr>
          <p:cNvPr id="7" name="Picture 6" descr="fig-replication-fork.slide.png"/>
          <p:cNvPicPr>
            <a:picLocks noChangeAspect="1"/>
          </p:cNvPicPr>
          <p:nvPr/>
        </p:nvPicPr>
        <p:blipFill>
          <a:blip r:embed="rId2"/>
          <a:stretch>
            <a:fillRect/>
          </a:stretch>
        </p:blipFill>
        <p:spPr>
          <a:xfrm>
            <a:off x="1852739" y="1325880"/>
            <a:ext cx="8486216"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복제분기점의 구조. Helicase가 사슬을 풀고, leading strand는 연속 합성되며, lagging strand는 primer와 Okazaki fragment로 불연속 합성된 뒤 ligase로 이어진다.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DNA 복제의 기전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선형 염색체의 말단 문제</a:t>
            </a:r>
            <a:r>
              <a:rPr sz="1800" b="0" i="0">
                <a:solidFill>
                  <a:srgbClr val="11202B"/>
                </a:solidFill>
                <a:latin typeface="Malgun Gothic"/>
                <a:ea typeface="Malgun Gothic"/>
                <a:cs typeface="Malgun Gothic"/>
              </a:rPr>
              <a:t>가 남는다. Lagging strand의 가장 끝 primer를 제거하면 그 자리를 채울 primer를 앞쪽에 둘 수 없어 염색체가 매 복제마다 짧아진다. 해결은 </a:t>
            </a:r>
            <a:r>
              <a:rPr sz="1800" b="1" i="0">
                <a:solidFill>
                  <a:srgbClr val="11202B"/>
                </a:solidFill>
                <a:latin typeface="Malgun Gothic"/>
                <a:ea typeface="Malgun Gothic"/>
                <a:cs typeface="Malgun Gothic"/>
              </a:rPr>
              <a:t>telomere</a:t>
            </a:r>
            <a:r>
              <a:rPr sz="1800" b="0" i="0">
                <a:solidFill>
                  <a:srgbClr val="11202B"/>
                </a:solidFill>
                <a:latin typeface="Malgun Gothic"/>
                <a:ea typeface="Malgun Gothic"/>
                <a:cs typeface="Malgun Gothic"/>
              </a:rPr>
              <a:t>와 </a:t>
            </a:r>
            <a:r>
              <a:rPr sz="1800" b="1" i="0">
                <a:solidFill>
                  <a:srgbClr val="11202B"/>
                </a:solidFill>
                <a:latin typeface="Malgun Gothic"/>
                <a:ea typeface="Malgun Gothic"/>
                <a:cs typeface="Malgun Gothic"/>
              </a:rPr>
              <a:t>telomerase</a:t>
            </a:r>
            <a:r>
              <a:rPr sz="1800" b="0" i="0">
                <a:solidFill>
                  <a:srgbClr val="11202B"/>
                </a:solidFill>
                <a:latin typeface="Malgun Gothic"/>
                <a:ea typeface="Malgun Gothic"/>
                <a:cs typeface="Malgun Gothic"/>
              </a:rPr>
              <a:t>다. Telomere는 염색체 말단의 반복 서열(사람은 TTAGGG)이고, telomerase는 자신의 RNA를 주형으로 쓰는 reverse transcriptase여서 주형 DNA 없이 말단을 늘릴 수 있다. 사람의 체세포 대부분은 telomerase 활성이 낮아 분열마다 telomere가 짧아지고, 일정 길이 아래로 떨어지면 분열이 멈춘다. 이것이 M01-W05-L01에서 다룬 replicative senescence의 분자적 근거다.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DNA 복제의 기전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19</a:t>
            </a:r>
          </a:p>
        </p:txBody>
      </p:sp>
      <p:sp>
        <p:nvSpPr>
          <p:cNvPr id="7" name="Rectangle 6"/>
          <p:cNvSpPr/>
          <p:nvPr/>
        </p:nvSpPr>
        <p:spPr>
          <a:xfrm>
            <a:off x="640080" y="1325880"/>
            <a:ext cx="10881360" cy="227075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복제 기구는 항생제와 항암제의 표적이다. 세균의 topoisomerase II(DNA gyrase)와 IV를 억제하는 </a:t>
            </a:r>
            <a:r>
              <a:rPr sz="1600" b="1" i="0">
                <a:solidFill>
                  <a:srgbClr val="11202B"/>
                </a:solidFill>
                <a:latin typeface="Malgun Gothic"/>
                <a:ea typeface="Malgun Gothic"/>
                <a:cs typeface="Malgun Gothic"/>
              </a:rPr>
              <a:t>fluoroquinolone</a:t>
            </a:r>
            <a:r>
              <a:rPr sz="1600" b="0" i="0">
                <a:solidFill>
                  <a:srgbClr val="11202B"/>
                </a:solidFill>
                <a:latin typeface="Malgun Gothic"/>
                <a:ea typeface="Malgun Gothic"/>
                <a:cs typeface="Malgun Gothic"/>
              </a:rPr>
              <a:t>(ciprofloxacin, levofloxacin)은 사람의 topoisomerase와 구조가 달라 선택적으로 작동한다. 사람의 topoisomerase를 겨냥하는 약물은 항암제로 쓰인다. Etoposide는 topoisomerase II를, irinotecan은 topoisomerase I을 억제해 끊긴 DNA가 이어지지 못하게 만들어 빠르게 분열하는 세포를 죽인다. 한편 생식세포와 줄기세포는 telomerase를 유지하는데, 암세포의 약 90%가 telomerase를 재활성화해 무한 증식 능력을 얻는다.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복제의 정확도와 수선</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사람의 복제 오류율은 nucleotide당 약 10⁻¹⁰이다. 3,200 Mb를 복제하면서 오류가 한 개 미만이라는 뜻이다. 중합효소 자체의 정확도만으로는 이 수준에 도달할 수 없고, 세 장치가 차례로 오류를 걸러낸다.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1. </a:t>
            </a:r>
            <a:r>
              <a:rPr sz="1600" b="1" i="0">
                <a:solidFill>
                  <a:srgbClr val="11202B"/>
                </a:solidFill>
                <a:latin typeface="Malgun Gothic"/>
                <a:ea typeface="Malgun Gothic"/>
                <a:cs typeface="Malgun Gothic"/>
              </a:rPr>
              <a:t>중합효소의 기질 선택</a:t>
            </a:r>
            <a:r>
              <a:rPr sz="1600" b="0" i="0">
                <a:solidFill>
                  <a:srgbClr val="11202B"/>
                </a:solidFill>
                <a:latin typeface="Malgun Gothic"/>
                <a:ea typeface="Malgun Gothic"/>
                <a:cs typeface="Malgun Gothic"/>
              </a:rPr>
              <a:t> 올바른 염기쌍만 활성 부위의 기하 구조에 맞으므로 잘못된 nucleotide의 결합이 드물다. 이 단계의 오류율은 약 10⁻⁵이다. 2. </a:t>
            </a:r>
            <a:r>
              <a:rPr sz="1600" b="1" i="0">
                <a:solidFill>
                  <a:srgbClr val="11202B"/>
                </a:solidFill>
                <a:latin typeface="Malgun Gothic"/>
                <a:ea typeface="Malgun Gothic"/>
                <a:cs typeface="Malgun Gothic"/>
              </a:rPr>
              <a:t>3′→5′ exonuclease에 의한 교정(proofreading)</a:t>
            </a:r>
            <a:r>
              <a:rPr sz="1600" b="0" i="0">
                <a:solidFill>
                  <a:srgbClr val="11202B"/>
                </a:solidFill>
                <a:latin typeface="Malgun Gothic"/>
                <a:ea typeface="Malgun Gothic"/>
                <a:cs typeface="Malgun Gothic"/>
              </a:rPr>
              <a:t> DNA polymerase는 합성 활성 외에 방금 붙인 nucleotide를 떼어내는 활성을 함께 갖는다. 짝이 맞지 않으면 사슬 말단이 불안정해져 exonuclease 부위로 옮겨가 제거된다. 여기서 오류율이 약 10⁻⁷로 내려간다. 3. </a:t>
            </a:r>
            <a:r>
              <a:rPr sz="1600" b="1" i="0">
                <a:solidFill>
                  <a:srgbClr val="11202B"/>
                </a:solidFill>
                <a:latin typeface="Malgun Gothic"/>
                <a:ea typeface="Malgun Gothic"/>
                <a:cs typeface="Malgun Gothic"/>
              </a:rPr>
              <a:t>Mismatch repair</a:t>
            </a:r>
            <a:r>
              <a:rPr sz="1600" b="0" i="0">
                <a:solidFill>
                  <a:srgbClr val="11202B"/>
                </a:solidFill>
                <a:latin typeface="Malgun Gothic"/>
                <a:ea typeface="Malgun Gothic"/>
                <a:cs typeface="Malgun Gothic"/>
              </a:rPr>
              <a:t> 복제 후에도 남은 짝 불일치를 따로 인식해 고친다. 새로 합성된 사슬을 구별해 그쪽만 잘라내고 다시 합성한다. 최종 오류율이 약 10⁻¹⁰이 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DNA는 복제와 무관하게도 끊임없이 손상된다. 탈아미노화, 산화, 자외선에 의한 pyrimidine dimer, 알킬화가 일어난다. 수선 경로는 손상의 종류에 따라 나뉜다.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복제의 정확도와 수선</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21</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수선 경로</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다루는 손상</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결손 시 질환</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Mismatch repair</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복제 후 남은 짝 불일치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Lynch syndrome(유전성 비폴립 대장암)</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Base excision repair</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산화·탈아미노화된 염기 하나</a:t>
                      </a:r>
                    </a:p>
                  </a:txBody>
                  <a:tcPr marL="73152" marR="73152" marT="27432" marB="27432">
                    <a:solidFill>
                      <a:srgbClr val="EFF4F8"/>
                    </a:solidFill>
                  </a:tcPr>
                </a:tc>
                <a:tc>
                  <a:txBody>
                    <a:bodyPr/>
                    <a:lstStyle/>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Nucleotide excision repair</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자외선 pyrimidine dimer 등 부피 큰 손상</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Xeroderma pigmentosum</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이중사슬 절단 수선(HR, NHEJ)</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두 사슬이 모두 끊어진 경우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BRCA1·BRCA2 변이 유방·난소암</a:t>
                      </a:r>
                    </a:p>
                  </a:txBody>
                  <a:tcPr marL="73152" marR="73152" marT="27432" marB="27432">
                    <a:solidFill>
                      <a:srgbClr val="EFF4F8"/>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복제의 정확도와 수선</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22</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수선 경로의 결손은 암 위험을 높이지만 동시에 치료의 표적이 된다. BRCA1·BRCA2 변이 세포는 이중사슬 절단의 상동재조합 수선이 망가져 있으므로, 단일사슬 절단 수선에 필요한 PARP를 억제하면 두 수선 경로가 모두 막혀 세포가 죽는다. 정상 세포는 상동재조합이 남아 있어 살아남는다. 이 선택성을 </a:t>
            </a:r>
            <a:r>
              <a:rPr sz="1600" b="1" i="0">
                <a:solidFill>
                  <a:srgbClr val="11202B"/>
                </a:solidFill>
                <a:latin typeface="Malgun Gothic"/>
                <a:ea typeface="Malgun Gothic"/>
                <a:cs typeface="Malgun Gothic"/>
              </a:rPr>
              <a:t>synthetic lethality</a:t>
            </a:r>
            <a:r>
              <a:rPr sz="1600" b="0" i="0">
                <a:solidFill>
                  <a:srgbClr val="11202B"/>
                </a:solidFill>
                <a:latin typeface="Malgun Gothic"/>
                <a:ea typeface="Malgun Gothic"/>
                <a:cs typeface="Malgun Gothic"/>
              </a:rPr>
              <a:t>라 하며, olaparib 같은 PARP 억제제가 이 원리로 쓰인다.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전사: RNA polymerase와 promoter</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23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전사는 DNA 한쪽 사슬을 주형으로 RNA를 만드는 과정이다. DNA 복제와 공통점과 차이점을 함께 본다.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전사: RNA polymerase와 promoter</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24</a:t>
            </a:r>
          </a:p>
        </p:txBody>
      </p:sp>
      <p:graphicFrame>
        <p:nvGraphicFramePr>
          <p:cNvPr id="7" name="Table 6"/>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DNA 복제</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전사</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주형</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두 사슬 모두</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한 사슬만(유전자에 따라 어느 쪽인지 정해진다)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산물</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이중나선 DNA</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단일사슬 RNA</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Primer</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필요</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불필요</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기질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dNTP</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NTP</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방향</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5′→3′</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5′→3′</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교정 활성</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있다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거의 없다(오류율 약 10⁻⁴)</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범위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유전체 전체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필요한 유전자만</a:t>
                      </a:r>
                    </a:p>
                  </a:txBody>
                  <a:tcPr marL="73152" marR="73152" marT="27432" marB="27432">
                    <a:solidFill>
                      <a:srgbClr val="FFFFFF"/>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전사: RNA polymerase와 promoter</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25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전사의 정확도가 낮아도 문제가 적은 이유는 RNA가 일시적이고 한 유전자에서 많은 copy가 만들어지기 때문이다. 하나에 오류가 있어도 나머지가 정상이다.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개시</a:t>
            </a:r>
            <a:r>
              <a:rPr sz="1400" b="0" i="0">
                <a:solidFill>
                  <a:srgbClr val="11202B"/>
                </a:solidFill>
                <a:latin typeface="Malgun Gothic"/>
                <a:ea typeface="Malgun Gothic"/>
                <a:cs typeface="Malgun Gothic"/>
              </a:rPr>
              <a:t>는 RNA polymerase가 </a:t>
            </a:r>
            <a:r>
              <a:rPr sz="1400" b="1" i="0">
                <a:solidFill>
                  <a:srgbClr val="11202B"/>
                </a:solidFill>
                <a:latin typeface="Malgun Gothic"/>
                <a:ea typeface="Malgun Gothic"/>
                <a:cs typeface="Malgun Gothic"/>
              </a:rPr>
              <a:t>promoter</a:t>
            </a:r>
            <a:r>
              <a:rPr sz="1400" b="0" i="0">
                <a:solidFill>
                  <a:srgbClr val="11202B"/>
                </a:solidFill>
                <a:latin typeface="Malgun Gothic"/>
                <a:ea typeface="Malgun Gothic"/>
                <a:cs typeface="Malgun Gothic"/>
              </a:rPr>
              <a:t>에 결합하는 것이다. Promoter는 전사 시작점 앞쪽의 DNA 서열로, 어디서 시작할지와 어느 사슬을 주형으로 쓸지를 정한다.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세균</a:t>
            </a:r>
            <a:r>
              <a:rPr sz="1400" b="0" i="0">
                <a:solidFill>
                  <a:srgbClr val="11202B"/>
                </a:solidFill>
                <a:latin typeface="Malgun Gothic"/>
                <a:ea typeface="Malgun Gothic"/>
                <a:cs typeface="Malgun Gothic"/>
              </a:rPr>
              <a:t>: RNA polymerase 한 종류가 모든 RNA를 만든다. σ 인자가 promoter의 −10 서열(TATAAT)과 −35 서열(TTGACA)을 인식한다.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진핵</a:t>
            </a:r>
            <a:r>
              <a:rPr sz="1400" b="0" i="0">
                <a:solidFill>
                  <a:srgbClr val="11202B"/>
                </a:solidFill>
                <a:latin typeface="Malgun Gothic"/>
                <a:ea typeface="Malgun Gothic"/>
                <a:cs typeface="Malgun Gothic"/>
              </a:rPr>
              <a:t>: RNA polymerase가 세 종류로 나뉜다. </a:t>
            </a:r>
            <a:r>
              <a:rPr sz="1400" b="1" i="0">
                <a:solidFill>
                  <a:srgbClr val="11202B"/>
                </a:solidFill>
                <a:latin typeface="Malgun Gothic"/>
                <a:ea typeface="Malgun Gothic"/>
                <a:cs typeface="Malgun Gothic"/>
              </a:rPr>
              <a:t>Pol I</a:t>
            </a:r>
            <a:r>
              <a:rPr sz="1400" b="0" i="0">
                <a:solidFill>
                  <a:srgbClr val="11202B"/>
                </a:solidFill>
                <a:latin typeface="Malgun Gothic"/>
                <a:ea typeface="Malgun Gothic"/>
                <a:cs typeface="Malgun Gothic"/>
              </a:rPr>
              <a:t>은 rRNA, </a:t>
            </a:r>
            <a:r>
              <a:rPr sz="1400" b="1" i="0">
                <a:solidFill>
                  <a:srgbClr val="11202B"/>
                </a:solidFill>
                <a:latin typeface="Malgun Gothic"/>
                <a:ea typeface="Malgun Gothic"/>
                <a:cs typeface="Malgun Gothic"/>
              </a:rPr>
              <a:t>Pol II</a:t>
            </a:r>
            <a:r>
              <a:rPr sz="1400" b="0" i="0">
                <a:solidFill>
                  <a:srgbClr val="11202B"/>
                </a:solidFill>
                <a:latin typeface="Malgun Gothic"/>
                <a:ea typeface="Malgun Gothic"/>
                <a:cs typeface="Malgun Gothic"/>
              </a:rPr>
              <a:t>는 mRNA와 대부분의 조절 RNA, </a:t>
            </a:r>
            <a:r>
              <a:rPr sz="1400" b="1" i="0">
                <a:solidFill>
                  <a:srgbClr val="11202B"/>
                </a:solidFill>
                <a:latin typeface="Malgun Gothic"/>
                <a:ea typeface="Malgun Gothic"/>
                <a:cs typeface="Malgun Gothic"/>
              </a:rPr>
              <a:t>Pol III</a:t>
            </a:r>
            <a:r>
              <a:rPr sz="1400" b="0" i="0">
                <a:solidFill>
                  <a:srgbClr val="11202B"/>
                </a:solidFill>
                <a:latin typeface="Malgun Gothic"/>
                <a:ea typeface="Malgun Gothic"/>
                <a:cs typeface="Malgun Gothic"/>
              </a:rPr>
              <a:t>은 tRNA와 5S rRNA를 만든다. Pol II는 혼자 promoter를 인식하지 못하고 </a:t>
            </a:r>
            <a:r>
              <a:rPr sz="1400" b="1" i="0">
                <a:solidFill>
                  <a:srgbClr val="11202B"/>
                </a:solidFill>
                <a:latin typeface="Malgun Gothic"/>
                <a:ea typeface="Malgun Gothic"/>
                <a:cs typeface="Malgun Gothic"/>
              </a:rPr>
              <a:t>일반 전사인자(TFIID 등)</a:t>
            </a:r>
            <a:r>
              <a:rPr sz="1400" b="0" i="0">
                <a:solidFill>
                  <a:srgbClr val="11202B"/>
                </a:solidFill>
                <a:latin typeface="Malgun Gothic"/>
                <a:ea typeface="Malgun Gothic"/>
                <a:cs typeface="Malgun Gothic"/>
              </a:rPr>
              <a:t>가 먼저 TATA box에 결합해 자리를 잡아 주어야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신장</a:t>
            </a:r>
            <a:r>
              <a:rPr sz="1400" b="0" i="0">
                <a:solidFill>
                  <a:srgbClr val="11202B"/>
                </a:solidFill>
                <a:latin typeface="Malgun Gothic"/>
                <a:ea typeface="Malgun Gothic"/>
                <a:cs typeface="Malgun Gothic"/>
              </a:rPr>
              <a:t>에서는 polymerase가 주형 사슬을 따라 움직이며 nucleotide를 붙인다. 세균은 약 50 nucleotide/초, 진핵은 그보다 느리다. </a:t>
            </a:r>
            <a:r>
              <a:rPr sz="1400" b="1" i="0">
                <a:solidFill>
                  <a:srgbClr val="11202B"/>
                </a:solidFill>
                <a:latin typeface="Malgun Gothic"/>
                <a:ea typeface="Malgun Gothic"/>
                <a:cs typeface="Malgun Gothic"/>
              </a:rPr>
              <a:t>종결</a:t>
            </a:r>
            <a:r>
              <a:rPr sz="1400" b="0" i="0">
                <a:solidFill>
                  <a:srgbClr val="11202B"/>
                </a:solidFill>
                <a:latin typeface="Malgun Gothic"/>
                <a:ea typeface="Malgun Gothic"/>
                <a:cs typeface="Malgun Gothic"/>
              </a:rPr>
              <a:t>은 세균에서 두 방식(hairpin 구조에 의한 종결과 Rho 인자 의존 종결)으로 일어나고, 진핵 Pol II에서는 polyadenylation 신호 서열이 인식된 뒤 전사체가 잘리며 끝난다.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진핵의 전사 조절은 promoter만으로 이루어지지 않는다. 수천 염기쌍 떨어진 </a:t>
            </a:r>
            <a:r>
              <a:rPr sz="1400" b="1" i="0">
                <a:solidFill>
                  <a:srgbClr val="11202B"/>
                </a:solidFill>
                <a:latin typeface="Malgun Gothic"/>
                <a:ea typeface="Malgun Gothic"/>
                <a:cs typeface="Malgun Gothic"/>
              </a:rPr>
              <a:t>enhancer</a:t>
            </a:r>
            <a:r>
              <a:rPr sz="1400" b="0" i="0">
                <a:solidFill>
                  <a:srgbClr val="11202B"/>
                </a:solidFill>
                <a:latin typeface="Malgun Gothic"/>
                <a:ea typeface="Malgun Gothic"/>
                <a:cs typeface="Malgun Gothic"/>
              </a:rPr>
              <a:t>에 조절 단백질이 결합하고, DNA가 휘어 promoter와 접촉한다. 이 거리를 둔 조절이 같은 유전체로 수백 종의 세포를 만들어 내는 기반이다.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진핵 mRNA의 가공</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26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세균에서는 mRNA가 전사되는 동시에 번역된다. 진핵에서는 전사가 핵에서, 번역이 세포질에서 일어나므로 그 사이에 가공 단계가 들어간다. 세 가지다.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5′ cap</a:t>
            </a:r>
            <a:r>
              <a:rPr sz="1400" b="0" i="0">
                <a:solidFill>
                  <a:srgbClr val="11202B"/>
                </a:solidFill>
                <a:latin typeface="Malgun Gothic"/>
                <a:ea typeface="Malgun Gothic"/>
                <a:cs typeface="Malgun Gothic"/>
              </a:rPr>
              <a:t> 전사가 시작된 직후 첫 nucleotide의 5′ 말단에 7-methylguanosine이 거꾸로 결합한다. 세 가지 기능을 한다. 5′ exonuclease로부터 RNA를 보호하고, 핵에서 세포질로 나가는 수송을 돕고, 번역 개시에서 ribosome이 mRNA를 인식하는 표지가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 polyadenylation</a:t>
            </a:r>
            <a:r>
              <a:rPr sz="1400" b="0" i="0">
                <a:solidFill>
                  <a:srgbClr val="11202B"/>
                </a:solidFill>
                <a:latin typeface="Malgun Gothic"/>
                <a:ea typeface="Malgun Gothic"/>
                <a:cs typeface="Malgun Gothic"/>
              </a:rPr>
              <a:t> 전사체가 잘린 뒤 poly(A) polymerase가 주형 없이 adenine을 100~250개 붙인다. mRNA의 안정성을 높이고 번역 효율을 올린다. poly(A) 꼬리가 짧아지는 것이 mRNA 분해의 첫 단계다.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Splicing</a:t>
            </a:r>
            <a:r>
              <a:rPr sz="1400" b="0" i="0">
                <a:solidFill>
                  <a:srgbClr val="11202B"/>
                </a:solidFill>
                <a:latin typeface="Malgun Gothic"/>
                <a:ea typeface="Malgun Gothic"/>
                <a:cs typeface="Malgun Gothic"/>
              </a:rPr>
              <a:t> 진핵 유전자는 단백질을 암호화하는 </a:t>
            </a:r>
            <a:r>
              <a:rPr sz="1400" b="1" i="0">
                <a:solidFill>
                  <a:srgbClr val="11202B"/>
                </a:solidFill>
                <a:latin typeface="Malgun Gothic"/>
                <a:ea typeface="Malgun Gothic"/>
                <a:cs typeface="Malgun Gothic"/>
              </a:rPr>
              <a:t>exon</a:t>
            </a:r>
            <a:r>
              <a:rPr sz="1400" b="0" i="0">
                <a:solidFill>
                  <a:srgbClr val="11202B"/>
                </a:solidFill>
                <a:latin typeface="Malgun Gothic"/>
                <a:ea typeface="Malgun Gothic"/>
                <a:cs typeface="Malgun Gothic"/>
              </a:rPr>
              <a:t>과 그렇지 않은 </a:t>
            </a:r>
            <a:r>
              <a:rPr sz="1400" b="1" i="0">
                <a:solidFill>
                  <a:srgbClr val="11202B"/>
                </a:solidFill>
                <a:latin typeface="Malgun Gothic"/>
                <a:ea typeface="Malgun Gothic"/>
                <a:cs typeface="Malgun Gothic"/>
              </a:rPr>
              <a:t>intron</a:t>
            </a:r>
            <a:r>
              <a:rPr sz="1400" b="0" i="0">
                <a:solidFill>
                  <a:srgbClr val="11202B"/>
                </a:solidFill>
                <a:latin typeface="Malgun Gothic"/>
                <a:ea typeface="Malgun Gothic"/>
                <a:cs typeface="Malgun Gothic"/>
              </a:rPr>
              <a:t>이 교대로 배열되어 있다. 전사체에서 intron을 잘라내고 exon을 이어 붙이는 과정이 splicing이다. 사람 유전자의 평균 intron 수는 약 8개이고, intron이 유전자 길이의 대부분을 차지한다. DMD 유전자는 2.2 Mb이지만 mRNA는 14 kb다.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Splicing은 snRNA와 단백질로 이루어진 </a:t>
            </a:r>
            <a:r>
              <a:rPr sz="1400" b="1" i="0">
                <a:solidFill>
                  <a:srgbClr val="11202B"/>
                </a:solidFill>
                <a:latin typeface="Malgun Gothic"/>
                <a:ea typeface="Malgun Gothic"/>
                <a:cs typeface="Malgun Gothic"/>
              </a:rPr>
              <a:t>spliceosome</a:t>
            </a:r>
            <a:r>
              <a:rPr sz="1400" b="0" i="0">
                <a:solidFill>
                  <a:srgbClr val="11202B"/>
                </a:solidFill>
                <a:latin typeface="Malgun Gothic"/>
                <a:ea typeface="Malgun Gothic"/>
                <a:cs typeface="Malgun Gothic"/>
              </a:rPr>
              <a:t>이 수행하며, 촉매 부위는 단백질이 아니라 </a:t>
            </a:r>
            <a:r>
              <a:rPr sz="1400" b="1" i="0">
                <a:solidFill>
                  <a:srgbClr val="11202B"/>
                </a:solidFill>
                <a:latin typeface="Malgun Gothic"/>
                <a:ea typeface="Malgun Gothic"/>
                <a:cs typeface="Malgun Gothic"/>
              </a:rPr>
              <a:t>snRNA</a:t>
            </a:r>
            <a:r>
              <a:rPr sz="1400" b="0" i="0">
                <a:solidFill>
                  <a:srgbClr val="11202B"/>
                </a:solidFill>
                <a:latin typeface="Malgun Gothic"/>
                <a:ea typeface="Malgun Gothic"/>
                <a:cs typeface="Malgun Gothic"/>
              </a:rPr>
              <a:t>다. 인식 신호는 intron 양 끝의 짧은 서열(5′의 GU, 3′의 AG)과 그 안쪽의 branch point다.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Alternative splicing</a:t>
            </a:r>
            <a:r>
              <a:rPr sz="1400" b="0" i="0">
                <a:solidFill>
                  <a:srgbClr val="11202B"/>
                </a:solidFill>
                <a:latin typeface="Malgun Gothic"/>
                <a:ea typeface="Malgun Gothic"/>
                <a:cs typeface="Malgun Gothic"/>
              </a:rPr>
              <a:t>이 진핵 유전자의 정보량을 늘린다. 같은 전사체에서 exon을 다르게 조합하면 여러 단백질이 만들어진다. 사람 유전자의 90% 이상이 alternative splicing을 거치며, 이것이 유전자 약 20,000개로 그보다 훨씬 많은 종류의 단백질을 만드는 주된 이유다.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진핵 mRNA의 가공</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27</a:t>
            </a:r>
          </a:p>
        </p:txBody>
      </p:sp>
      <p:pic>
        <p:nvPicPr>
          <p:cNvPr id="7" name="Picture 6" descr="fig-transcription-processing.slide.png"/>
          <p:cNvPicPr>
            <a:picLocks noChangeAspect="1"/>
          </p:cNvPicPr>
          <p:nvPr/>
        </p:nvPicPr>
        <p:blipFill>
          <a:blip r:embed="rId2"/>
          <a:stretch>
            <a:fillRect/>
          </a:stretch>
        </p:blipFill>
        <p:spPr>
          <a:xfrm>
            <a:off x="1852739" y="1325880"/>
            <a:ext cx="8486216"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전사와 진핵 mRNA의 가공. Promoter에서의 개시, 5′ cap, intron splicing, 3′ polyadenylation을 거쳐 성숙한 mRNA가 핵공을 통해 세포질로 나가는 과정을 보인다.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진핵 mRNA의 가공</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28</a:t>
            </a:r>
          </a:p>
        </p:txBody>
      </p:sp>
      <p:sp>
        <p:nvSpPr>
          <p:cNvPr id="7" name="Rectangle 6"/>
          <p:cNvSpPr/>
          <p:nvPr/>
        </p:nvSpPr>
        <p:spPr>
          <a:xfrm>
            <a:off x="640080" y="1325880"/>
            <a:ext cx="10881360" cy="197612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Splice site 변이가 질환을 일으킨다. β-thalassemia의 상당수가 HBB 유전자의 splice site 변이로 β-globin mRNA가 제대로 만들어지지 않아 생긴다. 반대로 splicing을 약으로 조작할 수도 있다. Spinal muscular atrophy에서는 *SMN1*이 망가져 있지만 거의 같은 *SMN2*가 남아 있고, *SMN2*는 exon 7이 빠지는 splicing을 주로 거쳐 기능이 없는 단백질을 만든다. </a:t>
            </a:r>
            <a:r>
              <a:rPr sz="1600" b="1" i="0">
                <a:solidFill>
                  <a:srgbClr val="11202B"/>
                </a:solidFill>
                <a:latin typeface="Malgun Gothic"/>
                <a:ea typeface="Malgun Gothic"/>
                <a:cs typeface="Malgun Gothic"/>
              </a:rPr>
              <a:t>Nusinersen</a:t>
            </a:r>
            <a:r>
              <a:rPr sz="1600" b="0" i="0">
                <a:solidFill>
                  <a:srgbClr val="11202B"/>
                </a:solidFill>
                <a:latin typeface="Malgun Gothic"/>
                <a:ea typeface="Malgun Gothic"/>
                <a:cs typeface="Malgun Gothic"/>
              </a:rPr>
              <a:t>은 이 splicing을 억제하는 antisense oligonucleotide로, exon 7이 포함되게 해 기능성 SMN 단백질을 늘린다.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유전암호와 tRNA</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29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mRNA의 염기 서열이 어떻게 아미노산 서열로 읽히는가. 염기는 4종, 아미노산은 20종이므로 염기 하나로는 4종, 둘로는 16종까지만 지정할 수 있다. </a:t>
            </a:r>
            <a:r>
              <a:rPr sz="1400" b="1" i="0">
                <a:solidFill>
                  <a:srgbClr val="11202B"/>
                </a:solidFill>
                <a:latin typeface="Malgun Gothic"/>
                <a:ea typeface="Malgun Gothic"/>
                <a:cs typeface="Malgun Gothic"/>
              </a:rPr>
              <a:t>셋</a:t>
            </a:r>
            <a:r>
              <a:rPr sz="1400" b="0" i="0">
                <a:solidFill>
                  <a:srgbClr val="11202B"/>
                </a:solidFill>
                <a:latin typeface="Malgun Gothic"/>
                <a:ea typeface="Malgun Gothic"/>
                <a:cs typeface="Malgun Gothic"/>
              </a:rPr>
              <a:t>이면 64종이 되어 충분하다. 실제로 유전암호는 염기 세 개, 즉 </a:t>
            </a:r>
            <a:r>
              <a:rPr sz="1400" b="1" i="0">
                <a:solidFill>
                  <a:srgbClr val="11202B"/>
                </a:solidFill>
                <a:latin typeface="Malgun Gothic"/>
                <a:ea typeface="Malgun Gothic"/>
                <a:cs typeface="Malgun Gothic"/>
              </a:rPr>
              <a:t>codon</a:t>
            </a:r>
            <a:r>
              <a:rPr sz="1400" b="0" i="0">
                <a:solidFill>
                  <a:srgbClr val="11202B"/>
                </a:solidFill>
                <a:latin typeface="Malgun Gothic"/>
                <a:ea typeface="Malgun Gothic"/>
                <a:cs typeface="Malgun Gothic"/>
              </a:rPr>
              <a:t> 단위로 읽힌다.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유전암호의 성질은 다섯 가지로 정리된다.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세 염기 단위</a:t>
            </a:r>
            <a:r>
              <a:rPr sz="1400" b="0" i="0">
                <a:solidFill>
                  <a:srgbClr val="11202B"/>
                </a:solidFill>
                <a:latin typeface="Malgun Gothic"/>
                <a:ea typeface="Malgun Gothic"/>
                <a:cs typeface="Malgun Gothic"/>
              </a:rPr>
              <a:t>: 64개 codon이 있다. 61개가 아미노산을, 3개(UAA, UAG, UGA)가 종결을 지정한다.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중복성(degenerate)</a:t>
            </a:r>
            <a:r>
              <a:rPr sz="1400" b="0" i="0">
                <a:solidFill>
                  <a:srgbClr val="11202B"/>
                </a:solidFill>
                <a:latin typeface="Malgun Gothic"/>
                <a:ea typeface="Malgun Gothic"/>
                <a:cs typeface="Malgun Gothic"/>
              </a:rPr>
              <a:t>: 대부분의 아미노산이 여러 codon으로 지정된다. Leucine은 6개, methionine과 tryptophan은 1개다.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모호하지 않음(unambiguous)</a:t>
            </a:r>
            <a:r>
              <a:rPr sz="1400" b="0" i="0">
                <a:solidFill>
                  <a:srgbClr val="11202B"/>
                </a:solidFill>
                <a:latin typeface="Malgun Gothic"/>
                <a:ea typeface="Malgun Gothic"/>
                <a:cs typeface="Malgun Gothic"/>
              </a:rPr>
              <a:t>: 하나의 codon은 하나의 아미노산만 지정한다.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겹치지 않고 띄어쓰기가 없음</a:t>
            </a:r>
            <a:r>
              <a:rPr sz="1400" b="0" i="0">
                <a:solidFill>
                  <a:srgbClr val="11202B"/>
                </a:solidFill>
                <a:latin typeface="Malgun Gothic"/>
                <a:ea typeface="Malgun Gothic"/>
                <a:cs typeface="Malgun Gothic"/>
              </a:rPr>
              <a:t>: codon이 연속해서 읽히며 사이에 구분 기호가 없다. 그래서 읽기 틀(reading frame)이 중요하다.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거의 보편적(universal)</a:t>
            </a:r>
            <a:r>
              <a:rPr sz="1400" b="0" i="0">
                <a:solidFill>
                  <a:srgbClr val="11202B"/>
                </a:solidFill>
                <a:latin typeface="Malgun Gothic"/>
                <a:ea typeface="Malgun Gothic"/>
                <a:cs typeface="Malgun Gothic"/>
              </a:rPr>
              <a:t>: 세균부터 사람까지 거의 같다. 미토콘드리아 유전암호에 몇 가지 예외가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중복성에는 규칙성이 있다. 같은 아미노산을 지정하는 codon들은 대개 </a:t>
            </a:r>
            <a:r>
              <a:rPr sz="1400" b="1" i="0">
                <a:solidFill>
                  <a:srgbClr val="11202B"/>
                </a:solidFill>
                <a:latin typeface="Malgun Gothic"/>
                <a:ea typeface="Malgun Gothic"/>
                <a:cs typeface="Malgun Gothic"/>
              </a:rPr>
              <a:t>세 번째 염기만 다르다.</a:t>
            </a:r>
            <a:r>
              <a:rPr sz="1400" b="0" i="0">
                <a:solidFill>
                  <a:srgbClr val="11202B"/>
                </a:solidFill>
                <a:latin typeface="Malgun Gothic"/>
                <a:ea typeface="Malgun Gothic"/>
                <a:cs typeface="Malgun Gothic"/>
              </a:rPr>
              <a:t> 그래서 세 번째 염기의 치환은 아미노산을 바꾸지 않는 경우가 많다(silent mutation). 이 배치는 변이의 영향을 줄이는 완충 장치로 작동한다.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읽기 틀</a:t>
            </a:r>
            <a:r>
              <a:rPr sz="1400" b="0" i="0">
                <a:solidFill>
                  <a:srgbClr val="11202B"/>
                </a:solidFill>
                <a:latin typeface="Malgun Gothic"/>
                <a:ea typeface="Malgun Gothic"/>
                <a:cs typeface="Malgun Gothic"/>
              </a:rPr>
              <a:t>의 중요성은 변이의 종류로 드러난다.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유전암호와 tRNA</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30</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변이</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서열 변화</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결과</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Silent</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codon의 염기 하나 치환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아미노산이 바뀌지 않는다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Missense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codon의 염기 하나 치환</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다른 아미노산이 들어간다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Nonsense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codon의 염기 하나 치환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종결 codon이 되어 단백질이 짧아진다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Frameshift</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3의 배수가 아닌 삽입·결실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그 뒤의 모든 codon이 바뀌어 전혀 다른 단백질이 된다</a:t>
                      </a:r>
                    </a:p>
                  </a:txBody>
                  <a:tcPr marL="73152" marR="73152" marT="27432" marB="27432">
                    <a:solidFill>
                      <a:srgbClr val="EFF4F8"/>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유전암호와 tRNA</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31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tRNA</a:t>
            </a:r>
            <a:r>
              <a:rPr sz="1800" b="0" i="0">
                <a:solidFill>
                  <a:srgbClr val="11202B"/>
                </a:solidFill>
                <a:latin typeface="Malgun Gothic"/>
                <a:ea typeface="Malgun Gothic"/>
                <a:cs typeface="Malgun Gothic"/>
              </a:rPr>
              <a:t>가 codon과 아미노산을 잇는다. tRNA는 70~90 nucleotide의 RNA가 접혀 클로버 모양의 2차 구조와 L자 모양의 3차 구조를 이룬다. 두 부위가 기능을 담당한다. 한쪽 끝의 </a:t>
            </a:r>
            <a:r>
              <a:rPr sz="1800" b="1" i="0">
                <a:solidFill>
                  <a:srgbClr val="11202B"/>
                </a:solidFill>
                <a:latin typeface="Malgun Gothic"/>
                <a:ea typeface="Malgun Gothic"/>
                <a:cs typeface="Malgun Gothic"/>
              </a:rPr>
              <a:t>anticodon</a:t>
            </a:r>
            <a:r>
              <a:rPr sz="1800" b="0" i="0">
                <a:solidFill>
                  <a:srgbClr val="11202B"/>
                </a:solidFill>
                <a:latin typeface="Malgun Gothic"/>
                <a:ea typeface="Malgun Gothic"/>
                <a:cs typeface="Malgun Gothic"/>
              </a:rPr>
              <a:t>이 mRNA의 codon과 상보적으로 짝지어지고, 반대쪽 3′ 말단에 아미노산이 ester 결합으로 붙는다.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아미노산을 올바른 tRNA에 붙이는 일은 </a:t>
            </a:r>
            <a:r>
              <a:rPr sz="1800" b="1" i="0">
                <a:solidFill>
                  <a:srgbClr val="11202B"/>
                </a:solidFill>
                <a:latin typeface="Malgun Gothic"/>
                <a:ea typeface="Malgun Gothic"/>
                <a:cs typeface="Malgun Gothic"/>
              </a:rPr>
              <a:t>aminoacyl-tRNA synthetase</a:t>
            </a:r>
            <a:r>
              <a:rPr sz="1800" b="0" i="0">
                <a:solidFill>
                  <a:srgbClr val="11202B"/>
                </a:solidFill>
                <a:latin typeface="Malgun Gothic"/>
                <a:ea typeface="Malgun Gothic"/>
                <a:cs typeface="Malgun Gothic"/>
              </a:rPr>
              <a:t>가 한다. 아미노산 종류마다 하나씩 있어 20종이고, ATP를 써서 아미노산을 활성화한 뒤 tRNA에 옮긴다. </a:t>
            </a:r>
            <a:r>
              <a:rPr sz="1800" b="1" i="0">
                <a:solidFill>
                  <a:srgbClr val="11202B"/>
                </a:solidFill>
                <a:latin typeface="Malgun Gothic"/>
                <a:ea typeface="Malgun Gothic"/>
                <a:cs typeface="Malgun Gothic"/>
              </a:rPr>
              <a:t>이 효소가 유전암호를 실제로 구현하는 지점이다.</a:t>
            </a:r>
            <a:r>
              <a:rPr sz="1800" b="0" i="0">
                <a:solidFill>
                  <a:srgbClr val="11202B"/>
                </a:solidFill>
                <a:latin typeface="Malgun Gothic"/>
                <a:ea typeface="Malgun Gothic"/>
                <a:cs typeface="Malgun Gothic"/>
              </a:rPr>
              <a:t> 효소가 아미노산을 잘못 붙이면 ribosome은 anticodon만 확인하므로 잘못된 아미노산이 그대로 들어간다. 그래서 이 효소들은 자체 교정 활성을 갖는다.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유전암호와 tRNA</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32</a:t>
            </a:r>
          </a:p>
        </p:txBody>
      </p:sp>
      <p:pic>
        <p:nvPicPr>
          <p:cNvPr id="7" name="Picture 6" descr="fig-genetic-code.slide.png"/>
          <p:cNvPicPr>
            <a:picLocks noChangeAspect="1"/>
          </p:cNvPicPr>
          <p:nvPr/>
        </p:nvPicPr>
        <p:blipFill>
          <a:blip r:embed="rId2"/>
          <a:stretch>
            <a:fillRect/>
          </a:stretch>
        </p:blipFill>
        <p:spPr>
          <a:xfrm>
            <a:off x="2036595" y="1325880"/>
            <a:ext cx="8118504"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유전암호 표와 tRNA의 구조. 64개 codon의 배치, 세 번째 염기의 중복성, 종결 codon, 그리고 anticodon과 아미노산 결합 부위를 가진 tRNA의 L자 구조를 보인다.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000" b="1" i="0">
                <a:solidFill>
                  <a:srgbClr val="FFFFFF"/>
                </a:solidFill>
                <a:latin typeface="Malgun Gothic"/>
                <a:ea typeface="Malgun Gothic"/>
                <a:cs typeface="Malgun Gothic"/>
              </a:rPr>
              <a:t>9. 번역: ribosome의 세 단계와 원핵·진핵의 차이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33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Ribosome</a:t>
            </a:r>
            <a:r>
              <a:rPr sz="1400" b="0" i="0">
                <a:solidFill>
                  <a:srgbClr val="11202B"/>
                </a:solidFill>
                <a:latin typeface="Malgun Gothic"/>
                <a:ea typeface="Malgun Gothic"/>
                <a:cs typeface="Malgun Gothic"/>
              </a:rPr>
              <a:t>은 두 소단위로 이루어진 rRNA와 단백질의 복합체다. 큰 소단위가 peptide 결합을 만들고(peptidyl transferase 활성은 rRNA가 담당한다), 작은 소단위가 mRNA와 결합해 codon-anticodon 짝짓기를 확인한다. tRNA가 머무는 자리가 세 곳 있다. </a:t>
            </a:r>
            <a:r>
              <a:rPr sz="1400" b="1" i="0">
                <a:solidFill>
                  <a:srgbClr val="11202B"/>
                </a:solidFill>
                <a:latin typeface="Malgun Gothic"/>
                <a:ea typeface="Malgun Gothic"/>
                <a:cs typeface="Malgun Gothic"/>
              </a:rPr>
              <a:t>A 자리</a:t>
            </a:r>
            <a:r>
              <a:rPr sz="1400" b="0" i="0">
                <a:solidFill>
                  <a:srgbClr val="11202B"/>
                </a:solidFill>
                <a:latin typeface="Malgun Gothic"/>
                <a:ea typeface="Malgun Gothic"/>
                <a:cs typeface="Malgun Gothic"/>
              </a:rPr>
              <a:t>(aminoacyl-tRNA가 들어온다), </a:t>
            </a:r>
            <a:r>
              <a:rPr sz="1400" b="1" i="0">
                <a:solidFill>
                  <a:srgbClr val="11202B"/>
                </a:solidFill>
                <a:latin typeface="Malgun Gothic"/>
                <a:ea typeface="Malgun Gothic"/>
                <a:cs typeface="Malgun Gothic"/>
              </a:rPr>
              <a:t>P 자리</a:t>
            </a:r>
            <a:r>
              <a:rPr sz="1400" b="0" i="0">
                <a:solidFill>
                  <a:srgbClr val="11202B"/>
                </a:solidFill>
                <a:latin typeface="Malgun Gothic"/>
                <a:ea typeface="Malgun Gothic"/>
                <a:cs typeface="Malgun Gothic"/>
              </a:rPr>
              <a:t>(사슬이 붙어 있는 tRNA), </a:t>
            </a:r>
            <a:r>
              <a:rPr sz="1400" b="1" i="0">
                <a:solidFill>
                  <a:srgbClr val="11202B"/>
                </a:solidFill>
                <a:latin typeface="Malgun Gothic"/>
                <a:ea typeface="Malgun Gothic"/>
                <a:cs typeface="Malgun Gothic"/>
              </a:rPr>
              <a:t>E 자리</a:t>
            </a:r>
            <a:r>
              <a:rPr sz="1400" b="0" i="0">
                <a:solidFill>
                  <a:srgbClr val="11202B"/>
                </a:solidFill>
                <a:latin typeface="Malgun Gothic"/>
                <a:ea typeface="Malgun Gothic"/>
                <a:cs typeface="Malgun Gothic"/>
              </a:rPr>
              <a:t>(빠져나가는 tRNA).</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개시</a:t>
            </a:r>
            <a:r>
              <a:rPr sz="1400" b="0" i="0">
                <a:solidFill>
                  <a:srgbClr val="11202B"/>
                </a:solidFill>
                <a:latin typeface="Malgun Gothic"/>
                <a:ea typeface="Malgun Gothic"/>
                <a:cs typeface="Malgun Gothic"/>
              </a:rPr>
              <a:t> 세균과 진핵에서 방식이 다르다.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세균</a:t>
            </a:r>
            <a:r>
              <a:rPr sz="1400" b="0" i="0">
                <a:solidFill>
                  <a:srgbClr val="11202B"/>
                </a:solidFill>
                <a:latin typeface="Malgun Gothic"/>
                <a:ea typeface="Malgun Gothic"/>
                <a:cs typeface="Malgun Gothic"/>
              </a:rPr>
              <a:t>: 작은 소단위의 rRNA가 mRNA의 </a:t>
            </a:r>
            <a:r>
              <a:rPr sz="1400" b="1" i="0">
                <a:solidFill>
                  <a:srgbClr val="11202B"/>
                </a:solidFill>
                <a:latin typeface="Malgun Gothic"/>
                <a:ea typeface="Malgun Gothic"/>
                <a:cs typeface="Malgun Gothic"/>
              </a:rPr>
              <a:t>Shine-Dalgarno 서열</a:t>
            </a:r>
            <a:r>
              <a:rPr sz="1400" b="0" i="0">
                <a:solidFill>
                  <a:srgbClr val="11202B"/>
                </a:solidFill>
                <a:latin typeface="Malgun Gothic"/>
                <a:ea typeface="Malgun Gothic"/>
                <a:cs typeface="Malgun Gothic"/>
              </a:rPr>
              <a:t>과 염기쌍을 이루어 개시 codon을 찾는다. mRNA 하나에 여러 개시 지점이 있을 수 있어 여러 단백질이 한 전사체에서 만들어진다(polycistronic).</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진핵</a:t>
            </a:r>
            <a:r>
              <a:rPr sz="1400" b="0" i="0">
                <a:solidFill>
                  <a:srgbClr val="11202B"/>
                </a:solidFill>
                <a:latin typeface="Malgun Gothic"/>
                <a:ea typeface="Malgun Gothic"/>
                <a:cs typeface="Malgun Gothic"/>
              </a:rPr>
              <a:t>: 개시인자가 </a:t>
            </a:r>
            <a:r>
              <a:rPr sz="1400" b="1" i="0">
                <a:solidFill>
                  <a:srgbClr val="11202B"/>
                </a:solidFill>
                <a:latin typeface="Malgun Gothic"/>
                <a:ea typeface="Malgun Gothic"/>
                <a:cs typeface="Malgun Gothic"/>
              </a:rPr>
              <a:t>5′ cap</a:t>
            </a:r>
            <a:r>
              <a:rPr sz="1400" b="0" i="0">
                <a:solidFill>
                  <a:srgbClr val="11202B"/>
                </a:solidFill>
                <a:latin typeface="Malgun Gothic"/>
                <a:ea typeface="Malgun Gothic"/>
                <a:cs typeface="Malgun Gothic"/>
              </a:rPr>
              <a:t>을 인식해 결합한 뒤 mRNA를 훑어 첫 AUG를 찾는다. 따라서 보통 전사체 하나에서 단백질 하나가 만들어진다(monocistronic).</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개시 아미노산은 methionine이고(세균은 N-formylmethionine), 개시 codon은 AUG다.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신장</a:t>
            </a:r>
            <a:r>
              <a:rPr sz="1400" b="0" i="0">
                <a:solidFill>
                  <a:srgbClr val="11202B"/>
                </a:solidFill>
                <a:latin typeface="Malgun Gothic"/>
                <a:ea typeface="Malgun Gothic"/>
                <a:cs typeface="Malgun Gothic"/>
              </a:rPr>
              <a:t> 세 단계가 반복된다. (1) A 자리에 codon과 맞는 aminoacyl-tRNA가 들어온다. (2) P 자리의 사슬 carboxyl 말단과 A 자리 아미노산의 amino기 사이에 peptide 결합이 생긴다. (3) ribosome이 codon 하나만큼 이동(translocation)하고 빈 tRNA가 E 자리로 빠진다. 각 단계에 GTP가 소모된다. 아미노산 하나를 붙이는 데 ATP 등가로 약 4분자가 들며, 이는 단백질 합성이 세포에서 가장 비용이 큰 과정 가운데 하나임을 뜻한다.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000" b="1" i="0">
                <a:solidFill>
                  <a:srgbClr val="FFFFFF"/>
                </a:solidFill>
                <a:latin typeface="Malgun Gothic"/>
                <a:ea typeface="Malgun Gothic"/>
                <a:cs typeface="Malgun Gothic"/>
              </a:rPr>
              <a:t>9. 번역: ribosome의 세 단계와 원핵·진핵의 차이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34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종결</a:t>
            </a:r>
            <a:r>
              <a:rPr sz="2000" b="0" i="0">
                <a:solidFill>
                  <a:srgbClr val="11202B"/>
                </a:solidFill>
                <a:latin typeface="Malgun Gothic"/>
                <a:ea typeface="Malgun Gothic"/>
                <a:cs typeface="Malgun Gothic"/>
              </a:rPr>
              <a:t> A 자리에 종결 codon이 오면 이에 대응하는 tRNA가 없고, 대신 release factor가 결합해 사슬을 가수분해로 떼어낸다. Ribosome이 해체되고 소단위가 재사용된다.</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원핵과 진핵의 차이를 정리한다.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번역: ribosome의 세 단계와 원핵·진핵의 차이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35</a:t>
            </a:r>
          </a:p>
        </p:txBody>
      </p:sp>
      <p:graphicFrame>
        <p:nvGraphicFramePr>
          <p:cNvPr id="7" name="Table 6"/>
          <p:cNvGraphicFramePr>
            <a:graphicFrameLocks noGrp="1"/>
          </p:cNvGraphicFramePr>
          <p:nvPr/>
        </p:nvGraphicFramePr>
        <p:xfrm>
          <a:off x="548640" y="1280160"/>
          <a:ext cx="11064240" cy="256032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원핵</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진핵</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Ribosome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70S (50S + 30S)</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80S (60S + 40S)</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전사와 번역</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같은 공간, 동시 진행</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핵에서 전사, 세포질에서 번역</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mRNA 가공</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거의 없음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cap, poly(A), splicing</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개시 인식</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Shine-Dalgarno 서열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5′ cap과 스캐닝</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전사체당 단백질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여러 개(polycistronic)</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보통 하나(monocistronic)</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개시 아미노산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N-formylmethionine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methionine</a:t>
                      </a:r>
                    </a:p>
                  </a:txBody>
                  <a:tcPr marL="73152" marR="73152" marT="27432" marB="27432">
                    <a:solidFill>
                      <a:srgbClr val="EFF4F8"/>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번역: ribosome의 세 단계와 원핵·진핵의 차이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36</a:t>
            </a:r>
          </a:p>
        </p:txBody>
      </p:sp>
      <p:pic>
        <p:nvPicPr>
          <p:cNvPr id="7" name="Picture 6" descr="fig-translation.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번역의 세 단계. Ribosome의 A·P·E 자리, aminoacyl-tRNA의 진입, peptide 결합 형성, translocation의 순환과 종결 codon에서의 release를 보인다.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번역: ribosome의 세 단계와 원핵·진핵의 차이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37</a:t>
            </a:r>
          </a:p>
        </p:txBody>
      </p:sp>
      <p:sp>
        <p:nvSpPr>
          <p:cNvPr id="7" name="Rectangle 6"/>
          <p:cNvSpPr/>
          <p:nvPr/>
        </p:nvSpPr>
        <p:spPr>
          <a:xfrm>
            <a:off x="640080" y="1325880"/>
            <a:ext cx="10881360" cy="227075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원핵과 진핵 ribosome의 구조 차이가 항생제의 선택성을 만든다. Aminoglycoside(gentamicin)와 tetracycline은 세균의 30S 소단위에, macrolide(erythromycin)와 chloramphenicol, clindamycin은 50S 소단위에 작용해 사람의 ribosome에는 거의 영향을 주지 않는다. 다만 미토콘드리아 ribosome은 세균에 가까우므로 완전히 무해하지 않다. Aminoglycoside의 이독성과 chloramphenicol의 골수 억제가 그 결과로 설명된다. Diphtheria toxin은 반대로 진핵의 신장인자 eEF2를 변형시켜 번역을 멈추고, ricin은 60S 소단위의 rRNA를 자른다.</a:t>
            </a:r>
          </a:p>
        </p:txBody>
      </p:sp>
      <p:sp>
        <p:nvSpPr>
          <p:cNvPr id="8" name="Rectangle 7"/>
          <p:cNvSpPr/>
          <p:nvPr/>
        </p:nvSpPr>
        <p:spPr>
          <a:xfrm>
            <a:off x="640080" y="3733799"/>
            <a:ext cx="10881360" cy="168148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유전정보의 흐름은 세 과정의 공통 논리로 요약된다. 모두 주형을 읽어 상보적인 사슬이나 대응 서열을 만들고, 모두 5′→3′ 방향으로 진행하며, 모두 개시·신장·종결의 세 단계로 나뉜다. 정확도는 과정마다 다르게 투자되어 있다. 복제는 세 단계의 교정으로 10⁻¹⁰까지 내려가고, 전사와 번역은 산물이 일시적이므로 10⁻⁴ 수준에서 멈춘다. 진핵에서 추가된 핵막과 mRNA 가공, alternative splicing이 같은 유전체로 다양한 세포를 만드는 여지를 만든다.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38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Meselson과 Stahl의 실험에서 1세대와 2세대의 결과가 각각 어떤 가설을 배제하는지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1세대에서 중간 밀도의 띠 하나만 나온 결과가 보존적 복제를 배제한다. 보존적 복제라면 원래의 ¹⁵N 이중나선이 그대로 남고 완전히 새로운 ¹⁴N 이중나선이 따로 만들어져 무거운 띠와 가벼운 띠가 함께 보여야 한다. 2세대에서 중간 띠와 가벼운 띠가 1:1로 나뉘어 나온 결과가 분산적 복제를 배제한다. 분산적 복제라면 모든 분자에 새 조각과 옛 조각이 균일하게 섞여 단일한 띠가 세대마다 점점 가벼워지는 양상을 보여야 하고, 두 개의 분명한 띠로 나뉘지 않는다. 두 결과 모두 반보존적 복제의 예측과 일치한다.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39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DNA polymerase의 두 가지 성질, 즉 5′→3′ 방향으로만 합성한다는 것과 primer가 필요하다는 것이 lagging strand의 불연속 합성을 어떻게 강제하는지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복제분기점에서 두 주형 사슬은 서로 반대 방향으로 놓여 있다. 한 주형에 대해서는 합성 방향이 분기점 진행 방향과 일치하므로 primer 하나로 계속 따라가며 연속 합성할 수 있다(leading strand). 다른 주형에 대해서는 합성 방향이 분기점 진행 방향과 반대이므로, 분기점이 나아가 새 주형이 노출될 때마다 노출된 구간의 가장 분기점에 가까운 쪽에 primer를 새로 만들고 분기점 반대 방향으로 짧은 조각을 합성해야 한다. 그 결과 Okazaki fragment가 생기고, primer 제거, 빈자리 채우기, DNA ligase에 의한 연결이 뒤따른다. 만약 polymerase가 3′→5′ 방향으로도 합성할 수 있거나 primer 없이 시작할 수 있었다면 두 사슬 모두 연속 합성이 가능했을 것이다.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40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복제의 오류율은 10⁻¹⁰이고 전사의 오류율은 10⁻⁴이다. 이 차이가 합리적인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두 산물의 지속성과 복제 여부가 다르기 때문이다. DNA는 세포의 영속적 정보 저장체로 모든 딸세포에 전달되므로, 한 번의 오류가 그 세포 계통 전체에 영구히 남고 유전된다. 따라서 중합효소의 기질 선택, 3′→5′ exonuclease 교정, mismatch repair의 세 단계를 투자해 오류율을 10⁻¹⁰까지 낮출 가치가 있다. RNA는 일시적이고 한 유전자에서 여러 copy가 만들어진다. 전사체 하나에 오류가 있어도 나머지 copy가 정상 단백질을 만들고, 그 오류는 다음 세대로 전달되지 않는다. 교정 기구를 추가하면 속도가 떨어지고 에너지가 더 들므로, 정확도를 10⁻⁴에서 멈추는 것이 비용 대비 합리적이다.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41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유전자의 코딩 영역에 염기 하나가 삽입되는 변이와 염기 세 개가 삽입되는 변이가 있다. 두 변이의 결과가 크게 다른 이유를 유전암호의 성질로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유전암호는 세 염기 단위로 연속해서 읽히며 codon 사이에 구분 기호가 없다. 염기 하나가 삽입되면 그 지점부터 뒤쪽의 모든 codon 경계가 한 칸 밀려 읽기 틀이 바뀌는 frameshift가 된다. 삽입 지점 이후의 아미노산 서열이 전혀 달라지고, 대개 틀이 바뀐 서열에서 곧 종결 codon이 나타나 단백질이 짧게 끊긴다. 염기 세 개가 삽입되면 codon 하나가 추가되는 것이므로 읽기 틀이 유지되고, 그 자리에 아미노산 하나가 끼어드는 데 그친다. 기능에 결정적인 부위가 아니면 단백질이 어느 정도 기능을 유지할 수 있다. 결과의 크기 차이는 삽입된 염기 수가 3의 배수인지에 달려 있다.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42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사람의 유전자 수는 약 20,000개인데 단백질의 종류는 그보다 훨씬 많다. 가능한 분자적 기전을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주된 기전은 alternative splicing이다. 진핵 유전자는 exon과 intron이 교대로 배열되어 있고, 하나의 전사체에서 exon을 다르게 조합해 여러 mRNA를 만들 수 있다. 사람 유전자의 90% 이상이 alternative splicing을 거치므로 유전자 하나가 여러 단백질 이형을 낸다. 이 외에도 여러 전사 개시점이나 여러 polyadenylation 지점의 사용으로 서로 다른 말단을 가진 전사체가 생기고, 번역 후 단백질 분해에 의한 절단과 인산화·당 사슬 부착 같은 공유결합 변형이 같은 아미노산 서열에서 기능이 다른 여러 형태를 만든다. 즉 정보의 다양성은 유전자 개수보다 전사체와 단백질 수준의 가공에서 나온다.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43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Aminoglycoside와 macrolide가 세균에만 선택적으로 작용하는 근거와, 그래도 부작용이 나타나는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선택성의 근거는 ribosome의 구조 차이다. 세균의 ribosome은 70S로 50S와 30S 소단위로 이루어지고 사람의 것은 80S로 60S와 40S로 이루어진다. rRNA 서열과 단백질 구성이 다르므로, 세균의 30S에 결합하는 aminoglycoside와 tetracycline, 50S에 결합하는 macrolide와 chloramphenicol은 사람의 세포질 ribosome에는 거의 결합하지 않는다. 부작용이 나타나는 이유는 미토콘드리아에 있다. 미토콘드리아는 endosymbiosis로 세균에서 유래했으므로 자신의 ribosome이 세균의 것에 가깝고, 이 약물들이 미토콘드리아 단백질 합성을 일부 억제한다. 에너지 요구가 크고 재생이 어려운 조직이 먼저 영향을 받아 aminoglycoside의 이독성과 chloramphenicol의 골수 억제가 나타난다.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44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Cooper GM, Adams K. The Cell: A Molecular Approach. 9th ed. Oxford University Press; 2022. Chapter 4, Fundamentals of Molecular Biology.</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Heald R, Johnson A, et al. Molecular Biology of the Cell. 7th ed. W.W. Norton; 2022. Chapter 5, DNA Replication and Repair; Chapter 6, How Cells Read the Genome.</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Avery OT, MacLeod CM, McCarty M. Studies on the chemical nature of the substance inducing transformation of pneumococcal types. J Exp Med 1944;79:137–158.</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Hershey AD, Chase M. Independent functions of viral protein and nucleic acid in growth of bacteriophage. J Gen Physiol 1952;36:39–56.</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Meselson M, Stahl FW. The replication of DNA in Escherichia coli. Proc Natl Acad Sci USA 1958;44:671–682.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Watson JD, Crick FHC. Molecular structure of nucleic acids: a structure for deoxyribose nucleic acid. Nature 1953;171:737–738.</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45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Nirenberg M, Leder P. RNA codewords and protein synthesis. Science 1964;145:1399–1407.</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Farrar MA, Kiernan MC. The genetics of spinal muscular atrophy: progress and challenges. Neurotherapeutics 2015;12:290–302.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