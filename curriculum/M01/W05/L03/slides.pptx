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dogma와 그 예외. 복제·전사·번역의 방향, 그리고 reverse transcriptase와 RNA 의존 RNA polymerase가 추가하는 경로를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복제분기점의 구조. Helicase가 사슬을 풀고, leading strand는 연속 합성되며, lagging strand는 primer와 Okazaki fragment로 불연속 합성된 뒤 ligase로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전사와 진핵 mRNA의 가공. Promoter에서의 개시, 5′ cap, intron splicing, 3′ polyadenylation을 거쳐 성숙한 mRNA가 핵공을 통해 세포질로 나가는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 표와 tRNA의 구조. 64개 codon의 배치, 세 번째 염기의 중복성, 종결 codon, 그리고 anticodon과 아미노산 결합 부위를 가진 tRNA의 L자 구조를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번역의 세 단계. Ribosome의 A·P·E 자리, aminoacyl-tRNA의 진입, peptide 결합 형성, translocation의 순환과 종결 codon에서의 release를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DNA가 유전물질이라는 결론과 central dogma</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반보존적 복제와 Meselson-Stahl 실험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DNA 복제의 기전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복제의 정확도와 수선</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전사: RNA polymerase와 promoter</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진핵 mRNA의 가공</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유전암호와 tRNA</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번역: ribosome의 세 단계와 원핵·진핵의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DNA가 유전물질이라는 결론과 central dogma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전반까지 유전물질이 단백질이라는 견해가 우세했다. 단백질이 20종의 아미노산으로 이루어져 다양성이 크고, DNA는 네 종의 nucleotide로만 이루어져 단순해 보였기 때문이다. 세 실험이 이 견해를 뒤집었다.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Griffith(1928)의 형질전환</a:t>
            </a:r>
            <a:r>
              <a:rPr sz="1400" b="0" i="0">
                <a:solidFill>
                  <a:srgbClr val="11202B"/>
                </a:solidFill>
                <a:latin typeface="Malgun Gothic"/>
                <a:ea typeface="Malgun Gothic"/>
                <a:cs typeface="Malgun Gothic"/>
              </a:rPr>
              <a:t> 독성이 없는 S. pneumoniae의 R형에 열로 죽인 독성 S형을 섞어 주사하자 R형이 독성을 갖게 되었다. 죽은 세포에서 나온 어떤 물질이 형질을 옮긴다는 뜻이었지만 그 물질의 정체는 밝히지 못했다.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Avery, MacLeod, McCarty(1944)</a:t>
            </a:r>
            <a:r>
              <a:rPr sz="1400" b="0" i="0">
                <a:solidFill>
                  <a:srgbClr val="11202B"/>
                </a:solidFill>
                <a:latin typeface="Malgun Gothic"/>
                <a:ea typeface="Malgun Gothic"/>
                <a:cs typeface="Malgun Gothic"/>
              </a:rPr>
              <a:t> 열처리한 S형 추출물에서 단백질, RNA, 다당류를 각각 제거했을 때는 형질전환이 유지되었으나, DNase로 DNA를 분해하면 형질전환이 사라졌다. </a:t>
            </a:r>
            <a:r>
              <a:rPr sz="1400" b="1" i="0">
                <a:solidFill>
                  <a:srgbClr val="11202B"/>
                </a:solidFill>
                <a:latin typeface="Malgun Gothic"/>
                <a:ea typeface="Malgun Gothic"/>
                <a:cs typeface="Malgun Gothic"/>
              </a:rPr>
              <a:t>형질전환 물질이 DNA라는 결론이다.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Hershey와 Chase(1952)</a:t>
            </a:r>
            <a:r>
              <a:rPr sz="1400" b="0" i="0">
                <a:solidFill>
                  <a:srgbClr val="11202B"/>
                </a:solidFill>
                <a:latin typeface="Malgun Gothic"/>
                <a:ea typeface="Malgun Gothic"/>
                <a:cs typeface="Malgun Gothic"/>
              </a:rPr>
              <a:t> 박테리오파지의 단백질 껍질은 ³⁵S로, DNA는 ³²P로 표지했다. 파지를 세균에 감염시킨 뒤 흔들어 껍질을 떼어내고 원심분리로 나누자, 세균 안으로 들어가 다음 세대 파지에 전달되는 것은 </a:t>
            </a:r>
            <a:r>
              <a:rPr sz="1400" b="1" i="0">
                <a:solidFill>
                  <a:srgbClr val="11202B"/>
                </a:solidFill>
                <a:latin typeface="Malgun Gothic"/>
                <a:ea typeface="Malgun Gothic"/>
                <a:cs typeface="Malgun Gothic"/>
              </a:rPr>
              <a:t>³²P, 즉 DNA</a:t>
            </a:r>
            <a:r>
              <a:rPr sz="1400" b="0" i="0">
                <a:solidFill>
                  <a:srgbClr val="11202B"/>
                </a:solidFill>
                <a:latin typeface="Malgun Gothic"/>
                <a:ea typeface="Malgun Gothic"/>
                <a:cs typeface="Malgun Gothic"/>
              </a:rPr>
              <a:t>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결론 위에 1958년 Francis Crick이 정보의 흐름 방향을 정리했다. </a:t>
            </a:r>
            <a:r>
              <a:rPr sz="1400" b="1" i="0">
                <a:solidFill>
                  <a:srgbClr val="11202B"/>
                </a:solidFill>
                <a:latin typeface="Malgun Gothic"/>
                <a:ea typeface="Malgun Gothic"/>
                <a:cs typeface="Malgun Gothic"/>
              </a:rPr>
              <a:t>Central dogma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--(복제)--&gt; DNA --(전사)--&gt; RNA --(번역)--&gt; 단백질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DNA가 유전물질이라는 결론과 central dogma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가지를 구별해야 한다. DNA에서 DNA로 가는 복제, DNA에서 RNA로 가는 전사, RNA에서 단백질로 가는 번역이다. 정보는 이 방향으로만 흐르고, </a:t>
            </a:r>
            <a:r>
              <a:rPr sz="1800" b="1" i="0">
                <a:solidFill>
                  <a:srgbClr val="11202B"/>
                </a:solidFill>
                <a:latin typeface="Malgun Gothic"/>
                <a:ea typeface="Malgun Gothic"/>
                <a:cs typeface="Malgun Gothic"/>
              </a:rPr>
              <a:t>단백질의 아미노산 서열이 핵산 서열로 거꾸로 번역되는 일은 일어나지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다만 핵산 사이의 흐름에는 예외가 있다. Retrovirus의 </a:t>
            </a:r>
            <a:r>
              <a:rPr sz="1800" b="1" i="0">
                <a:solidFill>
                  <a:srgbClr val="11202B"/>
                </a:solidFill>
                <a:latin typeface="Malgun Gothic"/>
                <a:ea typeface="Malgun Gothic"/>
                <a:cs typeface="Malgun Gothic"/>
              </a:rPr>
              <a:t>reverse transcriptase</a:t>
            </a:r>
            <a:r>
              <a:rPr sz="1800" b="0" i="0">
                <a:solidFill>
                  <a:srgbClr val="11202B"/>
                </a:solidFill>
                <a:latin typeface="Malgun Gothic"/>
                <a:ea typeface="Malgun Gothic"/>
                <a:cs typeface="Malgun Gothic"/>
              </a:rPr>
              <a:t>는 RNA를 주형으로 DNA를 만들고, RNA virus의 </a:t>
            </a:r>
            <a:r>
              <a:rPr sz="1800" b="1" i="0">
                <a:solidFill>
                  <a:srgbClr val="11202B"/>
                </a:solidFill>
                <a:latin typeface="Malgun Gothic"/>
                <a:ea typeface="Malgun Gothic"/>
                <a:cs typeface="Malgun Gothic"/>
              </a:rPr>
              <a:t>RNA 의존 RNA polymerase</a:t>
            </a:r>
            <a:r>
              <a:rPr sz="1800" b="0" i="0">
                <a:solidFill>
                  <a:srgbClr val="11202B"/>
                </a:solidFill>
                <a:latin typeface="Malgun Gothic"/>
                <a:ea typeface="Malgun Gothic"/>
                <a:cs typeface="Malgun Gothic"/>
              </a:rPr>
              <a:t>는 RNA에서 RNA를 만든다. 두 예외는 모두 핵산에서 핵산으로의 흐름이므로 central dogma의 핵심, 즉 단백질에서 핵산으로 되돌아가지 않는다는 주장은 유지된다.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DNA가 유전물질이라는 결론과 central dogma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pic>
        <p:nvPicPr>
          <p:cNvPr id="7" name="Picture 6" descr="fig-central-dogma.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Central dogma와 그 예외. 복제·전사·번역의 방향, 그리고 reverse transcriptase와 RNA 의존 RNA polymerase가 추가하는 경로를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Watson과 Crick이 1953년 이중나선 구조를 제시하면서 복제 방식도 예측했다. 두 사슬이 상보적이므로, 사슬을 떼어 각각을 주형으로 쓰면 원래와 같은 두 분자가 만들어진다. 이것을 </a:t>
            </a:r>
            <a:r>
              <a:rPr sz="1600" b="1" i="0">
                <a:solidFill>
                  <a:srgbClr val="11202B"/>
                </a:solidFill>
                <a:latin typeface="Malgun Gothic"/>
                <a:ea typeface="Malgun Gothic"/>
                <a:cs typeface="Malgun Gothic"/>
              </a:rPr>
              <a:t>반보존적 복제(semiconservative replication)</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경쟁 가설이 둘 있었다. </a:t>
            </a:r>
            <a:r>
              <a:rPr sz="1600" b="1" i="0">
                <a:solidFill>
                  <a:srgbClr val="11202B"/>
                </a:solidFill>
                <a:latin typeface="Malgun Gothic"/>
                <a:ea typeface="Malgun Gothic"/>
                <a:cs typeface="Malgun Gothic"/>
              </a:rPr>
              <a:t>보존적 복제</a:t>
            </a:r>
            <a:r>
              <a:rPr sz="1600" b="0" i="0">
                <a:solidFill>
                  <a:srgbClr val="11202B"/>
                </a:solidFill>
                <a:latin typeface="Malgun Gothic"/>
                <a:ea typeface="Malgun Gothic"/>
                <a:cs typeface="Malgun Gothic"/>
              </a:rPr>
              <a:t>는 원래 두 사슬이 함께 남고 완전히 새로운 두 사슬이 따로 만들어진다는 것이고, </a:t>
            </a:r>
            <a:r>
              <a:rPr sz="1600" b="1" i="0">
                <a:solidFill>
                  <a:srgbClr val="11202B"/>
                </a:solidFill>
                <a:latin typeface="Malgun Gothic"/>
                <a:ea typeface="Malgun Gothic"/>
                <a:cs typeface="Malgun Gothic"/>
              </a:rPr>
              <a:t>분산적 복제</a:t>
            </a:r>
            <a:r>
              <a:rPr sz="1600" b="0" i="0">
                <a:solidFill>
                  <a:srgbClr val="11202B"/>
                </a:solidFill>
                <a:latin typeface="Malgun Gothic"/>
                <a:ea typeface="Malgun Gothic"/>
                <a:cs typeface="Malgun Gothic"/>
              </a:rPr>
              <a:t>는 새 DNA가 원래 조각과 새 조각이 섞여 있다는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Matthew Meselson과 Franklin Stahl(1958)이 세 가설을 구별했다. 설계가 명료하다.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*E. coli*를 무거운 질소 동위원소 ¹⁵N이 든 배지에서 여러 세대 키워 DNA 전체를 ¹⁵N으로 표지한다. 2. 이 세균을 보통 ¹⁴N 배지로 옮기고 한 세대, 두 세대 뒤의 DNA를 각각 뽑는다. 3. CsCl 밀도구배 평형 원심분리로 DNA를 밀도에 따라 분리한다.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결과는 다음과 같았다.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세대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관찰된 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분산적 예측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0세대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띠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1세대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 밀도 띠 1개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무거운 띠 + 가벼운 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 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2세대</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 띠 + 가벼운 띠, 1:1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1 : 가벼운 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중간보다 가벼운 띠 1개</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1세대에서 중간 밀도 띠만 나온 것이 </a:t>
            </a:r>
            <a:r>
              <a:rPr sz="2000" b="1" i="0">
                <a:solidFill>
                  <a:srgbClr val="11202B"/>
                </a:solidFill>
                <a:latin typeface="Malgun Gothic"/>
                <a:ea typeface="Malgun Gothic"/>
                <a:cs typeface="Malgun Gothic"/>
              </a:rPr>
              <a:t>보존적 복제를 배제</a:t>
            </a:r>
            <a:r>
              <a:rPr sz="2000" b="0" i="0">
                <a:solidFill>
                  <a:srgbClr val="11202B"/>
                </a:solidFill>
                <a:latin typeface="Malgun Gothic"/>
                <a:ea typeface="Malgun Gothic"/>
                <a:cs typeface="Malgun Gothic"/>
              </a:rPr>
              <a:t>했다. 2세대에서 중간 띠와 가벼운 띠가 같은 양으로 나뉘어 나온 것이 </a:t>
            </a:r>
            <a:r>
              <a:rPr sz="2000" b="1" i="0">
                <a:solidFill>
                  <a:srgbClr val="11202B"/>
                </a:solidFill>
                <a:latin typeface="Malgun Gothic"/>
                <a:ea typeface="Malgun Gothic"/>
                <a:cs typeface="Malgun Gothic"/>
              </a:rPr>
              <a:t>분산적 복제를 배제</a:t>
            </a:r>
            <a:r>
              <a:rPr sz="2000" b="0" i="0">
                <a:solidFill>
                  <a:srgbClr val="11202B"/>
                </a:solidFill>
                <a:latin typeface="Malgun Gothic"/>
                <a:ea typeface="Malgun Gothic"/>
                <a:cs typeface="Malgun Gothic"/>
              </a:rPr>
              <a:t>했다. 분산적이라면 모든 분자가 균일하게 가벼워져 하나의 띠로 나와야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실험은 세포분획 기법(밀도구배 평형 원심분리)이 어떻게 분자 수준의 질문에 답하는지를 보여주는 사례이기도 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a:t>
            </a:r>
            <a:r>
              <a:rPr sz="1400" b="1" i="0">
                <a:solidFill>
                  <a:srgbClr val="11202B"/>
                </a:solidFill>
                <a:latin typeface="Malgun Gothic"/>
                <a:ea typeface="Malgun Gothic"/>
                <a:cs typeface="Malgun Gothic"/>
              </a:rPr>
              <a:t>replication origin</a:t>
            </a:r>
            <a:r>
              <a:rPr sz="1400" b="0" i="0">
                <a:solidFill>
                  <a:srgbClr val="11202B"/>
                </a:solidFill>
                <a:latin typeface="Malgun Gothic"/>
                <a:ea typeface="Malgun Gothic"/>
                <a:cs typeface="Malgun Gothic"/>
              </a:rPr>
              <a:t>에서 시작한다. *E. coli*는 환상 유전체에 origin이 하나(oriC)지만, 사람의 염색체에는 수만 개가 있어 동시에 여러 지점에서 시작한다. 사람의 유전체 3,200 Mb를 하나의 origin으로 복제한다면 수 주가 걸리므로, 다중 origin이 S기를 몇 시간으로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Origin에서 두 방향으로 </a:t>
            </a:r>
            <a:r>
              <a:rPr sz="1400" b="1" i="0">
                <a:solidFill>
                  <a:srgbClr val="11202B"/>
                </a:solidFill>
                <a:latin typeface="Malgun Gothic"/>
                <a:ea typeface="Malgun Gothic"/>
                <a:cs typeface="Malgun Gothic"/>
              </a:rPr>
              <a:t>복제분기점(replication fork)</a:t>
            </a:r>
            <a:r>
              <a:rPr sz="1400" b="0" i="0">
                <a:solidFill>
                  <a:srgbClr val="11202B"/>
                </a:solidFill>
                <a:latin typeface="Malgun Gothic"/>
                <a:ea typeface="Malgun Gothic"/>
                <a:cs typeface="Malgun Gothic"/>
              </a:rPr>
              <a:t>이 진행한다. 분기점에서 일어나는 일을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가 ATP를 써서 두 사슬을 떼어낸다. *E. coli*는 DnaB, 사람은 MCM 복합체다.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Single-strand binding protein</a:t>
            </a:r>
            <a:r>
              <a:rPr sz="1400" b="0" i="0">
                <a:solidFill>
                  <a:srgbClr val="11202B"/>
                </a:solidFill>
                <a:latin typeface="Malgun Gothic"/>
                <a:ea typeface="Malgun Gothic"/>
                <a:cs typeface="Malgun Gothic"/>
              </a:rPr>
              <a:t>이 떨어진 사슬에 붙어 다시 짝지어지는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Topoisomerase</a:t>
            </a:r>
            <a:r>
              <a:rPr sz="1400" b="0" i="0">
                <a:solidFill>
                  <a:srgbClr val="11202B"/>
                </a:solidFill>
                <a:latin typeface="Malgun Gothic"/>
                <a:ea typeface="Malgun Gothic"/>
                <a:cs typeface="Malgun Gothic"/>
              </a:rPr>
              <a:t>가 사슬이 풀릴 때 앞쪽에 생기는 꼬임(supercoil)을 끊고 다시 이어 해소한다.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짧은 RNA primer를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가 primer의 3′ 말단에 nucleotide를 붙여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두 가지 있다. 첫째, </a:t>
            </a:r>
            <a:r>
              <a:rPr sz="1400" b="1" i="0">
                <a:solidFill>
                  <a:srgbClr val="11202B"/>
                </a:solidFill>
                <a:latin typeface="Malgun Gothic"/>
                <a:ea typeface="Malgun Gothic"/>
                <a:cs typeface="Malgun Gothic"/>
              </a:rPr>
              <a:t>모든 DNA polymerase는 5′→3′ 방향으로만 합성한다.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primer 없이 사슬을 새로 시작할 수 없다.</a:t>
            </a:r>
            <a:r>
              <a:rPr sz="1400" b="0" i="0">
                <a:solidFill>
                  <a:srgbClr val="11202B"/>
                </a:solidFill>
                <a:latin typeface="Malgun Gothic"/>
                <a:ea typeface="Malgun Gothic"/>
                <a:cs typeface="Malgun Gothic"/>
              </a:rPr>
              <a:t> 두 사슬은 서로 반대 방향이므로 이 제약 때문에 두 사슬의 합성 방식이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Leading strand</a:t>
            </a:r>
            <a:r>
              <a:rPr sz="1400" b="0" i="0">
                <a:solidFill>
                  <a:srgbClr val="11202B"/>
                </a:solidFill>
                <a:latin typeface="Malgun Gothic"/>
                <a:ea typeface="Malgun Gothic"/>
                <a:cs typeface="Malgun Gothic"/>
              </a:rPr>
              <a:t>: 분기점이 진행하는 방향과 합성 방향이 같다. primer 하나로 연속해서 합성한다.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Lagging strand</a:t>
            </a:r>
            <a:r>
              <a:rPr sz="1800" b="0" i="0">
                <a:solidFill>
                  <a:srgbClr val="11202B"/>
                </a:solidFill>
                <a:latin typeface="Malgun Gothic"/>
                <a:ea typeface="Malgun Gothic"/>
                <a:cs typeface="Malgun Gothic"/>
              </a:rPr>
              <a:t>: 분기점 진행 방향과 합성 방향이 반대다. 분기점이 나아가 주형이 노출될 때마다 primer를 새로 만들고 짧은 조각을 거꾸로 합성한다. 이 조각을 </a:t>
            </a:r>
            <a:r>
              <a:rPr sz="1800" b="1" i="0">
                <a:solidFill>
                  <a:srgbClr val="11202B"/>
                </a:solidFill>
                <a:latin typeface="Malgun Gothic"/>
                <a:ea typeface="Malgun Gothic"/>
                <a:cs typeface="Malgun Gothic"/>
              </a:rPr>
              <a:t>Okazaki fragment</a:t>
            </a:r>
            <a:r>
              <a:rPr sz="1800" b="0" i="0">
                <a:solidFill>
                  <a:srgbClr val="11202B"/>
                </a:solidFill>
                <a:latin typeface="Malgun Gothic"/>
                <a:ea typeface="Malgun Gothic"/>
                <a:cs typeface="Malgun Gothic"/>
              </a:rPr>
              <a:t>라 하며 세균에서 1,000~2,000 nucleotide, 진핵에서 100~200 nucleotide다.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Lagging strand를 마무리하려면 세 단계가 더 필요하다. RNA primer를 제거하고(RNase H와 5′→3′ exonuclease 활성), 생긴 빈자리를 DNA polymerase가 채우고, </a:t>
            </a:r>
            <a:r>
              <a:rPr sz="1800" b="1" i="0">
                <a:solidFill>
                  <a:srgbClr val="11202B"/>
                </a:solidFill>
                <a:latin typeface="Malgun Gothic"/>
                <a:ea typeface="Malgun Gothic"/>
                <a:cs typeface="Malgun Gothic"/>
              </a:rPr>
              <a:t>DNA ligase</a:t>
            </a:r>
            <a:r>
              <a:rPr sz="1800" b="0" i="0">
                <a:solidFill>
                  <a:srgbClr val="11202B"/>
                </a:solidFill>
                <a:latin typeface="Malgun Gothic"/>
                <a:ea typeface="Malgun Gothic"/>
                <a:cs typeface="Malgun Gothic"/>
              </a:rPr>
              <a:t>가 인접 조각의 3′-OH와 5′-인산 사이에 phosphodiester 결합을 만든다.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pic>
        <p:nvPicPr>
          <p:cNvPr id="7" name="Picture 6" descr="fig-replication-fork.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복제분기점의 구조. Helicase가 사슬을 풀고, leading strand는 연속 합성되며, lagging strand는 primer와 Okazaki fragment로 불연속 합성된 뒤 ligase로 이어진다.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선형 염색체의 말단 문제</a:t>
            </a:r>
            <a:r>
              <a:rPr sz="1800" b="0" i="0">
                <a:solidFill>
                  <a:srgbClr val="11202B"/>
                </a:solidFill>
                <a:latin typeface="Malgun Gothic"/>
                <a:ea typeface="Malgun Gothic"/>
                <a:cs typeface="Malgun Gothic"/>
              </a:rPr>
              <a:t>가 남는다. Lagging strand의 가장 끝 primer를 제거하면 그 자리를 채울 primer를 앞쪽에 둘 수 없어 염색체가 매 복제마다 짧아진다. 해결은 </a:t>
            </a:r>
            <a:r>
              <a:rPr sz="1800" b="1" i="0">
                <a:solidFill>
                  <a:srgbClr val="11202B"/>
                </a:solidFill>
                <a:latin typeface="Malgun Gothic"/>
                <a:ea typeface="Malgun Gothic"/>
                <a:cs typeface="Malgun Gothic"/>
              </a:rPr>
              <a:t>telomere</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telomerase</a:t>
            </a:r>
            <a:r>
              <a:rPr sz="1800" b="0" i="0">
                <a:solidFill>
                  <a:srgbClr val="11202B"/>
                </a:solidFill>
                <a:latin typeface="Malgun Gothic"/>
                <a:ea typeface="Malgun Gothic"/>
                <a:cs typeface="Malgun Gothic"/>
              </a:rPr>
              <a:t>다. Telomere는 염색체 말단의 반복 서열(사람은 TTAGGG)이고, telomerase는 자신의 RNA를 주형으로 쓰는 reverse transcriptase여서 주형 DNA 없이 말단을 늘릴 수 있다. 사람의 체세포 대부분은 telomerase 활성이 낮아 분열마다 telomere가 짧아지고, 일정 길이 아래로 떨어지면 분열이 멈춘다. 이것이 M01-W05-L01에서 다룬 replicative senescence의 분자적 근거다.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복제 기구는 항생제와 항암제의 표적이다. 세균의 topoisomerase II(DNA gyrase)와 IV를 억제하는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(ciprofloxacin, levofloxacin)은 사람의 topoisomerase와 구조가 달라 선택적으로 작동한다. 사람의 topoisomerase를 겨냥하는 약물은 항암제로 쓰인다. Etoposide는 topoisomerase II를, irinotecan은 topoisomerase I을 억제해 끊긴 DNA가 이어지지 못하게 만들어 빠르게 분열하는 세포를 죽인다. 한편 생식세포와 줄기세포는 telomerase를 유지하는데, 암세포의 약 90%가 telomerase를 재활성화해 무한 증식 능력을 얻는다.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복제 오류율은 nucleotide당 약 10⁻¹⁰이다. 3,200 Mb를 복제하면서 오류가 한 개 미만이라는 뜻이다. 중합효소 자체의 정확도만으로는 이 수준에 도달할 수 없고, 세 장치가 차례로 오류를 걸러낸다.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중합효소의 기질 선택</a:t>
            </a:r>
            <a:r>
              <a:rPr sz="1600" b="0" i="0">
                <a:solidFill>
                  <a:srgbClr val="11202B"/>
                </a:solidFill>
                <a:latin typeface="Malgun Gothic"/>
                <a:ea typeface="Malgun Gothic"/>
                <a:cs typeface="Malgun Gothic"/>
              </a:rPr>
              <a:t> 올바른 염기쌍만 활성 부위의 기하 구조에 맞으므로 잘못된 nucleotide의 결합이 드물다. 이 단계의 오류율은 약 10⁻⁵이다. 2. </a:t>
            </a:r>
            <a:r>
              <a:rPr sz="1600" b="1" i="0">
                <a:solidFill>
                  <a:srgbClr val="11202B"/>
                </a:solidFill>
                <a:latin typeface="Malgun Gothic"/>
                <a:ea typeface="Malgun Gothic"/>
                <a:cs typeface="Malgun Gothic"/>
              </a:rPr>
              <a:t>3′→5′ exonuclease에 의한 교정(proofreading)</a:t>
            </a:r>
            <a:r>
              <a:rPr sz="1600" b="0" i="0">
                <a:solidFill>
                  <a:srgbClr val="11202B"/>
                </a:solidFill>
                <a:latin typeface="Malgun Gothic"/>
                <a:ea typeface="Malgun Gothic"/>
                <a:cs typeface="Malgun Gothic"/>
              </a:rPr>
              <a:t> DNA polymerase는 합성 활성 외에 방금 붙인 nucleotide를 떼어내는 활성을 함께 갖는다. 짝이 맞지 않으면 사슬 말단이 불안정해져 exonuclease 부위로 옮겨가 제거된다. 여기서 오류율이 약 10⁻⁷로 내려간다. 3.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 후에도 남은 짝 불일치를 따로 인식해 고친다. 새로 합성된 사슬을 구별해 그쪽만 잘라내고 다시 합성한다. 최종 오류율이 약 10⁻¹⁰이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DNA는 복제와 무관하게도 끊임없이 손상된다. 탈아미노화, 산화, 자외선에 의한 pyrimidine dimer, 알킬화가 일어난다. 수선 경로는 손상의 종류에 따라 나뉜다.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수선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다루는 손상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시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남은 짝 불일치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Lynch syndrome(유전성 비폴립 대장암)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Base 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산화·탈아미노화된 염기 하나</a:t>
                      </a:r>
                    </a:p>
                  </a:txBody>
                  <a:tcPr marL="73152" marR="73152" marT="27432" marB="27432">
                    <a:solidFill>
                      <a:srgbClr val="EFF4F8"/>
                    </a:solidFill>
                  </a:tcPr>
                </a:tc>
                <a:tc>
                  <a:txBody>
                    <a:bodyPr/>
                    <a:lstStyle/>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Nucleotide 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자외선 pyrimidine dimer 등 부피 큰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Xeroderma pigmentosum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이중사슬 절단 수선(HR, NHEJ)</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사슬이 모두 끊어진 경우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BRCA1·BRCA2 변이 유방·난소암</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수선 경로의 결손은 암 위험을 높이지만 동시에 치료의 표적이 된다. BRCA1·BRCA2 변이 세포는 이중사슬 절단의 상동재조합 수선이 망가져 있으므로, 단일사슬 절단 수선에 필요한 PARP를 억제하면 두 수선 경로가 모두 막혀 세포가 죽는다. 정상 세포는 상동재조합이 남아 있어 살아남는다. 이 선택성을 </a:t>
            </a:r>
            <a:r>
              <a:rPr sz="1600" b="1" i="0">
                <a:solidFill>
                  <a:srgbClr val="11202B"/>
                </a:solidFill>
                <a:latin typeface="Malgun Gothic"/>
                <a:ea typeface="Malgun Gothic"/>
                <a:cs typeface="Malgun Gothic"/>
              </a:rPr>
              <a:t>synthetic lethality</a:t>
            </a:r>
            <a:r>
              <a:rPr sz="1600" b="0" i="0">
                <a:solidFill>
                  <a:srgbClr val="11202B"/>
                </a:solidFill>
                <a:latin typeface="Malgun Gothic"/>
                <a:ea typeface="Malgun Gothic"/>
                <a:cs typeface="Malgun Gothic"/>
              </a:rPr>
              <a:t>라 하며, olaparib 같은 PARP 억제제가 이 원리로 쓰인다.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전사는 DNA 한쪽 사슬을 주형으로 RNA를 만드는 과정이다. DNA 복제와 공통점과 차이점을 함께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사슬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사슬만(유전자에 따라 어느 쪽인지 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단일사슬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dNTP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NTP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교정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없다(오류율 약 10⁻⁴)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필요한 유전자만</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전사: RNA polymerase와 promoter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정확도가 낮아도 문제가 적은 이유는 RNA가 일시적이고 한 유전자에서 많은 copy가 만들어지기 때문이다. 하나에 오류가 있어도 나머지가 정상이다.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는 RNA polymerase가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에 결합하는 것이다. Promoter는 전사 시작점 앞쪽의 DNA 서열로, 어디서 시작할지와 어느 사슬을 주형으로 쓸지를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RNA polymerase 한 종류가 모든 RNA를 만든다. σ 인자가 promoter의 −10 서열(TATAAT)과 −35 서열(TTGACA)을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RNA polymerase가 세 종류로 나뉜다. </a:t>
            </a:r>
            <a:r>
              <a:rPr sz="1400" b="1" i="0">
                <a:solidFill>
                  <a:srgbClr val="11202B"/>
                </a:solidFill>
                <a:latin typeface="Malgun Gothic"/>
                <a:ea typeface="Malgun Gothic"/>
                <a:cs typeface="Malgun Gothic"/>
              </a:rPr>
              <a:t>Pol I</a:t>
            </a:r>
            <a:r>
              <a:rPr sz="1400" b="0" i="0">
                <a:solidFill>
                  <a:srgbClr val="11202B"/>
                </a:solidFill>
                <a:latin typeface="Malgun Gothic"/>
                <a:ea typeface="Malgun Gothic"/>
                <a:cs typeface="Malgun Gothic"/>
              </a:rPr>
              <a:t>은 rRNA, </a:t>
            </a:r>
            <a:r>
              <a:rPr sz="1400" b="1" i="0">
                <a:solidFill>
                  <a:srgbClr val="11202B"/>
                </a:solidFill>
                <a:latin typeface="Malgun Gothic"/>
                <a:ea typeface="Malgun Gothic"/>
                <a:cs typeface="Malgun Gothic"/>
              </a:rPr>
              <a:t>Pol II</a:t>
            </a:r>
            <a:r>
              <a:rPr sz="1400" b="0" i="0">
                <a:solidFill>
                  <a:srgbClr val="11202B"/>
                </a:solidFill>
                <a:latin typeface="Malgun Gothic"/>
                <a:ea typeface="Malgun Gothic"/>
                <a:cs typeface="Malgun Gothic"/>
              </a:rPr>
              <a:t>는 mRNA와 대부분의 조절 RNA,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은 tRNA와 5S rRNA를 만든다. Pol II는 혼자 promoter를 인식하지 못하고 </a:t>
            </a:r>
            <a:r>
              <a:rPr sz="1400" b="1" i="0">
                <a:solidFill>
                  <a:srgbClr val="11202B"/>
                </a:solidFill>
                <a:latin typeface="Malgun Gothic"/>
                <a:ea typeface="Malgun Gothic"/>
                <a:cs typeface="Malgun Gothic"/>
              </a:rPr>
              <a:t>일반 전사인자(TFIID 등)</a:t>
            </a:r>
            <a:r>
              <a:rPr sz="1400" b="0" i="0">
                <a:solidFill>
                  <a:srgbClr val="11202B"/>
                </a:solidFill>
                <a:latin typeface="Malgun Gothic"/>
                <a:ea typeface="Malgun Gothic"/>
                <a:cs typeface="Malgun Gothic"/>
              </a:rPr>
              <a:t>가 먼저 TATA box에 결합해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에서는 polymerase가 주형 사슬을 따라 움직이며 nucleotide를 붙인다. 세균은 약 50 nucleotide/초, 진핵은 그보다 느리다.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은 세균에서 두 방식(hairpin 구조에 의한 종결과 Rho 인자 의존 종결)으로 일어나고, 진핵 Pol II에서는 polyadenylation 신호 서열이 인식된 뒤 전사체가 잘리며 끝난다.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전사: RNA polymerase와 promoter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진핵의 전사 조절은 promoter만으로 이루어지지 않는다. 수천 염기쌍 떨어진 </a:t>
            </a:r>
            <a:r>
              <a:rPr sz="2000" b="1" i="0">
                <a:solidFill>
                  <a:srgbClr val="11202B"/>
                </a:solidFill>
                <a:latin typeface="Malgun Gothic"/>
                <a:ea typeface="Malgun Gothic"/>
                <a:cs typeface="Malgun Gothic"/>
              </a:rPr>
              <a:t>enhancer</a:t>
            </a:r>
            <a:r>
              <a:rPr sz="2000" b="0" i="0">
                <a:solidFill>
                  <a:srgbClr val="11202B"/>
                </a:solidFill>
                <a:latin typeface="Malgun Gothic"/>
                <a:ea typeface="Malgun Gothic"/>
                <a:cs typeface="Malgun Gothic"/>
              </a:rPr>
              <a:t>에 조절 단백질이 결합하고, DNA가 휘어 promoter와 접촉한다. 이 거리를 둔 조절이 같은 유전체로 수백 종의 세포를 만들어 내는 기반이다.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mRNA가 전사되는 동시에 번역된다. 진핵에서는 전사가 핵에서, 번역이 세포질에서 일어나므로 그 사이에 가공 단계가 들어간다.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전사가 시작된 직후 첫 nucleotide의 5′ 말단에 7-methylguanosine이 거꾸로 결합한다. 세 가지 기능을 한다. 5′ exonuclease로부터 RNA를 보호하고, 핵에서 세포질로 나가는 수송을 돕고, 번역 개시에서 ribosome이 mRNA를 인식하는 표지가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polyadenylation</a:t>
            </a:r>
            <a:r>
              <a:rPr sz="1400" b="0" i="0">
                <a:solidFill>
                  <a:srgbClr val="11202B"/>
                </a:solidFill>
                <a:latin typeface="Malgun Gothic"/>
                <a:ea typeface="Malgun Gothic"/>
                <a:cs typeface="Malgun Gothic"/>
              </a:rPr>
              <a:t> 전사체가 잘린 뒤 poly(A) polymerase가 주형 없이 adenine을 100~250개 붙인다. mRNA의 안정성을 높이고 번역 효율을 올린다. poly(A) 꼬리가 짧아지는 것이 mRNA 분해의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진핵 유전자는 단백질을 암호화하는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과 그렇지 않은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교대로 배열되어 있다. 전사체에서 intron을 잘라내고 exon을 이어 붙이는 과정이 splicing이다. 사람 유전자의 평균 intron 수는 약 8개이고, intron이 유전자 길이의 대부분을 차지한다. DMD 유전자는 2.2 Mb이지만 mRNA는 14 kb다.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Splicing은 snRNA와 단백질로 이루어진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 수행하며, 촉매 부위는 단백질이 아니라 </a:t>
            </a:r>
            <a:r>
              <a:rPr sz="1400" b="1" i="0">
                <a:solidFill>
                  <a:srgbClr val="11202B"/>
                </a:solidFill>
                <a:latin typeface="Malgun Gothic"/>
                <a:ea typeface="Malgun Gothic"/>
                <a:cs typeface="Malgun Gothic"/>
              </a:rPr>
              <a:t>snRNA</a:t>
            </a:r>
            <a:r>
              <a:rPr sz="1400" b="0" i="0">
                <a:solidFill>
                  <a:srgbClr val="11202B"/>
                </a:solidFill>
                <a:latin typeface="Malgun Gothic"/>
                <a:ea typeface="Malgun Gothic"/>
                <a:cs typeface="Malgun Gothic"/>
              </a:rPr>
              <a:t>다. 인식 신호는 intron 양 끝의 짧은 서열(5′의 GU, 3′의 AG)과 그 안쪽의 branch point다.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Alternative splicing</a:t>
            </a:r>
            <a:r>
              <a:rPr sz="2000" b="0" i="0">
                <a:solidFill>
                  <a:srgbClr val="11202B"/>
                </a:solidFill>
                <a:latin typeface="Malgun Gothic"/>
                <a:ea typeface="Malgun Gothic"/>
                <a:cs typeface="Malgun Gothic"/>
              </a:rPr>
              <a:t>이 진핵 유전자의 정보량을 늘린다. 같은 전사체에서 exon을 다르게 조합하면 여러 단백질이 만들어진다. 사람 유전자의 90% 이상이 alternative splicing을 거치며, 이것이 유전자 약 20,000개로 그보다 훨씬 많은 종류의 단백질을 만드는 주된 이유다.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pic>
        <p:nvPicPr>
          <p:cNvPr id="7" name="Picture 6" descr="fig-transcription-processing.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전사와 진핵 mRNA의 가공. Promoter에서의 개시, 5′ cap, intron splicing, 3′ polyadenylation을 거쳐 성숙한 mRNA가 핵공을 통해 세포질로 나가는 과정을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 site 변이가 질환을 일으킨다. β-thalassemia의 상당수가 HBB 유전자의 splice site 변이로 β-globin mRNA가 제대로 만들어지지 않아 생긴다. 반대로 splicing을 약으로 조작할 수도 있다. Spinal muscular atrophy에서는 *SMN1*이 망가져 있지만 거의 같은 *SMN2*가 남아 있고, *SMN2*는 exon 7이 빠지는 splicing을 주로 거쳐 기능이 없는 단백질을 만든다.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이 splicing을 억제하는 antisense oligonucleotide로, exon 7이 포함되게 해 기능성 SMN 단백질을 늘린다.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mRNA의 염기 서열이 어떻게 아미노산 서열로 읽히는가. 염기는 4종, 아미노산은 20종이므로 염기 하나로는 4종, 둘로는 16종까지만 지정할 수 있다. </a:t>
            </a:r>
            <a:r>
              <a:rPr sz="1400" b="1" i="0">
                <a:solidFill>
                  <a:srgbClr val="11202B"/>
                </a:solidFill>
                <a:latin typeface="Malgun Gothic"/>
                <a:ea typeface="Malgun Gothic"/>
                <a:cs typeface="Malgun Gothic"/>
              </a:rPr>
              <a:t>셋</a:t>
            </a:r>
            <a:r>
              <a:rPr sz="1400" b="0" i="0">
                <a:solidFill>
                  <a:srgbClr val="11202B"/>
                </a:solidFill>
                <a:latin typeface="Malgun Gothic"/>
                <a:ea typeface="Malgun Gothic"/>
                <a:cs typeface="Malgun Gothic"/>
              </a:rPr>
              <a:t>이면 64종이 되어 충분하다. 실제로 유전암호는 염기 세 개, 즉 </a:t>
            </a:r>
            <a:r>
              <a:rPr sz="1400" b="1" i="0">
                <a:solidFill>
                  <a:srgbClr val="11202B"/>
                </a:solidFill>
                <a:latin typeface="Malgun Gothic"/>
                <a:ea typeface="Malgun Gothic"/>
                <a:cs typeface="Malgun Gothic"/>
              </a:rPr>
              <a:t>codon</a:t>
            </a:r>
            <a:r>
              <a:rPr sz="1400" b="0" i="0">
                <a:solidFill>
                  <a:srgbClr val="11202B"/>
                </a:solidFill>
                <a:latin typeface="Malgun Gothic"/>
                <a:ea typeface="Malgun Gothic"/>
                <a:cs typeface="Malgun Gothic"/>
              </a:rPr>
              <a:t> 단위로 읽힌다.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염기 단위</a:t>
            </a:r>
            <a:r>
              <a:rPr sz="1400" b="0" i="0">
                <a:solidFill>
                  <a:srgbClr val="11202B"/>
                </a:solidFill>
                <a:latin typeface="Malgun Gothic"/>
                <a:ea typeface="Malgun Gothic"/>
                <a:cs typeface="Malgun Gothic"/>
              </a:rPr>
              <a:t>: 64개 codon이 있다. 61개가 아미노산을, 3개(UAA, UAG, UGA)가 종결을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중복성(degenerate)</a:t>
            </a:r>
            <a:r>
              <a:rPr sz="1400" b="0" i="0">
                <a:solidFill>
                  <a:srgbClr val="11202B"/>
                </a:solidFill>
                <a:latin typeface="Malgun Gothic"/>
                <a:ea typeface="Malgun Gothic"/>
                <a:cs typeface="Malgun Gothic"/>
              </a:rPr>
              <a:t>: 대부분의 아미노산이 여러 codon으로 지정된다. Leucine은 6개, methionine과 tryptophan은 1개다.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모호하지 않음(unambiguous)</a:t>
            </a:r>
            <a:r>
              <a:rPr sz="1400" b="0" i="0">
                <a:solidFill>
                  <a:srgbClr val="11202B"/>
                </a:solidFill>
                <a:latin typeface="Malgun Gothic"/>
                <a:ea typeface="Malgun Gothic"/>
                <a:cs typeface="Malgun Gothic"/>
              </a:rPr>
              <a:t>: 하나의 codon은 하나의 아미노산만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띄어쓰기가 없음</a:t>
            </a:r>
            <a:r>
              <a:rPr sz="1400" b="0" i="0">
                <a:solidFill>
                  <a:srgbClr val="11202B"/>
                </a:solidFill>
                <a:latin typeface="Malgun Gothic"/>
                <a:ea typeface="Malgun Gothic"/>
                <a:cs typeface="Malgun Gothic"/>
              </a:rPr>
              <a:t>: codon이 연속해서 읽히며 사이에 구분 기호가 없다. 그래서 읽기 틀(reading frame)이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보편적(universal)</a:t>
            </a:r>
            <a:r>
              <a:rPr sz="1400" b="0" i="0">
                <a:solidFill>
                  <a:srgbClr val="11202B"/>
                </a:solidFill>
                <a:latin typeface="Malgun Gothic"/>
                <a:ea typeface="Malgun Gothic"/>
                <a:cs typeface="Malgun Gothic"/>
              </a:rPr>
              <a:t>: 세균부터 사람까지 거의 같다. 미토콘드리아 유전암호에 몇 가지 예외가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중복성에는 규칙성이 있다. 같은 아미노산을 지정하는 codon들은 대개 </a:t>
            </a:r>
            <a:r>
              <a:rPr sz="1400" b="1" i="0">
                <a:solidFill>
                  <a:srgbClr val="11202B"/>
                </a:solidFill>
                <a:latin typeface="Malgun Gothic"/>
                <a:ea typeface="Malgun Gothic"/>
                <a:cs typeface="Malgun Gothic"/>
              </a:rPr>
              <a:t>세 번째 염기만 다르다.</a:t>
            </a:r>
            <a:r>
              <a:rPr sz="1400" b="0" i="0">
                <a:solidFill>
                  <a:srgbClr val="11202B"/>
                </a:solidFill>
                <a:latin typeface="Malgun Gothic"/>
                <a:ea typeface="Malgun Gothic"/>
                <a:cs typeface="Malgun Gothic"/>
              </a:rPr>
              <a:t> 그래서 세 번째 염기의 치환은 아미노산을 바꾸지 않는 경우가 많다(silent mutation). 이 배치는 변이의 영향을 줄이는 완충 장치로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 틀</a:t>
            </a:r>
            <a:r>
              <a:rPr sz="1400" b="0" i="0">
                <a:solidFill>
                  <a:srgbClr val="11202B"/>
                </a:solidFill>
                <a:latin typeface="Malgun Gothic"/>
                <a:ea typeface="Malgun Gothic"/>
                <a:cs typeface="Malgun Gothic"/>
              </a:rPr>
              <a:t>의 중요성은 변이의 종류로 드러난다.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바뀌지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다른 아미노산이 들어간다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되어 단백질이 짧아진다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뒤의 모든 codon이 바뀌어 전혀 다른 단백질이 된다</a:t>
                      </a:r>
                    </a:p>
                  </a:txBody>
                  <a:tcPr marL="73152" marR="73152" marT="27432" marB="27432">
                    <a:solidFill>
                      <a:srgbClr val="EF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tRNA</a:t>
            </a:r>
            <a:r>
              <a:rPr sz="1800" b="0" i="0">
                <a:solidFill>
                  <a:srgbClr val="11202B"/>
                </a:solidFill>
                <a:latin typeface="Malgun Gothic"/>
                <a:ea typeface="Malgun Gothic"/>
                <a:cs typeface="Malgun Gothic"/>
              </a:rPr>
              <a:t>가 codon과 아미노산을 잇는다. tRNA는 70~90 nucleotide의 RNA가 접혀 클로버 모양의 2차 구조와 L자 모양의 3차 구조를 이룬다. 두 부위가 기능을 담당한다. 한쪽 끝의 </a:t>
            </a:r>
            <a:r>
              <a:rPr sz="1800" b="1" i="0">
                <a:solidFill>
                  <a:srgbClr val="11202B"/>
                </a:solidFill>
                <a:latin typeface="Malgun Gothic"/>
                <a:ea typeface="Malgun Gothic"/>
                <a:cs typeface="Malgun Gothic"/>
              </a:rPr>
              <a:t>anticodon</a:t>
            </a:r>
            <a:r>
              <a:rPr sz="1800" b="0" i="0">
                <a:solidFill>
                  <a:srgbClr val="11202B"/>
                </a:solidFill>
                <a:latin typeface="Malgun Gothic"/>
                <a:ea typeface="Malgun Gothic"/>
                <a:cs typeface="Malgun Gothic"/>
              </a:rPr>
              <a:t>이 mRNA의 codon과 상보적으로 짝지어지고, 반대쪽 3′ 말단에 아미노산이 ester 결합으로 붙는다.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아미노산을 올바른 tRNA에 붙이는 일은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가 한다. 아미노산 종류마다 하나씩 있어 20종이고, ATP를 써서 아미노산을 활성화한 뒤 tRNA에 옮긴다. </a:t>
            </a:r>
            <a:r>
              <a:rPr sz="1800" b="1" i="0">
                <a:solidFill>
                  <a:srgbClr val="11202B"/>
                </a:solidFill>
                <a:latin typeface="Malgun Gothic"/>
                <a:ea typeface="Malgun Gothic"/>
                <a:cs typeface="Malgun Gothic"/>
              </a:rPr>
              <a:t>이 효소가 유전암호를 실제로 구현하는 지점이다.</a:t>
            </a:r>
            <a:r>
              <a:rPr sz="1800" b="0" i="0">
                <a:solidFill>
                  <a:srgbClr val="11202B"/>
                </a:solidFill>
                <a:latin typeface="Malgun Gothic"/>
                <a:ea typeface="Malgun Gothic"/>
                <a:cs typeface="Malgun Gothic"/>
              </a:rPr>
              <a:t> 효소가 아미노산을 잘못 붙이면 ribosome은 anticodon만 확인하므로 잘못된 아미노산이 그대로 들어간다. 그래서 이 효소들은 자체 교정 활성을 갖는다.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30</a:t>
            </a:r>
          </a:p>
        </p:txBody>
      </p:sp>
      <p:pic>
        <p:nvPicPr>
          <p:cNvPr id="7" name="Picture 6" descr="fig-genetic-code.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유전암호 표와 tRNA의 구조. 64개 codon의 배치, 세 번째 염기의 중복성, 종결 codon, 그리고 anticodon과 아미노산 결합 부위를 가진 tRNA의 L자 구조를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번역: ribosome의 세 단계와 원핵·진핵의 차이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Ribosome</a:t>
            </a:r>
            <a:r>
              <a:rPr sz="1600" b="0" i="0">
                <a:solidFill>
                  <a:srgbClr val="11202B"/>
                </a:solidFill>
                <a:latin typeface="Malgun Gothic"/>
                <a:ea typeface="Malgun Gothic"/>
                <a:cs typeface="Malgun Gothic"/>
              </a:rPr>
              <a:t>은 두 소단위로 이루어진 rRNA와 단백질의 복합체다. 큰 소단위가 peptide 결합을 만들고(peptidyl transferase 활성은 rRNA가 담당한다), 작은 소단위가 mRNA와 결합해 codon-anticodon 짝짓기를 확인한다. tRNA가 머무는 자리가 세 곳 있다. </a:t>
            </a:r>
            <a:r>
              <a:rPr sz="1600" b="1" i="0">
                <a:solidFill>
                  <a:srgbClr val="11202B"/>
                </a:solidFill>
                <a:latin typeface="Malgun Gothic"/>
                <a:ea typeface="Malgun Gothic"/>
                <a:cs typeface="Malgun Gothic"/>
              </a:rPr>
              <a:t>A 자리</a:t>
            </a:r>
            <a:r>
              <a:rPr sz="1600" b="0" i="0">
                <a:solidFill>
                  <a:srgbClr val="11202B"/>
                </a:solidFill>
                <a:latin typeface="Malgun Gothic"/>
                <a:ea typeface="Malgun Gothic"/>
                <a:cs typeface="Malgun Gothic"/>
              </a:rPr>
              <a:t>(aminoacyl-tRNA가 들어온다), </a:t>
            </a:r>
            <a:r>
              <a:rPr sz="1600" b="1" i="0">
                <a:solidFill>
                  <a:srgbClr val="11202B"/>
                </a:solidFill>
                <a:latin typeface="Malgun Gothic"/>
                <a:ea typeface="Malgun Gothic"/>
                <a:cs typeface="Malgun Gothic"/>
              </a:rPr>
              <a:t>P 자리</a:t>
            </a:r>
            <a:r>
              <a:rPr sz="1600" b="0" i="0">
                <a:solidFill>
                  <a:srgbClr val="11202B"/>
                </a:solidFill>
                <a:latin typeface="Malgun Gothic"/>
                <a:ea typeface="Malgun Gothic"/>
                <a:cs typeface="Malgun Gothic"/>
              </a:rPr>
              <a:t>(사슬이 붙어 있는 tRNA), </a:t>
            </a:r>
            <a:r>
              <a:rPr sz="1600" b="1" i="0">
                <a:solidFill>
                  <a:srgbClr val="11202B"/>
                </a:solidFill>
                <a:latin typeface="Malgun Gothic"/>
                <a:ea typeface="Malgun Gothic"/>
                <a:cs typeface="Malgun Gothic"/>
              </a:rPr>
              <a:t>E 자리</a:t>
            </a:r>
            <a:r>
              <a:rPr sz="1600" b="0" i="0">
                <a:solidFill>
                  <a:srgbClr val="11202B"/>
                </a:solidFill>
                <a:latin typeface="Malgun Gothic"/>
                <a:ea typeface="Malgun Gothic"/>
                <a:cs typeface="Malgun Gothic"/>
              </a:rPr>
              <a:t>(빠져나가는 tRNA).</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개시</a:t>
            </a:r>
            <a:r>
              <a:rPr sz="1600" b="0" i="0">
                <a:solidFill>
                  <a:srgbClr val="11202B"/>
                </a:solidFill>
                <a:latin typeface="Malgun Gothic"/>
                <a:ea typeface="Malgun Gothic"/>
                <a:cs typeface="Malgun Gothic"/>
              </a:rPr>
              <a:t> 세균과 진핵에서 방식이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세균</a:t>
            </a:r>
            <a:r>
              <a:rPr sz="1600" b="0" i="0">
                <a:solidFill>
                  <a:srgbClr val="11202B"/>
                </a:solidFill>
                <a:latin typeface="Malgun Gothic"/>
                <a:ea typeface="Malgun Gothic"/>
                <a:cs typeface="Malgun Gothic"/>
              </a:rPr>
              <a:t>: 작은 소단위의 rRNA가 mRNA의 </a:t>
            </a:r>
            <a:r>
              <a:rPr sz="1600" b="1" i="0">
                <a:solidFill>
                  <a:srgbClr val="11202B"/>
                </a:solidFill>
                <a:latin typeface="Malgun Gothic"/>
                <a:ea typeface="Malgun Gothic"/>
                <a:cs typeface="Malgun Gothic"/>
              </a:rPr>
              <a:t>Shine-Dalgarno 서열</a:t>
            </a:r>
            <a:r>
              <a:rPr sz="1600" b="0" i="0">
                <a:solidFill>
                  <a:srgbClr val="11202B"/>
                </a:solidFill>
                <a:latin typeface="Malgun Gothic"/>
                <a:ea typeface="Malgun Gothic"/>
                <a:cs typeface="Malgun Gothic"/>
              </a:rPr>
              <a:t>과 염기쌍을 이루어 개시 codon을 찾는다. mRNA 하나에 여러 개시 지점이 있을 수 있어 여러 단백질이 한 전사체에서 만들어진다(polycistronic).</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진핵</a:t>
            </a:r>
            <a:r>
              <a:rPr sz="1600" b="0" i="0">
                <a:solidFill>
                  <a:srgbClr val="11202B"/>
                </a:solidFill>
                <a:latin typeface="Malgun Gothic"/>
                <a:ea typeface="Malgun Gothic"/>
                <a:cs typeface="Malgun Gothic"/>
              </a:rPr>
              <a:t>: 개시인자가 </a:t>
            </a:r>
            <a:r>
              <a:rPr sz="1600" b="1" i="0">
                <a:solidFill>
                  <a:srgbClr val="11202B"/>
                </a:solidFill>
                <a:latin typeface="Malgun Gothic"/>
                <a:ea typeface="Malgun Gothic"/>
                <a:cs typeface="Malgun Gothic"/>
              </a:rPr>
              <a:t>5′ cap</a:t>
            </a:r>
            <a:r>
              <a:rPr sz="1600" b="0" i="0">
                <a:solidFill>
                  <a:srgbClr val="11202B"/>
                </a:solidFill>
                <a:latin typeface="Malgun Gothic"/>
                <a:ea typeface="Malgun Gothic"/>
                <a:cs typeface="Malgun Gothic"/>
              </a:rPr>
              <a:t>을 인식해 결합한 뒤 mRNA를 훑어 첫 AUG를 찾는다. 따라서 보통 전사체 하나에서 단백질 하나가 만들어진다(monocistronic).</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개시 아미노산은 methionine이고(세균은 N-formylmethionine), 개시 codon은 AUG다.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번역: ribosome의 세 단계와 원핵·진핵의 차이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신장</a:t>
            </a:r>
            <a:r>
              <a:rPr sz="1800" b="0" i="0">
                <a:solidFill>
                  <a:srgbClr val="11202B"/>
                </a:solidFill>
                <a:latin typeface="Malgun Gothic"/>
                <a:ea typeface="Malgun Gothic"/>
                <a:cs typeface="Malgun Gothic"/>
              </a:rPr>
              <a:t> 세 단계가 반복된다. (1) A 자리에 codon과 맞는 aminoacyl-tRNA가 들어온다. (2) P 자리의 사슬 carboxyl 말단과 A 자리 아미노산의 amino기 사이에 peptide 결합이 생긴다. (3) ribosome이 codon 하나만큼 이동(translocation)하고 빈 tRNA가 E 자리로 빠진다. 각 단계에 GTP가 소모된다. 아미노산 하나를 붙이는 데 ATP 등가로 약 4분자가 들며, 이는 단백질 합성이 세포에서 가장 비용이 큰 과정 가운데 하나임을 뜻한다.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종결</a:t>
            </a:r>
            <a:r>
              <a:rPr sz="1800" b="0" i="0">
                <a:solidFill>
                  <a:srgbClr val="11202B"/>
                </a:solidFill>
                <a:latin typeface="Malgun Gothic"/>
                <a:ea typeface="Malgun Gothic"/>
                <a:cs typeface="Malgun Gothic"/>
              </a:rPr>
              <a:t> A 자리에 종결 codon이 오면 이에 대응하는 tRNA가 없고, 대신 release factor가 결합해 사슬을 가수분해로 떼어낸다. Ribosome이 해체되고 소단위가 재사용된다.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원핵과 진핵의 차이를 정리한다.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 동시 진행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 poly(A), splicing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인식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Shine-Dalgarno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cap과 스캐닝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전사체당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개(polycistronic)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하나(monocistronic)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N-formylmethionine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methionine</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34</a:t>
            </a:r>
          </a:p>
        </p:txBody>
      </p:sp>
      <p:pic>
        <p:nvPicPr>
          <p:cNvPr id="7" name="Picture 6" descr="fig-trans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번역의 세 단계. Ribosome의 A·P·E 자리, aminoacyl-tRNA의 진입, peptide 결합 형성, translocation의 순환과 종결 codon에서의 release를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원핵과 진핵 ribosome의 구조 차이가 항생제의 선택성을 만든다. Aminoglycoside(gentamicin)와 tetracycline은 세균의 30S 소단위에, macrolide(erythromycin)와 chloramphenicol, clindamycin은 50S 소단위에 작용해 사람의 ribosome에는 거의 영향을 주지 않는다. 다만 미토콘드리아 ribosome은 세균에 가까우므로 완전히 무해하지 않다. Aminoglycoside의 이독성과 chloramphenicol의 골수 억제가 그 결과로 설명된다. Diphtheria toxin은 반대로 진핵의 신장인자 eEF2를 변형시켜 번역을 멈추고, ricin은 60S 소단위의 rRNA를 자른다.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유전정보의 흐름은 세 과정의 공통 논리로 요약된다. 모두 주형을 읽어 상보적인 사슬이나 대응 서열을 만들고, 모두 5′→3′ 방향으로 진행하며, 모두 개시·신장·종결의 세 단계로 나뉜다. 정확도는 과정마다 다르게 투자되어 있다. 복제는 세 단계의 교정으로 10⁻¹⁰까지 내려가고, 전사와 번역은 산물이 일시적이므로 10⁻⁴ 수준에서 멈춘다. 진핵에서 추가된 핵막과 mRNA 가공, alternative splicing이 같은 유전체로 다양한 세포를 만드는 여지를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Meselson과 Stahl의 실험에서 1세대와 2세대의 결과가 각각 어떤 가설을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polymerase의 두 가지 성질, 즉 5′→3′ 방향으로만 합성한다는 것과 primer가 필요하다는 것이 lagging strand의 불연속 합성을 어떻게 강제하는지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복제의 오류율은 10⁻¹⁰이고 전사의 오류율은 10⁻⁴이다. 이 차이가 합리적인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코딩 영역에 염기 하나가 삽입되는 변이와 염기 세 개가 삽입되는 변이가 있다. 두 변이의 결과가 크게 다른 이유를 유전암호의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유전자 수는 약 20,000개인데 단백질의 종류는 그보다 훨씬 많다. 가능한 분자적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Aminoglycoside와 macrolide가 세균에만 선택적으로 작용하는 근거와, 그래도 부작용이 나타나는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