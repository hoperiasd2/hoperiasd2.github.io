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notesMaster" Target="notesMasters/notesMaster1.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Central dogma와 그 예외. 복제·전사·번역의 방향, 그리고 reverse transcriptase와 RNA 의존 RNA polymerase가 추가하는 경로를 보인다.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복제분기점의 구조. Helicase가 사슬을 풀고, leading strand는 연속 합성되며, lagging strand는 primer와 Okazaki fragment로 불연속 합성된 뒤 ligase로 이어진다.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전사와 진핵 mRNA의 가공. Promoter에서의 개시, 5′ cap, intron splicing, 3′ polyadenylation을 거쳐 성숙한 mRNA가 핵공을 통해 세포질로 나가는 과정을 보인다.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400" b="1" i="0">
                <a:solidFill>
                  <a:srgbClr val="F2B705"/>
                </a:solidFill>
                <a:latin typeface="Malgun Gothic"/>
                <a:ea typeface="Malgun Gothic"/>
                <a:cs typeface="Malgun Gothic"/>
              </a:rPr>
              <a:t>M01  인체일반생물학과 기초세포생물학</a:t>
            </a:r>
          </a:p>
        </p:txBody>
      </p:sp>
      <p:sp>
        <p:nvSpPr>
          <p:cNvPr id="5" name="TextBox 4"/>
          <p:cNvSpPr txBox="1"/>
          <p:nvPr/>
        </p:nvSpPr>
        <p:spPr>
          <a:xfrm>
            <a:off x="731520" y="1645920"/>
            <a:ext cx="10698480" cy="2194560"/>
          </a:xfrm>
          <a:prstGeom prst="rect">
            <a:avLst/>
          </a:prstGeom>
          <a:noFill/>
        </p:spPr>
        <p:txBody>
          <a:bodyPr wrap="square" anchor="b">
            <a:spAutoFit/>
          </a:bodyPr>
          <a:lstStyle/>
          <a:p>
            <a:r>
              <a:rPr sz="3400" b="1" i="0">
                <a:solidFill>
                  <a:srgbClr val="FFFFFF"/>
                </a:solidFill>
                <a:latin typeface="Malgun Gothic"/>
                <a:ea typeface="Malgun Gothic"/>
                <a:cs typeface="Malgun Gothic"/>
              </a:rPr>
              <a:t>유전정보의 흐름: 복제·전사·번역</a:t>
            </a:r>
          </a:p>
          <a:p>
            <a:r>
              <a:rPr sz="1500" b="0" i="0">
                <a:solidFill>
                  <a:srgbClr val="B9D2E8"/>
                </a:solidFill>
                <a:latin typeface="Malgun Gothic"/>
                <a:ea typeface="Malgun Gothic"/>
                <a:cs typeface="Malgun Gothic"/>
              </a:rPr>
              <a:t>The Flow of Genetic Information: Replication, Transcription and Translation</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300" b="1" i="0">
                <a:solidFill>
                  <a:srgbClr val="FFFFFF"/>
                </a:solidFill>
                <a:latin typeface="Malgun Gothic"/>
                <a:ea typeface="Malgun Gothic"/>
                <a:cs typeface="Malgun Gothic"/>
              </a:rPr>
              <a:t>M01-W05-L03  ·  1부</a:t>
            </a:r>
          </a:p>
          <a:p>
            <a:r>
              <a:rPr sz="1100" b="0" i="0">
                <a:solidFill>
                  <a:srgbClr val="F2B705"/>
                </a:solidFill>
                <a:latin typeface="Malgun Gothic"/>
                <a:ea typeface="Malgun Gothic"/>
                <a:cs typeface="Malgun Gothic"/>
              </a:rPr>
              <a:t>전체 13절 가운데 8절</a:t>
            </a:r>
          </a:p>
          <a:p>
            <a:r>
              <a:rPr sz="1100" b="0" i="0">
                <a:solidFill>
                  <a:srgbClr val="9FBEDA"/>
                </a:solidFill>
                <a:latin typeface="Malgun Gothic"/>
                <a:ea typeface="Malgun Gothic"/>
                <a:cs typeface="Malgun Gothic"/>
              </a:rPr>
              <a:t>5주 3회</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GOALS   </a:t>
            </a:r>
            <a:r>
              <a:rPr sz="2400" b="1" i="0">
                <a:solidFill>
                  <a:srgbClr val="FFFFFF"/>
                </a:solidFill>
                <a:latin typeface="Malgun Gothic"/>
                <a:ea typeface="Malgun Gothic"/>
                <a:cs typeface="Malgun Gothic"/>
              </a:rPr>
              <a:t>학습목표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M01-W05-L03  ·  유전정보의 흐름: 복제·전사·번역</a:t>
            </a:r>
            <a:r>
              <a:rPr sz="9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1.  </a:t>
            </a:r>
            <a:r>
              <a:rPr sz="1800" b="0" i="0">
                <a:solidFill>
                  <a:srgbClr val="11202B"/>
                </a:solidFill>
                <a:latin typeface="Malgun Gothic"/>
                <a:ea typeface="Malgun Gothic"/>
                <a:cs typeface="Malgun Gothic"/>
              </a:rPr>
              <a:t>DNA가 유전물질임을 보인 실험들의 논리를 설명하고 central dogma의 내용과 예외를 든다.</a:t>
            </a:r>
          </a:p>
          <a:p>
            <a:pPr>
              <a:spcAft>
                <a:spcPts val="900"/>
              </a:spcAft>
            </a:pPr>
            <a:r>
              <a:rPr sz="1800" b="1" i="0">
                <a:solidFill>
                  <a:srgbClr val="F2B705"/>
                </a:solidFill>
                <a:latin typeface="Malgun Gothic"/>
                <a:ea typeface="Malgun Gothic"/>
                <a:cs typeface="Malgun Gothic"/>
              </a:rPr>
              <a:t>2.  </a:t>
            </a:r>
            <a:r>
              <a:rPr sz="1800" b="0" i="0">
                <a:solidFill>
                  <a:srgbClr val="11202B"/>
                </a:solidFill>
                <a:latin typeface="Malgun Gothic"/>
                <a:ea typeface="Malgun Gothic"/>
                <a:cs typeface="Malgun Gothic"/>
              </a:rPr>
              <a:t>DNA 복제가 반보존적임을 보인 Meselson-Stahl 실험의 설계와 결과를 해석한다.</a:t>
            </a:r>
          </a:p>
          <a:p>
            <a:pPr>
              <a:spcAft>
                <a:spcPts val="900"/>
              </a:spcAft>
            </a:pPr>
            <a:r>
              <a:rPr sz="1800" b="1" i="0">
                <a:solidFill>
                  <a:srgbClr val="F2B705"/>
                </a:solidFill>
                <a:latin typeface="Malgun Gothic"/>
                <a:ea typeface="Malgun Gothic"/>
                <a:cs typeface="Malgun Gothic"/>
              </a:rPr>
              <a:t>3.  </a:t>
            </a:r>
            <a:r>
              <a:rPr sz="1800" b="0" i="0">
                <a:solidFill>
                  <a:srgbClr val="11202B"/>
                </a:solidFill>
                <a:latin typeface="Malgun Gothic"/>
                <a:ea typeface="Malgun Gothic"/>
                <a:cs typeface="Malgun Gothic"/>
              </a:rPr>
              <a:t>복제분기점에서 leading strand와 lagging strand가 달리 합성되는 이유를 효소의 성질로 설명한다.</a:t>
            </a:r>
          </a:p>
          <a:p>
            <a:pPr>
              <a:spcAft>
                <a:spcPts val="900"/>
              </a:spcAft>
            </a:pPr>
            <a:r>
              <a:rPr sz="1800" b="1" i="0">
                <a:solidFill>
                  <a:srgbClr val="F2B705"/>
                </a:solidFill>
                <a:latin typeface="Malgun Gothic"/>
                <a:ea typeface="Malgun Gothic"/>
                <a:cs typeface="Malgun Gothic"/>
              </a:rPr>
              <a:t>4.  </a:t>
            </a:r>
            <a:r>
              <a:rPr sz="1800" b="0" i="0">
                <a:solidFill>
                  <a:srgbClr val="11202B"/>
                </a:solidFill>
                <a:latin typeface="Malgun Gothic"/>
                <a:ea typeface="Malgun Gothic"/>
                <a:cs typeface="Malgun Gothic"/>
              </a:rPr>
              <a:t>복제의 정확도를 높이는 세 가지 장치를 구분하고 telomere 문제와 그 해결을 설명한다.</a:t>
            </a:r>
          </a:p>
          <a:p>
            <a:pPr>
              <a:spcAft>
                <a:spcPts val="900"/>
              </a:spcAft>
            </a:pPr>
            <a:r>
              <a:rPr sz="1800" b="1" i="0">
                <a:solidFill>
                  <a:srgbClr val="F2B705"/>
                </a:solidFill>
                <a:latin typeface="Malgun Gothic"/>
                <a:ea typeface="Malgun Gothic"/>
                <a:cs typeface="Malgun Gothic"/>
              </a:rPr>
              <a:t>5.  </a:t>
            </a:r>
            <a:r>
              <a:rPr sz="1800" b="0" i="0">
                <a:solidFill>
                  <a:srgbClr val="11202B"/>
                </a:solidFill>
                <a:latin typeface="Malgun Gothic"/>
                <a:ea typeface="Malgun Gothic"/>
                <a:cs typeface="Malgun Gothic"/>
              </a:rPr>
              <a:t>전사의 개시·신장·종결을 원핵과 진핵에서 비교하고 promoter의 역할을 설명한다.</a:t>
            </a:r>
          </a:p>
          <a:p>
            <a:pPr>
              <a:spcAft>
                <a:spcPts val="900"/>
              </a:spcAft>
            </a:pPr>
            <a:r>
              <a:rPr sz="1800" b="1" i="0">
                <a:solidFill>
                  <a:srgbClr val="F2B705"/>
                </a:solidFill>
                <a:latin typeface="Malgun Gothic"/>
                <a:ea typeface="Malgun Gothic"/>
                <a:cs typeface="Malgun Gothic"/>
              </a:rPr>
              <a:t>6.  </a:t>
            </a:r>
            <a:r>
              <a:rPr sz="1800" b="0" i="0">
                <a:solidFill>
                  <a:srgbClr val="11202B"/>
                </a:solidFill>
                <a:latin typeface="Malgun Gothic"/>
                <a:ea typeface="Malgun Gothic"/>
                <a:cs typeface="Malgun Gothic"/>
              </a:rPr>
              <a:t>진핵 mRNA의 세 가지 가공 과정과 그 기능을 설명한다.</a:t>
            </a:r>
          </a:p>
          <a:p>
            <a:pPr>
              <a:spcAft>
                <a:spcPts val="900"/>
              </a:spcAft>
            </a:pPr>
            <a:r>
              <a:rPr sz="1800" b="1" i="0">
                <a:solidFill>
                  <a:srgbClr val="F2B705"/>
                </a:solidFill>
                <a:latin typeface="Malgun Gothic"/>
                <a:ea typeface="Malgun Gothic"/>
                <a:cs typeface="Malgun Gothic"/>
              </a:rPr>
              <a:t>7.  </a:t>
            </a:r>
            <a:r>
              <a:rPr sz="1800" b="0" i="0">
                <a:solidFill>
                  <a:srgbClr val="11202B"/>
                </a:solidFill>
                <a:latin typeface="Malgun Gothic"/>
                <a:ea typeface="Malgun Gothic"/>
                <a:cs typeface="Malgun Gothic"/>
              </a:rPr>
              <a:t>유전암호의 성질을 다섯 가지로 정리하고 codon 표를 읽어 서열을 번역한다.</a:t>
            </a:r>
          </a:p>
          <a:p>
            <a:pPr>
              <a:spcAft>
                <a:spcPts val="900"/>
              </a:spcAft>
            </a:pPr>
            <a:r>
              <a:rPr sz="1800" b="1" i="0">
                <a:solidFill>
                  <a:srgbClr val="F2B705"/>
                </a:solidFill>
                <a:latin typeface="Malgun Gothic"/>
                <a:ea typeface="Malgun Gothic"/>
                <a:cs typeface="Malgun Gothic"/>
              </a:rPr>
              <a:t>8.  </a:t>
            </a:r>
            <a:r>
              <a:rPr sz="1800" b="0" i="0">
                <a:solidFill>
                  <a:srgbClr val="11202B"/>
                </a:solidFill>
                <a:latin typeface="Malgun Gothic"/>
                <a:ea typeface="Malgun Gothic"/>
                <a:cs typeface="Malgun Gothic"/>
              </a:rPr>
              <a:t>번역의 개시·신장·종결 단계를 설명하고 원핵과 진핵의 차이를 든다.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PREREQ   </a:t>
            </a:r>
            <a:r>
              <a:rPr sz="2400" b="1" i="0">
                <a:solidFill>
                  <a:srgbClr val="FFFFFF"/>
                </a:solidFill>
                <a:latin typeface="Malgun Gothic"/>
                <a:ea typeface="Malgun Gothic"/>
                <a:cs typeface="Malgun Gothic"/>
              </a:rPr>
              <a:t>선수지식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M01-W05-L03  ·  유전정보의 흐름: 복제·전사·번역</a:t>
            </a:r>
            <a:r>
              <a:rPr sz="9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M01-W05-L02 생체분자와 막의 구조 — nucleotide, phosphodiester 결합, 5′→3′ 방향, 염기쌍</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M01-W05-L01 세포의 기원·진화와 세포 연구 방법 — prokaryote와 eukaryote의 유전체 차이, 전사와 번역의 공간 분리</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M01-W09-L02 생체에너지: 자유에너지와 ATP — 효소의 촉매 작용, ATP와 GTP의 가수분해</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OUTLINE   </a:t>
            </a:r>
            <a:r>
              <a:rPr sz="24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M01-W05-L03  ·  유전정보의 흐름: 복제·전사·번역</a:t>
            </a:r>
            <a:r>
              <a:rPr sz="9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1.  </a:t>
            </a:r>
            <a:r>
              <a:rPr sz="2000" b="0" i="0">
                <a:solidFill>
                  <a:srgbClr val="11202B"/>
                </a:solidFill>
                <a:latin typeface="Malgun Gothic"/>
                <a:ea typeface="Malgun Gothic"/>
                <a:cs typeface="Malgun Gothic"/>
              </a:rPr>
              <a:t>1. 중심원리를 정확히 진술한다</a:t>
            </a:r>
          </a:p>
          <a:p>
            <a:pPr>
              <a:spcAft>
                <a:spcPts val="900"/>
              </a:spcAft>
            </a:pPr>
            <a:r>
              <a:rPr sz="2000" b="1" i="0">
                <a:solidFill>
                  <a:srgbClr val="F2B705"/>
                </a:solidFill>
                <a:latin typeface="Malgun Gothic"/>
                <a:ea typeface="Malgun Gothic"/>
                <a:cs typeface="Malgun Gothic"/>
              </a:rPr>
              <a:t>2.  </a:t>
            </a:r>
            <a:r>
              <a:rPr sz="2000" b="0" i="0">
                <a:solidFill>
                  <a:srgbClr val="11202B"/>
                </a:solidFill>
                <a:latin typeface="Malgun Gothic"/>
                <a:ea typeface="Malgun Gothic"/>
                <a:cs typeface="Malgun Gothic"/>
              </a:rPr>
              <a:t>2. DNA 구조가 정보 체계에 부과하는 조건</a:t>
            </a:r>
          </a:p>
          <a:p>
            <a:pPr>
              <a:spcAft>
                <a:spcPts val="900"/>
              </a:spcAft>
            </a:pPr>
            <a:r>
              <a:rPr sz="2000" b="1" i="0">
                <a:solidFill>
                  <a:srgbClr val="F2B705"/>
                </a:solidFill>
                <a:latin typeface="Malgun Gothic"/>
                <a:ea typeface="Malgun Gothic"/>
                <a:cs typeface="Malgun Gothic"/>
              </a:rPr>
              <a:t>3.  </a:t>
            </a:r>
            <a:r>
              <a:rPr sz="2000" b="0" i="0">
                <a:solidFill>
                  <a:srgbClr val="11202B"/>
                </a:solidFill>
                <a:latin typeface="Malgun Gothic"/>
                <a:ea typeface="Malgun Gothic"/>
                <a:cs typeface="Malgun Gothic"/>
              </a:rPr>
              <a:t>3. 반보존적 복제와 Meselson-Stahl 실험</a:t>
            </a:r>
          </a:p>
          <a:p>
            <a:pPr>
              <a:spcAft>
                <a:spcPts val="900"/>
              </a:spcAft>
            </a:pPr>
            <a:r>
              <a:rPr sz="2000" b="1" i="0">
                <a:solidFill>
                  <a:srgbClr val="F2B705"/>
                </a:solidFill>
                <a:latin typeface="Malgun Gothic"/>
                <a:ea typeface="Malgun Gothic"/>
                <a:cs typeface="Malgun Gothic"/>
              </a:rPr>
              <a:t>4.  </a:t>
            </a:r>
            <a:r>
              <a:rPr sz="2000" b="0" i="0">
                <a:solidFill>
                  <a:srgbClr val="11202B"/>
                </a:solidFill>
                <a:latin typeface="Malgun Gothic"/>
                <a:ea typeface="Malgun Gothic"/>
                <a:cs typeface="Malgun Gothic"/>
              </a:rPr>
              <a:t>4. DNA 복제의 기전</a:t>
            </a:r>
          </a:p>
          <a:p>
            <a:pPr>
              <a:spcAft>
                <a:spcPts val="900"/>
              </a:spcAft>
            </a:pPr>
            <a:r>
              <a:rPr sz="2000" b="1" i="0">
                <a:solidFill>
                  <a:srgbClr val="F2B705"/>
                </a:solidFill>
                <a:latin typeface="Malgun Gothic"/>
                <a:ea typeface="Malgun Gothic"/>
                <a:cs typeface="Malgun Gothic"/>
              </a:rPr>
              <a:t>5.  </a:t>
            </a:r>
            <a:r>
              <a:rPr sz="2000" b="0" i="0">
                <a:solidFill>
                  <a:srgbClr val="11202B"/>
                </a:solidFill>
                <a:latin typeface="Malgun Gothic"/>
                <a:ea typeface="Malgun Gothic"/>
                <a:cs typeface="Malgun Gothic"/>
              </a:rPr>
              <a:t>5. 복제가 풀어야 하는 두 가지 물리적 문제</a:t>
            </a:r>
          </a:p>
          <a:p>
            <a:pPr>
              <a:spcAft>
                <a:spcPts val="900"/>
              </a:spcAft>
            </a:pPr>
            <a:r>
              <a:rPr sz="2000" b="1" i="0">
                <a:solidFill>
                  <a:srgbClr val="F2B705"/>
                </a:solidFill>
                <a:latin typeface="Malgun Gothic"/>
                <a:ea typeface="Malgun Gothic"/>
                <a:cs typeface="Malgun Gothic"/>
              </a:rPr>
              <a:t>6.  </a:t>
            </a:r>
            <a:r>
              <a:rPr sz="2000" b="0" i="0">
                <a:solidFill>
                  <a:srgbClr val="11202B"/>
                </a:solidFill>
                <a:latin typeface="Malgun Gothic"/>
                <a:ea typeface="Malgun Gothic"/>
                <a:cs typeface="Malgun Gothic"/>
              </a:rPr>
              <a:t>6. 복제의 정확도와 수선</a:t>
            </a:r>
          </a:p>
          <a:p>
            <a:pPr>
              <a:spcAft>
                <a:spcPts val="900"/>
              </a:spcAft>
            </a:pPr>
            <a:r>
              <a:rPr sz="2000" b="1" i="0">
                <a:solidFill>
                  <a:srgbClr val="F2B705"/>
                </a:solidFill>
                <a:latin typeface="Malgun Gothic"/>
                <a:ea typeface="Malgun Gothic"/>
                <a:cs typeface="Malgun Gothic"/>
              </a:rPr>
              <a:t>7.  </a:t>
            </a:r>
            <a:r>
              <a:rPr sz="2000" b="0" i="0">
                <a:solidFill>
                  <a:srgbClr val="11202B"/>
                </a:solidFill>
                <a:latin typeface="Malgun Gothic"/>
                <a:ea typeface="Malgun Gothic"/>
                <a:cs typeface="Malgun Gothic"/>
              </a:rPr>
              <a:t>7. 전사: RNA polymerase와 promoter</a:t>
            </a:r>
          </a:p>
          <a:p>
            <a:pPr>
              <a:spcAft>
                <a:spcPts val="900"/>
              </a:spcAft>
            </a:pPr>
            <a:r>
              <a:rPr sz="2000" b="1" i="0">
                <a:solidFill>
                  <a:srgbClr val="F2B705"/>
                </a:solidFill>
                <a:latin typeface="Malgun Gothic"/>
                <a:ea typeface="Malgun Gothic"/>
                <a:cs typeface="Malgun Gothic"/>
              </a:rPr>
              <a:t>8.  </a:t>
            </a:r>
            <a:r>
              <a:rPr sz="2000" b="0" i="0">
                <a:solidFill>
                  <a:srgbClr val="11202B"/>
                </a:solidFill>
                <a:latin typeface="Malgun Gothic"/>
                <a:ea typeface="Malgun Gothic"/>
                <a:cs typeface="Malgun Gothic"/>
              </a:rPr>
              <a:t>8. 진핵 mRNA의 가공</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중심원리를 정확히 진술한다</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M01-W05-L03  ·  유전정보의 흐름: 복제·전사·번역</a:t>
            </a:r>
            <a:r>
              <a:rPr sz="900" b="1" i="0">
                <a:solidFill>
                  <a:srgbClr val="003C71"/>
                </a:solidFill>
                <a:latin typeface="Malgun Gothic"/>
                <a:ea typeface="Malgun Gothic"/>
                <a:cs typeface="Malgun Gothic"/>
              </a:rPr>
              <a:t>      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DNA가 유전물질이라는 결론에 이른 세 실험(Griffith, Avery, Hershey와 Chase)은 M01-W04-L03에서 다루었다. 여기서는 그 결론 위에 세워진 정보 흐름의 체계를 다룬다.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1958년 Francis Crick이 정리한 </a:t>
            </a:r>
            <a:r>
              <a:rPr sz="1800" b="1" i="0">
                <a:solidFill>
                  <a:srgbClr val="11202B"/>
                </a:solidFill>
                <a:latin typeface="Malgun Gothic"/>
                <a:ea typeface="Malgun Gothic"/>
                <a:cs typeface="Malgun Gothic"/>
              </a:rPr>
              <a:t>중심원리(central dogma)</a:t>
            </a:r>
            <a:r>
              <a:rPr sz="1800" b="0" i="0">
                <a:solidFill>
                  <a:srgbClr val="11202B"/>
                </a:solidFill>
                <a:latin typeface="Malgun Gothic"/>
                <a:ea typeface="Malgun Gothic"/>
                <a:cs typeface="Malgun Gothic"/>
              </a:rPr>
              <a:t> 는 흔히 다음 도식으로 요약된다.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DNA --(복제)--&gt; DNA --(전사)--&gt; RNA --(번역)--&gt; 단백질</a:t>
            </a:r>
          </a:p>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그런데 이 도식은 Crick이 말한 것을 정확히 옮긴 것이 아니다.</a:t>
            </a:r>
            <a:r>
              <a:rPr sz="1800" b="0" i="0">
                <a:solidFill>
                  <a:srgbClr val="11202B"/>
                </a:solidFill>
                <a:latin typeface="Malgun Gothic"/>
                <a:ea typeface="Malgun Gothic"/>
                <a:cs typeface="Malgun Gothic"/>
              </a:rPr>
              <a:t> 그가 주장한 것은 화살표의 목록이 아니라 하나의 금지였다.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중심원리를 정확히 진술한다</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M01-W05-L03  ·  유전정보의 흐름: 복제·전사·번역</a:t>
            </a:r>
            <a:r>
              <a:rPr sz="900" b="1" i="0">
                <a:solidFill>
                  <a:srgbClr val="003C71"/>
                </a:solidFill>
                <a:latin typeface="Malgun Gothic"/>
                <a:ea typeface="Malgun Gothic"/>
                <a:cs typeface="Malgun Gothic"/>
              </a:rPr>
              <a:t>      6</a:t>
            </a:r>
          </a:p>
        </p:txBody>
      </p:sp>
      <p:sp>
        <p:nvSpPr>
          <p:cNvPr id="7" name="Rectangle 6"/>
          <p:cNvSpPr/>
          <p:nvPr/>
        </p:nvSpPr>
        <p:spPr>
          <a:xfrm>
            <a:off x="640080" y="1325880"/>
            <a:ext cx="10881360" cy="79756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0" i="0">
                <a:solidFill>
                  <a:srgbClr val="11202B"/>
                </a:solidFill>
                <a:latin typeface="Malgun Gothic"/>
                <a:ea typeface="Malgun Gothic"/>
                <a:cs typeface="Malgun Gothic"/>
              </a:rPr>
              <a:t>일단 정보가 단백질로 들어가면 거기서 다시 빠져나올 수 없다.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중심원리를 정확히 진술한다</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M01-W05-L03  ·  유전정보의 흐름: 복제·전사·번역</a:t>
            </a:r>
            <a:r>
              <a:rPr sz="900" b="1" i="0">
                <a:solidFill>
                  <a:srgbClr val="003C71"/>
                </a:solidFill>
                <a:latin typeface="Malgun Gothic"/>
                <a:ea typeface="Malgun Gothic"/>
                <a:cs typeface="Malgun Gothic"/>
              </a:rPr>
              <a:t>      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즉 중심원리의 내용은 "정보가 이 순서로 흐른다"가 아니라 </a:t>
            </a:r>
            <a:r>
              <a:rPr sz="1400" b="1" i="0">
                <a:solidFill>
                  <a:srgbClr val="11202B"/>
                </a:solidFill>
                <a:latin typeface="Malgun Gothic"/>
                <a:ea typeface="Malgun Gothic"/>
                <a:cs typeface="Malgun Gothic"/>
              </a:rPr>
              <a:t>"단백질의 아미노산 서열이 핵산 서열로 되돌아가지 않는다"</a:t>
            </a:r>
            <a:r>
              <a:rPr sz="1400" b="0" i="0">
                <a:solidFill>
                  <a:srgbClr val="11202B"/>
                </a:solidFill>
                <a:latin typeface="Malgun Gothic"/>
                <a:ea typeface="Malgun Gothic"/>
                <a:cs typeface="Malgun Gothic"/>
              </a:rPr>
              <a:t> 이다. 이 구분이 중요한 이유는 자주 거론되는 예외들이 실제로는 예외가 아니기 때문이다.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예외처럼 보이는 것들.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Reverse transcriptase</a:t>
            </a:r>
            <a:r>
              <a:rPr sz="1400" b="0" i="0">
                <a:solidFill>
                  <a:srgbClr val="11202B"/>
                </a:solidFill>
                <a:latin typeface="Malgun Gothic"/>
                <a:ea typeface="Malgun Gothic"/>
                <a:cs typeface="Malgun Gothic"/>
              </a:rPr>
              <a:t>: RNA를 주형으로 DNA를 만든다. Retrovirus가 쓰고 telomerase도 같은 원리로 작동한다. 그러나 이것은 </a:t>
            </a:r>
            <a:r>
              <a:rPr sz="1400" b="1" i="0">
                <a:solidFill>
                  <a:srgbClr val="11202B"/>
                </a:solidFill>
                <a:latin typeface="Malgun Gothic"/>
                <a:ea typeface="Malgun Gothic"/>
                <a:cs typeface="Malgun Gothic"/>
              </a:rPr>
              <a:t>핵산에서 핵산으로</a:t>
            </a:r>
            <a:r>
              <a:rPr sz="1400" b="0" i="0">
                <a:solidFill>
                  <a:srgbClr val="11202B"/>
                </a:solidFill>
                <a:latin typeface="Malgun Gothic"/>
                <a:ea typeface="Malgun Gothic"/>
                <a:cs typeface="Malgun Gothic"/>
              </a:rPr>
              <a:t>의 흐름이므로 금지 사항을 위반하지 않는다. 발견 당시 교과서의 도식을 수정하게 만들었을 뿐이다.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RNA 의존 RNA polymerase</a:t>
            </a:r>
            <a:r>
              <a:rPr sz="1400" b="0" i="0">
                <a:solidFill>
                  <a:srgbClr val="11202B"/>
                </a:solidFill>
                <a:latin typeface="Malgun Gothic"/>
                <a:ea typeface="Malgun Gothic"/>
                <a:cs typeface="Malgun Gothic"/>
              </a:rPr>
              <a:t>: RNA에서 RNA를 만든다. 많은 RNA 바이러스가 쓴다. 역시 핵산 사이의 흐름이다.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Prion</a:t>
            </a:r>
            <a:r>
              <a:rPr sz="1400" b="0" i="0">
                <a:solidFill>
                  <a:srgbClr val="11202B"/>
                </a:solidFill>
                <a:latin typeface="Malgun Gothic"/>
                <a:ea typeface="Malgun Gothic"/>
                <a:cs typeface="Malgun Gothic"/>
              </a:rPr>
              <a:t>: 잘못 접힌 단백질이 정상 단백질을 같은 형태로 바꾸어 증식한다. 정보가 단백질에서 단백질로 전달되는 것처럼 보이지만, 전달되는 것은 </a:t>
            </a:r>
            <a:r>
              <a:rPr sz="1400" b="1" i="0">
                <a:solidFill>
                  <a:srgbClr val="11202B"/>
                </a:solidFill>
                <a:latin typeface="Malgun Gothic"/>
                <a:ea typeface="Malgun Gothic"/>
                <a:cs typeface="Malgun Gothic"/>
              </a:rPr>
              <a:t>서열이 아니라 접힘 상태</a:t>
            </a:r>
            <a:r>
              <a:rPr sz="1400" b="0" i="0">
                <a:solidFill>
                  <a:srgbClr val="11202B"/>
                </a:solidFill>
                <a:latin typeface="Malgun Gothic"/>
                <a:ea typeface="Malgun Gothic"/>
                <a:cs typeface="Malgun Gothic"/>
              </a:rPr>
              <a:t>다. 아미노산 서열 자체는 여전히 유전자에서 온다. 따라서 이것도 금지를 위반하지 않으며, 다만 </a:t>
            </a:r>
            <a:r>
              <a:rPr sz="1400" b="1" i="0">
                <a:solidFill>
                  <a:srgbClr val="11202B"/>
                </a:solidFill>
                <a:latin typeface="Malgun Gothic"/>
                <a:ea typeface="Malgun Gothic"/>
                <a:cs typeface="Malgun Gothic"/>
              </a:rPr>
              <a:t>유전되는 정보가 서열에만 있는 것은 아니라는</a:t>
            </a:r>
            <a:r>
              <a:rPr sz="1400" b="0" i="0">
                <a:solidFill>
                  <a:srgbClr val="11202B"/>
                </a:solidFill>
                <a:latin typeface="Malgun Gothic"/>
                <a:ea typeface="Malgun Gothic"/>
                <a:cs typeface="Malgun Gothic"/>
              </a:rPr>
              <a:t> 점을 보여 준다(M01-W08-L01).</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도식이 숨기는 것.</a:t>
            </a:r>
            <a:r>
              <a:rPr sz="1400" b="0" i="0">
                <a:solidFill>
                  <a:srgbClr val="11202B"/>
                </a:solidFill>
                <a:latin typeface="Malgun Gothic"/>
                <a:ea typeface="Malgun Gothic"/>
                <a:cs typeface="Malgun Gothic"/>
              </a:rPr>
              <a:t> 위 도식은 한 번 지나가는 일방통행처럼 보이지만 실제로는 그렇지 않다. 단백질이 핵산 서열을 바꾸지는 못해도 </a:t>
            </a:r>
            <a:r>
              <a:rPr sz="1400" b="1" i="0">
                <a:solidFill>
                  <a:srgbClr val="11202B"/>
                </a:solidFill>
                <a:latin typeface="Malgun Gothic"/>
                <a:ea typeface="Malgun Gothic"/>
                <a:cs typeface="Malgun Gothic"/>
              </a:rPr>
              <a:t>흐름의 모든 단계를 조절한다.</a:t>
            </a:r>
            <a:r>
              <a:rPr sz="1400" b="0" i="0">
                <a:solidFill>
                  <a:srgbClr val="11202B"/>
                </a:solidFill>
                <a:latin typeface="Malgun Gothic"/>
                <a:ea typeface="Malgun Gothic"/>
                <a:cs typeface="Malgun Gothic"/>
              </a:rPr>
              <a:t> 전사인자가 전사량을 정하고, splicing 인자가 어떤 전사체가 만들어질지 정하며, 번역 조절 인자가 어느 mRNA가 읽힐지 정한다. 정보의 방향과 </a:t>
            </a:r>
            <a:r>
              <a:rPr sz="1400" b="1" i="0">
                <a:solidFill>
                  <a:srgbClr val="11202B"/>
                </a:solidFill>
                <a:latin typeface="Malgun Gothic"/>
                <a:ea typeface="Malgun Gothic"/>
                <a:cs typeface="Malgun Gothic"/>
              </a:rPr>
              <a:t>제어의 방향은 다르다</a:t>
            </a:r>
            <a:r>
              <a:rPr sz="1400" b="0" i="0">
                <a:solidFill>
                  <a:srgbClr val="11202B"/>
                </a:solidFill>
                <a:latin typeface="Malgun Gothic"/>
                <a:ea typeface="Malgun Gothic"/>
                <a:cs typeface="Malgun Gothic"/>
              </a:rPr>
              <a:t>는 점을 분명히 해야 한다. 도식에 되먹임 화살표를 그려 넣는다면 그것은 정보가 아니라 제어의 흐름이다.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중심원리를 정확히 진술한다</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M01-W05-L03  ·  유전정보의 흐름: 복제·전사·번역</a:t>
            </a:r>
            <a:r>
              <a:rPr sz="900" b="1" i="0">
                <a:solidFill>
                  <a:srgbClr val="003C71"/>
                </a:solidFill>
                <a:latin typeface="Malgun Gothic"/>
                <a:ea typeface="Malgun Gothic"/>
                <a:cs typeface="Malgun Gothic"/>
              </a:rPr>
              <a:t>      8</a:t>
            </a:r>
          </a:p>
        </p:txBody>
      </p:sp>
      <p:pic>
        <p:nvPicPr>
          <p:cNvPr id="7" name="Picture 6" descr="fig-central-dogma.slide.png"/>
          <p:cNvPicPr>
            <a:picLocks noChangeAspect="1"/>
          </p:cNvPicPr>
          <p:nvPr/>
        </p:nvPicPr>
        <p:blipFill>
          <a:blip r:embed="rId2"/>
          <a:stretch>
            <a:fillRect/>
          </a:stretch>
        </p:blipFill>
        <p:spPr>
          <a:xfrm>
            <a:off x="792327" y="1325880"/>
            <a:ext cx="10607040" cy="4194602"/>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Central dogma와 그 예외. 복제·전사·번역의 방향, 그리고 reverse transcriptase와 RNA 의존 RNA polymerase가 추가하는 경로를 보인다.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DNA 구조가 정보 체계에 부과하는 조건</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M01-W05-L03  ·  유전정보의 흐름: 복제·전사·번역</a:t>
            </a:r>
            <a:r>
              <a:rPr sz="900" b="1" i="0">
                <a:solidFill>
                  <a:srgbClr val="003C71"/>
                </a:solidFill>
                <a:latin typeface="Malgun Gothic"/>
                <a:ea typeface="Malgun Gothic"/>
                <a:cs typeface="Malgun Gothic"/>
              </a:rPr>
              <a:t>      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복제와 전사의 기전은 모두 DNA 구조에서 따라 나온다. 구조의 네 가지 특징이 이후의 모든 기전을 제약한다.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1. 이중나선이고 두 가닥이 상보적이다.</a:t>
            </a:r>
            <a:r>
              <a:rPr sz="1400" b="0" i="0">
                <a:solidFill>
                  <a:srgbClr val="11202B"/>
                </a:solidFill>
                <a:latin typeface="Malgun Gothic"/>
                <a:ea typeface="Malgun Gothic"/>
                <a:cs typeface="Malgun Gothic"/>
              </a:rPr>
              <a:t> A는 T와, G는 C와 짝을 짓는다. 한 가닥의 서열을 알면 다른 가닥이 정해지므로, </a:t>
            </a:r>
            <a:r>
              <a:rPr sz="1400" b="1" i="0">
                <a:solidFill>
                  <a:srgbClr val="11202B"/>
                </a:solidFill>
                <a:latin typeface="Malgun Gothic"/>
                <a:ea typeface="Malgun Gothic"/>
                <a:cs typeface="Malgun Gothic"/>
              </a:rPr>
              <a:t>정보가 두 벌로 들어 있다</a:t>
            </a:r>
            <a:r>
              <a:rPr sz="1400" b="0" i="0">
                <a:solidFill>
                  <a:srgbClr val="11202B"/>
                </a:solidFill>
                <a:latin typeface="Malgun Gothic"/>
                <a:ea typeface="Malgun Gothic"/>
                <a:cs typeface="Malgun Gothic"/>
              </a:rPr>
              <a:t>. 이것이 복제의 원리이자 손상 수선의 근거다. 한 가닥이 망가져도 다른 가닥을 주형으로 복원할 수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2. 두 가닥이 역평행하다.</a:t>
            </a:r>
            <a:r>
              <a:rPr sz="1400" b="0" i="0">
                <a:solidFill>
                  <a:srgbClr val="11202B"/>
                </a:solidFill>
                <a:latin typeface="Malgun Gothic"/>
                <a:ea typeface="Malgun Gothic"/>
                <a:cs typeface="Malgun Gothic"/>
              </a:rPr>
              <a:t> 한 가닥이 5′에서 3′ 방향일 때 다른 가닥은 3′에서 5′ 방향이다. 그런데 모든 핵산 중합효소는 </a:t>
            </a:r>
            <a:r>
              <a:rPr sz="1400" b="1" i="0">
                <a:solidFill>
                  <a:srgbClr val="11202B"/>
                </a:solidFill>
                <a:latin typeface="Malgun Gothic"/>
                <a:ea typeface="Malgun Gothic"/>
                <a:cs typeface="Malgun Gothic"/>
              </a:rPr>
              <a:t>5′에서 3′ 방향으로만</a:t>
            </a:r>
            <a:r>
              <a:rPr sz="1400" b="0" i="0">
                <a:solidFill>
                  <a:srgbClr val="11202B"/>
                </a:solidFill>
                <a:latin typeface="Malgun Gothic"/>
                <a:ea typeface="Malgun Gothic"/>
                <a:cs typeface="Malgun Gothic"/>
              </a:rPr>
              <a:t> 사슬을 늘릴 수 있다. 두 사실이 충돌하면서 복제에 구조적 문제가 생기고, 그 해결책이 3절의 leading strand와 lagging strand다. 역평행이 불편을 만들고 세포가 복잡한 장치로 그 불편을 감수하는 것이다.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3. 홈의 폭이 다르다.</a:t>
            </a:r>
            <a:r>
              <a:rPr sz="1400" b="0" i="0">
                <a:solidFill>
                  <a:srgbClr val="11202B"/>
                </a:solidFill>
                <a:latin typeface="Malgun Gothic"/>
                <a:ea typeface="Malgun Gothic"/>
                <a:cs typeface="Malgun Gothic"/>
              </a:rPr>
              <a:t> 나선이 감기면서 큰 홈과 작은 홈이 생긴다. </a:t>
            </a:r>
            <a:r>
              <a:rPr sz="1400" b="1" i="0">
                <a:solidFill>
                  <a:srgbClr val="11202B"/>
                </a:solidFill>
                <a:latin typeface="Malgun Gothic"/>
                <a:ea typeface="Malgun Gothic"/>
                <a:cs typeface="Malgun Gothic"/>
              </a:rPr>
              <a:t>큰 홈에서는 염기쌍마다 노출되는 화학적 무늬가 서로 달라</a:t>
            </a:r>
            <a:r>
              <a:rPr sz="1400" b="0" i="0">
                <a:solidFill>
                  <a:srgbClr val="11202B"/>
                </a:solidFill>
                <a:latin typeface="Malgun Gothic"/>
                <a:ea typeface="Malgun Gothic"/>
                <a:cs typeface="Malgun Gothic"/>
              </a:rPr>
              <a:t> 나선을 풀지 않고도 서열을 읽을 수 있다. 전사인자가 DNA에 결합해 특정 서열을 인식하는 일이 가능한 이유이며, 작은 홈은 정보가 덜 구별되어 서열 특이적 인식에 덜 쓰인다.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4. 당-인산 골격이 바깥에, 염기가 안쪽에 있다.</a:t>
            </a:r>
            <a:r>
              <a:rPr sz="1400" b="0" i="0">
                <a:solidFill>
                  <a:srgbClr val="11202B"/>
                </a:solidFill>
                <a:latin typeface="Malgun Gothic"/>
                <a:ea typeface="Malgun Gothic"/>
                <a:cs typeface="Malgun Gothic"/>
              </a:rPr>
              <a:t> 음전하를 띤 골격이 물 쪽을 향하고 소수성 염기가 안으로 쌓인다. 골격의 음전하는 DNA가 양전하 단백질과 결합하는 근거가 되고(히스톤), 염기 사이의 쌓임 상호작용이 이중나선 안정성의 상당 부분을 담당한다. 수소결합만으로 안정한 것이 아니라는 점이 중요하다.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GC 함량이 안정성을 정한다.</a:t>
            </a:r>
            <a:r>
              <a:rPr sz="1400" b="0" i="0">
                <a:solidFill>
                  <a:srgbClr val="11202B"/>
                </a:solidFill>
                <a:latin typeface="Malgun Gothic"/>
                <a:ea typeface="Malgun Gothic"/>
                <a:cs typeface="Malgun Gothic"/>
              </a:rPr>
              <a:t> A-T는 수소결합 두 개, G-C는 세 개다. 따라서 GC가 많은 구간일수록 풀기 어렵다. 복제와 전사가 시작되는 자리에 AT가 풍부한 서열이 흔한 것, PCR에서 GC 함량에 따라 조건을 바꾸는 것이 모두 여기서 나온다.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DNA 구조가 정보 체계에 부과하는 조건</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M01-W05-L03  ·  유전정보의 흐름: 복제·전사·번역</a:t>
            </a:r>
            <a:r>
              <a:rPr sz="900" b="1" i="0">
                <a:solidFill>
                  <a:srgbClr val="003C71"/>
                </a:solidFill>
                <a:latin typeface="Malgun Gothic"/>
                <a:ea typeface="Malgun Gothic"/>
                <a:cs typeface="Malgun Gothic"/>
              </a:rPr>
              <a:t>      10</a:t>
            </a:r>
          </a:p>
        </p:txBody>
      </p:sp>
      <p:sp>
        <p:nvSpPr>
          <p:cNvPr id="7" name="Rectangle 6"/>
          <p:cNvSpPr/>
          <p:nvPr/>
        </p:nvSpPr>
        <p:spPr>
          <a:xfrm>
            <a:off x="640080" y="1325880"/>
            <a:ext cx="10881360" cy="2270759"/>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1" i="0">
                <a:solidFill>
                  <a:srgbClr val="11202B"/>
                </a:solidFill>
                <a:latin typeface="Malgun Gothic"/>
                <a:ea typeface="Malgun Gothic"/>
                <a:cs typeface="Malgun Gothic"/>
              </a:rPr>
              <a:t>시험에서 가려내는 지점</a:t>
            </a:r>
            <a:r>
              <a:rPr sz="1600" b="0" i="0">
                <a:solidFill>
                  <a:srgbClr val="11202B"/>
                </a:solidFill>
                <a:latin typeface="Malgun Gothic"/>
                <a:ea typeface="Malgun Gothic"/>
                <a:cs typeface="Malgun Gothic"/>
              </a:rPr>
              <a:t> DNA와 RNA의 차이를 묻는 문제에서 세 가지를 모두 짚어야 한다. 당(deoxyribose와 ribose), 염기(thymine과 uracil), 가닥 수(이중과 단일)다. 그리고 </a:t>
            </a:r>
            <a:r>
              <a:rPr sz="1600" b="1" i="0">
                <a:solidFill>
                  <a:srgbClr val="11202B"/>
                </a:solidFill>
                <a:latin typeface="Malgun Gothic"/>
                <a:ea typeface="Malgun Gothic"/>
                <a:cs typeface="Malgun Gothic"/>
              </a:rPr>
              <a:t>왜 그런 선택이 되었는지</a:t>
            </a:r>
            <a:r>
              <a:rPr sz="1600" b="0" i="0">
                <a:solidFill>
                  <a:srgbClr val="11202B"/>
                </a:solidFill>
                <a:latin typeface="Malgun Gothic"/>
                <a:ea typeface="Malgun Gothic"/>
                <a:cs typeface="Malgun Gothic"/>
              </a:rPr>
              <a:t>가 더 자주 묻힌다. RNA의 2′ hydroxyl기는 인접한 결합을 공격해 가수분해를 일으키므로 RNA가 덜 안정하고, 장기 저장에는 DNA가 적합하다. 동시에 그 반응성 때문에 RNA가 촉매로 작동할 수 있다. Thymine을 쓰는 이유는 cytosine이 탈아미노화되면 uracil이 되므로, DNA에서 발견된 uracil을 무조건 손상으로 판정해 제거하기 위해서다(M01-W04-L03). 수명이 짧은 RNA에는 이 구별이 필요 없다.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반보존적 복제와 Meselson-Stahl 실험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M01-W05-L03  ·  유전정보의 흐름: 복제·전사·번역</a:t>
            </a:r>
            <a:r>
              <a:rPr sz="900" b="1" i="0">
                <a:solidFill>
                  <a:srgbClr val="003C71"/>
                </a:solidFill>
                <a:latin typeface="Malgun Gothic"/>
                <a:ea typeface="Malgun Gothic"/>
                <a:cs typeface="Malgun Gothic"/>
              </a:rPr>
              <a:t>      11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Watson과 Crick이 1953년 이중나선 구조를 제시하면서 복제 방식도 예측했다. 두 사슬이 상보적이므로, 사슬을 떼어 각각을 주형으로 쓰면 원래와 같은 두 분자가 만들어진다. 이것을 </a:t>
            </a:r>
            <a:r>
              <a:rPr sz="1600" b="1" i="0">
                <a:solidFill>
                  <a:srgbClr val="11202B"/>
                </a:solidFill>
                <a:latin typeface="Malgun Gothic"/>
                <a:ea typeface="Malgun Gothic"/>
                <a:cs typeface="Malgun Gothic"/>
              </a:rPr>
              <a:t>반보존적 복제(semiconservative replication)</a:t>
            </a:r>
            <a:r>
              <a:rPr sz="1600" b="0" i="0">
                <a:solidFill>
                  <a:srgbClr val="11202B"/>
                </a:solidFill>
                <a:latin typeface="Malgun Gothic"/>
                <a:ea typeface="Malgun Gothic"/>
                <a:cs typeface="Malgun Gothic"/>
              </a:rPr>
              <a:t>라 한다.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경쟁 가설이 둘 있었다. </a:t>
            </a:r>
            <a:r>
              <a:rPr sz="1600" b="1" i="0">
                <a:solidFill>
                  <a:srgbClr val="11202B"/>
                </a:solidFill>
                <a:latin typeface="Malgun Gothic"/>
                <a:ea typeface="Malgun Gothic"/>
                <a:cs typeface="Malgun Gothic"/>
              </a:rPr>
              <a:t>보존적 복제</a:t>
            </a:r>
            <a:r>
              <a:rPr sz="1600" b="0" i="0">
                <a:solidFill>
                  <a:srgbClr val="11202B"/>
                </a:solidFill>
                <a:latin typeface="Malgun Gothic"/>
                <a:ea typeface="Malgun Gothic"/>
                <a:cs typeface="Malgun Gothic"/>
              </a:rPr>
              <a:t>는 원래 두 사슬이 함께 남고 완전히 새로운 두 사슬이 따로 만들어진다는 것이고, </a:t>
            </a:r>
            <a:r>
              <a:rPr sz="1600" b="1" i="0">
                <a:solidFill>
                  <a:srgbClr val="11202B"/>
                </a:solidFill>
                <a:latin typeface="Malgun Gothic"/>
                <a:ea typeface="Malgun Gothic"/>
                <a:cs typeface="Malgun Gothic"/>
              </a:rPr>
              <a:t>분산적 복제</a:t>
            </a:r>
            <a:r>
              <a:rPr sz="1600" b="0" i="0">
                <a:solidFill>
                  <a:srgbClr val="11202B"/>
                </a:solidFill>
                <a:latin typeface="Malgun Gothic"/>
                <a:ea typeface="Malgun Gothic"/>
                <a:cs typeface="Malgun Gothic"/>
              </a:rPr>
              <a:t>는 새 DNA가 원래 조각과 새 조각이 섞여 있다는 것이다.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Matthew Meselson과 Franklin Stahl(1958)이 세 가설을 구별했다. 설계가 명료하다.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1. *E. coli*를 무거운 질소 동위원소 ¹⁵N이 든 배지에서 여러 세대 키워 DNA 전체를 ¹⁵N으로 표지한다.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2. 이 세균을 보통 ¹⁴N 배지로 옮기고 한 세대, 두 세대 뒤의 DNA를 각각 뽑는다.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3. CsCl 밀도구배 평형 원심분리로 DNA를 밀도에 따라 분리한다.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결과는 다음과 같았다.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반보존적 복제와 Meselson-Stahl 실험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M01-W05-L03  ·  유전정보의 흐름: 복제·전사·번역</a:t>
            </a:r>
            <a:r>
              <a:rPr sz="900" b="1" i="0">
                <a:solidFill>
                  <a:srgbClr val="003C71"/>
                </a:solidFill>
                <a:latin typeface="Malgun Gothic"/>
                <a:ea typeface="Malgun Gothic"/>
                <a:cs typeface="Malgun Gothic"/>
              </a:rPr>
              <a:t>      12</a:t>
            </a:r>
          </a:p>
        </p:txBody>
      </p:sp>
      <p:graphicFrame>
        <p:nvGraphicFramePr>
          <p:cNvPr id="7" name="Table 6"/>
          <p:cNvGraphicFramePr>
            <a:graphicFrameLocks noGrp="1"/>
          </p:cNvGraphicFramePr>
          <p:nvPr/>
        </p:nvGraphicFramePr>
        <p:xfrm>
          <a:off x="548640" y="1280160"/>
          <a:ext cx="11064240" cy="1463040"/>
        </p:xfrm>
        <a:graphic>
          <a:graphicData uri="http://schemas.openxmlformats.org/drawingml/2006/table">
            <a:tbl>
              <a:tblPr firstRow="1" bandRow="1">
                <a:tableStyleId>{5C22544A-7EE6-4342-B048-85BDC9FD1C3A}</a:tableStyleId>
              </a:tblPr>
              <a:tblGrid>
                <a:gridCol w="2212848"/>
                <a:gridCol w="2212848"/>
                <a:gridCol w="2212848"/>
                <a:gridCol w="2212848"/>
                <a:gridCol w="2212848"/>
              </a:tblGrid>
              <a:tr h="365760">
                <a:tc>
                  <a:txBody>
                    <a:bodyPr/>
                    <a:lstStyle/>
                    <a:p>
                      <a:r>
                        <a:rPr sz="1200" b="1" i="0">
                          <a:solidFill>
                            <a:srgbClr val="FFFFFF"/>
                          </a:solidFill>
                          <a:latin typeface="Malgun Gothic"/>
                          <a:ea typeface="Malgun Gothic"/>
                          <a:cs typeface="Malgun Gothic"/>
                        </a:rPr>
                        <a:t>세대</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관찰된 띠</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반보존적 예측</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보존적 예측</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분산적 예측</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0세대</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무거운 띠 1개</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일치</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일치</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일치</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1세대</a:t>
                      </a:r>
                    </a:p>
                  </a:txBody>
                  <a:tcPr marL="73152" marR="73152" marT="27432" marB="27432">
                    <a:solidFill>
                      <a:srgbClr val="EFF4F8"/>
                    </a:solidFill>
                  </a:tcPr>
                </a:tc>
                <a:tc>
                  <a:txBody>
                    <a:bodyPr/>
                    <a:lstStyle/>
                    <a:p>
                      <a:r>
                        <a:rPr sz="1200" b="1" i="0">
                          <a:solidFill>
                            <a:srgbClr val="11202B"/>
                          </a:solidFill>
                          <a:latin typeface="Malgun Gothic"/>
                          <a:ea typeface="Malgun Gothic"/>
                          <a:cs typeface="Malgun Gothic"/>
                        </a:rPr>
                        <a:t>중간 밀도 띠 1개</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일치</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무거운 띠 + 가벼운 띠</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중간 띠</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2세대</a:t>
                      </a:r>
                    </a:p>
                  </a:txBody>
                  <a:tcPr marL="73152" marR="73152" marT="27432" marB="27432">
                    <a:solidFill>
                      <a:srgbClr val="FFFFFF"/>
                    </a:solidFill>
                  </a:tcPr>
                </a:tc>
                <a:tc>
                  <a:txBody>
                    <a:bodyPr/>
                    <a:lstStyle/>
                    <a:p>
                      <a:r>
                        <a:rPr sz="1200" b="1" i="0">
                          <a:solidFill>
                            <a:srgbClr val="11202B"/>
                          </a:solidFill>
                          <a:latin typeface="Malgun Gothic"/>
                          <a:ea typeface="Malgun Gothic"/>
                          <a:cs typeface="Malgun Gothic"/>
                        </a:rPr>
                        <a:t>중간 띠 + 가벼운 띠, 1:1</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일치</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무거운 1 : 가벼운 3</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중간보다 가벼운 띠 1개</a:t>
                      </a:r>
                    </a:p>
                  </a:txBody>
                  <a:tcPr marL="73152" marR="73152" marT="27432" marB="27432">
                    <a:solidFill>
                      <a:srgbClr val="FFFFFF"/>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반보존적 복제와 Meselson-Stahl 실험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M01-W05-L03  ·  유전정보의 흐름: 복제·전사·번역</a:t>
            </a:r>
            <a:r>
              <a:rPr sz="900" b="1" i="0">
                <a:solidFill>
                  <a:srgbClr val="003C71"/>
                </a:solidFill>
                <a:latin typeface="Malgun Gothic"/>
                <a:ea typeface="Malgun Gothic"/>
                <a:cs typeface="Malgun Gothic"/>
              </a:rPr>
              <a:t>      13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1세대에서 중간 밀도 띠만 나온 것이 </a:t>
            </a:r>
            <a:r>
              <a:rPr sz="2000" b="1" i="0">
                <a:solidFill>
                  <a:srgbClr val="11202B"/>
                </a:solidFill>
                <a:latin typeface="Malgun Gothic"/>
                <a:ea typeface="Malgun Gothic"/>
                <a:cs typeface="Malgun Gothic"/>
              </a:rPr>
              <a:t>보존적 복제를 배제</a:t>
            </a:r>
            <a:r>
              <a:rPr sz="2000" b="0" i="0">
                <a:solidFill>
                  <a:srgbClr val="11202B"/>
                </a:solidFill>
                <a:latin typeface="Malgun Gothic"/>
                <a:ea typeface="Malgun Gothic"/>
                <a:cs typeface="Malgun Gothic"/>
              </a:rPr>
              <a:t>했다. 2세대에서 중간 띠와 가벼운 띠가 같은 양으로 나뉘어 나온 것이 </a:t>
            </a:r>
            <a:r>
              <a:rPr sz="2000" b="1" i="0">
                <a:solidFill>
                  <a:srgbClr val="11202B"/>
                </a:solidFill>
                <a:latin typeface="Malgun Gothic"/>
                <a:ea typeface="Malgun Gothic"/>
                <a:cs typeface="Malgun Gothic"/>
              </a:rPr>
              <a:t>분산적 복제를 배제</a:t>
            </a:r>
            <a:r>
              <a:rPr sz="2000" b="0" i="0">
                <a:solidFill>
                  <a:srgbClr val="11202B"/>
                </a:solidFill>
                <a:latin typeface="Malgun Gothic"/>
                <a:ea typeface="Malgun Gothic"/>
                <a:cs typeface="Malgun Gothic"/>
              </a:rPr>
              <a:t>했다. 분산적이라면 모든 분자가 균일하게 가벼워져 하나의 띠로 나와야 한다.</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이 실험은 세포분획 기법(밀도구배 평형 원심분리)이 어떻게 분자 수준의 질문에 답하는지를 보여주는 사례이기도 하다.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DNA 복제의 기전</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M01-W05-L03  ·  유전정보의 흐름: 복제·전사·번역</a:t>
            </a:r>
            <a:r>
              <a:rPr sz="900" b="1" i="0">
                <a:solidFill>
                  <a:srgbClr val="003C71"/>
                </a:solidFill>
                <a:latin typeface="Malgun Gothic"/>
                <a:ea typeface="Malgun Gothic"/>
                <a:cs typeface="Malgun Gothic"/>
              </a:rPr>
              <a:t>      14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복제는 </a:t>
            </a:r>
            <a:r>
              <a:rPr sz="1400" b="1" i="0">
                <a:solidFill>
                  <a:srgbClr val="11202B"/>
                </a:solidFill>
                <a:latin typeface="Malgun Gothic"/>
                <a:ea typeface="Malgun Gothic"/>
                <a:cs typeface="Malgun Gothic"/>
              </a:rPr>
              <a:t>replication origin</a:t>
            </a:r>
            <a:r>
              <a:rPr sz="1400" b="0" i="0">
                <a:solidFill>
                  <a:srgbClr val="11202B"/>
                </a:solidFill>
                <a:latin typeface="Malgun Gothic"/>
                <a:ea typeface="Malgun Gothic"/>
                <a:cs typeface="Malgun Gothic"/>
              </a:rPr>
              <a:t>에서 시작한다. *E. coli*는 환상 유전체에 origin이 하나(oriC)지만, 사람의 염색체에는 수만 개가 있어 동시에 여러 지점에서 시작한다. 사람의 유전체 3,200 Mb를 하나의 origin으로 복제한다면 수 주가 걸리므로, 다중 origin이 S기를 몇 시간으로 줄인다.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Origin에서 두 방향으로 </a:t>
            </a:r>
            <a:r>
              <a:rPr sz="1400" b="1" i="0">
                <a:solidFill>
                  <a:srgbClr val="11202B"/>
                </a:solidFill>
                <a:latin typeface="Malgun Gothic"/>
                <a:ea typeface="Malgun Gothic"/>
                <a:cs typeface="Malgun Gothic"/>
              </a:rPr>
              <a:t>복제분기점(replication fork)</a:t>
            </a:r>
            <a:r>
              <a:rPr sz="1400" b="0" i="0">
                <a:solidFill>
                  <a:srgbClr val="11202B"/>
                </a:solidFill>
                <a:latin typeface="Malgun Gothic"/>
                <a:ea typeface="Malgun Gothic"/>
                <a:cs typeface="Malgun Gothic"/>
              </a:rPr>
              <a:t>이 진행한다. 분기점에서 일어나는 일을 순서대로 본다.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Helicase</a:t>
            </a:r>
            <a:r>
              <a:rPr sz="1400" b="0" i="0">
                <a:solidFill>
                  <a:srgbClr val="11202B"/>
                </a:solidFill>
                <a:latin typeface="Malgun Gothic"/>
                <a:ea typeface="Malgun Gothic"/>
                <a:cs typeface="Malgun Gothic"/>
              </a:rPr>
              <a:t>가 ATP를 써서 두 사슬을 떼어낸다. *E. coli*는 DnaB, 사람은 MCM 복합체다.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Single-strand binding protein</a:t>
            </a:r>
            <a:r>
              <a:rPr sz="1400" b="0" i="0">
                <a:solidFill>
                  <a:srgbClr val="11202B"/>
                </a:solidFill>
                <a:latin typeface="Malgun Gothic"/>
                <a:ea typeface="Malgun Gothic"/>
                <a:cs typeface="Malgun Gothic"/>
              </a:rPr>
              <a:t>이 떨어진 사슬에 붙어 다시 짝지어지는 것을 막는다.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Topoisomerase</a:t>
            </a:r>
            <a:r>
              <a:rPr sz="1400" b="0" i="0">
                <a:solidFill>
                  <a:srgbClr val="11202B"/>
                </a:solidFill>
                <a:latin typeface="Malgun Gothic"/>
                <a:ea typeface="Malgun Gothic"/>
                <a:cs typeface="Malgun Gothic"/>
              </a:rPr>
              <a:t>가 사슬이 풀릴 때 앞쪽에 생기는 꼬임(supercoil)을 끊고 다시 이어 해소한다.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Primase</a:t>
            </a:r>
            <a:r>
              <a:rPr sz="1400" b="0" i="0">
                <a:solidFill>
                  <a:srgbClr val="11202B"/>
                </a:solidFill>
                <a:latin typeface="Malgun Gothic"/>
                <a:ea typeface="Malgun Gothic"/>
                <a:cs typeface="Malgun Gothic"/>
              </a:rPr>
              <a:t>가 짧은 RNA primer를 만든다.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DNA polymerase</a:t>
            </a:r>
            <a:r>
              <a:rPr sz="1400" b="0" i="0">
                <a:solidFill>
                  <a:srgbClr val="11202B"/>
                </a:solidFill>
                <a:latin typeface="Malgun Gothic"/>
                <a:ea typeface="Malgun Gothic"/>
                <a:cs typeface="Malgun Gothic"/>
              </a:rPr>
              <a:t>가 primer의 3′ 말단에 nucleotide를 붙여 사슬을 늘린다.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여기서 중요한 제약이 두 가지 있다. 첫째, </a:t>
            </a:r>
            <a:r>
              <a:rPr sz="1400" b="1" i="0">
                <a:solidFill>
                  <a:srgbClr val="11202B"/>
                </a:solidFill>
                <a:latin typeface="Malgun Gothic"/>
                <a:ea typeface="Malgun Gothic"/>
                <a:cs typeface="Malgun Gothic"/>
              </a:rPr>
              <a:t>모든 DNA polymerase는 5′→3′ 방향으로만 합성한다.</a:t>
            </a:r>
            <a:r>
              <a:rPr sz="1400" b="0" i="0">
                <a:solidFill>
                  <a:srgbClr val="11202B"/>
                </a:solidFill>
                <a:latin typeface="Malgun Gothic"/>
                <a:ea typeface="Malgun Gothic"/>
                <a:cs typeface="Malgun Gothic"/>
              </a:rPr>
              <a:t> 둘째, </a:t>
            </a:r>
            <a:r>
              <a:rPr sz="1400" b="1" i="0">
                <a:solidFill>
                  <a:srgbClr val="11202B"/>
                </a:solidFill>
                <a:latin typeface="Malgun Gothic"/>
                <a:ea typeface="Malgun Gothic"/>
                <a:cs typeface="Malgun Gothic"/>
              </a:rPr>
              <a:t>primer 없이 사슬을 새로 시작할 수 없다.</a:t>
            </a:r>
            <a:r>
              <a:rPr sz="1400" b="0" i="0">
                <a:solidFill>
                  <a:srgbClr val="11202B"/>
                </a:solidFill>
                <a:latin typeface="Malgun Gothic"/>
                <a:ea typeface="Malgun Gothic"/>
                <a:cs typeface="Malgun Gothic"/>
              </a:rPr>
              <a:t> 두 사슬은 서로 반대 방향이므로 이 제약 때문에 두 사슬의 합성 방식이 달라진다.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Leading strand</a:t>
            </a:r>
            <a:r>
              <a:rPr sz="1400" b="0" i="0">
                <a:solidFill>
                  <a:srgbClr val="11202B"/>
                </a:solidFill>
                <a:latin typeface="Malgun Gothic"/>
                <a:ea typeface="Malgun Gothic"/>
                <a:cs typeface="Malgun Gothic"/>
              </a:rPr>
              <a:t>: 분기점이 진행하는 방향과 합성 방향이 같다. primer 하나로 연속해서 합성한다.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Lagging strand</a:t>
            </a:r>
            <a:r>
              <a:rPr sz="1400" b="0" i="0">
                <a:solidFill>
                  <a:srgbClr val="11202B"/>
                </a:solidFill>
                <a:latin typeface="Malgun Gothic"/>
                <a:ea typeface="Malgun Gothic"/>
                <a:cs typeface="Malgun Gothic"/>
              </a:rPr>
              <a:t>: 분기점 진행 방향과 합성 방향이 반대다. 분기점이 나아가 주형이 노출될 때마다 primer를 새로 만들고 짧은 조각을 거꾸로 합성한다. 이 조각을 </a:t>
            </a:r>
            <a:r>
              <a:rPr sz="1400" b="1" i="0">
                <a:solidFill>
                  <a:srgbClr val="11202B"/>
                </a:solidFill>
                <a:latin typeface="Malgun Gothic"/>
                <a:ea typeface="Malgun Gothic"/>
                <a:cs typeface="Malgun Gothic"/>
              </a:rPr>
              <a:t>Okazaki fragment</a:t>
            </a:r>
            <a:r>
              <a:rPr sz="1400" b="0" i="0">
                <a:solidFill>
                  <a:srgbClr val="11202B"/>
                </a:solidFill>
                <a:latin typeface="Malgun Gothic"/>
                <a:ea typeface="Malgun Gothic"/>
                <a:cs typeface="Malgun Gothic"/>
              </a:rPr>
              <a:t>라 하며 세균에서 1,000~2,000 nucleotide, 진핵에서 100~200 nucleotide다.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Lagging strand를 마무리하려면 세 단계가 더 필요하다. RNA primer를 제거하고(RNase H와 5′→3′ exonuclease 활성), 생긴 빈자리를 DNA polymerase가 채우고, </a:t>
            </a:r>
            <a:r>
              <a:rPr sz="1400" b="1" i="0">
                <a:solidFill>
                  <a:srgbClr val="11202B"/>
                </a:solidFill>
                <a:latin typeface="Malgun Gothic"/>
                <a:ea typeface="Malgun Gothic"/>
                <a:cs typeface="Malgun Gothic"/>
              </a:rPr>
              <a:t>DNA ligase</a:t>
            </a:r>
            <a:r>
              <a:rPr sz="1400" b="0" i="0">
                <a:solidFill>
                  <a:srgbClr val="11202B"/>
                </a:solidFill>
                <a:latin typeface="Malgun Gothic"/>
                <a:ea typeface="Malgun Gothic"/>
                <a:cs typeface="Malgun Gothic"/>
              </a:rPr>
              <a:t>가 인접 조각의 3′-OH와 5′-인산 사이에 phosphodiester 결합을 만든다.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DNA 복제의 기전</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M01-W05-L03  ·  유전정보의 흐름: 복제·전사·번역</a:t>
            </a:r>
            <a:r>
              <a:rPr sz="900" b="1" i="0">
                <a:solidFill>
                  <a:srgbClr val="003C71"/>
                </a:solidFill>
                <a:latin typeface="Malgun Gothic"/>
                <a:ea typeface="Malgun Gothic"/>
                <a:cs typeface="Malgun Gothic"/>
              </a:rPr>
              <a:t>      15</a:t>
            </a:r>
          </a:p>
        </p:txBody>
      </p:sp>
      <p:pic>
        <p:nvPicPr>
          <p:cNvPr id="7" name="Picture 6" descr="fig-replication-fork.slide.png"/>
          <p:cNvPicPr>
            <a:picLocks noChangeAspect="1"/>
          </p:cNvPicPr>
          <p:nvPr/>
        </p:nvPicPr>
        <p:blipFill>
          <a:blip r:embed="rId2"/>
          <a:stretch>
            <a:fillRect/>
          </a:stretch>
        </p:blipFill>
        <p:spPr>
          <a:xfrm>
            <a:off x="1852739" y="1325880"/>
            <a:ext cx="8486216"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복제분기점의 구조. Helicase가 사슬을 풀고, leading strand는 연속 합성되며, lagging strand는 primer와 Okazaki fragment로 불연속 합성된 뒤 ligase로 이어진다.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DNA 복제의 기전</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M01-W05-L03  ·  유전정보의 흐름: 복제·전사·번역</a:t>
            </a:r>
            <a:r>
              <a:rPr sz="900" b="1" i="0">
                <a:solidFill>
                  <a:srgbClr val="003C71"/>
                </a:solidFill>
                <a:latin typeface="Malgun Gothic"/>
                <a:ea typeface="Malgun Gothic"/>
                <a:cs typeface="Malgun Gothic"/>
              </a:rPr>
              <a:t>      16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선형 염색체의 말단 문제</a:t>
            </a:r>
            <a:r>
              <a:rPr sz="1800" b="0" i="0">
                <a:solidFill>
                  <a:srgbClr val="11202B"/>
                </a:solidFill>
                <a:latin typeface="Malgun Gothic"/>
                <a:ea typeface="Malgun Gothic"/>
                <a:cs typeface="Malgun Gothic"/>
              </a:rPr>
              <a:t>가 남는다. Lagging strand의 가장 끝 primer를 제거하면 그 자리를 채울 primer를 앞쪽에 둘 수 없어 염색체가 매 복제마다 짧아진다. 해결은 </a:t>
            </a:r>
            <a:r>
              <a:rPr sz="1800" b="1" i="0">
                <a:solidFill>
                  <a:srgbClr val="11202B"/>
                </a:solidFill>
                <a:latin typeface="Malgun Gothic"/>
                <a:ea typeface="Malgun Gothic"/>
                <a:cs typeface="Malgun Gothic"/>
              </a:rPr>
              <a:t>telomere</a:t>
            </a:r>
            <a:r>
              <a:rPr sz="1800" b="0" i="0">
                <a:solidFill>
                  <a:srgbClr val="11202B"/>
                </a:solidFill>
                <a:latin typeface="Malgun Gothic"/>
                <a:ea typeface="Malgun Gothic"/>
                <a:cs typeface="Malgun Gothic"/>
              </a:rPr>
              <a:t>와 </a:t>
            </a:r>
            <a:r>
              <a:rPr sz="1800" b="1" i="0">
                <a:solidFill>
                  <a:srgbClr val="11202B"/>
                </a:solidFill>
                <a:latin typeface="Malgun Gothic"/>
                <a:ea typeface="Malgun Gothic"/>
                <a:cs typeface="Malgun Gothic"/>
              </a:rPr>
              <a:t>telomerase</a:t>
            </a:r>
            <a:r>
              <a:rPr sz="1800" b="0" i="0">
                <a:solidFill>
                  <a:srgbClr val="11202B"/>
                </a:solidFill>
                <a:latin typeface="Malgun Gothic"/>
                <a:ea typeface="Malgun Gothic"/>
                <a:cs typeface="Malgun Gothic"/>
              </a:rPr>
              <a:t>다. Telomere는 염색체 말단의 반복 서열(사람은 TTAGGG)이고, telomerase는 자신의 RNA를 주형으로 쓰는 reverse transcriptase여서 주형 DNA 없이 말단을 늘릴 수 있다. 사람의 체세포 대부분은 telomerase 활성이 낮아 분열마다 telomere가 짧아지고, 일정 길이 아래로 떨어지면 분열이 멈춘다. 이것이 M01-W05-L01에서 다룬 replicative senescence의 분자적 근거다.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DNA 복제의 기전</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M01-W05-L03  ·  유전정보의 흐름: 복제·전사·번역</a:t>
            </a:r>
            <a:r>
              <a:rPr sz="900" b="1" i="0">
                <a:solidFill>
                  <a:srgbClr val="003C71"/>
                </a:solidFill>
                <a:latin typeface="Malgun Gothic"/>
                <a:ea typeface="Malgun Gothic"/>
                <a:cs typeface="Malgun Gothic"/>
              </a:rPr>
              <a:t>      17</a:t>
            </a:r>
          </a:p>
        </p:txBody>
      </p:sp>
      <p:sp>
        <p:nvSpPr>
          <p:cNvPr id="7" name="Rectangle 6"/>
          <p:cNvSpPr/>
          <p:nvPr/>
        </p:nvSpPr>
        <p:spPr>
          <a:xfrm>
            <a:off x="640080" y="1325880"/>
            <a:ext cx="10881360" cy="2270759"/>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복제 기구는 항생제와 항암제의 표적이다. 세균의 topoisomerase II(DNA gyrase)와 IV를 억제하는 </a:t>
            </a:r>
            <a:r>
              <a:rPr sz="1600" b="1" i="0">
                <a:solidFill>
                  <a:srgbClr val="11202B"/>
                </a:solidFill>
                <a:latin typeface="Malgun Gothic"/>
                <a:ea typeface="Malgun Gothic"/>
                <a:cs typeface="Malgun Gothic"/>
              </a:rPr>
              <a:t>fluoroquinolone</a:t>
            </a:r>
            <a:r>
              <a:rPr sz="1600" b="0" i="0">
                <a:solidFill>
                  <a:srgbClr val="11202B"/>
                </a:solidFill>
                <a:latin typeface="Malgun Gothic"/>
                <a:ea typeface="Malgun Gothic"/>
                <a:cs typeface="Malgun Gothic"/>
              </a:rPr>
              <a:t>(ciprofloxacin, levofloxacin)은 사람의 topoisomerase와 구조가 달라 선택적으로 작동한다. 사람의 topoisomerase를 겨냥하는 약물은 항암제로 쓰인다. Etoposide는 topoisomerase II를, irinotecan은 topoisomerase I을 억제해 끊긴 DNA가 이어지지 못하게 만들어 빠르게 분열하는 세포를 죽인다. 한편 생식세포와 줄기세포는 telomerase를 유지하는데, 암세포의 약 90%가 telomerase를 재활성화해 무한 증식 능력을 얻는다.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복제가 풀어야 하는 두 가지 물리적 문제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M01-W05-L03  ·  유전정보의 흐름: 복제·전사·번역</a:t>
            </a:r>
            <a:r>
              <a:rPr sz="900" b="1" i="0">
                <a:solidFill>
                  <a:srgbClr val="003C71"/>
                </a:solidFill>
                <a:latin typeface="Malgun Gothic"/>
                <a:ea typeface="Malgun Gothic"/>
                <a:cs typeface="Malgun Gothic"/>
              </a:rPr>
              <a:t>      18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4절의 기전은 효소의 목록이었다. 그 효소들이 왜 필요한지는 </a:t>
            </a:r>
            <a:r>
              <a:rPr sz="1400" b="1" i="0">
                <a:solidFill>
                  <a:srgbClr val="11202B"/>
                </a:solidFill>
                <a:latin typeface="Malgun Gothic"/>
                <a:ea typeface="Malgun Gothic"/>
                <a:cs typeface="Malgun Gothic"/>
              </a:rPr>
              <a:t>DNA가 긴 이중나선이라는 물리적 사실</a:t>
            </a:r>
            <a:r>
              <a:rPr sz="1400" b="0" i="0">
                <a:solidFill>
                  <a:srgbClr val="11202B"/>
                </a:solidFill>
                <a:latin typeface="Malgun Gothic"/>
                <a:ea typeface="Malgun Gothic"/>
                <a:cs typeface="Malgun Gothic"/>
              </a:rPr>
              <a:t>에서 나온다. 두 문제가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문제 1: 꼬임.</a:t>
            </a:r>
            <a:r>
              <a:rPr sz="1400" b="0" i="0">
                <a:solidFill>
                  <a:srgbClr val="11202B"/>
                </a:solidFill>
                <a:latin typeface="Malgun Gothic"/>
                <a:ea typeface="Malgun Gothic"/>
                <a:cs typeface="Malgun Gothic"/>
              </a:rPr>
              <a:t> 이중나선을 풀면 그 앞쪽이 더 단단히 꼬인다. 전화선을 한쪽에서 풀 때 다른 쪽이 엉키는 것과 같다. 세균의 환상 염색체처럼 양 끝이 고정된 구조에서는 꼬임이 달아날 곳이 없다. 계산하면 복제분기점이 초당 수백 회전해야 하는데, 염색체 전체가 그렇게 돌 수는 없다.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해결: topoisomerase.</a:t>
            </a:r>
            <a:r>
              <a:rPr sz="1400" b="0" i="0">
                <a:solidFill>
                  <a:srgbClr val="11202B"/>
                </a:solidFill>
                <a:latin typeface="Malgun Gothic"/>
                <a:ea typeface="Malgun Gothic"/>
                <a:cs typeface="Malgun Gothic"/>
              </a:rPr>
              <a:t> 이 효소가 DNA를 끊었다가 다시 잇는다. 두 종류다.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I형</a:t>
            </a:r>
            <a:r>
              <a:rPr sz="1400" b="0" i="0">
                <a:solidFill>
                  <a:srgbClr val="11202B"/>
                </a:solidFill>
                <a:latin typeface="Malgun Gothic"/>
                <a:ea typeface="Malgun Gothic"/>
                <a:cs typeface="Malgun Gothic"/>
              </a:rPr>
              <a:t>: 한 가닥만 끊는다. 끊어진 자리에서 회전이 일어나 꼬임이 풀리고 다시 이어진다. ATP가 필요 없다.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II형</a:t>
            </a:r>
            <a:r>
              <a:rPr sz="1400" b="0" i="0">
                <a:solidFill>
                  <a:srgbClr val="11202B"/>
                </a:solidFill>
                <a:latin typeface="Malgun Gothic"/>
                <a:ea typeface="Malgun Gothic"/>
                <a:cs typeface="Malgun Gothic"/>
              </a:rPr>
              <a:t>: 두 가닥을 모두 끊고 다른 이중나선을 통과시킨 뒤 잇는다. ATP를 쓴다. 꼬임을 풀 뿐 아니라 </a:t>
            </a:r>
            <a:r>
              <a:rPr sz="1400" b="1" i="0">
                <a:solidFill>
                  <a:srgbClr val="11202B"/>
                </a:solidFill>
                <a:latin typeface="Malgun Gothic"/>
                <a:ea typeface="Malgun Gothic"/>
                <a:cs typeface="Malgun Gothic"/>
              </a:rPr>
              <a:t>얽힌 두 고리를 분리</a:t>
            </a:r>
            <a:r>
              <a:rPr sz="1400" b="0" i="0">
                <a:solidFill>
                  <a:srgbClr val="11202B"/>
                </a:solidFill>
                <a:latin typeface="Malgun Gothic"/>
                <a:ea typeface="Malgun Gothic"/>
                <a:cs typeface="Malgun Gothic"/>
              </a:rPr>
              <a:t>할 수 있어, 복제가 끝난 두 환상 염색체를 떼어 내는 데 필수적이다.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문제 2: 말단.</a:t>
            </a:r>
            <a:r>
              <a:rPr sz="1400" b="0" i="0">
                <a:solidFill>
                  <a:srgbClr val="11202B"/>
                </a:solidFill>
                <a:latin typeface="Malgun Gothic"/>
                <a:ea typeface="Malgun Gothic"/>
                <a:cs typeface="Malgun Gothic"/>
              </a:rPr>
              <a:t> 선형 염색체에서 lagging strand의 가장 끝 Okazaki 조각은 primer가 필요한데, 그 primer를 제거한 자리를 채울 방법이 없다. 앞쪽 3′ 말단이 없기 때문이다. 따라서 복제할 때마다 말단이 조금씩 짧아진다.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해결: telomere와 telomerase.</a:t>
            </a:r>
            <a:r>
              <a:rPr sz="1400" b="0" i="0">
                <a:solidFill>
                  <a:srgbClr val="11202B"/>
                </a:solidFill>
                <a:latin typeface="Malgun Gothic"/>
                <a:ea typeface="Malgun Gothic"/>
                <a:cs typeface="Malgun Gothic"/>
              </a:rPr>
              <a:t> 염색체 끝에 의미 없는 반복 서열(사람에서 TTAGGG)을 붙여 두어, 짧아지는 것이 </a:t>
            </a:r>
            <a:r>
              <a:rPr sz="1400" b="1" i="0">
                <a:solidFill>
                  <a:srgbClr val="11202B"/>
                </a:solidFill>
                <a:latin typeface="Malgun Gothic"/>
                <a:ea typeface="Malgun Gothic"/>
                <a:cs typeface="Malgun Gothic"/>
              </a:rPr>
              <a:t>유전자가 아니라 여분의 반복</a:t>
            </a:r>
            <a:r>
              <a:rPr sz="1400" b="0" i="0">
                <a:solidFill>
                  <a:srgbClr val="11202B"/>
                </a:solidFill>
                <a:latin typeface="Malgun Gothic"/>
                <a:ea typeface="Malgun Gothic"/>
                <a:cs typeface="Malgun Gothic"/>
              </a:rPr>
              <a:t>이 되게 한다. </a:t>
            </a:r>
            <a:r>
              <a:rPr sz="1400" b="1" i="0">
                <a:solidFill>
                  <a:srgbClr val="11202B"/>
                </a:solidFill>
                <a:latin typeface="Malgun Gothic"/>
                <a:ea typeface="Malgun Gothic"/>
                <a:cs typeface="Malgun Gothic"/>
              </a:rPr>
              <a:t>Telomerase</a:t>
            </a:r>
            <a:r>
              <a:rPr sz="1400" b="0" i="0">
                <a:solidFill>
                  <a:srgbClr val="11202B"/>
                </a:solidFill>
                <a:latin typeface="Malgun Gothic"/>
                <a:ea typeface="Malgun Gothic"/>
                <a:cs typeface="Malgun Gothic"/>
              </a:rPr>
              <a:t>는 자체 RNA를 주형으로 쓰는 reverse transcriptase로, 이 반복을 다시 늘린다.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그런데 대부분의 체세포에서 telomerase가 꺼져 있다.</a:t>
            </a:r>
            <a:r>
              <a:rPr sz="1400" b="0" i="0">
                <a:solidFill>
                  <a:srgbClr val="11202B"/>
                </a:solidFill>
                <a:latin typeface="Malgun Gothic"/>
                <a:ea typeface="Malgun Gothic"/>
                <a:cs typeface="Malgun Gothic"/>
              </a:rPr>
              <a:t> 이것이 중요한 지점이다. 고칠 수 있는데도 고치지 않는 것이므로, 짧아지는 것 자체가 </a:t>
            </a:r>
            <a:r>
              <a:rPr sz="1400" b="1" i="0">
                <a:solidFill>
                  <a:srgbClr val="11202B"/>
                </a:solidFill>
                <a:latin typeface="Malgun Gothic"/>
                <a:ea typeface="Malgun Gothic"/>
                <a:cs typeface="Malgun Gothic"/>
              </a:rPr>
              <a:t>의도된 장치</a:t>
            </a:r>
            <a:r>
              <a:rPr sz="1400" b="0" i="0">
                <a:solidFill>
                  <a:srgbClr val="11202B"/>
                </a:solidFill>
                <a:latin typeface="Malgun Gothic"/>
                <a:ea typeface="Malgun Gothic"/>
                <a:cs typeface="Malgun Gothic"/>
              </a:rPr>
              <a:t>일 가능성이 있다. 분열 횟수가 쌓이면 telomere가 임계 길이 아래로 내려가고, 세포는 이를 DNA 손상으로 인식해 분열을 멈춘다(복제 노화). 손상이 쌓인 세포가 무한히 분열하지 못하게 막는 </a:t>
            </a:r>
            <a:r>
              <a:rPr sz="1400" b="1" i="0">
                <a:solidFill>
                  <a:srgbClr val="11202B"/>
                </a:solidFill>
                <a:latin typeface="Malgun Gothic"/>
                <a:ea typeface="Malgun Gothic"/>
                <a:cs typeface="Malgun Gothic"/>
              </a:rPr>
              <a:t>종양 억제 장치</a:t>
            </a:r>
            <a:r>
              <a:rPr sz="1400" b="0" i="0">
                <a:solidFill>
                  <a:srgbClr val="11202B"/>
                </a:solidFill>
                <a:latin typeface="Malgun Gothic"/>
                <a:ea typeface="Malgun Gothic"/>
                <a:cs typeface="Malgun Gothic"/>
              </a:rPr>
              <a:t>로 해석된다.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생식세포와 줄기세포에서는 telomerase가 켜져 있어야 한다. 다음 세대에 짧아진 염색체를 물려줄 수 없기 때문이다. 그리고 암세포의 약 90%가 telomerase를 다시 켠다. 무한 분열의 전제 조건이기 때문이다.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복제가 풀어야 하는 두 가지 물리적 문제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M01-W05-L03  ·  유전정보의 흐름: 복제·전사·번역</a:t>
            </a:r>
            <a:r>
              <a:rPr sz="900" b="1" i="0">
                <a:solidFill>
                  <a:srgbClr val="003C71"/>
                </a:solidFill>
                <a:latin typeface="Malgun Gothic"/>
                <a:ea typeface="Malgun Gothic"/>
                <a:cs typeface="Malgun Gothic"/>
              </a:rPr>
              <a:t>      19</a:t>
            </a:r>
          </a:p>
        </p:txBody>
      </p:sp>
      <p:sp>
        <p:nvSpPr>
          <p:cNvPr id="7" name="Rectangle 6"/>
          <p:cNvSpPr/>
          <p:nvPr/>
        </p:nvSpPr>
        <p:spPr>
          <a:xfrm>
            <a:off x="640080" y="1325880"/>
            <a:ext cx="10881360" cy="2860040"/>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1" i="0">
                <a:solidFill>
                  <a:srgbClr val="11202B"/>
                </a:solidFill>
                <a:latin typeface="Malgun Gothic"/>
                <a:ea typeface="Malgun Gothic"/>
                <a:cs typeface="Malgun Gothic"/>
              </a:rPr>
              <a:t>시험에서 가려내는 지점</a:t>
            </a:r>
            <a:r>
              <a:rPr sz="1600" b="0" i="0">
                <a:solidFill>
                  <a:srgbClr val="11202B"/>
                </a:solidFill>
                <a:latin typeface="Malgun Gothic"/>
                <a:ea typeface="Malgun Gothic"/>
                <a:cs typeface="Malgun Gothic"/>
              </a:rPr>
              <a:t> Topoisomerase가 약물의 표적이 되는 방식을 묻는 문제가 반복된다. 핵심은 </a:t>
            </a:r>
            <a:r>
              <a:rPr sz="1600" b="1" i="0">
                <a:solidFill>
                  <a:srgbClr val="11202B"/>
                </a:solidFill>
                <a:latin typeface="Malgun Gothic"/>
                <a:ea typeface="Malgun Gothic"/>
                <a:cs typeface="Malgun Gothic"/>
              </a:rPr>
              <a:t>억제제가 효소를 멈추는 것이 아니라 중간 단계에 가둔다</a:t>
            </a:r>
            <a:r>
              <a:rPr sz="1600" b="0" i="0">
                <a:solidFill>
                  <a:srgbClr val="11202B"/>
                </a:solidFill>
                <a:latin typeface="Malgun Gothic"/>
                <a:ea typeface="Malgun Gothic"/>
                <a:cs typeface="Malgun Gothic"/>
              </a:rPr>
              <a:t>는 점이다. Fluoroquinolone은 세균의 DNA gyrase(II형)를, etoposide는 사람의 topoisomerase II를, irinotecan은 topoisomerase I을 표적으로 하는데, 모두 </a:t>
            </a:r>
            <a:r>
              <a:rPr sz="1600" b="1" i="0">
                <a:solidFill>
                  <a:srgbClr val="11202B"/>
                </a:solidFill>
                <a:latin typeface="Malgun Gothic"/>
                <a:ea typeface="Malgun Gothic"/>
                <a:cs typeface="Malgun Gothic"/>
              </a:rPr>
              <a:t>DNA가 끊어진 상태의 복합체를 안정화</a:t>
            </a:r>
            <a:r>
              <a:rPr sz="1600" b="0" i="0">
                <a:solidFill>
                  <a:srgbClr val="11202B"/>
                </a:solidFill>
                <a:latin typeface="Malgun Gothic"/>
                <a:ea typeface="Malgun Gothic"/>
                <a:cs typeface="Malgun Gothic"/>
              </a:rPr>
              <a:t>시킨다. 그 결과 복구되지 않은 이중가닥 절단이 쌓여 세포가 죽는다. 효소를 단순히 막는 것보다 훨씬 치명적이며, 그래서 이 계열이 강력한 항균제이자 항암제가 된다. 선택독성은 세균의 효소와 사람의 효소가 구조적으로 다르다는 데서 온다. Telomere 쪽에서는 </a:t>
            </a:r>
            <a:r>
              <a:rPr sz="1600" b="1" i="0">
                <a:solidFill>
                  <a:srgbClr val="11202B"/>
                </a:solidFill>
                <a:latin typeface="Malgun Gothic"/>
                <a:ea typeface="Malgun Gothic"/>
                <a:cs typeface="Malgun Gothic"/>
              </a:rPr>
              <a:t>선천성 각화이상증</a:t>
            </a:r>
            <a:r>
              <a:rPr sz="1600" b="0" i="0">
                <a:solidFill>
                  <a:srgbClr val="11202B"/>
                </a:solidFill>
                <a:latin typeface="Malgun Gothic"/>
                <a:ea typeface="Malgun Gothic"/>
                <a:cs typeface="Malgun Gothic"/>
              </a:rPr>
              <a:t>이 자주 출제된다. Telomerase 구성 요소의 변이로 telomere가 빨리 짧아져 골수 부전, 폐섬유화, 피부와 손발톱 이상이 함께 나타난다. 분열이 빠른 조직이 먼저 타격을 받는다는 예측과 맞는다.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복제의 정확도와 수선</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M01-W05-L03  ·  유전정보의 흐름: 복제·전사·번역</a:t>
            </a:r>
            <a:r>
              <a:rPr sz="900" b="1" i="0">
                <a:solidFill>
                  <a:srgbClr val="003C71"/>
                </a:solidFill>
                <a:latin typeface="Malgun Gothic"/>
                <a:ea typeface="Malgun Gothic"/>
                <a:cs typeface="Malgun Gothic"/>
              </a:rPr>
              <a:t>      20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사람의 복제 오류율은 nucleotide당 약 10⁻¹⁰이다. 3,200 Mb를 복제하면서 오류가 한 개 미만이라는 뜻이다. 중합효소 자체의 정확도만으로는 이 수준에 도달할 수 없고, 세 장치가 차례로 오류를 걸러낸다.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1. </a:t>
            </a:r>
            <a:r>
              <a:rPr sz="1600" b="1" i="0">
                <a:solidFill>
                  <a:srgbClr val="11202B"/>
                </a:solidFill>
                <a:latin typeface="Malgun Gothic"/>
                <a:ea typeface="Malgun Gothic"/>
                <a:cs typeface="Malgun Gothic"/>
              </a:rPr>
              <a:t>중합효소의 기질 선택</a:t>
            </a:r>
            <a:r>
              <a:rPr sz="1600" b="0" i="0">
                <a:solidFill>
                  <a:srgbClr val="11202B"/>
                </a:solidFill>
                <a:latin typeface="Malgun Gothic"/>
                <a:ea typeface="Malgun Gothic"/>
                <a:cs typeface="Malgun Gothic"/>
              </a:rPr>
              <a:t> 올바른 염기쌍만 활성 부위의 기하 구조에 맞으므로 잘못된 nucleotide의 결합이 드물다. 이 단계의 오류율은 약 10⁻⁵이다.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2. </a:t>
            </a:r>
            <a:r>
              <a:rPr sz="1600" b="1" i="0">
                <a:solidFill>
                  <a:srgbClr val="11202B"/>
                </a:solidFill>
                <a:latin typeface="Malgun Gothic"/>
                <a:ea typeface="Malgun Gothic"/>
                <a:cs typeface="Malgun Gothic"/>
              </a:rPr>
              <a:t>3′→5′ exonuclease에 의한 교정(proofreading)</a:t>
            </a:r>
            <a:r>
              <a:rPr sz="1600" b="0" i="0">
                <a:solidFill>
                  <a:srgbClr val="11202B"/>
                </a:solidFill>
                <a:latin typeface="Malgun Gothic"/>
                <a:ea typeface="Malgun Gothic"/>
                <a:cs typeface="Malgun Gothic"/>
              </a:rPr>
              <a:t> DNA polymerase는 합성 활성 외에 방금 붙인 nucleotide를 떼어내는 활성을 함께 갖는다. 짝이 맞지 않으면 사슬 말단이 불안정해져 exonuclease 부위로 옮겨가 제거된다. 여기서 오류율이 약 10⁻⁷로 내려간다.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3. </a:t>
            </a:r>
            <a:r>
              <a:rPr sz="1600" b="1" i="0">
                <a:solidFill>
                  <a:srgbClr val="11202B"/>
                </a:solidFill>
                <a:latin typeface="Malgun Gothic"/>
                <a:ea typeface="Malgun Gothic"/>
                <a:cs typeface="Malgun Gothic"/>
              </a:rPr>
              <a:t>Mismatch repair</a:t>
            </a:r>
            <a:r>
              <a:rPr sz="1600" b="0" i="0">
                <a:solidFill>
                  <a:srgbClr val="11202B"/>
                </a:solidFill>
                <a:latin typeface="Malgun Gothic"/>
                <a:ea typeface="Malgun Gothic"/>
                <a:cs typeface="Malgun Gothic"/>
              </a:rPr>
              <a:t> 복제 후에도 남은 짝 불일치를 따로 인식해 고친다. 새로 합성된 사슬을 구별해 그쪽만 잘라내고 다시 합성한다. 최종 오류율이 약 10⁻¹⁰이 된다.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DNA는 복제와 무관하게도 끊임없이 손상된다. 탈아미노화, 산화, 자외선에 의한 pyrimidine dimer, 알킬화가 일어난다. 수선 경로는 손상의 종류에 따라 나뉜다.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복제의 정확도와 수선</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M01-W05-L03  ·  유전정보의 흐름: 복제·전사·번역</a:t>
            </a:r>
            <a:r>
              <a:rPr sz="900" b="1" i="0">
                <a:solidFill>
                  <a:srgbClr val="003C71"/>
                </a:solidFill>
                <a:latin typeface="Malgun Gothic"/>
                <a:ea typeface="Malgun Gothic"/>
                <a:cs typeface="Malgun Gothic"/>
              </a:rPr>
              <a:t>      21</a:t>
            </a:r>
          </a:p>
        </p:txBody>
      </p:sp>
      <p:graphicFrame>
        <p:nvGraphicFramePr>
          <p:cNvPr id="7" name="Table 6"/>
          <p:cNvGraphicFramePr>
            <a:graphicFrameLocks noGrp="1"/>
          </p:cNvGraphicFramePr>
          <p:nvPr/>
        </p:nvGraphicFramePr>
        <p:xfrm>
          <a:off x="548640" y="1280160"/>
          <a:ext cx="11064240" cy="182880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수선 경로</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다루는 손상</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결손 시 질환</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Mismatch repair</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복제 후 남은 짝 불일치</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Lynch syndrome(유전성 비폴립 대장암)</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Base excision repair</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산화·탈아미노화된 염기 하나</a:t>
                      </a:r>
                    </a:p>
                  </a:txBody>
                  <a:tcPr marL="73152" marR="73152" marT="27432" marB="27432">
                    <a:solidFill>
                      <a:srgbClr val="EFF4F8"/>
                    </a:solidFill>
                  </a:tcPr>
                </a:tc>
                <a:tc>
                  <a:txBody>
                    <a:bodyPr/>
                    <a:lstStyle/>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Nucleotide excision repair</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자외선 pyrimidine dimer 등 부피 큰 손상</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Xeroderma pigmentosum</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이중사슬 절단 수선(HR, NHEJ)</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두 사슬이 모두 끊어진 경우</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BRCA1·BRCA2 변이 유방·난소암</a:t>
                      </a:r>
                    </a:p>
                  </a:txBody>
                  <a:tcPr marL="73152" marR="73152" marT="27432" marB="27432">
                    <a:solidFill>
                      <a:srgbClr val="EFF4F8"/>
                    </a:solidFill>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복제의 정확도와 수선</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M01-W05-L03  ·  유전정보의 흐름: 복제·전사·번역</a:t>
            </a:r>
            <a:r>
              <a:rPr sz="900" b="1" i="0">
                <a:solidFill>
                  <a:srgbClr val="003C71"/>
                </a:solidFill>
                <a:latin typeface="Malgun Gothic"/>
                <a:ea typeface="Malgun Gothic"/>
                <a:cs typeface="Malgun Gothic"/>
              </a:rPr>
              <a:t>      22</a:t>
            </a:r>
          </a:p>
        </p:txBody>
      </p:sp>
      <p:sp>
        <p:nvSpPr>
          <p:cNvPr id="7" name="Rectangle 6"/>
          <p:cNvSpPr/>
          <p:nvPr/>
        </p:nvSpPr>
        <p:spPr>
          <a:xfrm>
            <a:off x="640080" y="1325880"/>
            <a:ext cx="10881360" cy="168148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수선 경로의 결손은 암 위험을 높이지만 동시에 치료의 표적이 된다. BRCA1·BRCA2 변이 세포는 이중사슬 절단의 상동재조합 수선이 망가져 있으므로, 단일사슬 절단 수선에 필요한 PARP를 억제하면 두 수선 경로가 모두 막혀 세포가 죽는다. 정상 세포는 상동재조합이 남아 있어 살아남는다. 이 선택성을 </a:t>
            </a:r>
            <a:r>
              <a:rPr sz="1600" b="1" i="0">
                <a:solidFill>
                  <a:srgbClr val="11202B"/>
                </a:solidFill>
                <a:latin typeface="Malgun Gothic"/>
                <a:ea typeface="Malgun Gothic"/>
                <a:cs typeface="Malgun Gothic"/>
              </a:rPr>
              <a:t>synthetic lethality</a:t>
            </a:r>
            <a:r>
              <a:rPr sz="1600" b="0" i="0">
                <a:solidFill>
                  <a:srgbClr val="11202B"/>
                </a:solidFill>
                <a:latin typeface="Malgun Gothic"/>
                <a:ea typeface="Malgun Gothic"/>
                <a:cs typeface="Malgun Gothic"/>
              </a:rPr>
              <a:t>라 하며, olaparib 같은 PARP 억제제가 이 원리로 쓰인다.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전사: RNA polymerase와 promoter</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M01-W05-L03  ·  유전정보의 흐름: 복제·전사·번역</a:t>
            </a:r>
            <a:r>
              <a:rPr sz="900" b="1" i="0">
                <a:solidFill>
                  <a:srgbClr val="003C71"/>
                </a:solidFill>
                <a:latin typeface="Malgun Gothic"/>
                <a:ea typeface="Malgun Gothic"/>
                <a:cs typeface="Malgun Gothic"/>
              </a:rPr>
              <a:t>      23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전사는 DNA 한쪽 사슬을 주형으로 RNA를 만드는 과정이다. DNA 복제와 공통점과 차이점을 함께 본다.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전사: RNA polymerase와 promoter</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M01-W05-L03  ·  유전정보의 흐름: 복제·전사·번역</a:t>
            </a:r>
            <a:r>
              <a:rPr sz="900" b="1" i="0">
                <a:solidFill>
                  <a:srgbClr val="003C71"/>
                </a:solidFill>
                <a:latin typeface="Malgun Gothic"/>
                <a:ea typeface="Malgun Gothic"/>
                <a:cs typeface="Malgun Gothic"/>
              </a:rPr>
              <a:t>      24</a:t>
            </a:r>
          </a:p>
        </p:txBody>
      </p:sp>
      <p:graphicFrame>
        <p:nvGraphicFramePr>
          <p:cNvPr id="7" name="Table 6"/>
          <p:cNvGraphicFramePr>
            <a:graphicFrameLocks noGrp="1"/>
          </p:cNvGraphicFramePr>
          <p:nvPr/>
        </p:nvGraphicFramePr>
        <p:xfrm>
          <a:off x="548640" y="1280160"/>
          <a:ext cx="11064240" cy="292608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항목</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DNA 복제</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전사</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주형</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두 사슬 모두</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한 사슬만(유전자에 따라 어느 쪽인지 정해진다)</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산물</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이중나선 DNA</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단일사슬 RNA</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Primer</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필요</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불필요</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기질</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dNTP</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NTP</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방향</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5′→3′</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5′→3′</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교정 활성</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있다</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거의 없다(오류율 약 10⁻⁴)</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범위</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유전체 전체</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필요한 유전자만</a:t>
                      </a:r>
                    </a:p>
                  </a:txBody>
                  <a:tcPr marL="73152" marR="73152" marT="27432" marB="27432">
                    <a:solidFill>
                      <a:srgbClr val="FFFFFF"/>
                    </a:solidFill>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전사: RNA polymerase와 promoter</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M01-W05-L03  ·  유전정보의 흐름: 복제·전사·번역</a:t>
            </a:r>
            <a:r>
              <a:rPr sz="900" b="1" i="0">
                <a:solidFill>
                  <a:srgbClr val="003C71"/>
                </a:solidFill>
                <a:latin typeface="Malgun Gothic"/>
                <a:ea typeface="Malgun Gothic"/>
                <a:cs typeface="Malgun Gothic"/>
              </a:rPr>
              <a:t>      25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전사의 정확도가 낮아도 문제가 적은 이유는 RNA가 일시적이고 한 유전자에서 많은 copy가 만들어지기 때문이다. 하나에 오류가 있어도 나머지가 정상이다.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개시</a:t>
            </a:r>
            <a:r>
              <a:rPr sz="1400" b="0" i="0">
                <a:solidFill>
                  <a:srgbClr val="11202B"/>
                </a:solidFill>
                <a:latin typeface="Malgun Gothic"/>
                <a:ea typeface="Malgun Gothic"/>
                <a:cs typeface="Malgun Gothic"/>
              </a:rPr>
              <a:t>는 RNA polymerase가 </a:t>
            </a:r>
            <a:r>
              <a:rPr sz="1400" b="1" i="0">
                <a:solidFill>
                  <a:srgbClr val="11202B"/>
                </a:solidFill>
                <a:latin typeface="Malgun Gothic"/>
                <a:ea typeface="Malgun Gothic"/>
                <a:cs typeface="Malgun Gothic"/>
              </a:rPr>
              <a:t>promoter</a:t>
            </a:r>
            <a:r>
              <a:rPr sz="1400" b="0" i="0">
                <a:solidFill>
                  <a:srgbClr val="11202B"/>
                </a:solidFill>
                <a:latin typeface="Malgun Gothic"/>
                <a:ea typeface="Malgun Gothic"/>
                <a:cs typeface="Malgun Gothic"/>
              </a:rPr>
              <a:t>에 결합하는 것이다. Promoter는 전사 시작점 앞쪽의 DNA 서열로, 어디서 시작할지와 어느 사슬을 주형으로 쓸지를 정한다.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세균</a:t>
            </a:r>
            <a:r>
              <a:rPr sz="1400" b="0" i="0">
                <a:solidFill>
                  <a:srgbClr val="11202B"/>
                </a:solidFill>
                <a:latin typeface="Malgun Gothic"/>
                <a:ea typeface="Malgun Gothic"/>
                <a:cs typeface="Malgun Gothic"/>
              </a:rPr>
              <a:t>: RNA polymerase 한 종류가 모든 RNA를 만든다. σ 인자가 promoter의 −10 서열(TATAAT)과 −35 서열(TTGACA)을 인식한다.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진핵</a:t>
            </a:r>
            <a:r>
              <a:rPr sz="1400" b="0" i="0">
                <a:solidFill>
                  <a:srgbClr val="11202B"/>
                </a:solidFill>
                <a:latin typeface="Malgun Gothic"/>
                <a:ea typeface="Malgun Gothic"/>
                <a:cs typeface="Malgun Gothic"/>
              </a:rPr>
              <a:t>: RNA polymerase가 세 종류로 나뉜다. </a:t>
            </a:r>
            <a:r>
              <a:rPr sz="1400" b="1" i="0">
                <a:solidFill>
                  <a:srgbClr val="11202B"/>
                </a:solidFill>
                <a:latin typeface="Malgun Gothic"/>
                <a:ea typeface="Malgun Gothic"/>
                <a:cs typeface="Malgun Gothic"/>
              </a:rPr>
              <a:t>Pol I</a:t>
            </a:r>
            <a:r>
              <a:rPr sz="1400" b="0" i="0">
                <a:solidFill>
                  <a:srgbClr val="11202B"/>
                </a:solidFill>
                <a:latin typeface="Malgun Gothic"/>
                <a:ea typeface="Malgun Gothic"/>
                <a:cs typeface="Malgun Gothic"/>
              </a:rPr>
              <a:t>은 rRNA, </a:t>
            </a:r>
            <a:r>
              <a:rPr sz="1400" b="1" i="0">
                <a:solidFill>
                  <a:srgbClr val="11202B"/>
                </a:solidFill>
                <a:latin typeface="Malgun Gothic"/>
                <a:ea typeface="Malgun Gothic"/>
                <a:cs typeface="Malgun Gothic"/>
              </a:rPr>
              <a:t>Pol II</a:t>
            </a:r>
            <a:r>
              <a:rPr sz="1400" b="0" i="0">
                <a:solidFill>
                  <a:srgbClr val="11202B"/>
                </a:solidFill>
                <a:latin typeface="Malgun Gothic"/>
                <a:ea typeface="Malgun Gothic"/>
                <a:cs typeface="Malgun Gothic"/>
              </a:rPr>
              <a:t>는 mRNA와 대부분의 조절 RNA, </a:t>
            </a:r>
            <a:r>
              <a:rPr sz="1400" b="1" i="0">
                <a:solidFill>
                  <a:srgbClr val="11202B"/>
                </a:solidFill>
                <a:latin typeface="Malgun Gothic"/>
                <a:ea typeface="Malgun Gothic"/>
                <a:cs typeface="Malgun Gothic"/>
              </a:rPr>
              <a:t>Pol III</a:t>
            </a:r>
            <a:r>
              <a:rPr sz="1400" b="0" i="0">
                <a:solidFill>
                  <a:srgbClr val="11202B"/>
                </a:solidFill>
                <a:latin typeface="Malgun Gothic"/>
                <a:ea typeface="Malgun Gothic"/>
                <a:cs typeface="Malgun Gothic"/>
              </a:rPr>
              <a:t>은 tRNA와 5S rRNA를 만든다. Pol II는 혼자 promoter를 인식하지 못하고 </a:t>
            </a:r>
            <a:r>
              <a:rPr sz="1400" b="1" i="0">
                <a:solidFill>
                  <a:srgbClr val="11202B"/>
                </a:solidFill>
                <a:latin typeface="Malgun Gothic"/>
                <a:ea typeface="Malgun Gothic"/>
                <a:cs typeface="Malgun Gothic"/>
              </a:rPr>
              <a:t>일반 전사인자(TFIID 등)</a:t>
            </a:r>
            <a:r>
              <a:rPr sz="1400" b="0" i="0">
                <a:solidFill>
                  <a:srgbClr val="11202B"/>
                </a:solidFill>
                <a:latin typeface="Malgun Gothic"/>
                <a:ea typeface="Malgun Gothic"/>
                <a:cs typeface="Malgun Gothic"/>
              </a:rPr>
              <a:t>가 먼저 TATA box에 결합해 자리를 잡아 주어야 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신장</a:t>
            </a:r>
            <a:r>
              <a:rPr sz="1400" b="0" i="0">
                <a:solidFill>
                  <a:srgbClr val="11202B"/>
                </a:solidFill>
                <a:latin typeface="Malgun Gothic"/>
                <a:ea typeface="Malgun Gothic"/>
                <a:cs typeface="Malgun Gothic"/>
              </a:rPr>
              <a:t>에서는 polymerase가 주형 사슬을 따라 움직이며 nucleotide를 붙인다. 세균은 약 50 nucleotide/초, 진핵은 그보다 느리다. </a:t>
            </a:r>
            <a:r>
              <a:rPr sz="1400" b="1" i="0">
                <a:solidFill>
                  <a:srgbClr val="11202B"/>
                </a:solidFill>
                <a:latin typeface="Malgun Gothic"/>
                <a:ea typeface="Malgun Gothic"/>
                <a:cs typeface="Malgun Gothic"/>
              </a:rPr>
              <a:t>종결</a:t>
            </a:r>
            <a:r>
              <a:rPr sz="1400" b="0" i="0">
                <a:solidFill>
                  <a:srgbClr val="11202B"/>
                </a:solidFill>
                <a:latin typeface="Malgun Gothic"/>
                <a:ea typeface="Malgun Gothic"/>
                <a:cs typeface="Malgun Gothic"/>
              </a:rPr>
              <a:t>은 세균에서 두 방식(hairpin 구조에 의한 종결과 Rho 인자 의존 종결)으로 일어나고, 진핵 Pol II에서는 polyadenylation 신호 서열이 인식된 뒤 전사체가 잘리며 끝난다.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진핵의 전사 조절은 promoter만으로 이루어지지 않는다. 수천 염기쌍 떨어진 </a:t>
            </a:r>
            <a:r>
              <a:rPr sz="1400" b="1" i="0">
                <a:solidFill>
                  <a:srgbClr val="11202B"/>
                </a:solidFill>
                <a:latin typeface="Malgun Gothic"/>
                <a:ea typeface="Malgun Gothic"/>
                <a:cs typeface="Malgun Gothic"/>
              </a:rPr>
              <a:t>enhancer</a:t>
            </a:r>
            <a:r>
              <a:rPr sz="1400" b="0" i="0">
                <a:solidFill>
                  <a:srgbClr val="11202B"/>
                </a:solidFill>
                <a:latin typeface="Malgun Gothic"/>
                <a:ea typeface="Malgun Gothic"/>
                <a:cs typeface="Malgun Gothic"/>
              </a:rPr>
              <a:t>에 조절 단백질이 결합하고, DNA가 휘어 promoter와 접촉한다. 이 거리를 둔 조절이 같은 유전체로 수백 종의 세포를 만들어 내는 기반이다.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진핵 mRNA의 가공</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M01-W05-L03  ·  유전정보의 흐름: 복제·전사·번역</a:t>
            </a:r>
            <a:r>
              <a:rPr sz="900" b="1" i="0">
                <a:solidFill>
                  <a:srgbClr val="003C71"/>
                </a:solidFill>
                <a:latin typeface="Malgun Gothic"/>
                <a:ea typeface="Malgun Gothic"/>
                <a:cs typeface="Malgun Gothic"/>
              </a:rPr>
              <a:t>      26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세균에서는 mRNA가 전사되는 동시에 번역된다. 진핵에서는 전사가 핵에서, 번역이 세포질에서 일어나므로 그 사이에 가공 단계가 들어간다. 세 가지다.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5′ cap</a:t>
            </a:r>
            <a:r>
              <a:rPr sz="1400" b="0" i="0">
                <a:solidFill>
                  <a:srgbClr val="11202B"/>
                </a:solidFill>
                <a:latin typeface="Malgun Gothic"/>
                <a:ea typeface="Malgun Gothic"/>
                <a:cs typeface="Malgun Gothic"/>
              </a:rPr>
              <a:t> 전사가 시작된 직후 첫 nucleotide의 5′ 말단에 7-methylguanosine이 거꾸로 결합한다. 세 가지 기능을 한다. 5′ exonuclease로부터 RNA를 보호하고, 핵에서 세포질로 나가는 수송을 돕고, 번역 개시에서 ribosome이 mRNA를 인식하는 표지가 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3′ polyadenylation</a:t>
            </a:r>
            <a:r>
              <a:rPr sz="1400" b="0" i="0">
                <a:solidFill>
                  <a:srgbClr val="11202B"/>
                </a:solidFill>
                <a:latin typeface="Malgun Gothic"/>
                <a:ea typeface="Malgun Gothic"/>
                <a:cs typeface="Malgun Gothic"/>
              </a:rPr>
              <a:t> 전사체가 잘린 뒤 poly(A) polymerase가 주형 없이 adenine을 100~250개 붙인다. mRNA의 안정성을 높이고 번역 효율을 올린다. poly(A) 꼬리가 짧아지는 것이 mRNA 분해의 첫 단계다.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Splicing</a:t>
            </a:r>
            <a:r>
              <a:rPr sz="1400" b="0" i="0">
                <a:solidFill>
                  <a:srgbClr val="11202B"/>
                </a:solidFill>
                <a:latin typeface="Malgun Gothic"/>
                <a:ea typeface="Malgun Gothic"/>
                <a:cs typeface="Malgun Gothic"/>
              </a:rPr>
              <a:t> 진핵 유전자는 단백질을 암호화하는 </a:t>
            </a:r>
            <a:r>
              <a:rPr sz="1400" b="1" i="0">
                <a:solidFill>
                  <a:srgbClr val="11202B"/>
                </a:solidFill>
                <a:latin typeface="Malgun Gothic"/>
                <a:ea typeface="Malgun Gothic"/>
                <a:cs typeface="Malgun Gothic"/>
              </a:rPr>
              <a:t>exon</a:t>
            </a:r>
            <a:r>
              <a:rPr sz="1400" b="0" i="0">
                <a:solidFill>
                  <a:srgbClr val="11202B"/>
                </a:solidFill>
                <a:latin typeface="Malgun Gothic"/>
                <a:ea typeface="Malgun Gothic"/>
                <a:cs typeface="Malgun Gothic"/>
              </a:rPr>
              <a:t>과 그렇지 않은 </a:t>
            </a:r>
            <a:r>
              <a:rPr sz="1400" b="1" i="0">
                <a:solidFill>
                  <a:srgbClr val="11202B"/>
                </a:solidFill>
                <a:latin typeface="Malgun Gothic"/>
                <a:ea typeface="Malgun Gothic"/>
                <a:cs typeface="Malgun Gothic"/>
              </a:rPr>
              <a:t>intron</a:t>
            </a:r>
            <a:r>
              <a:rPr sz="1400" b="0" i="0">
                <a:solidFill>
                  <a:srgbClr val="11202B"/>
                </a:solidFill>
                <a:latin typeface="Malgun Gothic"/>
                <a:ea typeface="Malgun Gothic"/>
                <a:cs typeface="Malgun Gothic"/>
              </a:rPr>
              <a:t>이 교대로 배열되어 있다. 전사체에서 intron을 잘라내고 exon을 이어 붙이는 과정이 splicing이다. 사람 유전자의 평균 intron 수는 약 8개이고, intron이 유전자 길이의 대부분을 차지한다. DMD 유전자는 2.2 Mb이지만 mRNA는 14 kb다.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Splicing은 snRNA와 단백질로 이루어진 </a:t>
            </a:r>
            <a:r>
              <a:rPr sz="1400" b="1" i="0">
                <a:solidFill>
                  <a:srgbClr val="11202B"/>
                </a:solidFill>
                <a:latin typeface="Malgun Gothic"/>
                <a:ea typeface="Malgun Gothic"/>
                <a:cs typeface="Malgun Gothic"/>
              </a:rPr>
              <a:t>spliceosome</a:t>
            </a:r>
            <a:r>
              <a:rPr sz="1400" b="0" i="0">
                <a:solidFill>
                  <a:srgbClr val="11202B"/>
                </a:solidFill>
                <a:latin typeface="Malgun Gothic"/>
                <a:ea typeface="Malgun Gothic"/>
                <a:cs typeface="Malgun Gothic"/>
              </a:rPr>
              <a:t>이 수행하며, 촉매 부위는 단백질이 아니라 </a:t>
            </a:r>
            <a:r>
              <a:rPr sz="1400" b="1" i="0">
                <a:solidFill>
                  <a:srgbClr val="11202B"/>
                </a:solidFill>
                <a:latin typeface="Malgun Gothic"/>
                <a:ea typeface="Malgun Gothic"/>
                <a:cs typeface="Malgun Gothic"/>
              </a:rPr>
              <a:t>snRNA</a:t>
            </a:r>
            <a:r>
              <a:rPr sz="1400" b="0" i="0">
                <a:solidFill>
                  <a:srgbClr val="11202B"/>
                </a:solidFill>
                <a:latin typeface="Malgun Gothic"/>
                <a:ea typeface="Malgun Gothic"/>
                <a:cs typeface="Malgun Gothic"/>
              </a:rPr>
              <a:t>다. 인식 신호는 intron 양 끝의 짧은 서열(5′의 GU, 3′의 AG)과 그 안쪽의 branch point다.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Alternative splicing</a:t>
            </a:r>
            <a:r>
              <a:rPr sz="1400" b="0" i="0">
                <a:solidFill>
                  <a:srgbClr val="11202B"/>
                </a:solidFill>
                <a:latin typeface="Malgun Gothic"/>
                <a:ea typeface="Malgun Gothic"/>
                <a:cs typeface="Malgun Gothic"/>
              </a:rPr>
              <a:t>이 진핵 유전자의 정보량을 늘린다. 같은 전사체에서 exon을 다르게 조합하면 여러 단백질이 만들어진다. 사람 유전자의 90% 이상이 alternative splicing을 거치며, 이것이 유전자 약 20,000개로 그보다 훨씬 많은 종류의 단백질을 만드는 주된 이유다.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진핵 mRNA의 가공</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M01-W05-L03  ·  유전정보의 흐름: 복제·전사·번역</a:t>
            </a:r>
            <a:r>
              <a:rPr sz="900" b="1" i="0">
                <a:solidFill>
                  <a:srgbClr val="003C71"/>
                </a:solidFill>
                <a:latin typeface="Malgun Gothic"/>
                <a:ea typeface="Malgun Gothic"/>
                <a:cs typeface="Malgun Gothic"/>
              </a:rPr>
              <a:t>      27</a:t>
            </a:r>
          </a:p>
        </p:txBody>
      </p:sp>
      <p:pic>
        <p:nvPicPr>
          <p:cNvPr id="7" name="Picture 6" descr="fig-transcription-processing.slide.png"/>
          <p:cNvPicPr>
            <a:picLocks noChangeAspect="1"/>
          </p:cNvPicPr>
          <p:nvPr/>
        </p:nvPicPr>
        <p:blipFill>
          <a:blip r:embed="rId2"/>
          <a:stretch>
            <a:fillRect/>
          </a:stretch>
        </p:blipFill>
        <p:spPr>
          <a:xfrm>
            <a:off x="1852739" y="1325880"/>
            <a:ext cx="8486216"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전사와 진핵 mRNA의 가공. Promoter에서의 개시, 5′ cap, intron splicing, 3′ polyadenylation을 거쳐 성숙한 mRNA가 핵공을 통해 세포질로 나가는 과정을 보인다.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진핵 mRNA의 가공</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M01-W05-L03  ·  유전정보의 흐름: 복제·전사·번역</a:t>
            </a:r>
            <a:r>
              <a:rPr sz="900" b="1" i="0">
                <a:solidFill>
                  <a:srgbClr val="003C71"/>
                </a:solidFill>
                <a:latin typeface="Malgun Gothic"/>
                <a:ea typeface="Malgun Gothic"/>
                <a:cs typeface="Malgun Gothic"/>
              </a:rPr>
              <a:t>      28</a:t>
            </a:r>
          </a:p>
        </p:txBody>
      </p:sp>
      <p:sp>
        <p:nvSpPr>
          <p:cNvPr id="7" name="Rectangle 6"/>
          <p:cNvSpPr/>
          <p:nvPr/>
        </p:nvSpPr>
        <p:spPr>
          <a:xfrm>
            <a:off x="640080" y="1325880"/>
            <a:ext cx="10881360" cy="197612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Splice site 변이가 질환을 일으킨다. β-thalassemia의 상당수가 HBB 유전자의 splice site 변이로 β-globin mRNA가 제대로 만들어지지 않아 생긴다. 반대로 splicing을 약으로 조작할 수도 있다. Spinal muscular atrophy에서는 *SMN1*이 망가져 있지만 거의 같은 *SMN2*가 남아 있고, *SMN2*는 exon 7이 빠지는 splicing을 주로 거쳐 기능이 없는 단백질을 만든다. </a:t>
            </a:r>
            <a:r>
              <a:rPr sz="1600" b="1" i="0">
                <a:solidFill>
                  <a:srgbClr val="11202B"/>
                </a:solidFill>
                <a:latin typeface="Malgun Gothic"/>
                <a:ea typeface="Malgun Gothic"/>
                <a:cs typeface="Malgun Gothic"/>
              </a:rPr>
              <a:t>Nusinersen</a:t>
            </a:r>
            <a:r>
              <a:rPr sz="1600" b="0" i="0">
                <a:solidFill>
                  <a:srgbClr val="11202B"/>
                </a:solidFill>
                <a:latin typeface="Malgun Gothic"/>
                <a:ea typeface="Malgun Gothic"/>
                <a:cs typeface="Malgun Gothic"/>
              </a:rPr>
              <a:t>은 이 splicing을 억제하는 antisense oligonucleotide로, exon 7이 포함되게 해 기능성 SMN 단백질을 늘린다.</a:t>
            </a:r>
          </a:p>
        </p:txBody>
      </p:sp>
      <p:sp>
        <p:nvSpPr>
          <p:cNvPr id="8" name="Rectangle 7"/>
          <p:cNvSpPr/>
          <p:nvPr/>
        </p:nvSpPr>
        <p:spPr>
          <a:xfrm>
            <a:off x="640080" y="3439160"/>
            <a:ext cx="10881360" cy="2565400"/>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1" i="0">
                <a:solidFill>
                  <a:srgbClr val="11202B"/>
                </a:solidFill>
                <a:latin typeface="Malgun Gothic"/>
                <a:ea typeface="Malgun Gothic"/>
                <a:cs typeface="Malgun Gothic"/>
              </a:rPr>
              <a:t>시험에서 가려내는 지점</a:t>
            </a:r>
            <a:r>
              <a:rPr sz="1600" b="0" i="0">
                <a:solidFill>
                  <a:srgbClr val="11202B"/>
                </a:solidFill>
                <a:latin typeface="Malgun Gothic"/>
                <a:ea typeface="Malgun Gothic"/>
                <a:cs typeface="Malgun Gothic"/>
              </a:rPr>
              <a:t> 원핵과 진핵의 전사 차이가 여러 문제의 바탕이 된다. 세균은 </a:t>
            </a:r>
            <a:r>
              <a:rPr sz="1600" b="1" i="0">
                <a:solidFill>
                  <a:srgbClr val="11202B"/>
                </a:solidFill>
                <a:latin typeface="Malgun Gothic"/>
                <a:ea typeface="Malgun Gothic"/>
                <a:cs typeface="Malgun Gothic"/>
              </a:rPr>
              <a:t>하나의 RNA polymerase</a:t>
            </a:r>
            <a:r>
              <a:rPr sz="1600" b="0" i="0">
                <a:solidFill>
                  <a:srgbClr val="11202B"/>
                </a:solidFill>
                <a:latin typeface="Malgun Gothic"/>
                <a:ea typeface="Malgun Gothic"/>
                <a:cs typeface="Malgun Gothic"/>
              </a:rPr>
              <a:t>가 모든 RNA를 만들고 sigma 인자가 promoter를 찾지만, 진핵세포는 </a:t>
            </a:r>
            <a:r>
              <a:rPr sz="1600" b="1" i="0">
                <a:solidFill>
                  <a:srgbClr val="11202B"/>
                </a:solidFill>
                <a:latin typeface="Malgun Gothic"/>
                <a:ea typeface="Malgun Gothic"/>
                <a:cs typeface="Malgun Gothic"/>
              </a:rPr>
              <a:t>세 가지 polymerase</a:t>
            </a:r>
            <a:r>
              <a:rPr sz="1600" b="0" i="0">
                <a:solidFill>
                  <a:srgbClr val="11202B"/>
                </a:solidFill>
                <a:latin typeface="Malgun Gothic"/>
                <a:ea typeface="Malgun Gothic"/>
                <a:cs typeface="Malgun Gothic"/>
              </a:rPr>
              <a:t>가 분업하고 general transcription factor가 먼저 자리를 만들어야 한다. 세균의 전사체는 </a:t>
            </a:r>
            <a:r>
              <a:rPr sz="1600" b="1" i="0">
                <a:solidFill>
                  <a:srgbClr val="11202B"/>
                </a:solidFill>
                <a:latin typeface="Malgun Gothic"/>
                <a:ea typeface="Malgun Gothic"/>
                <a:cs typeface="Malgun Gothic"/>
              </a:rPr>
              <a:t>여러 유전자를 한 전사체에 담는 다시스트론성</a:t>
            </a:r>
            <a:r>
              <a:rPr sz="1600" b="0" i="0">
                <a:solidFill>
                  <a:srgbClr val="11202B"/>
                </a:solidFill>
                <a:latin typeface="Malgun Gothic"/>
                <a:ea typeface="Malgun Gothic"/>
                <a:cs typeface="Malgun Gothic"/>
              </a:rPr>
              <a:t>이 흔하지만(operon) 진핵의 mRNA는 대개 하나의 단백질만 담는다. 그리고 세균은 </a:t>
            </a:r>
            <a:r>
              <a:rPr sz="1600" b="1" i="0">
                <a:solidFill>
                  <a:srgbClr val="11202B"/>
                </a:solidFill>
                <a:latin typeface="Malgun Gothic"/>
                <a:ea typeface="Malgun Gothic"/>
                <a:cs typeface="Malgun Gothic"/>
              </a:rPr>
              <a:t>전사와 번역이 동시에</a:t>
            </a:r>
            <a:r>
              <a:rPr sz="1600" b="0" i="0">
                <a:solidFill>
                  <a:srgbClr val="11202B"/>
                </a:solidFill>
                <a:latin typeface="Malgun Gothic"/>
                <a:ea typeface="Malgun Gothic"/>
                <a:cs typeface="Malgun Gothic"/>
              </a:rPr>
              <a:t> 일어나므로 가공과 수송 단계가 없다. 마지막 차이에서 실질적 결과가 나온다. 세균에서는 전사 중인 mRNA에 ribosome이 이미 붙어 있으므로 </a:t>
            </a:r>
            <a:r>
              <a:rPr sz="1600" b="1" i="0">
                <a:solidFill>
                  <a:srgbClr val="11202B"/>
                </a:solidFill>
                <a:latin typeface="Malgun Gothic"/>
                <a:ea typeface="Malgun Gothic"/>
                <a:cs typeface="Malgun Gothic"/>
              </a:rPr>
              <a:t>번역이 전사에 되먹임</a:t>
            </a:r>
            <a:r>
              <a:rPr sz="1600" b="0" i="0">
                <a:solidFill>
                  <a:srgbClr val="11202B"/>
                </a:solidFill>
                <a:latin typeface="Malgun Gothic"/>
                <a:ea typeface="Malgun Gothic"/>
                <a:cs typeface="Malgun Gothic"/>
              </a:rPr>
              <a:t>할 수 있고, attenuation 같은 조절이 성립한다. 진핵세포에서는 두 과정이 공간적으로 분리되어 그런 결합이 불가능한 대신 가공이라는 조절 지점이 생겼다.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REFERENCES   </a:t>
            </a:r>
            <a:r>
              <a:rPr sz="2400" b="1" i="0">
                <a:solidFill>
                  <a:srgbClr val="FFFFFF"/>
                </a:solidFill>
                <a:latin typeface="Malgun Gothic"/>
                <a:ea typeface="Malgun Gothic"/>
                <a:cs typeface="Malgun Gothic"/>
              </a:rPr>
              <a:t>참고문헌</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M01-W05-L03  ·  유전정보의 흐름: 복제·전사·번역</a:t>
            </a:r>
            <a:r>
              <a:rPr sz="900" b="1" i="0">
                <a:solidFill>
                  <a:srgbClr val="003C71"/>
                </a:solidFill>
                <a:latin typeface="Malgun Gothic"/>
                <a:ea typeface="Malgun Gothic"/>
                <a:cs typeface="Malgun Gothic"/>
              </a:rPr>
              <a:t>      29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Cooper GM, Adams K. The Cell: A Molecular Approach. 9th ed. Oxford University Press; 2022. Chapter 4, Fundamentals of Molecular Biology.</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Alberts B, Heald R, Johnson A, et al. Molecular Biology of the Cell. 7th ed. W.W. Norton; 2022. Chapter 5, DNA Replication and Repair; Chapter 6, How Cells Read the Genome.</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Avery OT, MacLeod CM, McCarty M. Studies on the chemical nature of the substance inducing transformation of pneumococcal types. J Exp Med 1944;79:137–158.</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Hershey AD, Chase M. Independent functions of viral protein and nucleic acid in growth of bacteriophage. J Gen Physiol 1952;36:39–56.</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Meselson M, Stahl FW. The replication of DNA in Escherichia coli. Proc Natl Acad Sci USA 1958;44:671–682.</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Watson JD, Crick FHC. Molecular structure of nucleic acids: a structure for deoxyribose nucleic acid. Nature 1953;171:737–738.</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Nirenberg M, Leder P. RNA codewords and protein synthesis. Science 1964;145:1399–1407.</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Farrar MA, Kiernan MC. The genetics of spinal muscular atrophy: progress and challenges. Neurotherapeutics 2015;12:290–302.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