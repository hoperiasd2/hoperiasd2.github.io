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유전암호 표와 tRNA의 구조. 64개 codon의 배치, 세 번째 염기의 중복성, 종결 codon, 그리고 anticodon과 아미노산 결합 부위를 가진 tRNA의 L자 구조를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번역의 세 단계. Ribosome의 A·P·E 자리, aminoacyl-tRNA의 진입, peptide 결합 형성, translocation의 순환과 종결 codon에서의 release를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1세대에서 중간 밀도의 띠 하나만 나온 결과가 보존적 복제를 배제한다. 보존적 복제라면 원래의 ¹⁵N 이중나선이 그대로 남고 완전히 새로운 ¹⁴N 이중나선이 따로 만들어져 무거운 띠와 가벼운 띠가 함께 보여야 한다. 2세대에서 중간 띠와 가벼운 띠가 1:1로 나뉘어 나온 결과가 분산적 복제를 배제한다. 분산적 복제라면 모든 분자에 새 조각과 옛 조각이 균일하게 섞여 단일한 띠가 세대마다 점점 가벼워지는 양상을 보여야 하고, 두 개의 분명한 띠로 나뉘지 않는다. 두 결과 모두 반보존적 복제의 예측과 일치한다.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복제분기점에서 두 주형 사슬은 서로 반대 방향으로 놓여 있다. 한 주형에 대해서는 합성 방향이 분기점 진행 방향과 일치하므로 primer 하나로 계속 따라가며 연속 합성할 수 있다(leading strand). 다른 주형에 대해서는 합성 방향이 분기점 진행 방향과 반대이므로, 분기점이 나아가 새 주형이 노출될 때마다 노출된 구간의 가장 분기점에 가까운 쪽에 primer를 새로 만들고 분기점 반대 방향으로 짧은 조각을 합성해야 한다. 그 결과 Okazaki fragment가 생기고, primer 제거, 빈자리 채우기, DNA ligase에 의한 연결이 뒤따른다. 만약 polymerase가 3′→5′ 방향으로도 합성할 수 있거나 primer 없이 시작할 수 있었다면 두 사슬 모두 연속 합성이 가능했을 것이다.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산물의 지속성과 복제 여부가 다르기 때문이다. DNA는 세포의 영속적 정보 저장체로 모든 딸세포에 전달되므로, 한 번의 오류가 그 세포 계통 전체에 영구히 남고 유전된다. 따라서 중합효소의 기질 선택, 3′→5′ exonuclease 교정, mismatch repair의 세 단계를 투자해 오류율을 10⁻¹⁰까지 낮출 가치가 있다. RNA는 일시적이고 한 유전자에서 여러 copy가 만들어진다. 전사체 하나에 오류가 있어도 나머지 copy가 정상 단백질을 만들고, 그 오류는 다음 세대로 전달되지 않는다. 교정 기구를 추가하면 속도가 떨어지고 에너지가 더 들므로, 정확도를 10⁻⁴에서 멈추는 것이 비용 대비 합리적이다.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유전암호는 세 염기 단위로 연속해서 읽히며 codon 사이에 구분 기호가 없다. 염기 하나가 삽입되면 그 지점부터 뒤쪽의 모든 codon 경계가 한 칸 밀려 읽기 틀이 바뀌는 frameshift가 된다. 삽입 지점 이후의 아미노산 서열이 전혀 달라지고, 대개 틀이 바뀐 서열에서 곧 종결 codon이 나타나 단백질이 짧게 끊긴다. 염기 세 개가 삽입되면 codon 하나가 추가되는 것이므로 읽기 틀이 유지되고, 그 자리에 아미노산 하나가 끼어드는 데 그친다. 기능에 결정적인 부위가 아니면 단백질이 어느 정도 기능을 유지할 수 있다. 결과의 크기 차이는 삽입된 염기 수가 3의 배수인지에 달려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주된 기전은 alternative splicing이다. 진핵 유전자는 exon과 intron이 교대로 배열되어 있고, 하나의 전사체에서 exon을 다르게 조합해 여러 mRNA를 만들 수 있다. 사람 유전자의 90% 이상이 alternative splicing을 거치므로 유전자 하나가 여러 단백질 이형을 낸다. 이 외에도 여러 전사 개시점이나 여러 polyadenylation 지점의 사용으로 서로 다른 말단을 가진 전사체가 생기고, 번역 후 단백질 분해에 의한 절단과 인산화·당 사슬 부착 같은 공유결합 변형이 같은 아미노산 서열에서 기능이 다른 여러 형태를 만든다. 즉 정보의 다양성은 유전자 개수보다 전사체와 단백질 수준의 가공에서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선택성의 근거는 ribosome의 구조 차이다. 세균의 ribosome은 70S로 50S와 30S 소단위로 이루어지고 사람의 것은 80S로 60S와 40S로 이루어진다. rRNA 서열과 단백질 구성이 다르므로, 세균의 30S에 결합하는 aminoglycoside와 tetracycline, 50S에 결합하는 macrolide와 chloramphenicol은 사람의 세포질 ribosome에는 거의 결합하지 않는다. 부작용이 나타나는 이유는 미토콘드리아에 있다. 미토콘드리아는 endosymbiosis로 세균에서 유래했으므로 자신의 ribosome이 세균의 것에 가깝고, 이 약물들이 미토콘드리아 단백질 합성을 일부 억제한다. 에너지 요구가 크고 재생이 어려운 조직이 먼저 영향을 받아 aminoglycoside의 이독성과 chloramphenicol의 골수 억제가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중심원리가 금지하는 것은 "일단 정보가 단백질로 들어가면 거기서 다시 빠져나올 수 없다", 즉 아미노산 서열이 핵산 서열로 되돌아가지 않는다는 것 하나다. Reverse transcriptase는 RNA에서 DNA를, RNA 의존 RNA polymerase는 RNA에서 RNA를 만들지만 둘 다 핵산 사이의 흐름이므로 금지를 위반하지 않는다. Prion은 잘못 접힌 단백질이 정상 단백질을 같은 형태로 바꾸지만 전달되는 것은 서열이 아니라 접힘 상태이고 아미노산 서열 자체는 여전히 유전자에서 오므로 역시 위반이 아니다. 다만 유전되는 정보가 서열에만 있는 것은 아니라는 점을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가닥이 서로 반대 방향이고 모든 핵산 중합효소는 5′에서 3′ 방향으로만 사슬을 늘릴 수 있다. 복제분기점이 한 방향으로 진행할 때 한 가닥은 분기점 진행 방향과 합성 방향이 같아 연속적으로 만들어지지만(leading strand), 다른 가닥은 방향이 반대여서 연속 합성이 불가능하다. 해결책은 짧은 조각을 분기점 반대 방향으로 거꾸로 만들어 나중에 잇는 것이며(lagging strand와 Okazaki 조각), 각 조각마다 primer가 필요하고 primer를 제거한 뒤 채우고 ligase로 잇는 과정이 추가된다. 구조적 제약이 기전의 복잡성을 만든 전형적인 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나선이 감기면서 폭이 다른 두 홈이 생기는데, 큰 홈에서는 네 가지 염기쌍이 각각 수소결합 주개와 받개를 다른 배열로 노출하므로 염기쌍마다 화학적 무늬가 뚜렷이 구별된다. 따라서 단백질이 나선을 풀지 않고도 바깥에서 서열을 읽을 수 있다. 작은 홈에서는 노출되는 무늬의 차이가 작아 염기쌍을 구별하기 어렵다. 전사인자가 특정 서열을 인식해 결합하는 일이 가능한 것이 큰 홈의 이 성질 덕분이다.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이중나선을 풀면 그 앞쪽이 더 단단히 꼬인다. 양 끝이 고정된 구조에서는 꼬임이 달아날 곳이 없어 복제분기점이 초당 수백 회전해야 하는데 염색체 전체가 그렇게 돌 수 없다. I형 topoisomerase는 한 가닥만 끊어 그 자리에서 회전이 일어나게 한 뒤 다시 이으며 ATP를 쓰지 않는다. II형은 두 가닥을 모두 끊고 다른 이중나선을 통과시킨 뒤 이으며 ATP를 쓴다. II형은 꼬임을 풀 뿐 아니라 얽힌 두 고리를 분리할 수 있어 복제가 끝난 환상 염색체를 떼어 내는 데 필수적이다.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약물들은 효소의 활성을 없애는 것이 아니라 DNA가 끊어진 중간 상태의 복합체를 안정화시킨다. 효소가 끊은 뒤 다시 잇지 못하게 붙들어 두는 것이므로, 결과적으로 복구되지 않은 가닥 절단이 세포 안에 쌓인다. 단순히 효소가 일하지 않는 것보다 훨씬 치명적이며, 특히 II형 억제제는 이중가닥 절단을 남겨 세포 사멸을 유도한다. Fluoroquinolone이 강력한 항균제이고 etoposide와 irinotecan이 항암제로 쓰이는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Telomerase가 있으면 말단이 짧아지는 문제를 고칠 수 있는데도 대부분의 체세포는 이 효소를 발현하지 않는다. 고칠 수 있는데 고치지 않는다는 것은 짧아지는 것 자체에 기능이 있을 가능성을 시사한다. 분열이 거듭되어 telomere가 임계 길이 아래로 내려가면 세포가 이를 DNA 손상으로 인식해 분열을 멈추므로, 손상이 축적된 세포가 무한히 증식하지 못하게 막는 종양 억제 장치로 작동한다. 생식세포와 줄기세포에서는 telomerase가 켜져 있어야 하고, 암세포의 약 90%가 이 효소를 다시 켜는 것이 이 해석을 뒷받침한다.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단백질의 양은 하나의 결정이 아니라 여러 단계의 곱으로 정해진다. 전사량이 정해진 뒤에도 가공과 핵 밖 수송, 전사체의 수명, 번역 개시의 빈도, 단백질의 분해 속도가 모두 독립적으로 조절된다. 따라서 같은 양의 mRNA가 있어도 번역 효율이 낮거나 단백질이 빨리 분해되면 실제 단백질 양은 적다. 전사체 분석의 결과를 단백질 양으로 바로 읽으면 안 되는 이유이며, 측정한 것과 알고 싶은 것을 구분해야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세균은 핵막이 없어 전사 중인 mRNA에 ribosome이 이미 붙어 번역을 시작한다. 그 결과 번역의 진행 상황이 전사에 되먹임할 수 있고, 선도 서열의 번역 속도가 그 뒤의 전사 지속 여부를 정하는 attenuation 같은 조절이 성립한다. 진핵세포에서는 전사가 핵에서 번역이 세포질에서 일어나 두 과정이 공간적으로 분리되므로 그런 직접 결합이 불가능하다. 대신 가공과 핵 밖 수송이라는 새로운 조절 지점이 생겼다.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대부분의 항바이러스제는 바이러스 효소와 사람 효소의 구조 차이, 즉 표적의 차이에서 선택독성을 얻는다. Acyclovir는 활성화의 차이에서 얻는다. 투여된 약물은 비활성 전구체이고, herpes 바이러스가 가진 thymidine kinase가 첫 인산화를 해야 활성형이 된다. 감염되지 않은 세포에는 이 효소가 없으므로 약이 아예 켜지지 않는다. 활성화된 뒤에는 바이러스 DNA polymerase가 이를 더 잘 받아들여 사슬 종결을 일으키므로, 선택성이 두 단계에서 겹쳐 확보된다.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미토콘드리아는 세균에서 유래했으므로 70S에 가까운 자체 ribosome을 가지고 자체 단백질을 만든다. 따라서 세균의 70S ribosome을 표적으로 하는 항생제가 사람의 세포질 번역에는 영향을 주지 않으면서도 미토콘드리아의 번역은 일부 억제한다. Chloramphenicol의 골수 억제, linezolid를 오래 썼을 때의 혈구 감소와 시신경병, 젖산산증이 이 기전으로 설명된다. 진화적 기원이 선택독성의 빈틈이자 부작용의 원인이 되는 사례다.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HIV의 역전사효소는 교정 기능이 없어 변이율이 매우 높다. 따라서 단일 약물을 쓰면 그 약에 대한 내성 변이를 가진 바이러스가 집단 안에 이미 존재하거나 금방 생겨 빠르게 선택된다. 작용 지점이 서로 다른 약을 세 가지 이상 동시에 쓰면 한 바이러스가 모든 지점에 대한 내성 변이를 동시에 가져야 살아남을 수 있는데, 각 변이의 확률을 곱하면 그 확률이 극히 낮아진다. 복제의 정확도라는 분자생물학의 주제가 치료 전략을 직접 정한 사례다.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유전정보의 흐름: 복제·전사·번역</a:t>
            </a:r>
          </a:p>
          <a:p>
            <a:r>
              <a:rPr sz="1500" b="0" i="0">
                <a:solidFill>
                  <a:srgbClr val="B9D2E8"/>
                </a:solidFill>
                <a:latin typeface="Malgun Gothic"/>
                <a:ea typeface="Malgun Gothic"/>
                <a:cs typeface="Malgun Gothic"/>
              </a:rPr>
              <a:t>The Flow of Genetic Information: Replication, Transcription and Translation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M01-W05-L03  ·  2부</a:t>
            </a:r>
          </a:p>
          <a:p>
            <a:r>
              <a:rPr sz="1100" b="0" i="0">
                <a:solidFill>
                  <a:srgbClr val="F2B705"/>
                </a:solidFill>
                <a:latin typeface="Malgun Gothic"/>
                <a:ea typeface="Malgun Gothic"/>
                <a:cs typeface="Malgun Gothic"/>
              </a:rPr>
              <a:t>전체 13절 가운데 5절</a:t>
            </a:r>
          </a:p>
          <a:p>
            <a:r>
              <a:rPr sz="1100" b="0" i="0">
                <a:solidFill>
                  <a:srgbClr val="9FBEDA"/>
                </a:solidFill>
                <a:latin typeface="Malgun Gothic"/>
                <a:ea typeface="Malgun Gothic"/>
                <a:cs typeface="Malgun Gothic"/>
              </a:rPr>
              <a:t>5주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DNA가 유전물질임을 보인 실험들의 논리를 설명하고 central dogma의 내용과 예외를 든다.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DNA 복제가 반보존적임을 보인 Meselson-Stahl 실험의 설계와 결과를 해석한다.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복제분기점에서 leading strand와 lagging strand가 달리 합성되는 이유를 효소의 성질로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복제의 정확도를 높이는 세 가지 장치를 구분하고 telomere 문제와 그 해결을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전사의 개시·신장·종결을 원핵과 진핵에서 비교하고 promoter의 역할을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진핵 mRNA의 세 가지 가공 과정과 그 기능을 설명한다.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유전암호의 성질을 다섯 가지로 정리하고 codon 표를 읽어 서열을 번역한다.</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번역의 개시·신장·종결 단계를 설명하고 원핵과 진핵의 차이를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nucleotide, phosphodiester 결합, 5′→3′ 방향, 염기쌍</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prokaryote와 eukaryote의 유전체 차이, 전사와 번역의 공간 분리</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생체에너지: 자유에너지와 ATP — 효소의 촉매 작용, ATP와 GTP의 가수분해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9. 유전암호와 tRNA</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10. 번역: ribosome의 세 단계와 원핵·진핵의 차이</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11. 정보 흐름의 각 단계는 어디서 조절되는가</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12. 정보 흐름을 표적으로 하는 약물</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13.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유전암호와 tRNA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mRNA의 염기 서열이 어떻게 아미노산 서열로 읽히는가. 염기는 4종, 아미노산은 20종이므로 염기 하나로는 4종, 둘로는 16종까지만 지정할 수 있다. </a:t>
            </a:r>
            <a:r>
              <a:rPr sz="1400" b="1" i="0">
                <a:solidFill>
                  <a:srgbClr val="11202B"/>
                </a:solidFill>
                <a:latin typeface="Malgun Gothic"/>
                <a:ea typeface="Malgun Gothic"/>
                <a:cs typeface="Malgun Gothic"/>
              </a:rPr>
              <a:t>셋</a:t>
            </a:r>
            <a:r>
              <a:rPr sz="1400" b="0" i="0">
                <a:solidFill>
                  <a:srgbClr val="11202B"/>
                </a:solidFill>
                <a:latin typeface="Malgun Gothic"/>
                <a:ea typeface="Malgun Gothic"/>
                <a:cs typeface="Malgun Gothic"/>
              </a:rPr>
              <a:t>이면 64종이 되어 충분하다. 실제로 유전암호는 염기 세 개, 즉 </a:t>
            </a:r>
            <a:r>
              <a:rPr sz="1400" b="1" i="0">
                <a:solidFill>
                  <a:srgbClr val="11202B"/>
                </a:solidFill>
                <a:latin typeface="Malgun Gothic"/>
                <a:ea typeface="Malgun Gothic"/>
                <a:cs typeface="Malgun Gothic"/>
              </a:rPr>
              <a:t>codon</a:t>
            </a:r>
            <a:r>
              <a:rPr sz="1400" b="0" i="0">
                <a:solidFill>
                  <a:srgbClr val="11202B"/>
                </a:solidFill>
                <a:latin typeface="Malgun Gothic"/>
                <a:ea typeface="Malgun Gothic"/>
                <a:cs typeface="Malgun Gothic"/>
              </a:rPr>
              <a:t> 단위로 읽힌다.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유전암호의 성질은 다섯 가지로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 염기 단위</a:t>
            </a:r>
            <a:r>
              <a:rPr sz="1400" b="0" i="0">
                <a:solidFill>
                  <a:srgbClr val="11202B"/>
                </a:solidFill>
                <a:latin typeface="Malgun Gothic"/>
                <a:ea typeface="Malgun Gothic"/>
                <a:cs typeface="Malgun Gothic"/>
              </a:rPr>
              <a:t>: 64개 codon이 있다. 61개가 아미노산을, 3개(UAA, UAG, UGA)가 종결을 지정한다.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중복성(degenerate)</a:t>
            </a:r>
            <a:r>
              <a:rPr sz="1400" b="0" i="0">
                <a:solidFill>
                  <a:srgbClr val="11202B"/>
                </a:solidFill>
                <a:latin typeface="Malgun Gothic"/>
                <a:ea typeface="Malgun Gothic"/>
                <a:cs typeface="Malgun Gothic"/>
              </a:rPr>
              <a:t>: 대부분의 아미노산이 여러 codon으로 지정된다. Leucine은 6개, methionine과 tryptophan은 1개다.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모호하지 않음(unambiguous)</a:t>
            </a:r>
            <a:r>
              <a:rPr sz="1400" b="0" i="0">
                <a:solidFill>
                  <a:srgbClr val="11202B"/>
                </a:solidFill>
                <a:latin typeface="Malgun Gothic"/>
                <a:ea typeface="Malgun Gothic"/>
                <a:cs typeface="Malgun Gothic"/>
              </a:rPr>
              <a:t>: 하나의 codon은 하나의 아미노산만 지정한다.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겹치지 않고 띄어쓰기가 없음</a:t>
            </a:r>
            <a:r>
              <a:rPr sz="1400" b="0" i="0">
                <a:solidFill>
                  <a:srgbClr val="11202B"/>
                </a:solidFill>
                <a:latin typeface="Malgun Gothic"/>
                <a:ea typeface="Malgun Gothic"/>
                <a:cs typeface="Malgun Gothic"/>
              </a:rPr>
              <a:t>: codon이 연속해서 읽히며 사이에 구분 기호가 없다. 그래서 읽기 틀(reading frame)이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거의 보편적(universal)</a:t>
            </a:r>
            <a:r>
              <a:rPr sz="1400" b="0" i="0">
                <a:solidFill>
                  <a:srgbClr val="11202B"/>
                </a:solidFill>
                <a:latin typeface="Malgun Gothic"/>
                <a:ea typeface="Malgun Gothic"/>
                <a:cs typeface="Malgun Gothic"/>
              </a:rPr>
              <a:t>: 세균부터 사람까지 거의 같다. 미토콘드리아 유전암호에 몇 가지 예외가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중복성에는 규칙성이 있다. 같은 아미노산을 지정하는 codon들은 대개 </a:t>
            </a:r>
            <a:r>
              <a:rPr sz="1400" b="1" i="0">
                <a:solidFill>
                  <a:srgbClr val="11202B"/>
                </a:solidFill>
                <a:latin typeface="Malgun Gothic"/>
                <a:ea typeface="Malgun Gothic"/>
                <a:cs typeface="Malgun Gothic"/>
              </a:rPr>
              <a:t>세 번째 염기만 다르다.</a:t>
            </a:r>
            <a:r>
              <a:rPr sz="1400" b="0" i="0">
                <a:solidFill>
                  <a:srgbClr val="11202B"/>
                </a:solidFill>
                <a:latin typeface="Malgun Gothic"/>
                <a:ea typeface="Malgun Gothic"/>
                <a:cs typeface="Malgun Gothic"/>
              </a:rPr>
              <a:t> 그래서 세 번째 염기의 치환은 아미노산을 바꾸지 않는 경우가 많다(silent mutation). 이 배치는 변이의 영향을 줄이는 완충 장치로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읽기 틀</a:t>
            </a:r>
            <a:r>
              <a:rPr sz="1400" b="0" i="0">
                <a:solidFill>
                  <a:srgbClr val="11202B"/>
                </a:solidFill>
                <a:latin typeface="Malgun Gothic"/>
                <a:ea typeface="Malgun Gothic"/>
                <a:cs typeface="Malgun Gothic"/>
              </a:rPr>
              <a:t>의 중요성은 변이의 종류로 드러난다.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유전암호와 tRNA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변이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서열 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Silent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codon의 염기 하나 치환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아미노산이 바뀌지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Missense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codon의 염기 하나 치환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다른 아미노산이 들어간다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Nonsense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codon의 염기 하나 치환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종결 codon이 되어 단백질이 짧아진다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Frameshift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3의 배수가 아닌 삽입·결실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뒤의 모든 codon이 바뀌어 전혀 다른 단백질이 된다</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유전암호와 tRNA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tRNA</a:t>
            </a:r>
            <a:r>
              <a:rPr sz="1800" b="0" i="0">
                <a:solidFill>
                  <a:srgbClr val="11202B"/>
                </a:solidFill>
                <a:latin typeface="Malgun Gothic"/>
                <a:ea typeface="Malgun Gothic"/>
                <a:cs typeface="Malgun Gothic"/>
              </a:rPr>
              <a:t>가 codon과 아미노산을 잇는다. tRNA는 70~90 nucleotide의 RNA가 접혀 클로버 모양의 2차 구조와 L자 모양의 3차 구조를 이룬다. 두 부위가 기능을 담당한다. 한쪽 끝의 </a:t>
            </a:r>
            <a:r>
              <a:rPr sz="1800" b="1" i="0">
                <a:solidFill>
                  <a:srgbClr val="11202B"/>
                </a:solidFill>
                <a:latin typeface="Malgun Gothic"/>
                <a:ea typeface="Malgun Gothic"/>
                <a:cs typeface="Malgun Gothic"/>
              </a:rPr>
              <a:t>anticodon</a:t>
            </a:r>
            <a:r>
              <a:rPr sz="1800" b="0" i="0">
                <a:solidFill>
                  <a:srgbClr val="11202B"/>
                </a:solidFill>
                <a:latin typeface="Malgun Gothic"/>
                <a:ea typeface="Malgun Gothic"/>
                <a:cs typeface="Malgun Gothic"/>
              </a:rPr>
              <a:t>이 mRNA의 codon과 상보적으로 짝지어지고, 반대쪽 3′ 말단에 아미노산이 ester 결합으로 붙는다.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아미노산을 올바른 tRNA에 붙이는 일은 </a:t>
            </a:r>
            <a:r>
              <a:rPr sz="1800" b="1" i="0">
                <a:solidFill>
                  <a:srgbClr val="11202B"/>
                </a:solidFill>
                <a:latin typeface="Malgun Gothic"/>
                <a:ea typeface="Malgun Gothic"/>
                <a:cs typeface="Malgun Gothic"/>
              </a:rPr>
              <a:t>aminoacyl-tRNA synthetase</a:t>
            </a:r>
            <a:r>
              <a:rPr sz="1800" b="0" i="0">
                <a:solidFill>
                  <a:srgbClr val="11202B"/>
                </a:solidFill>
                <a:latin typeface="Malgun Gothic"/>
                <a:ea typeface="Malgun Gothic"/>
                <a:cs typeface="Malgun Gothic"/>
              </a:rPr>
              <a:t>가 한다. 아미노산 종류마다 하나씩 있어 20종이고, ATP를 써서 아미노산을 활성화한 뒤 tRNA에 옮긴다. </a:t>
            </a:r>
            <a:r>
              <a:rPr sz="1800" b="1" i="0">
                <a:solidFill>
                  <a:srgbClr val="11202B"/>
                </a:solidFill>
                <a:latin typeface="Malgun Gothic"/>
                <a:ea typeface="Malgun Gothic"/>
                <a:cs typeface="Malgun Gothic"/>
              </a:rPr>
              <a:t>이 효소가 유전암호를 실제로 구현하는 지점이다.</a:t>
            </a:r>
            <a:r>
              <a:rPr sz="1800" b="0" i="0">
                <a:solidFill>
                  <a:srgbClr val="11202B"/>
                </a:solidFill>
                <a:latin typeface="Malgun Gothic"/>
                <a:ea typeface="Malgun Gothic"/>
                <a:cs typeface="Malgun Gothic"/>
              </a:rPr>
              <a:t> 효소가 아미노산을 잘못 붙이면 ribosome은 anticodon만 확인하므로 잘못된 아미노산이 그대로 들어간다. 그래서 이 효소들은 자체 교정 활성을 갖는다.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유전암호와 tRNA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8</a:t>
            </a:r>
          </a:p>
        </p:txBody>
      </p:sp>
      <p:pic>
        <p:nvPicPr>
          <p:cNvPr id="7" name="Picture 6" descr="fig-genetic-code.slide.png"/>
          <p:cNvPicPr>
            <a:picLocks noChangeAspect="1"/>
          </p:cNvPicPr>
          <p:nvPr/>
        </p:nvPicPr>
        <p:blipFill>
          <a:blip r:embed="rId2"/>
          <a:stretch>
            <a:fillRect/>
          </a:stretch>
        </p:blipFill>
        <p:spPr>
          <a:xfrm>
            <a:off x="2036595" y="1325880"/>
            <a:ext cx="811850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유전암호 표와 tRNA의 구조. 64개 codon의 배치, 세 번째 염기의 중복성, 종결 codon, 그리고 anticodon과 아미노산 결합 부위를 가진 tRNA의 L자 구조를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 ribosome의 세 단계와 원핵·진핵의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Ribosome</a:t>
            </a:r>
            <a:r>
              <a:rPr sz="1400" b="0" i="0">
                <a:solidFill>
                  <a:srgbClr val="11202B"/>
                </a:solidFill>
                <a:latin typeface="Malgun Gothic"/>
                <a:ea typeface="Malgun Gothic"/>
                <a:cs typeface="Malgun Gothic"/>
              </a:rPr>
              <a:t>은 두 소단위로 이루어진 rRNA와 단백질의 복합체다. 큰 소단위가 peptide 결합을 만들고(peptidyl transferase 활성은 rRNA가 담당한다), 작은 소단위가 mRNA와 결합해 codon-anticodon 짝짓기를 확인한다. tRNA가 머무는 자리가 세 곳 있다. </a:t>
            </a:r>
            <a:r>
              <a:rPr sz="1400" b="1" i="0">
                <a:solidFill>
                  <a:srgbClr val="11202B"/>
                </a:solidFill>
                <a:latin typeface="Malgun Gothic"/>
                <a:ea typeface="Malgun Gothic"/>
                <a:cs typeface="Malgun Gothic"/>
              </a:rPr>
              <a:t>A 자리</a:t>
            </a:r>
            <a:r>
              <a:rPr sz="1400" b="0" i="0">
                <a:solidFill>
                  <a:srgbClr val="11202B"/>
                </a:solidFill>
                <a:latin typeface="Malgun Gothic"/>
                <a:ea typeface="Malgun Gothic"/>
                <a:cs typeface="Malgun Gothic"/>
              </a:rPr>
              <a:t>(aminoacyl-tRNA가 들어온다), </a:t>
            </a:r>
            <a:r>
              <a:rPr sz="1400" b="1" i="0">
                <a:solidFill>
                  <a:srgbClr val="11202B"/>
                </a:solidFill>
                <a:latin typeface="Malgun Gothic"/>
                <a:ea typeface="Malgun Gothic"/>
                <a:cs typeface="Malgun Gothic"/>
              </a:rPr>
              <a:t>P 자리</a:t>
            </a:r>
            <a:r>
              <a:rPr sz="1400" b="0" i="0">
                <a:solidFill>
                  <a:srgbClr val="11202B"/>
                </a:solidFill>
                <a:latin typeface="Malgun Gothic"/>
                <a:ea typeface="Malgun Gothic"/>
                <a:cs typeface="Malgun Gothic"/>
              </a:rPr>
              <a:t>(사슬이 붙어 있는 tRNA), </a:t>
            </a:r>
            <a:r>
              <a:rPr sz="1400" b="1" i="0">
                <a:solidFill>
                  <a:srgbClr val="11202B"/>
                </a:solidFill>
                <a:latin typeface="Malgun Gothic"/>
                <a:ea typeface="Malgun Gothic"/>
                <a:cs typeface="Malgun Gothic"/>
              </a:rPr>
              <a:t>E 자리</a:t>
            </a:r>
            <a:r>
              <a:rPr sz="1400" b="0" i="0">
                <a:solidFill>
                  <a:srgbClr val="11202B"/>
                </a:solidFill>
                <a:latin typeface="Malgun Gothic"/>
                <a:ea typeface="Malgun Gothic"/>
                <a:cs typeface="Malgun Gothic"/>
              </a:rPr>
              <a:t>(빠져나가는 tRNA).</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개시</a:t>
            </a:r>
            <a:r>
              <a:rPr sz="1400" b="0" i="0">
                <a:solidFill>
                  <a:srgbClr val="11202B"/>
                </a:solidFill>
                <a:latin typeface="Malgun Gothic"/>
                <a:ea typeface="Malgun Gothic"/>
                <a:cs typeface="Malgun Gothic"/>
              </a:rPr>
              <a:t> 세균과 진핵에서 방식이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a:t>
            </a:r>
            <a:r>
              <a:rPr sz="1400" b="0" i="0">
                <a:solidFill>
                  <a:srgbClr val="11202B"/>
                </a:solidFill>
                <a:latin typeface="Malgun Gothic"/>
                <a:ea typeface="Malgun Gothic"/>
                <a:cs typeface="Malgun Gothic"/>
              </a:rPr>
              <a:t>: 작은 소단위의 rRNA가 mRNA의 </a:t>
            </a:r>
            <a:r>
              <a:rPr sz="1400" b="1" i="0">
                <a:solidFill>
                  <a:srgbClr val="11202B"/>
                </a:solidFill>
                <a:latin typeface="Malgun Gothic"/>
                <a:ea typeface="Malgun Gothic"/>
                <a:cs typeface="Malgun Gothic"/>
              </a:rPr>
              <a:t>Shine-Dalgarno 서열</a:t>
            </a:r>
            <a:r>
              <a:rPr sz="1400" b="0" i="0">
                <a:solidFill>
                  <a:srgbClr val="11202B"/>
                </a:solidFill>
                <a:latin typeface="Malgun Gothic"/>
                <a:ea typeface="Malgun Gothic"/>
                <a:cs typeface="Malgun Gothic"/>
              </a:rPr>
              <a:t>과 염기쌍을 이루어 개시 codon을 찾는다. mRNA 하나에 여러 개시 지점이 있을 수 있어 여러 단백질이 한 전사체에서 만들어진다(polycistronic).</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a:t>
            </a:r>
            <a:r>
              <a:rPr sz="1400" b="0" i="0">
                <a:solidFill>
                  <a:srgbClr val="11202B"/>
                </a:solidFill>
                <a:latin typeface="Malgun Gothic"/>
                <a:ea typeface="Malgun Gothic"/>
                <a:cs typeface="Malgun Gothic"/>
              </a:rPr>
              <a:t>: 개시인자가 </a:t>
            </a:r>
            <a:r>
              <a:rPr sz="1400" b="1" i="0">
                <a:solidFill>
                  <a:srgbClr val="11202B"/>
                </a:solidFill>
                <a:latin typeface="Malgun Gothic"/>
                <a:ea typeface="Malgun Gothic"/>
                <a:cs typeface="Malgun Gothic"/>
              </a:rPr>
              <a:t>5′ cap</a:t>
            </a:r>
            <a:r>
              <a:rPr sz="1400" b="0" i="0">
                <a:solidFill>
                  <a:srgbClr val="11202B"/>
                </a:solidFill>
                <a:latin typeface="Malgun Gothic"/>
                <a:ea typeface="Malgun Gothic"/>
                <a:cs typeface="Malgun Gothic"/>
              </a:rPr>
              <a:t>을 인식해 결합한 뒤 mRNA를 훑어 첫 AUG를 찾는다. 따라서 보통 전사체 하나에서 단백질 하나가 만들어진다(monocistronic).</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 아미노산은 methionine이고(세균은 N-formylmethionine), 개시 codon은 AUG다.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신장</a:t>
            </a:r>
            <a:r>
              <a:rPr sz="1400" b="0" i="0">
                <a:solidFill>
                  <a:srgbClr val="11202B"/>
                </a:solidFill>
                <a:latin typeface="Malgun Gothic"/>
                <a:ea typeface="Malgun Gothic"/>
                <a:cs typeface="Malgun Gothic"/>
              </a:rPr>
              <a:t> 세 단계가 반복된다. (1) A 자리에 codon과 맞는 aminoacyl-tRNA가 들어온다. (2) P 자리의 사슬 carboxyl 말단과 A 자리 아미노산의 amino기 사이에 peptide 결합이 생긴다. (3) ribosome이 codon 하나만큼 이동(translocation)하고 빈 tRNA가 E 자리로 빠진다. 각 단계에 GTP가 소모된다. 아미노산 하나를 붙이는 데 ATP 등가로 약 4분자가 들며, 이는 단백질 합성이 세포에서 가장 비용이 큰 과정 가운데 하나임을 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a:t>
            </a:r>
            <a:r>
              <a:rPr sz="1400" b="0" i="0">
                <a:solidFill>
                  <a:srgbClr val="11202B"/>
                </a:solidFill>
                <a:latin typeface="Malgun Gothic"/>
                <a:ea typeface="Malgun Gothic"/>
                <a:cs typeface="Malgun Gothic"/>
              </a:rPr>
              <a:t> A 자리에 종결 codon이 오면 이에 대응하는 tRNA가 없고, 대신 release factor가 결합해 사슬을 가수분해로 떼어낸다. Ribosome이 해체되고 소단위가 재사용된다.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원핵과 진핵의 차이를 정리한다.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 ribosome의 세 단계와 원핵·진핵의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원핵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진핵</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Ribosome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70S (50S + 30S)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80S (60S + 40S)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전사와 번역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같은 공간, 동시 진행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핵에서 전사, 세포질에서 번역</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mRNA 가공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cap, poly(A), splicing</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개시 인식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Shine-Dalgarno 서열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 cap과 스캐닝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전사체당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여러 개(polycistronic)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보통 하나(monocistronic)</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개시 아미노산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N-formylmethionine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methionine</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 ribosome의 세 단계와 원핵·진핵의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11</a:t>
            </a:r>
          </a:p>
        </p:txBody>
      </p:sp>
      <p:pic>
        <p:nvPicPr>
          <p:cNvPr id="7" name="Picture 6" descr="fig-transl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번역의 세 단계. Ribosome의 A·P·E 자리, aminoacyl-tRNA의 진입, peptide 결합 형성, translocation의 순환과 종결 codon에서의 release를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 ribosome의 세 단계와 원핵·진핵의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531396"/>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원핵과 진핵 ribosome의 구조 차이가 항생제의 선택성을 만든다. Aminoglycoside(gentamicin)와 tetracycline은 세균의 30S 소단위에, macrolide(erythromycin)와 chloramphenicol, clindamycin은 50S 소단위에 작용해 사람의 ribosome에는 거의 영향을 주지 않는다. 다만 미토콘드리아 ribosome은 세균에 가까우므로 완전히 무해하지 않다. Aminoglycoside의 이독성과 chloramphenicol의 골수 억제가 그 결과로 설명된다. Diphtheria toxin은 반대로 진핵의 신장인자 eEF2를 변형시켜 번역을 멈추고, ricin은 60S 소단위의 rRNA를 자른다.</a:t>
            </a:r>
          </a:p>
        </p:txBody>
      </p:sp>
      <p:sp>
        <p:nvSpPr>
          <p:cNvPr id="8" name="Rectangle 7"/>
          <p:cNvSpPr/>
          <p:nvPr/>
        </p:nvSpPr>
        <p:spPr>
          <a:xfrm>
            <a:off x="640080" y="2994436"/>
            <a:ext cx="10881360" cy="1056567"/>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유전정보의 흐름은 세 과정의 공통 논리로 요약된다. 모두 주형을 읽어 상보적인 사슬이나 대응 서열을 만들고, 모두 5′→3′ 방향으로 진행하며, 모두 개시·신장·종결의 세 단계로 나뉜다. 정확도는 과정마다 다르게 투자되어 있다. 복제는 세 단계의 교정으로 10⁻¹⁰까지 내려가고, 전사와 번역은 산물이 일시적이므로 10⁻⁴ 수준에서 멈춘다. 진핵에서 추가된 핵막과 mRNA 가공, alternative splicing이 같은 유전체로 다양한 세포를 만드는 여지를 만든다.</a:t>
            </a:r>
          </a:p>
        </p:txBody>
      </p:sp>
      <p:sp>
        <p:nvSpPr>
          <p:cNvPr id="9" name="Rectangle 8"/>
          <p:cNvSpPr/>
          <p:nvPr/>
        </p:nvSpPr>
        <p:spPr>
          <a:xfrm>
            <a:off x="640080" y="4188163"/>
            <a:ext cx="10881360" cy="1984036"/>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유전암호가 왜 지금의 배치인지는 오래된 질문이다. 암호표가 무작위가 아니라는 것은 분명하다. 비슷한 성질의 아미노산이 비슷한 codon에 모여 있어, 한 염기가 바뀌어도 성질이 비슷한 아미노산으로 바뀌는 경우가 많다. </a:t>
            </a:r>
            <a:r>
              <a:rPr sz="1600" b="1" i="0">
                <a:solidFill>
                  <a:srgbClr val="11202B"/>
                </a:solidFill>
                <a:latin typeface="Malgun Gothic"/>
                <a:ea typeface="Malgun Gothic"/>
                <a:cs typeface="Malgun Gothic"/>
              </a:rPr>
              <a:t>변이에 대한 완충</a:t>
            </a:r>
            <a:r>
              <a:rPr sz="1600" b="0" i="0">
                <a:solidFill>
                  <a:srgbClr val="11202B"/>
                </a:solidFill>
                <a:latin typeface="Malgun Gothic"/>
                <a:ea typeface="Malgun Gothic"/>
                <a:cs typeface="Malgun Gothic"/>
              </a:rPr>
              <a:t>이 암호표 자체에 들어 있는 셈이며, 무작위로 만든 암호표와 비교하면 실제 암호표가 상위 수 퍼센트 안에 든다는 계산이 보고되었다. 설명으로 세 가지가 경쟁한다. 우연히 굳어진 뒤 바꿀 수 없게 되었다는 동결 사고, 아미노산과 codon 사이에 화학적 친화성이 있었다는 입체화학 가설, 그리고 오류의 피해를 줄이는 방향으로 선택되었다는 적응 가설이다. 현재는 적응의 흔적이 분명하되 동결의 요소도 함께 있다는 쪽이 우세하다. 실용적 관심도 있다. 암호를 인위적으로 바꾸어 </a:t>
            </a:r>
            <a:r>
              <a:rPr sz="1600" b="1" i="0">
                <a:solidFill>
                  <a:srgbClr val="11202B"/>
                </a:solidFill>
                <a:latin typeface="Malgun Gothic"/>
                <a:ea typeface="Malgun Gothic"/>
                <a:cs typeface="Malgun Gothic"/>
              </a:rPr>
              <a:t>자연에 없는 아미노산을 단백질에 넣는</a:t>
            </a:r>
            <a:r>
              <a:rPr sz="1600" b="0" i="0">
                <a:solidFill>
                  <a:srgbClr val="11202B"/>
                </a:solidFill>
                <a:latin typeface="Malgun Gothic"/>
                <a:ea typeface="Malgun Gothic"/>
                <a:cs typeface="Malgun Gothic"/>
              </a:rPr>
              <a:t> 기술이 개발되었고, 그런 생물은 자연 환경에서 번식하기 어려우므로 생물학적 봉쇄 수단으로도 검토된다.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정보 흐름의 각 단계는 어디서 조절되는가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지금까지 복제, 전사, 번역을 차례로 보았다. 이 절은 그 사슬을 다시 훑되 </a:t>
            </a:r>
            <a:r>
              <a:rPr sz="2000" b="1" i="0">
                <a:solidFill>
                  <a:srgbClr val="11202B"/>
                </a:solidFill>
                <a:latin typeface="Malgun Gothic"/>
                <a:ea typeface="Malgun Gothic"/>
                <a:cs typeface="Malgun Gothic"/>
              </a:rPr>
              <a:t>어느 지점에서 양이 정해지는가</a:t>
            </a:r>
            <a:r>
              <a:rPr sz="2000" b="0" i="0">
                <a:solidFill>
                  <a:srgbClr val="11202B"/>
                </a:solidFill>
                <a:latin typeface="Malgun Gothic"/>
                <a:ea typeface="Malgun Gothic"/>
                <a:cs typeface="Malgun Gothic"/>
              </a:rPr>
              <a:t>를 묻는다. 유전자 발현 조절이라는 주제의 지도에 해당한다.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최종적으로 세포가 가진 단백질의 양은 하나의 결정이 아니라 </a:t>
            </a:r>
            <a:r>
              <a:rPr sz="2000" b="1" i="0">
                <a:solidFill>
                  <a:srgbClr val="11202B"/>
                </a:solidFill>
                <a:latin typeface="Malgun Gothic"/>
                <a:ea typeface="Malgun Gothic"/>
                <a:cs typeface="Malgun Gothic"/>
              </a:rPr>
              <a:t>여러 단계의 곱</a:t>
            </a:r>
            <a:r>
              <a:rPr sz="2000" b="0" i="0">
                <a:solidFill>
                  <a:srgbClr val="11202B"/>
                </a:solidFill>
                <a:latin typeface="Malgun Gothic"/>
                <a:ea typeface="Malgun Gothic"/>
                <a:cs typeface="Malgun Gothic"/>
              </a:rPr>
              <a:t>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정보 흐름의 각 단계는 어디서 조절되는가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무엇이 정해지는가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조절 수단</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염색질 접근성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 유전자에 도달할 수 있는가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nucleosome 배치, histone 수식, DNA methylation</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 개시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얼마나 자주 시작하는가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전사인자, 공동활성화인자, mediator</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전사 신장과 종결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시작한 것이 끝까지 가는가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 일시정지의 해제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RNA 가공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어떤 형태의 전사체가 되는가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대체 splicing, 3′ 말단 선택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핵 밖 수송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세포질로 나가는가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가공 완료 여부의 판정</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전사체의 수명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얼마나 오래 남는가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 UTR 결합 단백질, miRNA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번역 개시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얼마나 자주 읽히는가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개시인자의 인산화, 5′ UTR 구조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단백질의 수명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얼마나 오래 남는가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ubiquitin 표지와 proteasome</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정보 흐름의 각 단계는 어디서 조절되는가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무엇이 정해지는가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조절 수단</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단백질의 활성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있는 것이 일하는가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인산화, 결합 상대, 위치</a:t>
                      </a:r>
                    </a:p>
                  </a:txBody>
                  <a:tcPr marL="73152" marR="73152" marT="27432" marB="2743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정보 흐름의 각 단계는 어디서 조절되는가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 표가 주는 세 가지 함의가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mRNA 양과 단백질 양은 비례하지 않는다.</a:t>
            </a:r>
            <a:r>
              <a:rPr sz="1400" b="0" i="0">
                <a:solidFill>
                  <a:srgbClr val="11202B"/>
                </a:solidFill>
                <a:latin typeface="Malgun Gothic"/>
                <a:ea typeface="Malgun Gothic"/>
                <a:cs typeface="Malgun Gothic"/>
              </a:rPr>
              <a:t> 전사체를 측정하는 실험(전사체 분석)의 결과를 단백질 양으로 바로 읽으면 안 된다. 둘의 상관계수가 생각보다 낮다는 것이 여러 연구에서 확인되었고, 번역 효율과 단백질 분해 속도의 차이가 그 원인이다. 측정한 것과 알고 싶은 것을 구분해야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조절 단계마다 시간 규모가 다르다.</a:t>
            </a:r>
            <a:r>
              <a:rPr sz="1400" b="0" i="0">
                <a:solidFill>
                  <a:srgbClr val="11202B"/>
                </a:solidFill>
                <a:latin typeface="Malgun Gothic"/>
                <a:ea typeface="Malgun Gothic"/>
                <a:cs typeface="Malgun Gothic"/>
              </a:rPr>
              <a:t> 단백질의 인산화는 초 단위로 바뀌고, 번역 조절은 분, 전사 조절은 수십 분에서 시간, 염색질 변화는 더 길고 분열을 넘어 유지되기도 한다. 급한 반응에는 빠른 수단이, 분화처럼 되돌릴 필요가 없는 변화에는 느리고 안정한 수단이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원핵과 진핵의 조절 지점 수가 다르다.</a:t>
            </a:r>
            <a:r>
              <a:rPr sz="1400" b="0" i="0">
                <a:solidFill>
                  <a:srgbClr val="11202B"/>
                </a:solidFill>
                <a:latin typeface="Malgun Gothic"/>
                <a:ea typeface="Malgun Gothic"/>
                <a:cs typeface="Malgun Gothic"/>
              </a:rPr>
              <a:t> 세균은 전사와 번역이 같은 공간에서 동시에 일어나므로 가공과 수송 단계가 없고, 조절이 주로 전사 개시에 집중된다. 진핵세포는 단계가 많은 만큼 조절 지점도 많다. 복잡성의 대가로 얻은 것이 </a:t>
            </a:r>
            <a:r>
              <a:rPr sz="1400" b="1" i="0">
                <a:solidFill>
                  <a:srgbClr val="11202B"/>
                </a:solidFill>
                <a:latin typeface="Malgun Gothic"/>
                <a:ea typeface="Malgun Gothic"/>
                <a:cs typeface="Malgun Gothic"/>
              </a:rPr>
              <a:t>정교한 제어</a:t>
            </a:r>
            <a:r>
              <a:rPr sz="1400" b="0" i="0">
                <a:solidFill>
                  <a:srgbClr val="11202B"/>
                </a:solidFill>
                <a:latin typeface="Malgun Gothic"/>
                <a:ea typeface="Malgun Gothic"/>
                <a:cs typeface="Malgun Gothic"/>
              </a:rPr>
              <a:t>라는 설명이 여기서 구체화된다.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각 단계의 기전은 이 모듈과 모듈 3에서 나누어 다룬다. 염색질과 전사 조절은 M01-W07-L02와 M03-W04-L03, 가공은 M03-W02-L03, 전사체 수명은 M01-W07-L01, 번역 조절과 단백질 분해는 M01-W08-L01에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수업의 내용이 임상에서 어떻게 쓰이는지를 한자리에 모은다. </a:t>
            </a:r>
            <a:r>
              <a:rPr sz="2000" b="1" i="0">
                <a:solidFill>
                  <a:srgbClr val="11202B"/>
                </a:solidFill>
                <a:latin typeface="Malgun Gothic"/>
                <a:ea typeface="Malgun Gothic"/>
                <a:cs typeface="Malgun Gothic"/>
              </a:rPr>
              <a:t>항생제, 항바이러스제, 항암제의 상당수가 이 사슬의 특정 단계를 막는다.</a:t>
            </a:r>
            <a:r>
              <a:rPr sz="2000" b="0" i="0">
                <a:solidFill>
                  <a:srgbClr val="11202B"/>
                </a:solidFill>
                <a:latin typeface="Malgun Gothic"/>
                <a:ea typeface="Malgun Gothic"/>
                <a:cs typeface="Malgun Gothic"/>
              </a:rPr>
              <a:t> 그리고 선택독성의 근거가 거의 언제나 </a:t>
            </a:r>
            <a:r>
              <a:rPr sz="2000" b="1" i="0">
                <a:solidFill>
                  <a:srgbClr val="11202B"/>
                </a:solidFill>
                <a:latin typeface="Malgun Gothic"/>
                <a:ea typeface="Malgun Gothic"/>
                <a:cs typeface="Malgun Gothic"/>
              </a:rPr>
              <a:t>원핵과 진핵의 차이, 또는 바이러스 고유 효소의 존재</a:t>
            </a:r>
            <a:r>
              <a:rPr sz="2000" b="0" i="0">
                <a:solidFill>
                  <a:srgbClr val="11202B"/>
                </a:solidFill>
                <a:latin typeface="Malgun Gothic"/>
                <a:ea typeface="Malgun Gothic"/>
                <a:cs typeface="Malgun Gothic"/>
              </a:rPr>
              <a:t>에 있다.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복제를 막는 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선택독성의 근거</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Fluoroquinolone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세균 DNA gyrase와 topoisomerase IV</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사람에게 없는 효소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Etoposide, irinotecan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사람 topoisomerase II와 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 분열이 빠른 세포에 더 해롭다는 차이에 의존한다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Nucleoside 유사체(항바이러스)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바이러스 polymerase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바이러스 효소가 유사체를 더 잘 받아들인다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Acyclovir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Herpes 바이러스 DNA polymerase</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바이러스 kinase가 있어야 활성화</a:t>
                      </a:r>
                      <a:r>
                        <a:rPr sz="1200" b="0" i="0">
                          <a:solidFill>
                            <a:srgbClr val="11202B"/>
                          </a:solidFill>
                          <a:latin typeface="Malgun Gothic"/>
                          <a:ea typeface="Malgun Gothic"/>
                          <a:cs typeface="Malgun Gothic"/>
                        </a:rPr>
                        <a:t>된다. 감염된 세포에서만 작동한다</a:t>
                      </a:r>
                    </a:p>
                  </a:txBody>
                  <a:tcPr marL="73152" marR="73152" marT="27432" marB="27432">
                    <a:solidFill>
                      <a:srgbClr val="EFF4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Acyclovir의 설계가 특히 깔끔하다. 약물 자체는 비활성 전구체이고, herpes 바이러스가 가진 thymidine kinase가 첫 인산화를 해야 활성형이 된다. 따라서 </a:t>
            </a:r>
            <a:r>
              <a:rPr sz="1600" b="1" i="0">
                <a:solidFill>
                  <a:srgbClr val="11202B"/>
                </a:solidFill>
                <a:latin typeface="Malgun Gothic"/>
                <a:ea typeface="Malgun Gothic"/>
                <a:cs typeface="Malgun Gothic"/>
              </a:rPr>
              <a:t>감염되지 않은 세포에서는 약이 켜지지 않는다.</a:t>
            </a:r>
            <a:r>
              <a:rPr sz="1600" b="0" i="0">
                <a:solidFill>
                  <a:srgbClr val="11202B"/>
                </a:solidFill>
                <a:latin typeface="Malgun Gothic"/>
                <a:ea typeface="Malgun Gothic"/>
                <a:cs typeface="Malgun Gothic"/>
              </a:rPr>
              <a:t> 선택독성을 표적의 차이가 아니라 </a:t>
            </a:r>
            <a:r>
              <a:rPr sz="1600" b="1" i="0">
                <a:solidFill>
                  <a:srgbClr val="11202B"/>
                </a:solidFill>
                <a:latin typeface="Malgun Gothic"/>
                <a:ea typeface="Malgun Gothic"/>
                <a:cs typeface="Malgun Gothic"/>
              </a:rPr>
              <a:t>활성화의 차이</a:t>
            </a:r>
            <a:r>
              <a:rPr sz="1600" b="0" i="0">
                <a:solidFill>
                  <a:srgbClr val="11202B"/>
                </a:solidFill>
                <a:latin typeface="Malgun Gothic"/>
                <a:ea typeface="Malgun Gothic"/>
                <a:cs typeface="Malgun Gothic"/>
              </a:rPr>
              <a:t>로 얻은 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전사를 막는 약.</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Rifampicin</a:t>
            </a:r>
            <a:r>
              <a:rPr sz="1600" b="0" i="0">
                <a:solidFill>
                  <a:srgbClr val="11202B"/>
                </a:solidFill>
                <a:latin typeface="Malgun Gothic"/>
                <a:ea typeface="Malgun Gothic"/>
                <a:cs typeface="Malgun Gothic"/>
              </a:rPr>
              <a:t>: 세균 RNA polymerase의 β 소단위에 결합한다. 사람의 효소와 구조가 달라 선택적이다. 결핵 치료의 핵심이며, 내성은 대개 rpoB 변이에서 온다(M01-W01-L02).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α-amanitin</a:t>
            </a:r>
            <a:r>
              <a:rPr sz="1600" b="0" i="0">
                <a:solidFill>
                  <a:srgbClr val="11202B"/>
                </a:solidFill>
                <a:latin typeface="Malgun Gothic"/>
                <a:ea typeface="Malgun Gothic"/>
                <a:cs typeface="Malgun Gothic"/>
              </a:rPr>
              <a:t>: 사람 Pol II를 억제한다. 치료제가 아니라 독소이며, 중독의 경과가 전사 차단과 단백질 소모의 시간차로 설명된다.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Actinomycin D</a:t>
            </a:r>
            <a:r>
              <a:rPr sz="1600" b="0" i="0">
                <a:solidFill>
                  <a:srgbClr val="11202B"/>
                </a:solidFill>
                <a:latin typeface="Malgun Gothic"/>
                <a:ea typeface="Malgun Gothic"/>
                <a:cs typeface="Malgun Gothic"/>
              </a:rPr>
              <a:t>: DNA에 끼어들어 전사를 막는다. 선택성이 낮아 항암제로 제한적으로 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번역을 막는 약.</a:t>
            </a:r>
            <a:r>
              <a:rPr sz="1600" b="0" i="0">
                <a:solidFill>
                  <a:srgbClr val="11202B"/>
                </a:solidFill>
                <a:latin typeface="Malgun Gothic"/>
                <a:ea typeface="Malgun Gothic"/>
                <a:cs typeface="Malgun Gothic"/>
              </a:rPr>
              <a:t> 항생제가 가장 많이 모인 자리다. 근거는 </a:t>
            </a:r>
            <a:r>
              <a:rPr sz="1600" b="1" i="0">
                <a:solidFill>
                  <a:srgbClr val="11202B"/>
                </a:solidFill>
                <a:latin typeface="Malgun Gothic"/>
                <a:ea typeface="Malgun Gothic"/>
                <a:cs typeface="Malgun Gothic"/>
              </a:rPr>
              <a:t>70S와 80S ribosome의 구조 차이</a:t>
            </a:r>
            <a:r>
              <a:rPr sz="1600" b="0" i="0">
                <a:solidFill>
                  <a:srgbClr val="11202B"/>
                </a:solidFill>
                <a:latin typeface="Malgun Gothic"/>
                <a:ea typeface="Malgun Gothic"/>
                <a:cs typeface="Malgun Gothic"/>
              </a:rPr>
              <a:t> 하나다.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약물 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지점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Aminoglycoside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30S에 결합해 개시를 방해하고 오독을 일으킨다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Tetracycline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30S의 A 자리에 tRNA가 들어오는 것을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Macrolide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50S에 결합해 사슬의 이동을 막는다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Chloramphenicol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50S의 peptidyl transferase 활성을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Linezolid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50S에 결합해 개시 복합체 형성을 막는다</a:t>
                      </a:r>
                    </a:p>
                  </a:txBody>
                  <a:tcPr marL="73152" marR="73152" marT="27432" marB="2743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미토콘드리아가 선택독성의 빈틈이다.</a:t>
            </a:r>
            <a:r>
              <a:rPr sz="2000" b="0" i="0">
                <a:solidFill>
                  <a:srgbClr val="11202B"/>
                </a:solidFill>
                <a:latin typeface="Malgun Gothic"/>
                <a:ea typeface="Malgun Gothic"/>
                <a:cs typeface="Malgun Gothic"/>
              </a:rPr>
              <a:t> 미토콘드리아는 세균에서 유래해 70S에 가까운 ribosome을 가진다(M01-W05-L01). 따라서 세균 ribosome을 겨냥한 약물이 사람의 미토콘드리아 번역도 일부 억제한다. Chloramphenicol의 골수 억제와 linezolid의 장기 사용에서 나타나는 혈구 감소, 시신경병과 젖산산증이 이 기전으로 설명된다. </a:t>
            </a:r>
            <a:r>
              <a:rPr sz="2000" b="1" i="0">
                <a:solidFill>
                  <a:srgbClr val="11202B"/>
                </a:solidFill>
                <a:latin typeface="Malgun Gothic"/>
                <a:ea typeface="Malgun Gothic"/>
                <a:cs typeface="Malgun Gothic"/>
              </a:rPr>
              <a:t>진화적 기원이 부작용의 원인이 되는</a:t>
            </a:r>
            <a:r>
              <a:rPr sz="2000" b="0" i="0">
                <a:solidFill>
                  <a:srgbClr val="11202B"/>
                </a:solidFill>
                <a:latin typeface="Malgun Gothic"/>
                <a:ea typeface="Malgun Gothic"/>
                <a:cs typeface="Malgun Gothic"/>
              </a:rPr>
              <a:t> 사례다.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정보 흐름을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2307566"/>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역전사효소를 표적으로 하는 약물</a:t>
            </a:r>
            <a:r>
              <a:rPr sz="1600" b="0" i="0">
                <a:solidFill>
                  <a:srgbClr val="11202B"/>
                </a:solidFill>
                <a:latin typeface="Malgun Gothic"/>
                <a:ea typeface="Malgun Gothic"/>
                <a:cs typeface="Malgun Gothic"/>
              </a:rPr>
              <a:t>이 선택독성의 또 다른 경로를 보여 준다. 사람 세포에는 역전사효소가 사실상 없으므로(telomerase가 예외적으로 비슷한 활성을 가진다) HIV의 역전사효소는 이상적인 표적이다. Nucleoside 유사 역전사효소 억제제는 3′ hydroxyl기가 없어 사슬에 들어가면 다음 nucleotide를 붙일 수 없게 만든다(사슬 종결). 비nucleoside 억제제는 효소의 다른 자리에 결합해 구조를 바꾼다. 두 계열을 함께 쓰는 이유는 </a:t>
            </a:r>
            <a:r>
              <a:rPr sz="1600" b="1" i="0">
                <a:solidFill>
                  <a:srgbClr val="11202B"/>
                </a:solidFill>
                <a:latin typeface="Malgun Gothic"/>
                <a:ea typeface="Malgun Gothic"/>
                <a:cs typeface="Malgun Gothic"/>
              </a:rPr>
              <a:t>내성 때문</a:t>
            </a:r>
            <a:r>
              <a:rPr sz="1600" b="0" i="0">
                <a:solidFill>
                  <a:srgbClr val="11202B"/>
                </a:solidFill>
                <a:latin typeface="Malgun Gothic"/>
                <a:ea typeface="Malgun Gothic"/>
                <a:cs typeface="Malgun Gothic"/>
              </a:rPr>
              <a:t>이다. HIV의 역전사효소는 교정 기능이 없어 변이율이 매우 높으므로 단일 약물에 대한 내성 변이가 빠르게 선택된다. 작용 지점이 다른 약을 세 가지 이상 묶어 쓰면 모든 지점에 동시에 내성을 갖는 변이가 나올 확률이 급격히 낮아진다. 복제의 정확도라는 이 수업의 주제가 치료 전략을 직접 정한 사례다.</a:t>
            </a:r>
          </a:p>
        </p:txBody>
      </p:sp>
      <p:sp>
        <p:nvSpPr>
          <p:cNvPr id="8" name="Rectangle 7"/>
          <p:cNvSpPr/>
          <p:nvPr/>
        </p:nvSpPr>
        <p:spPr>
          <a:xfrm>
            <a:off x="640080" y="3770606"/>
            <a:ext cx="10881360" cy="2401593"/>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정보 흐름의 각 단계가 거꾸로 </a:t>
            </a:r>
            <a:r>
              <a:rPr sz="1600" b="1" i="0">
                <a:solidFill>
                  <a:srgbClr val="11202B"/>
                </a:solidFill>
                <a:latin typeface="Malgun Gothic"/>
                <a:ea typeface="Malgun Gothic"/>
                <a:cs typeface="Malgun Gothic"/>
              </a:rPr>
              <a:t>치료의 수단</a:t>
            </a:r>
            <a:r>
              <a:rPr sz="1600" b="0" i="0">
                <a:solidFill>
                  <a:srgbClr val="11202B"/>
                </a:solidFill>
                <a:latin typeface="Malgun Gothic"/>
                <a:ea typeface="Malgun Gothic"/>
                <a:cs typeface="Malgun Gothic"/>
              </a:rPr>
              <a:t>이 되고 있다. mRNA를 직접 투여해 원하는 단백질을 세포가 만들게 하는 전략이 백신에서 먼저 실용화되었고, 이제 단백질 보충과 암 면역 치료로 범위를 넓히는 중이다. 성립하려면 세 가지 문제를 풀어야 했는데, 모두 이 수업의 내용과 맞닿아 있다. 첫째, </a:t>
            </a:r>
            <a:r>
              <a:rPr sz="1600" b="1" i="0">
                <a:solidFill>
                  <a:srgbClr val="11202B"/>
                </a:solidFill>
                <a:latin typeface="Malgun Gothic"/>
                <a:ea typeface="Malgun Gothic"/>
                <a:cs typeface="Malgun Gothic"/>
              </a:rPr>
              <a:t>외부 RNA는 선천 면역에 이물질로 인식된다.</a:t>
            </a:r>
            <a:r>
              <a:rPr sz="1600" b="0" i="0">
                <a:solidFill>
                  <a:srgbClr val="11202B"/>
                </a:solidFill>
                <a:latin typeface="Malgun Gothic"/>
                <a:ea typeface="Malgun Gothic"/>
                <a:cs typeface="Malgun Gothic"/>
              </a:rPr>
              <a:t> Uridine을 변형 염기로 바꾸어 이 인식을 피한 것이 결정적인 돌파였다. 둘째, </a:t>
            </a:r>
            <a:r>
              <a:rPr sz="1600" b="1" i="0">
                <a:solidFill>
                  <a:srgbClr val="11202B"/>
                </a:solidFill>
                <a:latin typeface="Malgun Gothic"/>
                <a:ea typeface="Malgun Gothic"/>
                <a:cs typeface="Malgun Gothic"/>
              </a:rPr>
              <a:t>RNA는 쉽게 분해된다.</a:t>
            </a:r>
            <a:r>
              <a:rPr sz="1600" b="0" i="0">
                <a:solidFill>
                  <a:srgbClr val="11202B"/>
                </a:solidFill>
                <a:latin typeface="Malgun Gothic"/>
                <a:ea typeface="Malgun Gothic"/>
                <a:cs typeface="Malgun Gothic"/>
              </a:rPr>
              <a:t> Cap 구조와 poly(A) 꼬리, 안정화하는 UTR 서열을 설계해 수명을 늘렸다. 셋째, </a:t>
            </a:r>
            <a:r>
              <a:rPr sz="1600" b="1" i="0">
                <a:solidFill>
                  <a:srgbClr val="11202B"/>
                </a:solidFill>
                <a:latin typeface="Malgun Gothic"/>
                <a:ea typeface="Malgun Gothic"/>
                <a:cs typeface="Malgun Gothic"/>
              </a:rPr>
              <a:t>세포 안으로 넣어야 한다.</a:t>
            </a:r>
            <a:r>
              <a:rPr sz="1600" b="0" i="0">
                <a:solidFill>
                  <a:srgbClr val="11202B"/>
                </a:solidFill>
                <a:latin typeface="Malgun Gothic"/>
                <a:ea typeface="Malgun Gothic"/>
                <a:cs typeface="Malgun Gothic"/>
              </a:rPr>
              <a:t> 지질 나노입자가 이 문제를 풀었다. 남은 과제는 표적 조직으로 보내는 것이다. 현재는 주사 부위와 간에 주로 도달하므로, 다른 장기를 겨냥하려면 전달체의 조성을 바꾸어야 한다. 어느 세포에 전달할지를 정하는 일이 다음 단계의 중심 문제다.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수업은 유전정보가 흐르는 </a:t>
            </a:r>
            <a:r>
              <a:rPr sz="1600" b="1" i="0">
                <a:solidFill>
                  <a:srgbClr val="11202B"/>
                </a:solidFill>
                <a:latin typeface="Malgun Gothic"/>
                <a:ea typeface="Malgun Gothic"/>
                <a:cs typeface="Malgun Gothic"/>
              </a:rPr>
              <a:t>전체 경로의 지도</a:t>
            </a:r>
            <a:r>
              <a:rPr sz="1600" b="0" i="0">
                <a:solidFill>
                  <a:srgbClr val="11202B"/>
                </a:solidFill>
                <a:latin typeface="Malgun Gothic"/>
                <a:ea typeface="Malgun Gothic"/>
                <a:cs typeface="Malgun Gothic"/>
              </a:rPr>
              <a:t>다. 각 구간은 이후 수업에서 확대된다.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DNA 구조와 염색질 포장</a:t>
            </a:r>
            <a:r>
              <a:rPr sz="1600" b="0" i="0">
                <a:solidFill>
                  <a:srgbClr val="11202B"/>
                </a:solidFill>
                <a:latin typeface="Malgun Gothic"/>
                <a:ea typeface="Malgun Gothic"/>
                <a:cs typeface="Malgun Gothic"/>
              </a:rPr>
              <a:t>: M03-W01-L01. 이 수업의 2절을 분자 수준에서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복제의 상세와 수선 경로</a:t>
            </a:r>
            <a:r>
              <a:rPr sz="1600" b="0" i="0">
                <a:solidFill>
                  <a:srgbClr val="11202B"/>
                </a:solidFill>
                <a:latin typeface="Malgun Gothic"/>
                <a:ea typeface="Malgun Gothic"/>
                <a:cs typeface="Malgun Gothic"/>
              </a:rPr>
              <a:t>: M01-W06-L03, M03-W01-L02, M03-W01-L03. 복구 결함 질환은 M03-W02-L01.</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유전체의 구성과 반복 서열</a:t>
            </a:r>
            <a:r>
              <a:rPr sz="1600" b="0" i="0">
                <a:solidFill>
                  <a:srgbClr val="11202B"/>
                </a:solidFill>
                <a:latin typeface="Malgun Gothic"/>
                <a:ea typeface="Malgun Gothic"/>
                <a:cs typeface="Malgun Gothic"/>
              </a:rPr>
              <a:t>: M01-W06-L02.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전사의 기전과 RNA의 종류</a:t>
            </a:r>
            <a:r>
              <a:rPr sz="1600" b="0" i="0">
                <a:solidFill>
                  <a:srgbClr val="11202B"/>
                </a:solidFill>
                <a:latin typeface="Malgun Gothic"/>
                <a:ea typeface="Malgun Gothic"/>
                <a:cs typeface="Malgun Gothic"/>
              </a:rPr>
              <a:t>: M01-W07-L01과 M03-W02-L02.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전사 조절과 후성유전</a:t>
            </a:r>
            <a:r>
              <a:rPr sz="1600" b="0" i="0">
                <a:solidFill>
                  <a:srgbClr val="11202B"/>
                </a:solidFill>
                <a:latin typeface="Malgun Gothic"/>
                <a:ea typeface="Malgun Gothic"/>
                <a:cs typeface="Malgun Gothic"/>
              </a:rPr>
              <a:t>: M01-W07-L02, M03-W04-L02, M03-W04-L03, M03-W05-L01.</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RNA 가공의 상세</a:t>
            </a:r>
            <a:r>
              <a:rPr sz="1600" b="0" i="0">
                <a:solidFill>
                  <a:srgbClr val="11202B"/>
                </a:solidFill>
                <a:latin typeface="Malgun Gothic"/>
                <a:ea typeface="Malgun Gothic"/>
                <a:cs typeface="Malgun Gothic"/>
              </a:rPr>
              <a:t>: M03-W02-L03. 대체 splicing과 질환이 여기에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번역의 상세와 번역 후 처리</a:t>
            </a:r>
            <a:r>
              <a:rPr sz="1600" b="0" i="0">
                <a:solidFill>
                  <a:srgbClr val="11202B"/>
                </a:solidFill>
                <a:latin typeface="Malgun Gothic"/>
                <a:ea typeface="Malgun Gothic"/>
                <a:cs typeface="Malgun Gothic"/>
              </a:rPr>
              <a:t>: M01-W07-L03, M01-W08-L01.</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유전암호와 tRNA</a:t>
            </a:r>
            <a:r>
              <a:rPr sz="1600" b="0" i="0">
                <a:solidFill>
                  <a:srgbClr val="11202B"/>
                </a:solidFill>
                <a:latin typeface="Malgun Gothic"/>
                <a:ea typeface="Malgun Gothic"/>
                <a:cs typeface="Malgun Gothic"/>
              </a:rPr>
              <a:t>: M03-W03-L02. 이 수업의 9절을 확대한다.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실험 기법</a:t>
            </a:r>
            <a:r>
              <a:rPr sz="1600" b="0" i="0">
                <a:solidFill>
                  <a:srgbClr val="11202B"/>
                </a:solidFill>
                <a:latin typeface="Malgun Gothic"/>
                <a:ea typeface="Malgun Gothic"/>
                <a:cs typeface="Malgun Gothic"/>
              </a:rPr>
              <a:t>: M01-W06-L01에서 클로닝, PCR, 염기서열 분석을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멘델 수준의 유전</a:t>
            </a:r>
            <a:r>
              <a:rPr sz="1600" b="0" i="0">
                <a:solidFill>
                  <a:srgbClr val="11202B"/>
                </a:solidFill>
                <a:latin typeface="Malgun Gothic"/>
                <a:ea typeface="Malgun Gothic"/>
                <a:cs typeface="Malgun Gothic"/>
              </a:rPr>
              <a:t>: M01-W04-L03에서 다루었다. 이 수업이 그 사슬의 분자적 실체다.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가져갈 것은 세 가지다. 첫째, </a:t>
            </a:r>
            <a:r>
              <a:rPr sz="1600" b="1" i="0">
                <a:solidFill>
                  <a:srgbClr val="11202B"/>
                </a:solidFill>
                <a:latin typeface="Malgun Gothic"/>
                <a:ea typeface="Malgun Gothic"/>
                <a:cs typeface="Malgun Gothic"/>
              </a:rPr>
              <a:t>중심원리의 내용은 금지 하나</a:t>
            </a:r>
            <a:r>
              <a:rPr sz="1600" b="0" i="0">
                <a:solidFill>
                  <a:srgbClr val="11202B"/>
                </a:solidFill>
                <a:latin typeface="Malgun Gothic"/>
                <a:ea typeface="Malgun Gothic"/>
                <a:cs typeface="Malgun Gothic"/>
              </a:rPr>
              <a:t>이며, 흔히 외우는 도식은 그 금지를 설명하기 위한 그림일 뿐이다. 둘째, </a:t>
            </a:r>
            <a:r>
              <a:rPr sz="1600" b="1" i="0">
                <a:solidFill>
                  <a:srgbClr val="11202B"/>
                </a:solidFill>
                <a:latin typeface="Malgun Gothic"/>
                <a:ea typeface="Malgun Gothic"/>
                <a:cs typeface="Malgun Gothic"/>
              </a:rPr>
              <a:t>구조가 기전을 제약한다.</a:t>
            </a:r>
            <a:r>
              <a:rPr sz="1600" b="0" i="0">
                <a:solidFill>
                  <a:srgbClr val="11202B"/>
                </a:solidFill>
                <a:latin typeface="Malgun Gothic"/>
                <a:ea typeface="Malgun Gothic"/>
                <a:cs typeface="Malgun Gothic"/>
              </a:rPr>
              <a:t> 역평행이 lagging strand를 만들고, 선형 염색체가 telomere를 요구하며, 이중나선이 꼬임 문제를 낳는다. 기전을 외우기 전에 어떤 제약에서 나왔는지를 물으면 분량이 줄어든다. 셋째, </a:t>
            </a:r>
            <a:r>
              <a:rPr sz="1600" b="1" i="0">
                <a:solidFill>
                  <a:srgbClr val="11202B"/>
                </a:solidFill>
                <a:latin typeface="Malgun Gothic"/>
                <a:ea typeface="Malgun Gothic"/>
                <a:cs typeface="Malgun Gothic"/>
              </a:rPr>
              <a:t>같은 사슬이 약물의 표적 목록이기도 하다.</a:t>
            </a:r>
            <a:r>
              <a:rPr sz="1600" b="0" i="0">
                <a:solidFill>
                  <a:srgbClr val="11202B"/>
                </a:solidFill>
                <a:latin typeface="Malgun Gothic"/>
                <a:ea typeface="Malgun Gothic"/>
                <a:cs typeface="Malgun Gothic"/>
              </a:rPr>
              <a:t> 선택독성의 근거를 물으면 거의 언제나 원핵과 진핵의 차이, 또는 바이러스 고유 효소로 돌아온다.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Meselson과 Stahl의 실험에서 1세대와 2세대의 결과가 각각 어떤 가설을 배제하는지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1세대에서 중간 밀도의 띠 하나만 나온 결과가 보존적 복제를 배제한다. 보존적 복제라면 원래의 ¹⁵N 이중나선이 그대로 남고 완전히 새로운 ¹⁴N 이중나선이 따로 만들어져 무거운 띠와 가벼운 띠가 함께 보여야 한다. 2세대에서 중간 띠와 가벼운 띠가 1:1로 나뉘어 나온 결과가 분산적 복제를 배제한다. 분산적 복제라면 모든 분자에 새 조각과 옛 조각이 균일하게 섞여 단일한 띠가 세대마다 점점 가벼워지는 양상을 보여야 하고, 두 개의 분명한 띠로 나뉘지 않는다. 두 결과 모두 반보존적 복제의 예측과 일치한다.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polymerase의 두 가지 성질, 즉 5′→3′ 방향으로만 합성한다는 것과 primer가 필요하다는 것이 lagging strand의 불연속 합성을 어떻게 강제하는지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복제분기점에서 두 주형 사슬은 서로 반대 방향으로 놓여 있다. 한 주형에 대해서는 합성 방향이 분기점 진행 방향과 일치하므로 primer 하나로 계속 따라가며 연속 합성할 수 있다(leading strand). 다른 주형에 대해서는 합성 방향이 분기점 진행 방향과 반대이므로, 분기점이 나아가 새 주형이 노출될 때마다 노출된 구간의 가장 분기점에 가까운 쪽에 primer를 새로 만들고 분기점 반대 방향으로 짧은 조각을 합성해야 한다. 그 결과 Okazaki fragment가 생기고, primer 제거, 빈자리 채우기, DNA ligase에 의한 연결이 뒤따른다. 만약 polymerase가 3′→5′ 방향으로도 합성할 수 있거나 primer 없이 시작할 수 있었다면 두 사슬 모두 연속 합성이 가능했을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복제의 오류율은 10⁻¹⁰이고 전사의 오류율은 10⁻⁴이다. 이 차이가 합리적인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산물의 지속성과 복제 여부가 다르기 때문이다. DNA는 세포의 영속적 정보 저장체로 모든 딸세포에 전달되므로, 한 번의 오류가 그 세포 계통 전체에 영구히 남고 유전된다. 따라서 중합효소의 기질 선택, 3′→5′ exonuclease 교정, mismatch repair의 세 단계를 투자해 오류율을 10⁻¹⁰까지 낮출 가치가 있다. RNA는 일시적이고 한 유전자에서 여러 copy가 만들어진다. 전사체 하나에 오류가 있어도 나머지 copy가 정상 단백질을 만들고, 그 오류는 다음 세대로 전달되지 않는다. 교정 기구를 추가하면 속도가 떨어지고 에너지가 더 들므로, 정확도를 10⁻⁴에서 멈추는 것이 비용 대비 합리적이다.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유전자의 코딩 영역에 염기 하나가 삽입되는 변이와 염기 세 개가 삽입되는 변이가 있다. 두 변이의 결과가 크게 다른 이유를 유전암호의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유전암호는 세 염기 단위로 연속해서 읽히며 codon 사이에 구분 기호가 없다. 염기 하나가 삽입되면 그 지점부터 뒤쪽의 모든 codon 경계가 한 칸 밀려 읽기 틀이 바뀌는 frameshift가 된다. 삽입 지점 이후의 아미노산 서열이 전혀 달라지고, 대개 틀이 바뀐 서열에서 곧 종결 codon이 나타나 단백질이 짧게 끊긴다. 염기 세 개가 삽입되면 codon 하나가 추가되는 것이므로 읽기 틀이 유지되고, 그 자리에 아미노산 하나가 끼어드는 데 그친다. 기능에 결정적인 부위가 아니면 단백질이 어느 정도 기능을 유지할 수 있다. 결과의 크기 차이는 삽입된 염기 수가 3의 배수인지에 달려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사람의 유전자 수는 약 20,000개인데 단백질의 종류는 그보다 훨씬 많다. 가능한 분자적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주된 기전은 alternative splicing이다. 진핵 유전자는 exon과 intron이 교대로 배열되어 있고, 하나의 전사체에서 exon을 다르게 조합해 여러 mRNA를 만들 수 있다. 사람 유전자의 90% 이상이 alternative splicing을 거치므로 유전자 하나가 여러 단백질 이형을 낸다. 이 외에도 여러 전사 개시점이나 여러 polyadenylation 지점의 사용으로 서로 다른 말단을 가진 전사체가 생기고, 번역 후 단백질 분해에 의한 절단과 인산화·당 사슬 부착 같은 공유결합 변형이 같은 아미노산 서열에서 기능이 다른 여러 형태를 만든다. 즉 정보의 다양성은 유전자 개수보다 전사체와 단백질 수준의 가공에서 나온다.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Aminoglycoside와 macrolide가 세균에만 선택적으로 작용하는 근거와, 그래도 부작용이 나타나는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선택성의 근거는 ribosome의 구조 차이다. 세균의 ribosome은 70S로 50S와 30S 소단위로 이루어지고 사람의 것은 80S로 60S와 40S로 이루어진다. rRNA 서열과 단백질 구성이 다르므로, 세균의 30S에 결합하는 aminoglycoside와 tetracycline, 50S에 결합하는 macrolide와 chloramphenicol은 사람의 세포질 ribosome에는 거의 결합하지 않는다. 부작용이 나타나는 이유는 미토콘드리아에 있다. 미토콘드리아는 endosymbiosis로 세균에서 유래했으므로 자신의 ribosome이 세균의 것에 가깝고, 이 약물들이 미토콘드리아 단백질 합성을 일부 억제한다. 에너지 요구가 크고 재생이 어려운 조직이 먼저 영향을 받아 aminoglycoside의 이독성과 chloramphenicol의 골수 억제가 나타난다.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중심원리가 실제로 금지하는 것이 무엇인지 정확히 쓰고, 흔히 예외로 거론되는 셋이 왜 예외가 아닌지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중심원리가 금지하는 것은 "일단 정보가 단백질로 들어가면 거기서 다시 빠져나올 수 없다", 즉 아미노산 서열이 핵산 서열로 되돌아가지 않는다는 것 하나다. Reverse transcriptase는 RNA에서 DNA를, RNA 의존 RNA polymerase는 RNA에서 RNA를 만들지만 둘 다 핵산 사이의 흐름이므로 금지를 위반하지 않는다. Prion은 잘못 접힌 단백질이 정상 단백질을 같은 형태로 바꾸지만 전달되는 것은 서열이 아니라 접힘 상태이고 아미노산 서열 자체는 여전히 유전자에서 오므로 역시 위반이 아니다. 다만 유전되는 정보가 서열에만 있는 것은 아니라는 점을 보여 준다.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DNA의 역평행 구조가 복제에 어떤 문제를 만들고 어떻게 해결되는지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가닥이 서로 반대 방향이고 모든 핵산 중합효소는 5′에서 3′ 방향으로만 사슬을 늘릴 수 있다. 복제분기점이 한 방향으로 진행할 때 한 가닥은 분기점 진행 방향과 합성 방향이 같아 연속적으로 만들어지지만(leading strand), 다른 가닥은 방향이 반대여서 연속 합성이 불가능하다. 해결책은 짧은 조각을 분기점 반대 방향으로 거꾸로 만들어 나중에 잇는 것이며(lagging strand와 Okazaki 조각), 각 조각마다 primer가 필요하고 primer를 제거한 뒤 채우고 ligase로 잇는 과정이 추가된다. 구조적 제약이 기전의 복잡성을 만든 전형적인 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이중나선에서 큰 홈이 작은 홈보다 서열 인식에 많이 쓰이는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나선이 감기면서 폭이 다른 두 홈이 생기는데, 큰 홈에서는 네 가지 염기쌍이 각각 수소결합 주개와 받개를 다른 배열로 노출하므로 염기쌍마다 화학적 무늬가 뚜렷이 구별된다. 따라서 단백질이 나선을 풀지 않고도 바깥에서 서열을 읽을 수 있다. 작은 홈에서는 노출되는 무늬의 차이가 작아 염기쌍을 구별하기 어렵다. 전사인자가 특정 서열을 인식해 결합하는 일이 가능한 것이 큰 홈의 이 성질 덕분이다.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복제에서 생기는 꼬임 문제를 설명하고 두 종류의 topoisomerase가 각각 무엇을 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이중나선을 풀면 그 앞쪽이 더 단단히 꼬인다. 양 끝이 고정된 구조에서는 꼬임이 달아날 곳이 없어 복제분기점이 초당 수백 회전해야 하는데 염색체 전체가 그렇게 돌 수 없다. I형 topoisomerase는 한 가닥만 끊어 그 자리에서 회전이 일어나게 한 뒤 다시 이으며 ATP를 쓰지 않는다. II형은 두 가닥을 모두 끊고 다른 이중나선을 통과시킨 뒤 이으며 ATP를 쓴다. II형은 꼬임을 풀 뿐 아니라 얽힌 두 고리를 분리할 수 있어 복제가 끝난 환상 염색체를 떼어 내는 데 필수적이다.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Topoisomerase 억제제가 효소를 단순히 멈추는 것보다 치명적인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약물들은 효소의 활성을 없애는 것이 아니라 DNA가 끊어진 중간 상태의 복합체를 안정화시킨다. 효소가 끊은 뒤 다시 잇지 못하게 붙들어 두는 것이므로, 결과적으로 복구되지 않은 가닥 절단이 세포 안에 쌓인다. 단순히 효소가 일하지 않는 것보다 훨씬 치명적이며, 특히 II형 억제제는 이중가닥 절단을 남겨 세포 사멸을 유도한다. Fluoroquinolone이 강력한 항균제이고 etoposide와 irinotecan이 항암제로 쓰이는 이유가 여기에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대부분의 체세포에서 telomerase가 꺼져 있는 것이 왜 의도된 장치로 해석되는지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Telomerase가 있으면 말단이 짧아지는 문제를 고칠 수 있는데도 대부분의 체세포는 이 효소를 발현하지 않는다. 고칠 수 있는데 고치지 않는다는 것은 짧아지는 것 자체에 기능이 있을 가능성을 시사한다. 분열이 거듭되어 telomere가 임계 길이 아래로 내려가면 세포가 이를 DNA 손상으로 인식해 분열을 멈추므로, 손상이 축적된 세포가 무한히 증식하지 못하게 막는 종양 억제 장치로 작동한다. 생식세포와 줄기세포에서는 telomerase가 켜져 있어야 하고, 암세포의 약 90%가 이 효소를 다시 켜는 것이 이 해석을 뒷받침한다.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전사체의 양과 단백질의 양이 비례하지 않는 이유를 조절 단계의 관점에서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단백질의 양은 하나의 결정이 아니라 여러 단계의 곱으로 정해진다. 전사량이 정해진 뒤에도 가공과 핵 밖 수송, 전사체의 수명, 번역 개시의 빈도, 단백질의 분해 속도가 모두 독립적으로 조절된다. 따라서 같은 양의 mRNA가 있어도 번역 효율이 낮거나 단백질이 빨리 분해되면 실제 단백질 양은 적다. 전사체 분석의 결과를 단백질 양으로 바로 읽으면 안 되는 이유이며, 측정한 것과 알고 싶은 것을 구분해야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세균에서 전사와 번역이 동시에 일어난다는 사실이 조절에서 어떤 결과를 낳는지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세균은 핵막이 없어 전사 중인 mRNA에 ribosome이 이미 붙어 번역을 시작한다. 그 결과 번역의 진행 상황이 전사에 되먹임할 수 있고, 선도 서열의 번역 속도가 그 뒤의 전사 지속 여부를 정하는 attenuation 같은 조절이 성립한다. 진핵세포에서는 전사가 핵에서 번역이 세포질에서 일어나 두 과정이 공간적으로 분리되므로 그런 직접 결합이 불가능하다. 대신 가공과 핵 밖 수송이라는 새로운 조절 지점이 생겼다.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Acyclovir의 선택독성이 다른 항바이러스제와 어떻게 다른지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대부분의 항바이러스제는 바이러스 효소와 사람 효소의 구조 차이, 즉 표적의 차이에서 선택독성을 얻는다. Acyclovir는 활성화의 차이에서 얻는다. 투여된 약물은 비활성 전구체이고, herpes 바이러스가 가진 thymidine kinase가 첫 인산화를 해야 활성형이 된다. 감염되지 않은 세포에는 이 효소가 없으므로 약이 아예 켜지지 않는다. 활성화된 뒤에는 바이러스 DNA polymerase가 이를 더 잘 받아들여 사슬 종결을 일으키므로, 선택성이 두 단계에서 겹쳐 확보된다.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세균 ribosome을 겨냥한 항생제가 사람에게 부작용을 내는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미토콘드리아는 세균에서 유래했으므로 70S에 가까운 자체 ribosome을 가지고 자체 단백질을 만든다. 따라서 세균의 70S ribosome을 표적으로 하는 항생제가 사람의 세포질 번역에는 영향을 주지 않으면서도 미토콘드리아의 번역은 일부 억제한다. Chloramphenicol의 골수 억제, linezolid를 오래 썼을 때의 혈구 감소와 시신경병, 젖산산증이 이 기전으로 설명된다. 진화적 기원이 선택독성의 빈틈이자 부작용의 원인이 되는 사례다.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HIV 치료에서 작용 지점이 다른 약물을 여러 개 묶어 쓰는 이유를 복제의 정확도와 연결해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HIV의 역전사효소는 교정 기능이 없어 변이율이 매우 높다. 따라서 단일 약물을 쓰면 그 약에 대한 내성 변이를 가진 바이러스가 집단 안에 이미 존재하거나 금방 생겨 빠르게 선택된다. 작용 지점이 서로 다른 약을 세 가지 이상 동시에 쓰면 한 바이러스가 모든 지점에 대한 내성 변이를 동시에 가져야 살아남을 수 있는데, 각 변이의 확률을 곱하면 그 확률이 극히 낮아진다. 복제의 정확도라는 분자생물학의 주제가 치료 전략을 직접 정한 사례다.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4, Fundamentals of Molecular Biology.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5, DNA Replication and Repair; Chapter 6, How Cells Read the Genome.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Avery OT, MacLeod CM, McCarty M. Studies on the chemical nature of the substance inducing transformation of pneumococcal types. J Exp Med 1944;79:137–158.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Hershey AD, Chase M. Independent functions of viral protein and nucleic acid in growth of bacteriophage. J Gen Physiol 1952;36:39–56.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Meselson M, Stahl FW. The replication of DNA in Escherichia coli. Proc Natl Acad Sci USA 1958;44:671–682.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Crick FHC. Molecular structure of nucleic acids: a structure for deoxyribose nucleic acid. Nature 1953;171:737–738.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Nirenberg M, Leder P. RNA codewords and protein synthesis. Science 1964;145:1399–1407.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Farrar MA, Kiernan MC. The genetics of spinal muscular atrophy: progress and challenges. Neurotherapeutics 2015;12:290–302.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