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관찰 대상의 크기와 각 현미경 기법의 분해능. 분자(1 nm), ribosome(25 nm), 미토콘드리아(1 μm), 세포(10 μm)의 축척 위에 광학 한계 0.2 μm와 Abbe 식의 변수를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차등 원심분리와 밀도구배 원심분리. 회전 속도를 올려가며 핵, 미토콘드리아, microsome을 차례로 얻는 과정과, 밀도구배에서 속도 침강과 평형 침강이 분리하는 기준의 차이를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불가능하다. 광학 현미경의 분해능은 Abbe의 식 d = 0.61λ/(n sin α)로 정해지며, 가시광선(λ ≈ 500 nm)과 기름 침지 대물렌즈(NA ≈ 1.4)를 써도 약 0.2 μm, 즉 200 nm가 한계다. Ribosome의 25 nm는 이보다 8배 작으므로 배율을 올려도 상이 흐려질 뿐 두 점으로 구분되지 않는다(empty magnification). 분해능은 빛의 파장이 정하므로 파장이 약 0.004 nm인 전자를 쓰는 전자 현미경이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 측면에서, 미토콘드리아는 이중막이고 내막의 지질 조성이 세균 막에 가깝다. 이는 숙주 세포가 세균을 삼킬 때 외막은 숙주 유래, 내막은 세균 유래로 남은 결과로 설명된다. 유전체 측면에서, 미토콘드리아는 자신의 환상 DNA와 70S에 가까운 ribosome을 가지며 rRNA 서열이 α-proteobacteria와 가장 가깝다. 생화학 측면에서, 세균 ribosome을 겨냥하는 chloramphenicol이 미토콘드리아 단백질 합성을 억제하지만 세포질 번역은 억제하지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Acid phosphatase는 lysosome의 표지 효소이고 succinate dehydrogenase는 미토콘드리아의 표지 효소다. 두 활성이 같은 분획에 있다는 것은 두 소기관이 분리되지 않고 섞였다는 뜻이다. 차등 원심분리는 침강 속도, 즉 주로 크기에 따라 분리하는데 lysosome(0.2~0.5 μm)과 미토콘드리아(0.5~1 μm)는 침강 속도가 비슷하기 때문이다. 개선 방법은 밀도구배 평형 침강이다. 두 소기관의 밀도가 다르므로 sucrose나 Percoll 구배에서 오래 원심분리하면 각각 자신의 밀도와 같은 위치에 멈춰 분리된다.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자연선택이 시작되려면 하나의 분자가 정보 복제와 촉매를 동시에 할 수 있어야 한다. 단백질은 촉매 능력이 뛰어나지만 자신의 아미노산 서열을 주형으로 복제할 수단이 없으므로 변이가 후대로 전달되지 않는다. DNA는 상보적 염기쌍으로 복제되지만 촉매 활성이 거의 없어 복제를 수행할 효소가 이미 있어야 한다. RNA는 염기쌍 상보성으로 정보를 복제할 수 있고 접혀서 ribozyme으로 촉매도 하므로 두 요건을 동시에 만족한다. 현존 세포에 남은 흔적도 이를 지지한다. Ribosome의 peptidyl transferase 활성과 spliceosome의 촉매 부위가 RNA이고, 주요 보조인자가 nucleotide 구조를 갖는다.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Cyanobacteria가 물을 전자공여체로 쓰는 광합성을 획득하면서 부산물 O₂가 대기에 축적되었다. O₂는 전자친화도가 높아 좋은 최종 전자수용체가 되므로, 유기물을 CO₂까지 완전히 산화하는 oxidative phosphorylation이 가능해졌다. 발효는 포도당 1분자에서 ATP 2분자를 얻는 반면 산소를 쓰는 완전 산화는 약 30분자를 얻어 약 15배 차이가 난다. 이 에너지 수확의 증가가 eukaryotic 세포의 큰 부피와 많은 소기관, 이어 다세포 생물의 유지 비용을 감당할 수 있게 했다. 반면 반응성이 큰 O₂는 기존 혐기성 생물에게 독성으로 작용해 서식지를 제한했다.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1차 배양 세포는 약 50~60회 분열한 뒤 replicative senescence로 증식을 멈추므로 장기 실험과 반복 실험에 쓰기 어렵다. 세포주는 변이로 이 한계를 넘어 무한히 증식하므로 균일한 세포를 계속 공급할 수 있고 유전자 조작도 쉽다. 그러나 세포주는 무한 증식을 가능하게 한 변이를 이미 갖고 있어 원래 조직의 유전체와 발현 양상에서 벗어나 있으며, 조직 특이적 기능을 잃는 경우가 많다. 또한 배양 접시의 2차원 환경에는 조직의 세포외기질과 이웃 세포 신호가 없다. 따라서 세포주에서 얻은 결론은 1차 배양 세포, 3차원 배양 또는 동물 모델에서 재확인해야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위쪽 한계는 두 가지다. 세포가 커지면 부피는 반지름의 세제곱으로 늘지만 표면적은 제곱으로만 늘어, 대사 요구를 정하는 부피가 물질 교환 능력을 정하는 표면적을 앞지른다. 또 확산 시간이 거리의 제곱에 비례하므로 커질수록 세포 안에서 물질이 제때 도달하지 못한다. 아래쪽 한계는 담아야 할 것의 부피다. 유전체 한 벌과 전사·번역 기구, 대사 효소를 담으려면 최소한의 공간이 필요하며, 가장 작은 자유 생활 세균이 약 0.2 μm인 것이 그 한계에 가깝다.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난자는 지름이 100 μm를 넘지만 대사가 느리고 영양을 미리 저장해 두는 구조여서 지속적인 교환 요구가 작다. 또 수정 후 난할에서는 자라지 않고 분열만 하므로 빠르게 정상 크기의 세포들로 나뉜다. 축삭은 1 m를 넘기도 하지만 매우 가늘어 표면적 대 부피 비가 오히려 크므로 교환은 문제가 되지 않는다. 대신 확산으로는 물질이 끝까지 닿을 수 없으므로 세포골격을 따라 능동적으로 운반하는 축삭 수송 체계를 갖추었다. 두 경우 모두 제약을 없앤 것이 아니라 다른 방식으로 해결한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양립할 수 없는 화학을 분리한다. Lysosome의 가수분해 효소는 산성에서만 활성이 높아 세포질로 새어도 피해가 제한된다. 둘째, 같은 수의 분자를 좁은 공간에 모아 농도를 올려 반응 속도를 높인다. 셋째, 막이 있어야 양쪽의 농도 차이를 유지할 수 있고 미토콘드리아의 양성자 기울기 같은 동력이 성립한다. 넷째, 막을 안으로 접어 넣어 세포 크기를 키우지 않고 반응이 일어나는 막 면적을 늘린다. 대가는 수송 체계의 필요다. 단백질을 올바른 구획으로 보내는 표적화 기구, 소포의 형성과 융합, 선택적 통로와 펌프가 모두 구획화의 비용이다.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핵소체, 스트레스 과립, P 소체 같은 구조는 막이 없는데도 주변과 다른 조성을 유지한다. 특정 단백질과 RNA가 서로 약하게 여러 지점에서 결합하며 액체–액체 상분리로 방울을 이루는 것으로 설명되며, 물에 기름방울이 뜨는 것과 비슷한 원리다. 막이 없으므로 조성이 빠르게 바뀌고 신호에 따라 생겼다 사라진다. 임상적 관심은 신경퇴행성 질환의 단백질 응집과 연결될 가능성에 있다. 상분리로 생긴 방울이 시간이 지나며 굳어 비가역적 섬유로 전환된다는 모형이 제안되었고, 맞다면 응집 자체가 아니라 방울의 물성 변화를 표적으로 하는 치료가 가능해진다.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없애 보는 기능 상실 실험, 넣어 보는 기능 획득 실험, 없앤 뒤 다시 넣는 구제 실험이다. 없앴을 때 현상이 사라지면 그것이 필요하다는 뜻이고, 넣었을 때 현상이 나타나면 그것으로 충분하다는 뜻이다. 두 주장은 별개이며 하나를 보이고 다른 쪽까지 주장하는 데서 혼란이 생긴다. 구제 실험이 가장 강력한 이유는 없앤 조작 자체의 부작용 때문이 아니라는 것을 함께 보이기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과발현에서는 평소 농도보다 훨씬 많은 단백질이 만들어져 정상적으로는 일어나지 않을 상호작용이 생길 수 있으므로, 관찰된 효과를 바로 생리적 기능이라고 단정할 수 없다. 저해제는 고농도에서 다른 표적도 억제하는 경우가 많으므로 하나의 저해제 결과만으로 특정 단백질의 기능을 결론지을 수 없고, 작용점이 다른 수단으로 재현해야 한다. 유전자를 제거했는데 표현형이 없는 경우는 그 유전자가 불필요하다는 뜻이 아니라 다른 유전자가 기능을 대신했을 수 있다는 뜻이며, 조건부 제거나 급성 분해처럼 시간을 짧게 두는 방법으로 보상을 피한다.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광학 현미경의 분해능은 약 0.2 μm인데, 이 크기의 공간 안에는 수백 개의 단백질 분자가 들어간다. 따라서 두 신호가 같은 화소에 겹쳐 보인다는 것은 두 분자가 같은 영역 안에 있다는 뜻일 뿐 서로 접촉하고 있다는 뜻이 아니다. 결합을 주장하려면 면역침강으로 함께 끌려 나오는지 보거나, 매우 가까운 거리에서만 일어나는 에너지 전달을 측정하거나, 구조 분석으로 접촉면을 보이는 등 다른 종류의 증거가 필요하다. 같은 종류의 관찰을 반복하는 것은 다른 종류의 증거를 대신하지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리보솜 RNA 서열을 비교해 나눈 체계이며, 형태가 아니라 분자 서열로 분류한 첫 사례다. 눈으로는 구별되지 않던 집단이 이 방법으로 갈라졌다. 고세균이 중요한 이유는 겉보기에는 세균과 비슷하지만 세포벽과 막지질의 조성이 다르고, 전사와 번역 기구는 오히려 진핵생물과 닮았기 때문이다. RNA polymerase의 구조와 히스톤 유사 단백질의 존재, 번역 개시 방식이 그렇다. 이 때문에 진핵생물이 고세균 계통에서 갈라져 나왔고 그 위에 α-proteobacteria와의 공생이 더해졌다는 설명이 유력하다.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계통수는 어떤 서열을 선택했는지와 어떤 진화 모형으로 계산했는지에 따라 가지의 배치가 달라지는 추론의 결과물이다. 미생물에서 특히 주의할 점은 수평 유전자 전달이 흔하다는 것이다. 유전자가 종의 경계를 넘어 옮겨 다니므로 유전자마다 서로 다른 계통수가 나올 수 있고, 하나의 나무로 모든 유전자의 역사를 설명할 수 없다. 항생제 내성 유전자가 종을 건너 빠르게 퍼지는 현상이 같은 기전의 임상적 표현이다.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세포질의 거대분자 농도는 300~400 g/L로 전체 부피의 20~30%를 거대분자가 차지하는 반면, 시험관 실험은 훨씬 묽은 용액에서 이루어진다. 혼잡한 환경에서는 자유롭게 움직일 공간이 줄어 확산이 느려지고, 다른 분자가 차지한 부피를 피해야 하므로 부피를 적게 차지하는 상태, 즉 결합한 상태와 접힌 상태가 상대적으로 유리해진다. 따라서 시험관에서 측정한 결합 상수와 접힘 속도가 세포 안의 실제 값과 다를 수 있으며, 생체 조건에서의 검증이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안은 K⁺가 높고 Na⁺, Ca²⁺, Cl⁻가 낮으며 바깥은 반대다. 특히 Ca²⁺은 세포 안 농도가 바깥의 1만 분의 1 수준이다. 이 분포는 평형이 아니므로 유지하는 데 지속적으로 에너지가 들며, Na⁺/K⁺-ATPase가 세포 전체 ATP 소비의 상당 부분을 쓴다. 살아 있다는 것이 비평형 상태를 유지하는 일이라는 뜻이다. 세포가 죽으면 이 기울기가 즉시 무너지고, Ca²⁺이 쏟아져 들어와 분해 효소를 활성화하며 삼투에 의한 세포 부종이 뒤따른다. 극단적인 Ca²⁺ 기울기 덕분에 통로가 잠깐 열리는 것만으로 농도가 급변해 신호가 될 수 있다는 점도 함께 따라 나온다.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세포의 기원·진화와 세포 연구 방법</a:t>
            </a:r>
          </a:p>
          <a:p>
            <a:r>
              <a:rPr sz="1500" b="0" i="0">
                <a:solidFill>
                  <a:srgbClr val="B9D2E8"/>
                </a:solidFill>
                <a:latin typeface="Malgun Gothic"/>
                <a:ea typeface="Malgun Gothic"/>
                <a:cs typeface="Malgun Gothic"/>
              </a:rPr>
              <a:t>The Origin and Evolution of Cells, and Methods of Cell Study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M01-W05-L01  ·  2부</a:t>
            </a:r>
          </a:p>
          <a:p>
            <a:r>
              <a:rPr sz="1100" b="0" i="0">
                <a:solidFill>
                  <a:srgbClr val="F2B705"/>
                </a:solidFill>
                <a:latin typeface="Malgun Gothic"/>
                <a:ea typeface="Malgun Gothic"/>
                <a:cs typeface="Malgun Gothic"/>
              </a:rPr>
              <a:t>전체 14절 가운데 5절</a:t>
            </a:r>
          </a:p>
          <a:p>
            <a:r>
              <a:rPr sz="1100" b="0" i="0">
                <a:solidFill>
                  <a:srgbClr val="9FBEDA"/>
                </a:solidFill>
                <a:latin typeface="Malgun Gothic"/>
                <a:ea typeface="Malgun Gothic"/>
                <a:cs typeface="Malgun Gothic"/>
              </a:rPr>
              <a:t>5주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세포 이론의 내용과 모든 세포가 공유하는 네 가지 공통 속성을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화학적 진화에서 최초의 자기복제 체계가 등장하는 과정을 RNA world 가설로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Prokaryotic 세포와 eukaryotic 세포를 크기, 구획화, 유전체 구성, 세포골격 측면에서 비교한다.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Eukaryotic 세포소기관의 기능을 분비 경로와 에너지 대사 중심으로 정리하고 endosymbiosis 가설의 근거를 든다.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광학·형광·전자 현미경의 분해능을 결정하는 요인을 계산식으로 설명하고 관찰 대상에 맞는 기법을 고른다.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세포배양과 원심분리를 이용한 세포분획의 원리를 설명하고 각 분획에 어떤 소기관이 들어오는지 예측한다.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M01-W01~W04 인체 기관계 개요 — 조직과 기관이 세포로 이루어져 있다는 사실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고등학교 수준의 화학 — 공유결합, 산-염기, 농도와 용액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10. 실험 모델 생물의 선택</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11. 현미경: 분해능의 한계와 관찰 기법</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12. 세포배양과 원심분리를 이용한 세포분획</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13. 기능을 묻는 실험은 어떻게 설계되는가</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14.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실험 모델 생물의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세포생물학의 발견은 대부분 사람이 아닌 생물에서 나왔다. 모델 생물을 쓰는 이유는 세포의 기본 기구가 보존되어 있어 </a:t>
            </a:r>
            <a:r>
              <a:rPr sz="2000" b="1" i="0">
                <a:solidFill>
                  <a:srgbClr val="11202B"/>
                </a:solidFill>
                <a:latin typeface="Malgun Gothic"/>
                <a:ea typeface="Malgun Gothic"/>
                <a:cs typeface="Malgun Gothic"/>
              </a:rPr>
              <a:t>한 생물에서 얻은 결론이 다른 생물로 옮겨지기</a:t>
            </a:r>
            <a:r>
              <a:rPr sz="2000" b="0" i="0">
                <a:solidFill>
                  <a:srgbClr val="11202B"/>
                </a:solidFill>
                <a:latin typeface="Malgun Gothic"/>
                <a:ea typeface="Malgun Gothic"/>
                <a:cs typeface="Malgun Gothic"/>
              </a:rPr>
              <a:t> 때문이다. Cyclin과 cyclin-dependent kinase는 효모와 불성게에서 발견되었고 사람의 세포주기 조절에 그대로 적용되었다.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실험 모델 생물의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모델 생물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세대 시간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기여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Escherichia coli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유전체 4.6 Mb, 4,300 유전자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20분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 복제, 전사, 번역, 유전자 조절의 기본 기구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Saccharomyces cerevisiae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가장 단순한 eukaryote, 12 Mb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2시간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세포주기, 분비 경로, 전사 조절</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Caenorhabditis elegans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성체 체세포 959개, 계보가 전부 확정됨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programmed cell death, 발생 계보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Drosophila melanogaster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유전학 도구가 풍부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체축 형성, 신호전달 경로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Danio rerio(zebrafish)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배아가 투명하고 체외 발생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3개월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척추동물 기관 형성의 실시간 관찰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Mus musculus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포유류, 유전자 조작 가능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2개월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면역, 질환 모델, 유전자 기능 검증</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Arabidopsis thaliana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작은 식물 유전체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2개월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식물 발생, 호르몬 신호</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실험 모델 생물의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선택 기준은 질문에 따라 다르다. 보존된 기본 기구를 보려면 세대 시간이 짧고 유전학이 쉬운 생물을, 기관 수준의 통합을 보려면 사람과 가까운 생물을 쓴다. 사람 세포가 꼭 필요한 질문에는 배양 세포와 사람 유도만능줄기세포(induced pluripotent stem cell)를 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실험 모델 생물의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원핵세포와 진핵세포를 가르는 기준을 </a:t>
            </a:r>
            <a:r>
              <a:rPr sz="1600" b="1" i="0">
                <a:solidFill>
                  <a:srgbClr val="11202B"/>
                </a:solidFill>
                <a:latin typeface="Malgun Gothic"/>
                <a:ea typeface="Malgun Gothic"/>
                <a:cs typeface="Malgun Gothic"/>
              </a:rPr>
              <a:t>핵막의 유무</a:t>
            </a:r>
            <a:r>
              <a:rPr sz="1600" b="0" i="0">
                <a:solidFill>
                  <a:srgbClr val="11202B"/>
                </a:solidFill>
                <a:latin typeface="Malgun Gothic"/>
                <a:ea typeface="Malgun Gothic"/>
                <a:cs typeface="Malgun Gothic"/>
              </a:rPr>
              <a:t> 하나로만 기억하면 여러 문제를 놓친다. 함께 갈리는 것들이 있다. 원핵세포는 </a:t>
            </a:r>
            <a:r>
              <a:rPr sz="1600" b="1" i="0">
                <a:solidFill>
                  <a:srgbClr val="11202B"/>
                </a:solidFill>
                <a:latin typeface="Malgun Gothic"/>
                <a:ea typeface="Malgun Gothic"/>
                <a:cs typeface="Malgun Gothic"/>
              </a:rPr>
              <a:t>전사와 번역이 같은 공간에서 동시에</a:t>
            </a:r>
            <a:r>
              <a:rPr sz="1600" b="0" i="0">
                <a:solidFill>
                  <a:srgbClr val="11202B"/>
                </a:solidFill>
                <a:latin typeface="Malgun Gothic"/>
                <a:ea typeface="Malgun Gothic"/>
                <a:cs typeface="Malgun Gothic"/>
              </a:rPr>
              <a:t> 일어나지만 진핵세포는 핵막으로 분리되어 있어 가공과 수송 단계가 끼어든다(M01-W05-L03). Ribosome의 크기가 70S와 80S로 달라 </a:t>
            </a:r>
            <a:r>
              <a:rPr sz="1600" b="1" i="0">
                <a:solidFill>
                  <a:srgbClr val="11202B"/>
                </a:solidFill>
                <a:latin typeface="Malgun Gothic"/>
                <a:ea typeface="Malgun Gothic"/>
                <a:cs typeface="Malgun Gothic"/>
              </a:rPr>
              <a:t>세균 ribosome만 겨냥하는 항생제</a:t>
            </a:r>
            <a:r>
              <a:rPr sz="1600" b="0" i="0">
                <a:solidFill>
                  <a:srgbClr val="11202B"/>
                </a:solidFill>
                <a:latin typeface="Malgun Gothic"/>
                <a:ea typeface="Malgun Gothic"/>
                <a:cs typeface="Malgun Gothic"/>
              </a:rPr>
              <a:t>가 성립한다. 원핵세포에는 막성 소기관과 세포골격이 거의 없고(최근 유사 구조가 보고되었다), 유전체가 환상이며 히스톤 대신 다른 단백질로 응축한다. 다만 </a:t>
            </a:r>
            <a:r>
              <a:rPr sz="1600" b="1" i="0">
                <a:solidFill>
                  <a:srgbClr val="11202B"/>
                </a:solidFill>
                <a:latin typeface="Malgun Gothic"/>
                <a:ea typeface="Malgun Gothic"/>
                <a:cs typeface="Malgun Gothic"/>
              </a:rPr>
              <a:t>세포벽의 유무로 가르면 안 된다.</a:t>
            </a:r>
            <a:r>
              <a:rPr sz="1600" b="0" i="0">
                <a:solidFill>
                  <a:srgbClr val="11202B"/>
                </a:solidFill>
                <a:latin typeface="Malgun Gothic"/>
                <a:ea typeface="Malgun Gothic"/>
                <a:cs typeface="Malgun Gothic"/>
              </a:rPr>
              <a:t> 식물과 균류도 세포벽을 가지며 성분이 서로 다르다. 세균의 peptidoglycan을 표적으로 하는 항생제가 사람에게 안전한 것은 사람이 세포벽을 갖지 않기 때문이지 세포벽이 원핵의 표지여서가 아니다.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현미경: 분해능의 한계와 관찰 기법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세포는 눈으로 보이지 않으므로 세포생물학은 현미경과 함께 발전했다. 핵심 개념은 배율이 아니라 </a:t>
            </a:r>
            <a:r>
              <a:rPr sz="1600" b="1" i="0">
                <a:solidFill>
                  <a:srgbClr val="11202B"/>
                </a:solidFill>
                <a:latin typeface="Malgun Gothic"/>
                <a:ea typeface="Malgun Gothic"/>
                <a:cs typeface="Malgun Gothic"/>
              </a:rPr>
              <a:t>분해능(resolution)</a:t>
            </a:r>
            <a:r>
              <a:rPr sz="1600" b="0" i="0">
                <a:solidFill>
                  <a:srgbClr val="11202B"/>
                </a:solidFill>
                <a:latin typeface="Malgun Gothic"/>
                <a:ea typeface="Malgun Gothic"/>
                <a:cs typeface="Malgun Gothic"/>
              </a:rPr>
              <a:t>, 즉 두 점을 서로 다른 두 점으로 구분할 수 있는 최소 거리다. Abbe의 식으로 정해진다.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d = 0.61 λ / (n sin α)</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λ는 쓰는 빛의 파장, n은 시료와 렌즈 사이 매질의 굴절률, α는 렌즈가 빛을 받아들이는 반각이다. n sin α를 </a:t>
            </a:r>
            <a:r>
              <a:rPr sz="1600" b="1" i="0">
                <a:solidFill>
                  <a:srgbClr val="11202B"/>
                </a:solidFill>
                <a:latin typeface="Malgun Gothic"/>
                <a:ea typeface="Malgun Gothic"/>
                <a:cs typeface="Malgun Gothic"/>
              </a:rPr>
              <a:t>수치구경(numerical aperture, NA)</a:t>
            </a:r>
            <a:r>
              <a:rPr sz="1600" b="0" i="0">
                <a:solidFill>
                  <a:srgbClr val="11202B"/>
                </a:solidFill>
                <a:latin typeface="Malgun Gothic"/>
                <a:ea typeface="Malgun Gothic"/>
                <a:cs typeface="Malgun Gothic"/>
              </a:rPr>
              <a:t>이라 한다. 가시광선(λ ≈ 500 nm)과 기름 침지 대물렌즈(NA ≈ 1.4)를 쓰면 d는 약 0.2 μm다. 배율을 아무리 올려도 이보다 가까운 두 점은 하나로 보인다. 빛의 파장이 한계를 정하기 때문이다.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전자는 파장이 훨씬 짧다. 100 kV로 가속한 전자의 파장은 약 0.004 nm이고, 렌즈 수차 때문에 실제 분해능은 생물 시료에서 약 1~2 nm에 머문다. 그래도 광학 현미경보다 100배 이상 좋다.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현미경: 분해능의 한계와 관찰 기법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기법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분해능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살아 있는 세포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용도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명시야(bright-field)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0.2 μm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염색한 조직, 세포 형태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위상차(phase-contrast), 미분간섭(DIC)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 μm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염색 없이 살아 있는 세포 관찰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형광(fluorescence)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0.2 μm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특정 분자의 위치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공초점(confocal)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측방 0.2 μm, 축방 0.5 μm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두꺼운 시료의 광학적 절단면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초고분해능(STED, PALM/STORM)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10~50 nm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제한적으로 가능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 복합체 배치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투과전자(TEM)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1~2 nm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불가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소기관 내부 구조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주사전자(SEM)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10 nm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표면 입체 형태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Cryo-electron microscopy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0.2~0.4 nm</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불가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단백질 복합체의 원자 수준 구조</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현미경: 분해능의 한계와 관찰 기법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형광 현미경</a:t>
            </a:r>
            <a:r>
              <a:rPr sz="1400" b="0" i="0">
                <a:solidFill>
                  <a:srgbClr val="11202B"/>
                </a:solidFill>
                <a:latin typeface="Malgun Gothic"/>
                <a:ea typeface="Malgun Gothic"/>
                <a:cs typeface="Malgun Gothic"/>
              </a:rPr>
              <a:t>이 현대 세포생물학의 중심 도구다. 형광 분자는 특정 파장의 빛을 흡수하고 더 긴 파장의 빛을 내므로, 여기 광과 방출 광을 필터로 분리하면 표지된 분자만 밝게 보인다. 표지 방법은 두 가지다. 항체에 형광색소를 붙여 고정한 세포를 염색하는 </a:t>
            </a:r>
            <a:r>
              <a:rPr sz="1400" b="1" i="0">
                <a:solidFill>
                  <a:srgbClr val="11202B"/>
                </a:solidFill>
                <a:latin typeface="Malgun Gothic"/>
                <a:ea typeface="Malgun Gothic"/>
                <a:cs typeface="Malgun Gothic"/>
              </a:rPr>
              <a:t>immunofluorescence</a:t>
            </a:r>
            <a:r>
              <a:rPr sz="1400" b="0" i="0">
                <a:solidFill>
                  <a:srgbClr val="11202B"/>
                </a:solidFill>
                <a:latin typeface="Malgun Gothic"/>
                <a:ea typeface="Malgun Gothic"/>
                <a:cs typeface="Malgun Gothic"/>
              </a:rPr>
              <a:t>, 그리고 관심 단백질의 유전자에 </a:t>
            </a:r>
            <a:r>
              <a:rPr sz="1400" b="1" i="0">
                <a:solidFill>
                  <a:srgbClr val="11202B"/>
                </a:solidFill>
                <a:latin typeface="Malgun Gothic"/>
                <a:ea typeface="Malgun Gothic"/>
                <a:cs typeface="Malgun Gothic"/>
              </a:rPr>
              <a:t>green fluorescent protein(GFP)</a:t>
            </a:r>
            <a:r>
              <a:rPr sz="1400" b="0" i="0">
                <a:solidFill>
                  <a:srgbClr val="11202B"/>
                </a:solidFill>
                <a:latin typeface="Malgun Gothic"/>
                <a:ea typeface="Malgun Gothic"/>
                <a:cs typeface="Malgun Gothic"/>
              </a:rPr>
              <a:t> 서열을 이어 붙여 세포가 형광 단백질을 직접 만들게 하는 방법이다. 후자는 살아 있는 세포에서 단백질의 이동을 실시간으로 추적할 수 있게 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 표지 방법도 널리 쓰인다. 작은 태그 서열을 붙여 두고 그 태그에 결합하는 형광 분자를 나중에 넣는 방식이다. 형광 단백질보다 크기가 작아 표적 단백질의 기능을 덜 방해하고, 원하는 시점에만 표지할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전자 현미경</a:t>
            </a:r>
            <a:r>
              <a:rPr sz="1400" b="0" i="0">
                <a:solidFill>
                  <a:srgbClr val="11202B"/>
                </a:solidFill>
                <a:latin typeface="Malgun Gothic"/>
                <a:ea typeface="Malgun Gothic"/>
                <a:cs typeface="Malgun Gothic"/>
              </a:rPr>
              <a:t>은 진공에서 작동하므로 시료를 고정·탈수해야 하고 따라서 살아 있는 세포를 볼 수 없다. TEM은 약 50~100 nm 두께의 절편을 전자가 통과하게 하고 중금속(osmium, uranium)으로 대조를 만든다. Cryo-EM은 시료를 급속 냉동해 유리질 얼음에 가두므로 화학 고정과 염색에서 오는 변형을 피하고, 수천 장의 입자 영상을 계산으로 평균해 원자 수준 구조를 얻는다.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현미경: 분해능의 한계와 관찰 기법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12</a:t>
            </a:r>
          </a:p>
        </p:txBody>
      </p:sp>
      <p:pic>
        <p:nvPicPr>
          <p:cNvPr id="7" name="Picture 6" descr="fig-microscopy.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관찰 대상의 크기와 각 현미경 기법의 분해능. 분자(1 nm), ribosome(25 nm), 미토콘드리아(1 μm), 세포(10 μm)의 축척 위에 광학 한계 0.2 μm와 Abbe 식의 변수를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세포배양과 원심분리를 이용한 세포분획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구조를 보는 것만으로는 기능을 알 수 없다. 기능을 알려면 세포를 다룰 수 있어야 하고, 성분을 분리해 시험관에서 반응을 재현할 수 있어야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세포배양(cell culture)</a:t>
            </a:r>
            <a:r>
              <a:rPr sz="1400" b="0" i="0">
                <a:solidFill>
                  <a:srgbClr val="11202B"/>
                </a:solidFill>
                <a:latin typeface="Malgun Gothic"/>
                <a:ea typeface="Malgun Gothic"/>
                <a:cs typeface="Malgun Gothic"/>
              </a:rPr>
              <a:t> 동물 세포는 혈청, 아미노산, 비타민, 포도당, 완충액을 넣은 배지에서 37°C, 5% CO₂ 조건으로 기른다. 조직에서 바로 떼어낸 </a:t>
            </a:r>
            <a:r>
              <a:rPr sz="1400" b="1" i="0">
                <a:solidFill>
                  <a:srgbClr val="11202B"/>
                </a:solidFill>
                <a:latin typeface="Malgun Gothic"/>
                <a:ea typeface="Malgun Gothic"/>
                <a:cs typeface="Malgun Gothic"/>
              </a:rPr>
              <a:t>1차 배양 세포</a:t>
            </a:r>
            <a:r>
              <a:rPr sz="1400" b="0" i="0">
                <a:solidFill>
                  <a:srgbClr val="11202B"/>
                </a:solidFill>
                <a:latin typeface="Malgun Gothic"/>
                <a:ea typeface="Malgun Gothic"/>
                <a:cs typeface="Malgun Gothic"/>
              </a:rPr>
              <a:t>는 분열 횟수에 한계가 있어 약 50~60회 분열한 뒤 멈춘다(replicative senescence). 변이로 이 한계를 넘어 무한히 자라게 된 세포 집단을 </a:t>
            </a:r>
            <a:r>
              <a:rPr sz="1400" b="1" i="0">
                <a:solidFill>
                  <a:srgbClr val="11202B"/>
                </a:solidFill>
                <a:latin typeface="Malgun Gothic"/>
                <a:ea typeface="Malgun Gothic"/>
                <a:cs typeface="Malgun Gothic"/>
              </a:rPr>
              <a:t>세포주(cell line)</a:t>
            </a:r>
            <a:r>
              <a:rPr sz="1400" b="0" i="0">
                <a:solidFill>
                  <a:srgbClr val="11202B"/>
                </a:solidFill>
                <a:latin typeface="Malgun Gothic"/>
                <a:ea typeface="Malgun Gothic"/>
                <a:cs typeface="Malgun Gothic"/>
              </a:rPr>
              <a:t>라 한다. HeLa, HEK293, CHO가 널리 쓰인다. 세포주는 다루기 쉬운 대신 원래 조직의 성질을 일부 잃는다.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세포주를 쓸 때 반드시 확인할 것이 두 가지 있다. 하나는 </a:t>
            </a:r>
            <a:r>
              <a:rPr sz="1400" b="1" i="0">
                <a:solidFill>
                  <a:srgbClr val="11202B"/>
                </a:solidFill>
                <a:latin typeface="Malgun Gothic"/>
                <a:ea typeface="Malgun Gothic"/>
                <a:cs typeface="Malgun Gothic"/>
              </a:rPr>
              <a:t>교차 오염</a:t>
            </a:r>
            <a:r>
              <a:rPr sz="1400" b="0" i="0">
                <a:solidFill>
                  <a:srgbClr val="11202B"/>
                </a:solidFill>
                <a:latin typeface="Malgun Gothic"/>
                <a:ea typeface="Malgun Gothic"/>
                <a:cs typeface="Malgun Gothic"/>
              </a:rPr>
              <a:t>이다. 널리 쓰이던 세포주 가운데 상당수가 실제로는 다른 세포주로 밝혀진 사례가 반복해서 보고되었고 그 결과 발표된 연구가 철회되기도 했다. 지금은 짧은 반복 서열로 세포주의 신원을 확인하는 절차가 권고된다. 다른 하나는 </a:t>
            </a:r>
            <a:r>
              <a:rPr sz="1400" b="1" i="0">
                <a:solidFill>
                  <a:srgbClr val="11202B"/>
                </a:solidFill>
                <a:latin typeface="Malgun Gothic"/>
                <a:ea typeface="Malgun Gothic"/>
                <a:cs typeface="Malgun Gothic"/>
              </a:rPr>
              <a:t>mycoplasma 오염</a:t>
            </a:r>
            <a:r>
              <a:rPr sz="1400" b="0" i="0">
                <a:solidFill>
                  <a:srgbClr val="11202B"/>
                </a:solidFill>
                <a:latin typeface="Malgun Gothic"/>
                <a:ea typeface="Malgun Gothic"/>
                <a:cs typeface="Malgun Gothic"/>
              </a:rPr>
              <a:t>으로, 눈에 보이지 않으면서 세포의 대사와 유전자 발현을 바꾸므로 정기적 검사가 필요하다. 재현되지 않는 세포 실험의 상당 부분이 이 두 원인에서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배양의 장점은 조건을 통제할 수 있다는 점이다. 배지에 성장인자 한 가지만 넣거나 빼서 그 인자의 효과를 분리할 수 있고, 유전자를 넣거나 꺼서 표현형 변화를 볼 수 있다. 다만 배양 접시의 2차원 환경은 조직의 3차원 환경과 다르므로, 결론을 조직으로 옮길 때는 검증이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 효소의 개념도 함께 알아야 한다. 어느 분획에 어느 소기관이 들어 있는지를 확인하려면 그 소기관에만 있는 성분을 측정한다. 미토콘드리아의 succinate dehydrogenase, lysosome의 acid phosphatase, 소포체의 glucose-6-phosphatase가 그런 </a:t>
            </a:r>
            <a:r>
              <a:rPr sz="1400" b="1" i="0">
                <a:solidFill>
                  <a:srgbClr val="11202B"/>
                </a:solidFill>
                <a:latin typeface="Malgun Gothic"/>
                <a:ea typeface="Malgun Gothic"/>
                <a:cs typeface="Malgun Gothic"/>
              </a:rPr>
              <a:t>표지 효소</a:t>
            </a:r>
            <a:r>
              <a:rPr sz="1400" b="0" i="0">
                <a:solidFill>
                  <a:srgbClr val="11202B"/>
                </a:solidFill>
                <a:latin typeface="Malgun Gothic"/>
                <a:ea typeface="Malgun Gothic"/>
                <a:cs typeface="Malgun Gothic"/>
              </a:rPr>
              <a:t>다. 분리가 잘 되었는지를 판정하는 기준이면서, 새로 분리한 분획이 무엇인지 알아내는 수단이기도 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세포분획(subcellular fractionation)</a:t>
            </a:r>
            <a:r>
              <a:rPr sz="1400" b="0" i="0">
                <a:solidFill>
                  <a:srgbClr val="11202B"/>
                </a:solidFill>
                <a:latin typeface="Malgun Gothic"/>
                <a:ea typeface="Malgun Gothic"/>
                <a:cs typeface="Malgun Gothic"/>
              </a:rPr>
              <a:t> 소기관을 분리하는 절차는 두 단계다.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파쇄(homogenization)</a:t>
            </a:r>
            <a:r>
              <a:rPr sz="1400" b="0" i="0">
                <a:solidFill>
                  <a:srgbClr val="11202B"/>
                </a:solidFill>
                <a:latin typeface="Malgun Gothic"/>
                <a:ea typeface="Malgun Gothic"/>
                <a:cs typeface="Malgun Gothic"/>
              </a:rPr>
              <a:t> 저장액에서 세포를 부풀린 뒤 Dounce homogenizer나 초음파로 세포막을 깬다. 핵과 소기관의 막은 온전하게 남겨야 하므로 세기를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원심분리(centrifugation)</a:t>
            </a:r>
            <a:r>
              <a:rPr sz="1400" b="0" i="0">
                <a:solidFill>
                  <a:srgbClr val="11202B"/>
                </a:solidFill>
                <a:latin typeface="Malgun Gothic"/>
                <a:ea typeface="Malgun Gothic"/>
                <a:cs typeface="Malgun Gothic"/>
              </a:rPr>
              <a:t> 입자가 가라앉는 속도는 </a:t>
            </a:r>
            <a:r>
              <a:rPr sz="1400" b="1" i="0">
                <a:solidFill>
                  <a:srgbClr val="11202B"/>
                </a:solidFill>
                <a:latin typeface="Malgun Gothic"/>
                <a:ea typeface="Malgun Gothic"/>
                <a:cs typeface="Malgun Gothic"/>
              </a:rPr>
              <a:t>크기, 밀도, 매질의 점성, 원심력</a:t>
            </a:r>
            <a:r>
              <a:rPr sz="1400" b="0" i="0">
                <a:solidFill>
                  <a:srgbClr val="11202B"/>
                </a:solidFill>
                <a:latin typeface="Malgun Gothic"/>
                <a:ea typeface="Malgun Gothic"/>
                <a:cs typeface="Malgun Gothic"/>
              </a:rPr>
              <a:t>으로 정해진다. 큰 것과 무거운 것이 먼저 가라앉는다.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방식을 구분해야 한다. </a:t>
            </a:r>
            <a:r>
              <a:rPr sz="1400" b="1" i="0">
                <a:solidFill>
                  <a:srgbClr val="11202B"/>
                </a:solidFill>
                <a:latin typeface="Malgun Gothic"/>
                <a:ea typeface="Malgun Gothic"/>
                <a:cs typeface="Malgun Gothic"/>
              </a:rPr>
              <a:t>차등 원심분리(differential centrifugation)</a:t>
            </a:r>
            <a:r>
              <a:rPr sz="1400" b="0" i="0">
                <a:solidFill>
                  <a:srgbClr val="11202B"/>
                </a:solidFill>
                <a:latin typeface="Malgun Gothic"/>
                <a:ea typeface="Malgun Gothic"/>
                <a:cs typeface="Malgun Gothic"/>
              </a:rPr>
              <a:t>는 회전 속도를 단계적으로 올리며 침전물을 차례로 얻는다. 주로 크기에 따라 갈리므로 크기가 비슷한 소기관은 섞인다. </a:t>
            </a:r>
            <a:r>
              <a:rPr sz="1400" b="1" i="0">
                <a:solidFill>
                  <a:srgbClr val="11202B"/>
                </a:solidFill>
                <a:latin typeface="Malgun Gothic"/>
                <a:ea typeface="Malgun Gothic"/>
                <a:cs typeface="Malgun Gothic"/>
              </a:rPr>
              <a:t>밀도구배 원심분리</a:t>
            </a:r>
            <a:r>
              <a:rPr sz="1400" b="0" i="0">
                <a:solidFill>
                  <a:srgbClr val="11202B"/>
                </a:solidFill>
                <a:latin typeface="Malgun Gothic"/>
                <a:ea typeface="Malgun Gothic"/>
                <a:cs typeface="Malgun Gothic"/>
              </a:rPr>
              <a:t>는 설탕이나 Percoll로 밀도가 점점 높아지는 층을 만들고 그 위에서 돌린다. 입자가 자기 밀도와 같은 위치에서 멈추므로 크기가 비슷해도 밀도가 다르면 분리된다. 크기로 갈리지 않는 것을 밀도로 가르는 것이며, 두 방법을 순서대로 쓰는 것이 보통이다.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세포배양과 원심분리를 이용한 세포분획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조건(대략)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침전물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600 × g, 10분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핵, 깨지지 않은 세포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15,000 × g, 15분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lysosome, peroxisome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100,000 × g, 60분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소포체·Golgi 유래 microsome, 세포막 조각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상층액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 가용성 단백질, ribosome 일부</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세포배양과 원심분리를 이용한 세포분획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차등 원심분리만으로는 크기와 밀도가 비슷한 소기관이 섞여 나온다. 이때 </a:t>
            </a:r>
            <a:r>
              <a:rPr sz="1600" b="1" i="0">
                <a:solidFill>
                  <a:srgbClr val="11202B"/>
                </a:solidFill>
                <a:latin typeface="Malgun Gothic"/>
                <a:ea typeface="Malgun Gothic"/>
                <a:cs typeface="Malgun Gothic"/>
              </a:rPr>
              <a:t>밀도구배 원심분리(density gradient centrifugation)</a:t>
            </a:r>
            <a:r>
              <a:rPr sz="1600" b="0" i="0">
                <a:solidFill>
                  <a:srgbClr val="11202B"/>
                </a:solidFill>
                <a:latin typeface="Malgun Gothic"/>
                <a:ea typeface="Malgun Gothic"/>
                <a:cs typeface="Malgun Gothic"/>
              </a:rPr>
              <a:t>를 쓴다. sucrose나 Percoll로 밀도가 아래로 갈수록 높아지는 구배를 만들고 그 위에 시료를 얹는다. 두 방식이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속도 침강(velocity sedimentation)</a:t>
            </a:r>
            <a:r>
              <a:rPr sz="1600" b="0" i="0">
                <a:solidFill>
                  <a:srgbClr val="11202B"/>
                </a:solidFill>
                <a:latin typeface="Malgun Gothic"/>
                <a:ea typeface="Malgun Gothic"/>
                <a:cs typeface="Malgun Gothic"/>
              </a:rPr>
              <a:t>: 얕은 구배에서 짧게 돌려 </a:t>
            </a:r>
            <a:r>
              <a:rPr sz="1600" b="1" i="0">
                <a:solidFill>
                  <a:srgbClr val="11202B"/>
                </a:solidFill>
                <a:latin typeface="Malgun Gothic"/>
                <a:ea typeface="Malgun Gothic"/>
                <a:cs typeface="Malgun Gothic"/>
              </a:rPr>
              <a:t>침강 속도 차이</a:t>
            </a:r>
            <a:r>
              <a:rPr sz="1600" b="0" i="0">
                <a:solidFill>
                  <a:srgbClr val="11202B"/>
                </a:solidFill>
                <a:latin typeface="Malgun Gothic"/>
                <a:ea typeface="Malgun Gothic"/>
                <a:cs typeface="Malgun Gothic"/>
              </a:rPr>
              <a:t>, 즉 주로 크기 차이로 분리한다. Ribosome 소단위 분리에 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평형 침강(isopycnic/equilibrium sedimentation)</a:t>
            </a:r>
            <a:r>
              <a:rPr sz="1600" b="0" i="0">
                <a:solidFill>
                  <a:srgbClr val="11202B"/>
                </a:solidFill>
                <a:latin typeface="Malgun Gothic"/>
                <a:ea typeface="Malgun Gothic"/>
                <a:cs typeface="Malgun Gothic"/>
              </a:rPr>
              <a:t>: 급한 구배에서 오래 돌려 각 입자가 </a:t>
            </a:r>
            <a:r>
              <a:rPr sz="1600" b="1" i="0">
                <a:solidFill>
                  <a:srgbClr val="11202B"/>
                </a:solidFill>
                <a:latin typeface="Malgun Gothic"/>
                <a:ea typeface="Malgun Gothic"/>
                <a:cs typeface="Malgun Gothic"/>
              </a:rPr>
              <a:t>자신의 밀도와 같은 지점</a:t>
            </a:r>
            <a:r>
              <a:rPr sz="1600" b="0" i="0">
                <a:solidFill>
                  <a:srgbClr val="11202B"/>
                </a:solidFill>
                <a:latin typeface="Malgun Gothic"/>
                <a:ea typeface="Malgun Gothic"/>
                <a:cs typeface="Malgun Gothic"/>
              </a:rPr>
              <a:t>에 멈추게 한다. 크기와 무관하게 밀도로만 분리된다.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분획이 제대로 되었는지는 </a:t>
            </a:r>
            <a:r>
              <a:rPr sz="1600" b="1" i="0">
                <a:solidFill>
                  <a:srgbClr val="11202B"/>
                </a:solidFill>
                <a:latin typeface="Malgun Gothic"/>
                <a:ea typeface="Malgun Gothic"/>
                <a:cs typeface="Malgun Gothic"/>
              </a:rPr>
              <a:t>표지 효소(marker enzyme)</a:t>
            </a:r>
            <a:r>
              <a:rPr sz="1600" b="0" i="0">
                <a:solidFill>
                  <a:srgbClr val="11202B"/>
                </a:solidFill>
                <a:latin typeface="Malgun Gothic"/>
                <a:ea typeface="Malgun Gothic"/>
                <a:cs typeface="Malgun Gothic"/>
              </a:rPr>
              <a:t> 활성으로 확인한다. 미토콘드리아에는 succinate dehydrogenase, lysosome에는 acid phosphatase, 소포체에는 glucose-6-phosphatase, 세포막에는 Na⁺/K⁺-ATPase가 들어 있다. 어떤 분획에서 특정 표지 효소 활성이 나오면 그 소기관이 섞여 있다는 뜻이다.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세포배양과 원심분리를 이용한 세포분획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16</a:t>
            </a:r>
          </a:p>
        </p:txBody>
      </p:sp>
      <p:pic>
        <p:nvPicPr>
          <p:cNvPr id="7" name="Picture 6" descr="fig-fraction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차등 원심분리와 밀도구배 원심분리. 회전 속도를 올려가며 핵, 미토콘드리아, microsome을 차례로 얻는 과정과, 밀도구배에서 속도 침강과 평형 침강이 분리하는 기준의 차이를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세포배양과 원심분리를 이용한 세포분획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Christian de Duve는 세포분획으로 lysosome을 발견했다. 그는 산성 가수분해효소 활성이 특정 분획에 모이고, 그 분획을 저장하거나 삼투로 터뜨리면 활성이 크게 늘어나는 현상(latency)을 관찰했다. 효소가 막으로 둘러싸인 구획 안에 있어 기질과 만나지 못했다는 해석이었다. 이 발견은 </a:t>
            </a:r>
            <a:r>
              <a:rPr sz="1600" b="1" i="0">
                <a:solidFill>
                  <a:srgbClr val="11202B"/>
                </a:solidFill>
                <a:latin typeface="Malgun Gothic"/>
                <a:ea typeface="Malgun Gothic"/>
                <a:cs typeface="Malgun Gothic"/>
              </a:rPr>
              <a:t>lysosomal storage disease</a:t>
            </a:r>
            <a:r>
              <a:rPr sz="1600" b="0" i="0">
                <a:solidFill>
                  <a:srgbClr val="11202B"/>
                </a:solidFill>
                <a:latin typeface="Malgun Gothic"/>
                <a:ea typeface="Malgun Gothic"/>
                <a:cs typeface="Malgun Gothic"/>
              </a:rPr>
              <a:t>의 이해로 직결되었다. Tay-Sachs disease(hexosaminidase A 결손), Gaucher disease(glucocerebrosidase 결손)에서는 분해되지 않은 기질이 lysosome에 쌓여 세포가 손상된다. 효소 하나의 결손이 특정 분획의 활성 결여로 측정된다는 점에서 진단도 같은 원리를 쓴다.</a:t>
            </a:r>
          </a:p>
        </p:txBody>
      </p:sp>
      <p:sp>
        <p:nvSpPr>
          <p:cNvPr id="8" name="Rectangle 7"/>
          <p:cNvSpPr/>
          <p:nvPr/>
        </p:nvSpPr>
        <p:spPr>
          <a:xfrm>
            <a:off x="640080" y="3733799"/>
            <a:ext cx="10881360" cy="1086506"/>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현미경은 어디에 있는지를 알려주고, 세포배양과 세포분획은 무엇을 하는지를 알려준다. 분해능은 쓰는 파장이 정하고, 분획은 크기·밀도 차이가 정한다. 두 접근의 결과를 맞추어 보는 것이 세포생물학의 기본 전략이다.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기능을 묻는 실험은 어떻게 설계되는가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9절과 10절이 구조를 보고 성분을 분리하는 방법이었다면, 이 절은 </a:t>
            </a:r>
            <a:r>
              <a:rPr sz="1400" b="1" i="0">
                <a:solidFill>
                  <a:srgbClr val="11202B"/>
                </a:solidFill>
                <a:latin typeface="Malgun Gothic"/>
                <a:ea typeface="Malgun Gothic"/>
                <a:cs typeface="Malgun Gothic"/>
              </a:rPr>
              <a:t>"그것이 무슨 일을 하는가"</a:t>
            </a:r>
            <a:r>
              <a:rPr sz="1400" b="0" i="0">
                <a:solidFill>
                  <a:srgbClr val="11202B"/>
                </a:solidFill>
                <a:latin typeface="Malgun Gothic"/>
                <a:ea typeface="Malgun Gothic"/>
                <a:cs typeface="Malgun Gothic"/>
              </a:rPr>
              <a:t> 에 답하는 설계를 다룬다. 세포생물학의 주장은 거의 모두 이 틀 위에 서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 가지 기본 설계.</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없애 본다(기능 상실).</a:t>
            </a:r>
            <a:r>
              <a:rPr sz="1400" b="0" i="0">
                <a:solidFill>
                  <a:srgbClr val="11202B"/>
                </a:solidFill>
                <a:latin typeface="Malgun Gothic"/>
                <a:ea typeface="Malgun Gothic"/>
                <a:cs typeface="Malgun Gothic"/>
              </a:rPr>
              <a:t> 유전자를 제거하거나, 발현을 억제하거나, 저해제로 단백질을 막는다. 없앴을 때 현상이 사라지면 그것이 </a:t>
            </a:r>
            <a:r>
              <a:rPr sz="1400" b="1" i="0">
                <a:solidFill>
                  <a:srgbClr val="11202B"/>
                </a:solidFill>
                <a:latin typeface="Malgun Gothic"/>
                <a:ea typeface="Malgun Gothic"/>
                <a:cs typeface="Malgun Gothic"/>
              </a:rPr>
              <a:t>필요하다</a:t>
            </a:r>
            <a:r>
              <a:rPr sz="1400" b="0" i="0">
                <a:solidFill>
                  <a:srgbClr val="11202B"/>
                </a:solidFill>
                <a:latin typeface="Malgun Gothic"/>
                <a:ea typeface="Malgun Gothic"/>
                <a:cs typeface="Malgun Gothic"/>
              </a:rPr>
              <a:t>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넣어 본다(기능 획득).</a:t>
            </a:r>
            <a:r>
              <a:rPr sz="1400" b="0" i="0">
                <a:solidFill>
                  <a:srgbClr val="11202B"/>
                </a:solidFill>
                <a:latin typeface="Malgun Gothic"/>
                <a:ea typeface="Malgun Gothic"/>
                <a:cs typeface="Malgun Gothic"/>
              </a:rPr>
              <a:t> 없는 세포에 유전자를 넣거나 과발현시킨다. 넣었을 때 현상이 나타나면 그것으로 </a:t>
            </a:r>
            <a:r>
              <a:rPr sz="1400" b="1" i="0">
                <a:solidFill>
                  <a:srgbClr val="11202B"/>
                </a:solidFill>
                <a:latin typeface="Malgun Gothic"/>
                <a:ea typeface="Malgun Gothic"/>
                <a:cs typeface="Malgun Gothic"/>
              </a:rPr>
              <a:t>충분하다</a:t>
            </a:r>
            <a:r>
              <a:rPr sz="1400" b="0" i="0">
                <a:solidFill>
                  <a:srgbClr val="11202B"/>
                </a:solidFill>
                <a:latin typeface="Malgun Gothic"/>
                <a:ea typeface="Malgun Gothic"/>
                <a:cs typeface="Malgun Gothic"/>
              </a:rPr>
              <a:t>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되돌려 본다(구제 실험).</a:t>
            </a:r>
            <a:r>
              <a:rPr sz="1400" b="0" i="0">
                <a:solidFill>
                  <a:srgbClr val="11202B"/>
                </a:solidFill>
                <a:latin typeface="Malgun Gothic"/>
                <a:ea typeface="Malgun Gothic"/>
                <a:cs typeface="Malgun Gothic"/>
              </a:rPr>
              <a:t> 없앤 뒤 다시 넣어 현상이 회복되는지 본다. 이것이 가장 강력한 설계인데, 없앤 조작 자체의 부작용 때문이 아니라는 것을 함께 보이기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필요와 충분을 구분한다.</a:t>
            </a:r>
            <a:r>
              <a:rPr sz="1400" b="0" i="0">
                <a:solidFill>
                  <a:srgbClr val="11202B"/>
                </a:solidFill>
                <a:latin typeface="Malgun Gothic"/>
                <a:ea typeface="Malgun Gothic"/>
                <a:cs typeface="Malgun Gothic"/>
              </a:rPr>
              <a:t> 세 설계가 서로 다른 주장을 뒷받침한다는 점이 중요하다. 없앴더니 현상이 사라졌다는 것은 필요조건을 보인 것이고, 넣었더니 현상이 생겼다는 것은 충분조건을 보인 것이다. 둘은 별개이며, 많은 혼란이 하나만 보이고 다른 쪽까지 주장하는 데서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대조군이 설계를 완성한다.</a:t>
            </a:r>
            <a:r>
              <a:rPr sz="1400" b="0" i="0">
                <a:solidFill>
                  <a:srgbClr val="11202B"/>
                </a:solidFill>
                <a:latin typeface="Malgun Gothic"/>
                <a:ea typeface="Malgun Gothic"/>
                <a:cs typeface="Malgun Gothic"/>
              </a:rPr>
              <a:t> 처리군만 있으면 아무것도 말할 수 없다. 필요한 대조군이 여럿이다. 조작을 하지 않은 군, 조작의 절차만 거치고 내용은 없는 군(빈 벡터, 무관한 서열), 그리고 가능하면 </a:t>
            </a:r>
            <a:r>
              <a:rPr sz="1400" b="1" i="0">
                <a:solidFill>
                  <a:srgbClr val="11202B"/>
                </a:solidFill>
                <a:latin typeface="Malgun Gothic"/>
                <a:ea typeface="Malgun Gothic"/>
                <a:cs typeface="Malgun Gothic"/>
              </a:rPr>
              <a:t>서로 다른 방법으로 같은 결론에 도달하는 것</a:t>
            </a:r>
            <a:r>
              <a:rPr sz="1400" b="0" i="0">
                <a:solidFill>
                  <a:srgbClr val="11202B"/>
                </a:solidFill>
                <a:latin typeface="Malgun Gothic"/>
                <a:ea typeface="Malgun Gothic"/>
                <a:cs typeface="Malgun Gothic"/>
              </a:rPr>
              <a:t>이다. 유전자 억제에서 서열이 다른 두 가지 수단이 같은 결과를 내면 표적 외 효과일 가능성이 줄어든다.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상관과 인과를 가른다.</a:t>
            </a:r>
            <a:r>
              <a:rPr sz="1400" b="0" i="0">
                <a:solidFill>
                  <a:srgbClr val="11202B"/>
                </a:solidFill>
                <a:latin typeface="Malgun Gothic"/>
                <a:ea typeface="Malgun Gothic"/>
                <a:cs typeface="Malgun Gothic"/>
              </a:rPr>
              <a:t> 현미경에서 두 단백질이 같은 자리에 보인다는 것(공존)은 상호작용의 증거가 아니다. 분해능이 0.2 μm라면 그 안에 수백 개의 단백질이 들어가므로, 같은 화소에 있다는 것이 접촉을 뜻하지 않는다. 결합을 주장하려면 면역침강, 에너지 전달을 보는 측정, 또는 구조 분석 같은 </a:t>
            </a:r>
            <a:r>
              <a:rPr sz="1400" b="1" i="0">
                <a:solidFill>
                  <a:srgbClr val="11202B"/>
                </a:solidFill>
                <a:latin typeface="Malgun Gothic"/>
                <a:ea typeface="Malgun Gothic"/>
                <a:cs typeface="Malgun Gothic"/>
              </a:rPr>
              <a:t>다른 종류의 증거</a:t>
            </a:r>
            <a:r>
              <a:rPr sz="1400" b="0" i="0">
                <a:solidFill>
                  <a:srgbClr val="11202B"/>
                </a:solidFill>
                <a:latin typeface="Malgun Gothic"/>
                <a:ea typeface="Malgun Gothic"/>
                <a:cs typeface="Malgun Gothic"/>
              </a:rPr>
              <a:t>가 필요하다. 한 종류의 실험이 아무리 반복되어도 다른 종류의 증거를 대신하지 못한다.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기능을 묻는 실험은 어떻게 설계되는가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994038"/>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세포생물학 문제의 상당수가 </a:t>
            </a:r>
            <a:r>
              <a:rPr sz="1600" b="1" i="0">
                <a:solidFill>
                  <a:srgbClr val="11202B"/>
                </a:solidFill>
                <a:latin typeface="Malgun Gothic"/>
                <a:ea typeface="Malgun Gothic"/>
                <a:cs typeface="Malgun Gothic"/>
              </a:rPr>
              <a:t>"이 자료가 무엇까지 주장할 수 있는가"</a:t>
            </a:r>
            <a:r>
              <a:rPr sz="1600" b="0" i="0">
                <a:solidFill>
                  <a:srgbClr val="11202B"/>
                </a:solidFill>
                <a:latin typeface="Malgun Gothic"/>
                <a:ea typeface="Malgun Gothic"/>
                <a:cs typeface="Malgun Gothic"/>
              </a:rPr>
              <a:t> 를 묻는다. 세 가지 함정이 반복된다. 첫째, </a:t>
            </a:r>
            <a:r>
              <a:rPr sz="1600" b="1" i="0">
                <a:solidFill>
                  <a:srgbClr val="11202B"/>
                </a:solidFill>
                <a:latin typeface="Malgun Gothic"/>
                <a:ea typeface="Malgun Gothic"/>
                <a:cs typeface="Malgun Gothic"/>
              </a:rPr>
              <a:t>과발현 실험의 해석</a:t>
            </a:r>
            <a:r>
              <a:rPr sz="1600" b="0" i="0">
                <a:solidFill>
                  <a:srgbClr val="11202B"/>
                </a:solidFill>
                <a:latin typeface="Malgun Gothic"/>
                <a:ea typeface="Malgun Gothic"/>
                <a:cs typeface="Malgun Gothic"/>
              </a:rPr>
              <a:t>이다. 평소 농도보다 훨씬 많이 만들면 정상적으로는 일어나지 않을 상호작용이 생길 수 있으므로, 과발현에서 보인 효과가 생리적 기능이라고 단정할 수 없다. 둘째, </a:t>
            </a:r>
            <a:r>
              <a:rPr sz="1600" b="1" i="0">
                <a:solidFill>
                  <a:srgbClr val="11202B"/>
                </a:solidFill>
                <a:latin typeface="Malgun Gothic"/>
                <a:ea typeface="Malgun Gothic"/>
                <a:cs typeface="Malgun Gothic"/>
              </a:rPr>
              <a:t>저해제의 특이성</a:t>
            </a:r>
            <a:r>
              <a:rPr sz="1600" b="0" i="0">
                <a:solidFill>
                  <a:srgbClr val="11202B"/>
                </a:solidFill>
                <a:latin typeface="Malgun Gothic"/>
                <a:ea typeface="Malgun Gothic"/>
                <a:cs typeface="Malgun Gothic"/>
              </a:rPr>
              <a:t>이다. 많은 저해제가 고농도에서 다른 표적도 억제하므로, 저해제 하나의 결과만으로 특정 단백질의 기능을 결론지을 수 없다. 셋째, </a:t>
            </a:r>
            <a:r>
              <a:rPr sz="1600" b="1" i="0">
                <a:solidFill>
                  <a:srgbClr val="11202B"/>
                </a:solidFill>
                <a:latin typeface="Malgun Gothic"/>
                <a:ea typeface="Malgun Gothic"/>
                <a:cs typeface="Malgun Gothic"/>
              </a:rPr>
              <a:t>유전자 제거의 보상</a:t>
            </a:r>
            <a:r>
              <a:rPr sz="1600" b="0" i="0">
                <a:solidFill>
                  <a:srgbClr val="11202B"/>
                </a:solidFill>
                <a:latin typeface="Malgun Gothic"/>
                <a:ea typeface="Malgun Gothic"/>
                <a:cs typeface="Malgun Gothic"/>
              </a:rPr>
              <a:t>이다. 어떤 유전자를 없애도 표현형이 없는 경우가 흔한데, 이는 그 유전자가 불필요하다는 뜻이 아니라 다른 유전자가 기능을 대신했을 수 있다는 뜻이다. 조건부 제거나 급성 분해처럼 </a:t>
            </a:r>
            <a:r>
              <a:rPr sz="1600" b="1" i="0">
                <a:solidFill>
                  <a:srgbClr val="11202B"/>
                </a:solidFill>
                <a:latin typeface="Malgun Gothic"/>
                <a:ea typeface="Malgun Gothic"/>
                <a:cs typeface="Malgun Gothic"/>
              </a:rPr>
              <a:t>시간을 짧게 두는 방법</a:t>
            </a:r>
            <a:r>
              <a:rPr sz="1600" b="0" i="0">
                <a:solidFill>
                  <a:srgbClr val="11202B"/>
                </a:solidFill>
                <a:latin typeface="Malgun Gothic"/>
                <a:ea typeface="Malgun Gothic"/>
                <a:cs typeface="Malgun Gothic"/>
              </a:rPr>
              <a:t>이 보상을 피하기 위해 쓰인다.</a:t>
            </a:r>
          </a:p>
        </p:txBody>
      </p:sp>
      <p:sp>
        <p:nvSpPr>
          <p:cNvPr id="8" name="Rectangle 7"/>
          <p:cNvSpPr/>
          <p:nvPr/>
        </p:nvSpPr>
        <p:spPr>
          <a:xfrm>
            <a:off x="640080" y="3457078"/>
            <a:ext cx="10881360" cy="2715121"/>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세포를 보는 기술이 지난 15년 사이에 두 방향으로 크게 바뀌었다. 하나는 </a:t>
            </a:r>
            <a:r>
              <a:rPr sz="1600" b="1" i="0">
                <a:solidFill>
                  <a:srgbClr val="11202B"/>
                </a:solidFill>
                <a:latin typeface="Malgun Gothic"/>
                <a:ea typeface="Malgun Gothic"/>
                <a:cs typeface="Malgun Gothic"/>
              </a:rPr>
              <a:t>분해능의 벽을 넘은 것</a:t>
            </a:r>
            <a:r>
              <a:rPr sz="1600" b="0" i="0">
                <a:solidFill>
                  <a:srgbClr val="11202B"/>
                </a:solidFill>
                <a:latin typeface="Malgun Gothic"/>
                <a:ea typeface="Malgun Gothic"/>
                <a:cs typeface="Malgun Gothic"/>
              </a:rPr>
              <a:t>이다. Abbe의 한계는 두 점에서 나온 빛이 동시에 겹칠 때의 이야기이므로, 형광 분자를 시간적으로 나누어 하나씩 켰다 끄면 각각의 위치를 정밀하게 계산할 수 있다. 이 착상에서 나온 초고분해능 기법이 10~50 nm 수준의 구조를 광학 현미경으로 보게 했다. 다른 하나는 </a:t>
            </a:r>
            <a:r>
              <a:rPr sz="1600" b="1" i="0">
                <a:solidFill>
                  <a:srgbClr val="11202B"/>
                </a:solidFill>
                <a:latin typeface="Malgun Gothic"/>
                <a:ea typeface="Malgun Gothic"/>
                <a:cs typeface="Malgun Gothic"/>
              </a:rPr>
              <a:t>단일세포 측정</a:t>
            </a:r>
            <a:r>
              <a:rPr sz="1600" b="0" i="0">
                <a:solidFill>
                  <a:srgbClr val="11202B"/>
                </a:solidFill>
                <a:latin typeface="Malgun Gothic"/>
                <a:ea typeface="Malgun Gothic"/>
                <a:cs typeface="Malgun Gothic"/>
              </a:rPr>
              <a:t>이다. 조직을 갈아 평균을 재던 방식에서 세포 하나하나의 전사체와 단백질을 재는 방식으로 옮겨 가면서, 평균 뒤에 가려져 있던 세포 집단의 이질성이 드러났다. 겉보기에 같은 세포들이 실제로는 여러 상태로 나뉘어 있다는 것이 거의 모든 조직에서 확인되었다. 두 기술이 합쳐져 </a:t>
            </a:r>
            <a:r>
              <a:rPr sz="1600" b="1" i="0">
                <a:solidFill>
                  <a:srgbClr val="11202B"/>
                </a:solidFill>
                <a:latin typeface="Malgun Gothic"/>
                <a:ea typeface="Malgun Gothic"/>
                <a:cs typeface="Malgun Gothic"/>
              </a:rPr>
              <a:t>공간 전사체학</a:t>
            </a:r>
            <a:r>
              <a:rPr sz="1600" b="0" i="0">
                <a:solidFill>
                  <a:srgbClr val="11202B"/>
                </a:solidFill>
                <a:latin typeface="Malgun Gothic"/>
                <a:ea typeface="Malgun Gothic"/>
                <a:cs typeface="Malgun Gothic"/>
              </a:rPr>
              <a:t>으로 이어졌고, 조직 안에서 어느 위치의 세포가 어떤 유전자를 켜고 있는지를 지도로 그리는 일이 가능해졌다. 남은 문제는 자료의 양이 아니라 해석이다. 세포 상태를 몇 가지로 나눌 것인가, 그 구분이 생물학적 실체인가 분석 방법의 산물인가라는 질문이 이 분야의 중심에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수업은 세포생물학 전체의 </a:t>
            </a:r>
            <a:r>
              <a:rPr sz="1600" b="1" i="0">
                <a:solidFill>
                  <a:srgbClr val="11202B"/>
                </a:solidFill>
                <a:latin typeface="Malgun Gothic"/>
                <a:ea typeface="Malgun Gothic"/>
                <a:cs typeface="Malgun Gothic"/>
              </a:rPr>
              <a:t>입구</a:t>
            </a:r>
            <a:r>
              <a:rPr sz="1600" b="0" i="0">
                <a:solidFill>
                  <a:srgbClr val="11202B"/>
                </a:solidFill>
                <a:latin typeface="Malgun Gothic"/>
                <a:ea typeface="Malgun Gothic"/>
                <a:cs typeface="Malgun Gothic"/>
              </a:rPr>
              <a:t>다. 세포가 무엇이고 어떻게 생겨났으며 어떻게 들여다보는지를 세웠으므로, 이어지는 수업들이 각 부분을 확대한다.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생체분자와 막의 구조</a:t>
            </a:r>
            <a:r>
              <a:rPr sz="1600" b="0" i="0">
                <a:solidFill>
                  <a:srgbClr val="11202B"/>
                </a:solidFill>
                <a:latin typeface="Malgun Gothic"/>
                <a:ea typeface="Malgun Gothic"/>
                <a:cs typeface="Malgun Gothic"/>
              </a:rPr>
              <a:t>: M01-W05-L02. 이 수업에서 다룬 구획을 이루는 막의 실체를 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유전정보의 흐름</a:t>
            </a:r>
            <a:r>
              <a:rPr sz="1600" b="0" i="0">
                <a:solidFill>
                  <a:srgbClr val="11202B"/>
                </a:solidFill>
                <a:latin typeface="Malgun Gothic"/>
                <a:ea typeface="Malgun Gothic"/>
                <a:cs typeface="Malgun Gothic"/>
              </a:rPr>
              <a:t>: M01-W05-L03에서 개요를, M01-W06에서 M01-W07까지 각 단계를 상세히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실험 기법의 분자적 확장</a:t>
            </a:r>
            <a:r>
              <a:rPr sz="1600" b="0" i="0">
                <a:solidFill>
                  <a:srgbClr val="11202B"/>
                </a:solidFill>
                <a:latin typeface="Malgun Gothic"/>
                <a:ea typeface="Malgun Gothic"/>
                <a:cs typeface="Malgun Gothic"/>
              </a:rPr>
              <a:t>: M01-W06-L01에서 재조합 DNA, 클로닝, PCR, 염기서열 분석을 다룬다. 이 수업의 현미경과 분획이 세포 수준의 도구라면 그쪽은 분자 수준의 도구다.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유전체와 단백체 수준의 측정</a:t>
            </a:r>
            <a:r>
              <a:rPr sz="1600" b="0" i="0">
                <a:solidFill>
                  <a:srgbClr val="11202B"/>
                </a:solidFill>
                <a:latin typeface="Malgun Gothic"/>
                <a:ea typeface="Malgun Gothic"/>
                <a:cs typeface="Malgun Gothic"/>
              </a:rPr>
              <a:t>: M01-W08-L02에서 omics와 시스템생물학을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소기관의 상세</a:t>
            </a:r>
            <a:r>
              <a:rPr sz="1600" b="0" i="0">
                <a:solidFill>
                  <a:srgbClr val="11202B"/>
                </a:solidFill>
                <a:latin typeface="Malgun Gothic"/>
                <a:ea typeface="Malgun Gothic"/>
                <a:cs typeface="Malgun Gothic"/>
              </a:rPr>
              <a:t>: 핵은 M01-W08-L03, 소포체와 Golgi, lysosome은 M01-W09-L01, 미토콘드리아와 peroxisome은 M01-W10-L01.</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세포골격과 세포 내 운반</a:t>
            </a:r>
            <a:r>
              <a:rPr sz="1600" b="0" i="0">
                <a:solidFill>
                  <a:srgbClr val="11202B"/>
                </a:solidFill>
                <a:latin typeface="Malgun Gothic"/>
                <a:ea typeface="Malgun Gothic"/>
                <a:cs typeface="Malgun Gothic"/>
              </a:rPr>
              <a:t>: M01-W10-L02.</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막수송의 상세</a:t>
            </a:r>
            <a:r>
              <a:rPr sz="1600" b="0" i="0">
                <a:solidFill>
                  <a:srgbClr val="11202B"/>
                </a:solidFill>
                <a:latin typeface="Malgun Gothic"/>
                <a:ea typeface="Malgun Gothic"/>
                <a:cs typeface="Malgun Gothic"/>
              </a:rPr>
              <a:t>: M01-W10-L03.</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세포 크기와 분열의 조절</a:t>
            </a:r>
            <a:r>
              <a:rPr sz="1600" b="0" i="0">
                <a:solidFill>
                  <a:srgbClr val="11202B"/>
                </a:solidFill>
                <a:latin typeface="Malgun Gothic"/>
                <a:ea typeface="Malgun Gothic"/>
                <a:cs typeface="Malgun Gothic"/>
              </a:rPr>
              <a:t>: M01-W12-L01.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수업에서 가져갈 것은 사실의 목록이 아니라 </a:t>
            </a:r>
            <a:r>
              <a:rPr sz="1600" b="1" i="0">
                <a:solidFill>
                  <a:srgbClr val="11202B"/>
                </a:solidFill>
                <a:latin typeface="Malgun Gothic"/>
                <a:ea typeface="Malgun Gothic"/>
                <a:cs typeface="Malgun Gothic"/>
              </a:rPr>
              <a:t>세 가지 사고 습관</a:t>
            </a:r>
            <a:r>
              <a:rPr sz="1600" b="0" i="0">
                <a:solidFill>
                  <a:srgbClr val="11202B"/>
                </a:solidFill>
                <a:latin typeface="Malgun Gothic"/>
                <a:ea typeface="Malgun Gothic"/>
                <a:cs typeface="Malgun Gothic"/>
              </a:rPr>
              <a:t>이다. 첫째, 구조를 보면 </a:t>
            </a:r>
            <a:r>
              <a:rPr sz="1600" b="1" i="0">
                <a:solidFill>
                  <a:srgbClr val="11202B"/>
                </a:solidFill>
                <a:latin typeface="Malgun Gothic"/>
                <a:ea typeface="Malgun Gothic"/>
                <a:cs typeface="Malgun Gothic"/>
              </a:rPr>
              <a:t>왜 그 크기이고 왜 그렇게 나뉘어 있는지</a:t>
            </a:r>
            <a:r>
              <a:rPr sz="1600" b="0" i="0">
                <a:solidFill>
                  <a:srgbClr val="11202B"/>
                </a:solidFill>
                <a:latin typeface="Malgun Gothic"/>
                <a:ea typeface="Malgun Gothic"/>
                <a:cs typeface="Malgun Gothic"/>
              </a:rPr>
              <a:t>를 묻는다. 둘째, 교과서의 문장을 읽을 때 </a:t>
            </a:r>
            <a:r>
              <a:rPr sz="1600" b="1" i="0">
                <a:solidFill>
                  <a:srgbClr val="11202B"/>
                </a:solidFill>
                <a:latin typeface="Malgun Gothic"/>
                <a:ea typeface="Malgun Gothic"/>
                <a:cs typeface="Malgun Gothic"/>
              </a:rPr>
              <a:t>어떤 실험이 그 결론을 뒷받침하는지</a:t>
            </a:r>
            <a:r>
              <a:rPr sz="1600" b="0" i="0">
                <a:solidFill>
                  <a:srgbClr val="11202B"/>
                </a:solidFill>
                <a:latin typeface="Malgun Gothic"/>
                <a:ea typeface="Malgun Gothic"/>
                <a:cs typeface="Malgun Gothic"/>
              </a:rPr>
              <a:t>를 묻는다. 셋째, 실험 결과를 볼 때 </a:t>
            </a:r>
            <a:r>
              <a:rPr sz="1600" b="1" i="0">
                <a:solidFill>
                  <a:srgbClr val="11202B"/>
                </a:solidFill>
                <a:latin typeface="Malgun Gothic"/>
                <a:ea typeface="Malgun Gothic"/>
                <a:cs typeface="Malgun Gothic"/>
              </a:rPr>
              <a:t>그것이 필요를 보인 것인지 충분을 보인 것인지</a:t>
            </a:r>
            <a:r>
              <a:rPr sz="1600" b="0" i="0">
                <a:solidFill>
                  <a:srgbClr val="11202B"/>
                </a:solidFill>
                <a:latin typeface="Malgun Gothic"/>
                <a:ea typeface="Malgun Gothic"/>
                <a:cs typeface="Malgun Gothic"/>
              </a:rPr>
              <a:t>를 가른다. 이 습관이 있으면 이어지는 수업의 내용이 외울 목록이 아니라 검증된 주장의 묶음으로 읽힌다.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연구자가 배율 5,000배의 광학 현미경을 제작해 ribosome(지름 약 25 nm)을 관찰하려 한다. 가능한지 판단하고 근거를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불가능하다. 광학 현미경의 분해능은 Abbe의 식 d = 0.61λ/(n sin α)로 정해지며, 가시광선(λ ≈ 500 nm)과 기름 침지 대물렌즈(NA ≈ 1.4)를 써도 약 0.2 μm, 즉 200 nm가 한계다. Ribosome의 25 nm는 이보다 8배 작으므로 배율을 올려도 상이 흐려질 뿐 두 점으로 구분되지 않는다(empty magnification). 분해능은 빛의 파장이 정하므로 파장이 약 0.004 nm인 전자를 쓰는 전자 현미경이 필요하다.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미토콘드리아가 세균에서 유래했다는 endosymbiosis 가설을 지지하는 근거를 구조, 유전체, 생화학 측면에서 각각 하나씩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구조 측면에서, 미토콘드리아는 이중막이고 내막의 지질 조성이 세균 막에 가깝다. 이는 숙주 세포가 세균을 삼킬 때 외막은 숙주 유래, 내막은 세균 유래로 남은 결과로 설명된다. 유전체 측면에서, 미토콘드리아는 자신의 환상 DNA와 70S에 가까운 ribosome을 가지며 rRNA 서열이 α-proteobacteria와 가장 가깝다. 생화학 측면에서, 세균 ribosome을 겨냥하는 chloramphenicol이 미토콘드리아 단백질 합성을 억제하지만 세포질 번역은 억제하지 않는다.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세포 분획에서 acid phosphatase 활성과 succinate dehydrogenase 활성이 함께 검출되었다. 이것이 의미하는 바와 분리를 개선할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Acid phosphatase는 lysosome의 표지 효소이고 succinate dehydrogenase는 미토콘드리아의 표지 효소다. 두 활성이 같은 분획에 있다는 것은 두 소기관이 분리되지 않고 섞였다는 뜻이다. 차등 원심분리는 침강 속도, 즉 주로 크기에 따라 분리하는데 lysosome(0.2~0.5 μm)과 미토콘드리아(0.5~1 μm)는 침강 속도가 비슷하기 때문이다. 개선 방법은 밀도구배 평형 침강이다. 두 소기관의 밀도가 다르므로 sucrose나 Percoll 구배에서 오래 원심분리하면 각각 자신의 밀도와 같은 위치에 멈춰 분리된다.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RNA world 가설이 "단백질이 먼저 생겼다" 또는 "DNA가 먼저 생겼다"는 대안보다 설득력을 얻는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자연선택이 시작되려면 하나의 분자가 정보 복제와 촉매를 동시에 할 수 있어야 한다. 단백질은 촉매 능력이 뛰어나지만 자신의 아미노산 서열을 주형으로 복제할 수단이 없으므로 변이가 후대로 전달되지 않는다. DNA는 상보적 염기쌍으로 복제되지만 촉매 활성이 거의 없어 복제를 수행할 효소가 이미 있어야 한다. RNA는 염기쌍 상보성으로 정보를 복제할 수 있고 접혀서 ribozyme으로 촉매도 하므로 두 요건을 동시에 만족한다. 현존 세포에 남은 흔적도 이를 지지한다. Ribosome의 peptidyl transferase 활성과 spliceosome의 촉매 부위가 RNA이고, 주요 보조인자가 nucleotide 구조를 갖는다.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산소 발생 광합성의 등장이 이후 생물 진화에 미친 영향을 에너지 수확 측면에서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Cyanobacteria가 물을 전자공여체로 쓰는 광합성을 획득하면서 부산물 O₂가 대기에 축적되었다. O₂는 전자친화도가 높아 좋은 최종 전자수용체가 되므로, 유기물을 CO₂까지 완전히 산화하는 oxidative phosphorylation이 가능해졌다. 발효는 포도당 1분자에서 ATP 2분자를 얻는 반면 산소를 쓰는 완전 산화는 약 30분자를 얻어 약 15배 차이가 난다. 이 에너지 수확의 증가가 eukaryotic 세포의 큰 부피와 많은 소기관, 이어 다세포 생물의 유지 비용을 감당할 수 있게 했다. 반면 반응성이 큰 O₂는 기존 혐기성 생물에게 독성으로 작용해 서식지를 제한했다.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1차 배양 세포 대신 HeLa 같은 세포주를 쓰는 이유와, 그 결과를 조직으로 옮길 때 주의할 점을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1차 배양 세포는 약 50~60회 분열한 뒤 replicative senescence로 증식을 멈추므로 장기 실험과 반복 실험에 쓰기 어렵다. 세포주는 변이로 이 한계를 넘어 무한히 증식하므로 균일한 세포를 계속 공급할 수 있고 유전자 조작도 쉽다. 그러나 세포주는 무한 증식을 가능하게 한 변이를 이미 갖고 있어 원래 조직의 유전체와 발현 양상에서 벗어나 있으며, 조직 특이적 기능을 잃는 경우가 많다. 또한 배양 접시의 2차원 환경에는 조직의 세포외기질과 이웃 세포 신호가 없다. 따라서 세포주에서 얻은 결론은 1차 배양 세포, 3차원 배양 또는 동물 모델에서 재확인해야 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세포의 크기가 위와 아래 양쪽에서 제약을 받는 이유를 각각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위쪽 한계는 두 가지다. 세포가 커지면 부피는 반지름의 세제곱으로 늘지만 표면적은 제곱으로만 늘어, 대사 요구를 정하는 부피가 물질 교환 능력을 정하는 표면적을 앞지른다. 또 확산 시간이 거리의 제곱에 비례하므로 커질수록 세포 안에서 물질이 제때 도달하지 못한다. 아래쪽 한계는 담아야 할 것의 부피다. 유전체 한 벌과 전사·번역 기구, 대사 효소를 담으려면 최소한의 공간이 필요하며, 가장 작은 자유 생활 세균이 약 0.2 μm인 것이 그 한계에 가깝다.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난자와 신경세포 축삭이 세포 크기의 일반적 제약을 어떻게 피하는지 각각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난자는 지름이 100 μm를 넘지만 대사가 느리고 영양을 미리 저장해 두는 구조여서 지속적인 교환 요구가 작다. 또 수정 후 난할에서는 자라지 않고 분열만 하므로 빠르게 정상 크기의 세포들로 나뉜다. 축삭은 1 m를 넘기도 하지만 매우 가늘어 표면적 대 부피 비가 오히려 크므로 교환은 문제가 되지 않는다. 대신 확산으로는 물질이 끝까지 닿을 수 없으므로 세포골격을 따라 능동적으로 운반하는 축삭 수송 체계를 갖추었다. 두 경우 모두 제약을 없앤 것이 아니라 다른 방식으로 해결한 것이다.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막으로 구획을 나누는 것이 주는 네 가지 이점과 그 대가를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양립할 수 없는 화학을 분리한다. Lysosome의 가수분해 효소는 산성에서만 활성이 높아 세포질로 새어도 피해가 제한된다. 둘째, 같은 수의 분자를 좁은 공간에 모아 농도를 올려 반응 속도를 높인다. 셋째, 막이 있어야 양쪽의 농도 차이를 유지할 수 있고 미토콘드리아의 양성자 기울기 같은 동력이 성립한다. 넷째, 막을 안으로 접어 넣어 세포 크기를 키우지 않고 반응이 일어나는 막 면적을 늘린다. 대가는 수송 체계의 필요다. 단백질을 올바른 구획으로 보내는 표적화 기구, 소포의 형성과 융합, 선택적 통로와 펌프가 모두 구획화의 비용이다.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막이 없는 구획이 어떻게 조성을 유지하는지 설명하고, 이 개념이 임상적으로 주목받는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핵소체, 스트레스 과립, P 소체 같은 구조는 막이 없는데도 주변과 다른 조성을 유지한다. 특정 단백질과 RNA가 서로 약하게 여러 지점에서 결합하며 액체–액체 상분리로 방울을 이루는 것으로 설명되며, 물에 기름방울이 뜨는 것과 비슷한 원리다. 막이 없으므로 조성이 빠르게 바뀌고 신호에 따라 생겼다 사라진다. 임상적 관심은 신경퇴행성 질환의 단백질 응집과 연결될 가능성에 있다. 상분리로 생긴 방울이 시간이 지나며 굳어 비가역적 섬유로 전환된다는 모형이 제안되었고, 맞다면 응집 자체가 아니라 방울의 물성 변화를 표적으로 하는 치료가 가능해진다.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기능을 묻는 세 가지 실험 설계를 쓰고, 필요조건과 충분조건의 구분을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없애 보는 기능 상실 실험, 넣어 보는 기능 획득 실험, 없앤 뒤 다시 넣는 구제 실험이다. 없앴을 때 현상이 사라지면 그것이 필요하다는 뜻이고, 넣었을 때 현상이 나타나면 그것으로 충분하다는 뜻이다. 두 주장은 별개이며 하나를 보이고 다른 쪽까지 주장하는 데서 혼란이 생긴다. 구제 실험이 가장 강력한 이유는 없앤 조작 자체의 부작용 때문이 아니라는 것을 함께 보이기 때문이다.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과발현 실험과 저해제 실험, 유전자 제거 실험의 해석에서 각각 주의할 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과발현에서는 평소 농도보다 훨씬 많은 단백질이 만들어져 정상적으로는 일어나지 않을 상호작용이 생길 수 있으므로, 관찰된 효과를 바로 생리적 기능이라고 단정할 수 없다. 저해제는 고농도에서 다른 표적도 억제하는 경우가 많으므로 하나의 저해제 결과만으로 특정 단백질의 기능을 결론지을 수 없고, 작용점이 다른 수단으로 재현해야 한다. 유전자를 제거했는데 표현형이 없는 경우는 그 유전자가 불필요하다는 뜻이 아니라 다른 유전자가 기능을 대신했을 수 있다는 뜻이며, 조건부 제거나 급성 분해처럼 시간을 짧게 두는 방법으로 보상을 피한다.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형광 현미경에서 두 단백질이 같은 자리에 보이는 것이 상호작용의 증거가 되지 못하는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광학 현미경의 분해능은 약 0.2 μm인데, 이 크기의 공간 안에는 수백 개의 단백질 분자가 들어간다. 따라서 두 신호가 같은 화소에 겹쳐 보인다는 것은 두 분자가 같은 영역 안에 있다는 뜻일 뿐 서로 접촉하고 있다는 뜻이 아니다. 결합을 주장하려면 면역침강으로 함께 끌려 나오는지 보거나, 매우 가까운 거리에서만 일어나는 에너지 전달을 측정하거나, 구조 분석으로 접촉면을 보이는 등 다른 종류의 증거가 필요하다. 같은 종류의 관찰을 반복하는 것은 다른 종류의 증거를 대신하지 못한다.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생명을 세 역으로 나누는 체계가 무엇을 근거로 제안되었는지 쓰고, 고세균이 중요한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리보솜 RNA 서열을 비교해 나눈 체계이며, 형태가 아니라 분자 서열로 분류한 첫 사례다. 눈으로는 구별되지 않던 집단이 이 방법으로 갈라졌다. 고세균이 중요한 이유는 겉보기에는 세균과 비슷하지만 세포벽과 막지질의 조성이 다르고, 전사와 번역 기구는 오히려 진핵생물과 닮았기 때문이다. RNA polymerase의 구조와 히스톤 유사 단백질의 존재, 번역 개시 방식이 그렇다. 이 때문에 진핵생물이 고세균 계통에서 갈라져 나왔고 그 위에 α-proteobacteria와의 공생이 더해졌다는 설명이 유력하다.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계통수를 사실이 아니라 가설로 읽어야 하는 이유를 쓰고, 미생물에서 특히 주의할 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계통수는 어떤 서열을 선택했는지와 어떤 진화 모형으로 계산했는지에 따라 가지의 배치가 달라지는 추론의 결과물이다. 미생물에서 특히 주의할 점은 수평 유전자 전달이 흔하다는 것이다. 유전자가 종의 경계를 넘어 옮겨 다니므로 유전자마다 서로 다른 계통수가 나올 수 있고, 하나의 나무로 모든 유전자의 역사를 설명할 수 없다. 항생제 내성 유전자가 종을 건너 빠르게 퍼지는 현상이 같은 기전의 임상적 표현이다.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 안의 분자 혼잡이 시험관 실험 결과의 해석에 어떤 영향을 주는지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세포질의 거대분자 농도는 300~400 g/L로 전체 부피의 20~30%를 거대분자가 차지하는 반면, 시험관 실험은 훨씬 묽은 용액에서 이루어진다. 혼잡한 환경에서는 자유롭게 움직일 공간이 줄어 확산이 느려지고, 다른 분자가 차지한 부피를 피해야 하므로 부피를 적게 차지하는 상태, 즉 결합한 상태와 접힌 상태가 상대적으로 유리해진다. 따라서 시험관에서 측정한 결합 상수와 접힘 속도가 세포 안의 실제 값과 다를 수 있으며, 생체 조건에서의 검증이 필요하다.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 안팎의 이온 조성 차이를 쓰고, 이 상태가 평형이 아니라는 것이 무엇을 뜻하는지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안은 K⁺가 높고 Na⁺, Ca²⁺, Cl⁻가 낮으며 바깥은 반대다. 특히 Ca²⁺은 세포 안 농도가 바깥의 1만 분의 1 수준이다. 이 분포는 평형이 아니므로 유지하는 데 지속적으로 에너지가 들며, Na⁺/K⁺-ATPase가 세포 전체 ATP 소비의 상당 부분을 쓴다. 살아 있다는 것이 비평형 상태를 유지하는 일이라는 뜻이다. 세포가 죽으면 이 기울기가 즉시 무너지고, Ca²⁺이 쏟아져 들어와 분해 효소를 활성화하며 삼투에 의한 세포 부종이 뒤따른다. 극단적인 Ca²⁺ 기울기 덕분에 통로가 잠깐 열리는 것만으로 농도가 급변해 신호가 될 수 있다는 점도 함께 따라 나온다.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M01-W05-L01  ·  세포의 기원·진화와 세포 연구 방법</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 An Overview of Cells and Cell Research.</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 Cells and Genomes.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Miller SL. A production of amino acids under possible primitive earth conditions. Science 1953;117:528–529.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Cech TR. The RNA worlds in context. Cold Spring Harb Perspect Biol 2012;4:a006742.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de Duve C. The lysosome turns fifty. Nat Cell Biol 2005;7:847–849.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Lichtman JW, Conchello JA. Fluorescence microscopy. Nat Methods 2005;2:910–919.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Gray MW, Burger G, Lang BF. Mitochondrial evolution. Science 1999;283:1476–1481.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