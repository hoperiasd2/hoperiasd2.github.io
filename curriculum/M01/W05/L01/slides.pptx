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지구와 생명의 시간표. 지구 형성(약 46억 년 전), 최초의 세포 화석 증거(약 35억 년 전), 산소 발생 광합성의 확산(약 27억~24억 년 전), eukaryotic 세포(약 20억~18억 년 전), 다세포 생물(약 6억 년 전)의 순서를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RNA world에서 현재 세포로의 전환. RNA가 정보 저장과 촉매를 함께 담당하던 단계에서, 촉매는 단백질로, 정보 저장은 DNA로 분업되는 과정과 현존 세포에 남은 흔적을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Prokaryotic 세포와 eukaryotic 세포의 구조 비교. 같은 축척으로 두 세포를 나란히 두어 크기 차이와 구획화의 차이를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Eukaryotic 동물 세포의 소기관 배치. 핵, 분비 경로(rough ER → Golgi → vesicle), lysosome, peroxisome, 미토콘드리아, 세포골격을 기능군별로 구분해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세포의 기원·진화와 세포 연구 방법</a:t>
            </a:r>
          </a:p>
          <a:p>
            <a:r>
              <a:rPr sz="1500" b="0" i="0">
                <a:solidFill>
                  <a:srgbClr val="B9D2E8"/>
                </a:solidFill>
                <a:latin typeface="Malgun Gothic"/>
                <a:ea typeface="Malgun Gothic"/>
                <a:cs typeface="Malgun Gothic"/>
              </a:rPr>
              <a:t>The Origin and Evolution of Cells, and Methods of Cell Study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M01-W05-L01  ·  1부</a:t>
            </a:r>
          </a:p>
          <a:p>
            <a:r>
              <a:rPr sz="1100" b="0" i="0">
                <a:solidFill>
                  <a:srgbClr val="F2B705"/>
                </a:solidFill>
                <a:latin typeface="Malgun Gothic"/>
                <a:ea typeface="Malgun Gothic"/>
                <a:cs typeface="Malgun Gothic"/>
              </a:rPr>
              <a:t>전체 14절 가운데 9절</a:t>
            </a:r>
          </a:p>
          <a:p>
            <a:r>
              <a:rPr sz="1100" b="0" i="0">
                <a:solidFill>
                  <a:srgbClr val="9FBEDA"/>
                </a:solidFill>
                <a:latin typeface="Malgun Gothic"/>
                <a:ea typeface="Malgun Gothic"/>
                <a:cs typeface="Malgun Gothic"/>
              </a:rPr>
              <a:t>5주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세포 이론의 내용과 모든 세포가 공유하는 네 가지 공통 속성을 설명한다.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화학적 진화에서 최초의 자기복제 체계가 등장하는 과정을 RNA world 가설로 설명한다.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Prokaryotic 세포와 eukaryotic 세포를 크기, 구획화, 유전체 구성, 세포골격 측면에서 비교한다.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Eukaryotic 세포소기관의 기능을 분비 경로와 에너지 대사 중심으로 정리하고 endosymbiosis 가설의 근거를 든다.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광학·형광·전자 현미경의 분해능을 결정하는 요인을 계산식으로 설명하고 관찰 대상에 맞는 기법을 고른다.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세포배양과 원심분리를 이용한 세포분획의 원리를 설명하고 각 분획에 어떤 소기관이 들어오는지 예측한다.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M01-W01~W04 인체 기관계 개요 — 조직과 기관이 세포로 이루어져 있다는 사실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고등학교 수준의 화학 — 공유결합, 산-염기, 농도와 용액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세포 이론과 모든 세포의 공통 속성</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세포의 크기 — 왜 이 범위에 있는가</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화학적 진화와 최초의 자기복제 체계</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대사의 진화와 세포의 분화</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Prokaryotic 세포와 eukaryotic 세포의 비교</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Eukaryotic 세포소기관의 개요</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세포 안은 어떤 환경인가</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구획화의 논리 — 왜 안을 나누는가</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생명의 세 역과 계통수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 이론과 모든 세포의 공통 속성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생물학에서 세포(cell)는 스스로 복제할 수 있는 가장 작은 단위다. 19세기 중반에 정리된 </a:t>
            </a:r>
            <a:r>
              <a:rPr sz="1400" b="1" i="0">
                <a:solidFill>
                  <a:srgbClr val="11202B"/>
                </a:solidFill>
                <a:latin typeface="Malgun Gothic"/>
                <a:ea typeface="Malgun Gothic"/>
                <a:cs typeface="Malgun Gothic"/>
              </a:rPr>
              <a:t>세포 이론(cell theory)</a:t>
            </a:r>
            <a:r>
              <a:rPr sz="1400" b="0" i="0">
                <a:solidFill>
                  <a:srgbClr val="11202B"/>
                </a:solidFill>
                <a:latin typeface="Malgun Gothic"/>
                <a:ea typeface="Malgun Gothic"/>
                <a:cs typeface="Malgun Gothic"/>
              </a:rPr>
              <a:t>은 세 가지 주장으로 요약된다. 모든 생물은 세포로 이루어져 있고, 세포는 생명의 기본 구조·기능 단위이며, 세포는 이미 존재하는 세포의 분열로만 생긴다. 마지막 주장이 자연발생설을 부정하면서 생물학은 실험 과학이 되었다.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세균 한 마리와 사람의 신경세포는 크기가 1,000배 이상 다르지만 네 가지를 공유한다. 이 네 가지가 세포생물학이 통일된 학문으로 성립하는 근거다.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지질 이중층 막으로 둘러싸여 있다.</a:t>
            </a:r>
            <a:r>
              <a:rPr sz="1400" b="0" i="0">
                <a:solidFill>
                  <a:srgbClr val="11202B"/>
                </a:solidFill>
                <a:latin typeface="Malgun Gothic"/>
                <a:ea typeface="Malgun Gothic"/>
                <a:cs typeface="Malgun Gothic"/>
              </a:rPr>
              <a:t> 안과 밖의 조성이 다르게 유지되고, 무엇이 드나드는지를 세포가 선택한다.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유전정보를 DNA에 저장한다.</a:t>
            </a:r>
            <a:r>
              <a:rPr sz="1400" b="0" i="0">
                <a:solidFill>
                  <a:srgbClr val="11202B"/>
                </a:solidFill>
                <a:latin typeface="Malgun Gothic"/>
                <a:ea typeface="Malgun Gothic"/>
                <a:cs typeface="Malgun Gothic"/>
              </a:rPr>
              <a:t> 정보는 DNA → RNA → 단백질 방향으로 흐른다.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같은 유전암호를 쓴다.</a:t>
            </a:r>
            <a:r>
              <a:rPr sz="1400" b="0" i="0">
                <a:solidFill>
                  <a:srgbClr val="11202B"/>
                </a:solidFill>
                <a:latin typeface="Malgun Gothic"/>
                <a:ea typeface="Malgun Gothic"/>
                <a:cs typeface="Malgun Gothic"/>
              </a:rPr>
              <a:t> 61개 codon이 20종의 아미노산에 대응하는 대응표가 세균부터 사람까지 거의 동일하다.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대사의 중심 화학이 같다.</a:t>
            </a:r>
            <a:r>
              <a:rPr sz="1400" b="0" i="0">
                <a:solidFill>
                  <a:srgbClr val="11202B"/>
                </a:solidFill>
                <a:latin typeface="Malgun Gothic"/>
                <a:ea typeface="Malgun Gothic"/>
                <a:cs typeface="Malgun Gothic"/>
              </a:rPr>
              <a:t> ATP를 에너지 통화로 쓰고, glycolysis와 TCA cycle의 중간체가 동일하다.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공통성은 모든 현존 생물이 하나의 조상 세포 집단에서 갈라져 나왔다는 결론으로 이어진다. 이 가상의 조상을 </a:t>
            </a:r>
            <a:r>
              <a:rPr sz="1400" b="1" i="0">
                <a:solidFill>
                  <a:srgbClr val="11202B"/>
                </a:solidFill>
                <a:latin typeface="Malgun Gothic"/>
                <a:ea typeface="Malgun Gothic"/>
                <a:cs typeface="Malgun Gothic"/>
              </a:rPr>
              <a:t>last universal common ancestor(LUCA)</a:t>
            </a:r>
            <a:r>
              <a:rPr sz="1400" b="0" i="0">
                <a:solidFill>
                  <a:srgbClr val="11202B"/>
                </a:solidFill>
                <a:latin typeface="Malgun Gothic"/>
                <a:ea typeface="Malgun Gothic"/>
                <a:cs typeface="Malgun Gothic"/>
              </a:rPr>
              <a:t>라고 부른다.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 이론과 모든 세포의 공통 속성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6</a:t>
            </a:r>
          </a:p>
        </p:txBody>
      </p:sp>
      <p:pic>
        <p:nvPicPr>
          <p:cNvPr id="7" name="Picture 6" descr="fig-cell-timeline.slide.png"/>
          <p:cNvPicPr>
            <a:picLocks noChangeAspect="1"/>
          </p:cNvPicPr>
          <p:nvPr/>
        </p:nvPicPr>
        <p:blipFill>
          <a:blip r:embed="rId2"/>
          <a:stretch>
            <a:fillRect/>
          </a:stretch>
        </p:blipFill>
        <p:spPr>
          <a:xfrm>
            <a:off x="792327" y="1325880"/>
            <a:ext cx="10607040" cy="4069246"/>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지구와 생명의 시간표. 지구 형성(약 46억 년 전), 최초의 세포 화석 증거(약 35억 년 전), 산소 발생 광합성의 확산(약 27억~24억 년 전), eukaryotic 세포(약 20억~18억 년 전), 다세포 생물(약 6억 년 전)의 순서를 보인다.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 이론과 모든 세포의 공통 속성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세포의 크기에는 물리적 제약이 있다. 영양소와 산소는 확산으로 들어오고 폐기물은 확산으로 나가는데, 확산 시간은 거리의 제곱에 비례한다. 부피는 반지름의 세제곱으로 늘지만 표면적은 제곱으로만 늘기 때문에, 커질수록 단위 부피당 교환 면적이 줄어든다. 전형적인 세균은 지름 1~2 μm, 동물 세포는 10~30 μm에 머문다. 이 한계를 넘어선 세포들은 예외 없이 보완 장치를 갖추고 있다. 장 상피세포는 microvilli로 흡수 면적을 넓히고, 근육섬유는 핵을 여러 개 갖는다.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 이론과 모든 세포의 공통 속성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막, DNA, 공통 유전암호, 공통 대사 중심 화학이라는 네 가지 공통 속성은 생명의 단일 기원을 보여주는 증거이고, 동시에 한 종에서 얻은 세포생물학 지식을 다른 종에 적용할 수 있게 하는 근거다.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세포의 크기 — 왜 이 범위에 있는가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대부분의 세포는 직경 1~100 μm 범위에 있다. 이 범위가 우연이 아니라는 것을 보이는 것이 세포생물학의 좋은 출발점이다. 위와 아래 양쪽에서 제약이 걸린다.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위쪽 한계: 표면적 대 부피.</a:t>
            </a:r>
            <a:r>
              <a:rPr sz="1400" b="0" i="0">
                <a:solidFill>
                  <a:srgbClr val="11202B"/>
                </a:solidFill>
                <a:latin typeface="Malgun Gothic"/>
                <a:ea typeface="Malgun Gothic"/>
                <a:cs typeface="Malgun Gothic"/>
              </a:rPr>
              <a:t> 세포가 커지면 부피는 반지름의 세제곱으로 늘지만 표면적은 제곱으로만 는다. 부피는 대사 요구를, 표면적은 물질 교환 능력을 정하므로, 커질수록 </a:t>
            </a:r>
            <a:r>
              <a:rPr sz="1400" b="1" i="0">
                <a:solidFill>
                  <a:srgbClr val="11202B"/>
                </a:solidFill>
                <a:latin typeface="Malgun Gothic"/>
                <a:ea typeface="Malgun Gothic"/>
                <a:cs typeface="Malgun Gothic"/>
              </a:rPr>
              <a:t>수요가 공급을 앞지른다</a:t>
            </a:r>
            <a:r>
              <a:rPr sz="1400" b="0" i="0">
                <a:solidFill>
                  <a:srgbClr val="11202B"/>
                </a:solidFill>
                <a:latin typeface="Malgun Gothic"/>
                <a:ea typeface="Malgun Gothic"/>
                <a:cs typeface="Malgun Gothic"/>
              </a:rPr>
              <a:t>. 반지름이 두 배가 되면 부피는 8배인데 표면적은 4배뿐이다.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위쪽 한계: 확산 거리.</a:t>
            </a:r>
            <a:r>
              <a:rPr sz="1400" b="0" i="0">
                <a:solidFill>
                  <a:srgbClr val="11202B"/>
                </a:solidFill>
                <a:latin typeface="Malgun Gothic"/>
                <a:ea typeface="Malgun Gothic"/>
                <a:cs typeface="Malgun Gothic"/>
              </a:rPr>
              <a:t> M01-W01-L01에서 본 대로 확산 시간은 거리의 제곱에 비례한다. 작은 분자가 10 μm를 지나는 데 약 0.05초지만 100 μm에는 약 5초가 걸린다. 세포 안에서 신호와 대사물질이 제때 도달하려면 거리가 짧아야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아래쪽 한계: 들어가야 할 것의 부피.</a:t>
            </a:r>
            <a:r>
              <a:rPr sz="1400" b="0" i="0">
                <a:solidFill>
                  <a:srgbClr val="11202B"/>
                </a:solidFill>
                <a:latin typeface="Malgun Gothic"/>
                <a:ea typeface="Malgun Gothic"/>
                <a:cs typeface="Malgun Gothic"/>
              </a:rPr>
              <a:t> 세포는 최소한 유전체 한 벌, 전사와 번역의 기구, 대사 효소를 담아야 한다. Ribosome 하나가 약 25 nm이므로 이것들을 담으려면 최소한의 부피가 필요하다. 가장 작은 자유 생활 세균이 약 0.2 μm인 것이 이 한계에 가깝다.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한계를 피하는 전략들.</a:t>
            </a:r>
            <a:r>
              <a:rPr sz="1400" b="0" i="0">
                <a:solidFill>
                  <a:srgbClr val="11202B"/>
                </a:solidFill>
                <a:latin typeface="Malgun Gothic"/>
                <a:ea typeface="Malgun Gothic"/>
                <a:cs typeface="Malgun Gothic"/>
              </a:rPr>
              <a:t> 크기 제약을 우회하는 방법이 진화에서 반복해서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모양을 바꾼다.</a:t>
            </a:r>
            <a:r>
              <a:rPr sz="1400" b="0" i="0">
                <a:solidFill>
                  <a:srgbClr val="11202B"/>
                </a:solidFill>
                <a:latin typeface="Malgun Gothic"/>
                <a:ea typeface="Malgun Gothic"/>
                <a:cs typeface="Malgun Gothic"/>
              </a:rPr>
              <a:t> 납작하거나 길쭉하면 부피에 비해 표면적이 커진다. 적혈구의 양면 오목한 원반이 그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표면을 접는다.</a:t>
            </a:r>
            <a:r>
              <a:rPr sz="1400" b="0" i="0">
                <a:solidFill>
                  <a:srgbClr val="11202B"/>
                </a:solidFill>
                <a:latin typeface="Malgun Gothic"/>
                <a:ea typeface="Malgun Gothic"/>
                <a:cs typeface="Malgun Gothic"/>
              </a:rPr>
              <a:t> 미세융모가 흡수 면적을 수십 배 늘린다(M01-W01-L03).</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핵을 여럿 둔다.</a:t>
            </a:r>
            <a:r>
              <a:rPr sz="1400" b="0" i="0">
                <a:solidFill>
                  <a:srgbClr val="11202B"/>
                </a:solidFill>
                <a:latin typeface="Malgun Gothic"/>
                <a:ea typeface="Malgun Gothic"/>
                <a:cs typeface="Malgun Gothic"/>
              </a:rPr>
              <a:t> 골격근 섬유가 그렇다(M01-W03-L03).</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안을 나눈다.</a:t>
            </a:r>
            <a:r>
              <a:rPr sz="1400" b="0" i="0">
                <a:solidFill>
                  <a:srgbClr val="11202B"/>
                </a:solidFill>
                <a:latin typeface="Malgun Gothic"/>
                <a:ea typeface="Malgun Gothic"/>
                <a:cs typeface="Malgun Gothic"/>
              </a:rPr>
              <a:t> 진핵세포의 구획화가 이 전략이며 다음 절에서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능동 수송으로 움직인다.</a:t>
            </a:r>
            <a:r>
              <a:rPr sz="1400" b="0" i="0">
                <a:solidFill>
                  <a:srgbClr val="11202B"/>
                </a:solidFill>
                <a:latin typeface="Malgun Gothic"/>
                <a:ea typeface="Malgun Gothic"/>
                <a:cs typeface="Malgun Gothic"/>
              </a:rPr>
              <a:t> 확산에 맡기지 않고 세포골격을 따라 실어 나른다(M01-W10-L02).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세포의 크기 — 왜 이 범위에 있는가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10</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세포 크기의 예외가 설명을 요구한다. </a:t>
            </a:r>
            <a:r>
              <a:rPr sz="1600" b="1" i="0">
                <a:solidFill>
                  <a:srgbClr val="11202B"/>
                </a:solidFill>
                <a:latin typeface="Malgun Gothic"/>
                <a:ea typeface="Malgun Gothic"/>
                <a:cs typeface="Malgun Gothic"/>
              </a:rPr>
              <a:t>난자</a:t>
            </a:r>
            <a:r>
              <a:rPr sz="1600" b="0" i="0">
                <a:solidFill>
                  <a:srgbClr val="11202B"/>
                </a:solidFill>
                <a:latin typeface="Malgun Gothic"/>
                <a:ea typeface="Malgun Gothic"/>
                <a:cs typeface="Malgun Gothic"/>
              </a:rPr>
              <a:t>는 지름이 100 μm를 넘고 조류의 알은 훨씬 크다. 대사가 느리고 영양을 미리 저장해 두는 구조여서 교환 요구가 작기 때문이며, 수정 후 난할에서 자라지 않고 분열만 해 빠르게 정상 크기로 돌아간다(M01-W03-L01). </a:t>
            </a:r>
            <a:r>
              <a:rPr sz="1600" b="1" i="0">
                <a:solidFill>
                  <a:srgbClr val="11202B"/>
                </a:solidFill>
                <a:latin typeface="Malgun Gothic"/>
                <a:ea typeface="Malgun Gothic"/>
                <a:cs typeface="Malgun Gothic"/>
              </a:rPr>
              <a:t>신경세포의 축삭</a:t>
            </a:r>
            <a:r>
              <a:rPr sz="1600" b="0" i="0">
                <a:solidFill>
                  <a:srgbClr val="11202B"/>
                </a:solidFill>
                <a:latin typeface="Malgun Gothic"/>
                <a:ea typeface="Malgun Gothic"/>
                <a:cs typeface="Malgun Gothic"/>
              </a:rPr>
              <a:t>은 1 m를 넘기도 하는데, 세포체는 보통 크기이고 축삭은 가늘어 표면적 대 부피 비가 오히려 크다. 다만 확산으로는 물질이 닿지 못하므로 </a:t>
            </a:r>
            <a:r>
              <a:rPr sz="1600" b="1" i="0">
                <a:solidFill>
                  <a:srgbClr val="11202B"/>
                </a:solidFill>
                <a:latin typeface="Malgun Gothic"/>
                <a:ea typeface="Malgun Gothic"/>
                <a:cs typeface="Malgun Gothic"/>
              </a:rPr>
              <a:t>축삭 수송</a:t>
            </a:r>
            <a:r>
              <a:rPr sz="1600" b="0" i="0">
                <a:solidFill>
                  <a:srgbClr val="11202B"/>
                </a:solidFill>
                <a:latin typeface="Malgun Gothic"/>
                <a:ea typeface="Malgun Gothic"/>
                <a:cs typeface="Malgun Gothic"/>
              </a:rPr>
              <a:t>이라는 별도의 운반 체계를 갖추었다. 두 예외 모두 제약을 없앤 것이 아니라 다른 방식으로 해결한 것이다.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화학적 진화와 최초의 자기복제 체계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세포가 생기기 전에 생체분자가 먼저 있어야 한다. 1953년 Stanley Miller는 물, 수소, methane, ammonia를 넣은 밀폐 용기에 전기 방전을 가해 일주일 만에 glycine, alanine을 비롯한 여러 아미노산이 생기는 것을 확인했다. 이 실험은 </a:t>
            </a:r>
            <a:r>
              <a:rPr sz="1400" b="1" i="0">
                <a:solidFill>
                  <a:srgbClr val="11202B"/>
                </a:solidFill>
                <a:latin typeface="Malgun Gothic"/>
                <a:ea typeface="Malgun Gothic"/>
                <a:cs typeface="Malgun Gothic"/>
              </a:rPr>
              <a:t>생체분자가 생물의 개입 없이 간단한 무기물에서 만들어질 수 있다</a:t>
            </a:r>
            <a:r>
              <a:rPr sz="1400" b="0" i="0">
                <a:solidFill>
                  <a:srgbClr val="11202B"/>
                </a:solidFill>
                <a:latin typeface="Malgun Gothic"/>
                <a:ea typeface="Malgun Gothic"/>
                <a:cs typeface="Malgun Gothic"/>
              </a:rPr>
              <a:t>는 것을 보였다. 이후 비슷한 조건에서 당, purine과 pyrimidine 염기, 지방산도 합성되었고, 탄소질 운석(Murchison meteorite)에서도 아미노산이 검출되었다.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다음 문제가 더 어렵다. 분자들이 있다고 해서 생명이 되지는 않는다. 자연선택이 작동하려면 </a:t>
            </a:r>
            <a:r>
              <a:rPr sz="1400" b="1" i="0">
                <a:solidFill>
                  <a:srgbClr val="11202B"/>
                </a:solidFill>
                <a:latin typeface="Malgun Gothic"/>
                <a:ea typeface="Malgun Gothic"/>
                <a:cs typeface="Malgun Gothic"/>
              </a:rPr>
              <a:t>스스로를 복제하면서 그 복제가 완벽하지 않은 분자</a:t>
            </a:r>
            <a:r>
              <a:rPr sz="1400" b="0" i="0">
                <a:solidFill>
                  <a:srgbClr val="11202B"/>
                </a:solidFill>
                <a:latin typeface="Malgun Gothic"/>
                <a:ea typeface="Malgun Gothic"/>
                <a:cs typeface="Malgun Gothic"/>
              </a:rPr>
              <a:t>가 필요하다. 복제가 있으면 수가 늘고, 오류가 있으면 변이가 생기고, 변이 중 복제를 더 잘하는 것이 남는다.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후보는 두 가지였다. 단백질은 촉매 능력이 뛰어나지만 자신의 서열 정보를 복제할 수단이 없다. DNA는 정보를 복제할 수 있지만 스스로 촉매하지 못한다. 1980년대에 </a:t>
            </a:r>
            <a:r>
              <a:rPr sz="1400" b="1" i="0">
                <a:solidFill>
                  <a:srgbClr val="11202B"/>
                </a:solidFill>
                <a:latin typeface="Malgun Gothic"/>
                <a:ea typeface="Malgun Gothic"/>
                <a:cs typeface="Malgun Gothic"/>
              </a:rPr>
              <a:t>ribozyme</a:t>
            </a:r>
            <a:r>
              <a:rPr sz="1400" b="0" i="0">
                <a:solidFill>
                  <a:srgbClr val="11202B"/>
                </a:solidFill>
                <a:latin typeface="Malgun Gothic"/>
                <a:ea typeface="Malgun Gothic"/>
                <a:cs typeface="Malgun Gothic"/>
              </a:rPr>
              <a:t>, 즉 촉매 활성을 가진 RNA가 발견되면서 이 교착이 풀렸다. *Tetrahymena*의 rRNA 전구체는 단백질 없이 자신의 intron을 잘라냈고, RNase P의 촉매 부위도 RNA였다.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RNA world 가설</a:t>
            </a:r>
            <a:r>
              <a:rPr sz="1400" b="0" i="0">
                <a:solidFill>
                  <a:srgbClr val="11202B"/>
                </a:solidFill>
                <a:latin typeface="Malgun Gothic"/>
                <a:ea typeface="Malgun Gothic"/>
                <a:cs typeface="Malgun Gothic"/>
              </a:rPr>
              <a:t>은 이렇게 정리된다. 최초의 자기복제 체계는 RNA였다. RNA는 염기쌍 상보성으로 정보를 복제할 수 있고, 접혀서 입체 구조를 만들어 촉매도 할 수 있다. 이후 더 효율적인 촉매인 단백질이 역할을 넘겨받고, 더 안정한 정보 저장체인 DNA가 정보를 넘겨받았다.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현존 세포에 남아 있는 흔적이 이 가설을 지지한다. 번역에서 peptide 결합을 실제로 만드는 </a:t>
            </a:r>
            <a:r>
              <a:rPr sz="1400" b="1" i="0">
                <a:solidFill>
                  <a:srgbClr val="11202B"/>
                </a:solidFill>
                <a:latin typeface="Malgun Gothic"/>
                <a:ea typeface="Malgun Gothic"/>
                <a:cs typeface="Malgun Gothic"/>
              </a:rPr>
              <a:t>peptidyl transferase 활성은 ribosome의 23S/28S rRNA</a:t>
            </a:r>
            <a:r>
              <a:rPr sz="1400" b="0" i="0">
                <a:solidFill>
                  <a:srgbClr val="11202B"/>
                </a:solidFill>
                <a:latin typeface="Malgun Gothic"/>
                <a:ea typeface="Malgun Gothic"/>
                <a:cs typeface="Malgun Gothic"/>
              </a:rPr>
              <a:t>에 있고 단백질이 아니다. Spliceosome의 촉매 부위도 snRNA이며, ATP, NAD⁺, FAD, coenzyme A 같은 핵심 보조인자는 모두 nucleotide 구조를 갖는다.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화학적 진화와 최초의 자기복제 체계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12</a:t>
            </a:r>
          </a:p>
        </p:txBody>
      </p:sp>
      <p:pic>
        <p:nvPicPr>
          <p:cNvPr id="7" name="Picture 6" descr="fig-rna-world.slide.png"/>
          <p:cNvPicPr>
            <a:picLocks noChangeAspect="1"/>
          </p:cNvPicPr>
          <p:nvPr/>
        </p:nvPicPr>
        <p:blipFill>
          <a:blip r:embed="rId2"/>
          <a:stretch>
            <a:fillRect/>
          </a:stretch>
        </p:blipFill>
        <p:spPr>
          <a:xfrm>
            <a:off x="1029315" y="1325880"/>
            <a:ext cx="1013306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RNA world에서 현재 세포로의 전환. RNA가 정보 저장과 촉매를 함께 담당하던 단계에서, 촉매는 단백질로, 정보 저장은 DNA로 분업되는 과정과 현존 세포에 남은 흔적을 보인다.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화학적 진화와 최초의 자기복제 체계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최초의 세포는 자기복제 RNA가 지질 이중층 소포 안에 갇힌 형태였을 것이다. 지질 이중층은 지방산이나 인지질을 물에 넣으면 </a:t>
            </a:r>
            <a:r>
              <a:rPr sz="2000" b="1" i="0">
                <a:solidFill>
                  <a:srgbClr val="11202B"/>
                </a:solidFill>
                <a:latin typeface="Malgun Gothic"/>
                <a:ea typeface="Malgun Gothic"/>
                <a:cs typeface="Malgun Gothic"/>
              </a:rPr>
              <a:t>외부 에너지 없이 자발적으로</a:t>
            </a:r>
            <a:r>
              <a:rPr sz="2000" b="0" i="0">
                <a:solidFill>
                  <a:srgbClr val="11202B"/>
                </a:solidFill>
                <a:latin typeface="Malgun Gothic"/>
                <a:ea typeface="Malgun Gothic"/>
                <a:cs typeface="Malgun Gothic"/>
              </a:rPr>
              <a:t> 형성되므로, 이 단계에 특별한 설명이 필요하지 않다. 막에 갇힌 복제체는 자신이 만든 산물의 이익을 독점하므로 선택의 단위가 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대사의 진화와 세포의 분화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최초의 세포는 주변의 유기물을 발효로 분해해 에너지를 얻었을 것이다. </a:t>
            </a:r>
            <a:r>
              <a:rPr sz="1600" b="1" i="0">
                <a:solidFill>
                  <a:srgbClr val="11202B"/>
                </a:solidFill>
                <a:latin typeface="Malgun Gothic"/>
                <a:ea typeface="Malgun Gothic"/>
                <a:cs typeface="Malgun Gothic"/>
              </a:rPr>
              <a:t>Glycolysis</a:t>
            </a:r>
            <a:r>
              <a:rPr sz="1600" b="0" i="0">
                <a:solidFill>
                  <a:srgbClr val="11202B"/>
                </a:solidFill>
                <a:latin typeface="Malgun Gothic"/>
                <a:ea typeface="Malgun Gothic"/>
                <a:cs typeface="Malgun Gothic"/>
              </a:rPr>
              <a:t>가 모든 생물에 보존되어 있고 산소를 쓰지 않으며 세포질에서 일어난다는 점이 이 추정의 근거다. 그러나 유기물은 유한하므로 공급이 곧 한계가 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한계를 깬 것이 </a:t>
            </a:r>
            <a:r>
              <a:rPr sz="1600" b="1" i="0">
                <a:solidFill>
                  <a:srgbClr val="11202B"/>
                </a:solidFill>
                <a:latin typeface="Malgun Gothic"/>
                <a:ea typeface="Malgun Gothic"/>
                <a:cs typeface="Malgun Gothic"/>
              </a:rPr>
              <a:t>photosynthesis</a:t>
            </a:r>
            <a:r>
              <a:rPr sz="1600" b="0" i="0">
                <a:solidFill>
                  <a:srgbClr val="11202B"/>
                </a:solidFill>
                <a:latin typeface="Malgun Gothic"/>
                <a:ea typeface="Malgun Gothic"/>
                <a:cs typeface="Malgun Gothic"/>
              </a:rPr>
              <a:t>다. 빛 에너지로 CO₂를 유기물로 고정하면 에너지와 탄소를 스스로 공급할 수 있다. 초기 광합성 세균은 H₂S를 전자공여체로 썼고, 이후 cyanobacteria가 </a:t>
            </a:r>
            <a:r>
              <a:rPr sz="1600" b="1" i="0">
                <a:solidFill>
                  <a:srgbClr val="11202B"/>
                </a:solidFill>
                <a:latin typeface="Malgun Gothic"/>
                <a:ea typeface="Malgun Gothic"/>
                <a:cs typeface="Malgun Gothic"/>
              </a:rPr>
              <a:t>물을 전자공여체로 쓰는 산소 발생 광합성</a:t>
            </a:r>
            <a:r>
              <a:rPr sz="1600" b="0" i="0">
                <a:solidFill>
                  <a:srgbClr val="11202B"/>
                </a:solidFill>
                <a:latin typeface="Malgun Gothic"/>
                <a:ea typeface="Malgun Gothic"/>
                <a:cs typeface="Malgun Gothic"/>
              </a:rPr>
              <a:t>을 획득했다. 물은 어디에나 있으므로 이 전환은 생산력을 크게 늘렸고, 부산물인 O₂가 약 24억 년 전부터 대기에 축적되었다(great oxidation event).</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O₂의 축적은 두 가지 결과를 낳았다. 반응성이 큰 O₂는 기존 혐기성 생물에게 독이었다. 동시에, O₂를 최종 전자수용체로 쓰는 </a:t>
            </a:r>
            <a:r>
              <a:rPr sz="1600" b="1" i="0">
                <a:solidFill>
                  <a:srgbClr val="11202B"/>
                </a:solidFill>
                <a:latin typeface="Malgun Gothic"/>
                <a:ea typeface="Malgun Gothic"/>
                <a:cs typeface="Malgun Gothic"/>
              </a:rPr>
              <a:t>oxidative phosphorylation</a:t>
            </a:r>
            <a:r>
              <a:rPr sz="1600" b="0" i="0">
                <a:solidFill>
                  <a:srgbClr val="11202B"/>
                </a:solidFill>
                <a:latin typeface="Malgun Gothic"/>
                <a:ea typeface="Malgun Gothic"/>
                <a:cs typeface="Malgun Gothic"/>
              </a:rPr>
              <a:t>이 가능해졌다. 포도당 한 분자에서 발효는 ATP 2분자를 얻지만 산소를 쓰는 완전 산화는 약 30분자를 얻는다. 15배의 에너지 수확 차이가 이후 모든 복잡한 생물의 토대가 되었다.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대사의 진화와 세포의 분화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대사 양식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전자공여체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최종 전자수용체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포도당 1분자당 ATP</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등장 시기(추정)</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발효(glycolysis만)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유기물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유기물(pyruvate 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가장 이른 시기</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혐기성 광합성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H₂S, H₂</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 (CO₂ 고정)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33억 년 전</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산소 발생 광합성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H₂O</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 (CO₂ 고정)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27억 년 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Oxidative phosphorylation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유기물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O₂</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30</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24억 년 전 이후</a:t>
                      </a:r>
                    </a:p>
                  </a:txBody>
                  <a:tcPr marL="73152" marR="73152" marT="27432" marB="27432">
                    <a:solidFill>
                      <a:srgbClr val="EFF4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Prokaryotic 세포와 eukaryotic 세포의 비교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현존 생물은 세 영역(domain)으로 나뉜다. </a:t>
            </a:r>
            <a:r>
              <a:rPr sz="2000" b="1" i="0">
                <a:solidFill>
                  <a:srgbClr val="11202B"/>
                </a:solidFill>
                <a:latin typeface="Malgun Gothic"/>
                <a:ea typeface="Malgun Gothic"/>
                <a:cs typeface="Malgun Gothic"/>
              </a:rPr>
              <a:t>Bacteria</a:t>
            </a:r>
            <a:r>
              <a:rPr sz="2000" b="0" i="0">
                <a:solidFill>
                  <a:srgbClr val="11202B"/>
                </a:solidFill>
                <a:latin typeface="Malgun Gothic"/>
                <a:ea typeface="Malgun Gothic"/>
                <a:cs typeface="Malgun Gothic"/>
              </a:rPr>
              <a:t>, </a:t>
            </a:r>
            <a:r>
              <a:rPr sz="2000" b="1" i="0">
                <a:solidFill>
                  <a:srgbClr val="11202B"/>
                </a:solidFill>
                <a:latin typeface="Malgun Gothic"/>
                <a:ea typeface="Malgun Gothic"/>
                <a:cs typeface="Malgun Gothic"/>
              </a:rPr>
              <a:t>Archaea</a:t>
            </a:r>
            <a:r>
              <a:rPr sz="2000" b="0" i="0">
                <a:solidFill>
                  <a:srgbClr val="11202B"/>
                </a:solidFill>
                <a:latin typeface="Malgun Gothic"/>
                <a:ea typeface="Malgun Gothic"/>
                <a:cs typeface="Malgun Gothic"/>
              </a:rPr>
              <a:t>, </a:t>
            </a:r>
            <a:r>
              <a:rPr sz="2000" b="1" i="0">
                <a:solidFill>
                  <a:srgbClr val="11202B"/>
                </a:solidFill>
                <a:latin typeface="Malgun Gothic"/>
                <a:ea typeface="Malgun Gothic"/>
                <a:cs typeface="Malgun Gothic"/>
              </a:rPr>
              <a:t>Eukarya</a:t>
            </a:r>
            <a:r>
              <a:rPr sz="2000" b="0" i="0">
                <a:solidFill>
                  <a:srgbClr val="11202B"/>
                </a:solidFill>
                <a:latin typeface="Malgun Gothic"/>
                <a:ea typeface="Malgun Gothic"/>
                <a:cs typeface="Malgun Gothic"/>
              </a:rPr>
              <a:t>다. 앞의 둘은 핵막이 없어 prokaryote로 묶이지만, archaea는 DNA 복제·전사·번역 기구가 eukaryote에 더 가깝다. 즉 prokaryote는 하나의 계통이 아니라 </a:t>
            </a:r>
            <a:r>
              <a:rPr sz="2000" b="1" i="0">
                <a:solidFill>
                  <a:srgbClr val="11202B"/>
                </a:solidFill>
                <a:latin typeface="Malgun Gothic"/>
                <a:ea typeface="Malgun Gothic"/>
                <a:cs typeface="Malgun Gothic"/>
              </a:rPr>
              <a:t>핵이 없다는 공통점으로 묶인 두 계통</a:t>
            </a:r>
            <a:r>
              <a:rPr sz="2000" b="0" i="0">
                <a:solidFill>
                  <a:srgbClr val="11202B"/>
                </a:solidFill>
                <a:latin typeface="Malgun Gothic"/>
                <a:ea typeface="Malgun Gothic"/>
                <a:cs typeface="Malgun Gothic"/>
              </a:rPr>
              <a:t>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Prokaryotic 세포와 eukaryotic 세포의 비교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17</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Prokaryote</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Eukaryote</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지름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1~2 μm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10~100 μm</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부피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1 μm³</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1,000~10,000 μm³</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핵막</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없음(nucleoid)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있음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유전체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환상 DNA 1개, 약 0.5~10 Mb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선형 염색체 여러 개, 12 Mb~3,000 Mb</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유전자 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500~5,000</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6,000~25,000</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Intron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거의 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많음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Ribosome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70S (50S + 30S)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80S (60S + 40S)</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막성 소기관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있음</a:t>
                      </a:r>
                    </a:p>
                  </a:txBody>
                  <a:tcPr marL="73152" marR="73152" marT="27432" marB="27432">
                    <a:solidFill>
                      <a:srgbClr val="EFF4F8"/>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Prokaryotic 세포와 eukaryotic 세포의 비교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Prokaryote</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Eukaryote</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세포골격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상동 단백질 존재(FtsZ, MreB)</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actin, tubulin, 중간섬유</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전사와 번역</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같은 공간에서 동시에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핵에서 전사, 세포질에서 번역</a:t>
                      </a:r>
                    </a:p>
                  </a:txBody>
                  <a:tcPr marL="73152" marR="73152" marT="27432" marB="27432">
                    <a:solidFill>
                      <a:srgbClr val="EFF4F8"/>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Prokaryotic 세포와 eukaryotic 세포의 비교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표에서 가장 중요한 차이는 </a:t>
            </a:r>
            <a:r>
              <a:rPr sz="1800" b="1" i="0">
                <a:solidFill>
                  <a:srgbClr val="11202B"/>
                </a:solidFill>
                <a:latin typeface="Malgun Gothic"/>
                <a:ea typeface="Malgun Gothic"/>
                <a:cs typeface="Malgun Gothic"/>
              </a:rPr>
              <a:t>구획화(compartmentalization)</a:t>
            </a:r>
            <a:r>
              <a:rPr sz="1800" b="0" i="0">
                <a:solidFill>
                  <a:srgbClr val="11202B"/>
                </a:solidFill>
                <a:latin typeface="Malgun Gothic"/>
                <a:ea typeface="Malgun Gothic"/>
                <a:cs typeface="Malgun Gothic"/>
              </a:rPr>
              <a:t>다. Prokaryote는 하나의 공간에서 모든 반응이 일어나므로 조건이 서로 다른 반응을 동시에 진행하기 어렵다. Eukaryote는 막으로 공간을 나누어 lysosome 안은 pH 5로, 세포질은 pH 7.2로 유지하고, 미토콘드리아 막 사이 공간에는 양성자를 축적한다. 구획화는 또한 </a:t>
            </a:r>
            <a:r>
              <a:rPr sz="1800" b="1" i="0">
                <a:solidFill>
                  <a:srgbClr val="11202B"/>
                </a:solidFill>
                <a:latin typeface="Malgun Gothic"/>
                <a:ea typeface="Malgun Gothic"/>
                <a:cs typeface="Malgun Gothic"/>
              </a:rPr>
              <a:t>전사와 번역을 분리</a:t>
            </a:r>
            <a:r>
              <a:rPr sz="1800" b="0" i="0">
                <a:solidFill>
                  <a:srgbClr val="11202B"/>
                </a:solidFill>
                <a:latin typeface="Malgun Gothic"/>
                <a:ea typeface="Malgun Gothic"/>
                <a:cs typeface="Malgun Gothic"/>
              </a:rPr>
              <a:t>하는데, 이 분리가 RNA 가공(splicing, capping, polyadenylation)과 그 수준의 유전자 발현 조절을 가능하게 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Prokaryotic 세포와 eukaryotic 세포의 비교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20</a:t>
            </a:r>
          </a:p>
        </p:txBody>
      </p:sp>
      <p:pic>
        <p:nvPicPr>
          <p:cNvPr id="7" name="Picture 6" descr="fig-pro-euk.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Prokaryotic 세포와 eukaryotic 세포의 구조 비교. 같은 축척으로 두 세포를 나란히 두어 크기 차이와 구획화의 차이를 보인다.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Prokaryotic 세포와 eukaryotic 세포의 비교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Eukaryote의 유전체는 크지만 유전자 수의 증가는 그만큼 크지 않다. 사람 유전체 3,200 Mb 중 단백질 암호화 부위는 2% 미만이다. 즉 복잡성의 증가는 유전자 개수보다 </a:t>
            </a:r>
            <a:r>
              <a:rPr sz="2000" b="1" i="0">
                <a:solidFill>
                  <a:srgbClr val="11202B"/>
                </a:solidFill>
                <a:latin typeface="Malgun Gothic"/>
                <a:ea typeface="Malgun Gothic"/>
                <a:cs typeface="Malgun Gothic"/>
              </a:rPr>
              <a:t>조절 서열, intron, 반복 서열의 증가</a:t>
            </a:r>
            <a:r>
              <a:rPr sz="2000" b="0" i="0">
                <a:solidFill>
                  <a:srgbClr val="11202B"/>
                </a:solidFill>
                <a:latin typeface="Malgun Gothic"/>
                <a:ea typeface="Malgun Gothic"/>
                <a:cs typeface="Malgun Gothic"/>
              </a:rPr>
              <a:t>에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Eukaryotic 세포소기관의 개요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Eukaryotic 세포의 소기관은 기능으로 묶으면 네 군이다. 이 구분은 뒤의 수업에서 각 소기관을 자세히 다룰 때의 지도가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유전정보 — nucleus</a:t>
            </a:r>
            <a:r>
              <a:rPr sz="1400" b="0" i="0">
                <a:solidFill>
                  <a:srgbClr val="11202B"/>
                </a:solidFill>
                <a:latin typeface="Malgun Gothic"/>
                <a:ea typeface="Malgun Gothic"/>
                <a:cs typeface="Malgun Gothic"/>
              </a:rPr>
              <a:t> 핵막은 이중막이고 nuclear pore complex가 박혀 있어 RNA와 단백질의 출입을 선택한다. 내부의 </a:t>
            </a:r>
            <a:r>
              <a:rPr sz="1400" b="1" i="0">
                <a:solidFill>
                  <a:srgbClr val="11202B"/>
                </a:solidFill>
                <a:latin typeface="Malgun Gothic"/>
                <a:ea typeface="Malgun Gothic"/>
                <a:cs typeface="Malgun Gothic"/>
              </a:rPr>
              <a:t>nucleolus</a:t>
            </a:r>
            <a:r>
              <a:rPr sz="1400" b="0" i="0">
                <a:solidFill>
                  <a:srgbClr val="11202B"/>
                </a:solidFill>
                <a:latin typeface="Malgun Gothic"/>
                <a:ea typeface="Malgun Gothic"/>
                <a:cs typeface="Malgun Gothic"/>
              </a:rPr>
              <a:t>에서 rRNA가 전사되고 ribosome 소단위가 조립된다.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분비 경로 — rough ER, smooth ER, Golgi apparatus, lysosome</a:t>
            </a:r>
            <a:r>
              <a:rPr sz="1400" b="0" i="0">
                <a:solidFill>
                  <a:srgbClr val="11202B"/>
                </a:solidFill>
                <a:latin typeface="Malgun Gothic"/>
                <a:ea typeface="Malgun Gothic"/>
                <a:cs typeface="Malgun Gothic"/>
              </a:rPr>
              <a:t> Ribosome이 붙어 있는 </a:t>
            </a:r>
            <a:r>
              <a:rPr sz="1400" b="1" i="0">
                <a:solidFill>
                  <a:srgbClr val="11202B"/>
                </a:solidFill>
                <a:latin typeface="Malgun Gothic"/>
                <a:ea typeface="Malgun Gothic"/>
                <a:cs typeface="Malgun Gothic"/>
              </a:rPr>
              <a:t>rough ER</a:t>
            </a:r>
            <a:r>
              <a:rPr sz="1400" b="0" i="0">
                <a:solidFill>
                  <a:srgbClr val="11202B"/>
                </a:solidFill>
                <a:latin typeface="Malgun Gothic"/>
                <a:ea typeface="Malgun Gothic"/>
                <a:cs typeface="Malgun Gothic"/>
              </a:rPr>
              <a:t>에서 분비 단백질과 막단백질이 합성되면서 ER 내부로 들어간다. Ribosome이 없는 </a:t>
            </a:r>
            <a:r>
              <a:rPr sz="1400" b="1" i="0">
                <a:solidFill>
                  <a:srgbClr val="11202B"/>
                </a:solidFill>
                <a:latin typeface="Malgun Gothic"/>
                <a:ea typeface="Malgun Gothic"/>
                <a:cs typeface="Malgun Gothic"/>
              </a:rPr>
              <a:t>smooth ER</a:t>
            </a:r>
            <a:r>
              <a:rPr sz="1400" b="0" i="0">
                <a:solidFill>
                  <a:srgbClr val="11202B"/>
                </a:solidFill>
                <a:latin typeface="Malgun Gothic"/>
                <a:ea typeface="Malgun Gothic"/>
                <a:cs typeface="Malgun Gothic"/>
              </a:rPr>
              <a:t>은 지질과 steroid를 합성하고 약물을 대사하며, 근육에서는 변형된 형태(sarcoplasmic reticulum)로 Ca²⁺를 저장한다. </a:t>
            </a:r>
            <a:r>
              <a:rPr sz="1400" b="1" i="0">
                <a:solidFill>
                  <a:srgbClr val="11202B"/>
                </a:solidFill>
                <a:latin typeface="Malgun Gothic"/>
                <a:ea typeface="Malgun Gothic"/>
                <a:cs typeface="Malgun Gothic"/>
              </a:rPr>
              <a:t>Golgi apparatus</a:t>
            </a:r>
            <a:r>
              <a:rPr sz="1400" b="0" i="0">
                <a:solidFill>
                  <a:srgbClr val="11202B"/>
                </a:solidFill>
                <a:latin typeface="Malgun Gothic"/>
                <a:ea typeface="Malgun Gothic"/>
                <a:cs typeface="Malgun Gothic"/>
              </a:rPr>
              <a:t>는 당 사슬을 다듬고 단백질을 목적지별로 분류한다. </a:t>
            </a:r>
            <a:r>
              <a:rPr sz="1400" b="1" i="0">
                <a:solidFill>
                  <a:srgbClr val="11202B"/>
                </a:solidFill>
                <a:latin typeface="Malgun Gothic"/>
                <a:ea typeface="Malgun Gothic"/>
                <a:cs typeface="Malgun Gothic"/>
              </a:rPr>
              <a:t>Lysosome</a:t>
            </a:r>
            <a:r>
              <a:rPr sz="1400" b="0" i="0">
                <a:solidFill>
                  <a:srgbClr val="11202B"/>
                </a:solidFill>
                <a:latin typeface="Malgun Gothic"/>
                <a:ea typeface="Malgun Gothic"/>
                <a:cs typeface="Malgun Gothic"/>
              </a:rPr>
              <a:t>은 내부 pH가 약 5이고 약 60종의 가수분해효소를 담아 거대분자를 분해한다. </a:t>
            </a:r>
            <a:r>
              <a:rPr sz="1400" b="1" i="0">
                <a:solidFill>
                  <a:srgbClr val="11202B"/>
                </a:solidFill>
                <a:latin typeface="Malgun Gothic"/>
                <a:ea typeface="Malgun Gothic"/>
                <a:cs typeface="Malgun Gothic"/>
              </a:rPr>
              <a:t>Peroxisome</a:t>
            </a:r>
            <a:r>
              <a:rPr sz="1400" b="0" i="0">
                <a:solidFill>
                  <a:srgbClr val="11202B"/>
                </a:solidFill>
                <a:latin typeface="Malgun Gothic"/>
                <a:ea typeface="Malgun Gothic"/>
                <a:cs typeface="Malgun Gothic"/>
              </a:rPr>
              <a:t>은 긴 지방산의 β-oxidation과 H₂O₂ 처리를 맡는다.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에너지 — mitochondrion, chloroplast</a:t>
            </a:r>
            <a:r>
              <a:rPr sz="1400" b="0" i="0">
                <a:solidFill>
                  <a:srgbClr val="11202B"/>
                </a:solidFill>
                <a:latin typeface="Malgun Gothic"/>
                <a:ea typeface="Malgun Gothic"/>
                <a:cs typeface="Malgun Gothic"/>
              </a:rPr>
              <a:t> 미토콘드리아는 이중막이고, 내막이 접혀 cristae를 이루어 표면적을 넓힌다. 내막에 electron transport chain과 ATP synthase가 있다. 식물의 chloroplast도 이중막 구조에 thylakoid 막을 갖는다.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(4) 구조와 운동 — 세포골격</a:t>
            </a:r>
            <a:r>
              <a:rPr sz="1400" b="0" i="0">
                <a:solidFill>
                  <a:srgbClr val="11202B"/>
                </a:solidFill>
                <a:latin typeface="Malgun Gothic"/>
                <a:ea typeface="Malgun Gothic"/>
                <a:cs typeface="Malgun Gothic"/>
              </a:rPr>
              <a:t> Actin 필라멘트(지름 7 nm)는 세포 표면 모양과 운동을, microtubule(25 nm)은 소기관 운반과 염색체 분리를, 중간섬유(10 nm)는 기계적 강도를 담당한다.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Eukaryotic 세포소기관의 개요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23</a:t>
            </a:r>
          </a:p>
        </p:txBody>
      </p:sp>
      <p:pic>
        <p:nvPicPr>
          <p:cNvPr id="7" name="Picture 6" descr="fig-organelles.slide.png"/>
          <p:cNvPicPr>
            <a:picLocks noChangeAspect="1"/>
          </p:cNvPicPr>
          <p:nvPr/>
        </p:nvPicPr>
        <p:blipFill>
          <a:blip r:embed="rId2"/>
          <a:stretch>
            <a:fillRect/>
          </a:stretch>
        </p:blipFill>
        <p:spPr>
          <a:xfrm>
            <a:off x="1852739" y="1325880"/>
            <a:ext cx="848621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Eukaryotic 동물 세포의 소기관 배치. 핵, 분비 경로(rough ER → Golgi → vesicle), lysosome, peroxisome, 미토콘드리아, 세포골격을 기능군별로 구분해 보인다.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Eukaryotic 세포소기관의 개요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미토콘드리아와 chloroplast는 </a:t>
            </a:r>
            <a:r>
              <a:rPr sz="1800" b="1" i="0">
                <a:solidFill>
                  <a:srgbClr val="11202B"/>
                </a:solidFill>
                <a:latin typeface="Malgun Gothic"/>
                <a:ea typeface="Malgun Gothic"/>
                <a:cs typeface="Malgun Gothic"/>
              </a:rPr>
              <a:t>endosymbiosis</a:t>
            </a:r>
            <a:r>
              <a:rPr sz="1800" b="0" i="0">
                <a:solidFill>
                  <a:srgbClr val="11202B"/>
                </a:solidFill>
                <a:latin typeface="Malgun Gothic"/>
                <a:ea typeface="Malgun Gothic"/>
                <a:cs typeface="Malgun Gothic"/>
              </a:rPr>
              <a:t>로 생겼다는 설명을 받아들인다. 근거는 다음과 같다. 두 소기관은 자신의 환상 DNA와 70S 유사 ribosome을 갖고, 이중막 중 내막의 지질 조성이 세균 막과 비슷하며, 세포 분열과 무관하게 스스로 분열하고, 세균 단백질 합성 억제제인 chloramphenicol에 미토콘드리아 번역이 억제된다. rRNA 서열 분석은 미토콘드리아가 α-proteobacteria에, chloroplast가 cyanobacteria에 가장 가깝다는 결과를 준다.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Eukaryotic 세포소기관의 개요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25</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사람 미토콘드리아 DNA는 16.6 kb로 13개 단백질, 22개 tRNA, 2개 rRNA만 암호화하고, 나머지 약 1,000종의 미토콘드리아 단백질은 핵 유전체에서 온다. 그래서 미토콘드리아 질환은 모계 유전(mtDNA 변이)과 Mendel 유전(핵 유전자 변이)을 모두 보인다. 한 세포에 mtDNA가 수천 copy 있어 정상형과 변이형이 섞이는 </a:t>
            </a:r>
            <a:r>
              <a:rPr sz="1600" b="1" i="0">
                <a:solidFill>
                  <a:srgbClr val="11202B"/>
                </a:solidFill>
                <a:latin typeface="Malgun Gothic"/>
                <a:ea typeface="Malgun Gothic"/>
                <a:cs typeface="Malgun Gothic"/>
              </a:rPr>
              <a:t>heteroplasmy</a:t>
            </a:r>
            <a:r>
              <a:rPr sz="1600" b="0" i="0">
                <a:solidFill>
                  <a:srgbClr val="11202B"/>
                </a:solidFill>
                <a:latin typeface="Malgun Gothic"/>
                <a:ea typeface="Malgun Gothic"/>
                <a:cs typeface="Malgun Gothic"/>
              </a:rPr>
              <a:t>가 생기고, 변이 비율이 일정 역치를 넘는 조직에서만 증상이 나타난다. 에너지 요구가 큰 신경과 근육이 먼저 영향을 받는 이유가 여기에 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세포 안은 어떤 환경인가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교과서의 그림은 소기관들이 넉넉한 공간에 떠 있는 모습으로 그려지지만 실제 세포 안은 전혀 그렇지 않다. 이 차이를 알아 두면 뒤의 여러 현상이 다르게 보인다.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매우 붐빈다.</a:t>
            </a:r>
            <a:r>
              <a:rPr sz="1400" b="0" i="0">
                <a:solidFill>
                  <a:srgbClr val="11202B"/>
                </a:solidFill>
                <a:latin typeface="Malgun Gothic"/>
                <a:ea typeface="Malgun Gothic"/>
                <a:cs typeface="Malgun Gothic"/>
              </a:rPr>
              <a:t> 세포질의 거대분자 농도는 300~400 g/L에 이르고, 전체 부피의 약 20~30%를 거대분자가 차지한다. 시험관의 묽은 용액과 비교하면 전혀 다른 환경이다. 이 </a:t>
            </a:r>
            <a:r>
              <a:rPr sz="1400" b="1" i="0">
                <a:solidFill>
                  <a:srgbClr val="11202B"/>
                </a:solidFill>
                <a:latin typeface="Malgun Gothic"/>
                <a:ea typeface="Malgun Gothic"/>
                <a:cs typeface="Malgun Gothic"/>
              </a:rPr>
              <a:t>분자 혼잡</a:t>
            </a:r>
            <a:r>
              <a:rPr sz="1400" b="0" i="0">
                <a:solidFill>
                  <a:srgbClr val="11202B"/>
                </a:solidFill>
                <a:latin typeface="Malgun Gothic"/>
                <a:ea typeface="Malgun Gothic"/>
                <a:cs typeface="Malgun Gothic"/>
              </a:rPr>
              <a:t>이 두 가지 결과를 낳는다. 첫째, 자유롭게 움직일 공간이 줄어 확산이 느려진다. 둘째, 다른 분자가 차지한 부피를 피해야 하므로 결합한 상태와 접힌 상태가 상대적으로 유리해진다. 시험관에서 측정한 결합 상수와 접힘 속도가 세포 안에서 다를 수 있는 이유다.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골격이 공간을 나눈다.</a:t>
            </a:r>
            <a:r>
              <a:rPr sz="1400" b="0" i="0">
                <a:solidFill>
                  <a:srgbClr val="11202B"/>
                </a:solidFill>
                <a:latin typeface="Malgun Gothic"/>
                <a:ea typeface="Malgun Gothic"/>
                <a:cs typeface="Malgun Gothic"/>
              </a:rPr>
              <a:t> 세포질은 액체가 아니라 세포골격이 그물처럼 채운 구조다. 큰 입자는 이 그물에 걸려 자유 확산하지 못하고, 운반 단백질에 실려 이동한다(M01-W10-L02).</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이온 조성이 바깥과 전혀 다르다.</a:t>
            </a:r>
            <a:r>
              <a:rPr sz="1400" b="0" i="0">
                <a:solidFill>
                  <a:srgbClr val="11202B"/>
                </a:solidFill>
                <a:latin typeface="Malgun Gothic"/>
                <a:ea typeface="Malgun Gothic"/>
                <a:cs typeface="Malgun Gothic"/>
              </a:rPr>
              <a:t> 세포 안은 K⁺가 높고 Na⁺와 Ca²⁺이 낮으며, 바깥은 반대다. 특히 Ca²⁺은 세포 안 농도가 바깥의 1만 분의 1 수준으로 유지된다. 이 극단적인 차이가 유지되기 때문에 통로가 잠깐 열리는 것만으로 농도가 급격히 올라가 신호가 된다(M01-W03-L03).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세포 안은 어떤 환경인가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27</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이온</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세포 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세포 밖</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K⁺</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높다(약 140 mM)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낮다(약 5 mM)</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낮다(약 10 mM)</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높다(약 145 mM)</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Ca²⁺</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매우 낮다(약 0.0001 mM)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높다(약 2 mM)</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낮다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높다</a:t>
                      </a:r>
                    </a:p>
                  </a:txBody>
                  <a:tcPr marL="73152" marR="73152" marT="27432" marB="27432">
                    <a:solidFill>
                      <a:srgbClr val="EFF4F8"/>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세포 안은 어떤 환경인가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이 상태는 평형이 아니다.</a:t>
            </a:r>
            <a:r>
              <a:rPr sz="1600" b="0" i="0">
                <a:solidFill>
                  <a:srgbClr val="11202B"/>
                </a:solidFill>
                <a:latin typeface="Malgun Gothic"/>
                <a:ea typeface="Malgun Gothic"/>
                <a:cs typeface="Malgun Gothic"/>
              </a:rPr>
              <a:t> 농도 차이를 유지하는 데 지속적으로 에너지가 든다. Na⁺/K⁺-ATPase 하나가 세포 전체 ATP 소비의 상당 부분을 쓰며, 신경 조직에서는 더 크다. </a:t>
            </a:r>
            <a:r>
              <a:rPr sz="1600" b="1" i="0">
                <a:solidFill>
                  <a:srgbClr val="11202B"/>
                </a:solidFill>
                <a:latin typeface="Malgun Gothic"/>
                <a:ea typeface="Malgun Gothic"/>
                <a:cs typeface="Malgun Gothic"/>
              </a:rPr>
              <a:t>살아 있다는 것이 비평형 상태를 유지하는 일</a:t>
            </a:r>
            <a:r>
              <a:rPr sz="1600" b="0" i="0">
                <a:solidFill>
                  <a:srgbClr val="11202B"/>
                </a:solidFill>
                <a:latin typeface="Malgun Gothic"/>
                <a:ea typeface="Malgun Gothic"/>
                <a:cs typeface="Malgun Gothic"/>
              </a:rPr>
              <a:t>이라는 1절의 서술이 여기서 수치로 확인된다. 세포가 죽으면 이 기울기가 무너지고, 그 결과가 Ca²⁺ 유입에 의한 분해 효소 활성화와 세포 부종이다.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기울기는 신호의 재료이기도 하다. 농도 차이가 클수록 통로가 열렸을 때 변화의 폭이 커지므로, 세포는 비싼 비용을 치르고 유지한 기울기를 </a:t>
            </a:r>
            <a:r>
              <a:rPr sz="1600" b="1" i="0">
                <a:solidFill>
                  <a:srgbClr val="11202B"/>
                </a:solidFill>
                <a:latin typeface="Malgun Gothic"/>
                <a:ea typeface="Malgun Gothic"/>
                <a:cs typeface="Malgun Gothic"/>
              </a:rPr>
              <a:t>정보 전달에 재사용</a:t>
            </a:r>
            <a:r>
              <a:rPr sz="1600" b="0" i="0">
                <a:solidFill>
                  <a:srgbClr val="11202B"/>
                </a:solidFill>
                <a:latin typeface="Malgun Gothic"/>
                <a:ea typeface="Malgun Gothic"/>
                <a:cs typeface="Malgun Gothic"/>
              </a:rPr>
              <a:t>한다. 에너지 저장과 신호 전달이 같은 장치에서 나온다.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pH도 구획마다 다르다.</a:t>
            </a:r>
            <a:r>
              <a:rPr sz="1600" b="0" i="0">
                <a:solidFill>
                  <a:srgbClr val="11202B"/>
                </a:solidFill>
                <a:latin typeface="Malgun Gothic"/>
                <a:ea typeface="Malgun Gothic"/>
                <a:cs typeface="Malgun Gothic"/>
              </a:rPr>
              <a:t> 세포질은 약 7.2, lysosome은 약 4.5~5.0, 미토콘드리아 기질은 약 8이다. 6절에서 본 구획화가 이 차이를 가능하게 하고, 그 차이가 다시 각 구획의 효소 활성을 정한다.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구획화의 논리 — 왜 안을 나누는가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진핵세포를 원핵세포와 가르는 가장 두드러진 특징은 </a:t>
            </a:r>
            <a:r>
              <a:rPr sz="1400" b="1" i="0">
                <a:solidFill>
                  <a:srgbClr val="11202B"/>
                </a:solidFill>
                <a:latin typeface="Malgun Gothic"/>
                <a:ea typeface="Malgun Gothic"/>
                <a:cs typeface="Malgun Gothic"/>
              </a:rPr>
              <a:t>막으로 둘러싸인 구획</a:t>
            </a:r>
            <a:r>
              <a:rPr sz="1400" b="0" i="0">
                <a:solidFill>
                  <a:srgbClr val="11202B"/>
                </a:solidFill>
                <a:latin typeface="Malgun Gothic"/>
                <a:ea typeface="Malgun Gothic"/>
                <a:cs typeface="Malgun Gothic"/>
              </a:rPr>
              <a:t>이다. 소기관의 이름과 기능을 외우기 전에, 나누는 것 자체가 무엇을 해결하는지를 물어야 한다. 네 가지 이점이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양립할 수 없는 화학을 분리한다.</a:t>
            </a:r>
            <a:r>
              <a:rPr sz="1400" b="0" i="0">
                <a:solidFill>
                  <a:srgbClr val="11202B"/>
                </a:solidFill>
                <a:latin typeface="Malgun Gothic"/>
                <a:ea typeface="Malgun Gothic"/>
                <a:cs typeface="Malgun Gothic"/>
              </a:rPr>
              <a:t> 가수분해 효소는 lysosome 안의 산성 환경에서만 최대 활성을 가진다. 같은 효소가 중성인 세포질에 흩어져 있으면 세포 자신을 분해한다. </a:t>
            </a:r>
            <a:r>
              <a:rPr sz="1400" b="1" i="0">
                <a:solidFill>
                  <a:srgbClr val="11202B"/>
                </a:solidFill>
                <a:latin typeface="Malgun Gothic"/>
                <a:ea typeface="Malgun Gothic"/>
                <a:cs typeface="Malgun Gothic"/>
              </a:rPr>
              <a:t>구획이 환경을 지정하고 환경이 활성을 지정</a:t>
            </a:r>
            <a:r>
              <a:rPr sz="1400" b="0" i="0">
                <a:solidFill>
                  <a:srgbClr val="11202B"/>
                </a:solidFill>
                <a:latin typeface="Malgun Gothic"/>
                <a:ea typeface="Malgun Gothic"/>
                <a:cs typeface="Malgun Gothic"/>
              </a:rPr>
              <a:t>하는 구조이며, 사고로 효소가 새어 나와도 중성 pH에서는 활성이 낮아 피해가 제한된다. 이중의 안전장치다.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농도를 올린다.</a:t>
            </a:r>
            <a:r>
              <a:rPr sz="1400" b="0" i="0">
                <a:solidFill>
                  <a:srgbClr val="11202B"/>
                </a:solidFill>
                <a:latin typeface="Malgun Gothic"/>
                <a:ea typeface="Malgun Gothic"/>
                <a:cs typeface="Malgun Gothic"/>
              </a:rPr>
              <a:t> 반응 속도는 반응물의 농도에 의존한다. 같은 수의 분자라도 좁은 공간에 모으면 농도가 올라가 반응이 빨라진다. 세포 전체에 흩뿌리는 대신 필요한 곳에 모으는 것이 효율적이다.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기울기를 세운다.</a:t>
            </a:r>
            <a:r>
              <a:rPr sz="1400" b="0" i="0">
                <a:solidFill>
                  <a:srgbClr val="11202B"/>
                </a:solidFill>
                <a:latin typeface="Malgun Gothic"/>
                <a:ea typeface="Malgun Gothic"/>
                <a:cs typeface="Malgun Gothic"/>
              </a:rPr>
              <a:t> 막으로 나뉘어야 양쪽의 농도 차이를 유지할 수 있다. 미토콘드리아의 양성자 기울기가 ATP 생산의 동력이 되는 것이 대표적이며, 구획 없이는 성립하지 않는 기전이다(M01-W09-L03).</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4. 면적을 늘린다.</a:t>
            </a:r>
            <a:r>
              <a:rPr sz="1400" b="0" i="0">
                <a:solidFill>
                  <a:srgbClr val="11202B"/>
                </a:solidFill>
                <a:latin typeface="Malgun Gothic"/>
                <a:ea typeface="Malgun Gothic"/>
                <a:cs typeface="Malgun Gothic"/>
              </a:rPr>
              <a:t> 막에서 일어나는 반응은 막의 면적에 비례한다. 안으로 접어 넣으면 세포 크기를 키우지 않고 막 면적을 크게 늘릴 수 있다. 미토콘드리아의 crista와 소포체의 층층 구조가 그렇다. 2절의 표면적 제약을 </a:t>
            </a:r>
            <a:r>
              <a:rPr sz="1400" b="1" i="0">
                <a:solidFill>
                  <a:srgbClr val="11202B"/>
                </a:solidFill>
                <a:latin typeface="Malgun Gothic"/>
                <a:ea typeface="Malgun Gothic"/>
                <a:cs typeface="Malgun Gothic"/>
              </a:rPr>
              <a:t>안쪽에서 해결한</a:t>
            </a:r>
            <a:r>
              <a:rPr sz="1400" b="0" i="0">
                <a:solidFill>
                  <a:srgbClr val="11202B"/>
                </a:solidFill>
                <a:latin typeface="Malgun Gothic"/>
                <a:ea typeface="Malgun Gothic"/>
                <a:cs typeface="Malgun Gothic"/>
              </a:rPr>
              <a:t> 것이다.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대가도 있다.</a:t>
            </a:r>
            <a:r>
              <a:rPr sz="1400" b="0" i="0">
                <a:solidFill>
                  <a:srgbClr val="11202B"/>
                </a:solidFill>
                <a:latin typeface="Malgun Gothic"/>
                <a:ea typeface="Malgun Gothic"/>
                <a:cs typeface="Malgun Gothic"/>
              </a:rPr>
              <a:t> 구획을 나누면 물질과 정보가 막을 건너야 하므로 </a:t>
            </a:r>
            <a:r>
              <a:rPr sz="1400" b="1" i="0">
                <a:solidFill>
                  <a:srgbClr val="11202B"/>
                </a:solidFill>
                <a:latin typeface="Malgun Gothic"/>
                <a:ea typeface="Malgun Gothic"/>
                <a:cs typeface="Malgun Gothic"/>
              </a:rPr>
              <a:t>수송 체계</a:t>
            </a:r>
            <a:r>
              <a:rPr sz="1400" b="0" i="0">
                <a:solidFill>
                  <a:srgbClr val="11202B"/>
                </a:solidFill>
                <a:latin typeface="Malgun Gothic"/>
                <a:ea typeface="Malgun Gothic"/>
                <a:cs typeface="Malgun Gothic"/>
              </a:rPr>
              <a:t>가 필요해진다. 단백질을 올바른 구획으로 보내는 표적화 기구, 소포를 만들고 융합시키는 기구, 선택적 통로와 펌프가 모두 구획화의 비용이다. 진핵세포의 복잡성 가운데 상당 부분이 이 비용을 치르는 장치다. 상세는 M01-W08-L03과 M01-W09-L01에서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막으로 나뉘지 않은 구획도 있다.</a:t>
            </a:r>
            <a:r>
              <a:rPr sz="1400" b="0" i="0">
                <a:solidFill>
                  <a:srgbClr val="11202B"/>
                </a:solidFill>
                <a:latin typeface="Malgun Gothic"/>
                <a:ea typeface="Malgun Gothic"/>
                <a:cs typeface="Malgun Gothic"/>
              </a:rPr>
              <a:t> 최근 20년 사이에 분명해진 사실이다. 핵소체, 스트레스 과립, P 소체 같은 구조는 막이 없는데도 주변과 구별되는 조성을 유지한다. 특정 단백질과 RNA가 서로 약하게 결합하며 </a:t>
            </a:r>
            <a:r>
              <a:rPr sz="1400" b="1" i="0">
                <a:solidFill>
                  <a:srgbClr val="11202B"/>
                </a:solidFill>
                <a:latin typeface="Malgun Gothic"/>
                <a:ea typeface="Malgun Gothic"/>
                <a:cs typeface="Malgun Gothic"/>
              </a:rPr>
              <a:t>액체–액체 상분리</a:t>
            </a:r>
            <a:r>
              <a:rPr sz="1400" b="0" i="0">
                <a:solidFill>
                  <a:srgbClr val="11202B"/>
                </a:solidFill>
                <a:latin typeface="Malgun Gothic"/>
                <a:ea typeface="Malgun Gothic"/>
                <a:cs typeface="Malgun Gothic"/>
              </a:rPr>
              <a:t>로 방울을 이루는 것으로 설명되며, 물에 기름방울이 뜨는 것과 비슷한 원리다. 막이 없으므로 조성이 빠르게 바뀔 수 있고 신호에 따라 생겼다 사라진다.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구획화의 논리 — 왜 안을 나누는가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30</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액체–액체 상분리는 세포생물학에서 가장 빠르게 퍼진 개념 가운데 하나이면서 동시에 가장 많은 비판을 받는 개념이기도 하다. 시험관에서 단백질 농도를 높이면 방울이 생기는 것은 쉽게 관찰되지만, </a:t>
            </a:r>
            <a:r>
              <a:rPr sz="1600" b="1" i="0">
                <a:solidFill>
                  <a:srgbClr val="11202B"/>
                </a:solidFill>
                <a:latin typeface="Malgun Gothic"/>
                <a:ea typeface="Malgun Gothic"/>
                <a:cs typeface="Malgun Gothic"/>
              </a:rPr>
              <a:t>세포 안에서도 같은 기전으로 생긴 것인지</a:t>
            </a:r>
            <a:r>
              <a:rPr sz="1600" b="0" i="0">
                <a:solidFill>
                  <a:srgbClr val="11202B"/>
                </a:solidFill>
                <a:latin typeface="Malgun Gothic"/>
                <a:ea typeface="Malgun Gothic"/>
                <a:cs typeface="Malgun Gothic"/>
              </a:rPr>
              <a:t>를 보이기는 어렵다. 생체 조건에서의 농도가 시험관 실험보다 훨씬 낮은 경우가 많고, 현미경에서 둥글게 보이고 합쳐진다는 관찰만으로는 상분리를 증명하지 못한다는 지적이 있다. 임상적으로 주목받는 이유는 </a:t>
            </a:r>
            <a:r>
              <a:rPr sz="1600" b="1" i="0">
                <a:solidFill>
                  <a:srgbClr val="11202B"/>
                </a:solidFill>
                <a:latin typeface="Malgun Gothic"/>
                <a:ea typeface="Malgun Gothic"/>
                <a:cs typeface="Malgun Gothic"/>
              </a:rPr>
              <a:t>신경퇴행성 질환의 단백질 응집</a:t>
            </a:r>
            <a:r>
              <a:rPr sz="1600" b="0" i="0">
                <a:solidFill>
                  <a:srgbClr val="11202B"/>
                </a:solidFill>
                <a:latin typeface="Malgun Gothic"/>
                <a:ea typeface="Malgun Gothic"/>
                <a:cs typeface="Malgun Gothic"/>
              </a:rPr>
              <a:t>과 연결될 가능성 때문이다. 상분리로 생긴 방울이 시간이 지나며 굳어 비가역적 섬유가 된다는 모형이 제안되었고, FUS와 TDP-43 같은 단백질에서 이 전환이 관찰되었다. 가설이 맞다면 응집 자체가 아니라 </a:t>
            </a:r>
            <a:r>
              <a:rPr sz="1600" b="1" i="0">
                <a:solidFill>
                  <a:srgbClr val="11202B"/>
                </a:solidFill>
                <a:latin typeface="Malgun Gothic"/>
                <a:ea typeface="Malgun Gothic"/>
                <a:cs typeface="Malgun Gothic"/>
              </a:rPr>
              <a:t>방울의 물성 변화</a:t>
            </a:r>
            <a:r>
              <a:rPr sz="1600" b="0" i="0">
                <a:solidFill>
                  <a:srgbClr val="11202B"/>
                </a:solidFill>
                <a:latin typeface="Malgun Gothic"/>
                <a:ea typeface="Malgun Gothic"/>
                <a:cs typeface="Malgun Gothic"/>
              </a:rPr>
              <a:t>를 표적으로 하는 새로운 치료 전략이 가능해진다.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생명의 세 역과 계통수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세포의 기원을 다루었으니 현존하는 생물이 어떻게 갈라졌는지를 정리한다. 이 분류가 중요한 이유는 </a:t>
            </a:r>
            <a:r>
              <a:rPr sz="1400" b="1" i="0">
                <a:solidFill>
                  <a:srgbClr val="11202B"/>
                </a:solidFill>
                <a:latin typeface="Malgun Gothic"/>
                <a:ea typeface="Malgun Gothic"/>
                <a:cs typeface="Malgun Gothic"/>
              </a:rPr>
              <a:t>모델 생물의 선택과 결과의 적용 범위</a:t>
            </a:r>
            <a:r>
              <a:rPr sz="1400" b="0" i="0">
                <a:solidFill>
                  <a:srgbClr val="11202B"/>
                </a:solidFill>
                <a:latin typeface="Malgun Gothic"/>
                <a:ea typeface="Malgun Gothic"/>
                <a:cs typeface="Malgun Gothic"/>
              </a:rPr>
              <a:t>를 정하기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 역(domain).</a:t>
            </a:r>
            <a:r>
              <a:rPr sz="1400" b="0" i="0">
                <a:solidFill>
                  <a:srgbClr val="11202B"/>
                </a:solidFill>
                <a:latin typeface="Malgun Gothic"/>
                <a:ea typeface="Malgun Gothic"/>
                <a:cs typeface="Malgun Gothic"/>
              </a:rPr>
              <a:t> 리보솜 RNA 서열을 비교해 생물을 셋으로 나누는 체계가 1970년대에 제안되어 받아들여졌다. 형태가 아니라 </a:t>
            </a:r>
            <a:r>
              <a:rPr sz="1400" b="1" i="0">
                <a:solidFill>
                  <a:srgbClr val="11202B"/>
                </a:solidFill>
                <a:latin typeface="Malgun Gothic"/>
                <a:ea typeface="Malgun Gothic"/>
                <a:cs typeface="Malgun Gothic"/>
              </a:rPr>
              <a:t>분자 서열</a:t>
            </a:r>
            <a:r>
              <a:rPr sz="1400" b="0" i="0">
                <a:solidFill>
                  <a:srgbClr val="11202B"/>
                </a:solidFill>
                <a:latin typeface="Malgun Gothic"/>
                <a:ea typeface="Malgun Gothic"/>
                <a:cs typeface="Malgun Gothic"/>
              </a:rPr>
              <a:t>로 분류한 첫 사례였고, 눈으로 구별되지 않던 집단이 갈라졌다.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세균(Bacteria)</a:t>
            </a:r>
            <a:r>
              <a:rPr sz="1400" b="0" i="0">
                <a:solidFill>
                  <a:srgbClr val="11202B"/>
                </a:solidFill>
                <a:latin typeface="Malgun Gothic"/>
                <a:ea typeface="Malgun Gothic"/>
                <a:cs typeface="Malgun Gothic"/>
              </a:rPr>
              <a:t>: 흔히 접하는 원핵생물 대부분.</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고세균(Archaea)</a:t>
            </a:r>
            <a:r>
              <a:rPr sz="1400" b="0" i="0">
                <a:solidFill>
                  <a:srgbClr val="11202B"/>
                </a:solidFill>
                <a:latin typeface="Malgun Gothic"/>
                <a:ea typeface="Malgun Gothic"/>
                <a:cs typeface="Malgun Gothic"/>
              </a:rPr>
              <a:t>: 겉보기에 세균과 비슷하지만 분자적으로 전혀 다르다. 극한 환경에서 많이 발견되지만 그곳에만 사는 것은 아니다.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진핵생물(Eukarya)</a:t>
            </a:r>
            <a:r>
              <a:rPr sz="1400" b="0" i="0">
                <a:solidFill>
                  <a:srgbClr val="11202B"/>
                </a:solidFill>
                <a:latin typeface="Malgun Gothic"/>
                <a:ea typeface="Malgun Gothic"/>
                <a:cs typeface="Malgun Gothic"/>
              </a:rPr>
              <a:t>: 핵을 가진 생물 전체.</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고세균이 중요한 이유.</a:t>
            </a:r>
            <a:r>
              <a:rPr sz="1400" b="0" i="0">
                <a:solidFill>
                  <a:srgbClr val="11202B"/>
                </a:solidFill>
                <a:latin typeface="Malgun Gothic"/>
                <a:ea typeface="Malgun Gothic"/>
                <a:cs typeface="Malgun Gothic"/>
              </a:rPr>
              <a:t> 고세균은 세포벽과 막지질의 조성이 세균과 다르고, </a:t>
            </a:r>
            <a:r>
              <a:rPr sz="1400" b="1" i="0">
                <a:solidFill>
                  <a:srgbClr val="11202B"/>
                </a:solidFill>
                <a:latin typeface="Malgun Gothic"/>
                <a:ea typeface="Malgun Gothic"/>
                <a:cs typeface="Malgun Gothic"/>
              </a:rPr>
              <a:t>전사와 번역 기구는 오히려 진핵생물과 닮았다.</a:t>
            </a:r>
            <a:r>
              <a:rPr sz="1400" b="0" i="0">
                <a:solidFill>
                  <a:srgbClr val="11202B"/>
                </a:solidFill>
                <a:latin typeface="Malgun Gothic"/>
                <a:ea typeface="Malgun Gothic"/>
                <a:cs typeface="Malgun Gothic"/>
              </a:rPr>
              <a:t> RNA polymerase의 구조, 히스톤 유사 단백질의 존재, 번역 개시 방식이 그렇다. 이 때문에 진핵생물이 고세균 계통에서 갈라져 나왔다는 설명이 유력해졌고, 미토콘드리아의 기원인 α-proteobacteria와의 공생이 그 위에 더해졌다고 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실용적인 결과도 있다. 세균을 겨냥한 항생제가 고세균에는 잘 듣지 않으며, 사람 장내 미생물에 고세균이 포함된다는 사실이 약물 효과를 예측할 때 고려된다.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계통수를 읽을 때의 주의.</a:t>
            </a:r>
            <a:r>
              <a:rPr sz="1400" b="0" i="0">
                <a:solidFill>
                  <a:srgbClr val="11202B"/>
                </a:solidFill>
                <a:latin typeface="Malgun Gothic"/>
                <a:ea typeface="Malgun Gothic"/>
                <a:cs typeface="Malgun Gothic"/>
              </a:rPr>
              <a:t> 계통수는 가설이지 사실이 아니다. 어떤 서열을 썼는지, 어떤 모형으로 계산했는지에 따라 가지의 배치가 바뀐다. 특히 미생물에서는 </a:t>
            </a:r>
            <a:r>
              <a:rPr sz="1400" b="1" i="0">
                <a:solidFill>
                  <a:srgbClr val="11202B"/>
                </a:solidFill>
                <a:latin typeface="Malgun Gothic"/>
                <a:ea typeface="Malgun Gothic"/>
                <a:cs typeface="Malgun Gothic"/>
              </a:rPr>
              <a:t>수평 유전자 전달</a:t>
            </a:r>
            <a:r>
              <a:rPr sz="1400" b="0" i="0">
                <a:solidFill>
                  <a:srgbClr val="11202B"/>
                </a:solidFill>
                <a:latin typeface="Malgun Gothic"/>
                <a:ea typeface="Malgun Gothic"/>
                <a:cs typeface="Malgun Gothic"/>
              </a:rPr>
              <a:t>이 흔해, 유전자마다 다른 계통수가 나오기도 한다. 하나의 나무로 모든 유전자의 역사를 설명할 수 없다는 뜻이며, 항생제 내성 유전자가 종을 건너 퍼지는 현상이 같은 기전의 임상적 표현이다.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사람과 모델 생물의 거리.</a:t>
            </a:r>
            <a:r>
              <a:rPr sz="1400" b="0" i="0">
                <a:solidFill>
                  <a:srgbClr val="11202B"/>
                </a:solidFill>
                <a:latin typeface="Malgun Gothic"/>
                <a:ea typeface="Malgun Gothic"/>
                <a:cs typeface="Malgun Gothic"/>
              </a:rPr>
              <a:t> 결과를 사람에 적용할 수 있는지는 어느 지점에서 갈라졌는지에 달려 있다. 기본적인 세포 기구는 효모에서도 보존되어 세포주기 연구가 효모에서 이루어졌고, 발생의 기본 틀은 초파리와 제브라피시에서 공유되며, 생리와 면역의 상세는 생쥐에서도 사람과 적지 않게 다르다. </a:t>
            </a:r>
            <a:r>
              <a:rPr sz="1400" b="1" i="0">
                <a:solidFill>
                  <a:srgbClr val="11202B"/>
                </a:solidFill>
                <a:latin typeface="Malgun Gothic"/>
                <a:ea typeface="Malgun Gothic"/>
                <a:cs typeface="Malgun Gothic"/>
              </a:rPr>
              <a:t>무엇을 묻느냐에 따라 적절한 모델이 달라진다</a:t>
            </a:r>
            <a:r>
              <a:rPr sz="1400" b="0" i="0">
                <a:solidFill>
                  <a:srgbClr val="11202B"/>
                </a:solidFill>
                <a:latin typeface="Malgun Gothic"/>
                <a:ea typeface="Malgun Gothic"/>
                <a:cs typeface="Malgun Gothic"/>
              </a:rPr>
              <a:t>는 것이 다음 절의 전제다.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생명의 세 역과 계통수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32</a:t>
            </a:r>
          </a:p>
        </p:txBody>
      </p:sp>
      <p:sp>
        <p:nvSpPr>
          <p:cNvPr id="7" name="Rectangle 6"/>
          <p:cNvSpPr/>
          <p:nvPr/>
        </p:nvSpPr>
        <p:spPr>
          <a:xfrm>
            <a:off x="640080" y="1325880"/>
            <a:ext cx="10881360" cy="256540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진핵생물의 기원을 두고 그림이 최근 크게 바뀌었다. 2015년 이후 심해 퇴적물의 유전체 자료에서 </a:t>
            </a:r>
            <a:r>
              <a:rPr sz="1600" b="1" i="0">
                <a:solidFill>
                  <a:srgbClr val="11202B"/>
                </a:solidFill>
                <a:latin typeface="Malgun Gothic"/>
                <a:ea typeface="Malgun Gothic"/>
                <a:cs typeface="Malgun Gothic"/>
              </a:rPr>
              <a:t>Asgard 고세균</a:t>
            </a:r>
            <a:r>
              <a:rPr sz="1600" b="0" i="0">
                <a:solidFill>
                  <a:srgbClr val="11202B"/>
                </a:solidFill>
                <a:latin typeface="Malgun Gothic"/>
                <a:ea typeface="Malgun Gothic"/>
                <a:cs typeface="Malgun Gothic"/>
              </a:rPr>
              <a:t>이라 불리는 집단이 발견되었는데, 진핵생물에만 있다고 여겨지던 유전자들, 예컨대 actin 유사 단백질과 소포 수송에 관여하는 단백질의 유사체를 다수 가지고 있었다. 이 발견은 진핵생물이 고세균 안의 한 가지에서 갈라졌다는 모형을 강하게 지지한다. 2020년에는 이 집단의 하나를 실제로 배양하는 데 성공했고, 긴 돌기를 뻗어 다른 세균을 감싸는 모습이 관찰되면서 공생이 어떻게 시작되었는지에 대한 구체적 모형이 제시되었다. 남은 질문은 순서다. </a:t>
            </a:r>
            <a:r>
              <a:rPr sz="1600" b="1" i="0">
                <a:solidFill>
                  <a:srgbClr val="11202B"/>
                </a:solidFill>
                <a:latin typeface="Malgun Gothic"/>
                <a:ea typeface="Malgun Gothic"/>
                <a:cs typeface="Malgun Gothic"/>
              </a:rPr>
              <a:t>핵이 먼저 생겼는가, 미토콘드리아가 먼저 들어왔는가.</a:t>
            </a:r>
            <a:r>
              <a:rPr sz="1600" b="0" i="0">
                <a:solidFill>
                  <a:srgbClr val="11202B"/>
                </a:solidFill>
                <a:latin typeface="Malgun Gothic"/>
                <a:ea typeface="Malgun Gothic"/>
                <a:cs typeface="Malgun Gothic"/>
              </a:rPr>
              <a:t> 미토콘드리아의 에너지 공급이 있어야 복잡한 세포가 가능했다는 주장과, 숙주가 이미 상당히 복잡했기에 공생이 성립했다는 주장이 맞서고 있으며 결정적 증거가 아직 없다.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1, An Overview of Cells and Cell Research.</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1, Cells and Genomes.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Miller SL. A production of amino acids under possible primitive earth conditions. Science 1953;117:528–529.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Cech TR. The RNA worlds in context. Cold Spring Harb Perspect Biol 2012;4:a006742.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de Duve C. The lysosome turns fifty. Nat Cell Biol 2005;7:847–849.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Lichtman JW, Conchello JA. Fluorescence microscopy. Nat Methods 2005;2:910–919.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Gray MW, Burger G, Lang BF. Mitochondrial evolution. Science 1999;283:1476–1481.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