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담즙의 구성과 enterohepatic circulation, 그리고 bilirubin의 생성에서 배설까지의 경로. 황달 세 종류가 이 경로의 어느 단계에 대응하는지를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소화계 네 호르몬의 분비 세포 위치, 분비 자극, 표적 기관과 작용. 분비 자극과 작용이 되먹임 구조를 이루는 방식, 그리고 머리·위·장 세 단계의 시간 순서를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소화관 상피는 외부 환경과 직접 닿는 장벽이므로 점액, 빠른 세포 교체, 풍부한 면역 조직을 갖추어야 한다. 몸 전체 면역 세포의 상당 부분이 소화관에 모여 있는 이유다. 둘째, 소화가 세포 밖에서 일어나므로 효소를 lumen으로 분비해야 하고, 그 효소가 분비 세포 자신을 분해하지 않도록 비활성 zymogen 형태로 내보내야 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안쪽은 circular muscle, 바깥쪽은 longitudinal muscle이며 두 층의 방향이 직각이다. Circular muscle이 수축하면 관이 좁아지고 longitudinal muscle이 수축하면 관이 짧아진다. 연동(peristalsis)은 덩어리 위쪽에서 수축하고 아래쪽에서 이완해 내용물을 아래로 밀어 보내며 추진을 담당한다. 분절 운동(segmentation)은 여러 지점이 번갈아 수축해 내용물을 앞뒤로 흔들며 혼합을 담당하고, 소장의 주된 운동 양식이다.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세포 안에서 carbonic anhydrase가 CO2와 H2O로부터 H2CO3를 만들고 이것이 H+와 HCO3-로 나뉜다. H+은 lumen 쪽 막의 H+/K+-ATPase가 ATP를 써서 퍼내는 1차 능동수송으로 lumen에 들어간다. 세포 안쪽 막에서는 HCO3-가 혈액으로 나가고 Cl-이 들어오며, 들어온 Cl-이 lumen 쪽으로 따라 나가 HCl이 완성된다. 혈액으로 나간 HCO3- 때문에 식후 정맥혈 pH가 일시적으로 올라가는 것이 alkaline tide다.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장치는 두꺼운 점액층, 점액 안의 중탄산이 만드는 pH 기울기(lumen pH 2일 때 상피 표면 pH는 7에 가깝다), tight junction, 3에서 5일마다의 빠른 상피 교체, 그리고 점액·중탄산 분비와 점막 혈류를 유지하는 prostaglandin이다. NSAID는 cyclooxygenase를 억제해 prostaglandin 합성을 막으므로 점액과 중탄산 분비, 점막 혈류가 함께 떨어져 궤양이 생긴다.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효소를 비활성 zymogen 형태로 분비한다. 둘째, 활성화 효소인 enteropeptidase가 췌장이 아니라 소장 상피에 있다. 셋째, 췌장이 trypsin inhibitor를 함께 분비한다. 활성화 연쇄의 방아쇠는 trypsin이며, enteropeptidase가 trypsinogen을 trypsin으로 바꾸면 그 trypsin이 나머지 모든 zymogen을 활성화한다. 급성 췌장염은 이 조기 활성화가 췌장 안에서 일어난 결과다.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지질은 물에 녹지 않아 큰 방울로 뭉치므로, 수용액에서 작용하는 효소가 닿을 표면이 전체 질량에 비해 작다는 점이 다르다. 네 단계는 담즙산에 의한 emulsification으로 표면적 확보, lipase와 colipase에 의한 분해, micelle에 의한 상피 표면까지의 운반, 그리고 세포 안에서 triacylglycerol로 재합성되어 chylomicron이 되어 림프관으로 들어가는 재조립과 수송이다.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주름(plica circularis)이 약 3배, 융모(villus)가 약 10배, 미세융모(microvillus)가 약 20배로 늘려 합계 약 600배, 총 약 200 m2가 된다. 폐포가 약 3억 개로 표면적 약 70 m2를 만들어 확산량을 확보하는 것과 같은 원리다. 확산량이 면적에 비례하므로 교환이 필요한 구조는 모두 면적을 늘린다.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SGLT1은 미세융모 막에서 Na+의 농도기울기를 이용해 glucose를 함께 들여오는 2차 능동수송체다. Na+와 glucose가 함께 흡수되면 세포 안의 삼투압이 올라가 물이 그 뒤를 따라 흡수된다. 따라서 둘을 함께 주어야 공동수송이 작동해 물 흡수가 회복되며, 하나만 주면 효과가 크게 떨어진다.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Hepatic portal vein이 약 75%를 공급해 소화관에서 흡수된 물질을 그대로 실어 오고, hepatic artery가 약 25%를 공급해 산소를 보낸다. 이 배치 때문에 소화관에서 흡수된 모든 것이 전신으로 가기 전에 간을 반드시 한 번 지나며, 영양소를 저장·가공하고 독성 물질을 처리할 기회가 생긴다. 경구 약물도 이 과정에서 상당 부분 대사되어 전신 순환에 도달하는 양이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담즙산은 소장에서 micelle을 만들고 회장 끝에서 수송체에 의해 재흡수되어 hepatic portal vein으로 간에 돌아가며, 간이 다시 담즙으로 내보낸다. 이 순환이 한 식사 동안 2에서 3회, 하루에 6에서 10회 돈다. 같은 분자가 반복 사용되므로 작은 풀로 많은 일을 할 수 있다. 하루 약 5%만 손실되고 간이 cholesterol로부터 새로 만들어 보충한다.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간 이전은 생성 과다로 비결합 bilirubin이 쌓이며 용혈이 대표다. 간성은 간세포의 흡수·결합·배설이 모두 떨어져 두 형태가 함께 쌓이며 간염과 간경변이 대표다. 간 이후는 담도가 막혀 결합 bilirubin이 쌓이며 담석과 췌장암이 대표다. Bilirubin 경로의 어느 단계가 막혔는지를 묻는 것이 분류의 기준이다.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Secretin은 십이지장 lumen의 산성화에 의해 분비되어 췌장과 담도의 중탄산 분비를 촉진하고 염산 분비를 억제한다. CCK는 지방산과 아미노산에 의해 분비되어 췌장 효소 분비와 담낭 수축을 일으키고 위 배출을 늦춘다. 공통 논리는 분비 자극이 그 호르몬이 해결할 문제를 그대로 가리킨다는 점이다. 산이 들어오면 중화할 중탄산을 부르고, 지질과 단백질이 들어오면 그것을 소화할 효소와 담즙을 부른다. 또한 두 호르몬이 모두 위 배출을 늦춰 소장이 감당할 속도로 내용물이 넘어오게 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섭취 약 2 L와 분비액 약 7 L를 합해 하루 약 9 L가 들어온다. 소장이 약 7.5 L를 흡수하고 대장으로 약 1.5 L가 넘어오며, 대장이 약 1.4 L를 흡수해 대변으로는 약 100 mL가 나간다. 대장의 흡수 예비력은 하루 약 4~5 L로 넘어오는 양의 서너 배다. 따라서 소장에서 조금 더 넘어오는 정도로는 설사가 생기지 않고 예비력을 넘어서야 설사가 되며, 반대로 대장 자체가 손상되면 적은 양으로도 설사가 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사람 효소로 분해되지 않는 식이섬유를 발효해 짧은사슬 지방산을 만든다. 둘째, vitamin K와 일부 B군 비타민을 합성한다. 셋째, 자리와 영양을 차지해 병원성 세균의 정착을 막는다. Butyrate가 특별한 것은 대장 상피세포의 주된 에너지원이라는 점이다. 상피가 자기 영양을 혈액이 아니라 lumen 쪽에서, 그것도 세균이 만든 산물로부터 받는다는 점에서 숙주와 미생물의 관계가 단순한 동거가 아님을 보여 준다.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소화의 실패는 lumen에서 고분자를 쪼개지 못하는 것으로 췌장 외분비 부전과 담즙산 부족이 원인이며 지질이 가장 먼저 영향을 받는다. 흡수의 실패는 상피나 흡수 면적이 손상된 것으로 celiac 병의 융모 위축, 크론병의 점막 파괴, 광범위 절제에 의한 단장 증후군이 해당한다. 수송의 실패는 흡수된 것이 혈액이나 림프로 나가지 못하는 것으로 장림프관 확장증이나 림프종에 의한 림프관 폐쇄가 해당하며 지질과 단백질이 lumen으로 다시 새어 나간다.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철은 십이지장과 jejunum 근위부에서 흡수되므로 소적혈구 빈혈은 근위부 손상을 시사하고, vitamin B₁₂는 intrinsic factor와 결합한 형태로 회장 말단에서만 흡수되므로 거대적혈구 빈혈은 회장 말단 손상을 시사한다. 회장 절제가 100 cm 미만이면 재흡수되지 못한 담즙산이 대장으로 넘어가 물 분비를 자극하는 담즙산 설사가 되고 cholestyramine으로 담즙산을 결합시키면 호전된다. 100 cm 이상이면 간의 담즙산 합성이 손실을 따라가지 못해 micelle 형성 자체가 깨지므로 진짜 지방변이 되고, 이때 cholestyramine은 남은 담즙산까지 없애 악화시킨다.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금식으로 가른다. 삼투성 설사는 흡수되지 않은 용질이 lumen의 삼투압을 올려 물을 끌어내는 것이므로 그 용질의 섭취를 끊으면 멎는다. 유당 불내성과 삼투성 하제가 예다. 분비성 설사는 상피가 능동적으로 전해질과 물을 분비하는 것이므로 금식해도 지속된다. 콜레라 독소나 호르몬 분비 종양이 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Gliadin이 tissue transglutaminase에 의해 탈아미드화되면 음전하가 늘어 HLA-DQ2 또는 DQ8 분자에 강하게 결합하게 되고 T세포 반응이 일어난다. 이 HLA가 없으면 항원 제시가 효과적으로 일어나지 않아 거의 발병하지 않으므로, HLA-DQ2/DQ8 음성은 질환을 배제하는 데 유용하다. 다른 자가면역 질환과 다른 점은 유발 항원이 외부에서 들어오는 글루텐으로 분명히 알려져 있어 항원을 끊으면 조직이 회복된다는 것이다. 원인 제거가 곧 치료인 드문 경우다.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소화계 요약: 소화·흡수·간의 역할</a:t>
            </a:r>
          </a:p>
          <a:p>
            <a:r>
              <a:rPr sz="1500" b="0" i="0">
                <a:solidFill>
                  <a:srgbClr val="B9D2E8"/>
                </a:solidFill>
                <a:latin typeface="Malgun Gothic"/>
                <a:ea typeface="Malgun Gothic"/>
                <a:cs typeface="Malgun Gothic"/>
              </a:rPr>
              <a:t>The Digestive System: Digestion, Absorption and the Role of the Liver</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M01-W01-L03  ·  2부</a:t>
            </a:r>
          </a:p>
          <a:p>
            <a:r>
              <a:rPr sz="1100" b="0" i="0">
                <a:solidFill>
                  <a:srgbClr val="F2B705"/>
                </a:solidFill>
                <a:latin typeface="Malgun Gothic"/>
                <a:ea typeface="Malgun Gothic"/>
                <a:cs typeface="Malgun Gothic"/>
              </a:rPr>
              <a:t>전체 13절 가운데 6절</a:t>
            </a:r>
          </a:p>
          <a:p>
            <a:r>
              <a:rPr sz="1100" b="0" i="0">
                <a:solidFill>
                  <a:srgbClr val="9FBEDA"/>
                </a:solidFill>
                <a:latin typeface="Malgun Gothic"/>
                <a:ea typeface="Malgun Gothic"/>
                <a:cs typeface="Malgun Gothic"/>
              </a:rPr>
              <a:t>1주 3회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소화계의 네 가지 기본 기능을 정의하고 소화관을 한 줄의 관으로 보는 관점이 무엇을 설명하는지 쓴다.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소화관 벽의 네 층을 안에서 밖으로 순서대로 쓰고 각 층의 기능을 지목한다.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소화관 운동의 두 양식을 구분하고 장 신경계가 중추 신경과 독립적으로 작동하는 근거를 든다.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위에서 일어나는 소화를 염산 분비 기전과 pepsin 활성화 과정으로 설명하고 위가 스스로 소화되지 않는 이유를 쓴다.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탄수화물·단백질·지질이 각각 어느 효소에 의해 어디에서 어떤 단위까지 분해되는지 표로 정리한다.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지질 소화가 다른 영양소와 근본적으로 다른 점을 설명하고 담즙산과 micelle의 역할을 쓴다.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소장 점막의 표면적 확대 장치를 세 층위로 설명하고 각 영양소의 흡수 기전을 수송체 수준에서 구분한다.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간의 혈액 공급이 이중인 이유를 설명하고 간이 수행하는 대사·해독·합성·배설 기능을 사례와 함께 쓴다.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담즙의 구성과 enterohepatic circulation을 설명하고 담즙 흐름이 막힐 때 생기는 결과를 예측한다.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소화계 호르몬 네 가지의 분비 자극과 표적 작용을 구분한다.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M01-W01-L01 순환계 요약 — hepatic portal system, 모세혈관 교환</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M01-W01-L02 호흡계 요약 — 확산과 분압, 표면적과 교환 효율</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생체분자의 기본 분류 (탄수화물, 단백질, 지질)</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8. 담즙과 enterohepatic circulation</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9. 소화계 호르몬: 분비 자극과 표적</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10. 대장: 수분 평형, 운동, 그리고 장내 미생물</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11. 흡수 장애를 읽는 법</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12. 장벽과 장관 면역</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13. 소화계 질환을 읽는 기본 논리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담즙과 enterohepatic circulation</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담즙(bile)</a:t>
            </a:r>
            <a:r>
              <a:rPr sz="1400" b="0" i="0">
                <a:solidFill>
                  <a:srgbClr val="11202B"/>
                </a:solidFill>
                <a:latin typeface="Malgun Gothic"/>
                <a:ea typeface="Malgun Gothic"/>
                <a:cs typeface="Malgun Gothic"/>
              </a:rPr>
              <a:t> 은 간이 만들어 담관으로 내보내는 액체이며, 두 가지 일을 한다. 지질 소화를 돕고(앞 절에서 본 담즙산의 작용), 배설할 물질을 소화관으로 내보낸다.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담즙의 구성은 다음과 같다.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담즙산(bile acid, bile salt)</a:t>
            </a:r>
            <a:r>
              <a:rPr sz="1400" b="0" i="0">
                <a:solidFill>
                  <a:srgbClr val="11202B"/>
                </a:solidFill>
                <a:latin typeface="Malgun Gothic"/>
                <a:ea typeface="Malgun Gothic"/>
                <a:cs typeface="Malgun Gothic"/>
              </a:rPr>
              <a:t>: 가장 많은 유기 성분이다. Cholesterol로부터 만들어지며, cholic acid와 chenodeoxycholic acid가 주된 1차 담즙산이다. Glycine이나 taurine과 결합(conjugation)해 물에 더 잘 녹는 형태가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Phospholipid</a:t>
            </a:r>
            <a:r>
              <a:rPr sz="1400" b="0" i="0">
                <a:solidFill>
                  <a:srgbClr val="11202B"/>
                </a:solidFill>
                <a:latin typeface="Malgun Gothic"/>
                <a:ea typeface="Malgun Gothic"/>
                <a:cs typeface="Malgun Gothic"/>
              </a:rPr>
              <a:t>: 주로 phosphatidylcholine. 담즙산과 함께 cholesterol을 녹여 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Cholesterol</a:t>
            </a:r>
            <a:r>
              <a:rPr sz="1400" b="0" i="0">
                <a:solidFill>
                  <a:srgbClr val="11202B"/>
                </a:solidFill>
                <a:latin typeface="Malgun Gothic"/>
                <a:ea typeface="Malgun Gothic"/>
                <a:cs typeface="Malgun Gothic"/>
              </a:rPr>
              <a:t>: 몸에서 cholesterol을 내보내는 주요 경로다.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Bilirubin</a:t>
            </a:r>
            <a:r>
              <a:rPr sz="1400" b="0" i="0">
                <a:solidFill>
                  <a:srgbClr val="11202B"/>
                </a:solidFill>
                <a:latin typeface="Malgun Gothic"/>
                <a:ea typeface="Malgun Gothic"/>
                <a:cs typeface="Malgun Gothic"/>
              </a:rPr>
              <a:t>: 담즙의 색을 내는 성분이다.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중탄산과 전해질, 물</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Bilirubin의 경로</a:t>
            </a:r>
            <a:r>
              <a:rPr sz="1400" b="0" i="0">
                <a:solidFill>
                  <a:srgbClr val="11202B"/>
                </a:solidFill>
                <a:latin typeface="Malgun Gothic"/>
                <a:ea typeface="Malgun Gothic"/>
                <a:cs typeface="Malgun Gothic"/>
              </a:rPr>
              <a:t>는 따로 정리할 만하다. 수명이 끝난 적혈구의 헤모글로빈에서 heme이 떨어져 나와 비장과 간의 대식세포에서 분해되고, 그 결과 생긴 것이 bilirubin이다. 이 상태의 bilirubin은 물에 녹지 않으므로 albumin에 결합해 혈액으로 운반된다(비결합 bilirubin). 간세포가 이를 받아들여 glucuronic acid를 붙이면(결합 bilirubin) 물에 녹게 되고, 담즙으로 배설된다. 장에서 세균이 이를 변형해 stercobilin으로 만들어 변의 갈색을 만들고, 일부는 재흡수되어 소변으로 나가 urobilin으로 소변 색을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황달(jaundice)은 bilirubin이 혈액에 쌓인 상태이며, 이 경로의 어느 단계가 막혔는지로 세 종류로 나뉜다.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담즙과 enterohepatic circulation</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분류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막힌 단계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쌓이는 형태</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대표 원인</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간 이전 (prehepatic)</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생성 과다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비결합</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용혈</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간성 (hepatic)</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간세포의 흡수·결합·배설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둘 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간염, 간경변</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간 이후 (posthepatic)</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담도 폐쇄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결합</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담석, 췌장암</a:t>
                      </a:r>
                    </a:p>
                  </a:txBody>
                  <a:tcPr marL="73152" marR="73152" marT="27432" marB="2743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담즙과 enterohepatic circulation</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Enterohepatic circulation</a:t>
            </a:r>
            <a:r>
              <a:rPr sz="1600" b="0" i="0">
                <a:solidFill>
                  <a:srgbClr val="11202B"/>
                </a:solidFill>
                <a:latin typeface="Malgun Gothic"/>
                <a:ea typeface="Malgun Gothic"/>
                <a:cs typeface="Malgun Gothic"/>
              </a:rPr>
              <a:t>은 담즙산이 재사용되는 순환이다. 담즙산은 소장에서 micelle을 만드는 일을 하고, 회장 끝에서 수송체에 의해 재흡수되어 hepatic portal vein을 통해 간으로 돌아간다. 간이 이를 다시 담즙으로 내보낸다. 한 번의 식사 동안 이 순환이 2~3회 돌고, 하루에 6~10회 돈다. 전체 담즙산 풀이 약 3 g에 불과한데도 하루에 20~30 g에 해당하는 일을 하는 이유가 재사용이기 때문이다. 손실되는 양은 하루 약 5%이며, 간이 cholesterol로부터 새로 만들어 보충한다.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순환이 임상적으로 중요한 이유가 있다. 담즙산을 장에서 붙잡아 변으로 내보내는 약물(bile acid sequestrant)을 쓰면 순환이 끊기고, 간이 담즙산을 새로 만들기 위해 cholesterol을 더 많이 쓰게 되어 혈중 cholesterol이 떨어진다. 또한 회장을 절제한 환자는 담즙산을 재흡수하지 못해 지질 흡수가 떨어지고, 재흡수되지 않은 담즙산이 대장을 자극해 설사를 일으킨다.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담즙과 enterohepatic circulation</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8</a:t>
            </a:r>
          </a:p>
        </p:txBody>
      </p:sp>
      <p:sp>
        <p:nvSpPr>
          <p:cNvPr id="7" name="Rectangle 6"/>
          <p:cNvSpPr/>
          <p:nvPr/>
        </p:nvSpPr>
        <p:spPr>
          <a:xfrm>
            <a:off x="640080" y="1325880"/>
            <a:ext cx="10881360" cy="138683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담즙에서 cholesterol은 담즙산과 phospholipid에 의해 겨우 녹아 있는 상태다. Cholesterol이 많아지거나 담즙산이 줄어 이 균형이 깨지면 cholesterol이 결정으로 가라앉아 담석이 된다. 담낭에서 담즙이 농축되고 오래 머물면 결정이 자랄 시간이 생기므로, 공복 상태가 길거나 담낭 운동이 떨어지면 위험이 높아진다.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담즙과 enterohepatic circulation</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9</a:t>
            </a:r>
          </a:p>
        </p:txBody>
      </p:sp>
      <p:pic>
        <p:nvPicPr>
          <p:cNvPr id="7" name="Picture 6" descr="fig-bile.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담즙의 구성과 enterohepatic circulation, 그리고 bilirubin의 생성에서 배설까지의 경로. 황달 세 종류가 이 경로의 어느 단계에 대응하는지를 함께 보인다.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소화계 호르몬: 분비 자극과 표적</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소화 과정은 각 구간이 적절한 시점에 적절한 양을 분비하도록 조율되어야 한다. 이 조율을 신경과 호르몬이 함께 담당하며, 네 가지 주요 호르몬을 분비 자극과 표적으로 정리하면 전체 구조가 보인다.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소화계 호르몬: 분비 자극과 표적</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11</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호르몬</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분비 세포·부위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분비 자극</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주된 작용</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Gastrin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G cell, 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위 팽창, peptide, vagus</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염산 분비 촉진, 위 운동 촉진</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Secretin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S cell, 십이지장</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lumen의 산성화</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췌장·담도의 중탄산 분비 촉진, 염산 분비 억제</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Cholecystokinin (CCK)</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I cell, 십이지장</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지방산, 아미노산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췌장 효소 분비, 담낭 수축, 위 배출 지연, 포만감</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Glucose-dependent insulinotropic peptide (GIP)</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K cell, 십이지장</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glucose, 지질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insulin 분비 촉진, 위 분비 억제</a:t>
                      </a:r>
                    </a:p>
                  </a:txBody>
                  <a:tcPr marL="73152" marR="73152" marT="27432" marB="27432">
                    <a:solidFill>
                      <a:srgbClr val="EFF4F8"/>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소화계 호르몬: 분비 자극과 표적</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표에서 두 가지 논리를 읽을 수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첫째, </a:t>
            </a:r>
            <a:r>
              <a:rPr sz="1400" b="1" i="0">
                <a:solidFill>
                  <a:srgbClr val="11202B"/>
                </a:solidFill>
                <a:latin typeface="Malgun Gothic"/>
                <a:ea typeface="Malgun Gothic"/>
                <a:cs typeface="Malgun Gothic"/>
              </a:rPr>
              <a:t>각 호르몬의 분비 자극이 그 호르몬이 해결할 문제를 그대로 가리킨다.</a:t>
            </a:r>
            <a:r>
              <a:rPr sz="1400" b="0" i="0">
                <a:solidFill>
                  <a:srgbClr val="11202B"/>
                </a:solidFill>
                <a:latin typeface="Malgun Gothic"/>
                <a:ea typeface="Malgun Gothic"/>
                <a:cs typeface="Malgun Gothic"/>
              </a:rPr>
              <a:t> Secretin은 산성화에 의해 분비되고 중탄산 분비를 일으켜 산을 중화한다. CCK는 지방산과 아미노산에 의해 분비되고 그것들을 소화할 효소와 담즙을 불러온다. GIP는 glucose에 의해 분비되고 insulin을 미리 준비시킨다. 즉 lumen의 상태를 감지해 필요한 분비를 끌어내는 되먹임 구조다.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둘째, </a:t>
            </a:r>
            <a:r>
              <a:rPr sz="1400" b="1" i="0">
                <a:solidFill>
                  <a:srgbClr val="11202B"/>
                </a:solidFill>
                <a:latin typeface="Malgun Gothic"/>
                <a:ea typeface="Malgun Gothic"/>
                <a:cs typeface="Malgun Gothic"/>
              </a:rPr>
              <a:t>위 배출 속도가 소장의 상태에 의해 조절된다.</a:t>
            </a:r>
            <a:r>
              <a:rPr sz="1400" b="0" i="0">
                <a:solidFill>
                  <a:srgbClr val="11202B"/>
                </a:solidFill>
                <a:latin typeface="Malgun Gothic"/>
                <a:ea typeface="Malgun Gothic"/>
                <a:cs typeface="Malgun Gothic"/>
              </a:rPr>
              <a:t> CCK와 secretin이 모두 위 배출을 늦춘다. 소장에 아직 처리하지 못한 산과 지질이 남아 있으면 위가 더 보내지 않도록 제동을 거는 것이다. 이를 통해 소장이 감당할 수 있는 속도로 내용물이 넘어온다.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GIP와 관련해 </a:t>
            </a:r>
            <a:r>
              <a:rPr sz="1400" b="1" i="0">
                <a:solidFill>
                  <a:srgbClr val="11202B"/>
                </a:solidFill>
                <a:latin typeface="Malgun Gothic"/>
                <a:ea typeface="Malgun Gothic"/>
                <a:cs typeface="Malgun Gothic"/>
              </a:rPr>
              <a:t>incretin 효과</a:t>
            </a:r>
            <a:r>
              <a:rPr sz="1400" b="0" i="0">
                <a:solidFill>
                  <a:srgbClr val="11202B"/>
                </a:solidFill>
                <a:latin typeface="Malgun Gothic"/>
                <a:ea typeface="Malgun Gothic"/>
                <a:cs typeface="Malgun Gothic"/>
              </a:rPr>
              <a:t>라는 현상을 언급할 만하다. 같은 양의 glucose를 경구로 주었을 때와 정맥으로 주었을 때, 경구 투여에서 insulin 분비가 훨씬 크다. 소화관이 glucose를 감지해 GIP와 GLP-1 같은 호르몬을 내보내 insulin 분비를 미리 자극하기 때문이다. 이 기전이 당뇨병 치료제의 한 축이 되었다. GLP-1 수용체 작용제와 DPP-4 억제제가 모두 incretin 경로를 이용한다.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소화의 조절은 시간 순서로도 정리된다. </a:t>
            </a:r>
            <a:r>
              <a:rPr sz="1400" b="1" i="0">
                <a:solidFill>
                  <a:srgbClr val="11202B"/>
                </a:solidFill>
                <a:latin typeface="Malgun Gothic"/>
                <a:ea typeface="Malgun Gothic"/>
                <a:cs typeface="Malgun Gothic"/>
              </a:rPr>
              <a:t>머리 단계(cephalic phase)</a:t>
            </a:r>
            <a:r>
              <a:rPr sz="1400" b="0" i="0">
                <a:solidFill>
                  <a:srgbClr val="11202B"/>
                </a:solidFill>
                <a:latin typeface="Malgun Gothic"/>
                <a:ea typeface="Malgun Gothic"/>
                <a:cs typeface="Malgun Gothic"/>
              </a:rPr>
              <a:t> 는 음식을 보거나 냄새를 맡는 것만으로 vagus를 통해 분비가 시작되는 단계로, 전체 염산 분비의 약 30%를 차지한다. </a:t>
            </a:r>
            <a:r>
              <a:rPr sz="1400" b="1" i="0">
                <a:solidFill>
                  <a:srgbClr val="11202B"/>
                </a:solidFill>
                <a:latin typeface="Malgun Gothic"/>
                <a:ea typeface="Malgun Gothic"/>
                <a:cs typeface="Malgun Gothic"/>
              </a:rPr>
              <a:t>위 단계(gastric phase)</a:t>
            </a:r>
            <a:r>
              <a:rPr sz="1400" b="0" i="0">
                <a:solidFill>
                  <a:srgbClr val="11202B"/>
                </a:solidFill>
                <a:latin typeface="Malgun Gothic"/>
                <a:ea typeface="Malgun Gothic"/>
                <a:cs typeface="Malgun Gothic"/>
              </a:rPr>
              <a:t> 는 음식이 위를 팽창시키고 peptide가 G cell을 자극하는 단계로 약 60%를 차지한다. </a:t>
            </a:r>
            <a:r>
              <a:rPr sz="1400" b="1" i="0">
                <a:solidFill>
                  <a:srgbClr val="11202B"/>
                </a:solidFill>
                <a:latin typeface="Malgun Gothic"/>
                <a:ea typeface="Malgun Gothic"/>
                <a:cs typeface="Malgun Gothic"/>
              </a:rPr>
              <a:t>장 단계(intestinal phase)</a:t>
            </a:r>
            <a:r>
              <a:rPr sz="1400" b="0" i="0">
                <a:solidFill>
                  <a:srgbClr val="11202B"/>
                </a:solidFill>
                <a:latin typeface="Malgun Gothic"/>
                <a:ea typeface="Malgun Gothic"/>
                <a:cs typeface="Malgun Gothic"/>
              </a:rPr>
              <a:t> 는 내용물이 소장에 들어간 뒤의 단계로, 초기에는 약간 촉진하지만 주로 secretin과 CCK를 통해 위 분비를 억제한다.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소화계 호르몬: 분비 자극과 표적</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13</a:t>
            </a:r>
          </a:p>
        </p:txBody>
      </p:sp>
      <p:pic>
        <p:nvPicPr>
          <p:cNvPr id="7" name="Picture 6" descr="fig-gi-hormones.slide.png"/>
          <p:cNvPicPr>
            <a:picLocks noChangeAspect="1"/>
          </p:cNvPicPr>
          <p:nvPr/>
        </p:nvPicPr>
        <p:blipFill>
          <a:blip r:embed="rId2"/>
          <a:stretch>
            <a:fillRect/>
          </a:stretch>
        </p:blipFill>
        <p:spPr>
          <a:xfrm>
            <a:off x="1651438" y="1325880"/>
            <a:ext cx="888881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소화계 네 호르몬의 분비 세포 위치, 분비 자극, 표적 기관과 작용. 분비 자극과 작용이 되먹임 구조를 이루는 방식, 그리고 머리·위·장 세 단계의 시간 순서를 함께 보인다.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대장: 수분 평형, 운동, 그리고 장내 미생물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소장이 영양소를 맡는다면 대장이 맡는 것은 </a:t>
            </a:r>
            <a:r>
              <a:rPr sz="1400" b="1" i="0">
                <a:solidFill>
                  <a:srgbClr val="11202B"/>
                </a:solidFill>
                <a:latin typeface="Malgun Gothic"/>
                <a:ea typeface="Malgun Gothic"/>
                <a:cs typeface="Malgun Gothic"/>
              </a:rPr>
              <a:t>물</a:t>
            </a:r>
            <a:r>
              <a:rPr sz="1400" b="0" i="0">
                <a:solidFill>
                  <a:srgbClr val="11202B"/>
                </a:solidFill>
                <a:latin typeface="Malgun Gothic"/>
                <a:ea typeface="Malgun Gothic"/>
                <a:cs typeface="Malgun Gothic"/>
              </a:rPr>
              <a:t>이다. 하루에 소화관으로 들어오는 액체는 섭취한 약 2 L와 분비액 약 7 L를 합해 9 L에 이른다. 이 가운데 소장이 약 7.5 L를 흡수하고, 대장으로 넘어오는 1.5 L 중 1.4 L를 대장이 흡수해 대변으로 나가는 것은 약 100 mL뿐이다.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숫자가 임상적으로 중요한 이유가 있다. </a:t>
            </a:r>
            <a:r>
              <a:rPr sz="1400" b="1" i="0">
                <a:solidFill>
                  <a:srgbClr val="11202B"/>
                </a:solidFill>
                <a:latin typeface="Malgun Gothic"/>
                <a:ea typeface="Malgun Gothic"/>
                <a:cs typeface="Malgun Gothic"/>
              </a:rPr>
              <a:t>대장의 흡수 예비력은 하루 약 4~5 L</a:t>
            </a:r>
            <a:r>
              <a:rPr sz="1400" b="0" i="0">
                <a:solidFill>
                  <a:srgbClr val="11202B"/>
                </a:solidFill>
                <a:latin typeface="Malgun Gothic"/>
                <a:ea typeface="Malgun Gothic"/>
                <a:cs typeface="Malgun Gothic"/>
              </a:rPr>
              <a:t>로, 넘어오는 양의 서너 배다. 따라서 소장에서 조금 더 넘어오는 정도로는 설사가 생기지 않고, 대장의 예비력을 넘어서야 설사가 된다. 거꾸로 대장 자체가 망가지면 적은 양으로도 설사가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흡수의 기전.</a:t>
            </a:r>
            <a:r>
              <a:rPr sz="1400" b="0" i="0">
                <a:solidFill>
                  <a:srgbClr val="11202B"/>
                </a:solidFill>
                <a:latin typeface="Malgun Gothic"/>
                <a:ea typeface="Malgun Gothic"/>
                <a:cs typeface="Malgun Gothic"/>
              </a:rPr>
              <a:t> 대장 상피는 Na⁺를 능동적으로 흡수하고 물이 삼투를 따라간다. 원위 대장에서는 aldosterone이 상피 Na⁺ 통로(ENaC)를 늘려 흡수를 강화한다. 신장의 집합관과 같은 기전이 소화관 끝에서도 쓰이는 것이며, 그래서 aldosterone이 과도하면 대변의 K⁺ 손실이 늘어난다.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운동.</a:t>
            </a:r>
            <a:r>
              <a:rPr sz="1400" b="0" i="0">
                <a:solidFill>
                  <a:srgbClr val="11202B"/>
                </a:solidFill>
                <a:latin typeface="Malgun Gothic"/>
                <a:ea typeface="Malgun Gothic"/>
                <a:cs typeface="Malgun Gothic"/>
              </a:rPr>
              <a:t> 대장의 운동은 두 가지다. 분절 운동(haustral contraction)은 내용물을 섞어 흡수 시간을 늘리고, 하루 몇 차례 일어나는 </a:t>
            </a:r>
            <a:r>
              <a:rPr sz="1400" b="1" i="0">
                <a:solidFill>
                  <a:srgbClr val="11202B"/>
                </a:solidFill>
                <a:latin typeface="Malgun Gothic"/>
                <a:ea typeface="Malgun Gothic"/>
                <a:cs typeface="Malgun Gothic"/>
              </a:rPr>
              <a:t>집단 운동(mass movement)</a:t>
            </a:r>
            <a:r>
              <a:rPr sz="1400" b="0" i="0">
                <a:solidFill>
                  <a:srgbClr val="11202B"/>
                </a:solidFill>
                <a:latin typeface="Malgun Gothic"/>
                <a:ea typeface="Malgun Gothic"/>
                <a:cs typeface="Malgun Gothic"/>
              </a:rPr>
              <a:t> 이 내용물을 한꺼번에 밀어낸다. 식사가 집단 운동을 촉발하는 것을 위대장 반사(gastrocolic reflex)라 하며, 식후에 배변감이 오는 이유다.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장내 미생물.</a:t>
            </a:r>
            <a:r>
              <a:rPr sz="1400" b="0" i="0">
                <a:solidFill>
                  <a:srgbClr val="11202B"/>
                </a:solidFill>
                <a:latin typeface="Malgun Gothic"/>
                <a:ea typeface="Malgun Gothic"/>
                <a:cs typeface="Malgun Gothic"/>
              </a:rPr>
              <a:t> 대장에는 세균이 그램당 10¹¹~10¹² 개 수준으로 존재한다. 사람 세포 수와 비슷하거나 그보다 많다는 추정이 널리 인용된다. 이 미생물이 하는 일을 세 가지로 묶을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소화되지 않은 탄수화물의 발효.</a:t>
            </a:r>
            <a:r>
              <a:rPr sz="1400" b="0" i="0">
                <a:solidFill>
                  <a:srgbClr val="11202B"/>
                </a:solidFill>
                <a:latin typeface="Malgun Gothic"/>
                <a:ea typeface="Malgun Gothic"/>
                <a:cs typeface="Malgun Gothic"/>
              </a:rPr>
              <a:t> 사람 효소로 분해되지 않는 식이섬유를 세균이 발효해 </a:t>
            </a:r>
            <a:r>
              <a:rPr sz="1400" b="1" i="0">
                <a:solidFill>
                  <a:srgbClr val="11202B"/>
                </a:solidFill>
                <a:latin typeface="Malgun Gothic"/>
                <a:ea typeface="Malgun Gothic"/>
                <a:cs typeface="Malgun Gothic"/>
              </a:rPr>
              <a:t>짧은사슬 지방산(short-chain fatty acid, SCFA)</a:t>
            </a:r>
            <a:r>
              <a:rPr sz="1400" b="0" i="0">
                <a:solidFill>
                  <a:srgbClr val="11202B"/>
                </a:solidFill>
                <a:latin typeface="Malgun Gothic"/>
                <a:ea typeface="Malgun Gothic"/>
                <a:cs typeface="Malgun Gothic"/>
              </a:rPr>
              <a:t> 인 acetate, propionate, butyrate를 만든다. Butyrate는 대장 상피세포의 주된 에너지원이다. 상피가 자기 영양을 혈액이 아니라 lumen 쪽에서 받는다는 점이 특이하다.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비타민 합성.</a:t>
            </a:r>
            <a:r>
              <a:rPr sz="1400" b="0" i="0">
                <a:solidFill>
                  <a:srgbClr val="11202B"/>
                </a:solidFill>
                <a:latin typeface="Malgun Gothic"/>
                <a:ea typeface="Malgun Gothic"/>
                <a:cs typeface="Malgun Gothic"/>
              </a:rPr>
              <a:t> Vitamin K와 일부 B군 비타민을 만든다. 광범위 항생제를 오래 쓴 환자에서 prothrombin time이 늘어나는 이유 가운데 하나다.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정착 저항.</a:t>
            </a:r>
            <a:r>
              <a:rPr sz="1400" b="0" i="0">
                <a:solidFill>
                  <a:srgbClr val="11202B"/>
                </a:solidFill>
                <a:latin typeface="Malgun Gothic"/>
                <a:ea typeface="Malgun Gothic"/>
                <a:cs typeface="Malgun Gothic"/>
              </a:rPr>
              <a:t> 자리를 차지하고 영양을 소비해 병원성 세균이 자리 잡지 못하게 한다. 이 균형이 깨지면 특정 균이 과증식한다.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대장: 수분 평형, 운동, 그리고 장내 미생물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15</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항생제 투여 후의 </a:t>
            </a:r>
            <a:r>
              <a:rPr sz="1600" b="1" i="0">
                <a:solidFill>
                  <a:srgbClr val="11202B"/>
                </a:solidFill>
                <a:latin typeface="Malgun Gothic"/>
                <a:ea typeface="Malgun Gothic"/>
                <a:cs typeface="Malgun Gothic"/>
              </a:rPr>
              <a:t>Clostridioides difficile 감염</a:t>
            </a:r>
            <a:r>
              <a:rPr sz="1600" b="0" i="0">
                <a:solidFill>
                  <a:srgbClr val="11202B"/>
                </a:solidFill>
                <a:latin typeface="Malgun Gothic"/>
                <a:ea typeface="Malgun Gothic"/>
                <a:cs typeface="Malgun Gothic"/>
              </a:rPr>
              <a:t>이 정착 저항이 무너진 전형이다. 정상 세균총이 억제되면 C. difficile이 증식해 독소를 내고 위막성 대장염을 일으킨다. 재발성 감염에서 </a:t>
            </a:r>
            <a:r>
              <a:rPr sz="1600" b="1" i="0">
                <a:solidFill>
                  <a:srgbClr val="11202B"/>
                </a:solidFill>
                <a:latin typeface="Malgun Gothic"/>
                <a:ea typeface="Malgun Gothic"/>
                <a:cs typeface="Malgun Gothic"/>
              </a:rPr>
              <a:t>대변 미생물 이식(fecal microbiota transplantation)</a:t>
            </a:r>
            <a:r>
              <a:rPr sz="1600" b="0" i="0">
                <a:solidFill>
                  <a:srgbClr val="11202B"/>
                </a:solidFill>
                <a:latin typeface="Malgun Gothic"/>
                <a:ea typeface="Malgun Gothic"/>
                <a:cs typeface="Malgun Gothic"/>
              </a:rPr>
              <a:t> 이 항생제보다 높은 치료율을 보인 것이 무작위 시험에서 확인되었다. 세균총 자체를 치료 수단으로 쓴 첫 사례이며, 미생물이 단순한 동거자가 아니라 기능적 장기에 가깝다는 근거로 인용된다.</a:t>
            </a:r>
          </a:p>
        </p:txBody>
      </p:sp>
      <p:sp>
        <p:nvSpPr>
          <p:cNvPr id="8" name="Rectangle 7"/>
          <p:cNvSpPr/>
          <p:nvPr/>
        </p:nvSpPr>
        <p:spPr>
          <a:xfrm>
            <a:off x="640080" y="3144520"/>
            <a:ext cx="10881360" cy="2270759"/>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장내 미생물과 질환의 연관 보고는 비만, 당뇨, 염증성 장질환, 자폐, 파킨슨병에 이르기까지 폭발적으로 늘었다. 그러나 대부분은 </a:t>
            </a:r>
            <a:r>
              <a:rPr sz="1600" b="1" i="0">
                <a:solidFill>
                  <a:srgbClr val="11202B"/>
                </a:solidFill>
                <a:latin typeface="Malgun Gothic"/>
                <a:ea typeface="Malgun Gothic"/>
                <a:cs typeface="Malgun Gothic"/>
              </a:rPr>
              <a:t>연관이지 인과가 아니다.</a:t>
            </a:r>
            <a:r>
              <a:rPr sz="1600" b="0" i="0">
                <a:solidFill>
                  <a:srgbClr val="11202B"/>
                </a:solidFill>
                <a:latin typeface="Malgun Gothic"/>
                <a:ea typeface="Malgun Gothic"/>
                <a:cs typeface="Malgun Gothic"/>
              </a:rPr>
              <a:t> 질환이 식사와 약물을 바꾸고 그것이 세균총을 바꾸는 역방향 인과를 배제하기 어렵기 때문이다. 인과를 확립하려는 방법으로 무균 생쥐에 사람 세균총을 이식해 표현형이 옮겨 가는지 보는 실험, 세균 유전자와 숙주 표현형 사이의 멘델 무작위화 분석, 특정 대사산물을 직접 투여하는 개입 연구가 쓰인다. 현재까지 사람에서 인과가 비교적 분명한 것은 C. difficile 감염 정도이며, 나머지는 기전 수준의 연결고리를 찾는 단계다. 자료를 읽을 때 </a:t>
            </a:r>
            <a:r>
              <a:rPr sz="1600" b="1" i="0">
                <a:solidFill>
                  <a:srgbClr val="11202B"/>
                </a:solidFill>
                <a:latin typeface="Malgun Gothic"/>
                <a:ea typeface="Malgun Gothic"/>
                <a:cs typeface="Malgun Gothic"/>
              </a:rPr>
              <a:t>상대 풍부도의 차이</a:t>
            </a:r>
            <a:r>
              <a:rPr sz="1600" b="0" i="0">
                <a:solidFill>
                  <a:srgbClr val="11202B"/>
                </a:solidFill>
                <a:latin typeface="Malgun Gothic"/>
                <a:ea typeface="Malgun Gothic"/>
                <a:cs typeface="Malgun Gothic"/>
              </a:rPr>
              <a:t>와 </a:t>
            </a:r>
            <a:r>
              <a:rPr sz="1600" b="1" i="0">
                <a:solidFill>
                  <a:srgbClr val="11202B"/>
                </a:solidFill>
                <a:latin typeface="Malgun Gothic"/>
                <a:ea typeface="Malgun Gothic"/>
                <a:cs typeface="Malgun Gothic"/>
              </a:rPr>
              <a:t>기능적 결과</a:t>
            </a:r>
            <a:r>
              <a:rPr sz="1600" b="0" i="0">
                <a:solidFill>
                  <a:srgbClr val="11202B"/>
                </a:solidFill>
                <a:latin typeface="Malgun Gothic"/>
                <a:ea typeface="Malgun Gothic"/>
                <a:cs typeface="Malgun Gothic"/>
              </a:rPr>
              <a:t>를 구분하는 것이 중요하다.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흡수 장애를 읽는 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설사와 체중 감소를 호소하는 환자 앞에서 던질 질문은 "무엇이 부족한가"가 아니라 </a:t>
            </a:r>
            <a:r>
              <a:rPr sz="1600" b="1" i="0">
                <a:solidFill>
                  <a:srgbClr val="11202B"/>
                </a:solidFill>
                <a:latin typeface="Malgun Gothic"/>
                <a:ea typeface="Malgun Gothic"/>
                <a:cs typeface="Malgun Gothic"/>
              </a:rPr>
              <a:t>"어느 단계가 깨졌는가"</a:t>
            </a:r>
            <a:r>
              <a:rPr sz="1600" b="0" i="0">
                <a:solidFill>
                  <a:srgbClr val="11202B"/>
                </a:solidFill>
                <a:latin typeface="Malgun Gothic"/>
                <a:ea typeface="Malgun Gothic"/>
                <a:cs typeface="Malgun Gothic"/>
              </a:rPr>
              <a:t> 다. 영양소가 혈액에 도달하기까지는 세 단계를 거치며, 단계마다 원인과 양상이 다르다.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1단계: 소화(digestion)의 실패.</a:t>
            </a:r>
            <a:r>
              <a:rPr sz="1600" b="0" i="0">
                <a:solidFill>
                  <a:srgbClr val="11202B"/>
                </a:solidFill>
                <a:latin typeface="Malgun Gothic"/>
                <a:ea typeface="Malgun Gothic"/>
                <a:cs typeface="Malgun Gothic"/>
              </a:rPr>
              <a:t> Lumen에서 고분자를 흡수 가능한 단위로 쪼개지 못한다. 췌장 외분비 부전(만성 췌장염, 낭성 섬유증), 담즙산 부족(담도 폐쇄, 회장 절제, 세균 과증식에 의한 담즙산 탈결합)이 여기에 든다. 지질이 가장 먼저 영향을 받는다.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2단계: 상피에서의 흡수(absorption)의 실패.</a:t>
            </a:r>
            <a:r>
              <a:rPr sz="1600" b="0" i="0">
                <a:solidFill>
                  <a:srgbClr val="11202B"/>
                </a:solidFill>
                <a:latin typeface="Malgun Gothic"/>
                <a:ea typeface="Malgun Gothic"/>
                <a:cs typeface="Malgun Gothic"/>
              </a:rPr>
              <a:t> 흡수 면적이나 상피 자체가 손상된다. Celiac 병에서 융모가 위축되고, 크론병과 방사선 장염에서 점막이 파괴되며, 광범위 절제로 면적이 줄어든다(단장 증후군).</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3단계: 수송(transport)의 실패.</a:t>
            </a:r>
            <a:r>
              <a:rPr sz="1600" b="0" i="0">
                <a:solidFill>
                  <a:srgbClr val="11202B"/>
                </a:solidFill>
                <a:latin typeface="Malgun Gothic"/>
                <a:ea typeface="Malgun Gothic"/>
                <a:cs typeface="Malgun Gothic"/>
              </a:rPr>
              <a:t> 흡수는 되었으나 혈액이나 림프로 나가지 못한다. 림프관이 막히면(장림프관 확장증, 림프종) 지질과 단백질이 다시 lumen으로 새어 나간다.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부위가 영양소를 정한다.</a:t>
            </a:r>
            <a:r>
              <a:rPr sz="1600" b="0" i="0">
                <a:solidFill>
                  <a:srgbClr val="11202B"/>
                </a:solidFill>
                <a:latin typeface="Malgun Gothic"/>
                <a:ea typeface="Malgun Gothic"/>
                <a:cs typeface="Malgun Gothic"/>
              </a:rPr>
              <a:t> 소장의 어느 부위가 손상되었는지는 어떤 결핍이 생겼는지로 역추적할 수 있다. 이 대응이 진단의 지름길이다.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흡수 장애를 읽는 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17</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부위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그 부위에서만 흡수되는 것</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손상되면</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십이지장·jejunum 근위부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철, 엽산, 칼슘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소적혈구 빈혈, 엽산 결핍, 골감소</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Jejunum</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대부분의 당, 아미노산, 지질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전반적 영양 결핍, 체중 감소</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회장 말단</a:t>
                      </a:r>
                    </a:p>
                  </a:txBody>
                  <a:tcPr marL="73152" marR="73152" marT="27432" marB="27432">
                    <a:solidFill>
                      <a:srgbClr val="FFFFFF"/>
                    </a:solidFill>
                  </a:tcPr>
                </a:tc>
                <a:tc>
                  <a:txBody>
                    <a:bodyPr/>
                    <a:lstStyle/>
                    <a:p>
                      <a:r>
                        <a:rPr sz="1200" b="1" i="0">
                          <a:solidFill>
                            <a:srgbClr val="11202B"/>
                          </a:solidFill>
                          <a:latin typeface="Malgun Gothic"/>
                          <a:ea typeface="Malgun Gothic"/>
                          <a:cs typeface="Malgun Gothic"/>
                        </a:rPr>
                        <a:t>vitamin B₁₂(intrinsic factor 결합형), 담즙산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거대적혈구 빈혈, 지방변, 담석</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대장</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물, 전해질, SCFA</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설사</a:t>
                      </a:r>
                    </a:p>
                  </a:txBody>
                  <a:tcPr marL="73152" marR="73152" marT="27432" marB="27432">
                    <a:solidFill>
                      <a:srgbClr val="EFF4F8"/>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흡수 장애를 읽는 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18</a:t>
            </a:r>
          </a:p>
        </p:txBody>
      </p:sp>
      <p:sp>
        <p:nvSpPr>
          <p:cNvPr id="7" name="Rectangle 6"/>
          <p:cNvSpPr/>
          <p:nvPr/>
        </p:nvSpPr>
        <p:spPr>
          <a:xfrm>
            <a:off x="640080" y="1325880"/>
            <a:ext cx="10881360" cy="256540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빈혈의 종류가 부위를 가리킨다. </a:t>
            </a:r>
            <a:r>
              <a:rPr sz="1600" b="1" i="0">
                <a:solidFill>
                  <a:srgbClr val="11202B"/>
                </a:solidFill>
                <a:latin typeface="Malgun Gothic"/>
                <a:ea typeface="Malgun Gothic"/>
                <a:cs typeface="Malgun Gothic"/>
              </a:rPr>
              <a:t>소적혈구 빈혈은 십이지장(철), 거대적혈구 빈혈은 회장 말단(B₁₂)</a:t>
            </a:r>
            <a:r>
              <a:rPr sz="1600" b="0" i="0">
                <a:solidFill>
                  <a:srgbClr val="11202B"/>
                </a:solidFill>
                <a:latin typeface="Malgun Gothic"/>
                <a:ea typeface="Malgun Gothic"/>
                <a:cs typeface="Malgun Gothic"/>
              </a:rPr>
              <a:t> 이다. Celiac 병이 근위부를 침범하므로 철 결핍으로 먼저 나타나고, 크론병이 회장 말단을 즐겨 침범하므로 B₁₂ 결핍과 담즙산 소실로 나타난다. 회장 절제의 길이도 갈린다. </a:t>
            </a:r>
            <a:r>
              <a:rPr sz="1600" b="1" i="0">
                <a:solidFill>
                  <a:srgbClr val="11202B"/>
                </a:solidFill>
                <a:latin typeface="Malgun Gothic"/>
                <a:ea typeface="Malgun Gothic"/>
                <a:cs typeface="Malgun Gothic"/>
              </a:rPr>
              <a:t>100 cm 미만을 절제하면</a:t>
            </a:r>
            <a:r>
              <a:rPr sz="1600" b="0" i="0">
                <a:solidFill>
                  <a:srgbClr val="11202B"/>
                </a:solidFill>
                <a:latin typeface="Malgun Gothic"/>
                <a:ea typeface="Malgun Gothic"/>
                <a:cs typeface="Malgun Gothic"/>
              </a:rPr>
              <a:t> 담즙산이 대장으로 넘어가 물 분비를 자극하는 담즙산 설사가 되고 cholestyramine이 듣는다. </a:t>
            </a:r>
            <a:r>
              <a:rPr sz="1600" b="1" i="0">
                <a:solidFill>
                  <a:srgbClr val="11202B"/>
                </a:solidFill>
                <a:latin typeface="Malgun Gothic"/>
                <a:ea typeface="Malgun Gothic"/>
                <a:cs typeface="Malgun Gothic"/>
              </a:rPr>
              <a:t>100 cm 이상을 절제하면</a:t>
            </a:r>
            <a:r>
              <a:rPr sz="1600" b="0" i="0">
                <a:solidFill>
                  <a:srgbClr val="11202B"/>
                </a:solidFill>
                <a:latin typeface="Malgun Gothic"/>
                <a:ea typeface="Malgun Gothic"/>
                <a:cs typeface="Malgun Gothic"/>
              </a:rPr>
              <a:t> 간의 합성이 손실을 따라가지 못해 micelle 형성이 깨지고 진짜 지방변이 되므로 cholestyramine이 오히려 악화시킨다. 또한 삼투성 설사와 분비성 설사는 </a:t>
            </a:r>
            <a:r>
              <a:rPr sz="1600" b="1" i="0">
                <a:solidFill>
                  <a:srgbClr val="11202B"/>
                </a:solidFill>
                <a:latin typeface="Malgun Gothic"/>
                <a:ea typeface="Malgun Gothic"/>
                <a:cs typeface="Malgun Gothic"/>
              </a:rPr>
              <a:t>금식</a:t>
            </a:r>
            <a:r>
              <a:rPr sz="1600" b="0" i="0">
                <a:solidFill>
                  <a:srgbClr val="11202B"/>
                </a:solidFill>
                <a:latin typeface="Malgun Gothic"/>
                <a:ea typeface="Malgun Gothic"/>
                <a:cs typeface="Malgun Gothic"/>
              </a:rPr>
              <a:t>으로 갈린다. 금식하면 멎는 것이 삼투성(유당 불내성, 삼투성 하제), 금식해도 지속되는 것이 분비성(콜레라 독소, 호르몬 분비 종양)이다.</a:t>
            </a:r>
          </a:p>
        </p:txBody>
      </p:sp>
      <p:sp>
        <p:nvSpPr>
          <p:cNvPr id="8" name="Rectangle 7"/>
          <p:cNvSpPr/>
          <p:nvPr/>
        </p:nvSpPr>
        <p:spPr>
          <a:xfrm>
            <a:off x="640080" y="402844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유당 불내성</a:t>
            </a:r>
            <a:r>
              <a:rPr sz="1600" b="0" i="0">
                <a:solidFill>
                  <a:srgbClr val="11202B"/>
                </a:solidFill>
                <a:latin typeface="Malgun Gothic"/>
                <a:ea typeface="Malgun Gothic"/>
                <a:cs typeface="Malgun Gothic"/>
              </a:rPr>
              <a:t>은 흡수 장애의 가장 흔한 예이면서 기전이 단순해 전체 틀을 복습하기에 좋다. 솔가장자리의 lactase가 줄면 lactose가 분해되지 않고 lumen에 남아 삼투압을 올리므로 물이 끌려 나와 설사가 된다. 대장으로 넘어간 lactose는 세균이 발효해 가스를 만들어 팽만과 복통을 일으킨다. 성인이 된 뒤 lactase가 줄어드는 것이 포유류의 기본 상태이며, 성인에서도 유지되는 lactase persistence가 오히려 낙농 문화권에서 선택된 파생 형질이다. 유럽과 동아프리카에서 서로 다른 변이가 독립적으로 같은 형질을 만든 수렴 진화의 사례로 자주 인용된다.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장벽과 장관 면역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소화관 상피는 몸에서 외부와 맞닿은 면적이 가장 넓다. 표면적이 수십 제곱미터에 이르고 그 너머에는 10¹⁴ 수준의 세균이 있다. 이 상피는 두 가지 모순된 일을 동시에 해야 한다. </a:t>
            </a:r>
            <a:r>
              <a:rPr sz="1400" b="1" i="0">
                <a:solidFill>
                  <a:srgbClr val="11202B"/>
                </a:solidFill>
                <a:latin typeface="Malgun Gothic"/>
                <a:ea typeface="Malgun Gothic"/>
                <a:cs typeface="Malgun Gothic"/>
              </a:rPr>
              <a:t>영양소는 통과시키고 세균과 독소는 막는 것</a:t>
            </a:r>
            <a:r>
              <a:rPr sz="1400" b="0" i="0">
                <a:solidFill>
                  <a:srgbClr val="11202B"/>
                </a:solidFill>
                <a:latin typeface="Malgun Gothic"/>
                <a:ea typeface="Malgun Gothic"/>
                <a:cs typeface="Malgun Gothic"/>
              </a:rPr>
              <a:t>, 그리고 </a:t>
            </a:r>
            <a:r>
              <a:rPr sz="1400" b="1" i="0">
                <a:solidFill>
                  <a:srgbClr val="11202B"/>
                </a:solidFill>
                <a:latin typeface="Malgun Gothic"/>
                <a:ea typeface="Malgun Gothic"/>
                <a:cs typeface="Malgun Gothic"/>
              </a:rPr>
              <a:t>해로운 것에는 반응하되 음식 항원과 정상 세균에는 반응하지 않는 것</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물리적·화학적 장벽.</a:t>
            </a:r>
            <a:r>
              <a:rPr sz="1400" b="0" i="0">
                <a:solidFill>
                  <a:srgbClr val="11202B"/>
                </a:solidFill>
                <a:latin typeface="Malgun Gothic"/>
                <a:ea typeface="Malgun Gothic"/>
                <a:cs typeface="Malgun Gothic"/>
              </a:rPr>
              <a:t> 바깥쪽부터 점액층, 항균 펩타이드, 상피세포의 치밀이음(tight junction), 그리고 그 아래의 면역세포가 층을 이룬다. 점액은 goblet cell이 분비하며 대장에서는 두 층으로 나뉘어 안쪽 층은 세균이 거의 들어오지 못한다. Paneth cell은 소장 음와 바닥에서 defensin과 lysozyme을 분비한다.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치밀이음이 통과량을 정한다.</a:t>
            </a:r>
            <a:r>
              <a:rPr sz="1400" b="0" i="0">
                <a:solidFill>
                  <a:srgbClr val="11202B"/>
                </a:solidFill>
                <a:latin typeface="Malgun Gothic"/>
                <a:ea typeface="Malgun Gothic"/>
                <a:cs typeface="Malgun Gothic"/>
              </a:rPr>
              <a:t> 상피 사이를 지나는 경로(paracellular)의 투과성은 claudin 계열 단백질의 조성이 정하며, 부위마다 다르다. 이 조절이 깨져 투과성이 올라간 상태를 장벽 기능 저하라 하고, 염증성 장질환과 celiac 병에서 관찰된다.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장관 면역의 구조.</a:t>
            </a:r>
            <a:r>
              <a:rPr sz="1400" b="0" i="0">
                <a:solidFill>
                  <a:srgbClr val="11202B"/>
                </a:solidFill>
                <a:latin typeface="Malgun Gothic"/>
                <a:ea typeface="Malgun Gothic"/>
                <a:cs typeface="Malgun Gothic"/>
              </a:rPr>
              <a:t> 점막 아래에는 Peyer patch 같은 조직화된 림프조직과 흩어진 림프구가 있다. 특징적인 것은 분비형 </a:t>
            </a:r>
            <a:r>
              <a:rPr sz="1400" b="1" i="0">
                <a:solidFill>
                  <a:srgbClr val="11202B"/>
                </a:solidFill>
                <a:latin typeface="Malgun Gothic"/>
                <a:ea typeface="Malgun Gothic"/>
                <a:cs typeface="Malgun Gothic"/>
              </a:rPr>
              <a:t>IgA</a:t>
            </a:r>
            <a:r>
              <a:rPr sz="1400" b="0" i="0">
                <a:solidFill>
                  <a:srgbClr val="11202B"/>
                </a:solidFill>
                <a:latin typeface="Malgun Gothic"/>
                <a:ea typeface="Malgun Gothic"/>
                <a:cs typeface="Malgun Gothic"/>
              </a:rPr>
              <a:t>로, 상피를 통과해 lumen으로 나가 세균과 독소를 결합한 뒤 그대로 배출한다. 염증을 일으키지 않고 중화한다는 점에서 전신 면역의 IgG와 성격이 다르다.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경구 내성(oral tolerance).</a:t>
            </a:r>
            <a:r>
              <a:rPr sz="1400" b="0" i="0">
                <a:solidFill>
                  <a:srgbClr val="11202B"/>
                </a:solidFill>
                <a:latin typeface="Malgun Gothic"/>
                <a:ea typeface="Malgun Gothic"/>
                <a:cs typeface="Malgun Gothic"/>
              </a:rPr>
              <a:t> 음식 항원에 대해 능동적으로 반응을 억제하는 상태이며, 조절 T세포가 중심 역할을 한다. 이 억제가 실패하면 음식 알레르기가 되고, 정상 세균총에 대한 억제가 실패하면 염증성 장질환의 한 기전이 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장벽과 장관 면역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20</a:t>
            </a:r>
          </a:p>
        </p:txBody>
      </p:sp>
      <p:sp>
        <p:nvSpPr>
          <p:cNvPr id="7" name="Rectangle 6"/>
          <p:cNvSpPr/>
          <p:nvPr/>
        </p:nvSpPr>
        <p:spPr>
          <a:xfrm>
            <a:off x="640080" y="1325880"/>
            <a:ext cx="10881360" cy="1915222"/>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Celiac 병</a:t>
            </a:r>
            <a:r>
              <a:rPr sz="1600" b="0" i="0">
                <a:solidFill>
                  <a:srgbClr val="11202B"/>
                </a:solidFill>
                <a:latin typeface="Malgun Gothic"/>
                <a:ea typeface="Malgun Gothic"/>
                <a:cs typeface="Malgun Gothic"/>
              </a:rPr>
              <a:t>은 외부 항원과 유전적 소인, 면역 반응이 어떻게 맞물리는지를 보여 주는 모형 질환이다. 밀의 gliadin이 장벽을 통과하면 tissue transglutaminase가 이를 탈아미드화해 음전하를 늘리고, 그 결과 HLA-DQ2 또는 DQ8 분자에 강하게 결합하게 되어 T세포가 반응한다. 상피내 림프구가 늘고 융모가 위축되어 흡수 면적이 줄어든다. 두 가지가 요점이다. 첫째, </a:t>
            </a:r>
            <a:r>
              <a:rPr sz="1600" b="1" i="0">
                <a:solidFill>
                  <a:srgbClr val="11202B"/>
                </a:solidFill>
                <a:latin typeface="Malgun Gothic"/>
                <a:ea typeface="Malgun Gothic"/>
                <a:cs typeface="Malgun Gothic"/>
              </a:rPr>
              <a:t>특정 HLA가 없으면 거의 발병하지 않으므로</a:t>
            </a:r>
            <a:r>
              <a:rPr sz="1600" b="0" i="0">
                <a:solidFill>
                  <a:srgbClr val="11202B"/>
                </a:solidFill>
                <a:latin typeface="Malgun Gothic"/>
                <a:ea typeface="Malgun Gothic"/>
                <a:cs typeface="Malgun Gothic"/>
              </a:rPr>
              <a:t> HLA-DQ2/DQ8 음성은 배제에 유용하다. 둘째, 항원을 끊으면(글루텐 제거) 조직이 회복되므로 </a:t>
            </a:r>
            <a:r>
              <a:rPr sz="1600" b="1" i="0">
                <a:solidFill>
                  <a:srgbClr val="11202B"/>
                </a:solidFill>
                <a:latin typeface="Malgun Gothic"/>
                <a:ea typeface="Malgun Gothic"/>
                <a:cs typeface="Malgun Gothic"/>
              </a:rPr>
              <a:t>원인 제거가 곧 치료</a:t>
            </a:r>
            <a:r>
              <a:rPr sz="1600" b="0" i="0">
                <a:solidFill>
                  <a:srgbClr val="11202B"/>
                </a:solidFill>
                <a:latin typeface="Malgun Gothic"/>
                <a:ea typeface="Malgun Gothic"/>
                <a:cs typeface="Malgun Gothic"/>
              </a:rPr>
              <a:t>인 드문 자가면역 질환이다.</a:t>
            </a:r>
          </a:p>
        </p:txBody>
      </p:sp>
      <p:sp>
        <p:nvSpPr>
          <p:cNvPr id="8" name="Rectangle 7"/>
          <p:cNvSpPr/>
          <p:nvPr/>
        </p:nvSpPr>
        <p:spPr>
          <a:xfrm>
            <a:off x="640080" y="3378262"/>
            <a:ext cx="10881360" cy="2565400"/>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염증성 장질환의 원인을 두고 여러 설명이 경쟁한다. 유전체 연관 연구는 200개가 넘는 위험 좌위를 찾아냈는데, 상당수가 세균 인식(NOD2), 자가포식(ATG16L1), 상피 장벽, IL-23 경로에 모여 있다. 이는 질환이 "면역이 과도한 상태"라기보다 </a:t>
            </a:r>
            <a:r>
              <a:rPr sz="1600" b="1" i="0">
                <a:solidFill>
                  <a:srgbClr val="11202B"/>
                </a:solidFill>
                <a:latin typeface="Malgun Gothic"/>
                <a:ea typeface="Malgun Gothic"/>
                <a:cs typeface="Malgun Gothic"/>
              </a:rPr>
              <a:t>숙주와 미생물의 접점이 잘못 관리되는 상태</a:t>
            </a:r>
            <a:r>
              <a:rPr sz="1600" b="0" i="0">
                <a:solidFill>
                  <a:srgbClr val="11202B"/>
                </a:solidFill>
                <a:latin typeface="Malgun Gothic"/>
                <a:ea typeface="Malgun Gothic"/>
                <a:cs typeface="Malgun Gothic"/>
              </a:rPr>
              <a:t>에 가깝다는 그림을 지지한다. 다만 유전적 위험만으로는 발병의 작은 부분만 설명되고, 지난 반세기 동안 발생률이 산업화와 함께 급격히 올라간 것은 환경 요인을 가리킨다. 위생 가설, 가공식품의 emulsifier, 항생제 노출, 식이섬유 감소가 후보로 제시되었으나 사람에서 인과를 가린 연구는 드물다. 치료 쪽에서는 TNF 억제제 이후 IL-12/23, IL-23 단독, integrin, JAK을 표적으로 하는 약물이 차례로 도입되었는데, </a:t>
            </a:r>
            <a:r>
              <a:rPr sz="1600" b="1" i="0">
                <a:solidFill>
                  <a:srgbClr val="11202B"/>
                </a:solidFill>
                <a:latin typeface="Malgun Gothic"/>
                <a:ea typeface="Malgun Gothic"/>
                <a:cs typeface="Malgun Gothic"/>
              </a:rPr>
              <a:t>어느 환자에게 어느 표적이 맞는지를 미리 고르는 생체표지자</a:t>
            </a:r>
            <a:r>
              <a:rPr sz="1600" b="0" i="0">
                <a:solidFill>
                  <a:srgbClr val="11202B"/>
                </a:solidFill>
                <a:latin typeface="Malgun Gothic"/>
                <a:ea typeface="Malgun Gothic"/>
                <a:cs typeface="Malgun Gothic"/>
              </a:rPr>
              <a:t>가 아직 없다는 것이 가장 큰 미해결 과제다.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소화계 질환을 읽는 기본 논리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소화계 질환도 앞 절들의 틀로 되돌려 읽는다. 네 기능(운동·분비·소화·흡수) 가운데 어디가 틀어졌는지를 먼저 묻는다.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운동의 문제</a:t>
            </a:r>
            <a:r>
              <a:rPr sz="1400" b="0" i="0">
                <a:solidFill>
                  <a:srgbClr val="11202B"/>
                </a:solidFill>
                <a:latin typeface="Malgun Gothic"/>
                <a:ea typeface="Malgun Gothic"/>
                <a:cs typeface="Malgun Gothic"/>
              </a:rPr>
              <a:t>. Achalasia는 식도 아래쪽 조임근이 이완하지 못해 음식이 내려가지 못하는 질환이다. Hirschsprung 질환도 같은 범주다. 반대로 위식도 역류는 조임근이 충분히 닫히지 않아 위 내용물이 거슬러 올라오는 상태다. 당뇨병에서 자율신경이 손상되면 위 배출이 늦어진다(gastroparesis).</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분비의 문제</a:t>
            </a:r>
            <a:r>
              <a:rPr sz="1400" b="0" i="0">
                <a:solidFill>
                  <a:srgbClr val="11202B"/>
                </a:solidFill>
                <a:latin typeface="Malgun Gothic"/>
                <a:ea typeface="Malgun Gothic"/>
                <a:cs typeface="Malgun Gothic"/>
              </a:rPr>
              <a:t>. 염산 분비가 과도하거나 점막 방어가 약하면 궤양이 생긴다. 반대로 위산이 부족하면(위 수술 후, 만성 위염, proton pump inhibitor 장기 사용) 철과 vitamin B12 흡수가 떨어지고 세균 과증식이 생길 수 있다. Parietal cell이 자가면역으로 파괴되면 intrinsic factor가 없어져 vitamin B12를 흡수하지 못하고 pernicious anemia가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소화의 문제</a:t>
            </a:r>
            <a:r>
              <a:rPr sz="1400" b="0" i="0">
                <a:solidFill>
                  <a:srgbClr val="11202B"/>
                </a:solidFill>
                <a:latin typeface="Malgun Gothic"/>
                <a:ea typeface="Malgun Gothic"/>
                <a:cs typeface="Malgun Gothic"/>
              </a:rPr>
              <a:t>. 췌장 외분비 기능이 떨어지면(만성 췌장염, 췌장암, cystic fibrosis) 효소가 부족해 세 영양소가 모두 소화되지 않는다. 담즙이 부족하거나 흐름이 막히면 지질만 선택적으로 소화되지 않아 steatorrhea와 지용성 비타민 부족이 생긴다. Lactase가 부족하면 lactose가 분해되지 않고 대장까지 가 세균에 발효되어 가스와 삼투성 설사를 일으킨다.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흡수의 문제</a:t>
            </a:r>
            <a:r>
              <a:rPr sz="1400" b="0" i="0">
                <a:solidFill>
                  <a:srgbClr val="11202B"/>
                </a:solidFill>
                <a:latin typeface="Malgun Gothic"/>
                <a:ea typeface="Malgun Gothic"/>
                <a:cs typeface="Malgun Gothic"/>
              </a:rPr>
              <a:t>. Celiac 질환은 gluten에 대한 면역 반응으로 소장 융모가 파괴되는 질환이다. 표면적이 줄어 거의 모든 영양소의 흡수가 떨어진다. Crohn 질환이 회장을 침범하면 담즙산과 vitamin B12 흡수가 떨어진다. 소장을 많이 절제한 뒤에는 흡수 면적 자체가 부족하다.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설사의 기전 분류</a:t>
            </a:r>
            <a:r>
              <a:rPr sz="1400" b="0" i="0">
                <a:solidFill>
                  <a:srgbClr val="11202B"/>
                </a:solidFill>
                <a:latin typeface="Malgun Gothic"/>
                <a:ea typeface="Malgun Gothic"/>
                <a:cs typeface="Malgun Gothic"/>
              </a:rPr>
              <a:t>도 같은 틀로 정리된다. </a:t>
            </a:r>
            <a:r>
              <a:rPr sz="1400" b="1" i="0">
                <a:solidFill>
                  <a:srgbClr val="11202B"/>
                </a:solidFill>
                <a:latin typeface="Malgun Gothic"/>
                <a:ea typeface="Malgun Gothic"/>
                <a:cs typeface="Malgun Gothic"/>
              </a:rPr>
              <a:t>삼투성 설사</a:t>
            </a:r>
            <a:r>
              <a:rPr sz="1400" b="0" i="0">
                <a:solidFill>
                  <a:srgbClr val="11202B"/>
                </a:solidFill>
                <a:latin typeface="Malgun Gothic"/>
                <a:ea typeface="Malgun Gothic"/>
                <a:cs typeface="Malgun Gothic"/>
              </a:rPr>
              <a:t>는 흡수되지 않은 용질이 lumen에 남아 물을 끌어당기는 것으로, lactose 불내성이 대표다. 금식하면 호전된다. </a:t>
            </a:r>
            <a:r>
              <a:rPr sz="1400" b="1" i="0">
                <a:solidFill>
                  <a:srgbClr val="11202B"/>
                </a:solidFill>
                <a:latin typeface="Malgun Gothic"/>
                <a:ea typeface="Malgun Gothic"/>
                <a:cs typeface="Malgun Gothic"/>
              </a:rPr>
              <a:t>분비성 설사</a:t>
            </a:r>
            <a:r>
              <a:rPr sz="1400" b="0" i="0">
                <a:solidFill>
                  <a:srgbClr val="11202B"/>
                </a:solidFill>
                <a:latin typeface="Malgun Gothic"/>
                <a:ea typeface="Malgun Gothic"/>
                <a:cs typeface="Malgun Gothic"/>
              </a:rPr>
              <a:t>는 상피가 능동적으로 물과 전해질을 내보내는 것으로, 콜레라 독소가 cAMP를 올려 Cl⁻ 분비를 폭발적으로 늘리는 것이 대표다. 금식해도 계속된다. </a:t>
            </a:r>
            <a:r>
              <a:rPr sz="1400" b="1" i="0">
                <a:solidFill>
                  <a:srgbClr val="11202B"/>
                </a:solidFill>
                <a:latin typeface="Malgun Gothic"/>
                <a:ea typeface="Malgun Gothic"/>
                <a:cs typeface="Malgun Gothic"/>
              </a:rPr>
              <a:t>염증성 설사</a:t>
            </a:r>
            <a:r>
              <a:rPr sz="1400" b="0" i="0">
                <a:solidFill>
                  <a:srgbClr val="11202B"/>
                </a:solidFill>
                <a:latin typeface="Malgun Gothic"/>
                <a:ea typeface="Malgun Gothic"/>
                <a:cs typeface="Malgun Gothic"/>
              </a:rPr>
              <a:t>는 점막 손상으로 흡수가 안 되고 염증 산물이 더해지는 것이다.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간 질환</a:t>
            </a:r>
            <a:r>
              <a:rPr sz="1400" b="0" i="0">
                <a:solidFill>
                  <a:srgbClr val="11202B"/>
                </a:solidFill>
                <a:latin typeface="Malgun Gothic"/>
                <a:ea typeface="Malgun Gothic"/>
                <a:cs typeface="Malgun Gothic"/>
              </a:rPr>
              <a:t>은 간의 네 기능 범주에 대응해 읽는다. 대사 기능 저하로 저혈당과 암모니아 축적, 합성 기능 저하로 저albumin혈증과 응고 장애, 해독 기능 저하로 약물 축적과 간성 뇌증, 배설 기능 저하로 황달이 나타난다. 간경변에서는 여기에 간 내 혈류 저항 증가로 생기는 portal hypertension이 더해져 식도 정맥 확장, 비장 비대, ascites가 나타난다.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소화계 질환을 읽는 기본 논리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22</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소화계를 공부하는 순서는 질환에서 시작하지 않는다. 네 기능 → 벽의 네 층과 운동 → 위의 분비와 방어 → 세 영양소의 소화 → 지질의 특수한 문제 → 흡수의 표면적과 수송체 → 간의 이중 혈류와 네 기능 → 담즙과 순환 → 호르몬 조율을 세우면, 질환은 그 틀의 어느 자리가 어떻게 틀어진 상태인지로 정리된다.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23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소화관 lumen을 해부학적으로 몸의 바깥으로 보는 관점이 설명해 주는 두 가지 사실을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소화관 상피는 외부 환경과 직접 닿는 장벽이므로 점액, 빠른 세포 교체, 풍부한 면역 조직을 갖추어야 한다. 몸 전체 면역 세포의 상당 부분이 소화관에 모여 있는 이유다. 둘째, 소화가 세포 밖에서 일어나므로 효소를 lumen으로 분비해야 하고, 그 효소가 분비 세포 자신을 분해하지 않도록 비활성 zymogen 형태로 내보내야 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24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소화관 벽의 두 근육층 배치를 쓰고, 그 배치에서 나오는 두 가지 운동 양식을 기능과 함께 구분하시오.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안쪽은 circular muscle, 바깥쪽은 longitudinal muscle이며 두 층의 방향이 직각이다. Circular muscle이 수축하면 관이 좁아지고 longitudinal muscle이 수축하면 관이 짧아진다. 연동(peristalsis)은 덩어리 위쪽에서 수축하고 아래쪽에서 이완해 내용물을 아래로 밀어 보내며 추진을 담당한다. 분절 운동(segmentation)은 여러 지점이 번갈아 수축해 내용물을 앞뒤로 흔들며 혼합을 담당하고, 소장의 주된 운동 양식이다.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25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Parietal cell이 lumen의 pH를 1에서 2까지 낮추는 기전을 수송체 수준에서 설명하고, alkaline tide가 생기는 이유를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세포 안에서 carbonic anhydrase가 CO2와 H2O로부터 H2CO3를 만들고 이것이 H+와 HCO3-로 나뉜다. H+은 lumen 쪽 막의 H+/K+-ATPase가 ATP를 써서 퍼내는 1차 능동수송으로 lumen에 들어간다. 세포 안쪽 막에서는 HCO3-가 혈액으로 나가고 Cl-이 들어오며, 들어온 Cl-이 lumen 쪽으로 따라 나가 HCl이 완성된다. 혈액으로 나간 HCO3- 때문에 식후 정맥혈 pH가 일시적으로 올라가는 것이 alkaline tide다.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26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위가 자기 자신을 소화하지 않는 이유를 점막 방어의 다섯 장치로 설명하고, NSAID가 궤양을 일으키는 기전을 그 가운데 어느 장치와 연결해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다섯 장치는 두꺼운 점액층, 점액 안의 중탄산이 만드는 pH 기울기(lumen pH 2일 때 상피 표면 pH는 7에 가깝다), tight junction, 3에서 5일마다의 빠른 상피 교체, 그리고 점액·중탄산 분비와 점막 혈류를 유지하는 prostaglandin이다. NSAID는 cyclooxygenase를 억제해 prostaglandin 합성을 막으므로 점액과 중탄산 분비, 점막 혈류가 함께 떨어져 궤양이 생긴다.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27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췌장이 자신이 분비한 단백질 분해 효소에 소화되지 않는 이유를 세 가지로 쓰고, 활성화 연쇄의 방아쇠가 무엇인지 지목하시오.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효소를 비활성 zymogen 형태로 분비한다. 둘째, 활성화 효소인 enteropeptidase가 췌장이 아니라 소장 상피에 있다. 셋째, 췌장이 trypsin inhibitor를 함께 분비한다. 활성화 연쇄의 방아쇠는 trypsin이며, enteropeptidase가 trypsinogen을 trypsin으로 바꾸면 그 trypsin이 나머지 모든 zymogen을 활성화한다. 급성 췌장염은 이 조기 활성화가 췌장 안에서 일어난 결과다.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28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지질 소화가 다른 영양소와 근본적으로 다른 점을 쓰고, 그 제약에서 나온 네 단계를 순서대로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지질은 물에 녹지 않아 큰 방울로 뭉치므로, 수용액에서 작용하는 효소가 닿을 표면이 전체 질량에 비해 작다는 점이 다르다. 네 단계는 담즙산에 의한 emulsification으로 표면적 확보, lipase와 colipase에 의한 분해, micelle에 의한 상피 표면까지의 운반, 그리고 세포 안에서 triacylglycerol로 재합성되어 chylomicron이 되어 림프관으로 들어가는 재조립과 수송이다.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29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소장이 흡수에 유리한 표면적을 확보하는 세 층위의 장치를 쓰고 전체 배율과 면적을 쓰시오. 이 설계가 호흡계의 어느 구조와 같은 원리인지 지목하시오.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주름(plica circularis)이 약 3배, 융모(villus)가 약 10배, 미세융모(microvillus)가 약 20배로 늘려 합계 약 600배, 총 약 200 m2가 된다. 폐포가 약 3억 개로 표면적 약 70 m2를 만들어 확산량을 확보하는 것과 같은 원리다. 확산량이 면적에 비례하므로 교환이 필요한 구조는 모두 면적을 늘린다.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30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경구 수분 보충액이 소금과 당을 함께 넣는 이유를 SGLT1의 작용으로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SGLT1은 미세융모 막에서 Na+의 농도기울기를 이용해 glucose를 함께 들여오는 2차 능동수송체다. Na+와 glucose가 함께 흡수되면 세포 안의 삼투압이 올라가 물이 그 뒤를 따라 흡수된다. 따라서 둘을 함께 주어야 공동수송이 작동해 물 흡수가 회복되며, 하나만 주면 효과가 크게 떨어진다.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31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간의 혈액 공급이 이중인 구조가 갖는 의미를 쓰고, first-pass 효과가 경구 약물에 미치는 영향을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Hepatic portal vein이 약 75%를 공급해 소화관에서 흡수된 물질을 그대로 실어 오고, hepatic artery가 약 25%를 공급해 산소를 보낸다. 이 배치 때문에 소화관에서 흡수된 모든 것이 전신으로 가기 전에 간을 반드시 한 번 지나며, 영양소를 저장·가공하고 독성 물질을 처리할 기회가 생긴다. 경구 약물도 이 과정에서 상당 부분 대사되어 전신 순환에 도달하는 양이 줄어든다.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32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Enterohepatic circulation을 설명하고, 전체 담즙산 풀이 약 3 g인데도 하루에 20에서 30 g에 해당하는 일을 할 수 있는 이유를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담즙산은 소장에서 micelle을 만들고 회장 끝에서 수송체에 의해 재흡수되어 hepatic portal vein으로 간에 돌아가며, 간이 다시 담즙으로 내보낸다. 이 순환이 한 식사 동안 2에서 3회, 하루에 6에서 10회 돈다. 같은 분자가 반복 사용되므로 작은 풀로 많은 일을 할 수 있다. 하루 약 5%만 손실되고 간이 cholesterol로부터 새로 만들어 보충한다.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33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황달을 간 이전·간성·간 이후로 분류하고 각각 쌓이는 bilirubin 형태와 대표 원인을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간 이전은 생성 과다로 비결합 bilirubin이 쌓이며 용혈이 대표다. 간성은 간세포의 흡수·결합·배설이 모두 떨어져 두 형태가 함께 쌓이며 간염과 간경변이 대표다. 간 이후는 담도가 막혀 결합 bilirubin이 쌓이며 담석과 췌장암이 대표다. Bilirubin 경로의 어느 단계가 막혔는지를 묻는 것이 분류의 기준이다.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34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Secretin과 cholecystokinin의 분비 자극과 작용을 각각 쓰고, 두 호르몬에서 공통으로 읽히는 조절 논리를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Secretin은 십이지장 lumen의 산성화에 의해 분비되어 췌장과 담도의 중탄산 분비를 촉진하고 염산 분비를 억제한다. CCK는 지방산과 아미노산에 의해 분비되어 췌장 효소 분비와 담낭 수축을 일으키고 위 배출을 늦춘다. 공통 논리는 분비 자극이 그 호르몬이 해결할 문제를 그대로 가리킨다는 점이다. 산이 들어오면 중화할 중탄산을 부르고, 지질과 단백질이 들어오면 그것을 소화할 효소와 담즙을 부른다. 또한 두 호르몬이 모두 위 배출을 늦춰 소장이 감당할 속도로 내용물이 넘어오게 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35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하루에 소화관으로 들어오는 액체량과 각 구간의 흡수량을 쓰고, 대장의 흡수 예비력이 임상적으로 뜻하는 바를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섭취 약 2 L와 분비액 약 7 L를 합해 하루 약 9 L가 들어온다. 소장이 약 7.5 L를 흡수하고 대장으로 약 1.5 L가 넘어오며, 대장이 약 1.4 L를 흡수해 대변으로는 약 100 mL가 나간다. 대장의 흡수 예비력은 하루 약 4~5 L로 넘어오는 양의 서너 배다. 따라서 소장에서 조금 더 넘어오는 정도로는 설사가 생기지 않고 예비력을 넘어서야 설사가 되며, 반대로 대장 자체가 손상되면 적은 양으로도 설사가 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36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장내 미생물이 숙주에 기여하는 세 가지를 쓰고, butyrate가 특별한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사람 효소로 분해되지 않는 식이섬유를 발효해 짧은사슬 지방산을 만든다. 둘째, vitamin K와 일부 B군 비타민을 합성한다. 셋째, 자리와 영양을 차지해 병원성 세균의 정착을 막는다. Butyrate가 특별한 것은 대장 상피세포의 주된 에너지원이라는 점이다. 상피가 자기 영양을 혈액이 아니라 lumen 쪽에서, 그것도 세균이 만든 산물로부터 받는다는 점에서 숙주와 미생물의 관계가 단순한 동거가 아님을 보여 준다.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37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흡수 장애를 세 단계로 나누고 각 단계의 대표적 원인을 드시오.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소화의 실패는 lumen에서 고분자를 쪼개지 못하는 것으로 췌장 외분비 부전과 담즙산 부족이 원인이며 지질이 가장 먼저 영향을 받는다. 흡수의 실패는 상피나 흡수 면적이 손상된 것으로 celiac 병의 융모 위축, 크론병의 점막 파괴, 광범위 절제에 의한 단장 증후군이 해당한다. 수송의 실패는 흡수된 것이 혈액이나 림프로 나가지 못하는 것으로 장림프관 확장증이나 림프종에 의한 림프관 폐쇄가 해당하며 지질과 단백질이 lumen으로 다시 새어 나간다.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38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소적혈구 빈혈과 거대적혈구 빈혈이 각각 소장의 어느 부위 손상을 시사하는지 쓰고, 회장 절제 길이에 따라 설사의 성격이 달라지는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철은 십이지장과 jejunum 근위부에서 흡수되므로 소적혈구 빈혈은 근위부 손상을 시사하고, vitamin B₁₂는 intrinsic factor와 결합한 형태로 회장 말단에서만 흡수되므로 거대적혈구 빈혈은 회장 말단 손상을 시사한다. 회장 절제가 100 cm 미만이면 재흡수되지 못한 담즙산이 대장으로 넘어가 물 분비를 자극하는 담즙산 설사가 되고 cholestyramine으로 담즙산을 결합시키면 호전된다. 100 cm 이상이면 간의 담즙산 합성이 손실을 따라가지 못해 micelle 형성 자체가 깨지므로 진짜 지방변이 되고, 이때 cholestyramine은 남은 담즙산까지 없애 악화시킨다.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39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삼투성 설사와 분비성 설사를 가르는 임상적 방법을 쓰고 각각의 기전과 예를 드시오.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금식으로 가른다. 삼투성 설사는 흡수되지 않은 용질이 lumen의 삼투압을 올려 물을 끌어내는 것이므로 그 용질의 섭취를 끊으면 멎는다. 유당 불내성과 삼투성 하제가 예다. 분비성 설사는 상피가 능동적으로 전해질과 물을 분비하는 것이므로 금식해도 지속된다. 콜레라 독소나 호르몬 분비 종양이 예다.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40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Celiac 병에서 HLA가 진단에 쓰이는 이유와 이 질환이 다른 자가면역 질환과 다른 점을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Gliadin이 tissue transglutaminase에 의해 탈아미드화되면 음전하가 늘어 HLA-DQ2 또는 DQ8 분자에 강하게 결합하게 되고 T세포 반응이 일어난다. 이 HLA가 없으면 항원 제시가 효과적으로 일어나지 않아 거의 발병하지 않으므로, HLA-DQ2/DQ8 음성은 질환을 배제하는 데 유용하다. 다른 자가면역 질환과 다른 점은 유발 항원이 외부에서 들어오는 글루텐으로 분명히 알려져 있어 항원을 끊으면 조직이 회복된다는 것이다. 원인 제거가 곧 치료인 드문 경우다.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M01-W01-L03  ·  소화계 요약: 소화·흡수·간의 역할</a:t>
            </a:r>
            <a:r>
              <a:rPr sz="900" b="1" i="0">
                <a:solidFill>
                  <a:srgbClr val="003C71"/>
                </a:solidFill>
                <a:latin typeface="Malgun Gothic"/>
                <a:ea typeface="Malgun Gothic"/>
                <a:cs typeface="Malgun Gothic"/>
              </a:rPr>
              <a:t>      41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Johnson LR, ed. Gastrointestinal Physiology. 9th ed. Elsevier; 2019.</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Hall JE, Hall ME. Guyton and Hall Textbook of Medical Physiology. 14th ed. Elsevier; 2021. Unit XII, Gastrointestinal Physiology.</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Boron WF, Boulpaep EL. Medical Physiology. 3rd ed. Elsevier; 2017. Section VIII, The Gastrointestinal System.</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Barrett KE. Gastrointestinal Physiology. 2nd ed. McGraw Hill; 2014.</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Costanzo LS. Physiology. 7th ed. Elsevier; 2022. Chapter 8, Gastrointestinal Physiology.</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Ferrier DR. Lippincott Illustrated Reviews: Biochemistry. 8th ed. Wolters Kluwer; 2023. Chapters 7, 15, 18,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