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notesMaster" Target="notesMasters/notesMaster1.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이산화탄소 운반의 세 형태와 적혈구 안에서의 반응. Carbonic anhydrase에 의한 중탄산 생성, chloride shift, 헤모글로빈의 H+ 완충, 그리고 Bohr 효과와 Haldane 효과가 조직과 폐에서 짝지어 작동하는 방식을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호흡 조절의 중추와 수용체. 뇌줄기 호흡 중추의 위치와 역할, 중추·말초 화학수용체가 감지하는 대상의 차이, 각 자극이 환기량을 바꾸는 관계 곡선, 그리고 Hering–Breuer 반사의 경로를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1단계 환기는 대기와 폐포 사이의 대류, 2단계 폐에서의 가스 교환은 폐포와 모세혈관 사이의 확산, 3단계 운반은 혈액에 의한 대류, 4단계 조직에서의 가스 교환은 모세혈관과 세포 사이의 확산이다. 긴 거리는 대류가, 마지막 짧은 거리는 확산이 담당하는 구조이며 순환계와 같은 설계 원리다.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폐는 탄성 반발력 때문에 쪼그라들려 하고 흉벽은 탄성 때문에 벌어지려 한다. 두 힘이 반대 방향으로 작용하므로 그 사이의 흉막 공간 압력이 낮아지며, 안정 호기말에 약 -5 cmH2O다. 흉벽이 뚫려 흉막 공간이 대기와 통하면 흉막내압이 0이 되고 경폐압이 사라져 폐가 쪼그라든다. 이것이 pneumothorax다.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 = 2T/r에서 표면장력 T가 일정하면 반지름 r이 작은 폐포가 더 큰 압력으로 쪼그라들려 한다. 작은 폐포와 큰 폐포가 연결되어 있으면 작은 쪽의 공기가 큰 쪽으로 빠져나가 작은 폐포가 붕괴한다. Surfactant는 폐포가 작아질 때 단위 면적당 밀도가 높아져 표면장력을 더 많이 낮추고, 커질 때는 퍼져서 덜 낮춘다. T가 r에 따라 함께 변하므로 크기가 다른 폐포의 쪼그라드는 압력이 비슷해진다.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폐포 환기량 = (TV - 사강) x 호흡수다. (500-150)x12 = 4200 mL, (250-150)x24 = 2400 mL, (1000-150)x6 = 5100 mL다. 분당 환기량이 같아도 폐포 환기량은 두 배 이상 차이가 난다. 사강이 고정값이므로 일회호흡량이 작을수록 사강 비율이 커진다. 통증이나 복부 팽만으로 얕고 빠르게 숨 쉬는 환자는 겉보기 환기량이 정상이어도 이산화탄소가 쌓일 수 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확산량은 분압차와 그 기체의 용해도의 곱에 비례한다. 산소의 분압차는 60 mmHg로 크지만, 이산화탄소는 혈장에 약 20배 잘 녹으므로 작은 분압차로도 비슷한 양이 교환된다. 즉 분압차만으로 확산량을 비교할 수 없고 용해도를 함께 보아야 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단락은 혈류는 있는데 환기가 안 되는 상태로 V/Q가 0에 가깝다. 혈액이 환기되지 않는 구역을 지나므로 다른 폐포의 산소 분압을 올려도 그 혈액은 산소와 만나지 못한다. 사강 상황은 환기는 되는데 혈류가 없는 상태로 V/Q가 무한대에 가까우며, 폐혈전증이 대표다. 산소를 주었는데 포화도가 오르지 않으면 단락을 의심한다.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헤모글로빈의 네 subunit에서 산소 하나가 결합하면 구조가 T 상태에서 R 상태로 바뀌어 다음 산소의 결합이 쉬워지는 협동 결합 때문이다. 60에서 100 mmHg의 평탄 구간은 폐포 산소 분압이 떨어져도 포화도가 거의 유지되게 하여 안전 여유를 주고, 20에서 40 mmHg의 급한 구간은 조직 분압이 조금만 떨어져도 산소를 많이 내려놓게 하여 활발한 조직에 더 많은 산소를 공급한다.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 저하(Bohr 효과), 이산화탄소 분압 증가, 체온 상승, 2,3-BPG 증가다. 네 요인 모두 대사가 활발한 조직의 특징이다. 운동하는 근육은 젖산으로 pH가 낮고 이산화탄소를 많이 만들고 열을 내므로, 그 조직에서 곡선이 우측으로 이동해 산소가 더 많이 풀린다. 산소가 필요한 곳에서 자동으로 공급이 늘어나는 구조다.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Bohr 효과는 수소이온과 이산화탄소가 늘면 헤모글로빈의 산소 친화도가 떨어져 산소를 내려놓는 현상이다. Haldane 효과는 헤모글로빈이 산소를 내려놓으면 이산화탄소와 수소이온을 더 잘 받아들이는 현상이다. 조직에서는 이산화탄소가 많아 산소를 내려놓고(Bohr), 산소를 내려놓았으므로 이산화탄소를 잘 싣는다(Haldane). 폐에서는 반대로 작동해 두 기체의 운반이 서로를 돕는다.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중추 화학수용체는 뇌척수액의 수소이온 농도를 감지하고 이 농도는 혈액의 이산화탄소가 혈액뇌장벽을 통과해 만들므로, 실질적으로 PCO2 변화에 반응한다. 말초 화학수용체의 산소 반응은 분압이 약 60 mmHg 아래로 떨어진 뒤에야 뚜렷해진다. 둘째, 산소해리곡선이 60 mmHg 위에서 평탄해 산소에는 여유가 있지만, 이산화탄소는 pH를 직접 바꾸므로 정밀하게 유지해야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폐쇄성은 기도가 좁아 공기가 빠르게 나가지 못하므로 FEV₁이 FVC보다 크게 줄어 FEV₁/FVC가 0.7 미만이 되고, 내쉬지 못한 공기가 남아 RV와 TLC가 늘어난다. 제한성은 담을 수 있는 양 자체가 적어 FEV₁과 FVC가 함께 줄므로 비는 정상이거나 높아지고 TLC가 줄어든다. 확정에 TLC가 필요한데 spirometry는 잔류량을 재지 못하므로 TLC를 알 수 없다. FVC가 줄어 있어도 그것이 폐가 작아서인지 공기가 갇혀서인지 구분되지 않으므로, helium 희석법이나 body plethysmography로 TLC를 직접 재야 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DLCO는 폐포–모세혈관 막을 통한 확산 능력을 재므로 막의 두께, 폐포 표면적, 모세혈관 혈액량에 좌우된다. 폐기종은 폐포벽 자체가 파괴되어 표면적과 모세혈관이 함께 줄므로 DLCO가 감소한다. 천식과 만성 기관지염은 기도의 문제이고 폐포는 보존되므로 DLCO가 정상이거나 오히려 증가한다. 제한성에서도 폐 실질의 병인 폐섬유화는 막이 두꺼워져 DLCO가 감소하지만, 신경근 질환이나 흉벽 기형, 비만처럼 폐 바깥이 원인인 경우에는 폐 자체가 정상이므로 DLCO가 정상이다.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 차이가 정상인 것은 폐포 저환기와 흡입 산소 분압 저하 두 가지이며, 둘은 PaCO₂로 갈린다. 저환기는 CO₂가 올라가고 고도는 과환기로 내려간다. A–a 차이가 벌어진 것은 환기–관류 불균형, 단락, 확산 장애 세 가지이고 이 가운데 산소 투여에 반응하지 않는 것이 단락이다. 단락에서는 혈액이 환기되는 폐포를 아예 지나지 않으므로 폐포의 산소 농도를 아무리 올려도 그 혈액에 닿지 않는다. 나머지 네 기전은 폐포 산소 분압을 올리면 혈액이 그 폐포와 접촉하므로 교정된다.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제1형은 PaO₂가 낮고 PaCO₂가 정상이거나 낮은 상태로 산소화의 실패이며 폐렴, 폐부종, ARDS, 폐색전이 해당한다. 제2형은 PaO₂가 낮으면서 PaCO₂가 높은 상태로 환기 펌프의 실패이며 COPD 악화, 약물에 의한 호흡 억제, 신경근 질환이 해당한다. 제1형은 가스 교환 면적의 문제이므로 산소 투여와 허탈한 폐포를 여는 조치가 중심이다. 제2형은 폐포 환기량 자체가 부족한 것이므로 산소만 올려도 CO₂는 내려가지 않고 오히려 저산소 자극이 사라져 악화될 수 있다. 환기를 돕는 것이 치료의 중심이 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 분 안에 말초 화학수용체가 저산소를 감지해 환기가 늘어난다. 그러나 환기가 늘면 CO₂가 씻겨 호흡성 알칼리증이 생기고 중추 화학수용체가 환기를 다시 억제하므로 초기 증가가 제한된다. 수 일에 걸쳐 신장이 HCO₃⁻를 배설해 pH를 되돌리면 억제가 풀려 환기가 더 늘어난다. 이어 수 일에서 수 주에 2,3-BPG가 늘고 erythropoietin에 의해 적혈구가 증가하며 모세혈관 밀도와 미토콘드리아도 늘어난다. Acetazolamide는 carbonic anhydrase를 억제해 신장의 HCO₃⁻ 배설을 앞당기므로 두 번째 단계를 가속하며, 그래서 고산병 예방에 쓰인다.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태아 헤모글로빈은 2,3-BPG와 잘 결합하지 않아 산소해리곡선이 좌측에 있고 같은 분압에서 산소를 더 많이 싣는다. 둘째, 태아의 헤모글로빈 농도가 높아 혈액의 총 산소 함량이 크다. 셋째, 태반에서 태아 혈액은 CO₂를 내주며 알칼리화되어 곡선이 더 좌측으로 가고 산모 혈액은 CO₂를 받아 산성화되어 곡선이 우측으로 가므로, 같은 지점에서 두 곡선이 반대 방향으로 이동해 산소 전달이 촉진된다. 이를 이중 Bohr 효과라 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M01  인체일반생물학과 기초세포생물학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호흡계 요약: 환기·가스교환·산소 운반</a:t>
            </a:r>
          </a:p>
          <a:p>
            <a:r>
              <a:rPr sz="1500" b="0" i="0">
                <a:solidFill>
                  <a:srgbClr val="B9D2E8"/>
                </a:solidFill>
                <a:latin typeface="Malgun Gothic"/>
                <a:ea typeface="Malgun Gothic"/>
                <a:cs typeface="Malgun Gothic"/>
              </a:rPr>
              <a:t>The Respiratory System: Ventilation, Gas Exchange and Oxygen Transport</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M01-W01-L02  ·  2부</a:t>
            </a:r>
          </a:p>
          <a:p>
            <a:r>
              <a:rPr sz="1100" b="0" i="0">
                <a:solidFill>
                  <a:srgbClr val="F2B705"/>
                </a:solidFill>
                <a:latin typeface="Malgun Gothic"/>
                <a:ea typeface="Malgun Gothic"/>
                <a:cs typeface="Malgun Gothic"/>
              </a:rPr>
              <a:t>전체 13절 가운데 6절</a:t>
            </a:r>
          </a:p>
          <a:p>
            <a:r>
              <a:rPr sz="1100" b="0" i="0">
                <a:solidFill>
                  <a:srgbClr val="9FBEDA"/>
                </a:solidFill>
                <a:latin typeface="Malgun Gothic"/>
                <a:ea typeface="Malgun Gothic"/>
                <a:cs typeface="Malgun Gothic"/>
              </a:rPr>
              <a:t>1주 2회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1.  </a:t>
            </a:r>
            <a:r>
              <a:rPr sz="1600" b="0" i="0">
                <a:solidFill>
                  <a:srgbClr val="11202B"/>
                </a:solidFill>
                <a:latin typeface="Malgun Gothic"/>
                <a:ea typeface="Malgun Gothic"/>
                <a:cs typeface="Malgun Gothic"/>
              </a:rPr>
              <a:t>호흡을 외호흡과 내호흡으로 나누어 정의하고 네 단계의 연속 과정으로 기술한다.</a:t>
            </a:r>
          </a:p>
          <a:p>
            <a:pPr>
              <a:spcAft>
                <a:spcPts val="900"/>
              </a:spcAft>
            </a:pPr>
            <a:r>
              <a:rPr sz="1600" b="1" i="0">
                <a:solidFill>
                  <a:srgbClr val="F2B705"/>
                </a:solidFill>
                <a:latin typeface="Malgun Gothic"/>
                <a:ea typeface="Malgun Gothic"/>
                <a:cs typeface="Malgun Gothic"/>
              </a:rPr>
              <a:t>2.  </a:t>
            </a:r>
            <a:r>
              <a:rPr sz="1600" b="0" i="0">
                <a:solidFill>
                  <a:srgbClr val="11202B"/>
                </a:solidFill>
                <a:latin typeface="Malgun Gothic"/>
                <a:ea typeface="Malgun Gothic"/>
                <a:cs typeface="Malgun Gothic"/>
              </a:rPr>
              <a:t>기도를 전도 영역과 호흡 영역으로 구분하고 사강(dead space)이 생기는 이유를 설명한다.</a:t>
            </a:r>
          </a:p>
          <a:p>
            <a:pPr>
              <a:spcAft>
                <a:spcPts val="900"/>
              </a:spcAft>
            </a:pPr>
            <a:r>
              <a:rPr sz="1600" b="1" i="0">
                <a:solidFill>
                  <a:srgbClr val="F2B705"/>
                </a:solidFill>
                <a:latin typeface="Malgun Gothic"/>
                <a:ea typeface="Malgun Gothic"/>
                <a:cs typeface="Malgun Gothic"/>
              </a:rPr>
              <a:t>3.  </a:t>
            </a:r>
            <a:r>
              <a:rPr sz="1600" b="0" i="0">
                <a:solidFill>
                  <a:srgbClr val="11202B"/>
                </a:solidFill>
                <a:latin typeface="Malgun Gothic"/>
                <a:ea typeface="Malgun Gothic"/>
                <a:cs typeface="Malgun Gothic"/>
              </a:rPr>
              <a:t>흡기와 호기를 흉곽 용적 변화와 압력 변화로 설명하고 흉막내압이 항상 음압인 이유를 쓴다.</a:t>
            </a:r>
          </a:p>
          <a:p>
            <a:pPr>
              <a:spcAft>
                <a:spcPts val="900"/>
              </a:spcAft>
            </a:pPr>
            <a:r>
              <a:rPr sz="1600" b="1" i="0">
                <a:solidFill>
                  <a:srgbClr val="F2B705"/>
                </a:solidFill>
                <a:latin typeface="Malgun Gothic"/>
                <a:ea typeface="Malgun Gothic"/>
                <a:cs typeface="Malgun Gothic"/>
              </a:rPr>
              <a:t>4.  </a:t>
            </a:r>
            <a:r>
              <a:rPr sz="1600" b="0" i="0">
                <a:solidFill>
                  <a:srgbClr val="11202B"/>
                </a:solidFill>
                <a:latin typeface="Malgun Gothic"/>
                <a:ea typeface="Malgun Gothic"/>
                <a:cs typeface="Malgun Gothic"/>
              </a:rPr>
              <a:t>폐의 탄성 반발력과 표면장력을 구분하고 surfactant가 작용하는 기전을 Laplace 관계로 설명한다.</a:t>
            </a:r>
          </a:p>
          <a:p>
            <a:pPr>
              <a:spcAft>
                <a:spcPts val="900"/>
              </a:spcAft>
            </a:pPr>
            <a:r>
              <a:rPr sz="1600" b="1" i="0">
                <a:solidFill>
                  <a:srgbClr val="F2B705"/>
                </a:solidFill>
                <a:latin typeface="Malgun Gothic"/>
                <a:ea typeface="Malgun Gothic"/>
                <a:cs typeface="Malgun Gothic"/>
              </a:rPr>
              <a:t>5.  </a:t>
            </a:r>
            <a:r>
              <a:rPr sz="1600" b="0" i="0">
                <a:solidFill>
                  <a:srgbClr val="11202B"/>
                </a:solidFill>
                <a:latin typeface="Malgun Gothic"/>
                <a:ea typeface="Malgun Gothic"/>
                <a:cs typeface="Malgun Gothic"/>
              </a:rPr>
              <a:t>폐용적과 폐용량을 구분해 정의하고 spirometry에서 측정되는 값과 측정되지 않는 값을 지목한다.</a:t>
            </a:r>
          </a:p>
          <a:p>
            <a:pPr>
              <a:spcAft>
                <a:spcPts val="900"/>
              </a:spcAft>
            </a:pPr>
            <a:r>
              <a:rPr sz="1600" b="1" i="0">
                <a:solidFill>
                  <a:srgbClr val="F2B705"/>
                </a:solidFill>
                <a:latin typeface="Malgun Gothic"/>
                <a:ea typeface="Malgun Gothic"/>
                <a:cs typeface="Malgun Gothic"/>
              </a:rPr>
              <a:t>6.  </a:t>
            </a:r>
            <a:r>
              <a:rPr sz="1600" b="0" i="0">
                <a:solidFill>
                  <a:srgbClr val="11202B"/>
                </a:solidFill>
                <a:latin typeface="Malgun Gothic"/>
                <a:ea typeface="Malgun Gothic"/>
                <a:cs typeface="Malgun Gothic"/>
              </a:rPr>
              <a:t>환기량과 폐포환기량의 차이를 계산하고 호흡 양식이 가스 교환 효율에 미치는 영향을 예측한다.</a:t>
            </a:r>
          </a:p>
          <a:p>
            <a:pPr>
              <a:spcAft>
                <a:spcPts val="900"/>
              </a:spcAft>
            </a:pPr>
            <a:r>
              <a:rPr sz="1600" b="1" i="0">
                <a:solidFill>
                  <a:srgbClr val="F2B705"/>
                </a:solidFill>
                <a:latin typeface="Malgun Gothic"/>
                <a:ea typeface="Malgun Gothic"/>
                <a:cs typeface="Malgun Gothic"/>
              </a:rPr>
              <a:t>7.  </a:t>
            </a:r>
            <a:r>
              <a:rPr sz="1600" b="0" i="0">
                <a:solidFill>
                  <a:srgbClr val="11202B"/>
                </a:solidFill>
                <a:latin typeface="Malgun Gothic"/>
                <a:ea typeface="Malgun Gothic"/>
                <a:cs typeface="Malgun Gothic"/>
              </a:rPr>
              <a:t>폐포에서의 가스 교환을 분압차와 확산 조건으로 설명하고 환기–관류 불균형의 두 극단을 구분한다.</a:t>
            </a:r>
          </a:p>
          <a:p>
            <a:pPr>
              <a:spcAft>
                <a:spcPts val="900"/>
              </a:spcAft>
            </a:pPr>
            <a:r>
              <a:rPr sz="1600" b="1" i="0">
                <a:solidFill>
                  <a:srgbClr val="F2B705"/>
                </a:solidFill>
                <a:latin typeface="Malgun Gothic"/>
                <a:ea typeface="Malgun Gothic"/>
                <a:cs typeface="Malgun Gothic"/>
              </a:rPr>
              <a:t>8.  </a:t>
            </a:r>
            <a:r>
              <a:rPr sz="1600" b="0" i="0">
                <a:solidFill>
                  <a:srgbClr val="11202B"/>
                </a:solidFill>
                <a:latin typeface="Malgun Gothic"/>
                <a:ea typeface="Malgun Gothic"/>
                <a:cs typeface="Malgun Gothic"/>
              </a:rPr>
              <a:t>산소해리곡선의 S자 모양이 생기는 이유를 협동 결합으로 설명하고 곡선을 좌우로 옮기는 요인을 든다.</a:t>
            </a:r>
          </a:p>
          <a:p>
            <a:pPr>
              <a:spcAft>
                <a:spcPts val="900"/>
              </a:spcAft>
            </a:pPr>
            <a:r>
              <a:rPr sz="1600" b="1" i="0">
                <a:solidFill>
                  <a:srgbClr val="F2B705"/>
                </a:solidFill>
                <a:latin typeface="Malgun Gothic"/>
                <a:ea typeface="Malgun Gothic"/>
                <a:cs typeface="Malgun Gothic"/>
              </a:rPr>
              <a:t>9.  </a:t>
            </a:r>
            <a:r>
              <a:rPr sz="1600" b="0" i="0">
                <a:solidFill>
                  <a:srgbClr val="11202B"/>
                </a:solidFill>
                <a:latin typeface="Malgun Gothic"/>
                <a:ea typeface="Malgun Gothic"/>
                <a:cs typeface="Malgun Gothic"/>
              </a:rPr>
              <a:t>이산화탄소가 혈액에서 운반되는 세 형태를 비율과 함께 쓰고 호흡이 산–염기 평형에 관여하는 방식을 설명한다.</a:t>
            </a:r>
          </a:p>
          <a:p>
            <a:pPr>
              <a:spcAft>
                <a:spcPts val="900"/>
              </a:spcAft>
            </a:pPr>
            <a:r>
              <a:rPr sz="1600" b="1" i="0">
                <a:solidFill>
                  <a:srgbClr val="F2B705"/>
                </a:solidFill>
                <a:latin typeface="Malgun Gothic"/>
                <a:ea typeface="Malgun Gothic"/>
                <a:cs typeface="Malgun Gothic"/>
              </a:rPr>
              <a:t>10.  </a:t>
            </a:r>
            <a:r>
              <a:rPr sz="1600" b="0" i="0">
                <a:solidFill>
                  <a:srgbClr val="11202B"/>
                </a:solidFill>
                <a:latin typeface="Malgun Gothic"/>
                <a:ea typeface="Malgun Gothic"/>
                <a:cs typeface="Malgun Gothic"/>
              </a:rPr>
              <a:t>호흡 조절의 중추와 화학수용체를 구분하고 정상 상태에서 환기를 결정하는 주된 자극이 무엇인지 쓴다.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M01-W01-L01 순환계 요약 — 폐순환, 모세혈관 교환, 혈류와 압력</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확산과 분압의 개념</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기체 법칙의 기본 (Boyle 법칙, Dalton의 분압 법칙)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8. 이산화탄소의 운반과 산–염기 평형</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9. 호흡의 조절</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10. 폐기능검사 — 폐쇄성과 제한성을 가르는 법</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11. 산소화 실패를 분석하는 법</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12. 적응 — 운동, 고도, 태아</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13. 호흡계 질환을 읽는 기본 논리</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이산화탄소의 운반과 산–염기 평형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이산화탄소는 세 가지 형태로 운반되며 비율은 다음과 같다.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중탄산 이온(HCO₃⁻) 형태: 약 70%</a:t>
            </a:r>
            <a:r>
              <a:rPr sz="1400" b="0" i="0">
                <a:solidFill>
                  <a:srgbClr val="11202B"/>
                </a:solidFill>
                <a:latin typeface="Malgun Gothic"/>
                <a:ea typeface="Malgun Gothic"/>
                <a:cs typeface="Malgun Gothic"/>
              </a:rPr>
              <a:t>. 가장 많은 경로다.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헤모글로빈의 단백질 부분에 결합한 carbamino 형태: 약 23%</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혈장에 물리적으로 녹은 형태: 약 7%</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중탄산 경로의 반응은 다음과 같다.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CO₂ + H₂O ⇌ H₂CO₃ ⇌ H⁺ + HCO₃⁻</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첫 번째 반응은 자발적으로는 느리지만, 적혈구 안의 </a:t>
            </a:r>
            <a:r>
              <a:rPr sz="1400" b="1" i="0">
                <a:solidFill>
                  <a:srgbClr val="11202B"/>
                </a:solidFill>
                <a:latin typeface="Malgun Gothic"/>
                <a:ea typeface="Malgun Gothic"/>
                <a:cs typeface="Malgun Gothic"/>
              </a:rPr>
              <a:t>carbonic anhydrase</a:t>
            </a:r>
            <a:r>
              <a:rPr sz="1400" b="0" i="0">
                <a:solidFill>
                  <a:srgbClr val="11202B"/>
                </a:solidFill>
                <a:latin typeface="Malgun Gothic"/>
                <a:ea typeface="Malgun Gothic"/>
                <a:cs typeface="Malgun Gothic"/>
              </a:rPr>
              <a:t>가 이를 매우 빠르게 촉매한다. 생성된 HCO₃⁻은 적혈구 밖으로 나가고 대신 Cl⁻이 들어온다(chloride shift). 생성된 H⁺은 헤모글로빈이 완충한다. 이때 H⁺이 헤모글로빈에 결합하면 산소 친화도가 떨어져 산소를 내려놓게 되는데, 이것이 앞 절의 Bohr 효과다.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반대 방향의 짝 현상도 있다. 헤모글로빈이 산소를 내려놓으면 이산화탄소와 H⁺을 더 잘 받아들인다. 이를 </a:t>
            </a:r>
            <a:r>
              <a:rPr sz="1400" b="1" i="0">
                <a:solidFill>
                  <a:srgbClr val="11202B"/>
                </a:solidFill>
                <a:latin typeface="Malgun Gothic"/>
                <a:ea typeface="Malgun Gothic"/>
                <a:cs typeface="Malgun Gothic"/>
              </a:rPr>
              <a:t>Haldane 효과</a:t>
            </a:r>
            <a:r>
              <a:rPr sz="1400" b="0" i="0">
                <a:solidFill>
                  <a:srgbClr val="11202B"/>
                </a:solidFill>
                <a:latin typeface="Malgun Gothic"/>
                <a:ea typeface="Malgun Gothic"/>
                <a:cs typeface="Malgun Gothic"/>
              </a:rPr>
              <a:t>라 한다. 두 효과를 합치면, 조직에서는 산소를 내려놓는 동시에 이산화탄소를 잘 싣고, 폐에서는 산소를 싣는 동시에 이산화탄소를 잘 내려놓는다. 두 기체의 운반이 서로를 돕는 구조다.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반응식은 호흡과 산–염기 평형의 연결점이기도 하다. 혈액의 pH는 Henderson–Hasselbalch 식으로 주어진다.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pH = 6.1 + log([HCO₃⁻] / (0.03 × PCO₂))</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식에서 분모의 PCO₂는 </a:t>
            </a:r>
            <a:r>
              <a:rPr sz="1400" b="1" i="0">
                <a:solidFill>
                  <a:srgbClr val="11202B"/>
                </a:solidFill>
                <a:latin typeface="Malgun Gothic"/>
                <a:ea typeface="Malgun Gothic"/>
                <a:cs typeface="Malgun Gothic"/>
              </a:rPr>
              <a:t>호흡계가</a:t>
            </a:r>
            <a:r>
              <a:rPr sz="1400" b="0" i="0">
                <a:solidFill>
                  <a:srgbClr val="11202B"/>
                </a:solidFill>
                <a:latin typeface="Malgun Gothic"/>
                <a:ea typeface="Malgun Gothic"/>
                <a:cs typeface="Malgun Gothic"/>
              </a:rPr>
              <a:t> 조절하고, 분자의 HCO₃⁻는 </a:t>
            </a:r>
            <a:r>
              <a:rPr sz="1400" b="1" i="0">
                <a:solidFill>
                  <a:srgbClr val="11202B"/>
                </a:solidFill>
                <a:latin typeface="Malgun Gothic"/>
                <a:ea typeface="Malgun Gothic"/>
                <a:cs typeface="Malgun Gothic"/>
              </a:rPr>
              <a:t>신장이</a:t>
            </a:r>
            <a:r>
              <a:rPr sz="1400" b="0" i="0">
                <a:solidFill>
                  <a:srgbClr val="11202B"/>
                </a:solidFill>
                <a:latin typeface="Malgun Gothic"/>
                <a:ea typeface="Malgun Gothic"/>
                <a:cs typeface="Malgun Gothic"/>
              </a:rPr>
              <a:t> 조절한다. 따라서 산–염기 장애는 네 가지로 분류된다.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이산화탄소의 운반과 산–염기 평형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6</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장애</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원인 항의 변화</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pH</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대표 상황</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호흡성 산증</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PCO₂ 증가</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저하</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환기 저하, COPD, 호흡 억제</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호흡성 알칼리증</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PCO₂ 감소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상승</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과환기, 불안, 고지대</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대사성 산증</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HCO₃⁻ 감소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저하</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당뇨성 ketoacidosis, 설사, 신부전</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대사성 알칼리증</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HCO₃⁻ 증가</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상승</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구토, 이뇨제</a:t>
                      </a:r>
                    </a:p>
                  </a:txBody>
                  <a:tcPr marL="73152" marR="73152" marT="27432" marB="27432">
                    <a:solidFill>
                      <a:srgbClr val="EFF4F8"/>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이산화탄소의 운반과 산–염기 평형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호흡계는 분 단위로 PCO₂를 바꿀 수 있으므로 산–염기 장애에 대한 </a:t>
            </a:r>
            <a:r>
              <a:rPr sz="2000" b="1" i="0">
                <a:solidFill>
                  <a:srgbClr val="11202B"/>
                </a:solidFill>
                <a:latin typeface="Malgun Gothic"/>
                <a:ea typeface="Malgun Gothic"/>
                <a:cs typeface="Malgun Gothic"/>
              </a:rPr>
              <a:t>빠른 보상</a:t>
            </a:r>
            <a:r>
              <a:rPr sz="2000" b="0" i="0">
                <a:solidFill>
                  <a:srgbClr val="11202B"/>
                </a:solidFill>
                <a:latin typeface="Malgun Gothic"/>
                <a:ea typeface="Malgun Gothic"/>
                <a:cs typeface="Malgun Gothic"/>
              </a:rPr>
              <a:t>을 담당한다. 대사성 산증에서 환기가 깊고 빨라지는 것(Kussmaul 호흡)이 그 예로, PCO₂를 낮춰 pH를 끌어올리려는 반응이다. 신장의 보상은 느리지만 더 완전하다.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이산화탄소의 운반과 산–염기 평형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8</a:t>
            </a:r>
          </a:p>
        </p:txBody>
      </p:sp>
      <p:sp>
        <p:nvSpPr>
          <p:cNvPr id="7" name="Rectangle 6"/>
          <p:cNvSpPr/>
          <p:nvPr/>
        </p:nvSpPr>
        <p:spPr>
          <a:xfrm>
            <a:off x="640080" y="1325880"/>
            <a:ext cx="10881360" cy="2270759"/>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Bohr 효과와 Haldane 효과를 반대로 쓰는 실수가 잦다. 두 효과는 같은 결합 경쟁을 서로 다른 쪽에서 본 것이다. </a:t>
            </a:r>
            <a:r>
              <a:rPr sz="1600" b="1" i="0">
                <a:solidFill>
                  <a:srgbClr val="11202B"/>
                </a:solidFill>
                <a:latin typeface="Malgun Gothic"/>
                <a:ea typeface="Malgun Gothic"/>
                <a:cs typeface="Malgun Gothic"/>
              </a:rPr>
              <a:t>Bohr</a:t>
            </a:r>
            <a:r>
              <a:rPr sz="1600" b="0" i="0">
                <a:solidFill>
                  <a:srgbClr val="11202B"/>
                </a:solidFill>
                <a:latin typeface="Malgun Gothic"/>
                <a:ea typeface="Malgun Gothic"/>
                <a:cs typeface="Malgun Gothic"/>
              </a:rPr>
              <a:t>는 CO₂와 H⁺가 </a:t>
            </a:r>
            <a:r>
              <a:rPr sz="1600" b="1" i="0">
                <a:solidFill>
                  <a:srgbClr val="11202B"/>
                </a:solidFill>
                <a:latin typeface="Malgun Gothic"/>
                <a:ea typeface="Malgun Gothic"/>
                <a:cs typeface="Malgun Gothic"/>
              </a:rPr>
              <a:t>산소</a:t>
            </a:r>
            <a:r>
              <a:rPr sz="1600" b="0" i="0">
                <a:solidFill>
                  <a:srgbClr val="11202B"/>
                </a:solidFill>
                <a:latin typeface="Malgun Gothic"/>
                <a:ea typeface="Malgun Gothic"/>
                <a:cs typeface="Malgun Gothic"/>
              </a:rPr>
              <a:t>의 결합을 떨어뜨리는 것으로, 조직에서 산소를 더 내려놓게 한다. </a:t>
            </a:r>
            <a:r>
              <a:rPr sz="1600" b="1" i="0">
                <a:solidFill>
                  <a:srgbClr val="11202B"/>
                </a:solidFill>
                <a:latin typeface="Malgun Gothic"/>
                <a:ea typeface="Malgun Gothic"/>
                <a:cs typeface="Malgun Gothic"/>
              </a:rPr>
              <a:t>Haldane</a:t>
            </a:r>
            <a:r>
              <a:rPr sz="1600" b="0" i="0">
                <a:solidFill>
                  <a:srgbClr val="11202B"/>
                </a:solidFill>
                <a:latin typeface="Malgun Gothic"/>
                <a:ea typeface="Malgun Gothic"/>
                <a:cs typeface="Malgun Gothic"/>
              </a:rPr>
              <a:t>은 산소가 떨어져 나간 헤모글로빈이 </a:t>
            </a:r>
            <a:r>
              <a:rPr sz="1600" b="1" i="0">
                <a:solidFill>
                  <a:srgbClr val="11202B"/>
                </a:solidFill>
                <a:latin typeface="Malgun Gothic"/>
                <a:ea typeface="Malgun Gothic"/>
                <a:cs typeface="Malgun Gothic"/>
              </a:rPr>
              <a:t>CO₂와 H⁺</a:t>
            </a:r>
            <a:r>
              <a:rPr sz="1600" b="0" i="0">
                <a:solidFill>
                  <a:srgbClr val="11202B"/>
                </a:solidFill>
                <a:latin typeface="Malgun Gothic"/>
                <a:ea typeface="Malgun Gothic"/>
                <a:cs typeface="Malgun Gothic"/>
              </a:rPr>
              <a:t>를 더 잘 싣는 것으로, 조직에서 CO₂를 더 실어 오게 한다. 조직에서는 둘이 같은 방향으로 협력하고 폐에서는 반대로 작동한다. 보상의 시간 규모도 자주 갈린다. </a:t>
            </a:r>
            <a:r>
              <a:rPr sz="1600" b="1" i="0">
                <a:solidFill>
                  <a:srgbClr val="11202B"/>
                </a:solidFill>
                <a:latin typeface="Malgun Gothic"/>
                <a:ea typeface="Malgun Gothic"/>
                <a:cs typeface="Malgun Gothic"/>
              </a:rPr>
              <a:t>호흡성 보상은 분 단위, 신장의 대사성 보상은 수 시간에서 며칠</a:t>
            </a:r>
            <a:r>
              <a:rPr sz="1600" b="0" i="0">
                <a:solidFill>
                  <a:srgbClr val="11202B"/>
                </a:solidFill>
                <a:latin typeface="Malgun Gothic"/>
                <a:ea typeface="Malgun Gothic"/>
                <a:cs typeface="Malgun Gothic"/>
              </a:rPr>
              <a:t>이다. 따라서 급성 장애에서 완전한 대사성 보상이 보이면 그것은 보상이 아니라 </a:t>
            </a:r>
            <a:r>
              <a:rPr sz="1600" b="1" i="0">
                <a:solidFill>
                  <a:srgbClr val="11202B"/>
                </a:solidFill>
                <a:latin typeface="Malgun Gothic"/>
                <a:ea typeface="Malgun Gothic"/>
                <a:cs typeface="Malgun Gothic"/>
              </a:rPr>
              <a:t>이차적인 또 하나의 장애</a:t>
            </a:r>
            <a:r>
              <a:rPr sz="1600" b="0" i="0">
                <a:solidFill>
                  <a:srgbClr val="11202B"/>
                </a:solidFill>
                <a:latin typeface="Malgun Gothic"/>
                <a:ea typeface="Malgun Gothic"/>
                <a:cs typeface="Malgun Gothic"/>
              </a:rPr>
              <a:t>로 읽어야 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이산화탄소의 운반과 산–염기 평형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9</a:t>
            </a:r>
          </a:p>
        </p:txBody>
      </p:sp>
      <p:pic>
        <p:nvPicPr>
          <p:cNvPr id="7" name="Picture 6" descr="fig-co2-transport.slide.png"/>
          <p:cNvPicPr>
            <a:picLocks noChangeAspect="1"/>
          </p:cNvPicPr>
          <p:nvPr/>
        </p:nvPicPr>
        <p:blipFill>
          <a:blip r:embed="rId2"/>
          <a:stretch>
            <a:fillRect/>
          </a:stretch>
        </p:blipFill>
        <p:spPr>
          <a:xfrm>
            <a:off x="1848967" y="1325880"/>
            <a:ext cx="849376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이산화탄소 운반의 세 형태와 적혈구 안에서의 반응. Carbonic anhydrase에 의한 중탄산 생성, chloride shift, 헤모글로빈의 H+ 완충, 그리고 Bohr 효과와 Haldane 효과가 조직과 폐에서 짝지어 작동하는 방식을 함께 보인다.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호흡의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호흡은 의식적으로 바꿀 수 있지만 평상시에는 자동으로 조절된다. 조절 체계는 중추와 수용체로 나누어 보아야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중추</a:t>
            </a:r>
            <a:r>
              <a:rPr sz="1400" b="0" i="0">
                <a:solidFill>
                  <a:srgbClr val="11202B"/>
                </a:solidFill>
                <a:latin typeface="Malgun Gothic"/>
                <a:ea typeface="Malgun Gothic"/>
                <a:cs typeface="Malgun Gothic"/>
              </a:rPr>
              <a:t>는 뇌줄기에 있다. Medulla의 dorsal respiratory group이 흡기 리듬을 만들고, ventral respiratory group이 강한 호기에 관여한다. Pons의 pneumotaxic center는 흡기를 끊어 호흡수를 조절한다. 이 중추들이 손상되면 자동 호흡이 사라진다.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화학수용체</a:t>
            </a:r>
            <a:r>
              <a:rPr sz="1400" b="0" i="0">
                <a:solidFill>
                  <a:srgbClr val="11202B"/>
                </a:solidFill>
                <a:latin typeface="Malgun Gothic"/>
                <a:ea typeface="Malgun Gothic"/>
                <a:cs typeface="Malgun Gothic"/>
              </a:rPr>
              <a:t>는 두 곳에 있고 감지하는 대상이 다르다.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중추 화학수용체</a:t>
            </a:r>
            <a:r>
              <a:rPr sz="1400" b="0" i="0">
                <a:solidFill>
                  <a:srgbClr val="11202B"/>
                </a:solidFill>
                <a:latin typeface="Malgun Gothic"/>
                <a:ea typeface="Malgun Gothic"/>
                <a:cs typeface="Malgun Gothic"/>
              </a:rPr>
              <a:t>: Medulla에 있다. 뇌척수액의 </a:t>
            </a:r>
            <a:r>
              <a:rPr sz="1400" b="1" i="0">
                <a:solidFill>
                  <a:srgbClr val="11202B"/>
                </a:solidFill>
                <a:latin typeface="Malgun Gothic"/>
                <a:ea typeface="Malgun Gothic"/>
                <a:cs typeface="Malgun Gothic"/>
              </a:rPr>
              <a:t>수소이온 농도</a:t>
            </a:r>
            <a:r>
              <a:rPr sz="1400" b="0" i="0">
                <a:solidFill>
                  <a:srgbClr val="11202B"/>
                </a:solidFill>
                <a:latin typeface="Malgun Gothic"/>
                <a:ea typeface="Malgun Gothic"/>
                <a:cs typeface="Malgun Gothic"/>
              </a:rPr>
              <a:t>를 감지한다. 혈액의 이산화탄소는 혈액뇌장벽을 쉽게 통과하므로 뇌척수액에서 H⁺를 만들고, 이 H⁺이 수용체를 자극한다. 즉 중추 화학수용체는 실질적으로 </a:t>
            </a:r>
            <a:r>
              <a:rPr sz="1400" b="1" i="0">
                <a:solidFill>
                  <a:srgbClr val="11202B"/>
                </a:solidFill>
                <a:latin typeface="Malgun Gothic"/>
                <a:ea typeface="Malgun Gothic"/>
                <a:cs typeface="Malgun Gothic"/>
              </a:rPr>
              <a:t>PCO₂의 변화를 감지</a:t>
            </a:r>
            <a:r>
              <a:rPr sz="1400" b="0" i="0">
                <a:solidFill>
                  <a:srgbClr val="11202B"/>
                </a:solidFill>
                <a:latin typeface="Malgun Gothic"/>
                <a:ea typeface="Malgun Gothic"/>
                <a:cs typeface="Malgun Gothic"/>
              </a:rPr>
              <a:t>한다. 정상 상태에서 환기를 결정하는 주된 자극이 바로 이것이다.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말초 화학수용체</a:t>
            </a:r>
            <a:r>
              <a:rPr sz="1400" b="0" i="0">
                <a:solidFill>
                  <a:srgbClr val="11202B"/>
                </a:solidFill>
                <a:latin typeface="Malgun Gothic"/>
                <a:ea typeface="Malgun Gothic"/>
                <a:cs typeface="Malgun Gothic"/>
              </a:rPr>
              <a:t>: Carotid body와 aortic body에 있다. 산소 분압, 이산화탄소 분압, 수소이온 농도를 모두 감지하지만, 산소에 대한 반응은 분압이 약 60 mmHg 아래로 떨어진 뒤에야 뚜렷해진다.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여기서 중요한 결론이 나온다. </a:t>
            </a:r>
            <a:r>
              <a:rPr sz="1400" b="1" i="0">
                <a:solidFill>
                  <a:srgbClr val="11202B"/>
                </a:solidFill>
                <a:latin typeface="Malgun Gothic"/>
                <a:ea typeface="Malgun Gothic"/>
                <a:cs typeface="Malgun Gothic"/>
              </a:rPr>
              <a:t>평상시 호흡을 이끄는 자극은 산소 부족이 아니라 이산화탄소 증가다.</a:t>
            </a:r>
            <a:r>
              <a:rPr sz="1400" b="0" i="0">
                <a:solidFill>
                  <a:srgbClr val="11202B"/>
                </a:solidFill>
                <a:latin typeface="Malgun Gothic"/>
                <a:ea typeface="Malgun Gothic"/>
                <a:cs typeface="Malgun Gothic"/>
              </a:rPr>
              <a:t> 산소해리곡선이 60 mmHg 위에서 평탄하다는 사실과 맞물려 생각하면 합리적인 설계다. 산소는 여유가 있으므로 미세한 변화를 좇을 필요가 없지만, 이산화탄소는 pH를 직접 바꾸므로 정밀하게 유지해야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기계적 수용체도 있다. 기도와 폐에 있는 stretch receptor가 과도한 팽창을 감지해 흡기를 끊는다(Hering–Breuer 반사). 정상 호흡에서는 거의 작동하지 않고 일회호흡량이 아주 클 때 보호 작용을 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호흡의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11</a:t>
            </a:r>
          </a:p>
        </p:txBody>
      </p:sp>
      <p:sp>
        <p:nvSpPr>
          <p:cNvPr id="7" name="Rectangle 6"/>
          <p:cNvSpPr/>
          <p:nvPr/>
        </p:nvSpPr>
        <p:spPr>
          <a:xfrm>
            <a:off x="640080" y="1325880"/>
            <a:ext cx="10881360" cy="932739"/>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만성 COPD 환자에서는 PCO₂가 오래 높은 상태로 유지되어 중추 화학수용체의 반응이 둔해지고, 환기의 주된 자극이 말초 화학수용체를 통한 저산소 자극으로 바뀐다. 이런 환자에게 고농도 산소를 주면 저산소 자극이 사라져 환기가 줄고 PCO₂가 더 올라갈 수 있다. 목표 산소 포화도를 88~92% 정도로 조절해 투여하는 이유다.</a:t>
            </a:r>
          </a:p>
        </p:txBody>
      </p:sp>
      <p:sp>
        <p:nvSpPr>
          <p:cNvPr id="8" name="Rectangle 7"/>
          <p:cNvSpPr/>
          <p:nvPr/>
        </p:nvSpPr>
        <p:spPr>
          <a:xfrm>
            <a:off x="640080" y="2395779"/>
            <a:ext cx="10881360" cy="1647883"/>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두 화학수용체의 분업을 가르는 문장은 이것이다. </a:t>
            </a:r>
            <a:r>
              <a:rPr sz="1600" b="1" i="0">
                <a:solidFill>
                  <a:srgbClr val="11202B"/>
                </a:solidFill>
                <a:latin typeface="Malgun Gothic"/>
                <a:ea typeface="Malgun Gothic"/>
                <a:cs typeface="Malgun Gothic"/>
              </a:rPr>
              <a:t>평상시 환기를 이끄는 것은 중추 화학수용체가 감지하는 CO₂이고, 저산소에 반응하는 것은 말초 화학수용체뿐이다.</a:t>
            </a:r>
            <a:r>
              <a:rPr sz="1600" b="0" i="0">
                <a:solidFill>
                  <a:srgbClr val="11202B"/>
                </a:solidFill>
                <a:latin typeface="Malgun Gothic"/>
                <a:ea typeface="Malgun Gothic"/>
                <a:cs typeface="Malgun Gothic"/>
              </a:rPr>
              <a:t> 중추 화학수용체는 산소에 반응하지 않는다. 또한 중추는 혈액의 CO₂가 아니라 </a:t>
            </a:r>
            <a:r>
              <a:rPr sz="1600" b="1" i="0">
                <a:solidFill>
                  <a:srgbClr val="11202B"/>
                </a:solidFill>
                <a:latin typeface="Malgun Gothic"/>
                <a:ea typeface="Malgun Gothic"/>
                <a:cs typeface="Malgun Gothic"/>
              </a:rPr>
              <a:t>뇌척수액의 H⁺</a:t>
            </a:r>
            <a:r>
              <a:rPr sz="1600" b="0" i="0">
                <a:solidFill>
                  <a:srgbClr val="11202B"/>
                </a:solidFill>
                <a:latin typeface="Malgun Gothic"/>
                <a:ea typeface="Malgun Gothic"/>
                <a:cs typeface="Malgun Gothic"/>
              </a:rPr>
              <a:t>를 감지한다. 혈액뇌장벽은 CO₂는 통과시키지만 H⁺와 HCO₃⁻는 잘 통과시키지 않으므로, 대사성 산증에서 혈중 H⁺가 올라도 중추 수용체는 직접 반응하지 못하고 말초 수용체가 먼저 반응한다. 말초 수용체의 산소 반응이 </a:t>
            </a:r>
            <a:r>
              <a:rPr sz="1600" b="1" i="0">
                <a:solidFill>
                  <a:srgbClr val="11202B"/>
                </a:solidFill>
                <a:latin typeface="Malgun Gothic"/>
                <a:ea typeface="Malgun Gothic"/>
                <a:cs typeface="Malgun Gothic"/>
              </a:rPr>
              <a:t>PaO₂ 60 mmHg 아래에서야 뚜렷해진다</a:t>
            </a:r>
            <a:r>
              <a:rPr sz="1600" b="0" i="0">
                <a:solidFill>
                  <a:srgbClr val="11202B"/>
                </a:solidFill>
                <a:latin typeface="Malgun Gothic"/>
                <a:ea typeface="Malgun Gothic"/>
                <a:cs typeface="Malgun Gothic"/>
              </a:rPr>
              <a:t>는 역치도 자주 출제된다.</a:t>
            </a:r>
          </a:p>
        </p:txBody>
      </p:sp>
      <p:sp>
        <p:nvSpPr>
          <p:cNvPr id="9" name="Rectangle 8"/>
          <p:cNvSpPr/>
          <p:nvPr/>
        </p:nvSpPr>
        <p:spPr>
          <a:xfrm>
            <a:off x="640080" y="4180822"/>
            <a:ext cx="10881360" cy="1991377"/>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Carotid body가 산소를 어떻게 감지하는지는 오래된 문제인데 최근에야 윤곽이 잡혔다. 사립체 complex IV의 특수한 소단위가 저산소에서 succinate를 축적시키고, 이것이 활성산소를 통해 K⁺ 통로를 닫아 탈분극을 일으킨다는 모형이 유력하다. 임상적으로 더 주목받는 것은 carotid body의 </a:t>
            </a:r>
            <a:r>
              <a:rPr sz="1600" b="1" i="0">
                <a:solidFill>
                  <a:srgbClr val="11202B"/>
                </a:solidFill>
                <a:latin typeface="Malgun Gothic"/>
                <a:ea typeface="Malgun Gothic"/>
                <a:cs typeface="Malgun Gothic"/>
              </a:rPr>
              <a:t>과활성</a:t>
            </a:r>
            <a:r>
              <a:rPr sz="1600" b="0" i="0">
                <a:solidFill>
                  <a:srgbClr val="11202B"/>
                </a:solidFill>
                <a:latin typeface="Malgun Gothic"/>
                <a:ea typeface="Malgun Gothic"/>
                <a:cs typeface="Malgun Gothic"/>
              </a:rPr>
              <a:t>이다. 만성 심부전과 저항성 고혈압, 수면무호흡에서 carotid body의 교감신경 출력이 비정상적으로 높다는 관찰이 쌓였고, 한쪽 carotid body를 제거하거나 전기로 조절하는 시도가 소규모로 진행되었다. 혈압과 교감신경 활성이 줄었다는 보고가 있으나 저산소 반응을 영구히 잃는 위험과 장기 효과가 확인되지 않아 연구 단계에 머물러 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호흡의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12</a:t>
            </a:r>
          </a:p>
        </p:txBody>
      </p:sp>
      <p:pic>
        <p:nvPicPr>
          <p:cNvPr id="7" name="Picture 6" descr="fig-respiratory-control.slide.png"/>
          <p:cNvPicPr>
            <a:picLocks noChangeAspect="1"/>
          </p:cNvPicPr>
          <p:nvPr/>
        </p:nvPicPr>
        <p:blipFill>
          <a:blip r:embed="rId2"/>
          <a:stretch>
            <a:fillRect/>
          </a:stretch>
        </p:blipFill>
        <p:spPr>
          <a:xfrm>
            <a:off x="1752447" y="1325880"/>
            <a:ext cx="86868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호흡 조절의 중추와 수용체. 뇌줄기 호흡 중추의 위치와 역할, 중추·말초 화학수용체가 감지하는 대상의 차이, 각 자극이 환기량을 바꾸는 관계 곡선, 그리고 Hering–Breuer 반사의 경로를 함께 보인다.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폐기능검사 — 폐쇄성과 제한성을 가르는 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5절에서 용적과 용량을 정의했다. 이 값들을 실제로 재어 질환을 분류하는 검사가 </a:t>
            </a:r>
            <a:r>
              <a:rPr sz="1400" b="1" i="0">
                <a:solidFill>
                  <a:srgbClr val="11202B"/>
                </a:solidFill>
                <a:latin typeface="Malgun Gothic"/>
                <a:ea typeface="Malgun Gothic"/>
                <a:cs typeface="Malgun Gothic"/>
              </a:rPr>
              <a:t>폐기능검사(pulmonary function test)</a:t>
            </a:r>
            <a:r>
              <a:rPr sz="1400" b="0" i="0">
                <a:solidFill>
                  <a:srgbClr val="11202B"/>
                </a:solidFill>
                <a:latin typeface="Malgun Gothic"/>
                <a:ea typeface="Malgun Gothic"/>
                <a:cs typeface="Malgun Gothic"/>
              </a:rPr>
              <a:t> 다. 검사의 논리는 단순하다. 공기가 </a:t>
            </a:r>
            <a:r>
              <a:rPr sz="1400" b="1" i="0">
                <a:solidFill>
                  <a:srgbClr val="11202B"/>
                </a:solidFill>
                <a:latin typeface="Malgun Gothic"/>
                <a:ea typeface="Malgun Gothic"/>
                <a:cs typeface="Malgun Gothic"/>
              </a:rPr>
              <a:t>나가기 어려운가</a:t>
            </a:r>
            <a:r>
              <a:rPr sz="1400" b="0" i="0">
                <a:solidFill>
                  <a:srgbClr val="11202B"/>
                </a:solidFill>
                <a:latin typeface="Malgun Gothic"/>
                <a:ea typeface="Malgun Gothic"/>
                <a:cs typeface="Malgun Gothic"/>
              </a:rPr>
              <a:t>, 아니면 애초에 </a:t>
            </a:r>
            <a:r>
              <a:rPr sz="1400" b="1" i="0">
                <a:solidFill>
                  <a:srgbClr val="11202B"/>
                </a:solidFill>
                <a:latin typeface="Malgun Gothic"/>
                <a:ea typeface="Malgun Gothic"/>
                <a:cs typeface="Malgun Gothic"/>
              </a:rPr>
              <a:t>들어갈 수 있는 양이 적은가</a:t>
            </a:r>
            <a:r>
              <a:rPr sz="1400" b="0" i="0">
                <a:solidFill>
                  <a:srgbClr val="11202B"/>
                </a:solidFill>
                <a:latin typeface="Malgun Gothic"/>
                <a:ea typeface="Malgun Gothic"/>
                <a:cs typeface="Malgun Gothic"/>
              </a:rPr>
              <a:t>를 가른다.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Spirometry의 핵심 지표.</a:t>
            </a:r>
            <a:r>
              <a:rPr sz="1400" b="0" i="0">
                <a:solidFill>
                  <a:srgbClr val="11202B"/>
                </a:solidFill>
                <a:latin typeface="Malgun Gothic"/>
                <a:ea typeface="Malgun Gothic"/>
                <a:cs typeface="Malgun Gothic"/>
              </a:rPr>
              <a:t> 최대로 들이쉰 뒤 최대한 빠르고 끝까지 내쉬게 한다. 이때 내쉰 전체량이 </a:t>
            </a:r>
            <a:r>
              <a:rPr sz="1400" b="1" i="0">
                <a:solidFill>
                  <a:srgbClr val="11202B"/>
                </a:solidFill>
                <a:latin typeface="Malgun Gothic"/>
                <a:ea typeface="Malgun Gothic"/>
                <a:cs typeface="Malgun Gothic"/>
              </a:rPr>
              <a:t>노력성 폐활량(forced vital capacity, FVC)</a:t>
            </a:r>
            <a:r>
              <a:rPr sz="1400" b="0" i="0">
                <a:solidFill>
                  <a:srgbClr val="11202B"/>
                </a:solidFill>
                <a:latin typeface="Malgun Gothic"/>
                <a:ea typeface="Malgun Gothic"/>
                <a:cs typeface="Malgun Gothic"/>
              </a:rPr>
              <a:t> 이고, 첫 1초 동안 내쉰 양이 </a:t>
            </a:r>
            <a:r>
              <a:rPr sz="1400" b="1" i="0">
                <a:solidFill>
                  <a:srgbClr val="11202B"/>
                </a:solidFill>
                <a:latin typeface="Malgun Gothic"/>
                <a:ea typeface="Malgun Gothic"/>
                <a:cs typeface="Malgun Gothic"/>
              </a:rPr>
              <a:t>1초량(FEV₁)</a:t>
            </a:r>
            <a:r>
              <a:rPr sz="1400" b="0" i="0">
                <a:solidFill>
                  <a:srgbClr val="11202B"/>
                </a:solidFill>
                <a:latin typeface="Malgun Gothic"/>
                <a:ea typeface="Malgun Gothic"/>
                <a:cs typeface="Malgun Gothic"/>
              </a:rPr>
              <a:t> 이다. 두 값의 비 </a:t>
            </a:r>
            <a:r>
              <a:rPr sz="1400" b="1" i="0">
                <a:solidFill>
                  <a:srgbClr val="11202B"/>
                </a:solidFill>
                <a:latin typeface="Malgun Gothic"/>
                <a:ea typeface="Malgun Gothic"/>
                <a:cs typeface="Malgun Gothic"/>
              </a:rPr>
              <a:t>FEV₁/FVC</a:t>
            </a:r>
            <a:r>
              <a:rPr sz="1400" b="0" i="0">
                <a:solidFill>
                  <a:srgbClr val="11202B"/>
                </a:solidFill>
                <a:latin typeface="Malgun Gothic"/>
                <a:ea typeface="Malgun Gothic"/>
                <a:cs typeface="Malgun Gothic"/>
              </a:rPr>
              <a:t>가 분류의 출발점이다.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폐쇄성 장애(obstructive)</a:t>
            </a:r>
            <a:r>
              <a:rPr sz="1400" b="0" i="0">
                <a:solidFill>
                  <a:srgbClr val="11202B"/>
                </a:solidFill>
                <a:latin typeface="Malgun Gothic"/>
                <a:ea typeface="Malgun Gothic"/>
                <a:cs typeface="Malgun Gothic"/>
              </a:rPr>
              <a:t>: 기도가 좁아 공기가 빠르게 나가지 못한다. FEV₁이 FVC보다 더 크게 줄므로 </a:t>
            </a:r>
            <a:r>
              <a:rPr sz="1400" b="1" i="0">
                <a:solidFill>
                  <a:srgbClr val="11202B"/>
                </a:solidFill>
                <a:latin typeface="Malgun Gothic"/>
                <a:ea typeface="Malgun Gothic"/>
                <a:cs typeface="Malgun Gothic"/>
              </a:rPr>
              <a:t>FEV₁/FVC가 0.7 미만</a:t>
            </a:r>
            <a:r>
              <a:rPr sz="1400" b="0" i="0">
                <a:solidFill>
                  <a:srgbClr val="11202B"/>
                </a:solidFill>
                <a:latin typeface="Malgun Gothic"/>
                <a:ea typeface="Malgun Gothic"/>
                <a:cs typeface="Malgun Gothic"/>
              </a:rPr>
              <a:t>으로 떨어진다. 내쉬지 못한 공기가 남으므로 RV와 TLC는 오히려 </a:t>
            </a:r>
            <a:r>
              <a:rPr sz="1400" b="1" i="0">
                <a:solidFill>
                  <a:srgbClr val="11202B"/>
                </a:solidFill>
                <a:latin typeface="Malgun Gothic"/>
                <a:ea typeface="Malgun Gothic"/>
                <a:cs typeface="Malgun Gothic"/>
              </a:rPr>
              <a:t>늘어난다</a:t>
            </a:r>
            <a:r>
              <a:rPr sz="1400" b="0" i="0">
                <a:solidFill>
                  <a:srgbClr val="11202B"/>
                </a:solidFill>
                <a:latin typeface="Malgun Gothic"/>
                <a:ea typeface="Malgun Gothic"/>
                <a:cs typeface="Malgun Gothic"/>
              </a:rPr>
              <a:t>. 천식, COPD, 기관지확장증이 여기에 든다.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제한성 장애(restrictive)</a:t>
            </a:r>
            <a:r>
              <a:rPr sz="1400" b="0" i="0">
                <a:solidFill>
                  <a:srgbClr val="11202B"/>
                </a:solidFill>
                <a:latin typeface="Malgun Gothic"/>
                <a:ea typeface="Malgun Gothic"/>
                <a:cs typeface="Malgun Gothic"/>
              </a:rPr>
              <a:t>: 폐가 펴지지 않거나 흉곽이 움직이지 않아 담을 수 있는 양 자체가 적다. FEV₁과 FVC가 </a:t>
            </a:r>
            <a:r>
              <a:rPr sz="1400" b="1" i="0">
                <a:solidFill>
                  <a:srgbClr val="11202B"/>
                </a:solidFill>
                <a:latin typeface="Malgun Gothic"/>
                <a:ea typeface="Malgun Gothic"/>
                <a:cs typeface="Malgun Gothic"/>
              </a:rPr>
              <a:t>함께</a:t>
            </a:r>
            <a:r>
              <a:rPr sz="1400" b="0" i="0">
                <a:solidFill>
                  <a:srgbClr val="11202B"/>
                </a:solidFill>
                <a:latin typeface="Malgun Gothic"/>
                <a:ea typeface="Malgun Gothic"/>
                <a:cs typeface="Malgun Gothic"/>
              </a:rPr>
              <a:t> 줄므로 비는 정상이거나 오히려 </a:t>
            </a:r>
            <a:r>
              <a:rPr sz="1400" b="1" i="0">
                <a:solidFill>
                  <a:srgbClr val="11202B"/>
                </a:solidFill>
                <a:latin typeface="Malgun Gothic"/>
                <a:ea typeface="Malgun Gothic"/>
                <a:cs typeface="Malgun Gothic"/>
              </a:rPr>
              <a:t>높아진다</a:t>
            </a:r>
            <a:r>
              <a:rPr sz="1400" b="0" i="0">
                <a:solidFill>
                  <a:srgbClr val="11202B"/>
                </a:solidFill>
                <a:latin typeface="Malgun Gothic"/>
                <a:ea typeface="Malgun Gothic"/>
                <a:cs typeface="Malgun Gothic"/>
              </a:rPr>
              <a:t>. TLC가 줄어드는 것이 진단의 기준이다. 폐섬유화, 흉막 질환, 신경근 질환, 심한 비만, 척추측만이 여기에 든다.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폐기능검사 — 폐쇄성과 제한성을 가르는 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14</a:t>
            </a:r>
          </a:p>
        </p:txBody>
      </p:sp>
      <p:graphicFrame>
        <p:nvGraphicFramePr>
          <p:cNvPr id="7" name="Table 6"/>
          <p:cNvGraphicFramePr>
            <a:graphicFrameLocks noGrp="1"/>
          </p:cNvGraphicFramePr>
          <p:nvPr/>
        </p:nvGraphicFramePr>
        <p:xfrm>
          <a:off x="548640" y="1280160"/>
          <a:ext cx="11064240" cy="256032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지표</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폐쇄성</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제한성</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FEV₁</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크게 감소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감소</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FVC</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감소 또는 정상</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크게 감소</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FEV₁/FVC</a:t>
                      </a:r>
                    </a:p>
                  </a:txBody>
                  <a:tcPr marL="73152" marR="73152" marT="27432" marB="27432">
                    <a:solidFill>
                      <a:srgbClr val="FFFFFF"/>
                    </a:solidFill>
                  </a:tcPr>
                </a:tc>
                <a:tc>
                  <a:txBody>
                    <a:bodyPr/>
                    <a:lstStyle/>
                    <a:p>
                      <a:r>
                        <a:rPr sz="1200" b="1" i="0">
                          <a:solidFill>
                            <a:srgbClr val="11202B"/>
                          </a:solidFill>
                          <a:latin typeface="Malgun Gothic"/>
                          <a:ea typeface="Malgun Gothic"/>
                          <a:cs typeface="Malgun Gothic"/>
                        </a:rPr>
                        <a:t>감소(0.7 미만)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정상 또는 증가</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TLC</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증가</a:t>
                      </a:r>
                    </a:p>
                  </a:txBody>
                  <a:tcPr marL="73152" marR="73152" marT="27432" marB="27432">
                    <a:solidFill>
                      <a:srgbClr val="EFF4F8"/>
                    </a:solidFill>
                  </a:tcPr>
                </a:tc>
                <a:tc>
                  <a:txBody>
                    <a:bodyPr/>
                    <a:lstStyle/>
                    <a:p>
                      <a:r>
                        <a:rPr sz="1200" b="1" i="0">
                          <a:solidFill>
                            <a:srgbClr val="11202B"/>
                          </a:solidFill>
                          <a:latin typeface="Malgun Gothic"/>
                          <a:ea typeface="Malgun Gothic"/>
                          <a:cs typeface="Malgun Gothic"/>
                        </a:rPr>
                        <a:t>감소</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RV</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증가</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감소</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유량–용적 고리</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호기 곡선이 안쪽으로 파인다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고리 전체가 작아지고 왼쪽으로 치우친다</a:t>
                      </a:r>
                    </a:p>
                  </a:txBody>
                  <a:tcPr marL="73152" marR="73152" marT="27432" marB="27432">
                    <a:solidFill>
                      <a:srgbClr val="EFF4F8"/>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폐기능검사 — 폐쇄성과 제한성을 가르는 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여기서 5절의 제약이 다시 중요해진다. Spirometry는 RV를 재지 못하므로 </a:t>
            </a:r>
            <a:r>
              <a:rPr sz="1400" b="1" i="0">
                <a:solidFill>
                  <a:srgbClr val="11202B"/>
                </a:solidFill>
                <a:latin typeface="Malgun Gothic"/>
                <a:ea typeface="Malgun Gothic"/>
                <a:cs typeface="Malgun Gothic"/>
              </a:rPr>
              <a:t>TLC를 직접 알 수 없다</a:t>
            </a:r>
            <a:r>
              <a:rPr sz="1400" b="0" i="0">
                <a:solidFill>
                  <a:srgbClr val="11202B"/>
                </a:solidFill>
                <a:latin typeface="Malgun Gothic"/>
                <a:ea typeface="Malgun Gothic"/>
                <a:cs typeface="Malgun Gothic"/>
              </a:rPr>
              <a:t>. FVC가 줄어 있다고 해서 바로 제한성이라고 할 수 없고, 폐쇄성 질환에서 공기가 갇혀 FVC가 줄어든 경우와 구분해야 한다. 확정하려면 helium 희석법이나 body plethysmography로 TLC를 재야 한다. 공기가 갇힌 폐에서는 두 방법의 결과가 달라지는데, helium은 기도가 막힌 구역에 도달하지 못해 TLC를 과소평가하고 plethysmography는 흉곽 안의 모든 기체를 재므로 더 큰 값을 준다. 두 값의 차이 자체가 공기 갇힘의 지표가 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기관지확장제 반응.</a:t>
            </a:r>
            <a:r>
              <a:rPr sz="1400" b="0" i="0">
                <a:solidFill>
                  <a:srgbClr val="11202B"/>
                </a:solidFill>
                <a:latin typeface="Malgun Gothic"/>
                <a:ea typeface="Malgun Gothic"/>
                <a:cs typeface="Malgun Gothic"/>
              </a:rPr>
              <a:t> 흡입 기관지확장제를 주고 다시 측정해 FEV₁이 12% 이상, 동시에 200 mL 이상 늘면 가역적이라고 본다. 가역성은 천식의 특징이고, COPD는 대개 가역성이 제한적이다. 다만 둘이 겹치는 환자가 적지 않다.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확산능(DLCO).</a:t>
            </a:r>
            <a:r>
              <a:rPr sz="1400" b="0" i="0">
                <a:solidFill>
                  <a:srgbClr val="11202B"/>
                </a:solidFill>
                <a:latin typeface="Malgun Gothic"/>
                <a:ea typeface="Malgun Gothic"/>
                <a:cs typeface="Malgun Gothic"/>
              </a:rPr>
              <a:t> 소량의 일산화탄소를 들이쉬게 하고 사라지는 양으로 폐포–모세혈관 막을 통한 확산 능력을 잰다. 6절의 확산 식을 실제로 재는 검사라고 보면 된다. 막이 두꺼워지거나(폐섬유화) 폐포 표면적이 줄거나(폐기종) 모세혈관 혈액이 줄면(폐색전, 폐고혈압) 감소하고, 폐포 안에 출혈이 있으면 그 헤모글로빈이 CO를 잡으므로 </a:t>
            </a:r>
            <a:r>
              <a:rPr sz="1400" b="1" i="0">
                <a:solidFill>
                  <a:srgbClr val="11202B"/>
                </a:solidFill>
                <a:latin typeface="Malgun Gothic"/>
                <a:ea typeface="Malgun Gothic"/>
                <a:cs typeface="Malgun Gothic"/>
              </a:rPr>
              <a:t>증가</a:t>
            </a:r>
            <a:r>
              <a:rPr sz="1400" b="0" i="0">
                <a:solidFill>
                  <a:srgbClr val="11202B"/>
                </a:solidFill>
                <a:latin typeface="Malgun Gothic"/>
                <a:ea typeface="Malgun Gothic"/>
                <a:cs typeface="Malgun Gothic"/>
              </a:rPr>
              <a:t>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폐기능검사 — 폐쇄성과 제한성을 가르는 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16</a:t>
            </a:r>
          </a:p>
        </p:txBody>
      </p:sp>
      <p:sp>
        <p:nvSpPr>
          <p:cNvPr id="7" name="Rectangle 6"/>
          <p:cNvSpPr/>
          <p:nvPr/>
        </p:nvSpPr>
        <p:spPr>
          <a:xfrm>
            <a:off x="640080" y="1325880"/>
            <a:ext cx="10881360" cy="168148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같은 폐쇄성이라도 DLCO가 갈린다. </a:t>
            </a:r>
            <a:r>
              <a:rPr sz="1600" b="1" i="0">
                <a:solidFill>
                  <a:srgbClr val="11202B"/>
                </a:solidFill>
                <a:latin typeface="Malgun Gothic"/>
                <a:ea typeface="Malgun Gothic"/>
                <a:cs typeface="Malgun Gothic"/>
              </a:rPr>
              <a:t>폐기종</a:t>
            </a:r>
            <a:r>
              <a:rPr sz="1600" b="0" i="0">
                <a:solidFill>
                  <a:srgbClr val="11202B"/>
                </a:solidFill>
                <a:latin typeface="Malgun Gothic"/>
                <a:ea typeface="Malgun Gothic"/>
                <a:cs typeface="Malgun Gothic"/>
              </a:rPr>
              <a:t>은 폐포벽 자체가 파괴되어 표면적이 줄므로 DLCO가 </a:t>
            </a:r>
            <a:r>
              <a:rPr sz="1600" b="1" i="0">
                <a:solidFill>
                  <a:srgbClr val="11202B"/>
                </a:solidFill>
                <a:latin typeface="Malgun Gothic"/>
                <a:ea typeface="Malgun Gothic"/>
                <a:cs typeface="Malgun Gothic"/>
              </a:rPr>
              <a:t>감소</a:t>
            </a:r>
            <a:r>
              <a:rPr sz="1600" b="0" i="0">
                <a:solidFill>
                  <a:srgbClr val="11202B"/>
                </a:solidFill>
                <a:latin typeface="Malgun Gothic"/>
                <a:ea typeface="Malgun Gothic"/>
                <a:cs typeface="Malgun Gothic"/>
              </a:rPr>
              <a:t>하고, </a:t>
            </a:r>
            <a:r>
              <a:rPr sz="1600" b="1" i="0">
                <a:solidFill>
                  <a:srgbClr val="11202B"/>
                </a:solidFill>
                <a:latin typeface="Malgun Gothic"/>
                <a:ea typeface="Malgun Gothic"/>
                <a:cs typeface="Malgun Gothic"/>
              </a:rPr>
              <a:t>천식과 만성 기관지염</a:t>
            </a:r>
            <a:r>
              <a:rPr sz="1600" b="0" i="0">
                <a:solidFill>
                  <a:srgbClr val="11202B"/>
                </a:solidFill>
                <a:latin typeface="Malgun Gothic"/>
                <a:ea typeface="Malgun Gothic"/>
                <a:cs typeface="Malgun Gothic"/>
              </a:rPr>
              <a:t>은 기도의 문제이고 폐포는 멀쩡하므로 DLCO가 </a:t>
            </a:r>
            <a:r>
              <a:rPr sz="1600" b="1" i="0">
                <a:solidFill>
                  <a:srgbClr val="11202B"/>
                </a:solidFill>
                <a:latin typeface="Malgun Gothic"/>
                <a:ea typeface="Malgun Gothic"/>
                <a:cs typeface="Malgun Gothic"/>
              </a:rPr>
              <a:t>정상이거나 증가</a:t>
            </a:r>
            <a:r>
              <a:rPr sz="1600" b="0" i="0">
                <a:solidFill>
                  <a:srgbClr val="11202B"/>
                </a:solidFill>
                <a:latin typeface="Malgun Gothic"/>
                <a:ea typeface="Malgun Gothic"/>
                <a:cs typeface="Malgun Gothic"/>
              </a:rPr>
              <a:t>한다. 제한성에서도 갈린다. 폐 실질의 병(폐섬유화)은 DLCO가 감소하지만, 폐 바깥의 병(신경근 질환, 흉벽 기형, 비만)은 폐 자체가 정상이므로 DLCO가 </a:t>
            </a:r>
            <a:r>
              <a:rPr sz="1600" b="1" i="0">
                <a:solidFill>
                  <a:srgbClr val="11202B"/>
                </a:solidFill>
                <a:latin typeface="Malgun Gothic"/>
                <a:ea typeface="Malgun Gothic"/>
                <a:cs typeface="Malgun Gothic"/>
              </a:rPr>
              <a:t>정상</a:t>
            </a:r>
            <a:r>
              <a:rPr sz="1600" b="0" i="0">
                <a:solidFill>
                  <a:srgbClr val="11202B"/>
                </a:solidFill>
                <a:latin typeface="Malgun Gothic"/>
                <a:ea typeface="Malgun Gothic"/>
                <a:cs typeface="Malgun Gothic"/>
              </a:rPr>
              <a:t>이다. "FEV₁/FVC와 TLC로 두 갈래를 가르고, DLCO로 각 갈래를 다시 둘로 가른다"가 해석의 틀이다.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산소화 실패를 분석하는 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"환자의 산소 분압이 낮다"는 관찰에서 원인까지 가는 길이 정해져 있다. 두 개의 질문을 순서대로 던진다.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질문 1: 폐포–동맥 산소 분압 차이(A–a gradient)가 벌어져 있는가.</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폐포의 산소 분압은 직접 잴 수 없으므로 폐포 기체 식으로 계산한다.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P_AO₂ = F_IO₂ × (대기압 − 47) − P_aCO₂ / R</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실내 공기(F_IO₂ 0.21), 해수면(760 mmHg), 호흡 지수 R을 0.8로 두면 P_AO₂ ≈ 150 − P_aCO₂ / 0.8이다. 여기서 동맥혈 산소 분압을 빼면 A–a 차이가 된다. 정상은 젊은 성인에서 10~15 mmHg 미만이고, 나이가 들수록 커진다(대략 나이/4 + 4).</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질문 2: 산소를 주면 교정되는가.</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두 질문으로 저산소혈증의 다섯 기전이 모두 갈린다.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산소화 실패를 분석하는 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18</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2212848"/>
                <a:gridCol w="2212848"/>
                <a:gridCol w="2212848"/>
                <a:gridCol w="2212848"/>
                <a:gridCol w="2212848"/>
              </a:tblGrid>
              <a:tr h="365760">
                <a:tc>
                  <a:txBody>
                    <a:bodyPr/>
                    <a:lstStyle/>
                    <a:p>
                      <a:r>
                        <a:rPr sz="1200" b="1" i="0">
                          <a:solidFill>
                            <a:srgbClr val="FFFFFF"/>
                          </a:solidFill>
                          <a:latin typeface="Malgun Gothic"/>
                          <a:ea typeface="Malgun Gothic"/>
                          <a:cs typeface="Malgun Gothic"/>
                        </a:rPr>
                        <a:t>기전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A–a 차이</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산소 투여 반응</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PaCO₂</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대표 상황</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폐포 저환기</a:t>
                      </a:r>
                    </a:p>
                  </a:txBody>
                  <a:tcPr marL="73152" marR="73152" marT="27432" marB="27432">
                    <a:solidFill>
                      <a:srgbClr val="FFFFFF"/>
                    </a:solidFill>
                  </a:tcPr>
                </a:tc>
                <a:tc>
                  <a:txBody>
                    <a:bodyPr/>
                    <a:lstStyle/>
                    <a:p>
                      <a:r>
                        <a:rPr sz="1200" b="1" i="0">
                          <a:solidFill>
                            <a:srgbClr val="11202B"/>
                          </a:solidFill>
                          <a:latin typeface="Malgun Gothic"/>
                          <a:ea typeface="Malgun Gothic"/>
                          <a:cs typeface="Malgun Gothic"/>
                        </a:rPr>
                        <a:t>정상</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좋음</a:t>
                      </a:r>
                    </a:p>
                  </a:txBody>
                  <a:tcPr marL="73152" marR="73152" marT="27432" marB="27432">
                    <a:solidFill>
                      <a:srgbClr val="FFFFFF"/>
                    </a:solidFill>
                  </a:tcPr>
                </a:tc>
                <a:tc>
                  <a:txBody>
                    <a:bodyPr/>
                    <a:lstStyle/>
                    <a:p>
                      <a:r>
                        <a:rPr sz="1200" b="1" i="0">
                          <a:solidFill>
                            <a:srgbClr val="11202B"/>
                          </a:solidFill>
                          <a:latin typeface="Malgun Gothic"/>
                          <a:ea typeface="Malgun Gothic"/>
                          <a:cs typeface="Malgun Gothic"/>
                        </a:rPr>
                        <a:t>증가</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마약류 과량, 신경근 질환, 중추 억제</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고도·흡입 산소 분압 저하</a:t>
                      </a:r>
                    </a:p>
                  </a:txBody>
                  <a:tcPr marL="73152" marR="73152" marT="27432" marB="27432">
                    <a:solidFill>
                      <a:srgbClr val="EFF4F8"/>
                    </a:solidFill>
                  </a:tcPr>
                </a:tc>
                <a:tc>
                  <a:txBody>
                    <a:bodyPr/>
                    <a:lstStyle/>
                    <a:p>
                      <a:r>
                        <a:rPr sz="1200" b="1" i="0">
                          <a:solidFill>
                            <a:srgbClr val="11202B"/>
                          </a:solidFill>
                          <a:latin typeface="Malgun Gothic"/>
                          <a:ea typeface="Malgun Gothic"/>
                          <a:cs typeface="Malgun Gothic"/>
                        </a:rPr>
                        <a:t>정상</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좋음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감소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고지대</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환기–관류 불균형</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증가</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좋음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정상 또는 감소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COPD, 천식, 폐렴</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단락(shunt)</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증가</a:t>
                      </a:r>
                    </a:p>
                  </a:txBody>
                  <a:tcPr marL="73152" marR="73152" marT="27432" marB="27432">
                    <a:solidFill>
                      <a:srgbClr val="EFF4F8"/>
                    </a:solidFill>
                  </a:tcPr>
                </a:tc>
                <a:tc>
                  <a:txBody>
                    <a:bodyPr/>
                    <a:lstStyle/>
                    <a:p>
                      <a:r>
                        <a:rPr sz="1200" b="1" i="0">
                          <a:solidFill>
                            <a:srgbClr val="11202B"/>
                          </a:solidFill>
                          <a:latin typeface="Malgun Gothic"/>
                          <a:ea typeface="Malgun Gothic"/>
                          <a:cs typeface="Malgun Gothic"/>
                        </a:rPr>
                        <a:t>나쁨</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정상 또는 감소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폐포 허탈, ARDS, 폐내 동정맥 기형</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확산 장애</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증가</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좋음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정상 또는 감소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폐섬유화, 운동 시 뚜렷</a:t>
                      </a:r>
                    </a:p>
                  </a:txBody>
                  <a:tcPr marL="73152" marR="73152" marT="27432" marB="27432">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산소화 실패를 분석하는 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읽는 법은 이렇다. </a:t>
            </a:r>
            <a:r>
              <a:rPr sz="1600" b="1" i="0">
                <a:solidFill>
                  <a:srgbClr val="11202B"/>
                </a:solidFill>
                <a:latin typeface="Malgun Gothic"/>
                <a:ea typeface="Malgun Gothic"/>
                <a:cs typeface="Malgun Gothic"/>
              </a:rPr>
              <a:t>A–a 차이가 정상이면 폐 자체는 멀쩡하다.</a:t>
            </a:r>
            <a:r>
              <a:rPr sz="1600" b="0" i="0">
                <a:solidFill>
                  <a:srgbClr val="11202B"/>
                </a:solidFill>
                <a:latin typeface="Malgun Gothic"/>
                <a:ea typeface="Malgun Gothic"/>
                <a:cs typeface="Malgun Gothic"/>
              </a:rPr>
              <a:t> 들어온 산소가 적거나(고도) 환기가 부족한 것(저환기)이며, 이 둘은 PaCO₂로 갈린다. 저환기는 CO₂가 올라가고 고도는 과환기로 CO₂가 내려간다. </a:t>
            </a:r>
            <a:r>
              <a:rPr sz="1600" b="1" i="0">
                <a:solidFill>
                  <a:srgbClr val="11202B"/>
                </a:solidFill>
                <a:latin typeface="Malgun Gothic"/>
                <a:ea typeface="Malgun Gothic"/>
                <a:cs typeface="Malgun Gothic"/>
              </a:rPr>
              <a:t>A–a 차이가 벌어졌으면 폐 안에서 문제가 생긴 것</a:t>
            </a:r>
            <a:r>
              <a:rPr sz="1600" b="0" i="0">
                <a:solidFill>
                  <a:srgbClr val="11202B"/>
                </a:solidFill>
                <a:latin typeface="Malgun Gothic"/>
                <a:ea typeface="Malgun Gothic"/>
                <a:cs typeface="Malgun Gothic"/>
              </a:rPr>
              <a:t>이고, 산소 투여에 반응하지 않으면 단락이다. 단락에서는 혈액이 환기되는 폐포를 아예 지나지 않으므로 폐포의 산소 농도를 아무리 올려도 그 혈액에는 닿지 않는다.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호흡부전의 두 유형.</a:t>
            </a:r>
            <a:r>
              <a:rPr sz="1600" b="0" i="0">
                <a:solidFill>
                  <a:srgbClr val="11202B"/>
                </a:solidFill>
                <a:latin typeface="Malgun Gothic"/>
                <a:ea typeface="Malgun Gothic"/>
                <a:cs typeface="Malgun Gothic"/>
              </a:rPr>
              <a:t> 위의 틀을 임상 분류로 옮기면 두 가지가 된다. </a:t>
            </a:r>
            <a:r>
              <a:rPr sz="1600" b="1" i="0">
                <a:solidFill>
                  <a:srgbClr val="11202B"/>
                </a:solidFill>
                <a:latin typeface="Malgun Gothic"/>
                <a:ea typeface="Malgun Gothic"/>
                <a:cs typeface="Malgun Gothic"/>
              </a:rPr>
              <a:t>제1형(저산소성)</a:t>
            </a:r>
            <a:r>
              <a:rPr sz="1600" b="0" i="0">
                <a:solidFill>
                  <a:srgbClr val="11202B"/>
                </a:solidFill>
                <a:latin typeface="Malgun Gothic"/>
                <a:ea typeface="Malgun Gothic"/>
                <a:cs typeface="Malgun Gothic"/>
              </a:rPr>
              <a:t> 은 PaO₂가 낮고 PaCO₂는 정상이거나 낮다. 산소화의 문제이며 폐렴, 폐부종, ARDS, 폐색전이 해당한다. </a:t>
            </a:r>
            <a:r>
              <a:rPr sz="1600" b="1" i="0">
                <a:solidFill>
                  <a:srgbClr val="11202B"/>
                </a:solidFill>
                <a:latin typeface="Malgun Gothic"/>
                <a:ea typeface="Malgun Gothic"/>
                <a:cs typeface="Malgun Gothic"/>
              </a:rPr>
              <a:t>제2형(고탄산성)</a:t>
            </a:r>
            <a:r>
              <a:rPr sz="1600" b="0" i="0">
                <a:solidFill>
                  <a:srgbClr val="11202B"/>
                </a:solidFill>
                <a:latin typeface="Malgun Gothic"/>
                <a:ea typeface="Malgun Gothic"/>
                <a:cs typeface="Malgun Gothic"/>
              </a:rPr>
              <a:t> 은 PaO₂가 낮으면서 PaCO₂가 높다. 환기의 문제, 즉 펌프의 실패이며 COPD 악화, 약물에 의한 호흡 억제, 신경근 질환, 심한 흉곽 기형이 해당한다. 구분이 중요한 이유는 치료가 다르기 때문이다. 제1형은 산소와 폐포를 여는 조치가 중심이고, 제2형은 환기를 돕는 것(비침습 환기, 원인 교정)이 중심이며 산소만 올리는 것으로는 해결되지 않는다.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산소화 실패를 분석하는 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20</a:t>
            </a:r>
          </a:p>
        </p:txBody>
      </p:sp>
      <p:sp>
        <p:nvSpPr>
          <p:cNvPr id="7" name="Rectangle 6"/>
          <p:cNvSpPr/>
          <p:nvPr/>
        </p:nvSpPr>
        <p:spPr>
          <a:xfrm>
            <a:off x="640080" y="1325880"/>
            <a:ext cx="10881360" cy="197612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a:t>
            </a:r>
            <a:r>
              <a:rPr sz="1600" b="1" i="0">
                <a:solidFill>
                  <a:srgbClr val="11202B"/>
                </a:solidFill>
                <a:latin typeface="Malgun Gothic"/>
                <a:ea typeface="Malgun Gothic"/>
                <a:cs typeface="Malgun Gothic"/>
              </a:rPr>
              <a:t>급성 호흡곤란 증후군(ARDS)</a:t>
            </a:r>
            <a:r>
              <a:rPr sz="1600" b="0" i="0">
                <a:solidFill>
                  <a:srgbClr val="11202B"/>
                </a:solidFill>
                <a:latin typeface="Malgun Gothic"/>
                <a:ea typeface="Malgun Gothic"/>
                <a:cs typeface="Malgun Gothic"/>
              </a:rPr>
              <a:t> 은 단락이 주된 기전인 상태의 전형이다. 폐포–모세혈관 장벽이 손상되어 단백질이 풍부한 액체가 폐포를 채우고 surfactant가 희석되어 폐포가 허탈한다. 환기되지 않는 폐포를 혈액이 그대로 지나가므로 고농도 산소에도 산소 분압이 오르지 않는다. 치료의 중심은 산소 농도를 올리는 것이 아니라 </a:t>
            </a:r>
            <a:r>
              <a:rPr sz="1600" b="1" i="0">
                <a:solidFill>
                  <a:srgbClr val="11202B"/>
                </a:solidFill>
                <a:latin typeface="Malgun Gothic"/>
                <a:ea typeface="Malgun Gothic"/>
                <a:cs typeface="Malgun Gothic"/>
              </a:rPr>
              <a:t>허탈한 폐포를 다시 열고 열린 상태로 유지하는 것</a:t>
            </a:r>
            <a:r>
              <a:rPr sz="1600" b="0" i="0">
                <a:solidFill>
                  <a:srgbClr val="11202B"/>
                </a:solidFill>
                <a:latin typeface="Malgun Gothic"/>
                <a:ea typeface="Malgun Gothic"/>
                <a:cs typeface="Malgun Gothic"/>
              </a:rPr>
              <a:t>(호기말 양압)과, 남아 있는 정상 폐가 과팽창으로 손상되지 않도록 </a:t>
            </a:r>
            <a:r>
              <a:rPr sz="1600" b="1" i="0">
                <a:solidFill>
                  <a:srgbClr val="11202B"/>
                </a:solidFill>
                <a:latin typeface="Malgun Gothic"/>
                <a:ea typeface="Malgun Gothic"/>
                <a:cs typeface="Malgun Gothic"/>
              </a:rPr>
              <a:t>일회호흡량을 작게 유지하는 것</a:t>
            </a:r>
            <a:r>
              <a:rPr sz="1600" b="0" i="0">
                <a:solidFill>
                  <a:srgbClr val="11202B"/>
                </a:solidFill>
                <a:latin typeface="Malgun Gothic"/>
                <a:ea typeface="Malgun Gothic"/>
                <a:cs typeface="Malgun Gothic"/>
              </a:rPr>
              <a:t>(예측 체중 기준 6 mL/kg)이다. 후자는 큰 무작위 시험에서 사망률을 낮춘 몇 안 되는 중환자 치료 중 하나다.</a:t>
            </a:r>
          </a:p>
        </p:txBody>
      </p:sp>
      <p:sp>
        <p:nvSpPr>
          <p:cNvPr id="8" name="Rectangle 7"/>
          <p:cNvSpPr/>
          <p:nvPr/>
        </p:nvSpPr>
        <p:spPr>
          <a:xfrm>
            <a:off x="640080" y="3439160"/>
            <a:ext cx="10881360" cy="1976120"/>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ARDS 치료가 20년 가까이 정체된 이유 가운데 하나로 </a:t>
            </a:r>
            <a:r>
              <a:rPr sz="1600" b="1" i="0">
                <a:solidFill>
                  <a:srgbClr val="11202B"/>
                </a:solidFill>
                <a:latin typeface="Malgun Gothic"/>
                <a:ea typeface="Malgun Gothic"/>
                <a:cs typeface="Malgun Gothic"/>
              </a:rPr>
              <a:t>질환의 이질성</a:t>
            </a:r>
            <a:r>
              <a:rPr sz="1600" b="0" i="0">
                <a:solidFill>
                  <a:srgbClr val="11202B"/>
                </a:solidFill>
                <a:latin typeface="Malgun Gothic"/>
                <a:ea typeface="Malgun Gothic"/>
                <a:cs typeface="Malgun Gothic"/>
              </a:rPr>
              <a:t>이 지목된다. 같은 진단 기준을 만족하는 환자들이 실제로는 서로 다른 생물학적 상태에 있다는 것이다. 염증 표지자와 임상 변수를 묶어 분석하면 환자들이 크게 두 무리로 나뉘고(과염증형과 저염증형), 같은 치료에 반대 방향으로 반응한 사례가 기존 시험의 재분석에서 반복 확인되었다. 이 때문에 진단명이 아니라 생물학적 하위형으로 환자를 나누어 시험을 설계해야 한다는 주장이 힘을 얻고 있다. 하위형을 병상에서 빠르게 판정하는 방법, 그리고 하위형별로 다른 치료를 미리 정해 두는 시험 설계가 현재의 과제다.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적응 — 운동, 고도, 태아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호흡계의 설계를 확인하는 가장 좋은 방법은 요구가 급변하는 세 상황에서 어떻게 대응하는지를 보는 것이다.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운동.</a:t>
            </a:r>
            <a:r>
              <a:rPr sz="1400" b="0" i="0">
                <a:solidFill>
                  <a:srgbClr val="11202B"/>
                </a:solidFill>
                <a:latin typeface="Malgun Gothic"/>
                <a:ea typeface="Malgun Gothic"/>
                <a:cs typeface="Malgun Gothic"/>
              </a:rPr>
              <a:t> 최대 운동에서 산소 소비량이 안정 시의 15~20배로 늘어난다. 환기량은 분당 6 L에서 100~150 L까지 올라간다. 눈여겨볼 점은 </a:t>
            </a:r>
            <a:r>
              <a:rPr sz="1400" b="1" i="0">
                <a:solidFill>
                  <a:srgbClr val="11202B"/>
                </a:solidFill>
                <a:latin typeface="Malgun Gothic"/>
                <a:ea typeface="Malgun Gothic"/>
                <a:cs typeface="Malgun Gothic"/>
              </a:rPr>
              <a:t>동맥혈 가스가 거의 변하지 않는다</a:t>
            </a:r>
            <a:r>
              <a:rPr sz="1400" b="0" i="0">
                <a:solidFill>
                  <a:srgbClr val="11202B"/>
                </a:solidFill>
                <a:latin typeface="Malgun Gothic"/>
                <a:ea typeface="Malgun Gothic"/>
                <a:cs typeface="Malgun Gothic"/>
              </a:rPr>
              <a:t>는 것이다. 중등도 운동에서 PaO₂와 PaCO₂가 정상 범위를 유지한다. 환기가 수요에 정확히 맞추어 늘어나기 때문인데, 역설적으로 그 신호가 무엇인지는 완전히 밝혀지지 않았다. CO₂만으로는 설명되지 않으며(CO₂가 오르지 않는데도 환기가 는다), 운동 피질에서 호흡 중추로 가는 중추 명령, 근육과 관절의 기계수용체, 근육 대사산물에 반응하는 신경이 함께 작용하는 것으로 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운동에서 한계를 정하는 것은 대개 호흡계가 아니다. 건강한 사람에서 호흡계는 큰 예비력을 남겨 두며, 최대 산소 섭취량을 제한하는 것은 심박출량과 근육의 산소 이용이다. 다만 고도로 훈련된 지구력 선수에서는 예외적으로 운동 유발 저산소혈증이 나타나기도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고도.</a:t>
            </a:r>
            <a:r>
              <a:rPr sz="1400" b="0" i="0">
                <a:solidFill>
                  <a:srgbClr val="11202B"/>
                </a:solidFill>
                <a:latin typeface="Malgun Gothic"/>
                <a:ea typeface="Malgun Gothic"/>
                <a:cs typeface="Malgun Gothic"/>
              </a:rPr>
              <a:t> 해발 5,500 m에서 대기압은 해수면의 절반이고 흡입 산소 분압도 절반이 된다. 적응은 시간 규모가 다른 단계로 진행한다.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수 분</a:t>
            </a:r>
            <a:r>
              <a:rPr sz="1400" b="0" i="0">
                <a:solidFill>
                  <a:srgbClr val="11202B"/>
                </a:solidFill>
                <a:latin typeface="Malgun Gothic"/>
                <a:ea typeface="Malgun Gothic"/>
                <a:cs typeface="Malgun Gothic"/>
              </a:rPr>
              <a:t>: 말초 화학수용체가 저산소를 감지해 환기가 늘어난다. 그런데 환기가 늘면 CO₂가 씻겨 나가 호흡성 알칼리증이 생기고, 이것이 중추 화학수용체를 통해 환기를 다시 억제한다. 그래서 초기 환기 증가는 제한적이다.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수 일</a:t>
            </a:r>
            <a:r>
              <a:rPr sz="1400" b="0" i="0">
                <a:solidFill>
                  <a:srgbClr val="11202B"/>
                </a:solidFill>
                <a:latin typeface="Malgun Gothic"/>
                <a:ea typeface="Malgun Gothic"/>
                <a:cs typeface="Malgun Gothic"/>
              </a:rPr>
              <a:t>: 신장이 HCO₃⁻를 배설해 pH를 되돌린다. 알칼리증이 교정되면서 환기 억제가 풀려 환기가 더 늘어난다. 고산병 예방에 쓰는 acetazolamide가 carbonic anhydrase를 억제해 HCO₃⁻ 배설을 앞당기는 것이 이 단계를 가속하는 것이다.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수 일에서 수 주</a:t>
            </a:r>
            <a:r>
              <a:rPr sz="1400" b="0" i="0">
                <a:solidFill>
                  <a:srgbClr val="11202B"/>
                </a:solidFill>
                <a:latin typeface="Malgun Gothic"/>
                <a:ea typeface="Malgun Gothic"/>
                <a:cs typeface="Malgun Gothic"/>
              </a:rPr>
              <a:t>: 2,3-BPG가 늘어 산소해리곡선이 우측으로 이동하고, erythropoietin이 늘어 적혈구가 증가한다. 모세혈관 밀도와 근육의 미토콘드리아도 늘어난다.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적응 — 운동, 고도, 태아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22</a:t>
            </a:r>
          </a:p>
        </p:txBody>
      </p:sp>
      <p:sp>
        <p:nvSpPr>
          <p:cNvPr id="7" name="Rectangle 6"/>
          <p:cNvSpPr/>
          <p:nvPr/>
        </p:nvSpPr>
        <p:spPr>
          <a:xfrm>
            <a:off x="640080" y="1325880"/>
            <a:ext cx="10881360" cy="197612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고도에서 나타나는 산–염기 변화의 순서를 묻는 문제가 흔하다. </a:t>
            </a:r>
            <a:r>
              <a:rPr sz="1600" b="1" i="0">
                <a:solidFill>
                  <a:srgbClr val="11202B"/>
                </a:solidFill>
                <a:latin typeface="Malgun Gothic"/>
                <a:ea typeface="Malgun Gothic"/>
                <a:cs typeface="Malgun Gothic"/>
              </a:rPr>
              <a:t>급성에는 호흡성 알칼리증(과환기), 며칠 뒤에는 신장의 HCO₃⁻ 배설에 의한 대사성 보상</a:t>
            </a:r>
            <a:r>
              <a:rPr sz="1600" b="0" i="0">
                <a:solidFill>
                  <a:srgbClr val="11202B"/>
                </a:solidFill>
                <a:latin typeface="Malgun Gothic"/>
                <a:ea typeface="Malgun Gothic"/>
                <a:cs typeface="Malgun Gothic"/>
              </a:rPr>
              <a:t>이다. 그리고 2,3-BPG 증가는 조직에 산소를 더 내려놓게 하지만, 극고도에서는 폐에서 산소를 싣는 것 자체가 어려워지므로 </a:t>
            </a:r>
            <a:r>
              <a:rPr sz="1600" b="1" i="0">
                <a:solidFill>
                  <a:srgbClr val="11202B"/>
                </a:solidFill>
                <a:latin typeface="Malgun Gothic"/>
                <a:ea typeface="Malgun Gothic"/>
                <a:cs typeface="Malgun Gothic"/>
              </a:rPr>
              <a:t>우측 이동이 오히려 불리해진다</a:t>
            </a:r>
            <a:r>
              <a:rPr sz="1600" b="0" i="0">
                <a:solidFill>
                  <a:srgbClr val="11202B"/>
                </a:solidFill>
                <a:latin typeface="Malgun Gothic"/>
                <a:ea typeface="Malgun Gothic"/>
                <a:cs typeface="Malgun Gothic"/>
              </a:rPr>
              <a:t>. 적응의 방향이 고도에 따라 달라진다는 점이 핵심이다. 또한 고도에서 저산소성 폐혈관 수축이 폐 전체에서 일어나 폐동맥압이 오르고, 이것이 고지 폐부종과 만성 고산병에서 우심실 부담으로 이어진다.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적응 — 운동, 고도, 태아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23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태아.</a:t>
            </a:r>
            <a:r>
              <a:rPr sz="1600" b="0" i="0">
                <a:solidFill>
                  <a:srgbClr val="11202B"/>
                </a:solidFill>
                <a:latin typeface="Malgun Gothic"/>
                <a:ea typeface="Malgun Gothic"/>
                <a:cs typeface="Malgun Gothic"/>
              </a:rPr>
              <a:t> 태아는 폐로 숨 쉬지 않고 태반에서 산소를 받는다. 태반 정맥혈의 산소 분압은 30 mmHg 정도로 성인의 조직 수준에 불과하다. 이 불리한 조건을 세 가지로 보완한다. 첫째, </a:t>
            </a:r>
            <a:r>
              <a:rPr sz="1600" b="1" i="0">
                <a:solidFill>
                  <a:srgbClr val="11202B"/>
                </a:solidFill>
                <a:latin typeface="Malgun Gothic"/>
                <a:ea typeface="Malgun Gothic"/>
                <a:cs typeface="Malgun Gothic"/>
              </a:rPr>
              <a:t>태아 헤모글로빈(HbF)</a:t>
            </a:r>
            <a:r>
              <a:rPr sz="1600" b="0" i="0">
                <a:solidFill>
                  <a:srgbClr val="11202B"/>
                </a:solidFill>
                <a:latin typeface="Malgun Gothic"/>
                <a:ea typeface="Malgun Gothic"/>
                <a:cs typeface="Malgun Gothic"/>
              </a:rPr>
              <a:t> 은 2,3-BPG와 잘 결합하지 않아 곡선이 좌측에 있고 같은 분압에서 산소를 더 많이 싣는다. 둘째, 태아의 헤모글로빈 농도가 높아 총 산소 함량이 크다. 셋째, 태반에서 태아 혈액이 CO₂를 내주며 알칼리화되어 곡선이 더 좌측으로 가고, 동시에 산모 혈액은 CO₂를 받아 산성화되어 곡선이 우측으로 간다. 두 이동이 같은 지점에서 반대 방향으로 일어나 산소 전달을 돕는다(이중 Bohr 효과).</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출생 시의 전환은 극적이다. 첫 호흡으로 폐가 펴지면서 폐혈관 저항이 급격히 떨어지고, 폐혈류가 늘어 좌심방압이 올라가며 foramen ovale이 닫힌다. 동맥관은 산소 분압 상승과 prostaglandin 감소로 수축한다. 이 전환이 실패하면 신생아 지속성 폐고혈압이 된다.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적응 — 운동, 고도, 태아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24</a:t>
            </a:r>
          </a:p>
        </p:txBody>
      </p:sp>
      <p:sp>
        <p:nvSpPr>
          <p:cNvPr id="7" name="Rectangle 6"/>
          <p:cNvSpPr/>
          <p:nvPr/>
        </p:nvSpPr>
        <p:spPr>
          <a:xfrm>
            <a:off x="640080" y="1325880"/>
            <a:ext cx="10881360" cy="2270759"/>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고도 적응은 사람의 자연선택을 현재 진행형으로 관찰할 수 있는 드문 사례다. 티베트 고원 주민은 안데스 주민과 달리 적혈구를 크게 늘리지 않으면서 고도에 적응해 있고, 이 차이가 저산소 반응의 중심 전사인자 경로에 있는 </a:t>
            </a:r>
            <a:r>
              <a:rPr sz="1600" b="1" i="0">
                <a:solidFill>
                  <a:srgbClr val="11202B"/>
                </a:solidFill>
                <a:latin typeface="Malgun Gothic"/>
                <a:ea typeface="Malgun Gothic"/>
                <a:cs typeface="Malgun Gothic"/>
              </a:rPr>
              <a:t>EPAS1(HIF-2α)</a:t>
            </a:r>
            <a:r>
              <a:rPr sz="1600" b="0" i="0">
                <a:solidFill>
                  <a:srgbClr val="11202B"/>
                </a:solidFill>
                <a:latin typeface="Malgun Gothic"/>
                <a:ea typeface="Malgun Gothic"/>
                <a:cs typeface="Malgun Gothic"/>
              </a:rPr>
              <a:t> 과 </a:t>
            </a:r>
            <a:r>
              <a:rPr sz="1600" b="1" i="0">
                <a:solidFill>
                  <a:srgbClr val="11202B"/>
                </a:solidFill>
                <a:latin typeface="Malgun Gothic"/>
                <a:ea typeface="Malgun Gothic"/>
                <a:cs typeface="Malgun Gothic"/>
              </a:rPr>
              <a:t>EGLN1(PHD2)</a:t>
            </a:r>
            <a:r>
              <a:rPr sz="1600" b="0" i="0">
                <a:solidFill>
                  <a:srgbClr val="11202B"/>
                </a:solidFill>
                <a:latin typeface="Malgun Gothic"/>
                <a:ea typeface="Malgun Gothic"/>
                <a:cs typeface="Malgun Gothic"/>
              </a:rPr>
              <a:t> 의 변이와 연관된다는 것이 유전체 연구에서 반복 확인되었다. EPAS1의 해당 하플로타입은 데니소바인에게서 유래한 것으로 보인다는 분석까지 나왔다. 임상적으로도 중요한데, 같은 HIF 경로를 표적으로 하는 약물(PHD 억제제)이 만성 신부전의 빈혈 치료제로 개발되어 일부 국가에서 승인되었기 때문이다. 고도 적응 연구가 약물 표적의 안전성을 가늠하는 자연 실험 자료가 되고 있다.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호흡계 질환을 읽는 기본 논리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25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호흡계 질환도 앞 절들의 틀로 되돌려 읽을 수 있다. 네 단계 가운데 어디가 막혔는지, 어느 변수가 어느 방향으로 틀어졌는지를 묻는다.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환기의 문제: 폐쇄성과 제한성</a:t>
            </a:r>
            <a:r>
              <a:rPr sz="1400" b="0" i="0">
                <a:solidFill>
                  <a:srgbClr val="11202B"/>
                </a:solidFill>
                <a:latin typeface="Malgun Gothic"/>
                <a:ea typeface="Malgun Gothic"/>
                <a:cs typeface="Malgun Gothic"/>
              </a:rPr>
              <a:t>. Spirometry에서 1초간 노력성 호기량(FEV₁)과 노력성 폐활량(FVC)의 비로 둘을 구분한다.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폐쇄성 질환(obstructive)</a:t>
            </a:r>
            <a:r>
              <a:rPr sz="1400" b="0" i="0">
                <a:solidFill>
                  <a:srgbClr val="11202B"/>
                </a:solidFill>
                <a:latin typeface="Malgun Gothic"/>
                <a:ea typeface="Malgun Gothic"/>
                <a:cs typeface="Malgun Gothic"/>
              </a:rPr>
              <a:t>: 기도가 좁아져 공기를 내보내기 어렵다. FEV₁이 FVC보다 더 많이 줄어 FEV₁/FVC 비가 0.7 미만으로 떨어진다. 천식(기도 수축, 가역적), COPD(만성 염증과 폐포 파괴, 비가역적)가 대표다. 공기가 갇혀 잔류량과 기능적 잔류용량이 늘어난다.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제한성 질환(restrictive)</a:t>
            </a:r>
            <a:r>
              <a:rPr sz="1400" b="0" i="0">
                <a:solidFill>
                  <a:srgbClr val="11202B"/>
                </a:solidFill>
                <a:latin typeface="Malgun Gothic"/>
                <a:ea typeface="Malgun Gothic"/>
                <a:cs typeface="Malgun Gothic"/>
              </a:rPr>
              <a:t>: 폐가 잘 늘어나지 않아 들이쉬기 어렵다. FEV₁과 FVC가 함께 줄어 비는 유지되거나 오히려 올라간다. 폐섬유화, 흉벽 기형, 호흡 근육 약화가 원인이다. 총폐용량이 줄어든다.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확산의 문제</a:t>
            </a:r>
            <a:r>
              <a:rPr sz="1400" b="0" i="0">
                <a:solidFill>
                  <a:srgbClr val="11202B"/>
                </a:solidFill>
                <a:latin typeface="Malgun Gothic"/>
                <a:ea typeface="Malgun Gothic"/>
                <a:cs typeface="Malgun Gothic"/>
              </a:rPr>
              <a:t>. 폐부종이나 폐섬유화에서 막이 두꺼워지면 확산이 제한된다. 안정 상태에서는 접촉 시간이 충분해 증상이 없다가, 운동으로 혈류가 빨라져 접촉 시간이 줄면 저산소증이 나타나는 양상을 보인다.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V/Q의 문제</a:t>
            </a:r>
            <a:r>
              <a:rPr sz="1400" b="0" i="0">
                <a:solidFill>
                  <a:srgbClr val="11202B"/>
                </a:solidFill>
                <a:latin typeface="Malgun Gothic"/>
                <a:ea typeface="Malgun Gothic"/>
                <a:cs typeface="Malgun Gothic"/>
              </a:rPr>
              <a:t>. 폐렴, 무기폐, 폐부종은 단락(V/Q 저하)을 만들고 산소 투여에 잘 반응하지 않는다. 폐혈전증은 사강(V/Q 상승)을 만들고, 환기는 되는데 교환되지 않으므로 호기말 이산화탄소가 떨어지는 양상을 보인다.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운반의 문제</a:t>
            </a:r>
            <a:r>
              <a:rPr sz="1400" b="0" i="0">
                <a:solidFill>
                  <a:srgbClr val="11202B"/>
                </a:solidFill>
                <a:latin typeface="Malgun Gothic"/>
                <a:ea typeface="Malgun Gothic"/>
                <a:cs typeface="Malgun Gothic"/>
              </a:rPr>
              <a:t>. 빈혈에서는 분압이 정상인데도 산소 운반량이 줄어든다. 따라서 산소 포화도와 산소 분압은 정상으로 나오는데 조직은 산소가 부족하다. 일산화탄소 중독도 같은 범주다. 이 경우 산소를 더 주어도 운반체가 없으므로 효과가 제한된다.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조절의 문제</a:t>
            </a:r>
            <a:r>
              <a:rPr sz="1400" b="0" i="0">
                <a:solidFill>
                  <a:srgbClr val="11202B"/>
                </a:solidFill>
                <a:latin typeface="Malgun Gothic"/>
                <a:ea typeface="Malgun Gothic"/>
                <a:cs typeface="Malgun Gothic"/>
              </a:rPr>
              <a:t>. 호흡 중추가 억제되면(마약성 진통제, 뇌 병변) 환기가 줄어 PCO₂가 올라가고 호흡성 산증이 된다. 반대로 불안이나 통증으로 과환기하면 PCO₂가 떨어져 호흡성 알칼리증이 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호흡계 질환을 읽는 기본 논리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26</a:t>
            </a:r>
          </a:p>
        </p:txBody>
      </p:sp>
      <p:sp>
        <p:nvSpPr>
          <p:cNvPr id="7" name="Rectangle 6"/>
          <p:cNvSpPr/>
          <p:nvPr/>
        </p:nvSpPr>
        <p:spPr>
          <a:xfrm>
            <a:off x="640080" y="1325880"/>
            <a:ext cx="10881360" cy="1386839"/>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호흡계를 공부하는 순서는 질환에서 시작하지 않는다. 네 단계 → 기도 구조와 사강 → 환기의 압력 역학 → 탄성과 surfactant → 용적과 환기량 계산 → 확산과 V/Q → 산소와 이산화탄소 운반 → 조절을 세우면, 질환은 그 틀의 어느 자리가 어떻게 틀어진 상태인지로 정리된다.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27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외호흡의 네 단계를 쓰고 각 단계가 대류와 확산 가운데 어느 수송 방식을 쓰는지 구분하시오.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1단계 환기는 대기와 폐포 사이의 대류, 2단계 폐에서의 가스 교환은 폐포와 모세혈관 사이의 확산, 3단계 운반은 혈액에 의한 대류, 4단계 조직에서의 가스 교환은 모세혈관과 세포 사이의 확산이다. 긴 거리는 대류가, 마지막 짧은 거리는 확산이 담당하는 구조이며 순환계와 같은 설계 원리다.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28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흉막내압이 항상 대기압보다 낮은 이유를 두 구조의 탄성으로 설명하고, 이 음압이 사라지면 어떤 일이 생기는지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폐는 탄성 반발력 때문에 쪼그라들려 하고 흉벽은 탄성 때문에 벌어지려 한다. 두 힘이 반대 방향으로 작용하므로 그 사이의 흉막 공간 압력이 낮아지며, 안정 호기말에 약 -5 cmH2O다. 흉벽이 뚫려 흉막 공간이 대기와 통하면 흉막내압이 0이 되고 경폐압이 사라져 폐가 쪼그라든다. 이것이 pneumothorax다.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29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Laplace 관계 P = 2T/r를 써서 surfactant가 없을 때 작은 폐포가 붕괴하는 이유를 설명하고, surfactant가 이를 막는 기전을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P = 2T/r에서 표면장력 T가 일정하면 반지름 r이 작은 폐포가 더 큰 압력으로 쪼그라들려 한다. 작은 폐포와 큰 폐포가 연결되어 있으면 작은 쪽의 공기가 큰 쪽으로 빠져나가 작은 폐포가 붕괴한다. Surfactant는 폐포가 작아질 때 단위 면적당 밀도가 높아져 표면장력을 더 많이 낮추고, 커질 때는 퍼져서 덜 낮춘다. T가 r에 따라 함께 변하므로 크기가 다른 폐포의 쪼그라드는 압력이 비슷해진다.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30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분당 환기량이 모두 6000 mL인 세 호흡 양식(TV 500 x 12회, TV 250 x 24회, TV 1000 x 6회)의 폐포 환기량을 사강 150 mL로 계산하고, 그 결과가 임상에서 무엇을 뜻하는지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폐포 환기량 = (TV - 사강) x 호흡수다. (500-150)x12 = 4200 mL, (250-150)x24 = 2400 mL, (1000-150)x6 = 5100 mL다. 분당 환기량이 같아도 폐포 환기량은 두 배 이상 차이가 난다. 사강이 고정값이므로 일회호흡량이 작을수록 사강 비율이 커진다. 통증이나 복부 팽만으로 얕고 빠르게 숨 쉬는 환자는 겉보기 환기량이 정상이어도 이산화탄소가 쌓일 수 있다.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31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이산화탄소의 폐포–혈액 분압차는 6 mmHg에 불과한데도 산소와 비슷한 양이 교환된다. 그 이유를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확산량은 분압차와 그 기체의 용해도의 곱에 비례한다. 산소의 분압차는 60 mmHg로 크지만, 이산화탄소는 혈장에 약 20배 잘 녹으므로 작은 분압차로도 비슷한 양이 교환된다. 즉 분압차만으로 확산량을 비교할 수 없고 용해도를 함께 보아야 한다.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32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단락(shunt)에 의한 저산소증이 산소 투여에 잘 반응하지 않는 이유를 설명하고, 사강(dead space) 상황과 V/Q 값으로 구분하시오.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단락은 혈류는 있는데 환기가 안 되는 상태로 V/Q가 0에 가깝다. 혈액이 환기되지 않는 구역을 지나므로 다른 폐포의 산소 분압을 올려도 그 혈액은 산소와 만나지 못한다. 사강 상황은 환기는 되는데 혈류가 없는 상태로 V/Q가 무한대에 가까우며, 폐혈전증이 대표다. 산소를 주었는데 포화도가 오르지 않으면 단락을 의심한다.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33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산소해리곡선이 S자 모양인 이유를 분자 수준에서 설명하고, 평탄 구간과 급한 구간이 각각 어떤 생리적 이점을 주는지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헤모글로빈의 네 subunit에서 산소 하나가 결합하면 구조가 T 상태에서 R 상태로 바뀌어 다음 산소의 결합이 쉬워지는 협동 결합 때문이다. 60에서 100 mmHg의 평탄 구간은 폐포 산소 분압이 떨어져도 포화도가 거의 유지되게 하여 안전 여유를 주고, 20에서 40 mmHg의 급한 구간은 조직 분압이 조금만 떨어져도 산소를 많이 내려놓게 하여 활발한 조직에 더 많은 산소를 공급한다.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34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산소해리곡선을 우측으로 이동시키는 네 요인을 쓰고, 이 요인들의 공통점이 무엇인지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pH 저하(Bohr 효과), 이산화탄소 분압 증가, 체온 상승, 2,3-BPG 증가다. 네 요인 모두 대사가 활발한 조직의 특징이다. 운동하는 근육은 젖산으로 pH가 낮고 이산화탄소를 많이 만들고 열을 내므로, 그 조직에서 곡선이 우측으로 이동해 산소가 더 많이 풀린다. 산소가 필요한 곳에서 자동으로 공급이 늘어나는 구조다.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35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Bohr 효과와 Haldane 효과를 각각 정의하고, 두 효과가 조직과 폐에서 어떻게 짝지어 작동하는지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Bohr 효과는 수소이온과 이산화탄소가 늘면 헤모글로빈의 산소 친화도가 떨어져 산소를 내려놓는 현상이다. Haldane 효과는 헤모글로빈이 산소를 내려놓으면 이산화탄소와 수소이온을 더 잘 받아들이는 현상이다. 조직에서는 이산화탄소가 많아 산소를 내려놓고(Bohr), 산소를 내려놓았으므로 이산화탄소를 잘 싣는다(Haldane). 폐에서는 반대로 작동해 두 기체의 운반이 서로를 돕는다.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36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정상 상태에서 환기를 결정하는 주된 자극이 산소 부족이 아니라 이산화탄소 증가인 이유를 두 가지 근거로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중추 화학수용체는 뇌척수액의 수소이온 농도를 감지하고 이 농도는 혈액의 이산화탄소가 혈액뇌장벽을 통과해 만들므로, 실질적으로 PCO2 변화에 반응한다. 말초 화학수용체의 산소 반응은 분압이 약 60 mmHg 아래로 떨어진 뒤에야 뚜렷해진다. 둘째, 산소해리곡선이 60 mmHg 위에서 평탄해 산소에는 여유가 있지만, 이산화탄소는 pH를 직접 바꾸므로 정밀하게 유지해야 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37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폐쇄성 장애와 제한성 장애를 FEV₁/FVC와 TLC로 구분하시오. 그리고 spirometry만으로는 제한성을 확정할 수 없는 이유를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폐쇄성은 기도가 좁아 공기가 빠르게 나가지 못하므로 FEV₁이 FVC보다 크게 줄어 FEV₁/FVC가 0.7 미만이 되고, 내쉬지 못한 공기가 남아 RV와 TLC가 늘어난다. 제한성은 담을 수 있는 양 자체가 적어 FEV₁과 FVC가 함께 줄므로 비는 정상이거나 높아지고 TLC가 줄어든다. 확정에 TLC가 필요한데 spirometry는 잔류량을 재지 못하므로 TLC를 알 수 없다. FVC가 줄어 있어도 그것이 폐가 작아서인지 공기가 갇혀서인지 구분되지 않으므로, helium 희석법이나 body plethysmography로 TLC를 직접 재야 한다.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38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폐기종과 천식은 둘 다 폐쇄성인데 DLCO가 다르다. 그 이유를 설명하고, 제한성 장애에서도 DLCO가 갈리는 경우를 드시오.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DLCO는 폐포–모세혈관 막을 통한 확산 능력을 재므로 막의 두께, 폐포 표면적, 모세혈관 혈액량에 좌우된다. 폐기종은 폐포벽 자체가 파괴되어 표면적과 모세혈관이 함께 줄므로 DLCO가 감소한다. 천식과 만성 기관지염은 기도의 문제이고 폐포는 보존되므로 DLCO가 정상이거나 오히려 증가한다. 제한성에서도 폐 실질의 병인 폐섬유화는 막이 두꺼워져 DLCO가 감소하지만, 신경근 질환이나 흉벽 기형, 비만처럼 폐 바깥이 원인인 경우에는 폐 자체가 정상이므로 DLCO가 정상이다.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39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저산소혈증의 다섯 기전을 A–a 차이와 산소 투여 반응으로 구분하시오. 단락에서 산소가 듣지 않는 이유도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A–a 차이가 정상인 것은 폐포 저환기와 흡입 산소 분압 저하 두 가지이며, 둘은 PaCO₂로 갈린다. 저환기는 CO₂가 올라가고 고도는 과환기로 내려간다. A–a 차이가 벌어진 것은 환기–관류 불균형, 단락, 확산 장애 세 가지이고 이 가운데 산소 투여에 반응하지 않는 것이 단락이다. 단락에서는 혈액이 환기되는 폐포를 아예 지나지 않으므로 폐포의 산소 농도를 아무리 올려도 그 혈액에 닿지 않는다. 나머지 네 기전은 폐포 산소 분압을 올리면 혈액이 그 폐포와 접촉하므로 교정된다.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40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제1형과 제2형 호흡부전을 정의하고 치료의 방향이 다른 이유를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제1형은 PaO₂가 낮고 PaCO₂가 정상이거나 낮은 상태로 산소화의 실패이며 폐렴, 폐부종, ARDS, 폐색전이 해당한다. 제2형은 PaO₂가 낮으면서 PaCO₂가 높은 상태로 환기 펌프의 실패이며 COPD 악화, 약물에 의한 호흡 억제, 신경근 질환이 해당한다. 제1형은 가스 교환 면적의 문제이므로 산소 투여와 허탈한 폐포를 여는 조치가 중심이다. 제2형은 폐포 환기량 자체가 부족한 것이므로 산소만 올려도 CO₂는 내려가지 않고 오히려 저산소 자극이 사라져 악화될 수 있다. 환기를 돕는 것이 치료의 중심이 된다.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41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고도 적응의 단계를 시간 순서로 쓰고, 초기 환기 증가가 제한되는 이유와 acetazolamide가 작용하는 지점을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수 분 안에 말초 화학수용체가 저산소를 감지해 환기가 늘어난다. 그러나 환기가 늘면 CO₂가 씻겨 호흡성 알칼리증이 생기고 중추 화학수용체가 환기를 다시 억제하므로 초기 증가가 제한된다. 수 일에 걸쳐 신장이 HCO₃⁻를 배설해 pH를 되돌리면 억제가 풀려 환기가 더 늘어난다. 이어 수 일에서 수 주에 2,3-BPG가 늘고 erythropoietin에 의해 적혈구가 증가하며 모세혈관 밀도와 미토콘드리아도 늘어난다. Acetazolamide는 carbonic anhydrase를 억제해 신장의 HCO₃⁻ 배설을 앞당기므로 두 번째 단계를 가속하며, 그래서 고산병 예방에 쓰인다.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42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태아가 낮은 산소 분압에서도 충분한 산소를 받는 세 가지 기전을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태아 헤모글로빈은 2,3-BPG와 잘 결합하지 않아 산소해리곡선이 좌측에 있고 같은 분압에서 산소를 더 많이 싣는다. 둘째, 태아의 헤모글로빈 농도가 높아 혈액의 총 산소 함량이 크다. 셋째, 태반에서 태아 혈액은 CO₂를 내주며 알칼리화되어 곡선이 더 좌측으로 가고 산모 혈액은 CO₂를 받아 산성화되어 곡선이 우측으로 가므로, 같은 지점에서 두 곡선이 반대 방향으로 이동해 산소 전달이 촉진된다. 이를 이중 Bohr 효과라 한다.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43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West JB, Luks AM. West's Respiratory Physiology: The Essentials. 11th ed. Wolters Kluwer; 2021.</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Hall JE, Hall ME. Guyton and Hall Textbook of Medical Physiology. 14th ed. Elsevier; 2021. Unit VII, Respiration.</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Boron WF, Boulpaep EL. Medical Physiology. 3rd ed. Elsevier; 2017. Section V, The Respiratory System.</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Levitzky MG. Pulmonary Physiology. 9th ed. McGraw Hill; 2018.</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Costanzo LS. Physiology. 7th ed. Elsevier; 2022. Chapter 5, Respiratory Physiology.</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Barrett KE, Barman SM, Brooks HL, Yuan JXJ. Ganong's Review of Medical Physiology. 26th ed. McGraw Hill; 2019. Section VI, Respiratory Physiology.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