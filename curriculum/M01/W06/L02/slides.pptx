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단백질 암호화 유전자의 전사 단위 구조. Promoter, 5′ UTR, exon과 intron, coding sequence, 3′ UTR, polyadenylation signal의 배치와 전사·splicing·번역의 대응을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Globin 유전자 가족. 조상 유전자에서 중복과 분화로 α군과 β군이 갈라지는 과정, 11번 염색체의 β-globin 유전자군 배열과 발생 시기별 발현 전환을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transposon과 두 종류 retrotransposon의 전이 기전. 잘라 붙이기 방식과 RNA 중간체를 거쳐 copy 수가 늘어나는 방식, L1과 Alu의 구조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DNA에서 중기 염색체까지의 응축 단계. Nucleosome의 147 bp와 11 nm 지름, H1에 의한 30 nm 섬유, loop 도메인, 중기 염색체의 단계별 압축 배수를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미토콘드리아 유전체의 지도. 16,569 bp 환상 DNA에 13개 단백질 유전자, 2개 rRNA, 22개 tRNA가 간격 없이 배열된 모습과 heteroplasmy 개념을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유전자와 유전체의 구성</a:t>
            </a:r>
          </a:p>
          <a:p>
            <a:r>
              <a:rPr sz="1500" b="0" i="0">
                <a:solidFill>
                  <a:srgbClr val="B9D2E8"/>
                </a:solidFill>
                <a:latin typeface="Malgun Gothic"/>
                <a:ea typeface="Malgun Gothic"/>
                <a:cs typeface="Malgun Gothic"/>
              </a:rPr>
              <a:t>Genes and Genomes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M01-W06-L02</a:t>
            </a:r>
          </a:p>
          <a:p>
            <a:r>
              <a:rPr sz="1100" b="0" i="0">
                <a:solidFill>
                  <a:srgbClr val="9FBEDA"/>
                </a:solidFill>
                <a:latin typeface="Malgun Gothic"/>
                <a:ea typeface="Malgun Gothic"/>
                <a:cs typeface="Malgun Gothic"/>
              </a:rPr>
              <a:t>6주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유전자의 정의가 "하나의 유전자, 하나의 효소"에서 전사 단위로 확장된 과정을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Intron의 발견 실험을 설명하고 intron이 있는 유전자의 구조를 전사 단위 지도로 그린다.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유전자 중복이 유전자 가족과 pseudogene을 만드는 과정을 globin 유전자군의 배치로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반복 서열을 단순 반복과 산재성 반복으로 나누고 각각의 생성 기전과 유전체 비율을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DNA transposon과 retrotransposon의 전이 기전을 구분하고 사람 유전체에서 LINE과 SINE의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Nucleosome에서 중기 염색체까지의 응축 단계를 수치와 함께 설명하고 euchromatin과 heterochromatin을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염색체가 작동하기 위해 필요한 세 가지 서열 요소를 들고 각각의 기능을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미토콘드리아 유전체의 크기와 암호화 내용을 설명하고 핵 유전체와의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복제·전사·번역 — 전사 단위, mRNA 가공, 유전암호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유전체·단백체와 시스템생물학 — 사람 유전체의 구성 비율, 서열 분석 기술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DNA의 이중나선 구조와 염기쌍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유전자의 정의와 전사 단위로서의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Intron과 exon</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 중복과 유전자 가족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단순 반복 서열과 위성 DNA</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Transposable element: DNA transposon과 retrotransposon</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염색체의 구조와 DNA의 응축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염색체의 기능 요소와 핵 안의 배치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미토콘드리아 유전체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유전자(gene)의 정의는 측정 수단이 바뀔 때마다 확장되었다. Mendel에게 유전자는 형질을 결정하는 추상적 인자였다. Beadle과 Tatum이 *Neurospora*의 영양 요구성 돌연변이체를 분석해 한 돌연변이가 한 대사 단계를 막는다는 결과를 얻은 뒤, 유전자는 </a:t>
            </a:r>
            <a:r>
              <a:rPr sz="1400" b="1" i="0">
                <a:solidFill>
                  <a:srgbClr val="11202B"/>
                </a:solidFill>
                <a:latin typeface="Malgun Gothic"/>
                <a:ea typeface="Malgun Gothic"/>
                <a:cs typeface="Malgun Gothic"/>
              </a:rPr>
              <a:t>"하나의 유전자, 하나의 효소"</a:t>
            </a:r>
            <a:r>
              <a:rPr sz="1400" b="0" i="0">
                <a:solidFill>
                  <a:srgbClr val="11202B"/>
                </a:solidFill>
                <a:latin typeface="Malgun Gothic"/>
                <a:ea typeface="Malgun Gothic"/>
                <a:cs typeface="Malgun Gothic"/>
              </a:rPr>
              <a:t>로 정의되었다. 이후 hemoglobin처럼 효소가 아닌 단백질, 그리고 여러 subunit로 이루어진 단백질이 알려지면서 정의는 "하나의 유전자, 하나의 polypeptide"로 바뀌었다.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현재 쓰는 정의는 </a:t>
            </a:r>
            <a:r>
              <a:rPr sz="1400" b="1" i="0">
                <a:solidFill>
                  <a:srgbClr val="11202B"/>
                </a:solidFill>
                <a:latin typeface="Malgun Gothic"/>
                <a:ea typeface="Malgun Gothic"/>
                <a:cs typeface="Malgun Gothic"/>
              </a:rPr>
              <a:t>기능을 가진 RNA 산물을 만드는 전사 단위</a:t>
            </a:r>
            <a:r>
              <a:rPr sz="1400" b="0" i="0">
                <a:solidFill>
                  <a:srgbClr val="11202B"/>
                </a:solidFill>
                <a:latin typeface="Malgun Gothic"/>
                <a:ea typeface="Malgun Gothic"/>
                <a:cs typeface="Malgun Gothic"/>
              </a:rPr>
              <a:t>다. 이 정의로 바뀐 이유는 세 가지다. 첫째, rRNA와 tRNA처럼 단백질로 번역되지 않는 산물을 만드는 유전자가 있다. 둘째, 대체 splicing으로 한 전사 단위가 여러 polypeptide를 만든다. 셋째, 전사되지 않는 조절 서열을 유전자의 일부로 볼지가 논점이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단백질 암호화 유전자의 전사 단위는 다음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Core promoter</a:t>
            </a:r>
            <a:r>
              <a:rPr sz="1400" b="0" i="0">
                <a:solidFill>
                  <a:srgbClr val="11202B"/>
                </a:solidFill>
                <a:latin typeface="Malgun Gothic"/>
                <a:ea typeface="Malgun Gothic"/>
                <a:cs typeface="Malgun Gothic"/>
              </a:rPr>
              <a:t> 전사 개시 복합체가 자리 잡는 위치. 전사 시작점을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untranslated region(5′ UTR)</a:t>
            </a:r>
            <a:r>
              <a:rPr sz="1400" b="0" i="0">
                <a:solidFill>
                  <a:srgbClr val="11202B"/>
                </a:solidFill>
                <a:latin typeface="Malgun Gothic"/>
                <a:ea typeface="Malgun Gothic"/>
                <a:cs typeface="Malgun Gothic"/>
              </a:rPr>
              <a:t> 전사되지만 번역되지 않는 선두 구간. 번역 개시 효율에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Exon과 intron</a:t>
            </a:r>
            <a:r>
              <a:rPr sz="1400" b="0" i="0">
                <a:solidFill>
                  <a:srgbClr val="11202B"/>
                </a:solidFill>
                <a:latin typeface="Malgun Gothic"/>
                <a:ea typeface="Malgun Gothic"/>
                <a:cs typeface="Malgun Gothic"/>
              </a:rPr>
              <a:t> exon은 성숙 mRNA에 남고 intron은 splicing으로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Coding sequence</a:t>
            </a:r>
            <a:r>
              <a:rPr sz="1400" b="0" i="0">
                <a:solidFill>
                  <a:srgbClr val="11202B"/>
                </a:solidFill>
                <a:latin typeface="Malgun Gothic"/>
                <a:ea typeface="Malgun Gothic"/>
                <a:cs typeface="Malgun Gothic"/>
              </a:rPr>
              <a:t> 개시 codon에서 종결 codon까지. 번역된다.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3′ UTR</a:t>
            </a:r>
            <a:r>
              <a:rPr sz="2000" b="0" i="0">
                <a:solidFill>
                  <a:srgbClr val="11202B"/>
                </a:solidFill>
                <a:latin typeface="Malgun Gothic"/>
                <a:ea typeface="Malgun Gothic"/>
                <a:cs typeface="Malgun Gothic"/>
              </a:rPr>
              <a:t> 종결 codon 뒤의 구간. mRNA 안정성과 국소화, microRNA 결합 부위를 담는다.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Polyadenylation signal</a:t>
            </a:r>
            <a:r>
              <a:rPr sz="2000" b="0" i="0">
                <a:solidFill>
                  <a:srgbClr val="11202B"/>
                </a:solidFill>
                <a:latin typeface="Malgun Gothic"/>
                <a:ea typeface="Malgun Gothic"/>
                <a:cs typeface="Malgun Gothic"/>
              </a:rPr>
              <a:t> poly(A) 부가 위치를 지정한다.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7</a:t>
            </a:r>
          </a:p>
        </p:txBody>
      </p:sp>
      <p:pic>
        <p:nvPicPr>
          <p:cNvPr id="7" name="Picture 6" descr="fig-gene-structure.slide.png"/>
          <p:cNvPicPr>
            <a:picLocks noChangeAspect="1"/>
          </p:cNvPicPr>
          <p:nvPr/>
        </p:nvPicPr>
        <p:blipFill>
          <a:blip r:embed="rId2"/>
          <a:stretch>
            <a:fillRect/>
          </a:stretch>
        </p:blipFill>
        <p:spPr>
          <a:xfrm>
            <a:off x="792327" y="1325880"/>
            <a:ext cx="10607040" cy="3857105"/>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단백질 암호화 유전자의 전사 단위 구조. Promoter, 5′ UTR, exon과 intron, coding sequence, 3′ UTR, polyadenylation signal의 배치와 전사·splicing·번역의 대응을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유전자의 평균 길이는 약 27 kb이지만 암호화 서열은 평균 1.3 kb다. 즉 전사 단위의 대부분이 intron이다. 유전자 사이의 거리도 균일하지 않다. 유전자 밀도가 높은 염색체 구간(예: 19번 염색체)과 유전자가 거의 없는 구간(gene desert)이 교대로 나타난다. 조절 서열은 전사 시작점 근처에만 있지 않고 수십에서 수백 kb 떨어진 곳에도 놓인다.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유전자는 단백질 하나와 일대일로 대응하는 단위가 아니라, 기능성 RNA를 만드는 전사 단위다. 전사 단위의 경계와 그 안의 exon·intron 배치를 알아야 유전자의 산물을 예측할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Prokaryote의 유전자는 암호화 서열이 끊기지 않고 이어진다. Eukaryote에서도 그러할 것이라고 가정되었으나 1977년에 두 집단이 adenovirus의 mRNA와 유전체 DNA를 hybridization시켜 전자 현미경으로 관찰한 결과, mRNA에 대응하지 않고 </a:t>
            </a:r>
            <a:r>
              <a:rPr sz="1600" b="1" i="0">
                <a:solidFill>
                  <a:srgbClr val="11202B"/>
                </a:solidFill>
                <a:latin typeface="Malgun Gothic"/>
                <a:ea typeface="Malgun Gothic"/>
                <a:cs typeface="Malgun Gothic"/>
              </a:rPr>
              <a:t>고리로 삐져나오는 DNA 구간</a:t>
            </a:r>
            <a:r>
              <a:rPr sz="1600" b="0" i="0">
                <a:solidFill>
                  <a:srgbClr val="11202B"/>
                </a:solidFill>
                <a:latin typeface="Malgun Gothic"/>
                <a:ea typeface="Malgun Gothic"/>
                <a:cs typeface="Malgun Gothic"/>
              </a:rPr>
              <a:t>이 나타났다. mRNA가 유전체의 떨어진 여러 구간에 나뉘어 대응했다는 뜻이었다. 성숙 mRNA에 남는 구간을 </a:t>
            </a:r>
            <a:r>
              <a:rPr sz="1600" b="1" i="0">
                <a:solidFill>
                  <a:srgbClr val="11202B"/>
                </a:solidFill>
                <a:latin typeface="Malgun Gothic"/>
                <a:ea typeface="Malgun Gothic"/>
                <a:cs typeface="Malgun Gothic"/>
              </a:rPr>
              <a:t>exon</a:t>
            </a:r>
            <a:r>
              <a:rPr sz="1600" b="0" i="0">
                <a:solidFill>
                  <a:srgbClr val="11202B"/>
                </a:solidFill>
                <a:latin typeface="Malgun Gothic"/>
                <a:ea typeface="Malgun Gothic"/>
                <a:cs typeface="Malgun Gothic"/>
              </a:rPr>
              <a:t>, 제거되는 구간을 </a:t>
            </a:r>
            <a:r>
              <a:rPr sz="1600" b="1" i="0">
                <a:solidFill>
                  <a:srgbClr val="11202B"/>
                </a:solidFill>
                <a:latin typeface="Malgun Gothic"/>
                <a:ea typeface="Malgun Gothic"/>
                <a:cs typeface="Malgun Gothic"/>
              </a:rPr>
              <a:t>intron</a:t>
            </a:r>
            <a:r>
              <a:rPr sz="1600" b="0" i="0">
                <a:solidFill>
                  <a:srgbClr val="11202B"/>
                </a:solidFill>
                <a:latin typeface="Malgun Gothic"/>
                <a:ea typeface="Malgun Gothic"/>
                <a:cs typeface="Malgun Gothic"/>
              </a:rPr>
              <a:t>이라 이름 붙였다.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R-loop 관찰에 이어 </a:t>
            </a:r>
            <a:r>
              <a:rPr sz="1600" b="1" i="0">
                <a:solidFill>
                  <a:srgbClr val="11202B"/>
                </a:solidFill>
                <a:latin typeface="Malgun Gothic"/>
                <a:ea typeface="Malgun Gothic"/>
                <a:cs typeface="Malgun Gothic"/>
              </a:rPr>
              <a:t>S1 nuclease mapping</a:t>
            </a:r>
            <a:r>
              <a:rPr sz="1600" b="0" i="0">
                <a:solidFill>
                  <a:srgbClr val="11202B"/>
                </a:solidFill>
                <a:latin typeface="Malgun Gothic"/>
                <a:ea typeface="Malgun Gothic"/>
                <a:cs typeface="Malgun Gothic"/>
              </a:rPr>
              <a:t>과 서열 비교가 같은 결론을 주었다. 단일가닥 DNA를 분해하는 S1 nuclease로 mRNA–DNA 잡종을 처리하면 짝을 이루지 못한 intron 구간이 잘려 나가고, 남은 조각의 길이로 exon의 위치를 지도화할 수 있었다. 이후 사람 β-globin 유전자에서도 두 개의 intron이 확인되어 intron이 바이러스의 특이한 성질이 아니라 eukaryotic 유전자의 일반 성질임이 확정되었다.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Intron의 분포에는 규칙이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Intron 수와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효모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대부분 intron 없음, 있으면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 유전자의 5% 미만이 intron을 갖는다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사람 평균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8~9개, intron 길이 수백 bp~수십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사람 극단적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79개 exon, 약 2.2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 없는 사람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histone 유전자, 일부 interferon 유전자</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Intron이 왜 유지되는가에는 두 종류의 설명이 있다. 하나는 기능이다. Intron이 있으면 </a:t>
            </a:r>
            <a:r>
              <a:rPr sz="1800" b="1" i="0">
                <a:solidFill>
                  <a:srgbClr val="11202B"/>
                </a:solidFill>
                <a:latin typeface="Malgun Gothic"/>
                <a:ea typeface="Malgun Gothic"/>
                <a:cs typeface="Malgun Gothic"/>
              </a:rPr>
              <a:t>대체 splicing</a:t>
            </a:r>
            <a:r>
              <a:rPr sz="1800" b="0" i="0">
                <a:solidFill>
                  <a:srgbClr val="11202B"/>
                </a:solidFill>
                <a:latin typeface="Malgun Gothic"/>
                <a:ea typeface="Malgun Gothic"/>
                <a:cs typeface="Malgun Gothic"/>
              </a:rPr>
              <a:t>으로 한 전사 단위에서 여러 단백질을 만들 수 있고, 유전자 안에 조절 서열과 non-coding RNA를 담을 수 있다. Intron은 exon의 재조합 단위를 분리해 서로 다른 유전자의 도메인이 섞이는 </a:t>
            </a:r>
            <a:r>
              <a:rPr sz="1800" b="1" i="0">
                <a:solidFill>
                  <a:srgbClr val="11202B"/>
                </a:solidFill>
                <a:latin typeface="Malgun Gothic"/>
                <a:ea typeface="Malgun Gothic"/>
                <a:cs typeface="Malgun Gothic"/>
              </a:rPr>
              <a:t>exon shuffling</a:t>
            </a:r>
            <a:r>
              <a:rPr sz="1800" b="0" i="0">
                <a:solidFill>
                  <a:srgbClr val="11202B"/>
                </a:solidFill>
                <a:latin typeface="Malgun Gothic"/>
                <a:ea typeface="Malgun Gothic"/>
                <a:cs typeface="Malgun Gothic"/>
              </a:rPr>
              <a:t>을 가능하게 한다. 서열 분석 결과, 단백질의 기능 도메인 경계가 exon 경계와 자주 일치한다는 사실이 이 모형을 지지한다.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다른 설명은 비용이다. Intron을 전사하고 제거하는 데는 에너지와 시간이 들며, splicing 오류는 frameshift를 만들어 유해하다. 유전체가 작고 세대가 짧은 생물에서 intron이 줄어드는 경향은 이 비용이 선택에 걸린 결과로 해석된다.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 유전자는 대개 기존 유전자의 </a:t>
            </a:r>
            <a:r>
              <a:rPr sz="1400" b="1" i="0">
                <a:solidFill>
                  <a:srgbClr val="11202B"/>
                </a:solidFill>
                <a:latin typeface="Malgun Gothic"/>
                <a:ea typeface="Malgun Gothic"/>
                <a:cs typeface="Malgun Gothic"/>
              </a:rPr>
              <a:t>중복(duplication)</a:t>
            </a:r>
            <a:r>
              <a:rPr sz="1400" b="0" i="0">
                <a:solidFill>
                  <a:srgbClr val="11202B"/>
                </a:solidFill>
                <a:latin typeface="Malgun Gothic"/>
                <a:ea typeface="Malgun Gothic"/>
                <a:cs typeface="Malgun Gothic"/>
              </a:rPr>
              <a:t>에서 시작한다. 중복은 반복 서열 사이의 비동등 교차(unequal crossing-over)나 복제 오류로 생긴다. 중복 직후에는 같은 기능을 하는 복사본이 둘이므로 하나에 변이가 쌓여도 표현형에 해가 적다. 이 상태에서 세 가지 경로가 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분화</a:t>
            </a:r>
            <a:r>
              <a:rPr sz="1400" b="0" i="0">
                <a:solidFill>
                  <a:srgbClr val="11202B"/>
                </a:solidFill>
                <a:latin typeface="Malgun Gothic"/>
                <a:ea typeface="Malgun Gothic"/>
                <a:cs typeface="Malgun Gothic"/>
              </a:rPr>
              <a:t> 한 복사본이 새 기능이나 새 발현 양상을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분담</a:t>
            </a:r>
            <a:r>
              <a:rPr sz="1400" b="0" i="0">
                <a:solidFill>
                  <a:srgbClr val="11202B"/>
                </a:solidFill>
                <a:latin typeface="Malgun Gothic"/>
                <a:ea typeface="Malgun Gothic"/>
                <a:cs typeface="Malgun Gothic"/>
              </a:rPr>
              <a:t> 원래 유전자가 가졌던 여러 기능이 두 복사본에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 변이가 쌓여 산물을 만들지 못하는 </a:t>
            </a:r>
            <a:r>
              <a:rPr sz="1400" b="1" i="0">
                <a:solidFill>
                  <a:srgbClr val="11202B"/>
                </a:solidFill>
                <a:latin typeface="Malgun Gothic"/>
                <a:ea typeface="Malgun Gothic"/>
                <a:cs typeface="Malgun Gothic"/>
              </a:rPr>
              <a:t>pseudogene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조상 유전자에서 중복으로 갈라져 나온 유전자 집합을 </a:t>
            </a:r>
            <a:r>
              <a:rPr sz="1400" b="1" i="0">
                <a:solidFill>
                  <a:srgbClr val="11202B"/>
                </a:solidFill>
                <a:latin typeface="Malgun Gothic"/>
                <a:ea typeface="Malgun Gothic"/>
                <a:cs typeface="Malgun Gothic"/>
              </a:rPr>
              <a:t>유전자 가족(gene family)</a:t>
            </a:r>
            <a:r>
              <a:rPr sz="1400" b="0" i="0">
                <a:solidFill>
                  <a:srgbClr val="11202B"/>
                </a:solidFill>
                <a:latin typeface="Malgun Gothic"/>
                <a:ea typeface="Malgun Gothic"/>
                <a:cs typeface="Malgun Gothic"/>
              </a:rPr>
              <a:t>이라 한다. 같은 종 안에서 중복으로 생긴 관계를 paralog, 다른 종에서 종 분화로 갈라진 같은 유전자를 ortholog라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Globin 유전자군</a:t>
            </a:r>
            <a:r>
              <a:rPr sz="1400" b="0" i="0">
                <a:solidFill>
                  <a:srgbClr val="11202B"/>
                </a:solidFill>
                <a:latin typeface="Malgun Gothic"/>
                <a:ea typeface="Malgun Gothic"/>
                <a:cs typeface="Malgun Gothic"/>
              </a:rPr>
              <a:t>이 표준 예다. 사람의 α-globin 유전자군은 16번 염색체에, β-globin 유전자군은 11번 염색체에 모여 있다. β-globin 군에는 HBE1, HBG2, HBG1, HBD, *HBB*가 발생 시기 순서대로 배열되어 있고, 사이에 pseudogene이 끼어 있다. 배열 순서와 발현 시기가 대응한다는 점이 이 군의 특징이다. 배아 초기에는 ε-globin이, 태아기에는 γ-globin이, 출생 후에는 β-globin이 주로 발현된다.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14</a:t>
            </a:r>
          </a:p>
        </p:txBody>
      </p:sp>
      <p:pic>
        <p:nvPicPr>
          <p:cNvPr id="7" name="Picture 6" descr="fig-gene-family.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Globin 유전자 가족. 조상 유전자에서 중복과 분화로 α군과 β군이 갈라지는 과정, 11번 염색체의 β-globin 유전자군 배열과 발생 시기별 발현 전환을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유전자 가족의 구성원 수는 기능에 따라 크게 다르다. Histone, rRNA 유전자는 많은 양의 산물이 필요하므로 수십에서 수백 copy가 거의 동일한 서열로 반복된다. 이런 반복은 </a:t>
            </a:r>
            <a:r>
              <a:rPr sz="1600" b="1" i="0">
                <a:solidFill>
                  <a:srgbClr val="11202B"/>
                </a:solidFill>
                <a:latin typeface="Malgun Gothic"/>
                <a:ea typeface="Malgun Gothic"/>
                <a:cs typeface="Malgun Gothic"/>
              </a:rPr>
              <a:t>유전자 변환과 비동등 교차</a:t>
            </a:r>
            <a:r>
              <a:rPr sz="1600" b="0" i="0">
                <a:solidFill>
                  <a:srgbClr val="11202B"/>
                </a:solidFill>
                <a:latin typeface="Malgun Gothic"/>
                <a:ea typeface="Malgun Gothic"/>
                <a:cs typeface="Malgun Gothic"/>
              </a:rPr>
              <a:t>로 구성원 사이의 서열이 균질하게 유지된다. 반대로 올팩토리 수용체 유전자 가족은 약 400개의 기능성 유전자와 그보다 많은 pseudogene으로 이루어져, 사람 계통에서 기능 상실이 광범위하게 일어났음을 보여준다.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Pseudogene은 두 경로로 생긴다. 중복된 유전자가 변이로 망가진 </a:t>
            </a:r>
            <a:r>
              <a:rPr sz="1600" b="1" i="0">
                <a:solidFill>
                  <a:srgbClr val="11202B"/>
                </a:solidFill>
                <a:latin typeface="Malgun Gothic"/>
                <a:ea typeface="Malgun Gothic"/>
                <a:cs typeface="Malgun Gothic"/>
              </a:rPr>
              <a:t>duplicated pseudogene</a:t>
            </a:r>
            <a:r>
              <a:rPr sz="1600" b="0" i="0">
                <a:solidFill>
                  <a:srgbClr val="11202B"/>
                </a:solidFill>
                <a:latin typeface="Malgun Gothic"/>
                <a:ea typeface="Malgun Gothic"/>
                <a:cs typeface="Malgun Gothic"/>
              </a:rPr>
              <a:t>은 intron을 그대로 갖는다. mRNA가 역전사되어 유전체에 삽입된 </a:t>
            </a:r>
            <a:r>
              <a:rPr sz="1600" b="1" i="0">
                <a:solidFill>
                  <a:srgbClr val="11202B"/>
                </a:solidFill>
                <a:latin typeface="Malgun Gothic"/>
                <a:ea typeface="Malgun Gothic"/>
                <a:cs typeface="Malgun Gothic"/>
              </a:rPr>
              <a:t>processed pseudogene</a:t>
            </a:r>
            <a:r>
              <a:rPr sz="1600" b="0" i="0">
                <a:solidFill>
                  <a:srgbClr val="11202B"/>
                </a:solidFill>
                <a:latin typeface="Malgun Gothic"/>
                <a:ea typeface="Malgun Gothic"/>
                <a:cs typeface="Malgun Gothic"/>
              </a:rPr>
              <a:t>은 intron이 없고 poly(A) 흔적을 가지며 promoter가 없다. 두 종류의 구별은 서열 구조만으로 가능하다.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반복 서열 사이의 비동등 교차는 질환을 만드는 재배열의 원인이 된다. α-globin 유전자군의 반복 구간에서 일어나는 교차는 유전자를 지워 α-thalassemia를 일으킨다. 반대로 적록 색각 이상은 X 염색체에 나란히 놓인 두 opsin 유전자 사이의 교차로 설명된다. 두 유전자의 서열이 매우 비슷하므로 정렬이 어긋난 상태에서 교차가 일어나 융합 유전자나 결실이 생긴다. 즉 유전자 가족을 만든 기전이 지금도 작동해 변이를 만들고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유전체에서 단백질 암호화 부위는 1.5%에 불과하고 절반 가까이가 반복 서열이다. 반복 서열은 배열 양상으로 두 부류로 나눈다. 같은 단위가 </a:t>
            </a:r>
            <a:r>
              <a:rPr sz="2000" b="1" i="0">
                <a:solidFill>
                  <a:srgbClr val="11202B"/>
                </a:solidFill>
                <a:latin typeface="Malgun Gothic"/>
                <a:ea typeface="Malgun Gothic"/>
                <a:cs typeface="Malgun Gothic"/>
              </a:rPr>
              <a:t>연속해 나란히</a:t>
            </a:r>
            <a:r>
              <a:rPr sz="2000" b="0" i="0">
                <a:solidFill>
                  <a:srgbClr val="11202B"/>
                </a:solidFill>
                <a:latin typeface="Malgun Gothic"/>
                <a:ea typeface="Malgun Gothic"/>
                <a:cs typeface="Malgun Gothic"/>
              </a:rPr>
              <a:t> 반복되는 tandem repeat과, 유전체 여러 곳에 </a:t>
            </a:r>
            <a:r>
              <a:rPr sz="2000" b="1" i="0">
                <a:solidFill>
                  <a:srgbClr val="11202B"/>
                </a:solidFill>
                <a:latin typeface="Malgun Gothic"/>
                <a:ea typeface="Malgun Gothic"/>
                <a:cs typeface="Malgun Gothic"/>
              </a:rPr>
              <a:t>흩어져</a:t>
            </a:r>
            <a:r>
              <a:rPr sz="2000" b="0" i="0">
                <a:solidFill>
                  <a:srgbClr val="11202B"/>
                </a:solidFill>
                <a:latin typeface="Malgun Gothic"/>
                <a:ea typeface="Malgun Gothic"/>
                <a:cs typeface="Malgun Gothic"/>
              </a:rPr>
              <a:t> 있는 산재성 반복(interspersed repeat)이다. 이 절은 앞의 부류를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명칭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반복 단위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Satellite 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kb~Mb 규모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centromere 주변 heterochromatin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Minisatellite(VNTR)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10~100 bp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telomere 근처와 산재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Microsatellite(STR)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Telomere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 bp (TTAGGG)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수~15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염색체 말단</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Tandem repeat은 </a:t>
            </a:r>
            <a:r>
              <a:rPr sz="1600" b="1" i="0">
                <a:solidFill>
                  <a:srgbClr val="11202B"/>
                </a:solidFill>
                <a:latin typeface="Malgun Gothic"/>
                <a:ea typeface="Malgun Gothic"/>
                <a:cs typeface="Malgun Gothic"/>
              </a:rPr>
              <a:t>복제 중 가닥 밀림(replication slippage)</a:t>
            </a:r>
            <a:r>
              <a:rPr sz="1600" b="0" i="0">
                <a:solidFill>
                  <a:srgbClr val="11202B"/>
                </a:solidFill>
                <a:latin typeface="Malgun Gothic"/>
                <a:ea typeface="Malgun Gothic"/>
                <a:cs typeface="Malgun Gothic"/>
              </a:rPr>
              <a:t>으로 늘거나 줄어든다. 반복 구간에서 신생 가닥이 주형에서 떨어졌다가 한 반복 단위만큼 어긋나 다시 붙으면 반복 수가 변한다. 이 기전은 반복 단위가 짧고 수가 많을 때 자주 일어나므로 microsatellite의 반복 수는 개인 간에 크게 다르다. 이 다형성이 </a:t>
            </a:r>
            <a:r>
              <a:rPr sz="1600" b="1" i="0">
                <a:solidFill>
                  <a:srgbClr val="11202B"/>
                </a:solidFill>
                <a:latin typeface="Malgun Gothic"/>
                <a:ea typeface="Malgun Gothic"/>
                <a:cs typeface="Malgun Gothic"/>
              </a:rPr>
              <a:t>개인 식별과 친자 확인</a:t>
            </a:r>
            <a:r>
              <a:rPr sz="1600" b="0" i="0">
                <a:solidFill>
                  <a:srgbClr val="11202B"/>
                </a:solidFill>
                <a:latin typeface="Malgun Gothic"/>
                <a:ea typeface="Malgun Gothic"/>
                <a:cs typeface="Malgun Gothic"/>
              </a:rPr>
              <a:t>의 근거가 된다. 여러 microsatellite 좌위의 반복 수 조합이 개인마다 다르고, 이 조합은 부모에게서 각각 하나씩 물려받는다.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Satellite DNA는 밀도구배 원심분리에서 유전체 주 띠와 떨어진 </a:t>
            </a:r>
            <a:r>
              <a:rPr sz="1600" b="1" i="0">
                <a:solidFill>
                  <a:srgbClr val="11202B"/>
                </a:solidFill>
                <a:latin typeface="Malgun Gothic"/>
                <a:ea typeface="Malgun Gothic"/>
                <a:cs typeface="Malgun Gothic"/>
              </a:rPr>
              <a:t>위성 띠</a:t>
            </a:r>
            <a:r>
              <a:rPr sz="1600" b="0" i="0">
                <a:solidFill>
                  <a:srgbClr val="11202B"/>
                </a:solidFill>
                <a:latin typeface="Malgun Gothic"/>
                <a:ea typeface="Malgun Gothic"/>
                <a:cs typeface="Malgun Gothic"/>
              </a:rPr>
              <a:t>로 나타나 그 이름을 얻었다. 염기 조성이 유전체 평균과 달라 부력 밀도가 다르기 때문이다. 사람의 주요 satellite는 171 bp 단위가 반복되는 </a:t>
            </a:r>
            <a:r>
              <a:rPr sz="1600" b="1" i="0">
                <a:solidFill>
                  <a:srgbClr val="11202B"/>
                </a:solidFill>
                <a:latin typeface="Malgun Gothic"/>
                <a:ea typeface="Malgun Gothic"/>
                <a:cs typeface="Malgun Gothic"/>
              </a:rPr>
              <a:t>alpha satellite</a:t>
            </a:r>
            <a:r>
              <a:rPr sz="1600" b="0" i="0">
                <a:solidFill>
                  <a:srgbClr val="11202B"/>
                </a:solidFill>
                <a:latin typeface="Malgun Gothic"/>
                <a:ea typeface="Malgun Gothic"/>
                <a:cs typeface="Malgun Gothic"/>
              </a:rPr>
              <a:t>로, centromere의 핵심 구성 요소다.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삼염기 반복의 확장은 한 부류의 유전질환을 만든다. Huntington disease에서 *HTT*의 CAG 반복이 정상 범위를 넘어 확장되면 polyglutamine 사슬이 긴 단백질이 만들어진다. 반복 수가 많을수록 발병이 이르고, 세대를 거치며 반복이 더 늘어나는 경향이 관찰된다. Fragile X syndrome에서는 FMR1 5′ 영역의 CGG 반복이 수백 회로 확장되면 그 구간이 메틸화되어 전사가 꺼진다. 같은 확장 기전이 반복 위치에 따라 전혀 다른 결과를 낳는다는 점이 중요하다.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산재성 반복 서열의 대부분은 </a:t>
            </a:r>
            <a:r>
              <a:rPr sz="1400" b="1" i="0">
                <a:solidFill>
                  <a:srgbClr val="11202B"/>
                </a:solidFill>
                <a:latin typeface="Malgun Gothic"/>
                <a:ea typeface="Malgun Gothic"/>
                <a:cs typeface="Malgun Gothic"/>
              </a:rPr>
              <a:t>transposable element</a:t>
            </a:r>
            <a:r>
              <a:rPr sz="1400" b="0" i="0">
                <a:solidFill>
                  <a:srgbClr val="11202B"/>
                </a:solidFill>
                <a:latin typeface="Malgun Gothic"/>
                <a:ea typeface="Malgun Gothic"/>
                <a:cs typeface="Malgun Gothic"/>
              </a:rPr>
              <a:t>, 즉 유전체 안에서 위치를 옮길 수 있는 서열에서 왔다. 사람 유전체의 약 45%가 여기에 해당한다. Barbara McClintock이 옥수수의 낟알 색 불안정성을 분석해 1940년대에 이동성 유전 요소를 제안했고, 분자 수준의 확인은 수십 년 뒤에 이루어졌다.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 기전으로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transposon</a:t>
            </a:r>
            <a:r>
              <a:rPr sz="1400" b="0" i="0">
                <a:solidFill>
                  <a:srgbClr val="11202B"/>
                </a:solidFill>
                <a:latin typeface="Malgun Gothic"/>
                <a:ea typeface="Malgun Gothic"/>
                <a:cs typeface="Malgun Gothic"/>
              </a:rPr>
              <a:t> DNA 상태로 옮긴다. 양 끝에 역위 반복(inverted repeat)을 두고, 자신이 암호화한 transposase가 이 반복을 인식해 요소를 잘라낸 뒤 다른 위치에 삽입한다. 잘라내고 붙이는 방식이므로 copy 수가 자동으로 늘지는 않는다. 사람 유전체의 약 3%가 DNA transposon에서 왔으나 현재 전이 활성을 가진 것은 알려져 있지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Retrotransposon</a:t>
            </a:r>
            <a:r>
              <a:rPr sz="1400" b="0" i="0">
                <a:solidFill>
                  <a:srgbClr val="11202B"/>
                </a:solidFill>
                <a:latin typeface="Malgun Gothic"/>
                <a:ea typeface="Malgun Gothic"/>
                <a:cs typeface="Malgun Gothic"/>
              </a:rPr>
              <a:t> RNA 중간체를 거쳐 옮긴다. 요소가 전사되어 RNA가 만들어지고, reverse transcriptase가 이 RNA를 주형으로 DNA를 합성해 새 위치에 삽입한다. 원본이 그대로 남으므로 </a:t>
            </a:r>
            <a:r>
              <a:rPr sz="1400" b="1" i="0">
                <a:solidFill>
                  <a:srgbClr val="11202B"/>
                </a:solidFill>
                <a:latin typeface="Malgun Gothic"/>
                <a:ea typeface="Malgun Gothic"/>
                <a:cs typeface="Malgun Gothic"/>
              </a:rPr>
              <a:t>옮길 때마다 copy 수가 늘어난다.</a:t>
            </a:r>
            <a:r>
              <a:rPr sz="1400" b="0" i="0">
                <a:solidFill>
                  <a:srgbClr val="11202B"/>
                </a:solidFill>
                <a:latin typeface="Malgun Gothic"/>
                <a:ea typeface="Malgun Gothic"/>
                <a:cs typeface="Malgun Gothic"/>
              </a:rPr>
              <a:t> 사람 유전체에서 반복 서열이 많은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주요 산재성 반복은 세 가지다.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LINE(long interspersed nuclear element)</a:t>
            </a:r>
            <a:r>
              <a:rPr sz="1600" b="0" i="0">
                <a:solidFill>
                  <a:srgbClr val="11202B"/>
                </a:solidFill>
                <a:latin typeface="Malgun Gothic"/>
                <a:ea typeface="Malgun Gothic"/>
                <a:cs typeface="Malgun Gothic"/>
              </a:rPr>
              <a:t> 대표가 L1으로, 길이 약 6 kb다. 자신의 reverse transcriptase와 endonuclease를 암호화하므로 </a:t>
            </a:r>
            <a:r>
              <a:rPr sz="1600" b="1" i="0">
                <a:solidFill>
                  <a:srgbClr val="11202B"/>
                </a:solidFill>
                <a:latin typeface="Malgun Gothic"/>
                <a:ea typeface="Malgun Gothic"/>
                <a:cs typeface="Malgun Gothic"/>
              </a:rPr>
              <a:t>자율적(autonomous)</a:t>
            </a:r>
            <a:r>
              <a:rPr sz="1600" b="0" i="0">
                <a:solidFill>
                  <a:srgbClr val="11202B"/>
                </a:solidFill>
                <a:latin typeface="Malgun Gothic"/>
                <a:ea typeface="Malgun Gothic"/>
                <a:cs typeface="Malgun Gothic"/>
              </a:rPr>
              <a:t>으로 전이한다. 유전체의 약 17%를 차지하며 copy 수는 수십만이지만, 대부분이 5′ 쪽이 잘려 전이 능력을 잃었다. 전이 가능한 L1은 약 100개 수준으로 추정된다.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SINE(short interspersed nuclear element)</a:t>
            </a:r>
            <a:r>
              <a:rPr sz="1600" b="0" i="0">
                <a:solidFill>
                  <a:srgbClr val="11202B"/>
                </a:solidFill>
                <a:latin typeface="Malgun Gothic"/>
                <a:ea typeface="Malgun Gothic"/>
                <a:cs typeface="Malgun Gothic"/>
              </a:rPr>
              <a:t> 대표가 Alu로, 길이 약 300 bp다. 단백질을 암호화하지 않으므로 </a:t>
            </a:r>
            <a:r>
              <a:rPr sz="1600" b="1" i="0">
                <a:solidFill>
                  <a:srgbClr val="11202B"/>
                </a:solidFill>
                <a:latin typeface="Malgun Gothic"/>
                <a:ea typeface="Malgun Gothic"/>
                <a:cs typeface="Malgun Gothic"/>
              </a:rPr>
              <a:t>L1이 만든 효소를 빌려</a:t>
            </a:r>
            <a:r>
              <a:rPr sz="1600" b="0" i="0">
                <a:solidFill>
                  <a:srgbClr val="11202B"/>
                </a:solidFill>
                <a:latin typeface="Malgun Gothic"/>
                <a:ea typeface="Malgun Gothic"/>
                <a:cs typeface="Malgun Gothic"/>
              </a:rPr>
              <a:t> 전이하는 비자율적 요소다. 유전체의 약 11%를 차지하고 copy 수는 100만 이상이다. Alu는 7SL RNA 유전자에서 유래했다.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LTR retrotransposon과 내재성 retrovirus</a:t>
            </a:r>
            <a:r>
              <a:rPr sz="1600" b="0" i="0">
                <a:solidFill>
                  <a:srgbClr val="11202B"/>
                </a:solidFill>
                <a:latin typeface="Malgun Gothic"/>
                <a:ea typeface="Malgun Gothic"/>
                <a:cs typeface="Malgun Gothic"/>
              </a:rPr>
              <a:t> 양 끝에 long terminal repeat을 가지며 retrovirus와 구조가 같다. 유전체의 약 8%를 차지하고 사람에서는 대부분 활성을 잃었다.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23</a:t>
            </a:r>
          </a:p>
        </p:txBody>
      </p:sp>
      <p:pic>
        <p:nvPicPr>
          <p:cNvPr id="7" name="Picture 6" descr="fig-transposon.slide.png"/>
          <p:cNvPicPr>
            <a:picLocks noChangeAspect="1"/>
          </p:cNvPicPr>
          <p:nvPr/>
        </p:nvPicPr>
        <p:blipFill>
          <a:blip r:embed="rId2"/>
          <a:stretch>
            <a:fillRect/>
          </a:stretch>
        </p:blipFill>
        <p:spPr>
          <a:xfrm>
            <a:off x="792327" y="1325880"/>
            <a:ext cx="10607040" cy="4339243"/>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transposon과 두 종류 retrotransposon의 전이 기전. 잘라 붙이기 방식과 RNA 중간체를 거쳐 copy 수가 늘어나는 방식, L1과 Alu의 구조 차이를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Transposable element는 두 방향으로 작용한다. 유해한 쪽에서, exon 안이나 splicing 부위에 삽입되면 유전자를 망가뜨린다. L1 삽입이 *F8*을 끊어 hemophilia A를 일으킨 사례가 보고되어 있다. 유전체 여러 곳에 같은 서열이 있으므로 비동등 교차의 발판이 되어 결실과 중복을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유용한 쪽에서, 삽입된 요소의 서열이 조절 서열로 쓰이는 사례가 다수 알려졌다. 포유류의 일부 enhancer와 전사인자 결합 부위가 transposable element 유래이고, 면역글로불린 유전자를 재배열하는 RAG1/RAG2 체계는 DNA transposon의 transposase에서 유래한 것으로 본다. 즉 반복 서열은 단순한 짐이 아니라 조절 서열과 새 기능의 재료 공급원이기도 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transposable element의 전이를 억제한다. DNA 메틸화와 억제성 histone 수식으로 이 구간의 전사를 막고, piRNA를 비롯한 small RNA 경로가 생식세포에서 전이를 차단한다. 전이 억제가 풀리는 조건에서 유전체 불안정성이 증가한다.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세포 하나에 들어 있는 DNA의 총 길이는 약 2 m이고, 핵의 지름은 약 6 μm다. 약 10,000배의 길이 압축이 필요하다. 이 응축은 단계적이며 각 단계가 측정된 수치를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 응축의 기본 단위다. Histone H2A, H2B, H3, H4가 각각 둘씩 모인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에 DNA 147 bp가 1.7회 감긴다. Nucleosome 사이의 linker DNA는 평균 약 50 bp이고, 전체 반복 주기는 약 200 bp다. 이 단계에서 길이가 약 6배 줄고 지름 11 nm의 염주 구조가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30 nm 섬유</a:t>
            </a:r>
            <a:r>
              <a:rPr sz="1400" b="0" i="0">
                <a:solidFill>
                  <a:srgbClr val="11202B"/>
                </a:solidFill>
                <a:latin typeface="Malgun Gothic"/>
                <a:ea typeface="Malgun Gothic"/>
                <a:cs typeface="Malgun Gothic"/>
              </a:rPr>
              <a:t> Histone H1이 nucleosome 입구의 DNA에 결합해 nucleosome들을 가까이 당기면 지름 약 30 nm의 섬유가 된다. 누적 압축은 약 40배다.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Loop 도메인</a:t>
            </a:r>
            <a:r>
              <a:rPr sz="1400" b="0" i="0">
                <a:solidFill>
                  <a:srgbClr val="11202B"/>
                </a:solidFill>
                <a:latin typeface="Malgun Gothic"/>
                <a:ea typeface="Malgun Gothic"/>
                <a:cs typeface="Malgun Gothic"/>
              </a:rPr>
              <a:t> 30 nm 섬유가 비histone 단백질 골격에 고정되어 수십에서 수백 kb의 고리를 만든다. Cohesin과 CTCF가 고리의 경계를 정하며, 이 고리 구조가 enhancer와 promoter의 접촉 범위를 제한한다.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염색체</a:t>
            </a:r>
            <a:r>
              <a:rPr sz="1400" b="0" i="0">
                <a:solidFill>
                  <a:srgbClr val="11202B"/>
                </a:solidFill>
                <a:latin typeface="Malgun Gothic"/>
                <a:ea typeface="Malgun Gothic"/>
                <a:cs typeface="Malgun Gothic"/>
              </a:rPr>
              <a:t> 분열기에 condensin이 작용해 추가로 응축되어 광학 현미경으로 보이는 막대 모양이 된다. 누적 압축이 약 10,000배에 이른다.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26</a:t>
            </a:r>
          </a:p>
        </p:txBody>
      </p:sp>
      <p:pic>
        <p:nvPicPr>
          <p:cNvPr id="7" name="Picture 6" descr="fig-chromatin.slide.png"/>
          <p:cNvPicPr>
            <a:picLocks noChangeAspect="1"/>
          </p:cNvPicPr>
          <p:nvPr/>
        </p:nvPicPr>
        <p:blipFill>
          <a:blip r:embed="rId2"/>
          <a:stretch>
            <a:fillRect/>
          </a:stretch>
        </p:blipFill>
        <p:spPr>
          <a:xfrm>
            <a:off x="792327" y="1325880"/>
            <a:ext cx="10607040" cy="397763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DNA에서 중기 염색체까지의 응축 단계. Nucleosome의 147 bp와 11 nm 지름, H1에 의한 30 nm 섬유, loop 도메인, 중기 염색체의 단계별 압축 배수를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Histone은 lysine과 arginine이 많아 양전하를 띠고, DNA의 음전하 인산 골격과 정전기적으로 결합한다. Histone의 N 말단 꼬리는 nucleosome 바깥으로 나와 있어 acetylation, methylation, phosphorylation을 받는다. Lysine의 acetylation은 양전하를 중화해 DNA와의 결합을 약하게 하고, 수식된 꼬리는 다른 단백질의 결합 표지가 된다. 이 수식과 전사 조절의 연결은 W08-L03에서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응축 정도로 chromatin을 두 상태로 나눈다. </a:t>
            </a:r>
            <a:r>
              <a:rPr sz="1600" b="1" i="0">
                <a:solidFill>
                  <a:srgbClr val="11202B"/>
                </a:solidFill>
                <a:latin typeface="Malgun Gothic"/>
                <a:ea typeface="Malgun Gothic"/>
                <a:cs typeface="Malgun Gothic"/>
              </a:rPr>
              <a:t>Euchromatin</a:t>
            </a:r>
            <a:r>
              <a:rPr sz="1600" b="0" i="0">
                <a:solidFill>
                  <a:srgbClr val="11202B"/>
                </a:solidFill>
                <a:latin typeface="Malgun Gothic"/>
                <a:ea typeface="Malgun Gothic"/>
                <a:cs typeface="Malgun Gothic"/>
              </a:rPr>
              <a:t>은 상대적으로 느슨하고 전사가 일어나는 영역이며, </a:t>
            </a:r>
            <a:r>
              <a:rPr sz="1600" b="1" i="0">
                <a:solidFill>
                  <a:srgbClr val="11202B"/>
                </a:solidFill>
                <a:latin typeface="Malgun Gothic"/>
                <a:ea typeface="Malgun Gothic"/>
                <a:cs typeface="Malgun Gothic"/>
              </a:rPr>
              <a:t>heterochromatin</a:t>
            </a:r>
            <a:r>
              <a:rPr sz="1600" b="0" i="0">
                <a:solidFill>
                  <a:srgbClr val="11202B"/>
                </a:solidFill>
                <a:latin typeface="Malgun Gothic"/>
                <a:ea typeface="Malgun Gothic"/>
                <a:cs typeface="Malgun Gothic"/>
              </a:rPr>
              <a:t>은 조밀하고 전사가 억제된 영역이다. Heterochromatin은 다시 둘로 나눈다. Centromere와 telomere 주변처럼 세포 종류와 무관하게 항상 응축된 </a:t>
            </a:r>
            <a:r>
              <a:rPr sz="1600" b="1" i="0">
                <a:solidFill>
                  <a:srgbClr val="11202B"/>
                </a:solidFill>
                <a:latin typeface="Malgun Gothic"/>
                <a:ea typeface="Malgun Gothic"/>
                <a:cs typeface="Malgun Gothic"/>
              </a:rPr>
              <a:t>constitutive heterochromatin</a:t>
            </a:r>
            <a:r>
              <a:rPr sz="1600" b="0" i="0">
                <a:solidFill>
                  <a:srgbClr val="11202B"/>
                </a:solidFill>
                <a:latin typeface="Malgun Gothic"/>
                <a:ea typeface="Malgun Gothic"/>
                <a:cs typeface="Malgun Gothic"/>
              </a:rPr>
              <a:t>, 그리고 세포 종류에 따라 응축 여부가 달라지는 </a:t>
            </a:r>
            <a:r>
              <a:rPr sz="1600" b="1" i="0">
                <a:solidFill>
                  <a:srgbClr val="11202B"/>
                </a:solidFill>
                <a:latin typeface="Malgun Gothic"/>
                <a:ea typeface="Malgun Gothic"/>
                <a:cs typeface="Malgun Gothic"/>
              </a:rPr>
              <a:t>facultative heterochromatin</a:t>
            </a:r>
            <a:r>
              <a:rPr sz="1600" b="0" i="0">
                <a:solidFill>
                  <a:srgbClr val="11202B"/>
                </a:solidFill>
                <a:latin typeface="Malgun Gothic"/>
                <a:ea typeface="Malgun Gothic"/>
                <a:cs typeface="Malgun Gothic"/>
              </a:rPr>
              <a:t>이다. 포유류 암컷에서 두 X 염색체 중 하나가 응축되어 전사가 꺼지는 현상(X 염색체 불활성화)이 후자의 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염색체가 복제되고 분리되려면 세 가지 서열 요소가 필요하다. 이 요소들은 효모 인공 염색체 실험으로 확인되었다. 선형 DNA에 셋 중 하나라도 빠지면 효모 안에서 안정하게 유지되지 않는다.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없으면 생기는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복제 원점(origin of replication)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복제를 시작하는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복제되지 않아 분열마다 소실된다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Centromere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분열기 방추에 붙는 지점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딸세포로 균등하게 분리되지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Telomere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선형 말단을 보호하고 유지한다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말단이 분해되고 다른 염색체와 융합한다</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Centromere</a:t>
            </a:r>
            <a:r>
              <a:rPr sz="1600" b="0" i="0">
                <a:solidFill>
                  <a:srgbClr val="11202B"/>
                </a:solidFill>
                <a:latin typeface="Malgun Gothic"/>
                <a:ea typeface="Malgun Gothic"/>
                <a:cs typeface="Malgun Gothic"/>
              </a:rPr>
              <a:t>는 사람에서 alpha satellite 반복으로 이루어진 수백 kb~Mb 구간이다. 다만 centromere의 정체성은 서열만으로 정해지지 않는다. H3를 대체하는 특수 histone 변이체 </a:t>
            </a:r>
            <a:r>
              <a:rPr sz="1600" b="1" i="0">
                <a:solidFill>
                  <a:srgbClr val="11202B"/>
                </a:solidFill>
                <a:latin typeface="Malgun Gothic"/>
                <a:ea typeface="Malgun Gothic"/>
                <a:cs typeface="Malgun Gothic"/>
              </a:rPr>
              <a:t>CENP-A</a:t>
            </a:r>
            <a:r>
              <a:rPr sz="1600" b="0" i="0">
                <a:solidFill>
                  <a:srgbClr val="11202B"/>
                </a:solidFill>
                <a:latin typeface="Malgun Gothic"/>
                <a:ea typeface="Malgun Gothic"/>
                <a:cs typeface="Malgun Gothic"/>
              </a:rPr>
              <a:t>가 들어 있는 nucleosome의 위치가 centromere를 지정하고, 이 표지가 세포 분열을 거쳐 같은 위치에 유지된다. 서열이 아니라 단백질 표지로 위치가 계승되는 예다. Centromere 위에 kinetochore가 조립되어 microtubule과 연결된다.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Telomere</a:t>
            </a:r>
            <a:r>
              <a:rPr sz="1600" b="0" i="0">
                <a:solidFill>
                  <a:srgbClr val="11202B"/>
                </a:solidFill>
                <a:latin typeface="Malgun Gothic"/>
                <a:ea typeface="Malgun Gothic"/>
                <a:cs typeface="Malgun Gothic"/>
              </a:rPr>
              <a:t>는 사람에서 TTAGGG 6염기 반복이 수 kb에서 15 kb 이어진 구조다. 3′ 쪽이 단일가닥으로 돌출되어 있고, shelterin 복합체가 결합해 말단을 손상 부위로 인식하지 않게 한다. 복제마다 말단이 짧아지는 문제와 telomerase에 의한 보충은 W07-L03에서 다룬다.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 안에서 염색체는 무작위로 뒤섞여 있지 않다. 각 염색체는 </a:t>
            </a:r>
            <a:r>
              <a:rPr sz="1600" b="1" i="0">
                <a:solidFill>
                  <a:srgbClr val="11202B"/>
                </a:solidFill>
                <a:latin typeface="Malgun Gothic"/>
                <a:ea typeface="Malgun Gothic"/>
                <a:cs typeface="Malgun Gothic"/>
              </a:rPr>
              <a:t>염색체 영역(chromosome territory)</a:t>
            </a:r>
            <a:r>
              <a:rPr sz="1600" b="0" i="0">
                <a:solidFill>
                  <a:srgbClr val="11202B"/>
                </a:solidFill>
                <a:latin typeface="Malgun Gothic"/>
                <a:ea typeface="Malgun Gothic"/>
                <a:cs typeface="Malgun Gothic"/>
              </a:rPr>
              <a:t>이라 부르는 자기 구역을 차지하고, 유전자 밀도가 높은 염색체는 핵 중앙에, 밀도가 낮은 염색체는 핵막 쪽에 놓이는 경향이 있다. 염색체 내부도 전사 활성이 비슷한 구간끼리 묶여 두 종류의 구획으로 나뉜다. 더 작은 규모에서는 </a:t>
            </a:r>
            <a:r>
              <a:rPr sz="1600" b="1" i="0">
                <a:solidFill>
                  <a:srgbClr val="11202B"/>
                </a:solidFill>
                <a:latin typeface="Malgun Gothic"/>
                <a:ea typeface="Malgun Gothic"/>
                <a:cs typeface="Malgun Gothic"/>
              </a:rPr>
              <a:t>topologically associating domain(TAD)</a:t>
            </a:r>
            <a:r>
              <a:rPr sz="1600" b="0" i="0">
                <a:solidFill>
                  <a:srgbClr val="11202B"/>
                </a:solidFill>
                <a:latin typeface="Malgun Gothic"/>
                <a:ea typeface="Malgun Gothic"/>
                <a:cs typeface="Malgun Gothic"/>
              </a:rPr>
              <a:t>이라 부르는 수백 kb 단위의 구획이 있어, 같은 TAD 안의 enhancer와 promoter는 접촉하고 TAD 경계를 넘는 접촉은 드물다. 이 배치는 염색체 구조 포착 기법(chromosome conformation capture, Hi-C)으로 측정한다. 가까이 있는 DNA 구간을 화학적으로 연결한 뒤 그 조합을 서열 분석으로 세는 방법이다.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TAD 경계가 질환과 직접 연결된 사례가 있다. 경계를 이루는 CTCF 결합 부위가 결실되면 원래 다른 구획에 있던 enhancer가 경계를 넘어 인접 유전자의 promoter와 접촉한다. 사람의 일부 사지 기형에서 유전자 자체에는 변이가 없고 TAD 경계 결실만 확인되었으며, 그 결과 발생 시기에 맞지 않는 유전자가 켜진다. 질환 변이를 찾을 때 유전자의 암호화 서열만 보면 이 부류의 원인을 놓친다.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Eukaryotic 세포는 핵 외부에 별도의 유전체를 갖는다. 사람 미토콘드리아 DNA(mtDNA)는 </a:t>
            </a:r>
            <a:r>
              <a:rPr sz="2000" b="1" i="0">
                <a:solidFill>
                  <a:srgbClr val="11202B"/>
                </a:solidFill>
                <a:latin typeface="Malgun Gothic"/>
                <a:ea typeface="Malgun Gothic"/>
                <a:cs typeface="Malgun Gothic"/>
              </a:rPr>
              <a:t>환상 이중가닥 DNA 16,569 bp</a:t>
            </a:r>
            <a:r>
              <a:rPr sz="2000" b="0" i="0">
                <a:solidFill>
                  <a:srgbClr val="11202B"/>
                </a:solidFill>
                <a:latin typeface="Malgun Gothic"/>
                <a:ea typeface="Malgun Gothic"/>
                <a:cs typeface="Malgun Gothic"/>
              </a:rPr>
              <a:t>이고, intron이 없으며 유전자 사이의 간격이 거의 없다.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mtDNA</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크기와 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16,569 bp, 환상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암호화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13개. 모두 oxidative phosphorylation 복합체의 subunit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 (12S, 16S)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22개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세포당 copy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조직에 따라 수백~수천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 양식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모계 유전</a:t>
                      </a:r>
                    </a:p>
                  </a:txBody>
                  <a:tcPr marL="73152" marR="73152"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미토콘드리아 단백질은 약 1,000종 이상인데 mtDNA는 13개만 암호화한다. 나머지는 핵 유전체에 암호화되어 세포질에서 합성된 뒤 미토콘드리아로 수송된다. 이는 endosymbiosis 이후 조상 세균의 유전자 대부분이 핵으로 옮겨 갔다는 해석과 맞는다.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36</a:t>
            </a:r>
          </a:p>
        </p:txBody>
      </p:sp>
      <p:pic>
        <p:nvPicPr>
          <p:cNvPr id="7" name="Picture 6" descr="fig-mtdna.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미토콘드리아 유전체의 지도. 16,569 bp 환상 DNA에 13개 단백질 유전자, 2개 rRNA, 22개 tRNA가 간격 없이 배열된 모습과 heteroplasmy 개념을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mtDNA는 핵 유전체와 다른 성질을 여러 개 갖는다. 유전암호가 조금 다르다. 사람 mtDNA에서 UGA는 종결 codon이 아니라 tryptophan을 지정하고, AGA와 AGG는 arginine이 아니라 종결로 읽힌다. 22개의 tRNA만으로 모든 codon을 읽을 수 있는 것은 염기쌍 짝짓기의 유연성이 큰 덕분이다.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변이 속도가 핵 DNA보다 높다. 미토콘드리아는 electron transport chain에서 발생하는 반응성 산소종에 노출되어 있고, histone으로 보호되지 않으며, 복구 체계가 핵보다 단순하다. 이 높은 변이 속도 때문에 mtDNA 서열은 집단의 모계 계통을 추적하는 표지로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세포당 mtDNA copy가 많으므로 정상형과 변이형이 섞일 수 있다. 이 상태를 </a:t>
            </a:r>
            <a:r>
              <a:rPr sz="1600" b="1" i="0">
                <a:solidFill>
                  <a:srgbClr val="11202B"/>
                </a:solidFill>
                <a:latin typeface="Malgun Gothic"/>
                <a:ea typeface="Malgun Gothic"/>
                <a:cs typeface="Malgun Gothic"/>
              </a:rPr>
              <a:t>heteroplasmy</a:t>
            </a:r>
            <a:r>
              <a:rPr sz="1600" b="0" i="0">
                <a:solidFill>
                  <a:srgbClr val="11202B"/>
                </a:solidFill>
                <a:latin typeface="Malgun Gothic"/>
                <a:ea typeface="Malgun Gothic"/>
                <a:cs typeface="Malgun Gothic"/>
              </a:rPr>
              <a:t>라 한다. 변이형의 비율이 조직마다 다르고, 비율이 일정 역치를 넘는 조직에서만 기능 저하가 나타난다. 난자가 가진 mtDNA copy 중 일부만 자손에게 전달되므로 세대 사이에 변이형 비율이 크게 흔들린다.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질환은 두 유전 양식을 모두 보인다. mtDNA 변이에서 오면 어머니에게서만 전달되고 남녀 모두 발병할 수 있으며, 핵 유전자 변이에서 오면 Mendel 유전을 따른다. 증상은 에너지 요구가 큰 조직, 즉 중추신경계, 심장근, 뼈대근육, 망막에 먼저 나타난다. 같은 변이를 가진 가족 안에서도 heteroplasmy 비율이 조직마다 달라 표현형이 크게 다르다. 그래서 변이 자체가 확인되어도 조직별 변이 비율을 함께 측정해야 임상 소견을 설명할 수 있다.</a:t>
            </a:r>
          </a:p>
        </p:txBody>
      </p:sp>
      <p:sp>
        <p:nvSpPr>
          <p:cNvPr id="8" name="Rectangle 7"/>
          <p:cNvSpPr/>
          <p:nvPr/>
        </p:nvSpPr>
        <p:spPr>
          <a:xfrm>
            <a:off x="640080" y="314452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유전체는 유전자의 모음이 아니라 유전자, 반복 서열, 조절 영역의 혼합이다. 반복 서열은 유전체의 절반을 차지하며 변이와 재배열을 만드는 기전이자 새 조절 서열의 재료다. 유전체의 기능은 서열만으로 정해지지 않고 chromatin의 응축 상태와 핵 안의 공간 배치로도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유전자, 하나의 효소"라는 정의가 현재 쓰이지 않는 이유를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Intron의 존재가 1977년에 처음 확인된 실험의 논리를 설명하고, 같은 결론을 서열 자료만으로 내릴 수 있는지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유전체 구간에서 유전자 하나와, 그 유전자와 서열이 95% 일치하면서 intron이 없고 5′ 쪽에 promoter가 없는 서열이 함께 발견되었다. 후자의 정체와 생성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Retrotransposon이 DNA transposon보다 사람 유전체에서 훨씬 큰 비율을 차지하는 이유를 전이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Centromere의 위치가 DNA 서열만으로 결정되지 않는다는 주장의 근거를 들고, 그렇다면 위치가 어떻게 계승되는지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발생 시기에 맞지 않게 발현된 유전자가 사지 기형의 원인으로 지목되었으나 그 유전자의 암호화 서열과 promoter에는 변이가 없었다. 가능한 원인과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mtDNA에 변이가 있는 환자에서, 같은 변이를 가진 형제 사이에 증상의 정도가 크게 다를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6, Genes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4, DNA, Chromosomes,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Berget SM, Moore C, Sharp PA. Spliced segments at the 5′ terminus of adenovirus 2 late mRNA. Proc Natl Acad Sci USA 1977;74:3171–3175.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Chow LT, Gelinas RE, Broker TR, Roberts RJ. An amazing sequence arrangement at the 5′ ends of adenovirus 2 messenger RNA. Cell 1977;12:1–8.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Lander ES, Linton LM, Birren B, et al.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Cordaux R, Batzer MA. The impact of retrotransposons on human genome evolution. Nat Rev Genet 2009;10:691–703.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Luger K, Mäder AW, Richmond RK, Sargent DF, Richmond TJ. Crystal structure of the nucleosome core particle at 2.8 Å resolution. Nature 1997;389:251–260.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Dixon JR, Selvaraj S, Yue F, et al. Topological domains in mammalian genomes identified by analysis of chromatin interactions. Nature 2012;485:376–380.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Anderson S, Bankier AT, Barrell BG, et al. Sequence and organization of the human mitochondrial genome. Nature 1981;290:457–465.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