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notesMaster" Target="notesMasters/notesMaster1.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복제 분기점의 구조. Helicase가 푼 주형에 단일가닥 결합 단백질이 붙고, leading 가닥은 연속 합성되며 lagging 가닥은 primase가 놓은 RNA primer에서 시작하는 Okazaki 토막으로 합성되는 과정을 보인다.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복제 정확도를 만드는 세 단계. 염기 선택, 3′→5′ exonuclease에 의한 proofreading, mismatch repair가 차례로 작용하며 오류율이 낮아지는 과정과 신생 가닥 식별 방식을 보인다.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복제 개시의 licensing 조절. G1기에 ORC 위에 MCM2–7이 올라가 원점이 사용 허가를 받고, S기에 CDK와 DDK가 helicase를 활성화하며, 복제가 지나간 원점은 다시 허가를 받지 못해 세포주기당 한 번만 복제되는 과정을 보인다.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Telomerase의 작용. TERC RNA가 돌출된 telomere 3′ 말단과 짝짓고 TERT가 그 RNA를 주형으로 반복을 늘린 뒤 효소가 이동해 같은 과정을 반복하며, 상대 가닥은 primase와 DNA polymerase가 채우는 과정을 보인다.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Base-excision repair와 nucleotide-excision repair의 비교. Glycosylase가 염기를 떼고 AP endonuclease가 골격을 끊는 경로와, 손상 양쪽을 끊어 24~32 뉴클레오타이드 조각째로 제거하는 경로를 단계별로 보인다.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Double-strand break의 두 복구 경로. 말단 가공과 RAD51 의존적 가닥 침입으로 자매 염색분체를 주형 삼아 서열을 복원하는 homologous recombination과, Ku와 ligase IV로 말단을 직접 잇되 접합 부위에 소실·삽입을 남기는 nonhomologous end joining을 비교한다.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면역글로불린 중쇄 유전자의 V(D)J recombination. 생식세포 배열의 V·D·J 토막, RAG1–RAG2가 recombination signal sequence를 인식해 만드는 끊김, nonhomologous end joining에 의한 접합과 접합 부위 다양성, 뒤이은 전사와 splicing을 보인다.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Primer 요구는 primase를 필요하게 만든다. Polymerase는 뉴클레오타이드 두 개를 처음부터 잇지 못하고 3′ 말단이 있는 사슬의 뒤만 이어 붙이므로, 주형에 짝지은 짧은 RNA를 따로 합성하는 효소가 있어야 합성이 시작된다. 이어서 이 RNA는 최종 산물에 남아서는 안 되므로 primer를 제거하는 nuclease(진핵세포의 FEN1, 세균의 RNase H와 Pol I의 exonuclease 활성)와 틈을 메우는 polymerase, 토막을 잇는 DNA ligase가 추가로 필요해진다. 한 방향 합성은 lagging 가닥의 불연속 합성을 필요하게 만든다. 분기점이 전진하는 방향과 반대 방향으로만 합성할 수 있는 가닥은 분기점이 어느 정도 열릴 때마다 새 primer를 받아 짧은 토막을 만들고 뒤로 물러나며 반복해야 한다. 그래서 Okazaki 토막이 생기고, 토막마다 primer 제거와 봉합이 반복된다.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짝맞춤 오류에서 주형 가닥의 염기는 원래 서열이고 신생 가닥의 염기가 잘못 들어온 것이다. 어느 쪽을 제거할지 무작위로 고르면 절반의 경우 주형 쪽을 고쳐 잘못된 염기를 정답으로 확정하게 되므로, 복구가 변이를 고정시키는 결과가 된다. 따라서 복구의 가치는 가닥을 구별하는 능력에 달려 있다. 세균은 메틸화 시차를 쓴다. GATC의 adenine이 Dam methylase로 메틸화되는 데 시간이 걸리므로 복제 직후에는 주형 가닥만 메틸화된 반쪽 메틸화 상태이고, MutH가 메틸화되지 않은 가닥을 끊는다. 진핵세포에는 이런 표시가 없고, 아직 봉합되지 않은 틈의 위치와 신생 가닥 위에 놓인 PCNA의 방향성을 단서로 신생 가닥을 구별한다.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원점이 두 번 열리면 그 원점이 담당하는 구간만 추가로 복제되어 유전체 안에서 구간별 copy 수가 달라진다. 그 구간의 유전자 발현량이 올라가고, 같은 서열이 여러 벌 생겨 재조합으로 결실과 중복이 만들어지며, 분기점이 이미 복제된 구간과 충돌해 끊김이 생길 수 있다. 정상 세포는 허가 단계와 개시 단계를 세포주기의 다른 시점에 배치해 이를 막는다. G1기에 Cdc6과 Cdt1이 ORC 위에 MCM2–7을 올려 원점에 사용 허가를 준다. S기에 CDK와 DDK가 활성화되면 MCM2–7이 CDC45와 GINS를 받아 활성 helicase가 되어 출발하는 동시에, Cdt1이 분해되거나 geminin에 묶이고 Cdc6이 인산화되어 핵에서 나간다. 그래서 S기 동안에는 어떤 원점에도 새 MCM이 올라갈 수 없고, 다음 허가는 다음 G1기에야 가능하다.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근거는 주형이 RNA라는 점이다. Telomerase는 RNA subunit TERC를 가지고 다니며, TERC의 일부 서열이 telomere 반복과 상보적이어서 돌출된 3′ 말단과 짝짓는다. TERT는 이 RNA를 주형으로 DNA를 합성하므로 RNA 의존 DNA polymerase, 즉 reverse transcriptase다. 외부에서 주형을 받는 다른 reverse transcriptase와 달리 주형을 효소 자신이 포함한다는 점만 다르다. 체세포에서 활성이 낮으면 lagging 가닥 말단을 메울 수 없어 분열마다 telomere가 50~100 bp 짧아진다. 한계까지 짧아지면 shelterin이 떨어져 말단이 노출되고, 세포가 이를 DNA 손상으로 인식해 p53 경로를 켜고 분열을 멈춘다. 이것이 배양 세포의 분열 한계이며, *TERT*를 도입해 활성을 복원하면 한계가 늘어난다는 실험이 이 인과를 뒷받침한다.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Base-excision repair는 손상된 염기 자체를 인식한다. 인식은 DNA glycosylase가 하며, uracil, 산화된 guanine, alkyl화된 염기처럼 손상 종류마다 대응하는 glycosylase가 따로 있다. 따라서 세포가 가진 glycosylase의 종류가 처리 가능한 손상의 목록을 정하고, 대응 효소가 없는 손상은 이 경로로 복구되지 않는다. 제거 범위는 염기 하나로 작아서 복구 비용이 낮다. Nucleotide-excision repair는 염기의 종류 대신 나선 구조의 왜곡을 인식한다. 손상 양쪽을 끊어 24~32 뉴클레오타이드 조각을 통째로 들어내므로, pyrimidine dimer와 화학 물질 부가물처럼 화학적으로 전혀 다른 손상을 하나의 경로로 처리할 수 있다. 즉 base-excision repair는 종류별로 좁고 효율적이며, nucleotide-excision repair는 종류를 가리지 않고 넓지만 단계와 비용이 크다.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Homologous recombination은 같은 서열을 가진 주형이 필요하고 그 주형은 복제로 만들어진 자매 염색분체다. G1기에는 그 주형이 없으므로 이 경로를 쓸 수 없고, nonhomologous end joining으로 복구된다. 이 경로는 Ku70–Ku80이 말단에 결합하고 DNA-PK와 ligase IV–XRCC4가 두 말단을 직접 잇는다. 주형을 쓰지 않으므로 끊김이 일어난 지점에서 소실된 뉴클레오타이드를 복원할 방법이 없고, 접합 전 말단 가공 과정에서 몇 개의 뉴클레오타이드가 더 없어지거나 삽입된다. 따라서 염색체의 연속성은 회복되지만 접합 부위의 서열은 바뀐다. 끊김이 암호화 서열 안에 있었다면 frameshift가 생길 수 있다. 끊김이 여러 곳에 동시에 있으면 서로 다른 염색체의 말단이 잘못 이어져 전좌가 만들어질 위험도 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V(D)J recombination에서 RAG1–RAG2가 V·D·J 토막 옆의 recombination signal sequence를 인식해 double-strand break를 만들고, 선택된 토막의 말단을 nonhomologous end joining 기구가 잇는다. 이때 접합 부위에서 뉴클레오타이드가 소실되거나 삽입되고 TdT가 주형 없이 뉴클레오타이드를 덧붙이므로, 같은 V·D·J 조합을 고른 세포들 사이에서도 접합 부위 서열이 서로 다르다. 항원 결합 부위가 이 접합 부위에 걸쳐 있으므로 조합의 수만으로 얻는 106 이상의 다양성이 더 크게 늘어난다. 따라서 복구의 부정확함이 그 자체로 다양성의 원천이다. 이 기구에 결함이 있으면 두 결과가 함께 나타난다. 항체와 T cell receptor 유전자의 재배열이 완성되지 않아 성숙한 B·T lymphocyte가 만들어지지 않는 중증 복합 면역결핍이 생기고, 동시에 모든 세포에서 double-strand break 복구 능력이 떨어져 방사선 감수성이 높아지고 염색체 재배열이 늘어난다.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유전자 증폭을 의심한다. 염색체의 한 구간이 반복 복제되어 그 안의 유전자 copy 수가 늘어나면, 서열이 정상인 상태에서 전사체와 단백질의 양만 비례해 증가한다. 증폭 구간은 염색체에서 떨어져 나온 double minute나 원래 위치에서 늘어난 균일 염색 영역으로 존재할 수 있다. 확인 방법은 copy 수를 직접 측정하는 것이다. 형광 in situ hybridization으로 탐침 신호의 점 수를 세면 copy 수 증가와 그 물리적 배치를 함께 볼 수 있고, 정량 PCR이나 서열 기반 copy 수 분석으로 구간 전체의 증가를 확인한다. 단백질 과다 발현만으로는 전사 조절의 변화와 구별되지 않으므로 copy 수 측정이 필요하다. 유방암의 15~20%에서 이 증폭이 보고되며, 증폭 여부가 항HER2 치료의 적응을 정한다.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MLH1의 기능 상실은 생식세포 변이 없이도 일어나기 때문이다. 산발성 대장암의 일부에서 MLH1 promoter가 후성유전적으로 과메틸화되어 전사가 꺼지고, 그 결과 단백질이 소실되고 mismatch repair가 기능하지 않아 microsatellite instability가 나타난다. 이 경우 변이는 종양에만 있고 생식세포에는 없으므로 유전성 암 증후군이 아니다. 추가 검사는 두 단계다. 먼저 종양에서 MLH1 promoter 메틸화를 측정하고 BRAF V600E 변이를 확인한다. BRAF V600E가 있으면 산발성 경로(serrated pathway)를 강하게 시사하며 Lynch syndrome일 가능성이 낮아진다. 메틸화가 없고 *BRAF*가 정상이면 생식세포 변이를 의심하고, 혈액 DNA에서 *MLH1*을 포함한 mismatch repair 유전자의 염기서열 분석과 큰 결실 검사를 수행한다. MSH2, MSH6, PMS2의 소실은 promoter 메틸화로 설명되는 경우가 드물어 처음부터 생식세포 검사로 간다는 점도 함께 알아 둔다.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합성 치사는 PARP 억제로 생긴 double-strand break를 상동재조합으로 복구하지 못할 때만 성립하므로, 상동재조합 능력이 어느 방식으로든 회복되면 저항이 생긴다. 첫째, *BRCA1*이나 *BRCA2*의 역전 변이다. 원래 frameshift를 일으킨 변이 자리에 2차 변이가 생겨 읽기틀이 복원되면 기능하는 단백질이 다시 만들어진다. 둘째, 경로 선택의 균형이 바뀌는 경우다. 53BP1이나 그 하위 인자가 소실되면 G1기에 막혀 있던 말단 깎기가 다시 일어나 BRCA1 없이도 상동재조합이 부분적으로 작동한다. 셋째, 약물 자체에 대한 저항이다. PARP1의 변이로 약이 결합하지 못하거나, 약물 유출 수송체의 발현이 늘어 세포 내 농도가 낮아진다. 그 밖에 분기점 보호가 회복되어 멈춘 분기점이 분해되지 않는 경우도 보고되었다. 확인 방법으로는 재생검 조직에서 상동재조합 기능을 직접 보는 RAD51 집결 측정과, 혈중 종양 DNA의 염기서열 분석으로 역전 변이를 찾는 방법이 쓰인다.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480560"/>
            <a:ext cx="12191695" cy="73152"/>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548640"/>
          </a:xfrm>
          <a:prstGeom prst="rect">
            <a:avLst/>
          </a:prstGeom>
          <a:noFill/>
        </p:spPr>
        <p:txBody>
          <a:bodyPr wrap="square" anchor="t">
            <a:spAutoFit/>
          </a:bodyPr>
          <a:lstStyle/>
          <a:p>
            <a:r>
              <a:rPr sz="1400" b="1" i="0">
                <a:solidFill>
                  <a:srgbClr val="F2B705"/>
                </a:solidFill>
                <a:latin typeface="Malgun Gothic"/>
                <a:ea typeface="Malgun Gothic"/>
                <a:cs typeface="Malgun Gothic"/>
              </a:rPr>
              <a:t>M01  인체일반생물학과 기초세포생물학</a:t>
            </a:r>
          </a:p>
        </p:txBody>
      </p:sp>
      <p:sp>
        <p:nvSpPr>
          <p:cNvPr id="5" name="TextBox 4"/>
          <p:cNvSpPr txBox="1"/>
          <p:nvPr/>
        </p:nvSpPr>
        <p:spPr>
          <a:xfrm>
            <a:off x="731520" y="1645920"/>
            <a:ext cx="10698480" cy="2194560"/>
          </a:xfrm>
          <a:prstGeom prst="rect">
            <a:avLst/>
          </a:prstGeom>
          <a:noFill/>
        </p:spPr>
        <p:txBody>
          <a:bodyPr wrap="square" anchor="b">
            <a:spAutoFit/>
          </a:bodyPr>
          <a:lstStyle/>
          <a:p>
            <a:r>
              <a:rPr sz="3400" b="1" i="0">
                <a:solidFill>
                  <a:srgbClr val="FFFFFF"/>
                </a:solidFill>
                <a:latin typeface="Malgun Gothic"/>
                <a:ea typeface="Malgun Gothic"/>
                <a:cs typeface="Malgun Gothic"/>
              </a:rPr>
              <a:t>DNA 복제·복구와 유전체 재배열</a:t>
            </a:r>
          </a:p>
          <a:p>
            <a:r>
              <a:rPr sz="1500" b="0" i="0">
                <a:solidFill>
                  <a:srgbClr val="B9D2E8"/>
                </a:solidFill>
                <a:latin typeface="Malgun Gothic"/>
                <a:ea typeface="Malgun Gothic"/>
                <a:cs typeface="Malgun Gothic"/>
              </a:rPr>
              <a:t>Replication, Maintenance and Rearrangement of Genomic DNA</a:t>
            </a:r>
          </a:p>
        </p:txBody>
      </p:sp>
      <p:sp>
        <p:nvSpPr>
          <p:cNvPr id="6" name="TextBox 5"/>
          <p:cNvSpPr txBox="1"/>
          <p:nvPr/>
        </p:nvSpPr>
        <p:spPr>
          <a:xfrm>
            <a:off x="731520" y="4754880"/>
            <a:ext cx="10698480" cy="1097280"/>
          </a:xfrm>
          <a:prstGeom prst="rect">
            <a:avLst/>
          </a:prstGeom>
          <a:noFill/>
        </p:spPr>
        <p:txBody>
          <a:bodyPr wrap="square" anchor="t">
            <a:spAutoFit/>
          </a:bodyPr>
          <a:lstStyle/>
          <a:p>
            <a:r>
              <a:rPr sz="1300" b="1" i="0">
                <a:solidFill>
                  <a:srgbClr val="FFFFFF"/>
                </a:solidFill>
                <a:latin typeface="Malgun Gothic"/>
                <a:ea typeface="Malgun Gothic"/>
                <a:cs typeface="Malgun Gothic"/>
              </a:rPr>
              <a:t>M01-W06-L03</a:t>
            </a:r>
          </a:p>
          <a:p>
            <a:r>
              <a:rPr sz="1100" b="0" i="0">
                <a:solidFill>
                  <a:srgbClr val="9FBEDA"/>
                </a:solidFill>
                <a:latin typeface="Malgun Gothic"/>
                <a:ea typeface="Malgun Gothic"/>
                <a:cs typeface="Malgun Gothic"/>
              </a:rPr>
              <a:t>6주 3회</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GOALS   </a:t>
            </a:r>
            <a:r>
              <a:rPr sz="2400" b="1" i="0">
                <a:solidFill>
                  <a:srgbClr val="FFFFFF"/>
                </a:solidFill>
                <a:latin typeface="Malgun Gothic"/>
                <a:ea typeface="Malgun Gothic"/>
                <a:cs typeface="Malgun Gothic"/>
              </a:rPr>
              <a:t>학습목표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M01-W06-L03  ·  DNA 복제·복구와 유전체 재배열</a:t>
            </a:r>
            <a:r>
              <a:rPr sz="900" b="1" i="0">
                <a:solidFill>
                  <a:srgbClr val="003C71"/>
                </a:solidFill>
                <a:latin typeface="Malgun Gothic"/>
                <a:ea typeface="Malgun Gothic"/>
                <a:cs typeface="Malgun Gothic"/>
              </a:rPr>
              <a:t>      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1.  </a:t>
            </a:r>
            <a:r>
              <a:rPr sz="1600" b="0" i="0">
                <a:solidFill>
                  <a:srgbClr val="11202B"/>
                </a:solidFill>
                <a:latin typeface="Malgun Gothic"/>
                <a:ea typeface="Malgun Gothic"/>
                <a:cs typeface="Malgun Gothic"/>
              </a:rPr>
              <a:t>DNA polymerase의 공통 성질 세 가지를 들고 그 성질이 복제 분기점의 구조를 어떻게 제약하는지 설명한다.</a:t>
            </a:r>
          </a:p>
          <a:p>
            <a:pPr>
              <a:spcAft>
                <a:spcPts val="900"/>
              </a:spcAft>
            </a:pPr>
            <a:r>
              <a:rPr sz="1600" b="1" i="0">
                <a:solidFill>
                  <a:srgbClr val="F2B705"/>
                </a:solidFill>
                <a:latin typeface="Malgun Gothic"/>
                <a:ea typeface="Malgun Gothic"/>
                <a:cs typeface="Malgun Gothic"/>
              </a:rPr>
              <a:t>2.  </a:t>
            </a:r>
            <a:r>
              <a:rPr sz="1600" b="0" i="0">
                <a:solidFill>
                  <a:srgbClr val="11202B"/>
                </a:solidFill>
                <a:latin typeface="Malgun Gothic"/>
                <a:ea typeface="Malgun Gothic"/>
                <a:cs typeface="Malgun Gothic"/>
              </a:rPr>
              <a:t>복제 분기점에 모이는 단백질을 기능별로 나열하고 leading 가닥과 lagging 가닥의 합성 과정을 단계로 서술한다.</a:t>
            </a:r>
          </a:p>
          <a:p>
            <a:pPr>
              <a:spcAft>
                <a:spcPts val="900"/>
              </a:spcAft>
            </a:pPr>
            <a:r>
              <a:rPr sz="1600" b="1" i="0">
                <a:solidFill>
                  <a:srgbClr val="F2B705"/>
                </a:solidFill>
                <a:latin typeface="Malgun Gothic"/>
                <a:ea typeface="Malgun Gothic"/>
                <a:cs typeface="Malgun Gothic"/>
              </a:rPr>
              <a:t>3.  </a:t>
            </a:r>
            <a:r>
              <a:rPr sz="1600" b="0" i="0">
                <a:solidFill>
                  <a:srgbClr val="11202B"/>
                </a:solidFill>
                <a:latin typeface="Malgun Gothic"/>
                <a:ea typeface="Malgun Gothic"/>
                <a:cs typeface="Malgun Gothic"/>
              </a:rPr>
              <a:t>복제 정확도를 만드는 세 단계를 구분하고 각 단계가 오류율을 얼마나 낮추는지 수치로 제시한다.</a:t>
            </a:r>
          </a:p>
          <a:p>
            <a:pPr>
              <a:spcAft>
                <a:spcPts val="900"/>
              </a:spcAft>
            </a:pPr>
            <a:r>
              <a:rPr sz="1600" b="1" i="0">
                <a:solidFill>
                  <a:srgbClr val="F2B705"/>
                </a:solidFill>
                <a:latin typeface="Malgun Gothic"/>
                <a:ea typeface="Malgun Gothic"/>
                <a:cs typeface="Malgun Gothic"/>
              </a:rPr>
              <a:t>4.  </a:t>
            </a:r>
            <a:r>
              <a:rPr sz="1600" b="0" i="0">
                <a:solidFill>
                  <a:srgbClr val="11202B"/>
                </a:solidFill>
                <a:latin typeface="Malgun Gothic"/>
                <a:ea typeface="Malgun Gothic"/>
                <a:cs typeface="Malgun Gothic"/>
              </a:rPr>
              <a:t>복제 원점의 개시 조절이 세포주기당 한 번의 복제를 보장하는 기전을 licensing 개념으로 설명한다.</a:t>
            </a:r>
          </a:p>
          <a:p>
            <a:pPr>
              <a:spcAft>
                <a:spcPts val="900"/>
              </a:spcAft>
            </a:pPr>
            <a:r>
              <a:rPr sz="1600" b="1" i="0">
                <a:solidFill>
                  <a:srgbClr val="F2B705"/>
                </a:solidFill>
                <a:latin typeface="Malgun Gothic"/>
                <a:ea typeface="Malgun Gothic"/>
                <a:cs typeface="Malgun Gothic"/>
              </a:rPr>
              <a:t>5.  </a:t>
            </a:r>
            <a:r>
              <a:rPr sz="1600" b="0" i="0">
                <a:solidFill>
                  <a:srgbClr val="11202B"/>
                </a:solidFill>
                <a:latin typeface="Malgun Gothic"/>
                <a:ea typeface="Malgun Gothic"/>
                <a:cs typeface="Malgun Gothic"/>
              </a:rPr>
              <a:t>Telomerase의 작용을 주형과 산물로 설명하고 telomere 단축이 분열 횟수를 제한하는 과정을 서술한다.</a:t>
            </a:r>
          </a:p>
          <a:p>
            <a:pPr>
              <a:spcAft>
                <a:spcPts val="900"/>
              </a:spcAft>
            </a:pPr>
            <a:r>
              <a:rPr sz="1600" b="1" i="0">
                <a:solidFill>
                  <a:srgbClr val="F2B705"/>
                </a:solidFill>
                <a:latin typeface="Malgun Gothic"/>
                <a:ea typeface="Malgun Gothic"/>
                <a:cs typeface="Malgun Gothic"/>
              </a:rPr>
              <a:t>6.  </a:t>
            </a:r>
            <a:r>
              <a:rPr sz="1600" b="0" i="0">
                <a:solidFill>
                  <a:srgbClr val="11202B"/>
                </a:solidFill>
                <a:latin typeface="Malgun Gothic"/>
                <a:ea typeface="Malgun Gothic"/>
                <a:cs typeface="Malgun Gothic"/>
              </a:rPr>
              <a:t>DNA 손상 복구 경로를 직접 복구, base-excision repair, nucleotide-excision repair, mismatch repair로 구분하고 각 경로가 처리하는 손상을 든다.</a:t>
            </a:r>
          </a:p>
          <a:p>
            <a:pPr>
              <a:spcAft>
                <a:spcPts val="900"/>
              </a:spcAft>
            </a:pPr>
            <a:r>
              <a:rPr sz="1600" b="1" i="0">
                <a:solidFill>
                  <a:srgbClr val="F2B705"/>
                </a:solidFill>
                <a:latin typeface="Malgun Gothic"/>
                <a:ea typeface="Malgun Gothic"/>
                <a:cs typeface="Malgun Gothic"/>
              </a:rPr>
              <a:t>7.  </a:t>
            </a:r>
            <a:r>
              <a:rPr sz="1600" b="0" i="0">
                <a:solidFill>
                  <a:srgbClr val="11202B"/>
                </a:solidFill>
                <a:latin typeface="Malgun Gothic"/>
                <a:ea typeface="Malgun Gothic"/>
                <a:cs typeface="Malgun Gothic"/>
              </a:rPr>
              <a:t>Double-strand break의 두 복구 경로를 비교하고 어느 경로가 서열 정보를 보존하는지 판단한다.</a:t>
            </a:r>
          </a:p>
          <a:p>
            <a:pPr>
              <a:spcAft>
                <a:spcPts val="900"/>
              </a:spcAft>
            </a:pPr>
            <a:r>
              <a:rPr sz="1600" b="1" i="0">
                <a:solidFill>
                  <a:srgbClr val="F2B705"/>
                </a:solidFill>
                <a:latin typeface="Malgun Gothic"/>
                <a:ea typeface="Malgun Gothic"/>
                <a:cs typeface="Malgun Gothic"/>
              </a:rPr>
              <a:t>8.  </a:t>
            </a:r>
            <a:r>
              <a:rPr sz="1600" b="0" i="0">
                <a:solidFill>
                  <a:srgbClr val="11202B"/>
                </a:solidFill>
                <a:latin typeface="Malgun Gothic"/>
                <a:ea typeface="Malgun Gothic"/>
                <a:cs typeface="Malgun Gothic"/>
              </a:rPr>
              <a:t>면역글로불린 유전자의 프로그램된 재배열과 유전자 증폭이 유전체 변화를 만드는 과정을 설명한다.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PREREQ   </a:t>
            </a:r>
            <a:r>
              <a:rPr sz="2400" b="1" i="0">
                <a:solidFill>
                  <a:srgbClr val="FFFFFF"/>
                </a:solidFill>
                <a:latin typeface="Malgun Gothic"/>
                <a:ea typeface="Malgun Gothic"/>
                <a:cs typeface="Malgun Gothic"/>
              </a:rPr>
              <a:t>선수지식</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M01-W06-L03  ·  DNA 복제·복구와 유전체 재배열</a:t>
            </a:r>
            <a:r>
              <a:rPr sz="900" b="1" i="0">
                <a:solidFill>
                  <a:srgbClr val="003C71"/>
                </a:solidFill>
                <a:latin typeface="Malgun Gothic"/>
                <a:ea typeface="Malgun Gothic"/>
                <a:cs typeface="Malgun Gothic"/>
              </a:rPr>
              <a:t>      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M01-W06-L02 유전자와 유전체의 구성 — telomere와 centromere의 서열 구조, nucleosome과 chromatin의 응축</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M01-W06-L01 재조합 DNA와 분자생물학 실험 기법 — 서열 분석, hybridization, PCR</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M01-W05-L02 생체분자와 막의 구조 — DNA 이중나선, 염기쌍, 5′→3′ 방향성</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OUTLINE   </a:t>
            </a:r>
            <a:r>
              <a:rPr sz="2400" b="1" i="0">
                <a:solidFill>
                  <a:srgbClr val="FFFFFF"/>
                </a:solidFill>
                <a:latin typeface="Malgun Gothic"/>
                <a:ea typeface="Malgun Gothic"/>
                <a:cs typeface="Malgun Gothic"/>
              </a:rPr>
              <a:t>강의 구성</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M01-W06-L03  ·  DNA 복제·복구와 유전체 재배열</a:t>
            </a:r>
            <a:r>
              <a:rPr sz="900" b="1" i="0">
                <a:solidFill>
                  <a:srgbClr val="003C71"/>
                </a:solidFill>
                <a:latin typeface="Malgun Gothic"/>
                <a:ea typeface="Malgun Gothic"/>
                <a:cs typeface="Malgun Gothic"/>
              </a:rPr>
              <a:t>      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1.  </a:t>
            </a:r>
            <a:r>
              <a:rPr sz="1800" b="0" i="0">
                <a:solidFill>
                  <a:srgbClr val="11202B"/>
                </a:solidFill>
                <a:latin typeface="Malgun Gothic"/>
                <a:ea typeface="Malgun Gothic"/>
                <a:cs typeface="Malgun Gothic"/>
              </a:rPr>
              <a:t>1. 들어가며: 유전체를 지킨다는 문제</a:t>
            </a:r>
          </a:p>
          <a:p>
            <a:pPr>
              <a:spcAft>
                <a:spcPts val="900"/>
              </a:spcAft>
            </a:pPr>
            <a:r>
              <a:rPr sz="1800" b="1" i="0">
                <a:solidFill>
                  <a:srgbClr val="F2B705"/>
                </a:solidFill>
                <a:latin typeface="Malgun Gothic"/>
                <a:ea typeface="Malgun Gothic"/>
                <a:cs typeface="Malgun Gothic"/>
              </a:rPr>
              <a:t>2.  </a:t>
            </a:r>
            <a:r>
              <a:rPr sz="1800" b="0" i="0">
                <a:solidFill>
                  <a:srgbClr val="11202B"/>
                </a:solidFill>
                <a:latin typeface="Malgun Gothic"/>
                <a:ea typeface="Malgun Gothic"/>
                <a:cs typeface="Malgun Gothic"/>
              </a:rPr>
              <a:t>2. 반보존적 복제와 DNA polymerase의 공통 성질</a:t>
            </a:r>
          </a:p>
          <a:p>
            <a:pPr>
              <a:spcAft>
                <a:spcPts val="900"/>
              </a:spcAft>
            </a:pPr>
            <a:r>
              <a:rPr sz="1800" b="1" i="0">
                <a:solidFill>
                  <a:srgbClr val="F2B705"/>
                </a:solidFill>
                <a:latin typeface="Malgun Gothic"/>
                <a:ea typeface="Malgun Gothic"/>
                <a:cs typeface="Malgun Gothic"/>
              </a:rPr>
              <a:t>3.  </a:t>
            </a:r>
            <a:r>
              <a:rPr sz="1800" b="0" i="0">
                <a:solidFill>
                  <a:srgbClr val="11202B"/>
                </a:solidFill>
                <a:latin typeface="Malgun Gothic"/>
                <a:ea typeface="Malgun Gothic"/>
                <a:cs typeface="Malgun Gothic"/>
              </a:rPr>
              <a:t>3. 복제 분기점의 구조와 두 가닥의 합성</a:t>
            </a:r>
          </a:p>
          <a:p>
            <a:pPr>
              <a:spcAft>
                <a:spcPts val="900"/>
              </a:spcAft>
            </a:pPr>
            <a:r>
              <a:rPr sz="1800" b="1" i="0">
                <a:solidFill>
                  <a:srgbClr val="F2B705"/>
                </a:solidFill>
                <a:latin typeface="Malgun Gothic"/>
                <a:ea typeface="Malgun Gothic"/>
                <a:cs typeface="Malgun Gothic"/>
              </a:rPr>
              <a:t>4.  </a:t>
            </a:r>
            <a:r>
              <a:rPr sz="1800" b="0" i="0">
                <a:solidFill>
                  <a:srgbClr val="11202B"/>
                </a:solidFill>
                <a:latin typeface="Malgun Gothic"/>
                <a:ea typeface="Malgun Gothic"/>
                <a:cs typeface="Malgun Gothic"/>
              </a:rPr>
              <a:t>4. 복제의 정확도: 염기 선택, proofreading, mismatch repair</a:t>
            </a:r>
          </a:p>
          <a:p>
            <a:pPr>
              <a:spcAft>
                <a:spcPts val="900"/>
              </a:spcAft>
            </a:pPr>
            <a:r>
              <a:rPr sz="1800" b="1" i="0">
                <a:solidFill>
                  <a:srgbClr val="F2B705"/>
                </a:solidFill>
                <a:latin typeface="Malgun Gothic"/>
                <a:ea typeface="Malgun Gothic"/>
                <a:cs typeface="Malgun Gothic"/>
              </a:rPr>
              <a:t>5.  </a:t>
            </a:r>
            <a:r>
              <a:rPr sz="1800" b="0" i="0">
                <a:solidFill>
                  <a:srgbClr val="11202B"/>
                </a:solidFill>
                <a:latin typeface="Malgun Gothic"/>
                <a:ea typeface="Malgun Gothic"/>
                <a:cs typeface="Malgun Gothic"/>
              </a:rPr>
              <a:t>5. 복제 원점과 개시 조절</a:t>
            </a:r>
          </a:p>
          <a:p>
            <a:pPr>
              <a:spcAft>
                <a:spcPts val="900"/>
              </a:spcAft>
            </a:pPr>
            <a:r>
              <a:rPr sz="1800" b="1" i="0">
                <a:solidFill>
                  <a:srgbClr val="F2B705"/>
                </a:solidFill>
                <a:latin typeface="Malgun Gothic"/>
                <a:ea typeface="Malgun Gothic"/>
                <a:cs typeface="Malgun Gothic"/>
              </a:rPr>
              <a:t>6.  </a:t>
            </a:r>
            <a:r>
              <a:rPr sz="1800" b="0" i="0">
                <a:solidFill>
                  <a:srgbClr val="11202B"/>
                </a:solidFill>
                <a:latin typeface="Malgun Gothic"/>
                <a:ea typeface="Malgun Gothic"/>
                <a:cs typeface="Malgun Gothic"/>
              </a:rPr>
              <a:t>6. Telomere와 telomerase</a:t>
            </a:r>
          </a:p>
          <a:p>
            <a:pPr>
              <a:spcAft>
                <a:spcPts val="900"/>
              </a:spcAft>
            </a:pPr>
            <a:r>
              <a:rPr sz="1800" b="1" i="0">
                <a:solidFill>
                  <a:srgbClr val="F2B705"/>
                </a:solidFill>
                <a:latin typeface="Malgun Gothic"/>
                <a:ea typeface="Malgun Gothic"/>
                <a:cs typeface="Malgun Gothic"/>
              </a:rPr>
              <a:t>7.  </a:t>
            </a:r>
            <a:r>
              <a:rPr sz="1800" b="0" i="0">
                <a:solidFill>
                  <a:srgbClr val="11202B"/>
                </a:solidFill>
                <a:latin typeface="Malgun Gothic"/>
                <a:ea typeface="Malgun Gothic"/>
                <a:cs typeface="Malgun Gothic"/>
              </a:rPr>
              <a:t>7. DNA 손상과 복구: 직접 복구와 excision repair</a:t>
            </a:r>
          </a:p>
          <a:p>
            <a:pPr>
              <a:spcAft>
                <a:spcPts val="900"/>
              </a:spcAft>
            </a:pPr>
            <a:r>
              <a:rPr sz="1800" b="1" i="0">
                <a:solidFill>
                  <a:srgbClr val="F2B705"/>
                </a:solidFill>
                <a:latin typeface="Malgun Gothic"/>
                <a:ea typeface="Malgun Gothic"/>
                <a:cs typeface="Malgun Gothic"/>
              </a:rPr>
              <a:t>8.  </a:t>
            </a:r>
            <a:r>
              <a:rPr sz="1800" b="0" i="0">
                <a:solidFill>
                  <a:srgbClr val="11202B"/>
                </a:solidFill>
                <a:latin typeface="Malgun Gothic"/>
                <a:ea typeface="Malgun Gothic"/>
                <a:cs typeface="Malgun Gothic"/>
              </a:rPr>
              <a:t>8. 손상을 건너뛰는 합성과 double-strand break의 복구</a:t>
            </a:r>
          </a:p>
          <a:p>
            <a:pPr>
              <a:spcAft>
                <a:spcPts val="900"/>
              </a:spcAft>
            </a:pPr>
            <a:r>
              <a:rPr sz="1800" b="1" i="0">
                <a:solidFill>
                  <a:srgbClr val="F2B705"/>
                </a:solidFill>
                <a:latin typeface="Malgun Gothic"/>
                <a:ea typeface="Malgun Gothic"/>
                <a:cs typeface="Malgun Gothic"/>
              </a:rPr>
              <a:t>9.  </a:t>
            </a:r>
            <a:r>
              <a:rPr sz="1800" b="0" i="0">
                <a:solidFill>
                  <a:srgbClr val="11202B"/>
                </a:solidFill>
                <a:latin typeface="Malgun Gothic"/>
                <a:ea typeface="Malgun Gothic"/>
                <a:cs typeface="Malgun Gothic"/>
              </a:rPr>
              <a:t>9. 프로그램된 유전체 재배열과 유전자 증폭</a:t>
            </a:r>
          </a:p>
          <a:p>
            <a:pPr>
              <a:spcAft>
                <a:spcPts val="900"/>
              </a:spcAft>
            </a:pPr>
            <a:r>
              <a:rPr sz="1800" b="1" i="0">
                <a:solidFill>
                  <a:srgbClr val="F2B705"/>
                </a:solidFill>
                <a:latin typeface="Malgun Gothic"/>
                <a:ea typeface="Malgun Gothic"/>
                <a:cs typeface="Malgun Gothic"/>
              </a:rPr>
              <a:t>10.  </a:t>
            </a:r>
            <a:r>
              <a:rPr sz="1800" b="0" i="0">
                <a:solidFill>
                  <a:srgbClr val="11202B"/>
                </a:solidFill>
                <a:latin typeface="Malgun Gothic"/>
                <a:ea typeface="Malgun Gothic"/>
                <a:cs typeface="Malgun Gothic"/>
              </a:rPr>
              <a:t>10. 연결</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들어가며: 유전체를 지킨다는 문제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M01-W06-L03  ·  DNA 복제·복구와 유전체 재배열</a:t>
            </a:r>
            <a:r>
              <a:rPr sz="900" b="1" i="0">
                <a:solidFill>
                  <a:srgbClr val="003C71"/>
                </a:solidFill>
                <a:latin typeface="Malgun Gothic"/>
                <a:ea typeface="Malgun Gothic"/>
                <a:cs typeface="Malgun Gothic"/>
              </a:rPr>
              <a:t>      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수업은 하나의 질문에서 시작한다. </a:t>
            </a:r>
            <a:r>
              <a:rPr sz="1400" b="1" i="0">
                <a:solidFill>
                  <a:srgbClr val="11202B"/>
                </a:solidFill>
                <a:latin typeface="Malgun Gothic"/>
                <a:ea typeface="Malgun Gothic"/>
                <a:cs typeface="Malgun Gothic"/>
              </a:rPr>
              <a:t>세포가 둘로 나뉘려면 그 안의 DNA도 한 벌 더 있어야 한다.</a:t>
            </a:r>
            <a:r>
              <a:rPr sz="1400" b="0" i="0">
                <a:solidFill>
                  <a:srgbClr val="11202B"/>
                </a:solidFill>
                <a:latin typeface="Malgun Gothic"/>
                <a:ea typeface="Malgun Gothic"/>
                <a:cs typeface="Malgun Gothic"/>
              </a:rPr>
              <a:t> 그 한 벌을 어떻게 만들고, 만드는 동안 생기는 실수와 그 뒤에 생기는 손상을 어떻게 처리하는가. 이것이 유전체 유지의 문제다.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먼저 규모를 숫자로 잡아 두자. 사람의 체세포 하나에는 약 30억 염기쌍이 들어 있고, 두 벌이므로 모두 60억 염기쌍이다. 이것을 세포는 보통 여덟 시간 안팎에 전부 복제한다. 분당 수만 염기쌍을 쉬지 않고 이어 붙이는 속도다. 그리고 그 많은 염기 가운데 틀리는 것이 평균 몇 개 수준이어야 한다. </a:t>
            </a:r>
            <a:r>
              <a:rPr sz="1400" b="1" i="0">
                <a:solidFill>
                  <a:srgbClr val="11202B"/>
                </a:solidFill>
                <a:latin typeface="Malgun Gothic"/>
                <a:ea typeface="Malgun Gothic"/>
                <a:cs typeface="Malgun Gothic"/>
              </a:rPr>
              <a:t>속도와 정확도를 동시에 요구받는 과정</a:t>
            </a:r>
            <a:r>
              <a:rPr sz="1400" b="0" i="0">
                <a:solidFill>
                  <a:srgbClr val="11202B"/>
                </a:solidFill>
                <a:latin typeface="Malgun Gothic"/>
                <a:ea typeface="Malgun Gothic"/>
                <a:cs typeface="Malgun Gothic"/>
              </a:rPr>
              <a:t>이라는 점이 이 수업 전체의 긴장이다.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왜 정확해야 하는지도 분명히 해 두자. 복제에서 생긴 실수는 그 세포의 모든 자손에게 그대로 전달된다. 단백질을 만들다 생긴 실수는 그 단백질 하나로 끝나고 분해되면 사라지지만, DNA의 실수는 지워지지 않는다. </a:t>
            </a:r>
            <a:r>
              <a:rPr sz="1400" b="1" i="0">
                <a:solidFill>
                  <a:srgbClr val="11202B"/>
                </a:solidFill>
                <a:latin typeface="Malgun Gothic"/>
                <a:ea typeface="Malgun Gothic"/>
                <a:cs typeface="Malgun Gothic"/>
              </a:rPr>
              <a:t>DNA는 되돌릴 수 없는 기록</a:t>
            </a:r>
            <a:r>
              <a:rPr sz="1400" b="0" i="0">
                <a:solidFill>
                  <a:srgbClr val="11202B"/>
                </a:solidFill>
                <a:latin typeface="Malgun Gothic"/>
                <a:ea typeface="Malgun Gothic"/>
                <a:cs typeface="Malgun Gothic"/>
              </a:rPr>
              <a:t>이므로 다른 어떤 분자보다 정확하게 다루어야 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본문에서 계속 쓰는 기초 용어를 네 개만 먼저 정의한다.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주형(template)</a:t>
            </a:r>
            <a:r>
              <a:rPr sz="1400" b="0" i="0">
                <a:solidFill>
                  <a:srgbClr val="11202B"/>
                </a:solidFill>
                <a:latin typeface="Malgun Gothic"/>
                <a:ea typeface="Malgun Gothic"/>
                <a:cs typeface="Malgun Gothic"/>
              </a:rPr>
              <a:t>: 새 가닥을 만들 때 베끼는 쪽의 가닥이다. 어느 염기를 넣을지는 주형이 정한다.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상보성</a:t>
            </a:r>
            <a:r>
              <a:rPr sz="1400" b="0" i="0">
                <a:solidFill>
                  <a:srgbClr val="11202B"/>
                </a:solidFill>
                <a:latin typeface="Malgun Gothic"/>
                <a:ea typeface="Malgun Gothic"/>
                <a:cs typeface="Malgun Gothic"/>
              </a:rPr>
              <a:t>: A는 T와, G는 C와만 짝을 이룬다는 성질이다. 그래서 한 가닥의 서열을 알면 다른 가닥의 서열이 자동으로 정해지고, </a:t>
            </a:r>
            <a:r>
              <a:rPr sz="1400" b="1" i="0">
                <a:solidFill>
                  <a:srgbClr val="11202B"/>
                </a:solidFill>
                <a:latin typeface="Malgun Gothic"/>
                <a:ea typeface="Malgun Gothic"/>
                <a:cs typeface="Malgun Gothic"/>
              </a:rPr>
              <a:t>가닥 하나만 남아도 나머지를 복원할 수 있다.</a:t>
            </a:r>
            <a:r>
              <a:rPr sz="1400" b="0" i="0">
                <a:solidFill>
                  <a:srgbClr val="11202B"/>
                </a:solidFill>
                <a:latin typeface="Malgun Gothic"/>
                <a:ea typeface="Malgun Gothic"/>
                <a:cs typeface="Malgun Gothic"/>
              </a:rPr>
              <a:t> 복제와 복구가 모두 이 성질에 기댄다.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가닥의 방향</a:t>
            </a:r>
            <a:r>
              <a:rPr sz="1400" b="0" i="0">
                <a:solidFill>
                  <a:srgbClr val="11202B"/>
                </a:solidFill>
                <a:latin typeface="Malgun Gothic"/>
                <a:ea typeface="Malgun Gothic"/>
                <a:cs typeface="Malgun Gothic"/>
              </a:rPr>
              <a:t>: DNA 사슬은 한쪽 끝이 5′, 다른 쪽이 3′이다. 두 가닥은 서로 반대 방향으로 놓여 있다. 뒤에서 보듯 이 방향성 하나가 복제 과정의 거의 모든 복잡함을 만든다.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복제 분기점(replication fork)</a:t>
            </a:r>
            <a:r>
              <a:rPr sz="1400" b="0" i="0">
                <a:solidFill>
                  <a:srgbClr val="11202B"/>
                </a:solidFill>
                <a:latin typeface="Malgun Gothic"/>
                <a:ea typeface="Malgun Gothic"/>
                <a:cs typeface="Malgun Gothic"/>
              </a:rPr>
              <a:t>: 두 가닥이 열리면서 새 가닥이 만들어지고 있는 Y자 모양의 자리다.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들어가며: 유전체를 지킨다는 문제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M01-W06-L03  ·  DNA 복제·복구와 유전체 재배열</a:t>
            </a:r>
            <a:r>
              <a:rPr sz="900" b="1" i="0">
                <a:solidFill>
                  <a:srgbClr val="003C71"/>
                </a:solidFill>
                <a:latin typeface="Malgun Gothic"/>
                <a:ea typeface="Malgun Gothic"/>
                <a:cs typeface="Malgun Gothic"/>
              </a:rPr>
              <a:t>      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절은 다음 순서로 쌓인다. 먼저 복제가 어떤 방식으로 일어나는지를 실험으로 확인하고(2절), 그 방식이 요구하는 분기점의 구조를 본다(3절). 이어서 정확도가 어떻게 만들어지는지(4절), 언제 어디서 시작하는지(5절), 선형 염색체의 끝은 어떻게 처리하는지(6절)를 다룬다. 그다음 복제와 무관하게 늘 생기는 손상의 복구로 넘어가고(7·8절), 마지막으로 세포가 </a:t>
            </a:r>
            <a:r>
              <a:rPr sz="2000" b="1" i="0">
                <a:solidFill>
                  <a:srgbClr val="11202B"/>
                </a:solidFill>
                <a:latin typeface="Malgun Gothic"/>
                <a:ea typeface="Malgun Gothic"/>
                <a:cs typeface="Malgun Gothic"/>
              </a:rPr>
              <a:t>일부러</a:t>
            </a:r>
            <a:r>
              <a:rPr sz="2000" b="0" i="0">
                <a:solidFill>
                  <a:srgbClr val="11202B"/>
                </a:solidFill>
                <a:latin typeface="Malgun Gothic"/>
                <a:ea typeface="Malgun Gothic"/>
                <a:cs typeface="Malgun Gothic"/>
              </a:rPr>
              <a:t> 유전체를 바꾸는 경우를 본다(9절).</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들어가며: 유전체를 지킨다는 문제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M01-W06-L03  ·  DNA 복제·복구와 유전체 재배열</a:t>
            </a:r>
            <a:r>
              <a:rPr sz="900" b="1" i="0">
                <a:solidFill>
                  <a:srgbClr val="003C71"/>
                </a:solidFill>
                <a:latin typeface="Malgun Gothic"/>
                <a:ea typeface="Malgun Gothic"/>
                <a:cs typeface="Malgun Gothic"/>
              </a:rPr>
              <a:t>      7</a:t>
            </a:r>
          </a:p>
        </p:txBody>
      </p:sp>
      <p:sp>
        <p:nvSpPr>
          <p:cNvPr id="7" name="Rectangle 6"/>
          <p:cNvSpPr/>
          <p:nvPr/>
        </p:nvSpPr>
        <p:spPr>
          <a:xfrm>
            <a:off x="640080" y="1325880"/>
            <a:ext cx="10881360" cy="1092200"/>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1" i="0">
                <a:solidFill>
                  <a:srgbClr val="11202B"/>
                </a:solidFill>
                <a:latin typeface="Malgun Gothic"/>
                <a:ea typeface="Malgun Gothic"/>
                <a:cs typeface="Malgun Gothic"/>
              </a:rPr>
              <a:t>핵심 정리</a:t>
            </a:r>
            <a:r>
              <a:rPr sz="1600" b="0" i="0">
                <a:solidFill>
                  <a:srgbClr val="11202B"/>
                </a:solidFill>
                <a:latin typeface="Malgun Gothic"/>
                <a:ea typeface="Malgun Gothic"/>
                <a:cs typeface="Malgun Gothic"/>
              </a:rPr>
              <a:t> 복제는 속도와 정확도를 동시에 요구받는 과정이고, DNA의 실수는 지워지지 않으므로 그 요구가 특히 엄격하다. 상보성과 가닥의 방향성이 이어지는 모든 기전의 전제다.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000" b="1" i="0">
                <a:solidFill>
                  <a:srgbClr val="FFFFFF"/>
                </a:solidFill>
                <a:latin typeface="Malgun Gothic"/>
                <a:ea typeface="Malgun Gothic"/>
                <a:cs typeface="Malgun Gothic"/>
              </a:rPr>
              <a:t>2. 반보존적 복제와 DNA polymerase의 공통 성질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M01-W06-L03  ·  DNA 복제·복구와 유전체 재배열</a:t>
            </a:r>
            <a:r>
              <a:rPr sz="900" b="1" i="0">
                <a:solidFill>
                  <a:srgbClr val="003C71"/>
                </a:solidFill>
                <a:latin typeface="Malgun Gothic"/>
                <a:ea typeface="Malgun Gothic"/>
                <a:cs typeface="Malgun Gothic"/>
              </a:rPr>
              <a:t>      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복제 방식에는 애초에 세 가지 후보가 있었다. 두 가닥이 갈라져 각각 새 짝을 얻는 방식, 원래 분자는 그대로 남고 완전히 새 분자가 따로 만들어지는 방식, 그리고 옛 가닥과 새 가닥이 토막토막 섞이는 방식이다. 세 후보를 가리려면 </a:t>
            </a:r>
            <a:r>
              <a:rPr sz="1400" b="1" i="0">
                <a:solidFill>
                  <a:srgbClr val="11202B"/>
                </a:solidFill>
                <a:latin typeface="Malgun Gothic"/>
                <a:ea typeface="Malgun Gothic"/>
                <a:cs typeface="Malgun Gothic"/>
              </a:rPr>
              <a:t>새로 만든 DNA와 원래 있던 DNA를 구별할 수단</a:t>
            </a:r>
            <a:r>
              <a:rPr sz="1400" b="0" i="0">
                <a:solidFill>
                  <a:srgbClr val="11202B"/>
                </a:solidFill>
                <a:latin typeface="Malgun Gothic"/>
                <a:ea typeface="Malgun Gothic"/>
                <a:cs typeface="Malgun Gothic"/>
              </a:rPr>
              <a:t>이 필요했다.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그 수단이 무게였다. 질소에는 보통의 14N과 그보다 무거운 15N이 있고, 15N이 든 배지에서 세균을 키우면 그 DNA의 염기에 무거운 질소가 들어가 분자 전체가 조금 무거워진다. 무게 차이를 보는 방법이 </a:t>
            </a:r>
            <a:r>
              <a:rPr sz="1400" b="1" i="0">
                <a:solidFill>
                  <a:srgbClr val="11202B"/>
                </a:solidFill>
                <a:latin typeface="Malgun Gothic"/>
                <a:ea typeface="Malgun Gothic"/>
                <a:cs typeface="Malgun Gothic"/>
              </a:rPr>
              <a:t>밀도구배 원심분리</a:t>
            </a:r>
            <a:r>
              <a:rPr sz="1400" b="0" i="0">
                <a:solidFill>
                  <a:srgbClr val="11202B"/>
                </a:solidFill>
                <a:latin typeface="Malgun Gothic"/>
                <a:ea typeface="Malgun Gothic"/>
                <a:cs typeface="Malgun Gothic"/>
              </a:rPr>
              <a:t>다. 세슘 염 용액을 빠르게 돌리면 용액 자체에 아래로 갈수록 밀도가 높아지는 기울기가 생기고, 그 안의 DNA는 자기 밀도와 같은 높이에 머물러 띠를 만든다. 무거운 DNA는 아래쪽, 가벼운 DNA는 위쪽에 띠로 보인다. 이 방법으로 세 후보가 예측하는 서로 다른 띠 양상을 구별할 수 있었다.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Watson과 Crick의 이중나선 모형은 복제 방식을 곧바로 제안했다. 두 가닥이 상보적이므로 각 가닥이 주형이 되어 상대 가닥을 다시 만들 수 있다. 이 예측은 1958년 Meselson과 Stahl의 실험으로 확인되었다. 15N 배지에서 키운 *E. coli*를 14N 배지로 옮기고 세대마다 DNA를 CsCl 밀도구배 원심분리로 분리했더니, 한 세대 뒤에는 무거운 띠와 가벼운 띠의 중간 밀도 띠 하나만, 두 세대 뒤에는 중간 띠와 가벼운 띠가 1:1로 나타났다. 완전히 새 분자와 완전히 옛 분자로 갈라지는 보존적 복제라면 한 세대 뒤에 무거운 띠와 가벼운 띠가 함께 나왔어야 한다. 관찰된 결과는 각 분자가 옛 가닥 하나와 새 가닥 하나로 이루어진다는 </a:t>
            </a:r>
            <a:r>
              <a:rPr sz="1400" b="1" i="0">
                <a:solidFill>
                  <a:srgbClr val="11202B"/>
                </a:solidFill>
                <a:latin typeface="Malgun Gothic"/>
                <a:ea typeface="Malgun Gothic"/>
                <a:cs typeface="Malgun Gothic"/>
              </a:rPr>
              <a:t>반보존적 복제(semiconservative replication)</a:t>
            </a:r>
            <a:r>
              <a:rPr sz="1400" b="0" i="0">
                <a:solidFill>
                  <a:srgbClr val="11202B"/>
                </a:solidFill>
                <a:latin typeface="Malgun Gothic"/>
                <a:ea typeface="Malgun Gothic"/>
                <a:cs typeface="Malgun Gothic"/>
              </a:rPr>
              <a:t>와만 일치한다.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복제를 수행하는 효소는 1956년 Kornberg가 E. coli 추출물에서 분리한 </a:t>
            </a:r>
            <a:r>
              <a:rPr sz="1400" b="1" i="0">
                <a:solidFill>
                  <a:srgbClr val="11202B"/>
                </a:solidFill>
                <a:latin typeface="Malgun Gothic"/>
                <a:ea typeface="Malgun Gothic"/>
                <a:cs typeface="Malgun Gothic"/>
              </a:rPr>
              <a:t>DNA polymerase</a:t>
            </a:r>
            <a:r>
              <a:rPr sz="1400" b="0" i="0">
                <a:solidFill>
                  <a:srgbClr val="11202B"/>
                </a:solidFill>
                <a:latin typeface="Malgun Gothic"/>
                <a:ea typeface="Malgun Gothic"/>
                <a:cs typeface="Malgun Gothic"/>
              </a:rPr>
              <a:t>다. 이후 발견된 모든 DNA polymerase는 세 가지 성질을 공유한다.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000" b="1" i="0">
                <a:solidFill>
                  <a:srgbClr val="FFFFFF"/>
                </a:solidFill>
                <a:latin typeface="Malgun Gothic"/>
                <a:ea typeface="Malgun Gothic"/>
                <a:cs typeface="Malgun Gothic"/>
              </a:rPr>
              <a:t>2. 반보존적 복제와 DNA polymerase의 공통 성질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M01-W06-L03  ·  DNA 복제·복구와 유전체 재배열</a:t>
            </a:r>
            <a:r>
              <a:rPr sz="900" b="1" i="0">
                <a:solidFill>
                  <a:srgbClr val="003C71"/>
                </a:solidFill>
                <a:latin typeface="Malgun Gothic"/>
                <a:ea typeface="Malgun Gothic"/>
                <a:cs typeface="Malgun Gothic"/>
              </a:rPr>
              <a:t>      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합성 방향이 5′→3′ 한 방향이다.</a:t>
            </a:r>
            <a:r>
              <a:rPr sz="1400" b="0" i="0">
                <a:solidFill>
                  <a:srgbClr val="11202B"/>
                </a:solidFill>
                <a:latin typeface="Malgun Gothic"/>
                <a:ea typeface="Malgun Gothic"/>
                <a:cs typeface="Malgun Gothic"/>
              </a:rPr>
              <a:t> 새 뉴클레오타이드의 5′ 삼인산이 신생 가닥 3′ 말단의 hydroxyl기와 결합하며, 이때 pyrophosphate가 떨어져 나오는 가수분해가 반응을 끌어간다.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스스로 합성을 시작할 수 없다.</a:t>
            </a:r>
            <a:r>
              <a:rPr sz="1400" b="0" i="0">
                <a:solidFill>
                  <a:srgbClr val="11202B"/>
                </a:solidFill>
                <a:latin typeface="Malgun Gothic"/>
                <a:ea typeface="Malgun Gothic"/>
                <a:cs typeface="Malgun Gothic"/>
              </a:rPr>
              <a:t> 3′ 말단을 가진 primer가 이미 주형에 붙어 있어야 그 뒤를 이어 붙인다. 뉴클레오타이드 두 개를 처음부터 잇는 활성이 없다.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주형 의존적이다.</a:t>
            </a:r>
            <a:r>
              <a:rPr sz="1400" b="0" i="0">
                <a:solidFill>
                  <a:srgbClr val="11202B"/>
                </a:solidFill>
                <a:latin typeface="Malgun Gothic"/>
                <a:ea typeface="Malgun Gothic"/>
                <a:cs typeface="Malgun Gothic"/>
              </a:rPr>
              <a:t> 들어갈 염기는 주형 염기와의 상보성으로 선택된다.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세 성질이 복제 기구의 복잡성을 모두 설명한다. Primer가 필요하므로 </a:t>
            </a:r>
            <a:r>
              <a:rPr sz="1400" b="1" i="0">
                <a:solidFill>
                  <a:srgbClr val="11202B"/>
                </a:solidFill>
                <a:latin typeface="Malgun Gothic"/>
                <a:ea typeface="Malgun Gothic"/>
                <a:cs typeface="Malgun Gothic"/>
              </a:rPr>
              <a:t>primase</a:t>
            </a:r>
            <a:r>
              <a:rPr sz="1400" b="0" i="0">
                <a:solidFill>
                  <a:srgbClr val="11202B"/>
                </a:solidFill>
                <a:latin typeface="Malgun Gothic"/>
                <a:ea typeface="Malgun Gothic"/>
                <a:cs typeface="Malgun Gothic"/>
              </a:rPr>
              <a:t>가 있어야 하고, 한 방향으로만 합성되므로 반대 방향으로 열리는 가닥은 토막으로 나누어 만들어야 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진핵세포는 역할이 다른 polymerase를 여럿 갖는다. </a:t>
            </a:r>
            <a:r>
              <a:rPr sz="1400" b="1" i="0">
                <a:solidFill>
                  <a:srgbClr val="11202B"/>
                </a:solidFill>
                <a:latin typeface="Malgun Gothic"/>
                <a:ea typeface="Malgun Gothic"/>
                <a:cs typeface="Malgun Gothic"/>
              </a:rPr>
              <a:t>Pol α</a:t>
            </a:r>
            <a:r>
              <a:rPr sz="1400" b="0" i="0">
                <a:solidFill>
                  <a:srgbClr val="11202B"/>
                </a:solidFill>
                <a:latin typeface="Malgun Gothic"/>
                <a:ea typeface="Malgun Gothic"/>
                <a:cs typeface="Malgun Gothic"/>
              </a:rPr>
              <a:t>는 primase와 복합체를 이루어 RNA primer에 짧은 DNA를 이어 붙여 합성을 개시하고, </a:t>
            </a:r>
            <a:r>
              <a:rPr sz="1400" b="1" i="0">
                <a:solidFill>
                  <a:srgbClr val="11202B"/>
                </a:solidFill>
                <a:latin typeface="Malgun Gothic"/>
                <a:ea typeface="Malgun Gothic"/>
                <a:cs typeface="Malgun Gothic"/>
              </a:rPr>
              <a:t>Pol ε</a:t>
            </a:r>
            <a:r>
              <a:rPr sz="1400" b="0" i="0">
                <a:solidFill>
                  <a:srgbClr val="11202B"/>
                </a:solidFill>
                <a:latin typeface="Malgun Gothic"/>
                <a:ea typeface="Malgun Gothic"/>
                <a:cs typeface="Malgun Gothic"/>
              </a:rPr>
              <a:t>는 leading 가닥, </a:t>
            </a:r>
            <a:r>
              <a:rPr sz="1400" b="1" i="0">
                <a:solidFill>
                  <a:srgbClr val="11202B"/>
                </a:solidFill>
                <a:latin typeface="Malgun Gothic"/>
                <a:ea typeface="Malgun Gothic"/>
                <a:cs typeface="Malgun Gothic"/>
              </a:rPr>
              <a:t>Pol δ</a:t>
            </a:r>
            <a:r>
              <a:rPr sz="1400" b="0" i="0">
                <a:solidFill>
                  <a:srgbClr val="11202B"/>
                </a:solidFill>
                <a:latin typeface="Malgun Gothic"/>
                <a:ea typeface="Malgun Gothic"/>
                <a:cs typeface="Malgun Gothic"/>
              </a:rPr>
              <a:t>는 lagging 가닥의 대부분을 합성한다. </a:t>
            </a:r>
            <a:r>
              <a:rPr sz="1400" b="1" i="0">
                <a:solidFill>
                  <a:srgbClr val="11202B"/>
                </a:solidFill>
                <a:latin typeface="Malgun Gothic"/>
                <a:ea typeface="Malgun Gothic"/>
                <a:cs typeface="Malgun Gothic"/>
              </a:rPr>
              <a:t>Pol γ</a:t>
            </a:r>
            <a:r>
              <a:rPr sz="1400" b="0" i="0">
                <a:solidFill>
                  <a:srgbClr val="11202B"/>
                </a:solidFill>
                <a:latin typeface="Malgun Gothic"/>
                <a:ea typeface="Malgun Gothic"/>
                <a:cs typeface="Malgun Gothic"/>
              </a:rPr>
              <a:t>는 미토콘드리아 DNA를 복제하며, Pol β는 복구, Pol η·ι·κ·ζ는 손상 부위를 건너뛰는 합성에 쓰인다. *E. coli*에서는 Pol III holoenzyme이 복제를 담당하고 Pol I은 primer 제거와 그 틈을 메우는 일을 한다.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반보존적 복제와 DNA polymerase의 공통 성질</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M01-W06-L03  ·  DNA 복제·복구와 유전체 재배열</a:t>
            </a:r>
            <a:r>
              <a:rPr sz="900" b="1" i="0">
                <a:solidFill>
                  <a:srgbClr val="003C71"/>
                </a:solidFill>
                <a:latin typeface="Malgun Gothic"/>
                <a:ea typeface="Malgun Gothic"/>
                <a:cs typeface="Malgun Gothic"/>
              </a:rPr>
              <a:t>      10</a:t>
            </a:r>
          </a:p>
        </p:txBody>
      </p:sp>
      <p:sp>
        <p:nvSpPr>
          <p:cNvPr id="7" name="Rectangle 6"/>
          <p:cNvSpPr/>
          <p:nvPr/>
        </p:nvSpPr>
        <p:spPr>
          <a:xfrm>
            <a:off x="640080" y="1325880"/>
            <a:ext cx="10881360" cy="1092200"/>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1" i="0">
                <a:solidFill>
                  <a:srgbClr val="11202B"/>
                </a:solidFill>
                <a:latin typeface="Malgun Gothic"/>
                <a:ea typeface="Malgun Gothic"/>
                <a:cs typeface="Malgun Gothic"/>
              </a:rPr>
              <a:t>핵심 정리</a:t>
            </a:r>
            <a:r>
              <a:rPr sz="1600" b="0" i="0">
                <a:solidFill>
                  <a:srgbClr val="11202B"/>
                </a:solidFill>
                <a:latin typeface="Malgun Gothic"/>
                <a:ea typeface="Malgun Gothic"/>
                <a:cs typeface="Malgun Gothic"/>
              </a:rPr>
              <a:t> DNA polymerase가 5′→3′ 한 방향으로만, primer가 있어야만 합성한다는 두 제약에서 복제 분기점의 비대칭 구조와 Okazaki 토막, primer 제거 과정이 모두 따라 나온다.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복제 분기점의 구조와 두 가닥의 합성</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M01-W06-L03  ·  DNA 복제·복구와 유전체 재배열</a:t>
            </a:r>
            <a:r>
              <a:rPr sz="900" b="1" i="0">
                <a:solidFill>
                  <a:srgbClr val="003C71"/>
                </a:solidFill>
                <a:latin typeface="Malgun Gothic"/>
                <a:ea typeface="Malgun Gothic"/>
                <a:cs typeface="Malgun Gothic"/>
              </a:rPr>
              <a:t>      11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복제는 이중나선이 풀리는 </a:t>
            </a:r>
            <a:r>
              <a:rPr sz="1600" b="1" i="0">
                <a:solidFill>
                  <a:srgbClr val="11202B"/>
                </a:solidFill>
                <a:latin typeface="Malgun Gothic"/>
                <a:ea typeface="Malgun Gothic"/>
                <a:cs typeface="Malgun Gothic"/>
              </a:rPr>
              <a:t>복제 분기점(replication fork)</a:t>
            </a:r>
            <a:r>
              <a:rPr sz="1600" b="0" i="0">
                <a:solidFill>
                  <a:srgbClr val="11202B"/>
                </a:solidFill>
                <a:latin typeface="Malgun Gothic"/>
                <a:ea typeface="Malgun Gothic"/>
                <a:cs typeface="Malgun Gothic"/>
              </a:rPr>
              <a:t>에서 일어난다. 두 주형 가닥은 방향이 반대이므로 분기점이 한 방향으로 전진할 때 한 가닥은 분기점이 가는 방향과 같은 방향으로 합성되고, 다른 가닥은 반대 방향으로 합성되어야 한다. 앞의 것이 </a:t>
            </a:r>
            <a:r>
              <a:rPr sz="1600" b="1" i="0">
                <a:solidFill>
                  <a:srgbClr val="11202B"/>
                </a:solidFill>
                <a:latin typeface="Malgun Gothic"/>
                <a:ea typeface="Malgun Gothic"/>
                <a:cs typeface="Malgun Gothic"/>
              </a:rPr>
              <a:t>leading 가닥</a:t>
            </a:r>
            <a:r>
              <a:rPr sz="1600" b="0" i="0">
                <a:solidFill>
                  <a:srgbClr val="11202B"/>
                </a:solidFill>
                <a:latin typeface="Malgun Gothic"/>
                <a:ea typeface="Malgun Gothic"/>
                <a:cs typeface="Malgun Gothic"/>
              </a:rPr>
              <a:t>으로 끊김 없이 이어지고, 뒤의 것이 </a:t>
            </a:r>
            <a:r>
              <a:rPr sz="1600" b="1" i="0">
                <a:solidFill>
                  <a:srgbClr val="11202B"/>
                </a:solidFill>
                <a:latin typeface="Malgun Gothic"/>
                <a:ea typeface="Malgun Gothic"/>
                <a:cs typeface="Malgun Gothic"/>
              </a:rPr>
              <a:t>lagging 가닥</a:t>
            </a:r>
            <a:r>
              <a:rPr sz="1600" b="0" i="0">
                <a:solidFill>
                  <a:srgbClr val="11202B"/>
                </a:solidFill>
                <a:latin typeface="Malgun Gothic"/>
                <a:ea typeface="Malgun Gothic"/>
                <a:cs typeface="Malgun Gothic"/>
              </a:rPr>
              <a:t>으로 짧은 토막을 반복해 만든 뒤 이어 붙인다.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이 토막은 1968년 Okazaki 등이 확인했다. *E. coli*에 방사성 thymidine을 아주 짧게 공급하고 DNA를 변성시켜 크기별로 분리하면, 표지가 먼저 짧은 조각(세균에서 1,000~2,000 뉴클레오타이드)에 들어가고 시간이 지나면서 긴 사슬로 옮겨 갔다. 이 조각이 </a:t>
            </a:r>
            <a:r>
              <a:rPr sz="1600" b="1" i="0">
                <a:solidFill>
                  <a:srgbClr val="11202B"/>
                </a:solidFill>
                <a:latin typeface="Malgun Gothic"/>
                <a:ea typeface="Malgun Gothic"/>
                <a:cs typeface="Malgun Gothic"/>
              </a:rPr>
              <a:t>Okazaki 토막</a:t>
            </a:r>
            <a:r>
              <a:rPr sz="1600" b="0" i="0">
                <a:solidFill>
                  <a:srgbClr val="11202B"/>
                </a:solidFill>
                <a:latin typeface="Malgun Gothic"/>
                <a:ea typeface="Malgun Gothic"/>
                <a:cs typeface="Malgun Gothic"/>
              </a:rPr>
              <a:t>이고 진핵세포에서는 100~200 뉴클레오타이드로 더 짧다. 진핵세포의 토막이 짧은 이유는 nucleosome 반복 주기와 대응하는 것으로 본다.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분기점에는 다음 단백질이 모인다.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복제 분기점의 구조와 두 가닥의 합성</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M01-W06-L03  ·  DNA 복제·복구와 유전체 재배열</a:t>
            </a:r>
            <a:r>
              <a:rPr sz="900" b="1" i="0">
                <a:solidFill>
                  <a:srgbClr val="003C71"/>
                </a:solidFill>
                <a:latin typeface="Malgun Gothic"/>
                <a:ea typeface="Malgun Gothic"/>
                <a:cs typeface="Malgun Gothic"/>
              </a:rPr>
              <a:t>      12</a:t>
            </a:r>
          </a:p>
        </p:txBody>
      </p:sp>
      <p:graphicFrame>
        <p:nvGraphicFramePr>
          <p:cNvPr id="7" name="Table 6"/>
          <p:cNvGraphicFramePr>
            <a:graphicFrameLocks noGrp="1"/>
          </p:cNvGraphicFramePr>
          <p:nvPr/>
        </p:nvGraphicFramePr>
        <p:xfrm>
          <a:off x="548640" y="1280160"/>
          <a:ext cx="11064240" cy="2926080"/>
        </p:xfrm>
        <a:graphic>
          <a:graphicData uri="http://schemas.openxmlformats.org/drawingml/2006/table">
            <a:tbl>
              <a:tblPr firstRow="1" bandRow="1">
                <a:tableStyleId>{5C22544A-7EE6-4342-B048-85BDC9FD1C3A}</a:tableStyleId>
              </a:tblPr>
              <a:tblGrid>
                <a:gridCol w="2766060"/>
                <a:gridCol w="2766060"/>
                <a:gridCol w="2766060"/>
                <a:gridCol w="2766060"/>
              </a:tblGrid>
              <a:tr h="365760">
                <a:tc>
                  <a:txBody>
                    <a:bodyPr/>
                    <a:lstStyle/>
                    <a:p>
                      <a:r>
                        <a:rPr sz="1200" b="1" i="0">
                          <a:solidFill>
                            <a:srgbClr val="FFFFFF"/>
                          </a:solidFill>
                          <a:latin typeface="Malgun Gothic"/>
                          <a:ea typeface="Malgun Gothic"/>
                          <a:cs typeface="Malgun Gothic"/>
                        </a:rPr>
                        <a:t>단백질</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기능</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포유류</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E. coli</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Helicase</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이중나선을 풀어 분기점을 전진시킨다</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MCM2–7 (CMG 복합체)</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DnaB</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단일가닥 DNA 결합 단백질</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풀린 주형이 다시 짝짓거나 분해되지 않게 한다</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RPA</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SSB</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Primase</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RNA primer를 합성한다</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Pol α–primase</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DnaG</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Sliding clamp</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polymerase를 주형에 붙잡아 지속성을 높인다</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PCNA</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β clamp</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Clamp loader</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clamp를 primer 위에 끼운다</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RFC</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γ 복합체</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Topoisomerase</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분기점 앞에 쌓이는 꼬임을 풀어 준다</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Topo I, Topo II</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Topo I, gyrase</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Nuclease·DNA ligase</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primer를 제거하고 토막을 이어 붙인다</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FEN1, Pol δ, Ligase I</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RNase H, Pol I, Ligase</a:t>
                      </a:r>
                    </a:p>
                  </a:txBody>
                  <a:tcPr marL="73152" marR="73152" marT="27432" marB="27432">
                    <a:solidFill>
                      <a:srgbClr val="FFFFFF"/>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복제 분기점의 구조와 두 가닥의 합성</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M01-W06-L03  ·  DNA 복제·복구와 유전체 재배열</a:t>
            </a:r>
            <a:r>
              <a:rPr sz="900" b="1" i="0">
                <a:solidFill>
                  <a:srgbClr val="003C71"/>
                </a:solidFill>
                <a:latin typeface="Malgun Gothic"/>
                <a:ea typeface="Malgun Gothic"/>
                <a:cs typeface="Malgun Gothic"/>
              </a:rPr>
              <a:t>      13</a:t>
            </a:r>
          </a:p>
        </p:txBody>
      </p:sp>
      <p:pic>
        <p:nvPicPr>
          <p:cNvPr id="7" name="Picture 6" descr="fig-replication-fork.slide.png"/>
          <p:cNvPicPr>
            <a:picLocks noChangeAspect="1"/>
          </p:cNvPicPr>
          <p:nvPr/>
        </p:nvPicPr>
        <p:blipFill>
          <a:blip r:embed="rId2"/>
          <a:stretch>
            <a:fillRect/>
          </a:stretch>
        </p:blipFill>
        <p:spPr>
          <a:xfrm>
            <a:off x="1425525" y="1325880"/>
            <a:ext cx="9340645"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복제 분기점의 구조. Helicase가 푼 주형에 단일가닥 결합 단백질이 붙고, leading 가닥은 연속 합성되며 lagging 가닥은 primase가 놓은 RNA primer에서 시작하는 Okazaki 토막으로 합성되는 과정을 보인다.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복제 분기점의 구조와 두 가닥의 합성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M01-W06-L03  ·  DNA 복제·복구와 유전체 재배열</a:t>
            </a:r>
            <a:r>
              <a:rPr sz="900" b="1" i="0">
                <a:solidFill>
                  <a:srgbClr val="003C71"/>
                </a:solidFill>
                <a:latin typeface="Malgun Gothic"/>
                <a:ea typeface="Malgun Gothic"/>
                <a:cs typeface="Malgun Gothic"/>
              </a:rPr>
              <a:t>      14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Lagging 가닥의 합성은 다음 순서로 진행된다. Primase가 풀린 주형에 10 뉴클레오타이드 내외의 RNA primer를 놓는다. Clamp loader가 그 3′ 말단에 clamp를 끼우고 polymerase가 들어와 앞선 토막에 닿을 때까지 DNA를 합성한다. 다음으로 앞선 토막의 5′ 쪽 RNA primer가 제거된다. 진핵세포에서는 Pol δ가 primer를 밀어내 flap을 만들고 FEN1이 이를 잘라내며, *E. coli*에서는 RNase H와 Pol I의 5′→3′ exonuclease 활성이 같은 일을 한다. 생긴 틈을 DNA로 메운 뒤 DNA ligase가 인산이에스터 결합을 만들어 토막을 잇는다.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분기점은 순조롭게만 전진하지 않는다. 앞에 단단한 단백질 복합체, 전사 중인 RNA polymerase, 손상된 염기, 또는 반복 서열이 만든 이차 구조가 있으면 속도가 느려지거나 멈춘다. 멈춘 분기점은 그대로 두면 단일가닥이 길게 노출되어 끊어지므로, 세포는 </a:t>
            </a:r>
            <a:r>
              <a:rPr sz="1400" b="1" i="0">
                <a:solidFill>
                  <a:srgbClr val="11202B"/>
                </a:solidFill>
                <a:latin typeface="Malgun Gothic"/>
                <a:ea typeface="Malgun Gothic"/>
                <a:cs typeface="Malgun Gothic"/>
              </a:rPr>
              <a:t>분기점 보호와 재출발</a:t>
            </a:r>
            <a:r>
              <a:rPr sz="1400" b="0" i="0">
                <a:solidFill>
                  <a:srgbClr val="11202B"/>
                </a:solidFill>
                <a:latin typeface="Malgun Gothic"/>
                <a:ea typeface="Malgun Gothic"/>
                <a:cs typeface="Malgun Gothic"/>
              </a:rPr>
              <a:t> 기구를 따로 갖는다. RPA로 덮인 단일가닥이 ATR을 활성화하고, ATR이 CHK1을 통해 세포주기 진행을 늦추면서 남은 원점의 추가 개시를 막고 분기점에 보호 단백질을 모은다. 분기점이 뒤로 접혀 손상 부위를 빼내는 </a:t>
            </a:r>
            <a:r>
              <a:rPr sz="1400" b="1" i="0">
                <a:solidFill>
                  <a:srgbClr val="11202B"/>
                </a:solidFill>
                <a:latin typeface="Malgun Gothic"/>
                <a:ea typeface="Malgun Gothic"/>
                <a:cs typeface="Malgun Gothic"/>
              </a:rPr>
              <a:t>fork reversal</a:t>
            </a:r>
            <a:r>
              <a:rPr sz="1400" b="0" i="0">
                <a:solidFill>
                  <a:srgbClr val="11202B"/>
                </a:solidFill>
                <a:latin typeface="Malgun Gothic"/>
                <a:ea typeface="Malgun Gothic"/>
                <a:cs typeface="Malgun Gothic"/>
              </a:rPr>
              <a:t>은 helicase와 재조합 단백질이 수행하며, BRCA1·BRCA2와 FANC 경로의 단백질이 접힌 분기점을 nuclease로부터 지킨다. 이 보호가 실패해 분기점이 분해되는 상태를 </a:t>
            </a:r>
            <a:r>
              <a:rPr sz="1400" b="1" i="0">
                <a:solidFill>
                  <a:srgbClr val="11202B"/>
                </a:solidFill>
                <a:latin typeface="Malgun Gothic"/>
                <a:ea typeface="Malgun Gothic"/>
                <a:cs typeface="Malgun Gothic"/>
              </a:rPr>
              <a:t>복제 스트레스</a:t>
            </a:r>
            <a:r>
              <a:rPr sz="1400" b="0" i="0">
                <a:solidFill>
                  <a:srgbClr val="11202B"/>
                </a:solidFill>
                <a:latin typeface="Malgun Gothic"/>
                <a:ea typeface="Malgun Gothic"/>
                <a:cs typeface="Malgun Gothic"/>
              </a:rPr>
              <a:t>라 하고, 종양에서 유전체 불안정성을 만드는 주된 경로로 지목된다.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복제 분기점의 구조와 두 가닥의 합성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M01-W06-L03  ·  DNA 복제·복구와 유전체 재배열</a:t>
            </a:r>
            <a:r>
              <a:rPr sz="900" b="1" i="0">
                <a:solidFill>
                  <a:srgbClr val="003C71"/>
                </a:solidFill>
                <a:latin typeface="Malgun Gothic"/>
                <a:ea typeface="Malgun Gothic"/>
                <a:cs typeface="Malgun Gothic"/>
              </a:rPr>
              <a:t>      15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전사와 복제가 같은 주형 위에서 충돌하는 것도 분기점이 멈추는 흔한 원인이다. 전사 중에 새로 만들어진 RNA가 주형 DNA와 다시 짝지어 만드는 삼중 구조를 </a:t>
            </a:r>
            <a:r>
              <a:rPr sz="1600" b="1" i="0">
                <a:solidFill>
                  <a:srgbClr val="11202B"/>
                </a:solidFill>
                <a:latin typeface="Malgun Gothic"/>
                <a:ea typeface="Malgun Gothic"/>
                <a:cs typeface="Malgun Gothic"/>
              </a:rPr>
              <a:t>R-loop</a:t>
            </a:r>
            <a:r>
              <a:rPr sz="1600" b="0" i="0">
                <a:solidFill>
                  <a:srgbClr val="11202B"/>
                </a:solidFill>
                <a:latin typeface="Malgun Gothic"/>
                <a:ea typeface="Malgun Gothic"/>
                <a:cs typeface="Malgun Gothic"/>
              </a:rPr>
              <a:t>이라 하는데, 정상적으로는 RNase H와 helicase가 제거한다. 제거가 늦으면 분기점이 R-loop에 걸려 멈추고 단일가닥이 노출된다. 전사량이 많고 긴 유전자에서 재배열이 자주 보고되는 </a:t>
            </a:r>
            <a:r>
              <a:rPr sz="1600" b="1" i="0">
                <a:solidFill>
                  <a:srgbClr val="11202B"/>
                </a:solidFill>
                <a:latin typeface="Malgun Gothic"/>
                <a:ea typeface="Malgun Gothic"/>
                <a:cs typeface="Malgun Gothic"/>
              </a:rPr>
              <a:t>common fragile site</a:t>
            </a:r>
            <a:r>
              <a:rPr sz="1600" b="0" i="0">
                <a:solidFill>
                  <a:srgbClr val="11202B"/>
                </a:solidFill>
                <a:latin typeface="Malgun Gothic"/>
                <a:ea typeface="Malgun Gothic"/>
                <a:cs typeface="Malgun Gothic"/>
              </a:rPr>
              <a:t>가 이 기전으로 설명된다.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두 가닥은 따로 떨어져 합성되지 않는다. Lagging 가닥 주형이 고리로 휘어 들어가면 두 polymerase가 하나의 복합체로 묶여 같은 속도로 전진할 수 있다. 분기점의 전진 속도는 *E. coli*에서 초당 약 1,000 뉴클레오타이드, 포유류 세포에서 초당 약 50 뉴클레오타이드다. 포유류가 느린데도 훨씬 큰 유전체를 몇 시간 안에 복제하는 것은 원점을 많이 쓰기 때문이다.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000" b="1" i="0">
                <a:solidFill>
                  <a:srgbClr val="FFFFFF"/>
                </a:solidFill>
                <a:latin typeface="Malgun Gothic"/>
                <a:ea typeface="Malgun Gothic"/>
                <a:cs typeface="Malgun Gothic"/>
              </a:rPr>
              <a:t>4. 복제의 정확도: 염기 선택, proofreading, mismatch repair</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M01-W06-L03  ·  DNA 복제·복구와 유전체 재배열</a:t>
            </a:r>
            <a:r>
              <a:rPr sz="900" b="1" i="0">
                <a:solidFill>
                  <a:srgbClr val="003C71"/>
                </a:solidFill>
                <a:latin typeface="Malgun Gothic"/>
                <a:ea typeface="Malgun Gothic"/>
                <a:cs typeface="Malgun Gothic"/>
              </a:rPr>
              <a:t>      16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사람 유전체는 복제 한 번에 약 6×109 염기쌍을 합성한다. 분열마다 유전자에 변이가 쌓이지 않으려면 오류율이 극히 낮아야 한다. 측정된 전체 오류율은 염기 109~1010개당 1개 수준이다. 이 값은 한 단계로 얻어지지 않고 세 단계가 곱해져 나온다.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염기 선택</a:t>
            </a:r>
            <a:r>
              <a:rPr sz="1600" b="0" i="0">
                <a:solidFill>
                  <a:srgbClr val="11202B"/>
                </a:solidFill>
                <a:latin typeface="Malgun Gothic"/>
                <a:ea typeface="Malgun Gothic"/>
                <a:cs typeface="Malgun Gothic"/>
              </a:rPr>
              <a:t> polymerase의 활성 부위는 올바른 염기쌍의 기하 구조에만 맞는다. 잘못된 염기가 들어오면 다음 뉴클레오타이드를 붙이는 반응이 느려진다. 이 단계만으로 오류율은 약 10-5이다.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Proofreading</a:t>
            </a:r>
            <a:r>
              <a:rPr sz="1600" b="0" i="0">
                <a:solidFill>
                  <a:srgbClr val="11202B"/>
                </a:solidFill>
                <a:latin typeface="Malgun Gothic"/>
                <a:ea typeface="Malgun Gothic"/>
                <a:cs typeface="Malgun Gothic"/>
              </a:rPr>
              <a:t> 대부분의 복제용 polymerase는 3′→5′ exonuclease 활성을 함께 가진다. 짝이 맞지 않은 3′ 말단은 활성 부위에서 흔들리므로 합성이 멈추고, exonuclease 활성이 그 뉴클레오타이드를 떼어낸다. 이 단계가 오류율을 약 100배 낮춰 10-7로 만든다.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Mismatch repair</a:t>
            </a:r>
            <a:r>
              <a:rPr sz="1600" b="0" i="0">
                <a:solidFill>
                  <a:srgbClr val="11202B"/>
                </a:solidFill>
                <a:latin typeface="Malgun Gothic"/>
                <a:ea typeface="Malgun Gothic"/>
                <a:cs typeface="Malgun Gothic"/>
              </a:rPr>
              <a:t> 복제가 지나간 뒤 남은 짝맞춤 오류를 찾아 신생 가닥 쪽을 잘라내고 다시 합성한다. 추가로 100~1,000배를 낮춘다.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000" b="1" i="0">
                <a:solidFill>
                  <a:srgbClr val="FFFFFF"/>
                </a:solidFill>
                <a:latin typeface="Malgun Gothic"/>
                <a:ea typeface="Malgun Gothic"/>
                <a:cs typeface="Malgun Gothic"/>
              </a:rPr>
              <a:t>4. 복제의 정확도: 염기 선택, proofreading, mismatch repair</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M01-W06-L03  ·  DNA 복제·복구와 유전체 재배열</a:t>
            </a:r>
            <a:r>
              <a:rPr sz="900" b="1" i="0">
                <a:solidFill>
                  <a:srgbClr val="003C71"/>
                </a:solidFill>
                <a:latin typeface="Malgun Gothic"/>
                <a:ea typeface="Malgun Gothic"/>
                <a:cs typeface="Malgun Gothic"/>
              </a:rPr>
              <a:t>      17</a:t>
            </a:r>
          </a:p>
        </p:txBody>
      </p:sp>
      <p:pic>
        <p:nvPicPr>
          <p:cNvPr id="7" name="Picture 6" descr="fig-fidelity.slide.png"/>
          <p:cNvPicPr>
            <a:picLocks noChangeAspect="1"/>
          </p:cNvPicPr>
          <p:nvPr/>
        </p:nvPicPr>
        <p:blipFill>
          <a:blip r:embed="rId2"/>
          <a:stretch>
            <a:fillRect/>
          </a:stretch>
        </p:blipFill>
        <p:spPr>
          <a:xfrm>
            <a:off x="792327" y="1325880"/>
            <a:ext cx="10607040" cy="3697999"/>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복제 정확도를 만드는 세 단계. 염기 선택, 3′→5′ exonuclease에 의한 proofreading, mismatch repair가 차례로 작용하며 오류율이 낮아지는 과정과 신생 가닥 식별 방식을 보인다.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000" b="1" i="0">
                <a:solidFill>
                  <a:srgbClr val="FFFFFF"/>
                </a:solidFill>
                <a:latin typeface="Malgun Gothic"/>
                <a:ea typeface="Malgun Gothic"/>
                <a:cs typeface="Malgun Gothic"/>
              </a:rPr>
              <a:t>4. 복제의 정확도: 염기 선택, proofreading, mismatch repair</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M01-W06-L03  ·  DNA 복제·복구와 유전체 재배열</a:t>
            </a:r>
            <a:r>
              <a:rPr sz="900" b="1" i="0">
                <a:solidFill>
                  <a:srgbClr val="003C71"/>
                </a:solidFill>
                <a:latin typeface="Malgun Gothic"/>
                <a:ea typeface="Malgun Gothic"/>
                <a:cs typeface="Malgun Gothic"/>
              </a:rPr>
              <a:t>      18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Mismatch repair에서 핵심 문제는 </a:t>
            </a:r>
            <a:r>
              <a:rPr sz="1800" b="1" i="0">
                <a:solidFill>
                  <a:srgbClr val="11202B"/>
                </a:solidFill>
                <a:latin typeface="Malgun Gothic"/>
                <a:ea typeface="Malgun Gothic"/>
                <a:cs typeface="Malgun Gothic"/>
              </a:rPr>
              <a:t>짝이 맞지 않는 두 염기 중 어느 쪽이 잘못되었는지</a:t>
            </a:r>
            <a:r>
              <a:rPr sz="1800" b="0" i="0">
                <a:solidFill>
                  <a:srgbClr val="11202B"/>
                </a:solidFill>
                <a:latin typeface="Malgun Gothic"/>
                <a:ea typeface="Malgun Gothic"/>
                <a:cs typeface="Malgun Gothic"/>
              </a:rPr>
              <a:t>를 아는 것이다. 주형 가닥 쪽을 고치면 변이가 그대로 고정된다. 세포는 신생 가닥을 따로 표시한다. *E. coli*는 GATC 서열의 adenine이 Dam methylase로 메틸화되는 데 시간이 걸리므로, 복제 직후 신생 가닥만 메틸화되지 않은 상태다. MutS가 짝맞춤 오류를 인식하고 MutL과 MutH가 메틸화되지 않은 가닥을 끊어 그 구간을 제거한다. 진핵세포에는 이 메틸화 표시가 없고, MSH2–MSH6가 오류를 인식한 뒤 신생 가닥에 남아 있는 틈과 PCNA의 방향성을 단서로 신생 가닥을 구별한다.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000" b="1" i="0">
                <a:solidFill>
                  <a:srgbClr val="FFFFFF"/>
                </a:solidFill>
                <a:latin typeface="Malgun Gothic"/>
                <a:ea typeface="Malgun Gothic"/>
                <a:cs typeface="Malgun Gothic"/>
              </a:rPr>
              <a:t>4. 복제의 정확도: 염기 선택, proofreading, mismatch repair</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M01-W06-L03  ·  DNA 복제·복구와 유전체 재배열</a:t>
            </a:r>
            <a:r>
              <a:rPr sz="900" b="1" i="0">
                <a:solidFill>
                  <a:srgbClr val="003C71"/>
                </a:solidFill>
                <a:latin typeface="Malgun Gothic"/>
                <a:ea typeface="Malgun Gothic"/>
                <a:cs typeface="Malgun Gothic"/>
              </a:rPr>
              <a:t>      19</a:t>
            </a:r>
          </a:p>
        </p:txBody>
      </p:sp>
      <p:sp>
        <p:nvSpPr>
          <p:cNvPr id="7" name="Rectangle 6"/>
          <p:cNvSpPr/>
          <p:nvPr/>
        </p:nvSpPr>
        <p:spPr>
          <a:xfrm>
            <a:off x="640080" y="1325880"/>
            <a:ext cx="10881360" cy="2860040"/>
          </a:xfrm>
          <a:prstGeom prst="rect">
            <a:avLst/>
          </a:prstGeom>
          <a:solidFill>
            <a:srgbClr val="EC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1E6B2C"/>
                </a:solidFill>
                <a:latin typeface="Malgun Gothic"/>
                <a:ea typeface="Malgun Gothic"/>
                <a:cs typeface="Malgun Gothic"/>
              </a:rPr>
              <a:t>시험에서 가려내는 지점   </a:t>
            </a:r>
            <a:r>
              <a:rPr sz="1600" b="0" i="0">
                <a:solidFill>
                  <a:srgbClr val="11202B"/>
                </a:solidFill>
                <a:latin typeface="Malgun Gothic"/>
                <a:ea typeface="Malgun Gothic"/>
                <a:cs typeface="Malgun Gothic"/>
              </a:rPr>
              <a:t>세 층의 정확도 가운데 어느 층이 망가졌는지가 종양의 성질을 바꾼다는 점이 출제된다. </a:t>
            </a:r>
            <a:r>
              <a:rPr sz="1600" b="1" i="0">
                <a:solidFill>
                  <a:srgbClr val="11202B"/>
                </a:solidFill>
                <a:latin typeface="Malgun Gothic"/>
                <a:ea typeface="Malgun Gothic"/>
                <a:cs typeface="Malgun Gothic"/>
              </a:rPr>
              <a:t>Proofreading이 망가진 경우</a:t>
            </a:r>
            <a:r>
              <a:rPr sz="1600" b="0" i="0">
                <a:solidFill>
                  <a:srgbClr val="11202B"/>
                </a:solidFill>
                <a:latin typeface="Malgun Gothic"/>
                <a:ea typeface="Malgun Gothic"/>
                <a:cs typeface="Malgun Gothic"/>
              </a:rPr>
              <a:t>(*POLE*나 *POLD1*의 exonuclease 도메인 변이)에는 단일 염기 치환이 유전체 전체에 극단적으로 쌓여 종양당 변이 수가 수천에서 수만 개에 이르는 </a:t>
            </a:r>
            <a:r>
              <a:rPr sz="1600" b="1" i="0">
                <a:solidFill>
                  <a:srgbClr val="11202B"/>
                </a:solidFill>
                <a:latin typeface="Malgun Gothic"/>
                <a:ea typeface="Malgun Gothic"/>
                <a:cs typeface="Malgun Gothic"/>
              </a:rPr>
              <a:t>ultramutated</a:t>
            </a:r>
            <a:r>
              <a:rPr sz="1600" b="0" i="0">
                <a:solidFill>
                  <a:srgbClr val="11202B"/>
                </a:solidFill>
                <a:latin typeface="Malgun Gothic"/>
                <a:ea typeface="Malgun Gothic"/>
                <a:cs typeface="Malgun Gothic"/>
              </a:rPr>
              <a:t> 양상이 되며, microsatellite 길이는 정상이다. </a:t>
            </a:r>
            <a:r>
              <a:rPr sz="1600" b="1" i="0">
                <a:solidFill>
                  <a:srgbClr val="11202B"/>
                </a:solidFill>
                <a:latin typeface="Malgun Gothic"/>
                <a:ea typeface="Malgun Gothic"/>
                <a:cs typeface="Malgun Gothic"/>
              </a:rPr>
              <a:t>Mismatch repair가 망가진 경우</a:t>
            </a:r>
            <a:r>
              <a:rPr sz="1600" b="0" i="0">
                <a:solidFill>
                  <a:srgbClr val="11202B"/>
                </a:solidFill>
                <a:latin typeface="Malgun Gothic"/>
                <a:ea typeface="Malgun Gothic"/>
                <a:cs typeface="Malgun Gothic"/>
              </a:rPr>
              <a:t>에는 반복 구간의 길이 변화가 두드러져 MSI-high가 되고, 변이 수는 hypermutated 수준이다. 두 경우 모두 신생항원이 많아 면역관문 억제제에 잘 반응하지만, 선별 검사가 서로 다르다. MMR 결손은 네 단백질(MLH1, MSH2, MSH6, PMS2)의 면역조직화학 소실이나 MSI 검사로 찾고, 생식세포 변이가 확인되면 Lynch syndrome으로 진단한다. 다만 </a:t>
            </a:r>
            <a:r>
              <a:rPr sz="1600" b="1" i="0">
                <a:solidFill>
                  <a:srgbClr val="11202B"/>
                </a:solidFill>
                <a:latin typeface="Malgun Gothic"/>
                <a:ea typeface="Malgun Gothic"/>
                <a:cs typeface="Malgun Gothic"/>
              </a:rPr>
              <a:t>MLH1 단백질 소실은 생식세포 변이 없이 promoter 과메틸화로도 일어나므로</a:t>
            </a:r>
            <a:r>
              <a:rPr sz="1600" b="0" i="0">
                <a:solidFill>
                  <a:srgbClr val="11202B"/>
                </a:solidFill>
                <a:latin typeface="Malgun Gothic"/>
                <a:ea typeface="Malgun Gothic"/>
                <a:cs typeface="Malgun Gothic"/>
              </a:rPr>
              <a:t>, 산발성과 유전성을 가르려면 BRAF V600E 변이나 MLH1 메틸화 검사를 함께 해야 한다. 이 감별 단계를 묻는 문제가 흔하다.</a:t>
            </a:r>
          </a:p>
        </p:txBody>
      </p:sp>
      <p:sp>
        <p:nvSpPr>
          <p:cNvPr id="8" name="Rectangle 7"/>
          <p:cNvSpPr/>
          <p:nvPr/>
        </p:nvSpPr>
        <p:spPr>
          <a:xfrm>
            <a:off x="640080" y="4323080"/>
            <a:ext cx="10881360" cy="1723339"/>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Mismatch repair 유전자의 생식세포 변이는 Lynch syndrome(유전성 비폴립성 대장암)을 일으킨다. MSH2, MLH1, MSH6, PMS2 중 하나가 기능을 잃으면 복제 오류가 100~1,000배로 늘고, 특히 반복 단위가 짧은 microsatellite에서 반복 수가 쉽게 변한다. 그래서 종양에서 microsatellite 길이가 정상 조직과 다른 </a:t>
            </a:r>
            <a:r>
              <a:rPr sz="1600" b="1" i="0">
                <a:solidFill>
                  <a:srgbClr val="11202B"/>
                </a:solidFill>
                <a:latin typeface="Malgun Gothic"/>
                <a:ea typeface="Malgun Gothic"/>
                <a:cs typeface="Malgun Gothic"/>
              </a:rPr>
              <a:t>microsatellite instability</a:t>
            </a:r>
            <a:r>
              <a:rPr sz="1600" b="0" i="0">
                <a:solidFill>
                  <a:srgbClr val="11202B"/>
                </a:solidFill>
                <a:latin typeface="Malgun Gothic"/>
                <a:ea typeface="Malgun Gothic"/>
                <a:cs typeface="Malgun Gothic"/>
              </a:rPr>
              <a:t>가 선별 지표로 쓰인다. 복구 결함 자체가 암을 만드는 것이 아니라, 변이가 쌓이는 속도를 올려 종양 억제 유전자와 proto-oncogene에 변이가 생길 확률을 높인다.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복제 원점과 개시 조절</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M01-W06-L03  ·  DNA 복제·복구와 유전체 재배열</a:t>
            </a:r>
            <a:r>
              <a:rPr sz="900" b="1" i="0">
                <a:solidFill>
                  <a:srgbClr val="003C71"/>
                </a:solidFill>
                <a:latin typeface="Malgun Gothic"/>
                <a:ea typeface="Malgun Gothic"/>
                <a:cs typeface="Malgun Gothic"/>
              </a:rPr>
              <a:t>      20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복제는 아무 곳에서나 시작하지 않는다. </a:t>
            </a:r>
            <a:r>
              <a:rPr sz="1400" b="1" i="0">
                <a:solidFill>
                  <a:srgbClr val="11202B"/>
                </a:solidFill>
                <a:latin typeface="Malgun Gothic"/>
                <a:ea typeface="Malgun Gothic"/>
                <a:cs typeface="Malgun Gothic"/>
              </a:rPr>
              <a:t>복제 원점(origin of replication)</a:t>
            </a:r>
            <a:r>
              <a:rPr sz="1400" b="0" i="0">
                <a:solidFill>
                  <a:srgbClr val="11202B"/>
                </a:solidFill>
                <a:latin typeface="Malgun Gothic"/>
                <a:ea typeface="Malgun Gothic"/>
                <a:cs typeface="Malgun Gothic"/>
              </a:rPr>
              <a:t>은 개시 단백질이 결합하는 서열이다. *E. coli*의 *oriC*는 약 245 bp이며 DnaA가 결합하는 9 bp 반복과 가닥이 풀리기 쉬운 AT 많은 13 bp 반복을 포함한다. DnaA가 결합해 나선을 국소적으로 풀면 helicase가 들어오고 양방향으로 두 개의 분기점이 만들어진다. 4.6 Mb 유전체에 원점이 하나뿐이므로 두 분기점이 반대편에서 만날 때까지 복제가 진행된다.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진핵세포는 원점을 많이 쓴다. *S. cerevisiae*의 원점은 </a:t>
            </a:r>
            <a:r>
              <a:rPr sz="1400" b="1" i="0">
                <a:solidFill>
                  <a:srgbClr val="11202B"/>
                </a:solidFill>
                <a:latin typeface="Malgun Gothic"/>
                <a:ea typeface="Malgun Gothic"/>
                <a:cs typeface="Malgun Gothic"/>
              </a:rPr>
              <a:t>autonomously replicating sequence(ARS)</a:t>
            </a:r>
            <a:r>
              <a:rPr sz="1400" b="0" i="0">
                <a:solidFill>
                  <a:srgbClr val="11202B"/>
                </a:solidFill>
                <a:latin typeface="Malgun Gothic"/>
                <a:ea typeface="Malgun Gothic"/>
                <a:cs typeface="Malgun Gothic"/>
              </a:rPr>
              <a:t>로, 약 100 bp 길이이며 11 bp 공통 서열을 가진다. 이 서열을 플라스미드에 넣으면 효모 안에서 복제되므로 기능으로 정의된다. ARS에 결합하는 단백질 복합체가 </a:t>
            </a:r>
            <a:r>
              <a:rPr sz="1400" b="1" i="0">
                <a:solidFill>
                  <a:srgbClr val="11202B"/>
                </a:solidFill>
                <a:latin typeface="Malgun Gothic"/>
                <a:ea typeface="Malgun Gothic"/>
                <a:cs typeface="Malgun Gothic"/>
              </a:rPr>
              <a:t>origin recognition complex(ORC)</a:t>
            </a:r>
            <a:r>
              <a:rPr sz="1400" b="0" i="0">
                <a:solidFill>
                  <a:srgbClr val="11202B"/>
                </a:solidFill>
                <a:latin typeface="Malgun Gothic"/>
                <a:ea typeface="Malgun Gothic"/>
                <a:cs typeface="Malgun Gothic"/>
              </a:rPr>
              <a:t>다. 사람 세포의 원점은 서열 공통성이 약해서 서열만으로 예측되지 않으며, chromatin 구조와 전사 상태가 원점 위치를 정하는 데 관여한다. 사람 세포는 분열마다 수만 개 원점을 쓰고, 원점 하나가 담당하는 구간(replicon)은 수십에서 수백 kb다. 원점이 동시에 모두 열리지 않고 S기 동안 순서대로 열리므로 유전체 전체가 S기 안에 복제된다.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복제 원점과 개시 조절</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M01-W06-L03  ·  DNA 복제·복구와 유전체 재배열</a:t>
            </a:r>
            <a:r>
              <a:rPr sz="900" b="1" i="0">
                <a:solidFill>
                  <a:srgbClr val="003C71"/>
                </a:solidFill>
                <a:latin typeface="Malgun Gothic"/>
                <a:ea typeface="Malgun Gothic"/>
                <a:cs typeface="Malgun Gothic"/>
              </a:rPr>
              <a:t>      21</a:t>
            </a:r>
          </a:p>
        </p:txBody>
      </p:sp>
      <p:pic>
        <p:nvPicPr>
          <p:cNvPr id="7" name="Picture 6" descr="fig-origin.slide.png"/>
          <p:cNvPicPr>
            <a:picLocks noChangeAspect="1"/>
          </p:cNvPicPr>
          <p:nvPr/>
        </p:nvPicPr>
        <p:blipFill>
          <a:blip r:embed="rId2"/>
          <a:stretch>
            <a:fillRect/>
          </a:stretch>
        </p:blipFill>
        <p:spPr>
          <a:xfrm>
            <a:off x="792327" y="1325880"/>
            <a:ext cx="10607040" cy="4069246"/>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복제 개시의 licensing 조절. G1기에 ORC 위에 MCM2–7이 올라가 원점이 사용 허가를 받고, S기에 CDK와 DDK가 helicase를 활성화하며, 복제가 지나간 원점은 다시 허가를 받지 못해 세포주기당 한 번만 복제되는 과정을 보인다.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복제 원점과 개시 조절</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M01-W06-L03  ·  DNA 복제·복구와 유전체 재배열</a:t>
            </a:r>
            <a:r>
              <a:rPr sz="900" b="1" i="0">
                <a:solidFill>
                  <a:srgbClr val="003C71"/>
                </a:solidFill>
                <a:latin typeface="Malgun Gothic"/>
                <a:ea typeface="Malgun Gothic"/>
                <a:cs typeface="Malgun Gothic"/>
              </a:rPr>
              <a:t>      22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원점이 세포주기당 두 번 열리면 그 구간만 copy 수가 늘어나 유전체가 불균형해진다. 이를 막는 장치가 </a:t>
            </a:r>
            <a:r>
              <a:rPr sz="1400" b="1" i="0">
                <a:solidFill>
                  <a:srgbClr val="11202B"/>
                </a:solidFill>
                <a:latin typeface="Malgun Gothic"/>
                <a:ea typeface="Malgun Gothic"/>
                <a:cs typeface="Malgun Gothic"/>
              </a:rPr>
              <a:t>licensing</a:t>
            </a:r>
            <a:r>
              <a:rPr sz="1400" b="0" i="0">
                <a:solidFill>
                  <a:srgbClr val="11202B"/>
                </a:solidFill>
                <a:latin typeface="Malgun Gothic"/>
                <a:ea typeface="Malgun Gothic"/>
                <a:cs typeface="Malgun Gothic"/>
              </a:rPr>
              <a:t>이다. G1기에 Cdc6과 Cdt1이 ORC 위로 MCM2–7 helicase를 올려놓는다. 이 상태가 사용 허가다. S기에 들어가 CDK와 DDK가 활성화되면 MCM2–7이 CDC45와 GINS를 받아 활성 helicase(CMG)가 되고 분기점이 출발한다. 동시에 Cdt1은 분해되거나 geminin에 묶이고 Cdc6은 인산화되어 핵에서 빠져나간다. 따라서 이미 출발한 원점에는 새 MCM이 올라가지 못하고, 다음 허가는 다음 세포주기의 G1기에야 가능하다. 허가 단계와 개시 단계를 세포주기의 서로 다른 시점에 배치한 것이 한 번의 복제를 보장하는 기전이다.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원점이 모두 동시에 열리지 않는 것 자체가 조절이다. 전사가 활발한 euchromatin의 원점이 S기 전반에 먼저 열리고, heterochromatin과 핵막 쪽 구간은 후반에 열린다. 이 </a:t>
            </a:r>
            <a:r>
              <a:rPr sz="1400" b="1" i="0">
                <a:solidFill>
                  <a:srgbClr val="11202B"/>
                </a:solidFill>
                <a:latin typeface="Malgun Gothic"/>
                <a:ea typeface="Malgun Gothic"/>
                <a:cs typeface="Malgun Gothic"/>
              </a:rPr>
              <a:t>복제 시기(replication timing)</a:t>
            </a:r>
            <a:r>
              <a:rPr sz="1400" b="0" i="0">
                <a:solidFill>
                  <a:srgbClr val="11202B"/>
                </a:solidFill>
                <a:latin typeface="Malgun Gothic"/>
                <a:ea typeface="Malgun Gothic"/>
                <a:cs typeface="Malgun Gothic"/>
              </a:rPr>
              <a:t>는 세포 종류마다 재현성 있게 정해져 있고 발생 과정에서 바뀐다. 또 실제로 쓰이는 원점보다 훨씬 많은 원점이 허가를 받아 놓여 있는데, 평소에는 쓰이지 않는 이 </a:t>
            </a:r>
            <a:r>
              <a:rPr sz="1400" b="1" i="0">
                <a:solidFill>
                  <a:srgbClr val="11202B"/>
                </a:solidFill>
                <a:latin typeface="Malgun Gothic"/>
                <a:ea typeface="Malgun Gothic"/>
                <a:cs typeface="Malgun Gothic"/>
              </a:rPr>
              <a:t>dormant origin</a:t>
            </a:r>
            <a:r>
              <a:rPr sz="1400" b="0" i="0">
                <a:solidFill>
                  <a:srgbClr val="11202B"/>
                </a:solidFill>
                <a:latin typeface="Malgun Gothic"/>
                <a:ea typeface="Malgun Gothic"/>
                <a:cs typeface="Malgun Gothic"/>
              </a:rPr>
              <a:t>이 분기점이 멈췄을 때 그 구간을 대신 복제하는 예비 수단이 된다. ATR이 꺼지면 예비 원점이 한꺼번에 열려 dNTP와 RPA가 고갈되고 유전체 전체가 불안정해진다.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Telomere와 telomerase</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M01-W06-L03  ·  DNA 복제·복구와 유전체 재배열</a:t>
            </a:r>
            <a:r>
              <a:rPr sz="900" b="1" i="0">
                <a:solidFill>
                  <a:srgbClr val="003C71"/>
                </a:solidFill>
                <a:latin typeface="Malgun Gothic"/>
                <a:ea typeface="Malgun Gothic"/>
                <a:cs typeface="Malgun Gothic"/>
              </a:rPr>
              <a:t>      23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선형 염색체의 말단에는 polymerase의 두 가지 제약이 그대로 문제로 드러난다. Lagging 가닥 주형의 맨 끝에서 마지막 RNA primer가 제거되면 그 자리를 메울 3′ 말단이 없다. 그 결과 복제마다 말단이 짧아진다. 사람의 체세포에서 측정된 단축은 분열마다 50~100 bp다.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사람의 telomere는 TTAGGG 6염기 반복이 수 kb에서 15 kb 이어지고 3′ 쪽이 단일가닥으로 돌출되어 있다. 이 반복을 다시 늘리는 효소가 </a:t>
            </a:r>
            <a:r>
              <a:rPr sz="1600" b="1" i="0">
                <a:solidFill>
                  <a:srgbClr val="11202B"/>
                </a:solidFill>
                <a:latin typeface="Malgun Gothic"/>
                <a:ea typeface="Malgun Gothic"/>
                <a:cs typeface="Malgun Gothic"/>
              </a:rPr>
              <a:t>telomerase</a:t>
            </a:r>
            <a:r>
              <a:rPr sz="1600" b="0" i="0">
                <a:solidFill>
                  <a:srgbClr val="11202B"/>
                </a:solidFill>
                <a:latin typeface="Malgun Gothic"/>
                <a:ea typeface="Malgun Gothic"/>
                <a:cs typeface="Malgun Gothic"/>
              </a:rPr>
              <a:t>다. Telomerase는 단백질 subunit TERT와 RNA subunit TERC로 이루어지며, </a:t>
            </a:r>
            <a:r>
              <a:rPr sz="1600" b="1" i="0">
                <a:solidFill>
                  <a:srgbClr val="11202B"/>
                </a:solidFill>
                <a:latin typeface="Malgun Gothic"/>
                <a:ea typeface="Malgun Gothic"/>
                <a:cs typeface="Malgun Gothic"/>
              </a:rPr>
              <a:t>자기 주형을 가지고 다니는 reverse transcriptase</a:t>
            </a:r>
            <a:r>
              <a:rPr sz="1600" b="0" i="0">
                <a:solidFill>
                  <a:srgbClr val="11202B"/>
                </a:solidFill>
                <a:latin typeface="Malgun Gothic"/>
                <a:ea typeface="Malgun Gothic"/>
                <a:cs typeface="Malgun Gothic"/>
              </a:rPr>
              <a:t>다. TERC의 일부 서열이 telomere 반복과 상보적이어서 돌출된 3′ 말단에 짝지으면, TERT가 이 RNA를 주형으로 DNA를 이어 붙인다. 한 단위를 늘린 뒤 효소가 미끄러져 다시 짝짓고 같은 과정을 반복한다. 늘어난 단일가닥은 primase와 polymerase가 상대 가닥을 채워 이중나선이 된다. Telomerase 활성은 Greider와 Blackburn이 Tetrahymena 추출물에서 처음 검출했다.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Telomere와 telomerase</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M01-W06-L03  ·  DNA 복제·복구와 유전체 재배열</a:t>
            </a:r>
            <a:r>
              <a:rPr sz="900" b="1" i="0">
                <a:solidFill>
                  <a:srgbClr val="003C71"/>
                </a:solidFill>
                <a:latin typeface="Malgun Gothic"/>
                <a:ea typeface="Malgun Gothic"/>
                <a:cs typeface="Malgun Gothic"/>
              </a:rPr>
              <a:t>      24</a:t>
            </a:r>
          </a:p>
        </p:txBody>
      </p:sp>
      <p:pic>
        <p:nvPicPr>
          <p:cNvPr id="7" name="Picture 6" descr="fig-telomerase.slide.png"/>
          <p:cNvPicPr>
            <a:picLocks noChangeAspect="1"/>
          </p:cNvPicPr>
          <p:nvPr/>
        </p:nvPicPr>
        <p:blipFill>
          <a:blip r:embed="rId2"/>
          <a:stretch>
            <a:fillRect/>
          </a:stretch>
        </p:blipFill>
        <p:spPr>
          <a:xfrm>
            <a:off x="792327" y="1325880"/>
            <a:ext cx="10607040" cy="4194602"/>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Telomerase의 작용. TERC RNA가 돌출된 telomere 3′ 말단과 짝짓고 TERT가 그 RNA를 주형으로 반복을 늘린 뒤 효소가 이동해 같은 과정을 반복하며, 상대 가닥은 primase와 DNA polymerase가 채우는 과정을 보인다.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Telomere와 telomerase</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M01-W06-L03  ·  DNA 복제·복구와 유전체 재배열</a:t>
            </a:r>
            <a:r>
              <a:rPr sz="900" b="1" i="0">
                <a:solidFill>
                  <a:srgbClr val="003C71"/>
                </a:solidFill>
                <a:latin typeface="Malgun Gothic"/>
                <a:ea typeface="Malgun Gothic"/>
                <a:cs typeface="Malgun Gothic"/>
              </a:rPr>
              <a:t>      25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사람에서 telomerase는 생식세포와 줄기세포에서 활성이 높고, 대부분의 체세포에서는 낮다. 그래서 배양한 정상 섬유아세포는 일정 횟수를 분열한 뒤 더 나뉘지 않는다. Telomere가 한계까지 짧아지면 shelterin이 떨어져 말단이 노출되고, 세포는 이를 DNA 손상으로 인식해 p53 경로를 켜고 분열을 멈춘다. 이 상태가 복제노화(replicative senescence)다. 섬유아세포에 *TERT*를 도입해 telomerase 활성을 복원하면 분열 한계가 늘어나므로, telomere 길이가 분열 횟수를 제한하는 인자임이 확인되었다.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Telomere와 telomerase</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M01-W06-L03  ·  DNA 복제·복구와 유전체 재배열</a:t>
            </a:r>
            <a:r>
              <a:rPr sz="900" b="1" i="0">
                <a:solidFill>
                  <a:srgbClr val="003C71"/>
                </a:solidFill>
                <a:latin typeface="Malgun Gothic"/>
                <a:ea typeface="Malgun Gothic"/>
                <a:cs typeface="Malgun Gothic"/>
              </a:rPr>
              <a:t>      26</a:t>
            </a:r>
          </a:p>
        </p:txBody>
      </p:sp>
      <p:sp>
        <p:nvSpPr>
          <p:cNvPr id="7" name="Rectangle 6"/>
          <p:cNvSpPr/>
          <p:nvPr/>
        </p:nvSpPr>
        <p:spPr>
          <a:xfrm>
            <a:off x="640080" y="1325880"/>
            <a:ext cx="10881360" cy="2059505"/>
          </a:xfrm>
          <a:prstGeom prst="rect">
            <a:avLst/>
          </a:prstGeom>
          <a:solidFill>
            <a:srgbClr val="EC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1E6B2C"/>
                </a:solidFill>
                <a:latin typeface="Malgun Gothic"/>
                <a:ea typeface="Malgun Gothic"/>
                <a:cs typeface="Malgun Gothic"/>
              </a:rPr>
              <a:t>시험에서 가려내는 지점   </a:t>
            </a:r>
            <a:r>
              <a:rPr sz="1600" b="0" i="0">
                <a:solidFill>
                  <a:srgbClr val="11202B"/>
                </a:solidFill>
                <a:latin typeface="Malgun Gothic"/>
                <a:ea typeface="Malgun Gothic"/>
                <a:cs typeface="Malgun Gothic"/>
              </a:rPr>
              <a:t>Telomere는 길이와 효소 활성이 반대 방향으로 문제가 되는 드문 예다. </a:t>
            </a:r>
            <a:r>
              <a:rPr sz="1600" b="1" i="0">
                <a:solidFill>
                  <a:srgbClr val="11202B"/>
                </a:solidFill>
                <a:latin typeface="Malgun Gothic"/>
                <a:ea typeface="Malgun Gothic"/>
                <a:cs typeface="Malgun Gothic"/>
              </a:rPr>
              <a:t>짧은 쪽</a:t>
            </a:r>
            <a:r>
              <a:rPr sz="1600" b="0" i="0">
                <a:solidFill>
                  <a:srgbClr val="11202B"/>
                </a:solidFill>
                <a:latin typeface="Malgun Gothic"/>
                <a:ea typeface="Malgun Gothic"/>
                <a:cs typeface="Malgun Gothic"/>
              </a:rPr>
              <a:t>에서는 telomerase(TERT, TERC)나 그 조절·shelterin 유전자의 기능 상실 변이가 telomere biology disorder를 만들어, 분열이 잦은 조직부터 무너진다. 전형적 순서는 골수 부전, 간 질환, 그리고 성인기에 발현하는 </a:t>
            </a:r>
            <a:r>
              <a:rPr sz="1600" b="1" i="0">
                <a:solidFill>
                  <a:srgbClr val="11202B"/>
                </a:solidFill>
                <a:latin typeface="Malgun Gothic"/>
                <a:ea typeface="Malgun Gothic"/>
                <a:cs typeface="Malgun Gothic"/>
              </a:rPr>
              <a:t>특발성 폐 섬유화</a:t>
            </a:r>
            <a:r>
              <a:rPr sz="1600" b="0" i="0">
                <a:solidFill>
                  <a:srgbClr val="11202B"/>
                </a:solidFill>
                <a:latin typeface="Malgun Gothic"/>
                <a:ea typeface="Malgun Gothic"/>
                <a:cs typeface="Malgun Gothic"/>
              </a:rPr>
              <a:t>이며, 가계에서 세대를 내려갈수록 발병이 이른 경향(유전적 anticipation)이 짧아진 telomere 자체의 전달로 설명된다. 설명되지 않는 폐 섬유화와 재생불량성 빈혈이 한 가계에 함께 있으면 telomere 길이 측정이 진단의 단서가 된다. </a:t>
            </a:r>
            <a:r>
              <a:rPr sz="1600" b="1" i="0">
                <a:solidFill>
                  <a:srgbClr val="11202B"/>
                </a:solidFill>
                <a:latin typeface="Malgun Gothic"/>
                <a:ea typeface="Malgun Gothic"/>
                <a:cs typeface="Malgun Gothic"/>
              </a:rPr>
              <a:t>긴 쪽</a:t>
            </a:r>
            <a:r>
              <a:rPr sz="1600" b="0" i="0">
                <a:solidFill>
                  <a:srgbClr val="11202B"/>
                </a:solidFill>
                <a:latin typeface="Malgun Gothic"/>
                <a:ea typeface="Malgun Gothic"/>
                <a:cs typeface="Malgun Gothic"/>
              </a:rPr>
              <a:t>에서는 종양이 TERT promoter의 변이로 효소를 다시 켠다. Melanoma, glioblastoma, 간세포암, 방광암에서 흔한 이 변이는 단백질의 아미노산을 바꾸지 않고 </a:t>
            </a:r>
            <a:r>
              <a:rPr sz="1600" b="1" i="0">
                <a:solidFill>
                  <a:srgbClr val="11202B"/>
                </a:solidFill>
                <a:latin typeface="Malgun Gothic"/>
                <a:ea typeface="Malgun Gothic"/>
                <a:cs typeface="Malgun Gothic"/>
              </a:rPr>
              <a:t>전사인자 결합 부위를 새로 만들어</a:t>
            </a:r>
            <a:r>
              <a:rPr sz="1600" b="0" i="0">
                <a:solidFill>
                  <a:srgbClr val="11202B"/>
                </a:solidFill>
                <a:latin typeface="Malgun Gothic"/>
                <a:ea typeface="Malgun Gothic"/>
                <a:cs typeface="Malgun Gothic"/>
              </a:rPr>
              <a:t> 발현만 올리므로, 암호화 서열만 읽는 검사에서는 보이지 않는다. 비coding 변이가 구동 변이가 될 수 있음을 보이는 표준 예다.</a:t>
            </a:r>
          </a:p>
        </p:txBody>
      </p:sp>
      <p:sp>
        <p:nvSpPr>
          <p:cNvPr id="8" name="Rectangle 7"/>
          <p:cNvSpPr/>
          <p:nvPr/>
        </p:nvSpPr>
        <p:spPr>
          <a:xfrm>
            <a:off x="640080" y="3522545"/>
            <a:ext cx="10881360" cy="928386"/>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Telomere 유지의 양쪽 극단이 모두 질환이다. Telomerase 구성 요소나 shelterin 유전자의 기능 상실 변이는 dyskeratosis congenita처럼 골수 기능 저하, 폐 섬유화, 피부·점막 이상을 보이는 질환군을 만든다. 분열이 잦은 조직이 먼저 손상된다. 반대로 사람 암세포의 약 90%가 telomerase 활성을 다시 켜서 분열 한계를 벗어난다. 남은 암에서는 ALT라 부르는 재조합 의존 경로로 telomere를 유지한다.</a:t>
            </a:r>
          </a:p>
        </p:txBody>
      </p:sp>
      <p:sp>
        <p:nvSpPr>
          <p:cNvPr id="9" name="Rectangle 8"/>
          <p:cNvSpPr/>
          <p:nvPr/>
        </p:nvSpPr>
        <p:spPr>
          <a:xfrm>
            <a:off x="640080" y="4588091"/>
            <a:ext cx="10881360" cy="1584107"/>
          </a:xfrm>
          <a:prstGeom prst="rect">
            <a:avLst/>
          </a:prstGeom>
          <a:solidFill>
            <a:srgbClr val="F3EF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5B3A8A"/>
                </a:solidFill>
                <a:latin typeface="Malgun Gothic"/>
                <a:ea typeface="Malgun Gothic"/>
                <a:cs typeface="Malgun Gothic"/>
              </a:rPr>
              <a:t>연구 전선   </a:t>
            </a:r>
            <a:r>
              <a:rPr sz="1600" b="1" i="0">
                <a:solidFill>
                  <a:srgbClr val="11202B"/>
                </a:solidFill>
                <a:latin typeface="Malgun Gothic"/>
                <a:ea typeface="Malgun Gothic"/>
                <a:cs typeface="Malgun Gothic"/>
              </a:rPr>
              <a:t>연구 전선</a:t>
            </a:r>
            <a:r>
              <a:rPr sz="1600" b="0" i="0">
                <a:solidFill>
                  <a:srgbClr val="11202B"/>
                </a:solidFill>
                <a:latin typeface="Malgun Gothic"/>
                <a:ea typeface="Malgun Gothic"/>
                <a:cs typeface="Malgun Gothic"/>
              </a:rPr>
              <a:t> Telomere를 노화의 원인으로 볼 수 있는지는 아직 정리되지 않았다. 사람의 백혈구 telomere 길이는 나이와 함께 줄고 짧은 쪽이 심혈관 질환과 상관하지만, 상관의 방향이 원인인지 결과인지는 분리되지 않았다. 측정 자체도 문제다. Southern blot 기반의 TRF 측정, qPCR 상대 측정, 단일 분자 수준의 측정이 서로 다른 값을 주며, 평균 길이보다 </a:t>
            </a:r>
            <a:r>
              <a:rPr sz="1600" b="1" i="0">
                <a:solidFill>
                  <a:srgbClr val="11202B"/>
                </a:solidFill>
                <a:latin typeface="Malgun Gothic"/>
                <a:ea typeface="Malgun Gothic"/>
                <a:cs typeface="Malgun Gothic"/>
              </a:rPr>
              <a:t>가장 짧은 telomere의 수</a:t>
            </a:r>
            <a:r>
              <a:rPr sz="1600" b="0" i="0">
                <a:solidFill>
                  <a:srgbClr val="11202B"/>
                </a:solidFill>
                <a:latin typeface="Malgun Gothic"/>
                <a:ea typeface="Malgun Gothic"/>
                <a:cs typeface="Malgun Gothic"/>
              </a:rPr>
              <a:t>가 세포의 운명에 중요하다는 자료가 있다. 치료 쪽에서는 방향이 둘로 갈린다. 재생 조직의 소진을 늦추기 위해 telomerase를 일시적으로 올리려는 시도와, 종양에서 다시 켜진 telomerase를 끄거나 ALT 경로를 표적으로 하려는 시도가 함께 진행된다. 같은 효소가 재생과 발암 양쪽에 놓여 있다는 것이 이 분야의 근본적 제약이다.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000" b="1" i="0">
                <a:solidFill>
                  <a:srgbClr val="FFFFFF"/>
                </a:solidFill>
                <a:latin typeface="Malgun Gothic"/>
                <a:ea typeface="Malgun Gothic"/>
                <a:cs typeface="Malgun Gothic"/>
              </a:rPr>
              <a:t>7. DNA 손상과 복구: 직접 복구와 excision repair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M01-W06-L03  ·  DNA 복제·복구와 유전체 재배열</a:t>
            </a:r>
            <a:r>
              <a:rPr sz="900" b="1" i="0">
                <a:solidFill>
                  <a:srgbClr val="003C71"/>
                </a:solidFill>
                <a:latin typeface="Malgun Gothic"/>
                <a:ea typeface="Malgun Gothic"/>
                <a:cs typeface="Malgun Gothic"/>
              </a:rPr>
              <a:t>      27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DNA는 복제 오류가 없어도 계속 손상된다. 자연 발생 손상에는 염기의 탈아미노화, 탈퓨린화, 산화가 있다. Cytosine이 탈아미노화되면 </a:t>
            </a:r>
            <a:r>
              <a:rPr sz="1400" b="1" i="0">
                <a:solidFill>
                  <a:srgbClr val="11202B"/>
                </a:solidFill>
                <a:latin typeface="Malgun Gothic"/>
                <a:ea typeface="Malgun Gothic"/>
                <a:cs typeface="Malgun Gothic"/>
              </a:rPr>
              <a:t>uracil</a:t>
            </a:r>
            <a:r>
              <a:rPr sz="1400" b="0" i="0">
                <a:solidFill>
                  <a:srgbClr val="11202B"/>
                </a:solidFill>
                <a:latin typeface="Malgun Gothic"/>
                <a:ea typeface="Malgun Gothic"/>
                <a:cs typeface="Malgun Gothic"/>
              </a:rPr>
              <a:t>이 되고, 이 상태가 복제되면 G:C가 A:T로 바뀐다. 5-methylcytosine이 탈아미노화되면 thymine이 되므로 복구 효소가 잘못된 염기를 찾기 더 어렵다. 외부 요인으로는 자외선이 인접한 두 pyrimidine을 공유 결합으로 묶는 </a:t>
            </a:r>
            <a:r>
              <a:rPr sz="1400" b="1" i="0">
                <a:solidFill>
                  <a:srgbClr val="11202B"/>
                </a:solidFill>
                <a:latin typeface="Malgun Gothic"/>
                <a:ea typeface="Malgun Gothic"/>
                <a:cs typeface="Malgun Gothic"/>
              </a:rPr>
              <a:t>pyrimidine dimer</a:t>
            </a:r>
            <a:r>
              <a:rPr sz="1400" b="0" i="0">
                <a:solidFill>
                  <a:srgbClr val="11202B"/>
                </a:solidFill>
                <a:latin typeface="Malgun Gothic"/>
                <a:ea typeface="Malgun Gothic"/>
                <a:cs typeface="Malgun Gothic"/>
              </a:rPr>
              <a:t>를 만들고, 이온화 방사선과 산화 스트레스가 가닥 끊김을 만들며, alkylating제가 염기에 메틸기를 붙인다.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복구 전략은 두 가지로 나뉜다.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직접 복구</a:t>
            </a:r>
            <a:r>
              <a:rPr sz="1400" b="0" i="0">
                <a:solidFill>
                  <a:srgbClr val="11202B"/>
                </a:solidFill>
                <a:latin typeface="Malgun Gothic"/>
                <a:ea typeface="Malgun Gothic"/>
                <a:cs typeface="Malgun Gothic"/>
              </a:rPr>
              <a:t>는 손상을 원래대로 되돌린다. Photolyase는 빛 에너지를 써서 pyrimidine dimer의 결합을 끊어 두 염기를 분리한다(광재활성화, photoreactivation). 이 효소는 세균, 효모, 식물에 있으나 사람에는 없다. 사람에 있는 직접 복구의 예는 </a:t>
            </a:r>
            <a:r>
              <a:rPr sz="1400" b="1" i="0">
                <a:solidFill>
                  <a:srgbClr val="11202B"/>
                </a:solidFill>
                <a:latin typeface="Malgun Gothic"/>
                <a:ea typeface="Malgun Gothic"/>
                <a:cs typeface="Malgun Gothic"/>
              </a:rPr>
              <a:t>MGMT</a:t>
            </a:r>
            <a:r>
              <a:rPr sz="1400" b="0" i="0">
                <a:solidFill>
                  <a:srgbClr val="11202B"/>
                </a:solidFill>
                <a:latin typeface="Malgun Gothic"/>
                <a:ea typeface="Malgun Gothic"/>
                <a:cs typeface="Malgun Gothic"/>
              </a:rPr>
              <a:t>로, O6-methylguanine의 메틸기를 떼어 자기 cysteine으로 옮긴다. 직접 복구는 효소 한 가지로 끝나지만 다룰 수 있는 손상 종류가 적다. MGMT는 치료와 직접 연결된다. Glioblastoma에 쓰는 alkylating제 temozolomide는 guanine의 O⁶ 위치를 메틸화해 세포를 죽이는데, MGMT가 그 메틸기를 떼어 내면 약이 듣지 않는다. 종양에서 MGMT promoter가 메틸화되어 효소가 발현되지 않는 환자가 temozolomide에 더 잘 반응하며, 이 메틸화 상태가 예측 표지로 쓰인다. </a:t>
            </a:r>
            <a:r>
              <a:rPr sz="1400" b="1" i="0">
                <a:solidFill>
                  <a:srgbClr val="11202B"/>
                </a:solidFill>
                <a:latin typeface="Malgun Gothic"/>
                <a:ea typeface="Malgun Gothic"/>
                <a:cs typeface="Malgun Gothic"/>
              </a:rPr>
              <a:t>복구 효소의 결손이 약에 대한 감수성으로 뒤집히는 관계</a:t>
            </a:r>
            <a:r>
              <a:rPr sz="1400" b="0" i="0">
                <a:solidFill>
                  <a:srgbClr val="11202B"/>
                </a:solidFill>
                <a:latin typeface="Malgun Gothic"/>
                <a:ea typeface="Malgun Gothic"/>
                <a:cs typeface="Malgun Gothic"/>
              </a:rPr>
              <a:t>를 보이는 예다.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000" b="1" i="0">
                <a:solidFill>
                  <a:srgbClr val="FFFFFF"/>
                </a:solidFill>
                <a:latin typeface="Malgun Gothic"/>
                <a:ea typeface="Malgun Gothic"/>
                <a:cs typeface="Malgun Gothic"/>
              </a:rPr>
              <a:t>7. DNA 손상과 복구: 직접 복구와 excision repair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M01-W06-L03  ·  DNA 복제·복구와 유전체 재배열</a:t>
            </a:r>
            <a:r>
              <a:rPr sz="900" b="1" i="0">
                <a:solidFill>
                  <a:srgbClr val="003C71"/>
                </a:solidFill>
                <a:latin typeface="Malgun Gothic"/>
                <a:ea typeface="Malgun Gothic"/>
                <a:cs typeface="Malgun Gothic"/>
              </a:rPr>
              <a:t>      28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손상의 규모를 수치로 알아 두면 복구 체계의 부담을 가늠할 수 있다. 사람 세포 하나에서 하루에 자발적으로 일어나는 염기 소실(탈퓨린화)은 약 1만 건, cytosine의 탈아미노화는 수백 건으로 추정되며, 산화 손상은 그보다 많다. 이 가운데 하나라도 복제 전에 처리되지 않으면 변이로 고정된다. 즉 복구는 드물게 작동하는 비상 장치가 아니라 </a:t>
            </a:r>
            <a:r>
              <a:rPr sz="1800" b="1" i="0">
                <a:solidFill>
                  <a:srgbClr val="11202B"/>
                </a:solidFill>
                <a:latin typeface="Malgun Gothic"/>
                <a:ea typeface="Malgun Gothic"/>
                <a:cs typeface="Malgun Gothic"/>
              </a:rPr>
              <a:t>쉬지 않고 돌아가는 유지 보수 체계</a:t>
            </a:r>
            <a:r>
              <a:rPr sz="1800" b="0" i="0">
                <a:solidFill>
                  <a:srgbClr val="11202B"/>
                </a:solidFill>
                <a:latin typeface="Malgun Gothic"/>
                <a:ea typeface="Malgun Gothic"/>
                <a:cs typeface="Malgun Gothic"/>
              </a:rPr>
              <a:t>다.</a:t>
            </a:r>
          </a:p>
          <a:p>
            <a:pPr>
              <a:spcAft>
                <a:spcPts val="900"/>
              </a:spcAft>
            </a:pPr>
            <a:r>
              <a:rPr sz="1800" b="1" i="0">
                <a:solidFill>
                  <a:srgbClr val="F2B705"/>
                </a:solidFill>
                <a:latin typeface="Malgun Gothic"/>
                <a:ea typeface="Malgun Gothic"/>
                <a:cs typeface="Malgun Gothic"/>
              </a:rPr>
              <a:t>•  </a:t>
            </a:r>
            <a:r>
              <a:rPr sz="1800" b="1" i="0">
                <a:solidFill>
                  <a:srgbClr val="11202B"/>
                </a:solidFill>
                <a:latin typeface="Malgun Gothic"/>
                <a:ea typeface="Malgun Gothic"/>
                <a:cs typeface="Malgun Gothic"/>
              </a:rPr>
              <a:t>Excision repair</a:t>
            </a:r>
            <a:r>
              <a:rPr sz="1800" b="0" i="0">
                <a:solidFill>
                  <a:srgbClr val="11202B"/>
                </a:solidFill>
                <a:latin typeface="Malgun Gothic"/>
                <a:ea typeface="Malgun Gothic"/>
                <a:cs typeface="Malgun Gothic"/>
              </a:rPr>
              <a:t>는 손상된 부분을 잘라내고 온전한 상대 가닥을 주형으로 다시 합성한다. 상보적인 두 가닥을 가진 구조 자체가 복구의 바탕이다. 세 경로로 나눈다.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000" b="1" i="0">
                <a:solidFill>
                  <a:srgbClr val="FFFFFF"/>
                </a:solidFill>
                <a:latin typeface="Malgun Gothic"/>
                <a:ea typeface="Malgun Gothic"/>
                <a:cs typeface="Malgun Gothic"/>
              </a:rPr>
              <a:t>7. DNA 손상과 복구: 직접 복구와 excision repair</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M01-W06-L03  ·  DNA 복제·복구와 유전체 재배열</a:t>
            </a:r>
            <a:r>
              <a:rPr sz="900" b="1" i="0">
                <a:solidFill>
                  <a:srgbClr val="003C71"/>
                </a:solidFill>
                <a:latin typeface="Malgun Gothic"/>
                <a:ea typeface="Malgun Gothic"/>
                <a:cs typeface="Malgun Gothic"/>
              </a:rPr>
              <a:t>      29</a:t>
            </a:r>
          </a:p>
        </p:txBody>
      </p:sp>
      <p:graphicFrame>
        <p:nvGraphicFramePr>
          <p:cNvPr id="7" name="Table 6"/>
          <p:cNvGraphicFramePr>
            <a:graphicFrameLocks noGrp="1"/>
          </p:cNvGraphicFramePr>
          <p:nvPr/>
        </p:nvGraphicFramePr>
        <p:xfrm>
          <a:off x="548640" y="1280160"/>
          <a:ext cx="11064240" cy="1463040"/>
        </p:xfrm>
        <a:graphic>
          <a:graphicData uri="http://schemas.openxmlformats.org/drawingml/2006/table">
            <a:tbl>
              <a:tblPr firstRow="1" bandRow="1">
                <a:tableStyleId>{5C22544A-7EE6-4342-B048-85BDC9FD1C3A}</a:tableStyleId>
              </a:tblPr>
              <a:tblGrid>
                <a:gridCol w="2766060"/>
                <a:gridCol w="2766060"/>
                <a:gridCol w="2766060"/>
                <a:gridCol w="2766060"/>
              </a:tblGrid>
              <a:tr h="365760">
                <a:tc>
                  <a:txBody>
                    <a:bodyPr/>
                    <a:lstStyle/>
                    <a:p>
                      <a:r>
                        <a:rPr sz="1200" b="1" i="0">
                          <a:solidFill>
                            <a:srgbClr val="FFFFFF"/>
                          </a:solidFill>
                          <a:latin typeface="Malgun Gothic"/>
                          <a:ea typeface="Malgun Gothic"/>
                          <a:cs typeface="Malgun Gothic"/>
                        </a:rPr>
                        <a:t>경로</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인식 대상</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제거 범위</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핵심 효소</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Base-excision repair</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손상·잘못된 염기 하나 (uracil, 산화 염기)</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염기 1개와 그 뉴클레오타이드</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DNA glycosylase, AP endonuclease, Pol β, ligase</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Nucleotide-excision repair</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나선을 비트는 큰 손상 (pyrimidine dimer, 부가물)</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사람에서 24~32 뉴클레오타이드</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XPC·XPA, TFIIH(XPB·XPD), XPG·XPF, Pol δ/ε</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Mismatch repair</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복제 때 들어간 잘못된 염기쌍</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수십~1,000 뉴클레오타이드</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MSH2–MSH6, MLH1–PMS2, exonuclease</a:t>
                      </a:r>
                    </a:p>
                  </a:txBody>
                  <a:tcPr marL="73152" marR="73152" marT="27432" marB="27432">
                    <a:solidFill>
                      <a:srgbClr val="FFFFFF"/>
                    </a:solidFill>
                  </a:tcPr>
                </a:tc>
              </a:tr>
            </a:tbl>
          </a:graphicData>
        </a:graphic>
      </p:graphicFrame>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000" b="1" i="0">
                <a:solidFill>
                  <a:srgbClr val="FFFFFF"/>
                </a:solidFill>
                <a:latin typeface="Malgun Gothic"/>
                <a:ea typeface="Malgun Gothic"/>
                <a:cs typeface="Malgun Gothic"/>
              </a:rPr>
              <a:t>7. DNA 손상과 복구: 직접 복구와 excision repair</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M01-W06-L03  ·  DNA 복제·복구와 유전체 재배열</a:t>
            </a:r>
            <a:r>
              <a:rPr sz="900" b="1" i="0">
                <a:solidFill>
                  <a:srgbClr val="003C71"/>
                </a:solidFill>
                <a:latin typeface="Malgun Gothic"/>
                <a:ea typeface="Malgun Gothic"/>
                <a:cs typeface="Malgun Gothic"/>
              </a:rPr>
              <a:t>      30</a:t>
            </a:r>
          </a:p>
        </p:txBody>
      </p:sp>
      <p:pic>
        <p:nvPicPr>
          <p:cNvPr id="7" name="Picture 6" descr="fig-excision-repair.slide.png"/>
          <p:cNvPicPr>
            <a:picLocks noChangeAspect="1"/>
          </p:cNvPicPr>
          <p:nvPr/>
        </p:nvPicPr>
        <p:blipFill>
          <a:blip r:embed="rId2"/>
          <a:stretch>
            <a:fillRect/>
          </a:stretch>
        </p:blipFill>
        <p:spPr>
          <a:xfrm>
            <a:off x="1180477" y="1325880"/>
            <a:ext cx="9830740"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Base-excision repair와 nucleotide-excision repair의 비교. Glycosylase가 염기를 떼고 AP endonuclease가 골격을 끊는 경로와, 손상 양쪽을 끊어 24~32 뉴클레오타이드 조각째로 제거하는 경로를 단계별로 보인다.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000" b="1" i="0">
                <a:solidFill>
                  <a:srgbClr val="FFFFFF"/>
                </a:solidFill>
                <a:latin typeface="Malgun Gothic"/>
                <a:ea typeface="Malgun Gothic"/>
                <a:cs typeface="Malgun Gothic"/>
              </a:rPr>
              <a:t>7. DNA 손상과 복구: 직접 복구와 excision repair</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M01-W06-L03  ·  DNA 복제·복구와 유전체 재배열</a:t>
            </a:r>
            <a:r>
              <a:rPr sz="900" b="1" i="0">
                <a:solidFill>
                  <a:srgbClr val="003C71"/>
                </a:solidFill>
                <a:latin typeface="Malgun Gothic"/>
                <a:ea typeface="Malgun Gothic"/>
                <a:cs typeface="Malgun Gothic"/>
              </a:rPr>
              <a:t>      31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Base-excision repair는 </a:t>
            </a:r>
            <a:r>
              <a:rPr sz="1600" b="1" i="0">
                <a:solidFill>
                  <a:srgbClr val="11202B"/>
                </a:solidFill>
                <a:latin typeface="Malgun Gothic"/>
                <a:ea typeface="Malgun Gothic"/>
                <a:cs typeface="Malgun Gothic"/>
              </a:rPr>
              <a:t>DNA glycosylase</a:t>
            </a:r>
            <a:r>
              <a:rPr sz="1600" b="0" i="0">
                <a:solidFill>
                  <a:srgbClr val="11202B"/>
                </a:solidFill>
                <a:latin typeface="Malgun Gothic"/>
                <a:ea typeface="Malgun Gothic"/>
                <a:cs typeface="Malgun Gothic"/>
              </a:rPr>
              <a:t>가 손상된 염기와 당 사이의 결합을 끊어 염기만 떼어내는 것으로 시작한다. Uracil DNA glycosylase처럼 각 손상에 대응하는 glycosylase가 여러 종류 있다. 염기가 빠진 자리(AP site)를 AP endonuclease가 끊고, 남은 당-인산을 제거한 뒤 Pol β가 뉴클레오타이드 하나를 넣고 ligase가 봉한다.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Nucleotide-excision repair는 손상 염기의 종류를 하나하나 인식하지 않고 </a:t>
            </a:r>
            <a:r>
              <a:rPr sz="1600" b="1" i="0">
                <a:solidFill>
                  <a:srgbClr val="11202B"/>
                </a:solidFill>
                <a:latin typeface="Malgun Gothic"/>
                <a:ea typeface="Malgun Gothic"/>
                <a:cs typeface="Malgun Gothic"/>
              </a:rPr>
              <a:t>나선 구조의 왜곡</a:t>
            </a:r>
            <a:r>
              <a:rPr sz="1600" b="0" i="0">
                <a:solidFill>
                  <a:srgbClr val="11202B"/>
                </a:solidFill>
                <a:latin typeface="Malgun Gothic"/>
                <a:ea typeface="Malgun Gothic"/>
                <a:cs typeface="Malgun Gothic"/>
              </a:rPr>
              <a:t>을 인식한다. 손상 부위 양쪽에서 가닥을 끊어 손상을 포함한 조각을 통째로 들어내므로, 서로 전혀 다른 손상을 한 경로로 처리할 수 있다. 사람에서 들어내는 조각은 24~32 뉴클레오타이드이고 *E. coli*의 UvrABC excinuclease는 12~13 뉴클레오타이드를 들어낸다. 생긴 틈은 Pol δ 또는 Pol ε이 메우고 ligase가 봉한다. 전사 중인 유전자에서 RNA polymerase가 손상에 걸려 멈추면 그 신호가 복구 기구를 불러오는 전사 결합 경로가 따로 작동한다.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000" b="1" i="0">
                <a:solidFill>
                  <a:srgbClr val="FFFFFF"/>
                </a:solidFill>
                <a:latin typeface="Malgun Gothic"/>
                <a:ea typeface="Malgun Gothic"/>
                <a:cs typeface="Malgun Gothic"/>
              </a:rPr>
              <a:t>7. DNA 손상과 복구: 직접 복구와 excision repair</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M01-W06-L03  ·  DNA 복제·복구와 유전체 재배열</a:t>
            </a:r>
            <a:r>
              <a:rPr sz="900" b="1" i="0">
                <a:solidFill>
                  <a:srgbClr val="003C71"/>
                </a:solidFill>
                <a:latin typeface="Malgun Gothic"/>
                <a:ea typeface="Malgun Gothic"/>
                <a:cs typeface="Malgun Gothic"/>
              </a:rPr>
              <a:t>      32</a:t>
            </a:r>
          </a:p>
        </p:txBody>
      </p:sp>
      <p:sp>
        <p:nvSpPr>
          <p:cNvPr id="7" name="Rectangle 6"/>
          <p:cNvSpPr/>
          <p:nvPr/>
        </p:nvSpPr>
        <p:spPr>
          <a:xfrm>
            <a:off x="640080" y="1325880"/>
            <a:ext cx="10881360" cy="1681480"/>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Nucleotide-excision repair 유전자의 기능 상실은 xeroderma pigmentosum을 일으킨다. 자외선으로 생긴 pyrimidine dimer가 제거되지 않아 햇빛 노출 부위에 피부암이 생기며, 발생 위험이 일반 인구의 1,000배 수준으로 보고된다. 이 질환은 DNA 복구 결함과 발암의 직접적 연결을 처음 보여 준 사례다. 같은 경로의 다른 유전자 변이는 Cockayne syndrome처럼 신경 발달과 전사 결합 복구에 치우친 표현형을 만든다.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000" b="1" i="0">
                <a:solidFill>
                  <a:srgbClr val="FFFFFF"/>
                </a:solidFill>
                <a:latin typeface="Malgun Gothic"/>
                <a:ea typeface="Malgun Gothic"/>
                <a:cs typeface="Malgun Gothic"/>
              </a:rPr>
              <a:t>8. 손상을 건너뛰는 합성과 double-strand break의 복구</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M01-W06-L03  ·  DNA 복제·복구와 유전체 재배열</a:t>
            </a:r>
            <a:r>
              <a:rPr sz="900" b="1" i="0">
                <a:solidFill>
                  <a:srgbClr val="003C71"/>
                </a:solidFill>
                <a:latin typeface="Malgun Gothic"/>
                <a:ea typeface="Malgun Gothic"/>
                <a:cs typeface="Malgun Gothic"/>
              </a:rPr>
              <a:t>      33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복제가 시작되기 전에 손상이 모두 제거되지 않으면 분기점이 손상 부위에서 멈춘다. 멈춘 분기점이 그대로 무너지면 가닥이 끊어진다. 세포는 정확도를 희생하고 합성을 계속하는 경로를 쓴다. </a:t>
            </a:r>
            <a:r>
              <a:rPr sz="1800" b="1" i="0">
                <a:solidFill>
                  <a:srgbClr val="11202B"/>
                </a:solidFill>
                <a:latin typeface="Malgun Gothic"/>
                <a:ea typeface="Malgun Gothic"/>
                <a:cs typeface="Malgun Gothic"/>
              </a:rPr>
              <a:t>Translesion DNA synthesis</a:t>
            </a:r>
            <a:r>
              <a:rPr sz="1800" b="0" i="0">
                <a:solidFill>
                  <a:srgbClr val="11202B"/>
                </a:solidFill>
                <a:latin typeface="Malgun Gothic"/>
                <a:ea typeface="Malgun Gothic"/>
                <a:cs typeface="Malgun Gothic"/>
              </a:rPr>
              <a:t>다. 손상 부위에서는 Pol δ·ε 대신 전용 polymerase가 들어온다. 이 polymerase들은 활성 부위가 넓어 왜곡된 주형에도 뉴클레오타이드를 붙일 수 있고, proofreading 활성이 없다. Pol η는 pyrimidine dimer 건너편에 올바른 염기를 비교적 정확히 넣고, Pol ζ는 다양한 손상을 건너뛰지만 오류를 많이 남긴다. 이 경로는 변이를 만들더라도 복제를 끝내는 쪽을 택하는 손상 내성 기전이며, 정확한 복구 경로가 아니다.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000" b="1" i="0">
                <a:solidFill>
                  <a:srgbClr val="FFFFFF"/>
                </a:solidFill>
                <a:latin typeface="Malgun Gothic"/>
                <a:ea typeface="Malgun Gothic"/>
                <a:cs typeface="Malgun Gothic"/>
              </a:rPr>
              <a:t>8. 손상을 건너뛰는 합성과 double-strand break의 복구</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M01-W06-L03  ·  DNA 복제·복구와 유전체 재배열</a:t>
            </a:r>
            <a:r>
              <a:rPr sz="900" b="1" i="0">
                <a:solidFill>
                  <a:srgbClr val="003C71"/>
                </a:solidFill>
                <a:latin typeface="Malgun Gothic"/>
                <a:ea typeface="Malgun Gothic"/>
                <a:cs typeface="Malgun Gothic"/>
              </a:rPr>
              <a:t>      34</a:t>
            </a:r>
          </a:p>
        </p:txBody>
      </p:sp>
      <p:sp>
        <p:nvSpPr>
          <p:cNvPr id="7" name="Rectangle 6"/>
          <p:cNvSpPr/>
          <p:nvPr/>
        </p:nvSpPr>
        <p:spPr>
          <a:xfrm>
            <a:off x="640080" y="1325880"/>
            <a:ext cx="10881360" cy="1386839"/>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Xeroderma pigmentosum variant로 분류되는 환자군은 nucleotide-excision repair가 정상인데도 같은 증상을 보인다. 원인은 Pol η를 암호화하는 *POLH*의 변이다. 손상을 제거하는 경로와 손상을 건너뛰는 경로 중 어느 하나만 망가져도 자외선 손상이 분열에 치명적이 된다.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000" b="1" i="0">
                <a:solidFill>
                  <a:srgbClr val="FFFFFF"/>
                </a:solidFill>
                <a:latin typeface="Malgun Gothic"/>
                <a:ea typeface="Malgun Gothic"/>
                <a:cs typeface="Malgun Gothic"/>
              </a:rPr>
              <a:t>8. 손상을 건너뛰는 합성과 double-strand break의 복구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M01-W06-L03  ·  DNA 복제·복구와 유전체 재배열</a:t>
            </a:r>
            <a:r>
              <a:rPr sz="900" b="1" i="0">
                <a:solidFill>
                  <a:srgbClr val="003C71"/>
                </a:solidFill>
                <a:latin typeface="Malgun Gothic"/>
                <a:ea typeface="Malgun Gothic"/>
                <a:cs typeface="Malgun Gothic"/>
              </a:rPr>
              <a:t>      35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손상은 복구되기 전에 먼저 </a:t>
            </a:r>
            <a:r>
              <a:rPr sz="1400" b="1" i="0">
                <a:solidFill>
                  <a:srgbClr val="11202B"/>
                </a:solidFill>
                <a:latin typeface="Malgun Gothic"/>
                <a:ea typeface="Malgun Gothic"/>
                <a:cs typeface="Malgun Gothic"/>
              </a:rPr>
              <a:t>신호로 번역</a:t>
            </a:r>
            <a:r>
              <a:rPr sz="1400" b="0" i="0">
                <a:solidFill>
                  <a:srgbClr val="11202B"/>
                </a:solidFill>
                <a:latin typeface="Malgun Gothic"/>
                <a:ea typeface="Malgun Gothic"/>
                <a:cs typeface="Malgun Gothic"/>
              </a:rPr>
              <a:t>된다. 이 체계를 DNA damage response라 하며, 두 kinase가 중심에 있다. </a:t>
            </a:r>
            <a:r>
              <a:rPr sz="1400" b="1" i="0">
                <a:solidFill>
                  <a:srgbClr val="11202B"/>
                </a:solidFill>
                <a:latin typeface="Malgun Gothic"/>
                <a:ea typeface="Malgun Gothic"/>
                <a:cs typeface="Malgun Gothic"/>
              </a:rPr>
              <a:t>ATM</a:t>
            </a:r>
            <a:r>
              <a:rPr sz="1400" b="0" i="0">
                <a:solidFill>
                  <a:srgbClr val="11202B"/>
                </a:solidFill>
                <a:latin typeface="Malgun Gothic"/>
                <a:ea typeface="Malgun Gothic"/>
                <a:cs typeface="Malgun Gothic"/>
              </a:rPr>
              <a:t>은 double-strand break에서 MRN 복합체에 의해 활성화되고, </a:t>
            </a:r>
            <a:r>
              <a:rPr sz="1400" b="1" i="0">
                <a:solidFill>
                  <a:srgbClr val="11202B"/>
                </a:solidFill>
                <a:latin typeface="Malgun Gothic"/>
                <a:ea typeface="Malgun Gothic"/>
                <a:cs typeface="Malgun Gothic"/>
              </a:rPr>
              <a:t>ATR</a:t>
            </a:r>
            <a:r>
              <a:rPr sz="1400" b="0" i="0">
                <a:solidFill>
                  <a:srgbClr val="11202B"/>
                </a:solidFill>
                <a:latin typeface="Malgun Gothic"/>
                <a:ea typeface="Malgun Gothic"/>
                <a:cs typeface="Malgun Gothic"/>
              </a:rPr>
              <a:t>은 RPA로 덮인 단일가닥에서 활성화된다. 두 kinase는 H2AX를 인산화해 γH2AX를 만들어 손상 부위에 복구 단백질을 모으고, CHK2·CHK1을 통해 CDK 활성을 낮춰 세포주기를 G1/S와 G2/M 경계에서 멈추고, p53을 안정화한다. 손상이 적으면 복구할 시간을 벌고, 크면 세포사멸이나 노화로 보낸다. 즉 </a:t>
            </a:r>
            <a:r>
              <a:rPr sz="1400" b="1" i="0">
                <a:solidFill>
                  <a:srgbClr val="11202B"/>
                </a:solidFill>
                <a:latin typeface="Malgun Gothic"/>
                <a:ea typeface="Malgun Gothic"/>
                <a:cs typeface="Malgun Gothic"/>
              </a:rPr>
              <a:t>복구의 성패가 아니라 손상의 양이 세포의 운명을 정한다.</a:t>
            </a:r>
            <a:r>
              <a:rPr sz="1400" b="0" i="0">
                <a:solidFill>
                  <a:srgbClr val="11202B"/>
                </a:solidFill>
                <a:latin typeface="Malgun Gothic"/>
                <a:ea typeface="Malgun Gothic"/>
                <a:cs typeface="Malgun Gothic"/>
              </a:rPr>
              <a:t> ATM이 망가진 ataxia-telangiectasia 환자가 소뇌 퇴행, 모세혈관 확장, 면역결핍, 림프종 위험 증가와 함께 방사선에 극단적으로 민감한 것이 이 연결의 임상적 증거다.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Double-strand break</a:t>
            </a:r>
            <a:r>
              <a:rPr sz="1400" b="0" i="0">
                <a:solidFill>
                  <a:srgbClr val="11202B"/>
                </a:solidFill>
                <a:latin typeface="Malgun Gothic"/>
                <a:ea typeface="Malgun Gothic"/>
                <a:cs typeface="Malgun Gothic"/>
              </a:rPr>
              <a:t>는 두 가닥이 같은 위치에서 끊긴 상태다. 상대 가닥을 주형으로 쓸 수 없으므로 excision repair로는 복구되지 않는다. 이온화 방사선, 산화 스트레스, 멈춘 분기점의 붕괴, topoisomerase 반응의 실패가 원인이다. 끊긴 염색체가 그대로 남으면 조각이 소실되거나 다른 염색체와 이어져 전좌가 된다. 복구 경로는 둘이다.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Homologous recombination</a:t>
            </a:r>
            <a:r>
              <a:rPr sz="1400" b="0" i="0">
                <a:solidFill>
                  <a:srgbClr val="11202B"/>
                </a:solidFill>
                <a:latin typeface="Malgun Gothic"/>
                <a:ea typeface="Malgun Gothic"/>
                <a:cs typeface="Malgun Gothic"/>
              </a:rPr>
              <a:t>은 온전한 서열을 주형으로 쓴다. 끊긴 말단이 nuclease에 깎여 3′ 단일가닥이 돌출되고, 여기에 RAD51(세균의 RecA에 해당)이 결합한다. 이 단일가닥이 상동 서열을 탐색해 침입하고 짝지은 뒤, 그 가닥을 주형으로 잃어버린 서열을 다시 합성한다. 복제 뒤라면 자매 염색분체가 완전히 같은 서열을 제공하므로 </a:t>
            </a:r>
            <a:r>
              <a:rPr sz="1400" b="1" i="0">
                <a:solidFill>
                  <a:srgbClr val="11202B"/>
                </a:solidFill>
                <a:latin typeface="Malgun Gothic"/>
                <a:ea typeface="Malgun Gothic"/>
                <a:cs typeface="Malgun Gothic"/>
              </a:rPr>
              <a:t>서열 정보가 그대로 복원된다.</a:t>
            </a:r>
            <a:r>
              <a:rPr sz="1400" b="0" i="0">
                <a:solidFill>
                  <a:srgbClr val="11202B"/>
                </a:solidFill>
                <a:latin typeface="Malgun Gothic"/>
                <a:ea typeface="Malgun Gothic"/>
                <a:cs typeface="Malgun Gothic"/>
              </a:rPr>
              <a:t> 이 경로는 상동 주형이 있는 S기 후반과 G2기에 주로 쓰인다. BRCA1과 BRCA2는 RAD51이 단일가닥에 올라가도록 돕는다.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000" b="1" i="0">
                <a:solidFill>
                  <a:srgbClr val="FFFFFF"/>
                </a:solidFill>
                <a:latin typeface="Malgun Gothic"/>
                <a:ea typeface="Malgun Gothic"/>
                <a:cs typeface="Malgun Gothic"/>
              </a:rPr>
              <a:t>8. 손상을 건너뛰는 합성과 double-strand break의 복구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M01-W06-L03  ·  DNA 복제·복구와 유전체 재배열</a:t>
            </a:r>
            <a:r>
              <a:rPr sz="900" b="1" i="0">
                <a:solidFill>
                  <a:srgbClr val="003C71"/>
                </a:solidFill>
                <a:latin typeface="Malgun Gothic"/>
                <a:ea typeface="Malgun Gothic"/>
                <a:cs typeface="Malgun Gothic"/>
              </a:rPr>
              <a:t>      36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Nonhomologous end joining</a:t>
            </a:r>
            <a:r>
              <a:rPr sz="1400" b="0" i="0">
                <a:solidFill>
                  <a:srgbClr val="11202B"/>
                </a:solidFill>
                <a:latin typeface="Malgun Gothic"/>
                <a:ea typeface="Malgun Gothic"/>
                <a:cs typeface="Malgun Gothic"/>
              </a:rPr>
              <a:t>은 끊긴 두 말단을 바로 이어 붙인다. Ku70–Ku80이 말단에 결합하고 DNA-PK와 ligase IV–XRCC4가 접합을 수행한다. 주형을 쓰지 않으므로 세포주기 어느 시점에서도 쓸 수 있고 포유류 체세포에서 더 흔하지만, 접합 부위에서 몇 개의 뉴클레오타이드가 </a:t>
            </a:r>
            <a:r>
              <a:rPr sz="1400" b="1" i="0">
                <a:solidFill>
                  <a:srgbClr val="11202B"/>
                </a:solidFill>
                <a:latin typeface="Malgun Gothic"/>
                <a:ea typeface="Malgun Gothic"/>
                <a:cs typeface="Malgun Gothic"/>
              </a:rPr>
              <a:t>소실되거나 삽입된다.</a:t>
            </a:r>
            <a:r>
              <a:rPr sz="1400" b="0" i="0">
                <a:solidFill>
                  <a:srgbClr val="11202B"/>
                </a:solidFill>
                <a:latin typeface="Malgun Gothic"/>
                <a:ea typeface="Malgun Gothic"/>
                <a:cs typeface="Malgun Gothic"/>
              </a:rPr>
              <a:t> 즉 끊김은 봉합되지만 서열은 바뀐다.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두 경로 밖에도 말단을 잇는 방식이 있다. </a:t>
            </a:r>
            <a:r>
              <a:rPr sz="1400" b="1" i="0">
                <a:solidFill>
                  <a:srgbClr val="11202B"/>
                </a:solidFill>
                <a:latin typeface="Malgun Gothic"/>
                <a:ea typeface="Malgun Gothic"/>
                <a:cs typeface="Malgun Gothic"/>
              </a:rPr>
              <a:t>Microhomology-mediated end joining(alt-EJ, TMEJ)</a:t>
            </a:r>
            <a:r>
              <a:rPr sz="1400" b="0" i="0">
                <a:solidFill>
                  <a:srgbClr val="11202B"/>
                </a:solidFill>
                <a:latin typeface="Malgun Gothic"/>
                <a:ea typeface="Malgun Gothic"/>
                <a:cs typeface="Malgun Gothic"/>
              </a:rPr>
              <a:t>은 말단을 깎아 드러난 2~20 염기의 짧은 상동 구간을 짝지어 잇고 그 사이를 Pol θ가 메우는 경로로, 반드시 결실을 남기며 염색체 전좌의 접합 부위에서 흔히 관찰된다. 긴 반복 서열 사이에서 일어나 그 사이를 통째로 지우는 </a:t>
            </a:r>
            <a:r>
              <a:rPr sz="1400" b="1" i="0">
                <a:solidFill>
                  <a:srgbClr val="11202B"/>
                </a:solidFill>
                <a:latin typeface="Malgun Gothic"/>
                <a:ea typeface="Malgun Gothic"/>
                <a:cs typeface="Malgun Gothic"/>
              </a:rPr>
              <a:t>single-strand annealing</a:t>
            </a:r>
            <a:r>
              <a:rPr sz="1400" b="0" i="0">
                <a:solidFill>
                  <a:srgbClr val="11202B"/>
                </a:solidFill>
                <a:latin typeface="Malgun Gothic"/>
                <a:ea typeface="Malgun Gothic"/>
                <a:cs typeface="Malgun Gothic"/>
              </a:rPr>
              <a:t>도 있다. 두 경로 모두 서열을 잃으므로, 세포가 이들에 의존하게 되는 상태 자체가 유전체 불안정성을 뜻한다.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경로 선택</a:t>
            </a:r>
            <a:r>
              <a:rPr sz="1400" b="0" i="0">
                <a:solidFill>
                  <a:srgbClr val="11202B"/>
                </a:solidFill>
                <a:latin typeface="Malgun Gothic"/>
                <a:ea typeface="Malgun Gothic"/>
                <a:cs typeface="Malgun Gothic"/>
              </a:rPr>
              <a:t>은 세포주기와 경쟁하는 두 단백질이 정한다. G1기에는 상동 주형이 없으므로 53BP1과 그 하위 인자가 말단 깎기를 막아 nonhomologous end joining으로 보낸다. S기와 G2기에는 BRCA1과 CtIP이 53BP1의 작용을 밀어내고 말단을 깎아 단일가닥을 만들어 homologous recombination으로 보낸다. 이 경쟁 관계가 치료 저항의 기전을 설명한다. BRCA1 변이 종양에서 </a:t>
            </a:r>
            <a:r>
              <a:rPr sz="1400" b="1" i="0">
                <a:solidFill>
                  <a:srgbClr val="11202B"/>
                </a:solidFill>
                <a:latin typeface="Malgun Gothic"/>
                <a:ea typeface="Malgun Gothic"/>
                <a:cs typeface="Malgun Gothic"/>
              </a:rPr>
              <a:t>53BP1이 추가로 소실되면</a:t>
            </a:r>
            <a:r>
              <a:rPr sz="1400" b="0" i="0">
                <a:solidFill>
                  <a:srgbClr val="11202B"/>
                </a:solidFill>
                <a:latin typeface="Malgun Gothic"/>
                <a:ea typeface="Malgun Gothic"/>
                <a:cs typeface="Malgun Gothic"/>
              </a:rPr>
              <a:t> 말단 깎기가 다시 일어나 상동재조합이 부분적으로 회복되고, PARP 억제제에 저항성이 생긴다.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000" b="1" i="0">
                <a:solidFill>
                  <a:srgbClr val="FFFFFF"/>
                </a:solidFill>
                <a:latin typeface="Malgun Gothic"/>
                <a:ea typeface="Malgun Gothic"/>
                <a:cs typeface="Malgun Gothic"/>
              </a:rPr>
              <a:t>8. 손상을 건너뛰는 합성과 double-strand break의 복구</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M01-W06-L03  ·  DNA 복제·복구와 유전체 재배열</a:t>
            </a:r>
            <a:r>
              <a:rPr sz="900" b="1" i="0">
                <a:solidFill>
                  <a:srgbClr val="003C71"/>
                </a:solidFill>
                <a:latin typeface="Malgun Gothic"/>
                <a:ea typeface="Malgun Gothic"/>
                <a:cs typeface="Malgun Gothic"/>
              </a:rPr>
              <a:t>      37</a:t>
            </a:r>
          </a:p>
        </p:txBody>
      </p:sp>
      <p:sp>
        <p:nvSpPr>
          <p:cNvPr id="7" name="Rectangle 6"/>
          <p:cNvSpPr/>
          <p:nvPr/>
        </p:nvSpPr>
        <p:spPr>
          <a:xfrm>
            <a:off x="640080" y="1325880"/>
            <a:ext cx="10881360" cy="2565400"/>
          </a:xfrm>
          <a:prstGeom prst="rect">
            <a:avLst/>
          </a:prstGeom>
          <a:solidFill>
            <a:srgbClr val="EC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1E6B2C"/>
                </a:solidFill>
                <a:latin typeface="Malgun Gothic"/>
                <a:ea typeface="Malgun Gothic"/>
                <a:cs typeface="Malgun Gothic"/>
              </a:rPr>
              <a:t>시험에서 가려내는 지점   </a:t>
            </a:r>
            <a:r>
              <a:rPr sz="1600" b="0" i="0">
                <a:solidFill>
                  <a:srgbClr val="11202B"/>
                </a:solidFill>
                <a:latin typeface="Malgun Gothic"/>
                <a:ea typeface="Malgun Gothic"/>
                <a:cs typeface="Malgun Gothic"/>
              </a:rPr>
              <a:t>복구 경로가 세포주기의 어느 시기에 작동하는지가 세 가지 결론을 한꺼번에 낳는다. 첫째, </a:t>
            </a:r>
            <a:r>
              <a:rPr sz="1600" b="1" i="0">
                <a:solidFill>
                  <a:srgbClr val="11202B"/>
                </a:solidFill>
                <a:latin typeface="Malgun Gothic"/>
                <a:ea typeface="Malgun Gothic"/>
                <a:cs typeface="Malgun Gothic"/>
              </a:rPr>
              <a:t>상동재조합은 S기 후반과 G2기에만</a:t>
            </a:r>
            <a:r>
              <a:rPr sz="1600" b="0" i="0">
                <a:solidFill>
                  <a:srgbClr val="11202B"/>
                </a:solidFill>
                <a:latin typeface="Malgun Gothic"/>
                <a:ea typeface="Malgun Gothic"/>
                <a:cs typeface="Malgun Gothic"/>
              </a:rPr>
              <a:t> 쓸 수 있다. 주형이 될 자매 염색분체가 복제 뒤에만 존재하기 때문이다. 그래서 분열하지 않는 세포(신경세포, 심근세포)는 double-strand break를 거의 nonhomologous end joining으로만 처리하고, 그 결과 서열의 소실이 누적된다. 둘째, 방사선의 효과가 세포주기에 따라 달라진다. G2/M기의 세포가 가장 민감하고 S기 후반이 가장 저항성을 보이는 것은 복구에 쓸 주형의 유무와 검문지점에서 머무는 시간으로 설명된다. 셋째, 유전자 편집에서 HDR의 효율이 낮은 이유도 같다. 대부분의 세포가 G1기에 머물러 있는 동안에는 주형을 쓰는 복구가 작동하지 않으므로, knock-in 효율을 올리려면 세포를 S기에 맞추거나 53BP1을 일시적으로 억제한다. </a:t>
            </a:r>
            <a:r>
              <a:rPr sz="1600" b="1" i="0">
                <a:solidFill>
                  <a:srgbClr val="11202B"/>
                </a:solidFill>
                <a:latin typeface="Malgun Gothic"/>
                <a:ea typeface="Malgun Gothic"/>
                <a:cs typeface="Malgun Gothic"/>
              </a:rPr>
              <a:t>"주형이 있는가"와 "세포주기의 어디인가"를 함께 묻는 것이 이 부류 문제의 공통 구조다.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000" b="1" i="0">
                <a:solidFill>
                  <a:srgbClr val="FFFFFF"/>
                </a:solidFill>
                <a:latin typeface="Malgun Gothic"/>
                <a:ea typeface="Malgun Gothic"/>
                <a:cs typeface="Malgun Gothic"/>
              </a:rPr>
              <a:t>8. 손상을 건너뛰는 합성과 double-strand break의 복구</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M01-W06-L03  ·  DNA 복제·복구와 유전체 재배열</a:t>
            </a:r>
            <a:r>
              <a:rPr sz="900" b="1" i="0">
                <a:solidFill>
                  <a:srgbClr val="003C71"/>
                </a:solidFill>
                <a:latin typeface="Malgun Gothic"/>
                <a:ea typeface="Malgun Gothic"/>
                <a:cs typeface="Malgun Gothic"/>
              </a:rPr>
              <a:t>      38</a:t>
            </a:r>
          </a:p>
        </p:txBody>
      </p:sp>
      <p:pic>
        <p:nvPicPr>
          <p:cNvPr id="7" name="Picture 6" descr="fig-dsb-repair.slide.png"/>
          <p:cNvPicPr>
            <a:picLocks noChangeAspect="1"/>
          </p:cNvPicPr>
          <p:nvPr/>
        </p:nvPicPr>
        <p:blipFill>
          <a:blip r:embed="rId2"/>
          <a:stretch>
            <a:fillRect/>
          </a:stretch>
        </p:blipFill>
        <p:spPr>
          <a:xfrm>
            <a:off x="1425525" y="1325880"/>
            <a:ext cx="9340645"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Double-strand break의 두 복구 경로. 말단 가공과 RAD51 의존적 가닥 침입으로 자매 염색분체를 주형 삼아 서열을 복원하는 homologous recombination과, Ku와 ligase IV로 말단을 직접 잇되 접합 부위에 소실·삽입을 남기는 nonhomologous end joining을 비교한다.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000" b="1" i="0">
                <a:solidFill>
                  <a:srgbClr val="FFFFFF"/>
                </a:solidFill>
                <a:latin typeface="Malgun Gothic"/>
                <a:ea typeface="Malgun Gothic"/>
                <a:cs typeface="Malgun Gothic"/>
              </a:rPr>
              <a:t>8. 손상을 건너뛰는 합성과 double-strand break의 복구</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M01-W06-L03  ·  DNA 복제·복구와 유전체 재배열</a:t>
            </a:r>
            <a:r>
              <a:rPr sz="900" b="1" i="0">
                <a:solidFill>
                  <a:srgbClr val="003C71"/>
                </a:solidFill>
                <a:latin typeface="Malgun Gothic"/>
                <a:ea typeface="Malgun Gothic"/>
                <a:cs typeface="Malgun Gothic"/>
              </a:rPr>
              <a:t>      39</a:t>
            </a:r>
          </a:p>
        </p:txBody>
      </p:sp>
      <p:sp>
        <p:nvSpPr>
          <p:cNvPr id="7" name="Rectangle 6"/>
          <p:cNvSpPr/>
          <p:nvPr/>
        </p:nvSpPr>
        <p:spPr>
          <a:xfrm>
            <a:off x="640080" y="1325880"/>
            <a:ext cx="10881360" cy="1695653"/>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*BRCA1*과 *BRCA2*의 생식세포 변이는 유방암과 난소암 위험을 크게 올린다. 기전은 homologous recombination 결함이다. 이 결함이 치료 표적이 된다. PARP는 단일가닥 끊김 복구에 필요한데, PARP를 억제하면 단일가닥 끊김이 복제 분기점에서 double-strand break로 전환된다. Homologous recombination이 정상인 세포는 이를 복구하지만 BRCA 변이 세포는 복구하지 못해 죽는다. 두 경로 중 하나의 결함이 다른 경로의 억제와 겹칠 때만 치명적이 되는 이 관계를 합성 치사(synthetic lethality)라 한다.</a:t>
            </a:r>
          </a:p>
        </p:txBody>
      </p:sp>
      <p:sp>
        <p:nvSpPr>
          <p:cNvPr id="8" name="Rectangle 7"/>
          <p:cNvSpPr/>
          <p:nvPr/>
        </p:nvSpPr>
        <p:spPr>
          <a:xfrm>
            <a:off x="640080" y="3158693"/>
            <a:ext cx="10881360" cy="2860040"/>
          </a:xfrm>
          <a:prstGeom prst="rect">
            <a:avLst/>
          </a:prstGeom>
          <a:solidFill>
            <a:srgbClr val="F3EF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5B3A8A"/>
                </a:solidFill>
                <a:latin typeface="Malgun Gothic"/>
                <a:ea typeface="Malgun Gothic"/>
                <a:cs typeface="Malgun Gothic"/>
              </a:rPr>
              <a:t>연구 전선   </a:t>
            </a:r>
            <a:r>
              <a:rPr sz="1600" b="1" i="0">
                <a:solidFill>
                  <a:srgbClr val="11202B"/>
                </a:solidFill>
                <a:latin typeface="Malgun Gothic"/>
                <a:ea typeface="Malgun Gothic"/>
                <a:cs typeface="Malgun Gothic"/>
              </a:rPr>
              <a:t>연구 전선</a:t>
            </a:r>
            <a:r>
              <a:rPr sz="1600" b="0" i="0">
                <a:solidFill>
                  <a:srgbClr val="11202B"/>
                </a:solidFill>
                <a:latin typeface="Malgun Gothic"/>
                <a:ea typeface="Malgun Gothic"/>
                <a:cs typeface="Malgun Gothic"/>
              </a:rPr>
              <a:t> 유전체에 남은 변이의 </a:t>
            </a:r>
            <a:r>
              <a:rPr sz="1600" b="1" i="0">
                <a:solidFill>
                  <a:srgbClr val="11202B"/>
                </a:solidFill>
                <a:latin typeface="Malgun Gothic"/>
                <a:ea typeface="Malgun Gothic"/>
                <a:cs typeface="Malgun Gothic"/>
              </a:rPr>
              <a:t>양상</a:t>
            </a:r>
            <a:r>
              <a:rPr sz="1600" b="0" i="0">
                <a:solidFill>
                  <a:srgbClr val="11202B"/>
                </a:solidFill>
                <a:latin typeface="Malgun Gothic"/>
                <a:ea typeface="Malgun Gothic"/>
                <a:cs typeface="Malgun Gothic"/>
              </a:rPr>
              <a:t>에서 그 변이를 만든 과정을 역추적하는 접근이 지난 10여 년 사이에 확립되었다. 종양의 전장유전체에서 치환의 종류와 그 양옆 염기의 조합을 세면 재현되는 조합이 나타나는데, 이것이 </a:t>
            </a:r>
            <a:r>
              <a:rPr sz="1600" b="1" i="0">
                <a:solidFill>
                  <a:srgbClr val="11202B"/>
                </a:solidFill>
                <a:latin typeface="Malgun Gothic"/>
                <a:ea typeface="Malgun Gothic"/>
                <a:cs typeface="Malgun Gothic"/>
              </a:rPr>
              <a:t>mutational signature</a:t>
            </a:r>
            <a:r>
              <a:rPr sz="1600" b="0" i="0">
                <a:solidFill>
                  <a:srgbClr val="11202B"/>
                </a:solidFill>
                <a:latin typeface="Malgun Gothic"/>
                <a:ea typeface="Malgun Gothic"/>
                <a:cs typeface="Malgun Gothic"/>
              </a:rPr>
              <a:t>다. 자외선은 CC에서 TT로 가는 변화를, 흡연은 C에서 A로 가는 변화를, APOBEC 효소는 특정 서열 맥락의 C 변화를, mismatch repair 결손과 proofreading 결손은 각각 다른 양상을 남긴다. 상동재조합 결손은 치환이 아니라 작은 결실과 특정 구조 변이의 조합으로 나타나고, 이 </a:t>
            </a:r>
            <a:r>
              <a:rPr sz="1600" b="1" i="0">
                <a:solidFill>
                  <a:srgbClr val="11202B"/>
                </a:solidFill>
                <a:latin typeface="Malgun Gothic"/>
                <a:ea typeface="Malgun Gothic"/>
                <a:cs typeface="Malgun Gothic"/>
              </a:rPr>
              <a:t>HRD 점수</a:t>
            </a:r>
            <a:r>
              <a:rPr sz="1600" b="0" i="0">
                <a:solidFill>
                  <a:srgbClr val="11202B"/>
                </a:solidFill>
                <a:latin typeface="Malgun Gothic"/>
                <a:ea typeface="Malgun Gothic"/>
                <a:cs typeface="Malgun Gothic"/>
              </a:rPr>
              <a:t>가 BRCA 변이가 없는 환자에게도 PARP 억제제를 쓸 근거로 임상에 들어왔다. 한 번의 재난적 사건으로 한 염색체가 수십 조각으로 부서진 뒤 무작위로 다시 이어 붙은 </a:t>
            </a:r>
            <a:r>
              <a:rPr sz="1600" b="1" i="0">
                <a:solidFill>
                  <a:srgbClr val="11202B"/>
                </a:solidFill>
                <a:latin typeface="Malgun Gothic"/>
                <a:ea typeface="Malgun Gothic"/>
                <a:cs typeface="Malgun Gothic"/>
              </a:rPr>
              <a:t>chromothripsis</a:t>
            </a:r>
            <a:r>
              <a:rPr sz="1600" b="0" i="0">
                <a:solidFill>
                  <a:srgbClr val="11202B"/>
                </a:solidFill>
                <a:latin typeface="Malgun Gothic"/>
                <a:ea typeface="Malgun Gothic"/>
                <a:cs typeface="Malgun Gothic"/>
              </a:rPr>
              <a:t>, 증폭된 구간이 염색체 밖의 고리 DNA로 떨어져 나와 비멘델 방식으로 분배되며 급격한 저항성을 만드는 </a:t>
            </a:r>
            <a:r>
              <a:rPr sz="1600" b="1" i="0">
                <a:solidFill>
                  <a:srgbClr val="11202B"/>
                </a:solidFill>
                <a:latin typeface="Malgun Gothic"/>
                <a:ea typeface="Malgun Gothic"/>
                <a:cs typeface="Malgun Gothic"/>
              </a:rPr>
              <a:t>extrachromosomal DNA</a:t>
            </a:r>
            <a:r>
              <a:rPr sz="1600" b="0" i="0">
                <a:solidFill>
                  <a:srgbClr val="11202B"/>
                </a:solidFill>
                <a:latin typeface="Malgun Gothic"/>
                <a:ea typeface="Malgun Gothic"/>
                <a:cs typeface="Malgun Gothic"/>
              </a:rPr>
              <a:t>도 같은 방법으로 발견되었다. 쟁점은 이 양상들을 치료 선택에 쓸 수 있을 만큼 정량적으로 해석하는 방법이다.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프로그램된 유전체 재배열과 유전자 증폭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M01-W06-L03  ·  DNA 복제·복구와 유전체 재배열</a:t>
            </a:r>
            <a:r>
              <a:rPr sz="900" b="1" i="0">
                <a:solidFill>
                  <a:srgbClr val="003C71"/>
                </a:solidFill>
                <a:latin typeface="Malgun Gothic"/>
                <a:ea typeface="Malgun Gothic"/>
                <a:cs typeface="Malgun Gothic"/>
              </a:rPr>
              <a:t>      40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유전체는 정확히 유지되지만 완전히 고정된 것은 아니다. 일부 재배열은 손상의 결과가 아니라 </a:t>
            </a:r>
            <a:r>
              <a:rPr sz="1600" b="1" i="0">
                <a:solidFill>
                  <a:srgbClr val="11202B"/>
                </a:solidFill>
                <a:latin typeface="Malgun Gothic"/>
                <a:ea typeface="Malgun Gothic"/>
                <a:cs typeface="Malgun Gothic"/>
              </a:rPr>
              <a:t>발생 과정에 프로그램된 정상 과정</a:t>
            </a:r>
            <a:r>
              <a:rPr sz="1600" b="0" i="0">
                <a:solidFill>
                  <a:srgbClr val="11202B"/>
                </a:solidFill>
                <a:latin typeface="Malgun Gothic"/>
                <a:ea typeface="Malgun Gothic"/>
                <a:cs typeface="Malgun Gothic"/>
              </a:rPr>
              <a:t>이다. 척추동물의 면역글로불린과 T cell receptor 유전자가 대표 예다.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생식세포 유전체에는 완성된 면역글로불린 유전자가 없다. 중쇄 좌위에는 수십 개의 </a:t>
            </a:r>
            <a:r>
              <a:rPr sz="1600" b="1" i="0">
                <a:solidFill>
                  <a:srgbClr val="11202B"/>
                </a:solidFill>
                <a:latin typeface="Malgun Gothic"/>
                <a:ea typeface="Malgun Gothic"/>
                <a:cs typeface="Malgun Gothic"/>
              </a:rPr>
              <a:t>V</a:t>
            </a:r>
            <a:r>
              <a:rPr sz="1600" b="0" i="0">
                <a:solidFill>
                  <a:srgbClr val="11202B"/>
                </a:solidFill>
                <a:latin typeface="Malgun Gothic"/>
                <a:ea typeface="Malgun Gothic"/>
                <a:cs typeface="Malgun Gothic"/>
              </a:rPr>
              <a:t> 토막, 20여 개의 </a:t>
            </a:r>
            <a:r>
              <a:rPr sz="1600" b="1" i="0">
                <a:solidFill>
                  <a:srgbClr val="11202B"/>
                </a:solidFill>
                <a:latin typeface="Malgun Gothic"/>
                <a:ea typeface="Malgun Gothic"/>
                <a:cs typeface="Malgun Gothic"/>
              </a:rPr>
              <a:t>D</a:t>
            </a:r>
            <a:r>
              <a:rPr sz="1600" b="0" i="0">
                <a:solidFill>
                  <a:srgbClr val="11202B"/>
                </a:solidFill>
                <a:latin typeface="Malgun Gothic"/>
                <a:ea typeface="Malgun Gothic"/>
                <a:cs typeface="Malgun Gothic"/>
              </a:rPr>
              <a:t> 토막, 6개의 </a:t>
            </a:r>
            <a:r>
              <a:rPr sz="1600" b="1" i="0">
                <a:solidFill>
                  <a:srgbClr val="11202B"/>
                </a:solidFill>
                <a:latin typeface="Malgun Gothic"/>
                <a:ea typeface="Malgun Gothic"/>
                <a:cs typeface="Malgun Gothic"/>
              </a:rPr>
              <a:t>J</a:t>
            </a:r>
            <a:r>
              <a:rPr sz="1600" b="0" i="0">
                <a:solidFill>
                  <a:srgbClr val="11202B"/>
                </a:solidFill>
                <a:latin typeface="Malgun Gothic"/>
                <a:ea typeface="Malgun Gothic"/>
                <a:cs typeface="Malgun Gothic"/>
              </a:rPr>
              <a:t> 토막이 따로 늘어서 있다. B lymphocyte가 발생하는 동안 각 세포에서 V 하나, D 하나, J 하나가 선택되어 이어 붙고 그 사이의 DNA가 제거된다. 이 재배열이 </a:t>
            </a:r>
            <a:r>
              <a:rPr sz="1600" b="1" i="0">
                <a:solidFill>
                  <a:srgbClr val="11202B"/>
                </a:solidFill>
                <a:latin typeface="Malgun Gothic"/>
                <a:ea typeface="Malgun Gothic"/>
                <a:cs typeface="Malgun Gothic"/>
              </a:rPr>
              <a:t>V(D)J recombination</a:t>
            </a:r>
            <a:r>
              <a:rPr sz="1600" b="0" i="0">
                <a:solidFill>
                  <a:srgbClr val="11202B"/>
                </a:solidFill>
                <a:latin typeface="Malgun Gothic"/>
                <a:ea typeface="Malgun Gothic"/>
                <a:cs typeface="Malgun Gothic"/>
              </a:rPr>
              <a:t>이다. 각 토막의 양옆에는 recombination signal sequence라 부르는 heptamer와 nonamer가 있고, RAG1–RAG2가 이 서열을 인식해 double-strand break를 만든다. 끊긴 말단은 nonhomologous end joining 기구가 잇는다. 접합 부위에 뉴클레오타이드의 소실과 삽입이 생기는 바로 그 성질이 여기서는 다양성의 원천이 된다. TdT가 주형 없이 뉴클레오타이드를 덧붙여 다양성을 더 넓힌다.</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프로그램된 유전체 재배열과 유전자 증폭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M01-W06-L03  ·  DNA 복제·복구와 유전체 재배열</a:t>
            </a:r>
            <a:r>
              <a:rPr sz="900" b="1" i="0">
                <a:solidFill>
                  <a:srgbClr val="003C71"/>
                </a:solidFill>
                <a:latin typeface="Malgun Gothic"/>
                <a:ea typeface="Malgun Gothic"/>
                <a:cs typeface="Malgun Gothic"/>
              </a:rPr>
              <a:t>      41</a:t>
            </a:r>
          </a:p>
        </p:txBody>
      </p:sp>
      <p:pic>
        <p:nvPicPr>
          <p:cNvPr id="7" name="Picture 6" descr="fig-vdj.slide.png"/>
          <p:cNvPicPr>
            <a:picLocks noChangeAspect="1"/>
          </p:cNvPicPr>
          <p:nvPr/>
        </p:nvPicPr>
        <p:blipFill>
          <a:blip r:embed="rId2"/>
          <a:stretch>
            <a:fillRect/>
          </a:stretch>
        </p:blipFill>
        <p:spPr>
          <a:xfrm>
            <a:off x="792327" y="1325880"/>
            <a:ext cx="10607040" cy="4194602"/>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면역글로불린 중쇄 유전자의 V(D)J recombination. 생식세포 배열의 V·D·J 토막, RAG1–RAG2가 recombination signal sequence를 인식해 만드는 끊김, nonhomologous end joining에 의한 접합과 접합 부위 다양성, 뒤이은 전사와 splicing을 보인다.</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프로그램된 유전체 재배열과 유전자 증폭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M01-W06-L03  ·  DNA 복제·복구와 유전체 재배열</a:t>
            </a:r>
            <a:r>
              <a:rPr sz="900" b="1" i="0">
                <a:solidFill>
                  <a:srgbClr val="003C71"/>
                </a:solidFill>
                <a:latin typeface="Malgun Gothic"/>
                <a:ea typeface="Malgun Gothic"/>
                <a:cs typeface="Malgun Gothic"/>
              </a:rPr>
              <a:t>      42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재배열이 아무 조합으로나 일어나지 않게 하는 규칙도 있다. Recombination signal sequence의 heptamer와 nonamer 사이 간격이 12 염기쌍인 것과 23 염기쌍인 것이 있고, RAG 복합체는 </a:t>
            </a:r>
            <a:r>
              <a:rPr sz="1400" b="1" i="0">
                <a:solidFill>
                  <a:srgbClr val="11202B"/>
                </a:solidFill>
                <a:latin typeface="Malgun Gothic"/>
                <a:ea typeface="Malgun Gothic"/>
                <a:cs typeface="Malgun Gothic"/>
              </a:rPr>
              <a:t>12와 23을 짝지어서만</a:t>
            </a:r>
            <a:r>
              <a:rPr sz="1400" b="0" i="0">
                <a:solidFill>
                  <a:srgbClr val="11202B"/>
                </a:solidFill>
                <a:latin typeface="Malgun Gothic"/>
                <a:ea typeface="Malgun Gothic"/>
                <a:cs typeface="Malgun Gothic"/>
              </a:rPr>
              <a:t> 끊김을 만든다. 이 </a:t>
            </a:r>
            <a:r>
              <a:rPr sz="1400" b="1" i="0">
                <a:solidFill>
                  <a:srgbClr val="11202B"/>
                </a:solidFill>
                <a:latin typeface="Malgun Gothic"/>
                <a:ea typeface="Malgun Gothic"/>
                <a:cs typeface="Malgun Gothic"/>
              </a:rPr>
              <a:t>12/23 규칙</a:t>
            </a:r>
            <a:r>
              <a:rPr sz="1400" b="0" i="0">
                <a:solidFill>
                  <a:srgbClr val="11202B"/>
                </a:solidFill>
                <a:latin typeface="Malgun Gothic"/>
                <a:ea typeface="Malgun Gothic"/>
                <a:cs typeface="Malgun Gothic"/>
              </a:rPr>
              <a:t> 때문에 중쇄에서 V가 J에 직접 붙지 않고 반드시 D를 거쳐 V-D-J 순서로 이어진다. 또 한쪽 대립형질에서 생산적인 재배열이 완성되면 다른 쪽의 재배열이 중단되는 </a:t>
            </a:r>
            <a:r>
              <a:rPr sz="1400" b="1" i="0">
                <a:solidFill>
                  <a:srgbClr val="11202B"/>
                </a:solidFill>
                <a:latin typeface="Malgun Gothic"/>
                <a:ea typeface="Malgun Gothic"/>
                <a:cs typeface="Malgun Gothic"/>
              </a:rPr>
              <a:t>allelic exclusion</a:t>
            </a:r>
            <a:r>
              <a:rPr sz="1400" b="0" i="0">
                <a:solidFill>
                  <a:srgbClr val="11202B"/>
                </a:solidFill>
                <a:latin typeface="Malgun Gothic"/>
                <a:ea typeface="Malgun Gothic"/>
                <a:cs typeface="Malgun Gothic"/>
              </a:rPr>
              <a:t>이 작동해, 한 B 세포가 한 종류의 항체만 만든다.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같은 기구가 잘못 쓰이면 질환이 된다. RAG가 만든 끊김이 면역글로불린 좌위와 다른 염색체의 유전자 사이에서 잘못 이어지면 전좌가 생기는데, Burkitt 림프종의 t(8;14)에서 *MYC*가 면역글로불린 중쇄의 강한 enhancer 아래로 옮겨 가 과발현되는 것이 그 예다. Follicular 림프종의 t(14;18)은 같은 방식으로 *BCL2*를 과발현시켜 세포사멸을 막는다. AID의 탈아미노화가 면역글로불린 좌위를 벗어나 다른 유전자에 작용하는 것도 림프계 종양의 변이 원천으로 지목된다. 아울러 RAG나 nonhomologous end joining 구성 요소(DCLRE1C, PRKDC, LIG4)의 기능 상실은 T·B 세포가 수용체를 만들지 못해 </a:t>
            </a:r>
            <a:r>
              <a:rPr sz="1400" b="1" i="0">
                <a:solidFill>
                  <a:srgbClr val="11202B"/>
                </a:solidFill>
                <a:latin typeface="Malgun Gothic"/>
                <a:ea typeface="Malgun Gothic"/>
                <a:cs typeface="Malgun Gothic"/>
              </a:rPr>
              <a:t>중증 복합 면역결핍</a:t>
            </a:r>
            <a:r>
              <a:rPr sz="1400" b="0" i="0">
                <a:solidFill>
                  <a:srgbClr val="11202B"/>
                </a:solidFill>
                <a:latin typeface="Malgun Gothic"/>
                <a:ea typeface="Malgun Gothic"/>
                <a:cs typeface="Malgun Gothic"/>
              </a:rPr>
              <a:t>을 일으키고, 접합 기구의 결손인 경우에는 방사선 민감성이 함께 나타난다.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Tonegawa는 B 세포와 비림프계 세포의 유전체 DNA를 제한효소로 자르고 면역글로불린 탐침으로 hybridization해 두 세포에서 조각 패턴이 다르다는 것을 보였다. 모든 세포의 유전체가 동일하다는 가정이 깨진 지점이다. 조합의 수만으로도 중쇄와 경쇄를 합쳐 106 이상의 다른 항체가 가능하고, 접합 부위 다양성을 포함하면 훨씬 커진다.</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프로그램된 유전체 재배열과 유전자 증폭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M01-W06-L03  ·  DNA 복제·복구와 유전체 재배열</a:t>
            </a:r>
            <a:r>
              <a:rPr sz="900" b="1" i="0">
                <a:solidFill>
                  <a:srgbClr val="003C71"/>
                </a:solidFill>
                <a:latin typeface="Malgun Gothic"/>
                <a:ea typeface="Malgun Gothic"/>
                <a:cs typeface="Malgun Gothic"/>
              </a:rPr>
              <a:t>      43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항체 다양성은 재배열 뒤에도 두 가지 기전으로 더 늘어난다. 두 기전 모두 </a:t>
            </a:r>
            <a:r>
              <a:rPr sz="1400" b="1" i="0">
                <a:solidFill>
                  <a:srgbClr val="11202B"/>
                </a:solidFill>
                <a:latin typeface="Malgun Gothic"/>
                <a:ea typeface="Malgun Gothic"/>
                <a:cs typeface="Malgun Gothic"/>
              </a:rPr>
              <a:t>activation-induced deaminase(AID)</a:t>
            </a:r>
            <a:r>
              <a:rPr sz="1400" b="0" i="0">
                <a:solidFill>
                  <a:srgbClr val="11202B"/>
                </a:solidFill>
                <a:latin typeface="Malgun Gothic"/>
                <a:ea typeface="Malgun Gothic"/>
                <a:cs typeface="Malgun Gothic"/>
              </a:rPr>
              <a:t>가 DNA의 cytosine을 uracil로 바꾸는 반응에서 출발한다.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Somatic hypermutation</a:t>
            </a:r>
            <a:r>
              <a:rPr sz="1400" b="0" i="0">
                <a:solidFill>
                  <a:srgbClr val="11202B"/>
                </a:solidFill>
                <a:latin typeface="Malgun Gothic"/>
                <a:ea typeface="Malgun Gothic"/>
                <a:cs typeface="Malgun Gothic"/>
              </a:rPr>
              <a:t> 재배열된 V 영역에 생긴 uracil이 복구되는 과정에서 변이가 남는다. 항원 결합 부위에 변이가 집중되어, 항원에 더 잘 붙는 B 세포가 선택되는 친화도 성숙이 가능해진다.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Class switch recombination</a:t>
            </a:r>
            <a:r>
              <a:rPr sz="1400" b="0" i="0">
                <a:solidFill>
                  <a:srgbClr val="11202B"/>
                </a:solidFill>
                <a:latin typeface="Malgun Gothic"/>
                <a:ea typeface="Malgun Gothic"/>
                <a:cs typeface="Malgun Gothic"/>
              </a:rPr>
              <a:t> 중쇄 불변 영역 앞의 switch 구간에서 AID가 만든 uracil이 끊김으로 이어지고, 재조합으로 불변 영역이 교체된다. 같은 항원 결합 부위를 유지한 채 IgM에서 IgG, IgA, IgE로 부류가 바뀐다.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유전자 증폭(gene amplification)</a:t>
            </a:r>
            <a:r>
              <a:rPr sz="1400" b="0" i="0">
                <a:solidFill>
                  <a:srgbClr val="11202B"/>
                </a:solidFill>
                <a:latin typeface="Malgun Gothic"/>
                <a:ea typeface="Malgun Gothic"/>
                <a:cs typeface="Malgun Gothic"/>
              </a:rPr>
              <a:t>은 염색체의 한 구간이 반복 복제되어 copy 수가 늘어나는 현상이다. 정상 발생 과정에서 쓰이는 예로 Drosophila 난포세포의 chorion 유전자가 있다. 알껍질 단백질을 짧은 시간에 대량으로 만들어야 하므로 그 구간의 원점을 반복해 사용해 copy 수를 수십 배로 늘린다. Copy 수가 늘면 같은 시간에 만들 수 있는 전사체의 수가 늘어나므로 발현량이 올라간다.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암세포에서는 같은 현상이 조절 없이 일어난다. 증폭된 구간은 염색체에서 떨어져 나온 작은 염색체 조각(double minute)이나 원래 위치에서 늘어난 균일 염색 영역(homogeneously staining region)으로 관찰된다. 증폭 구간에 세포 증식을 촉진하는 유전자가 들어 있으면 그 산물이 과다 생산된다.</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프로그램된 유전체 재배열과 유전자 증폭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M01-W06-L03  ·  DNA 복제·복구와 유전체 재배열</a:t>
            </a:r>
            <a:r>
              <a:rPr sz="900" b="1" i="0">
                <a:solidFill>
                  <a:srgbClr val="003C71"/>
                </a:solidFill>
                <a:latin typeface="Malgun Gothic"/>
                <a:ea typeface="Malgun Gothic"/>
                <a:cs typeface="Malgun Gothic"/>
              </a:rPr>
              <a:t>      44</a:t>
            </a:r>
          </a:p>
        </p:txBody>
      </p:sp>
      <p:sp>
        <p:nvSpPr>
          <p:cNvPr id="7" name="Rectangle 6"/>
          <p:cNvSpPr/>
          <p:nvPr/>
        </p:nvSpPr>
        <p:spPr>
          <a:xfrm>
            <a:off x="640080" y="1325880"/>
            <a:ext cx="10881360" cy="1681480"/>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유방암의 15~20%에서 ERBB2(HER2)가 증폭되어 수용체가 과다 발현되고, 이 경우 항HER2 항체나 kinase 억제제가 효과를 보이므로 증폭 여부를 치료 결정에 쓴다. Neuroblastoma에서 MYCN 증폭은 예후가 나쁜 군을 구분하는 지표다. 증폭은 변이와 달리 서열이 아니라 copy 수의 변화이므로, 서열 분석만으로는 놓칠 수 있고 copy 수를 함께 측정해야 확인된다.</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연결</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M01-W06-L03  ·  DNA 복제·복구와 유전체 재배열</a:t>
            </a:r>
            <a:r>
              <a:rPr sz="900" b="1" i="0">
                <a:solidFill>
                  <a:srgbClr val="003C71"/>
                </a:solidFill>
                <a:latin typeface="Malgun Gothic"/>
                <a:ea typeface="Malgun Gothic"/>
                <a:cs typeface="Malgun Gothic"/>
              </a:rPr>
              <a:t>      45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수업은 유전체가 어떻게 그대로 유지되는지를 다루었고, 유지가 실패할 때 생기는 일은 뒤의 수업에서 반복해 나타난다.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M01-W06-L01 재조합 DNA와 분자생물학 실험 기법</a:t>
            </a:r>
            <a:r>
              <a:rPr sz="1400" b="0" i="0">
                <a:solidFill>
                  <a:srgbClr val="11202B"/>
                </a:solidFill>
                <a:latin typeface="Malgun Gothic"/>
                <a:ea typeface="Malgun Gothic"/>
                <a:cs typeface="Malgun Gothic"/>
              </a:rPr>
              <a:t> — 여기서 복구 경로로 다룬 NHEJ와 HDR이 거기서는 CRISPR 편집의 결과를 정하는 도구로 쓰인다. 두 수업을 함께 보아야 knockout과 knock-in의 효율 차이가 설명된다.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M01-W06-L02 유전자와 유전체의 구성</a:t>
            </a:r>
            <a:r>
              <a:rPr sz="1400" b="0" i="0">
                <a:solidFill>
                  <a:srgbClr val="11202B"/>
                </a:solidFill>
                <a:latin typeface="Malgun Gothic"/>
                <a:ea typeface="Malgun Gothic"/>
                <a:cs typeface="Malgun Gothic"/>
              </a:rPr>
              <a:t> — 반복 서열의 배치가 비동등 재조합과 Alu 매개 결실의 발판이 되는 과정을 유전체 구조 쪽에서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M01-W07-L02 전사 조절과 후성유전</a:t>
            </a:r>
            <a:r>
              <a:rPr sz="1400" b="0" i="0">
                <a:solidFill>
                  <a:srgbClr val="11202B"/>
                </a:solidFill>
                <a:latin typeface="Malgun Gothic"/>
                <a:ea typeface="Malgun Gothic"/>
                <a:cs typeface="Malgun Gothic"/>
              </a:rPr>
              <a:t> — *MLH1*과 MGMT promoter의 메틸화처럼, 서열이 아니라 발현의 침묵이 복구 결손을 만드는 기전을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M01-W12-L01 세포주기와 그 조절</a:t>
            </a:r>
            <a:r>
              <a:rPr sz="1400" b="0" i="0">
                <a:solidFill>
                  <a:srgbClr val="11202B"/>
                </a:solidFill>
                <a:latin typeface="Malgun Gothic"/>
                <a:ea typeface="Malgun Gothic"/>
                <a:cs typeface="Malgun Gothic"/>
              </a:rPr>
              <a:t> — ATM·ATR·CHK·p53이 작동시키는 검문지점을 세포주기 조절의 틀 안에서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M01-W12-L02 세포 재생과 사멸</a:t>
            </a:r>
            <a:r>
              <a:rPr sz="1400" b="0" i="0">
                <a:solidFill>
                  <a:srgbClr val="11202B"/>
                </a:solidFill>
                <a:latin typeface="Malgun Gothic"/>
                <a:ea typeface="Malgun Gothic"/>
                <a:cs typeface="Malgun Gothic"/>
              </a:rPr>
              <a:t> — 복구가 실패한 세포가 사멸과 노화로 보내지는 결정 과정을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M01-W12-L03 암의 세포생물학</a:t>
            </a:r>
            <a:r>
              <a:rPr sz="1400" b="0" i="0">
                <a:solidFill>
                  <a:srgbClr val="11202B"/>
                </a:solidFill>
                <a:latin typeface="Malgun Gothic"/>
                <a:ea typeface="Malgun Gothic"/>
                <a:cs typeface="Malgun Gothic"/>
              </a:rPr>
              <a:t> — 복구 결손, mutational signature, 전좌와 증폭이 종양의 구동 기전과 치료 표적으로 어떻게 번역되는지를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M02-W02-L03 종양의 분자 표지와 표적 치료</a:t>
            </a:r>
            <a:r>
              <a:rPr sz="1400" b="0" i="0">
                <a:solidFill>
                  <a:srgbClr val="11202B"/>
                </a:solidFill>
                <a:latin typeface="Malgun Gothic"/>
                <a:ea typeface="Malgun Gothic"/>
                <a:cs typeface="Malgun Gothic"/>
              </a:rPr>
              <a:t> — MSI, HRD, MGMT 메틸화가 실제 치료 결정에 쓰이는 방식과 검사의 한계를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M03-W01-L02 면역계의 유전적 다양성</a:t>
            </a:r>
            <a:r>
              <a:rPr sz="1400" b="0" i="0">
                <a:solidFill>
                  <a:srgbClr val="11202B"/>
                </a:solidFill>
                <a:latin typeface="Malgun Gothic"/>
                <a:ea typeface="Malgun Gothic"/>
                <a:cs typeface="Malgun Gothic"/>
              </a:rPr>
              <a:t> — V(D)J recombination, somatic hypermutation, class switch가 면역 반응의 관점에서 다시 다루어진다.</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연결</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M01-W06-L03  ·  DNA 복제·복구와 유전체 재배열</a:t>
            </a:r>
            <a:r>
              <a:rPr sz="900" b="1" i="0">
                <a:solidFill>
                  <a:srgbClr val="003C71"/>
                </a:solidFill>
                <a:latin typeface="Malgun Gothic"/>
                <a:ea typeface="Malgun Gothic"/>
                <a:cs typeface="Malgun Gothic"/>
              </a:rPr>
              <a:t>      46</a:t>
            </a:r>
          </a:p>
        </p:txBody>
      </p:sp>
      <p:sp>
        <p:nvSpPr>
          <p:cNvPr id="7" name="Rectangle 6"/>
          <p:cNvSpPr/>
          <p:nvPr/>
        </p:nvSpPr>
        <p:spPr>
          <a:xfrm>
            <a:off x="640080" y="1325880"/>
            <a:ext cx="10881360" cy="1386839"/>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1" i="0">
                <a:solidFill>
                  <a:srgbClr val="11202B"/>
                </a:solidFill>
                <a:latin typeface="Malgun Gothic"/>
                <a:ea typeface="Malgun Gothic"/>
                <a:cs typeface="Malgun Gothic"/>
              </a:rPr>
              <a:t>핵심 정리</a:t>
            </a:r>
            <a:r>
              <a:rPr sz="1600" b="0" i="0">
                <a:solidFill>
                  <a:srgbClr val="11202B"/>
                </a:solidFill>
                <a:latin typeface="Malgun Gothic"/>
                <a:ea typeface="Malgun Gothic"/>
                <a:cs typeface="Malgun Gothic"/>
              </a:rPr>
              <a:t> 유전체 유지는 정확한 복제, 손상 복구, 그리고 둘이 실패했을 때의 손상 내성이라는 세 층으로 이루어진다. 각 층이 어떤 오류를 얼마나 걸러내는지가 변이율을 정하고, 변이율의 변화가 암 발생 위험으로 이어진다. 한편 같은 끊김 생성과 접합 기구가 면역계에서는 다양성을 만드는 정상 과정으로 쓰인다.</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M01-W06-L03  ·  DNA 복제·복구와 유전체 재배열</a:t>
            </a:r>
            <a:r>
              <a:rPr sz="900" b="1" i="0">
                <a:solidFill>
                  <a:srgbClr val="003C71"/>
                </a:solidFill>
                <a:latin typeface="Malgun Gothic"/>
                <a:ea typeface="Malgun Gothic"/>
                <a:cs typeface="Malgun Gothic"/>
              </a:rPr>
              <a:t>      47</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DNA polymerase가 primer를 요구한다는 성질과 합성 방향이 한 방향이라는 성질이 각각 복제 기구의 어떤 구성 요소를 필요하게 만드는지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Primer 요구는 primase를 필요하게 만든다. Polymerase는 뉴클레오타이드 두 개를 처음부터 잇지 못하고 3′ 말단이 있는 사슬의 뒤만 이어 붙이므로, 주형에 짝지은 짧은 RNA를 따로 합성하는 효소가 있어야 합성이 시작된다. 이어서 이 RNA는 최종 산물에 남아서는 안 되므로 primer를 제거하는 nuclease(진핵세포의 FEN1, 세균의 RNase H와 Pol I의 exonuclease 활성)와 틈을 메우는 polymerase, 토막을 잇는 DNA ligase가 추가로 필요해진다. 한 방향 합성은 lagging 가닥의 불연속 합성을 필요하게 만든다. 분기점이 전진하는 방향과 반대 방향으로만 합성할 수 있는 가닥은 분기점이 어느 정도 열릴 때마다 새 primer를 받아 짧은 토막을 만들고 뒤로 물러나며 반복해야 한다. 그래서 Okazaki 토막이 생기고, 토막마다 primer 제거와 봉합이 반복된다.</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Q2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M01-W06-L03  ·  DNA 복제·복구와 유전체 재배열</a:t>
            </a:r>
            <a:r>
              <a:rPr sz="900" b="1" i="0">
                <a:solidFill>
                  <a:srgbClr val="003C71"/>
                </a:solidFill>
                <a:latin typeface="Malgun Gothic"/>
                <a:ea typeface="Malgun Gothic"/>
                <a:cs typeface="Malgun Gothic"/>
              </a:rPr>
              <a:t>      48</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Mismatch repair가 짝이 맞지 않는 두 염기 중 신생 가닥 쪽을 고른다는 것이 왜 필수적인지 설명하고, 세균과 진핵세포가 신생 가닥을 구별하는 방법을 비교하라.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짝맞춤 오류에서 주형 가닥의 염기는 원래 서열이고 신생 가닥의 염기가 잘못 들어온 것이다. 어느 쪽을 제거할지 무작위로 고르면 절반의 경우 주형 쪽을 고쳐 잘못된 염기를 정답으로 확정하게 되므로, 복구가 변이를 고정시키는 결과가 된다. 따라서 복구의 가치는 가닥을 구별하는 능력에 달려 있다. 세균은 메틸화 시차를 쓴다. GATC의 adenine이 Dam methylase로 메틸화되는 데 시간이 걸리므로 복제 직후에는 주형 가닥만 메틸화된 반쪽 메틸화 상태이고, MutH가 메틸화되지 않은 가닥을 끊는다. 진핵세포에는 이런 표시가 없고, 아직 봉합되지 않은 틈의 위치와 신생 가닥 위에 놓인 PCNA의 방향성을 단서로 신생 가닥을 구별한다.</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Q3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M01-W06-L03  ·  DNA 복제·복구와 유전체 재배열</a:t>
            </a:r>
            <a:r>
              <a:rPr sz="900" b="1" i="0">
                <a:solidFill>
                  <a:srgbClr val="003C71"/>
                </a:solidFill>
                <a:latin typeface="Malgun Gothic"/>
                <a:ea typeface="Malgun Gothic"/>
                <a:cs typeface="Malgun Gothic"/>
              </a:rPr>
              <a:t>      49</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어떤 돌연변이체 효모에서 원점 하나가 한 세포주기 안에 두 번 열린다. 이 세포에서 생기는 결과와 정상 세포가 이를 막는 기전을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원점이 두 번 열리면 그 원점이 담당하는 구간만 추가로 복제되어 유전체 안에서 구간별 copy 수가 달라진다. 그 구간의 유전자 발현량이 올라가고, 같은 서열이 여러 벌 생겨 재조합으로 결실과 중복이 만들어지며, 분기점이 이미 복제된 구간과 충돌해 끊김이 생길 수 있다. 정상 세포는 허가 단계와 개시 단계를 세포주기의 다른 시점에 배치해 이를 막는다. G1기에 Cdc6과 Cdt1이 ORC 위에 MCM2–7을 올려 원점에 사용 허가를 준다. S기에 CDK와 DDK가 활성화되면 MCM2–7이 CDC45와 GINS를 받아 활성 helicase가 되어 출발하는 동시에, Cdt1이 분해되거나 geminin에 묶이고 Cdc6이 인산화되어 핵에서 나간다. 그래서 S기 동안에는 어떤 원점에도 새 MCM이 올라갈 수 없고, 다음 허가는 다음 G1기에야 가능하다.</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Q4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M01-W06-L03  ·  DNA 복제·복구와 유전체 재배열</a:t>
            </a:r>
            <a:r>
              <a:rPr sz="900" b="1" i="0">
                <a:solidFill>
                  <a:srgbClr val="003C71"/>
                </a:solidFill>
                <a:latin typeface="Malgun Gothic"/>
                <a:ea typeface="Malgun Gothic"/>
                <a:cs typeface="Malgun Gothic"/>
              </a:rPr>
              <a:t>      50</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Telomerase를 reverse transcriptase로 분류하는 근거를 들고, 체세포에서 telomerase 활성이 낮은 것이 세포 분열에 어떤 결과를 가져오는지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근거는 주형이 RNA라는 점이다. Telomerase는 RNA subunit TERC를 가지고 다니며, TERC의 일부 서열이 telomere 반복과 상보적이어서 돌출된 3′ 말단과 짝짓는다. TERT는 이 RNA를 주형으로 DNA를 합성하므로 RNA 의존 DNA polymerase, 즉 reverse transcriptase다. 외부에서 주형을 받는 다른 reverse transcriptase와 달리 주형을 효소 자신이 포함한다는 점만 다르다. 체세포에서 활성이 낮으면 lagging 가닥 말단을 메울 수 없어 분열마다 telomere가 50~100 bp 짧아진다. 한계까지 짧아지면 shelterin이 떨어져 말단이 노출되고, 세포가 이를 DNA 손상으로 인식해 p53 경로를 켜고 분열을 멈춘다. 이것이 배양 세포의 분열 한계이며, *TERT*를 도입해 활성을 복원하면 한계가 늘어난다는 실험이 이 인과를 뒷받침한다.</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Q5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M01-W06-L03  ·  DNA 복제·복구와 유전체 재배열</a:t>
            </a:r>
            <a:r>
              <a:rPr sz="900" b="1" i="0">
                <a:solidFill>
                  <a:srgbClr val="003C71"/>
                </a:solidFill>
                <a:latin typeface="Malgun Gothic"/>
                <a:ea typeface="Malgun Gothic"/>
                <a:cs typeface="Malgun Gothic"/>
              </a:rPr>
              <a:t>      51</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Base-excision repair와 nucleotide-excision repair가 인식하는 대상이 다르다는 점이 두 경로의 적용 범위에 어떤 차이를 만드는지 판단하라.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Base-excision repair는 손상된 염기 자체를 인식한다. 인식은 DNA glycosylase가 하며, uracil, 산화된 guanine, alkyl화된 염기처럼 손상 종류마다 대응하는 glycosylase가 따로 있다. 따라서 세포가 가진 glycosylase의 종류가 처리 가능한 손상의 목록을 정하고, 대응 효소가 없는 손상은 이 경로로 복구되지 않는다. 제거 범위는 염기 하나로 작아서 복구 비용이 낮다. Nucleotide-excision repair는 염기의 종류 대신 나선 구조의 왜곡을 인식한다. 손상 양쪽을 끊어 24~32 뉴클레오타이드 조각을 통째로 들어내므로, pyrimidine dimer와 화학 물질 부가물처럼 화학적으로 전혀 다른 손상을 하나의 경로로 처리할 수 있다. 즉 base-excision repair는 종류별로 좁고 효율적이며, nucleotide-excision repair는 종류를 가리지 않고 넓지만 단계와 비용이 크다.</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Q6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M01-W06-L03  ·  DNA 복제·복구와 유전체 재배열</a:t>
            </a:r>
            <a:r>
              <a:rPr sz="900" b="1" i="0">
                <a:solidFill>
                  <a:srgbClr val="003C71"/>
                </a:solidFill>
                <a:latin typeface="Malgun Gothic"/>
                <a:ea typeface="Malgun Gothic"/>
                <a:cs typeface="Malgun Gothic"/>
              </a:rPr>
              <a:t>      52</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자매 염색분체가 아직 만들어지지 않은 G1기 세포에 double-strand break가 생겼다. 어느 경로로 복구되며 그 결과 서열에 어떤 변화가 남는지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Homologous recombination은 같은 서열을 가진 주형이 필요하고 그 주형은 복제로 만들어진 자매 염색분체다. G1기에는 그 주형이 없으므로 이 경로를 쓸 수 없고, nonhomologous end joining으로 복구된다. 이 경로는 Ku70–Ku80이 말단에 결합하고 DNA-PK와 ligase IV–XRCC4가 두 말단을 직접 잇는다. 주형을 쓰지 않으므로 끊김이 일어난 지점에서 소실된 뉴클레오타이드를 복원할 방법이 없고, 접합 전 말단 가공 과정에서 몇 개의 뉴클레오타이드가 더 없어지거나 삽입된다. 따라서 염색체의 연속성은 회복되지만 접합 부위의 서열은 바뀐다. 끊김이 암호화 서열 안에 있었다면 frameshift가 생길 수 있다. 끊김이 여러 곳에 동시에 있으면 서로 다른 염색체의 말단이 잘못 이어져 전좌가 만들어질 위험도 있다.</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Q7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M01-W06-L03  ·  DNA 복제·복구와 유전체 재배열</a:t>
            </a:r>
            <a:r>
              <a:rPr sz="900" b="1" i="0">
                <a:solidFill>
                  <a:srgbClr val="003C71"/>
                </a:solidFill>
                <a:latin typeface="Malgun Gothic"/>
                <a:ea typeface="Malgun Gothic"/>
                <a:cs typeface="Malgun Gothic"/>
              </a:rPr>
              <a:t>      53</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Nonhomologous end joining이 서열을 바꾸는 성질이 면역계에서는 유리하게 쓰인다. 그 과정을 설명하고, 같은 기구가 결함이 있을 때 어떤 결과가 예상되는지 판단하라.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V(D)J recombination에서 RAG1–RAG2가 V·D·J 토막 옆의 recombination signal sequence를 인식해 double-strand break를 만들고, 선택된 토막의 말단을 nonhomologous end joining 기구가 잇는다. 이때 접합 부위에서 뉴클레오타이드가 소실되거나 삽입되고 TdT가 주형 없이 뉴클레오타이드를 덧붙이므로, 같은 V·D·J 조합을 고른 세포들 사이에서도 접합 부위 서열이 서로 다르다. 항원 결합 부위가 이 접합 부위에 걸쳐 있으므로 조합의 수만으로 얻는 106 이상의 다양성이 더 크게 늘어난다. 따라서 복구의 부정확함이 그 자체로 다양성의 원천이다. 이 기구에 결함이 있으면 두 결과가 함께 나타난다. 항체와 T cell receptor 유전자의 재배열이 완성되지 않아 성숙한 B·T lymphocyte가 만들어지지 않는 중증 복합 면역결핍이 생기고, 동시에 모든 세포에서 double-strand break 복구 능력이 떨어져 방사선 감수성이 높아지고 염색체 재배열이 늘어난다.</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Q8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M01-W06-L03  ·  DNA 복제·복구와 유전체 재배열</a:t>
            </a:r>
            <a:r>
              <a:rPr sz="900" b="1" i="0">
                <a:solidFill>
                  <a:srgbClr val="003C71"/>
                </a:solidFill>
                <a:latin typeface="Malgun Gothic"/>
                <a:ea typeface="Malgun Gothic"/>
                <a:cs typeface="Malgun Gothic"/>
              </a:rPr>
              <a:t>      54</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어떤 종양에서 *ERBB2*의 서열에는 변이가 없는데 수용체 단백질이 정상 조직의 수십 배로 검출되었다. 가능한 기전과 확인 방법을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유전자 증폭을 의심한다. 염색체의 한 구간이 반복 복제되어 그 안의 유전자 copy 수가 늘어나면, 서열이 정상인 상태에서 전사체와 단백질의 양만 비례해 증가한다. 증폭 구간은 염색체에서 떨어져 나온 double minute나 원래 위치에서 늘어난 균일 염색 영역으로 존재할 수 있다. 확인 방법은 copy 수를 직접 측정하는 것이다. 형광 in situ hybridization으로 탐침 신호의 점 수를 세면 copy 수 증가와 그 물리적 배치를 함께 볼 수 있고, 정량 PCR이나 서열 기반 copy 수 분석으로 구간 전체의 증가를 확인한다. 단백질 과다 발현만으로는 전사 조절의 변화와 구별되지 않으므로 copy 수 측정이 필요하다. 유방암의 15~20%에서 이 증폭이 보고되며, 증폭 여부가 항HER2 치료의 적응을 정한다.</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Q9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M01-W06-L03  ·  DNA 복제·복구와 유전체 재배열</a:t>
            </a:r>
            <a:r>
              <a:rPr sz="900" b="1" i="0">
                <a:solidFill>
                  <a:srgbClr val="003C71"/>
                </a:solidFill>
                <a:latin typeface="Malgun Gothic"/>
                <a:ea typeface="Malgun Gothic"/>
                <a:cs typeface="Malgun Gothic"/>
              </a:rPr>
              <a:t>      55</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어떤 대장암 조직에서 MLH1 단백질의 면역조직화학 염색이 소실되고 microsatellite instability가 확인되었다. 이 결과만으로 Lynch syndrome을 진단할 수 없는 이유와 추가 검사를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MLH1의 기능 상실은 생식세포 변이 없이도 일어나기 때문이다. 산발성 대장암의 일부에서 MLH1 promoter가 후성유전적으로 과메틸화되어 전사가 꺼지고, 그 결과 단백질이 소실되고 mismatch repair가 기능하지 않아 microsatellite instability가 나타난다. 이 경우 변이는 종양에만 있고 생식세포에는 없으므로 유전성 암 증후군이 아니다. 추가 검사는 두 단계다. 먼저 종양에서 MLH1 promoter 메틸화를 측정하고 BRAF V600E 변이를 확인한다. BRAF V600E가 있으면 산발성 경로(serrated pathway)를 강하게 시사하며 Lynch syndrome일 가능성이 낮아진다. 메틸화가 없고 *BRAF*가 정상이면 생식세포 변이를 의심하고, 혈액 DNA에서 *MLH1*을 포함한 mismatch repair 유전자의 염기서열 분석과 큰 결실 검사를 수행한다. MSH2, MSH6, PMS2의 소실은 promoter 메틸화로 설명되는 경우가 드물어 처음부터 생식세포 검사로 간다는 점도 함께 알아 둔다.</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Q10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M01-W06-L03  ·  DNA 복제·복구와 유전체 재배열</a:t>
            </a:r>
            <a:r>
              <a:rPr sz="900" b="1" i="0">
                <a:solidFill>
                  <a:srgbClr val="003C71"/>
                </a:solidFill>
                <a:latin typeface="Malgun Gothic"/>
                <a:ea typeface="Malgun Gothic"/>
                <a:cs typeface="Malgun Gothic"/>
              </a:rPr>
              <a:t>      56</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BRCA1 변이를 가진 난소암 환자가 PARP 억제제에 처음에는 반응했으나 이후 저항성을 보였다. 합성 치사의 원리로 돌아가 저항이 생길 수 있는 기전을 세 가지 제시하라.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합성 치사는 PARP 억제로 생긴 double-strand break를 상동재조합으로 복구하지 못할 때만 성립하므로, 상동재조합 능력이 어느 방식으로든 회복되면 저항이 생긴다. 첫째, *BRCA1*이나 *BRCA2*의 </a:t>
            </a:r>
            <a:r>
              <a:rPr sz="1500" b="1" i="0">
                <a:solidFill>
                  <a:srgbClr val="11202B"/>
                </a:solidFill>
                <a:latin typeface="Malgun Gothic"/>
                <a:ea typeface="Malgun Gothic"/>
                <a:cs typeface="Malgun Gothic"/>
              </a:rPr>
              <a:t>역전 변이</a:t>
            </a:r>
            <a:r>
              <a:rPr sz="1500" b="0" i="0">
                <a:solidFill>
                  <a:srgbClr val="11202B"/>
                </a:solidFill>
                <a:latin typeface="Malgun Gothic"/>
                <a:ea typeface="Malgun Gothic"/>
                <a:cs typeface="Malgun Gothic"/>
              </a:rPr>
              <a:t>다. 원래 frameshift를 일으킨 변이 자리에 2차 변이가 생겨 읽기틀이 복원되면 기능하는 단백질이 다시 만들어진다. 둘째, 경로 선택의 균형이 바뀌는 경우다. 53BP1이나 그 하위 인자가 소실되면 G1기에 막혀 있던 말단 깎기가 다시 일어나 BRCA1 없이도 상동재조합이 부분적으로 작동한다. 셋째, 약물 자체에 대한 저항이다. PARP1의 변이로 약이 결합하지 못하거나, 약물 유출 수송체의 발현이 늘어 세포 내 농도가 낮아진다. 그 밖에 분기점 보호가 회복되어 멈춘 분기점이 분해되지 않는 경우도 보고되었다. 확인 방법으로는 재생검 조직에서 상동재조합 기능을 직접 보는 RAD51 집결 측정과, 혈중 종양 DNA의 염기서열 분석으로 역전 변이를 찾는 방법이 쓰인다.</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REFERENCES   </a:t>
            </a:r>
            <a:r>
              <a:rPr sz="2400" b="1" i="0">
                <a:solidFill>
                  <a:srgbClr val="FFFFFF"/>
                </a:solidFill>
                <a:latin typeface="Malgun Gothic"/>
                <a:ea typeface="Malgun Gothic"/>
                <a:cs typeface="Malgun Gothic"/>
              </a:rPr>
              <a:t>참고문헌 (1/3)</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M01-W06-L03  ·  DNA 복제·복구와 유전체 재배열</a:t>
            </a:r>
            <a:r>
              <a:rPr sz="900" b="1" i="0">
                <a:solidFill>
                  <a:srgbClr val="003C71"/>
                </a:solidFill>
                <a:latin typeface="Malgun Gothic"/>
                <a:ea typeface="Malgun Gothic"/>
                <a:cs typeface="Malgun Gothic"/>
              </a:rPr>
              <a:t>      57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Cooper GM, Adams K. The Cell: A Molecular Approach. 9th ed. Oxford University Press; 2022. Chapter 5, Replication, Maintenance, and Rearrangements of Genomic DNA.</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Alberts B, Heald R, Johnson A, et al. Molecular Biology of the Cell. 7th ed. W.W. Norton; 2022. Chapter 5, DNA Replication, Repair, and Recombination.</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Meselson M, Stahl FW. The replication of DNA in Escherichia coli. Proc Natl Acad Sci USA 1958;44:671–682.</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Okazaki R, Okazaki T, Sakabe K, Sugimoto K, Sugino A. Mechanism of DNA chain growth. I. Possible discontinuity and unusual secondary structure of newly synthesized chains. Proc Natl Acad Sci USA 1968;59:598–605.</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Bell SP, Stillman B. ATP-dependent recognition of eukaryotic origins of DNA replication by a multiprotein complex. Nature 1992;357:128–134.</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Greider CW, Blackburn EH. Identification of a specific telomere terminal transferase activity in Tetrahymena extracts. Cell 1985;43:405–413.</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Lindahl T. Instability and decay of the primary structure of DNA. Nature 1993;362:709–715.</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REFERENCES   </a:t>
            </a:r>
            <a:r>
              <a:rPr sz="2400" b="1" i="0">
                <a:solidFill>
                  <a:srgbClr val="FFFFFF"/>
                </a:solidFill>
                <a:latin typeface="Malgun Gothic"/>
                <a:ea typeface="Malgun Gothic"/>
                <a:cs typeface="Malgun Gothic"/>
              </a:rPr>
              <a:t>참고문헌 (2/3)</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M01-W06-L03  ·  DNA 복제·복구와 유전체 재배열</a:t>
            </a:r>
            <a:r>
              <a:rPr sz="900" b="1" i="0">
                <a:solidFill>
                  <a:srgbClr val="003C71"/>
                </a:solidFill>
                <a:latin typeface="Malgun Gothic"/>
                <a:ea typeface="Malgun Gothic"/>
                <a:cs typeface="Malgun Gothic"/>
              </a:rPr>
              <a:t>      58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Sancar A, Lindsey-Boltz LA, Ünsal-Kaçmaz K, Linn S. Molecular mechanisms of mammalian DNA repair and the DNA damage checkpoints. Annu Rev Biochem 2004;73:39–85.</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Fishel R, Lescoe MK, Rao MRS, et al. The human mutator gene homolog MSH2 and its association with hereditary nonpolyposis colon cancer. Cell 1993;75:1027–1038.</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Farmer H, McCabe N, Lord CJ, et al. Targeting the DNA repair defect in BRCA mutant cells as a therapeutic strategy. Nature 2005;434:917–921.</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Tonegawa S. Somatic generation of antibody diversity. Nature 1983;302:575–581.</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Muramatsu M, Kinoshita K, Fagarasan S, Yamada S, Shinkai Y, Honjo T. Class switch recombination and hypermutation require activation-induced cytidine deaminase (AID), a potential RNA editing enzyme. Cell 2000;102:553–563.</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Alexandrov LB, Kim J, Haradhvala NJ, et al. The repertoire of mutational signatures in human cancer. Nature 2020;578:94–101.</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REFERENCES   </a:t>
            </a:r>
            <a:r>
              <a:rPr sz="2400" b="1" i="0">
                <a:solidFill>
                  <a:srgbClr val="FFFFFF"/>
                </a:solidFill>
                <a:latin typeface="Malgun Gothic"/>
                <a:ea typeface="Malgun Gothic"/>
                <a:cs typeface="Malgun Gothic"/>
              </a:rPr>
              <a:t>참고문헌 (3/3)</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M01-W06-L03  ·  DNA 복제·복구와 유전체 재배열</a:t>
            </a:r>
            <a:r>
              <a:rPr sz="900" b="1" i="0">
                <a:solidFill>
                  <a:srgbClr val="003C71"/>
                </a:solidFill>
                <a:latin typeface="Malgun Gothic"/>
                <a:ea typeface="Malgun Gothic"/>
                <a:cs typeface="Malgun Gothic"/>
              </a:rPr>
              <a:t>      59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Bouwman P, Aly A, Escandell JM, et al. 53BP1 loss rescues BRCA1 deficiency and is associated with triple-negative and BRCA-mutated breast cancers. Nat Struct Mol Biol 2010;17:688–695.</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Farmer H, McCabe N, Lord CJ, et al. Targeting the DNA repair defect in BRCA mutant cells as a therapeutic strategy. Nature 2005;434:917–921.</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Hegi ME, Diserens AC, Gorlia T, et al. MGMT gene silencing and benefit from temozolomide in glioblastoma. N Engl J Med 2005;352:997–1003.</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Zeman MK, Cimprich KA. Causes and consequences of replication stress. Nat Cell Biol 2014;16:2–9.</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Armanios M, Blackburn EH. The telomere syndromes. Nat Rev Genet 2012;13:693–704.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