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358" r:id="rId4"/>
    <p:sldId id="258" r:id="rId5"/>
    <p:sldId id="260" r:id="rId6"/>
    <p:sldId id="261" r:id="rId7"/>
    <p:sldId id="262" r:id="rId8"/>
    <p:sldId id="265" r:id="rId9"/>
    <p:sldId id="263" r:id="rId10"/>
    <p:sldId id="264" r:id="rId11"/>
    <p:sldId id="267" r:id="rId12"/>
    <p:sldId id="272" r:id="rId13"/>
    <p:sldId id="367" r:id="rId14"/>
    <p:sldId id="278" r:id="rId15"/>
    <p:sldId id="282" r:id="rId16"/>
    <p:sldId id="271" r:id="rId17"/>
    <p:sldId id="360" r:id="rId18"/>
    <p:sldId id="362" r:id="rId19"/>
    <p:sldId id="361" r:id="rId20"/>
    <p:sldId id="284" r:id="rId21"/>
    <p:sldId id="363" r:id="rId22"/>
    <p:sldId id="364" r:id="rId23"/>
    <p:sldId id="300" r:id="rId24"/>
    <p:sldId id="302" r:id="rId25"/>
    <p:sldId id="301" r:id="rId26"/>
    <p:sldId id="365" r:id="rId27"/>
    <p:sldId id="366" r:id="rId28"/>
    <p:sldId id="304" r:id="rId29"/>
    <p:sldId id="305" r:id="rId30"/>
    <p:sldId id="306" r:id="rId31"/>
    <p:sldId id="308" r:id="rId32"/>
    <p:sldId id="307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56" r:id="rId45"/>
    <p:sldId id="324" r:id="rId46"/>
    <p:sldId id="321" r:id="rId47"/>
    <p:sldId id="322" r:id="rId48"/>
    <p:sldId id="323" r:id="rId49"/>
    <p:sldId id="326" r:id="rId50"/>
    <p:sldId id="327" r:id="rId51"/>
    <p:sldId id="328" r:id="rId52"/>
    <p:sldId id="330" r:id="rId53"/>
    <p:sldId id="331" r:id="rId54"/>
    <p:sldId id="333" r:id="rId55"/>
    <p:sldId id="335" r:id="rId56"/>
    <p:sldId id="336" r:id="rId57"/>
    <p:sldId id="337" r:id="rId58"/>
    <p:sldId id="338" r:id="rId59"/>
    <p:sldId id="357" r:id="rId60"/>
    <p:sldId id="339" r:id="rId61"/>
    <p:sldId id="340" r:id="rId62"/>
    <p:sldId id="341" r:id="rId63"/>
    <p:sldId id="342" r:id="rId64"/>
    <p:sldId id="343" r:id="rId65"/>
    <p:sldId id="344" r:id="rId66"/>
    <p:sldId id="346" r:id="rId67"/>
    <p:sldId id="348" r:id="rId68"/>
    <p:sldId id="349" r:id="rId69"/>
    <p:sldId id="352" r:id="rId70"/>
    <p:sldId id="353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3576" autoAdjust="0"/>
  </p:normalViewPr>
  <p:slideViewPr>
    <p:cSldViewPr snapToGrid="0" snapToObjects="1">
      <p:cViewPr varScale="1">
        <p:scale>
          <a:sx n="103" d="100"/>
          <a:sy n="103" d="100"/>
        </p:scale>
        <p:origin x="88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79270-E7E2-49E7-B6F7-7A1AE4A5075D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F2C75-63D7-47DE-85C1-E40F033E0F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9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F2C75-63D7-47DE-85C1-E40F033E0F2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359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분자생물학의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512064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Cooper, The Cell: A Molecular Approach 8e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Chapter 4 — Fundamentals of Molecular Biology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유전정보의 저장 → 발현 → 조작 → 검출 → 기능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2C2E4D-E8CA-4436-A0A1-AD813BB1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76561"/>
            <a:ext cx="9377080" cy="2836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33374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강의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b="1" dirty="0"/>
              <a:t>4.1 </a:t>
            </a:r>
            <a:r>
              <a:rPr b="1" dirty="0" err="1"/>
              <a:t>유전의</a:t>
            </a:r>
            <a:r>
              <a:rPr b="1" dirty="0"/>
              <a:t> </a:t>
            </a:r>
            <a:r>
              <a:rPr b="1" dirty="0" err="1"/>
              <a:t>물질적</a:t>
            </a:r>
            <a:r>
              <a:rPr b="1" dirty="0"/>
              <a:t> </a:t>
            </a:r>
            <a:r>
              <a:rPr b="1" dirty="0" err="1"/>
              <a:t>기반</a:t>
            </a:r>
            <a:r>
              <a:rPr b="1" dirty="0"/>
              <a:t>: </a:t>
            </a:r>
            <a:r>
              <a:rPr b="1" dirty="0" err="1"/>
              <a:t>유전자</a:t>
            </a:r>
            <a:r>
              <a:rPr b="1" dirty="0"/>
              <a:t>, </a:t>
            </a:r>
            <a:r>
              <a:rPr b="1" dirty="0" err="1"/>
              <a:t>염색체</a:t>
            </a:r>
            <a:r>
              <a:rPr b="1" dirty="0"/>
              <a:t>, DNA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b="1" dirty="0"/>
              <a:t>4.2 </a:t>
            </a:r>
            <a:r>
              <a:rPr b="1" dirty="0" err="1"/>
              <a:t>유전정보의</a:t>
            </a:r>
            <a:r>
              <a:rPr b="1" dirty="0"/>
              <a:t> </a:t>
            </a:r>
            <a:r>
              <a:rPr b="1" dirty="0" err="1"/>
              <a:t>발현</a:t>
            </a:r>
            <a:r>
              <a:rPr b="1" dirty="0"/>
              <a:t>: DNA → RNA → </a:t>
            </a:r>
            <a:r>
              <a:rPr b="1" dirty="0" err="1"/>
              <a:t>단백질</a:t>
            </a:r>
            <a:endParaRPr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b="1" dirty="0"/>
              <a:t>4.3 </a:t>
            </a:r>
            <a:r>
              <a:rPr b="1" dirty="0" err="1"/>
              <a:t>재조합</a:t>
            </a:r>
            <a:r>
              <a:rPr b="1" dirty="0"/>
              <a:t> DNA: </a:t>
            </a:r>
            <a:r>
              <a:rPr b="1" dirty="0" err="1"/>
              <a:t>제한효소</a:t>
            </a:r>
            <a:r>
              <a:rPr b="1" dirty="0"/>
              <a:t>, </a:t>
            </a:r>
            <a:r>
              <a:rPr b="1" dirty="0" err="1"/>
              <a:t>클로닝</a:t>
            </a:r>
            <a:r>
              <a:rPr b="1" dirty="0"/>
              <a:t>, </a:t>
            </a:r>
            <a:r>
              <a:rPr b="1" dirty="0" err="1"/>
              <a:t>시퀀싱</a:t>
            </a:r>
            <a:endParaRPr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b="1" dirty="0"/>
              <a:t>4.4 </a:t>
            </a:r>
            <a:r>
              <a:rPr b="1" dirty="0" err="1"/>
              <a:t>핵산·단백질</a:t>
            </a:r>
            <a:r>
              <a:rPr b="1" dirty="0"/>
              <a:t> </a:t>
            </a:r>
            <a:r>
              <a:rPr b="1" dirty="0" err="1"/>
              <a:t>검출</a:t>
            </a:r>
            <a:r>
              <a:rPr b="1" dirty="0"/>
              <a:t>: PCR, </a:t>
            </a:r>
            <a:r>
              <a:rPr b="1" dirty="0" err="1"/>
              <a:t>혼성화</a:t>
            </a:r>
            <a:r>
              <a:rPr b="1" dirty="0"/>
              <a:t>, </a:t>
            </a:r>
            <a:r>
              <a:rPr b="1" dirty="0" err="1"/>
              <a:t>항체</a:t>
            </a:r>
            <a:endParaRPr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b="1" dirty="0"/>
              <a:t>4.5 </a:t>
            </a:r>
            <a:r>
              <a:rPr b="1" dirty="0" err="1"/>
              <a:t>진핵세포</a:t>
            </a:r>
            <a:r>
              <a:rPr b="1" dirty="0"/>
              <a:t> </a:t>
            </a:r>
            <a:r>
              <a:rPr b="1" dirty="0" err="1"/>
              <a:t>유전자</a:t>
            </a:r>
            <a:r>
              <a:rPr b="1" dirty="0"/>
              <a:t> </a:t>
            </a:r>
            <a:r>
              <a:rPr b="1" dirty="0" err="1"/>
              <a:t>기능</a:t>
            </a:r>
            <a:r>
              <a:rPr b="1" dirty="0"/>
              <a:t> </a:t>
            </a:r>
            <a:r>
              <a:rPr b="1" dirty="0" err="1"/>
              <a:t>분석</a:t>
            </a:r>
            <a:endParaRPr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ADEC5-912F-CE59-5DEC-A696B385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87A175-0765-B813-494E-F292222116F8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9E4C4-A13D-4B37-EBFE-47AC38294228}"/>
              </a:ext>
            </a:extLst>
          </p:cNvPr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81366-3C4D-635A-A2A7-72C675D764FE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4D6D4-8FDC-A235-DA5A-F10D1BE24FCD}"/>
              </a:ext>
            </a:extLst>
          </p:cNvPr>
          <p:cNvSpPr txBox="1"/>
          <p:nvPr/>
        </p:nvSpPr>
        <p:spPr>
          <a:xfrm>
            <a:off x="685800" y="960120"/>
            <a:ext cx="10835640" cy="238219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4.1.1. </a:t>
            </a:r>
            <a:r>
              <a:rPr lang="ko-KR" altLang="en-US" dirty="0"/>
              <a:t>유전자와 염색체의 발견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4.1.2. DNA</a:t>
            </a:r>
            <a:r>
              <a:rPr lang="ko-KR" altLang="en-US" dirty="0"/>
              <a:t>가 유전물질임을 증명한 실험들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4.1.3. DNA</a:t>
            </a:r>
            <a:r>
              <a:rPr lang="ko-KR" altLang="en-US" dirty="0"/>
              <a:t>의 구조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4.1.4. </a:t>
            </a:r>
            <a:r>
              <a:rPr lang="ko-KR" altLang="en-US" dirty="0"/>
              <a:t>반보존적 복제 과정을 증명한 실험들</a:t>
            </a:r>
            <a:endParaRPr lang="en-US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A4582-95C3-9016-109E-DE7EF0086938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CC6349-CAFC-56D8-E228-8EC5437FF2D1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351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05081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/>
              <a:t>4.1.1. </a:t>
            </a:r>
            <a:r>
              <a:rPr lang="ko-KR" altLang="en-US" sz="1600" b="1" dirty="0"/>
              <a:t>유전자와 염색체의 발견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생명체의</a:t>
            </a:r>
            <a:r>
              <a:rPr sz="1600" dirty="0"/>
              <a:t> </a:t>
            </a:r>
            <a:r>
              <a:rPr sz="1600" dirty="0" err="1"/>
              <a:t>핵심</a:t>
            </a:r>
            <a:r>
              <a:rPr sz="1600" dirty="0"/>
              <a:t> </a:t>
            </a:r>
            <a:r>
              <a:rPr sz="1600" dirty="0" err="1"/>
              <a:t>성질은</a:t>
            </a:r>
            <a:r>
              <a:rPr sz="1600" dirty="0"/>
              <a:t> </a:t>
            </a:r>
            <a:r>
              <a:rPr sz="1600" dirty="0" err="1"/>
              <a:t>번식과</a:t>
            </a:r>
            <a:r>
              <a:rPr sz="1600" dirty="0"/>
              <a:t> </a:t>
            </a:r>
            <a:r>
              <a:rPr sz="1600" dirty="0" err="1"/>
              <a:t>유전정보의</a:t>
            </a:r>
            <a:r>
              <a:rPr sz="1600" dirty="0"/>
              <a:t> </a:t>
            </a:r>
            <a:r>
              <a:rPr sz="1600" dirty="0" err="1"/>
              <a:t>전달이다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모든</a:t>
            </a:r>
            <a:r>
              <a:rPr sz="1600" dirty="0"/>
              <a:t> </a:t>
            </a:r>
            <a:r>
              <a:rPr sz="1600" dirty="0" err="1"/>
              <a:t>세포는</a:t>
            </a:r>
            <a:r>
              <a:rPr sz="1600" dirty="0"/>
              <a:t> </a:t>
            </a:r>
            <a:r>
              <a:rPr sz="1600" dirty="0" err="1"/>
              <a:t>기존</a:t>
            </a:r>
            <a:r>
              <a:rPr sz="1600" dirty="0"/>
              <a:t> </a:t>
            </a:r>
            <a:r>
              <a:rPr sz="1600" dirty="0" err="1"/>
              <a:t>세포에서</a:t>
            </a:r>
            <a:r>
              <a:rPr sz="1600" dirty="0"/>
              <a:t> </a:t>
            </a:r>
            <a:r>
              <a:rPr sz="1600" dirty="0" err="1"/>
              <a:t>유래하므로</a:t>
            </a:r>
            <a:r>
              <a:rPr sz="1600" dirty="0"/>
              <a:t> </a:t>
            </a:r>
            <a:r>
              <a:rPr sz="1600" dirty="0" err="1"/>
              <a:t>유전물질은</a:t>
            </a:r>
            <a:r>
              <a:rPr sz="1600" dirty="0"/>
              <a:t> </a:t>
            </a:r>
            <a:r>
              <a:rPr sz="1600" dirty="0" err="1"/>
              <a:t>분열</a:t>
            </a:r>
            <a:r>
              <a:rPr sz="1600" dirty="0"/>
              <a:t> </a:t>
            </a:r>
            <a:r>
              <a:rPr sz="1600" dirty="0" err="1"/>
              <a:t>전에</a:t>
            </a:r>
            <a:r>
              <a:rPr sz="1600" dirty="0"/>
              <a:t> </a:t>
            </a:r>
            <a:r>
              <a:rPr sz="1600" dirty="0" err="1"/>
              <a:t>복제되어야</a:t>
            </a:r>
            <a:r>
              <a:rPr sz="1600" dirty="0"/>
              <a:t> </a:t>
            </a:r>
            <a:r>
              <a:rPr sz="1600" dirty="0" err="1"/>
              <a:t>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유전정보의</a:t>
            </a:r>
            <a:r>
              <a:rPr sz="1600" dirty="0"/>
              <a:t> </a:t>
            </a:r>
            <a:r>
              <a:rPr sz="1600" dirty="0" err="1"/>
              <a:t>저장·복제·전달을</a:t>
            </a:r>
            <a:r>
              <a:rPr sz="1600" dirty="0"/>
              <a:t> </a:t>
            </a:r>
            <a:r>
              <a:rPr sz="1600" dirty="0" err="1"/>
              <a:t>이해하는</a:t>
            </a:r>
            <a:r>
              <a:rPr sz="1600" dirty="0"/>
              <a:t> </a:t>
            </a:r>
            <a:r>
              <a:rPr sz="1600" dirty="0" err="1"/>
              <a:t>것이</a:t>
            </a:r>
            <a:r>
              <a:rPr sz="1600" dirty="0"/>
              <a:t> </a:t>
            </a:r>
            <a:r>
              <a:rPr sz="1600" dirty="0" err="1"/>
              <a:t>분자생물학의</a:t>
            </a:r>
            <a:r>
              <a:rPr sz="1600" dirty="0"/>
              <a:t> </a:t>
            </a:r>
            <a:r>
              <a:rPr sz="1600" dirty="0" err="1"/>
              <a:t>출발점이다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DNA가</a:t>
            </a:r>
            <a:r>
              <a:rPr sz="1600" dirty="0"/>
              <a:t> </a:t>
            </a:r>
            <a:r>
              <a:rPr sz="1600" dirty="0" err="1"/>
              <a:t>유전물질이라는</a:t>
            </a:r>
            <a:r>
              <a:rPr sz="1600" dirty="0"/>
              <a:t> </a:t>
            </a:r>
            <a:r>
              <a:rPr sz="1600" dirty="0" err="1"/>
              <a:t>발견이</a:t>
            </a:r>
            <a:r>
              <a:rPr sz="1600" dirty="0"/>
              <a:t> </a:t>
            </a:r>
            <a:r>
              <a:rPr sz="1600" dirty="0" err="1"/>
              <a:t>현대</a:t>
            </a:r>
            <a:r>
              <a:rPr sz="1600" dirty="0"/>
              <a:t> </a:t>
            </a:r>
            <a:r>
              <a:rPr sz="1600" dirty="0" err="1"/>
              <a:t>분자생물학의</a:t>
            </a:r>
            <a:r>
              <a:rPr sz="1600" dirty="0"/>
              <a:t> </a:t>
            </a:r>
            <a:r>
              <a:rPr sz="1600" dirty="0" err="1"/>
              <a:t>기반을</a:t>
            </a:r>
            <a:r>
              <a:rPr sz="1600" dirty="0"/>
              <a:t> </a:t>
            </a:r>
            <a:r>
              <a:rPr sz="1600" dirty="0" err="1"/>
              <a:t>만들었다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4793EF-9669-8D7A-A915-B79EDD793985}"/>
              </a:ext>
            </a:extLst>
          </p:cNvPr>
          <p:cNvSpPr txBox="1"/>
          <p:nvPr/>
        </p:nvSpPr>
        <p:spPr>
          <a:xfrm>
            <a:off x="685800" y="3704856"/>
            <a:ext cx="10835640" cy="205081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200"/>
              </a:spcAft>
              <a:buAutoNum type="arabicParenR"/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 err="1"/>
              <a:t>멘델의</a:t>
            </a:r>
            <a:r>
              <a:rPr lang="ko-KR" altLang="en-US" sz="1600" b="1" dirty="0"/>
              <a:t> 유전법칙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1865년 Gregor </a:t>
            </a:r>
            <a:r>
              <a:rPr sz="1600" dirty="0" err="1"/>
              <a:t>Mendel은</a:t>
            </a:r>
            <a:r>
              <a:rPr sz="1600" dirty="0"/>
              <a:t> </a:t>
            </a:r>
            <a:r>
              <a:rPr sz="1600" dirty="0" err="1"/>
              <a:t>완두의</a:t>
            </a:r>
            <a:r>
              <a:rPr sz="1600" dirty="0"/>
              <a:t> </a:t>
            </a:r>
            <a:r>
              <a:rPr sz="1600" dirty="0" err="1"/>
              <a:t>뚜렷한</a:t>
            </a:r>
            <a:r>
              <a:rPr sz="1600" dirty="0"/>
              <a:t> </a:t>
            </a:r>
            <a:r>
              <a:rPr sz="1600" dirty="0" err="1"/>
              <a:t>형질을</a:t>
            </a:r>
            <a:r>
              <a:rPr sz="1600" dirty="0"/>
              <a:t> </a:t>
            </a:r>
            <a:r>
              <a:rPr sz="1600" dirty="0" err="1"/>
              <a:t>교배해</a:t>
            </a:r>
            <a:r>
              <a:rPr sz="1600" dirty="0"/>
              <a:t> </a:t>
            </a:r>
            <a:r>
              <a:rPr sz="1600" dirty="0" err="1"/>
              <a:t>유전</a:t>
            </a:r>
            <a:r>
              <a:rPr sz="1600" dirty="0"/>
              <a:t> </a:t>
            </a:r>
            <a:r>
              <a:rPr sz="1600" dirty="0" err="1"/>
              <a:t>규칙을</a:t>
            </a:r>
            <a:r>
              <a:rPr sz="1600" dirty="0"/>
              <a:t> </a:t>
            </a:r>
            <a:r>
              <a:rPr sz="1600" dirty="0" err="1"/>
              <a:t>정립했다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각 </a:t>
            </a:r>
            <a:r>
              <a:rPr sz="1600" dirty="0" err="1"/>
              <a:t>형질이</a:t>
            </a:r>
            <a:r>
              <a:rPr sz="1600" dirty="0"/>
              <a:t> 한 </a:t>
            </a:r>
            <a:r>
              <a:rPr sz="1600" dirty="0" err="1"/>
              <a:t>쌍의</a:t>
            </a:r>
            <a:r>
              <a:rPr sz="1600" dirty="0"/>
              <a:t> </a:t>
            </a:r>
            <a:r>
              <a:rPr sz="1600" dirty="0" err="1"/>
              <a:t>유전적</a:t>
            </a:r>
            <a:r>
              <a:rPr sz="1600" dirty="0"/>
              <a:t> </a:t>
            </a:r>
            <a:r>
              <a:rPr sz="1600" dirty="0" err="1"/>
              <a:t>인자에</a:t>
            </a:r>
            <a:r>
              <a:rPr sz="1600" dirty="0"/>
              <a:t> </a:t>
            </a:r>
            <a:r>
              <a:rPr sz="1600" dirty="0" err="1"/>
              <a:t>의해</a:t>
            </a:r>
            <a:r>
              <a:rPr sz="1600" dirty="0"/>
              <a:t> </a:t>
            </a:r>
            <a:r>
              <a:rPr sz="1600" dirty="0" err="1"/>
              <a:t>결정된다고</a:t>
            </a:r>
            <a:r>
              <a:rPr sz="1600" dirty="0"/>
              <a:t> </a:t>
            </a:r>
            <a:r>
              <a:rPr sz="1600" dirty="0" err="1"/>
              <a:t>가정했다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오늘날</a:t>
            </a:r>
            <a:r>
              <a:rPr sz="1600" dirty="0"/>
              <a:t> 이 </a:t>
            </a:r>
            <a:r>
              <a:rPr sz="1600" dirty="0" err="1"/>
              <a:t>인자를</a:t>
            </a:r>
            <a:r>
              <a:rPr sz="1600" dirty="0"/>
              <a:t> </a:t>
            </a:r>
            <a:r>
              <a:rPr sz="1600" dirty="0" err="1"/>
              <a:t>유전자</a:t>
            </a:r>
            <a:r>
              <a:rPr sz="1600" dirty="0"/>
              <a:t>(gene)</a:t>
            </a:r>
            <a:r>
              <a:rPr sz="1600" dirty="0" err="1"/>
              <a:t>라고</a:t>
            </a:r>
            <a:r>
              <a:rPr sz="1600" dirty="0"/>
              <a:t> </a:t>
            </a:r>
            <a:r>
              <a:rPr sz="1600" dirty="0" err="1"/>
              <a:t>부른다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유전</a:t>
            </a:r>
            <a:r>
              <a:rPr sz="1600" dirty="0"/>
              <a:t> </a:t>
            </a:r>
            <a:r>
              <a:rPr sz="1600" dirty="0" err="1"/>
              <a:t>현상을</a:t>
            </a:r>
            <a:r>
              <a:rPr sz="1600" dirty="0"/>
              <a:t> </a:t>
            </a:r>
            <a:r>
              <a:rPr sz="1600" dirty="0" err="1"/>
              <a:t>수량적으로</a:t>
            </a:r>
            <a:r>
              <a:rPr sz="1600" dirty="0"/>
              <a:t> </a:t>
            </a:r>
            <a:r>
              <a:rPr sz="1600" dirty="0" err="1"/>
              <a:t>분석했다는</a:t>
            </a:r>
            <a:r>
              <a:rPr sz="1600" dirty="0"/>
              <a:t> </a:t>
            </a:r>
            <a:r>
              <a:rPr sz="1600" dirty="0" err="1"/>
              <a:t>점이</a:t>
            </a:r>
            <a:r>
              <a:rPr sz="1600" dirty="0"/>
              <a:t> </a:t>
            </a:r>
            <a:r>
              <a:rPr sz="1600" dirty="0" err="1"/>
              <a:t>핵심이다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635622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  <a:p>
            <a:pPr>
              <a:defRPr sz="27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1631024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각 </a:t>
            </a:r>
            <a:r>
              <a:rPr sz="1600" dirty="0" err="1"/>
              <a:t>부모로부터</a:t>
            </a:r>
            <a:r>
              <a:rPr sz="1600" dirty="0"/>
              <a:t> </a:t>
            </a:r>
            <a:r>
              <a:rPr sz="1600" dirty="0" err="1"/>
              <a:t>유전자</a:t>
            </a:r>
            <a:r>
              <a:rPr sz="1600" dirty="0"/>
              <a:t> </a:t>
            </a:r>
            <a:r>
              <a:rPr sz="1600" dirty="0" err="1"/>
              <a:t>사본</a:t>
            </a:r>
            <a:r>
              <a:rPr sz="1600" dirty="0"/>
              <a:t> </a:t>
            </a:r>
            <a:r>
              <a:rPr sz="1600" dirty="0" err="1"/>
              <a:t>하나씩을</a:t>
            </a:r>
            <a:r>
              <a:rPr sz="1600" dirty="0"/>
              <a:t> </a:t>
            </a:r>
            <a:r>
              <a:rPr sz="1600" dirty="0" err="1"/>
              <a:t>받는다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같은</a:t>
            </a:r>
            <a:r>
              <a:rPr sz="1600" dirty="0"/>
              <a:t> </a:t>
            </a:r>
            <a:r>
              <a:rPr sz="1600" dirty="0" err="1"/>
              <a:t>유전자의</a:t>
            </a:r>
            <a:r>
              <a:rPr sz="1600" dirty="0"/>
              <a:t> </a:t>
            </a:r>
            <a:r>
              <a:rPr sz="1600" dirty="0" err="1"/>
              <a:t>서로</a:t>
            </a:r>
            <a:r>
              <a:rPr sz="1600" dirty="0"/>
              <a:t> </a:t>
            </a:r>
            <a:r>
              <a:rPr sz="1600" dirty="0" err="1"/>
              <a:t>다른</a:t>
            </a:r>
            <a:r>
              <a:rPr sz="1600" dirty="0"/>
              <a:t> </a:t>
            </a:r>
            <a:r>
              <a:rPr sz="1600" dirty="0" err="1"/>
              <a:t>형태를</a:t>
            </a:r>
            <a:r>
              <a:rPr sz="1600" dirty="0"/>
              <a:t> </a:t>
            </a:r>
            <a:r>
              <a:rPr sz="1600" dirty="0" err="1"/>
              <a:t>대립유전자</a:t>
            </a:r>
            <a:r>
              <a:rPr sz="1600" dirty="0"/>
              <a:t>(allele)라 </a:t>
            </a:r>
            <a:r>
              <a:rPr sz="1600" dirty="0" err="1"/>
              <a:t>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YY × </a:t>
            </a:r>
            <a:r>
              <a:rPr sz="1600" dirty="0" err="1"/>
              <a:t>yy</a:t>
            </a:r>
            <a:r>
              <a:rPr sz="1600" dirty="0"/>
              <a:t> → F1은 </a:t>
            </a:r>
            <a:r>
              <a:rPr sz="1600" dirty="0" err="1"/>
              <a:t>모두</a:t>
            </a:r>
            <a:r>
              <a:rPr sz="1600" dirty="0"/>
              <a:t> </a:t>
            </a:r>
            <a:r>
              <a:rPr sz="1600" dirty="0" err="1"/>
              <a:t>Yy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Y가</a:t>
            </a:r>
            <a:r>
              <a:rPr sz="1600" dirty="0"/>
              <a:t> </a:t>
            </a:r>
            <a:r>
              <a:rPr sz="1600" dirty="0" err="1"/>
              <a:t>우성</a:t>
            </a:r>
            <a:r>
              <a:rPr sz="1600" dirty="0"/>
              <a:t>, </a:t>
            </a:r>
            <a:r>
              <a:rPr sz="1600" dirty="0" err="1"/>
              <a:t>y가</a:t>
            </a:r>
            <a:r>
              <a:rPr sz="1600" dirty="0"/>
              <a:t> </a:t>
            </a:r>
            <a:r>
              <a:rPr sz="1600" dirty="0" err="1"/>
              <a:t>열성이라면</a:t>
            </a:r>
            <a:r>
              <a:rPr sz="1600" dirty="0"/>
              <a:t> F1의 </a:t>
            </a:r>
            <a:r>
              <a:rPr sz="1600" dirty="0" err="1"/>
              <a:t>표현형은</a:t>
            </a:r>
            <a:r>
              <a:rPr sz="1600" dirty="0"/>
              <a:t> </a:t>
            </a:r>
            <a:r>
              <a:rPr sz="1600" dirty="0" err="1"/>
              <a:t>모두</a:t>
            </a:r>
            <a:r>
              <a:rPr sz="1600" dirty="0"/>
              <a:t> </a:t>
            </a:r>
            <a:r>
              <a:rPr sz="1600" dirty="0" err="1"/>
              <a:t>노란색이다</a:t>
            </a:r>
            <a:r>
              <a:rPr sz="16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내용 개체 틀 4">
            <a:extLst>
              <a:ext uri="{FF2B5EF4-FFF2-40B4-BE49-F238E27FC236}">
                <a16:creationId xmlns:a16="http://schemas.microsoft.com/office/drawing/2014/main" id="{6373E625-A515-4161-8C5F-13956BC77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009077"/>
            <a:ext cx="4341243" cy="37117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C2ACD6-94FB-4E96-A45E-2AA146A3A9C7}"/>
              </a:ext>
            </a:extLst>
          </p:cNvPr>
          <p:cNvSpPr txBox="1"/>
          <p:nvPr/>
        </p:nvSpPr>
        <p:spPr>
          <a:xfrm>
            <a:off x="5855820" y="5312115"/>
            <a:ext cx="53397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Figure 4.1 </a:t>
            </a:r>
            <a:r>
              <a:rPr lang="ko-KR" altLang="en-US" sz="1400" b="1" dirty="0" err="1">
                <a:latin typeface="+mj-ea"/>
                <a:ea typeface="+mj-ea"/>
              </a:rPr>
              <a:t>멘델의</a:t>
            </a:r>
            <a:r>
              <a:rPr lang="ko-KR" altLang="en-US" sz="1400" b="1" dirty="0">
                <a:latin typeface="+mj-ea"/>
                <a:ea typeface="+mj-ea"/>
              </a:rPr>
              <a:t> 완두콩 교배 실험</a:t>
            </a:r>
            <a:endParaRPr lang="en-US" altLang="ko-KR" sz="1400" b="1" dirty="0">
              <a:latin typeface="+mj-ea"/>
              <a:ea typeface="+mj-ea"/>
            </a:endParaRPr>
          </a:p>
          <a:p>
            <a:r>
              <a:rPr lang="ko-KR" altLang="en-US" sz="1400" dirty="0" err="1">
                <a:latin typeface="+mj-ea"/>
                <a:ea typeface="+mj-ea"/>
              </a:rPr>
              <a:t>멘델은</a:t>
            </a:r>
            <a:r>
              <a:rPr lang="ko-KR" altLang="en-US" sz="1400" dirty="0">
                <a:latin typeface="+mj-ea"/>
                <a:ea typeface="+mj-ea"/>
              </a:rPr>
              <a:t> 완두콩의 표현형이 대를 이어 유전되는 방식을 추적하여 유전학의 기초를 마련했다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노란색 씨앗과 녹색 씨앗을 교배하여 얻은 잡종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세대에서는 우성 형질인 노란색만 발현된다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이 잡종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세대를 다시 자가 </a:t>
            </a:r>
            <a:r>
              <a:rPr lang="ko-KR" altLang="en-US" sz="1400" dirty="0" err="1">
                <a:latin typeface="+mj-ea"/>
                <a:ea typeface="+mj-ea"/>
              </a:rPr>
              <a:t>수분시키면</a:t>
            </a:r>
            <a:r>
              <a:rPr lang="ko-KR" altLang="en-US" sz="1400" dirty="0">
                <a:latin typeface="+mj-ea"/>
                <a:ea typeface="+mj-ea"/>
              </a:rPr>
              <a:t> 잡종 </a:t>
            </a:r>
            <a:r>
              <a:rPr lang="en-US" altLang="ko-KR" sz="1400" dirty="0">
                <a:latin typeface="+mj-ea"/>
                <a:ea typeface="+mj-ea"/>
              </a:rPr>
              <a:t>2</a:t>
            </a:r>
            <a:r>
              <a:rPr lang="ko-KR" altLang="en-US" sz="1400" dirty="0">
                <a:latin typeface="+mj-ea"/>
                <a:ea typeface="+mj-ea"/>
              </a:rPr>
              <a:t>세대에서 우성과 열성 표현형이 </a:t>
            </a:r>
            <a:r>
              <a:rPr lang="en-US" altLang="ko-KR" sz="1400" dirty="0">
                <a:latin typeface="+mj-ea"/>
                <a:ea typeface="+mj-ea"/>
              </a:rPr>
              <a:t>3:1</a:t>
            </a:r>
            <a:r>
              <a:rPr lang="ko-KR" altLang="en-US" sz="1400" dirty="0">
                <a:latin typeface="+mj-ea"/>
                <a:ea typeface="+mj-ea"/>
              </a:rPr>
              <a:t>의 일정한 비율로 분리되어 나타난다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1828EE-B8BD-42E3-A9CB-5912AC727C90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B02DD-4E0D-49B3-8E57-714606FD9A2A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5ADE2-366A-464D-9ED3-A9042ACB11A8}"/>
              </a:ext>
            </a:extLst>
          </p:cNvPr>
          <p:cNvSpPr txBox="1"/>
          <p:nvPr/>
        </p:nvSpPr>
        <p:spPr>
          <a:xfrm>
            <a:off x="685800" y="960120"/>
            <a:ext cx="10835640" cy="2052806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/>
              <a:t>유전자형</a:t>
            </a:r>
            <a:r>
              <a:rPr lang="en-US" altLang="ko-KR" sz="1600" b="1" dirty="0"/>
              <a:t>(genotype)</a:t>
            </a:r>
            <a:r>
              <a:rPr lang="en-US" altLang="ko-KR" sz="1600" dirty="0"/>
              <a:t>: </a:t>
            </a:r>
            <a:r>
              <a:rPr lang="ko-KR" altLang="en-US" sz="1600" dirty="0"/>
              <a:t>개체가 가진 대립유전자의 조합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/>
              <a:t>표현형</a:t>
            </a:r>
            <a:r>
              <a:rPr lang="en-US" altLang="ko-KR" sz="1600" b="1" dirty="0"/>
              <a:t>(phenotype): </a:t>
            </a:r>
            <a:r>
              <a:rPr lang="ko-KR" altLang="en-US" sz="1600" dirty="0"/>
              <a:t>실제로 관찰되는 형질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/>
              <a:t>F1: </a:t>
            </a:r>
            <a:r>
              <a:rPr lang="ko-KR" altLang="en-US" sz="1600" dirty="0"/>
              <a:t>유전자형 </a:t>
            </a:r>
            <a:r>
              <a:rPr lang="en-US" altLang="ko-KR" sz="1600" dirty="0" err="1"/>
              <a:t>Yy</a:t>
            </a:r>
            <a:r>
              <a:rPr lang="en-US" altLang="ko-KR" sz="1600" dirty="0"/>
              <a:t>, </a:t>
            </a:r>
            <a:r>
              <a:rPr lang="ko-KR" altLang="en-US" sz="1600" dirty="0"/>
              <a:t>표현형 노란색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같은 표현형이더라도 유전자형이 다를 수 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sz="1600" dirty="0"/>
          </a:p>
        </p:txBody>
      </p:sp>
      <p:pic>
        <p:nvPicPr>
          <p:cNvPr id="14" name="내용 개체 틀 4">
            <a:extLst>
              <a:ext uri="{FF2B5EF4-FFF2-40B4-BE49-F238E27FC236}">
                <a16:creationId xmlns:a16="http://schemas.microsoft.com/office/drawing/2014/main" id="{132A2171-8098-4181-8994-6F273711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009077"/>
            <a:ext cx="4341243" cy="37117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D4204D-04E9-41DB-9425-BCB5296CCB11}"/>
              </a:ext>
            </a:extLst>
          </p:cNvPr>
          <p:cNvSpPr txBox="1"/>
          <p:nvPr/>
        </p:nvSpPr>
        <p:spPr>
          <a:xfrm>
            <a:off x="5855820" y="5312115"/>
            <a:ext cx="53397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Figure 4.1 </a:t>
            </a:r>
            <a:r>
              <a:rPr lang="ko-KR" altLang="en-US" sz="1400" b="1" dirty="0" err="1">
                <a:latin typeface="+mj-ea"/>
                <a:ea typeface="+mj-ea"/>
              </a:rPr>
              <a:t>멘델의</a:t>
            </a:r>
            <a:r>
              <a:rPr lang="ko-KR" altLang="en-US" sz="1400" b="1" dirty="0">
                <a:latin typeface="+mj-ea"/>
                <a:ea typeface="+mj-ea"/>
              </a:rPr>
              <a:t> 완두콩 교배 실험</a:t>
            </a:r>
            <a:endParaRPr lang="en-US" altLang="ko-KR" sz="1400" b="1" dirty="0">
              <a:latin typeface="+mj-ea"/>
              <a:ea typeface="+mj-ea"/>
            </a:endParaRPr>
          </a:p>
          <a:p>
            <a:r>
              <a:rPr lang="ko-KR" altLang="en-US" sz="1400" dirty="0" err="1">
                <a:latin typeface="+mj-ea"/>
                <a:ea typeface="+mj-ea"/>
              </a:rPr>
              <a:t>멘델은</a:t>
            </a:r>
            <a:r>
              <a:rPr lang="ko-KR" altLang="en-US" sz="1400" dirty="0">
                <a:latin typeface="+mj-ea"/>
                <a:ea typeface="+mj-ea"/>
              </a:rPr>
              <a:t> 완두콩의 표현형이 대를 이어 유전되는 방식을 추적하여 유전학의 기초를 마련했다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노란색 씨앗과 녹색 씨앗을 교배하여 얻은 잡종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세대에서는 우성 형질인 노란색만 발현된다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이 잡종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세대를 다시 자가 </a:t>
            </a:r>
            <a:r>
              <a:rPr lang="ko-KR" altLang="en-US" sz="1400" dirty="0" err="1">
                <a:latin typeface="+mj-ea"/>
                <a:ea typeface="+mj-ea"/>
              </a:rPr>
              <a:t>수분시키면</a:t>
            </a:r>
            <a:r>
              <a:rPr lang="ko-KR" altLang="en-US" sz="1400" dirty="0">
                <a:latin typeface="+mj-ea"/>
                <a:ea typeface="+mj-ea"/>
              </a:rPr>
              <a:t> 잡종 </a:t>
            </a:r>
            <a:r>
              <a:rPr lang="en-US" altLang="ko-KR" sz="1400" dirty="0">
                <a:latin typeface="+mj-ea"/>
                <a:ea typeface="+mj-ea"/>
              </a:rPr>
              <a:t>2</a:t>
            </a:r>
            <a:r>
              <a:rPr lang="ko-KR" altLang="en-US" sz="1400" dirty="0">
                <a:latin typeface="+mj-ea"/>
                <a:ea typeface="+mj-ea"/>
              </a:rPr>
              <a:t>세대에서 우성과 열성 표현형이 </a:t>
            </a:r>
            <a:r>
              <a:rPr lang="en-US" altLang="ko-KR" sz="1400" dirty="0">
                <a:latin typeface="+mj-ea"/>
                <a:ea typeface="+mj-ea"/>
              </a:rPr>
              <a:t>3:1</a:t>
            </a:r>
            <a:r>
              <a:rPr lang="ko-KR" altLang="en-US" sz="1400" dirty="0">
                <a:latin typeface="+mj-ea"/>
                <a:ea typeface="+mj-ea"/>
              </a:rPr>
              <a:t>의 일정한 비율로 분리되어 나타난다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31825D-60BE-415F-8D2C-63BE032B6C49}"/>
              </a:ext>
            </a:extLst>
          </p:cNvPr>
          <p:cNvSpPr txBox="1"/>
          <p:nvPr/>
        </p:nvSpPr>
        <p:spPr>
          <a:xfrm>
            <a:off x="5855820" y="3009077"/>
            <a:ext cx="6140824" cy="147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400" dirty="0"/>
              <a:t>F1</a:t>
            </a:r>
            <a:r>
              <a:rPr lang="ko-KR" altLang="en-US" sz="1400" dirty="0"/>
              <a:t>끼리 교배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Yy</a:t>
            </a:r>
            <a:r>
              <a:rPr lang="ko-KR" altLang="en-US" sz="1400" dirty="0"/>
              <a:t> </a:t>
            </a:r>
            <a:r>
              <a:rPr lang="en-US" altLang="ko-KR" sz="1400" dirty="0"/>
              <a:t>× </a:t>
            </a:r>
            <a:r>
              <a:rPr lang="en-US" altLang="ko-KR" sz="1400" dirty="0" err="1"/>
              <a:t>Yy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400" dirty="0"/>
              <a:t>F2 </a:t>
            </a:r>
            <a:r>
              <a:rPr lang="ko-KR" altLang="en-US" sz="1400" dirty="0"/>
              <a:t>유전자형</a:t>
            </a:r>
            <a:r>
              <a:rPr lang="en-US" altLang="ko-KR" sz="1400" dirty="0"/>
              <a:t>: YY : </a:t>
            </a:r>
            <a:r>
              <a:rPr lang="en-US" altLang="ko-KR" sz="1400" dirty="0" err="1"/>
              <a:t>Yy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yy</a:t>
            </a:r>
            <a:r>
              <a:rPr lang="ko-KR" altLang="en-US" sz="1400" dirty="0"/>
              <a:t> </a:t>
            </a:r>
            <a:r>
              <a:rPr lang="en-US" altLang="ko-KR" sz="1400" dirty="0"/>
              <a:t>= 1 : 2 : 1.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우성 표현형 </a:t>
            </a:r>
            <a:r>
              <a:rPr lang="en-US" altLang="ko-KR" sz="1400" dirty="0"/>
              <a:t>: </a:t>
            </a:r>
            <a:r>
              <a:rPr lang="ko-KR" altLang="en-US" sz="1400" dirty="0"/>
              <a:t>열성 표현형 </a:t>
            </a:r>
            <a:r>
              <a:rPr lang="en-US" altLang="ko-KR" sz="1400" dirty="0"/>
              <a:t>= 3 : 1.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감수분열에서 두 대립유전자가 분리된다는 것을 반영한다</a:t>
            </a:r>
            <a:r>
              <a:rPr lang="en-US" altLang="ko-KR" sz="1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692AD-E801-4478-84CC-1587A943EC9F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354F8-49B8-4C7A-8074-F58C3B9B0E6B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E95580-45BB-4F2C-AEA1-D165512145AD}"/>
              </a:ext>
            </a:extLst>
          </p:cNvPr>
          <p:cNvSpPr txBox="1"/>
          <p:nvPr/>
        </p:nvSpPr>
        <p:spPr>
          <a:xfrm>
            <a:off x="685800" y="960120"/>
            <a:ext cx="10835640" cy="205081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600" b="1" dirty="0"/>
              <a:t>2) </a:t>
            </a:r>
            <a:r>
              <a:rPr lang="ko-KR" altLang="en-US" sz="1600" b="1" dirty="0"/>
              <a:t>염색체설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멘델의</a:t>
            </a:r>
            <a:r>
              <a:rPr sz="1600" dirty="0"/>
              <a:t> </a:t>
            </a:r>
            <a:r>
              <a:rPr sz="1600" dirty="0" err="1"/>
              <a:t>법칙은</a:t>
            </a:r>
            <a:r>
              <a:rPr sz="1600" dirty="0"/>
              <a:t> 1900년 </a:t>
            </a:r>
            <a:r>
              <a:rPr sz="1600" dirty="0" err="1"/>
              <a:t>재발견되면서</a:t>
            </a:r>
            <a:r>
              <a:rPr sz="1600" dirty="0"/>
              <a:t> </a:t>
            </a:r>
            <a:r>
              <a:rPr sz="1600" dirty="0" err="1"/>
              <a:t>다시</a:t>
            </a:r>
            <a:r>
              <a:rPr sz="1600" dirty="0"/>
              <a:t> </a:t>
            </a:r>
            <a:r>
              <a:rPr sz="1600" dirty="0" err="1"/>
              <a:t>주목받았다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염색체가</a:t>
            </a:r>
            <a:r>
              <a:rPr sz="1600" dirty="0"/>
              <a:t> </a:t>
            </a:r>
            <a:r>
              <a:rPr sz="1600" dirty="0" err="1"/>
              <a:t>유전자의</a:t>
            </a:r>
            <a:r>
              <a:rPr sz="1600" dirty="0"/>
              <a:t> </a:t>
            </a:r>
            <a:r>
              <a:rPr sz="1600" dirty="0" err="1"/>
              <a:t>운반체라는</a:t>
            </a:r>
            <a:r>
              <a:rPr sz="1600" dirty="0"/>
              <a:t> </a:t>
            </a:r>
            <a:r>
              <a:rPr sz="1600" dirty="0" err="1"/>
              <a:t>가설이</a:t>
            </a:r>
            <a:r>
              <a:rPr sz="1600" dirty="0"/>
              <a:t> </a:t>
            </a:r>
            <a:r>
              <a:rPr sz="1600" dirty="0" err="1"/>
              <a:t>제안되었다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염색체의</a:t>
            </a:r>
            <a:r>
              <a:rPr sz="1600" dirty="0"/>
              <a:t> </a:t>
            </a:r>
            <a:r>
              <a:rPr sz="1600" dirty="0" err="1"/>
              <a:t>행동과</a:t>
            </a:r>
            <a:r>
              <a:rPr sz="1600" dirty="0"/>
              <a:t> </a:t>
            </a:r>
            <a:r>
              <a:rPr sz="1600" dirty="0" err="1"/>
              <a:t>유전자의</a:t>
            </a:r>
            <a:r>
              <a:rPr sz="1600" dirty="0"/>
              <a:t> </a:t>
            </a:r>
            <a:r>
              <a:rPr sz="1600" dirty="0" err="1"/>
              <a:t>분리·조합이</a:t>
            </a:r>
            <a:r>
              <a:rPr sz="1600" dirty="0"/>
              <a:t> </a:t>
            </a:r>
            <a:r>
              <a:rPr sz="1600" dirty="0" err="1"/>
              <a:t>평행한다는</a:t>
            </a:r>
            <a:r>
              <a:rPr sz="1600" dirty="0"/>
              <a:t> </a:t>
            </a:r>
            <a:r>
              <a:rPr sz="1600" dirty="0" err="1"/>
              <a:t>점이</a:t>
            </a:r>
            <a:r>
              <a:rPr sz="1600" dirty="0"/>
              <a:t> </a:t>
            </a:r>
            <a:r>
              <a:rPr sz="1600" dirty="0" err="1"/>
              <a:t>핵심</a:t>
            </a:r>
            <a:r>
              <a:rPr sz="1600" dirty="0"/>
              <a:t> </a:t>
            </a:r>
            <a:r>
              <a:rPr sz="1600" dirty="0" err="1"/>
              <a:t>근거다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유전학과</a:t>
            </a:r>
            <a:r>
              <a:rPr sz="1600" dirty="0"/>
              <a:t> </a:t>
            </a:r>
            <a:r>
              <a:rPr sz="1600" dirty="0" err="1"/>
              <a:t>세포학이</a:t>
            </a:r>
            <a:r>
              <a:rPr sz="1600" dirty="0"/>
              <a:t> </a:t>
            </a:r>
            <a:r>
              <a:rPr sz="1600" dirty="0" err="1"/>
              <a:t>연결되기</a:t>
            </a:r>
            <a:r>
              <a:rPr sz="1600" dirty="0"/>
              <a:t> </a:t>
            </a:r>
            <a:r>
              <a:rPr sz="1600" dirty="0" err="1"/>
              <a:t>시작했다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8B68AE-7687-49BB-92D4-4DBAD5049F59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80A300-7568-484E-97A4-024376219334}"/>
              </a:ext>
            </a:extLst>
          </p:cNvPr>
          <p:cNvSpPr txBox="1"/>
          <p:nvPr/>
        </p:nvSpPr>
        <p:spPr>
          <a:xfrm>
            <a:off x="685800" y="960120"/>
            <a:ext cx="10835640" cy="3178242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500" dirty="0" err="1"/>
              <a:t>서로</a:t>
            </a:r>
            <a:r>
              <a:rPr sz="1500" dirty="0"/>
              <a:t> </a:t>
            </a:r>
            <a:r>
              <a:rPr sz="1500" dirty="0" err="1"/>
              <a:t>다른</a:t>
            </a:r>
            <a:r>
              <a:rPr sz="1500" dirty="0"/>
              <a:t> </a:t>
            </a:r>
            <a:r>
              <a:rPr sz="1500" dirty="0" err="1"/>
              <a:t>염색체의</a:t>
            </a:r>
            <a:r>
              <a:rPr sz="1500" dirty="0"/>
              <a:t> </a:t>
            </a:r>
            <a:r>
              <a:rPr sz="1500" dirty="0" err="1"/>
              <a:t>유전자는</a:t>
            </a:r>
            <a:r>
              <a:rPr sz="1500" dirty="0"/>
              <a:t> </a:t>
            </a:r>
            <a:r>
              <a:rPr sz="1500" dirty="0" err="1"/>
              <a:t>독립적으로</a:t>
            </a:r>
            <a:r>
              <a:rPr sz="1500" dirty="0"/>
              <a:t> </a:t>
            </a:r>
            <a:r>
              <a:rPr sz="1500" dirty="0" err="1"/>
              <a:t>분리될</a:t>
            </a:r>
            <a:r>
              <a:rPr sz="1500" dirty="0"/>
              <a:t> 수 </a:t>
            </a:r>
            <a:r>
              <a:rPr sz="1500" dirty="0" err="1"/>
              <a:t>있다</a:t>
            </a:r>
            <a:r>
              <a:rPr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500" dirty="0" err="1"/>
              <a:t>이중잡종</a:t>
            </a:r>
            <a:r>
              <a:rPr sz="1500" dirty="0"/>
              <a:t> F1은 네 </a:t>
            </a:r>
            <a:r>
              <a:rPr sz="1500" dirty="0" err="1"/>
              <a:t>종류의</a:t>
            </a:r>
            <a:r>
              <a:rPr sz="1500" dirty="0"/>
              <a:t> </a:t>
            </a:r>
            <a:r>
              <a:rPr sz="1500" dirty="0" err="1"/>
              <a:t>배우자를</a:t>
            </a:r>
            <a:r>
              <a:rPr sz="1500" dirty="0"/>
              <a:t> </a:t>
            </a:r>
            <a:r>
              <a:rPr sz="1500" dirty="0" err="1"/>
              <a:t>만든다</a:t>
            </a:r>
            <a:r>
              <a:rPr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sz="15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500" dirty="0"/>
              <a:t>F2 </a:t>
            </a:r>
            <a:r>
              <a:rPr sz="1500" dirty="0" err="1"/>
              <a:t>표현형</a:t>
            </a:r>
            <a:r>
              <a:rPr sz="1500" dirty="0"/>
              <a:t> </a:t>
            </a:r>
            <a:r>
              <a:rPr sz="1500" dirty="0" err="1"/>
              <a:t>비율은</a:t>
            </a:r>
            <a:r>
              <a:rPr sz="1500" dirty="0"/>
              <a:t> 9:3:3:1.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500" dirty="0" err="1"/>
              <a:t>독립분리는</a:t>
            </a:r>
            <a:r>
              <a:rPr sz="1500" dirty="0"/>
              <a:t> </a:t>
            </a:r>
            <a:r>
              <a:rPr sz="1500" dirty="0" err="1"/>
              <a:t>상동염색체</a:t>
            </a:r>
            <a:r>
              <a:rPr sz="1500" dirty="0"/>
              <a:t> </a:t>
            </a:r>
            <a:r>
              <a:rPr sz="1500" dirty="0" err="1"/>
              <a:t>쌍의</a:t>
            </a:r>
            <a:r>
              <a:rPr sz="1500" dirty="0"/>
              <a:t> </a:t>
            </a:r>
            <a:r>
              <a:rPr sz="1500" dirty="0" err="1"/>
              <a:t>독립적인</a:t>
            </a:r>
            <a:r>
              <a:rPr sz="1500" dirty="0"/>
              <a:t> </a:t>
            </a:r>
            <a:r>
              <a:rPr sz="1500" dirty="0" err="1"/>
              <a:t>배열을</a:t>
            </a:r>
            <a:r>
              <a:rPr sz="1500" dirty="0"/>
              <a:t> </a:t>
            </a:r>
            <a:r>
              <a:rPr sz="1500" dirty="0" err="1"/>
              <a:t>반영한다</a:t>
            </a:r>
            <a:r>
              <a:rPr sz="1500" dirty="0"/>
              <a:t>.</a:t>
            </a:r>
            <a:endParaRPr lang="en-US" sz="15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sz="15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500" dirty="0"/>
              <a:t>이러한 </a:t>
            </a:r>
            <a:r>
              <a:rPr lang="ko-KR" altLang="en-US" sz="1500" dirty="0" err="1"/>
              <a:t>멘델의</a:t>
            </a:r>
            <a:r>
              <a:rPr lang="ko-KR" altLang="en-US" sz="1500" dirty="0"/>
              <a:t> 가설과 독립</a:t>
            </a:r>
            <a:r>
              <a:rPr lang="en-US" altLang="ko-KR" sz="1500" dirty="0"/>
              <a:t>, </a:t>
            </a:r>
            <a:r>
              <a:rPr lang="ko-KR" altLang="en-US" sz="1500" dirty="0"/>
              <a:t>연관 법칙은 </a:t>
            </a:r>
            <a:endParaRPr lang="en-US" altLang="ko-KR" sz="15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500" dirty="0"/>
              <a:t>20</a:t>
            </a:r>
            <a:r>
              <a:rPr lang="ko-KR" altLang="en-US" sz="1500" dirty="0"/>
              <a:t>세기 초 감수분열</a:t>
            </a:r>
            <a:r>
              <a:rPr lang="en-US" altLang="ko-KR" sz="1500" dirty="0"/>
              <a:t>, </a:t>
            </a:r>
            <a:r>
              <a:rPr lang="ko-KR" altLang="en-US" sz="1500" dirty="0"/>
              <a:t>돌연변이</a:t>
            </a:r>
            <a:r>
              <a:rPr lang="en-US" altLang="ko-KR" sz="1500" dirty="0"/>
              <a:t> </a:t>
            </a:r>
            <a:r>
              <a:rPr lang="ko-KR" altLang="en-US" sz="1500" dirty="0"/>
              <a:t>연구를 통해 증명되었다</a:t>
            </a:r>
            <a:r>
              <a:rPr lang="en-US" altLang="ko-KR" sz="1500" dirty="0"/>
              <a:t>.</a:t>
            </a:r>
            <a:endParaRPr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60B623-2F91-4112-BCE5-6D6B2F05B600}"/>
              </a:ext>
            </a:extLst>
          </p:cNvPr>
          <p:cNvSpPr txBox="1"/>
          <p:nvPr/>
        </p:nvSpPr>
        <p:spPr>
          <a:xfrm>
            <a:off x="245037" y="4648689"/>
            <a:ext cx="69996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n-ea"/>
              </a:rPr>
              <a:t>Figure 4.3 </a:t>
            </a:r>
            <a:r>
              <a:rPr lang="ko-KR" altLang="en-US" sz="1600" b="1" dirty="0">
                <a:latin typeface="+mn-ea"/>
              </a:rPr>
              <a:t>유전자의 독립 분리와 연관 법칙</a:t>
            </a:r>
            <a:endParaRPr lang="en-US" altLang="ko-KR" sz="1600" b="1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서로 다른 염색체에 존재하는 유전자들은 감수분열 시 무작위로 배열되어 독립적으로 다음 세대에 전달된다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반면 동일한 염색체에 나란히 위치한 유전자들은 하나의 단위로 묶여 함께 이동하는 연관을 보인다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연관 된 유전자들은 독립 분리를 따르지 않으므로 자손에게서 특정 조합의 표현형 비율이 다르게 나타난다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9" name="Picture 3" descr="4.3.png">
            <a:extLst>
              <a:ext uri="{FF2B5EF4-FFF2-40B4-BE49-F238E27FC236}">
                <a16:creationId xmlns:a16="http://schemas.microsoft.com/office/drawing/2014/main" id="{B23AE95A-B342-4723-A7D3-E69103E68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679" y="740664"/>
            <a:ext cx="4866638" cy="60621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C23FD-4988-4E33-A219-FAF5055BE90B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4AE073-8876-4554-91E5-756B5E030B47}"/>
              </a:ext>
            </a:extLst>
          </p:cNvPr>
          <p:cNvSpPr txBox="1"/>
          <p:nvPr/>
        </p:nvSpPr>
        <p:spPr>
          <a:xfrm>
            <a:off x="685800" y="960120"/>
            <a:ext cx="10835640" cy="415177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b="1" dirty="0" err="1"/>
              <a:t>이배체</a:t>
            </a:r>
            <a:r>
              <a:rPr sz="1600" b="1" dirty="0"/>
              <a:t>(diploid): </a:t>
            </a:r>
            <a:r>
              <a:rPr sz="1600" dirty="0" err="1"/>
              <a:t>상동염색체를</a:t>
            </a:r>
            <a:r>
              <a:rPr sz="1600" dirty="0"/>
              <a:t> 두 벌 </a:t>
            </a:r>
            <a:r>
              <a:rPr sz="1600" dirty="0" err="1"/>
              <a:t>보유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b="1" dirty="0" err="1"/>
              <a:t>반수체</a:t>
            </a:r>
            <a:r>
              <a:rPr sz="1600" b="1" dirty="0"/>
              <a:t>(haploid): </a:t>
            </a:r>
            <a:r>
              <a:rPr sz="1600" dirty="0"/>
              <a:t>각 </a:t>
            </a:r>
            <a:r>
              <a:rPr sz="1600" dirty="0" err="1"/>
              <a:t>염색체를</a:t>
            </a:r>
            <a:r>
              <a:rPr sz="1600" dirty="0"/>
              <a:t> 한 벌 </a:t>
            </a:r>
            <a:r>
              <a:rPr sz="1600" dirty="0" err="1"/>
              <a:t>보유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정자와</a:t>
            </a:r>
            <a:r>
              <a:rPr sz="1600" dirty="0"/>
              <a:t> </a:t>
            </a:r>
            <a:r>
              <a:rPr sz="1600" dirty="0" err="1"/>
              <a:t>난자는</a:t>
            </a:r>
            <a:r>
              <a:rPr sz="1600" dirty="0"/>
              <a:t> </a:t>
            </a:r>
            <a:r>
              <a:rPr sz="1600" dirty="0" err="1"/>
              <a:t>반수체이다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수정으로</a:t>
            </a:r>
            <a:r>
              <a:rPr sz="1600" dirty="0"/>
              <a:t> 두 </a:t>
            </a:r>
            <a:r>
              <a:rPr sz="1600" dirty="0" err="1"/>
              <a:t>반수체가</a:t>
            </a:r>
            <a:r>
              <a:rPr sz="1600" dirty="0"/>
              <a:t> </a:t>
            </a:r>
            <a:r>
              <a:rPr sz="1600" dirty="0" err="1"/>
              <a:t>결합해</a:t>
            </a:r>
            <a:r>
              <a:rPr sz="1600" dirty="0"/>
              <a:t> </a:t>
            </a:r>
            <a:r>
              <a:rPr sz="1600" dirty="0" err="1"/>
              <a:t>이배체가</a:t>
            </a:r>
            <a:r>
              <a:rPr sz="1600" dirty="0"/>
              <a:t> </a:t>
            </a:r>
            <a:r>
              <a:rPr sz="1600" dirty="0" err="1"/>
              <a:t>된다</a:t>
            </a:r>
            <a:r>
              <a:rPr sz="1600" dirty="0"/>
              <a:t>.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/>
              <a:t>감수분열은 </a:t>
            </a:r>
            <a:r>
              <a:rPr lang="ko-KR" altLang="en-US" sz="1600" dirty="0"/>
              <a:t>생식세포 형성 과정에서 염색체 수를 절반으로 만든다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각 상동염색체 쌍에서 하나가 생식세포로 전달된다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수정은 부계</a:t>
            </a:r>
            <a:r>
              <a:rPr lang="en-US" altLang="ko-KR" sz="1600" dirty="0"/>
              <a:t>·</a:t>
            </a:r>
            <a:r>
              <a:rPr lang="ko-KR" altLang="en-US" sz="1600" dirty="0"/>
              <a:t>모계의 </a:t>
            </a:r>
            <a:r>
              <a:rPr lang="ko-KR" altLang="en-US" sz="1600" dirty="0" err="1"/>
              <a:t>반수체</a:t>
            </a:r>
            <a:r>
              <a:rPr lang="ko-KR" altLang="en-US" sz="1600" dirty="0"/>
              <a:t> 유전체를 다시 결합한다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세대가 바뀌어도 염색체 수가 일정하게 유지된다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4B815-ADE3-4004-A050-15E2EC726FFA}"/>
              </a:ext>
            </a:extLst>
          </p:cNvPr>
          <p:cNvSpPr txBox="1"/>
          <p:nvPr/>
        </p:nvSpPr>
        <p:spPr>
          <a:xfrm>
            <a:off x="7234516" y="4288210"/>
            <a:ext cx="482121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+mn-ea"/>
              </a:rPr>
              <a:t>Figure 4.2 </a:t>
            </a:r>
            <a:r>
              <a:rPr lang="ko-KR" altLang="en-US" sz="1400" b="1" dirty="0">
                <a:latin typeface="+mn-ea"/>
              </a:rPr>
              <a:t>감수분열과 수정 시 염색체의 행동</a:t>
            </a:r>
            <a:endParaRPr lang="en-US" altLang="ko-KR" sz="1400" b="1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체세포는 부모에게서 하나씩 물려받은 쌍을 이루는 </a:t>
            </a:r>
            <a:r>
              <a:rPr lang="en-US" altLang="ko-KR" sz="1400" dirty="0">
                <a:latin typeface="+mn-ea"/>
              </a:rPr>
              <a:t>2n(diploid) </a:t>
            </a:r>
            <a:r>
              <a:rPr lang="ko-KR" altLang="en-US" sz="1400" dirty="0">
                <a:latin typeface="+mn-ea"/>
              </a:rPr>
              <a:t>상태의 염색체를 가진다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생식세포가 형성되는 감수분열 과정에서는 염색체 수가 절반으로 줄어들어 </a:t>
            </a:r>
            <a:r>
              <a:rPr lang="en-US" altLang="ko-KR" sz="1400" dirty="0">
                <a:latin typeface="+mn-ea"/>
              </a:rPr>
              <a:t>n(haploid) </a:t>
            </a:r>
            <a:r>
              <a:rPr lang="ko-KR" altLang="en-US" sz="1400" dirty="0">
                <a:latin typeface="+mn-ea"/>
              </a:rPr>
              <a:t>상태가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이후 정자와 난자가 결합하는 수정 과정을 통해 다음 세대의 세포는 다시 완전한 </a:t>
            </a:r>
            <a:r>
              <a:rPr lang="en-US" altLang="ko-KR" sz="1400" dirty="0">
                <a:latin typeface="+mn-ea"/>
              </a:rPr>
              <a:t>2n </a:t>
            </a:r>
            <a:r>
              <a:rPr lang="ko-KR" altLang="en-US" sz="1400" dirty="0">
                <a:latin typeface="+mn-ea"/>
              </a:rPr>
              <a:t>염색체 조성을 회복한다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12" name="Picture 3" descr="4.2.png">
            <a:extLst>
              <a:ext uri="{FF2B5EF4-FFF2-40B4-BE49-F238E27FC236}">
                <a16:creationId xmlns:a16="http://schemas.microsoft.com/office/drawing/2014/main" id="{92F58F73-2B8D-4086-8D9C-A70C4EF44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626" y="1178648"/>
            <a:ext cx="3639666" cy="2976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2EA099-DF5B-496E-8E61-8B91837CEAAF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67977-990E-4DC6-A461-C6C9F6AA7E67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9DC3C-EDF0-4CD5-9868-B8F4CCFFDD5B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AB376-D9A3-499E-9513-DF5CE879D87F}"/>
              </a:ext>
            </a:extLst>
          </p:cNvPr>
          <p:cNvSpPr txBox="1"/>
          <p:nvPr/>
        </p:nvSpPr>
        <p:spPr>
          <a:xfrm>
            <a:off x="685800" y="960120"/>
            <a:ext cx="10835640" cy="1631024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/>
              <a:t>염색체와 유전자의 </a:t>
            </a:r>
            <a:r>
              <a:rPr lang="ko-KR" altLang="en-US" sz="1600" b="1" dirty="0" err="1"/>
              <a:t>평행성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유전자는 쌍으로 존재하고 배우자 형성 때 분리된다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상동염색체도 쌍으로 존재하고 감수분열에서 분리된다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두 현상의 평행성은 유전자가 염색체에 존재한다는 강력한 근거였다</a:t>
            </a:r>
            <a:r>
              <a:rPr lang="en-US" altLang="ko-KR" sz="16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97C4E-6615-6632-9382-D0D00BB49C54}"/>
              </a:ext>
            </a:extLst>
          </p:cNvPr>
          <p:cNvSpPr txBox="1"/>
          <p:nvPr/>
        </p:nvSpPr>
        <p:spPr>
          <a:xfrm>
            <a:off x="685800" y="3429000"/>
            <a:ext cx="10835640" cy="205081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/>
              <a:t>돌연변이의 발견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초파리에서</a:t>
            </a:r>
            <a:r>
              <a:rPr sz="1600" dirty="0"/>
              <a:t> 눈 색, </a:t>
            </a:r>
            <a:r>
              <a:rPr sz="1600" dirty="0" err="1"/>
              <a:t>날개</a:t>
            </a:r>
            <a:r>
              <a:rPr sz="1600" dirty="0"/>
              <a:t> </a:t>
            </a:r>
            <a:r>
              <a:rPr sz="1600" dirty="0" err="1"/>
              <a:t>형태</a:t>
            </a:r>
            <a:r>
              <a:rPr sz="1600" dirty="0"/>
              <a:t> </a:t>
            </a:r>
            <a:r>
              <a:rPr sz="1600" dirty="0" err="1"/>
              <a:t>등의</a:t>
            </a:r>
            <a:r>
              <a:rPr sz="1600" dirty="0"/>
              <a:t> </a:t>
            </a:r>
            <a:r>
              <a:rPr sz="1600" dirty="0" err="1"/>
              <a:t>유전적</a:t>
            </a:r>
            <a:r>
              <a:rPr sz="1600" dirty="0"/>
              <a:t> </a:t>
            </a:r>
            <a:r>
              <a:rPr sz="1600" dirty="0" err="1"/>
              <a:t>변이가</a:t>
            </a:r>
            <a:r>
              <a:rPr sz="1600" dirty="0"/>
              <a:t> </a:t>
            </a:r>
            <a:r>
              <a:rPr sz="1600" dirty="0" err="1"/>
              <a:t>발견되었다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돌연변이는</a:t>
            </a:r>
            <a:r>
              <a:rPr sz="1600" dirty="0"/>
              <a:t> </a:t>
            </a:r>
            <a:r>
              <a:rPr sz="1600" dirty="0" err="1"/>
              <a:t>특정</a:t>
            </a:r>
            <a:r>
              <a:rPr sz="1600" dirty="0"/>
              <a:t> </a:t>
            </a:r>
            <a:r>
              <a:rPr sz="1600" dirty="0" err="1"/>
              <a:t>유전자를</a:t>
            </a:r>
            <a:r>
              <a:rPr sz="1600" dirty="0"/>
              <a:t> </a:t>
            </a:r>
            <a:r>
              <a:rPr sz="1600" dirty="0" err="1"/>
              <a:t>추적하는</a:t>
            </a:r>
            <a:r>
              <a:rPr sz="1600" dirty="0"/>
              <a:t> </a:t>
            </a:r>
            <a:r>
              <a:rPr sz="1600" dirty="0" err="1"/>
              <a:t>표지가</a:t>
            </a:r>
            <a:r>
              <a:rPr sz="1600" dirty="0"/>
              <a:t> </a:t>
            </a:r>
            <a:r>
              <a:rPr sz="1600" dirty="0" err="1"/>
              <a:t>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교배</a:t>
            </a:r>
            <a:r>
              <a:rPr sz="1600" dirty="0"/>
              <a:t> </a:t>
            </a:r>
            <a:r>
              <a:rPr sz="1600" dirty="0" err="1"/>
              <a:t>결과를</a:t>
            </a:r>
            <a:r>
              <a:rPr sz="1600" dirty="0"/>
              <a:t> </a:t>
            </a:r>
            <a:r>
              <a:rPr sz="1600" dirty="0" err="1"/>
              <a:t>분석하면</a:t>
            </a:r>
            <a:r>
              <a:rPr sz="1600" dirty="0"/>
              <a:t> </a:t>
            </a:r>
            <a:r>
              <a:rPr sz="1600" dirty="0" err="1"/>
              <a:t>유전자의</a:t>
            </a:r>
            <a:r>
              <a:rPr sz="1600" dirty="0"/>
              <a:t> </a:t>
            </a:r>
            <a:r>
              <a:rPr sz="1600" dirty="0" err="1"/>
              <a:t>위치와</a:t>
            </a:r>
            <a:r>
              <a:rPr sz="1600" dirty="0"/>
              <a:t> </a:t>
            </a:r>
            <a:r>
              <a:rPr sz="1600" dirty="0" err="1"/>
              <a:t>유전</a:t>
            </a:r>
            <a:r>
              <a:rPr sz="1600" dirty="0"/>
              <a:t> </a:t>
            </a:r>
            <a:r>
              <a:rPr sz="1600" dirty="0" err="1"/>
              <a:t>양식을</a:t>
            </a:r>
            <a:r>
              <a:rPr sz="1600" dirty="0"/>
              <a:t> </a:t>
            </a:r>
            <a:r>
              <a:rPr sz="1600" dirty="0" err="1"/>
              <a:t>추정할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관찰</a:t>
            </a:r>
            <a:r>
              <a:rPr sz="1600" dirty="0"/>
              <a:t> </a:t>
            </a:r>
            <a:r>
              <a:rPr sz="1600" dirty="0" err="1"/>
              <a:t>가능한</a:t>
            </a:r>
            <a:r>
              <a:rPr sz="1600" dirty="0"/>
              <a:t> </a:t>
            </a:r>
            <a:r>
              <a:rPr sz="1600" dirty="0" err="1"/>
              <a:t>표현형이</a:t>
            </a:r>
            <a:r>
              <a:rPr sz="1600" dirty="0"/>
              <a:t> </a:t>
            </a:r>
            <a:r>
              <a:rPr sz="1600" dirty="0" err="1"/>
              <a:t>분자유전학의</a:t>
            </a:r>
            <a:r>
              <a:rPr sz="1600" dirty="0"/>
              <a:t> </a:t>
            </a:r>
            <a:r>
              <a:rPr sz="1600" dirty="0" err="1"/>
              <a:t>실험</a:t>
            </a:r>
            <a:r>
              <a:rPr sz="1600" dirty="0"/>
              <a:t> </a:t>
            </a:r>
            <a:r>
              <a:rPr sz="1600" dirty="0" err="1"/>
              <a:t>도구가</a:t>
            </a:r>
            <a:r>
              <a:rPr sz="1600" dirty="0"/>
              <a:t> </a:t>
            </a:r>
            <a:r>
              <a:rPr sz="1600" dirty="0" err="1"/>
              <a:t>되었다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FB307-2485-4B46-B045-A7894AC916E8}"/>
              </a:ext>
            </a:extLst>
          </p:cNvPr>
          <p:cNvSpPr txBox="1"/>
          <p:nvPr/>
        </p:nvSpPr>
        <p:spPr>
          <a:xfrm>
            <a:off x="1051560" y="91440"/>
            <a:ext cx="635622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  <a:p>
            <a:pPr>
              <a:defRPr sz="27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0DFFA-DAC3-4D4C-A923-0F2B885EEFA5}"/>
              </a:ext>
            </a:extLst>
          </p:cNvPr>
          <p:cNvSpPr txBox="1"/>
          <p:nvPr/>
        </p:nvSpPr>
        <p:spPr>
          <a:xfrm>
            <a:off x="685800" y="960120"/>
            <a:ext cx="10835640" cy="4571573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/>
              <a:t>연관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연관군과 염색체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같은</a:t>
            </a:r>
            <a:r>
              <a:rPr sz="1600" dirty="0"/>
              <a:t> </a:t>
            </a:r>
            <a:r>
              <a:rPr sz="1600" dirty="0" err="1"/>
              <a:t>염색체에</a:t>
            </a:r>
            <a:r>
              <a:rPr sz="1600" dirty="0"/>
              <a:t> </a:t>
            </a:r>
            <a:r>
              <a:rPr sz="1600" dirty="0" err="1"/>
              <a:t>있는</a:t>
            </a:r>
            <a:r>
              <a:rPr sz="1600" dirty="0"/>
              <a:t> </a:t>
            </a:r>
            <a:r>
              <a:rPr sz="1600" dirty="0" err="1"/>
              <a:t>유전자는</a:t>
            </a:r>
            <a:r>
              <a:rPr sz="1600" dirty="0"/>
              <a:t> </a:t>
            </a:r>
            <a:r>
              <a:rPr sz="1600" dirty="0" err="1"/>
              <a:t>함께</a:t>
            </a:r>
            <a:r>
              <a:rPr sz="1600" dirty="0"/>
              <a:t> </a:t>
            </a:r>
            <a:r>
              <a:rPr sz="1600" dirty="0" err="1"/>
              <a:t>유전되는</a:t>
            </a:r>
            <a:r>
              <a:rPr sz="1600" dirty="0"/>
              <a:t> </a:t>
            </a:r>
            <a:r>
              <a:rPr sz="1600" dirty="0" err="1"/>
              <a:t>경향이</a:t>
            </a:r>
            <a:r>
              <a:rPr sz="1600" dirty="0"/>
              <a:t> </a:t>
            </a:r>
            <a:r>
              <a:rPr sz="1600" dirty="0" err="1"/>
              <a:t>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이를</a:t>
            </a:r>
            <a:r>
              <a:rPr sz="1600" dirty="0"/>
              <a:t> </a:t>
            </a:r>
            <a:r>
              <a:rPr sz="1600" dirty="0" err="1"/>
              <a:t>유전자</a:t>
            </a:r>
            <a:r>
              <a:rPr sz="1600" dirty="0"/>
              <a:t> </a:t>
            </a:r>
            <a:r>
              <a:rPr sz="1600" dirty="0" err="1"/>
              <a:t>연관</a:t>
            </a:r>
            <a:r>
              <a:rPr sz="1600" dirty="0"/>
              <a:t>(linkage)</a:t>
            </a:r>
            <a:r>
              <a:rPr sz="1600" dirty="0" err="1"/>
              <a:t>이라</a:t>
            </a:r>
            <a:r>
              <a:rPr sz="1600" dirty="0"/>
              <a:t> </a:t>
            </a:r>
            <a:r>
              <a:rPr sz="1600" dirty="0" err="1"/>
              <a:t>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단, </a:t>
            </a:r>
            <a:r>
              <a:rPr sz="1600" dirty="0" err="1"/>
              <a:t>감수분열</a:t>
            </a:r>
            <a:r>
              <a:rPr sz="1600" dirty="0"/>
              <a:t> 중 </a:t>
            </a:r>
            <a:r>
              <a:rPr sz="1600" dirty="0" err="1"/>
              <a:t>교차로</a:t>
            </a:r>
            <a:r>
              <a:rPr sz="1600" dirty="0"/>
              <a:t> </a:t>
            </a:r>
            <a:r>
              <a:rPr sz="1600" dirty="0" err="1"/>
              <a:t>재조합형</a:t>
            </a:r>
            <a:r>
              <a:rPr sz="1600" dirty="0"/>
              <a:t> </a:t>
            </a:r>
            <a:r>
              <a:rPr sz="1600" dirty="0" err="1"/>
              <a:t>배우자도</a:t>
            </a:r>
            <a:r>
              <a:rPr sz="1600" dirty="0"/>
              <a:t> </a:t>
            </a:r>
            <a:r>
              <a:rPr sz="1600" dirty="0" err="1"/>
              <a:t>생성될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연관은</a:t>
            </a:r>
            <a:r>
              <a:rPr sz="1600" dirty="0"/>
              <a:t> </a:t>
            </a:r>
            <a:r>
              <a:rPr sz="1600" dirty="0" err="1"/>
              <a:t>독립분리와</a:t>
            </a:r>
            <a:r>
              <a:rPr sz="1600" dirty="0"/>
              <a:t> </a:t>
            </a:r>
            <a:r>
              <a:rPr sz="1600" dirty="0" err="1"/>
              <a:t>대비되는</a:t>
            </a:r>
            <a:r>
              <a:rPr sz="1600" dirty="0"/>
              <a:t> </a:t>
            </a:r>
            <a:r>
              <a:rPr sz="1600" dirty="0" err="1"/>
              <a:t>유전</a:t>
            </a:r>
            <a:r>
              <a:rPr sz="1600" dirty="0"/>
              <a:t> </a:t>
            </a:r>
            <a:r>
              <a:rPr sz="1600" dirty="0" err="1"/>
              <a:t>양식이다</a:t>
            </a:r>
            <a:r>
              <a:rPr sz="1600" dirty="0"/>
              <a:t>.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연관된 유전자들의 묶음을 </a:t>
            </a:r>
            <a:r>
              <a:rPr lang="ko-KR" altLang="en-US" sz="1600" dirty="0" err="1"/>
              <a:t>연관군</a:t>
            </a:r>
            <a:r>
              <a:rPr lang="en-US" altLang="ko-KR" sz="1600" dirty="0"/>
              <a:t>(linkage group)</a:t>
            </a:r>
            <a:r>
              <a:rPr lang="ko-KR" altLang="en-US" sz="1600" dirty="0"/>
              <a:t>이라 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/>
              <a:t>Drosophila</a:t>
            </a:r>
            <a:r>
              <a:rPr lang="ko-KR" altLang="en-US" sz="1600" dirty="0"/>
              <a:t>의 연구 결과 유전자 </a:t>
            </a:r>
            <a:r>
              <a:rPr lang="ko-KR" altLang="en-US" sz="1600" dirty="0" err="1"/>
              <a:t>연관군</a:t>
            </a:r>
            <a:r>
              <a:rPr lang="ko-KR" altLang="en-US" sz="1600" dirty="0"/>
              <a:t> 수는 염색체 수와 같은 </a:t>
            </a:r>
            <a:r>
              <a:rPr lang="en-US" altLang="ko-KR" sz="1600" dirty="0"/>
              <a:t>4</a:t>
            </a:r>
            <a:r>
              <a:rPr lang="ko-KR" altLang="en-US" sz="1600" dirty="0"/>
              <a:t>개였다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/>
              <a:t>1915</a:t>
            </a:r>
            <a:r>
              <a:rPr lang="ko-KR" altLang="en-US" sz="1600" dirty="0"/>
              <a:t>년까지 약 </a:t>
            </a:r>
            <a:r>
              <a:rPr lang="en-US" altLang="ko-KR" sz="1600" dirty="0"/>
              <a:t>100</a:t>
            </a:r>
            <a:r>
              <a:rPr lang="ko-KR" altLang="en-US" sz="1600" dirty="0"/>
              <a:t>개 유전자가 </a:t>
            </a:r>
            <a:r>
              <a:rPr lang="en-US" altLang="ko-KR" sz="1600" dirty="0"/>
              <a:t>4</a:t>
            </a:r>
            <a:r>
              <a:rPr lang="ko-KR" altLang="en-US" sz="1600" dirty="0"/>
              <a:t>개 염색체에 </a:t>
            </a:r>
            <a:r>
              <a:rPr lang="ko-KR" altLang="en-US" sz="1600" dirty="0" err="1"/>
              <a:t>지도화되었다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염색체설을 뒷받침하는 강력한 유전학적 증거가 되었다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2DCE6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414434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j-ea"/>
                <a:ea typeface="+mj-ea"/>
              </a:rPr>
              <a:t>4.1.2. DNA</a:t>
            </a:r>
            <a:r>
              <a:rPr lang="ko-KR" altLang="en-US" sz="1600" b="1" dirty="0">
                <a:latin typeface="+mj-ea"/>
                <a:ea typeface="+mj-ea"/>
              </a:rPr>
              <a:t>가 유전물질임을 증명한 실험들</a:t>
            </a:r>
            <a:endParaRPr lang="en-US" altLang="ko-KR" sz="1600" b="1" dirty="0">
              <a:latin typeface="+mj-ea"/>
              <a:ea typeface="+mj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>
                <a:latin typeface="+mj-ea"/>
                <a:ea typeface="+mj-ea"/>
              </a:rPr>
              <a:t>염색체에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DNA와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단백질이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모두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존재한다는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사실은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새로운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문제를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제기했다</a:t>
            </a:r>
            <a:r>
              <a:rPr sz="16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>
                <a:latin typeface="+mj-ea"/>
                <a:ea typeface="+mj-ea"/>
              </a:rPr>
              <a:t>초기에는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단백질이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유전물질일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가능성이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높다고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생각했다</a:t>
            </a:r>
            <a:r>
              <a:rPr sz="16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>
                <a:latin typeface="+mj-ea"/>
                <a:ea typeface="+mj-ea"/>
              </a:rPr>
              <a:t>DNA가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유전물질이라는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증거는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세균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형질전환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연구에서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시작되었다</a:t>
            </a:r>
            <a:r>
              <a:rPr sz="1600" dirty="0">
                <a:latin typeface="+mj-ea"/>
                <a:ea typeface="+mj-ea"/>
              </a:rPr>
              <a:t>.</a:t>
            </a:r>
            <a:endParaRPr lang="en-US" sz="1600" dirty="0">
              <a:latin typeface="+mj-ea"/>
              <a:ea typeface="+mj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sz="1600" dirty="0">
              <a:latin typeface="+mj-ea"/>
              <a:ea typeface="+mj-ea"/>
            </a:endParaRP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AutoNum type="arabicParenR"/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j-ea"/>
                <a:ea typeface="+mj-ea"/>
              </a:rPr>
              <a:t>Griffith</a:t>
            </a:r>
            <a:r>
              <a:rPr lang="ko-KR" altLang="en-US" sz="1600" b="1" dirty="0">
                <a:latin typeface="+mj-ea"/>
                <a:ea typeface="+mj-ea"/>
              </a:rPr>
              <a:t>의 폐렴구균 연구 </a:t>
            </a:r>
            <a:endParaRPr lang="en-US" altLang="ko-KR" sz="1600" b="1" dirty="0">
              <a:latin typeface="+mj-ea"/>
              <a:ea typeface="+mj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>
                <a:latin typeface="+mj-ea"/>
                <a:ea typeface="+mj-ea"/>
              </a:rPr>
              <a:t>S</a:t>
            </a:r>
            <a:r>
              <a:rPr lang="ko-KR" altLang="en-US" sz="1600" dirty="0">
                <a:latin typeface="+mj-ea"/>
                <a:ea typeface="+mj-ea"/>
              </a:rPr>
              <a:t>형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다당류 </a:t>
            </a:r>
            <a:r>
              <a:rPr lang="ko-KR" altLang="en-US" sz="1600" dirty="0" err="1">
                <a:latin typeface="+mj-ea"/>
                <a:ea typeface="+mj-ea"/>
              </a:rPr>
              <a:t>협막이</a:t>
            </a:r>
            <a:r>
              <a:rPr lang="ko-KR" altLang="en-US" sz="1600" dirty="0">
                <a:latin typeface="+mj-ea"/>
                <a:ea typeface="+mj-ea"/>
              </a:rPr>
              <a:t> 있어 </a:t>
            </a:r>
            <a:r>
              <a:rPr lang="ko-KR" altLang="en-US" sz="1600" dirty="0" err="1">
                <a:latin typeface="+mj-ea"/>
                <a:ea typeface="+mj-ea"/>
              </a:rPr>
              <a:t>집락이</a:t>
            </a:r>
            <a:r>
              <a:rPr lang="ko-KR" altLang="en-US" sz="1600" dirty="0">
                <a:latin typeface="+mj-ea"/>
                <a:ea typeface="+mj-ea"/>
              </a:rPr>
              <a:t> 매끈하고 병원성이 높다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>
                <a:latin typeface="+mj-ea"/>
                <a:ea typeface="+mj-ea"/>
              </a:rPr>
              <a:t>R</a:t>
            </a:r>
            <a:r>
              <a:rPr lang="ko-KR" altLang="en-US" sz="1600" dirty="0">
                <a:latin typeface="+mj-ea"/>
                <a:ea typeface="+mj-ea"/>
              </a:rPr>
              <a:t>형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 err="1">
                <a:latin typeface="+mj-ea"/>
                <a:ea typeface="+mj-ea"/>
              </a:rPr>
              <a:t>협막이</a:t>
            </a:r>
            <a:r>
              <a:rPr lang="ko-KR" altLang="en-US" sz="1600" dirty="0">
                <a:latin typeface="+mj-ea"/>
                <a:ea typeface="+mj-ea"/>
              </a:rPr>
              <a:t> 없어 거친 </a:t>
            </a:r>
            <a:r>
              <a:rPr lang="ko-KR" altLang="en-US" sz="1600" dirty="0" err="1">
                <a:latin typeface="+mj-ea"/>
                <a:ea typeface="+mj-ea"/>
              </a:rPr>
              <a:t>집락을</a:t>
            </a:r>
            <a:r>
              <a:rPr lang="ko-KR" altLang="en-US" sz="1600" dirty="0">
                <a:latin typeface="+mj-ea"/>
                <a:ea typeface="+mj-ea"/>
              </a:rPr>
              <a:t> 만들며 비병원성이다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j-ea"/>
                <a:ea typeface="+mj-ea"/>
              </a:rPr>
              <a:t>두 형태의 차이를 이용해 유전형질의 전달을 추적할 수 있었다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AutoNum type="arabicParenR"/>
              <a:defRPr sz="2000">
                <a:solidFill>
                  <a:srgbClr val="23282D"/>
                </a:solidFill>
              </a:defRPr>
            </a:pPr>
            <a:endParaRPr sz="1600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31D2D-9BCB-AE8B-713D-CE686C40BC59}"/>
              </a:ext>
            </a:extLst>
          </p:cNvPr>
          <p:cNvSpPr txBox="1"/>
          <p:nvPr/>
        </p:nvSpPr>
        <p:spPr>
          <a:xfrm>
            <a:off x="6524431" y="2886578"/>
            <a:ext cx="5558712" cy="34051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400" dirty="0"/>
              <a:t>R</a:t>
            </a:r>
            <a:r>
              <a:rPr lang="ko-KR" altLang="en-US" sz="1400" dirty="0"/>
              <a:t>형 </a:t>
            </a:r>
            <a:r>
              <a:rPr lang="ko-KR" altLang="en-US" sz="1400" dirty="0" err="1"/>
              <a:t>생균</a:t>
            </a:r>
            <a:r>
              <a:rPr lang="ko-KR" altLang="en-US" sz="1400" dirty="0"/>
              <a:t> </a:t>
            </a:r>
            <a:r>
              <a:rPr lang="en-US" altLang="ko-KR" sz="1400" dirty="0"/>
              <a:t>+ </a:t>
            </a:r>
            <a:r>
              <a:rPr lang="ko-KR" altLang="en-US" sz="1400" dirty="0"/>
              <a:t>열처리한 </a:t>
            </a:r>
            <a:r>
              <a:rPr lang="en-US" altLang="ko-KR" sz="1400" dirty="0"/>
              <a:t>S</a:t>
            </a:r>
            <a:r>
              <a:rPr lang="ko-KR" altLang="en-US" sz="1400" dirty="0"/>
              <a:t>형 </a:t>
            </a:r>
            <a:r>
              <a:rPr lang="ko-KR" altLang="en-US" sz="1400" dirty="0" err="1"/>
              <a:t>사균을</a:t>
            </a:r>
            <a:r>
              <a:rPr lang="ko-KR" altLang="en-US" sz="1400" dirty="0"/>
              <a:t> 함께 접종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400" dirty="0"/>
              <a:t>생쥐가 폐렴으로 죽고</a:t>
            </a:r>
            <a:r>
              <a:rPr lang="en-US" altLang="ko-KR" sz="1400" dirty="0"/>
              <a:t>, </a:t>
            </a:r>
            <a:r>
              <a:rPr lang="ko-KR" altLang="en-US" sz="1400" dirty="0"/>
              <a:t>살아 있는 </a:t>
            </a:r>
            <a:r>
              <a:rPr lang="en-US" altLang="ko-KR" sz="1400" dirty="0"/>
              <a:t>S</a:t>
            </a:r>
            <a:r>
              <a:rPr lang="ko-KR" altLang="en-US" sz="1400" dirty="0"/>
              <a:t>형 세균이 분리되었다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400" dirty="0"/>
              <a:t>죽은 </a:t>
            </a:r>
            <a:r>
              <a:rPr lang="en-US" altLang="ko-KR" sz="1400" dirty="0"/>
              <a:t>S</a:t>
            </a:r>
            <a:r>
              <a:rPr lang="ko-KR" altLang="en-US" sz="1400" dirty="0"/>
              <a:t>형의 어떤 물질이 </a:t>
            </a:r>
            <a:r>
              <a:rPr lang="en-US" altLang="ko-KR" sz="1400" dirty="0"/>
              <a:t>R</a:t>
            </a:r>
            <a:r>
              <a:rPr lang="ko-KR" altLang="en-US" sz="1400" dirty="0"/>
              <a:t>형을 </a:t>
            </a:r>
            <a:r>
              <a:rPr lang="en-US" altLang="ko-KR" sz="1400" dirty="0"/>
              <a:t>S</a:t>
            </a:r>
            <a:r>
              <a:rPr lang="ko-KR" altLang="en-US" sz="1400" dirty="0"/>
              <a:t>형으로 바꾼 것으로 해석했다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400" dirty="0"/>
              <a:t>이 현상을 형질전환</a:t>
            </a:r>
            <a:r>
              <a:rPr lang="en-US" altLang="ko-KR" sz="1400" dirty="0"/>
              <a:t>(transformation)</a:t>
            </a:r>
            <a:r>
              <a:rPr lang="ko-KR" altLang="en-US" sz="1400" dirty="0"/>
              <a:t>이라 한다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sz="14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400" dirty="0"/>
              <a:t>S</a:t>
            </a:r>
            <a:r>
              <a:rPr lang="ko-KR" altLang="en-US" sz="1400" dirty="0"/>
              <a:t>형 세포를 파괴한 </a:t>
            </a:r>
            <a:r>
              <a:rPr lang="ko-KR" altLang="en-US" sz="1400" dirty="0" err="1"/>
              <a:t>무세포</a:t>
            </a:r>
            <a:r>
              <a:rPr lang="ko-KR" altLang="en-US" sz="1400" dirty="0"/>
              <a:t> 추출물만으로도 </a:t>
            </a:r>
            <a:r>
              <a:rPr lang="en-US" altLang="ko-KR" sz="1400" dirty="0"/>
              <a:t>R→S </a:t>
            </a:r>
            <a:r>
              <a:rPr lang="ko-KR" altLang="en-US" sz="1400" dirty="0"/>
              <a:t>형질전환이 가능했다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따라서 살아 있는 세균 자체가 아니라 특정 분자가 정보를 전달했다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이 물질을 </a:t>
            </a:r>
            <a:r>
              <a:rPr lang="en-US" altLang="ko-KR" sz="1400" dirty="0"/>
              <a:t>transforming principle</a:t>
            </a:r>
            <a:r>
              <a:rPr lang="ko-KR" altLang="en-US" sz="1400" dirty="0"/>
              <a:t>이라 불렀다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다음 질문</a:t>
            </a:r>
            <a:r>
              <a:rPr lang="en-US" altLang="ko-KR" sz="1400" dirty="0"/>
              <a:t>: </a:t>
            </a:r>
            <a:r>
              <a:rPr lang="ko-KR" altLang="en-US" sz="1400" dirty="0"/>
              <a:t>그 분자는 </a:t>
            </a:r>
            <a:r>
              <a:rPr lang="en-US" altLang="ko-KR" sz="1400" dirty="0"/>
              <a:t>DNA</a:t>
            </a:r>
            <a:r>
              <a:rPr lang="ko-KR" altLang="en-US" sz="1400" dirty="0"/>
              <a:t>인가 단백질인가</a:t>
            </a:r>
            <a:r>
              <a:rPr lang="en-US" altLang="ko-KR" sz="1400" dirty="0"/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F66FE-4718-3119-E370-C06A868F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0C4CD-E825-286E-9087-5407F38A9802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1B65-1E57-F649-F5CD-79E3DA1675F4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BF9BC-0330-D9A6-BFB4-AECDAF8F8A3C}"/>
              </a:ext>
            </a:extLst>
          </p:cNvPr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2706B-6F58-6C8B-A992-D242514CF675}"/>
              </a:ext>
            </a:extLst>
          </p:cNvPr>
          <p:cNvSpPr txBox="1"/>
          <p:nvPr/>
        </p:nvSpPr>
        <p:spPr>
          <a:xfrm>
            <a:off x="1129284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2DCE6"/>
                </a:solidFill>
              </a:defRPr>
            </a:pPr>
            <a:r>
              <a:t>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08810-24C3-419C-73A7-FF2144D48ECD}"/>
              </a:ext>
            </a:extLst>
          </p:cNvPr>
          <p:cNvSpPr txBox="1"/>
          <p:nvPr/>
        </p:nvSpPr>
        <p:spPr>
          <a:xfrm>
            <a:off x="685800" y="960120"/>
            <a:ext cx="10835640" cy="2884957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j-ea"/>
                <a:ea typeface="+mj-ea"/>
              </a:rPr>
              <a:t>4.1.2. DNA</a:t>
            </a:r>
            <a:r>
              <a:rPr lang="ko-KR" altLang="en-US" sz="1600" b="1" dirty="0">
                <a:latin typeface="+mj-ea"/>
                <a:ea typeface="+mj-ea"/>
              </a:rPr>
              <a:t>가 유전물질임을 증명한 실험들</a:t>
            </a:r>
            <a:endParaRPr lang="en-US" altLang="ko-KR" sz="1600" b="1" dirty="0">
              <a:latin typeface="+mj-ea"/>
              <a:ea typeface="+mj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600" b="1" dirty="0">
                <a:latin typeface="+mj-ea"/>
                <a:ea typeface="+mj-ea"/>
              </a:rPr>
              <a:t>2) Avery,</a:t>
            </a:r>
            <a:r>
              <a:rPr lang="ko-KR" altLang="en-US" sz="1600" b="1" dirty="0">
                <a:latin typeface="+mj-ea"/>
                <a:ea typeface="+mj-ea"/>
              </a:rPr>
              <a:t> </a:t>
            </a:r>
            <a:r>
              <a:rPr lang="en-US" altLang="ko-KR" sz="1600" b="1" dirty="0">
                <a:latin typeface="+mj-ea"/>
                <a:ea typeface="+mj-ea"/>
              </a:rPr>
              <a:t>MacLeod,</a:t>
            </a:r>
            <a:r>
              <a:rPr lang="ko-KR" altLang="en-US" sz="1600" b="1" dirty="0">
                <a:latin typeface="+mj-ea"/>
                <a:ea typeface="+mj-ea"/>
              </a:rPr>
              <a:t> </a:t>
            </a:r>
            <a:r>
              <a:rPr lang="en-US" altLang="ko-KR" sz="1600" b="1" dirty="0">
                <a:latin typeface="+mj-ea"/>
                <a:ea typeface="+mj-ea"/>
              </a:rPr>
              <a:t>McCarty </a:t>
            </a:r>
            <a:r>
              <a:rPr lang="ko-KR" altLang="en-US" sz="1600" b="1" dirty="0">
                <a:latin typeface="+mj-ea"/>
                <a:ea typeface="+mj-ea"/>
              </a:rPr>
              <a:t>실험</a:t>
            </a:r>
            <a:endParaRPr lang="en-US" altLang="ko-KR" sz="1600" b="1" dirty="0">
              <a:latin typeface="+mj-ea"/>
              <a:ea typeface="+mj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1944</a:t>
            </a:r>
            <a:r>
              <a:rPr lang="ko-KR" altLang="en-US" sz="1600" dirty="0"/>
              <a:t>년 </a:t>
            </a:r>
            <a:r>
              <a:rPr lang="en-US" altLang="ko-KR" sz="1600" dirty="0"/>
              <a:t>transforming principle</a:t>
            </a:r>
            <a:r>
              <a:rPr lang="ko-KR" altLang="en-US" sz="1600" dirty="0"/>
              <a:t>이 </a:t>
            </a:r>
            <a:r>
              <a:rPr lang="en-US" altLang="ko-KR" sz="1600" dirty="0"/>
              <a:t>DNA</a:t>
            </a:r>
            <a:r>
              <a:rPr lang="ko-KR" altLang="en-US" sz="1600" dirty="0"/>
              <a:t>임을 입증했다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DNA</a:t>
            </a:r>
            <a:r>
              <a:rPr lang="ko-KR" altLang="en-US" sz="1600" dirty="0"/>
              <a:t>를 분해하면 형질전환 활성이 사라졌다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단백질을 분해해도 형질전환 활성은 유지되었다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DNA</a:t>
            </a:r>
            <a:r>
              <a:rPr lang="ko-KR" altLang="en-US" sz="1600" dirty="0"/>
              <a:t>가 유전정보를 전달하는 물질이라는 직접적인 증거였다</a:t>
            </a:r>
            <a:r>
              <a:rPr lang="en-US" altLang="ko-KR" sz="1600" dirty="0"/>
              <a:t>.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AutoNum type="arabicParenR"/>
              <a:defRPr sz="2000">
                <a:solidFill>
                  <a:srgbClr val="23282D"/>
                </a:solidFill>
              </a:defRPr>
            </a:pPr>
            <a:endParaRPr sz="16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C95F4-B8AC-3375-48E5-E1FEAAC2C079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469F81-EECB-AD28-8371-3B2ECE6790E6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3A0CC8-2627-F8EF-E52E-1D950E3C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604" y="1307500"/>
            <a:ext cx="4952116" cy="52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16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2DCE6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541116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600" b="1" dirty="0"/>
              <a:t>4.1.3. DNA</a:t>
            </a:r>
            <a:r>
              <a:rPr lang="ko-KR" altLang="en-US" sz="1600" b="1" dirty="0"/>
              <a:t>의 구조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1953년 </a:t>
            </a:r>
            <a:r>
              <a:rPr sz="1600" dirty="0" err="1"/>
              <a:t>Watson과</a:t>
            </a:r>
            <a:r>
              <a:rPr sz="1600" dirty="0"/>
              <a:t> </a:t>
            </a:r>
            <a:r>
              <a:rPr sz="1600" dirty="0" err="1"/>
              <a:t>Crick이</a:t>
            </a:r>
            <a:r>
              <a:rPr sz="1600" dirty="0"/>
              <a:t> </a:t>
            </a:r>
            <a:r>
              <a:rPr sz="1600" dirty="0" err="1"/>
              <a:t>DNA의</a:t>
            </a:r>
            <a:r>
              <a:rPr sz="1600" dirty="0"/>
              <a:t> </a:t>
            </a:r>
            <a:r>
              <a:rPr sz="1600" dirty="0" err="1"/>
              <a:t>이중나선</a:t>
            </a:r>
            <a:r>
              <a:rPr sz="1600" dirty="0"/>
              <a:t> </a:t>
            </a:r>
            <a:r>
              <a:rPr sz="1600" dirty="0" err="1"/>
              <a:t>모델을</a:t>
            </a:r>
            <a:r>
              <a:rPr sz="1600" dirty="0"/>
              <a:t> </a:t>
            </a:r>
            <a:r>
              <a:rPr sz="1600" dirty="0" err="1"/>
              <a:t>제안했다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DNA는</a:t>
            </a:r>
            <a:r>
              <a:rPr sz="1600" dirty="0"/>
              <a:t> A, G, C, T 네 </a:t>
            </a:r>
            <a:r>
              <a:rPr sz="1600" dirty="0" err="1"/>
              <a:t>염기를</a:t>
            </a:r>
            <a:r>
              <a:rPr sz="1600" dirty="0"/>
              <a:t> </a:t>
            </a:r>
            <a:r>
              <a:rPr sz="1600" dirty="0" err="1"/>
              <a:t>가진</a:t>
            </a:r>
            <a:r>
              <a:rPr sz="1600" dirty="0"/>
              <a:t> </a:t>
            </a:r>
            <a:r>
              <a:rPr sz="1600" dirty="0" err="1"/>
              <a:t>중합체다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DNA</a:t>
            </a:r>
            <a:r>
              <a:rPr lang="ko-KR" altLang="en-US" sz="1600" dirty="0"/>
              <a:t>는 두 가닥의 이중나선 구조이다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당</a:t>
            </a:r>
            <a:r>
              <a:rPr lang="en-US" altLang="ko-KR" sz="1600" dirty="0"/>
              <a:t>-</a:t>
            </a:r>
            <a:r>
              <a:rPr lang="ko-KR" altLang="en-US" sz="1600" dirty="0"/>
              <a:t>인산 골격은 바깥쪽</a:t>
            </a:r>
            <a:r>
              <a:rPr lang="en-US" altLang="ko-KR" sz="1600" dirty="0"/>
              <a:t>, </a:t>
            </a:r>
            <a:r>
              <a:rPr lang="ko-KR" altLang="en-US" sz="1600" dirty="0"/>
              <a:t>염기는 안쪽에 위치한다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A-T, G-C </a:t>
            </a:r>
            <a:r>
              <a:rPr lang="ko-KR" altLang="en-US" sz="1600" dirty="0"/>
              <a:t>염기쌍이 형성된다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두 가닥은 서로 반대 방향</a:t>
            </a:r>
            <a:r>
              <a:rPr lang="en-US" altLang="ko-KR" sz="1600" dirty="0"/>
              <a:t>(antiparallel)</a:t>
            </a:r>
            <a:r>
              <a:rPr lang="ko-KR" altLang="en-US" sz="1600" dirty="0"/>
              <a:t>으로 배열된다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lang="en-US" altLang="ko-KR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/>
              <a:t>Chargaff </a:t>
            </a:r>
            <a:r>
              <a:rPr lang="ko-KR" altLang="en-US" sz="1600" dirty="0"/>
              <a:t>법칙</a:t>
            </a:r>
            <a:r>
              <a:rPr lang="en-US" altLang="ko-KR" sz="1600" dirty="0"/>
              <a:t>: A</a:t>
            </a:r>
            <a:r>
              <a:rPr lang="ko-KR" altLang="en-US" sz="1600" dirty="0"/>
              <a:t>의 양 ≈ </a:t>
            </a:r>
            <a:r>
              <a:rPr lang="en-US" altLang="ko-KR" sz="1600" dirty="0"/>
              <a:t>T, G</a:t>
            </a:r>
            <a:r>
              <a:rPr lang="ko-KR" altLang="en-US" sz="1600" dirty="0"/>
              <a:t>의 양 ≈ </a:t>
            </a:r>
            <a:r>
              <a:rPr lang="en-US" altLang="ko-KR" sz="1600" dirty="0"/>
              <a:t>C.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/>
              <a:t>Franklin</a:t>
            </a:r>
            <a:r>
              <a:rPr lang="ko-KR" altLang="en-US" sz="1600" dirty="0"/>
              <a:t>과 </a:t>
            </a:r>
            <a:r>
              <a:rPr lang="en-US" altLang="ko-KR" sz="1600" dirty="0"/>
              <a:t>Wilkins</a:t>
            </a:r>
            <a:r>
              <a:rPr lang="ko-KR" altLang="en-US" sz="1600" dirty="0"/>
              <a:t>의 </a:t>
            </a:r>
            <a:r>
              <a:rPr lang="en-US" altLang="ko-KR" sz="1600" dirty="0"/>
              <a:t>X</a:t>
            </a:r>
            <a:r>
              <a:rPr lang="ko-KR" altLang="en-US" sz="1600" dirty="0"/>
              <a:t>선 회절 자료는 </a:t>
            </a:r>
            <a:r>
              <a:rPr lang="en-US" altLang="ko-KR" sz="1600" dirty="0"/>
              <a:t>DNA</a:t>
            </a:r>
            <a:r>
              <a:rPr lang="ko-KR" altLang="en-US" sz="1600" dirty="0"/>
              <a:t>가 나선 구조임을 보여주었다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나선 한 바퀴 약 </a:t>
            </a:r>
            <a:r>
              <a:rPr lang="en-US" altLang="ko-KR" sz="1600" dirty="0"/>
              <a:t>3.4 nm, </a:t>
            </a:r>
            <a:r>
              <a:rPr lang="ko-KR" altLang="en-US" sz="1600" dirty="0"/>
              <a:t>염기 간격 약 </a:t>
            </a:r>
            <a:r>
              <a:rPr lang="en-US" altLang="ko-KR" sz="1600" dirty="0"/>
              <a:t>0.34 nm.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약 </a:t>
            </a:r>
            <a:r>
              <a:rPr lang="en-US" altLang="ko-KR" sz="1600" dirty="0"/>
              <a:t>10 bp/turn, </a:t>
            </a:r>
            <a:r>
              <a:rPr lang="ko-KR" altLang="en-US" sz="1600" dirty="0"/>
              <a:t>지름 약 </a:t>
            </a:r>
            <a:r>
              <a:rPr lang="en-US" altLang="ko-KR" sz="1600" dirty="0"/>
              <a:t>2 nm</a:t>
            </a:r>
            <a:r>
              <a:rPr lang="ko-KR" altLang="en-US" sz="1600" dirty="0"/>
              <a:t>라는 구조적 제약이 모델을 결정했다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lang="en-US" altLang="ko-KR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E307017-C809-FD19-DE81-9302691C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212" y="1212793"/>
            <a:ext cx="5066813" cy="42582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63562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유전의 물질적 기반</a:t>
            </a:r>
            <a:r>
              <a:rPr lang="en-US" altLang="ko-KR" b="1" dirty="0"/>
              <a:t>: </a:t>
            </a:r>
            <a:r>
              <a:rPr lang="ko-KR" altLang="en-US" b="1" dirty="0"/>
              <a:t>유전자</a:t>
            </a:r>
            <a:r>
              <a:rPr lang="en-US" altLang="ko-KR" b="1" dirty="0"/>
              <a:t>, </a:t>
            </a:r>
            <a:r>
              <a:rPr lang="ko-KR" altLang="en-US" b="1" dirty="0"/>
              <a:t>염색체</a:t>
            </a:r>
            <a:r>
              <a:rPr lang="en-US" altLang="ko-KR" b="1" dirty="0"/>
              <a:t>, DNA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2DCE6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4.1.4.</a:t>
            </a:r>
            <a:r>
              <a:rPr lang="ko-KR" altLang="en-US" b="1" dirty="0"/>
              <a:t> 반보존적 복제</a:t>
            </a:r>
            <a:endParaRPr lang="en-US" altLang="ko-KR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DNA 두 </a:t>
            </a:r>
            <a:r>
              <a:rPr dirty="0" err="1"/>
              <a:t>가닥이</a:t>
            </a:r>
            <a:r>
              <a:rPr dirty="0"/>
              <a:t> </a:t>
            </a:r>
            <a:r>
              <a:rPr dirty="0" err="1"/>
              <a:t>분리되고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새 </a:t>
            </a:r>
            <a:r>
              <a:rPr dirty="0" err="1"/>
              <a:t>가닥</a:t>
            </a:r>
            <a:r>
              <a:rPr dirty="0"/>
              <a:t> </a:t>
            </a:r>
            <a:r>
              <a:rPr dirty="0" err="1"/>
              <a:t>합성의</a:t>
            </a:r>
            <a:r>
              <a:rPr dirty="0"/>
              <a:t> </a:t>
            </a:r>
            <a:r>
              <a:rPr dirty="0" err="1"/>
              <a:t>주형이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각 딸 </a:t>
            </a:r>
            <a:r>
              <a:rPr dirty="0" err="1"/>
              <a:t>DNA는</a:t>
            </a:r>
            <a:r>
              <a:rPr dirty="0"/>
              <a:t> </a:t>
            </a:r>
            <a:r>
              <a:rPr dirty="0" err="1"/>
              <a:t>부모</a:t>
            </a:r>
            <a:r>
              <a:rPr dirty="0"/>
              <a:t> </a:t>
            </a:r>
            <a:r>
              <a:rPr dirty="0" err="1"/>
              <a:t>가닥</a:t>
            </a:r>
            <a:r>
              <a:rPr dirty="0"/>
              <a:t> </a:t>
            </a:r>
            <a:r>
              <a:rPr dirty="0" err="1"/>
              <a:t>하나</a:t>
            </a:r>
            <a:r>
              <a:rPr dirty="0"/>
              <a:t> + 새 </a:t>
            </a:r>
            <a:r>
              <a:rPr dirty="0" err="1"/>
              <a:t>가닥</a:t>
            </a:r>
            <a:r>
              <a:rPr dirty="0"/>
              <a:t> </a:t>
            </a:r>
            <a:r>
              <a:rPr dirty="0" err="1"/>
              <a:t>하나를</a:t>
            </a:r>
            <a:r>
              <a:rPr dirty="0"/>
              <a:t> </a:t>
            </a:r>
            <a:r>
              <a:rPr dirty="0" err="1"/>
              <a:t>가진다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1958년 Meselson-</a:t>
            </a:r>
            <a:r>
              <a:rPr dirty="0" err="1"/>
              <a:t>Stahl이</a:t>
            </a:r>
            <a:r>
              <a:rPr dirty="0"/>
              <a:t> 15N/14N </a:t>
            </a:r>
            <a:r>
              <a:rPr dirty="0" err="1"/>
              <a:t>밀도차로</a:t>
            </a:r>
            <a:r>
              <a:rPr dirty="0"/>
              <a:t> </a:t>
            </a:r>
            <a:r>
              <a:rPr dirty="0" err="1"/>
              <a:t>입증했다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한 </a:t>
            </a:r>
            <a:r>
              <a:rPr dirty="0" err="1"/>
              <a:t>세대</a:t>
            </a:r>
            <a:r>
              <a:rPr dirty="0"/>
              <a:t> 후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밀도</a:t>
            </a:r>
            <a:r>
              <a:rPr dirty="0"/>
              <a:t> </a:t>
            </a:r>
            <a:r>
              <a:rPr dirty="0" err="1"/>
              <a:t>DNA가</a:t>
            </a:r>
            <a:r>
              <a:rPr dirty="0"/>
              <a:t> </a:t>
            </a:r>
            <a:r>
              <a:rPr dirty="0" err="1"/>
              <a:t>나타난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관찰이다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F3123A6-7AC7-E6CD-0AE9-DA727029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502" y="3151842"/>
            <a:ext cx="6044641" cy="34419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8A0D7B8-CAB0-C81B-913B-A2437F253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82" y="3151842"/>
            <a:ext cx="4258538" cy="35192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E562A-3052-82B2-D030-B56240571787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78F2D-1439-6331-03AC-B5874428D938}"/>
              </a:ext>
            </a:extLst>
          </p:cNvPr>
          <p:cNvSpPr txBox="1"/>
          <p:nvPr/>
        </p:nvSpPr>
        <p:spPr>
          <a:xfrm>
            <a:off x="685800" y="1153062"/>
            <a:ext cx="6146800" cy="247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>
                <a:latin typeface="+mn-ea"/>
              </a:rPr>
              <a:t>4.2.1. </a:t>
            </a:r>
            <a:r>
              <a:rPr lang="ko-KR" altLang="en-US" sz="1600" dirty="0">
                <a:latin typeface="+mn-ea"/>
              </a:rPr>
              <a:t>단백질 번역에서 </a:t>
            </a:r>
            <a:r>
              <a:rPr lang="en-US" altLang="ko-KR" sz="1600" dirty="0">
                <a:latin typeface="+mn-ea"/>
              </a:rPr>
              <a:t>mRNA, tRNA, rRNA</a:t>
            </a:r>
            <a:r>
              <a:rPr lang="ko-KR" altLang="en-US" sz="1600" dirty="0">
                <a:latin typeface="+mn-ea"/>
              </a:rPr>
              <a:t>의 역할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+mn-ea"/>
              </a:rPr>
              <a:t>4.2.2. triplet code</a:t>
            </a:r>
            <a:r>
              <a:rPr lang="ko-KR" altLang="en-US" sz="1600" dirty="0">
                <a:latin typeface="+mn-ea"/>
              </a:rPr>
              <a:t>를 증명한 실험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+mn-ea"/>
              </a:rPr>
              <a:t>4.2.3. </a:t>
            </a:r>
            <a:r>
              <a:rPr lang="ko-KR" altLang="en-US" sz="1600" dirty="0">
                <a:latin typeface="+mn-ea"/>
              </a:rPr>
              <a:t>아미노산 서열의 돌연변이에 의한 아미노산 번역 영향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+mn-ea"/>
              </a:rPr>
              <a:t>4.2.4. </a:t>
            </a:r>
            <a:r>
              <a:rPr lang="ko-KR" altLang="en-US" sz="1600" dirty="0">
                <a:latin typeface="+mn-ea"/>
              </a:rPr>
              <a:t>역전사와 실험적 증거들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ko-KR" altLang="en-US" sz="1600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D6EFB-ADF4-5065-2A50-C15E983C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9C1BA6-22F5-2C91-5A50-DE6A675F9699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BD94C-6C6A-2030-DD12-9EB4B2E45BB4}"/>
              </a:ext>
            </a:extLst>
          </p:cNvPr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C41F6-1840-024B-984D-7FC48261BB94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283C6-F3FB-0A8D-7DF2-8FA6820A9737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ECDF4-BC89-5788-C1D1-624A5F81C14A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3D43A-F9CA-D26A-FE39-5ED3C861CC3A}"/>
              </a:ext>
            </a:extLst>
          </p:cNvPr>
          <p:cNvSpPr txBox="1"/>
          <p:nvPr/>
        </p:nvSpPr>
        <p:spPr>
          <a:xfrm>
            <a:off x="685799" y="1153062"/>
            <a:ext cx="9948333" cy="513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+mn-ea"/>
              </a:rPr>
              <a:t>4.2.1. </a:t>
            </a:r>
            <a:r>
              <a:rPr lang="ko-KR" altLang="en-US" sz="1600" b="1" dirty="0">
                <a:latin typeface="+mn-ea"/>
              </a:rPr>
              <a:t>단백질 번역에서 </a:t>
            </a:r>
            <a:r>
              <a:rPr lang="en-US" altLang="ko-KR" sz="1600" b="1" dirty="0">
                <a:latin typeface="+mn-ea"/>
              </a:rPr>
              <a:t>mRNA, tRNA, rRNA</a:t>
            </a:r>
            <a:r>
              <a:rPr lang="ko-KR" altLang="en-US" sz="1600" b="1" dirty="0">
                <a:latin typeface="+mn-ea"/>
              </a:rPr>
              <a:t>의 역할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대부분의 유전자는 </a:t>
            </a:r>
            <a:r>
              <a:rPr lang="en-US" altLang="ko-KR" sz="1600" dirty="0"/>
              <a:t> </a:t>
            </a:r>
            <a:r>
              <a:rPr lang="ko-KR" altLang="en-US" sz="1600" dirty="0"/>
              <a:t>대부분의 유전자는 </a:t>
            </a:r>
            <a:r>
              <a:rPr lang="en-US" altLang="ko-KR" sz="1600" dirty="0"/>
              <a:t>RNA </a:t>
            </a:r>
            <a:r>
              <a:rPr lang="ko-KR" altLang="en-US" sz="1600" dirty="0"/>
              <a:t>중간체를 거쳐 단백질 합성을 지시한다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단백질 기능은 </a:t>
            </a:r>
            <a:r>
              <a:rPr lang="en-US" altLang="ko-KR" sz="1600" dirty="0"/>
              <a:t>DNA </a:t>
            </a:r>
            <a:r>
              <a:rPr lang="ko-KR" altLang="en-US" sz="1600" dirty="0"/>
              <a:t>서열에 의해 결정되는 아미노산 서열에 의해 결정된다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이러한 유전학의 중심원리</a:t>
            </a:r>
            <a:r>
              <a:rPr lang="en-US" altLang="ko-KR" sz="1600" dirty="0">
                <a:latin typeface="+mn-ea"/>
              </a:rPr>
              <a:t>(central dogma)</a:t>
            </a:r>
            <a:r>
              <a:rPr lang="ko-KR" altLang="en-US" sz="1600" dirty="0">
                <a:latin typeface="+mn-ea"/>
              </a:rPr>
              <a:t>는 여러 실험을 통해 발견되었다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sz="1600" dirty="0">
              <a:latin typeface="+mn-ea"/>
            </a:endParaRP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AutoNum type="arabicParenR"/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One gene, one polypeptide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유전자가 하나의 아미노산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처음에는 효소에서 입증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의 구조를 지정한다는 최초의 증거는 </a:t>
            </a:r>
            <a:r>
              <a:rPr lang="en-US" altLang="ko-KR" sz="1600" dirty="0">
                <a:latin typeface="+mn-ea"/>
              </a:rPr>
              <a:t>1909</a:t>
            </a:r>
            <a:r>
              <a:rPr lang="ko-KR" altLang="en-US" sz="1600" dirty="0">
                <a:latin typeface="+mn-ea"/>
              </a:rPr>
              <a:t>년 선천성 대사 질환인 </a:t>
            </a:r>
            <a:r>
              <a:rPr lang="ko-KR" altLang="en-US" sz="1600" dirty="0" err="1">
                <a:latin typeface="+mn-ea"/>
              </a:rPr>
              <a:t>페닐케톤뇨증</a:t>
            </a:r>
            <a:r>
              <a:rPr lang="ko-KR" altLang="en-US" sz="1600" dirty="0">
                <a:latin typeface="+mn-ea"/>
              </a:rPr>
              <a:t> 연구에서 제안되었으며 이후 </a:t>
            </a:r>
            <a:r>
              <a:rPr lang="en-US" altLang="ko-KR" sz="1600" dirty="0">
                <a:latin typeface="+mn-ea"/>
              </a:rPr>
              <a:t>1941</a:t>
            </a:r>
            <a:r>
              <a:rPr lang="ko-KR" altLang="en-US" sz="1600" dirty="0">
                <a:latin typeface="+mn-ea"/>
              </a:rPr>
              <a:t>년 </a:t>
            </a:r>
            <a:r>
              <a:rPr lang="ko-KR" altLang="en-US" sz="1600" dirty="0" err="1">
                <a:latin typeface="+mn-ea"/>
              </a:rPr>
              <a:t>원핵생물의</a:t>
            </a:r>
            <a:r>
              <a:rPr lang="ko-KR" altLang="en-US" sz="1600" dirty="0">
                <a:latin typeface="+mn-ea"/>
              </a:rPr>
              <a:t> 영양 돌연변이 연구에서 재발견되었다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왓슨과 </a:t>
            </a:r>
            <a:r>
              <a:rPr lang="ko-KR" altLang="en-US" sz="1600" dirty="0" err="1">
                <a:latin typeface="+mn-ea"/>
              </a:rPr>
              <a:t>크릭에</a:t>
            </a:r>
            <a:r>
              <a:rPr lang="ko-KR" altLang="en-US" sz="1600" dirty="0">
                <a:latin typeface="+mn-ea"/>
              </a:rPr>
              <a:t> 의해 </a:t>
            </a:r>
            <a:r>
              <a:rPr lang="en-US" altLang="ko-KR" sz="1600" dirty="0">
                <a:latin typeface="+mn-ea"/>
              </a:rPr>
              <a:t>DNA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가지 염기의 순서에 의해 유전 정보가 전달됨이 규명된 이후</a:t>
            </a:r>
            <a:r>
              <a:rPr lang="en-US" altLang="ko-KR" sz="1600" dirty="0">
                <a:latin typeface="+mn-ea"/>
              </a:rPr>
              <a:t>,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b="1" dirty="0">
                <a:latin typeface="+mn-ea"/>
              </a:rPr>
              <a:t>과연 어떻게 </a:t>
            </a:r>
            <a:r>
              <a:rPr lang="en-US" altLang="ko-KR" sz="1600" b="1" dirty="0">
                <a:latin typeface="+mn-ea"/>
              </a:rPr>
              <a:t>DNA </a:t>
            </a:r>
            <a:r>
              <a:rPr lang="ko-KR" altLang="en-US" sz="1600" b="1" dirty="0">
                <a:latin typeface="+mn-ea"/>
              </a:rPr>
              <a:t>정보가 </a:t>
            </a:r>
            <a:r>
              <a:rPr lang="en-US" altLang="ko-KR" sz="1600" b="1" dirty="0">
                <a:latin typeface="+mn-ea"/>
              </a:rPr>
              <a:t>RNA</a:t>
            </a:r>
            <a:r>
              <a:rPr lang="ko-KR" altLang="en-US" sz="1600" b="1" dirty="0">
                <a:latin typeface="+mn-ea"/>
              </a:rPr>
              <a:t>를 통해 </a:t>
            </a:r>
            <a:r>
              <a:rPr lang="en-US" altLang="ko-KR" sz="1600" b="1" dirty="0">
                <a:latin typeface="+mn-ea"/>
              </a:rPr>
              <a:t>20</a:t>
            </a:r>
            <a:r>
              <a:rPr lang="ko-KR" altLang="en-US" sz="1600" b="1" dirty="0">
                <a:latin typeface="+mn-ea"/>
              </a:rPr>
              <a:t>가지 종류의 생체 아미노산을 제작하는 데 쓰이며</a:t>
            </a:r>
            <a:r>
              <a:rPr lang="en-US" altLang="ko-KR" sz="1600" b="1" dirty="0">
                <a:latin typeface="+mn-ea"/>
              </a:rPr>
              <a:t>,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DNA </a:t>
            </a:r>
            <a:r>
              <a:rPr lang="ko-KR" altLang="en-US" sz="1600" b="1" dirty="0">
                <a:latin typeface="+mn-ea"/>
              </a:rPr>
              <a:t>서열이 아미노산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더 나아가 단백질</a:t>
            </a:r>
            <a:r>
              <a:rPr lang="en-US" altLang="ko-KR" sz="1600" b="1" dirty="0">
                <a:latin typeface="+mn-ea"/>
              </a:rPr>
              <a:t>(polypeptide)</a:t>
            </a:r>
            <a:r>
              <a:rPr lang="ko-KR" altLang="en-US" sz="1600" b="1" dirty="0">
                <a:latin typeface="+mn-ea"/>
              </a:rPr>
              <a:t>의 구조와 기능을 결정하는지를 밝히고자 하였다</a:t>
            </a:r>
            <a:r>
              <a:rPr lang="en-US" altLang="ko-KR" sz="1600" b="1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888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FDDC-6201-1601-AE44-0CA80D23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5FA6D-804F-1F1B-2C14-0D4ED12543B4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FDCB3-D058-73D2-76FF-9EC6CECE33E4}"/>
              </a:ext>
            </a:extLst>
          </p:cNvPr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A37AD-931B-5BD5-1FF9-180812251ECB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E5C89-1346-1884-8329-797D4DFD97AA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07590-2376-307B-B520-277C0743C561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63D45-02ED-251F-937E-F8CD028A220C}"/>
              </a:ext>
            </a:extLst>
          </p:cNvPr>
          <p:cNvSpPr txBox="1"/>
          <p:nvPr/>
        </p:nvSpPr>
        <p:spPr>
          <a:xfrm>
            <a:off x="685799" y="1153062"/>
            <a:ext cx="9948333" cy="478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+mn-ea"/>
              </a:rPr>
              <a:t>4.2.1. </a:t>
            </a:r>
            <a:r>
              <a:rPr lang="ko-KR" altLang="en-US" sz="1600" b="1" dirty="0">
                <a:latin typeface="+mn-ea"/>
              </a:rPr>
              <a:t>단백질 번역에서 </a:t>
            </a:r>
            <a:r>
              <a:rPr lang="en-US" altLang="ko-KR" sz="1600" b="1" dirty="0">
                <a:latin typeface="+mn-ea"/>
              </a:rPr>
              <a:t>mRNA, tRNA, rRNA</a:t>
            </a:r>
            <a:r>
              <a:rPr lang="ko-KR" altLang="en-US" sz="1600" b="1" dirty="0">
                <a:latin typeface="+mn-ea"/>
              </a:rPr>
              <a:t>의 역할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sz="1600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2) mRNA</a:t>
            </a:r>
            <a:r>
              <a:rPr lang="ko-KR" altLang="en-US" sz="1600" b="1" dirty="0">
                <a:latin typeface="+mn-ea"/>
              </a:rPr>
              <a:t>의 역할 검증 실험 </a:t>
            </a:r>
            <a:r>
              <a:rPr lang="en-US" altLang="ko-KR" sz="1600" b="1" dirty="0">
                <a:latin typeface="+mn-ea"/>
              </a:rPr>
              <a:t>(Brenner, Jacob, and Meselson)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과학자들의 첫 의문은 </a:t>
            </a:r>
            <a:r>
              <a:rPr lang="ko-KR" altLang="en-US" sz="1600" dirty="0" err="1">
                <a:latin typeface="+mn-ea"/>
              </a:rPr>
              <a:t>진핵세포에서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DNA</a:t>
            </a:r>
            <a:r>
              <a:rPr lang="ko-KR" altLang="en-US" sz="1600" dirty="0">
                <a:latin typeface="+mn-ea"/>
              </a:rPr>
              <a:t>는 핵 내에 위치하는 반면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단백질 합성은 세포질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특히 리보솜</a:t>
            </a:r>
            <a:r>
              <a:rPr lang="en-US" altLang="ko-KR" sz="1600" dirty="0">
                <a:latin typeface="+mn-ea"/>
              </a:rPr>
              <a:t>(ribosome) </a:t>
            </a:r>
            <a:r>
              <a:rPr lang="ko-KR" altLang="en-US" sz="1600" dirty="0">
                <a:latin typeface="+mn-ea"/>
              </a:rPr>
              <a:t>에서 일어난다는 것이었다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따라서 이 둘 사이에 유전 정보를 전달할 </a:t>
            </a:r>
            <a:r>
              <a:rPr lang="en-US" altLang="ko-KR" sz="1600" dirty="0">
                <a:latin typeface="+mn-ea"/>
              </a:rPr>
              <a:t>“</a:t>
            </a:r>
            <a:r>
              <a:rPr lang="ko-KR" altLang="en-US" sz="1600" dirty="0">
                <a:latin typeface="+mn-ea"/>
              </a:rPr>
              <a:t>전령</a:t>
            </a:r>
            <a:r>
              <a:rPr lang="en-US" altLang="ko-KR" sz="1600" dirty="0">
                <a:latin typeface="+mn-ea"/>
              </a:rPr>
              <a:t>(messenger)”</a:t>
            </a:r>
            <a:r>
              <a:rPr lang="ko-KR" altLang="en-US" sz="1600" dirty="0">
                <a:latin typeface="+mn-ea"/>
              </a:rPr>
              <a:t>이 필요하다고 여겨졌으며 이러한 중간 매개체로서 </a:t>
            </a:r>
            <a:r>
              <a:rPr lang="en-US" altLang="ko-KR" sz="1600" dirty="0">
                <a:latin typeface="+mn-ea"/>
              </a:rPr>
              <a:t>RNA</a:t>
            </a:r>
            <a:r>
              <a:rPr lang="ko-KR" altLang="en-US" sz="1600" dirty="0">
                <a:latin typeface="+mn-ea"/>
              </a:rPr>
              <a:t>가 가장 중요한 후보로 알려졌다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실험적 증거는 박테리아 바이러스인 </a:t>
            </a:r>
            <a:r>
              <a:rPr lang="en-US" altLang="ko-KR" sz="1600" dirty="0">
                <a:latin typeface="+mn-ea"/>
              </a:rPr>
              <a:t>T4</a:t>
            </a:r>
            <a:r>
              <a:rPr lang="ko-KR" altLang="en-US" sz="1600" dirty="0">
                <a:latin typeface="+mn-ea"/>
              </a:rPr>
              <a:t>에 감염된 대장균</a:t>
            </a:r>
            <a:r>
              <a:rPr lang="en-US" altLang="ko-KR" sz="1600" dirty="0">
                <a:latin typeface="+mn-ea"/>
              </a:rPr>
              <a:t>(E. coli)</a:t>
            </a:r>
            <a:r>
              <a:rPr lang="ko-KR" altLang="en-US" sz="1600" dirty="0">
                <a:latin typeface="+mn-ea"/>
              </a:rPr>
              <a:t>을 연구하는 과정에서 얻어졌다</a:t>
            </a:r>
            <a:r>
              <a:rPr lang="en-US" altLang="ko-KR" sz="1600" dirty="0">
                <a:latin typeface="+mn-ea"/>
              </a:rPr>
              <a:t>. T4</a:t>
            </a:r>
            <a:r>
              <a:rPr lang="ko-KR" altLang="en-US" sz="1600" dirty="0">
                <a:latin typeface="+mn-ea"/>
              </a:rPr>
              <a:t>에 감염되면 대장균의 </a:t>
            </a:r>
            <a:r>
              <a:rPr lang="en-US" altLang="ko-KR" sz="1600" dirty="0">
                <a:latin typeface="+mn-ea"/>
              </a:rPr>
              <a:t>RNA </a:t>
            </a:r>
            <a:r>
              <a:rPr lang="ko-KR" altLang="en-US" sz="1600" dirty="0">
                <a:latin typeface="+mn-ea"/>
              </a:rPr>
              <a:t>합성이 중단되며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감염된 박테리아 내에서 새로 합성되는 유일한 </a:t>
            </a:r>
            <a:r>
              <a:rPr lang="en-US" altLang="ko-KR" sz="1600" dirty="0">
                <a:latin typeface="+mn-ea"/>
              </a:rPr>
              <a:t>RNA</a:t>
            </a:r>
            <a:r>
              <a:rPr lang="ko-KR" altLang="en-US" sz="1600" dirty="0">
                <a:latin typeface="+mn-ea"/>
              </a:rPr>
              <a:t>는 </a:t>
            </a:r>
            <a:r>
              <a:rPr lang="en-US" altLang="ko-KR" sz="1600" dirty="0">
                <a:latin typeface="+mn-ea"/>
              </a:rPr>
              <a:t>T4 DNA</a:t>
            </a:r>
            <a:r>
              <a:rPr lang="ko-KR" altLang="en-US" sz="1600" dirty="0">
                <a:latin typeface="+mn-ea"/>
              </a:rPr>
              <a:t>로부터 전사된 것이다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이때 </a:t>
            </a:r>
            <a:r>
              <a:rPr lang="en-US" altLang="ko-KR" sz="1600" dirty="0">
                <a:latin typeface="+mn-ea"/>
              </a:rPr>
              <a:t>E.coli</a:t>
            </a:r>
            <a:r>
              <a:rPr lang="ko-KR" altLang="en-US" sz="1600" dirty="0">
                <a:latin typeface="+mn-ea"/>
              </a:rPr>
              <a:t>는 </a:t>
            </a:r>
            <a:r>
              <a:rPr lang="en-US" altLang="ko-KR" sz="1600" dirty="0">
                <a:latin typeface="+mn-ea"/>
              </a:rPr>
              <a:t>T4 </a:t>
            </a:r>
            <a:r>
              <a:rPr lang="ko-KR" altLang="en-US" sz="1600" dirty="0">
                <a:latin typeface="+mn-ea"/>
              </a:rPr>
              <a:t>바이러스 단백질을 생산하였기 때문에 유전 정보는 리보솜 자체가 아닌</a:t>
            </a:r>
            <a:r>
              <a:rPr lang="en-US" altLang="ko-KR" sz="1600" dirty="0">
                <a:latin typeface="+mn-ea"/>
              </a:rPr>
              <a:t>, RNA</a:t>
            </a:r>
            <a:r>
              <a:rPr lang="ko-KR" altLang="en-US" sz="1600" dirty="0">
                <a:latin typeface="+mn-ea"/>
              </a:rPr>
              <a:t>에서 전달된다는 것이 입증되었다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유전 정보의 흐름에서 </a:t>
            </a:r>
            <a:r>
              <a:rPr lang="ko-KR" altLang="en-US" sz="1600" dirty="0" err="1">
                <a:latin typeface="+mn-ea"/>
              </a:rPr>
              <a:t>중간체</a:t>
            </a:r>
            <a:r>
              <a:rPr lang="ko-KR" altLang="en-US" sz="1600" dirty="0">
                <a:latin typeface="+mn-ea"/>
              </a:rPr>
              <a:t> 역할을 하기 때문에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단백질 합성을 위한 주형</a:t>
            </a:r>
            <a:r>
              <a:rPr lang="en-US" altLang="ko-KR" sz="1600" dirty="0">
                <a:latin typeface="+mn-ea"/>
              </a:rPr>
              <a:t>(template)</a:t>
            </a:r>
            <a:r>
              <a:rPr lang="ko-KR" altLang="en-US" sz="1600" dirty="0">
                <a:latin typeface="+mn-ea"/>
              </a:rPr>
              <a:t>으로 작용하는 </a:t>
            </a:r>
            <a:r>
              <a:rPr lang="en-US" altLang="ko-KR" sz="1600" dirty="0">
                <a:latin typeface="+mn-ea"/>
              </a:rPr>
              <a:t>RNA </a:t>
            </a:r>
            <a:r>
              <a:rPr lang="ko-KR" altLang="en-US" sz="1600" dirty="0">
                <a:latin typeface="+mn-ea"/>
              </a:rPr>
              <a:t>분자를 전령 </a:t>
            </a:r>
            <a:r>
              <a:rPr lang="en-US" altLang="ko-KR" sz="1600" dirty="0">
                <a:latin typeface="+mn-ea"/>
              </a:rPr>
              <a:t>RNA(mRNA)</a:t>
            </a:r>
            <a:r>
              <a:rPr lang="ko-KR" altLang="en-US" sz="1600" dirty="0">
                <a:latin typeface="+mn-ea"/>
              </a:rPr>
              <a:t>라고 부른다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이들은 </a:t>
            </a:r>
            <a:r>
              <a:rPr lang="en-US" altLang="ko-KR" sz="1600" dirty="0">
                <a:latin typeface="+mn-ea"/>
              </a:rPr>
              <a:t>DNA </a:t>
            </a:r>
            <a:r>
              <a:rPr lang="ko-KR" altLang="en-US" sz="1600" dirty="0">
                <a:latin typeface="+mn-ea"/>
              </a:rPr>
              <a:t>주형으로부터 </a:t>
            </a:r>
            <a:r>
              <a:rPr lang="en-US" altLang="ko-KR" sz="1600" dirty="0">
                <a:latin typeface="+mn-ea"/>
              </a:rPr>
              <a:t>RNA </a:t>
            </a:r>
            <a:r>
              <a:rPr lang="ko-KR" altLang="en-US" sz="1600" dirty="0">
                <a:latin typeface="+mn-ea"/>
              </a:rPr>
              <a:t>합성을 </a:t>
            </a:r>
            <a:r>
              <a:rPr lang="ko-KR" altLang="en-US" sz="1600" dirty="0" err="1">
                <a:latin typeface="+mn-ea"/>
              </a:rPr>
              <a:t>촉매하는</a:t>
            </a:r>
            <a:r>
              <a:rPr lang="ko-KR" altLang="en-US" sz="1600" dirty="0">
                <a:latin typeface="+mn-ea"/>
              </a:rPr>
              <a:t> 효소인 </a:t>
            </a:r>
            <a:r>
              <a:rPr lang="en-US" altLang="ko-KR" sz="1600" dirty="0">
                <a:latin typeface="+mn-ea"/>
              </a:rPr>
              <a:t>RNA </a:t>
            </a:r>
            <a:r>
              <a:rPr lang="ko-KR" altLang="en-US" sz="1600" dirty="0">
                <a:latin typeface="+mn-ea"/>
              </a:rPr>
              <a:t>중합효소</a:t>
            </a:r>
            <a:r>
              <a:rPr lang="en-US" altLang="ko-KR" sz="1600" dirty="0">
                <a:latin typeface="+mn-ea"/>
              </a:rPr>
              <a:t>(RNA polymerase)</a:t>
            </a:r>
            <a:r>
              <a:rPr lang="ko-KR" altLang="en-US" sz="1600" dirty="0">
                <a:latin typeface="+mn-ea"/>
              </a:rPr>
              <a:t>에 의해 전사된다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218AAF7-A77A-1995-AF91-58945F71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43" y="1054586"/>
            <a:ext cx="4513222" cy="11652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BCA59F6-ACAB-A58F-58F3-37E8389A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572" y="1789847"/>
            <a:ext cx="1755115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47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B664-713B-035B-62FA-02F02983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A9BA75-7E29-9C77-FAF2-299839B10289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11DDE-D88F-13A2-7524-1AE8C957AA17}"/>
              </a:ext>
            </a:extLst>
          </p:cNvPr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53C4C-CF0D-03F4-C172-7E614DE16C64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6DB1E-F49A-6D93-51B0-466EEDC79E90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1EAE2-59F3-1917-0661-558A5D169DCA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46CB0-E866-1EC1-F449-2DF2E5F40FB3}"/>
              </a:ext>
            </a:extLst>
          </p:cNvPr>
          <p:cNvSpPr txBox="1"/>
          <p:nvPr/>
        </p:nvSpPr>
        <p:spPr>
          <a:xfrm>
            <a:off x="685799" y="1153062"/>
            <a:ext cx="9948333" cy="5401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+mn-ea"/>
              </a:rPr>
              <a:t>4.2.1. </a:t>
            </a:r>
            <a:r>
              <a:rPr lang="ko-KR" altLang="en-US" sz="1600" b="1" dirty="0">
                <a:latin typeface="+mn-ea"/>
              </a:rPr>
              <a:t>단백질 번역에서 </a:t>
            </a:r>
            <a:r>
              <a:rPr lang="en-US" altLang="ko-KR" sz="1600" b="1" dirty="0">
                <a:latin typeface="+mn-ea"/>
              </a:rPr>
              <a:t>mRNA, tRNA, rRNA</a:t>
            </a:r>
            <a:r>
              <a:rPr lang="ko-KR" altLang="en-US" sz="1600" b="1" dirty="0">
                <a:latin typeface="+mn-ea"/>
              </a:rPr>
              <a:t>의 역할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1600" b="1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분자생물학의 중심 원리 제시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ko-KR" sz="1600" dirty="0">
                <a:solidFill>
                  <a:srgbClr val="23282D"/>
                </a:solidFill>
              </a:rPr>
              <a:t>이러한 </a:t>
            </a:r>
            <a:r>
              <a:rPr lang="ko-KR" altLang="ko-KR" sz="1600" dirty="0" err="1">
                <a:solidFill>
                  <a:srgbClr val="23282D"/>
                </a:solidFill>
              </a:rPr>
              <a:t>RNA의</a:t>
            </a:r>
            <a:r>
              <a:rPr lang="ko-KR" altLang="ko-KR" sz="1600" dirty="0">
                <a:solidFill>
                  <a:srgbClr val="23282D"/>
                </a:solidFill>
              </a:rPr>
              <a:t> 특성은 분자생물학의 중심 원리(</a:t>
            </a:r>
            <a:r>
              <a:rPr lang="ko-KR" altLang="ko-KR" sz="1600" dirty="0" err="1">
                <a:solidFill>
                  <a:srgbClr val="23282D"/>
                </a:solidFill>
              </a:rPr>
              <a:t>central</a:t>
            </a:r>
            <a:r>
              <a:rPr lang="ko-KR" altLang="ko-KR" sz="1600" dirty="0">
                <a:solidFill>
                  <a:srgbClr val="23282D"/>
                </a:solidFill>
              </a:rPr>
              <a:t> </a:t>
            </a:r>
            <a:r>
              <a:rPr lang="ko-KR" altLang="ko-KR" sz="1600" dirty="0" err="1">
                <a:solidFill>
                  <a:srgbClr val="23282D"/>
                </a:solidFill>
              </a:rPr>
              <a:t>dogma</a:t>
            </a:r>
            <a:r>
              <a:rPr lang="ko-KR" altLang="ko-KR" sz="1600" dirty="0">
                <a:solidFill>
                  <a:srgbClr val="23282D"/>
                </a:solidFill>
              </a:rPr>
              <a:t>)로 알려진 유전 정보 흐름의 경로를 제시했다: </a:t>
            </a:r>
            <a:endParaRPr lang="en-US" altLang="ko-KR" sz="1600" dirty="0">
              <a:solidFill>
                <a:srgbClr val="23282D"/>
              </a:solidFill>
            </a:endParaRPr>
          </a:p>
          <a:p>
            <a:pPr>
              <a:lnSpc>
                <a:spcPct val="10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ko-KR" sz="1600" b="1" dirty="0">
                <a:solidFill>
                  <a:srgbClr val="23282D"/>
                </a:solidFill>
              </a:rPr>
              <a:t>DNA → RNA → 단백질. </a:t>
            </a:r>
            <a:endParaRPr lang="en-US" altLang="ko-KR" sz="1600" b="1" dirty="0">
              <a:solidFill>
                <a:srgbClr val="23282D"/>
              </a:solidFill>
            </a:endParaRPr>
          </a:p>
          <a:p>
            <a:pPr>
              <a:lnSpc>
                <a:spcPct val="10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ko-KR" sz="1600" dirty="0">
                <a:solidFill>
                  <a:srgbClr val="23282D"/>
                </a:solidFill>
              </a:rPr>
              <a:t>이 개념에 따르면, RNA 분자는 DNA 주형으로부터 합성되고(전사(</a:t>
            </a:r>
            <a:r>
              <a:rPr lang="ko-KR" altLang="ko-KR" sz="1600" dirty="0" err="1">
                <a:solidFill>
                  <a:srgbClr val="23282D"/>
                </a:solidFill>
              </a:rPr>
              <a:t>transcription</a:t>
            </a:r>
            <a:r>
              <a:rPr lang="ko-KR" altLang="ko-KR" sz="1600" dirty="0">
                <a:solidFill>
                  <a:srgbClr val="23282D"/>
                </a:solidFill>
              </a:rPr>
              <a:t>) 과정), </a:t>
            </a:r>
            <a:endParaRPr lang="en-US" altLang="ko-KR" sz="1600" dirty="0">
              <a:solidFill>
                <a:srgbClr val="23282D"/>
              </a:solidFill>
            </a:endParaRPr>
          </a:p>
          <a:p>
            <a:pPr>
              <a:lnSpc>
                <a:spcPct val="10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ko-KR" sz="1600" dirty="0">
                <a:solidFill>
                  <a:srgbClr val="23282D"/>
                </a:solidFill>
              </a:rPr>
              <a:t>단백질은 RNA 주형으로부터 합성</a:t>
            </a:r>
            <a:r>
              <a:rPr lang="ko-KR" altLang="en-US" sz="1600" dirty="0">
                <a:solidFill>
                  <a:srgbClr val="23282D"/>
                </a:solidFill>
              </a:rPr>
              <a:t>된</a:t>
            </a:r>
            <a:r>
              <a:rPr lang="ko-KR" altLang="ko-KR" sz="1600" dirty="0">
                <a:solidFill>
                  <a:srgbClr val="23282D"/>
                </a:solidFill>
              </a:rPr>
              <a:t>다(번역(</a:t>
            </a:r>
            <a:r>
              <a:rPr lang="ko-KR" altLang="ko-KR" sz="1600" dirty="0" err="1">
                <a:solidFill>
                  <a:srgbClr val="23282D"/>
                </a:solidFill>
              </a:rPr>
              <a:t>translation</a:t>
            </a:r>
            <a:r>
              <a:rPr lang="ko-KR" altLang="ko-KR" sz="1600" dirty="0">
                <a:solidFill>
                  <a:srgbClr val="23282D"/>
                </a:solidFill>
              </a:rPr>
              <a:t>)</a:t>
            </a:r>
            <a:r>
              <a:rPr lang="en-US" altLang="ko-KR" sz="1600" dirty="0">
                <a:solidFill>
                  <a:srgbClr val="23282D"/>
                </a:solidFill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solidFill>
                  <a:srgbClr val="23282D"/>
                </a:solidFill>
              </a:rPr>
              <a:t>4) RNA</a:t>
            </a:r>
            <a:r>
              <a:rPr lang="ko-KR" altLang="en-US" sz="1600" b="1" dirty="0">
                <a:solidFill>
                  <a:srgbClr val="23282D"/>
                </a:solidFill>
              </a:rPr>
              <a:t>의 종류</a:t>
            </a:r>
            <a:endParaRPr lang="en-US" altLang="ko-KR" sz="1600" b="1" dirty="0">
              <a:solidFill>
                <a:srgbClr val="23282D"/>
              </a:solidFill>
            </a:endParaRP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>
                <a:solidFill>
                  <a:srgbClr val="23282D"/>
                </a:solidFill>
              </a:rPr>
              <a:t>mRNA </a:t>
            </a:r>
            <a:r>
              <a:rPr lang="ko-KR" altLang="en-US" sz="1600" dirty="0">
                <a:solidFill>
                  <a:srgbClr val="23282D"/>
                </a:solidFill>
              </a:rPr>
              <a:t>이외에도 </a:t>
            </a:r>
            <a:r>
              <a:rPr lang="en-US" altLang="ko-KR" sz="1600" dirty="0">
                <a:solidFill>
                  <a:srgbClr val="23282D"/>
                </a:solidFill>
              </a:rPr>
              <a:t>RNA</a:t>
            </a:r>
            <a:r>
              <a:rPr lang="ko-KR" altLang="en-US" sz="1600" dirty="0">
                <a:solidFill>
                  <a:srgbClr val="23282D"/>
                </a:solidFill>
              </a:rPr>
              <a:t>의 두 가지 추가 분류가 존재한다</a:t>
            </a:r>
            <a:r>
              <a:rPr lang="en-US" altLang="ko-KR" sz="1600" dirty="0">
                <a:solidFill>
                  <a:srgbClr val="23282D"/>
                </a:solidFill>
              </a:rPr>
              <a:t>. </a:t>
            </a:r>
            <a:r>
              <a:rPr lang="ko-KR" altLang="en-US" sz="1600" dirty="0"/>
              <a:t>세 종류의 </a:t>
            </a:r>
            <a:r>
              <a:rPr lang="en-US" altLang="ko-KR" sz="1600" dirty="0"/>
              <a:t>RNA</a:t>
            </a:r>
            <a:r>
              <a:rPr lang="ko-KR" altLang="en-US" sz="1600" dirty="0"/>
              <a:t>가 협력해 번역을 수행한다</a:t>
            </a:r>
            <a:r>
              <a:rPr lang="en-US" altLang="ko-KR" sz="1600" dirty="0"/>
              <a:t>.</a:t>
            </a:r>
            <a:endParaRPr lang="en-US" altLang="ko-KR" sz="1600" dirty="0">
              <a:solidFill>
                <a:srgbClr val="23282D"/>
              </a:solidFill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solidFill>
                  <a:srgbClr val="FF0000"/>
                </a:solidFill>
              </a:rPr>
              <a:t>mRNA: </a:t>
            </a:r>
            <a:r>
              <a:rPr lang="ko-KR" altLang="en-US" sz="1600" b="1" dirty="0">
                <a:solidFill>
                  <a:srgbClr val="FF0000"/>
                </a:solidFill>
              </a:rPr>
              <a:t>단백질 합성에 필요한 유전정보 전달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solidFill>
                  <a:srgbClr val="FF0000"/>
                </a:solidFill>
              </a:rPr>
              <a:t>rRNA: </a:t>
            </a:r>
            <a:r>
              <a:rPr lang="ko-KR" altLang="en-US" sz="1600" b="1" dirty="0">
                <a:solidFill>
                  <a:srgbClr val="FF0000"/>
                </a:solidFill>
              </a:rPr>
              <a:t>리보솜의 핵심 구성 성분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solidFill>
                  <a:srgbClr val="FF0000"/>
                </a:solidFill>
              </a:rPr>
              <a:t>tRNA: </a:t>
            </a:r>
            <a:r>
              <a:rPr lang="ko-KR" altLang="en-US" sz="1600" b="1" dirty="0">
                <a:solidFill>
                  <a:srgbClr val="FF0000"/>
                </a:solidFill>
              </a:rPr>
              <a:t>아미노산을 리보솜으로 운반하고 </a:t>
            </a:r>
            <a:r>
              <a:rPr lang="ko-KR" altLang="en-US" sz="1600" b="1" dirty="0" err="1">
                <a:solidFill>
                  <a:srgbClr val="FF0000"/>
                </a:solidFill>
              </a:rPr>
              <a:t>코돈과</a:t>
            </a:r>
            <a:r>
              <a:rPr lang="ko-KR" altLang="en-US" sz="1600" b="1" dirty="0">
                <a:solidFill>
                  <a:srgbClr val="FF0000"/>
                </a:solidFill>
              </a:rPr>
              <a:t> 연결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2993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081D0-5755-A9AC-3FDC-51AE9B04C93A}"/>
              </a:ext>
            </a:extLst>
          </p:cNvPr>
          <p:cNvSpPr txBox="1"/>
          <p:nvPr/>
        </p:nvSpPr>
        <p:spPr>
          <a:xfrm>
            <a:off x="685799" y="1153062"/>
            <a:ext cx="9206346" cy="540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+mn-ea"/>
              </a:rPr>
              <a:t>4.2.1. </a:t>
            </a:r>
            <a:r>
              <a:rPr lang="ko-KR" altLang="en-US" sz="1600" b="1" dirty="0">
                <a:latin typeface="+mn-ea"/>
              </a:rPr>
              <a:t>단백질 번역에서 </a:t>
            </a:r>
            <a:r>
              <a:rPr lang="en-US" altLang="ko-KR" sz="1600" b="1" dirty="0">
                <a:latin typeface="+mn-ea"/>
              </a:rPr>
              <a:t>mRNA, tRNA, rRNA</a:t>
            </a:r>
            <a:r>
              <a:rPr lang="ko-KR" altLang="en-US" sz="1600" b="1" dirty="0">
                <a:latin typeface="+mn-ea"/>
              </a:rPr>
              <a:t>의 역할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sz="1600" b="1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5) </a:t>
            </a:r>
            <a:r>
              <a:rPr lang="ko-KR" altLang="en-US" sz="1600" b="1" dirty="0">
                <a:latin typeface="+mn-ea"/>
              </a:rPr>
              <a:t>유전자 코드와 </a:t>
            </a:r>
            <a:r>
              <a:rPr lang="en-US" altLang="ko-KR" sz="1600" b="1" dirty="0">
                <a:latin typeface="+mn-ea"/>
              </a:rPr>
              <a:t>tRNA</a:t>
            </a:r>
            <a:r>
              <a:rPr lang="ko-KR" altLang="en-US" sz="1600" b="1" dirty="0">
                <a:latin typeface="+mn-ea"/>
              </a:rPr>
              <a:t>의 역할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유전 정보가 </a:t>
            </a:r>
            <a:r>
              <a:rPr lang="en-US" altLang="ko-KR" sz="1600" dirty="0">
                <a:latin typeface="+mn-ea"/>
              </a:rPr>
              <a:t>mRNA</a:t>
            </a:r>
            <a:r>
              <a:rPr lang="ko-KR" altLang="en-US" sz="1600" dirty="0">
                <a:latin typeface="+mn-ea"/>
              </a:rPr>
              <a:t>를 거쳐 아미노산 서열로 번역되는 과정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즉 유전자 발현 과정에서 유전 정보는 핵산과 단백질이라는 두 관계 없는 </a:t>
            </a:r>
            <a:r>
              <a:rPr lang="en-US" altLang="ko-KR" sz="1600" dirty="0">
                <a:latin typeface="+mn-ea"/>
              </a:rPr>
              <a:t>macromolecule </a:t>
            </a:r>
            <a:r>
              <a:rPr lang="ko-KR" altLang="en-US" sz="1600" dirty="0">
                <a:latin typeface="+mn-ea"/>
              </a:rPr>
              <a:t>사이에 정보를 </a:t>
            </a:r>
            <a:r>
              <a:rPr lang="en-US" altLang="ko-KR" sz="1600" dirty="0">
                <a:latin typeface="+mn-ea"/>
              </a:rPr>
              <a:t>“</a:t>
            </a:r>
            <a:r>
              <a:rPr lang="ko-KR" altLang="en-US" sz="1600" dirty="0">
                <a:latin typeface="+mn-ea"/>
              </a:rPr>
              <a:t>번역</a:t>
            </a:r>
            <a:r>
              <a:rPr lang="en-US" altLang="ko-KR" sz="1600" dirty="0">
                <a:latin typeface="+mn-ea"/>
              </a:rPr>
              <a:t>“ </a:t>
            </a:r>
            <a:r>
              <a:rPr lang="ko-KR" altLang="en-US" sz="1600" dirty="0">
                <a:latin typeface="+mn-ea"/>
              </a:rPr>
              <a:t> 전달해야 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이 서로 다른 두 분자 구조 사이의 서열을 매칭하는 데 있어서는 </a:t>
            </a:r>
            <a:r>
              <a:rPr lang="en-US" altLang="ko-KR" sz="1600" dirty="0">
                <a:latin typeface="+mn-ea"/>
              </a:rPr>
              <a:t>adaptor </a:t>
            </a:r>
            <a:r>
              <a:rPr lang="ko-KR" altLang="en-US" sz="1600" dirty="0">
                <a:latin typeface="+mn-ea"/>
              </a:rPr>
              <a:t>인 </a:t>
            </a:r>
            <a:r>
              <a:rPr lang="en-US" altLang="ko-KR" sz="1600" dirty="0">
                <a:latin typeface="+mn-ea"/>
              </a:rPr>
              <a:t>tRNA</a:t>
            </a:r>
            <a:r>
              <a:rPr lang="ko-KR" altLang="en-US" sz="1600" dirty="0">
                <a:latin typeface="+mn-ea"/>
              </a:rPr>
              <a:t>에 의한</a:t>
            </a:r>
            <a:r>
              <a:rPr lang="en-US" altLang="ko-KR" sz="1600" dirty="0">
                <a:latin typeface="+mn-ea"/>
              </a:rPr>
              <a:t> triplet codon</a:t>
            </a:r>
            <a:r>
              <a:rPr lang="ko-KR" altLang="en-US" sz="1600" dirty="0">
                <a:latin typeface="+mn-ea"/>
              </a:rPr>
              <a:t>과 아미노산의 정렬이 필요하다</a:t>
            </a:r>
            <a:r>
              <a:rPr lang="en-US" altLang="ko-KR" sz="1600" dirty="0">
                <a:latin typeface="+mn-ea"/>
              </a:rPr>
              <a:t>.. </a:t>
            </a:r>
            <a:endParaRPr lang="en-US" altLang="ko-KR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아미노산 자체는 </a:t>
            </a:r>
            <a:r>
              <a:rPr lang="en-US" altLang="ko-KR" sz="1600" dirty="0"/>
              <a:t>mRNA </a:t>
            </a:r>
            <a:r>
              <a:rPr lang="ko-KR" altLang="en-US" sz="1600" dirty="0"/>
              <a:t>염기와 직접 대응하지 않는다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tRNA</a:t>
            </a:r>
            <a:r>
              <a:rPr lang="ko-KR" altLang="en-US" sz="1600" dirty="0"/>
              <a:t>가 염기서열과 아미노산 사이의 어댑터 역할을 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aminoacyl-tRNA synthetase</a:t>
            </a:r>
            <a:r>
              <a:rPr lang="ko-KR" altLang="en-US" sz="1600" dirty="0"/>
              <a:t>가 특정 아미노산을 해당 </a:t>
            </a:r>
            <a:r>
              <a:rPr lang="en-US" altLang="ko-KR" sz="1600" dirty="0"/>
              <a:t>tRNA</a:t>
            </a:r>
            <a:r>
              <a:rPr lang="ko-KR" altLang="en-US" sz="1600" dirty="0"/>
              <a:t>에 부착한다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tRNA anticodon</a:t>
            </a:r>
            <a:r>
              <a:rPr lang="ko-KR" altLang="en-US" sz="1600" dirty="0"/>
              <a:t>이 </a:t>
            </a:r>
            <a:r>
              <a:rPr lang="en-US" altLang="ko-KR" sz="1600" dirty="0"/>
              <a:t>mRNA codon</a:t>
            </a:r>
            <a:r>
              <a:rPr lang="ko-KR" altLang="en-US" sz="1600" dirty="0"/>
              <a:t>과 상보적으로 결합한다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600" dirty="0"/>
              <a:t>(</a:t>
            </a:r>
            <a:r>
              <a:rPr lang="ko-KR" altLang="en-US" sz="1600" dirty="0"/>
              <a:t>다음 장 참조</a:t>
            </a:r>
            <a:r>
              <a:rPr lang="en-US" altLang="ko-KR" sz="1600" dirty="0"/>
              <a:t>) 20</a:t>
            </a:r>
            <a:r>
              <a:rPr lang="ko-KR" altLang="en-US" sz="1600" dirty="0"/>
              <a:t>종의 아미노산을 </a:t>
            </a:r>
            <a:r>
              <a:rPr lang="en-US" altLang="ko-KR" sz="1600" dirty="0"/>
              <a:t>4</a:t>
            </a:r>
            <a:r>
              <a:rPr lang="ko-KR" altLang="en-US" sz="1600" dirty="0"/>
              <a:t>종의 </a:t>
            </a:r>
            <a:r>
              <a:rPr lang="en-US" altLang="ko-KR" sz="1600" dirty="0"/>
              <a:t>DNA </a:t>
            </a:r>
            <a:r>
              <a:rPr lang="ko-KR" altLang="en-US" sz="1600" dirty="0"/>
              <a:t>코드로 지정해야 하기 때문에 최소한 </a:t>
            </a:r>
            <a:r>
              <a:rPr lang="en-US" altLang="ko-KR" sz="1600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triplet codon</a:t>
            </a:r>
            <a:r>
              <a:rPr lang="ko-KR" altLang="en-US" sz="1600" dirty="0"/>
              <a:t>이 필요할 것을 추측할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이에 대한 실험적 근거 역시 밝혀졌다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ko-KR" altLang="en-US" sz="16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9BE0E89-CE49-6685-4EFF-D6F444B76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145" y="933606"/>
            <a:ext cx="1923985" cy="5667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C8BE9D-F424-1C35-3DD5-E80FFE0E9572}"/>
              </a:ext>
            </a:extLst>
          </p:cNvPr>
          <p:cNvSpPr txBox="1"/>
          <p:nvPr/>
        </p:nvSpPr>
        <p:spPr>
          <a:xfrm>
            <a:off x="7218218" y="3899786"/>
            <a:ext cx="2821709" cy="16121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100" dirty="0"/>
              <a:t>4</a:t>
            </a:r>
            <a:r>
              <a:rPr lang="ko-KR" altLang="en-US" sz="1100" dirty="0"/>
              <a:t>종 염기로 </a:t>
            </a:r>
            <a:r>
              <a:rPr lang="en-US" altLang="ko-KR" sz="1100" dirty="0"/>
              <a:t>20</a:t>
            </a:r>
            <a:r>
              <a:rPr lang="ko-KR" altLang="en-US" sz="1100" dirty="0"/>
              <a:t>종 아미노산을 지정해야 한다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100" dirty="0"/>
              <a:t>1</a:t>
            </a:r>
            <a:r>
              <a:rPr lang="ko-KR" altLang="en-US" sz="1100" dirty="0"/>
              <a:t>염기 코드</a:t>
            </a:r>
            <a:r>
              <a:rPr lang="en-US" altLang="ko-KR" sz="1100" dirty="0"/>
              <a:t>: 4</a:t>
            </a:r>
            <a:r>
              <a:rPr lang="ko-KR" altLang="en-US" sz="1100" dirty="0"/>
              <a:t>가지 → 부족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100" dirty="0"/>
              <a:t>2</a:t>
            </a:r>
            <a:r>
              <a:rPr lang="ko-KR" altLang="en-US" sz="1100" dirty="0"/>
              <a:t>염기 코드</a:t>
            </a:r>
            <a:r>
              <a:rPr lang="en-US" altLang="ko-KR" sz="1100" dirty="0"/>
              <a:t>: 4² = 16</a:t>
            </a:r>
            <a:r>
              <a:rPr lang="ko-KR" altLang="en-US" sz="1100" dirty="0"/>
              <a:t>가지 → 여전히 부족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100" dirty="0"/>
              <a:t>3</a:t>
            </a:r>
            <a:r>
              <a:rPr lang="ko-KR" altLang="en-US" sz="1100" dirty="0"/>
              <a:t>염기 코드</a:t>
            </a:r>
            <a:r>
              <a:rPr lang="en-US" altLang="ko-KR" sz="1100" dirty="0"/>
              <a:t>: 4³ = 64</a:t>
            </a:r>
            <a:r>
              <a:rPr lang="ko-KR" altLang="en-US" sz="1100" dirty="0"/>
              <a:t>가지 → 충분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100" dirty="0"/>
              <a:t>따라서 최소 </a:t>
            </a:r>
            <a:r>
              <a:rPr lang="ko-KR" altLang="en-US" sz="1100" dirty="0" err="1"/>
              <a:t>삼중자</a:t>
            </a:r>
            <a:r>
              <a:rPr lang="ko-KR" altLang="en-US" sz="1100" dirty="0"/>
              <a:t> 코드가 필요하다</a:t>
            </a:r>
            <a:r>
              <a:rPr lang="en-US" altLang="ko-KR" sz="11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C4EE-BB2D-8001-6B11-702CA755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C46DB6-1AA9-ED1F-D583-D2BD91979C14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B18F6-087F-D62E-0256-AE0E9FC6EC76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7B8E2-2F2B-A91D-EC99-4FEFA404D889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5A8B0-64A2-F058-48F8-1CA683B61D49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570D4B-123D-AE8C-5B41-1E450E141DCB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2E2E6-C394-25FE-6748-294DDDEF3D80}"/>
              </a:ext>
            </a:extLst>
          </p:cNvPr>
          <p:cNvSpPr txBox="1"/>
          <p:nvPr/>
        </p:nvSpPr>
        <p:spPr>
          <a:xfrm>
            <a:off x="685799" y="1153062"/>
            <a:ext cx="6361546" cy="3676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4.2.2. Triplet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code </a:t>
            </a:r>
            <a:r>
              <a:rPr lang="ko-KR" altLang="en-US" sz="1600" b="1" dirty="0">
                <a:latin typeface="+mn-ea"/>
              </a:rPr>
              <a:t>의 증명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AutoNum type="arabicParenR"/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RNA</a:t>
            </a:r>
            <a:r>
              <a:rPr lang="ko-KR" altLang="en-US" sz="1600" b="1" dirty="0">
                <a:latin typeface="+mn-ea"/>
              </a:rPr>
              <a:t>의 번역 과정에 대한 첫 증거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 err="1">
                <a:latin typeface="+mn-ea"/>
              </a:rPr>
              <a:t>페닐알라닌</a:t>
            </a:r>
            <a:r>
              <a:rPr lang="ko-KR" altLang="en-US" sz="1600" b="1" dirty="0">
                <a:latin typeface="+mn-ea"/>
              </a:rPr>
              <a:t> 합성실험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dirty="0">
                <a:latin typeface="+mn-ea"/>
              </a:rPr>
              <a:t>mRNA</a:t>
            </a:r>
            <a:r>
              <a:rPr lang="ko-KR" altLang="en-US" sz="1600" dirty="0">
                <a:latin typeface="+mn-ea"/>
              </a:rPr>
              <a:t>가 발견된 </a:t>
            </a:r>
            <a:r>
              <a:rPr lang="en-US" altLang="ko-KR" sz="1600" dirty="0">
                <a:latin typeface="+mn-ea"/>
              </a:rPr>
              <a:t>1961</a:t>
            </a:r>
            <a:r>
              <a:rPr lang="ko-KR" altLang="en-US" sz="1600" dirty="0">
                <a:latin typeface="+mn-ea"/>
              </a:rPr>
              <a:t>년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마셜 </a:t>
            </a:r>
            <a:r>
              <a:rPr lang="ko-KR" altLang="en-US" sz="1600" dirty="0" err="1">
                <a:latin typeface="+mn-ea"/>
              </a:rPr>
              <a:t>니런버그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하인리히 </a:t>
            </a:r>
            <a:r>
              <a:rPr lang="ko-KR" altLang="en-US" sz="1600" dirty="0" err="1">
                <a:latin typeface="+mn-ea"/>
              </a:rPr>
              <a:t>마테이는</a:t>
            </a:r>
            <a:r>
              <a:rPr lang="ko-KR" altLang="en-US" sz="1600" dirty="0">
                <a:latin typeface="+mn-ea"/>
              </a:rPr>
              <a:t> 체외 번역 시스템</a:t>
            </a:r>
            <a:r>
              <a:rPr lang="en-US" altLang="ko-KR" sz="1600" dirty="0">
                <a:latin typeface="+mn-ea"/>
              </a:rPr>
              <a:t>(In vitro translation) </a:t>
            </a:r>
            <a:r>
              <a:rPr lang="ko-KR" altLang="en-US" sz="1600" dirty="0">
                <a:latin typeface="+mn-ea"/>
              </a:rPr>
              <a:t>구축에 성공했다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latin typeface="+mn-ea"/>
              </a:rPr>
              <a:t>이들은 정제된 인공 </a:t>
            </a:r>
            <a:r>
              <a:rPr lang="en-US" altLang="ko-KR" sz="1600" dirty="0">
                <a:latin typeface="+mn-ea"/>
              </a:rPr>
              <a:t>RNA</a:t>
            </a:r>
            <a:r>
              <a:rPr lang="ko-KR" altLang="en-US" sz="1600" dirty="0">
                <a:latin typeface="+mn-ea"/>
              </a:rPr>
              <a:t>인 </a:t>
            </a:r>
            <a:r>
              <a:rPr lang="en-US" altLang="ko-KR" sz="1600" dirty="0">
                <a:latin typeface="+mn-ea"/>
              </a:rPr>
              <a:t>poly-U(uracil)</a:t>
            </a:r>
            <a:r>
              <a:rPr lang="ko-KR" altLang="en-US" sz="1600" dirty="0">
                <a:latin typeface="+mn-ea"/>
              </a:rPr>
              <a:t>를 세균 세포 추출물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이후의 발견들에 따르면 세부적으로는 리보솜</a:t>
            </a:r>
            <a:r>
              <a:rPr lang="en-US" altLang="ko-KR" sz="1600" dirty="0">
                <a:latin typeface="+mn-ea"/>
              </a:rPr>
              <a:t>, tRNA, </a:t>
            </a:r>
            <a:r>
              <a:rPr lang="ko-KR" altLang="en-US" sz="1600" dirty="0">
                <a:latin typeface="+mn-ea"/>
              </a:rPr>
              <a:t>아미노산</a:t>
            </a:r>
            <a:r>
              <a:rPr lang="en-US" altLang="ko-KR" sz="1600" dirty="0">
                <a:latin typeface="+mn-ea"/>
              </a:rPr>
              <a:t>, aminoacyl tRNA synthetase </a:t>
            </a:r>
            <a:r>
              <a:rPr lang="ko-KR" altLang="en-US" sz="1600" dirty="0">
                <a:latin typeface="+mn-ea"/>
              </a:rPr>
              <a:t>에 해당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>
                <a:latin typeface="+mn-ea"/>
              </a:rPr>
              <a:t>과 함께 넣어주었을 때 </a:t>
            </a:r>
            <a:r>
              <a:rPr lang="ko-KR" altLang="en-US" sz="1600" dirty="0" err="1">
                <a:latin typeface="+mn-ea"/>
              </a:rPr>
              <a:t>페닐알라닌으로</a:t>
            </a:r>
            <a:r>
              <a:rPr lang="ko-KR" altLang="en-US" sz="1600" dirty="0">
                <a:latin typeface="+mn-ea"/>
              </a:rPr>
              <a:t> 이루어진 단백질이 합성되는 것을 관찰했다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7BB1FE9-1D90-4E6D-BA5C-A578FC0A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345" y="2778486"/>
            <a:ext cx="2537831" cy="34752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5C4F58-5656-1BD7-76B8-8E5C36544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13" y="1153062"/>
            <a:ext cx="4671747" cy="13794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522CE3-09B0-DE22-74DB-923B28E22480}"/>
              </a:ext>
            </a:extLst>
          </p:cNvPr>
          <p:cNvSpPr txBox="1"/>
          <p:nvPr/>
        </p:nvSpPr>
        <p:spPr>
          <a:xfrm>
            <a:off x="9301018" y="3610462"/>
            <a:ext cx="2770909" cy="1242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050" dirty="0"/>
              <a:t>poly-U RNA</a:t>
            </a:r>
            <a:r>
              <a:rPr lang="ko-KR" altLang="en-US" sz="1050" dirty="0"/>
              <a:t>를 시험관 내 번역계에 넣었다</a:t>
            </a:r>
            <a:r>
              <a:rPr lang="en-US" altLang="ko-KR" sz="105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050" dirty="0"/>
              <a:t>반복된 </a:t>
            </a:r>
            <a:r>
              <a:rPr lang="en-US" altLang="ko-KR" sz="1050" dirty="0"/>
              <a:t>U </a:t>
            </a:r>
            <a:r>
              <a:rPr lang="ko-KR" altLang="en-US" sz="1050" dirty="0"/>
              <a:t>서열은 </a:t>
            </a:r>
            <a:r>
              <a:rPr lang="en-US" altLang="ko-KR" sz="1050" dirty="0" err="1"/>
              <a:t>Phe-Phe-Phe</a:t>
            </a:r>
            <a:r>
              <a:rPr lang="en-US" altLang="ko-KR" sz="1050" dirty="0"/>
              <a:t>…</a:t>
            </a:r>
            <a:r>
              <a:rPr lang="ko-KR" altLang="en-US" sz="1050" dirty="0"/>
              <a:t>를 만들었다</a:t>
            </a:r>
            <a:r>
              <a:rPr lang="en-US" altLang="ko-KR" sz="105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050" dirty="0"/>
              <a:t>따라서 </a:t>
            </a:r>
            <a:r>
              <a:rPr lang="en-US" altLang="ko-KR" sz="1050" dirty="0"/>
              <a:t>UUU = phenylalanine.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050" dirty="0"/>
              <a:t>같은 방식으로 </a:t>
            </a:r>
            <a:r>
              <a:rPr lang="en-US" altLang="ko-KR" sz="1050" dirty="0"/>
              <a:t>AAA = Lys, CCC = Pro</a:t>
            </a:r>
            <a:r>
              <a:rPr lang="ko-KR" altLang="en-US" sz="1050" dirty="0"/>
              <a:t>가 확인</a:t>
            </a:r>
            <a:r>
              <a:rPr lang="en-US" altLang="ko-KR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5148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A338-C297-65E7-F3FF-E1B8FBDA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035D2-16FC-F038-7A15-2C9FB2A79ABE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23C61-8947-6F9A-CBC4-0FAEC7BE1C84}"/>
              </a:ext>
            </a:extLst>
          </p:cNvPr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6D930-F275-C849-E13E-7601838BB0BE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B483A-781D-2AFB-C1B2-D4FA15E4F05C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0B82A7-CDE9-F72F-03C8-CC2CC5422DF0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3CF8F-46DA-8101-65CB-EC2B71634423}"/>
              </a:ext>
            </a:extLst>
          </p:cNvPr>
          <p:cNvSpPr txBox="1"/>
          <p:nvPr/>
        </p:nvSpPr>
        <p:spPr>
          <a:xfrm>
            <a:off x="685798" y="1153062"/>
            <a:ext cx="10607042" cy="20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4.2.2. Triplet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code </a:t>
            </a:r>
            <a:r>
              <a:rPr lang="ko-KR" altLang="en-US" sz="1600" b="1" dirty="0">
                <a:latin typeface="+mn-ea"/>
              </a:rPr>
              <a:t>의 증명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ko-KR" sz="1600" b="1" dirty="0" err="1">
                <a:solidFill>
                  <a:srgbClr val="23282D"/>
                </a:solidFill>
              </a:rPr>
              <a:t>Triplet</a:t>
            </a:r>
            <a:r>
              <a:rPr lang="ko-KR" altLang="ko-KR" sz="1600" b="1" dirty="0">
                <a:solidFill>
                  <a:srgbClr val="23282D"/>
                </a:solidFill>
              </a:rPr>
              <a:t> </a:t>
            </a:r>
            <a:r>
              <a:rPr lang="ko-KR" altLang="ko-KR" sz="1600" b="1" dirty="0" err="1">
                <a:solidFill>
                  <a:srgbClr val="23282D"/>
                </a:solidFill>
              </a:rPr>
              <a:t>Code</a:t>
            </a:r>
            <a:r>
              <a:rPr lang="en-US" altLang="ko-KR" sz="1600" b="1" dirty="0">
                <a:solidFill>
                  <a:srgbClr val="23282D"/>
                </a:solidFill>
              </a:rPr>
              <a:t> </a:t>
            </a:r>
            <a:r>
              <a:rPr lang="ko-KR" altLang="ko-KR" sz="1600" b="1" dirty="0">
                <a:solidFill>
                  <a:srgbClr val="23282D"/>
                </a:solidFill>
              </a:rPr>
              <a:t>의 유전학적 증명 (프랜시스 크릭, 시드니 </a:t>
            </a:r>
            <a:r>
              <a:rPr lang="ko-KR" altLang="ko-KR" sz="1600" b="1" dirty="0" err="1">
                <a:solidFill>
                  <a:srgbClr val="23282D"/>
                </a:solidFill>
              </a:rPr>
              <a:t>브레너</a:t>
            </a:r>
            <a:r>
              <a:rPr lang="ko-KR" altLang="ko-KR" sz="1600" b="1" dirty="0">
                <a:solidFill>
                  <a:srgbClr val="23282D"/>
                </a:solidFill>
              </a:rPr>
              <a:t> 등)</a:t>
            </a:r>
            <a:endParaRPr lang="en-US" altLang="ko-KR" sz="1600" b="1" dirty="0">
              <a:solidFill>
                <a:srgbClr val="23282D"/>
              </a:solidFill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>
                <a:solidFill>
                  <a:srgbClr val="23282D"/>
                </a:solidFill>
              </a:rPr>
              <a:t>같은 해</a:t>
            </a:r>
            <a:r>
              <a:rPr lang="en-US" altLang="ko-KR" sz="1600" dirty="0">
                <a:solidFill>
                  <a:srgbClr val="23282D"/>
                </a:solidFill>
              </a:rPr>
              <a:t>, </a:t>
            </a:r>
            <a:r>
              <a:rPr lang="ko-KR" altLang="en-US" sz="1600" dirty="0" err="1">
                <a:solidFill>
                  <a:srgbClr val="23282D"/>
                </a:solidFill>
              </a:rPr>
              <a:t>프로플라빈</a:t>
            </a:r>
            <a:r>
              <a:rPr lang="en-US" altLang="ko-KR" sz="1600" dirty="0">
                <a:solidFill>
                  <a:srgbClr val="23282D"/>
                </a:solidFill>
              </a:rPr>
              <a:t>(T4 </a:t>
            </a:r>
            <a:r>
              <a:rPr lang="ko-KR" altLang="en-US" sz="1600" dirty="0">
                <a:solidFill>
                  <a:srgbClr val="23282D"/>
                </a:solidFill>
              </a:rPr>
              <a:t>바이러스의 </a:t>
            </a:r>
            <a:r>
              <a:rPr lang="ko-KR" altLang="en-US" sz="1600" dirty="0" err="1">
                <a:solidFill>
                  <a:srgbClr val="23282D"/>
                </a:solidFill>
              </a:rPr>
              <a:t>단일염기쌍을</a:t>
            </a:r>
            <a:r>
              <a:rPr lang="ko-KR" altLang="en-US" sz="1600" dirty="0">
                <a:solidFill>
                  <a:srgbClr val="23282D"/>
                </a:solidFill>
              </a:rPr>
              <a:t> 추가</a:t>
            </a:r>
            <a:r>
              <a:rPr lang="en-US" altLang="ko-KR" sz="1600" dirty="0">
                <a:solidFill>
                  <a:srgbClr val="23282D"/>
                </a:solidFill>
              </a:rPr>
              <a:t>/</a:t>
            </a:r>
            <a:r>
              <a:rPr lang="ko-KR" altLang="en-US" sz="1600" dirty="0">
                <a:solidFill>
                  <a:srgbClr val="23282D"/>
                </a:solidFill>
              </a:rPr>
              <a:t>제거 가능</a:t>
            </a:r>
            <a:r>
              <a:rPr lang="en-US" altLang="ko-KR" sz="1600" dirty="0">
                <a:solidFill>
                  <a:srgbClr val="23282D"/>
                </a:solidFill>
              </a:rPr>
              <a:t>)</a:t>
            </a:r>
            <a:r>
              <a:rPr lang="ko-KR" altLang="en-US" sz="1600" dirty="0">
                <a:solidFill>
                  <a:srgbClr val="23282D"/>
                </a:solidFill>
              </a:rPr>
              <a:t>을 이용해 실행한 </a:t>
            </a:r>
            <a:r>
              <a:rPr lang="ko-KR" altLang="ko-KR" sz="1600" dirty="0">
                <a:solidFill>
                  <a:srgbClr val="23282D"/>
                </a:solidFill>
              </a:rPr>
              <a:t>T4 바이러스 </a:t>
            </a:r>
            <a:r>
              <a:rPr lang="ko-KR" altLang="ko-KR" sz="1600" dirty="0" err="1">
                <a:solidFill>
                  <a:srgbClr val="23282D"/>
                </a:solidFill>
              </a:rPr>
              <a:t>rII</a:t>
            </a:r>
            <a:r>
              <a:rPr lang="ko-KR" altLang="ko-KR" sz="1600" dirty="0">
                <a:solidFill>
                  <a:srgbClr val="23282D"/>
                </a:solidFill>
              </a:rPr>
              <a:t> 유전자의 </a:t>
            </a:r>
            <a:r>
              <a:rPr lang="ko-KR" altLang="ko-KR" sz="1600" dirty="0" err="1">
                <a:solidFill>
                  <a:srgbClr val="23282D"/>
                </a:solidFill>
              </a:rPr>
              <a:t>결실·삽입</a:t>
            </a:r>
            <a:r>
              <a:rPr lang="ko-KR" altLang="ko-KR" sz="1600" dirty="0">
                <a:solidFill>
                  <a:srgbClr val="23282D"/>
                </a:solidFill>
              </a:rPr>
              <a:t> 변이 연구를 통해 크릭과 </a:t>
            </a:r>
            <a:r>
              <a:rPr lang="ko-KR" altLang="ko-KR" sz="1600" dirty="0" err="1">
                <a:solidFill>
                  <a:srgbClr val="23282D"/>
                </a:solidFill>
              </a:rPr>
              <a:t>브레너는</a:t>
            </a:r>
            <a:r>
              <a:rPr lang="ko-KR" altLang="ko-KR" sz="1600" dirty="0">
                <a:solidFill>
                  <a:srgbClr val="23282D"/>
                </a:solidFill>
              </a:rPr>
              <a:t> 1개나 2개의 염기가 더해지거나 빠지면 읽기 틀이 바뀌어(</a:t>
            </a:r>
            <a:r>
              <a:rPr lang="ko-KR" altLang="ko-KR" sz="1600" dirty="0" err="1">
                <a:solidFill>
                  <a:srgbClr val="23282D"/>
                </a:solidFill>
              </a:rPr>
              <a:t>Frameshift</a:t>
            </a:r>
            <a:r>
              <a:rPr lang="ko-KR" altLang="ko-KR" sz="1600" dirty="0">
                <a:solidFill>
                  <a:srgbClr val="23282D"/>
                </a:solidFill>
              </a:rPr>
              <a:t>) 변이형이 되지만, 3개의 염기가 추가되거나 삭제되면 정상 기능이 </a:t>
            </a:r>
            <a:r>
              <a:rPr lang="ko-KR" altLang="en-US" sz="1600" dirty="0">
                <a:solidFill>
                  <a:srgbClr val="23282D"/>
                </a:solidFill>
              </a:rPr>
              <a:t>유지</a:t>
            </a:r>
            <a:r>
              <a:rPr lang="ko-KR" altLang="ko-KR" sz="1600" dirty="0">
                <a:solidFill>
                  <a:srgbClr val="23282D"/>
                </a:solidFill>
              </a:rPr>
              <a:t>된다는 것을 유전학적으로 증명했다. </a:t>
            </a:r>
            <a:endParaRPr lang="en-US" altLang="ko-KR" sz="1600" dirty="0">
              <a:solidFill>
                <a:srgbClr val="23282D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BB116C-0F3C-768B-6458-ED0BB5501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0" y="3673002"/>
            <a:ext cx="6204529" cy="212726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743760E-F953-C7E8-DB48-75FDD4B2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780" y="3422706"/>
            <a:ext cx="4527871" cy="9055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D95336-F9EF-72C8-79A0-D5556F8C8B79}"/>
              </a:ext>
            </a:extLst>
          </p:cNvPr>
          <p:cNvSpPr txBox="1"/>
          <p:nvPr/>
        </p:nvSpPr>
        <p:spPr>
          <a:xfrm>
            <a:off x="7560370" y="4545246"/>
            <a:ext cx="3662735" cy="1275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100" dirty="0"/>
              <a:t>1~2 </a:t>
            </a:r>
            <a:r>
              <a:rPr lang="en-US" altLang="ko-KR" sz="1100" dirty="0" err="1"/>
              <a:t>nt</a:t>
            </a:r>
            <a:r>
              <a:rPr lang="ko-KR" altLang="en-US" sz="1100" dirty="0"/>
              <a:t> 삽입</a:t>
            </a:r>
            <a:r>
              <a:rPr lang="en-US" altLang="ko-KR" sz="1100" dirty="0"/>
              <a:t>/</a:t>
            </a:r>
            <a:r>
              <a:rPr lang="ko-KR" altLang="en-US" sz="1100" dirty="0"/>
              <a:t>결실 → 이후 </a:t>
            </a:r>
            <a:r>
              <a:rPr lang="en-US" altLang="ko-KR" sz="1100" dirty="0"/>
              <a:t>reading frame </a:t>
            </a:r>
            <a:r>
              <a:rPr lang="ko-KR" altLang="en-US" sz="1100" dirty="0"/>
              <a:t>전체가 바뀐다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100" dirty="0"/>
              <a:t>뒤따르는 아미노산 서열이 광범위하게 달라진다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sz="1100" dirty="0"/>
              <a:t>3 </a:t>
            </a:r>
            <a:r>
              <a:rPr lang="en-US" altLang="ko-KR" sz="1100" dirty="0" err="1"/>
              <a:t>nt</a:t>
            </a:r>
            <a:r>
              <a:rPr lang="ko-KR" altLang="en-US" sz="1100" dirty="0"/>
              <a:t> 삽입</a:t>
            </a:r>
            <a:r>
              <a:rPr lang="en-US" altLang="ko-KR" sz="1100" dirty="0"/>
              <a:t>/</a:t>
            </a:r>
            <a:r>
              <a:rPr lang="ko-KR" altLang="en-US" sz="1100" dirty="0"/>
              <a:t>결실 → 아미노산 하나의 추가</a:t>
            </a:r>
            <a:r>
              <a:rPr lang="en-US" altLang="ko-KR" sz="1100" dirty="0"/>
              <a:t>/</a:t>
            </a:r>
            <a:r>
              <a:rPr lang="ko-KR" altLang="en-US" sz="1100" dirty="0"/>
              <a:t>삭제로 제한된다</a:t>
            </a:r>
            <a:r>
              <a:rPr lang="en-US" altLang="ko-KR" sz="11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100" dirty="0"/>
              <a:t>따라서 </a:t>
            </a:r>
            <a:r>
              <a:rPr lang="en-US" altLang="ko-KR" sz="1100" dirty="0"/>
              <a:t>3</a:t>
            </a:r>
            <a:r>
              <a:rPr lang="ko-KR" altLang="en-US" sz="1100" dirty="0"/>
              <a:t>개 단위의 </a:t>
            </a:r>
            <a:r>
              <a:rPr lang="en-US" altLang="ko-KR" sz="1100" dirty="0"/>
              <a:t>reading frame</a:t>
            </a:r>
            <a:r>
              <a:rPr lang="ko-KR" altLang="en-US" sz="1100" dirty="0"/>
              <a:t>이라는 결론을 얻었다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608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94337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4.2.3. </a:t>
            </a:r>
            <a:r>
              <a:rPr lang="ko-KR" altLang="en-US" sz="1600" b="1" dirty="0" err="1">
                <a:solidFill>
                  <a:srgbClr val="23282D"/>
                </a:solidFill>
              </a:rPr>
              <a:t>코돈</a:t>
            </a:r>
            <a:r>
              <a:rPr lang="ko-KR" altLang="en-US" sz="1600" b="1" dirty="0">
                <a:solidFill>
                  <a:srgbClr val="23282D"/>
                </a:solidFill>
              </a:rPr>
              <a:t> 대응의 발견 </a:t>
            </a:r>
            <a:r>
              <a:rPr lang="en-US" altLang="ko-KR" sz="1600" b="1" dirty="0">
                <a:solidFill>
                  <a:srgbClr val="23282D"/>
                </a:solidFill>
              </a:rPr>
              <a:t>: The genetic code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64개 </a:t>
            </a:r>
            <a:r>
              <a:rPr sz="1600" dirty="0" err="1"/>
              <a:t>코돈</a:t>
            </a:r>
            <a:r>
              <a:rPr sz="1600" dirty="0"/>
              <a:t> 중 61개는 </a:t>
            </a:r>
            <a:r>
              <a:rPr sz="1600" dirty="0" err="1"/>
              <a:t>아미노산</a:t>
            </a:r>
            <a:r>
              <a:rPr sz="1600" dirty="0"/>
              <a:t>, 3개는 </a:t>
            </a:r>
            <a:r>
              <a:rPr sz="1600" dirty="0" err="1"/>
              <a:t>종결</a:t>
            </a:r>
            <a:r>
              <a:rPr sz="1600" dirty="0"/>
              <a:t> </a:t>
            </a:r>
            <a:r>
              <a:rPr sz="1600" dirty="0" err="1"/>
              <a:t>신호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UAA, UAG, UGA = stop codons.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여러</a:t>
            </a:r>
            <a:r>
              <a:rPr sz="1600" dirty="0"/>
              <a:t> </a:t>
            </a:r>
            <a:r>
              <a:rPr sz="1600" dirty="0" err="1"/>
              <a:t>코돈이</a:t>
            </a:r>
            <a:r>
              <a:rPr sz="1600" dirty="0"/>
              <a:t> </a:t>
            </a:r>
            <a:r>
              <a:rPr sz="1600" dirty="0" err="1"/>
              <a:t>같은</a:t>
            </a:r>
            <a:r>
              <a:rPr sz="1600" dirty="0"/>
              <a:t> </a:t>
            </a:r>
            <a:r>
              <a:rPr sz="1600" dirty="0" err="1"/>
              <a:t>아미노산을</a:t>
            </a:r>
            <a:r>
              <a:rPr sz="1600" dirty="0"/>
              <a:t> </a:t>
            </a:r>
            <a:r>
              <a:rPr sz="1600" dirty="0" err="1"/>
              <a:t>지정</a:t>
            </a:r>
            <a:r>
              <a:rPr sz="1600" dirty="0"/>
              <a:t> 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→ genetic </a:t>
            </a:r>
            <a:r>
              <a:rPr sz="1600" dirty="0" err="1"/>
              <a:t>code의</a:t>
            </a:r>
            <a:r>
              <a:rPr sz="1600" dirty="0"/>
              <a:t> degeneracy</a:t>
            </a:r>
            <a:r>
              <a:rPr lang="en-US" sz="1600" dirty="0"/>
              <a:t>(</a:t>
            </a:r>
            <a:r>
              <a:rPr lang="ko-KR" altLang="en-US" sz="1600" dirty="0" err="1"/>
              <a:t>축퇴성</a:t>
            </a:r>
            <a:r>
              <a:rPr lang="en-US" altLang="ko-KR" sz="1600" dirty="0"/>
              <a:t>)</a:t>
            </a:r>
            <a:endParaRPr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600" dirty="0"/>
              <a:t>또한 이런 암호구조가 </a:t>
            </a:r>
            <a:r>
              <a:rPr sz="1600" dirty="0" err="1"/>
              <a:t>거의</a:t>
            </a:r>
            <a:r>
              <a:rPr sz="1600" dirty="0"/>
              <a:t> </a:t>
            </a:r>
            <a:r>
              <a:rPr sz="1600" dirty="0" err="1"/>
              <a:t>모든</a:t>
            </a:r>
            <a:r>
              <a:rPr sz="1600" dirty="0"/>
              <a:t> </a:t>
            </a:r>
            <a:r>
              <a:rPr sz="1600" dirty="0" err="1"/>
              <a:t>생물에서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 </a:t>
            </a:r>
            <a:r>
              <a:rPr sz="1600" dirty="0" err="1"/>
              <a:t>공통적으로</a:t>
            </a:r>
            <a:r>
              <a:rPr sz="1600" dirty="0"/>
              <a:t> </a:t>
            </a:r>
            <a:r>
              <a:rPr sz="1600" dirty="0" err="1"/>
              <a:t>사용되는다</a:t>
            </a:r>
            <a:r>
              <a:rPr lang="en-US" sz="1600" dirty="0"/>
              <a:t> (</a:t>
            </a:r>
            <a:r>
              <a:rPr lang="ko-KR" altLang="en-US" sz="1600" dirty="0"/>
              <a:t>진화적 보존</a:t>
            </a:r>
            <a:r>
              <a:rPr lang="en-US" altLang="ko-KR" sz="1600" dirty="0"/>
              <a:t>)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F345E2E-EEF5-D90E-06D6-5385F6DC1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125" y="1139246"/>
            <a:ext cx="5303539" cy="48812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 descr="Genetic Code and Mutation">
            <a:extLst>
              <a:ext uri="{FF2B5EF4-FFF2-40B4-BE49-F238E27FC236}">
                <a16:creationId xmlns:a16="http://schemas.microsoft.com/office/drawing/2014/main" id="{01740C39-6D95-901C-F968-250143C6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16" y="1478237"/>
            <a:ext cx="4879277" cy="3148760"/>
          </a:xfrm>
          <a:prstGeom prst="rect">
            <a:avLst/>
          </a:prstGeom>
        </p:spPr>
      </p:pic>
      <p:pic>
        <p:nvPicPr>
          <p:cNvPr id="10" name="그림 9" descr="2.9: Mutations - Biology LibreTexts">
            <a:extLst>
              <a:ext uri="{FF2B5EF4-FFF2-40B4-BE49-F238E27FC236}">
                <a16:creationId xmlns:a16="http://schemas.microsoft.com/office/drawing/2014/main" id="{DBD08F00-07E8-2FC0-4F16-CA2E2F1A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347" y="1183108"/>
            <a:ext cx="2627159" cy="33525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AF086B-A5F3-B604-DFAA-DC2539F50225}"/>
              </a:ext>
            </a:extLst>
          </p:cNvPr>
          <p:cNvSpPr txBox="1"/>
          <p:nvPr/>
        </p:nvSpPr>
        <p:spPr>
          <a:xfrm>
            <a:off x="1233445" y="4838899"/>
            <a:ext cx="9680263" cy="144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dirty="0" err="1"/>
              <a:t>DNA의</a:t>
            </a:r>
            <a:r>
              <a:rPr lang="ko-KR" altLang="ko-KR" sz="1200" dirty="0"/>
              <a:t> 염기서열은 </a:t>
            </a:r>
            <a:r>
              <a:rPr lang="ko-KR" altLang="ko-KR" sz="1200" b="1" dirty="0"/>
              <a:t>3개의 </a:t>
            </a:r>
            <a:r>
              <a:rPr lang="ko-KR" altLang="ko-KR" sz="1200" b="1" dirty="0" err="1"/>
              <a:t>염기씩</a:t>
            </a:r>
            <a:r>
              <a:rPr lang="ko-KR" altLang="ko-KR" sz="1200" b="1" dirty="0"/>
              <a:t> 하나의 </a:t>
            </a:r>
            <a:r>
              <a:rPr lang="ko-KR" altLang="ko-KR" sz="1200" b="1" dirty="0" err="1"/>
              <a:t>코돈</a:t>
            </a:r>
            <a:r>
              <a:rPr lang="ko-KR" altLang="ko-KR" sz="1200" b="1" dirty="0"/>
              <a:t>(</a:t>
            </a:r>
            <a:r>
              <a:rPr lang="ko-KR" altLang="ko-KR" sz="1200" b="1" dirty="0" err="1"/>
              <a:t>codon</a:t>
            </a:r>
            <a:r>
              <a:rPr lang="ko-KR" altLang="ko-KR" sz="1200" b="1" dirty="0"/>
              <a:t>)</a:t>
            </a:r>
            <a:r>
              <a:rPr lang="ko-KR" altLang="ko-KR" sz="1200" dirty="0"/>
              <a:t>을 이루며, 각 </a:t>
            </a:r>
            <a:r>
              <a:rPr lang="ko-KR" altLang="ko-KR" sz="1200" dirty="0" err="1"/>
              <a:t>코돈은</a:t>
            </a:r>
            <a:r>
              <a:rPr lang="ko-KR" altLang="ko-KR" sz="1200" dirty="0"/>
              <a:t> 특정 아미노산 또는 종결 신호를 지정한다.</a:t>
            </a:r>
            <a:br>
              <a:rPr lang="ko-KR" altLang="ko-KR" sz="1200" dirty="0"/>
            </a:br>
            <a:r>
              <a:rPr lang="ko-KR" altLang="ko-KR" sz="1200" dirty="0"/>
              <a:t>염기 하나가 다른 염기로 바뀌는 </a:t>
            </a:r>
            <a:r>
              <a:rPr lang="ko-KR" altLang="ko-KR" sz="1200" b="1" dirty="0"/>
              <a:t>염기 치환(</a:t>
            </a:r>
            <a:r>
              <a:rPr lang="ko-KR" altLang="ko-KR" sz="1200" b="1" dirty="0" err="1"/>
              <a:t>substitution</a:t>
            </a:r>
            <a:r>
              <a:rPr lang="ko-KR" altLang="ko-KR" sz="1200" b="1" dirty="0"/>
              <a:t>)</a:t>
            </a:r>
            <a:r>
              <a:rPr lang="ko-KR" altLang="ko-KR" sz="1200" dirty="0"/>
              <a:t>은 </a:t>
            </a:r>
            <a:r>
              <a:rPr lang="ko-KR" altLang="ko-KR" sz="1200" dirty="0" err="1"/>
              <a:t>코돈을</a:t>
            </a:r>
            <a:r>
              <a:rPr lang="ko-KR" altLang="ko-KR" sz="1200" dirty="0"/>
              <a:t> 변화시켜 아미노산 서열에 영향을 줄 수 있다.</a:t>
            </a:r>
            <a:br>
              <a:rPr lang="ko-KR" altLang="ko-KR" sz="1200" dirty="0"/>
            </a:br>
            <a:r>
              <a:rPr lang="ko-KR" altLang="ko-KR" sz="1200" dirty="0"/>
              <a:t>이때 변화가 같은 아미노산을 지정하면 </a:t>
            </a:r>
            <a:r>
              <a:rPr lang="ko-KR" altLang="ko-KR" sz="1200" b="1" dirty="0"/>
              <a:t>침묵 돌연변이(</a:t>
            </a:r>
            <a:r>
              <a:rPr lang="ko-KR" altLang="ko-KR" sz="1200" b="1" dirty="0" err="1"/>
              <a:t>silent</a:t>
            </a:r>
            <a:r>
              <a:rPr lang="ko-KR" altLang="ko-KR" sz="1200" b="1" dirty="0"/>
              <a:t>)</a:t>
            </a:r>
            <a:r>
              <a:rPr lang="ko-KR" altLang="ko-KR" sz="1200" dirty="0"/>
              <a:t>, 다른 아미노산을 지정하면 </a:t>
            </a:r>
            <a:r>
              <a:rPr lang="ko-KR" altLang="ko-KR" sz="1200" b="1" dirty="0"/>
              <a:t>미스센스 돌연변이(</a:t>
            </a:r>
            <a:r>
              <a:rPr lang="ko-KR" altLang="ko-KR" sz="1200" b="1" dirty="0" err="1"/>
              <a:t>missense</a:t>
            </a:r>
            <a:r>
              <a:rPr lang="ko-KR" altLang="ko-KR" sz="1200" b="1" dirty="0"/>
              <a:t>)</a:t>
            </a:r>
            <a:r>
              <a:rPr lang="ko-KR" altLang="ko-KR" sz="1200" dirty="0"/>
              <a:t>가 된다.</a:t>
            </a:r>
            <a:br>
              <a:rPr lang="ko-KR" altLang="ko-KR" sz="1200" dirty="0"/>
            </a:br>
            <a:r>
              <a:rPr lang="ko-KR" altLang="ko-KR" sz="1200" dirty="0"/>
              <a:t>치환으로 </a:t>
            </a:r>
            <a:r>
              <a:rPr lang="ko-KR" altLang="ko-KR" sz="1200" dirty="0" err="1"/>
              <a:t>코돈이</a:t>
            </a:r>
            <a:r>
              <a:rPr lang="ko-KR" altLang="ko-KR" sz="1200" dirty="0"/>
              <a:t> </a:t>
            </a:r>
            <a:r>
              <a:rPr lang="ko-KR" altLang="ko-KR" sz="1200" b="1" dirty="0"/>
              <a:t>종결 </a:t>
            </a:r>
            <a:r>
              <a:rPr lang="ko-KR" altLang="ko-KR" sz="1200" b="1" dirty="0" err="1"/>
              <a:t>코돈</a:t>
            </a:r>
            <a:r>
              <a:rPr lang="ko-KR" altLang="ko-KR" sz="1200" b="1" dirty="0"/>
              <a:t>(</a:t>
            </a:r>
            <a:r>
              <a:rPr lang="ko-KR" altLang="ko-KR" sz="1200" b="1" dirty="0" err="1"/>
              <a:t>stop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codon</a:t>
            </a:r>
            <a:r>
              <a:rPr lang="ko-KR" altLang="ko-KR" sz="1200" b="1" dirty="0"/>
              <a:t>)</a:t>
            </a:r>
            <a:r>
              <a:rPr lang="ko-KR" altLang="ko-KR" sz="1200" dirty="0"/>
              <a:t>으로 바뀌면 </a:t>
            </a:r>
            <a:r>
              <a:rPr lang="ko-KR" altLang="ko-KR" sz="1200" b="1" dirty="0" err="1"/>
              <a:t>넌센스</a:t>
            </a:r>
            <a:r>
              <a:rPr lang="ko-KR" altLang="ko-KR" sz="1200" b="1" dirty="0"/>
              <a:t> 돌연변이(</a:t>
            </a:r>
            <a:r>
              <a:rPr lang="ko-KR" altLang="ko-KR" sz="1200" b="1" dirty="0" err="1"/>
              <a:t>nonsense</a:t>
            </a:r>
            <a:r>
              <a:rPr lang="ko-KR" altLang="ko-KR" sz="1200" b="1" dirty="0"/>
              <a:t>)</a:t>
            </a:r>
            <a:r>
              <a:rPr lang="ko-KR" altLang="ko-KR" sz="1200" dirty="0"/>
              <a:t>가 되어 단백질 합성이 조기에 종료된다.</a:t>
            </a:r>
            <a:br>
              <a:rPr lang="ko-KR" altLang="ko-KR" sz="1200" dirty="0"/>
            </a:br>
            <a:r>
              <a:rPr lang="ko-KR" altLang="ko-KR" sz="1200" dirty="0"/>
              <a:t>염기의 </a:t>
            </a:r>
            <a:r>
              <a:rPr lang="ko-KR" altLang="ko-KR" sz="1200" b="1" dirty="0"/>
              <a:t>삽입 또는 결실</a:t>
            </a:r>
            <a:r>
              <a:rPr lang="en-US" altLang="ko-KR" sz="1200" b="1" dirty="0"/>
              <a:t>(insertion/deletion)</a:t>
            </a:r>
            <a:r>
              <a:rPr lang="ko-KR" altLang="ko-KR" sz="1200" dirty="0"/>
              <a:t>이 3의 배수가 아니면 </a:t>
            </a:r>
            <a:r>
              <a:rPr lang="ko-KR" altLang="ko-KR" sz="1200" dirty="0" err="1"/>
              <a:t>reading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frame이</a:t>
            </a:r>
            <a:r>
              <a:rPr lang="ko-KR" altLang="ko-KR" sz="1200" dirty="0"/>
              <a:t> 바뀌는 </a:t>
            </a:r>
            <a:r>
              <a:rPr lang="ko-KR" altLang="ko-KR" sz="1200" b="1" dirty="0" err="1"/>
              <a:t>frameshift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mutation</a:t>
            </a:r>
            <a:r>
              <a:rPr lang="ko-KR" altLang="ko-KR" sz="1200" dirty="0" err="1"/>
              <a:t>이</a:t>
            </a:r>
            <a:r>
              <a:rPr lang="ko-KR" altLang="ko-KR" sz="1200" dirty="0"/>
              <a:t> 발생하여 </a:t>
            </a:r>
            <a:r>
              <a:rPr lang="ko-KR" altLang="en-US" sz="1200" dirty="0"/>
              <a:t>큰 변이가 발생한다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5139728" cy="4472186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/>
              <a:t>4.2.4. </a:t>
            </a:r>
            <a:r>
              <a:rPr lang="ko-KR" altLang="en-US" b="1" dirty="0"/>
              <a:t>역전사와 </a:t>
            </a:r>
            <a:r>
              <a:rPr lang="en-US" altLang="ko-KR" b="1" dirty="0"/>
              <a:t>RNA </a:t>
            </a:r>
            <a:r>
              <a:rPr lang="ko-KR" altLang="en-US" b="1" dirty="0"/>
              <a:t>바이러스</a:t>
            </a:r>
            <a:endParaRPr lang="en-US" altLang="ko-KR" b="1" dirty="0"/>
          </a:p>
          <a:p>
            <a:pPr>
              <a:lnSpc>
                <a:spcPct val="200000"/>
              </a:lnSpc>
            </a:pPr>
            <a:r>
              <a:rPr lang="ko-KR" altLang="ko-KR" dirty="0"/>
              <a:t>분자생물학의 중심 원리(</a:t>
            </a:r>
            <a:r>
              <a:rPr lang="ko-KR" altLang="ko-KR" dirty="0" err="1"/>
              <a:t>Central</a:t>
            </a:r>
            <a:r>
              <a:rPr lang="ko-KR" altLang="ko-KR" dirty="0"/>
              <a:t> </a:t>
            </a:r>
            <a:r>
              <a:rPr lang="ko-KR" altLang="ko-KR" dirty="0" err="1"/>
              <a:t>Dogma</a:t>
            </a:r>
            <a:r>
              <a:rPr lang="ko-KR" altLang="ko-KR" dirty="0"/>
              <a:t>)는 </a:t>
            </a:r>
            <a:r>
              <a:rPr lang="ko-KR" altLang="ko-KR" dirty="0" err="1"/>
              <a:t>DNA에서</a:t>
            </a:r>
            <a:r>
              <a:rPr lang="ko-KR" altLang="ko-KR" dirty="0"/>
              <a:t> </a:t>
            </a:r>
            <a:r>
              <a:rPr lang="ko-KR" altLang="ko-KR" dirty="0" err="1"/>
              <a:t>RNA를</a:t>
            </a:r>
            <a:r>
              <a:rPr lang="ko-KR" altLang="ko-KR" dirty="0"/>
              <a:t> 거쳐 단백질이 합성되는 정보 흐름을 제시했다. </a:t>
            </a: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ko-KR" dirty="0"/>
              <a:t>하지만 </a:t>
            </a:r>
            <a:r>
              <a:rPr lang="ko-KR" altLang="ko-KR" dirty="0" err="1"/>
              <a:t>담배모자이크바이러스</a:t>
            </a:r>
            <a:r>
              <a:rPr lang="ko-KR" altLang="ko-KR" dirty="0"/>
              <a:t>(TMV)와 같은 RNA 바이러스의 발견으로 </a:t>
            </a:r>
            <a:r>
              <a:rPr lang="ko-KR" altLang="ko-KR" b="1" dirty="0" err="1"/>
              <a:t>RNA가</a:t>
            </a:r>
            <a:r>
              <a:rPr lang="ko-KR" altLang="ko-KR" b="1" dirty="0"/>
              <a:t> 직접 유전물질 역할을 할 수 있음</a:t>
            </a:r>
            <a:r>
              <a:rPr lang="ko-KR" altLang="ko-KR" dirty="0"/>
              <a:t>이 밝혀졌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DA063C-A2DC-F5B5-A7D3-3A8FCE251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473" y="1003618"/>
            <a:ext cx="5370325" cy="51525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748B-D216-B28E-FA19-CF949EA7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B1A4B-9882-E0B0-FEC8-C961FD5AC22C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14343-1884-5D75-7DE4-CD6A73C374B6}"/>
              </a:ext>
            </a:extLst>
          </p:cNvPr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5EBE7-9814-3EC2-6130-7F3ADFDC6904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5F66D-4391-A7D5-419D-0306C87780FD}"/>
              </a:ext>
            </a:extLst>
          </p:cNvPr>
          <p:cNvSpPr txBox="1"/>
          <p:nvPr/>
        </p:nvSpPr>
        <p:spPr>
          <a:xfrm>
            <a:off x="678027" y="950976"/>
            <a:ext cx="10835640" cy="3121367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대부분의 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RNA </a:t>
            </a: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바이러스는 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RNA </a:t>
            </a: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의존성 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RNA </a:t>
            </a: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합성효소를 사용하여 유전정보를 복제한다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그러나 암을 유발하는 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RNA </a:t>
            </a: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종양 바이러스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레트로바이러스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은 역전사를 통해 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DNA</a:t>
            </a:r>
            <a:r>
              <a:rPr lang="ko-KR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를 합성한다</a:t>
            </a:r>
            <a:r>
              <a:rPr lang="en-US" altLang="ko-KR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1970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년 </a:t>
            </a:r>
            <a:r>
              <a:rPr lang="ko-KR" altLang="en-US" sz="16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테민과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데이비드 볼티모어</a:t>
            </a: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(David Baltimore)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가 </a:t>
            </a: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RNA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를 </a:t>
            </a:r>
            <a:endParaRPr lang="en-US" altLang="ko-KR" sz="16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거푸집으로 </a:t>
            </a: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DNA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를 합성하는 역전사효소</a:t>
            </a: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(Reverse Transcriptase)</a:t>
            </a:r>
          </a:p>
          <a:p>
            <a:pPr>
              <a:lnSpc>
                <a:spcPct val="200000"/>
              </a:lnSpc>
            </a:pPr>
            <a:r>
              <a:rPr lang="ko-KR" altLang="en-US" sz="16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를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발견하면서 이를 증명했다</a:t>
            </a: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(1975</a:t>
            </a:r>
            <a:r>
              <a:rPr lang="ko-KR" alt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년 노벨생리의학상</a:t>
            </a:r>
            <a:r>
              <a:rPr lang="en-US" altLang="ko-KR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200000"/>
              </a:lnSpc>
            </a:pPr>
            <a:endParaRPr sz="16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B8AA5-139C-6E01-FCFD-5444F2385670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D52FE-49F3-E1F0-879F-EFA0100FC459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 descr="Reverse transcriptase | Enzyme Function &amp; Applications | Britannica">
            <a:extLst>
              <a:ext uri="{FF2B5EF4-FFF2-40B4-BE49-F238E27FC236}">
                <a16:creationId xmlns:a16="http://schemas.microsoft.com/office/drawing/2014/main" id="{83C1409E-E3E6-416B-21B0-D794F7268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774" y="2202133"/>
            <a:ext cx="4071390" cy="452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20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D7E7-CCB8-6949-C8B0-98A3BB32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DFF1DF-39C1-1344-D57D-5E414C82F72B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5C3BC-ABC2-2FF7-D04A-AFE541A1A4F8}"/>
              </a:ext>
            </a:extLst>
          </p:cNvPr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D492D-4B59-7046-5AAE-F29AB3008457}"/>
              </a:ext>
            </a:extLst>
          </p:cNvPr>
          <p:cNvSpPr txBox="1"/>
          <p:nvPr/>
        </p:nvSpPr>
        <p:spPr>
          <a:xfrm>
            <a:off x="1051560" y="91440"/>
            <a:ext cx="26869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dirty="0"/>
              <a:t>유전정보의 발현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09FE2-2D95-390F-06DE-5211926603C6}"/>
              </a:ext>
            </a:extLst>
          </p:cNvPr>
          <p:cNvSpPr txBox="1"/>
          <p:nvPr/>
        </p:nvSpPr>
        <p:spPr>
          <a:xfrm>
            <a:off x="685800" y="960120"/>
            <a:ext cx="7283833" cy="2810193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 err="1"/>
              <a:t>역</a:t>
            </a:r>
            <a:r>
              <a:rPr lang="ko-KR" altLang="ko-KR" dirty="0" err="1"/>
              <a:t>전사</a:t>
            </a:r>
            <a:r>
              <a:rPr lang="ko-KR" altLang="ko-KR" dirty="0"/>
              <a:t> 현상은 </a:t>
            </a:r>
            <a:r>
              <a:rPr lang="ko-KR" altLang="ko-KR" dirty="0" err="1"/>
              <a:t>레트로바이러스</a:t>
            </a:r>
            <a:r>
              <a:rPr lang="ko-KR" altLang="ko-KR" dirty="0"/>
              <a:t> 복제 외에도 두 가지 중요한 의미:</a:t>
            </a:r>
          </a:p>
          <a:p>
            <a:pPr lvl="0">
              <a:lnSpc>
                <a:spcPct val="200000"/>
              </a:lnSpc>
            </a:pPr>
            <a:r>
              <a:rPr lang="ko-KR" altLang="ko-KR" b="1" dirty="0"/>
              <a:t>생물학적 역할:</a:t>
            </a:r>
            <a:r>
              <a:rPr lang="ko-KR" altLang="ko-KR" dirty="0"/>
              <a:t> </a:t>
            </a:r>
            <a:r>
              <a:rPr lang="ko-KR" altLang="ko-KR" dirty="0" err="1"/>
              <a:t>진핵세포</a:t>
            </a:r>
            <a:r>
              <a:rPr lang="ko-KR" altLang="ko-KR" dirty="0"/>
              <a:t> 말단(</a:t>
            </a:r>
            <a:r>
              <a:rPr lang="ko-KR" altLang="ko-KR" dirty="0" err="1"/>
              <a:t>텔로미어</a:t>
            </a:r>
            <a:r>
              <a:rPr lang="ko-KR" altLang="ko-KR" dirty="0"/>
              <a:t>) 복제 및 전이인자의 이동에 관여하며, 인간 게놈 </a:t>
            </a:r>
            <a:r>
              <a:rPr lang="ko-KR" altLang="ko-KR" dirty="0" err="1"/>
              <a:t>sequence의</a:t>
            </a:r>
            <a:r>
              <a:rPr lang="ko-KR" altLang="ko-KR" dirty="0"/>
              <a:t> 약 40%가 </a:t>
            </a:r>
            <a:r>
              <a:rPr lang="ko-KR" altLang="ko-KR" dirty="0" err="1"/>
              <a:t>역전사</a:t>
            </a:r>
            <a:r>
              <a:rPr lang="ko-KR" altLang="ko-KR" dirty="0"/>
              <a:t> 작용에서 유래했다.</a:t>
            </a:r>
          </a:p>
          <a:p>
            <a:pPr lvl="0">
              <a:lnSpc>
                <a:spcPct val="200000"/>
              </a:lnSpc>
            </a:pPr>
            <a:r>
              <a:rPr lang="ko-KR" altLang="ko-KR" b="1" dirty="0"/>
              <a:t>실험적 활용:</a:t>
            </a:r>
            <a:r>
              <a:rPr lang="ko-KR" altLang="ko-KR" dirty="0"/>
              <a:t> RNA 분자를 DNA 형태로 복제(</a:t>
            </a:r>
            <a:r>
              <a:rPr lang="ko-KR" altLang="ko-KR" dirty="0" err="1"/>
              <a:t>cDNA</a:t>
            </a:r>
            <a:r>
              <a:rPr lang="ko-KR" altLang="ko-KR" dirty="0"/>
              <a:t>)하여 </a:t>
            </a:r>
            <a:r>
              <a:rPr lang="ko-KR" altLang="ko-KR" dirty="0" err="1"/>
              <a:t>진핵세포의</a:t>
            </a:r>
            <a:r>
              <a:rPr lang="ko-KR" altLang="ko-KR" dirty="0"/>
              <a:t> mRNA 구조와 기능을 다양한 분자생물학 기법으로 분석할 수 있게 했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CF0F0-8213-CE6A-E7C2-B561264D4C32}"/>
              </a:ext>
            </a:extLst>
          </p:cNvPr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82D6A-7C3C-36BE-DCBB-FB7B4BEDC9F5}"/>
              </a:ext>
            </a:extLst>
          </p:cNvPr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 descr="Answered: Transposon Transposon (a) Simple transposition Retrotransposon  Transcription DNA RNA Reverse transcriptase Retrotransposon Retrotransposon  (b)… | bartleby">
            <a:extLst>
              <a:ext uri="{FF2B5EF4-FFF2-40B4-BE49-F238E27FC236}">
                <a16:creationId xmlns:a16="http://schemas.microsoft.com/office/drawing/2014/main" id="{957A8791-2A4E-8189-07CF-B22AF8A8B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324" y="999467"/>
            <a:ext cx="3551807" cy="516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79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1397819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dirty="0">
                <a:latin typeface="+mn-ea"/>
              </a:rPr>
              <a:t>4.3.1. </a:t>
            </a:r>
            <a:r>
              <a:rPr lang="ko-KR" altLang="en-US" dirty="0">
                <a:latin typeface="+mn-ea"/>
              </a:rPr>
              <a:t>제한효소</a:t>
            </a:r>
            <a:endParaRPr lang="en-US" altLang="ko-KR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dirty="0">
                <a:latin typeface="+mn-ea"/>
              </a:rPr>
              <a:t>4.3.2. </a:t>
            </a:r>
            <a:r>
              <a:rPr lang="ko-KR" altLang="en-US" dirty="0" err="1">
                <a:latin typeface="+mn-ea"/>
              </a:rPr>
              <a:t>클로닝</a:t>
            </a:r>
            <a:endParaRPr lang="en-US" altLang="ko-KR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dirty="0">
                <a:latin typeface="+mn-ea"/>
              </a:rPr>
              <a:t>4.3.3. </a:t>
            </a:r>
            <a:r>
              <a:rPr lang="ko-KR" altLang="en-US" dirty="0">
                <a:latin typeface="+mn-ea"/>
              </a:rPr>
              <a:t>유전자 서열 분석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시퀀싱</a:t>
            </a:r>
            <a:r>
              <a:rPr lang="en-US" altLang="ko-KR" dirty="0">
                <a:latin typeface="+mn-ea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3379387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b="1" dirty="0">
                <a:latin typeface="+mn-ea"/>
              </a:rPr>
              <a:t>4.3.1. </a:t>
            </a:r>
            <a:r>
              <a:rPr lang="ko-KR" altLang="en-US" b="1" dirty="0">
                <a:latin typeface="+mn-ea"/>
              </a:rPr>
              <a:t>제한효소</a:t>
            </a:r>
            <a:endParaRPr lang="en-US" altLang="ko-KR" b="1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dirty="0">
                <a:latin typeface="+mn-ea"/>
              </a:rPr>
              <a:t>1)</a:t>
            </a:r>
            <a:r>
              <a:rPr lang="ko-KR" altLang="en-US" dirty="0"/>
              <a:t> 초기 분자생물학에서 </a:t>
            </a:r>
            <a:r>
              <a:rPr lang="ko-KR" altLang="en-US" dirty="0" err="1"/>
              <a:t>진핵생물</a:t>
            </a:r>
            <a:r>
              <a:rPr lang="ko-KR" altLang="en-US" dirty="0"/>
              <a:t> 유전체의 분석 한계와 해결</a:t>
            </a:r>
            <a:endParaRPr lang="en-US" altLang="ko-KR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>
                <a:latin typeface="+mn-ea"/>
              </a:rPr>
              <a:t>분자생물학의 초기 연구는 유전자의 본질적 개념과 원리를 파악하는데 집중하기 위해 주로 단순한 </a:t>
            </a:r>
            <a:r>
              <a:rPr lang="ko-KR" altLang="en-US" dirty="0" err="1">
                <a:latin typeface="+mn-ea"/>
              </a:rPr>
              <a:t>원핵생물이나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유전체가 작고 번식 주기가 빠른 생물을 중심으로 이루어졌다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>
                <a:latin typeface="+mn-ea"/>
              </a:rPr>
              <a:t>뒤이어 그보다 수천 배 큰 유전체를 가지는 인간과 같은 생물에서 </a:t>
            </a:r>
            <a:r>
              <a:rPr lang="ko-KR" altLang="en-US" b="1" dirty="0">
                <a:latin typeface="+mn-ea"/>
              </a:rPr>
              <a:t>원하는 유전자를 택하여 분리하고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조작하여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생명체 내에서의 기능을 분석</a:t>
            </a:r>
            <a:r>
              <a:rPr lang="ko-KR" altLang="en-US" dirty="0">
                <a:latin typeface="+mn-ea"/>
              </a:rPr>
              <a:t>하는 것을 위해서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재조합 </a:t>
            </a:r>
            <a:r>
              <a:rPr lang="en-US" altLang="ko-KR" b="1" dirty="0">
                <a:latin typeface="+mn-ea"/>
              </a:rPr>
              <a:t>DNA </a:t>
            </a:r>
            <a:r>
              <a:rPr lang="ko-KR" altLang="en-US" b="1" dirty="0">
                <a:latin typeface="+mn-ea"/>
              </a:rPr>
              <a:t>기술과 </a:t>
            </a:r>
            <a:r>
              <a:rPr lang="ko-KR" altLang="en-US" b="1" dirty="0" err="1">
                <a:latin typeface="+mn-ea"/>
              </a:rPr>
              <a:t>시퀀싱</a:t>
            </a:r>
            <a:r>
              <a:rPr lang="ko-KR" altLang="en-US" b="1" dirty="0">
                <a:latin typeface="+mn-ea"/>
              </a:rPr>
              <a:t> 기술 등</a:t>
            </a:r>
            <a:r>
              <a:rPr lang="ko-KR" altLang="en-US" dirty="0">
                <a:latin typeface="+mn-ea"/>
              </a:rPr>
              <a:t>이 발명되었다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432483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2) </a:t>
            </a:r>
            <a:r>
              <a:rPr lang="ko-KR" altLang="en-US" dirty="0"/>
              <a:t>제한효소의 발견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b="1" dirty="0">
                <a:highlight>
                  <a:srgbClr val="FFFF00"/>
                </a:highlight>
              </a:rPr>
              <a:t>Restriction endonuclease</a:t>
            </a:r>
            <a:r>
              <a:rPr lang="en-US" b="1" dirty="0">
                <a:highlight>
                  <a:srgbClr val="FFFF00"/>
                </a:highlight>
              </a:rPr>
              <a:t>(</a:t>
            </a:r>
            <a:r>
              <a:rPr lang="ko-KR" altLang="en-US" b="1" dirty="0">
                <a:highlight>
                  <a:srgbClr val="FFFF00"/>
                </a:highlight>
              </a:rPr>
              <a:t>제한효소</a:t>
            </a:r>
            <a:r>
              <a:rPr lang="en-US" altLang="ko-KR" dirty="0"/>
              <a:t>)</a:t>
            </a:r>
            <a:r>
              <a:rPr dirty="0"/>
              <a:t>는 </a:t>
            </a:r>
            <a:r>
              <a:rPr dirty="0" err="1"/>
              <a:t>특정</a:t>
            </a:r>
            <a:r>
              <a:rPr dirty="0"/>
              <a:t> DNA </a:t>
            </a:r>
            <a:r>
              <a:rPr dirty="0" err="1"/>
              <a:t>서열을</a:t>
            </a:r>
            <a:r>
              <a:rPr dirty="0"/>
              <a:t> </a:t>
            </a:r>
            <a:r>
              <a:rPr dirty="0" err="1"/>
              <a:t>인식해</a:t>
            </a:r>
            <a:r>
              <a:rPr dirty="0"/>
              <a:t> </a:t>
            </a:r>
            <a:r>
              <a:rPr dirty="0" err="1"/>
              <a:t>절단한다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이는 </a:t>
            </a:r>
            <a:r>
              <a:rPr dirty="0" err="1"/>
              <a:t>세균에서</a:t>
            </a:r>
            <a:r>
              <a:rPr dirty="0"/>
              <a:t> </a:t>
            </a:r>
            <a:r>
              <a:rPr dirty="0" err="1"/>
              <a:t>외래</a:t>
            </a:r>
            <a:r>
              <a:rPr dirty="0"/>
              <a:t> DNA </a:t>
            </a:r>
            <a:r>
              <a:rPr dirty="0" err="1"/>
              <a:t>방어에</a:t>
            </a:r>
            <a:r>
              <a:rPr dirty="0"/>
              <a:t> </a:t>
            </a:r>
            <a:r>
              <a:rPr dirty="0" err="1"/>
              <a:t>이용된다</a:t>
            </a:r>
            <a:r>
              <a:rPr dirty="0"/>
              <a:t>.</a:t>
            </a:r>
            <a:r>
              <a:rPr lang="en-US" dirty="0"/>
              <a:t>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효소의 </a:t>
            </a:r>
            <a:r>
              <a:rPr dirty="0" err="1"/>
              <a:t>인식서열에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절단</a:t>
            </a:r>
            <a:r>
              <a:rPr dirty="0"/>
              <a:t> </a:t>
            </a:r>
            <a:r>
              <a:rPr dirty="0" err="1"/>
              <a:t>위치와</a:t>
            </a:r>
            <a:r>
              <a:rPr dirty="0"/>
              <a:t> </a:t>
            </a:r>
            <a:r>
              <a:rPr dirty="0" err="1"/>
              <a:t>말단</a:t>
            </a:r>
            <a:r>
              <a:rPr dirty="0"/>
              <a:t> </a:t>
            </a:r>
            <a:r>
              <a:rPr dirty="0" err="1"/>
              <a:t>형태가</a:t>
            </a:r>
            <a:r>
              <a:rPr dirty="0"/>
              <a:t> </a:t>
            </a:r>
            <a:r>
              <a:rPr dirty="0" err="1"/>
              <a:t>달라진다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이는 </a:t>
            </a:r>
            <a:r>
              <a:rPr dirty="0" err="1"/>
              <a:t>재조합</a:t>
            </a:r>
            <a:r>
              <a:rPr dirty="0"/>
              <a:t> DNA </a:t>
            </a:r>
            <a:r>
              <a:rPr dirty="0" err="1"/>
              <a:t>기술의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도구가</a:t>
            </a:r>
            <a:r>
              <a:rPr dirty="0"/>
              <a:t> </a:t>
            </a:r>
            <a:r>
              <a:rPr dirty="0" err="1"/>
              <a:t>되었다</a:t>
            </a:r>
            <a:r>
              <a:rPr dirty="0"/>
              <a:t>.</a:t>
            </a:r>
            <a:r>
              <a:rPr lang="en-US" dirty="0"/>
              <a:t> (“</a:t>
            </a:r>
            <a:r>
              <a:rPr lang="ko-KR" altLang="en-US" dirty="0"/>
              <a:t>가위</a:t>
            </a:r>
            <a:r>
              <a:rPr lang="en-US" altLang="ko-KR" dirty="0"/>
              <a:t>” </a:t>
            </a:r>
            <a:r>
              <a:rPr lang="ko-KR" altLang="en-US" dirty="0"/>
              <a:t>로 사용 가능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2A733-6EB5-4F8F-B7B4-9CBE2F68948B}"/>
              </a:ext>
            </a:extLst>
          </p:cNvPr>
          <p:cNvSpPr txBox="1"/>
          <p:nvPr/>
        </p:nvSpPr>
        <p:spPr>
          <a:xfrm>
            <a:off x="1325880" y="2517660"/>
            <a:ext cx="5952270" cy="14722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참조</a:t>
            </a:r>
            <a:r>
              <a:rPr lang="en-US" altLang="ko-KR" sz="1400" dirty="0"/>
              <a:t>. </a:t>
            </a:r>
            <a:r>
              <a:rPr lang="ko-KR" altLang="en-US" sz="1400" dirty="0"/>
              <a:t>세균의 자기 </a:t>
            </a:r>
            <a:r>
              <a:rPr lang="en-US" altLang="ko-KR" sz="1400" dirty="0"/>
              <a:t>DNA</a:t>
            </a:r>
            <a:r>
              <a:rPr lang="ko-KR" altLang="en-US" sz="1400" dirty="0"/>
              <a:t>는 제한효소에 의해 무차별적으로 절단되지 않는다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자기 </a:t>
            </a:r>
            <a:r>
              <a:rPr lang="en-US" altLang="ko-KR" sz="1400" dirty="0"/>
              <a:t>DNA</a:t>
            </a:r>
            <a:r>
              <a:rPr lang="ko-KR" altLang="en-US" sz="1400" dirty="0"/>
              <a:t>의 특정 염기가 </a:t>
            </a:r>
            <a:r>
              <a:rPr lang="en-US" altLang="ko-KR" sz="1400" dirty="0"/>
              <a:t>methylation </a:t>
            </a:r>
            <a:r>
              <a:rPr lang="ko-KR" altLang="en-US" sz="1400" dirty="0"/>
              <a:t>등으로 변형된다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400" dirty="0"/>
              <a:t>restriction-modification system</a:t>
            </a:r>
            <a:r>
              <a:rPr lang="ko-KR" altLang="en-US" sz="1400" dirty="0"/>
              <a:t>은 자기 </a:t>
            </a:r>
            <a:r>
              <a:rPr lang="en-US" altLang="ko-KR" sz="1400" dirty="0"/>
              <a:t>DNA</a:t>
            </a:r>
            <a:r>
              <a:rPr lang="ko-KR" altLang="en-US" sz="1400" dirty="0"/>
              <a:t>와 외래 </a:t>
            </a:r>
            <a:r>
              <a:rPr lang="en-US" altLang="ko-KR" sz="1400" dirty="0"/>
              <a:t>DNA</a:t>
            </a:r>
            <a:r>
              <a:rPr lang="ko-KR" altLang="en-US" sz="1400" dirty="0"/>
              <a:t>를 구분한다</a:t>
            </a:r>
            <a:r>
              <a:rPr lang="en-US" altLang="ko-KR"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400" dirty="0"/>
              <a:t>변형되지 않은 외래 </a:t>
            </a:r>
            <a:r>
              <a:rPr lang="en-US" altLang="ko-KR" sz="1400" dirty="0"/>
              <a:t>DNA</a:t>
            </a:r>
            <a:r>
              <a:rPr lang="ko-KR" altLang="en-US" sz="1400" dirty="0"/>
              <a:t>를 선택적으로 분해한다</a:t>
            </a:r>
            <a:r>
              <a:rPr lang="en-US" altLang="ko-KR" sz="1400" dirty="0"/>
              <a:t>.</a:t>
            </a:r>
          </a:p>
        </p:txBody>
      </p:sp>
      <p:pic>
        <p:nvPicPr>
          <p:cNvPr id="1026" name="Picture 2" descr="8.5: Restriction Enzymes - Biology LibreTexts">
            <a:extLst>
              <a:ext uri="{FF2B5EF4-FFF2-40B4-BE49-F238E27FC236}">
                <a16:creationId xmlns:a16="http://schemas.microsoft.com/office/drawing/2014/main" id="{55859F5F-5605-429D-8DA1-A811D1D71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084" y="2361081"/>
            <a:ext cx="3048573" cy="335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60356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8A239-2930-42C2-A254-AA8CD2973A02}"/>
              </a:ext>
            </a:extLst>
          </p:cNvPr>
          <p:cNvSpPr txBox="1"/>
          <p:nvPr/>
        </p:nvSpPr>
        <p:spPr>
          <a:xfrm>
            <a:off x="685800" y="960120"/>
            <a:ext cx="10835640" cy="481112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3) </a:t>
            </a:r>
            <a:r>
              <a:rPr lang="ko-KR" altLang="en-US" dirty="0"/>
              <a:t>인식 서열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/>
              <a:t>Restriction endonuclease</a:t>
            </a:r>
            <a:r>
              <a:rPr lang="en-US" dirty="0"/>
              <a:t>(</a:t>
            </a:r>
            <a:r>
              <a:rPr lang="ko-KR" altLang="en-US" dirty="0"/>
              <a:t>제한효소</a:t>
            </a:r>
            <a:r>
              <a:rPr lang="en-US" altLang="ko-KR" dirty="0"/>
              <a:t>)</a:t>
            </a:r>
            <a:r>
              <a:rPr dirty="0"/>
              <a:t>는 </a:t>
            </a:r>
            <a:r>
              <a:rPr dirty="0" err="1"/>
              <a:t>특정</a:t>
            </a:r>
            <a:r>
              <a:rPr dirty="0"/>
              <a:t> DNA </a:t>
            </a:r>
            <a:r>
              <a:rPr dirty="0" err="1"/>
              <a:t>서열을</a:t>
            </a:r>
            <a:r>
              <a:rPr dirty="0"/>
              <a:t> </a:t>
            </a:r>
            <a:r>
              <a:rPr dirty="0" err="1"/>
              <a:t>인식해</a:t>
            </a:r>
            <a:r>
              <a:rPr dirty="0"/>
              <a:t> </a:t>
            </a:r>
            <a:r>
              <a:rPr dirty="0" err="1"/>
              <a:t>절단한다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박테리아는 </a:t>
            </a:r>
            <a:r>
              <a:rPr lang="en-US" altLang="ko-KR" dirty="0"/>
              <a:t>100</a:t>
            </a:r>
            <a:r>
              <a:rPr lang="ko-KR" altLang="en-US" dirty="0"/>
              <a:t>가지 이상의 다양한 인식 부위에서 </a:t>
            </a:r>
            <a:r>
              <a:rPr lang="en-US" altLang="ko-KR" dirty="0"/>
              <a:t>DNA </a:t>
            </a:r>
            <a:r>
              <a:rPr lang="ko-KR" altLang="en-US" dirty="0"/>
              <a:t>서열 을 자를 수 있는 제한효소를 가지며</a:t>
            </a:r>
            <a:r>
              <a:rPr lang="en-US" altLang="ko-KR" dirty="0"/>
              <a:t>, 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절단 시 나타나는 </a:t>
            </a:r>
            <a:r>
              <a:rPr lang="ko-KR" altLang="en-US" dirty="0" err="1"/>
              <a:t>단일가닥</a:t>
            </a:r>
            <a:r>
              <a:rPr lang="ko-KR" altLang="en-US" dirty="0"/>
              <a:t> </a:t>
            </a:r>
            <a:r>
              <a:rPr lang="en-US" altLang="ko-KR" dirty="0"/>
              <a:t>DNA </a:t>
            </a:r>
            <a:r>
              <a:rPr lang="ko-KR" altLang="en-US" dirty="0" err="1"/>
              <a:t>절단부</a:t>
            </a:r>
            <a:r>
              <a:rPr lang="ko-KR" altLang="en-US" dirty="0"/>
              <a:t> </a:t>
            </a:r>
            <a:r>
              <a:rPr lang="en-US" altLang="ko-KR" dirty="0"/>
              <a:t>(“sticky end”) </a:t>
            </a:r>
            <a:r>
              <a:rPr lang="ko-KR" altLang="en-US" dirty="0"/>
              <a:t>덕분에 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같은 제한효소로 잘린 두 서열 </a:t>
            </a:r>
            <a:r>
              <a:rPr lang="ko-KR" altLang="en-US" dirty="0" err="1"/>
              <a:t>끼리의</a:t>
            </a:r>
            <a:r>
              <a:rPr lang="ko-KR" altLang="en-US" dirty="0"/>
              <a:t> 재조합이 용이하다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물론 단순히 </a:t>
            </a:r>
            <a:r>
              <a:rPr lang="ko-KR" altLang="en-US" dirty="0" err="1"/>
              <a:t>진핵생물</a:t>
            </a:r>
            <a:r>
              <a:rPr lang="ko-KR" altLang="en-US" dirty="0"/>
              <a:t> 유전체 전체를 특정 제한 효소로 절단하면 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엄청나게 많은 절편이 나오지만 아래 그림과 같이 작은 </a:t>
            </a:r>
            <a:r>
              <a:rPr lang="en-US" altLang="ko-KR" dirty="0"/>
              <a:t>plasmid </a:t>
            </a:r>
            <a:r>
              <a:rPr lang="ko-KR" altLang="en-US" dirty="0"/>
              <a:t>와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 같은 유전체에</a:t>
            </a:r>
            <a:r>
              <a:rPr lang="en-US" altLang="ko-KR" dirty="0"/>
              <a:t>, </a:t>
            </a:r>
            <a:r>
              <a:rPr lang="ko-KR" altLang="en-US" dirty="0"/>
              <a:t>특정 절편 </a:t>
            </a:r>
            <a:r>
              <a:rPr lang="en-US" altLang="ko-KR" dirty="0"/>
              <a:t>(</a:t>
            </a:r>
            <a:r>
              <a:rPr lang="ko-KR" altLang="en-US" dirty="0"/>
              <a:t>분리되거나</a:t>
            </a:r>
            <a:r>
              <a:rPr lang="en-US" altLang="ko-KR" dirty="0"/>
              <a:t>, </a:t>
            </a:r>
            <a:r>
              <a:rPr lang="ko-KR" altLang="en-US" dirty="0"/>
              <a:t>합성</a:t>
            </a:r>
            <a:r>
              <a:rPr lang="en-US" altLang="ko-KR" dirty="0"/>
              <a:t>, PCR </a:t>
            </a:r>
            <a:r>
              <a:rPr lang="ko-KR" altLang="en-US" dirty="0"/>
              <a:t>증폭 등 이용</a:t>
            </a:r>
            <a:r>
              <a:rPr lang="en-US" altLang="ko-KR" dirty="0"/>
              <a:t>) </a:t>
            </a:r>
            <a:r>
              <a:rPr lang="ko-KR" altLang="en-US" dirty="0"/>
              <a:t>을 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넣어서 조작하고 분석할 수 있다</a:t>
            </a:r>
            <a:r>
              <a:rPr lang="en-US" altLang="ko-KR" dirty="0"/>
              <a:t>. 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467B001-8966-489B-AE34-77329C5B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15" y="3042076"/>
            <a:ext cx="2775646" cy="264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5422D2D3-3EE2-46CF-A706-A39FC1A3F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500918"/>
              </p:ext>
            </p:extLst>
          </p:nvPr>
        </p:nvGraphicFramePr>
        <p:xfrm>
          <a:off x="1051560" y="1172923"/>
          <a:ext cx="10321833" cy="3571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53491">
                  <a:extLst>
                    <a:ext uri="{9D8B030D-6E8A-4147-A177-3AD203B41FA5}">
                      <a16:colId xmlns:a16="http://schemas.microsoft.com/office/drawing/2014/main" val="3230674985"/>
                    </a:ext>
                  </a:extLst>
                </a:gridCol>
                <a:gridCol w="4527731">
                  <a:extLst>
                    <a:ext uri="{9D8B030D-6E8A-4147-A177-3AD203B41FA5}">
                      <a16:colId xmlns:a16="http://schemas.microsoft.com/office/drawing/2014/main" val="2184295880"/>
                    </a:ext>
                  </a:extLst>
                </a:gridCol>
                <a:gridCol w="3440611">
                  <a:extLst>
                    <a:ext uri="{9D8B030D-6E8A-4147-A177-3AD203B41FA5}">
                      <a16:colId xmlns:a16="http://schemas.microsoft.com/office/drawing/2014/main" val="86969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효소명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유래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인식부위와 절단부위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004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BamHI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>
                          <a:latin typeface="+mn-ea"/>
                          <a:ea typeface="+mn-ea"/>
                        </a:rPr>
                        <a:t>Bacillus</a:t>
                      </a:r>
                      <a:r>
                        <a:rPr lang="ko-KR" altLang="en-US" i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i="1" dirty="0" err="1">
                          <a:latin typeface="+mn-ea"/>
                          <a:ea typeface="+mn-ea"/>
                        </a:rPr>
                        <a:t>amyloliquefaciens</a:t>
                      </a:r>
                      <a:r>
                        <a:rPr lang="en-US" altLang="ko-KR" i="1" dirty="0">
                          <a:latin typeface="+mn-ea"/>
                          <a:ea typeface="+mn-ea"/>
                        </a:rPr>
                        <a:t> H</a:t>
                      </a:r>
                      <a:endParaRPr lang="ko-KR" altLang="en-US" i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5’-G|GATCC-3’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3’-CCTAG|G-5’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5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EcoRI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>
                          <a:latin typeface="+mn-ea"/>
                          <a:ea typeface="+mn-ea"/>
                        </a:rPr>
                        <a:t>Escherichia coli RY13</a:t>
                      </a:r>
                      <a:endParaRPr lang="ko-KR" altLang="en-US" i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5’-G|AATTC-3’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3’-CTTAA|G-5’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666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HaeIII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>
                          <a:latin typeface="+mn-ea"/>
                          <a:ea typeface="+mn-ea"/>
                        </a:rPr>
                        <a:t>Haemophilus</a:t>
                      </a:r>
                      <a:r>
                        <a:rPr lang="en-US" altLang="ko-KR" i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i="1" dirty="0" err="1">
                          <a:latin typeface="+mn-ea"/>
                          <a:ea typeface="+mn-ea"/>
                        </a:rPr>
                        <a:t>aegyptius</a:t>
                      </a:r>
                      <a:endParaRPr lang="ko-KR" altLang="en-US" i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5’-GG|CC-3’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3’-CC|GG-5’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6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HpaII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>
                          <a:latin typeface="+mn-ea"/>
                          <a:ea typeface="+mn-ea"/>
                        </a:rPr>
                        <a:t>Heamophilus</a:t>
                      </a:r>
                      <a:r>
                        <a:rPr lang="en-US" altLang="ko-KR" i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i="1" dirty="0" err="1">
                          <a:latin typeface="+mn-ea"/>
                          <a:ea typeface="+mn-ea"/>
                        </a:rPr>
                        <a:t>parainfluenae</a:t>
                      </a:r>
                      <a:endParaRPr lang="ko-KR" altLang="en-US" i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5’-C|CGG-3’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3’-GGC|C-5’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36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Not1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>
                          <a:latin typeface="+mn-ea"/>
                          <a:ea typeface="+mn-ea"/>
                        </a:rPr>
                        <a:t>Nocardia </a:t>
                      </a:r>
                      <a:r>
                        <a:rPr lang="en-US" altLang="ko-KR" i="1" dirty="0" err="1">
                          <a:latin typeface="+mn-ea"/>
                          <a:ea typeface="+mn-ea"/>
                        </a:rPr>
                        <a:t>otitidis-caviarum</a:t>
                      </a:r>
                      <a:endParaRPr lang="ko-KR" altLang="en-US" i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5’-GC|GGCCGC-3’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3’-CGCCGG|CG-5’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164795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E7E08D4D-E6D5-4809-8CA3-9ED95AAA7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327" y="4887739"/>
            <a:ext cx="2177529" cy="187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5836920" cy="267073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dirty="0"/>
              <a:t>4) </a:t>
            </a:r>
            <a:r>
              <a:rPr lang="en-US" altLang="ko-KR" dirty="0" err="1"/>
              <a:t>EcoRI</a:t>
            </a:r>
            <a:r>
              <a:rPr lang="ko-KR" altLang="en-US" dirty="0"/>
              <a:t>과 </a:t>
            </a:r>
            <a:r>
              <a:rPr lang="el-GR" altLang="ko-KR" dirty="0"/>
              <a:t>λ </a:t>
            </a:r>
            <a:r>
              <a:rPr lang="en-US" altLang="ko-KR" dirty="0"/>
              <a:t>DNA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EcoRI은</a:t>
            </a:r>
            <a:r>
              <a:rPr dirty="0"/>
              <a:t> λ </a:t>
            </a:r>
            <a:r>
              <a:rPr dirty="0" err="1"/>
              <a:t>DNA에서</a:t>
            </a:r>
            <a:r>
              <a:rPr dirty="0"/>
              <a:t> 5곳을 </a:t>
            </a:r>
            <a:r>
              <a:rPr dirty="0" err="1"/>
              <a:t>절단한다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따라서</a:t>
            </a:r>
            <a:r>
              <a:rPr dirty="0"/>
              <a:t> 6개의 DNA </a:t>
            </a:r>
            <a:r>
              <a:rPr dirty="0" err="1"/>
              <a:t>fragment가</a:t>
            </a:r>
            <a:r>
              <a:rPr dirty="0"/>
              <a:t> </a:t>
            </a:r>
            <a:r>
              <a:rPr dirty="0" err="1"/>
              <a:t>생성된다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조각</a:t>
            </a:r>
            <a:r>
              <a:rPr dirty="0"/>
              <a:t> </a:t>
            </a:r>
            <a:r>
              <a:rPr dirty="0" err="1"/>
              <a:t>크기는</a:t>
            </a:r>
            <a:r>
              <a:rPr dirty="0"/>
              <a:t> 약 3.6–21.2 kb </a:t>
            </a:r>
            <a:r>
              <a:rPr dirty="0" err="1"/>
              <a:t>범위이다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agarose gel </a:t>
            </a:r>
            <a:r>
              <a:rPr dirty="0" err="1"/>
              <a:t>electrophoresis로</a:t>
            </a:r>
            <a:r>
              <a:rPr dirty="0"/>
              <a:t> </a:t>
            </a:r>
            <a:r>
              <a:rPr dirty="0" err="1"/>
              <a:t>크기별</a:t>
            </a:r>
            <a:r>
              <a:rPr dirty="0"/>
              <a:t> </a:t>
            </a:r>
            <a:r>
              <a:rPr dirty="0" err="1"/>
              <a:t>분리가</a:t>
            </a:r>
            <a:r>
              <a:rPr dirty="0"/>
              <a:t> </a:t>
            </a:r>
            <a:r>
              <a:rPr dirty="0" err="1"/>
              <a:t>가능하다</a:t>
            </a:r>
            <a:r>
              <a:rPr dirty="0"/>
              <a:t>.</a:t>
            </a:r>
            <a:endParaRPr lang="en-US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내용 개체 틀 4">
            <a:extLst>
              <a:ext uri="{FF2B5EF4-FFF2-40B4-BE49-F238E27FC236}">
                <a16:creationId xmlns:a16="http://schemas.microsoft.com/office/drawing/2014/main" id="{718AC53B-E69D-4F26-A38F-DBBD786A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551" y="841248"/>
            <a:ext cx="4593209" cy="59459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FAE716-0F7B-4EE5-B074-0C1A74EFBF18}"/>
              </a:ext>
            </a:extLst>
          </p:cNvPr>
          <p:cNvSpPr txBox="1"/>
          <p:nvPr/>
        </p:nvSpPr>
        <p:spPr>
          <a:xfrm>
            <a:off x="3840480" y="4714937"/>
            <a:ext cx="3307080" cy="213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altLang="ko-KR" sz="1000" dirty="0">
              <a:latin typeface="Arial" panose="020B0604020202020204" pitchFamily="34" charset="0"/>
              <a:ea typeface="HY엽서L" panose="0203060000010101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000" b="1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Figure 4.13 </a:t>
            </a:r>
            <a:r>
              <a:rPr lang="ko-KR" altLang="en-US" sz="1000" b="1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제한효소 처리와 겔 </a:t>
            </a:r>
            <a:r>
              <a:rPr lang="ko-KR" altLang="en-US" sz="1000" b="1" dirty="0" err="1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전기영동</a:t>
            </a:r>
            <a:endParaRPr lang="ko-KR" altLang="en-US" sz="1000" b="1" dirty="0">
              <a:latin typeface="Arial" panose="020B0604020202020204" pitchFamily="34" charset="0"/>
              <a:ea typeface="HY엽서L" panose="0203060000010101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000" b="1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제한효소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는 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DNA 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분자 내에서 고유하게 지정된 특정한 염기 서열을 인식하여 결합한 뒤 그 부위를 절단한다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절단된 다양한 크기의 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DNA 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조각들은 </a:t>
            </a:r>
            <a:r>
              <a:rPr lang="ko-KR" altLang="en-US" sz="1000" dirty="0" err="1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아가로스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 겔 평판 위에 로딩되어 전류가 흐르는 </a:t>
            </a:r>
            <a:r>
              <a:rPr lang="ko-KR" altLang="en-US" sz="1000" dirty="0" err="1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전기영동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 장치로 분리된다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. 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음전하를 띠는 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DNA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는 양극을 향해 이동하며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이때 크기가 작은 조각일수록 겔의 그물망 구조를 빠르게 통과하여 멀리 이동한다</a:t>
            </a:r>
            <a:r>
              <a:rPr lang="en-US" altLang="ko-KR" sz="1000" dirty="0">
                <a:latin typeface="Arial" panose="020B0604020202020204" pitchFamily="34" charset="0"/>
                <a:ea typeface="HY엽서L" panose="02030600000101010101" pitchFamily="18" charset="-127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044983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5) DNA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전기영동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DNA는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인산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골격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때문에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음전하를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띤다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전기장에서는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양극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(+)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방향으로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이동한다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agarose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gel이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분자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이동을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체처럼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제한한다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작은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DNA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조각이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큰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조각보다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빠르게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이동한다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2" descr="Gel electrophoresis - Wikipedia">
            <a:extLst>
              <a:ext uri="{FF2B5EF4-FFF2-40B4-BE49-F238E27FC236}">
                <a16:creationId xmlns:a16="http://schemas.microsoft.com/office/drawing/2014/main" id="{EE670C7B-7B5F-4EED-A5A2-A83F94C07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3403708"/>
            <a:ext cx="2503903" cy="319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apillary vs. Gel Electrophoresis: Differences, Advantages, and Applications">
            <a:extLst>
              <a:ext uri="{FF2B5EF4-FFF2-40B4-BE49-F238E27FC236}">
                <a16:creationId xmlns:a16="http://schemas.microsoft.com/office/drawing/2014/main" id="{C0C3EC9A-3AD3-44F7-A5E1-F2DD15F08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383" y="3915890"/>
            <a:ext cx="4301292" cy="286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Agarose Gel Electrophoresis: How It Works and Key Uses | Technology Networks">
            <a:extLst>
              <a:ext uri="{FF2B5EF4-FFF2-40B4-BE49-F238E27FC236}">
                <a16:creationId xmlns:a16="http://schemas.microsoft.com/office/drawing/2014/main" id="{C7F5C270-A079-41A7-AB78-A9DD65B23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820" y="4800249"/>
            <a:ext cx="3204916" cy="180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DNA Ladder XXL 250 bp - 25 kbp">
            <a:extLst>
              <a:ext uri="{FF2B5EF4-FFF2-40B4-BE49-F238E27FC236}">
                <a16:creationId xmlns:a16="http://schemas.microsoft.com/office/drawing/2014/main" id="{7456B7D3-EAE3-4D5C-BD42-B90A2768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185" y="3138834"/>
            <a:ext cx="2052205" cy="345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AB596D1-5BD2-4E99-AD20-7E2A82DCA657}"/>
              </a:ext>
            </a:extLst>
          </p:cNvPr>
          <p:cNvCxnSpPr/>
          <p:nvPr/>
        </p:nvCxnSpPr>
        <p:spPr>
          <a:xfrm>
            <a:off x="10310949" y="3587931"/>
            <a:ext cx="0" cy="2508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865977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b="1" dirty="0"/>
              <a:t>4.3.2. </a:t>
            </a:r>
            <a:r>
              <a:rPr lang="ko-KR" altLang="en-US" b="1" dirty="0">
                <a:highlight>
                  <a:srgbClr val="FFFF00"/>
                </a:highlight>
              </a:rPr>
              <a:t>유전자 </a:t>
            </a:r>
            <a:r>
              <a:rPr lang="ko-KR" altLang="en-US" b="1" dirty="0" err="1">
                <a:highlight>
                  <a:srgbClr val="FFFF00"/>
                </a:highlight>
              </a:rPr>
              <a:t>클로닝</a:t>
            </a:r>
            <a:endParaRPr lang="en-US" altLang="ko-KR" b="1" dirty="0">
              <a:highlight>
                <a:srgbClr val="FFFF00"/>
              </a:highlight>
            </a:endParaRP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dirty="0"/>
              <a:t>1) </a:t>
            </a:r>
            <a:r>
              <a:rPr lang="ko-KR" altLang="en-US" dirty="0"/>
              <a:t>인간 유전체 절단의 한계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약 </a:t>
            </a:r>
            <a:r>
              <a:rPr lang="en-US" altLang="ko-KR" dirty="0"/>
              <a:t>30</a:t>
            </a:r>
            <a:r>
              <a:rPr lang="ko-KR" altLang="en-US" dirty="0"/>
              <a:t>억 </a:t>
            </a:r>
            <a:r>
              <a:rPr lang="en-US" altLang="ko-KR" dirty="0"/>
              <a:t>bp</a:t>
            </a:r>
            <a:r>
              <a:rPr lang="ko-KR" altLang="en-US" dirty="0"/>
              <a:t>의 인간 유전체를 </a:t>
            </a:r>
            <a:r>
              <a:rPr lang="en-US" altLang="ko-KR" dirty="0"/>
              <a:t>6 bp </a:t>
            </a:r>
            <a:r>
              <a:rPr lang="ko-KR" altLang="en-US" dirty="0"/>
              <a:t>효소로 자르면 매우 많은 조각이 생긴다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수십만 개 수준의 조각은 일반 </a:t>
            </a:r>
            <a:r>
              <a:rPr lang="en-US" altLang="ko-KR" dirty="0"/>
              <a:t>agarose gel</a:t>
            </a:r>
            <a:r>
              <a:rPr lang="ko-KR" altLang="en-US" dirty="0"/>
              <a:t>에서 개별 분리가 불가능하다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결과는 </a:t>
            </a:r>
            <a:r>
              <a:rPr lang="en-US" altLang="ko-KR" dirty="0"/>
              <a:t>discrete bands</a:t>
            </a:r>
            <a:r>
              <a:rPr lang="ko-KR" altLang="en-US" dirty="0"/>
              <a:t>가 아니라 </a:t>
            </a:r>
            <a:r>
              <a:rPr lang="en-US" altLang="ko-KR" dirty="0"/>
              <a:t>smear</a:t>
            </a:r>
            <a:r>
              <a:rPr lang="ko-KR" altLang="en-US" dirty="0"/>
              <a:t>에 가까워진다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따라서 특정 유전자를 다루려면 </a:t>
            </a:r>
            <a:r>
              <a:rPr lang="en-US" altLang="ko-KR" dirty="0"/>
              <a:t>molecular cloning</a:t>
            </a:r>
            <a:r>
              <a:rPr lang="ko-KR" altLang="en-US" dirty="0"/>
              <a:t>이 필요하다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4D74A9C-95C6-40A9-855A-1243E9CC22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261"/>
          <a:stretch/>
        </p:blipFill>
        <p:spPr>
          <a:xfrm>
            <a:off x="8996077" y="1078992"/>
            <a:ext cx="2685295" cy="53875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1E5216-30B6-4473-3CD3-218E1E3A3B68}"/>
              </a:ext>
            </a:extLst>
          </p:cNvPr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FD6D2-EC44-4401-9689-2B5AD4D73DCC}"/>
              </a:ext>
            </a:extLst>
          </p:cNvPr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9ECFB-7E14-437C-B1C2-84C524479382}"/>
              </a:ext>
            </a:extLst>
          </p:cNvPr>
          <p:cNvSpPr txBox="1"/>
          <p:nvPr/>
        </p:nvSpPr>
        <p:spPr>
          <a:xfrm>
            <a:off x="685800" y="960120"/>
            <a:ext cx="10835640" cy="5146024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2) </a:t>
            </a:r>
            <a:r>
              <a:rPr lang="ko-KR" altLang="en-US" dirty="0"/>
              <a:t>분자 </a:t>
            </a:r>
            <a:r>
              <a:rPr lang="ko-KR" altLang="en-US" dirty="0" err="1"/>
              <a:t>클로닝의</a:t>
            </a:r>
            <a:r>
              <a:rPr lang="ko-KR" altLang="en-US" dirty="0"/>
              <a:t> 개념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Molecular cloning </a:t>
            </a:r>
            <a:r>
              <a:rPr lang="ko-KR" altLang="en-US" dirty="0"/>
              <a:t>의 기본 전략은 원하는 </a:t>
            </a:r>
            <a:r>
              <a:rPr lang="en-US" altLang="ko-KR" dirty="0"/>
              <a:t>DNA </a:t>
            </a:r>
            <a:r>
              <a:rPr lang="ko-KR" altLang="en-US" dirty="0"/>
              <a:t>절편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. </a:t>
            </a:r>
            <a:r>
              <a:rPr lang="ko-KR" altLang="en-US" dirty="0"/>
              <a:t>인간의 특정 유전자 관련 </a:t>
            </a:r>
            <a:r>
              <a:rPr lang="en-US" altLang="ko-KR" dirty="0"/>
              <a:t>DNA</a:t>
            </a:r>
            <a:r>
              <a:rPr lang="ko-KR" altLang="en-US" dirty="0"/>
              <a:t>를 포함한 서열</a:t>
            </a:r>
            <a:r>
              <a:rPr lang="en-US" altLang="ko-KR" dirty="0"/>
              <a:t>) 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복제 하는 행위이다</a:t>
            </a:r>
            <a:r>
              <a:rPr lang="en-US" altLang="ko-KR" dirty="0"/>
              <a:t>.</a:t>
            </a:r>
            <a:endParaRPr lang="en-US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이를 위해서 운반체</a:t>
            </a:r>
            <a:r>
              <a:rPr lang="en-US" altLang="ko-KR" dirty="0"/>
              <a:t>(vector) </a:t>
            </a:r>
            <a:r>
              <a:rPr lang="ko-KR" altLang="en-US" dirty="0"/>
              <a:t>에 삽입하고 이를 대장균과 같이 빠르게 분열하는 생물에 넣는다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가장 일반적으로 쓰일 수 있는 좋은 운반체는 대장균의 </a:t>
            </a:r>
            <a:r>
              <a:rPr lang="en-US" altLang="ko-KR" dirty="0"/>
              <a:t>plasmid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 err="1"/>
              <a:t>플라스미드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원하는 서열 을 결합시킨 재조합 </a:t>
            </a:r>
            <a:r>
              <a:rPr lang="en-US" altLang="ko-KR" dirty="0"/>
              <a:t>DNA</a:t>
            </a:r>
            <a:r>
              <a:rPr lang="ko-KR" altLang="en-US" dirty="0"/>
              <a:t>를 숙주</a:t>
            </a:r>
            <a:r>
              <a:rPr lang="en-US" altLang="ko-KR" dirty="0"/>
              <a:t>(</a:t>
            </a:r>
            <a:r>
              <a:rPr lang="ko-KR" altLang="en-US" dirty="0"/>
              <a:t>대장균</a:t>
            </a:r>
            <a:r>
              <a:rPr lang="en-US" altLang="ko-KR" dirty="0"/>
              <a:t>)</a:t>
            </a:r>
            <a:r>
              <a:rPr lang="ko-KR" altLang="en-US" dirty="0"/>
              <a:t>에 넣고 증식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이를 통해 원하는 </a:t>
            </a:r>
            <a:r>
              <a:rPr lang="en-US" altLang="ko-KR" dirty="0"/>
              <a:t>DNA</a:t>
            </a:r>
            <a:r>
              <a:rPr lang="ko-KR" altLang="en-US" dirty="0"/>
              <a:t>를 대량 확보한다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유전체의 희귀한 특정 서열을 순수한 분자 형태로 분리하는 전략이다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altLang="ko-K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C4411DE-58C6-43C8-9ADB-63E1EB73B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907" y="841248"/>
            <a:ext cx="1948567" cy="56638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F6D3BC-23EF-4F9A-A9AF-00F5D7A39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799" y="704088"/>
            <a:ext cx="4156944" cy="900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C1B9C3-54E1-454C-9A4A-726E38F38F08}"/>
              </a:ext>
            </a:extLst>
          </p:cNvPr>
          <p:cNvSpPr txBox="1"/>
          <p:nvPr/>
        </p:nvSpPr>
        <p:spPr>
          <a:xfrm>
            <a:off x="3994396" y="1419256"/>
            <a:ext cx="3390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Figure 4.14 </a:t>
            </a:r>
            <a:r>
              <a:rPr lang="ko-KR" altLang="en-US" sz="120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플라스미드</a:t>
            </a:r>
            <a:r>
              <a:rPr lang="ko-KR" altLang="en-US" sz="12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벡터를 이용한 </a:t>
            </a:r>
            <a:r>
              <a:rPr lang="en-US" altLang="ko-KR" sz="12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20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클로닝</a:t>
            </a:r>
            <a:endParaRPr lang="ko-KR" altLang="en-US" sz="1200" b="1" dirty="0">
              <a:latin typeface="HY엽서L" panose="02030600000101010101" pitchFamily="18" charset="-127"/>
              <a:ea typeface="HY엽서L" panose="02030600000101010101" pitchFamily="18" charset="-127"/>
            </a:endParaRPr>
          </a:p>
          <a:p>
            <a:pPr>
              <a:buNone/>
            </a:pP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연구 대상인 외래 </a:t>
            </a:r>
            <a:r>
              <a:rPr lang="en-US" altLang="ko-KR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단편을 대장균 내에서 독립적으로 복제 가능한 원형의 </a:t>
            </a:r>
            <a:r>
              <a:rPr lang="ko-KR" altLang="en-US" sz="12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플라스미드</a:t>
            </a: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 벡터에 삽입한다</a:t>
            </a:r>
            <a:r>
              <a:rPr lang="en-US" altLang="ko-KR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이 재조합 </a:t>
            </a:r>
            <a:r>
              <a:rPr lang="ko-KR" altLang="en-US" sz="12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플라스미드를</a:t>
            </a: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 화학적 처리를 거친 대장균 세포 내부로 도입하여 형질전환을 유도한다</a:t>
            </a:r>
            <a:r>
              <a:rPr lang="en-US" altLang="ko-KR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2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형질전환된</a:t>
            </a: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 대장균이 배지에서 기하급수적으로 증식함에 따라 </a:t>
            </a:r>
            <a:r>
              <a:rPr lang="ko-KR" altLang="en-US" sz="12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플라스미드에</a:t>
            </a:r>
            <a:r>
              <a:rPr lang="ko-KR" altLang="en-US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 끼어 들어간 외래 유전자도 대량으로 복제된다</a:t>
            </a:r>
            <a:r>
              <a:rPr lang="en-US" altLang="ko-KR" sz="1200" dirty="0">
                <a:latin typeface="HY엽서L" panose="02030600000101010101" pitchFamily="18" charset="-127"/>
                <a:ea typeface="HY엽서L" panose="02030600000101010101" pitchFamily="18" charset="-127"/>
              </a:rPr>
              <a:t>.</a:t>
            </a:r>
          </a:p>
        </p:txBody>
      </p:sp>
      <p:pic>
        <p:nvPicPr>
          <p:cNvPr id="15" name="그림 14" descr="Gr12-04">
            <a:extLst>
              <a:ext uri="{FF2B5EF4-FFF2-40B4-BE49-F238E27FC236}">
                <a16:creationId xmlns:a16="http://schemas.microsoft.com/office/drawing/2014/main" id="{17A85433-0E22-42B0-A7B0-A1858C210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594" y="3784994"/>
            <a:ext cx="3548566" cy="280928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dirty="0"/>
              <a:t>3) </a:t>
            </a:r>
            <a:r>
              <a:rPr lang="ko-KR" altLang="en-US" dirty="0"/>
              <a:t> </a:t>
            </a:r>
            <a:r>
              <a:rPr lang="ko-KR" altLang="en-US" dirty="0" err="1"/>
              <a:t>플라스미드</a:t>
            </a:r>
            <a:endParaRPr lang="en-US" altLang="ko-KR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plasmid는</a:t>
            </a:r>
            <a:r>
              <a:rPr dirty="0"/>
              <a:t> </a:t>
            </a:r>
            <a:r>
              <a:rPr dirty="0" err="1"/>
              <a:t>세균</a:t>
            </a:r>
            <a:r>
              <a:rPr dirty="0"/>
              <a:t> </a:t>
            </a:r>
            <a:r>
              <a:rPr dirty="0" err="1"/>
              <a:t>염색체와</a:t>
            </a:r>
            <a:r>
              <a:rPr dirty="0"/>
              <a:t> </a:t>
            </a:r>
            <a:r>
              <a:rPr dirty="0" err="1"/>
              <a:t>독립적으로</a:t>
            </a:r>
            <a:r>
              <a:rPr dirty="0"/>
              <a:t> </a:t>
            </a:r>
            <a:r>
              <a:rPr dirty="0" err="1"/>
              <a:t>복제하는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원형</a:t>
            </a:r>
            <a:r>
              <a:rPr dirty="0"/>
              <a:t> </a:t>
            </a:r>
            <a:r>
              <a:rPr dirty="0" err="1"/>
              <a:t>DNA이다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복제원점</a:t>
            </a:r>
            <a:r>
              <a:rPr dirty="0"/>
              <a:t>(</a:t>
            </a:r>
            <a:r>
              <a:rPr dirty="0" err="1"/>
              <a:t>ori</a:t>
            </a:r>
            <a:r>
              <a:rPr dirty="0"/>
              <a:t>), </a:t>
            </a:r>
            <a:r>
              <a:rPr dirty="0" err="1"/>
              <a:t>선택표지</a:t>
            </a:r>
            <a:r>
              <a:rPr lang="en-US" dirty="0"/>
              <a:t>(</a:t>
            </a:r>
            <a:r>
              <a:rPr lang="ko-KR" altLang="en-US" dirty="0"/>
              <a:t>항생제 내성</a:t>
            </a:r>
            <a:r>
              <a:rPr lang="en-US" altLang="ko-KR" dirty="0"/>
              <a:t>)</a:t>
            </a:r>
            <a:r>
              <a:rPr dirty="0"/>
              <a:t>, cloning site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갖는다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재조합</a:t>
            </a:r>
            <a:r>
              <a:rPr dirty="0"/>
              <a:t> </a:t>
            </a:r>
            <a:r>
              <a:rPr dirty="0" err="1"/>
              <a:t>plasmid를</a:t>
            </a:r>
            <a:r>
              <a:rPr dirty="0"/>
              <a:t> E. coli</a:t>
            </a:r>
            <a:r>
              <a:rPr lang="en-US" dirty="0"/>
              <a:t>(</a:t>
            </a:r>
            <a:r>
              <a:rPr lang="ko-KR" altLang="en-US" dirty="0"/>
              <a:t>운반체</a:t>
            </a:r>
            <a:r>
              <a:rPr lang="en-US" altLang="ko-KR" dirty="0"/>
              <a:t>=vector)</a:t>
            </a:r>
            <a:r>
              <a:rPr dirty="0"/>
              <a:t>에 </a:t>
            </a:r>
            <a:r>
              <a:rPr dirty="0" err="1"/>
              <a:t>넣어</a:t>
            </a:r>
            <a:r>
              <a:rPr dirty="0"/>
              <a:t> </a:t>
            </a:r>
            <a:r>
              <a:rPr dirty="0" err="1"/>
              <a:t>증폭할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colony를</a:t>
            </a:r>
            <a:r>
              <a:rPr dirty="0"/>
              <a:t> </a:t>
            </a:r>
            <a:r>
              <a:rPr dirty="0" err="1"/>
              <a:t>분리하면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plasmid를</a:t>
            </a:r>
            <a:r>
              <a:rPr dirty="0"/>
              <a:t> </a:t>
            </a:r>
            <a:r>
              <a:rPr dirty="0" err="1"/>
              <a:t>가진</a:t>
            </a:r>
            <a:r>
              <a:rPr dirty="0"/>
              <a:t> </a:t>
            </a:r>
            <a:r>
              <a:rPr dirty="0" err="1"/>
              <a:t>clone을</a:t>
            </a:r>
            <a:r>
              <a:rPr dirty="0"/>
              <a:t> </a:t>
            </a:r>
            <a:r>
              <a:rPr dirty="0" err="1"/>
              <a:t>얻는다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 descr="vector map 관련 기본질문... | 실험 Q&amp;A &gt; 커뮤니티 | BRIC">
            <a:extLst>
              <a:ext uri="{FF2B5EF4-FFF2-40B4-BE49-F238E27FC236}">
                <a16:creationId xmlns:a16="http://schemas.microsoft.com/office/drawing/2014/main" id="{E7E72571-56DE-416D-850D-ED0720779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957" y="3292930"/>
            <a:ext cx="4276179" cy="3414599"/>
          </a:xfrm>
          <a:prstGeom prst="rect">
            <a:avLst/>
          </a:prstGeom>
        </p:spPr>
      </p:pic>
      <p:pic>
        <p:nvPicPr>
          <p:cNvPr id="6146" name="Picture 2" descr="Solved 1. View the plasmid vector diagram. Identify the | Chegg.com">
            <a:extLst>
              <a:ext uri="{FF2B5EF4-FFF2-40B4-BE49-F238E27FC236}">
                <a16:creationId xmlns:a16="http://schemas.microsoft.com/office/drawing/2014/main" id="{6E1111C2-B02F-41BB-B936-0BA54CDA6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3567254"/>
            <a:ext cx="4463478" cy="319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Elements in a Plasmid Vector Scientific Illustration Infographic Diagram  Stock Vector - Illustration of open, sites: 265203597">
            <a:extLst>
              <a:ext uri="{FF2B5EF4-FFF2-40B4-BE49-F238E27FC236}">
                <a16:creationId xmlns:a16="http://schemas.microsoft.com/office/drawing/2014/main" id="{9910D9D9-643E-42C4-8B72-061E9D86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433" y="1883707"/>
            <a:ext cx="2908460" cy="290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F349C1E-41D7-44E9-835E-28BAE61546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5852"/>
          <a:stretch/>
        </p:blipFill>
        <p:spPr>
          <a:xfrm>
            <a:off x="8527057" y="818388"/>
            <a:ext cx="3664943" cy="119242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50884"/>
            <a:ext cx="10835640" cy="267073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4) Sticky end (</a:t>
            </a:r>
            <a:r>
              <a:rPr lang="ko-KR" altLang="en-US" b="1" dirty="0"/>
              <a:t>점착말단</a:t>
            </a:r>
            <a:r>
              <a:rPr lang="en-US" altLang="ko-KR" b="1" dirty="0"/>
              <a:t>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제한효소는</a:t>
            </a:r>
            <a:r>
              <a:rPr dirty="0"/>
              <a:t> staggered </a:t>
            </a:r>
            <a:r>
              <a:rPr dirty="0" err="1"/>
              <a:t>cleavage를</a:t>
            </a:r>
            <a:r>
              <a:rPr dirty="0"/>
              <a:t> </a:t>
            </a:r>
            <a:r>
              <a:rPr dirty="0" err="1"/>
              <a:t>일으킨다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그 </a:t>
            </a:r>
            <a:r>
              <a:rPr dirty="0" err="1"/>
              <a:t>결과</a:t>
            </a:r>
            <a:r>
              <a:rPr dirty="0"/>
              <a:t> single-stranded overhang, 즉 cohesive/sticky </a:t>
            </a:r>
            <a:r>
              <a:rPr dirty="0" err="1"/>
              <a:t>end가</a:t>
            </a:r>
            <a:r>
              <a:rPr dirty="0"/>
              <a:t> </a:t>
            </a:r>
            <a:r>
              <a:rPr dirty="0" err="1"/>
              <a:t>생긴다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상보적인</a:t>
            </a:r>
            <a:r>
              <a:rPr dirty="0"/>
              <a:t> </a:t>
            </a:r>
            <a:r>
              <a:rPr dirty="0" err="1"/>
              <a:t>말단끼리</a:t>
            </a:r>
            <a:r>
              <a:rPr dirty="0"/>
              <a:t> </a:t>
            </a:r>
            <a:r>
              <a:rPr dirty="0" err="1"/>
              <a:t>일시적으로</a:t>
            </a:r>
            <a:r>
              <a:rPr dirty="0"/>
              <a:t> </a:t>
            </a:r>
            <a:r>
              <a:rPr dirty="0" err="1"/>
              <a:t>결합할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제한효소로</a:t>
            </a:r>
            <a:r>
              <a:rPr dirty="0"/>
              <a:t> </a:t>
            </a:r>
            <a:r>
              <a:rPr dirty="0" err="1"/>
              <a:t>절단한</a:t>
            </a:r>
            <a:r>
              <a:rPr dirty="0"/>
              <a:t> </a:t>
            </a:r>
            <a:r>
              <a:rPr dirty="0" err="1"/>
              <a:t>vector와</a:t>
            </a:r>
            <a:r>
              <a:rPr dirty="0"/>
              <a:t> </a:t>
            </a:r>
            <a:r>
              <a:rPr dirty="0" err="1"/>
              <a:t>insert를</a:t>
            </a:r>
            <a:r>
              <a:rPr dirty="0"/>
              <a:t> </a:t>
            </a:r>
            <a:r>
              <a:rPr dirty="0" err="1"/>
              <a:t>연결하기</a:t>
            </a:r>
            <a:r>
              <a:rPr dirty="0"/>
              <a:t> </a:t>
            </a:r>
            <a:r>
              <a:rPr dirty="0" err="1"/>
              <a:t>쉬워진다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067361-0603-4FE7-84FE-05D0FF46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968" y="1047102"/>
            <a:ext cx="4442734" cy="53780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7135AE-87BC-4F70-820C-7624E71F4E51}"/>
              </a:ext>
            </a:extLst>
          </p:cNvPr>
          <p:cNvSpPr txBox="1"/>
          <p:nvPr/>
        </p:nvSpPr>
        <p:spPr>
          <a:xfrm>
            <a:off x="1576278" y="4531138"/>
            <a:ext cx="6094070" cy="1980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Figure 4.15 </a:t>
            </a:r>
            <a:r>
              <a:rPr lang="ko-KR" altLang="en-US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점착성 말단과 </a:t>
            </a: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연결효소의 작용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특정 제한효소는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DNA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를 자를 때 단일 가닥 유동 서열이 돌출된 형태의 점착성 말단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(sticky end)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을 남긴다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동일한 제한효소로 절단된 외래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DNA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와 벡터는 돌출된 서열끼리 상보적인 수소 결합을 통해 쉽게 결합한다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느슨하게 맞물린 두 분자의 인산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-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당 골격을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연결효소가 공유결합으로 영구히 연결하여 안정적인 재조합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DNA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를 형성한다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37969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b="1" dirty="0"/>
              <a:t>5) </a:t>
            </a:r>
            <a:r>
              <a:rPr b="1" dirty="0"/>
              <a:t>DNA ligase</a:t>
            </a:r>
            <a:r>
              <a:rPr lang="ko-KR" altLang="en-US" b="1" dirty="0"/>
              <a:t>와 </a:t>
            </a:r>
            <a:r>
              <a:rPr lang="en-US" altLang="ko-KR" b="1" dirty="0"/>
              <a:t>linker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dirty="0"/>
              <a:t>Ligase </a:t>
            </a:r>
            <a:r>
              <a:rPr dirty="0"/>
              <a:t>는 DNA </a:t>
            </a:r>
            <a:r>
              <a:rPr dirty="0" err="1"/>
              <a:t>가닥의</a:t>
            </a:r>
            <a:r>
              <a:rPr dirty="0"/>
              <a:t> </a:t>
            </a:r>
            <a:r>
              <a:rPr dirty="0" err="1"/>
              <a:t>끊어진</a:t>
            </a:r>
            <a:r>
              <a:rPr dirty="0"/>
              <a:t> phosphodiester </a:t>
            </a:r>
            <a:r>
              <a:rPr dirty="0" err="1"/>
              <a:t>bond를</a:t>
            </a:r>
            <a:r>
              <a:rPr dirty="0"/>
              <a:t> </a:t>
            </a:r>
            <a:r>
              <a:rPr dirty="0" err="1"/>
              <a:t>봉합한다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상보적</a:t>
            </a:r>
            <a:r>
              <a:rPr dirty="0"/>
              <a:t> </a:t>
            </a:r>
            <a:r>
              <a:rPr dirty="0" err="1"/>
              <a:t>말단의</a:t>
            </a:r>
            <a:r>
              <a:rPr dirty="0"/>
              <a:t> </a:t>
            </a:r>
            <a:r>
              <a:rPr dirty="0" err="1"/>
              <a:t>결합을</a:t>
            </a:r>
            <a:r>
              <a:rPr dirty="0"/>
              <a:t> </a:t>
            </a:r>
            <a:r>
              <a:rPr dirty="0" err="1"/>
              <a:t>안정적인</a:t>
            </a:r>
            <a:r>
              <a:rPr dirty="0"/>
              <a:t> </a:t>
            </a:r>
            <a:r>
              <a:rPr dirty="0" err="1"/>
              <a:t>재조합</a:t>
            </a:r>
            <a:r>
              <a:rPr dirty="0"/>
              <a:t> </a:t>
            </a:r>
            <a:r>
              <a:rPr dirty="0" err="1"/>
              <a:t>DNA로</a:t>
            </a:r>
            <a:r>
              <a:rPr dirty="0"/>
              <a:t> </a:t>
            </a:r>
            <a:r>
              <a:rPr dirty="0" err="1"/>
              <a:t>만든다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원래</a:t>
            </a:r>
            <a:r>
              <a:rPr dirty="0"/>
              <a:t> </a:t>
            </a:r>
            <a:r>
              <a:rPr dirty="0" err="1"/>
              <a:t>제한효소</a:t>
            </a:r>
            <a:r>
              <a:rPr dirty="0"/>
              <a:t> </a:t>
            </a:r>
            <a:r>
              <a:rPr dirty="0" err="1"/>
              <a:t>말단이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DNA도</a:t>
            </a:r>
            <a:r>
              <a:rPr dirty="0"/>
              <a:t> synthetic </a:t>
            </a:r>
            <a:r>
              <a:rPr dirty="0" err="1"/>
              <a:t>linker로</a:t>
            </a:r>
            <a:r>
              <a:rPr dirty="0"/>
              <a:t> cloning </a:t>
            </a:r>
            <a:r>
              <a:rPr dirty="0" err="1"/>
              <a:t>site를</a:t>
            </a:r>
            <a:r>
              <a:rPr dirty="0"/>
              <a:t> </a:t>
            </a:r>
            <a:r>
              <a:rPr dirty="0" err="1"/>
              <a:t>부여할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제한효소</a:t>
            </a:r>
            <a:r>
              <a:rPr dirty="0"/>
              <a:t> + </a:t>
            </a:r>
            <a:r>
              <a:rPr dirty="0" err="1"/>
              <a:t>ligase가</a:t>
            </a:r>
            <a:r>
              <a:rPr dirty="0"/>
              <a:t> </a:t>
            </a:r>
            <a:r>
              <a:rPr dirty="0" err="1"/>
              <a:t>기본적인</a:t>
            </a:r>
            <a:r>
              <a:rPr dirty="0"/>
              <a:t> </a:t>
            </a:r>
            <a:r>
              <a:rPr dirty="0" err="1"/>
              <a:t>재조합</a:t>
            </a:r>
            <a:r>
              <a:rPr dirty="0"/>
              <a:t> DNA </a:t>
            </a:r>
            <a:r>
              <a:rPr dirty="0" err="1"/>
              <a:t>조립법이다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61E671F-608B-4CF7-80BA-C65C58DD5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868" y="2671091"/>
            <a:ext cx="3337892" cy="4040605"/>
          </a:xfrm>
          <a:prstGeom prst="rect">
            <a:avLst/>
          </a:prstGeom>
        </p:spPr>
      </p:pic>
      <p:pic>
        <p:nvPicPr>
          <p:cNvPr id="8196" name="Picture 4" descr="Linkers are used to place sticky ends on to a blunt-ended molecule‼️ In  this example, each linker contains the recognition sequence for the  restriction endonuclease BamHI. DNA ligase attaches the… | Muhammad">
            <a:extLst>
              <a:ext uri="{FF2B5EF4-FFF2-40B4-BE49-F238E27FC236}">
                <a16:creationId xmlns:a16="http://schemas.microsoft.com/office/drawing/2014/main" id="{204A2D98-C1B0-4C4F-88DC-F06BBF821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710" y="3566644"/>
            <a:ext cx="3049838" cy="329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37C42-D1DC-FF7B-9956-95ACDCB1E460}"/>
              </a:ext>
            </a:extLst>
          </p:cNvPr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6) cDNA cloning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mRNA를</a:t>
            </a:r>
            <a:r>
              <a:rPr dirty="0"/>
              <a:t> reverse </a:t>
            </a:r>
            <a:r>
              <a:rPr dirty="0" err="1"/>
              <a:t>transcriptase로</a:t>
            </a:r>
            <a:r>
              <a:rPr dirty="0"/>
              <a:t> </a:t>
            </a:r>
            <a:r>
              <a:rPr dirty="0" err="1"/>
              <a:t>DNA로</a:t>
            </a:r>
            <a:r>
              <a:rPr dirty="0"/>
              <a:t> </a:t>
            </a:r>
            <a:r>
              <a:rPr dirty="0" err="1"/>
              <a:t>복사한다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RNA에</a:t>
            </a:r>
            <a:r>
              <a:rPr dirty="0"/>
              <a:t> </a:t>
            </a:r>
            <a:r>
              <a:rPr dirty="0" err="1"/>
              <a:t>상보적인</a:t>
            </a:r>
            <a:r>
              <a:rPr dirty="0"/>
              <a:t> </a:t>
            </a:r>
            <a:r>
              <a:rPr dirty="0" err="1"/>
              <a:t>DNA라서</a:t>
            </a:r>
            <a:r>
              <a:rPr dirty="0"/>
              <a:t> complementary DNA(cDNA)</a:t>
            </a:r>
            <a:r>
              <a:rPr dirty="0" err="1"/>
              <a:t>라고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cDNA에</a:t>
            </a:r>
            <a:r>
              <a:rPr dirty="0"/>
              <a:t> </a:t>
            </a:r>
            <a:r>
              <a:rPr dirty="0" err="1"/>
              <a:t>linker를</a:t>
            </a:r>
            <a:r>
              <a:rPr dirty="0"/>
              <a:t> </a:t>
            </a:r>
            <a:r>
              <a:rPr dirty="0" err="1"/>
              <a:t>붙여</a:t>
            </a:r>
            <a:r>
              <a:rPr dirty="0"/>
              <a:t> </a:t>
            </a:r>
            <a:r>
              <a:rPr dirty="0" err="1"/>
              <a:t>vector에</a:t>
            </a:r>
            <a:r>
              <a:rPr dirty="0"/>
              <a:t> </a:t>
            </a:r>
            <a:r>
              <a:rPr dirty="0" err="1"/>
              <a:t>삽입한다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mRNA를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한 </a:t>
            </a:r>
            <a:r>
              <a:rPr dirty="0" err="1"/>
              <a:t>유전자</a:t>
            </a:r>
            <a:r>
              <a:rPr dirty="0"/>
              <a:t> </a:t>
            </a:r>
            <a:r>
              <a:rPr dirty="0" err="1"/>
              <a:t>서열을</a:t>
            </a:r>
            <a:r>
              <a:rPr dirty="0"/>
              <a:t> </a:t>
            </a:r>
            <a:r>
              <a:rPr dirty="0" err="1"/>
              <a:t>clone으로</a:t>
            </a:r>
            <a:r>
              <a:rPr dirty="0"/>
              <a:t> </a:t>
            </a:r>
            <a:r>
              <a:rPr dirty="0" err="1"/>
              <a:t>확보할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A46464-51DC-40E1-AC9E-A2E287F7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087" y="740664"/>
            <a:ext cx="2457793" cy="5706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2C0EFC-79C6-4972-B9D0-52B8F4E3B175}"/>
              </a:ext>
            </a:extLst>
          </p:cNvPr>
          <p:cNvSpPr txBox="1"/>
          <p:nvPr/>
        </p:nvSpPr>
        <p:spPr>
          <a:xfrm>
            <a:off x="1307408" y="3893496"/>
            <a:ext cx="7855992" cy="2627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제한 효소 시스템은 인위적으로 작은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DNA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조각을 불리고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원하는 위치에 삽입할 수 있다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하지만 삽입 가능한 물리적 크기의 제한 때문에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gDNA (genomic DNA)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전체의 삽입 보다는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mRNA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만드는 필수적 요소인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cDNA (RNA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에서 </a:t>
            </a:r>
            <a:r>
              <a:rPr lang="ko-KR" altLang="en-US" sz="14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역전사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한 부분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만을 주로 사용한다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endParaRPr lang="en-US" altLang="ko-KR" sz="1400" b="1" dirty="0">
              <a:latin typeface="HY엽서L" panose="02030600000101010101" pitchFamily="18" charset="-127"/>
              <a:ea typeface="HY엽서L" panose="02030600000101010101" pitchFamily="18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Figure 4.16 </a:t>
            </a:r>
            <a:r>
              <a:rPr lang="ko-KR" altLang="en-US" sz="140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역전사</a:t>
            </a:r>
            <a:r>
              <a:rPr lang="ko-KR" altLang="en-US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효소를 이용한 </a:t>
            </a: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cDNA </a:t>
            </a:r>
            <a:r>
              <a:rPr lang="ko-KR" altLang="en-US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제작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세포에서 추출한 성숙한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mRNA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는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intron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이 모두 제거되고 실제 단백질 정보가 담긴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exon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서열로만 구성되어 있다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이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mRNA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를 주형으로 삼아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역전사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효소를 반응시키면 상보적인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가닥인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cDNA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가 합성된다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cDNA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는 외래 유전자를 박테리아나 다른 시스템에서 발현시켜 단백질을 얻고자 할 때 필수적으로 사용되는 재료이다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512064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진핵 유전자는 intron에 의해 coding sequence가 끊겨 있는 경우가 많다.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pre-mRNA에서 intron은 splicing으로 제거된다.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따라서 genomic DNA와 mature mRNA/cDNA의 구조가 다르다.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cDNA는 성숙 mRNA에 대응하므로 단백질 coding sequence를 직접 얻는 데 유리하다.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765A15C-B7B8-436A-829A-64589B8E5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864" y="3137402"/>
            <a:ext cx="3554976" cy="37205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882A14-94F6-4F0E-A250-DEA65D87207E}"/>
              </a:ext>
            </a:extLst>
          </p:cNvPr>
          <p:cNvSpPr txBox="1"/>
          <p:nvPr/>
        </p:nvSpPr>
        <p:spPr>
          <a:xfrm>
            <a:off x="2116100" y="4372258"/>
            <a:ext cx="5231757" cy="230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Figure 4.17 </a:t>
            </a:r>
            <a:r>
              <a:rPr lang="ko-KR" altLang="en-US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항생제 내성 기반 형질전환체 선별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클로닝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벡터로 쓰이는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플라스미드에는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en-US" altLang="ko-KR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ampicilin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과 같은 특정 항생제에 저항성을 부여하는 유전자가 포함되어 있다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DNA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재조합 반응을 마친 세포 혼합물을 항생제가 첨가된 고체 배지에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도말하여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배양한다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플라스미드가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정상적으로 주입되어 항생제 저항성을 획득한 대장균 세포만이 사멸하지 않고 자라나 단일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콜로니를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형성한다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</a:t>
            </a:r>
          </a:p>
        </p:txBody>
      </p:sp>
      <p:pic>
        <p:nvPicPr>
          <p:cNvPr id="15" name="그림 14" descr="SAS: Split antibiotic selection for identifying chaperones that improve  protein solubility - ScienceDirect">
            <a:extLst>
              <a:ext uri="{FF2B5EF4-FFF2-40B4-BE49-F238E27FC236}">
                <a16:creationId xmlns:a16="http://schemas.microsoft.com/office/drawing/2014/main" id="{60A294D1-F5AC-468E-9C7C-E0995BC41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57" b="25219"/>
          <a:stretch>
            <a:fillRect/>
          </a:stretch>
        </p:blipFill>
        <p:spPr>
          <a:xfrm>
            <a:off x="4630011" y="3151588"/>
            <a:ext cx="2515887" cy="1376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D2194E-676A-48C0-A4F1-5B5B578FFDA9}"/>
              </a:ext>
            </a:extLst>
          </p:cNvPr>
          <p:cNvSpPr txBox="1"/>
          <p:nvPr/>
        </p:nvSpPr>
        <p:spPr>
          <a:xfrm>
            <a:off x="799378" y="963873"/>
            <a:ext cx="10493462" cy="218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b="1" dirty="0"/>
              <a:t>7) </a:t>
            </a:r>
            <a:r>
              <a:rPr lang="ko-KR" altLang="en-US" b="1" dirty="0"/>
              <a:t>항생제 내성 기반 형질전환체 선별방법</a:t>
            </a:r>
            <a:endParaRPr lang="en-US" altLang="ko-KR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dirty="0"/>
              <a:t>cDNA pool</a:t>
            </a:r>
            <a:r>
              <a:rPr lang="ko-KR" altLang="en-US" dirty="0"/>
              <a:t>을 </a:t>
            </a:r>
            <a:r>
              <a:rPr lang="en-US" altLang="ko-KR" dirty="0"/>
              <a:t>vector</a:t>
            </a:r>
            <a:r>
              <a:rPr lang="ko-KR" altLang="en-US" dirty="0"/>
              <a:t>에 연결한다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dirty="0"/>
              <a:t>E. Coli</a:t>
            </a:r>
            <a:r>
              <a:rPr lang="ko-KR" altLang="en-US" dirty="0"/>
              <a:t>에 이를  </a:t>
            </a:r>
            <a:r>
              <a:rPr lang="en-US" altLang="ko-KR" dirty="0"/>
              <a:t>transformation</a:t>
            </a:r>
            <a:r>
              <a:rPr lang="ko-KR" altLang="en-US" dirty="0"/>
              <a:t>한다</a:t>
            </a:r>
            <a:r>
              <a:rPr lang="en-US" altLang="ko-KR" dirty="0"/>
              <a:t>. (</a:t>
            </a:r>
            <a:r>
              <a:rPr lang="ko-KR" altLang="en-US" dirty="0"/>
              <a:t>대장균 내부로 </a:t>
            </a:r>
            <a:r>
              <a:rPr lang="ko-KR" altLang="en-US" dirty="0" err="1"/>
              <a:t>플라스미드</a:t>
            </a:r>
            <a:r>
              <a:rPr lang="ko-KR" altLang="en-US" dirty="0"/>
              <a:t> 이동시켜 형질전환</a:t>
            </a:r>
            <a:r>
              <a:rPr lang="en-US" altLang="ko-KR" dirty="0"/>
              <a:t>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dirty="0"/>
              <a:t>항생제 배지에서 </a:t>
            </a:r>
            <a:r>
              <a:rPr lang="en-US" altLang="ko-KR" dirty="0"/>
              <a:t>plasmid</a:t>
            </a:r>
            <a:r>
              <a:rPr lang="ko-KR" altLang="en-US" dirty="0"/>
              <a:t>를 가진 </a:t>
            </a:r>
            <a:r>
              <a:rPr lang="en-US" altLang="ko-KR" dirty="0"/>
              <a:t>colony</a:t>
            </a:r>
            <a:r>
              <a:rPr lang="ko-KR" altLang="en-US" dirty="0"/>
              <a:t>를 선택한다</a:t>
            </a:r>
            <a:r>
              <a:rPr lang="en-US" altLang="ko-KR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dirty="0"/>
              <a:t>개별 </a:t>
            </a:r>
            <a:r>
              <a:rPr lang="en-US" altLang="ko-KR" dirty="0"/>
              <a:t>colony</a:t>
            </a:r>
            <a:r>
              <a:rPr lang="ko-KR" altLang="en-US" dirty="0"/>
              <a:t>를 배양하면 동일한 우리가 원하는 재조합 분자를 가진 </a:t>
            </a:r>
            <a:r>
              <a:rPr lang="en-US" altLang="ko-KR" dirty="0"/>
              <a:t>clone</a:t>
            </a:r>
            <a:r>
              <a:rPr lang="ko-KR" altLang="en-US" dirty="0"/>
              <a:t>을 확보할 수 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6" descr="1973년 허버트 보이어 교수의 제한효소를 이용한 재조합DNA 실험 - 동아사이언스">
            <a:extLst>
              <a:ext uri="{FF2B5EF4-FFF2-40B4-BE49-F238E27FC236}">
                <a16:creationId xmlns:a16="http://schemas.microsoft.com/office/drawing/2014/main" id="{CAAB894C-BB35-48A5-87A5-446ADA7F4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87" y="1416284"/>
            <a:ext cx="9444435" cy="496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EBB126-330E-4594-B35C-02EE44E3A528}"/>
              </a:ext>
            </a:extLst>
          </p:cNvPr>
          <p:cNvSpPr txBox="1"/>
          <p:nvPr/>
        </p:nvSpPr>
        <p:spPr>
          <a:xfrm>
            <a:off x="3463724" y="648866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https://www.dongascience.com/ko/news/8277</a:t>
            </a:r>
          </a:p>
        </p:txBody>
      </p:sp>
      <p:pic>
        <p:nvPicPr>
          <p:cNvPr id="12" name="Picture 14" descr="Example agar plates showing the successful transformation and cloning |  Download Scientific Diagram">
            <a:extLst>
              <a:ext uri="{FF2B5EF4-FFF2-40B4-BE49-F238E27FC236}">
                <a16:creationId xmlns:a16="http://schemas.microsoft.com/office/drawing/2014/main" id="{A4F5783C-195B-430F-839B-A1B3C7CC2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243456" y="2424226"/>
            <a:ext cx="5079110" cy="281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882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3986476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500" dirty="0" err="1"/>
              <a:t>단백질을</a:t>
            </a:r>
            <a:r>
              <a:rPr sz="1500" dirty="0"/>
              <a:t> </a:t>
            </a:r>
            <a:r>
              <a:rPr sz="1500" dirty="0" err="1"/>
              <a:t>많이</a:t>
            </a:r>
            <a:r>
              <a:rPr sz="1500" dirty="0"/>
              <a:t> </a:t>
            </a:r>
            <a:r>
              <a:rPr sz="1500" dirty="0" err="1"/>
              <a:t>얻으려면</a:t>
            </a:r>
            <a:r>
              <a:rPr sz="1500" dirty="0"/>
              <a:t> </a:t>
            </a:r>
            <a:r>
              <a:rPr sz="1500" dirty="0" err="1"/>
              <a:t>cloning만으로는</a:t>
            </a:r>
            <a:r>
              <a:rPr sz="1500" dirty="0"/>
              <a:t> </a:t>
            </a:r>
            <a:r>
              <a:rPr sz="1500" dirty="0" err="1"/>
              <a:t>부족하다</a:t>
            </a:r>
            <a:r>
              <a:rPr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500" dirty="0"/>
              <a:t>expression </a:t>
            </a:r>
            <a:r>
              <a:rPr sz="1500" dirty="0" err="1"/>
              <a:t>vector는</a:t>
            </a:r>
            <a:r>
              <a:rPr sz="1500" dirty="0"/>
              <a:t> </a:t>
            </a:r>
            <a:r>
              <a:rPr sz="1500" dirty="0" err="1"/>
              <a:t>promoter와</a:t>
            </a:r>
            <a:r>
              <a:rPr sz="1500" dirty="0"/>
              <a:t> translation </a:t>
            </a:r>
            <a:r>
              <a:rPr sz="1500" dirty="0" err="1"/>
              <a:t>관련</a:t>
            </a:r>
            <a:r>
              <a:rPr sz="1500" dirty="0"/>
              <a:t> </a:t>
            </a:r>
            <a:r>
              <a:rPr sz="1500" dirty="0" err="1"/>
              <a:t>서열을</a:t>
            </a:r>
            <a:r>
              <a:rPr sz="1500" dirty="0"/>
              <a:t> </a:t>
            </a:r>
            <a:r>
              <a:rPr sz="1500" dirty="0" err="1"/>
              <a:t>포함한다</a:t>
            </a:r>
            <a:r>
              <a:rPr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500" dirty="0" err="1"/>
              <a:t>진핵</a:t>
            </a:r>
            <a:r>
              <a:rPr sz="1500" dirty="0"/>
              <a:t> </a:t>
            </a:r>
            <a:r>
              <a:rPr sz="1500" dirty="0" err="1"/>
              <a:t>cDNA를</a:t>
            </a:r>
            <a:r>
              <a:rPr sz="1500" dirty="0"/>
              <a:t> E. </a:t>
            </a:r>
            <a:r>
              <a:rPr sz="1500" dirty="0" err="1"/>
              <a:t>coli에서</a:t>
            </a:r>
            <a:r>
              <a:rPr sz="1500" dirty="0"/>
              <a:t> </a:t>
            </a:r>
            <a:r>
              <a:rPr sz="1500" dirty="0" err="1"/>
              <a:t>발현시켜</a:t>
            </a:r>
            <a:r>
              <a:rPr sz="1500" dirty="0"/>
              <a:t> </a:t>
            </a:r>
            <a:r>
              <a:rPr sz="1500" dirty="0" err="1"/>
              <a:t>대량</a:t>
            </a:r>
            <a:r>
              <a:rPr sz="1500" dirty="0"/>
              <a:t> </a:t>
            </a:r>
            <a:r>
              <a:rPr sz="1500" dirty="0" err="1"/>
              <a:t>단백질을</a:t>
            </a:r>
            <a:r>
              <a:rPr sz="1500" dirty="0"/>
              <a:t> </a:t>
            </a:r>
            <a:r>
              <a:rPr sz="1500" dirty="0" err="1"/>
              <a:t>생산할</a:t>
            </a:r>
            <a:r>
              <a:rPr sz="1500" dirty="0"/>
              <a:t> 수 </a:t>
            </a:r>
            <a:r>
              <a:rPr sz="1500" dirty="0" err="1"/>
              <a:t>있다</a:t>
            </a:r>
            <a:r>
              <a:rPr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500" dirty="0" err="1"/>
              <a:t>일부</a:t>
            </a:r>
            <a:r>
              <a:rPr sz="1500" dirty="0"/>
              <a:t> </a:t>
            </a:r>
            <a:r>
              <a:rPr sz="1500" dirty="0" err="1"/>
              <a:t>단백질은</a:t>
            </a:r>
            <a:r>
              <a:rPr sz="1500" dirty="0"/>
              <a:t> </a:t>
            </a:r>
            <a:r>
              <a:rPr sz="1500" dirty="0" err="1"/>
              <a:t>세균</a:t>
            </a:r>
            <a:r>
              <a:rPr sz="1500" dirty="0"/>
              <a:t> </a:t>
            </a:r>
            <a:r>
              <a:rPr sz="1500" dirty="0" err="1"/>
              <a:t>단백질의</a:t>
            </a:r>
            <a:r>
              <a:rPr sz="1500" dirty="0"/>
              <a:t> </a:t>
            </a:r>
            <a:r>
              <a:rPr sz="1500" dirty="0" err="1"/>
              <a:t>상당</a:t>
            </a:r>
            <a:r>
              <a:rPr sz="1500" dirty="0"/>
              <a:t> </a:t>
            </a:r>
            <a:r>
              <a:rPr sz="1500" dirty="0" err="1"/>
              <a:t>부분을</a:t>
            </a:r>
            <a:r>
              <a:rPr sz="1500" dirty="0"/>
              <a:t> </a:t>
            </a:r>
            <a:r>
              <a:rPr sz="1500" dirty="0" err="1"/>
              <a:t>차지할</a:t>
            </a:r>
            <a:r>
              <a:rPr sz="1500" dirty="0"/>
              <a:t> </a:t>
            </a:r>
            <a:r>
              <a:rPr sz="1500" dirty="0" err="1"/>
              <a:t>정도로</a:t>
            </a:r>
            <a:r>
              <a:rPr sz="1500" dirty="0"/>
              <a:t> </a:t>
            </a:r>
            <a:r>
              <a:rPr sz="1500" dirty="0" err="1"/>
              <a:t>발현된다</a:t>
            </a:r>
            <a:r>
              <a:rPr sz="1500" dirty="0"/>
              <a:t>.</a:t>
            </a:r>
            <a:endParaRPr lang="en-US" sz="1500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lang="en-US" sz="1500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500" dirty="0"/>
              <a:t>일부 단백질은 </a:t>
            </a:r>
            <a:r>
              <a:rPr lang="ko-KR" altLang="en-US" sz="1500" dirty="0" err="1"/>
              <a:t>진핵세포에서</a:t>
            </a:r>
            <a:r>
              <a:rPr lang="ko-KR" altLang="en-US" sz="1500" dirty="0"/>
              <a:t> 발현해야 정상적인 </a:t>
            </a:r>
            <a:r>
              <a:rPr lang="en-US" altLang="ko-KR" sz="1500" dirty="0"/>
              <a:t>post-translational modification</a:t>
            </a:r>
            <a:r>
              <a:rPr lang="ko-KR" altLang="en-US" sz="1500" dirty="0"/>
              <a:t>을 받는다</a:t>
            </a:r>
            <a:r>
              <a:rPr lang="en-US" altLang="ko-KR"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500" dirty="0"/>
              <a:t>이때 포유류 또는 바이러스 유래 </a:t>
            </a:r>
            <a:r>
              <a:rPr lang="ko-KR" altLang="en-US" sz="1500" dirty="0" err="1"/>
              <a:t>고발현</a:t>
            </a:r>
            <a:r>
              <a:rPr lang="ko-KR" altLang="en-US" sz="1500" dirty="0"/>
              <a:t> </a:t>
            </a:r>
            <a:r>
              <a:rPr lang="en-US" altLang="ko-KR" sz="1500" dirty="0"/>
              <a:t>vector </a:t>
            </a:r>
            <a:r>
              <a:rPr lang="ko-KR" altLang="en-US" sz="1500" dirty="0"/>
              <a:t>등을 사용할 수 있다</a:t>
            </a:r>
            <a:r>
              <a:rPr lang="en-US" altLang="ko-KR"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500" dirty="0"/>
              <a:t>재조합 </a:t>
            </a:r>
            <a:r>
              <a:rPr lang="en-US" altLang="ko-KR" sz="1500" dirty="0"/>
              <a:t>DNA</a:t>
            </a:r>
            <a:r>
              <a:rPr lang="ko-KR" altLang="en-US" sz="1500" dirty="0"/>
              <a:t>의 흐름</a:t>
            </a:r>
            <a:r>
              <a:rPr lang="en-US" altLang="ko-KR" sz="1500" dirty="0"/>
              <a:t>: </a:t>
            </a:r>
            <a:r>
              <a:rPr lang="ko-KR" altLang="en-US" sz="1500" dirty="0"/>
              <a:t>절단 → 연결 → 클론 → 서열 확인 → 발현</a:t>
            </a:r>
            <a:r>
              <a:rPr lang="en-US" altLang="ko-KR"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500" dirty="0"/>
              <a:t>유전자를 분리하는 기술이 단백질 생산 기술로 확장되었다</a:t>
            </a:r>
            <a:r>
              <a:rPr lang="en-US" altLang="ko-KR" sz="15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sz="1500"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37969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b="1" dirty="0"/>
              <a:t>4.3.3. DNA </a:t>
            </a:r>
            <a:r>
              <a:rPr lang="ko-KR" altLang="en-US" b="1" dirty="0"/>
              <a:t>서열 분석 </a:t>
            </a:r>
            <a:r>
              <a:rPr lang="en-US" altLang="ko-KR" b="1" dirty="0"/>
              <a:t>(sequencing)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/>
              <a:t>Sanger </a:t>
            </a:r>
            <a:r>
              <a:rPr dirty="0" err="1"/>
              <a:t>sequencing은</a:t>
            </a:r>
            <a:r>
              <a:rPr dirty="0"/>
              <a:t> chain </a:t>
            </a:r>
            <a:r>
              <a:rPr dirty="0" err="1"/>
              <a:t>termination을</a:t>
            </a:r>
            <a:r>
              <a:rPr dirty="0"/>
              <a:t> </a:t>
            </a:r>
            <a:r>
              <a:rPr dirty="0" err="1"/>
              <a:t>이용한다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ddNTP에는</a:t>
            </a:r>
            <a:r>
              <a:rPr dirty="0"/>
              <a:t> 3′-OH가 </a:t>
            </a:r>
            <a:r>
              <a:rPr dirty="0" err="1"/>
              <a:t>없어</a:t>
            </a:r>
            <a:r>
              <a:rPr dirty="0"/>
              <a:t> </a:t>
            </a:r>
            <a:r>
              <a:rPr dirty="0" err="1"/>
              <a:t>추가적인</a:t>
            </a:r>
            <a:r>
              <a:rPr dirty="0"/>
              <a:t> nucleotide </a:t>
            </a:r>
            <a:r>
              <a:rPr dirty="0" err="1"/>
              <a:t>결합이</a:t>
            </a:r>
            <a:r>
              <a:rPr dirty="0"/>
              <a:t> </a:t>
            </a:r>
            <a:r>
              <a:rPr dirty="0" err="1"/>
              <a:t>불가능하다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/>
              <a:t>DNA </a:t>
            </a:r>
            <a:r>
              <a:rPr dirty="0" err="1"/>
              <a:t>합성</a:t>
            </a:r>
            <a:r>
              <a:rPr dirty="0"/>
              <a:t> 중 </a:t>
            </a:r>
            <a:r>
              <a:rPr dirty="0" err="1"/>
              <a:t>ddNTP가</a:t>
            </a:r>
            <a:r>
              <a:rPr dirty="0"/>
              <a:t> </a:t>
            </a:r>
            <a:r>
              <a:rPr dirty="0" err="1"/>
              <a:t>들어간</a:t>
            </a:r>
            <a:r>
              <a:rPr dirty="0"/>
              <a:t> </a:t>
            </a:r>
            <a:r>
              <a:rPr dirty="0" err="1"/>
              <a:t>지점에서</a:t>
            </a:r>
            <a:r>
              <a:rPr dirty="0"/>
              <a:t> </a:t>
            </a:r>
            <a:r>
              <a:rPr dirty="0" err="1"/>
              <a:t>가닥이</a:t>
            </a:r>
            <a:r>
              <a:rPr dirty="0"/>
              <a:t> </a:t>
            </a:r>
            <a:r>
              <a:rPr dirty="0" err="1"/>
              <a:t>종결된다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길이의</a:t>
            </a:r>
            <a:r>
              <a:rPr dirty="0"/>
              <a:t> </a:t>
            </a:r>
            <a:r>
              <a:rPr dirty="0" err="1"/>
              <a:t>종료</a:t>
            </a:r>
            <a:r>
              <a:rPr dirty="0"/>
              <a:t> </a:t>
            </a:r>
            <a:r>
              <a:rPr dirty="0" err="1"/>
              <a:t>산물을</a:t>
            </a:r>
            <a:r>
              <a:rPr dirty="0"/>
              <a:t> </a:t>
            </a:r>
            <a:r>
              <a:rPr dirty="0" err="1"/>
              <a:t>읽으면</a:t>
            </a:r>
            <a:r>
              <a:rPr dirty="0"/>
              <a:t> DNA </a:t>
            </a:r>
            <a:r>
              <a:rPr dirty="0" err="1"/>
              <a:t>서열을</a:t>
            </a:r>
            <a:r>
              <a:rPr dirty="0"/>
              <a:t> </a:t>
            </a:r>
            <a:r>
              <a:rPr dirty="0" err="1"/>
              <a:t>복원할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5404027" cy="2547813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b="1" dirty="0"/>
              <a:t>4.3.3. DNA </a:t>
            </a:r>
            <a:r>
              <a:rPr lang="ko-KR" altLang="en-US" b="1" dirty="0"/>
              <a:t>서열 분석 </a:t>
            </a:r>
            <a:r>
              <a:rPr lang="en-US" altLang="ko-KR" b="1" dirty="0"/>
              <a:t>(sequencing)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dirty="0"/>
              <a:t>1) </a:t>
            </a:r>
            <a:r>
              <a:rPr lang="ko-KR" altLang="en-US" b="1" dirty="0" err="1"/>
              <a:t>생어</a:t>
            </a:r>
            <a:r>
              <a:rPr lang="ko-KR" altLang="en-US" b="1" dirty="0"/>
              <a:t> </a:t>
            </a:r>
            <a:r>
              <a:rPr lang="ko-KR" altLang="en-US" b="1" dirty="0" err="1"/>
              <a:t>시퀀싱</a:t>
            </a:r>
            <a:r>
              <a:rPr lang="en-US" altLang="ko-KR" b="1" dirty="0"/>
              <a:t>(Sanger sequencing)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4종 </a:t>
            </a:r>
            <a:r>
              <a:rPr dirty="0" err="1"/>
              <a:t>ddNTP를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형광으로</a:t>
            </a:r>
            <a:r>
              <a:rPr dirty="0"/>
              <a:t> </a:t>
            </a:r>
            <a:r>
              <a:rPr dirty="0" err="1"/>
              <a:t>표지한다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크기가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DNA </a:t>
            </a:r>
            <a:r>
              <a:rPr dirty="0" err="1"/>
              <a:t>산물을</a:t>
            </a:r>
            <a:r>
              <a:rPr dirty="0"/>
              <a:t> </a:t>
            </a:r>
            <a:r>
              <a:rPr dirty="0" err="1"/>
              <a:t>전기영동으로</a:t>
            </a:r>
            <a:r>
              <a:rPr dirty="0"/>
              <a:t> </a:t>
            </a:r>
            <a:r>
              <a:rPr dirty="0" err="1"/>
              <a:t>분리한다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레이저가</a:t>
            </a:r>
            <a:r>
              <a:rPr dirty="0"/>
              <a:t> </a:t>
            </a:r>
            <a:r>
              <a:rPr dirty="0" err="1"/>
              <a:t>형광을</a:t>
            </a:r>
            <a:r>
              <a:rPr dirty="0"/>
              <a:t> </a:t>
            </a:r>
            <a:r>
              <a:rPr dirty="0" err="1"/>
              <a:t>읽고</a:t>
            </a:r>
            <a:r>
              <a:rPr dirty="0"/>
              <a:t> </a:t>
            </a:r>
            <a:r>
              <a:rPr dirty="0" err="1"/>
              <a:t>컴퓨터가</a:t>
            </a:r>
            <a:r>
              <a:rPr dirty="0"/>
              <a:t> </a:t>
            </a:r>
            <a:r>
              <a:rPr dirty="0" err="1"/>
              <a:t>색과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서열로</a:t>
            </a:r>
            <a:r>
              <a:rPr dirty="0"/>
              <a:t> </a:t>
            </a:r>
            <a:r>
              <a:rPr dirty="0" err="1"/>
              <a:t>변환한다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738A7F-E981-45C1-8862-7EB40DD68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50" y="1223968"/>
            <a:ext cx="5404027" cy="55425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2D38C7-57C1-4820-AE38-AFEC32585A20}"/>
              </a:ext>
            </a:extLst>
          </p:cNvPr>
          <p:cNvSpPr txBox="1"/>
          <p:nvPr/>
        </p:nvSpPr>
        <p:spPr>
          <a:xfrm>
            <a:off x="868680" y="4129106"/>
            <a:ext cx="6094070" cy="230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Figure 4.18 </a:t>
            </a:r>
            <a:r>
              <a:rPr lang="ko-KR" altLang="en-US" sz="140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디데옥시뉴클레오티드를</a:t>
            </a:r>
            <a:r>
              <a:rPr lang="ko-KR" altLang="en-US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이용한 </a:t>
            </a:r>
            <a:r>
              <a:rPr lang="en-US" altLang="ko-KR" sz="14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40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시퀀싱</a:t>
            </a:r>
            <a:endParaRPr lang="ko-KR" altLang="en-US" sz="1400" b="1" dirty="0">
              <a:latin typeface="HY엽서L" panose="02030600000101010101" pitchFamily="18" charset="-127"/>
              <a:ea typeface="HY엽서L" panose="02030600000101010101" pitchFamily="18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생거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시퀀싱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공정은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3'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말단에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수산기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(-OH)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가 결여되어 다음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뉴클레오티드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결합을 차단하는 </a:t>
            </a:r>
            <a:r>
              <a:rPr lang="en-US" altLang="ko-KR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ddNTP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를 사용한다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네 가지 </a:t>
            </a:r>
            <a:r>
              <a:rPr lang="en-US" altLang="ko-KR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ddNTP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분자에 제각각 다른 색상의 형광 염료를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표지한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뒤 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DNA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합성 반응을 진행한다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 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무작위로 합성이 중단되어 생성된 다양한 길이의 가닥들을 </a:t>
            </a:r>
            <a:r>
              <a:rPr lang="ko-KR" altLang="en-US" sz="1400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전기영동으로</a:t>
            </a:r>
            <a:r>
              <a:rPr lang="ko-KR" altLang="en-US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 통과시키며 형광 신호를 읽어 염기 서열을 해독한다</a:t>
            </a:r>
            <a:r>
              <a:rPr lang="en-US" altLang="ko-KR" sz="1400" dirty="0">
                <a:latin typeface="HY엽서L" panose="02030600000101010101" pitchFamily="18" charset="-127"/>
                <a:ea typeface="HY엽서L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latin typeface="HY엽서L" panose="02030600000101010101" pitchFamily="18" charset="-127"/>
              <a:ea typeface="HY엽서L" panose="02030600000101010101" pitchFamily="18" charset="-127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931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b="1" dirty="0"/>
              <a:t>재조합 </a:t>
            </a:r>
            <a:r>
              <a:rPr lang="en-US" altLang="ko-KR" b="1" dirty="0"/>
              <a:t>DNA: </a:t>
            </a:r>
            <a:r>
              <a:rPr lang="ko-KR" altLang="en-US" b="1" dirty="0"/>
              <a:t>제한효소</a:t>
            </a:r>
            <a:r>
              <a:rPr lang="en-US" altLang="ko-KR" b="1" dirty="0"/>
              <a:t>, </a:t>
            </a:r>
            <a:r>
              <a:rPr lang="ko-KR" altLang="en-US" b="1" dirty="0" err="1"/>
              <a:t>클로닝</a:t>
            </a:r>
            <a:r>
              <a:rPr lang="en-US" altLang="ko-KR" b="1" dirty="0"/>
              <a:t>, </a:t>
            </a:r>
            <a:r>
              <a:rPr lang="ko-KR" altLang="en-US" b="1" dirty="0" err="1"/>
              <a:t>시퀀싱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50884"/>
            <a:ext cx="10835640" cy="253710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b="1" dirty="0"/>
              <a:t>4.3.3. DNA </a:t>
            </a:r>
            <a:r>
              <a:rPr lang="ko-KR" altLang="en-US" b="1" dirty="0"/>
              <a:t>서열 분석 </a:t>
            </a:r>
            <a:r>
              <a:rPr lang="en-US" altLang="ko-KR" b="1" dirty="0"/>
              <a:t>(sequencing)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600" b="1" dirty="0"/>
              <a:t>2) NGS(</a:t>
            </a:r>
            <a:r>
              <a:rPr lang="ko-KR" altLang="en-US" sz="1600" b="1" dirty="0"/>
              <a:t>차세대 </a:t>
            </a:r>
            <a:r>
              <a:rPr lang="ko-KR" altLang="en-US" sz="1600" b="1" dirty="0" err="1"/>
              <a:t>시퀀싱</a:t>
            </a:r>
            <a:r>
              <a:rPr lang="en-US" altLang="ko-KR" sz="1600" b="1" dirty="0"/>
              <a:t>)</a:t>
            </a:r>
            <a:endParaRPr lang="en-US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Sanger </a:t>
            </a:r>
            <a:r>
              <a:rPr sz="1600" dirty="0" err="1"/>
              <a:t>기반</a:t>
            </a:r>
            <a:r>
              <a:rPr sz="1600" dirty="0"/>
              <a:t> </a:t>
            </a:r>
            <a:r>
              <a:rPr sz="1600" dirty="0" err="1"/>
              <a:t>자동화는</a:t>
            </a:r>
            <a:r>
              <a:rPr sz="1600" dirty="0"/>
              <a:t> </a:t>
            </a:r>
            <a:r>
              <a:rPr sz="1600" dirty="0" err="1"/>
              <a:t>인간</a:t>
            </a:r>
            <a:r>
              <a:rPr sz="1600" dirty="0"/>
              <a:t> </a:t>
            </a:r>
            <a:r>
              <a:rPr sz="1600" dirty="0" err="1"/>
              <a:t>유전체</a:t>
            </a:r>
            <a:r>
              <a:rPr sz="1600" dirty="0"/>
              <a:t> </a:t>
            </a:r>
            <a:r>
              <a:rPr sz="1600" dirty="0" err="1"/>
              <a:t>프로젝트를</a:t>
            </a:r>
            <a:r>
              <a:rPr sz="1600" dirty="0"/>
              <a:t> </a:t>
            </a:r>
            <a:r>
              <a:rPr sz="1600" dirty="0" err="1"/>
              <a:t>가능하게</a:t>
            </a:r>
            <a:r>
              <a:rPr sz="1600" dirty="0"/>
              <a:t> </a:t>
            </a:r>
            <a:r>
              <a:rPr sz="1600" dirty="0" err="1"/>
              <a:t>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이후</a:t>
            </a:r>
            <a:r>
              <a:rPr sz="1600" dirty="0"/>
              <a:t> 더 </a:t>
            </a:r>
            <a:r>
              <a:rPr sz="1600" dirty="0" err="1"/>
              <a:t>빠르고</a:t>
            </a:r>
            <a:r>
              <a:rPr sz="1600" dirty="0"/>
              <a:t> </a:t>
            </a:r>
            <a:r>
              <a:rPr sz="1600" dirty="0" err="1"/>
              <a:t>저렴한</a:t>
            </a:r>
            <a:r>
              <a:rPr sz="1600" dirty="0"/>
              <a:t> high-throughput </a:t>
            </a:r>
            <a:r>
              <a:rPr sz="1600" dirty="0" err="1"/>
              <a:t>sequencing이</a:t>
            </a:r>
            <a:r>
              <a:rPr sz="1600" dirty="0"/>
              <a:t> </a:t>
            </a:r>
            <a:r>
              <a:rPr sz="1600" dirty="0" err="1"/>
              <a:t>등장했다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이를</a:t>
            </a:r>
            <a:r>
              <a:rPr sz="1600" dirty="0"/>
              <a:t> </a:t>
            </a:r>
            <a:r>
              <a:rPr sz="1600" dirty="0" err="1"/>
              <a:t>통칭해</a:t>
            </a:r>
            <a:r>
              <a:rPr sz="1600" dirty="0"/>
              <a:t> next-generation </a:t>
            </a:r>
            <a:r>
              <a:rPr sz="1600" dirty="0" err="1"/>
              <a:t>sequencing이라</a:t>
            </a:r>
            <a:r>
              <a:rPr sz="1600" dirty="0"/>
              <a:t> </a:t>
            </a:r>
            <a:r>
              <a:rPr sz="1600" dirty="0" err="1"/>
              <a:t>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많은</a:t>
            </a:r>
            <a:r>
              <a:rPr sz="1600" dirty="0"/>
              <a:t> DNA </a:t>
            </a:r>
            <a:r>
              <a:rPr sz="1600" dirty="0" err="1"/>
              <a:t>분자를</a:t>
            </a:r>
            <a:r>
              <a:rPr sz="1600" dirty="0"/>
              <a:t> </a:t>
            </a:r>
            <a:r>
              <a:rPr sz="1600" dirty="0" err="1"/>
              <a:t>병렬적으로</a:t>
            </a:r>
            <a:r>
              <a:rPr sz="1600" dirty="0"/>
              <a:t> </a:t>
            </a:r>
            <a:r>
              <a:rPr sz="1600" dirty="0" err="1"/>
              <a:t>읽는</a:t>
            </a:r>
            <a:r>
              <a:rPr sz="1600" dirty="0"/>
              <a:t> </a:t>
            </a:r>
            <a:r>
              <a:rPr sz="1600" dirty="0" err="1"/>
              <a:t>것이</a:t>
            </a:r>
            <a:r>
              <a:rPr sz="1600" dirty="0"/>
              <a:t> </a:t>
            </a:r>
            <a:r>
              <a:rPr sz="1600" dirty="0" err="1"/>
              <a:t>핵심이다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475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sz="1600"/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512064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특정 DNA/RNA가 어디에 있고 얼마나 있는지 검출해야 한다.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핵산 검출: PCR, hybridization, Southern/Northern, in situ hybridization.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단백질 검출: antibody, Western blot, immunofluorescence.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핵심 원리는 상보적 결합 또는 항체의 특이적 인식이다.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>
                <a:highlight>
                  <a:srgbClr val="FFFF00"/>
                </a:highlight>
              </a:rPr>
              <a:t>4.4.1. PCR (Polymerase chain reaction)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PCR은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DNA </a:t>
            </a:r>
            <a:r>
              <a:rPr dirty="0" err="1"/>
              <a:t>구간을</a:t>
            </a:r>
            <a:r>
              <a:rPr dirty="0"/>
              <a:t> </a:t>
            </a:r>
            <a:r>
              <a:rPr dirty="0" err="1"/>
              <a:t>시험관에서</a:t>
            </a:r>
            <a:r>
              <a:rPr dirty="0"/>
              <a:t> </a:t>
            </a:r>
            <a:r>
              <a:rPr dirty="0" err="1"/>
              <a:t>선택적으로</a:t>
            </a:r>
            <a:r>
              <a:rPr dirty="0"/>
              <a:t> </a:t>
            </a:r>
            <a:r>
              <a:rPr dirty="0" err="1"/>
              <a:t>증폭한다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두 </a:t>
            </a:r>
            <a:r>
              <a:rPr dirty="0" err="1"/>
              <a:t>primer가</a:t>
            </a:r>
            <a:r>
              <a:rPr dirty="0"/>
              <a:t> </a:t>
            </a:r>
            <a:r>
              <a:rPr dirty="0" err="1"/>
              <a:t>표적</a:t>
            </a:r>
            <a:r>
              <a:rPr dirty="0"/>
              <a:t> </a:t>
            </a:r>
            <a:r>
              <a:rPr dirty="0" err="1"/>
              <a:t>양쪽에</a:t>
            </a:r>
            <a:r>
              <a:rPr dirty="0"/>
              <a:t> </a:t>
            </a:r>
            <a:r>
              <a:rPr dirty="0" err="1"/>
              <a:t>결합해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방향을</a:t>
            </a:r>
            <a:r>
              <a:rPr dirty="0"/>
              <a:t> </a:t>
            </a:r>
            <a:r>
              <a:rPr dirty="0" err="1"/>
              <a:t>결정한다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각 </a:t>
            </a:r>
            <a:r>
              <a:rPr dirty="0" err="1"/>
              <a:t>cycle에서</a:t>
            </a:r>
            <a:r>
              <a:rPr dirty="0"/>
              <a:t> </a:t>
            </a:r>
            <a:r>
              <a:rPr dirty="0" err="1"/>
              <a:t>이상적으로</a:t>
            </a:r>
            <a:r>
              <a:rPr dirty="0"/>
              <a:t> DNA </a:t>
            </a:r>
            <a:r>
              <a:rPr dirty="0" err="1"/>
              <a:t>양이</a:t>
            </a:r>
            <a:r>
              <a:rPr dirty="0"/>
              <a:t> 2배씩 </a:t>
            </a:r>
            <a:r>
              <a:rPr dirty="0" err="1"/>
              <a:t>증가한다</a:t>
            </a:r>
            <a:r>
              <a:rPr dirty="0"/>
              <a:t>.</a:t>
            </a:r>
            <a:r>
              <a:rPr lang="en-US" dirty="0"/>
              <a:t> ; </a:t>
            </a:r>
            <a:r>
              <a:rPr dirty="0"/>
              <a:t>30 </a:t>
            </a:r>
            <a:r>
              <a:rPr dirty="0" err="1"/>
              <a:t>cycles의</a:t>
            </a:r>
            <a:r>
              <a:rPr dirty="0"/>
              <a:t> </a:t>
            </a:r>
            <a:r>
              <a:rPr dirty="0" err="1"/>
              <a:t>이론적</a:t>
            </a:r>
            <a:r>
              <a:rPr dirty="0"/>
              <a:t> </a:t>
            </a:r>
            <a:r>
              <a:rPr dirty="0" err="1"/>
              <a:t>증폭량은</a:t>
            </a:r>
            <a:r>
              <a:rPr dirty="0"/>
              <a:t> 약 2^30 ≈ 10^9배이다.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내용 개체 틀 4">
            <a:extLst>
              <a:ext uri="{FF2B5EF4-FFF2-40B4-BE49-F238E27FC236}">
                <a16:creationId xmlns:a16="http://schemas.microsoft.com/office/drawing/2014/main" id="{48ED93F2-711D-4036-9FCC-658CC44C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71192"/>
            <a:ext cx="4691805" cy="35961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37FA37A-9720-4C44-AB11-0B223E4C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880" y="3039439"/>
            <a:ext cx="5306165" cy="12860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D7A27E-5563-4662-9301-B30FEF7467FE}"/>
              </a:ext>
            </a:extLst>
          </p:cNvPr>
          <p:cNvSpPr txBox="1"/>
          <p:nvPr/>
        </p:nvSpPr>
        <p:spPr>
          <a:xfrm>
            <a:off x="5855679" y="4325493"/>
            <a:ext cx="5940081" cy="22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6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6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4.20 </a:t>
            </a:r>
            <a:r>
              <a:rPr lang="ko-KR" altLang="ko-KR" sz="16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PCR을</a:t>
            </a:r>
            <a:r>
              <a:rPr lang="ko-KR" altLang="ko-KR" sz="16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이용한 DNA 증폭 기술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6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중합효소연쇄반응은 열에 강한 중합효소와 표적 서열 양 끝에 결합하는 한 쌍의 </a:t>
            </a:r>
            <a:r>
              <a:rPr lang="ko-KR" altLang="ko-KR" sz="16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프라이머를</a:t>
            </a:r>
            <a:r>
              <a:rPr lang="ko-KR" altLang="ko-KR" sz="16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사용한다. 열을 가해 </a:t>
            </a:r>
            <a:r>
              <a:rPr lang="ko-KR" altLang="ko-KR" sz="16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DNA를</a:t>
            </a:r>
            <a:r>
              <a:rPr lang="ko-KR" altLang="ko-KR" sz="16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단일 가닥으로 분리한 후, 온도를 낮추어 </a:t>
            </a:r>
            <a:r>
              <a:rPr lang="ko-KR" altLang="ko-KR" sz="16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프라이머를</a:t>
            </a:r>
            <a:r>
              <a:rPr lang="ko-KR" altLang="ko-KR" sz="16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결합시키고 중합효소로 가닥을 연장한다. 이 세 단계의 온도 사이클을 반복할 때마다 표적 </a:t>
            </a:r>
            <a:r>
              <a:rPr lang="ko-KR" altLang="ko-KR" sz="16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DNA의</a:t>
            </a:r>
            <a:r>
              <a:rPr lang="ko-KR" altLang="ko-KR" sz="16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양이 기하급수적으로 두 배씩 증가한다.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676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512064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1. Denaturation: 고온에서 DNA 두 가닥 분리.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2. Annealing: primer가 상보적 표적에 결합.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3. Extension: DNA polymerase가 새 가닥 합성.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이 세 단계를 반복해 표적 DNA를 선택적으로 증폭한다.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320E78-5F9B-4408-A726-95C2280B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325864"/>
            <a:ext cx="4544059" cy="23815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F1F941-A418-0F22-57D4-3B99182A3C06}"/>
              </a:ext>
            </a:extLst>
          </p:cNvPr>
          <p:cNvSpPr txBox="1"/>
          <p:nvPr/>
        </p:nvSpPr>
        <p:spPr>
          <a:xfrm>
            <a:off x="1051560" y="4243667"/>
            <a:ext cx="10835640" cy="1499962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r"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/>
              <a:t>Taq </a:t>
            </a:r>
            <a:r>
              <a:rPr sz="1400" dirty="0" err="1"/>
              <a:t>polymerase는</a:t>
            </a:r>
            <a:r>
              <a:rPr sz="1400" dirty="0"/>
              <a:t> Thermus aquaticus </a:t>
            </a:r>
            <a:r>
              <a:rPr sz="1400" dirty="0" err="1"/>
              <a:t>유래의</a:t>
            </a:r>
            <a:r>
              <a:rPr sz="1400" dirty="0"/>
              <a:t> </a:t>
            </a:r>
            <a:r>
              <a:rPr sz="1400" dirty="0" err="1"/>
              <a:t>내열성</a:t>
            </a:r>
            <a:r>
              <a:rPr sz="1400" dirty="0"/>
              <a:t> </a:t>
            </a:r>
            <a:r>
              <a:rPr sz="1400" dirty="0" err="1"/>
              <a:t>효소이다</a:t>
            </a:r>
            <a:r>
              <a:rPr sz="1400" dirty="0"/>
              <a:t>.</a:t>
            </a:r>
          </a:p>
          <a:p>
            <a:pPr algn="r"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 err="1"/>
              <a:t>높은</a:t>
            </a:r>
            <a:r>
              <a:rPr sz="1400" dirty="0"/>
              <a:t> </a:t>
            </a:r>
            <a:r>
              <a:rPr sz="1400" dirty="0" err="1"/>
              <a:t>온도의</a:t>
            </a:r>
            <a:r>
              <a:rPr sz="1400" dirty="0"/>
              <a:t> denaturation </a:t>
            </a:r>
            <a:r>
              <a:rPr sz="1400" dirty="0" err="1"/>
              <a:t>단계에서도</a:t>
            </a:r>
            <a:r>
              <a:rPr sz="1400" dirty="0"/>
              <a:t> </a:t>
            </a:r>
            <a:r>
              <a:rPr sz="1400" dirty="0" err="1"/>
              <a:t>활성을</a:t>
            </a:r>
            <a:r>
              <a:rPr sz="1400" dirty="0"/>
              <a:t> </a:t>
            </a:r>
            <a:r>
              <a:rPr sz="1400" dirty="0" err="1"/>
              <a:t>유지한다</a:t>
            </a:r>
            <a:r>
              <a:rPr sz="1400" dirty="0"/>
              <a:t>.</a:t>
            </a:r>
          </a:p>
          <a:p>
            <a:pPr algn="r"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/>
              <a:t>thermal </a:t>
            </a:r>
            <a:r>
              <a:rPr sz="1400" dirty="0" err="1"/>
              <a:t>cycler가</a:t>
            </a:r>
            <a:r>
              <a:rPr sz="1400" dirty="0"/>
              <a:t> </a:t>
            </a:r>
            <a:r>
              <a:rPr sz="1400" dirty="0" err="1"/>
              <a:t>온도</a:t>
            </a:r>
            <a:r>
              <a:rPr sz="1400" dirty="0"/>
              <a:t> </a:t>
            </a:r>
            <a:r>
              <a:rPr sz="1400" dirty="0" err="1"/>
              <a:t>변화를</a:t>
            </a:r>
            <a:r>
              <a:rPr sz="1400" dirty="0"/>
              <a:t> </a:t>
            </a:r>
            <a:r>
              <a:rPr sz="1400" dirty="0" err="1"/>
              <a:t>자동</a:t>
            </a:r>
            <a:r>
              <a:rPr sz="1400" dirty="0"/>
              <a:t> </a:t>
            </a:r>
            <a:r>
              <a:rPr sz="1400" dirty="0" err="1"/>
              <a:t>반복한다</a:t>
            </a:r>
            <a:r>
              <a:rPr sz="1400" dirty="0"/>
              <a:t>.</a:t>
            </a:r>
          </a:p>
          <a:p>
            <a:pPr algn="r"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 err="1"/>
              <a:t>PCR이</a:t>
            </a:r>
            <a:r>
              <a:rPr sz="1400" dirty="0"/>
              <a:t> </a:t>
            </a:r>
            <a:r>
              <a:rPr sz="1400" dirty="0" err="1"/>
              <a:t>실용적인</a:t>
            </a:r>
            <a:r>
              <a:rPr sz="1400" dirty="0"/>
              <a:t> routine </a:t>
            </a:r>
            <a:r>
              <a:rPr sz="1400" dirty="0" err="1"/>
              <a:t>technique이</a:t>
            </a:r>
            <a:r>
              <a:rPr sz="1400" dirty="0"/>
              <a:t> 된 </a:t>
            </a:r>
            <a:r>
              <a:rPr sz="1400" dirty="0" err="1"/>
              <a:t>핵심</a:t>
            </a:r>
            <a:r>
              <a:rPr sz="1400" dirty="0"/>
              <a:t> </a:t>
            </a:r>
            <a:r>
              <a:rPr sz="1400" dirty="0" err="1"/>
              <a:t>이유다</a:t>
            </a:r>
            <a:r>
              <a:rPr sz="1400" dirty="0"/>
              <a:t>.</a:t>
            </a:r>
          </a:p>
        </p:txBody>
      </p:sp>
      <p:pic>
        <p:nvPicPr>
          <p:cNvPr id="13" name="Picture 2" descr="일반PCR SimpliAmp Thermal Cycle A24811, 장출혈성대장균, DNA증폭, 식중독균, 식중독검사, 미생물검사,  살모넬라, 장염비브리오, 리스테리아, 병원성식중 | 자동화 · 로봇 · 계측 · 시험 - 검사기 · 시험기 · 실험기 - 분석기 ·  측정기 |">
            <a:extLst>
              <a:ext uri="{FF2B5EF4-FFF2-40B4-BE49-F238E27FC236}">
                <a16:creationId xmlns:a16="http://schemas.microsoft.com/office/drawing/2014/main" id="{C207B06E-FDCA-65D3-DE8B-31A4A47E3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379" y="1288559"/>
            <a:ext cx="2688306" cy="268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6824417-34FC-B3ED-C1AE-ADDC11292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142" y="2246608"/>
            <a:ext cx="1244175" cy="67056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37969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b="1" dirty="0"/>
              <a:t>2) RT-PCR</a:t>
            </a:r>
            <a:r>
              <a:rPr lang="ko-KR" altLang="en-US" b="1" dirty="0"/>
              <a:t>과 실시간 </a:t>
            </a:r>
            <a:r>
              <a:rPr lang="en-US" altLang="ko-KR" b="1" dirty="0"/>
              <a:t>PCR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RNA는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reverse </a:t>
            </a:r>
            <a:r>
              <a:rPr dirty="0" err="1"/>
              <a:t>transcriptase로</a:t>
            </a:r>
            <a:r>
              <a:rPr dirty="0"/>
              <a:t> </a:t>
            </a:r>
            <a:r>
              <a:rPr dirty="0" err="1"/>
              <a:t>cDNA로</a:t>
            </a:r>
            <a:r>
              <a:rPr dirty="0"/>
              <a:t> </a:t>
            </a:r>
            <a:r>
              <a:rPr dirty="0" err="1"/>
              <a:t>변환한다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PCR로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RNA에서</a:t>
            </a:r>
            <a:r>
              <a:rPr dirty="0"/>
              <a:t> </a:t>
            </a:r>
            <a:r>
              <a:rPr dirty="0" err="1"/>
              <a:t>유래한</a:t>
            </a:r>
            <a:r>
              <a:rPr dirty="0"/>
              <a:t> </a:t>
            </a:r>
            <a:r>
              <a:rPr dirty="0" err="1"/>
              <a:t>서열을</a:t>
            </a:r>
            <a:r>
              <a:rPr dirty="0"/>
              <a:t> </a:t>
            </a:r>
            <a:r>
              <a:rPr dirty="0" err="1"/>
              <a:t>증폭한다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/>
              <a:t>real-time </a:t>
            </a:r>
            <a:r>
              <a:rPr dirty="0" err="1"/>
              <a:t>PCR은</a:t>
            </a:r>
            <a:r>
              <a:rPr dirty="0"/>
              <a:t> </a:t>
            </a:r>
            <a:r>
              <a:rPr dirty="0" err="1"/>
              <a:t>증폭</a:t>
            </a:r>
            <a:r>
              <a:rPr dirty="0"/>
              <a:t> </a:t>
            </a:r>
            <a:r>
              <a:rPr dirty="0" err="1"/>
              <a:t>과정</a:t>
            </a:r>
            <a:r>
              <a:rPr dirty="0"/>
              <a:t> 중 </a:t>
            </a:r>
            <a:r>
              <a:rPr dirty="0" err="1"/>
              <a:t>형광을</a:t>
            </a:r>
            <a:r>
              <a:rPr dirty="0"/>
              <a:t> </a:t>
            </a:r>
            <a:r>
              <a:rPr dirty="0" err="1"/>
              <a:t>측정한다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초기</a:t>
            </a:r>
            <a:r>
              <a:rPr dirty="0"/>
              <a:t> template </a:t>
            </a:r>
            <a:r>
              <a:rPr dirty="0" err="1"/>
              <a:t>양이</a:t>
            </a:r>
            <a:r>
              <a:rPr dirty="0"/>
              <a:t> </a:t>
            </a:r>
            <a:r>
              <a:rPr dirty="0" err="1"/>
              <a:t>많을수록</a:t>
            </a:r>
            <a:r>
              <a:rPr dirty="0"/>
              <a:t> </a:t>
            </a:r>
            <a:r>
              <a:rPr dirty="0" err="1"/>
              <a:t>threshold에</a:t>
            </a:r>
            <a:r>
              <a:rPr dirty="0"/>
              <a:t> 더 </a:t>
            </a:r>
            <a:r>
              <a:rPr dirty="0" err="1"/>
              <a:t>빨리</a:t>
            </a:r>
            <a:r>
              <a:rPr dirty="0"/>
              <a:t> </a:t>
            </a:r>
            <a:r>
              <a:rPr dirty="0" err="1"/>
              <a:t>도달한다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6" descr="코로나19] 분자진단기술(PCR) 알아보기! - 서린바이오사이언스">
            <a:extLst>
              <a:ext uri="{FF2B5EF4-FFF2-40B4-BE49-F238E27FC236}">
                <a16:creationId xmlns:a16="http://schemas.microsoft.com/office/drawing/2014/main" id="{E9C8BC48-6B9B-491B-8507-66D1DCECF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865" y="3173102"/>
            <a:ext cx="5410830" cy="318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A17C5-599F-0D1A-3C4F-1E4D0C28058A}"/>
              </a:ext>
            </a:extLst>
          </p:cNvPr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b="1" dirty="0"/>
              <a:t>4.4.2. </a:t>
            </a:r>
            <a:r>
              <a:rPr lang="ko-KR" altLang="en-US" b="1" dirty="0"/>
              <a:t>핵산 혼성화</a:t>
            </a:r>
            <a:r>
              <a:rPr lang="en-US" altLang="ko-KR" b="1" dirty="0"/>
              <a:t>(DNA/RNA hybridization)</a:t>
            </a:r>
            <a:endParaRPr lang="en-US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고온에서</a:t>
            </a:r>
            <a:r>
              <a:rPr dirty="0"/>
              <a:t> DNA/RNA </a:t>
            </a:r>
            <a:r>
              <a:rPr dirty="0" err="1"/>
              <a:t>이중가닥을</a:t>
            </a:r>
            <a:r>
              <a:rPr dirty="0"/>
              <a:t> </a:t>
            </a:r>
            <a:r>
              <a:rPr dirty="0" err="1"/>
              <a:t>denaturation한다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온도를</a:t>
            </a:r>
            <a:r>
              <a:rPr dirty="0"/>
              <a:t> </a:t>
            </a:r>
            <a:r>
              <a:rPr dirty="0" err="1"/>
              <a:t>낮추면</a:t>
            </a:r>
            <a:r>
              <a:rPr dirty="0"/>
              <a:t> </a:t>
            </a:r>
            <a:r>
              <a:rPr dirty="0" err="1"/>
              <a:t>상보적</a:t>
            </a:r>
            <a:r>
              <a:rPr dirty="0"/>
              <a:t> </a:t>
            </a:r>
            <a:r>
              <a:rPr dirty="0" err="1"/>
              <a:t>서열이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결합한다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이 </a:t>
            </a:r>
            <a:r>
              <a:rPr dirty="0" err="1"/>
              <a:t>상보적</a:t>
            </a:r>
            <a:r>
              <a:rPr dirty="0"/>
              <a:t> </a:t>
            </a:r>
            <a:r>
              <a:rPr dirty="0" err="1"/>
              <a:t>결합을</a:t>
            </a:r>
            <a:r>
              <a:rPr dirty="0"/>
              <a:t> </a:t>
            </a:r>
            <a:r>
              <a:rPr dirty="0" err="1"/>
              <a:t>hybridization이라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DNA-DNA, RNA-RNA, DNA-RNA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형성될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D2D8C6-B4BE-495D-A8F5-EAAF625C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561" y="2173493"/>
            <a:ext cx="2196567" cy="45348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62E644-02FF-4D63-8E5F-5F429227599F}"/>
              </a:ext>
            </a:extLst>
          </p:cNvPr>
          <p:cNvSpPr txBox="1"/>
          <p:nvPr/>
        </p:nvSpPr>
        <p:spPr>
          <a:xfrm>
            <a:off x="123343" y="4990981"/>
            <a:ext cx="7587797" cy="158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1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1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4.21 핵산 하이브리드 형성 원리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이중 가닥 핵산 분자에 높은 온도를 가하면 가닥 사이의 수소 결합이 깨어지면서 단일 가닥으로 변성된다. 여기에 방사능 동위원소나 형광 물질로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라벨링된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단일 가닥 탐침 분자를 섞은 뒤 온도를 서서히 낮춘다. 탐침 분자는 혼합물 속에서 자신과 염기 서열이 완전히 일치하는 상보적 가닥을 찾아 결합하여 안정한 하이브리드를 형성한다.</a:t>
            </a:r>
            <a:endParaRPr lang="en-US" altLang="ko-KR" sz="11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이러한 방식은 과거 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Southern blotting 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이라는 형태의 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 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감지 기술에 응용되었으며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현재는 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RNA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의 </a:t>
            </a:r>
            <a:r>
              <a:rPr lang="ko-KR" altLang="en-US" sz="11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역전사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이후 정량적 검출을 위한 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RT-qPCR 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기술에 응용되고 있다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  <a:endParaRPr lang="en-US" altLang="ko-KR" sz="11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4CF92-EA42-2C47-D9F7-B31BF69FD332}"/>
              </a:ext>
            </a:extLst>
          </p:cNvPr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1BE94-D224-29D2-1BC4-C63B93221341}"/>
              </a:ext>
            </a:extLst>
          </p:cNvPr>
          <p:cNvSpPr txBox="1"/>
          <p:nvPr/>
        </p:nvSpPr>
        <p:spPr>
          <a:xfrm>
            <a:off x="9995128" y="4569742"/>
            <a:ext cx="2196567" cy="213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200" dirty="0"/>
              <a:t>probe</a:t>
            </a:r>
            <a:r>
              <a:rPr lang="ko-KR" altLang="en-US" sz="1200" dirty="0"/>
              <a:t>는 표적 서열에 상보적인 표지 핵산이다</a:t>
            </a:r>
            <a:r>
              <a:rPr lang="en-US" altLang="ko-KR" sz="12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200" dirty="0"/>
              <a:t>방사성</a:t>
            </a:r>
            <a:r>
              <a:rPr lang="en-US" altLang="ko-KR" sz="1200" dirty="0"/>
              <a:t>·</a:t>
            </a:r>
            <a:r>
              <a:rPr lang="ko-KR" altLang="en-US" sz="1200" dirty="0"/>
              <a:t>형광</a:t>
            </a:r>
            <a:r>
              <a:rPr lang="en-US" altLang="ko-KR" sz="1200" dirty="0"/>
              <a:t>·</a:t>
            </a:r>
            <a:r>
              <a:rPr lang="ko-KR" altLang="en-US" sz="1200" dirty="0"/>
              <a:t>화학발광 표지 등을 사용할 수 있다</a:t>
            </a:r>
            <a:r>
              <a:rPr lang="en-US" altLang="ko-KR" sz="12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sz="1200" dirty="0"/>
              <a:t>표적과 </a:t>
            </a:r>
            <a:r>
              <a:rPr lang="en-US" altLang="ko-KR" sz="1200" dirty="0"/>
              <a:t>probe</a:t>
            </a:r>
            <a:r>
              <a:rPr lang="ko-KR" altLang="en-US" sz="1200" dirty="0"/>
              <a:t>가 </a:t>
            </a:r>
            <a:r>
              <a:rPr lang="en-US" altLang="ko-KR" sz="1200" dirty="0"/>
              <a:t>hybridize</a:t>
            </a:r>
            <a:r>
              <a:rPr lang="ko-KR" altLang="en-US" sz="1200" dirty="0"/>
              <a:t>하면 신호를 통해 표적을 검출한다</a:t>
            </a:r>
            <a:r>
              <a:rPr lang="en-US" altLang="ko-KR" sz="12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200" dirty="0"/>
              <a:t>probe sequence</a:t>
            </a:r>
            <a:r>
              <a:rPr lang="ko-KR" altLang="en-US" sz="1200" dirty="0"/>
              <a:t>와 </a:t>
            </a:r>
            <a:r>
              <a:rPr lang="en-US" altLang="ko-KR" sz="1200" dirty="0"/>
              <a:t>hybridization </a:t>
            </a:r>
            <a:r>
              <a:rPr lang="ko-KR" altLang="en-US" sz="1200" dirty="0"/>
              <a:t>조건이 특이성을</a:t>
            </a:r>
            <a:r>
              <a:rPr lang="en-US" altLang="ko-KR" sz="1200" dirty="0"/>
              <a:t>`</a:t>
            </a:r>
            <a:r>
              <a:rPr lang="ko-KR" altLang="en-US" sz="1200" dirty="0"/>
              <a:t> 결정한다</a:t>
            </a:r>
            <a:r>
              <a:rPr lang="en-US" altLang="ko-KR" sz="1200" dirty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4.4.3. Southern blotting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DNA를</a:t>
            </a:r>
            <a:r>
              <a:rPr dirty="0"/>
              <a:t> restriction </a:t>
            </a:r>
            <a:r>
              <a:rPr dirty="0" err="1"/>
              <a:t>enzyme으로</a:t>
            </a:r>
            <a:r>
              <a:rPr dirty="0"/>
              <a:t> </a:t>
            </a:r>
            <a:r>
              <a:rPr dirty="0" err="1"/>
              <a:t>절단한다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agarose </a:t>
            </a:r>
            <a:r>
              <a:rPr dirty="0" err="1"/>
              <a:t>gel에서</a:t>
            </a:r>
            <a:r>
              <a:rPr dirty="0"/>
              <a:t> </a:t>
            </a:r>
            <a:r>
              <a:rPr dirty="0" err="1"/>
              <a:t>크기별로</a:t>
            </a:r>
            <a:r>
              <a:rPr dirty="0"/>
              <a:t> </a:t>
            </a:r>
            <a:r>
              <a:rPr dirty="0" err="1"/>
              <a:t>분리한다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DNA를</a:t>
            </a:r>
            <a:r>
              <a:rPr dirty="0"/>
              <a:t> </a:t>
            </a:r>
            <a:r>
              <a:rPr dirty="0" err="1"/>
              <a:t>membrane으로</a:t>
            </a:r>
            <a:r>
              <a:rPr dirty="0"/>
              <a:t> </a:t>
            </a:r>
            <a:r>
              <a:rPr dirty="0" err="1"/>
              <a:t>옮기고</a:t>
            </a:r>
            <a:r>
              <a:rPr dirty="0"/>
              <a:t> labeled </a:t>
            </a:r>
            <a:r>
              <a:rPr dirty="0" err="1"/>
              <a:t>probe와</a:t>
            </a:r>
            <a:r>
              <a:rPr dirty="0"/>
              <a:t> </a:t>
            </a:r>
            <a:r>
              <a:rPr dirty="0" err="1"/>
              <a:t>hybridization한다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유전자를</a:t>
            </a:r>
            <a:r>
              <a:rPr dirty="0"/>
              <a:t> </a:t>
            </a:r>
            <a:r>
              <a:rPr dirty="0" err="1"/>
              <a:t>포함한</a:t>
            </a:r>
            <a:r>
              <a:rPr dirty="0"/>
              <a:t> DNA </a:t>
            </a:r>
            <a:r>
              <a:rPr dirty="0" err="1"/>
              <a:t>fragment만</a:t>
            </a:r>
            <a:r>
              <a:rPr dirty="0"/>
              <a:t> </a:t>
            </a:r>
            <a:r>
              <a:rPr dirty="0" err="1"/>
              <a:t>신호로</a:t>
            </a:r>
            <a:r>
              <a:rPr dirty="0"/>
              <a:t> </a:t>
            </a:r>
            <a:r>
              <a:rPr dirty="0" err="1"/>
              <a:t>검출한다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3C909-40AC-4BC5-9626-2976E63E747F}"/>
              </a:ext>
            </a:extLst>
          </p:cNvPr>
          <p:cNvSpPr txBox="1"/>
          <p:nvPr/>
        </p:nvSpPr>
        <p:spPr>
          <a:xfrm>
            <a:off x="5634298" y="5380520"/>
            <a:ext cx="5442040" cy="1441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Figure 4.22 서던 블로팅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같은 원리를 RNA에 적용한 것이 노던 블로팅이며, 특정 mRNA가 어느 조직에서 발현되는지 확인하는 데 널리 쓰인다. 단백질에 적용한 것이 웨스턴 블로팅이다.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82CF08E-908E-29D0-1812-1A21EDD78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420" y="1188821"/>
            <a:ext cx="4599632" cy="387116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4.4.4. FISH</a:t>
            </a:r>
            <a:r>
              <a:rPr lang="ko-KR" altLang="en-US" b="1" dirty="0"/>
              <a:t> </a:t>
            </a:r>
            <a:r>
              <a:rPr lang="en-US" altLang="ko-KR" b="1" dirty="0"/>
              <a:t>(Fluorescence in situ hybridization)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핵산을</a:t>
            </a:r>
            <a:r>
              <a:rPr dirty="0"/>
              <a:t> </a:t>
            </a:r>
            <a:r>
              <a:rPr dirty="0" err="1"/>
              <a:t>세포나</a:t>
            </a:r>
            <a:r>
              <a:rPr dirty="0"/>
              <a:t> </a:t>
            </a:r>
            <a:r>
              <a:rPr dirty="0" err="1"/>
              <a:t>염색체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검출한다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형광</a:t>
            </a:r>
            <a:r>
              <a:rPr dirty="0"/>
              <a:t> </a:t>
            </a:r>
            <a:r>
              <a:rPr dirty="0" err="1"/>
              <a:t>probe를</a:t>
            </a:r>
            <a:r>
              <a:rPr dirty="0"/>
              <a:t> </a:t>
            </a:r>
            <a:r>
              <a:rPr dirty="0" err="1"/>
              <a:t>사용하면</a:t>
            </a:r>
            <a:r>
              <a:rPr dirty="0"/>
              <a:t> </a:t>
            </a:r>
            <a:r>
              <a:rPr dirty="0" err="1"/>
              <a:t>FISH로</a:t>
            </a:r>
            <a:r>
              <a:rPr dirty="0"/>
              <a:t> </a:t>
            </a:r>
            <a:r>
              <a:rPr dirty="0" err="1"/>
              <a:t>관찰할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유전자의</a:t>
            </a:r>
            <a:r>
              <a:rPr dirty="0"/>
              <a:t> </a:t>
            </a:r>
            <a:r>
              <a:rPr dirty="0" err="1"/>
              <a:t>염색체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조직에서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mRNA가</a:t>
            </a:r>
            <a:r>
              <a:rPr dirty="0"/>
              <a:t>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세포에</a:t>
            </a:r>
            <a:r>
              <a:rPr dirty="0"/>
              <a:t> </a:t>
            </a:r>
            <a:r>
              <a:rPr dirty="0" err="1"/>
              <a:t>존재하는지도</a:t>
            </a:r>
            <a:r>
              <a:rPr dirty="0"/>
              <a:t> 볼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9763A6-9251-4469-935D-53D6CF3A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751" y="4281031"/>
            <a:ext cx="2124371" cy="22101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262BD0-49DA-4C97-8758-26D8E7A98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98" y="5434844"/>
            <a:ext cx="5106398" cy="7953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2689F5-7057-4860-8239-6C7FDFAAEE55}"/>
              </a:ext>
            </a:extLst>
          </p:cNvPr>
          <p:cNvSpPr txBox="1"/>
          <p:nvPr/>
        </p:nvSpPr>
        <p:spPr>
          <a:xfrm>
            <a:off x="1086027" y="4080601"/>
            <a:ext cx="7504242" cy="1167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4.23 </a:t>
            </a: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형</a:t>
            </a:r>
            <a:r>
              <a:rPr lang="ko-KR" altLang="en-US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광제자리부합법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(FISH)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핵산을 세포에서 추출하지 않고 세포나 염색체의</a:t>
            </a:r>
            <a:r>
              <a:rPr lang="en-US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자연적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구조를 유지한 상태에서 특정 유전자의 위치를 규명하는 기술이다. 각 염색체의 고유 서열에 결합하도록 설계된 다양한 색상의 형광 탐침 분자들을 준비한다. 현미경 하에서 변성된 세포 내 염색체와 탐침을 결합시키면 염색체의 유전적 위치와 이상 여부가 다채로운 색상으로 관찰된다.</a:t>
            </a:r>
          </a:p>
        </p:txBody>
      </p:sp>
      <p:pic>
        <p:nvPicPr>
          <p:cNvPr id="13" name="Picture 2" descr="FISH test with dual color and dual transfusion probes for BCR (green)... |  Download Scientific Diagram">
            <a:extLst>
              <a:ext uri="{FF2B5EF4-FFF2-40B4-BE49-F238E27FC236}">
                <a16:creationId xmlns:a16="http://schemas.microsoft.com/office/drawing/2014/main" id="{E42F6346-2664-4847-ABE9-B9DA3F3D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136" y="2576969"/>
            <a:ext cx="3433600" cy="175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37969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항체는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항원을</a:t>
            </a:r>
            <a:r>
              <a:rPr dirty="0"/>
              <a:t> </a:t>
            </a:r>
            <a:r>
              <a:rPr dirty="0" err="1"/>
              <a:t>선택적으로</a:t>
            </a:r>
            <a:r>
              <a:rPr dirty="0"/>
              <a:t> </a:t>
            </a:r>
            <a:r>
              <a:rPr dirty="0" err="1"/>
              <a:t>인식한다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혈청에는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B cell </a:t>
            </a:r>
            <a:r>
              <a:rPr dirty="0" err="1"/>
              <a:t>clone이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polyclonal </a:t>
            </a:r>
            <a:r>
              <a:rPr dirty="0" err="1"/>
              <a:t>antibody가</a:t>
            </a:r>
            <a:r>
              <a:rPr dirty="0"/>
              <a:t> </a:t>
            </a:r>
            <a:r>
              <a:rPr dirty="0" err="1"/>
              <a:t>섞여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하나의</a:t>
            </a:r>
            <a:r>
              <a:rPr dirty="0"/>
              <a:t> B cell </a:t>
            </a:r>
            <a:r>
              <a:rPr dirty="0" err="1"/>
              <a:t>clone을</a:t>
            </a:r>
            <a:r>
              <a:rPr dirty="0"/>
              <a:t> </a:t>
            </a:r>
            <a:r>
              <a:rPr dirty="0" err="1"/>
              <a:t>이용하면</a:t>
            </a:r>
            <a:r>
              <a:rPr dirty="0"/>
              <a:t> monoclonal </a:t>
            </a:r>
            <a:r>
              <a:rPr dirty="0" err="1"/>
              <a:t>antibody를</a:t>
            </a:r>
            <a:r>
              <a:rPr dirty="0"/>
              <a:t> </a:t>
            </a:r>
            <a:r>
              <a:rPr dirty="0" err="1"/>
              <a:t>얻을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endParaRPr lang="en-US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ko-KR" altLang="en-US" dirty="0"/>
              <a:t>이를 통해 </a:t>
            </a:r>
            <a:r>
              <a:rPr lang="ko-KR" altLang="en-US" u="sng" dirty="0" err="1"/>
              <a:t>면역형광</a:t>
            </a:r>
            <a:r>
              <a:rPr lang="en-US" altLang="ko-KR" u="sng" dirty="0"/>
              <a:t>, </a:t>
            </a:r>
            <a:r>
              <a:rPr lang="ko-KR" altLang="en-US" u="sng" dirty="0"/>
              <a:t>면역화학</a:t>
            </a:r>
            <a:r>
              <a:rPr lang="ko-KR" altLang="en-US" dirty="0"/>
              <a:t>법</a:t>
            </a:r>
            <a:r>
              <a:rPr lang="en-US" altLang="ko-KR" dirty="0"/>
              <a:t>, </a:t>
            </a:r>
            <a:r>
              <a:rPr lang="ko-KR" altLang="en-US" dirty="0" err="1"/>
              <a:t>면역침전법</a:t>
            </a:r>
            <a:r>
              <a:rPr lang="en-US" altLang="ko-KR" dirty="0"/>
              <a:t>, Western blot </a:t>
            </a:r>
            <a:r>
              <a:rPr lang="ko-KR" altLang="en-US" dirty="0"/>
              <a:t>등의 단백질 검출이 가능하다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46B887-FA1A-A58B-5B85-C99CA2340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24" y="3614130"/>
            <a:ext cx="3057085" cy="23989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8EFF0E-AABD-E178-EDC3-F797105A9402}"/>
              </a:ext>
            </a:extLst>
          </p:cNvPr>
          <p:cNvSpPr txBox="1"/>
          <p:nvPr/>
        </p:nvSpPr>
        <p:spPr>
          <a:xfrm>
            <a:off x="956318" y="5859186"/>
            <a:ext cx="10152185" cy="8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4.25 </a:t>
            </a: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형광항체법을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이용한 세포 구조 시각화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배양된 세포의 내부 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단백질을 직접 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현미경으로 관찰하는 면역학적 기법이다. 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원하는 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단백질</a:t>
            </a:r>
            <a:r>
              <a:rPr lang="en-US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2~3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개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에</a:t>
            </a:r>
            <a:r>
              <a:rPr lang="en-US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각기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특이적으로 결합하는 항체에 서로 다른 파장의 형광 염료를 결합시킨다. 형광 현미경을 통해 관찰하면 세포질 내에 복잡하게 얽혀 있는 두 골격 구조가 녹색과 적색 등의 뚜렷한 색상 대비로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시각화된다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</a:p>
        </p:txBody>
      </p:sp>
      <p:pic>
        <p:nvPicPr>
          <p:cNvPr id="15" name="Picture 4" descr="Immunohistochemistry">
            <a:extLst>
              <a:ext uri="{FF2B5EF4-FFF2-40B4-BE49-F238E27FC236}">
                <a16:creationId xmlns:a16="http://schemas.microsoft.com/office/drawing/2014/main" id="{DFB7D664-06F6-FF1B-72FB-7FE35AEBE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17712"/>
            <a:ext cx="3884747" cy="189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디케이코리아">
            <a:extLst>
              <a:ext uri="{FF2B5EF4-FFF2-40B4-BE49-F238E27FC236}">
                <a16:creationId xmlns:a16="http://schemas.microsoft.com/office/drawing/2014/main" id="{9740D54B-F57A-A295-191D-B85617E13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09" y="4249484"/>
            <a:ext cx="4273222" cy="133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6A718A9-2AF1-F0EC-B642-B13DAD29BD77}"/>
              </a:ext>
            </a:extLst>
          </p:cNvPr>
          <p:cNvSpPr txBox="1"/>
          <p:nvPr/>
        </p:nvSpPr>
        <p:spPr>
          <a:xfrm>
            <a:off x="7723183" y="5767580"/>
            <a:ext cx="4075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Immunohistochemistry</a:t>
            </a:r>
            <a:r>
              <a:rPr lang="ko-KR" altLang="en-US" sz="1200" dirty="0"/>
              <a:t>는 병리 조직 염색</a:t>
            </a:r>
            <a:r>
              <a:rPr lang="en-US" altLang="ko-KR" sz="1200" dirty="0"/>
              <a:t>, </a:t>
            </a:r>
            <a:r>
              <a:rPr lang="ko-KR" altLang="en-US" sz="1200" dirty="0"/>
              <a:t>진단에 사용된다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4.4.5. Western blot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SDS-</a:t>
            </a:r>
            <a:r>
              <a:rPr dirty="0" err="1"/>
              <a:t>PAGE로</a:t>
            </a:r>
            <a:r>
              <a:rPr dirty="0"/>
              <a:t> </a:t>
            </a:r>
            <a:r>
              <a:rPr dirty="0" err="1"/>
              <a:t>단백질을</a:t>
            </a:r>
            <a:r>
              <a:rPr dirty="0"/>
              <a:t> </a:t>
            </a:r>
            <a:r>
              <a:rPr dirty="0" err="1"/>
              <a:t>크기별</a:t>
            </a:r>
            <a:r>
              <a:rPr dirty="0"/>
              <a:t> </a:t>
            </a:r>
            <a:r>
              <a:rPr dirty="0" err="1"/>
              <a:t>분리한다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membrane으로</a:t>
            </a:r>
            <a:r>
              <a:rPr dirty="0"/>
              <a:t> </a:t>
            </a:r>
            <a:r>
              <a:rPr dirty="0" err="1"/>
              <a:t>옮긴</a:t>
            </a:r>
            <a:r>
              <a:rPr dirty="0"/>
              <a:t> 뒤 </a:t>
            </a:r>
            <a:r>
              <a:rPr dirty="0" err="1"/>
              <a:t>항체로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단백질을</a:t>
            </a:r>
            <a:r>
              <a:rPr dirty="0"/>
              <a:t> </a:t>
            </a:r>
            <a:r>
              <a:rPr dirty="0" err="1"/>
              <a:t>검출한다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이를</a:t>
            </a:r>
            <a:r>
              <a:rPr dirty="0"/>
              <a:t> Western blot/</a:t>
            </a:r>
            <a:r>
              <a:rPr dirty="0" err="1"/>
              <a:t>immunoblotting이라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형광</a:t>
            </a:r>
            <a:r>
              <a:rPr dirty="0"/>
              <a:t> </a:t>
            </a:r>
            <a:r>
              <a:rPr dirty="0" err="1"/>
              <a:t>표지</a:t>
            </a:r>
            <a:r>
              <a:rPr dirty="0"/>
              <a:t> </a:t>
            </a:r>
            <a:r>
              <a:rPr dirty="0" err="1"/>
              <a:t>항체를</a:t>
            </a:r>
            <a:r>
              <a:rPr dirty="0"/>
              <a:t> </a:t>
            </a:r>
            <a:r>
              <a:rPr dirty="0" err="1"/>
              <a:t>세포에</a:t>
            </a:r>
            <a:r>
              <a:rPr dirty="0"/>
              <a:t> </a:t>
            </a:r>
            <a:r>
              <a:rPr dirty="0" err="1"/>
              <a:t>적용하면</a:t>
            </a:r>
            <a:r>
              <a:rPr dirty="0"/>
              <a:t> </a:t>
            </a:r>
            <a:r>
              <a:rPr dirty="0" err="1"/>
              <a:t>단백질의</a:t>
            </a:r>
            <a:r>
              <a:rPr dirty="0"/>
              <a:t> </a:t>
            </a:r>
            <a:r>
              <a:rPr dirty="0" err="1"/>
              <a:t>세포내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볼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4" descr="Western Blot 프로토콜 및 문제 해결 가이드">
            <a:extLst>
              <a:ext uri="{FF2B5EF4-FFF2-40B4-BE49-F238E27FC236}">
                <a16:creationId xmlns:a16="http://schemas.microsoft.com/office/drawing/2014/main" id="{BD1782F0-26E9-4A2D-B38D-8843DAE36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798" y="4474092"/>
            <a:ext cx="3227479" cy="214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81BE3F-E453-44EA-921B-4FC280B4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892" y="795528"/>
            <a:ext cx="1550194" cy="581972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431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rPr dirty="0"/>
              <a:t>4.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57855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ko-KR" altLang="en-US" sz="2800" b="1" dirty="0">
                <a:solidFill>
                  <a:schemeClr val="bg1"/>
                </a:solidFill>
              </a:rPr>
              <a:t>핵산</a:t>
            </a:r>
            <a:r>
              <a:rPr lang="en-US" altLang="ko-KR" sz="2800" b="1" dirty="0">
                <a:solidFill>
                  <a:schemeClr val="bg1"/>
                </a:solidFill>
              </a:rPr>
              <a:t>·</a:t>
            </a:r>
            <a:r>
              <a:rPr lang="ko-KR" altLang="en-US" sz="2800" b="1" dirty="0">
                <a:solidFill>
                  <a:schemeClr val="bg1"/>
                </a:solidFill>
              </a:rPr>
              <a:t>단백질 검출</a:t>
            </a:r>
            <a:r>
              <a:rPr lang="en-US" altLang="ko-KR" sz="2800" b="1" dirty="0">
                <a:solidFill>
                  <a:schemeClr val="bg1"/>
                </a:solidFill>
              </a:rPr>
              <a:t>: PCR, </a:t>
            </a:r>
            <a:r>
              <a:rPr lang="ko-KR" altLang="en-US" sz="2800" b="1" dirty="0">
                <a:solidFill>
                  <a:schemeClr val="bg1"/>
                </a:solidFill>
              </a:rPr>
              <a:t>혼성화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</a:rPr>
              <a:t>항체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1810239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500" b="1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면역블로팅</a:t>
            </a:r>
            <a:r>
              <a:rPr lang="en-US" altLang="ko-KR" sz="1500" b="1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(Western blot</a:t>
            </a:r>
            <a:r>
              <a:rPr lang="ko-KR" altLang="ko-KR" sz="1500" b="1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) 과정</a:t>
            </a:r>
          </a:p>
          <a:p>
            <a:pPr>
              <a:lnSpc>
                <a:spcPct val="150000"/>
              </a:lnSpc>
            </a:pP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세포 추출물 내의 단백질들을 </a:t>
            </a:r>
            <a:r>
              <a:rPr lang="ko-KR" altLang="en-US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계면활성제의 일종인 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SDS</a:t>
            </a:r>
            <a:r>
              <a:rPr lang="en-US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(Sodium dodecyl sulfate)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혼합물로 처리하여 고유의 전하를 </a:t>
            </a:r>
            <a:r>
              <a:rPr lang="ko-KR" altLang="en-US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음전하로 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통일</a:t>
            </a:r>
            <a:r>
              <a:rPr lang="ko-KR" altLang="en-US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한다</a:t>
            </a:r>
            <a:r>
              <a:rPr lang="en-US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  <a:r>
              <a:rPr lang="ko-KR" altLang="en-US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이후 이를 </a:t>
            </a:r>
            <a:r>
              <a:rPr lang="en-US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SDS-PAGE gel</a:t>
            </a:r>
            <a:r>
              <a:rPr lang="ko-KR" altLang="en-US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에서</a:t>
            </a:r>
            <a:r>
              <a:rPr lang="en-US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분자량 크기에 따라 </a:t>
            </a:r>
            <a:r>
              <a:rPr lang="ko-KR" altLang="ko-KR" sz="15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전기영동으로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분리한다. 분리된 단백질 밴드들을 전기적인 힘을 이용하여 나일론이나 </a:t>
            </a:r>
            <a:r>
              <a:rPr lang="ko-KR" altLang="ko-KR" sz="15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nitrocellulose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막 표면으로 </a:t>
            </a:r>
            <a:r>
              <a:rPr lang="ko-KR" altLang="en-US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이동시킨</a:t>
            </a:r>
            <a:r>
              <a:rPr lang="ko-KR" altLang="ko-KR" sz="15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다. 해당 막에 특정 단백질만을 인지하는 1차 항체와 신호 발생 효소가 달린 2차 항체를 순차적으로 반응시켜 목적 단백질을 검출한다.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2" descr="생명과학자 기초체력 다지기] #3_Western Blot | 최신글 &gt; 연재 &gt; 동향 | BRIC">
            <a:extLst>
              <a:ext uri="{FF2B5EF4-FFF2-40B4-BE49-F238E27FC236}">
                <a16:creationId xmlns:a16="http://schemas.microsoft.com/office/drawing/2014/main" id="{D1BD2295-AC82-0875-2638-5B925E2BB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3255686"/>
            <a:ext cx="4020526" cy="286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2024 Western Blot Publication Guide - Life in the Lab">
            <a:extLst>
              <a:ext uri="{FF2B5EF4-FFF2-40B4-BE49-F238E27FC236}">
                <a16:creationId xmlns:a16="http://schemas.microsoft.com/office/drawing/2014/main" id="{3C27D627-E6A7-7FBA-973A-B02850589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475" y="4840958"/>
            <a:ext cx="3032200" cy="155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웨스턴 블롯이 한 번에 제대로 나오는 것만큼 아름다운 건 없지 : r/labrats">
            <a:extLst>
              <a:ext uri="{FF2B5EF4-FFF2-40B4-BE49-F238E27FC236}">
                <a16:creationId xmlns:a16="http://schemas.microsoft.com/office/drawing/2014/main" id="{AE949D7D-6C50-3F63-2B47-78E8BE81B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367" y="3255686"/>
            <a:ext cx="1942376" cy="145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Western Blot -Western Blotting의 기술적 고려사항과 응용-] 1-4. Electrotransfer">
            <a:extLst>
              <a:ext uri="{FF2B5EF4-FFF2-40B4-BE49-F238E27FC236}">
                <a16:creationId xmlns:a16="http://schemas.microsoft.com/office/drawing/2014/main" id="{815AC12A-B22D-2BE9-A08C-054C60AAD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678" y="3191138"/>
            <a:ext cx="2666090" cy="170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512064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유전자 기능은 세포 또는 개체 수준에서 직접 검정해야 한다.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클론 DNA를 세포에 넣어 발현시키거나 기능을 변화시킬 수 있다.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돌연변이 유발, 유전자 전달, knockout, RNAi가 주요 전략이다.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고전 유전학의 phenotype-first 접근과 반대되는 gene-first 접근이 가능해졌다.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275635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4210063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400" b="1" dirty="0"/>
              <a:t>4.5.1. </a:t>
            </a:r>
            <a:r>
              <a:rPr lang="ko-KR" altLang="en-US" sz="1400" b="1" dirty="0"/>
              <a:t>유전자 전달</a:t>
            </a:r>
            <a:endParaRPr lang="en-US" altLang="ko-KR" sz="14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 err="1"/>
              <a:t>진핵세포에서는</a:t>
            </a:r>
            <a:r>
              <a:rPr sz="1400" dirty="0"/>
              <a:t> </a:t>
            </a:r>
            <a:r>
              <a:rPr sz="1400" dirty="0" err="1"/>
              <a:t>특정</a:t>
            </a:r>
            <a:r>
              <a:rPr sz="1400" dirty="0"/>
              <a:t> </a:t>
            </a:r>
            <a:r>
              <a:rPr sz="1400" dirty="0" err="1"/>
              <a:t>DNA를</a:t>
            </a:r>
            <a:r>
              <a:rPr sz="1400" dirty="0"/>
              <a:t> </a:t>
            </a:r>
            <a:r>
              <a:rPr sz="1400" dirty="0" err="1"/>
              <a:t>원하는</a:t>
            </a:r>
            <a:r>
              <a:rPr sz="1400" dirty="0"/>
              <a:t> </a:t>
            </a:r>
            <a:r>
              <a:rPr sz="1400" dirty="0" err="1"/>
              <a:t>세포에</a:t>
            </a:r>
            <a:r>
              <a:rPr sz="1400" dirty="0"/>
              <a:t> </a:t>
            </a:r>
            <a:r>
              <a:rPr sz="1400" dirty="0" err="1"/>
              <a:t>전달하는</a:t>
            </a:r>
            <a:r>
              <a:rPr sz="1400" dirty="0"/>
              <a:t> </a:t>
            </a:r>
            <a:r>
              <a:rPr sz="1400" dirty="0" err="1"/>
              <a:t>과정이</a:t>
            </a:r>
            <a:r>
              <a:rPr sz="1400" dirty="0"/>
              <a:t> </a:t>
            </a:r>
            <a:r>
              <a:rPr sz="1400" dirty="0" err="1"/>
              <a:t>중요하다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 err="1"/>
              <a:t>외래</a:t>
            </a:r>
            <a:r>
              <a:rPr sz="1400" dirty="0"/>
              <a:t> </a:t>
            </a:r>
            <a:r>
              <a:rPr sz="1400" dirty="0" err="1"/>
              <a:t>DNA의</a:t>
            </a:r>
            <a:r>
              <a:rPr sz="1400" dirty="0"/>
              <a:t> </a:t>
            </a:r>
            <a:r>
              <a:rPr sz="1400" dirty="0" err="1"/>
              <a:t>발현</a:t>
            </a:r>
            <a:r>
              <a:rPr sz="1400" dirty="0"/>
              <a:t> </a:t>
            </a:r>
            <a:r>
              <a:rPr sz="1400" dirty="0" err="1"/>
              <a:t>효과를</a:t>
            </a:r>
            <a:r>
              <a:rPr sz="1400" dirty="0"/>
              <a:t> </a:t>
            </a:r>
            <a:r>
              <a:rPr sz="1400" dirty="0" err="1"/>
              <a:t>관찰하면</a:t>
            </a:r>
            <a:r>
              <a:rPr sz="1400" dirty="0"/>
              <a:t> </a:t>
            </a:r>
            <a:r>
              <a:rPr sz="1400" dirty="0" err="1"/>
              <a:t>유전자</a:t>
            </a:r>
            <a:r>
              <a:rPr sz="1400" dirty="0"/>
              <a:t> </a:t>
            </a:r>
            <a:r>
              <a:rPr sz="1400" dirty="0" err="1"/>
              <a:t>기능을</a:t>
            </a:r>
            <a:r>
              <a:rPr sz="1400" dirty="0"/>
              <a:t> </a:t>
            </a:r>
            <a:r>
              <a:rPr sz="1400" dirty="0" err="1"/>
              <a:t>추론할</a:t>
            </a:r>
            <a:r>
              <a:rPr sz="1400" dirty="0"/>
              <a:t> 수 </a:t>
            </a:r>
            <a:r>
              <a:rPr sz="1400" dirty="0" err="1"/>
              <a:t>있다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400" dirty="0"/>
              <a:t>암, </a:t>
            </a:r>
            <a:r>
              <a:rPr sz="1400" dirty="0" err="1"/>
              <a:t>성장</a:t>
            </a:r>
            <a:r>
              <a:rPr sz="1400" dirty="0"/>
              <a:t>, </a:t>
            </a:r>
            <a:r>
              <a:rPr sz="1400" dirty="0" err="1"/>
              <a:t>분화</a:t>
            </a:r>
            <a:r>
              <a:rPr sz="1400" dirty="0"/>
              <a:t> </a:t>
            </a:r>
            <a:r>
              <a:rPr sz="1400" dirty="0" err="1"/>
              <a:t>등을</a:t>
            </a:r>
            <a:r>
              <a:rPr sz="1400" dirty="0"/>
              <a:t> </a:t>
            </a:r>
            <a:r>
              <a:rPr sz="1400" dirty="0" err="1"/>
              <a:t>조절하는</a:t>
            </a:r>
            <a:r>
              <a:rPr sz="1400" dirty="0"/>
              <a:t> </a:t>
            </a:r>
            <a:r>
              <a:rPr sz="1400" dirty="0" err="1"/>
              <a:t>유전자</a:t>
            </a:r>
            <a:r>
              <a:rPr sz="1400" dirty="0"/>
              <a:t> </a:t>
            </a:r>
            <a:r>
              <a:rPr sz="1400" dirty="0" err="1"/>
              <a:t>연구에</a:t>
            </a:r>
            <a:r>
              <a:rPr sz="1400" dirty="0"/>
              <a:t> 큰 </a:t>
            </a:r>
            <a:r>
              <a:rPr sz="1400" dirty="0" err="1"/>
              <a:t>기여를</a:t>
            </a:r>
            <a:r>
              <a:rPr sz="1400" dirty="0"/>
              <a:t> </a:t>
            </a:r>
            <a:r>
              <a:rPr sz="1400" dirty="0" err="1"/>
              <a:t>했다</a:t>
            </a:r>
            <a:r>
              <a:rPr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latin typeface="+mj-ea"/>
                <a:ea typeface="+mj-ea"/>
              </a:rPr>
              <a:t>(1) </a:t>
            </a:r>
            <a:r>
              <a:rPr lang="ko-KR" altLang="en-US" sz="1400" b="1" dirty="0">
                <a:latin typeface="+mj-ea"/>
                <a:ea typeface="+mj-ea"/>
              </a:rPr>
              <a:t>지질 소포인 </a:t>
            </a:r>
            <a:r>
              <a:rPr lang="en-US" altLang="ko-KR" sz="1400" b="1" dirty="0">
                <a:latin typeface="+mj-ea"/>
                <a:ea typeface="+mj-ea"/>
              </a:rPr>
              <a:t>liposome</a:t>
            </a:r>
            <a:r>
              <a:rPr lang="ko-KR" altLang="en-US" sz="1400" b="1" dirty="0">
                <a:latin typeface="+mj-ea"/>
                <a:ea typeface="+mj-ea"/>
              </a:rPr>
              <a:t>에 실려 도입</a:t>
            </a:r>
            <a:endParaRPr lang="en-US" altLang="ko-KR" sz="14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j-ea"/>
                <a:ea typeface="+mj-ea"/>
              </a:rPr>
              <a:t>세포막은 지질막이라 수용액이 쉽게 통과할 수 없다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j-ea"/>
                <a:ea typeface="+mj-ea"/>
              </a:rPr>
              <a:t>Liposome</a:t>
            </a:r>
            <a:r>
              <a:rPr lang="ko-KR" altLang="en-US" sz="1400" dirty="0">
                <a:latin typeface="+mj-ea"/>
                <a:ea typeface="+mj-ea"/>
              </a:rPr>
              <a:t>이 원형질막과 융합할 수 있는 원리를 이용해 </a:t>
            </a:r>
            <a:r>
              <a:rPr lang="en-US" altLang="ko-KR" sz="1400" dirty="0">
                <a:latin typeface="+mj-ea"/>
                <a:ea typeface="+mj-ea"/>
              </a:rPr>
              <a:t>Liposome</a:t>
            </a:r>
            <a:r>
              <a:rPr lang="ko-KR" altLang="en-US" sz="1400" dirty="0">
                <a:latin typeface="+mj-ea"/>
                <a:ea typeface="+mj-ea"/>
              </a:rPr>
              <a:t>에 </a:t>
            </a:r>
            <a:r>
              <a:rPr lang="en-US" altLang="ko-KR" sz="1400" dirty="0">
                <a:latin typeface="+mj-ea"/>
                <a:ea typeface="+mj-ea"/>
              </a:rPr>
              <a:t>DNA</a:t>
            </a:r>
            <a:r>
              <a:rPr lang="ko-KR" altLang="en-US" sz="1400" dirty="0">
                <a:latin typeface="+mj-ea"/>
                <a:ea typeface="+mj-ea"/>
              </a:rPr>
              <a:t>를 실어 도입한다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j-ea"/>
                <a:ea typeface="+mj-ea"/>
              </a:rPr>
              <a:t>이와 같이 들어간 </a:t>
            </a:r>
            <a:r>
              <a:rPr lang="en-US" altLang="ko-KR" sz="1400" dirty="0">
                <a:latin typeface="+mj-ea"/>
                <a:ea typeface="+mj-ea"/>
              </a:rPr>
              <a:t>DNA</a:t>
            </a:r>
            <a:r>
              <a:rPr lang="ko-KR" altLang="en-US" sz="1400" dirty="0">
                <a:latin typeface="+mj-ea"/>
                <a:ea typeface="+mj-ea"/>
              </a:rPr>
              <a:t>는 핵으로 이동해 전사 가능하다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latin typeface="+mj-ea"/>
                <a:ea typeface="+mj-ea"/>
              </a:rPr>
              <a:t>(2) Viral vector </a:t>
            </a:r>
            <a:r>
              <a:rPr lang="ko-KR" altLang="en-US" sz="1400" b="1" dirty="0">
                <a:latin typeface="+mj-ea"/>
                <a:ea typeface="+mj-ea"/>
              </a:rPr>
              <a:t>에 의한 도입  </a:t>
            </a:r>
            <a:endParaRPr lang="en-US" altLang="ko-KR" sz="1400" b="1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latin typeface="+mj-ea"/>
                <a:ea typeface="+mj-ea"/>
              </a:rPr>
              <a:t>(3) Electroporation (</a:t>
            </a:r>
            <a:r>
              <a:rPr lang="ko-KR" altLang="en-US" sz="1400" b="1" dirty="0" err="1">
                <a:latin typeface="+mj-ea"/>
                <a:ea typeface="+mj-ea"/>
              </a:rPr>
              <a:t>전기영동</a:t>
            </a:r>
            <a:r>
              <a:rPr lang="en-US" altLang="ko-KR" sz="1400" b="1" dirty="0">
                <a:latin typeface="+mj-ea"/>
                <a:ea typeface="+mj-ea"/>
              </a:rPr>
              <a:t>) </a:t>
            </a:r>
            <a:r>
              <a:rPr lang="ko-KR" altLang="en-US" sz="1400" b="1" dirty="0">
                <a:latin typeface="+mj-ea"/>
                <a:ea typeface="+mj-ea"/>
              </a:rPr>
              <a:t>에 의한 도입</a:t>
            </a:r>
            <a:endParaRPr lang="en-US" altLang="ko-KR" sz="1400" b="1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latin typeface="+mj-ea"/>
                <a:ea typeface="+mj-ea"/>
              </a:rPr>
              <a:t>(4) Microinjection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latin typeface="+mj-ea"/>
                <a:ea typeface="+mj-ea"/>
              </a:rPr>
              <a:t>(5) Calcium phosphate </a:t>
            </a:r>
            <a:r>
              <a:rPr lang="ko-KR" altLang="en-US" sz="1400" b="1" dirty="0">
                <a:latin typeface="+mj-ea"/>
                <a:ea typeface="+mj-ea"/>
              </a:rPr>
              <a:t>등 이용 등</a:t>
            </a:r>
            <a:r>
              <a:rPr lang="en-US" altLang="ko-KR" sz="1400" b="1" dirty="0">
                <a:latin typeface="+mj-ea"/>
                <a:ea typeface="+mj-ea"/>
              </a:rPr>
              <a:t>..</a:t>
            </a:r>
            <a:endParaRPr lang="ko-KR" altLang="ko-KR" sz="2400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2" descr="In vitro methods. a–c DNA transfection; a electroporation, b liposome... |  Download Scientific Diagram">
            <a:extLst>
              <a:ext uri="{FF2B5EF4-FFF2-40B4-BE49-F238E27FC236}">
                <a16:creationId xmlns:a16="http://schemas.microsoft.com/office/drawing/2014/main" id="{239464C6-C045-47CD-BC6D-59A16D2EA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843" y="1213775"/>
            <a:ext cx="3307066" cy="46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 descr="Lipofection – Caltag Medsystems">
            <a:extLst>
              <a:ext uri="{FF2B5EF4-FFF2-40B4-BE49-F238E27FC236}">
                <a16:creationId xmlns:a16="http://schemas.microsoft.com/office/drawing/2014/main" id="{238F7D82-B399-47FE-963F-777D962D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74" y="1382395"/>
            <a:ext cx="2330977" cy="3860165"/>
          </a:xfrm>
          <a:prstGeom prst="rect">
            <a:avLst/>
          </a:prstGeom>
        </p:spPr>
      </p:pic>
      <p:pic>
        <p:nvPicPr>
          <p:cNvPr id="11" name="그림 10" descr="Overview of Transfection Methods | Thermo Fisher Scientific - KR">
            <a:extLst>
              <a:ext uri="{FF2B5EF4-FFF2-40B4-BE49-F238E27FC236}">
                <a16:creationId xmlns:a16="http://schemas.microsoft.com/office/drawing/2014/main" id="{DB61D86B-A386-4EC1-9691-EACFE3340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251" y="2268140"/>
            <a:ext cx="4935365" cy="2737355"/>
          </a:xfrm>
          <a:prstGeom prst="rect">
            <a:avLst/>
          </a:prstGeom>
        </p:spPr>
      </p:pic>
      <p:pic>
        <p:nvPicPr>
          <p:cNvPr id="12" name="그림 11" descr="Viral Transduction Methods | ibidi">
            <a:extLst>
              <a:ext uri="{FF2B5EF4-FFF2-40B4-BE49-F238E27FC236}">
                <a16:creationId xmlns:a16="http://schemas.microsoft.com/office/drawing/2014/main" id="{77622842-27D1-4462-9C98-279AA568E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033" y="1555114"/>
            <a:ext cx="3895725" cy="3514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DBCC2A-BECE-5656-365F-775A69B7A862}"/>
              </a:ext>
            </a:extLst>
          </p:cNvPr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487126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11731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altLang="ko-KR" sz="1600" b="1" dirty="0"/>
              <a:t>4.5.2.</a:t>
            </a:r>
            <a:r>
              <a:rPr lang="ko-KR" altLang="en-US" sz="1600" b="1" dirty="0"/>
              <a:t>일시적 발현과 안정 형질전환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Transient expression: </a:t>
            </a:r>
            <a:r>
              <a:rPr sz="1600" dirty="0" err="1"/>
              <a:t>외래</a:t>
            </a:r>
            <a:r>
              <a:rPr sz="1600" dirty="0"/>
              <a:t> </a:t>
            </a:r>
            <a:r>
              <a:rPr sz="1600" dirty="0" err="1"/>
              <a:t>DNA가</a:t>
            </a:r>
            <a:r>
              <a:rPr sz="1600" dirty="0"/>
              <a:t> </a:t>
            </a:r>
            <a:r>
              <a:rPr sz="1600" dirty="0" err="1"/>
              <a:t>수일</a:t>
            </a:r>
            <a:r>
              <a:rPr sz="1600" dirty="0"/>
              <a:t> </a:t>
            </a:r>
            <a:r>
              <a:rPr sz="1600" dirty="0" err="1"/>
              <a:t>동안</a:t>
            </a:r>
            <a:r>
              <a:rPr sz="1600" dirty="0"/>
              <a:t> </a:t>
            </a:r>
            <a:r>
              <a:rPr sz="1600" dirty="0" err="1"/>
              <a:t>발현되지만</a:t>
            </a:r>
            <a:r>
              <a:rPr sz="1600" dirty="0"/>
              <a:t> </a:t>
            </a:r>
            <a:r>
              <a:rPr sz="1600" dirty="0" err="1"/>
              <a:t>유지되지</a:t>
            </a:r>
            <a:r>
              <a:rPr sz="1600" dirty="0"/>
              <a:t> </a:t>
            </a:r>
            <a:r>
              <a:rPr sz="1600" dirty="0" err="1"/>
              <a:t>않는다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/>
              <a:t>Stable transformation: </a:t>
            </a:r>
            <a:r>
              <a:rPr lang="ko-KR" altLang="en-US" sz="1600" dirty="0"/>
              <a:t>일부는 </a:t>
            </a:r>
            <a:r>
              <a:rPr sz="1600" dirty="0" err="1"/>
              <a:t>외래</a:t>
            </a:r>
            <a:r>
              <a:rPr sz="1600" dirty="0"/>
              <a:t> </a:t>
            </a:r>
            <a:r>
              <a:rPr sz="1600" dirty="0" err="1"/>
              <a:t>DNA가</a:t>
            </a:r>
            <a:r>
              <a:rPr sz="1600" dirty="0"/>
              <a:t> </a:t>
            </a:r>
            <a:r>
              <a:rPr sz="1600" dirty="0" err="1"/>
              <a:t>유전체에</a:t>
            </a:r>
            <a:r>
              <a:rPr sz="1600" dirty="0"/>
              <a:t> </a:t>
            </a:r>
            <a:r>
              <a:rPr sz="1600" dirty="0" err="1"/>
              <a:t>통합되어</a:t>
            </a:r>
            <a:r>
              <a:rPr sz="1600" dirty="0"/>
              <a:t> </a:t>
            </a:r>
            <a:r>
              <a:rPr sz="1600" dirty="0" err="1"/>
              <a:t>세포분열</a:t>
            </a:r>
            <a:r>
              <a:rPr sz="1600" dirty="0"/>
              <a:t> </a:t>
            </a:r>
            <a:r>
              <a:rPr sz="1600" dirty="0" err="1"/>
              <a:t>후에도</a:t>
            </a:r>
            <a:r>
              <a:rPr sz="1600" dirty="0"/>
              <a:t> </a:t>
            </a:r>
            <a:r>
              <a:rPr sz="1600" dirty="0" err="1"/>
              <a:t>유지된다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항생제</a:t>
            </a:r>
            <a:r>
              <a:rPr sz="1600" dirty="0"/>
              <a:t> </a:t>
            </a:r>
            <a:r>
              <a:rPr sz="1600" dirty="0" err="1"/>
              <a:t>저항성</a:t>
            </a:r>
            <a:r>
              <a:rPr sz="1600" dirty="0"/>
              <a:t> </a:t>
            </a:r>
            <a:r>
              <a:rPr sz="1600" dirty="0" err="1"/>
              <a:t>같은</a:t>
            </a:r>
            <a:r>
              <a:rPr sz="1600" dirty="0"/>
              <a:t> selection </a:t>
            </a:r>
            <a:r>
              <a:rPr sz="1600" dirty="0" err="1"/>
              <a:t>marker로</a:t>
            </a:r>
            <a:r>
              <a:rPr sz="1600" dirty="0"/>
              <a:t> </a:t>
            </a:r>
            <a:r>
              <a:rPr sz="1600" dirty="0" err="1"/>
              <a:t>안정</a:t>
            </a:r>
            <a:r>
              <a:rPr sz="1600" dirty="0"/>
              <a:t> </a:t>
            </a:r>
            <a:r>
              <a:rPr sz="1600" dirty="0" err="1"/>
              <a:t>형질전환</a:t>
            </a:r>
            <a:r>
              <a:rPr sz="1600" dirty="0"/>
              <a:t> </a:t>
            </a:r>
            <a:r>
              <a:rPr sz="1600" dirty="0" err="1"/>
              <a:t>세포를</a:t>
            </a:r>
            <a:r>
              <a:rPr sz="1600" dirty="0"/>
              <a:t> </a:t>
            </a:r>
            <a:r>
              <a:rPr sz="1600" dirty="0" err="1"/>
              <a:t>선별한다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안정적</a:t>
            </a:r>
            <a:r>
              <a:rPr sz="1600" dirty="0"/>
              <a:t> </a:t>
            </a:r>
            <a:r>
              <a:rPr sz="1600" dirty="0" err="1"/>
              <a:t>clone을</a:t>
            </a:r>
            <a:r>
              <a:rPr sz="1600" dirty="0"/>
              <a:t> </a:t>
            </a:r>
            <a:r>
              <a:rPr sz="1600" dirty="0" err="1"/>
              <a:t>확보하면</a:t>
            </a:r>
            <a:r>
              <a:rPr sz="1600" dirty="0"/>
              <a:t> </a:t>
            </a:r>
            <a:r>
              <a:rPr sz="1600" dirty="0" err="1"/>
              <a:t>장기간</a:t>
            </a:r>
            <a:r>
              <a:rPr sz="1600" dirty="0"/>
              <a:t> </a:t>
            </a:r>
            <a:r>
              <a:rPr sz="1600" dirty="0" err="1"/>
              <a:t>기능</a:t>
            </a:r>
            <a:r>
              <a:rPr sz="1600" dirty="0"/>
              <a:t> </a:t>
            </a:r>
            <a:r>
              <a:rPr sz="1600" dirty="0" err="1"/>
              <a:t>분석이</a:t>
            </a:r>
            <a:r>
              <a:rPr sz="1600" dirty="0"/>
              <a:t> </a:t>
            </a:r>
            <a:r>
              <a:rPr sz="1600" dirty="0" err="1"/>
              <a:t>가능하다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7EFF18-8D9B-4E50-AC26-B7C28C36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140" y="3012398"/>
            <a:ext cx="2854892" cy="3436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6BF668-FA23-4D34-9A9C-34638AA29104}"/>
              </a:ext>
            </a:extLst>
          </p:cNvPr>
          <p:cNvSpPr txBox="1"/>
          <p:nvPr/>
        </p:nvSpPr>
        <p:spPr>
          <a:xfrm>
            <a:off x="5775136" y="3314878"/>
            <a:ext cx="5486400" cy="296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4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4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4.26 동물 세포의 일시적 발현과 안정적 형질전환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외래 유전자가 포함된 </a:t>
            </a:r>
            <a:r>
              <a:rPr lang="ko-KR" altLang="ko-KR" sz="14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플라스미드를</a:t>
            </a:r>
            <a:r>
              <a:rPr lang="ko-KR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지질 </a:t>
            </a:r>
            <a:r>
              <a:rPr lang="ko-KR" altLang="ko-KR" sz="14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리포좀</a:t>
            </a:r>
            <a:r>
              <a:rPr lang="ko-KR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등과 섞어 배양 중인 동물 세포 내부로 주입한다. 대부분의 세포에서는 </a:t>
            </a:r>
            <a:r>
              <a:rPr lang="ko-KR" altLang="ko-KR" sz="14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DNA가</a:t>
            </a:r>
            <a:r>
              <a:rPr lang="ko-KR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핵 내로 들어가 수일 동안 단백질을 만들다가 염색체에 통합되지 못하고 점차 소실된다. 그러나 극소수의 세포에서는 외래 </a:t>
            </a:r>
            <a:r>
              <a:rPr lang="ko-KR" altLang="ko-KR" sz="14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DNA가</a:t>
            </a:r>
            <a:r>
              <a:rPr lang="ko-KR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숙주 게놈의 일부로 끼어 들어가 영구히 보존되며 약물 선택 배지에서 살아남는다.</a:t>
            </a:r>
            <a:endParaRPr lang="en-US" altLang="ko-KR" sz="14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endParaRPr lang="en-US" altLang="ko-KR" sz="1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en-US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혹은</a:t>
            </a:r>
            <a:r>
              <a:rPr lang="en-US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특수한 생명공학적 방법을 사용해서 </a:t>
            </a:r>
            <a:r>
              <a:rPr lang="en-US" altLang="ko-KR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(Transposon </a:t>
            </a:r>
            <a:r>
              <a:rPr lang="ko-KR" altLang="en-US" sz="14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등</a:t>
            </a:r>
            <a:r>
              <a:rPr lang="en-US" altLang="ko-KR" sz="1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ko-KR" altLang="en-US" sz="1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사용</a:t>
            </a:r>
            <a:r>
              <a:rPr lang="en-US" altLang="ko-KR" sz="1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) </a:t>
            </a:r>
            <a:r>
              <a:rPr lang="ko-KR" altLang="en-US" sz="1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기존 유전체에 외래유전자를 통합시킬 수 있다</a:t>
            </a:r>
            <a:r>
              <a:rPr lang="en-US" altLang="ko-KR" sz="1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  <a:endParaRPr lang="ko-KR" altLang="ko-KR" sz="14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1211229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sz="1600" b="1" dirty="0"/>
              <a:t>4.5.3. </a:t>
            </a:r>
            <a:r>
              <a:rPr lang="ko-KR" altLang="en-US" sz="1600" b="1" dirty="0" err="1"/>
              <a:t>레트로바이러스</a:t>
            </a:r>
            <a:r>
              <a:rPr lang="ko-KR" altLang="en-US" sz="1600" b="1" dirty="0"/>
              <a:t> 벡터 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이들은</a:t>
            </a:r>
            <a:r>
              <a:rPr sz="1600" dirty="0"/>
              <a:t> RNA </a:t>
            </a:r>
            <a:r>
              <a:rPr sz="1600" dirty="0" err="1"/>
              <a:t>genome을</a:t>
            </a:r>
            <a:r>
              <a:rPr sz="1600" dirty="0"/>
              <a:t> </a:t>
            </a:r>
            <a:r>
              <a:rPr sz="1600" dirty="0" err="1"/>
              <a:t>가진다</a:t>
            </a:r>
            <a:r>
              <a:rPr sz="1600" dirty="0"/>
              <a:t>.</a:t>
            </a:r>
            <a:r>
              <a:rPr lang="en-US" sz="1600" dirty="0">
                <a:sym typeface="Wingdings" panose="05000000000000000000" pitchFamily="2" charset="2"/>
              </a:rPr>
              <a:t>  </a:t>
            </a:r>
            <a:r>
              <a:rPr sz="1600" dirty="0" err="1"/>
              <a:t>감염</a:t>
            </a:r>
            <a:r>
              <a:rPr sz="1600" dirty="0"/>
              <a:t> 후 reverse </a:t>
            </a:r>
            <a:r>
              <a:rPr sz="1600" dirty="0" err="1"/>
              <a:t>transcription을</a:t>
            </a:r>
            <a:r>
              <a:rPr sz="1600" dirty="0"/>
              <a:t> </a:t>
            </a:r>
            <a:r>
              <a:rPr sz="1600" dirty="0" err="1"/>
              <a:t>거쳐</a:t>
            </a:r>
            <a:r>
              <a:rPr sz="1600" dirty="0"/>
              <a:t> DNA </a:t>
            </a:r>
            <a:r>
              <a:rPr sz="1600" dirty="0" err="1"/>
              <a:t>형태로</a:t>
            </a:r>
            <a:r>
              <a:rPr sz="1600" dirty="0"/>
              <a:t> </a:t>
            </a:r>
            <a:r>
              <a:rPr sz="1600" dirty="0" err="1"/>
              <a:t>숙주</a:t>
            </a:r>
            <a:r>
              <a:rPr sz="1600" dirty="0"/>
              <a:t> </a:t>
            </a:r>
            <a:r>
              <a:rPr sz="1600" dirty="0" err="1"/>
              <a:t>유전체에</a:t>
            </a:r>
            <a:r>
              <a:rPr sz="1600" dirty="0"/>
              <a:t> </a:t>
            </a:r>
            <a:r>
              <a:rPr sz="1600" dirty="0" err="1"/>
              <a:t>통합된다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600" dirty="0"/>
              <a:t>이 </a:t>
            </a:r>
            <a:r>
              <a:rPr sz="1600" dirty="0" err="1"/>
              <a:t>성질을</a:t>
            </a:r>
            <a:r>
              <a:rPr sz="1600" dirty="0"/>
              <a:t> </a:t>
            </a:r>
            <a:r>
              <a:rPr sz="1600" dirty="0" err="1"/>
              <a:t>이용해</a:t>
            </a:r>
            <a:r>
              <a:rPr sz="1600" dirty="0"/>
              <a:t> </a:t>
            </a:r>
            <a:r>
              <a:rPr sz="1600" dirty="0" err="1"/>
              <a:t>외래</a:t>
            </a:r>
            <a:r>
              <a:rPr sz="1600" dirty="0"/>
              <a:t> </a:t>
            </a:r>
            <a:r>
              <a:rPr sz="1600" dirty="0" err="1"/>
              <a:t>유전자를</a:t>
            </a:r>
            <a:r>
              <a:rPr sz="1600" dirty="0"/>
              <a:t> </a:t>
            </a:r>
            <a:r>
              <a:rPr sz="1600" dirty="0" err="1"/>
              <a:t>안정적으로</a:t>
            </a:r>
            <a:r>
              <a:rPr sz="1600" dirty="0"/>
              <a:t> </a:t>
            </a:r>
            <a:r>
              <a:rPr sz="1600" dirty="0" err="1"/>
              <a:t>전달할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  <a:r>
              <a:rPr lang="en-US" sz="1600" dirty="0"/>
              <a:t> </a:t>
            </a:r>
            <a:r>
              <a:rPr sz="1600" dirty="0" err="1"/>
              <a:t>배양세포에서</a:t>
            </a:r>
            <a:r>
              <a:rPr sz="1600" dirty="0"/>
              <a:t> </a:t>
            </a:r>
            <a:r>
              <a:rPr sz="1600" dirty="0" err="1"/>
              <a:t>높은</a:t>
            </a:r>
            <a:r>
              <a:rPr sz="1600" dirty="0"/>
              <a:t> </a:t>
            </a:r>
            <a:r>
              <a:rPr sz="1600" dirty="0" err="1"/>
              <a:t>전달</a:t>
            </a:r>
            <a:r>
              <a:rPr sz="1600" dirty="0"/>
              <a:t> </a:t>
            </a:r>
            <a:r>
              <a:rPr sz="1600" dirty="0" err="1"/>
              <a:t>효율을</a:t>
            </a:r>
            <a:r>
              <a:rPr sz="1600" dirty="0"/>
              <a:t> </a:t>
            </a:r>
            <a:r>
              <a:rPr sz="1600" dirty="0" err="1"/>
              <a:t>얻을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 descr="Transposons: Moving Forward from Preclinical Studies to Clinical Trials -  Jaitip Tipanee, Thierry VandenDriessche, Marinee K. Chuah, 2017">
            <a:extLst>
              <a:ext uri="{FF2B5EF4-FFF2-40B4-BE49-F238E27FC236}">
                <a16:creationId xmlns:a16="http://schemas.microsoft.com/office/drawing/2014/main" id="{438F7623-6B98-4BD3-98AF-6363BC902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635" y="2574461"/>
            <a:ext cx="3567532" cy="37475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71E7239-369E-4DEA-BADF-A34BA08E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74461"/>
            <a:ext cx="1794264" cy="42835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305BE7-04E4-45E1-B77A-537997A4D20E}"/>
              </a:ext>
            </a:extLst>
          </p:cNvPr>
          <p:cNvSpPr txBox="1"/>
          <p:nvPr/>
        </p:nvSpPr>
        <p:spPr>
          <a:xfrm>
            <a:off x="2685116" y="5038769"/>
            <a:ext cx="5839712" cy="183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1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1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4.27 </a:t>
            </a:r>
            <a:r>
              <a:rPr lang="ko-KR" altLang="ko-KR" sz="11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레트로바이러스</a:t>
            </a:r>
            <a:r>
              <a:rPr lang="ko-KR" altLang="ko-KR" sz="11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벡터를 이용한 유전자 도입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감염력이 높은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레트로바이러스의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유전적 뼈대에 목적 유전자를 삽입하여 재조합 바이러스 입자를 생산한다. 이 재조합 바이러스는 표적 동물 세포의 표면 수용체와 결합하여 높은 효율로 세포 내부로 침투한다. 세포질에서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역전사된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바이러스 게놈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DNA는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숙주 세포의 핵으로 이동하여 게놈 내부로 안정적으로 삽입된다.</a:t>
            </a:r>
            <a:endParaRPr lang="en-US" altLang="ko-KR" sz="11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en-US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이러한 바이러스 벡터 기반의 유전자 도입은 필요에 따라 다양한 형태로 이용되며</a:t>
            </a:r>
            <a:r>
              <a:rPr lang="en-US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그 방식은 인체에서 유전자 치료</a:t>
            </a:r>
            <a:r>
              <a:rPr lang="en-US" altLang="ko-KR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11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유전자 편집 치료</a:t>
            </a:r>
            <a:r>
              <a:rPr lang="ko-KR" altLang="en-US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의 기초가 되기도 한다</a:t>
            </a:r>
            <a:r>
              <a:rPr lang="en-US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  <a:endParaRPr lang="ko-KR" altLang="ko-KR" sz="11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2109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8352" y="146304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2DCE6"/>
                </a:solidFill>
              </a:defRPr>
            </a:pPr>
            <a:r>
              <a:rPr dirty="0"/>
              <a:t>8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1309269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4.5.4 </a:t>
            </a:r>
            <a:r>
              <a:rPr lang="ko-KR" altLang="en-US" b="1" dirty="0"/>
              <a:t>형질전환 마우스</a:t>
            </a:r>
            <a:r>
              <a:rPr lang="en-US" altLang="ko-KR" b="1" dirty="0"/>
              <a:t>(</a:t>
            </a:r>
            <a:r>
              <a:rPr lang="ko-KR" altLang="en-US" b="1" dirty="0"/>
              <a:t>생쥐</a:t>
            </a:r>
            <a:r>
              <a:rPr lang="en-US" altLang="ko-KR" b="1" dirty="0"/>
              <a:t>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수정란의</a:t>
            </a:r>
            <a:r>
              <a:rPr dirty="0"/>
              <a:t> </a:t>
            </a:r>
            <a:r>
              <a:rPr dirty="0" err="1"/>
              <a:t>pronucleus에</a:t>
            </a:r>
            <a:r>
              <a:rPr dirty="0"/>
              <a:t> </a:t>
            </a:r>
            <a:r>
              <a:rPr dirty="0" err="1"/>
              <a:t>DNA를</a:t>
            </a:r>
            <a:r>
              <a:rPr dirty="0"/>
              <a:t> microinjection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dirty="0" err="1"/>
              <a:t>배아를</a:t>
            </a:r>
            <a:r>
              <a:rPr dirty="0"/>
              <a:t> </a:t>
            </a:r>
            <a:r>
              <a:rPr dirty="0" err="1"/>
              <a:t>대리모에</a:t>
            </a:r>
            <a:r>
              <a:rPr dirty="0"/>
              <a:t> </a:t>
            </a:r>
            <a:r>
              <a:rPr dirty="0" err="1"/>
              <a:t>이식해</a:t>
            </a:r>
            <a:r>
              <a:rPr dirty="0"/>
              <a:t> </a:t>
            </a:r>
            <a:r>
              <a:rPr dirty="0" err="1"/>
              <a:t>발생시킨다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외래</a:t>
            </a:r>
            <a:r>
              <a:rPr dirty="0"/>
              <a:t> </a:t>
            </a:r>
            <a:r>
              <a:rPr dirty="0" err="1"/>
              <a:t>DNA가</a:t>
            </a:r>
            <a:r>
              <a:rPr dirty="0"/>
              <a:t> </a:t>
            </a:r>
            <a:r>
              <a:rPr dirty="0" err="1"/>
              <a:t>유전체에</a:t>
            </a:r>
            <a:r>
              <a:rPr dirty="0"/>
              <a:t> </a:t>
            </a:r>
            <a:r>
              <a:rPr dirty="0" err="1"/>
              <a:t>통합된</a:t>
            </a:r>
            <a:r>
              <a:rPr dirty="0"/>
              <a:t> </a:t>
            </a:r>
            <a:r>
              <a:rPr dirty="0" err="1"/>
              <a:t>개체를</a:t>
            </a:r>
            <a:r>
              <a:rPr dirty="0"/>
              <a:t> </a:t>
            </a:r>
            <a:r>
              <a:rPr dirty="0" err="1"/>
              <a:t>선별한다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 err="1"/>
              <a:t>생식계열에도</a:t>
            </a:r>
            <a:r>
              <a:rPr dirty="0"/>
              <a:t> </a:t>
            </a:r>
            <a:r>
              <a:rPr dirty="0" err="1"/>
              <a:t>존재하면</a:t>
            </a:r>
            <a:r>
              <a:rPr dirty="0"/>
              <a:t> </a:t>
            </a:r>
            <a:r>
              <a:rPr dirty="0" err="1"/>
              <a:t>자손에게</a:t>
            </a:r>
            <a:r>
              <a:rPr dirty="0"/>
              <a:t> </a:t>
            </a:r>
            <a:r>
              <a:rPr dirty="0" err="1"/>
              <a:t>전달된다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FD259E-367F-4082-A15E-1BAFA8D0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217" y="2578021"/>
            <a:ext cx="7434823" cy="2939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FDA880-8A54-40B8-BAF9-1B1C7C31B031}"/>
              </a:ext>
            </a:extLst>
          </p:cNvPr>
          <p:cNvSpPr txBox="1"/>
          <p:nvPr/>
        </p:nvSpPr>
        <p:spPr>
          <a:xfrm>
            <a:off x="2115126" y="5486893"/>
            <a:ext cx="8490165" cy="1167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4.28 미세주입법을 통한 형질전환 마우스 제작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정자와 난자가 결합한 직후, 두 핵이 아직 융합되지 않은 수정란의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전핵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상태를 확인한다. 미세한 유리 모세관을 이용하여 준비된 재조합 DNA 용액을 수정란의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전핵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내부로 직접 주입한다. 유전자 주입이 완료된 수정란들을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가임신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상태의 대리모 생쥐 자궁에 이식하여 정상적인 개체로 태어나도록 유도한다.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8352" y="146304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2DCE6"/>
                </a:solidFill>
              </a:defRPr>
            </a:pPr>
            <a:r>
              <a:rPr dirty="0"/>
              <a:t>9</a:t>
            </a:r>
            <a:r>
              <a:rPr lang="en-US" dirty="0"/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1499962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/>
              <a:t>E</a:t>
            </a:r>
            <a:r>
              <a:rPr lang="en-US" sz="1400" dirty="0"/>
              <a:t>mbryonic stem</a:t>
            </a:r>
            <a:r>
              <a:rPr sz="1400" dirty="0"/>
              <a:t> </a:t>
            </a:r>
            <a:r>
              <a:rPr sz="1400" dirty="0" err="1"/>
              <a:t>cell을</a:t>
            </a:r>
            <a:r>
              <a:rPr sz="1400" dirty="0"/>
              <a:t> </a:t>
            </a:r>
            <a:r>
              <a:rPr sz="1400" dirty="0" err="1"/>
              <a:t>배양해</a:t>
            </a:r>
            <a:r>
              <a:rPr sz="1400" dirty="0"/>
              <a:t> </a:t>
            </a:r>
            <a:r>
              <a:rPr sz="1400" dirty="0" err="1"/>
              <a:t>외래</a:t>
            </a:r>
            <a:r>
              <a:rPr sz="1400" dirty="0"/>
              <a:t> </a:t>
            </a:r>
            <a:r>
              <a:rPr sz="1400" dirty="0" err="1"/>
              <a:t>DNA를</a:t>
            </a:r>
            <a:r>
              <a:rPr sz="1400" dirty="0"/>
              <a:t> </a:t>
            </a:r>
            <a:r>
              <a:rPr sz="1400" dirty="0" err="1"/>
              <a:t>도입하고</a:t>
            </a:r>
            <a:r>
              <a:rPr sz="1400" dirty="0"/>
              <a:t> </a:t>
            </a:r>
            <a:r>
              <a:rPr sz="1400" dirty="0" err="1"/>
              <a:t>원하는</a:t>
            </a:r>
            <a:r>
              <a:rPr sz="1400" dirty="0"/>
              <a:t> </a:t>
            </a:r>
            <a:r>
              <a:rPr sz="1400" dirty="0" err="1"/>
              <a:t>clone을</a:t>
            </a:r>
            <a:r>
              <a:rPr sz="1400" dirty="0"/>
              <a:t> </a:t>
            </a:r>
            <a:r>
              <a:rPr sz="1400" dirty="0" err="1"/>
              <a:t>선별한다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 err="1"/>
              <a:t>변형된</a:t>
            </a:r>
            <a:r>
              <a:rPr sz="1400" dirty="0"/>
              <a:t> ES </a:t>
            </a:r>
            <a:r>
              <a:rPr sz="1400" dirty="0" err="1"/>
              <a:t>cell을</a:t>
            </a:r>
            <a:r>
              <a:rPr sz="1400" dirty="0"/>
              <a:t> </a:t>
            </a:r>
            <a:r>
              <a:rPr sz="1400" dirty="0" err="1"/>
              <a:t>초기</a:t>
            </a:r>
            <a:r>
              <a:rPr sz="1400" dirty="0"/>
              <a:t> </a:t>
            </a:r>
            <a:r>
              <a:rPr sz="1400" dirty="0" err="1"/>
              <a:t>배아에</a:t>
            </a:r>
            <a:r>
              <a:rPr sz="1400" dirty="0"/>
              <a:t> </a:t>
            </a:r>
            <a:r>
              <a:rPr sz="1400" dirty="0" err="1"/>
              <a:t>주입한다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 err="1"/>
              <a:t>정상</a:t>
            </a:r>
            <a:r>
              <a:rPr sz="1400" dirty="0"/>
              <a:t> </a:t>
            </a:r>
            <a:r>
              <a:rPr sz="1400" dirty="0" err="1"/>
              <a:t>세포와</a:t>
            </a:r>
            <a:r>
              <a:rPr sz="1400" dirty="0"/>
              <a:t> ES cell </a:t>
            </a:r>
            <a:r>
              <a:rPr sz="1400" dirty="0" err="1"/>
              <a:t>유래</a:t>
            </a:r>
            <a:r>
              <a:rPr sz="1400" dirty="0"/>
              <a:t> </a:t>
            </a:r>
            <a:r>
              <a:rPr sz="1400" dirty="0" err="1"/>
              <a:t>세포가</a:t>
            </a:r>
            <a:r>
              <a:rPr sz="1400" dirty="0"/>
              <a:t> </a:t>
            </a:r>
            <a:r>
              <a:rPr sz="1400" dirty="0" err="1"/>
              <a:t>섞인</a:t>
            </a:r>
            <a:r>
              <a:rPr sz="1400" dirty="0"/>
              <a:t> </a:t>
            </a:r>
            <a:r>
              <a:rPr sz="1400" dirty="0" err="1"/>
              <a:t>chimera가</a:t>
            </a:r>
            <a:r>
              <a:rPr sz="1400" dirty="0"/>
              <a:t> </a:t>
            </a:r>
            <a:r>
              <a:rPr sz="1400" dirty="0" err="1"/>
              <a:t>만들어진다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 err="1"/>
              <a:t>생식계열</a:t>
            </a:r>
            <a:r>
              <a:rPr lang="en-US" sz="1400" dirty="0"/>
              <a:t> </a:t>
            </a:r>
            <a:r>
              <a:rPr lang="ko-KR" altLang="en-US" sz="1400" dirty="0"/>
              <a:t>세포가 변이가 </a:t>
            </a:r>
            <a:r>
              <a:rPr lang="ko-KR" altLang="en-US" sz="1400" dirty="0" err="1"/>
              <a:t>있으</a:t>
            </a:r>
            <a:r>
              <a:rPr sz="1400" dirty="0"/>
              <a:t>면 </a:t>
            </a:r>
            <a:r>
              <a:rPr sz="1400" dirty="0" err="1"/>
              <a:t>다음</a:t>
            </a:r>
            <a:r>
              <a:rPr sz="1400" dirty="0"/>
              <a:t> </a:t>
            </a:r>
            <a:r>
              <a:rPr sz="1400" dirty="0" err="1"/>
              <a:t>세대로</a:t>
            </a:r>
            <a:r>
              <a:rPr sz="1400" dirty="0"/>
              <a:t> </a:t>
            </a:r>
            <a:r>
              <a:rPr sz="1400" dirty="0" err="1"/>
              <a:t>변이를</a:t>
            </a:r>
            <a:r>
              <a:rPr sz="1400" dirty="0"/>
              <a:t> </a:t>
            </a:r>
            <a:r>
              <a:rPr sz="1400" dirty="0" err="1"/>
              <a:t>전달할</a:t>
            </a:r>
            <a:r>
              <a:rPr sz="1400" dirty="0"/>
              <a:t> 수 </a:t>
            </a:r>
            <a:r>
              <a:rPr sz="1400" dirty="0" err="1"/>
              <a:t>있다</a:t>
            </a:r>
            <a:r>
              <a:rPr sz="14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B97C9F9-C964-4676-90E2-2965D0833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20" b="37032"/>
          <a:stretch>
            <a:fillRect/>
          </a:stretch>
        </p:blipFill>
        <p:spPr>
          <a:xfrm>
            <a:off x="852502" y="2723377"/>
            <a:ext cx="2925886" cy="37681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D2E205C-0556-4165-AE32-FCD0F662F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828" r="57876"/>
          <a:stretch>
            <a:fillRect/>
          </a:stretch>
        </p:blipFill>
        <p:spPr>
          <a:xfrm>
            <a:off x="4210290" y="2723377"/>
            <a:ext cx="2732356" cy="37053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0794F38-7151-4195-9CDA-63583A8E8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095" y="2001341"/>
            <a:ext cx="4355665" cy="2215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75CE83-AD7B-480D-B4F6-86FA808A75F4}"/>
              </a:ext>
            </a:extLst>
          </p:cNvPr>
          <p:cNvSpPr txBox="1"/>
          <p:nvPr/>
        </p:nvSpPr>
        <p:spPr>
          <a:xfrm>
            <a:off x="7051216" y="4430176"/>
            <a:ext cx="4944700" cy="199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4.29 배아줄기세포를 이용한 형질전환 생쥐 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초기 포배기 배아의 내부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세포괴에서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유래한 배아줄기세포를 추출하여 시험관 내에서 배양한다. </a:t>
            </a:r>
            <a:endParaRPr lang="en-US" altLang="ko-KR" sz="12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배양 중인 줄기세포에 외래 유전자를 주입하고 정상적으로 유전자가 도입된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세포주만을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선택적으로 선별한다. </a:t>
            </a:r>
            <a:endParaRPr lang="en-US" altLang="ko-KR" sz="12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선별된 줄기세포들을 다시 다른 정상 포배기 배아에 주입하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면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두 종류의 세포가 섞인 </a:t>
            </a:r>
            <a:r>
              <a:rPr lang="ko-KR" altLang="en-US" sz="12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키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메라 생쥐</a:t>
            </a:r>
            <a:r>
              <a:rPr lang="ko-KR" altLang="en-US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가 태어난다</a:t>
            </a:r>
            <a:r>
              <a:rPr lang="en-US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  <a:endParaRPr lang="ko-KR" altLang="ko-KR" sz="12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9356"/>
            <a:ext cx="10835640" cy="1631024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sz="1600" b="1" dirty="0"/>
              <a:t>4.5.5. </a:t>
            </a:r>
            <a:r>
              <a:rPr lang="ko-KR" altLang="en-US" sz="1600" b="1" dirty="0"/>
              <a:t>시험관 돌연변이 형성 </a:t>
            </a:r>
            <a:r>
              <a:rPr lang="en-US" altLang="ko-KR" sz="1600" b="1" dirty="0"/>
              <a:t>(in vitro mutagenesis)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유전자의</a:t>
            </a:r>
            <a:r>
              <a:rPr sz="1600" dirty="0"/>
              <a:t> </a:t>
            </a:r>
            <a:r>
              <a:rPr sz="1600" dirty="0" err="1"/>
              <a:t>기능을</a:t>
            </a:r>
            <a:r>
              <a:rPr sz="1600" dirty="0"/>
              <a:t> </a:t>
            </a:r>
            <a:r>
              <a:rPr sz="1600" dirty="0" err="1"/>
              <a:t>알아보기</a:t>
            </a:r>
            <a:r>
              <a:rPr sz="1600" dirty="0"/>
              <a:t> </a:t>
            </a:r>
            <a:r>
              <a:rPr sz="1600" dirty="0" err="1"/>
              <a:t>위해</a:t>
            </a:r>
            <a:r>
              <a:rPr sz="1600" dirty="0"/>
              <a:t> </a:t>
            </a:r>
            <a:r>
              <a:rPr sz="1600" dirty="0" err="1"/>
              <a:t>원하는</a:t>
            </a:r>
            <a:r>
              <a:rPr sz="1600" dirty="0"/>
              <a:t> </a:t>
            </a:r>
            <a:r>
              <a:rPr sz="1600" dirty="0" err="1"/>
              <a:t>변이를</a:t>
            </a:r>
            <a:r>
              <a:rPr sz="1600" dirty="0"/>
              <a:t> </a:t>
            </a:r>
            <a:r>
              <a:rPr sz="1600" dirty="0" err="1"/>
              <a:t>먼저</a:t>
            </a:r>
            <a:r>
              <a:rPr sz="1600" dirty="0"/>
              <a:t> </a:t>
            </a:r>
            <a:r>
              <a:rPr sz="1600" dirty="0" err="1"/>
              <a:t>만들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변이</a:t>
            </a:r>
            <a:r>
              <a:rPr sz="1600" dirty="0"/>
              <a:t> </a:t>
            </a:r>
            <a:r>
              <a:rPr sz="1600" dirty="0" err="1"/>
              <a:t>유전자를</a:t>
            </a:r>
            <a:r>
              <a:rPr sz="1600" dirty="0"/>
              <a:t> </a:t>
            </a:r>
            <a:r>
              <a:rPr sz="1600" dirty="0" err="1"/>
              <a:t>세포에</a:t>
            </a:r>
            <a:r>
              <a:rPr sz="1600" dirty="0"/>
              <a:t> </a:t>
            </a:r>
            <a:r>
              <a:rPr sz="1600" dirty="0" err="1"/>
              <a:t>넣고</a:t>
            </a:r>
            <a:r>
              <a:rPr sz="1600" dirty="0"/>
              <a:t> phenotype </a:t>
            </a:r>
            <a:r>
              <a:rPr sz="1600" dirty="0" err="1"/>
              <a:t>또는</a:t>
            </a:r>
            <a:r>
              <a:rPr sz="1600" dirty="0"/>
              <a:t> </a:t>
            </a:r>
            <a:r>
              <a:rPr sz="1600" dirty="0" err="1"/>
              <a:t>단백질</a:t>
            </a:r>
            <a:r>
              <a:rPr sz="1600" dirty="0"/>
              <a:t> </a:t>
            </a:r>
            <a:r>
              <a:rPr sz="1600" dirty="0" err="1"/>
              <a:t>기능을</a:t>
            </a:r>
            <a:r>
              <a:rPr sz="1600" dirty="0"/>
              <a:t> </a:t>
            </a:r>
            <a:r>
              <a:rPr sz="1600" dirty="0" err="1"/>
              <a:t>분석한다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sz="1600" dirty="0" err="1"/>
              <a:t>고전적</a:t>
            </a:r>
            <a:r>
              <a:rPr sz="1600" dirty="0"/>
              <a:t> </a:t>
            </a:r>
            <a:r>
              <a:rPr sz="1600" dirty="0" err="1"/>
              <a:t>무작위</a:t>
            </a:r>
            <a:r>
              <a:rPr sz="1600" dirty="0"/>
              <a:t> </a:t>
            </a:r>
            <a:r>
              <a:rPr sz="1600" dirty="0" err="1"/>
              <a:t>돌연변이와</a:t>
            </a:r>
            <a:r>
              <a:rPr sz="1600" dirty="0"/>
              <a:t> </a:t>
            </a:r>
            <a:r>
              <a:rPr sz="1600" dirty="0" err="1"/>
              <a:t>달리</a:t>
            </a:r>
            <a:r>
              <a:rPr sz="1600" dirty="0"/>
              <a:t> </a:t>
            </a:r>
            <a:r>
              <a:rPr sz="1600" dirty="0" err="1"/>
              <a:t>특정</a:t>
            </a:r>
            <a:r>
              <a:rPr sz="1600" dirty="0"/>
              <a:t> </a:t>
            </a:r>
            <a:r>
              <a:rPr sz="1600" dirty="0" err="1"/>
              <a:t>서열을</a:t>
            </a:r>
            <a:r>
              <a:rPr sz="1600" dirty="0"/>
              <a:t> </a:t>
            </a:r>
            <a:r>
              <a:rPr sz="1600" dirty="0" err="1"/>
              <a:t>겨냥할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0"/>
                </a:solidFill>
              </a:defRPr>
            </a:pPr>
            <a:r>
              <a:t>Cooper, The Cell: A Molecular Approach 8e — Chapter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0F870-A4B4-3AA1-9F17-1206F53AE2AE}"/>
              </a:ext>
            </a:extLst>
          </p:cNvPr>
          <p:cNvSpPr txBox="1"/>
          <p:nvPr/>
        </p:nvSpPr>
        <p:spPr>
          <a:xfrm>
            <a:off x="1051560" y="4397918"/>
            <a:ext cx="10835640" cy="1499962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 err="1"/>
              <a:t>원하는</a:t>
            </a:r>
            <a:r>
              <a:rPr sz="1400" dirty="0"/>
              <a:t> </a:t>
            </a:r>
            <a:r>
              <a:rPr sz="1400" dirty="0" err="1"/>
              <a:t>염기</a:t>
            </a:r>
            <a:r>
              <a:rPr sz="1400" dirty="0"/>
              <a:t> </a:t>
            </a:r>
            <a:r>
              <a:rPr sz="1400" dirty="0" err="1"/>
              <a:t>변이를</a:t>
            </a:r>
            <a:r>
              <a:rPr sz="1400" dirty="0"/>
              <a:t> </a:t>
            </a:r>
            <a:r>
              <a:rPr sz="1400" dirty="0" err="1"/>
              <a:t>포함한</a:t>
            </a:r>
            <a:r>
              <a:rPr sz="1400" dirty="0"/>
              <a:t> synthetic </a:t>
            </a:r>
            <a:r>
              <a:rPr sz="1400" dirty="0" err="1"/>
              <a:t>oligonucleotide를</a:t>
            </a:r>
            <a:r>
              <a:rPr sz="1400" dirty="0"/>
              <a:t> </a:t>
            </a:r>
            <a:r>
              <a:rPr sz="1400" dirty="0" err="1"/>
              <a:t>primer로</a:t>
            </a:r>
            <a:r>
              <a:rPr sz="1400" dirty="0"/>
              <a:t> </a:t>
            </a:r>
            <a:r>
              <a:rPr sz="1400" dirty="0" err="1"/>
              <a:t>사용한다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 err="1"/>
              <a:t>변이</a:t>
            </a:r>
            <a:r>
              <a:rPr sz="1400" dirty="0"/>
              <a:t> </a:t>
            </a:r>
            <a:r>
              <a:rPr sz="1400" dirty="0" err="1"/>
              <a:t>서열을</a:t>
            </a:r>
            <a:r>
              <a:rPr sz="1400" dirty="0"/>
              <a:t> </a:t>
            </a:r>
            <a:r>
              <a:rPr sz="1400" dirty="0" err="1"/>
              <a:t>포함한</a:t>
            </a:r>
            <a:r>
              <a:rPr sz="1400" dirty="0"/>
              <a:t> </a:t>
            </a:r>
            <a:r>
              <a:rPr sz="1400" dirty="0" err="1"/>
              <a:t>DNA를</a:t>
            </a:r>
            <a:r>
              <a:rPr sz="1400" dirty="0"/>
              <a:t> </a:t>
            </a:r>
            <a:r>
              <a:rPr sz="1400" dirty="0" err="1"/>
              <a:t>합성하고</a:t>
            </a:r>
            <a:r>
              <a:rPr sz="1400" dirty="0"/>
              <a:t> </a:t>
            </a:r>
            <a:r>
              <a:rPr sz="1400" dirty="0" err="1"/>
              <a:t>원형화한다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/>
              <a:t>E. </a:t>
            </a:r>
            <a:r>
              <a:rPr sz="1400" dirty="0" err="1"/>
              <a:t>coli에서</a:t>
            </a:r>
            <a:r>
              <a:rPr sz="1400" dirty="0"/>
              <a:t> </a:t>
            </a:r>
            <a:r>
              <a:rPr sz="1400" dirty="0" err="1"/>
              <a:t>복제한</a:t>
            </a:r>
            <a:r>
              <a:rPr sz="1400" dirty="0"/>
              <a:t> 뒤 mutant </a:t>
            </a:r>
            <a:r>
              <a:rPr sz="1400" dirty="0" err="1"/>
              <a:t>plasmid를</a:t>
            </a:r>
            <a:r>
              <a:rPr sz="1400" dirty="0"/>
              <a:t> </a:t>
            </a:r>
            <a:r>
              <a:rPr sz="1400" dirty="0" err="1"/>
              <a:t>분리한다</a:t>
            </a:r>
            <a:r>
              <a:rPr sz="14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400" dirty="0" err="1"/>
              <a:t>단일</a:t>
            </a:r>
            <a:r>
              <a:rPr sz="1400" dirty="0"/>
              <a:t> </a:t>
            </a:r>
            <a:r>
              <a:rPr sz="1400" dirty="0" err="1"/>
              <a:t>염기</a:t>
            </a:r>
            <a:r>
              <a:rPr sz="1400" dirty="0"/>
              <a:t> </a:t>
            </a:r>
            <a:r>
              <a:rPr sz="1400" dirty="0" err="1"/>
              <a:t>치환뿐</a:t>
            </a:r>
            <a:r>
              <a:rPr sz="1400" dirty="0"/>
              <a:t> </a:t>
            </a:r>
            <a:r>
              <a:rPr sz="1400" dirty="0" err="1"/>
              <a:t>아니라</a:t>
            </a:r>
            <a:r>
              <a:rPr sz="1400" dirty="0"/>
              <a:t> </a:t>
            </a:r>
            <a:r>
              <a:rPr sz="1400" dirty="0" err="1"/>
              <a:t>삽입·결실도</a:t>
            </a:r>
            <a:r>
              <a:rPr sz="1400" dirty="0"/>
              <a:t> </a:t>
            </a:r>
            <a:r>
              <a:rPr sz="1400" dirty="0" err="1"/>
              <a:t>설계할</a:t>
            </a:r>
            <a:r>
              <a:rPr sz="1400" dirty="0"/>
              <a:t> 수 </a:t>
            </a:r>
            <a:r>
              <a:rPr sz="1400" dirty="0" err="1"/>
              <a:t>있다</a:t>
            </a:r>
            <a:r>
              <a:rPr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14A26-3CC5-F47B-9D84-A70D93673041}"/>
              </a:ext>
            </a:extLst>
          </p:cNvPr>
          <p:cNvSpPr txBox="1"/>
          <p:nvPr/>
        </p:nvSpPr>
        <p:spPr>
          <a:xfrm>
            <a:off x="6749961" y="5416387"/>
            <a:ext cx="5442040" cy="1441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Figure 4.30 합성 올리고뉴클레오타이드를 이용한 돌연변이 유발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단백질의 특정 아미노산을 바꾸어 그 잔기가 기능에 어떤 역할을 하는지 확인할 수 있다. 조절 서열과 코딩 서열의 기능을 모두 정밀하게 분석할 수 있게 한 방법이다.</a:t>
            </a:r>
          </a:p>
        </p:txBody>
      </p:sp>
      <p:pic>
        <p:nvPicPr>
          <p:cNvPr id="14" name="Picture 4" descr="4.30.png">
            <a:extLst>
              <a:ext uri="{FF2B5EF4-FFF2-40B4-BE49-F238E27FC236}">
                <a16:creationId xmlns:a16="http://schemas.microsoft.com/office/drawing/2014/main" id="{D98DC0F7-1830-F3B0-78BC-AD4666DA9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303" y="2874851"/>
            <a:ext cx="4852897" cy="235865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341048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sz="1600" b="1" dirty="0"/>
              <a:t>4.5.6. </a:t>
            </a:r>
            <a:r>
              <a:rPr lang="ko-KR" altLang="en-US" sz="1600" b="1" dirty="0"/>
              <a:t>유전자 상동재조합</a:t>
            </a:r>
            <a:endParaRPr lang="en-US" altLang="ko-KR" sz="1600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외래 </a:t>
            </a:r>
            <a:r>
              <a:rPr sz="1600" dirty="0" err="1"/>
              <a:t>도입한</a:t>
            </a:r>
            <a:r>
              <a:rPr sz="1600" dirty="0"/>
              <a:t> </a:t>
            </a:r>
            <a:r>
              <a:rPr sz="1600" dirty="0" err="1"/>
              <a:t>DNA가</a:t>
            </a:r>
            <a:r>
              <a:rPr sz="1600" dirty="0"/>
              <a:t> </a:t>
            </a:r>
            <a:r>
              <a:rPr sz="1600" dirty="0" err="1"/>
              <a:t>염색체의</a:t>
            </a:r>
            <a:r>
              <a:rPr sz="1600" dirty="0"/>
              <a:t> </a:t>
            </a:r>
            <a:r>
              <a:rPr sz="1600" dirty="0" err="1"/>
              <a:t>상동</a:t>
            </a:r>
            <a:r>
              <a:rPr sz="1600" dirty="0"/>
              <a:t> </a:t>
            </a:r>
            <a:r>
              <a:rPr sz="1600" dirty="0" err="1"/>
              <a:t>서열과</a:t>
            </a:r>
            <a:r>
              <a:rPr sz="1600" dirty="0"/>
              <a:t> </a:t>
            </a:r>
            <a:r>
              <a:rPr sz="1600" dirty="0" err="1"/>
              <a:t>recombination할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600" dirty="0" err="1"/>
              <a:t>정상</a:t>
            </a:r>
            <a:r>
              <a:rPr sz="1600" dirty="0"/>
              <a:t> </a:t>
            </a:r>
            <a:r>
              <a:rPr sz="1600" dirty="0" err="1"/>
              <a:t>대립유전자를</a:t>
            </a:r>
            <a:r>
              <a:rPr sz="1600" dirty="0"/>
              <a:t> </a:t>
            </a:r>
            <a:r>
              <a:rPr sz="1600" dirty="0" err="1"/>
              <a:t>변이</a:t>
            </a:r>
            <a:r>
              <a:rPr sz="1600" dirty="0"/>
              <a:t> </a:t>
            </a:r>
            <a:r>
              <a:rPr sz="1600" dirty="0" err="1"/>
              <a:t>대립유전자로</a:t>
            </a:r>
            <a:r>
              <a:rPr sz="1600" dirty="0"/>
              <a:t> </a:t>
            </a:r>
            <a:r>
              <a:rPr sz="1600" dirty="0" err="1"/>
              <a:t>치환할</a:t>
            </a:r>
            <a:r>
              <a:rPr sz="1600" dirty="0"/>
              <a:t> 수 </a:t>
            </a:r>
            <a:r>
              <a:rPr sz="1600" dirty="0" err="1"/>
              <a:t>있다</a:t>
            </a:r>
            <a:r>
              <a:rPr sz="1600" dirty="0"/>
              <a:t>.</a:t>
            </a:r>
            <a:r>
              <a:rPr lang="en-US" sz="1600" dirty="0"/>
              <a:t> </a:t>
            </a:r>
            <a:r>
              <a:rPr sz="1600" dirty="0"/>
              <a:t>이 </a:t>
            </a:r>
            <a:r>
              <a:rPr sz="1600" dirty="0" err="1"/>
              <a:t>방식으로</a:t>
            </a:r>
            <a:r>
              <a:rPr sz="1600" dirty="0"/>
              <a:t> </a:t>
            </a:r>
            <a:r>
              <a:rPr sz="1600" dirty="0" err="1"/>
              <a:t>특정</a:t>
            </a:r>
            <a:r>
              <a:rPr sz="1600" dirty="0"/>
              <a:t> </a:t>
            </a:r>
            <a:r>
              <a:rPr sz="1600" dirty="0" err="1"/>
              <a:t>유전자의</a:t>
            </a:r>
            <a:r>
              <a:rPr sz="1600" dirty="0"/>
              <a:t> </a:t>
            </a:r>
            <a:r>
              <a:rPr sz="1600" dirty="0" err="1"/>
              <a:t>기능을</a:t>
            </a:r>
            <a:r>
              <a:rPr sz="1600" dirty="0"/>
              <a:t> </a:t>
            </a:r>
            <a:r>
              <a:rPr sz="1600" dirty="0" err="1"/>
              <a:t>직접</a:t>
            </a:r>
            <a:r>
              <a:rPr sz="1600" dirty="0"/>
              <a:t> </a:t>
            </a:r>
            <a:r>
              <a:rPr sz="1600" dirty="0" err="1"/>
              <a:t>시험한</a:t>
            </a:r>
            <a:r>
              <a:rPr lang="ko-KR" altLang="en-US" sz="1600" dirty="0"/>
              <a:t>다</a:t>
            </a:r>
            <a:r>
              <a:rPr sz="1600" dirty="0"/>
              <a:t>.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lang="en-US" sz="1600" dirty="0"/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표적 유전자를 불활성화한 </a:t>
            </a:r>
            <a:r>
              <a:rPr lang="en-US" altLang="ko-KR" sz="1600" dirty="0"/>
              <a:t>ES cell</a:t>
            </a:r>
            <a:r>
              <a:rPr lang="ko-KR" altLang="en-US" sz="1600" dirty="0"/>
              <a:t>을 선별한 후 이를 이용해 </a:t>
            </a:r>
            <a:r>
              <a:rPr lang="en-US" altLang="ko-KR" sz="1600" dirty="0"/>
              <a:t>mutant mouse</a:t>
            </a:r>
            <a:r>
              <a:rPr lang="ko-KR" altLang="en-US" sz="1600" dirty="0"/>
              <a:t>를 만들 수 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교배를 통해 두 대립유전자 모두 변이인 </a:t>
            </a:r>
            <a:r>
              <a:rPr lang="en-US" altLang="ko-KR" sz="1600" dirty="0"/>
              <a:t>homozygous knockout</a:t>
            </a:r>
            <a:r>
              <a:rPr lang="ko-KR" altLang="en-US" sz="1600" dirty="0"/>
              <a:t>을 얻을 수 있다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1600" dirty="0"/>
              <a:t>표현형을 관찰해 유전자의 생체 기능을 추론한다</a:t>
            </a:r>
            <a:r>
              <a:rPr lang="en-US" altLang="ko-KR" sz="1600"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sz="1600"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8CBC8-F025-4AA7-BA3C-1823DF4D0102}"/>
              </a:ext>
            </a:extLst>
          </p:cNvPr>
          <p:cNvSpPr txBox="1"/>
          <p:nvPr/>
        </p:nvSpPr>
        <p:spPr>
          <a:xfrm>
            <a:off x="2172618" y="4493950"/>
            <a:ext cx="5442040" cy="227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Figure 4.31 상동재조합을 이용한 유전자 불활성화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어떤 유전자의 생물학적 역할을 규명하려면 그 유전자의 정상 사본이 하는 일을 없애야 한다. 이것이 과발현 실험과 녹아웃 실험이 서로 다른 질문에 </a:t>
            </a:r>
            <a:r>
              <a:rPr lang="en-US" altLang="ko-KR" sz="1200" b="1" dirty="0" err="1">
                <a:latin typeface="+mn-ea"/>
              </a:rPr>
              <a:t>답하는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이유다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Figure 4.32 </a:t>
            </a:r>
            <a:r>
              <a:rPr lang="en-US" altLang="ko-KR" sz="1200" b="1" dirty="0" err="1">
                <a:latin typeface="+mn-ea"/>
              </a:rPr>
              <a:t>ES세포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상동재조합을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이용한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돌연변이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마우스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제작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 err="1">
                <a:latin typeface="+mn-ea"/>
              </a:rPr>
              <a:t>전신에서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유전자를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없애면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배아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단계에서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죽는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경우가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많다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en-US" altLang="ko-KR" sz="1200" b="1" dirty="0" err="1">
                <a:latin typeface="+mn-ea"/>
              </a:rPr>
              <a:t>조건부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녹아웃은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이런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유전자를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특정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세포에서만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제거해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기능을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err="1">
                <a:latin typeface="+mn-ea"/>
              </a:rPr>
              <a:t>확인할</a:t>
            </a:r>
            <a:r>
              <a:rPr lang="en-US" altLang="ko-KR" sz="1200" b="1" dirty="0">
                <a:latin typeface="+mn-ea"/>
              </a:rPr>
              <a:t> 수 </a:t>
            </a:r>
            <a:r>
              <a:rPr lang="en-US" altLang="ko-KR" sz="1200" b="1" dirty="0" err="1">
                <a:latin typeface="+mn-ea"/>
              </a:rPr>
              <a:t>있게</a:t>
            </a:r>
            <a:r>
              <a:rPr lang="en-US" altLang="ko-KR" sz="1200" b="1" dirty="0">
                <a:latin typeface="+mn-ea"/>
              </a:rPr>
              <a:t> 해 </a:t>
            </a:r>
            <a:r>
              <a:rPr lang="en-US" altLang="ko-KR" sz="1200" b="1" dirty="0" err="1">
                <a:latin typeface="+mn-ea"/>
              </a:rPr>
              <a:t>준다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+mn-ea"/>
              </a:rPr>
              <a:t>.</a:t>
            </a:r>
          </a:p>
        </p:txBody>
      </p:sp>
      <p:pic>
        <p:nvPicPr>
          <p:cNvPr id="11" name="Picture 4" descr="4.31.png">
            <a:extLst>
              <a:ext uri="{FF2B5EF4-FFF2-40B4-BE49-F238E27FC236}">
                <a16:creationId xmlns:a16="http://schemas.microsoft.com/office/drawing/2014/main" id="{1FC068C4-8DAB-4399-9111-0ED67E14B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357" y="3355230"/>
            <a:ext cx="1686886" cy="3144723"/>
          </a:xfrm>
          <a:prstGeom prst="rect">
            <a:avLst/>
          </a:prstGeom>
        </p:spPr>
      </p:pic>
      <p:pic>
        <p:nvPicPr>
          <p:cNvPr id="13" name="Picture 4" descr="4.32.png">
            <a:extLst>
              <a:ext uri="{FF2B5EF4-FFF2-40B4-BE49-F238E27FC236}">
                <a16:creationId xmlns:a16="http://schemas.microsoft.com/office/drawing/2014/main" id="{6BE26DDD-CFAD-4B8A-1BA6-AB233C81F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4"/>
          <a:stretch>
            <a:fillRect/>
          </a:stretch>
        </p:blipFill>
        <p:spPr>
          <a:xfrm>
            <a:off x="9667579" y="3294407"/>
            <a:ext cx="2289289" cy="326637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6DAE6-2A49-2783-337E-EA5ED4F646ED}"/>
              </a:ext>
            </a:extLst>
          </p:cNvPr>
          <p:cNvSpPr txBox="1"/>
          <p:nvPr/>
        </p:nvSpPr>
        <p:spPr>
          <a:xfrm>
            <a:off x="685800" y="960120"/>
            <a:ext cx="10835640" cy="237969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lang="en-US" b="1" dirty="0"/>
              <a:t>4.5.7. </a:t>
            </a:r>
            <a:r>
              <a:rPr lang="ko-KR" altLang="en-US" b="1" dirty="0" err="1"/>
              <a:t>크리스퍼와</a:t>
            </a:r>
            <a:r>
              <a:rPr lang="ko-KR" altLang="en-US" b="1" dirty="0"/>
              <a:t> 유전자 가위</a:t>
            </a:r>
            <a:endParaRPr lang="en-US" altLang="ko-KR" b="1" dirty="0"/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기존</a:t>
            </a:r>
            <a:r>
              <a:rPr dirty="0"/>
              <a:t> gene </a:t>
            </a:r>
            <a:r>
              <a:rPr dirty="0" err="1"/>
              <a:t>targeting은</a:t>
            </a:r>
            <a:r>
              <a:rPr dirty="0"/>
              <a:t> </a:t>
            </a:r>
            <a:r>
              <a:rPr dirty="0" err="1"/>
              <a:t>상동재조합</a:t>
            </a:r>
            <a:r>
              <a:rPr dirty="0"/>
              <a:t> </a:t>
            </a:r>
            <a:r>
              <a:rPr dirty="0" err="1"/>
              <a:t>효율이</a:t>
            </a:r>
            <a:r>
              <a:rPr dirty="0"/>
              <a:t> </a:t>
            </a:r>
            <a:r>
              <a:rPr dirty="0" err="1"/>
              <a:t>낮고</a:t>
            </a:r>
            <a:r>
              <a:rPr dirty="0"/>
              <a:t> </a:t>
            </a:r>
            <a:r>
              <a:rPr dirty="0" err="1"/>
              <a:t>시간이</a:t>
            </a:r>
            <a:r>
              <a:rPr dirty="0"/>
              <a:t> </a:t>
            </a:r>
            <a:r>
              <a:rPr dirty="0" err="1"/>
              <a:t>오래</a:t>
            </a:r>
            <a:r>
              <a:rPr dirty="0"/>
              <a:t> </a:t>
            </a:r>
            <a:r>
              <a:rPr dirty="0" err="1"/>
              <a:t>걸렸다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/>
              <a:t>CRISPR/</a:t>
            </a:r>
            <a:r>
              <a:rPr dirty="0" err="1"/>
              <a:t>Cas는</a:t>
            </a:r>
            <a:r>
              <a:rPr dirty="0"/>
              <a:t> RNA가 DNA </a:t>
            </a:r>
            <a:r>
              <a:rPr dirty="0" err="1"/>
              <a:t>표적을</a:t>
            </a:r>
            <a:r>
              <a:rPr dirty="0"/>
              <a:t> </a:t>
            </a:r>
            <a:r>
              <a:rPr dirty="0" err="1"/>
              <a:t>지정한다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/>
              <a:t>guide </a:t>
            </a:r>
            <a:r>
              <a:rPr dirty="0" err="1"/>
              <a:t>RNA와</a:t>
            </a:r>
            <a:r>
              <a:rPr dirty="0"/>
              <a:t> Cas </a:t>
            </a:r>
            <a:r>
              <a:rPr dirty="0" err="1"/>
              <a:t>nuclease의</a:t>
            </a:r>
            <a:r>
              <a:rPr dirty="0"/>
              <a:t> </a:t>
            </a:r>
            <a:r>
              <a:rPr dirty="0" err="1"/>
              <a:t>조합으로</a:t>
            </a:r>
            <a:r>
              <a:rPr dirty="0"/>
              <a:t> 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절단한다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rPr dirty="0" err="1"/>
              <a:t>표적</a:t>
            </a:r>
            <a:r>
              <a:rPr dirty="0"/>
              <a:t> </a:t>
            </a:r>
            <a:r>
              <a:rPr dirty="0" err="1"/>
              <a:t>설계가</a:t>
            </a:r>
            <a:r>
              <a:rPr dirty="0"/>
              <a:t> </a:t>
            </a:r>
            <a:r>
              <a:rPr dirty="0" err="1"/>
              <a:t>비교적</a:t>
            </a:r>
            <a:r>
              <a:rPr dirty="0"/>
              <a:t> </a:t>
            </a:r>
            <a:r>
              <a:rPr dirty="0" err="1"/>
              <a:t>간단해</a:t>
            </a:r>
            <a:r>
              <a:rPr dirty="0"/>
              <a:t> </a:t>
            </a:r>
            <a:r>
              <a:rPr dirty="0" err="1"/>
              <a:t>유전자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연구를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가속했다</a:t>
            </a:r>
            <a:r>
              <a:rPr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63E87F-9F89-CA75-83EE-EA510759EAB6}"/>
              </a:ext>
            </a:extLst>
          </p:cNvPr>
          <p:cNvSpPr txBox="1"/>
          <p:nvPr/>
        </p:nvSpPr>
        <p:spPr>
          <a:xfrm>
            <a:off x="1051559" y="3837711"/>
            <a:ext cx="7745631" cy="966483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r"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100" dirty="0"/>
              <a:t>guide </a:t>
            </a:r>
            <a:r>
              <a:rPr sz="1100" dirty="0" err="1"/>
              <a:t>RNA가</a:t>
            </a:r>
            <a:r>
              <a:rPr sz="1100" dirty="0"/>
              <a:t> </a:t>
            </a:r>
            <a:r>
              <a:rPr sz="1100" dirty="0" err="1"/>
              <a:t>표적</a:t>
            </a:r>
            <a:r>
              <a:rPr sz="1100" dirty="0"/>
              <a:t> DNA </a:t>
            </a:r>
            <a:r>
              <a:rPr sz="1100" dirty="0" err="1"/>
              <a:t>서열을</a:t>
            </a:r>
            <a:r>
              <a:rPr sz="1100" dirty="0"/>
              <a:t> </a:t>
            </a:r>
            <a:r>
              <a:rPr sz="1100" dirty="0" err="1"/>
              <a:t>인식한다</a:t>
            </a:r>
            <a:r>
              <a:rPr sz="1100" dirty="0"/>
              <a:t>.</a:t>
            </a:r>
          </a:p>
          <a:p>
            <a:pPr algn="r"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100" dirty="0"/>
              <a:t>Cas9이 </a:t>
            </a:r>
            <a:r>
              <a:rPr sz="1100" dirty="0" err="1"/>
              <a:t>표적</a:t>
            </a:r>
            <a:r>
              <a:rPr sz="1100" dirty="0"/>
              <a:t> </a:t>
            </a:r>
            <a:r>
              <a:rPr sz="1100" dirty="0" err="1"/>
              <a:t>DNA를</a:t>
            </a:r>
            <a:r>
              <a:rPr sz="1100" dirty="0"/>
              <a:t> </a:t>
            </a:r>
            <a:r>
              <a:rPr sz="1100" dirty="0" err="1"/>
              <a:t>절단한다</a:t>
            </a:r>
            <a:r>
              <a:rPr sz="1100" dirty="0"/>
              <a:t>.</a:t>
            </a:r>
          </a:p>
          <a:p>
            <a:pPr algn="r"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sz="1100" dirty="0" err="1"/>
              <a:t>절단된</a:t>
            </a:r>
            <a:r>
              <a:rPr sz="1100" dirty="0"/>
              <a:t> </a:t>
            </a:r>
            <a:r>
              <a:rPr sz="1100" dirty="0" err="1"/>
              <a:t>DNA는</a:t>
            </a:r>
            <a:r>
              <a:rPr sz="1100" dirty="0"/>
              <a:t> repair </a:t>
            </a:r>
            <a:r>
              <a:rPr sz="1100" dirty="0" err="1"/>
              <a:t>과정에서</a:t>
            </a:r>
            <a:r>
              <a:rPr sz="1100" dirty="0"/>
              <a:t> indel </a:t>
            </a:r>
            <a:r>
              <a:rPr sz="1100" dirty="0" err="1"/>
              <a:t>또는</a:t>
            </a:r>
            <a:r>
              <a:rPr sz="1100" dirty="0"/>
              <a:t> </a:t>
            </a:r>
            <a:r>
              <a:rPr sz="1100" dirty="0" err="1"/>
              <a:t>원하는</a:t>
            </a:r>
            <a:r>
              <a:rPr sz="1100" dirty="0"/>
              <a:t> </a:t>
            </a:r>
            <a:r>
              <a:rPr sz="1100" dirty="0" err="1"/>
              <a:t>변이를</a:t>
            </a:r>
            <a:r>
              <a:rPr sz="1100" dirty="0"/>
              <a:t> </a:t>
            </a:r>
            <a:r>
              <a:rPr sz="1100" dirty="0" err="1"/>
              <a:t>만들</a:t>
            </a:r>
            <a:r>
              <a:rPr sz="1100" dirty="0"/>
              <a:t> 수 </a:t>
            </a:r>
            <a:r>
              <a:rPr sz="1100" dirty="0" err="1"/>
              <a:t>있다</a:t>
            </a:r>
            <a:r>
              <a:rPr sz="11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9C527-BBB2-7BF0-1ABD-7B45678B8B2C}"/>
              </a:ext>
            </a:extLst>
          </p:cNvPr>
          <p:cNvSpPr txBox="1"/>
          <p:nvPr/>
        </p:nvSpPr>
        <p:spPr>
          <a:xfrm>
            <a:off x="2497701" y="5231992"/>
            <a:ext cx="6096000" cy="1331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1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1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4.33 CRISPR/Cas9 시스템을 이용한 게놈 편집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Cas9 단백질은 가이드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RNA인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gRNA와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결합하여 세포 내 게놈 서열을 탐색하는 복합체를 형성한다.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gRNA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서열이 표적 DNA 서열과 상보적으로 결합하면 Cas9 단백질이 해당 부위의 이중 가닥을 정확히 절단한다. 잘려진 </a:t>
            </a:r>
            <a:r>
              <a:rPr lang="ko-KR" altLang="ko-KR" sz="11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DNA가</a:t>
            </a:r>
            <a:r>
              <a:rPr lang="ko-KR" altLang="ko-KR" sz="11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세포 내 시스템에 의해 복구되는 과정에서 돌연변이가 도입되거나 우리가 원하는 새로운 서열이 삽입된다.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E96433-3684-5746-7BB6-3D7B9979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680" y="1181391"/>
            <a:ext cx="3191320" cy="538237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21541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b="1" dirty="0"/>
              <a:t>4.5.8. </a:t>
            </a:r>
            <a:r>
              <a:rPr lang="ko-KR" altLang="en-US" b="1" dirty="0"/>
              <a:t>유전자 발현 억제 </a:t>
            </a:r>
            <a:r>
              <a:rPr lang="en-US" altLang="ko-KR" b="1" dirty="0"/>
              <a:t>: antisense nucleotide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표적</a:t>
            </a:r>
            <a:r>
              <a:rPr dirty="0"/>
              <a:t> </a:t>
            </a:r>
            <a:r>
              <a:rPr dirty="0" err="1"/>
              <a:t>mRNA에</a:t>
            </a:r>
            <a:r>
              <a:rPr dirty="0"/>
              <a:t> </a:t>
            </a:r>
            <a:r>
              <a:rPr dirty="0" err="1"/>
              <a:t>상보적인</a:t>
            </a:r>
            <a:r>
              <a:rPr dirty="0"/>
              <a:t> RNA </a:t>
            </a:r>
            <a:r>
              <a:rPr dirty="0" err="1"/>
              <a:t>또는</a:t>
            </a:r>
            <a:r>
              <a:rPr dirty="0"/>
              <a:t> single-stranded </a:t>
            </a:r>
            <a:r>
              <a:rPr dirty="0" err="1"/>
              <a:t>DNA를</a:t>
            </a:r>
            <a:r>
              <a:rPr dirty="0"/>
              <a:t> </a:t>
            </a:r>
            <a:r>
              <a:rPr dirty="0" err="1"/>
              <a:t>사용한다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mRNA와</a:t>
            </a:r>
            <a:r>
              <a:rPr dirty="0"/>
              <a:t> </a:t>
            </a:r>
            <a:r>
              <a:rPr dirty="0" err="1"/>
              <a:t>hybrid를</a:t>
            </a:r>
            <a:r>
              <a:rPr dirty="0"/>
              <a:t> </a:t>
            </a:r>
            <a:r>
              <a:rPr dirty="0" err="1"/>
              <a:t>형성해</a:t>
            </a:r>
            <a:r>
              <a:rPr dirty="0"/>
              <a:t> </a:t>
            </a:r>
            <a:r>
              <a:rPr dirty="0" err="1"/>
              <a:t>translation을</a:t>
            </a:r>
            <a:r>
              <a:rPr dirty="0"/>
              <a:t> </a:t>
            </a:r>
            <a:r>
              <a:rPr dirty="0" err="1"/>
              <a:t>방해한다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 mRNA </a:t>
            </a:r>
            <a:r>
              <a:rPr dirty="0" err="1"/>
              <a:t>degradation도</a:t>
            </a:r>
            <a:r>
              <a:rPr dirty="0"/>
              <a:t> </a:t>
            </a:r>
            <a:r>
              <a:rPr dirty="0" err="1"/>
              <a:t>유도한다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유전자를</a:t>
            </a:r>
            <a:r>
              <a:rPr dirty="0"/>
              <a:t> </a:t>
            </a:r>
            <a:r>
              <a:rPr dirty="0" err="1"/>
              <a:t>제거하지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발현량을</a:t>
            </a:r>
            <a:r>
              <a:rPr dirty="0"/>
              <a:t> </a:t>
            </a:r>
            <a:r>
              <a:rPr dirty="0" err="1"/>
              <a:t>낮추는</a:t>
            </a:r>
            <a:r>
              <a:rPr dirty="0"/>
              <a:t> </a:t>
            </a:r>
            <a:r>
              <a:rPr dirty="0" err="1"/>
              <a:t>접근이다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239B0-C55F-46E1-8260-F5937B2ABCFF}"/>
              </a:ext>
            </a:extLst>
          </p:cNvPr>
          <p:cNvSpPr txBox="1"/>
          <p:nvPr/>
        </p:nvSpPr>
        <p:spPr>
          <a:xfrm>
            <a:off x="6690048" y="4050847"/>
            <a:ext cx="4923217" cy="1721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4.34 안티센스 핵산을 이용한 발현 억제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세포가 전사해 낸 정상적인 mRNA 서열과 완벽하게 상보적인 염기 배정을 갖는 안티센스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RNA나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DNA 조각을 도입한다. 안티센스 가닥은 세포질 내에서 표적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mRNA를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찾아가 강력한 이중 가닥 하이브리드 구조를 형성한다. 이 구조는 리보솜의 물리적 접근과 이동을 차단하여 단백질로 번역되는 과정을 원천적으로 억제한다.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189D2B-E4AB-4552-BC44-FC7EF57FF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09" y="3793834"/>
            <a:ext cx="5976323" cy="22044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D2E8"/>
                </a:solidFill>
              </a:defRPr>
            </a:pPr>
            <a: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91440"/>
            <a:ext cx="4379725" cy="532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ko-KR" altLang="en-US" sz="2800" b="1" dirty="0" err="1">
                <a:solidFill>
                  <a:schemeClr val="bg1"/>
                </a:solidFill>
              </a:rPr>
              <a:t>진핵세포</a:t>
            </a:r>
            <a:r>
              <a:rPr lang="ko-KR" altLang="en-US" sz="2800" b="1" dirty="0">
                <a:solidFill>
                  <a:schemeClr val="bg1"/>
                </a:solidFill>
              </a:rPr>
              <a:t> 유전자 기능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835640" cy="267073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lang="en-US" altLang="ko-KR" b="1" dirty="0"/>
              <a:t>4.5.8. </a:t>
            </a:r>
            <a:r>
              <a:rPr lang="ko-KR" altLang="en-US" b="1" dirty="0"/>
              <a:t>유전자 발현 억제 </a:t>
            </a:r>
            <a:r>
              <a:rPr lang="en-US" altLang="ko-KR" b="1" dirty="0"/>
              <a:t>: RNA interference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dsRNA가</a:t>
            </a:r>
            <a:r>
              <a:rPr dirty="0"/>
              <a:t> </a:t>
            </a:r>
            <a:r>
              <a:rPr dirty="0" err="1"/>
              <a:t>Dicer에</a:t>
            </a:r>
            <a:r>
              <a:rPr dirty="0"/>
              <a:t> </a:t>
            </a:r>
            <a:r>
              <a:rPr dirty="0" err="1"/>
              <a:t>의해</a:t>
            </a:r>
            <a:r>
              <a:rPr dirty="0"/>
              <a:t> 약 21–23 </a:t>
            </a:r>
            <a:r>
              <a:rPr dirty="0" err="1"/>
              <a:t>nt</a:t>
            </a:r>
            <a:r>
              <a:rPr dirty="0"/>
              <a:t> </a:t>
            </a:r>
            <a:r>
              <a:rPr dirty="0" err="1"/>
              <a:t>siRNA로</a:t>
            </a:r>
            <a:r>
              <a:rPr dirty="0"/>
              <a:t> </a:t>
            </a:r>
            <a:r>
              <a:rPr dirty="0" err="1"/>
              <a:t>절단된다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siRNA가</a:t>
            </a:r>
            <a:r>
              <a:rPr dirty="0"/>
              <a:t> </a:t>
            </a:r>
            <a:r>
              <a:rPr dirty="0" err="1"/>
              <a:t>RISC에</a:t>
            </a:r>
            <a:r>
              <a:rPr dirty="0"/>
              <a:t> </a:t>
            </a:r>
            <a:r>
              <a:rPr dirty="0" err="1"/>
              <a:t>결합하고</a:t>
            </a:r>
            <a:r>
              <a:rPr dirty="0"/>
              <a:t> 두 </a:t>
            </a:r>
            <a:r>
              <a:rPr dirty="0" err="1"/>
              <a:t>가닥이</a:t>
            </a:r>
            <a:r>
              <a:rPr dirty="0"/>
              <a:t> </a:t>
            </a:r>
            <a:r>
              <a:rPr dirty="0" err="1"/>
              <a:t>분리된다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/>
              <a:t>guide/antisense </a:t>
            </a:r>
            <a:r>
              <a:rPr dirty="0" err="1"/>
              <a:t>strand가</a:t>
            </a:r>
            <a:r>
              <a:rPr dirty="0"/>
              <a:t> </a:t>
            </a:r>
            <a:r>
              <a:rPr dirty="0" err="1"/>
              <a:t>표적</a:t>
            </a:r>
            <a:r>
              <a:rPr dirty="0"/>
              <a:t> </a:t>
            </a:r>
            <a:r>
              <a:rPr dirty="0" err="1"/>
              <a:t>mRNA를</a:t>
            </a:r>
            <a:r>
              <a:rPr dirty="0"/>
              <a:t> </a:t>
            </a:r>
            <a:r>
              <a:rPr dirty="0" err="1"/>
              <a:t>찾아</a:t>
            </a:r>
            <a:r>
              <a:rPr dirty="0"/>
              <a:t> </a:t>
            </a:r>
            <a:r>
              <a:rPr dirty="0" err="1"/>
              <a:t>절단을</a:t>
            </a:r>
            <a:r>
              <a:rPr dirty="0"/>
              <a:t> </a:t>
            </a:r>
            <a:r>
              <a:rPr dirty="0" err="1"/>
              <a:t>유도한다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r>
              <a:rPr dirty="0" err="1"/>
              <a:t>RNAi는</a:t>
            </a:r>
            <a:r>
              <a:rPr dirty="0"/>
              <a:t> gene </a:t>
            </a:r>
            <a:r>
              <a:rPr dirty="0" err="1"/>
              <a:t>expression을</a:t>
            </a:r>
            <a:r>
              <a:rPr dirty="0"/>
              <a:t> </a:t>
            </a:r>
            <a:r>
              <a:rPr dirty="0" err="1"/>
              <a:t>선택적으로</a:t>
            </a:r>
            <a:r>
              <a:rPr dirty="0"/>
              <a:t> </a:t>
            </a:r>
            <a:r>
              <a:rPr dirty="0" err="1"/>
              <a:t>억제하는</a:t>
            </a:r>
            <a:r>
              <a:rPr dirty="0"/>
              <a:t> </a:t>
            </a:r>
            <a:r>
              <a:rPr dirty="0" err="1"/>
              <a:t>강력한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도구다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3282D"/>
                </a:solidFill>
              </a:defRPr>
            </a:pP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85800" y="795528"/>
            <a:ext cx="502920" cy="45720"/>
          </a:xfrm>
          <a:prstGeom prst="rect">
            <a:avLst/>
          </a:prstGeom>
          <a:solidFill>
            <a:srgbClr val="2E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722F37-45A6-4FDD-B4EB-E0B4B278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36" y="3162801"/>
            <a:ext cx="4211704" cy="3519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9D8E11-574E-47ED-A2FF-6E4A5CC6D263}"/>
              </a:ext>
            </a:extLst>
          </p:cNvPr>
          <p:cNvSpPr txBox="1"/>
          <p:nvPr/>
        </p:nvSpPr>
        <p:spPr>
          <a:xfrm>
            <a:off x="615821" y="4776090"/>
            <a:ext cx="6164464" cy="1721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Figure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4.35 RNA 간섭(</a:t>
            </a:r>
            <a:r>
              <a:rPr lang="ko-KR" altLang="ko-KR" sz="1200" b="1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RNAi</a:t>
            </a:r>
            <a:r>
              <a:rPr lang="ko-KR" altLang="ko-KR" sz="1200" b="1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) 메커니즘</a:t>
            </a: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세포 내로 주입된 긴 이중 가닥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RNA는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다이서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효소에 의해 21-23개 염기 길이의 짧은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siRNA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조각으로 절단된다. </a:t>
            </a:r>
            <a:endParaRPr lang="en-US" altLang="ko-KR" sz="12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생성된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siRNA는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RISC 단백질 복합체와 결합한 후 이중 가닥 중 한 가닥이 제거되면서 활성화된다. </a:t>
            </a:r>
            <a:endParaRPr lang="en-US" altLang="ko-KR" sz="1200" dirty="0">
              <a:effectLst/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가이드 가닥을 품은 RISC 복합체는 세포질 내의 상보적 </a:t>
            </a:r>
            <a:r>
              <a:rPr lang="ko-KR" altLang="ko-KR" sz="1200" dirty="0" err="1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mRNA를</a:t>
            </a:r>
            <a:r>
              <a:rPr lang="ko-KR" altLang="ko-KR" sz="1200" dirty="0">
                <a:effectLst/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찾아가 절단하고 분해하는 반응을 반복한다.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6894</Words>
  <Application>Microsoft Office PowerPoint</Application>
  <PresentationFormat>와이드스크린</PresentationFormat>
  <Paragraphs>706</Paragraphs>
  <Slides>70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8" baseType="lpstr">
      <vt:lpstr>HY엽서L</vt:lpstr>
      <vt:lpstr>Microsoft GothicNeo Light</vt:lpstr>
      <vt:lpstr>맑은 고딕</vt:lpstr>
      <vt:lpstr>함초롬돋움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HYU</dc:creator>
  <cp:keywords/>
  <dc:description>generated using python-pptx</dc:description>
  <cp:lastModifiedBy>jt k</cp:lastModifiedBy>
  <cp:revision>15</cp:revision>
  <dcterms:created xsi:type="dcterms:W3CDTF">2013-01-27T09:14:16Z</dcterms:created>
  <dcterms:modified xsi:type="dcterms:W3CDTF">2026-08-23T18:45:31Z</dcterms:modified>
  <cp:category/>
</cp:coreProperties>
</file>