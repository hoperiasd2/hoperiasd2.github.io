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PDC는 미토콘드리아 기질에서 피루브산 + CoA + NAD⁺ → 아세틸-CoA + CO₂ + NADH를 촉매하는 거대 복합체로, 탄수화물이 TCA 회로와 지방산 합성으로 들어가는 비가역 관문이다.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TCA(시트르산, 크렙스) 회로는 아세틸기를 CO₂ 2분자로 완전 산화하고 그 전자를 NADH 3, FADH₂ 1로 포획한다. 동시에 생합성 전구체를 공급하는 양방향(amphibolic) 경로다.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TCA(시트르산, 크렙스) 회로는 아세틸기를 CO₂ 2분자로 완전 산화하고 그 전자를 NADH 3, FADH₂ 1로 포획한다. 동시에 생합성 전구체를 공급하는 양방향(amphibolic) 경로다.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미토콘드리아 내막의 4개 복합체와 2개 이동 전달자(유비퀴논 CoQ, 사이토크롬 c)는 NADH(−0.32 V)에서 O₂(+0.82 V)로 전자를 단계적으로 옮기며 그 자유에너지로 양성자를 막간 공간으로 퍼낸다.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미첼의 화학삼투설: 양성자 구동력(Δp ≈ 막전위 Δψ ~150–180 mV + ΔpH)이 ATP 합성의 에너지원이다.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세포질 NADH는 미토콘드리아 내막을 통과하지 못하므로 두 셔틀로 환원당량을 전달한다.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올리고마이신이 ATP 합성효소를 막아 H⁺ 유입이 멈추면 양성자 구동력이 최대가 되어 전자전달(산소 소비)이 거의 멈춘다(호흡 조절). DNP를 넣으면 H⁺가 막을 우회해 유입되므로 기울기가 해소되어 산소 소비가 최대로 회복되지만 ATP는 생성되지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일어난다. 로테논은 복합체 I만 억제하므로 숙신산 → 복합체 II → CoQ → III → IV 경로는 정상이다. 다만 P/O 비는 약 1.5로 낮다.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티아민 결핍 상태에서 포도당 부하가 들어오면 해당과정 산물인 피루브산이 PDH(TPP 의존)를 통과하지 못해 젖산산증이 악화되고, 뇌의 에너지 대사(PDH, α-KGDH, 트랜스케톨라아제)가 급격히 부족해져 베르니케 뇌병증이 유발·악화될 수 있기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PDH 결핍은 피루브산과 젖산이 함께 증가하고 NADH/NAD⁺ 비가 정상이므로 L/P 비가 정상(&lt;20)이다. 복합체 I 결핍은 NADH가 재산화되지 않아 NADH/NAD⁺ 비가 상승하므로 L/P 비가 높다(&gt;25).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B01 의학생화학  ·  당대사</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TCA 회로와 산화적 인산화</a:t>
            </a:r>
          </a:p>
          <a:p>
            <a:r>
              <a:rPr sz="2000" b="0" i="0">
                <a:solidFill>
                  <a:srgbClr val="C2CDD6"/>
                </a:solidFill>
                <a:latin typeface="Malgun Gothic"/>
                <a:ea typeface="Malgun Gothic"/>
                <a:cs typeface="Malgun Gothic"/>
              </a:rPr>
              <a:t>The TCA Cycle and Oxidative Phosphorylation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B01-L03</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피루브산 탈수소효소 복합체(PDC)의 5개 보조인자와 조절, PDH 결핍증을 설명한다.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TCA 회로 8단계의 산물(NADH, FADH₂, GTP, CO₂)과 조절점, 보충반응(anaplerosis)을 설명한다.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전자전달사슬 복합체 I–IV와 ATP 합성효소의 구조·기능, 화학삼투설을 설명한다.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호흡사슬 억제제, 탈공역제, 열생성(UCP1)의 기전과 임상 중독을 연결한다.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포도당 1분자의 완전 산화 ATP 수율을 셔틀 종류에 따라 계산한다.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피루브산 탈수소효소 복합체(PDC)</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TCA 회로의 반응</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보충반응과 TCA 중간산물의 생합성 이용</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전자전달사슬의 구조</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화학삼투와 ATP 합성효소</a:t>
            </a:r>
          </a:p>
          <a:p>
            <a:pPr>
              <a:spcAft>
                <a:spcPts val="800"/>
              </a:spcAft>
            </a:pPr>
            <a:r>
              <a:rPr sz="2200" b="1" i="0">
                <a:solidFill>
                  <a:srgbClr val="003C71"/>
                </a:solidFill>
                <a:latin typeface="Malgun Gothic"/>
                <a:ea typeface="Malgun Gothic"/>
                <a:cs typeface="Malgun Gothic"/>
              </a:rPr>
              <a:t>6. </a:t>
            </a:r>
            <a:r>
              <a:rPr sz="2200" b="0" i="0">
                <a:solidFill>
                  <a:srgbClr val="11202B"/>
                </a:solidFill>
                <a:latin typeface="Malgun Gothic"/>
                <a:ea typeface="Malgun Gothic"/>
                <a:cs typeface="Malgun Gothic"/>
              </a:rPr>
              <a:t>탈공역, 열생성, 중독</a:t>
            </a:r>
          </a:p>
          <a:p>
            <a:pPr>
              <a:spcAft>
                <a:spcPts val="800"/>
              </a:spcAft>
            </a:pPr>
            <a:r>
              <a:rPr sz="2200" b="1" i="0">
                <a:solidFill>
                  <a:srgbClr val="003C71"/>
                </a:solidFill>
                <a:latin typeface="Malgun Gothic"/>
                <a:ea typeface="Malgun Gothic"/>
                <a:cs typeface="Malgun Gothic"/>
              </a:rPr>
              <a:t>7. </a:t>
            </a:r>
            <a:r>
              <a:rPr sz="2200" b="0" i="0">
                <a:solidFill>
                  <a:srgbClr val="11202B"/>
                </a:solidFill>
                <a:latin typeface="Malgun Gothic"/>
                <a:ea typeface="Malgun Gothic"/>
                <a:cs typeface="Malgun Gothic"/>
              </a:rPr>
              <a:t>ATP 수율 계산과 셔틀</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피루브산 탈수소효소 복합체(PDC)</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같은 E3를 α-케토글루타르산 탈수소효소, 가지사슬 α-케토산 탈수소효소(BCKDH)와 공유한다 → E3 결핍은 세 효소 모두를 손상(젖산산증 + 단풍당뇨 유사 소견).</a:t>
            </a:r>
          </a:p>
          <a:p>
            <a:pPr>
              <a:spcAft>
                <a:spcPts val="800"/>
              </a:spcAft>
            </a:pPr>
            <a:r>
              <a:rPr sz="2000" b="1" i="0">
                <a:solidFill>
                  <a:srgbClr val="003C71"/>
                </a:solidFill>
                <a:latin typeface="Malgun Gothic"/>
                <a:ea typeface="Malgun Gothic"/>
                <a:cs typeface="Malgun Gothic"/>
              </a:rPr>
              <a:t>▪ </a:t>
            </a:r>
            <a:r>
              <a:rPr sz="2000" b="1" i="0">
                <a:solidFill>
                  <a:srgbClr val="11202B"/>
                </a:solidFill>
                <a:latin typeface="Malgun Gothic"/>
                <a:ea typeface="Malgun Gothic"/>
                <a:cs typeface="Malgun Gothic"/>
              </a:rPr>
              <a:t>조절</a:t>
            </a:r>
            <a:r>
              <a:rPr sz="2000" b="0" i="0">
                <a:solidFill>
                  <a:srgbClr val="11202B"/>
                </a:solidFill>
                <a:latin typeface="Malgun Gothic"/>
                <a:ea typeface="Malgun Gothic"/>
                <a:cs typeface="Malgun Gothic"/>
              </a:rPr>
              <a:t>: PDH 키나아제(PDK1–4)가 E1을 인산화해 불활성화, PDH 포스파타아제(PDP)가 재활성화.</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PDK 활성화: 아세틸-CoA, NADH, ATP (생성물 신호). PDK 억제: 피루브산, ADP.</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PDP 활성화: Ca²⁺(근수축), 인슐린(지방조직).</a:t>
            </a:r>
          </a:p>
          <a:p>
            <a:pPr lvl="1">
              <a:spcAft>
                <a:spcPts val="400"/>
              </a:spcAft>
            </a:pPr>
            <a:r>
              <a:rPr sz="1800" b="0" i="0">
                <a:solidFill>
                  <a:srgbClr val="66788A"/>
                </a:solidFill>
                <a:latin typeface="Malgun Gothic"/>
                <a:ea typeface="Malgun Gothic"/>
                <a:cs typeface="Malgun Gothic"/>
              </a:rPr>
              <a:t>    – </a:t>
            </a:r>
            <a:r>
              <a:rPr sz="1800" b="0" i="0">
                <a:solidFill>
                  <a:srgbClr val="2E3F4C"/>
                </a:solidFill>
                <a:latin typeface="Malgun Gothic"/>
                <a:ea typeface="Malgun Gothic"/>
                <a:cs typeface="Malgun Gothic"/>
              </a:rPr>
              <a:t>기아·당뇨에서 PDK4 발현↑ → 포도당 산화 억제, 탄소 절약.</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피루브산 탈수소효소 복합체(PDC)</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소단위</a:t>
                      </a:r>
                    </a:p>
                  </a:txBody>
                  <a:tcPr marL="73152" marR="73152">
                    <a:solidFill>
                      <a:srgbClr val="003C71"/>
                    </a:solidFill>
                  </a:tcPr>
                </a:tc>
                <a:tc>
                  <a:txBody>
                    <a:bodyPr/>
                    <a:lstStyle/>
                    <a:p>
                      <a:r>
                        <a:rPr sz="1500" b="1" i="0">
                          <a:solidFill>
                            <a:srgbClr val="FFFFFF"/>
                          </a:solidFill>
                          <a:latin typeface="Malgun Gothic"/>
                          <a:ea typeface="Malgun Gothic"/>
                          <a:cs typeface="Malgun Gothic"/>
                        </a:rPr>
                        <a:t>보조인자</a:t>
                      </a:r>
                    </a:p>
                  </a:txBody>
                  <a:tcPr marL="73152" marR="73152">
                    <a:solidFill>
                      <a:srgbClr val="003C71"/>
                    </a:solidFill>
                  </a:tcPr>
                </a:tc>
                <a:tc>
                  <a:txBody>
                    <a:bodyPr/>
                    <a:lstStyle/>
                    <a:p>
                      <a:r>
                        <a:rPr sz="1500" b="1" i="0">
                          <a:solidFill>
                            <a:srgbClr val="FFFFFF"/>
                          </a:solidFill>
                          <a:latin typeface="Malgun Gothic"/>
                          <a:ea typeface="Malgun Gothic"/>
                          <a:cs typeface="Malgun Gothic"/>
                        </a:rPr>
                        <a:t>비타민 기원</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E1 피루브산 탈수소효소</a:t>
                      </a:r>
                    </a:p>
                  </a:txBody>
                  <a:tcPr marL="73152" marR="73152">
                    <a:solidFill>
                      <a:srgbClr val="FFFFFF"/>
                    </a:solidFill>
                  </a:tcPr>
                </a:tc>
                <a:tc>
                  <a:txBody>
                    <a:bodyPr/>
                    <a:lstStyle/>
                    <a:p>
                      <a:r>
                        <a:rPr sz="1500" b="0" i="0">
                          <a:solidFill>
                            <a:srgbClr val="11202B"/>
                          </a:solidFill>
                          <a:latin typeface="Malgun Gothic"/>
                          <a:ea typeface="Malgun Gothic"/>
                          <a:cs typeface="Malgun Gothic"/>
                        </a:rPr>
                        <a:t>티아민 피로인산(TPP)</a:t>
                      </a:r>
                    </a:p>
                  </a:txBody>
                  <a:tcPr marL="73152" marR="73152">
                    <a:solidFill>
                      <a:srgbClr val="FFFFFF"/>
                    </a:solidFill>
                  </a:tcPr>
                </a:tc>
                <a:tc>
                  <a:txBody>
                    <a:bodyPr/>
                    <a:lstStyle/>
                    <a:p>
                      <a:r>
                        <a:rPr sz="1500" b="0" i="0">
                          <a:solidFill>
                            <a:srgbClr val="11202B"/>
                          </a:solidFill>
                          <a:latin typeface="Malgun Gothic"/>
                          <a:ea typeface="Malgun Gothic"/>
                          <a:cs typeface="Malgun Gothic"/>
                        </a:rPr>
                        <a:t>B1(티아민)</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E2 다이하이드로리포일 전아세틸효소</a:t>
                      </a:r>
                    </a:p>
                  </a:txBody>
                  <a:tcPr marL="73152" marR="73152">
                    <a:solidFill>
                      <a:srgbClr val="ECF1F5"/>
                    </a:solidFill>
                  </a:tcPr>
                </a:tc>
                <a:tc>
                  <a:txBody>
                    <a:bodyPr/>
                    <a:lstStyle/>
                    <a:p>
                      <a:r>
                        <a:rPr sz="1500" b="0" i="0">
                          <a:solidFill>
                            <a:srgbClr val="11202B"/>
                          </a:solidFill>
                          <a:latin typeface="Malgun Gothic"/>
                          <a:ea typeface="Malgun Gothic"/>
                          <a:cs typeface="Malgun Gothic"/>
                        </a:rPr>
                        <a:t>리포산, CoA</a:t>
                      </a:r>
                    </a:p>
                  </a:txBody>
                  <a:tcPr marL="73152" marR="73152">
                    <a:solidFill>
                      <a:srgbClr val="ECF1F5"/>
                    </a:solidFill>
                  </a:tcPr>
                </a:tc>
                <a:tc>
                  <a:txBody>
                    <a:bodyPr/>
                    <a:lstStyle/>
                    <a:p>
                      <a:r>
                        <a:rPr sz="1500" b="0" i="0">
                          <a:solidFill>
                            <a:srgbClr val="11202B"/>
                          </a:solidFill>
                          <a:latin typeface="Malgun Gothic"/>
                          <a:ea typeface="Malgun Gothic"/>
                          <a:cs typeface="Malgun Gothic"/>
                        </a:rPr>
                        <a:t>리포산, B5(판토텐산)</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E3 다이하이드로리포일 탈수소효소</a:t>
                      </a:r>
                    </a:p>
                  </a:txBody>
                  <a:tcPr marL="73152" marR="73152">
                    <a:solidFill>
                      <a:srgbClr val="FFFFFF"/>
                    </a:solidFill>
                  </a:tcPr>
                </a:tc>
                <a:tc>
                  <a:txBody>
                    <a:bodyPr/>
                    <a:lstStyle/>
                    <a:p>
                      <a:r>
                        <a:rPr sz="1500" b="0" i="0">
                          <a:solidFill>
                            <a:srgbClr val="11202B"/>
                          </a:solidFill>
                          <a:latin typeface="Malgun Gothic"/>
                          <a:ea typeface="Malgun Gothic"/>
                          <a:cs typeface="Malgun Gothic"/>
                        </a:rPr>
                        <a:t>FAD, NAD⁺</a:t>
                      </a:r>
                    </a:p>
                  </a:txBody>
                  <a:tcPr marL="73152" marR="73152">
                    <a:solidFill>
                      <a:srgbClr val="FFFFFF"/>
                    </a:solidFill>
                  </a:tcPr>
                </a:tc>
                <a:tc>
                  <a:txBody>
                    <a:bodyPr/>
                    <a:lstStyle/>
                    <a:p>
                      <a:r>
                        <a:rPr sz="1500" b="0" i="0">
                          <a:solidFill>
                            <a:srgbClr val="11202B"/>
                          </a:solidFill>
                          <a:latin typeface="Malgun Gothic"/>
                          <a:ea typeface="Malgun Gothic"/>
                          <a:cs typeface="Malgun Gothic"/>
                        </a:rPr>
                        <a:t>B2(리보플라빈), B3(나이아신)</a:t>
                      </a:r>
                    </a:p>
                  </a:txBody>
                  <a:tcPr marL="73152" marR="7315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피루브산 탈수소효소 복합체(PDC)</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6</a:t>
            </a:r>
          </a:p>
        </p:txBody>
      </p:sp>
      <p:sp>
        <p:nvSpPr>
          <p:cNvPr id="7" name="Rectangle 6"/>
          <p:cNvSpPr/>
          <p:nvPr/>
        </p:nvSpPr>
        <p:spPr>
          <a:xfrm>
            <a:off x="640080" y="1325880"/>
            <a:ext cx="10881360" cy="244602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800" b="1" i="0">
                <a:solidFill>
                  <a:srgbClr val="003C71"/>
                </a:solidFill>
                <a:latin typeface="Malgun Gothic"/>
                <a:ea typeface="Malgun Gothic"/>
                <a:cs typeface="Malgun Gothic"/>
              </a:rPr>
              <a:t>임상 연계  </a:t>
            </a:r>
            <a:r>
              <a:rPr sz="1800" b="0" i="0">
                <a:solidFill>
                  <a:srgbClr val="11202B"/>
                </a:solidFill>
                <a:latin typeface="Malgun Gothic"/>
                <a:ea typeface="Malgun Gothic"/>
                <a:cs typeface="Malgun Gothic"/>
              </a:rPr>
              <a:t>PDH 결핍증(대부분 X연관 PDHA1)은 선천성 젖산산증, 발달지연, Leigh 증후군을 일으킨다. 탄수화물이 많으면 젖산이 악화되므로 </a:t>
            </a:r>
            <a:r>
              <a:rPr sz="1800" b="1" i="0">
                <a:solidFill>
                  <a:srgbClr val="11202B"/>
                </a:solidFill>
                <a:latin typeface="Malgun Gothic"/>
                <a:ea typeface="Malgun Gothic"/>
                <a:cs typeface="Malgun Gothic"/>
              </a:rPr>
              <a:t>케톤생성식이</a:t>
            </a:r>
            <a:r>
              <a:rPr sz="1800" b="0" i="0">
                <a:solidFill>
                  <a:srgbClr val="11202B"/>
                </a:solidFill>
                <a:latin typeface="Malgun Gothic"/>
                <a:ea typeface="Malgun Gothic"/>
                <a:cs typeface="Malgun Gothic"/>
              </a:rPr>
              <a:t>로 아세틸-CoA를 직접 공급하고, 일부는 티아민 반응성이 있다. 디클로로아세트산(DCA)은 PDK를 억제해 PDH를 활성 상태로 유지한다. 알코올 사용장애·영양실조에서 티아민 결핍은 PDH와 α-KGDH를 동시에 떨어뜨려 베르니케 뇌병증과 젖산산증을 일으키며, </a:t>
            </a:r>
            <a:r>
              <a:rPr sz="1800" b="1" i="0">
                <a:solidFill>
                  <a:srgbClr val="11202B"/>
                </a:solidFill>
                <a:latin typeface="Malgun Gothic"/>
                <a:ea typeface="Malgun Gothic"/>
                <a:cs typeface="Malgun Gothic"/>
              </a:rPr>
              <a:t>포도당보다 티아민을 먼저</a:t>
            </a:r>
            <a:r>
              <a:rPr sz="1800" b="0" i="0">
                <a:solidFill>
                  <a:srgbClr val="11202B"/>
                </a:solidFill>
                <a:latin typeface="Malgun Gothic"/>
                <a:ea typeface="Malgun Gothic"/>
                <a:cs typeface="Malgun Gothic"/>
              </a:rPr>
              <a:t> 투여해야 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TCA 회로의 반응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① 시트르산 합성효소: 아세틸-CoA + 옥살로아세트산(OAA) → 시트르산. 숙시닐-CoA·ATP·시트르산이 억제.</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② 아코니타아제: 시트르산 ⇌ 아이소시트르산 (Fe–S 클러스터; </a:t>
            </a:r>
            <a:r>
              <a:rPr sz="1800" b="1" i="0">
                <a:solidFill>
                  <a:srgbClr val="11202B"/>
                </a:solidFill>
                <a:latin typeface="Malgun Gothic"/>
                <a:ea typeface="Malgun Gothic"/>
                <a:cs typeface="Malgun Gothic"/>
              </a:rPr>
              <a:t>플루오로아세트산</a:t>
            </a:r>
            <a:r>
              <a:rPr sz="1800" b="0" i="0">
                <a:solidFill>
                  <a:srgbClr val="11202B"/>
                </a:solidFill>
                <a:latin typeface="Malgun Gothic"/>
                <a:ea typeface="Malgun Gothic"/>
                <a:cs typeface="Malgun Gothic"/>
              </a:rPr>
              <a:t> → 플루오로시트르산이 억제).</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③ </a:t>
            </a:r>
            <a:r>
              <a:rPr sz="1800" b="1" i="0">
                <a:solidFill>
                  <a:srgbClr val="11202B"/>
                </a:solidFill>
                <a:latin typeface="Malgun Gothic"/>
                <a:ea typeface="Malgun Gothic"/>
                <a:cs typeface="Malgun Gothic"/>
              </a:rPr>
              <a:t>아이소시트르산 탈수소효소(IDH3)</a:t>
            </a:r>
            <a:r>
              <a:rPr sz="1800" b="0" i="0">
                <a:solidFill>
                  <a:srgbClr val="11202B"/>
                </a:solidFill>
                <a:latin typeface="Malgun Gothic"/>
                <a:ea typeface="Malgun Gothic"/>
                <a:cs typeface="Malgun Gothic"/>
              </a:rPr>
              <a:t>: → α-케토글루타르산 + CO₂ + NADH. ADP·Ca²⁺ 활성화, ATP·NADH 억제. 주된 속도결정 단계.</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④ </a:t>
            </a:r>
            <a:r>
              <a:rPr sz="1800" b="1" i="0">
                <a:solidFill>
                  <a:srgbClr val="11202B"/>
                </a:solidFill>
                <a:latin typeface="Malgun Gothic"/>
                <a:ea typeface="Malgun Gothic"/>
                <a:cs typeface="Malgun Gothic"/>
              </a:rPr>
              <a:t>α-케토글루타르산 탈수소효소(α-KGDH)</a:t>
            </a:r>
            <a:r>
              <a:rPr sz="1800" b="0" i="0">
                <a:solidFill>
                  <a:srgbClr val="11202B"/>
                </a:solidFill>
                <a:latin typeface="Malgun Gothic"/>
                <a:ea typeface="Malgun Gothic"/>
                <a:cs typeface="Malgun Gothic"/>
              </a:rPr>
              <a:t>: → 숙시닐-CoA + CO₂ + NADH (TPP, 리포산, CoA, FAD, NAD⁺). 비소가 억제.</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⑤ 숙시닐-CoA 합성효소: → 숙신산 + GTP(또는 ATP) (기질 수준 인산화).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TCA 회로의 반응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⑥ </a:t>
            </a:r>
            <a:r>
              <a:rPr sz="2200" b="1" i="0">
                <a:solidFill>
                  <a:srgbClr val="11202B"/>
                </a:solidFill>
                <a:latin typeface="Malgun Gothic"/>
                <a:ea typeface="Malgun Gothic"/>
                <a:cs typeface="Malgun Gothic"/>
              </a:rPr>
              <a:t>숙신산 탈수소효소(복합체 II)</a:t>
            </a:r>
            <a:r>
              <a:rPr sz="2200" b="0" i="0">
                <a:solidFill>
                  <a:srgbClr val="11202B"/>
                </a:solidFill>
                <a:latin typeface="Malgun Gothic"/>
                <a:ea typeface="Malgun Gothic"/>
                <a:cs typeface="Malgun Gothic"/>
              </a:rPr>
              <a:t>: → 푸마르산 + FADH₂ (내막 결합; 말론산 경쟁 억제).</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⑦ 푸마라아제: → 말산.</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⑧ 말산 탈수소효소: → OAA + NADH (ΔG°' 양수, OAA의 빠른 소비가 반응을 끌어감).</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TCA 회로의 반응</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9</a:t>
            </a:r>
          </a:p>
        </p:txBody>
      </p:sp>
      <p:sp>
        <p:nvSpPr>
          <p:cNvPr id="7" name="Rectangle 6"/>
          <p:cNvSpPr/>
          <p:nvPr/>
        </p:nvSpPr>
        <p:spPr>
          <a:xfrm>
            <a:off x="640080" y="1325880"/>
            <a:ext cx="10881360" cy="1562100"/>
          </a:xfrm>
          <a:prstGeom prst="rect">
            <a:avLst/>
          </a:prstGeom>
          <a:solidFill>
            <a:srgbClr val="FFF5D6"/>
          </a:solidFill>
          <a:ln>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9A6B00"/>
                </a:solidFill>
                <a:latin typeface="Malgun Gothic"/>
                <a:ea typeface="Malgun Gothic"/>
                <a:cs typeface="Malgun Gothic"/>
              </a:rPr>
              <a:t>핵심  </a:t>
            </a:r>
            <a:r>
              <a:rPr sz="2000" b="0" i="0">
                <a:solidFill>
                  <a:srgbClr val="11202B"/>
                </a:solidFill>
                <a:latin typeface="Malgun Gothic"/>
                <a:ea typeface="Malgun Gothic"/>
                <a:cs typeface="Malgun Gothic"/>
              </a:rPr>
              <a:t>아세틸-CoA 1회전 산물: NADH 3, FADH₂ 1, GTP 1, CO₂ 2 → 약 10 ATP. 회로는 NAD⁺/NADH 비, ADP, Ca²⁺로 조절되어 ATP 수요에 맞춰 회전한다.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보충반응과 TCA 중간산물의 생합성 이용</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유출(cataplerosis)</a:t>
            </a:r>
            <a:r>
              <a:rPr sz="2200" b="0" i="0">
                <a:solidFill>
                  <a:srgbClr val="11202B"/>
                </a:solidFill>
                <a:latin typeface="Malgun Gothic"/>
                <a:ea typeface="Malgun Gothic"/>
                <a:cs typeface="Malgun Gothic"/>
              </a:rPr>
              <a:t>: 시트르산 → 세포질 아세틸-CoA(지방산·콜레스테롤 합성), α-KG → 글루탐산·글루타민, 숙시닐-CoA → 헴, OAA → 아스파르트산·PEP(포도당신생).</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보충(anaplerosis)</a:t>
            </a:r>
            <a:r>
              <a:rPr sz="2200" b="0" i="0">
                <a:solidFill>
                  <a:srgbClr val="11202B"/>
                </a:solidFill>
                <a:latin typeface="Malgun Gothic"/>
                <a:ea typeface="Malgun Gothic"/>
                <a:cs typeface="Malgun Gothic"/>
              </a:rPr>
              <a:t>: 피루브산 카복실화효소(피루브산 → OAA), 글루탐산 → α-KG(글루타민 분해; 암세포), 프로피오닐-CoA → 숙시닐-CoA, 아스파르트산 → 푸마르산(요소회로·퓨린 합성 경유).</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보충반응과 TCA 중간산물의 생합성 이용</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11</a:t>
            </a:r>
          </a:p>
        </p:txBody>
      </p:sp>
      <p:sp>
        <p:nvSpPr>
          <p:cNvPr id="7" name="Rectangle 6"/>
          <p:cNvSpPr/>
          <p:nvPr/>
        </p:nvSpPr>
        <p:spPr>
          <a:xfrm>
            <a:off x="640080" y="1325880"/>
            <a:ext cx="10881360" cy="22987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피루브산 카복실화효소 결핍증은 OAA 부족으로 TCA 회로와 포도당신생이 동시에 실패해 젖산산증·저혈당·고암모니아혈증(아스파르트산 부족으로 요소회로 저하)을 일으킨다. 홀수 탄소 중성지방인 </a:t>
            </a:r>
            <a:r>
              <a:rPr sz="2000" b="1" i="0">
                <a:solidFill>
                  <a:srgbClr val="11202B"/>
                </a:solidFill>
                <a:latin typeface="Malgun Gothic"/>
                <a:ea typeface="Malgun Gothic"/>
                <a:cs typeface="Malgun Gothic"/>
              </a:rPr>
              <a:t>트라이헵타노인</a:t>
            </a:r>
            <a:r>
              <a:rPr sz="2000" b="0" i="0">
                <a:solidFill>
                  <a:srgbClr val="11202B"/>
                </a:solidFill>
                <a:latin typeface="Malgun Gothic"/>
                <a:ea typeface="Malgun Gothic"/>
                <a:cs typeface="Malgun Gothic"/>
              </a:rPr>
              <a:t>은 프로피오닐-CoA로 보충반응을 제공하는 치료제로 장쇄 지방산 산화장애에 승인되었다.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전자전달사슬의 구조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복합체 II 외에도 전자전달 플라보단백(ETF; 지방산 β-산화), 글리세롤-3-인산 탈수소효소, 다이하이드로오로트산 탈수소효소(피리미딘 합성)가 CoQ에 전자를 넘긴다 → CoQ는 '전자 합류점'.</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복합체 I·III·IV는 초복합체(respirasome)를 형성해 효율을 높이고 활성산소 누출을 줄인다.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전자전달사슬의 구조</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13</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500" b="1" i="0">
                          <a:solidFill>
                            <a:srgbClr val="FFFFFF"/>
                          </a:solidFill>
                          <a:latin typeface="Malgun Gothic"/>
                          <a:ea typeface="Malgun Gothic"/>
                          <a:cs typeface="Malgun Gothic"/>
                        </a:rPr>
                        <a:t>복합체</a:t>
                      </a:r>
                    </a:p>
                  </a:txBody>
                  <a:tcPr marL="73152" marR="73152">
                    <a:solidFill>
                      <a:srgbClr val="003C71"/>
                    </a:solidFill>
                  </a:tcPr>
                </a:tc>
                <a:tc>
                  <a:txBody>
                    <a:bodyPr/>
                    <a:lstStyle/>
                    <a:p>
                      <a:r>
                        <a:rPr sz="1500" b="1" i="0">
                          <a:solidFill>
                            <a:srgbClr val="FFFFFF"/>
                          </a:solidFill>
                          <a:latin typeface="Malgun Gothic"/>
                          <a:ea typeface="Malgun Gothic"/>
                          <a:cs typeface="Malgun Gothic"/>
                        </a:rPr>
                        <a:t>이름</a:t>
                      </a:r>
                    </a:p>
                  </a:txBody>
                  <a:tcPr marL="73152" marR="73152">
                    <a:solidFill>
                      <a:srgbClr val="003C71"/>
                    </a:solidFill>
                  </a:tcPr>
                </a:tc>
                <a:tc>
                  <a:txBody>
                    <a:bodyPr/>
                    <a:lstStyle/>
                    <a:p>
                      <a:r>
                        <a:rPr sz="1500" b="1" i="0">
                          <a:solidFill>
                            <a:srgbClr val="FFFFFF"/>
                          </a:solidFill>
                          <a:latin typeface="Malgun Gothic"/>
                          <a:ea typeface="Malgun Gothic"/>
                          <a:cs typeface="Malgun Gothic"/>
                        </a:rPr>
                        <a:t>전자 경로</a:t>
                      </a:r>
                    </a:p>
                  </a:txBody>
                  <a:tcPr marL="73152" marR="73152">
                    <a:solidFill>
                      <a:srgbClr val="003C71"/>
                    </a:solidFill>
                  </a:tcPr>
                </a:tc>
                <a:tc>
                  <a:txBody>
                    <a:bodyPr/>
                    <a:lstStyle/>
                    <a:p>
                      <a:r>
                        <a:rPr sz="1500" b="1" i="0">
                          <a:solidFill>
                            <a:srgbClr val="FFFFFF"/>
                          </a:solidFill>
                          <a:latin typeface="Malgun Gothic"/>
                          <a:ea typeface="Malgun Gothic"/>
                          <a:cs typeface="Malgun Gothic"/>
                        </a:rPr>
                        <a:t>펌프 H⁺</a:t>
                      </a:r>
                    </a:p>
                  </a:txBody>
                  <a:tcPr marL="73152" marR="73152">
                    <a:solidFill>
                      <a:srgbClr val="003C71"/>
                    </a:solidFill>
                  </a:tcPr>
                </a:tc>
                <a:tc>
                  <a:txBody>
                    <a:bodyPr/>
                    <a:lstStyle/>
                    <a:p>
                      <a:r>
                        <a:rPr sz="1500" b="1" i="0">
                          <a:solidFill>
                            <a:srgbClr val="FFFFFF"/>
                          </a:solidFill>
                          <a:latin typeface="Malgun Gothic"/>
                          <a:ea typeface="Malgun Gothic"/>
                          <a:cs typeface="Malgun Gothic"/>
                        </a:rPr>
                        <a:t>억제제</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I</a:t>
                      </a:r>
                    </a:p>
                  </a:txBody>
                  <a:tcPr marL="73152" marR="73152">
                    <a:solidFill>
                      <a:srgbClr val="FFFFFF"/>
                    </a:solidFill>
                  </a:tcPr>
                </a:tc>
                <a:tc>
                  <a:txBody>
                    <a:bodyPr/>
                    <a:lstStyle/>
                    <a:p>
                      <a:r>
                        <a:rPr sz="1500" b="0" i="0">
                          <a:solidFill>
                            <a:srgbClr val="11202B"/>
                          </a:solidFill>
                          <a:latin typeface="Malgun Gothic"/>
                          <a:ea typeface="Malgun Gothic"/>
                          <a:cs typeface="Malgun Gothic"/>
                        </a:rPr>
                        <a:t>NADH:유비퀴논 산화환원효소</a:t>
                      </a:r>
                    </a:p>
                  </a:txBody>
                  <a:tcPr marL="73152" marR="73152">
                    <a:solidFill>
                      <a:srgbClr val="FFFFFF"/>
                    </a:solidFill>
                  </a:tcPr>
                </a:tc>
                <a:tc>
                  <a:txBody>
                    <a:bodyPr/>
                    <a:lstStyle/>
                    <a:p>
                      <a:r>
                        <a:rPr sz="1500" b="0" i="0">
                          <a:solidFill>
                            <a:srgbClr val="11202B"/>
                          </a:solidFill>
                          <a:latin typeface="Malgun Gothic"/>
                          <a:ea typeface="Malgun Gothic"/>
                          <a:cs typeface="Malgun Gothic"/>
                        </a:rPr>
                        <a:t>NADH → FMN → Fe–S → CoQ</a:t>
                      </a:r>
                    </a:p>
                  </a:txBody>
                  <a:tcPr marL="73152" marR="73152">
                    <a:solidFill>
                      <a:srgbClr val="FFFFFF"/>
                    </a:solidFill>
                  </a:tcPr>
                </a:tc>
                <a:tc>
                  <a:txBody>
                    <a:bodyPr/>
                    <a:lstStyle/>
                    <a:p>
                      <a:r>
                        <a:rPr sz="1500" b="0" i="0">
                          <a:solidFill>
                            <a:srgbClr val="11202B"/>
                          </a:solidFill>
                          <a:latin typeface="Malgun Gothic"/>
                          <a:ea typeface="Malgun Gothic"/>
                          <a:cs typeface="Malgun Gothic"/>
                        </a:rPr>
                        <a:t>4</a:t>
                      </a:r>
                    </a:p>
                  </a:txBody>
                  <a:tcPr marL="73152" marR="73152">
                    <a:solidFill>
                      <a:srgbClr val="FFFFFF"/>
                    </a:solidFill>
                  </a:tcPr>
                </a:tc>
                <a:tc>
                  <a:txBody>
                    <a:bodyPr/>
                    <a:lstStyle/>
                    <a:p>
                      <a:r>
                        <a:rPr sz="1500" b="0" i="0">
                          <a:solidFill>
                            <a:srgbClr val="11202B"/>
                          </a:solidFill>
                          <a:latin typeface="Malgun Gothic"/>
                          <a:ea typeface="Malgun Gothic"/>
                          <a:cs typeface="Malgun Gothic"/>
                        </a:rPr>
                        <a:t>로테논, 피에리시딘, 메트포르민(약함), MPP⁺</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II</a:t>
                      </a:r>
                    </a:p>
                  </a:txBody>
                  <a:tcPr marL="73152" marR="73152">
                    <a:solidFill>
                      <a:srgbClr val="ECF1F5"/>
                    </a:solidFill>
                  </a:tcPr>
                </a:tc>
                <a:tc>
                  <a:txBody>
                    <a:bodyPr/>
                    <a:lstStyle/>
                    <a:p>
                      <a:r>
                        <a:rPr sz="1500" b="0" i="0">
                          <a:solidFill>
                            <a:srgbClr val="11202B"/>
                          </a:solidFill>
                          <a:latin typeface="Malgun Gothic"/>
                          <a:ea typeface="Malgun Gothic"/>
                          <a:cs typeface="Malgun Gothic"/>
                        </a:rPr>
                        <a:t>숙신산 탈수소효소</a:t>
                      </a:r>
                    </a:p>
                  </a:txBody>
                  <a:tcPr marL="73152" marR="73152">
                    <a:solidFill>
                      <a:srgbClr val="ECF1F5"/>
                    </a:solidFill>
                  </a:tcPr>
                </a:tc>
                <a:tc>
                  <a:txBody>
                    <a:bodyPr/>
                    <a:lstStyle/>
                    <a:p>
                      <a:r>
                        <a:rPr sz="1500" b="0" i="0">
                          <a:solidFill>
                            <a:srgbClr val="11202B"/>
                          </a:solidFill>
                          <a:latin typeface="Malgun Gothic"/>
                          <a:ea typeface="Malgun Gothic"/>
                          <a:cs typeface="Malgun Gothic"/>
                        </a:rPr>
                        <a:t>숙신산 → FAD → Fe–S → CoQ</a:t>
                      </a:r>
                    </a:p>
                  </a:txBody>
                  <a:tcPr marL="73152" marR="73152">
                    <a:solidFill>
                      <a:srgbClr val="ECF1F5"/>
                    </a:solidFill>
                  </a:tcPr>
                </a:tc>
                <a:tc>
                  <a:txBody>
                    <a:bodyPr/>
                    <a:lstStyle/>
                    <a:p>
                      <a:r>
                        <a:rPr sz="1500" b="0" i="0">
                          <a:solidFill>
                            <a:srgbClr val="11202B"/>
                          </a:solidFill>
                          <a:latin typeface="Malgun Gothic"/>
                          <a:ea typeface="Malgun Gothic"/>
                          <a:cs typeface="Malgun Gothic"/>
                        </a:rPr>
                        <a:t>0</a:t>
                      </a:r>
                    </a:p>
                  </a:txBody>
                  <a:tcPr marL="73152" marR="73152">
                    <a:solidFill>
                      <a:srgbClr val="ECF1F5"/>
                    </a:solidFill>
                  </a:tcPr>
                </a:tc>
                <a:tc>
                  <a:txBody>
                    <a:bodyPr/>
                    <a:lstStyle/>
                    <a:p>
                      <a:r>
                        <a:rPr sz="1500" b="0" i="0">
                          <a:solidFill>
                            <a:srgbClr val="11202B"/>
                          </a:solidFill>
                          <a:latin typeface="Malgun Gothic"/>
                          <a:ea typeface="Malgun Gothic"/>
                          <a:cs typeface="Malgun Gothic"/>
                        </a:rPr>
                        <a:t>말론산, 3-나이트로프로피온산</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III</a:t>
                      </a:r>
                    </a:p>
                  </a:txBody>
                  <a:tcPr marL="73152" marR="73152">
                    <a:solidFill>
                      <a:srgbClr val="FFFFFF"/>
                    </a:solidFill>
                  </a:tcPr>
                </a:tc>
                <a:tc>
                  <a:txBody>
                    <a:bodyPr/>
                    <a:lstStyle/>
                    <a:p>
                      <a:r>
                        <a:rPr sz="1500" b="0" i="0">
                          <a:solidFill>
                            <a:srgbClr val="11202B"/>
                          </a:solidFill>
                          <a:latin typeface="Malgun Gothic"/>
                          <a:ea typeface="Malgun Gothic"/>
                          <a:cs typeface="Malgun Gothic"/>
                        </a:rPr>
                        <a:t>사이토크롬 bc₁</a:t>
                      </a:r>
                    </a:p>
                  </a:txBody>
                  <a:tcPr marL="73152" marR="73152">
                    <a:solidFill>
                      <a:srgbClr val="FFFFFF"/>
                    </a:solidFill>
                  </a:tcPr>
                </a:tc>
                <a:tc>
                  <a:txBody>
                    <a:bodyPr/>
                    <a:lstStyle/>
                    <a:p>
                      <a:r>
                        <a:rPr sz="1500" b="0" i="0">
                          <a:solidFill>
                            <a:srgbClr val="11202B"/>
                          </a:solidFill>
                          <a:latin typeface="Malgun Gothic"/>
                          <a:ea typeface="Malgun Gothic"/>
                          <a:cs typeface="Malgun Gothic"/>
                        </a:rPr>
                        <a:t>CoQH₂ → 사이토크롬 c (Q 회로)</a:t>
                      </a:r>
                    </a:p>
                  </a:txBody>
                  <a:tcPr marL="73152" marR="73152">
                    <a:solidFill>
                      <a:srgbClr val="FFFFFF"/>
                    </a:solidFill>
                  </a:tcPr>
                </a:tc>
                <a:tc>
                  <a:txBody>
                    <a:bodyPr/>
                    <a:lstStyle/>
                    <a:p>
                      <a:r>
                        <a:rPr sz="1500" b="0" i="0">
                          <a:solidFill>
                            <a:srgbClr val="11202B"/>
                          </a:solidFill>
                          <a:latin typeface="Malgun Gothic"/>
                          <a:ea typeface="Malgun Gothic"/>
                          <a:cs typeface="Malgun Gothic"/>
                        </a:rPr>
                        <a:t>4 (2 펌프 + Q 회로)</a:t>
                      </a:r>
                    </a:p>
                  </a:txBody>
                  <a:tcPr marL="73152" marR="73152">
                    <a:solidFill>
                      <a:srgbClr val="FFFFFF"/>
                    </a:solidFill>
                  </a:tcPr>
                </a:tc>
                <a:tc>
                  <a:txBody>
                    <a:bodyPr/>
                    <a:lstStyle/>
                    <a:p>
                      <a:r>
                        <a:rPr sz="1500" b="0" i="0">
                          <a:solidFill>
                            <a:srgbClr val="11202B"/>
                          </a:solidFill>
                          <a:latin typeface="Malgun Gothic"/>
                          <a:ea typeface="Malgun Gothic"/>
                          <a:cs typeface="Malgun Gothic"/>
                        </a:rPr>
                        <a:t>안티마이신 A, 미식소티아졸</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IV</a:t>
                      </a:r>
                    </a:p>
                  </a:txBody>
                  <a:tcPr marL="73152" marR="73152">
                    <a:solidFill>
                      <a:srgbClr val="ECF1F5"/>
                    </a:solidFill>
                  </a:tcPr>
                </a:tc>
                <a:tc>
                  <a:txBody>
                    <a:bodyPr/>
                    <a:lstStyle/>
                    <a:p>
                      <a:r>
                        <a:rPr sz="1500" b="0" i="0">
                          <a:solidFill>
                            <a:srgbClr val="11202B"/>
                          </a:solidFill>
                          <a:latin typeface="Malgun Gothic"/>
                          <a:ea typeface="Malgun Gothic"/>
                          <a:cs typeface="Malgun Gothic"/>
                        </a:rPr>
                        <a:t>사이토크롬 c 산화효소</a:t>
                      </a:r>
                    </a:p>
                  </a:txBody>
                  <a:tcPr marL="73152" marR="73152">
                    <a:solidFill>
                      <a:srgbClr val="ECF1F5"/>
                    </a:solidFill>
                  </a:tcPr>
                </a:tc>
                <a:tc>
                  <a:txBody>
                    <a:bodyPr/>
                    <a:lstStyle/>
                    <a:p>
                      <a:r>
                        <a:rPr sz="1500" b="0" i="0">
                          <a:solidFill>
                            <a:srgbClr val="11202B"/>
                          </a:solidFill>
                          <a:latin typeface="Malgun Gothic"/>
                          <a:ea typeface="Malgun Gothic"/>
                          <a:cs typeface="Malgun Gothic"/>
                        </a:rPr>
                        <a:t>Cyt c → Cu_A → 헴 a/a₃–Cu_B → O₂</a:t>
                      </a:r>
                    </a:p>
                  </a:txBody>
                  <a:tcPr marL="73152" marR="73152">
                    <a:solidFill>
                      <a:srgbClr val="ECF1F5"/>
                    </a:solidFill>
                  </a:tcPr>
                </a:tc>
                <a:tc>
                  <a:txBody>
                    <a:bodyPr/>
                    <a:lstStyle/>
                    <a:p>
                      <a:r>
                        <a:rPr sz="1500" b="0" i="0">
                          <a:solidFill>
                            <a:srgbClr val="11202B"/>
                          </a:solidFill>
                          <a:latin typeface="Malgun Gothic"/>
                          <a:ea typeface="Malgun Gothic"/>
                          <a:cs typeface="Malgun Gothic"/>
                        </a:rPr>
                        <a:t>2 (+ 기질 H⁺ 4 소비)</a:t>
                      </a:r>
                    </a:p>
                  </a:txBody>
                  <a:tcPr marL="73152" marR="73152">
                    <a:solidFill>
                      <a:srgbClr val="ECF1F5"/>
                    </a:solidFill>
                  </a:tcPr>
                </a:tc>
                <a:tc>
                  <a:txBody>
                    <a:bodyPr/>
                    <a:lstStyle/>
                    <a:p>
                      <a:r>
                        <a:rPr sz="1500" b="1" i="0">
                          <a:solidFill>
                            <a:srgbClr val="11202B"/>
                          </a:solidFill>
                          <a:latin typeface="Malgun Gothic"/>
                          <a:ea typeface="Malgun Gothic"/>
                          <a:cs typeface="Malgun Gothic"/>
                        </a:rPr>
                        <a:t>시안화물, CO, 아자이드, H₂S</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V</a:t>
                      </a:r>
                    </a:p>
                  </a:txBody>
                  <a:tcPr marL="73152" marR="73152">
                    <a:solidFill>
                      <a:srgbClr val="FFFFFF"/>
                    </a:solidFill>
                  </a:tcPr>
                </a:tc>
                <a:tc>
                  <a:txBody>
                    <a:bodyPr/>
                    <a:lstStyle/>
                    <a:p>
                      <a:r>
                        <a:rPr sz="1500" b="0" i="0">
                          <a:solidFill>
                            <a:srgbClr val="11202B"/>
                          </a:solidFill>
                          <a:latin typeface="Malgun Gothic"/>
                          <a:ea typeface="Malgun Gothic"/>
                          <a:cs typeface="Malgun Gothic"/>
                        </a:rPr>
                        <a:t>ATP 합성효소(F₀F₁)</a:t>
                      </a:r>
                    </a:p>
                  </a:txBody>
                  <a:tcPr marL="73152" marR="73152">
                    <a:solidFill>
                      <a:srgbClr val="FFFFFF"/>
                    </a:solidFill>
                  </a:tcPr>
                </a:tc>
                <a:tc>
                  <a:txBody>
                    <a:bodyPr/>
                    <a:lstStyle/>
                    <a:p>
                      <a:r>
                        <a:rPr sz="1500" b="0" i="0">
                          <a:solidFill>
                            <a:srgbClr val="11202B"/>
                          </a:solidFill>
                          <a:latin typeface="Malgun Gothic"/>
                          <a:ea typeface="Malgun Gothic"/>
                          <a:cs typeface="Malgun Gothic"/>
                        </a:rPr>
                        <a:t>H⁺ 유입으로 ATP 합성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a:t>
                      </a:r>
                    </a:p>
                  </a:txBody>
                  <a:tcPr marL="73152" marR="73152">
                    <a:solidFill>
                      <a:srgbClr val="FFFFFF"/>
                    </a:solidFill>
                  </a:tcPr>
                </a:tc>
                <a:tc>
                  <a:txBody>
                    <a:bodyPr/>
                    <a:lstStyle/>
                    <a:p>
                      <a:r>
                        <a:rPr sz="1500" b="0" i="0">
                          <a:solidFill>
                            <a:srgbClr val="11202B"/>
                          </a:solidFill>
                          <a:latin typeface="Malgun Gothic"/>
                          <a:ea typeface="Malgun Gothic"/>
                          <a:cs typeface="Malgun Gothic"/>
                        </a:rPr>
                        <a:t>올리고마이신</a:t>
                      </a:r>
                    </a:p>
                  </a:txBody>
                  <a:tcPr marL="73152" marR="73152">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화학삼투와 ATP 합성효소</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F₀ 회전자(c-링)를 통한 H⁺ 유입 → γ축 회전 → F₁의 3개 β소단위가 순차적으로 느슨함(L)–단단함(T)–열림(O) 형태 전환(Boyer의 결합 변화 기전) → 1회전당 ATP 3.</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포유류 c-링은 8개 소단위 → ATP 1분자당 H⁺ 약 2.7 + ADP/Pi 수송 1 → </a:t>
            </a:r>
            <a:r>
              <a:rPr sz="1800" b="1" i="0">
                <a:solidFill>
                  <a:srgbClr val="11202B"/>
                </a:solidFill>
                <a:latin typeface="Malgun Gothic"/>
                <a:ea typeface="Malgun Gothic"/>
                <a:cs typeface="Malgun Gothic"/>
              </a:rPr>
              <a:t>약 3.7 H⁺/ATP</a:t>
            </a:r>
            <a:r>
              <a:rPr sz="1800" b="0" i="0">
                <a:solidFill>
                  <a:srgbClr val="11202B"/>
                </a:solidFill>
                <a:latin typeface="Malgun Gothic"/>
                <a:ea typeface="Malgun Gothic"/>
                <a:cs typeface="Malgun Gothic"/>
              </a:rPr>
              <a:t>.</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아데닌 뉴클레오타이드 전위효소(ANT)는 ADP 유입·ATP 유출(전기적 비대칭, Δψ 이용), 인산 운반체는 H⁺ 공동수송. </a:t>
            </a:r>
            <a:r>
              <a:rPr sz="1800" b="1" i="0">
                <a:solidFill>
                  <a:srgbClr val="11202B"/>
                </a:solidFill>
                <a:latin typeface="Malgun Gothic"/>
                <a:ea typeface="Malgun Gothic"/>
                <a:cs typeface="Malgun Gothic"/>
              </a:rPr>
              <a:t>보그크레킥산·아트락틸로사이드</a:t>
            </a:r>
            <a:r>
              <a:rPr sz="1800" b="0" i="0">
                <a:solidFill>
                  <a:srgbClr val="11202B"/>
                </a:solidFill>
                <a:latin typeface="Malgun Gothic"/>
                <a:ea typeface="Malgun Gothic"/>
                <a:cs typeface="Malgun Gothic"/>
              </a:rPr>
              <a:t>가 ANT를 억제.</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P/O 비</a:t>
            </a:r>
            <a:r>
              <a:rPr sz="1800" b="0" i="0">
                <a:solidFill>
                  <a:srgbClr val="11202B"/>
                </a:solidFill>
                <a:latin typeface="Malgun Gothic"/>
                <a:ea typeface="Malgun Gothic"/>
                <a:cs typeface="Malgun Gothic"/>
              </a:rPr>
              <a:t>: NADH → 10 H⁺ → 약 2.5 ATP, FADH₂(CoQ 진입) → 6 H⁺ → 약 1.5 ATP.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탈공역, 열생성, 중독</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에너지가 열로 방출되는 탈공역은 산소 소비를 늘리면서 ATP 생산은 줄인다.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악성고열증(RYR1)은 근소포체 Ca²⁺ 누출로 ATP 소비·열생산이 폭증하는 상태로, 단트롤렌이 치료제다(탈공역과 감별).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탈공역, 열생성, 중독</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16</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작용제</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500" b="1" i="0">
                          <a:solidFill>
                            <a:srgbClr val="FFFFFF"/>
                          </a:solidFill>
                          <a:latin typeface="Malgun Gothic"/>
                          <a:ea typeface="Malgun Gothic"/>
                          <a:cs typeface="Malgun Gothic"/>
                        </a:rPr>
                        <a:t>임상</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2,4-다이나이트로페놀(DNP)</a:t>
                      </a:r>
                    </a:p>
                  </a:txBody>
                  <a:tcPr marL="73152" marR="73152">
                    <a:solidFill>
                      <a:srgbClr val="FFFFFF"/>
                    </a:solidFill>
                  </a:tcPr>
                </a:tc>
                <a:tc>
                  <a:txBody>
                    <a:bodyPr/>
                    <a:lstStyle/>
                    <a:p>
                      <a:r>
                        <a:rPr sz="1500" b="0" i="0">
                          <a:solidFill>
                            <a:srgbClr val="11202B"/>
                          </a:solidFill>
                          <a:latin typeface="Malgun Gothic"/>
                          <a:ea typeface="Malgun Gothic"/>
                          <a:cs typeface="Malgun Gothic"/>
                        </a:rPr>
                        <a:t>막을 가로지르는 H⁺ 운반체(프로토노포어)</a:t>
                      </a:r>
                    </a:p>
                  </a:txBody>
                  <a:tcPr marL="73152" marR="73152">
                    <a:solidFill>
                      <a:srgbClr val="FFFFFF"/>
                    </a:solidFill>
                  </a:tcPr>
                </a:tc>
                <a:tc>
                  <a:txBody>
                    <a:bodyPr/>
                    <a:lstStyle/>
                    <a:p>
                      <a:r>
                        <a:rPr sz="1500" b="0" i="0">
                          <a:solidFill>
                            <a:srgbClr val="11202B"/>
                          </a:solidFill>
                          <a:latin typeface="Malgun Gothic"/>
                          <a:ea typeface="Malgun Gothic"/>
                          <a:cs typeface="Malgun Gothic"/>
                        </a:rPr>
                        <a:t>체중감량 보조제로 불법 유통 → 고열·사망</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아스피린 대량</a:t>
                      </a:r>
                    </a:p>
                  </a:txBody>
                  <a:tcPr marL="73152" marR="73152">
                    <a:solidFill>
                      <a:srgbClr val="ECF1F5"/>
                    </a:solidFill>
                  </a:tcPr>
                </a:tc>
                <a:tc>
                  <a:txBody>
                    <a:bodyPr/>
                    <a:lstStyle/>
                    <a:p>
                      <a:r>
                        <a:rPr sz="1500" b="0" i="0">
                          <a:solidFill>
                            <a:srgbClr val="11202B"/>
                          </a:solidFill>
                          <a:latin typeface="Malgun Gothic"/>
                          <a:ea typeface="Malgun Gothic"/>
                          <a:cs typeface="Malgun Gothic"/>
                        </a:rPr>
                        <a:t>탈공역 + 젖산·케톤 증가</a:t>
                      </a:r>
                    </a:p>
                  </a:txBody>
                  <a:tcPr marL="73152" marR="73152">
                    <a:solidFill>
                      <a:srgbClr val="ECF1F5"/>
                    </a:solidFill>
                  </a:tcPr>
                </a:tc>
                <a:tc>
                  <a:txBody>
                    <a:bodyPr/>
                    <a:lstStyle/>
                    <a:p>
                      <a:r>
                        <a:rPr sz="1500" b="0" i="0">
                          <a:solidFill>
                            <a:srgbClr val="11202B"/>
                          </a:solidFill>
                          <a:latin typeface="Malgun Gothic"/>
                          <a:ea typeface="Malgun Gothic"/>
                          <a:cs typeface="Malgun Gothic"/>
                        </a:rPr>
                        <a:t>살리실산 중독: 고열, 호흡성 알칼리증 → 대사산증</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UCP1(thermogenin)</a:t>
                      </a:r>
                    </a:p>
                  </a:txBody>
                  <a:tcPr marL="73152" marR="73152">
                    <a:solidFill>
                      <a:srgbClr val="FFFFFF"/>
                    </a:solidFill>
                  </a:tcPr>
                </a:tc>
                <a:tc>
                  <a:txBody>
                    <a:bodyPr/>
                    <a:lstStyle/>
                    <a:p>
                      <a:r>
                        <a:rPr sz="1500" b="0" i="0">
                          <a:solidFill>
                            <a:srgbClr val="11202B"/>
                          </a:solidFill>
                          <a:latin typeface="Malgun Gothic"/>
                          <a:ea typeface="Malgun Gothic"/>
                          <a:cs typeface="Malgun Gothic"/>
                        </a:rPr>
                        <a:t>갈색지방에서 지방산 의존 H⁺ 누출</a:t>
                      </a:r>
                    </a:p>
                  </a:txBody>
                  <a:tcPr marL="73152" marR="73152">
                    <a:solidFill>
                      <a:srgbClr val="FFFFFF"/>
                    </a:solidFill>
                  </a:tcPr>
                </a:tc>
                <a:tc>
                  <a:txBody>
                    <a:bodyPr/>
                    <a:lstStyle/>
                    <a:p>
                      <a:r>
                        <a:rPr sz="1500" b="0" i="0">
                          <a:solidFill>
                            <a:srgbClr val="11202B"/>
                          </a:solidFill>
                          <a:latin typeface="Malgun Gothic"/>
                          <a:ea typeface="Malgun Gothic"/>
                          <a:cs typeface="Malgun Gothic"/>
                        </a:rPr>
                        <a:t>신생아 비떨림 열생성; 성인 갈색·베이지 지방</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시안화물</a:t>
                      </a:r>
                    </a:p>
                  </a:txBody>
                  <a:tcPr marL="73152" marR="73152">
                    <a:solidFill>
                      <a:srgbClr val="ECF1F5"/>
                    </a:solidFill>
                  </a:tcPr>
                </a:tc>
                <a:tc>
                  <a:txBody>
                    <a:bodyPr/>
                    <a:lstStyle/>
                    <a:p>
                      <a:r>
                        <a:rPr sz="1500" b="0" i="0">
                          <a:solidFill>
                            <a:srgbClr val="11202B"/>
                          </a:solidFill>
                          <a:latin typeface="Malgun Gothic"/>
                          <a:ea typeface="Malgun Gothic"/>
                          <a:cs typeface="Malgun Gothic"/>
                        </a:rPr>
                        <a:t>복합체 IV의 Fe³⁺ 결합</a:t>
                      </a:r>
                    </a:p>
                  </a:txBody>
                  <a:tcPr marL="73152" marR="73152">
                    <a:solidFill>
                      <a:srgbClr val="ECF1F5"/>
                    </a:solidFill>
                  </a:tcPr>
                </a:tc>
                <a:tc>
                  <a:txBody>
                    <a:bodyPr/>
                    <a:lstStyle/>
                    <a:p>
                      <a:r>
                        <a:rPr sz="1500" b="0" i="0">
                          <a:solidFill>
                            <a:srgbClr val="11202B"/>
                          </a:solidFill>
                          <a:latin typeface="Malgun Gothic"/>
                          <a:ea typeface="Malgun Gothic"/>
                          <a:cs typeface="Malgun Gothic"/>
                        </a:rPr>
                        <a:t>정맥혈 산소포화도 증가(동정맥 산소차 감소), 젖산산증 → 하이드록소코발라민, 나이트라이트-티오황산</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일산화탄소</a:t>
                      </a:r>
                    </a:p>
                  </a:txBody>
                  <a:tcPr marL="73152" marR="73152">
                    <a:solidFill>
                      <a:srgbClr val="FFFFFF"/>
                    </a:solidFill>
                  </a:tcPr>
                </a:tc>
                <a:tc>
                  <a:txBody>
                    <a:bodyPr/>
                    <a:lstStyle/>
                    <a:p>
                      <a:r>
                        <a:rPr sz="1500" b="0" i="0">
                          <a:solidFill>
                            <a:srgbClr val="11202B"/>
                          </a:solidFill>
                          <a:latin typeface="Malgun Gothic"/>
                          <a:ea typeface="Malgun Gothic"/>
                          <a:cs typeface="Malgun Gothic"/>
                        </a:rPr>
                        <a:t>헤모글로빈 + 복합체 IV</a:t>
                      </a:r>
                    </a:p>
                  </a:txBody>
                  <a:tcPr marL="73152" marR="73152">
                    <a:solidFill>
                      <a:srgbClr val="FFFFFF"/>
                    </a:solidFill>
                  </a:tcPr>
                </a:tc>
                <a:tc>
                  <a:txBody>
                    <a:bodyPr/>
                    <a:lstStyle/>
                    <a:p>
                      <a:r>
                        <a:rPr sz="1500" b="0" i="0">
                          <a:solidFill>
                            <a:srgbClr val="11202B"/>
                          </a:solidFill>
                          <a:latin typeface="Malgun Gothic"/>
                          <a:ea typeface="Malgun Gothic"/>
                          <a:cs typeface="Malgun Gothic"/>
                        </a:rPr>
                        <a:t>두통·의식저하, 지연성 신경후유증 → 고농도/고압 산소</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황화수소</a:t>
                      </a:r>
                    </a:p>
                  </a:txBody>
                  <a:tcPr marL="73152" marR="73152">
                    <a:solidFill>
                      <a:srgbClr val="ECF1F5"/>
                    </a:solidFill>
                  </a:tcPr>
                </a:tc>
                <a:tc>
                  <a:txBody>
                    <a:bodyPr/>
                    <a:lstStyle/>
                    <a:p>
                      <a:r>
                        <a:rPr sz="1500" b="0" i="0">
                          <a:solidFill>
                            <a:srgbClr val="11202B"/>
                          </a:solidFill>
                          <a:latin typeface="Malgun Gothic"/>
                          <a:ea typeface="Malgun Gothic"/>
                          <a:cs typeface="Malgun Gothic"/>
                        </a:rPr>
                        <a:t>복합체 IV</a:t>
                      </a:r>
                    </a:p>
                  </a:txBody>
                  <a:tcPr marL="73152" marR="73152">
                    <a:solidFill>
                      <a:srgbClr val="ECF1F5"/>
                    </a:solidFill>
                  </a:tcPr>
                </a:tc>
                <a:tc>
                  <a:txBody>
                    <a:bodyPr/>
                    <a:lstStyle/>
                    <a:p>
                      <a:r>
                        <a:rPr sz="1500" b="0" i="0">
                          <a:solidFill>
                            <a:srgbClr val="11202B"/>
                          </a:solidFill>
                          <a:latin typeface="Malgun Gothic"/>
                          <a:ea typeface="Malgun Gothic"/>
                          <a:cs typeface="Malgun Gothic"/>
                        </a:rPr>
                        <a:t>'썩은 계란' 냄새 후 후각 마비</a:t>
                      </a:r>
                    </a:p>
                  </a:txBody>
                  <a:tcPr marL="73152" marR="73152">
                    <a:solidFill>
                      <a:srgbClr val="ECF1F5"/>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06   </a:t>
            </a:r>
            <a:r>
              <a:rPr sz="2600" b="1" i="0">
                <a:solidFill>
                  <a:srgbClr val="FFFFFF"/>
                </a:solidFill>
                <a:latin typeface="Malgun Gothic"/>
                <a:ea typeface="Malgun Gothic"/>
                <a:cs typeface="Malgun Gothic"/>
              </a:rPr>
              <a:t>탈공역, 열생성, 중독</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17</a:t>
            </a:r>
          </a:p>
        </p:txBody>
      </p:sp>
      <p:sp>
        <p:nvSpPr>
          <p:cNvPr id="7" name="Rectangle 6"/>
          <p:cNvSpPr/>
          <p:nvPr/>
        </p:nvSpPr>
        <p:spPr>
          <a:xfrm>
            <a:off x="640080" y="1325880"/>
            <a:ext cx="10881360" cy="22987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시안화물 중독 환자는 청색증 없이 의식이 저하되고 젖산이 크게 증가하며, 정맥혈이 동맥혈처럼 밝은 붉은색을 띤다. 화재 연기 흡입 환자는 CO와 시안화물 동시 중독을 의심하고 하이드록소코발라민을 투여한다(메트헤모글로빈 유발제인 나이트라이트는 CO 중독과 병용 시 산소 운반을 더 악화시키므로 주의).</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ATP 수율 계산과 셔틀</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말산-아스파르트산 셔틀</a:t>
            </a:r>
            <a:r>
              <a:rPr sz="2200" b="0" i="0">
                <a:solidFill>
                  <a:srgbClr val="11202B"/>
                </a:solidFill>
                <a:latin typeface="Malgun Gothic"/>
                <a:ea typeface="Malgun Gothic"/>
                <a:cs typeface="Malgun Gothic"/>
              </a:rPr>
              <a:t>(간·심장·신장): NADH → 미토콘드리아 NADH → 2.5 ATP.</a:t>
            </a:r>
          </a:p>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글리세롤-3-인산 셔틀</a:t>
            </a:r>
            <a:r>
              <a:rPr sz="2200" b="0" i="0">
                <a:solidFill>
                  <a:srgbClr val="11202B"/>
                </a:solidFill>
                <a:latin typeface="Malgun Gothic"/>
                <a:ea typeface="Malgun Gothic"/>
                <a:cs typeface="Malgun Gothic"/>
              </a:rPr>
              <a:t>(골격근·뇌 일부·갈색지방): FADH₂ 수준으로 CoQ에 전달 → 1.5 ATP.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ATP 수율 계산과 셔틀</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19</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단계</a:t>
                      </a:r>
                    </a:p>
                  </a:txBody>
                  <a:tcPr marL="73152" marR="73152">
                    <a:solidFill>
                      <a:srgbClr val="003C71"/>
                    </a:solidFill>
                  </a:tcPr>
                </a:tc>
                <a:tc>
                  <a:txBody>
                    <a:bodyPr/>
                    <a:lstStyle/>
                    <a:p>
                      <a:r>
                        <a:rPr sz="1500" b="1" i="0">
                          <a:solidFill>
                            <a:srgbClr val="FFFFFF"/>
                          </a:solidFill>
                          <a:latin typeface="Malgun Gothic"/>
                          <a:ea typeface="Malgun Gothic"/>
                          <a:cs typeface="Malgun Gothic"/>
                        </a:rPr>
                        <a:t>산물</a:t>
                      </a:r>
                    </a:p>
                  </a:txBody>
                  <a:tcPr marL="73152" marR="73152">
                    <a:solidFill>
                      <a:srgbClr val="003C71"/>
                    </a:solidFill>
                  </a:tcPr>
                </a:tc>
                <a:tc>
                  <a:txBody>
                    <a:bodyPr/>
                    <a:lstStyle/>
                    <a:p>
                      <a:r>
                        <a:rPr sz="1500" b="1" i="0">
                          <a:solidFill>
                            <a:srgbClr val="FFFFFF"/>
                          </a:solidFill>
                          <a:latin typeface="Malgun Gothic"/>
                          <a:ea typeface="Malgun Gothic"/>
                          <a:cs typeface="Malgun Gothic"/>
                        </a:rPr>
                        <a:t>ATP (말산 셔틀)</a:t>
                      </a:r>
                    </a:p>
                  </a:txBody>
                  <a:tcPr marL="73152" marR="73152">
                    <a:solidFill>
                      <a:srgbClr val="003C71"/>
                    </a:solidFill>
                  </a:tcPr>
                </a:tc>
                <a:tc>
                  <a:txBody>
                    <a:bodyPr/>
                    <a:lstStyle/>
                    <a:p>
                      <a:r>
                        <a:rPr sz="1500" b="1" i="0">
                          <a:solidFill>
                            <a:srgbClr val="FFFFFF"/>
                          </a:solidFill>
                          <a:latin typeface="Malgun Gothic"/>
                          <a:ea typeface="Malgun Gothic"/>
                          <a:cs typeface="Malgun Gothic"/>
                        </a:rPr>
                        <a:t>ATP (G3P 셔틀)</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해당과정</a:t>
                      </a:r>
                    </a:p>
                  </a:txBody>
                  <a:tcPr marL="73152" marR="73152">
                    <a:solidFill>
                      <a:srgbClr val="FFFFFF"/>
                    </a:solidFill>
                  </a:tcPr>
                </a:tc>
                <a:tc>
                  <a:txBody>
                    <a:bodyPr/>
                    <a:lstStyle/>
                    <a:p>
                      <a:r>
                        <a:rPr sz="1500" b="0" i="0">
                          <a:solidFill>
                            <a:srgbClr val="11202B"/>
                          </a:solidFill>
                          <a:latin typeface="Malgun Gothic"/>
                          <a:ea typeface="Malgun Gothic"/>
                          <a:cs typeface="Malgun Gothic"/>
                        </a:rPr>
                        <a:t>2 ATP + 2 NADH</a:t>
                      </a:r>
                    </a:p>
                  </a:txBody>
                  <a:tcPr marL="73152" marR="73152">
                    <a:solidFill>
                      <a:srgbClr val="FFFFFF"/>
                    </a:solidFill>
                  </a:tcPr>
                </a:tc>
                <a:tc>
                  <a:txBody>
                    <a:bodyPr/>
                    <a:lstStyle/>
                    <a:p>
                      <a:r>
                        <a:rPr sz="1500" b="0" i="0">
                          <a:solidFill>
                            <a:srgbClr val="11202B"/>
                          </a:solidFill>
                          <a:latin typeface="Malgun Gothic"/>
                          <a:ea typeface="Malgun Gothic"/>
                          <a:cs typeface="Malgun Gothic"/>
                        </a:rPr>
                        <a:t>2 + 5</a:t>
                      </a:r>
                    </a:p>
                  </a:txBody>
                  <a:tcPr marL="73152" marR="73152">
                    <a:solidFill>
                      <a:srgbClr val="FFFFFF"/>
                    </a:solidFill>
                  </a:tcPr>
                </a:tc>
                <a:tc>
                  <a:txBody>
                    <a:bodyPr/>
                    <a:lstStyle/>
                    <a:p>
                      <a:r>
                        <a:rPr sz="1500" b="0" i="0">
                          <a:solidFill>
                            <a:srgbClr val="11202B"/>
                          </a:solidFill>
                          <a:latin typeface="Malgun Gothic"/>
                          <a:ea typeface="Malgun Gothic"/>
                          <a:cs typeface="Malgun Gothic"/>
                        </a:rPr>
                        <a:t>2 + 3</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PDH</a:t>
                      </a:r>
                    </a:p>
                  </a:txBody>
                  <a:tcPr marL="73152" marR="73152">
                    <a:solidFill>
                      <a:srgbClr val="ECF1F5"/>
                    </a:solidFill>
                  </a:tcPr>
                </a:tc>
                <a:tc>
                  <a:txBody>
                    <a:bodyPr/>
                    <a:lstStyle/>
                    <a:p>
                      <a:r>
                        <a:rPr sz="1500" b="0" i="0">
                          <a:solidFill>
                            <a:srgbClr val="11202B"/>
                          </a:solidFill>
                          <a:latin typeface="Malgun Gothic"/>
                          <a:ea typeface="Malgun Gothic"/>
                          <a:cs typeface="Malgun Gothic"/>
                        </a:rPr>
                        <a:t>2 NADH</a:t>
                      </a:r>
                    </a:p>
                  </a:txBody>
                  <a:tcPr marL="73152" marR="73152">
                    <a:solidFill>
                      <a:srgbClr val="ECF1F5"/>
                    </a:solidFill>
                  </a:tcPr>
                </a:tc>
                <a:tc>
                  <a:txBody>
                    <a:bodyPr/>
                    <a:lstStyle/>
                    <a:p>
                      <a:r>
                        <a:rPr sz="1500" b="0" i="0">
                          <a:solidFill>
                            <a:srgbClr val="11202B"/>
                          </a:solidFill>
                          <a:latin typeface="Malgun Gothic"/>
                          <a:ea typeface="Malgun Gothic"/>
                          <a:cs typeface="Malgun Gothic"/>
                        </a:rPr>
                        <a:t>5</a:t>
                      </a:r>
                    </a:p>
                  </a:txBody>
                  <a:tcPr marL="73152" marR="73152">
                    <a:solidFill>
                      <a:srgbClr val="ECF1F5"/>
                    </a:solidFill>
                  </a:tcPr>
                </a:tc>
                <a:tc>
                  <a:txBody>
                    <a:bodyPr/>
                    <a:lstStyle/>
                    <a:p>
                      <a:r>
                        <a:rPr sz="1500" b="0" i="0">
                          <a:solidFill>
                            <a:srgbClr val="11202B"/>
                          </a:solidFill>
                          <a:latin typeface="Malgun Gothic"/>
                          <a:ea typeface="Malgun Gothic"/>
                          <a:cs typeface="Malgun Gothic"/>
                        </a:rPr>
                        <a:t>5</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TCA ×2</a:t>
                      </a:r>
                    </a:p>
                  </a:txBody>
                  <a:tcPr marL="73152" marR="73152">
                    <a:solidFill>
                      <a:srgbClr val="FFFFFF"/>
                    </a:solidFill>
                  </a:tcPr>
                </a:tc>
                <a:tc>
                  <a:txBody>
                    <a:bodyPr/>
                    <a:lstStyle/>
                    <a:p>
                      <a:r>
                        <a:rPr sz="1500" b="0" i="0">
                          <a:solidFill>
                            <a:srgbClr val="11202B"/>
                          </a:solidFill>
                          <a:latin typeface="Malgun Gothic"/>
                          <a:ea typeface="Malgun Gothic"/>
                          <a:cs typeface="Malgun Gothic"/>
                        </a:rPr>
                        <a:t>6 NADH + 2 FADH₂ + 2 GTP</a:t>
                      </a:r>
                    </a:p>
                  </a:txBody>
                  <a:tcPr marL="73152" marR="73152">
                    <a:solidFill>
                      <a:srgbClr val="FFFFFF"/>
                    </a:solidFill>
                  </a:tcPr>
                </a:tc>
                <a:tc>
                  <a:txBody>
                    <a:bodyPr/>
                    <a:lstStyle/>
                    <a:p>
                      <a:r>
                        <a:rPr sz="1500" b="0" i="0">
                          <a:solidFill>
                            <a:srgbClr val="11202B"/>
                          </a:solidFill>
                          <a:latin typeface="Malgun Gothic"/>
                          <a:ea typeface="Malgun Gothic"/>
                          <a:cs typeface="Malgun Gothic"/>
                        </a:rPr>
                        <a:t>15 + 3 + 2</a:t>
                      </a:r>
                    </a:p>
                  </a:txBody>
                  <a:tcPr marL="73152" marR="73152">
                    <a:solidFill>
                      <a:srgbClr val="FFFFFF"/>
                    </a:solidFill>
                  </a:tcPr>
                </a:tc>
                <a:tc>
                  <a:txBody>
                    <a:bodyPr/>
                    <a:lstStyle/>
                    <a:p>
                      <a:r>
                        <a:rPr sz="1500" b="0" i="0">
                          <a:solidFill>
                            <a:srgbClr val="11202B"/>
                          </a:solidFill>
                          <a:latin typeface="Malgun Gothic"/>
                          <a:ea typeface="Malgun Gothic"/>
                          <a:cs typeface="Malgun Gothic"/>
                        </a:rPr>
                        <a:t>15 + 3 + 2</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합계</a:t>
                      </a:r>
                    </a:p>
                  </a:txBody>
                  <a:tcPr marL="73152" marR="73152">
                    <a:solidFill>
                      <a:srgbClr val="ECF1F5"/>
                    </a:solidFill>
                  </a:tcPr>
                </a:tc>
                <a:tc>
                  <a:txBody>
                    <a:bodyPr/>
                    <a:lstStyle/>
                    <a:p/>
                  </a:txBody>
                  <a:tcPr marL="73152" marR="73152">
                    <a:solidFill>
                      <a:srgbClr val="ECF1F5"/>
                    </a:solidFill>
                  </a:tcPr>
                </a:tc>
                <a:tc>
                  <a:txBody>
                    <a:bodyPr/>
                    <a:lstStyle/>
                    <a:p>
                      <a:r>
                        <a:rPr sz="1500" b="1" i="0">
                          <a:solidFill>
                            <a:srgbClr val="11202B"/>
                          </a:solidFill>
                          <a:latin typeface="Malgun Gothic"/>
                          <a:ea typeface="Malgun Gothic"/>
                          <a:cs typeface="Malgun Gothic"/>
                        </a:rPr>
                        <a:t>약 32</a:t>
                      </a:r>
                    </a:p>
                  </a:txBody>
                  <a:tcPr marL="73152" marR="73152">
                    <a:solidFill>
                      <a:srgbClr val="ECF1F5"/>
                    </a:solidFill>
                  </a:tcPr>
                </a:tc>
                <a:tc>
                  <a:txBody>
                    <a:bodyPr/>
                    <a:lstStyle/>
                    <a:p>
                      <a:r>
                        <a:rPr sz="1500" b="1" i="0">
                          <a:solidFill>
                            <a:srgbClr val="11202B"/>
                          </a:solidFill>
                          <a:latin typeface="Malgun Gothic"/>
                          <a:ea typeface="Malgun Gothic"/>
                          <a:cs typeface="Malgun Gothic"/>
                        </a:rPr>
                        <a:t>약 30</a:t>
                      </a:r>
                    </a:p>
                  </a:txBody>
                  <a:tcPr marL="73152" marR="73152">
                    <a:solidFill>
                      <a:srgbClr val="ECF1F5"/>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07   </a:t>
            </a:r>
            <a:r>
              <a:rPr sz="2600" b="1" i="0">
                <a:solidFill>
                  <a:srgbClr val="FFFFFF"/>
                </a:solidFill>
                <a:latin typeface="Malgun Gothic"/>
                <a:ea typeface="Malgun Gothic"/>
                <a:cs typeface="Malgun Gothic"/>
              </a:rPr>
              <a:t>ATP 수율 계산과 셔틀</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20</a:t>
            </a:r>
          </a:p>
        </p:txBody>
      </p:sp>
      <p:sp>
        <p:nvSpPr>
          <p:cNvPr id="7" name="Rectangle 6"/>
          <p:cNvSpPr/>
          <p:nvPr/>
        </p:nvSpPr>
        <p:spPr>
          <a:xfrm>
            <a:off x="640080" y="1325880"/>
            <a:ext cx="10881360" cy="1562100"/>
          </a:xfrm>
          <a:prstGeom prst="rect">
            <a:avLst/>
          </a:prstGeom>
          <a:solidFill>
            <a:srgbClr val="FFF5D6"/>
          </a:solidFill>
          <a:ln>
            <a:solidFill>
              <a:srgbClr val="F2B705"/>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9A6B00"/>
                </a:solidFill>
                <a:latin typeface="Malgun Gothic"/>
                <a:ea typeface="Malgun Gothic"/>
                <a:cs typeface="Malgun Gothic"/>
              </a:rPr>
              <a:t>핵심  </a:t>
            </a:r>
            <a:r>
              <a:rPr sz="2000" b="0" i="0">
                <a:solidFill>
                  <a:srgbClr val="11202B"/>
                </a:solidFill>
                <a:latin typeface="Malgun Gothic"/>
                <a:ea typeface="Malgun Gothic"/>
                <a:cs typeface="Malgun Gothic"/>
              </a:rPr>
              <a:t>교과서에 따라 36–38 ATP로 적힌 수치는 정수 P/O 비(3, 2)를 가정한 옛 계산이다. 실제 수율은 양성자 누출, 수송 비용 때문에 생리 조건에서 더 낮을 수 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극저온전자현미경으로 복합체 I의 활성(A)/휴면(D) 형태 전환이 밝혀졌고, 이는 허혈-재관류 손상에서 역전자전달(RET)과 숙신산 축적에 의한 활성산소 폭발의 핵심이다. 말론산 전구체로 숙신산 탈수소효소를 일시 억제하는 심근보호 전략이 연구 중이다.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TCA 대사물은 신호 분자다: 숙신산(SUCNR1, HIF 안정화), 이타콘산(대식세포 항균·항염), α-KG/2-HG(TET·JmjC 탈메틸화효소 조절). IDH1/2 돌연변이 암의 2-HG는 '종양대사물질'의 대표 예이다(B04 참조).</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미토콘드리아 질환에 대한 소분자(엘라미프레타이드, 오마벨록솔렌)와 미토콘드리아 기증(MRT; 3부모 체외수정)이 임상에 도입되었다.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PDC는 TPP·리포산·CoA·FAD·NAD⁺를 요구하며 PDK에 의한 인산화로 꺼진다. 티아민 결핍은 PDH·α-KGDH를 함께 마비시킨다.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TCA 1회전은 NADH 3, FADH₂ 1, GTP 1, CO₂ 2를 만들고, IDH·α-KGDH·시트르산 합성효소가 조절된다.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전자전달사슬은 복합체 I·III·IV에서 H⁺를 퍼내고 ATP 합성효소가 회전 촉매로 ATP를 만든다.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시안화물·CO는 복합체 IV, 로테논은 I, 안티마이신은 III, 올리고마이신은 V를 억제하고, DNP·UCP1은 탈공역한다.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포도당 완전 산화 수율은 약 30–32 ATP이다.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분리된 미토콘드리아에 숙신산과 ADP를 넣고 산소 소비를 측정했다. 올리고마이신 첨가 후 DNP를 넣으면 산소 소비가 어떻게 변하는가?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올리고마이신이 ATP 합성효소를 막아 H⁺ 유입이 멈추면 양성자 구동력이 최대가 되어 전자전달(산소 소비)이 거의 멈춘다(호흡 조절). DNP를 넣으면 H⁺가 막을 우회해 유입되므로 기울기가 해소되어 산소 소비가 최대로 회복되지만 ATP는 생성되지 않는다.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로테논 존재 하에서 말산 대신 숙신산을 기질로 주면 ATP 합성이 일어나는가?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일어난다. 로테논은 복합체 I만 억제하므로 숙신산 → 복합체 II → CoQ → III → IV 경로는 정상이다. 다만 P/O 비는 약 1.5로 낮다.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만성 알코올 사용자가 저혈당으로 내원했을 때 포도당 정주 전에 티아민을 투여해야 하는 생화학적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티아민 결핍 상태에서 포도당 부하가 들어오면 해당과정 산물인 피루브산이 PDH(TPP 의존)를 통과하지 못해 젖산산증이 악화되고, 뇌의 에너지 대사(PDH, α-KGDH, 트랜스케톨라아제)가 급격히 부족해져 베르니케 뇌병증이 유발·악화될 수 있기 때문이다.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PDH 결핍과 호흡사슬 복합체 I 결핍 모두 젖산산증을 보인다. 혈중 젖산/피루브산 비로 어떻게 감별하는가?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PDH 결핍은 피루브산과 젖산이 함께 증가하고 NADH/NAD⁺ 비가 정상이므로 L/P 비가 정상(&lt;20)이다. 복합체 I 결핍은 NADH가 재산화되지 않아 NADH/NAD⁺ 비가 상승하므로 L/P 비가 높다(&gt;25).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Nelson DL, Cox MM. Lehninger Principles of Biochemistry, 8th ed. Ch. 16, 19.</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Martínez-Reyes I, Chandel NS. Mitochondrial TCA cycle metabolites control physiology and disease. Nat Commun 2020;11:102.</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Kampjut D, Sazanov LA. The coupling mechanism of mammalian respiratory complex I. Science 2020;370:eabc4209.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B01-L03  ·  TCA 회로와 산화적 인산화</a:t>
            </a:r>
            <a:r>
              <a:rPr sz="10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Chouchani ET et al. Ischaemic accumulation of succinate controls reperfusion injury through mitochondrial ROS. Nature 2014;515:431–435.</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Patel MS et al. The pyruvate dehydrogenase complexes: structure-based function and regulation. J Biol Chem 2014;289:16615–16623.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