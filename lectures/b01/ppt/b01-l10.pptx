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Leu, Ile, Val은 간이 아닌 근육에서 주로 분해된다(간의 BCAT 활성이 낮음).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BH₄(테트라하이드로바이오프테린) 합성 또는 재생 결핍. BH₄는 PAH뿐 아니라 티로신 수산화효소·트립토판 수산화효소·NOS의 보조인자이므로 도파민·세로토닌이 결핍된다. 소변/혈액 프테린 분석, 혈액 DHPR 활성, CSF 신경전달물질 대사물(HVA, 5-HIAA) 측정 후 BH₄ 보충, L-도파/카비도파, 5-하이드록시트립토판을 투여한다(DHPR 결핍은 폴린산 추가).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유기산혈증(프로피온산혈증, 메틸말론산혈증, 이소발레르산혈증). 요소회로 이상은 대사산증·케톤증 없이 호흡성 알칼리증을 보이는 반면, 유기산혈증은 음이온차 대사산증과 케톤증이 동반되고 골수 억제를 보인다. 소변 유기산 분석과 아실카르니틴(C3, C5)으로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고농도 호모시스테인이 내피세포 손상(산화 스트레스, NO 생체이용률 감소), 혈소판 활성화, 응고인자 V 활성·트롬보모듈린 기능 저하, 단백질 호모시스테인화를 통해 동정맥 혈전을 유발한다. 수술·마취 시 혈전 위험이 크므로 사전 관리가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니티시논은 상류 효소 4-HPPD를 억제해 독성 대사물(푸마릴아세토아세트산, 숙시닐아세톤)의 생성을 차단한다. 그 결과 티로신이 증가하므로 저Phe/Tyr 식이를 병행해야 하며, 고티로신혈증으로 인한 각막 병변과 인지 문제를 모니터링한다. 간세포암 감시도 지속한다.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B01 의학생화학  ·  질소대사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아미노산 탄소골격 대사와 선천대사이상</a:t>
            </a:r>
          </a:p>
          <a:p>
            <a:r>
              <a:rPr sz="2000" b="0" i="0">
                <a:solidFill>
                  <a:srgbClr val="C2CDD6"/>
                </a:solidFill>
                <a:latin typeface="Malgun Gothic"/>
                <a:ea typeface="Malgun Gothic"/>
                <a:cs typeface="Malgun Gothic"/>
              </a:rPr>
              <a:t>Amino Acid Carbon Skeletons and Inborn Errors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B01-L10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20개 아미노산을 포도당생성·케톤생성으로 분류하고 탄소골격의 TCA 진입점을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페닐알라닌·티로신 대사와 페닐케톤뇨증, 티로신혈증, 알캅톤뇨증, 백색증을 연결한다.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가지사슬 아미노산(BCAA) 대사와 단풍당뇨병, 유기산혈증을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황 함유 아미노산(메티오닌·시스테인)과 호모시스틴뇨증, 일탄소 대사를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신생아 선별검사(탠덤질량분석)의 원리와 주요 대상 질환의 치료 원칙을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탄소골격의 운명</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페닐알라닌·티로신 대사</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가지사슬 아미노산(BCAA) 대사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황 함유 아미노산과 일탄소 대사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기타 아미노산 대사 이상</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신생아 선별검사와 탠덤질량분석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탄소골격의 운명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순수 케톤생성: 류신, 리신(암기: "LK"). 두 가지 모두: 이소류신, 페닐알라닌, 티로신, 트립토판, 트레오닌.</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필수아미노산(9): His, Ile, Leu, Lys, Met, Phe, Thr, Trp, Val. 조건부 필수: Arg(성장기·요소회로 이상), Cys, Tyr(PKU에서 필수), Gln, Gly, Pro.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탄소골격의 운명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진입점</a:t>
                      </a:r>
                    </a:p>
                  </a:txBody>
                  <a:tcPr marL="73152" marR="73152">
                    <a:solidFill>
                      <a:srgbClr val="003C71"/>
                    </a:solidFill>
                  </a:tcPr>
                </a:tc>
                <a:tc>
                  <a:txBody>
                    <a:bodyPr/>
                    <a:lstStyle/>
                    <a:p>
                      <a:r>
                        <a:rPr sz="1500" b="1" i="0">
                          <a:solidFill>
                            <a:srgbClr val="FFFFFF"/>
                          </a:solidFill>
                          <a:latin typeface="Malgun Gothic"/>
                          <a:ea typeface="Malgun Gothic"/>
                          <a:cs typeface="Malgun Gothic"/>
                        </a:rPr>
                        <a:t>아미노산</a:t>
                      </a:r>
                    </a:p>
                  </a:txBody>
                  <a:tcPr marL="73152" marR="73152">
                    <a:solidFill>
                      <a:srgbClr val="003C71"/>
                    </a:solidFill>
                  </a:tcPr>
                </a:tc>
                <a:tc>
                  <a:txBody>
                    <a:bodyPr/>
                    <a:lstStyle/>
                    <a:p>
                      <a:r>
                        <a:rPr sz="1500" b="1" i="0">
                          <a:solidFill>
                            <a:srgbClr val="FFFFFF"/>
                          </a:solidFill>
                          <a:latin typeface="Malgun Gothic"/>
                          <a:ea typeface="Malgun Gothic"/>
                          <a:cs typeface="Malgun Gothic"/>
                        </a:rPr>
                        <a:t>분류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피루브산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Ala, Ser, Gly, Cys, Thr, Trp(일부)</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포도당생성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α-케토글루타르산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Glu, Gln, Pro, Arg, His</a:t>
                      </a:r>
                    </a:p>
                  </a:txBody>
                  <a:tcPr marL="73152" marR="73152">
                    <a:solidFill>
                      <a:srgbClr val="ECF1F5"/>
                    </a:solidFill>
                  </a:tcPr>
                </a:tc>
                <a:tc>
                  <a:txBody>
                    <a:bodyPr/>
                    <a:lstStyle/>
                    <a:p>
                      <a:r>
                        <a:rPr sz="1500" b="0" i="0">
                          <a:solidFill>
                            <a:srgbClr val="11202B"/>
                          </a:solidFill>
                          <a:latin typeface="Malgun Gothic"/>
                          <a:ea typeface="Malgun Gothic"/>
                          <a:cs typeface="Malgun Gothic"/>
                        </a:rPr>
                        <a:t>포도당생성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숙시닐-CoA</a:t>
                      </a:r>
                    </a:p>
                  </a:txBody>
                  <a:tcPr marL="73152" marR="73152">
                    <a:solidFill>
                      <a:srgbClr val="FFFFFF"/>
                    </a:solidFill>
                  </a:tcPr>
                </a:tc>
                <a:tc>
                  <a:txBody>
                    <a:bodyPr/>
                    <a:lstStyle/>
                    <a:p>
                      <a:r>
                        <a:rPr sz="1500" b="0" i="0">
                          <a:solidFill>
                            <a:srgbClr val="11202B"/>
                          </a:solidFill>
                          <a:latin typeface="Malgun Gothic"/>
                          <a:ea typeface="Malgun Gothic"/>
                          <a:cs typeface="Malgun Gothic"/>
                        </a:rPr>
                        <a:t>Val, Ile(일부), Met, Thr</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포도당생성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푸마르산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Phe, Tyr(일부), Asp</a:t>
                      </a:r>
                    </a:p>
                  </a:txBody>
                  <a:tcPr marL="73152" marR="73152">
                    <a:solidFill>
                      <a:srgbClr val="ECF1F5"/>
                    </a:solidFill>
                  </a:tcPr>
                </a:tc>
                <a:tc>
                  <a:txBody>
                    <a:bodyPr/>
                    <a:lstStyle/>
                    <a:p>
                      <a:r>
                        <a:rPr sz="1500" b="0" i="0">
                          <a:solidFill>
                            <a:srgbClr val="11202B"/>
                          </a:solidFill>
                          <a:latin typeface="Malgun Gothic"/>
                          <a:ea typeface="Malgun Gothic"/>
                          <a:cs typeface="Malgun Gothic"/>
                        </a:rPr>
                        <a:t>포도당생성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옥살로아세트산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Asp, Asn</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포도당생성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아세틸-CoA/아세토아세트산</a:t>
                      </a:r>
                    </a:p>
                  </a:txBody>
                  <a:tcPr marL="73152" marR="73152">
                    <a:solidFill>
                      <a:srgbClr val="ECF1F5"/>
                    </a:solidFill>
                  </a:tcPr>
                </a:tc>
                <a:tc>
                  <a:txBody>
                    <a:bodyPr/>
                    <a:lstStyle/>
                    <a:p>
                      <a:r>
                        <a:rPr sz="1500" b="1" i="0">
                          <a:solidFill>
                            <a:srgbClr val="11202B"/>
                          </a:solidFill>
                          <a:latin typeface="Malgun Gothic"/>
                          <a:ea typeface="Malgun Gothic"/>
                          <a:cs typeface="Malgun Gothic"/>
                        </a:rPr>
                        <a:t>Leu, Lys</a:t>
                      </a:r>
                      <a:r>
                        <a:rPr sz="1500" b="0" i="0">
                          <a:solidFill>
                            <a:srgbClr val="11202B"/>
                          </a:solidFill>
                          <a:latin typeface="Malgun Gothic"/>
                          <a:ea typeface="Malgun Gothic"/>
                          <a:cs typeface="Malgun Gothic"/>
                        </a:rPr>
                        <a:t> (순수 케톤생성), Ile, Phe, Tyr, Trp, Thr(일부)</a:t>
                      </a:r>
                    </a:p>
                  </a:txBody>
                  <a:tcPr marL="73152" marR="73152">
                    <a:solidFill>
                      <a:srgbClr val="ECF1F5"/>
                    </a:solidFill>
                  </a:tcPr>
                </a:tc>
                <a:tc>
                  <a:txBody>
                    <a:bodyPr/>
                    <a:lstStyle/>
                    <a:p>
                      <a:r>
                        <a:rPr sz="1500" b="0" i="0">
                          <a:solidFill>
                            <a:srgbClr val="11202B"/>
                          </a:solidFill>
                          <a:latin typeface="Malgun Gothic"/>
                          <a:ea typeface="Malgun Gothic"/>
                          <a:cs typeface="Malgun Gothic"/>
                        </a:rPr>
                        <a:t>케톤생성</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페닐알라닌·티로신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Phe → (</a:t>
            </a:r>
            <a:r>
              <a:rPr sz="2000" b="1" i="0">
                <a:solidFill>
                  <a:srgbClr val="11202B"/>
                </a:solidFill>
                <a:latin typeface="Malgun Gothic"/>
                <a:ea typeface="Malgun Gothic"/>
                <a:cs typeface="Malgun Gothic"/>
              </a:rPr>
              <a:t>페닐알라닌 수산화효소 PAH</a:t>
            </a:r>
            <a:r>
              <a:rPr sz="2000" b="0" i="0">
                <a:solidFill>
                  <a:srgbClr val="11202B"/>
                </a:solidFill>
                <a:latin typeface="Malgun Gothic"/>
                <a:ea typeface="Malgun Gothic"/>
                <a:cs typeface="Malgun Gothic"/>
              </a:rPr>
              <a:t>; 보조인자 </a:t>
            </a:r>
            <a:r>
              <a:rPr sz="2000" b="1" i="0">
                <a:solidFill>
                  <a:srgbClr val="11202B"/>
                </a:solidFill>
                <a:latin typeface="Malgun Gothic"/>
                <a:ea typeface="Malgun Gothic"/>
                <a:cs typeface="Malgun Gothic"/>
              </a:rPr>
              <a:t>테트라하이드로바이오프테린 BH₄</a:t>
            </a:r>
            <a:r>
              <a:rPr sz="2000" b="0" i="0">
                <a:solidFill>
                  <a:srgbClr val="11202B"/>
                </a:solidFill>
                <a:latin typeface="Malgun Gothic"/>
                <a:ea typeface="Malgun Gothic"/>
                <a:cs typeface="Malgun Gothic"/>
              </a:rPr>
              <a:t>, O₂, Fe²⁺) → Tyr. BH₄는 다이하이드로프테리딘 환원효소(DHPR)로 재생.</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Tyr → (티로신 아미노기전이효소) 4-하이드록시페닐피루브산 → (4-HPPD) 호모겐티스산 → (</a:t>
            </a:r>
            <a:r>
              <a:rPr sz="2000" b="1" i="0">
                <a:solidFill>
                  <a:srgbClr val="11202B"/>
                </a:solidFill>
                <a:latin typeface="Malgun Gothic"/>
                <a:ea typeface="Malgun Gothic"/>
                <a:cs typeface="Malgun Gothic"/>
              </a:rPr>
              <a:t>호모겐티스산 산화효소 HGD</a:t>
            </a:r>
            <a:r>
              <a:rPr sz="2000" b="0" i="0">
                <a:solidFill>
                  <a:srgbClr val="11202B"/>
                </a:solidFill>
                <a:latin typeface="Malgun Gothic"/>
                <a:ea typeface="Malgun Gothic"/>
                <a:cs typeface="Malgun Gothic"/>
              </a:rPr>
              <a:t>) 말레일아세토아세트산 → 푸마릴아세토아세트산 → (</a:t>
            </a:r>
            <a:r>
              <a:rPr sz="2000" b="1" i="0">
                <a:solidFill>
                  <a:srgbClr val="11202B"/>
                </a:solidFill>
                <a:latin typeface="Malgun Gothic"/>
                <a:ea typeface="Malgun Gothic"/>
                <a:cs typeface="Malgun Gothic"/>
              </a:rPr>
              <a:t>FAH</a:t>
            </a:r>
            <a:r>
              <a:rPr sz="2000" b="0" i="0">
                <a:solidFill>
                  <a:srgbClr val="11202B"/>
                </a:solidFill>
                <a:latin typeface="Malgun Gothic"/>
                <a:ea typeface="Malgun Gothic"/>
                <a:cs typeface="Malgun Gothic"/>
              </a:rPr>
              <a:t>) 푸마르산 + 아세토아세트산.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Tyr의 다른 운명: 도파 → 도파민·노르에피네프린·에피네프린(티로신 수산화효소, BH₄), </a:t>
            </a:r>
            <a:r>
              <a:rPr sz="2000" b="1" i="0">
                <a:solidFill>
                  <a:srgbClr val="11202B"/>
                </a:solidFill>
                <a:latin typeface="Malgun Gothic"/>
                <a:ea typeface="Malgun Gothic"/>
                <a:cs typeface="Malgun Gothic"/>
              </a:rPr>
              <a:t>멜라닌</a:t>
            </a:r>
            <a:r>
              <a:rPr sz="2000" b="0" i="0">
                <a:solidFill>
                  <a:srgbClr val="11202B"/>
                </a:solidFill>
                <a:latin typeface="Malgun Gothic"/>
                <a:ea typeface="Malgun Gothic"/>
                <a:cs typeface="Malgun Gothic"/>
              </a:rPr>
              <a:t>(티로시나아제), 갑상선호르몬.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페닐알라닌·티로신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결손</a:t>
                      </a:r>
                    </a:p>
                  </a:txBody>
                  <a:tcPr marL="73152" marR="73152">
                    <a:solidFill>
                      <a:srgbClr val="003C71"/>
                    </a:solidFill>
                  </a:tcPr>
                </a:tc>
                <a:tc>
                  <a:txBody>
                    <a:bodyPr/>
                    <a:lstStyle/>
                    <a:p>
                      <a:r>
                        <a:rPr sz="1300" b="1" i="0">
                          <a:solidFill>
                            <a:srgbClr val="FFFFFF"/>
                          </a:solidFill>
                          <a:latin typeface="Malgun Gothic"/>
                          <a:ea typeface="Malgun Gothic"/>
                          <a:cs typeface="Malgun Gothic"/>
                        </a:rPr>
                        <a:t>축적물/소견</a:t>
                      </a:r>
                    </a:p>
                  </a:txBody>
                  <a:tcPr marL="73152" marR="73152">
                    <a:solidFill>
                      <a:srgbClr val="003C71"/>
                    </a:solidFill>
                  </a:tcPr>
                </a:tc>
                <a:tc>
                  <a:txBody>
                    <a:bodyPr/>
                    <a:lstStyle/>
                    <a:p>
                      <a:r>
                        <a:rPr sz="13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페닐케톤뇨증(PKU)</a:t>
                      </a:r>
                    </a:p>
                  </a:txBody>
                  <a:tcPr marL="73152" marR="73152">
                    <a:solidFill>
                      <a:srgbClr val="FFFFFF"/>
                    </a:solidFill>
                  </a:tcPr>
                </a:tc>
                <a:tc>
                  <a:txBody>
                    <a:bodyPr/>
                    <a:lstStyle/>
                    <a:p>
                      <a:r>
                        <a:rPr sz="1300" b="0" i="0">
                          <a:solidFill>
                            <a:srgbClr val="11202B"/>
                          </a:solidFill>
                          <a:latin typeface="Malgun Gothic"/>
                          <a:ea typeface="Malgun Gothic"/>
                          <a:cs typeface="Malgun Gothic"/>
                        </a:rPr>
                        <a:t>PAH (PAH, AR)</a:t>
                      </a:r>
                    </a:p>
                  </a:txBody>
                  <a:tcPr marL="73152" marR="73152">
                    <a:solidFill>
                      <a:srgbClr val="FFFFFF"/>
                    </a:solidFill>
                  </a:tcPr>
                </a:tc>
                <a:tc>
                  <a:txBody>
                    <a:bodyPr/>
                    <a:lstStyle/>
                    <a:p>
                      <a:r>
                        <a:rPr sz="1300" b="0" i="0">
                          <a:solidFill>
                            <a:srgbClr val="11202B"/>
                          </a:solidFill>
                          <a:latin typeface="Malgun Gothic"/>
                          <a:ea typeface="Malgun Gothic"/>
                          <a:cs typeface="Malgun Gothic"/>
                        </a:rPr>
                        <a:t>Phe↑ → 페닐피루브산·페닐아세트산(쥐 오줌 냄새), 지적장애, 경련, 저색소(티로신 부족·티로시나아제 억제), 습진</a:t>
                      </a:r>
                    </a:p>
                  </a:txBody>
                  <a:tcPr marL="73152" marR="73152">
                    <a:solidFill>
                      <a:srgbClr val="FFFFFF"/>
                    </a:solidFill>
                  </a:tcPr>
                </a:tc>
                <a:tc>
                  <a:txBody>
                    <a:bodyPr/>
                    <a:lstStyle/>
                    <a:p>
                      <a:r>
                        <a:rPr sz="1300" b="0" i="0">
                          <a:solidFill>
                            <a:srgbClr val="11202B"/>
                          </a:solidFill>
                          <a:latin typeface="Malgun Gothic"/>
                          <a:ea typeface="Malgun Gothic"/>
                          <a:cs typeface="Malgun Gothic"/>
                        </a:rPr>
                        <a:t>저Phe식 + Phe-free 의료식(평생), BH₄ 반응형에 </a:t>
                      </a:r>
                      <a:r>
                        <a:rPr sz="1300" b="1" i="0">
                          <a:solidFill>
                            <a:srgbClr val="11202B"/>
                          </a:solidFill>
                          <a:latin typeface="Malgun Gothic"/>
                          <a:ea typeface="Malgun Gothic"/>
                          <a:cs typeface="Malgun Gothic"/>
                        </a:rPr>
                        <a:t>사프로프테린</a:t>
                      </a:r>
                      <a:r>
                        <a:rPr sz="1300" b="0" i="0">
                          <a:solidFill>
                            <a:srgbClr val="11202B"/>
                          </a:solidFill>
                          <a:latin typeface="Malgun Gothic"/>
                          <a:ea typeface="Malgun Gothic"/>
                          <a:cs typeface="Malgun Gothic"/>
                        </a:rPr>
                        <a:t>, 성인 </a:t>
                      </a:r>
                      <a:r>
                        <a:rPr sz="1300" b="1" i="0">
                          <a:solidFill>
                            <a:srgbClr val="11202B"/>
                          </a:solidFill>
                          <a:latin typeface="Malgun Gothic"/>
                          <a:ea typeface="Malgun Gothic"/>
                          <a:cs typeface="Malgun Gothic"/>
                        </a:rPr>
                        <a:t>페그발리아제</a:t>
                      </a:r>
                      <a:r>
                        <a:rPr sz="1300" b="0" i="0">
                          <a:solidFill>
                            <a:srgbClr val="11202B"/>
                          </a:solidFill>
                          <a:latin typeface="Malgun Gothic"/>
                          <a:ea typeface="Malgun Gothic"/>
                          <a:cs typeface="Malgun Gothic"/>
                        </a:rPr>
                        <a:t>(PAL 효소), 2024 </a:t>
                      </a:r>
                      <a:r>
                        <a:rPr sz="1300" b="1" i="0">
                          <a:solidFill>
                            <a:srgbClr val="11202B"/>
                          </a:solidFill>
                          <a:latin typeface="Malgun Gothic"/>
                          <a:ea typeface="Malgun Gothic"/>
                          <a:cs typeface="Malgun Gothic"/>
                        </a:rPr>
                        <a:t>세피아프테린</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BH₄ 결핍 (GTPCH, PTPS, DHPR)</a:t>
                      </a:r>
                    </a:p>
                  </a:txBody>
                  <a:tcPr marL="73152" marR="73152">
                    <a:solidFill>
                      <a:srgbClr val="ECF1F5"/>
                    </a:solidFill>
                  </a:tcPr>
                </a:tc>
                <a:tc>
                  <a:txBody>
                    <a:bodyPr/>
                    <a:lstStyle/>
                    <a:p>
                      <a:r>
                        <a:rPr sz="1300" b="0" i="0">
                          <a:solidFill>
                            <a:srgbClr val="11202B"/>
                          </a:solidFill>
                          <a:latin typeface="Malgun Gothic"/>
                          <a:ea typeface="Malgun Gothic"/>
                          <a:cs typeface="Malgun Gothic"/>
                        </a:rPr>
                        <a:t>보조인자</a:t>
                      </a:r>
                    </a:p>
                  </a:txBody>
                  <a:tcPr marL="73152" marR="73152">
                    <a:solidFill>
                      <a:srgbClr val="ECF1F5"/>
                    </a:solidFill>
                  </a:tcPr>
                </a:tc>
                <a:tc>
                  <a:txBody>
                    <a:bodyPr/>
                    <a:lstStyle/>
                    <a:p>
                      <a:r>
                        <a:rPr sz="1300" b="0" i="0">
                          <a:solidFill>
                            <a:srgbClr val="11202B"/>
                          </a:solidFill>
                          <a:latin typeface="Malgun Gothic"/>
                          <a:ea typeface="Malgun Gothic"/>
                          <a:cs typeface="Malgun Gothic"/>
                        </a:rPr>
                        <a:t>고Phe + 도파민·세로토닌 결핍 → 저Phe식에도 신경학적 악화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BH₄, L-도파, 5-HTP, 엽산(DHPR)</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모성 PKU</a:t>
                      </a:r>
                    </a:p>
                  </a:txBody>
                  <a:tcPr marL="73152" marR="73152">
                    <a:solidFill>
                      <a:srgbClr val="FFFFFF"/>
                    </a:solidFill>
                  </a:tcPr>
                </a:tc>
                <a:tc>
                  <a:txBody>
                    <a:bodyPr/>
                    <a:lstStyle/>
                    <a:p>
                      <a:r>
                        <a:rPr sz="1300" b="0" i="0">
                          <a:solidFill>
                            <a:srgbClr val="11202B"/>
                          </a:solidFill>
                          <a:latin typeface="Malgun Gothic"/>
                          <a:ea typeface="Malgun Gothic"/>
                          <a:cs typeface="Malgun Gothic"/>
                        </a:rPr>
                        <a:t>산모 고Phe</a:t>
                      </a:r>
                    </a:p>
                  </a:txBody>
                  <a:tcPr marL="73152" marR="73152">
                    <a:solidFill>
                      <a:srgbClr val="FFFFFF"/>
                    </a:solidFill>
                  </a:tcPr>
                </a:tc>
                <a:tc>
                  <a:txBody>
                    <a:bodyPr/>
                    <a:lstStyle/>
                    <a:p>
                      <a:r>
                        <a:rPr sz="1300" b="0" i="0">
                          <a:solidFill>
                            <a:srgbClr val="11202B"/>
                          </a:solidFill>
                          <a:latin typeface="Malgun Gothic"/>
                          <a:ea typeface="Malgun Gothic"/>
                          <a:cs typeface="Malgun Gothic"/>
                        </a:rPr>
                        <a:t>태아 소두증, 심장기형, 지적장애</a:t>
                      </a:r>
                    </a:p>
                  </a:txBody>
                  <a:tcPr marL="73152" marR="73152">
                    <a:solidFill>
                      <a:srgbClr val="FFFFFF"/>
                    </a:solidFill>
                  </a:tcPr>
                </a:tc>
                <a:tc>
                  <a:txBody>
                    <a:bodyPr/>
                    <a:lstStyle/>
                    <a:p>
                      <a:r>
                        <a:rPr sz="1300" b="0" i="0">
                          <a:solidFill>
                            <a:srgbClr val="11202B"/>
                          </a:solidFill>
                          <a:latin typeface="Malgun Gothic"/>
                          <a:ea typeface="Malgun Gothic"/>
                          <a:cs typeface="Malgun Gothic"/>
                        </a:rPr>
                        <a:t>임신 전부터 Phe &lt; 360 μmol/L</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티로신혈증 1형</a:t>
                      </a:r>
                    </a:p>
                  </a:txBody>
                  <a:tcPr marL="73152" marR="73152">
                    <a:solidFill>
                      <a:srgbClr val="ECF1F5"/>
                    </a:solidFill>
                  </a:tcPr>
                </a:tc>
                <a:tc>
                  <a:txBody>
                    <a:bodyPr/>
                    <a:lstStyle/>
                    <a:p>
                      <a:r>
                        <a:rPr sz="1300" b="0" i="0">
                          <a:solidFill>
                            <a:srgbClr val="11202B"/>
                          </a:solidFill>
                          <a:latin typeface="Malgun Gothic"/>
                          <a:ea typeface="Malgun Gothic"/>
                          <a:cs typeface="Malgun Gothic"/>
                        </a:rPr>
                        <a:t>FAH</a:t>
                      </a:r>
                    </a:p>
                  </a:txBody>
                  <a:tcPr marL="73152" marR="73152">
                    <a:solidFill>
                      <a:srgbClr val="ECF1F5"/>
                    </a:solidFill>
                  </a:tcPr>
                </a:tc>
                <a:tc>
                  <a:txBody>
                    <a:bodyPr/>
                    <a:lstStyle/>
                    <a:p>
                      <a:r>
                        <a:rPr sz="1300" b="1" i="0">
                          <a:solidFill>
                            <a:srgbClr val="11202B"/>
                          </a:solidFill>
                          <a:latin typeface="Malgun Gothic"/>
                          <a:ea typeface="Malgun Gothic"/>
                          <a:cs typeface="Malgun Gothic"/>
                        </a:rPr>
                        <a:t>숙시닐아세톤</a:t>
                      </a:r>
                      <a:r>
                        <a:rPr sz="1300" b="0" i="0">
                          <a:solidFill>
                            <a:srgbClr val="11202B"/>
                          </a:solidFill>
                          <a:latin typeface="Malgun Gothic"/>
                          <a:ea typeface="Malgun Gothic"/>
                          <a:cs typeface="Malgun Gothic"/>
                        </a:rPr>
                        <a:t> → 간부전, 간세포암, 신세뇨관병증(판코니), 포르피린증 유사 신경 발작(ALA 탈수효소 억제)</a:t>
                      </a:r>
                    </a:p>
                  </a:txBody>
                  <a:tcPr marL="73152" marR="73152">
                    <a:solidFill>
                      <a:srgbClr val="ECF1F5"/>
                    </a:solidFill>
                  </a:tcPr>
                </a:tc>
                <a:tc>
                  <a:txBody>
                    <a:bodyPr/>
                    <a:lstStyle/>
                    <a:p>
                      <a:r>
                        <a:rPr sz="1300" b="1" i="0">
                          <a:solidFill>
                            <a:srgbClr val="11202B"/>
                          </a:solidFill>
                          <a:latin typeface="Malgun Gothic"/>
                          <a:ea typeface="Malgun Gothic"/>
                          <a:cs typeface="Malgun Gothic"/>
                        </a:rPr>
                        <a:t>니티시논(NTBC; 4-HPPD 억제)</a:t>
                      </a:r>
                      <a:r>
                        <a:rPr sz="1300" b="0" i="0">
                          <a:solidFill>
                            <a:srgbClr val="11202B"/>
                          </a:solidFill>
                          <a:latin typeface="Malgun Gothic"/>
                          <a:ea typeface="Malgun Gothic"/>
                          <a:cs typeface="Malgun Gothic"/>
                        </a:rPr>
                        <a:t> + 저Phe/Tyr식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티로신혈증 2형</a:t>
                      </a:r>
                    </a:p>
                  </a:txBody>
                  <a:tcPr marL="73152" marR="73152">
                    <a:solidFill>
                      <a:srgbClr val="FFFFFF"/>
                    </a:solidFill>
                  </a:tcPr>
                </a:tc>
                <a:tc>
                  <a:txBody>
                    <a:bodyPr/>
                    <a:lstStyle/>
                    <a:p>
                      <a:r>
                        <a:rPr sz="1300" b="0" i="0">
                          <a:solidFill>
                            <a:srgbClr val="11202B"/>
                          </a:solidFill>
                          <a:latin typeface="Malgun Gothic"/>
                          <a:ea typeface="Malgun Gothic"/>
                          <a:cs typeface="Malgun Gothic"/>
                        </a:rPr>
                        <a:t>티로신 아미노기전이효소</a:t>
                      </a:r>
                    </a:p>
                  </a:txBody>
                  <a:tcPr marL="73152" marR="73152">
                    <a:solidFill>
                      <a:srgbClr val="FFFFFF"/>
                    </a:solidFill>
                  </a:tcPr>
                </a:tc>
                <a:tc>
                  <a:txBody>
                    <a:bodyPr/>
                    <a:lstStyle/>
                    <a:p>
                      <a:r>
                        <a:rPr sz="1300" b="0" i="0">
                          <a:solidFill>
                            <a:srgbClr val="11202B"/>
                          </a:solidFill>
                          <a:latin typeface="Malgun Gothic"/>
                          <a:ea typeface="Malgun Gothic"/>
                          <a:cs typeface="Malgun Gothic"/>
                        </a:rPr>
                        <a:t>각막 궤양, 손발바닥 각화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저Tyr식</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알캅톤뇨증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HGD</a:t>
                      </a:r>
                    </a:p>
                  </a:txBody>
                  <a:tcPr marL="73152" marR="73152">
                    <a:solidFill>
                      <a:srgbClr val="ECF1F5"/>
                    </a:solidFill>
                  </a:tcPr>
                </a:tc>
                <a:tc>
                  <a:txBody>
                    <a:bodyPr/>
                    <a:lstStyle/>
                    <a:p>
                      <a:r>
                        <a:rPr sz="1300" b="0" i="0">
                          <a:solidFill>
                            <a:srgbClr val="11202B"/>
                          </a:solidFill>
                          <a:latin typeface="Malgun Gothic"/>
                          <a:ea typeface="Malgun Gothic"/>
                          <a:cs typeface="Malgun Gothic"/>
                        </a:rPr>
                        <a:t>호모겐티스산 → 소변 공기 노출 시 흑변, 결합조직 흑색 침착(</a:t>
                      </a:r>
                      <a:r>
                        <a:rPr sz="1300" b="1" i="0">
                          <a:solidFill>
                            <a:srgbClr val="11202B"/>
                          </a:solidFill>
                          <a:latin typeface="Malgun Gothic"/>
                          <a:ea typeface="Malgun Gothic"/>
                          <a:cs typeface="Malgun Gothic"/>
                        </a:rPr>
                        <a:t>조직갈변증</a:t>
                      </a:r>
                      <a:r>
                        <a:rPr sz="1300" b="0" i="0">
                          <a:solidFill>
                            <a:srgbClr val="11202B"/>
                          </a:solidFill>
                          <a:latin typeface="Malgun Gothic"/>
                          <a:ea typeface="Malgun Gothic"/>
                          <a:cs typeface="Malgun Gothic"/>
                        </a:rPr>
                        <a:t>), 척추·대관절염</a:t>
                      </a:r>
                    </a:p>
                  </a:txBody>
                  <a:tcPr marL="73152" marR="73152">
                    <a:solidFill>
                      <a:srgbClr val="ECF1F5"/>
                    </a:solidFill>
                  </a:tcPr>
                </a:tc>
                <a:tc>
                  <a:txBody>
                    <a:bodyPr/>
                    <a:lstStyle/>
                    <a:p>
                      <a:r>
                        <a:rPr sz="1300" b="0" i="0">
                          <a:solidFill>
                            <a:srgbClr val="11202B"/>
                          </a:solidFill>
                          <a:latin typeface="Malgun Gothic"/>
                          <a:ea typeface="Malgun Gothic"/>
                          <a:cs typeface="Malgun Gothic"/>
                        </a:rPr>
                        <a:t>니티시논(2020 EU 승인)</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백색증(OCA1)</a:t>
                      </a:r>
                    </a:p>
                  </a:txBody>
                  <a:tcPr marL="73152" marR="73152">
                    <a:solidFill>
                      <a:srgbClr val="FFFFFF"/>
                    </a:solidFill>
                  </a:tcPr>
                </a:tc>
                <a:tc>
                  <a:txBody>
                    <a:bodyPr/>
                    <a:lstStyle/>
                    <a:p>
                      <a:r>
                        <a:rPr sz="1300" b="0" i="0">
                          <a:solidFill>
                            <a:srgbClr val="11202B"/>
                          </a:solidFill>
                          <a:latin typeface="Malgun Gothic"/>
                          <a:ea typeface="Malgun Gothic"/>
                          <a:cs typeface="Malgun Gothic"/>
                        </a:rPr>
                        <a:t>티로시나아제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멜라닌 결핍, 시력 저하, 피부암 위험</a:t>
                      </a:r>
                    </a:p>
                  </a:txBody>
                  <a:tcPr marL="73152" marR="73152">
                    <a:solidFill>
                      <a:srgbClr val="FFFFFF"/>
                    </a:solidFill>
                  </a:tcPr>
                </a:tc>
                <a:tc>
                  <a:txBody>
                    <a:bodyPr/>
                    <a:lstStyle/>
                    <a:p>
                      <a:r>
                        <a:rPr sz="1300" b="0" i="0">
                          <a:solidFill>
                            <a:srgbClr val="11202B"/>
                          </a:solidFill>
                          <a:latin typeface="Malgun Gothic"/>
                          <a:ea typeface="Malgun Gothic"/>
                          <a:cs typeface="Malgun Gothic"/>
                        </a:rPr>
                        <a:t>차광</a:t>
                      </a:r>
                    </a:p>
                  </a:txBody>
                  <a:tcPr marL="73152" marR="7315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페닐알라닌·티로신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8</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PKU는 1960년대 거스리 검사로 시작된 신생아 선별검사의 원형이다. 혈중 Phe를 영아기 120–360 μmol/L로 유지하면 정상 지능 발달이 가능하나, 식이를 중단한 성인에서는 집행기능 저하·우울·불안이 나타나므로 '평생 치료'가 원칙이다.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가지사슬 아미노산(BCAA)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1단계: BCAT(아미노기 전이) → 가지사슬 α-케토산(BCKA).</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2단계: </a:t>
            </a:r>
            <a:r>
              <a:rPr sz="2000" b="1" i="0">
                <a:solidFill>
                  <a:srgbClr val="11202B"/>
                </a:solidFill>
                <a:latin typeface="Malgun Gothic"/>
                <a:ea typeface="Malgun Gothic"/>
                <a:cs typeface="Malgun Gothic"/>
              </a:rPr>
              <a:t>BCKDH 복합체</a:t>
            </a:r>
            <a:r>
              <a:rPr sz="2000" b="0" i="0">
                <a:solidFill>
                  <a:srgbClr val="11202B"/>
                </a:solidFill>
                <a:latin typeface="Malgun Gothic"/>
                <a:ea typeface="Malgun Gothic"/>
                <a:cs typeface="Malgun Gothic"/>
              </a:rPr>
              <a:t>(미토콘드리아; TPP, 리포산, CoA, FAD, NAD⁺; PDH와 E3 공유) → 아실-CoA. BCKDH 키나아제(BCKDK)가 억제, PPM1K가 활성화.</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이후: Leu → HMG-CoA → 아세토아세트산 + 아세틸-CoA; Ile → 아세틸-CoA + 프로피오닐-CoA; Val → 프로피오닐-CoA → 숙시닐-CoA.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가지사슬 아미노산(BCAA)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결손</a:t>
                      </a:r>
                    </a:p>
                  </a:txBody>
                  <a:tcPr marL="73152" marR="73152">
                    <a:solidFill>
                      <a:srgbClr val="003C71"/>
                    </a:solidFill>
                  </a:tcPr>
                </a:tc>
                <a:tc>
                  <a:txBody>
                    <a:bodyPr/>
                    <a:lstStyle/>
                    <a:p>
                      <a:r>
                        <a:rPr sz="1300" b="1" i="0">
                          <a:solidFill>
                            <a:srgbClr val="FFFFFF"/>
                          </a:solidFill>
                          <a:latin typeface="Malgun Gothic"/>
                          <a:ea typeface="Malgun Gothic"/>
                          <a:cs typeface="Malgun Gothic"/>
                        </a:rPr>
                        <a:t>소견</a:t>
                      </a:r>
                    </a:p>
                  </a:txBody>
                  <a:tcPr marL="73152" marR="73152">
                    <a:solidFill>
                      <a:srgbClr val="003C71"/>
                    </a:solidFill>
                  </a:tcPr>
                </a:tc>
                <a:tc>
                  <a:txBody>
                    <a:bodyPr/>
                    <a:lstStyle/>
                    <a:p>
                      <a:r>
                        <a:rPr sz="13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단풍당뇨병(MSUD)</a:t>
                      </a:r>
                    </a:p>
                  </a:txBody>
                  <a:tcPr marL="73152" marR="73152">
                    <a:solidFill>
                      <a:srgbClr val="FFFFFF"/>
                    </a:solidFill>
                  </a:tcPr>
                </a:tc>
                <a:tc>
                  <a:txBody>
                    <a:bodyPr/>
                    <a:lstStyle/>
                    <a:p>
                      <a:r>
                        <a:rPr sz="1300" b="0" i="0">
                          <a:solidFill>
                            <a:srgbClr val="11202B"/>
                          </a:solidFill>
                          <a:latin typeface="Malgun Gothic"/>
                          <a:ea typeface="Malgun Gothic"/>
                          <a:cs typeface="Malgun Gothic"/>
                        </a:rPr>
                        <a:t>BCKDH (BCKDHA/B, DBT)</a:t>
                      </a:r>
                    </a:p>
                  </a:txBody>
                  <a:tcPr marL="73152" marR="73152">
                    <a:solidFill>
                      <a:srgbClr val="FFFFFF"/>
                    </a:solidFill>
                  </a:tcPr>
                </a:tc>
                <a:tc>
                  <a:txBody>
                    <a:bodyPr/>
                    <a:lstStyle/>
                    <a:p>
                      <a:r>
                        <a:rPr sz="1300" b="0" i="0">
                          <a:solidFill>
                            <a:srgbClr val="11202B"/>
                          </a:solidFill>
                          <a:latin typeface="Malgun Gothic"/>
                          <a:ea typeface="Malgun Gothic"/>
                          <a:cs typeface="Malgun Gothic"/>
                        </a:rPr>
                        <a:t>생후 수일 수유곤란·기면·'자전거 페달' 운동·후궁반장, 소변·귀지 </a:t>
                      </a:r>
                      <a:r>
                        <a:rPr sz="1300" b="1" i="0">
                          <a:solidFill>
                            <a:srgbClr val="11202B"/>
                          </a:solidFill>
                          <a:latin typeface="Malgun Gothic"/>
                          <a:ea typeface="Malgun Gothic"/>
                          <a:cs typeface="Malgun Gothic"/>
                        </a:rPr>
                        <a:t>단풍시럽(소톨론) 냄새</a:t>
                      </a:r>
                      <a:r>
                        <a:rPr sz="1300" b="0" i="0">
                          <a:solidFill>
                            <a:srgbClr val="11202B"/>
                          </a:solidFill>
                          <a:latin typeface="Malgun Gothic"/>
                          <a:ea typeface="Malgun Gothic"/>
                          <a:cs typeface="Malgun Gothic"/>
                        </a:rPr>
                        <a:t>, 뇌부종; </a:t>
                      </a:r>
                      <a:r>
                        <a:rPr sz="1300" b="1" i="0">
                          <a:solidFill>
                            <a:srgbClr val="11202B"/>
                          </a:solidFill>
                          <a:latin typeface="Malgun Gothic"/>
                          <a:ea typeface="Malgun Gothic"/>
                          <a:cs typeface="Malgun Gothic"/>
                        </a:rPr>
                        <a:t>류신</a:t>
                      </a:r>
                      <a:r>
                        <a:rPr sz="1300" b="0" i="0">
                          <a:solidFill>
                            <a:srgbClr val="11202B"/>
                          </a:solidFill>
                          <a:latin typeface="Malgun Gothic"/>
                          <a:ea typeface="Malgun Gothic"/>
                          <a:cs typeface="Malgun Gothic"/>
                        </a:rPr>
                        <a:t>이 신경독성; 혈장 </a:t>
                      </a:r>
                      <a:r>
                        <a:rPr sz="1300" b="1" i="0">
                          <a:solidFill>
                            <a:srgbClr val="11202B"/>
                          </a:solidFill>
                          <a:latin typeface="Malgun Gothic"/>
                          <a:ea typeface="Malgun Gothic"/>
                          <a:cs typeface="Malgun Gothic"/>
                        </a:rPr>
                        <a:t>알로이소류신</a:t>
                      </a:r>
                      <a:r>
                        <a:rPr sz="1300" b="0" i="0">
                          <a:solidFill>
                            <a:srgbClr val="11202B"/>
                          </a:solidFill>
                          <a:latin typeface="Malgun Gothic"/>
                          <a:ea typeface="Malgun Gothic"/>
                          <a:cs typeface="Malgun Gothic"/>
                        </a:rPr>
                        <a:t> 진단적</a:t>
                      </a:r>
                    </a:p>
                  </a:txBody>
                  <a:tcPr marL="73152" marR="73152">
                    <a:solidFill>
                      <a:srgbClr val="FFFFFF"/>
                    </a:solidFill>
                  </a:tcPr>
                </a:tc>
                <a:tc>
                  <a:txBody>
                    <a:bodyPr/>
                    <a:lstStyle/>
                    <a:p>
                      <a:r>
                        <a:rPr sz="1300" b="0" i="0">
                          <a:solidFill>
                            <a:srgbClr val="11202B"/>
                          </a:solidFill>
                          <a:latin typeface="Malgun Gothic"/>
                          <a:ea typeface="Malgun Gothic"/>
                          <a:cs typeface="Malgun Gothic"/>
                        </a:rPr>
                        <a:t>BCAA 제한식, 급성기 투석·고칼로리, 티아민 반응형, 간이식(도미노 이식 가능)</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이소발레르산혈증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이소발레릴-CoA 탈수소효소</a:t>
                      </a:r>
                    </a:p>
                  </a:txBody>
                  <a:tcPr marL="73152" marR="73152">
                    <a:solidFill>
                      <a:srgbClr val="ECF1F5"/>
                    </a:solidFill>
                  </a:tcPr>
                </a:tc>
                <a:tc>
                  <a:txBody>
                    <a:bodyPr/>
                    <a:lstStyle/>
                    <a:p>
                      <a:r>
                        <a:rPr sz="1300" b="1" i="0">
                          <a:solidFill>
                            <a:srgbClr val="11202B"/>
                          </a:solidFill>
                          <a:latin typeface="Malgun Gothic"/>
                          <a:ea typeface="Malgun Gothic"/>
                          <a:cs typeface="Malgun Gothic"/>
                        </a:rPr>
                        <a:t>땀 냄새 나는 발</a:t>
                      </a:r>
                      <a:r>
                        <a:rPr sz="1300" b="0" i="0">
                          <a:solidFill>
                            <a:srgbClr val="11202B"/>
                          </a:solidFill>
                          <a:latin typeface="Malgun Gothic"/>
                          <a:ea typeface="Malgun Gothic"/>
                          <a:cs typeface="Malgun Gothic"/>
                        </a:rPr>
                        <a:t>, 대사산증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글리신, 카르니틴</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프로피온산혈증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프로피오닐-CoA 카복실화효소 (비오틴)</a:t>
                      </a:r>
                    </a:p>
                  </a:txBody>
                  <a:tcPr marL="73152" marR="73152">
                    <a:solidFill>
                      <a:srgbClr val="FFFFFF"/>
                    </a:solidFill>
                  </a:tcPr>
                </a:tc>
                <a:tc>
                  <a:txBody>
                    <a:bodyPr/>
                    <a:lstStyle/>
                    <a:p>
                      <a:r>
                        <a:rPr sz="1300" b="0" i="0">
                          <a:solidFill>
                            <a:srgbClr val="11202B"/>
                          </a:solidFill>
                          <a:latin typeface="Malgun Gothic"/>
                          <a:ea typeface="Malgun Gothic"/>
                          <a:cs typeface="Malgun Gothic"/>
                        </a:rPr>
                        <a:t>음이온차 산증, 케톤증, 고암모니아(NAGS 억제), 호중구감소, 심근병증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단백 제한, 카르니틴, 카글루민산, 메트로니다졸(장내 프로피온산 생성균)</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메틸말론산혈증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뮤타아제(MMUT) 또는 코발라민 대사(cblA–D)</a:t>
                      </a:r>
                    </a:p>
                  </a:txBody>
                  <a:tcPr marL="73152" marR="73152">
                    <a:solidFill>
                      <a:srgbClr val="ECF1F5"/>
                    </a:solidFill>
                  </a:tcPr>
                </a:tc>
                <a:tc>
                  <a:txBody>
                    <a:bodyPr/>
                    <a:lstStyle/>
                    <a:p>
                      <a:r>
                        <a:rPr sz="1300" b="0" i="0">
                          <a:solidFill>
                            <a:srgbClr val="11202B"/>
                          </a:solidFill>
                          <a:latin typeface="Malgun Gothic"/>
                          <a:ea typeface="Malgun Gothic"/>
                          <a:cs typeface="Malgun Gothic"/>
                        </a:rPr>
                        <a:t>위와 유사 + 만성 신부전, 기저핵 경색</a:t>
                      </a:r>
                    </a:p>
                  </a:txBody>
                  <a:tcPr marL="73152" marR="73152">
                    <a:solidFill>
                      <a:srgbClr val="ECF1F5"/>
                    </a:solidFill>
                  </a:tcPr>
                </a:tc>
                <a:tc>
                  <a:txBody>
                    <a:bodyPr/>
                    <a:lstStyle/>
                    <a:p>
                      <a:r>
                        <a:rPr sz="1300" b="0" i="0">
                          <a:solidFill>
                            <a:srgbClr val="11202B"/>
                          </a:solidFill>
                          <a:latin typeface="Malgun Gothic"/>
                          <a:ea typeface="Malgun Gothic"/>
                          <a:cs typeface="Malgun Gothic"/>
                        </a:rPr>
                        <a:t>단백 제한, 하이드록소코발라민 반응형, 간·신장 이식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다중 카복실화효소 결핍</a:t>
                      </a:r>
                    </a:p>
                  </a:txBody>
                  <a:tcPr marL="73152" marR="73152">
                    <a:solidFill>
                      <a:srgbClr val="FFFFFF"/>
                    </a:solidFill>
                  </a:tcPr>
                </a:tc>
                <a:tc>
                  <a:txBody>
                    <a:bodyPr/>
                    <a:lstStyle/>
                    <a:p>
                      <a:r>
                        <a:rPr sz="1300" b="0" i="0">
                          <a:solidFill>
                            <a:srgbClr val="11202B"/>
                          </a:solidFill>
                          <a:latin typeface="Malgun Gothic"/>
                          <a:ea typeface="Malgun Gothic"/>
                          <a:cs typeface="Malgun Gothic"/>
                        </a:rPr>
                        <a:t>비오티니다아제·홀로카복실화효소 합성효소</a:t>
                      </a:r>
                    </a:p>
                  </a:txBody>
                  <a:tcPr marL="73152" marR="73152">
                    <a:solidFill>
                      <a:srgbClr val="FFFFFF"/>
                    </a:solidFill>
                  </a:tcPr>
                </a:tc>
                <a:tc>
                  <a:txBody>
                    <a:bodyPr/>
                    <a:lstStyle/>
                    <a:p>
                      <a:r>
                        <a:rPr sz="1300" b="0" i="0">
                          <a:solidFill>
                            <a:srgbClr val="11202B"/>
                          </a:solidFill>
                          <a:latin typeface="Malgun Gothic"/>
                          <a:ea typeface="Malgun Gothic"/>
                          <a:cs typeface="Malgun Gothic"/>
                        </a:rPr>
                        <a:t>피부염, 탈모, 경련, 청력 소실</a:t>
                      </a:r>
                    </a:p>
                  </a:txBody>
                  <a:tcPr marL="73152" marR="73152">
                    <a:solidFill>
                      <a:srgbClr val="FFFFFF"/>
                    </a:solidFill>
                  </a:tcPr>
                </a:tc>
                <a:tc>
                  <a:txBody>
                    <a:bodyPr/>
                    <a:lstStyle/>
                    <a:p>
                      <a:r>
                        <a:rPr sz="1300" b="1" i="0">
                          <a:solidFill>
                            <a:srgbClr val="11202B"/>
                          </a:solidFill>
                          <a:latin typeface="Malgun Gothic"/>
                          <a:ea typeface="Malgun Gothic"/>
                          <a:cs typeface="Malgun Gothic"/>
                        </a:rPr>
                        <a:t>비오틴</a:t>
                      </a:r>
                      <a:r>
                        <a:rPr sz="1300" b="0" i="0">
                          <a:solidFill>
                            <a:srgbClr val="11202B"/>
                          </a:solidFill>
                          <a:latin typeface="Malgun Gothic"/>
                          <a:ea typeface="Malgun Gothic"/>
                          <a:cs typeface="Malgun Gothic"/>
                        </a:rPr>
                        <a:t> (극적 반응)</a:t>
                      </a:r>
                    </a:p>
                  </a:txBody>
                  <a:tcPr marL="73152" marR="7315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가지사슬 아미노산(BCAA)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11</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유기산혈증의 3징: 음이온차 대사산증 + 케톤증 + 고암모니아혈증 (± 저혈당, 범혈구감소). 요소회로 이상은 산증 없이 </a:t>
            </a:r>
            <a:r>
              <a:rPr sz="2000" b="1" i="0">
                <a:solidFill>
                  <a:srgbClr val="11202B"/>
                </a:solidFill>
                <a:latin typeface="Malgun Gothic"/>
                <a:ea typeface="Malgun Gothic"/>
                <a:cs typeface="Malgun Gothic"/>
              </a:rPr>
              <a:t>호흡성 알칼리증</a:t>
            </a:r>
            <a:r>
              <a:rPr sz="2000" b="0" i="0">
                <a:solidFill>
                  <a:srgbClr val="11202B"/>
                </a:solidFill>
                <a:latin typeface="Malgun Gothic"/>
                <a:ea typeface="Malgun Gothic"/>
                <a:cs typeface="Malgun Gothic"/>
              </a:rPr>
              <a:t>을 보이는 것이 감별점이다.</a:t>
            </a:r>
          </a:p>
        </p:txBody>
      </p:sp>
      <p:sp>
        <p:nvSpPr>
          <p:cNvPr id="8" name="Rectangle 7"/>
          <p:cNvSpPr/>
          <p:nvPr/>
        </p:nvSpPr>
        <p:spPr>
          <a:xfrm>
            <a:off x="640080" y="3025140"/>
            <a:ext cx="10881360" cy="15621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비만·인슐린 저항성에서 혈중 BCAA와 그 대사물(3-하이드록시이소부티르산)이 증가하며, 이는 2형 당뇨 발생을 수년 앞서 예측하는 대사체 지표로 반복 확인되었다.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황 함유 아미노산과 일탄소 대사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메티오닌 회로</a:t>
            </a:r>
            <a:r>
              <a:rPr sz="2000" b="0" i="0">
                <a:solidFill>
                  <a:srgbClr val="11202B"/>
                </a:solidFill>
                <a:latin typeface="Malgun Gothic"/>
                <a:ea typeface="Malgun Gothic"/>
                <a:cs typeface="Malgun Gothic"/>
              </a:rPr>
              <a:t>: Met + ATP → (MAT) </a:t>
            </a:r>
            <a:r>
              <a:rPr sz="2000" b="1" i="0">
                <a:solidFill>
                  <a:srgbClr val="11202B"/>
                </a:solidFill>
                <a:latin typeface="Malgun Gothic"/>
                <a:ea typeface="Malgun Gothic"/>
                <a:cs typeface="Malgun Gothic"/>
              </a:rPr>
              <a:t>S-아데노실메티오닌(SAM)</a:t>
            </a:r>
            <a:r>
              <a:rPr sz="2000" b="0" i="0">
                <a:solidFill>
                  <a:srgbClr val="11202B"/>
                </a:solidFill>
                <a:latin typeface="Malgun Gothic"/>
                <a:ea typeface="Malgun Gothic"/>
                <a:cs typeface="Malgun Gothic"/>
              </a:rPr>
              <a:t> — 주요 메틸 공여체(DNA·히스톤·크레아틴·인지질·신경전달물질 메틸화) → S-아데노실호모시스테인(SAH) → </a:t>
            </a:r>
            <a:r>
              <a:rPr sz="2000" b="1" i="0">
                <a:solidFill>
                  <a:srgbClr val="11202B"/>
                </a:solidFill>
                <a:latin typeface="Malgun Gothic"/>
                <a:ea typeface="Malgun Gothic"/>
                <a:cs typeface="Malgun Gothic"/>
              </a:rPr>
              <a:t>호모시스테인(Hcy)</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Hcy의 두 운명:</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재메틸화</a:t>
            </a:r>
            <a:r>
              <a:rPr sz="1800" b="0" i="0">
                <a:solidFill>
                  <a:srgbClr val="2E3F4C"/>
                </a:solidFill>
                <a:latin typeface="Malgun Gothic"/>
                <a:ea typeface="Malgun Gothic"/>
                <a:cs typeface="Malgun Gothic"/>
              </a:rPr>
              <a:t> → Met: 메티오닌 합성효소(</a:t>
            </a:r>
            <a:r>
              <a:rPr sz="1800" b="1" i="0">
                <a:solidFill>
                  <a:srgbClr val="2E3F4C"/>
                </a:solidFill>
                <a:latin typeface="Malgun Gothic"/>
                <a:ea typeface="Malgun Gothic"/>
                <a:cs typeface="Malgun Gothic"/>
              </a:rPr>
              <a:t>B12 메틸코발라민 + 5-메틸-THF</a:t>
            </a:r>
            <a:r>
              <a:rPr sz="1800" b="0" i="0">
                <a:solidFill>
                  <a:srgbClr val="2E3F4C"/>
                </a:solidFill>
                <a:latin typeface="Malgun Gothic"/>
                <a:ea typeface="Malgun Gothic"/>
                <a:cs typeface="Malgun Gothic"/>
              </a:rPr>
              <a:t>), 또는 간의 BHMT(베타인).</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황전이(transsulfuration)</a:t>
            </a:r>
            <a:r>
              <a:rPr sz="1800" b="0" i="0">
                <a:solidFill>
                  <a:srgbClr val="2E3F4C"/>
                </a:solidFill>
                <a:latin typeface="Malgun Gothic"/>
                <a:ea typeface="Malgun Gothic"/>
                <a:cs typeface="Malgun Gothic"/>
              </a:rPr>
              <a:t> → 시스테인: </a:t>
            </a:r>
            <a:r>
              <a:rPr sz="1800" b="1" i="0">
                <a:solidFill>
                  <a:srgbClr val="2E3F4C"/>
                </a:solidFill>
                <a:latin typeface="Malgun Gothic"/>
                <a:ea typeface="Malgun Gothic"/>
                <a:cs typeface="Malgun Gothic"/>
              </a:rPr>
              <a:t>시스타티오닌 β-합성효소(CBS, B6)</a:t>
            </a:r>
            <a:r>
              <a:rPr sz="1800" b="0" i="0">
                <a:solidFill>
                  <a:srgbClr val="2E3F4C"/>
                </a:solidFill>
                <a:latin typeface="Malgun Gothic"/>
                <a:ea typeface="Malgun Gothic"/>
                <a:cs typeface="Malgun Gothic"/>
              </a:rPr>
              <a:t> → 시스타티오닌 → 시스타티오닌 γ-분해효소(B6) → 시스테인 + α-케토부티르산.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시스테인 → 글루타티온, 타우린, 황산, H₂S, CoA.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황 함유 아미노산과 일탄소 대사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엽산 회로</a:t>
            </a:r>
            <a:r>
              <a:rPr sz="2200" b="0" i="0">
                <a:solidFill>
                  <a:srgbClr val="11202B"/>
                </a:solidFill>
                <a:latin typeface="Malgun Gothic"/>
                <a:ea typeface="Malgun Gothic"/>
                <a:cs typeface="Malgun Gothic"/>
              </a:rPr>
              <a:t>: THF ↔ 5,10-메틸렌-THF(세린 하이드록시메틸전이효소) → (</a:t>
            </a:r>
            <a:r>
              <a:rPr sz="2200" b="1" i="0">
                <a:solidFill>
                  <a:srgbClr val="11202B"/>
                </a:solidFill>
                <a:latin typeface="Malgun Gothic"/>
                <a:ea typeface="Malgun Gothic"/>
                <a:cs typeface="Malgun Gothic"/>
              </a:rPr>
              <a:t>MTHFR</a:t>
            </a:r>
            <a:r>
              <a:rPr sz="2200" b="0" i="0">
                <a:solidFill>
                  <a:srgbClr val="11202B"/>
                </a:solidFill>
                <a:latin typeface="Malgun Gothic"/>
                <a:ea typeface="Malgun Gothic"/>
                <a:cs typeface="Malgun Gothic"/>
              </a:rPr>
              <a:t>) 5-메틸-THF. 5,10-메틸렌-THF는 </a:t>
            </a:r>
            <a:r>
              <a:rPr sz="2200" b="1" i="0">
                <a:solidFill>
                  <a:srgbClr val="11202B"/>
                </a:solidFill>
                <a:latin typeface="Malgun Gothic"/>
                <a:ea typeface="Malgun Gothic"/>
                <a:cs typeface="Malgun Gothic"/>
              </a:rPr>
              <a:t>티미딜산 합성</a:t>
            </a:r>
            <a:r>
              <a:rPr sz="2200" b="0" i="0">
                <a:solidFill>
                  <a:srgbClr val="11202B"/>
                </a:solidFill>
                <a:latin typeface="Malgun Gothic"/>
                <a:ea typeface="Malgun Gothic"/>
                <a:cs typeface="Malgun Gothic"/>
              </a:rPr>
              <a:t>(dUMP → dTMP)에 필수.</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메틸 함정(methyl trap)</a:t>
            </a:r>
            <a:r>
              <a:rPr sz="2200" b="0" i="0">
                <a:solidFill>
                  <a:srgbClr val="11202B"/>
                </a:solidFill>
                <a:latin typeface="Malgun Gothic"/>
                <a:ea typeface="Malgun Gothic"/>
                <a:cs typeface="Malgun Gothic"/>
              </a:rPr>
              <a:t>: B12 결핍 → 5-메틸-THF가 THF로 돌아가지 못해 갇힘 → 기능적 엽산 결핍 → DNA 합성 장애(거대적모구빈혈). 이때 고용량 엽산은 빈혈은 교정하지만 신경 손상은 진행시킬 수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황 함유 아미노산과 일탄소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결손</a:t>
                      </a:r>
                    </a:p>
                  </a:txBody>
                  <a:tcPr marL="73152" marR="73152">
                    <a:solidFill>
                      <a:srgbClr val="003C71"/>
                    </a:solidFill>
                  </a:tcPr>
                </a:tc>
                <a:tc>
                  <a:txBody>
                    <a:bodyPr/>
                    <a:lstStyle/>
                    <a:p>
                      <a:r>
                        <a:rPr sz="1500" b="1" i="0">
                          <a:solidFill>
                            <a:srgbClr val="FFFFFF"/>
                          </a:solidFill>
                          <a:latin typeface="Malgun Gothic"/>
                          <a:ea typeface="Malgun Gothic"/>
                          <a:cs typeface="Malgun Gothic"/>
                        </a:rPr>
                        <a:t>소견</a:t>
                      </a:r>
                    </a:p>
                  </a:txBody>
                  <a:tcPr marL="73152" marR="73152">
                    <a:solidFill>
                      <a:srgbClr val="003C71"/>
                    </a:solidFill>
                  </a:tcPr>
                </a:tc>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고전적 호모시스틴뇨증</a:t>
                      </a:r>
                    </a:p>
                  </a:txBody>
                  <a:tcPr marL="73152" marR="73152">
                    <a:solidFill>
                      <a:srgbClr val="FFFFFF"/>
                    </a:solidFill>
                  </a:tcPr>
                </a:tc>
                <a:tc>
                  <a:txBody>
                    <a:bodyPr/>
                    <a:lstStyle/>
                    <a:p>
                      <a:r>
                        <a:rPr sz="1500" b="1" i="0">
                          <a:solidFill>
                            <a:srgbClr val="11202B"/>
                          </a:solidFill>
                          <a:latin typeface="Malgun Gothic"/>
                          <a:ea typeface="Malgun Gothic"/>
                          <a:cs typeface="Malgun Gothic"/>
                        </a:rPr>
                        <a:t>CBS</a:t>
                      </a:r>
                    </a:p>
                  </a:txBody>
                  <a:tcPr marL="73152" marR="73152">
                    <a:solidFill>
                      <a:srgbClr val="FFFFFF"/>
                    </a:solidFill>
                  </a:tcPr>
                </a:tc>
                <a:tc>
                  <a:txBody>
                    <a:bodyPr/>
                    <a:lstStyle/>
                    <a:p>
                      <a:r>
                        <a:rPr sz="1500" b="0" i="0">
                          <a:solidFill>
                            <a:srgbClr val="11202B"/>
                          </a:solidFill>
                          <a:latin typeface="Malgun Gothic"/>
                          <a:ea typeface="Malgun Gothic"/>
                          <a:cs typeface="Malgun Gothic"/>
                        </a:rPr>
                        <a:t>Hcy·Met↑; 수정체 </a:t>
                      </a:r>
                      <a:r>
                        <a:rPr sz="1500" b="1" i="0">
                          <a:solidFill>
                            <a:srgbClr val="11202B"/>
                          </a:solidFill>
                          <a:latin typeface="Malgun Gothic"/>
                          <a:ea typeface="Malgun Gothic"/>
                          <a:cs typeface="Malgun Gothic"/>
                        </a:rPr>
                        <a:t>하방 탈구</a:t>
                      </a:r>
                      <a:r>
                        <a:rPr sz="1500" b="0" i="0">
                          <a:solidFill>
                            <a:srgbClr val="11202B"/>
                          </a:solidFill>
                          <a:latin typeface="Malgun Gothic"/>
                          <a:ea typeface="Malgun Gothic"/>
                          <a:cs typeface="Malgun Gothic"/>
                        </a:rPr>
                        <a:t>, 마르판 유사 체형, 지적장애, 골다공증, </a:t>
                      </a:r>
                      <a:r>
                        <a:rPr sz="1500" b="1" i="0">
                          <a:solidFill>
                            <a:srgbClr val="11202B"/>
                          </a:solidFill>
                          <a:latin typeface="Malgun Gothic"/>
                          <a:ea typeface="Malgun Gothic"/>
                          <a:cs typeface="Malgun Gothic"/>
                        </a:rPr>
                        <a:t>혈전색전증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B6(반응형 약 50%), 저Met식, 베타인, 엽산·B12</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재메틸화 장애</a:t>
                      </a:r>
                    </a:p>
                  </a:txBody>
                  <a:tcPr marL="73152" marR="73152">
                    <a:solidFill>
                      <a:srgbClr val="ECF1F5"/>
                    </a:solidFill>
                  </a:tcPr>
                </a:tc>
                <a:tc>
                  <a:txBody>
                    <a:bodyPr/>
                    <a:lstStyle/>
                    <a:p>
                      <a:r>
                        <a:rPr sz="1500" b="0" i="0">
                          <a:solidFill>
                            <a:srgbClr val="11202B"/>
                          </a:solidFill>
                          <a:latin typeface="Malgun Gothic"/>
                          <a:ea typeface="Malgun Gothic"/>
                          <a:cs typeface="Malgun Gothic"/>
                        </a:rPr>
                        <a:t>MTHFR 중증 결핍, cblC 등</a:t>
                      </a:r>
                    </a:p>
                  </a:txBody>
                  <a:tcPr marL="73152" marR="73152">
                    <a:solidFill>
                      <a:srgbClr val="ECF1F5"/>
                    </a:solidFill>
                  </a:tcPr>
                </a:tc>
                <a:tc>
                  <a:txBody>
                    <a:bodyPr/>
                    <a:lstStyle/>
                    <a:p>
                      <a:r>
                        <a:rPr sz="1500" b="0" i="0">
                          <a:solidFill>
                            <a:srgbClr val="11202B"/>
                          </a:solidFill>
                          <a:latin typeface="Malgun Gothic"/>
                          <a:ea typeface="Malgun Gothic"/>
                          <a:cs typeface="Malgun Gothic"/>
                        </a:rPr>
                        <a:t>Hcy↑, Met </a:t>
                      </a:r>
                      <a:r>
                        <a:rPr sz="1500" b="1"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베타인, 하이드록소코발라민, 엽산(MTHFR은 5-MTHF)</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시스타티오닌뇨증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γ-시스타티오나아제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양성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황 함유 아미노산과 일탄소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마르판 증후군(FBN1)은 수정체가 </a:t>
            </a:r>
            <a:r>
              <a:rPr sz="2000" b="1" i="0">
                <a:solidFill>
                  <a:srgbClr val="11202B"/>
                </a:solidFill>
                <a:latin typeface="Malgun Gothic"/>
                <a:ea typeface="Malgun Gothic"/>
                <a:cs typeface="Malgun Gothic"/>
              </a:rPr>
              <a:t>상방</a:t>
            </a:r>
            <a:r>
              <a:rPr sz="2000" b="0" i="0">
                <a:solidFill>
                  <a:srgbClr val="11202B"/>
                </a:solidFill>
                <a:latin typeface="Malgun Gothic"/>
                <a:ea typeface="Malgun Gothic"/>
                <a:cs typeface="Malgun Gothic"/>
              </a:rPr>
              <a:t>으로 탈구되고 대동맥근 확장이 특징이며 지적장애·혈전은 없다. 흔한 MTHFR C677T 다형성(동형접합 약 10%)은 경도 Hcy 상승과 관련되나 혈전 선별검사로서 의미는 없다는 것이 현재 지침이다.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아미노산 대사 이상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비케톤성 고글리신혈증</a:t>
            </a:r>
            <a:r>
              <a:rPr sz="1800" b="0" i="0">
                <a:solidFill>
                  <a:srgbClr val="11202B"/>
                </a:solidFill>
                <a:latin typeface="Malgun Gothic"/>
                <a:ea typeface="Malgun Gothic"/>
                <a:cs typeface="Malgun Gothic"/>
              </a:rPr>
              <a:t>(글리신 분해 복합체 GCS): 신생아 무호흡·딸꾹질·근긴장저하·버스트-억제 뇌파; CSF/혈장 글리신 비 상승. 벤조산나트륨 + NMDA 길항제(덱스트로메토르판).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글루타르산혈증 1형</a:t>
            </a:r>
            <a:r>
              <a:rPr sz="1800" b="0" i="0">
                <a:solidFill>
                  <a:srgbClr val="11202B"/>
                </a:solidFill>
                <a:latin typeface="Malgun Gothic"/>
                <a:ea typeface="Malgun Gothic"/>
                <a:cs typeface="Malgun Gothic"/>
              </a:rPr>
              <a:t>(GCDH; 리신·트립토판 분해): 대두증, 감염 후 급성 기저핵(선조체) 손상 → 근긴장이상. 리신 제한·카르니틴·아플 때 응급 관리로 예방 가능 — 진단 시기가 결과를 좌우.</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히스티딘혈증</a:t>
            </a:r>
            <a:r>
              <a:rPr sz="1800" b="0" i="0">
                <a:solidFill>
                  <a:srgbClr val="11202B"/>
                </a:solidFill>
                <a:latin typeface="Malgun Gothic"/>
                <a:ea typeface="Malgun Gothic"/>
                <a:cs typeface="Malgun Gothic"/>
              </a:rPr>
              <a:t>: 대부분 양성.</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세린 합성 결핍</a:t>
            </a:r>
            <a:r>
              <a:rPr sz="1800" b="0" i="0">
                <a:solidFill>
                  <a:srgbClr val="11202B"/>
                </a:solidFill>
                <a:latin typeface="Malgun Gothic"/>
                <a:ea typeface="Malgun Gothic"/>
                <a:cs typeface="Malgun Gothic"/>
              </a:rPr>
              <a:t>(PHGDH): 소두증·경련, 세린 보충에 반응 — '치료 가능한 소두증'.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크레아틴 결핍 증후군</a:t>
            </a:r>
            <a:r>
              <a:rPr sz="1800" b="0" i="0">
                <a:solidFill>
                  <a:srgbClr val="11202B"/>
                </a:solidFill>
                <a:latin typeface="Malgun Gothic"/>
                <a:ea typeface="Malgun Gothic"/>
                <a:cs typeface="Malgun Gothic"/>
              </a:rPr>
              <a:t>(GAMT, AGAT, 크레아틴 수송체 SLC6A8): 지적장애·언어지연, MR 분광에서 크레아틴 피크 소실.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아미노산 대사 이상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리신뇨성 단백불내성</a:t>
            </a:r>
            <a:r>
              <a:rPr sz="2200" b="0" i="0">
                <a:solidFill>
                  <a:srgbClr val="11202B"/>
                </a:solidFill>
                <a:latin typeface="Malgun Gothic"/>
                <a:ea typeface="Malgun Gothic"/>
                <a:cs typeface="Malgun Gothic"/>
              </a:rPr>
              <a:t>(SLC7A7): 이염기성 아미노산 흡수 장애 → 식후 고암모니아, 폐포단백증, 혈구탐식증.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신생아 선별검사와 탠덤질량분석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원리: 생후 24–72시간 발뒤꿈치 건조혈반 → </a:t>
            </a:r>
            <a:r>
              <a:rPr sz="2000" b="1" i="0">
                <a:solidFill>
                  <a:srgbClr val="11202B"/>
                </a:solidFill>
                <a:latin typeface="Malgun Gothic"/>
                <a:ea typeface="Malgun Gothic"/>
                <a:cs typeface="Malgun Gothic"/>
              </a:rPr>
              <a:t>탠덤질량분석(MS/MS)</a:t>
            </a:r>
            <a:r>
              <a:rPr sz="2000" b="0" i="0">
                <a:solidFill>
                  <a:srgbClr val="11202B"/>
                </a:solidFill>
                <a:latin typeface="Malgun Gothic"/>
                <a:ea typeface="Malgun Gothic"/>
                <a:cs typeface="Malgun Gothic"/>
              </a:rPr>
              <a:t>으로 아미노산·아실카르니틴 수십 종 동시 정량. 효소·면역분석(갑상선기능저하증 TSH, 선천성 부신과형성 17-OHP, 갈락토스혈증 GALT, 비오티니다아제), 분자검사(SMA SMN1 결실, 중증복합면역결핍 TREC).</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선별 원칙(Wilson–Jungner): 중요한 건강 문제, 증상 전 발견 가능, 효과적인 치료 존재, 신뢰할 수 있는 검사, 비용 효과.</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위양성 요인: 미숙아, TPN, 수혈, 채혈 시기, 모체 질환(모체 카르니틴 결핍·B12 결핍이 신생아 검사에 반영).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신생아 선별검사와 탠덤질량분석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지표</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의심 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Phe↑, Phe/Tyr↑</a:t>
                      </a:r>
                    </a:p>
                  </a:txBody>
                  <a:tcPr marL="73152" marR="73152">
                    <a:solidFill>
                      <a:srgbClr val="FFFFFF"/>
                    </a:solidFill>
                  </a:tcPr>
                </a:tc>
                <a:tc>
                  <a:txBody>
                    <a:bodyPr/>
                    <a:lstStyle/>
                    <a:p>
                      <a:r>
                        <a:rPr sz="1500" b="0" i="0">
                          <a:solidFill>
                            <a:srgbClr val="11202B"/>
                          </a:solidFill>
                          <a:latin typeface="Malgun Gothic"/>
                          <a:ea typeface="Malgun Gothic"/>
                          <a:cs typeface="Malgun Gothic"/>
                        </a:rPr>
                        <a:t>PKU, BH₄ 결핍</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Leu/Ile↑, Val↑</a:t>
                      </a:r>
                    </a:p>
                  </a:txBody>
                  <a:tcPr marL="73152" marR="73152">
                    <a:solidFill>
                      <a:srgbClr val="ECF1F5"/>
                    </a:solidFill>
                  </a:tcPr>
                </a:tc>
                <a:tc>
                  <a:txBody>
                    <a:bodyPr/>
                    <a:lstStyle/>
                    <a:p>
                      <a:r>
                        <a:rPr sz="1500" b="0" i="0">
                          <a:solidFill>
                            <a:srgbClr val="11202B"/>
                          </a:solidFill>
                          <a:latin typeface="Malgun Gothic"/>
                          <a:ea typeface="Malgun Gothic"/>
                          <a:cs typeface="Malgun Gothic"/>
                        </a:rPr>
                        <a:t>MSUD</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Met↑</a:t>
                      </a:r>
                    </a:p>
                  </a:txBody>
                  <a:tcPr marL="73152" marR="73152">
                    <a:solidFill>
                      <a:srgbClr val="FFFFFF"/>
                    </a:solidFill>
                  </a:tcPr>
                </a:tc>
                <a:tc>
                  <a:txBody>
                    <a:bodyPr/>
                    <a:lstStyle/>
                    <a:p>
                      <a:r>
                        <a:rPr sz="1500" b="0" i="0">
                          <a:solidFill>
                            <a:srgbClr val="11202B"/>
                          </a:solidFill>
                          <a:latin typeface="Malgun Gothic"/>
                          <a:ea typeface="Malgun Gothic"/>
                          <a:cs typeface="Malgun Gothic"/>
                        </a:rPr>
                        <a:t>호모시스틴뇨증</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시트룰린↑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시트룰린혈증, ASL 결핍</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C3(프로피오닐카르니틴)↑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프로피온산·메틸말론산혈증</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C5↑</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이소발레르산혈증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C5DC↑</a:t>
                      </a:r>
                    </a:p>
                  </a:txBody>
                  <a:tcPr marL="73152" marR="73152">
                    <a:solidFill>
                      <a:srgbClr val="FFFFFF"/>
                    </a:solidFill>
                  </a:tcPr>
                </a:tc>
                <a:tc>
                  <a:txBody>
                    <a:bodyPr/>
                    <a:lstStyle/>
                    <a:p>
                      <a:r>
                        <a:rPr sz="1500" b="0" i="0">
                          <a:solidFill>
                            <a:srgbClr val="11202B"/>
                          </a:solidFill>
                          <a:latin typeface="Malgun Gothic"/>
                          <a:ea typeface="Malgun Gothic"/>
                          <a:cs typeface="Malgun Gothic"/>
                        </a:rPr>
                        <a:t>글루타르산혈증 1형</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C8↑</a:t>
                      </a:r>
                    </a:p>
                  </a:txBody>
                  <a:tcPr marL="73152" marR="73152">
                    <a:solidFill>
                      <a:srgbClr val="ECF1F5"/>
                    </a:solidFill>
                  </a:tcPr>
                </a:tc>
                <a:tc>
                  <a:txBody>
                    <a:bodyPr/>
                    <a:lstStyle/>
                    <a:p>
                      <a:r>
                        <a:rPr sz="1500" b="0" i="0">
                          <a:solidFill>
                            <a:srgbClr val="11202B"/>
                          </a:solidFill>
                          <a:latin typeface="Malgun Gothic"/>
                          <a:ea typeface="Malgun Gothic"/>
                          <a:cs typeface="Malgun Gothic"/>
                        </a:rPr>
                        <a:t>MCAD 결핍</a:t>
                      </a:r>
                    </a:p>
                  </a:txBody>
                  <a:tcPr marL="73152" marR="73152">
                    <a:solidFill>
                      <a:srgbClr val="ECF1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신생아 선별검사와 탠덤질량분석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지표</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의심 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C0(유리카르니틴)↓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 카르니틴 결핍</a:t>
                      </a:r>
                    </a:p>
                  </a:txBody>
                  <a:tcPr marL="73152" marR="7315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신생아 선별검사와 탠덤질량분석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21</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한국은 2018년부터 탠덤질량분석 기반 확대 선천성 대사이상 선별검사(약 50여 종)를 국가 지원으로 시행하고 있다. 양성 결과는 '진단'이 아니라 '확진 검사가 필요한 상태'로 부모에게 설명하고 신속히 2차 검사(혈장 아미노산, 소변 유기산, 유전자 검사)로 연결해야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유전체 신생아 선별(genomic newborn screening; GUARDIAN, BabySeq, 영국 Generation Study)이 수백 개 치료 가능 유전질환으로 범위를 넓히고 있으나 변이 해석·윤리 문제가 남아 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PKU 유전자 치료: AAV-PAH(BMN 307은 안전성 문제로 중단), 간 염기편집, 장내 공학 미생물(SYNB1934; Phe 분해)이 연구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MSUD·메틸말론산혈증에서 mRNA-LNP 효소 보충(mRNA-3705 MMA)이 1/2상에서 대사 위기 빈도를 줄였다.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대사체 '탐색적 진단'(비표적 대사체학)이 유전체 분석과 결합해 미진단 대사질환 발견률을 높이고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류신·리신은 순수 케톤생성, 대부분 아미노산은 포도당생성이며 탄소골격은 7개 진입점으로 모인다.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PAH(BH₄) 결손은 PKU, FAH 결손은 티로신혈증 1형(니티시논), HGD 결손은 알캅톤뇨증이다.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BCKDH 결손은 MSUD(알로이소류신), 프로피오닐-CoA 대사 결손은 유기산혈증(산증 + 케톤증 + 고암모니아)이다.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호모시스테인은 B12/엽산(재메틸화)과 B6(CBS 황전이)로 처리되며 CBS 결핍은 수정체 하방 탈구·혈전을 일으킨다.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탠덤질량분석 신생아 선별은 증상 전 진단과 조기 치료로 장애를 예방한다.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저Phe식을 철저히 지켰는데도 신경학적으로 악화되는 고페닐알라닌혈증 영아가 있다. 의심 질환과 필요한 검사·치료는?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BH₄(테트라하이드로바이오프테린) 합성 또는 재생 결핍. BH₄는 PAH뿐 아니라 티로신 수산화효소·트립토판 수산화효소·NOS의 보조인자이므로 도파민·세로토닌이 결핍된다. 소변/혈액 프테린 분석, 혈액 DHPR 활성, CSF 신경전달물질 대사물(HVA, 5-HIAA) 측정 후 BH₄ 보충, L-도파/카비도파, 5-하이드록시트립토판을 투여한다(DHPR 결핍은 폴린산 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신생아에서 대사산증, 케톤뇨, 고암모니아혈증, 호중구감소가 함께 나타났다. 가장 먼저 의심할 질환군과 요소회로 이상과의 감별점은?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유기산혈증(프로피온산혈증, 메틸말론산혈증, 이소발레르산혈증). 요소회로 이상은 대사산증·케톤증 없이 호흡성 알칼리증을 보이는 반면, 유기산혈증은 음이온차 대사산증과 케톤증이 동반되고 골수 억제를 보인다. 소변 유기산 분석과 아실카르니틴(C3, C5)으로 확인한다.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고전적 호모시스틴뇨증에서 혈전 위험이 증가하는 기전을 제시하라.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고농도 호모시스테인이 내피세포 손상(산화 스트레스, NO 생체이용률 감소), 혈소판 활성화, 응고인자 V 활성·트롬보모듈린 기능 저하, 단백질 호모시스테인화를 통해 동정맥 혈전을 유발한다. 수술·마취 시 혈전 위험이 크므로 사전 관리가 필요하다.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티로신혈증 1형에서 니티시논이 효과적인 이유와 치료 시 주의점은?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니티시논은 상류 효소 4-HPPD를 억제해 독성 대사물(푸마릴아세토아세트산, 숙시닐아세톤)의 생성을 차단한다. 그 결과 티로신이 증가하므로 저Phe/Tyr 식이를 병행해야 하며, 고티로신혈증으로 인한 각막 병변과 인지 문제를 모니터링한다. 간세포암 감시도 지속한다.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Saudubray JM, Baumgartner MR, García-Cazorla Á, Walter J (eds). Inborn Metabolic Diseases: Diagnosis and Treatment, 7th ed. Springer, 2022.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van Spronsen FJ et al. Phenylketonuria. Nat Rev Dis Primers 2021;7:36.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Morris AA et al. Guidelines for the diagnosis and management of cystathionine beta-synthase deficiency. J Inherit Metab Dis 2017;40:49–74.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B01-L10  ·  아미노산 탄소골격 대사와 선천대사이상</a:t>
            </a:r>
            <a:r>
              <a:rPr sz="10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Baumgartner MR et al. Proposed guidelines for the diagnosis and management of methylmalonic and propionic acidemia: first revision. J Inherit Metab Dis 2021;44:566–592.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Wang TJ et al. Metabolite profiles and the risk of developing diabetes. Nat Med 2011;17:448–453.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