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성인은 하루 약 300–400 g의 체단백질을 분해·재합성하며, 식이 단백질(약 1 g/kg/일)과 함께 아미노산 풀을 구성한다. 아미노산은 저장 형태가 없으므로 남는 것은 분해되어 질소는 요소로, 탄소골격은 에너지·포도당·케톤으로 쓰인다.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유리 암모니아(NH₃/NH₄⁺)는 신경독성이 강해 혈중 농도가 낮게(&lt;35–50 μmol/L) 유지된다. 말초에서 생성된 질소는 무독성 운반체로 간에 전달된다.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요소회로는 간 문맥 주위 간세포에서 질소 2개(하나는 NH₄⁺, 하나는 아스파르트산)와 HCO₃⁻로 요소를 만든다. 처음 두 단계는 미토콘드리아, 나머지는 세포질에서 일어난다.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OTC 결핍증. 시트룰린이 낮으므로 원위부(ASS1, ASL) 결손이 아니라 근위부(NAGS, CPS1, OTC) 결손이며, 오로트산이 크게 증가하므로 카바모일인산이 형성된 이후 단계인 OTC 결핍이다(CPS1·NAGS 결핍은 오로트산 정상·감소). 남아라는 점도 X연관 OTC 결핍에 부합한다.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발프로산 대사물(발프로일-CoA)이 NAGS/CPS1을 억제하고 카르니틴을 고갈시켜(발프로일카르니틴 배설) 미토콘드리아 기능을 떨어뜨린다. L-카르니틴 보충이 권고되며, 요소회로 이상 보인자(특히 OTC 여성 보인자)에서는 발프로산을 피한다.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산증에서 신장 근위세뇨관의 글루타미나아제·GDH가 유도되어 글루타민에서 NH₄⁺ 2개와 α-KG를 만든다. NH₄⁺는 소변으로 배설되어 H⁺를 제거하고, α-KG 대사는 새 HCO₃⁻를 생성해 혈액으로 돌려보낸다. 이때 간은 요소 합성을 줄이고 글루타민 합성을 늘려 질소를 신장으로 돌린다.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고암모니아 혼수는 드물고 유아기 이후 진행성 경직성 하지마비, 발달 퇴행, 경련이 특징이다(아르기닌·구아니디노 화합물 축적). 아르기닌 보충은 금기이며, 저단백식·질소 제거제와 혈중 아르기닌을 낮추는 페그질아르기나아제(효소대체요법)를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B01 의학생화학  ·  질소대사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아미노산 분해와 요소회로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Amino Acid Catabolism and the Urea 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B01-L09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B01-L09  ·  아미노산 분해와 요소회로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단백질 분해(소화, 리소좀, 유비퀴틴-프로테아솜)와 질소 평형의 개념을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아미노기 전이(ALT, AST; PLP)와 산화적 탈아미노화(GDH)의 역할을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말초에서 간으로의 암모니아 운반(글루타민, 알라닌)을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요소회로 5효소의 위치·반응·조절(NAG)을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고암모니아혈증의 원인(선천·후천), 신경독성 기전, 치료 원칙을 정리한다.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B01-L09  ·  아미노산 분해와 요소회로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단백질 회전과 질소 평형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아미노기 전이와 탈아미노화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암모니아의 말초 운반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요소회로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요소회로 이상(UCD)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6.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고암모니아혈증의 진단과 치료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단백질 회전과 질소 평형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B01-L09  ·  아미노산 분해와 요소회로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양의 질소 평형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성장, 임신, 회복기.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음의 질소 평형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기아, 화상·패혈증 등 이화 상태, 필수아미노산 결핍, 당질코르티코이드 과잉.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세포 내 분해: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유비퀴틴-프로테아솜계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(단수명·조절 단백질, 손상 단백질; E1–E2–E3),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자가포식-리소좀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(장수명 단백질, 소기관), 칼페인·카스페이스.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소화: 위 펩신 → 췌장 트립신(엔테로펩티다아제가 트립시노겐 활성화) → 키모트립신·엘라스테이스·카복시펩티다아제 → 솔가장자리 아미노펩티다아제 → 아미노산·다이/트라이펩타이드(PEPT1) 흡수.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단백질 회전과 질소 평형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B01-L09  ·  아미노산 분해와 요소회로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22987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중성아미노산 수송체(SLC6A19, B⁰AT1) 결손인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하트넙병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은 트립토판 흡수·재흡수 장애로 나이아신 결핍(펠라그라 유사 피부염, 운동실조)을 일으킨다.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시스틴뇨증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(SLC3A1/SLC7A9)은 COLA(시스틴, 오르니틴, 리신, 아르기닌) 재흡수 장애로 육각형 시스틴 결석이 생긴다.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아미노기 전이와 탈아미노화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B01-L09  ·  아미노산 분해와 요소회로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아미노기 전이효소(transaminase)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아미노산 + α-케토글루타르산 ⇌ α-케토산 + 글루탐산. 보조인자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PLP(비타민 B6)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가역적. 질소를 글루탐산으로 모으는 '깔때기'. 리신과 트레오닌은 아미노기 전이를 거치지 않는다.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ALT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알라닌 + α-KG ⇌ 피루브산 + 글루탐산 (간 특이도 높음).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AST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글루탐산 + OAA ⇌ α-KG + 아스파르트산 (간·심장·근육·적혈구).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글루탐산 탈수소효소(GDH)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글루탐산 + NAD(P)⁺ ⇌ α-KG + NH₄⁺. 미토콘드리아, 간 활성 높음. ADP·GTP·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류신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(활성화)·GTP(억제)로 조절.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아미노기 전이 + GDH =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트랜스탈아미노화(transdeamination)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아미노기 전이와 탈아미노화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B01-L09  ·  아미노산 분해와 요소회로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기타 탈아미노: 세린·트레오닌 탈수효소, 히스티디나아제, 아미노산 산화효소(퍼옥시좀 D-아미노산 산화효소).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아미노기 전이와 탈아미노화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B01-L09  ·  아미노산 분해와 요소회로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78308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고인슐린혈증-고암모니아혈증 증후군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(HI/HA; GLUD1 기능획득 변이)은 GTP 억제를 받지 않는 GDH 때문에 β세포에서 α-KG → ATP 생성이 과다해 류신 유발 저혈당이 생기고, 간에서 NH₄⁺ 생성이 증가해 무증상 경도 고암모니아혈증을 보인다. 디아족사이드로 치료한다.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246120"/>
            <a:ext cx="10881360" cy="178308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간기능 검사 해석: ALT/AST의 높은 상승(&gt;1000 U/L)은 허혈성·바이러스성·독성 간염(아세트아미노펜). AST/ALT &gt; 2는 알코올성 간질환을 시사(알코올이 PLP 결핍을 유발하고 ALT가 더 PLP 의존적이며, 미토콘드리아 AST 방출).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암모니아의 말초 운반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B01-L09  ·  아미노산 분해와 요소회로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글루타민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글루타민 합성효소(GS; 글루탐산 + NH₄⁺ + ATP → 글루타민). 대부분 조직(뇌 성상세포, 근육)에서 암모니아 해독. 글루타민은 혈중 가장 풍부한 아미노산(~0.6 mM).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간에서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글루타미나아제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가 다시 NH₄⁺를 떼어 요소회로에 공급.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신장에서 글루타미나아제 → NH₄⁺ 소변 배설(산 배설; 대사산증 시 증가).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장 세포는 글루타민을 주연료로 사용.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포도당-알라닌 회로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근육 피루브산 + 아미노기 → 알라닌 → 간 ALT → 피루브산(포도당신생) + 글루탐산(요소).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간의 소엽 구획화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문맥 주위(1구역) 간세포 = 요소회로(저친화·고용량), 중심정맥 주위(3구역) 소수 간세포 =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글루타민 합성효소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(고친화 '청소부').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암모니아의 말초 운반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B01-L09  ·  아미노산 분해와 요소회로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930400"/>
          </a:xfrm>
          <a:prstGeom prst="rect">
            <a:avLst/>
          </a:prstGeom>
          <a:solidFill>
            <a:srgbClr val="FFF5D6"/>
          </a:solidFill>
          <a:ln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9A6B00"/>
                </a:solidFill>
                <a:latin typeface="Malgun Gothic"/>
                <a:ea typeface="Malgun Gothic"/>
                <a:cs typeface="Malgun Gothic"/>
              </a:rPr>
              <a:t>핵심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뇌는 요소회로가 없어 암모니아를 성상세포의 글루타민 합성으로만 처리한다. 고암모니아혈증에서 성상세포 내 글루타민이 쌓이면 삼투성 부종(트로이 목마 가설: 미토콘드리아로 들어간 글루타민이 다시 NH₃를 내 ROS·막전위 손상)이 생긴다.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요소회로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B01-L09  ·  아미노산 분해와 요소회로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오르니틴은 ORNT1(SLC25A15)으로, 시트룰린은 반대로 수송된다. 아스파르트산 공급은 미토콘드리아 시트린(SLC25A13; 아스파르트산-글루탐산 운반체).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에너지: 요소 1분자에 ATP 4당량(① 2ATP, ③ ATP → AMP). 푸마르산 → 말산 → OAA로 '아스파르트산-아르기니노숙신산 분로'가 TCA 회로와 연결(Krebs 이중 자전거).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조절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단기: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N-아세틸글루탐산(NAG)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이 CPS1의 필수 알로스테릭 활성화제. NAG 합성효소(NAGS)는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아르기닌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으로 활성화(아미노산 과잉 신호).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장기: 고단백식·기아·당질코르티코이드·글루카곤이 요소회로 효소 발현을 증가.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요소회로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B01-L09  ·  아미노산 분해와 요소회로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효소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반응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카바모일인산 합성효소 I (CPS1)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미토콘드리아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NH₄⁺ + HCO₃⁻ + 2ATP → 카바모일인산 (속도결정;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NAG 필수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②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오르니틴 트랜스카바모일라아제 (OTC)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미토콘드리아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카바모일인산 + 오르니틴 → 시트룰린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③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아르기니노숙신산 합성효소 (ASS1)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세포질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시트룰린 +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아스파르트산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+ ATP(→AMP + PPi) → 아르기니노숙신산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④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아르기니노숙신산 분해효소 (ASL)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세포질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→ 아르기닌 +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푸마르산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⑤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아르기나아제 1 (ARG1)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세포질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아르기닌 → 요소 + 오르니틴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요소회로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B01-L09  ·  아미노산 분해와 요소회로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5621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카글루민산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(NAG 유사체)은 NAGS 결핍을 완전히 교정하고, 프로피온산혈증·메틸말론산혈증(프로피오닐-CoA가 NAGS 억제)의 2차 고암모니아혈증에도 효과가 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요소회로 이상(UCD)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B01-L09  ·  아미노산 분해와 요소회로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오로트산이 증가하는 이유: OTC 결핍 시 쌓인 미토콘드리아 카바모일인산이 세포질로 넘어가 피리미딘 합성(CAD)으로 흘러 오로트산이 된다. 오로트산뇨증(UMPS 결핍)과의 감별: UMPS 결핍은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거대적모구빈혈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 있고 암모니아는 정상이다.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신생아형: 생후 24–72시간 수유 후 기면, 수유 거부, 구토, 과호흡(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호흡성 알칼리증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— 암모니아의 호흡중추 자극), 경련, 혼수. 패혈증으로 오인되기 쉽다.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요소회로 이상(UCD)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B01-L09  ·  아미노산 분해와 요소회로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혈장 아미노산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소변 오로트산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NAGS 결핍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시트룰린↓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정상·↓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카글루민산 반응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CPS1 결핍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AR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시트룰린↓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정상·↓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신생아 고암모니아 혼수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OTC 결핍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X연관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(가장 흔함)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시트룰린↓, 글루타민↑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↑↑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남아 신생아 중증; 여성 보인자는 단백 혐오·산후·스트레스 시 발현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시트룰린혈증 1형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AR (ASS1)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시트룰린 ↑↑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경도↑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아르기니노숙신산뇨증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AR (ASL)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아르기니노숙신산↑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경도↑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취약모발(결절성 열모증)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간섬유화, NO 결핍 고혈압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아르기나아제 결핍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AR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아르기닌 ↑↑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고암모니아 경미,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진행성 경직성 하지마비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발달 퇴행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HHH 증후군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AR (ORNT1)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오르니틴↑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↑(호모시트룰린뇨)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고암모니아혈증의 진단과 치료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B01-L09  ·  아미노산 분해와 요소회로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원인 감별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선천(UCD, 유기산혈증, 지방산 산화장애, HI/HA, 시트린 결핍, 리신뇨성 단백불내성), 후천(간부전·간경변, 문맥-전신 단락,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발프로산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(CPS1 억제·카르니틴 고갈), 아스파라기나아제, 5-FU, 요로감염 우레아제 생성균 + 요저류, 위장관 출혈, 고단백 TPN, 비만수술 후, 다발골수종).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채혈 주의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자유 흐름 정맥·동맥 채혈, 얼음 운반, 30분 내 분석. 지연·용혈 시 위상승.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응급 치료(신생아·급성)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단백질 섭취 중단(24–48시간 이내 재개),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고칼로리 포도당 + 지질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 정주로 이화 억제(필요시 인슐린).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질소 제거제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벤조산나트륨(글리신과 결합 → 히푸르산 배설),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페닐아세트산나트륨/페닐부티르산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(글루타민 결합 → 페닐아세틸글루타민; 질소 2개 제거), 글리세롤 페닐부티르산.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고암모니아혈증의 진단과 치료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B01-L09  ·  아미노산 분해와 요소회로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2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20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아르기닌</a:t>
            </a:r>
            <a:r>
              <a:rPr sz="20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 정주(ASS·ASL 결핍에서 오르니틴 공급원 → 시트룰린/아르기니노숙신산으로 질소 배출; 아르기나아제 결핍은 금기).</a:t>
            </a:r>
          </a:p>
          <a:p>
            <a:pPr lvl="1">
              <a:spcAft>
                <a:spcPts val="400"/>
              </a:spcAft>
            </a:pPr>
            <a:r>
              <a:rPr sz="2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20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카글루민산(NAGS 결핍 의심 시).</a:t>
            </a:r>
          </a:p>
          <a:p>
            <a:pPr lvl="1">
              <a:spcAft>
                <a:spcPts val="400"/>
              </a:spcAft>
            </a:pPr>
            <a:r>
              <a:rPr sz="2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20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암모니아 &gt; 250–500 μmol/L 또는 약물에 반응 없을 때 </a:t>
            </a:r>
            <a:r>
              <a:rPr sz="20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혈액투석/CRRT</a:t>
            </a:r>
            <a:r>
              <a:rPr sz="20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(복막투석은 비효율).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장기 치료: 저단백식 + 필수아미노산 보충, 질소 제거제, 시트룰린/아르기닌. 중증은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간이식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으로 완치(효소가 간에 국한).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고암모니아혈증의 진단과 치료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B01-L09  ·  아미노산 분해와 요소회로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5621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간성뇌병증(후천)에서는 락툴로스(장 내 산성화로 NH₃ → NH₄⁺ 포획, 완하 효과)와 리팍시민(암모니아 생성 장내세균 억제)을 쓴다(B05 L08).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B01-L09  ·  아미노산 분해와 요소회로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OTC 결핍에 대한 AAV8 유전자 치료(DTX301)와 mRNA-LNP(OTC mRNA 반복 투여), 간세포 표적 염기편집(신생아 CPS1 결핍 환자 'KJ'에게 2025년 맞춤형 염기편집 치료가 시행된 첫 사례; Musunuru et al., NEJM 2025)이 개인맞춤 유전자 편집 시대를 열었다.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장내 미생물 우레아제를 줄이도록 설계한 공학 균주(SYNB1020)는 효과가 제한적이었으나, 미생물 기반 질소 제거 전략의 개념을 제시했다.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고암모니아의 뇌 손상에서 성상세포 글루타민 축적 외에 NKCC1 활성화, 신경스테로이드, 미세아교세포 염증의 역할이 제시되었다.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B01-L09  ·  아미노산 분해와 요소회로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아미노산 질소는 아미노기 전이(PLP)로 글루탐산에 모이고 GDH에 의해 NH₄⁺로 방출된다.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말초 암모니아는 글루타민(대부분 조직)과 알라닌(근육)으로 간에 운반된다.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요소회로는 CPS1·OTC(미토콘드리아)와 ASS1·ASL·ARG1(세포질)으로 구성되며 NAG가 CPS1을 활성화한다.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OTC 결핍은 X연관이며 오로트산뇨가 CPS1 결핍과의 감별점이다.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고암모니아혈증 응급 치료: 단백 중단, 고칼로리, 질소 제거제, 아르기닌, 투석.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B01-L09  ·  아미노산 분해와 요소회로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생후 3일 남아가 수유 거부·기면·과호흡을 보인다. 혈중 암모니아 650 μmol/L, 혈액가스는 호흡성 알칼리증, 혈장 시트룰린 낮음, 소변 오로트산 크게 증가. 진단과 감별 근거는?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OTC 결핍증. 시트룰린이 낮으므로 원위부(ASS1, ASL) 결손이 아니라 근위부(NAGS, CPS1, OTC) 결손이며, 오로트산이 크게 증가하므로 카바모일인산이 형성된 이후 단계인 OTC 결핍이다(CPS1·NAGS 결핍은 오로트산 정상·감소). 남아라는 점도 X연관 OTC 결핍에 부합한다.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B01-L09  ·  아미노산 분해와 요소회로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발프로산 복용 중인 환자의 고암모니아혈증 기전과 보충 약물은?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발프로산 대사물(발프로일-CoA)이 NAGS/CPS1을 억제하고 카르니틴을 고갈시켜(발프로일카르니틴 배설) 미토콘드리아 기능을 떨어뜨린다. L-카르니틴 보충이 권고되며, 요소회로 이상 보인자(특히 OTC 여성 보인자)에서는 발프로산을 피한다.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B01-L09  ·  아미노산 분해와 요소회로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신장이 대사산증에서 산을 배설하는 방식과 질소 대사의 연결을 설명하라.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산증에서 신장 근위세뇨관의 글루타미나아제·GDH가 유도되어 글루타민에서 NH₄⁺ 2개와 α-KG를 만든다. NH₄⁺는 소변으로 배설되어 H⁺를 제거하고, α-KG 대사는 새 HCO₃⁻를 생성해 혈액으로 돌려보낸다. 이때 간은 요소 합성을 줄이고 글루타민 합성을 늘려 질소를 신장으로 돌린다.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B01-L09  ·  아미노산 분해와 요소회로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아르기나아제 결핍은 다른 요소회로 이상과 임상 양상이 다르다. 어떻게 다르며, 치료에서 피해야 할 것은?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고암모니아 혼수는 드물고 유아기 이후 진행성 경직성 하지마비, 발달 퇴행, 경련이 특징이다(아르기닌·구아니디노 화합물 축적). 아르기닌 보충은 금기이며, 저단백식·질소 제거제와 혈중 아르기닌을 낮추는 페그질아르기나아제(효소대체요법)를 사용한다.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B01-L09  ·  아미노산 분해와 요소회로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Häberle J et al. Suggested guidelines for the diagnosis and management of urea cycle disorders: first revision. J Inherit Metab Dis 2019;42:1192–1230.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Ah Mew N et al. Urea cycle disorders overview. GeneReviews (updated 2023).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Brosnan JT, Brosnan ME. Branched-chain amino acids and glutamine in health and disease (overview of nitrogen handling). J Nutr 2006.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B01-L09  ·  아미노산 분해와 요소회로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Musunuru K et al. Patient-specific in vivo gene editing to treat a rare genetic disease. N Engl J Med 2025.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Rose CF et al. Hepatic encephalopathy: novel insights into classification, pathophysiology and therapy. J Hepatol 2020;73:1526–1547.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