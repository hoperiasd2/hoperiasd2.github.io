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콜레스테롤은 거의 모든 세포가 아세틸-CoA로부터 합성할 수 있으나 주로 간·장에서 합성된다(하루 약 1 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간세포 내 콜레스테롤이 감소하면 SREBP-2가 활성화되어 LDL 수용체 유전자 발현이 증가하고, 이로 인해 혈중 LDL 제거가 촉진되는 것이 주된 기전이다. 그래서 LDL 수용체 기능이 전혀 없는 동형접합 FH에서는 스타틴 효과가 미미하다.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가족성 킬로미크론혈증 증후군(LPL, APOC2, GPIHBP1, APOA5, LMF1 결함). 하루 지방 섭취를 총열량의 10–15%(또는 15–20 g) 이하로 극단적으로 제한하고, 필요 시 중쇄지방(MCT; 문맥으로 직접 흡수되어 킬로미크론을 만들지 않음)을 사용한다. 알코올·단순당을 피한다. 올레자르센(apoC-III ASO)이 승인되었다.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HDL-C '수치'는 HDL의 기능(콜레스테롤 유출능, 항염 기능)을 반영하지 않으며, 멘델 무작위분석에서 HDL-C를 올리는 유전 변이가 심혈관 위험을 줄이지 못했다. 반면 아나세트라피브의 소폭 이득은 LDL/apoB 감소로 설명되었다. 즉 인과 인자는 apoB 함유 입자 수이다.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ApoE2는 LDL 수용체 결합 능력이 낮아 킬로미크론 잔여물과 IDL(β-VLDL)의 간 흡수가 지연된다. 대부분은 무증상이나 비만·당뇨·갑상선기능저하증 등 2차 요인이 VLDL 생산을 늘리거나 제거를 줄이면 잔여물이 축적되어 콜레스테롤·TG가 동시에 상승하고 손바닥 황색종·조기 죽상경화가 생긴다.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B01 의학생화학  ·  지질대사</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콜레스테롤 합성과 지단백 대사</a:t>
            </a:r>
          </a:p>
          <a:p>
            <a:r>
              <a:rPr sz="2000" b="0" i="0">
                <a:solidFill>
                  <a:srgbClr val="C2CDD6"/>
                </a:solidFill>
                <a:latin typeface="Malgun Gothic"/>
                <a:ea typeface="Malgun Gothic"/>
                <a:cs typeface="Malgun Gothic"/>
              </a:rPr>
              <a:t>Cholesterol Biosynthesis and Lipoprotein Metabolism</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B01-L07</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메발론산 경로와 HMG-CoA 환원효소의 다층적 조절(SREBP-2/INSIG/SCAP, 분해, 인산화)을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콜레스테롤의 운명(막, 담즙산, 스테로이드, 비타민 D)을 정리한다.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지단백의 종류·아포단백·대사 경로(외인성, 내인성, 역콜레스테롤 수송)를 설명한다.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LDL 수용체 경로와 PCSK9, 가족성 고콜레스테롤혈증의 분자기전을 설명한다.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스타틴·에제티미브·PCSK9 억제제·벰페도산·인클리시란의 작용기전을 비교한다.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메발론산 경로</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HMG-CoA 환원효소의 조절</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콜레스테롤의 운명</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지단백의 구조와 분류</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지단백 대사 경로</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원발성 이상지질혈증</a:t>
            </a:r>
          </a:p>
          <a:p>
            <a:pPr>
              <a:spcAft>
                <a:spcPts val="800"/>
              </a:spcAft>
            </a:pPr>
            <a:r>
              <a:rPr sz="2200" b="1" i="0">
                <a:solidFill>
                  <a:srgbClr val="003C71"/>
                </a:solidFill>
                <a:latin typeface="Malgun Gothic"/>
                <a:ea typeface="Malgun Gothic"/>
                <a:cs typeface="Malgun Gothic"/>
              </a:rPr>
              <a:t>7. </a:t>
            </a:r>
            <a:r>
              <a:rPr sz="2200" b="0" i="0">
                <a:solidFill>
                  <a:srgbClr val="11202B"/>
                </a:solidFill>
                <a:latin typeface="Malgun Gothic"/>
                <a:ea typeface="Malgun Gothic"/>
                <a:cs typeface="Malgun Gothic"/>
              </a:rPr>
              <a:t>지질강하 치료의 기전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메발론산 경로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3 아세틸-CoA → HMG-CoA(세포질 HMG-CoA 합성효소 1) → (</a:t>
            </a:r>
            <a:r>
              <a:rPr sz="2000" b="1" i="0">
                <a:solidFill>
                  <a:srgbClr val="11202B"/>
                </a:solidFill>
                <a:latin typeface="Malgun Gothic"/>
                <a:ea typeface="Malgun Gothic"/>
                <a:cs typeface="Malgun Gothic"/>
              </a:rPr>
              <a:t>HMG-CoA 환원효소 HMGCR</a:t>
            </a:r>
            <a:r>
              <a:rPr sz="2000" b="0" i="0">
                <a:solidFill>
                  <a:srgbClr val="11202B"/>
                </a:solidFill>
                <a:latin typeface="Malgun Gothic"/>
                <a:ea typeface="Malgun Gothic"/>
                <a:cs typeface="Malgun Gothic"/>
              </a:rPr>
              <a:t>, 2 NADPH, 소포체 막) </a:t>
            </a:r>
            <a:r>
              <a:rPr sz="2000" b="1" i="0">
                <a:solidFill>
                  <a:srgbClr val="11202B"/>
                </a:solidFill>
                <a:latin typeface="Malgun Gothic"/>
                <a:ea typeface="Malgun Gothic"/>
                <a:cs typeface="Malgun Gothic"/>
              </a:rPr>
              <a:t>메발론산</a:t>
            </a:r>
            <a:r>
              <a:rPr sz="2000" b="0" i="0">
                <a:solidFill>
                  <a:srgbClr val="11202B"/>
                </a:solidFill>
                <a:latin typeface="Malgun Gothic"/>
                <a:ea typeface="Malgun Gothic"/>
                <a:cs typeface="Malgun Gothic"/>
              </a:rPr>
              <a:t> — 속도결정 단계.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메발론산 → 이소펜테닐 피로인산(IPP, 5C) ⇌ DMAPP → 제라닐-PP(10C) → </a:t>
            </a:r>
            <a:r>
              <a:rPr sz="2000" b="1" i="0">
                <a:solidFill>
                  <a:srgbClr val="11202B"/>
                </a:solidFill>
                <a:latin typeface="Malgun Gothic"/>
                <a:ea typeface="Malgun Gothic"/>
                <a:cs typeface="Malgun Gothic"/>
              </a:rPr>
              <a:t>파네실-PP(15C)</a:t>
            </a:r>
            <a:r>
              <a:rPr sz="2000" b="0" i="0">
                <a:solidFill>
                  <a:srgbClr val="11202B"/>
                </a:solidFill>
                <a:latin typeface="Malgun Gothic"/>
                <a:ea typeface="Malgun Gothic"/>
                <a:cs typeface="Malgun Gothic"/>
              </a:rPr>
              <a:t> → (스쿠알렌 합성효소) 스쿠알렌(30C) → (스쿠알렌 에폭시화효소) → 라노스테롤 → (19단계, Bloch/Kandutsch-Russell 경로) → 콜레스테롤.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분지 산물: 파네실-PP → </a:t>
            </a:r>
            <a:r>
              <a:rPr sz="2000" b="1" i="0">
                <a:solidFill>
                  <a:srgbClr val="11202B"/>
                </a:solidFill>
                <a:latin typeface="Malgun Gothic"/>
                <a:ea typeface="Malgun Gothic"/>
                <a:cs typeface="Malgun Gothic"/>
              </a:rPr>
              <a:t>돌리콜</a:t>
            </a:r>
            <a:r>
              <a:rPr sz="2000" b="0" i="0">
                <a:solidFill>
                  <a:srgbClr val="11202B"/>
                </a:solidFill>
                <a:latin typeface="Malgun Gothic"/>
                <a:ea typeface="Malgun Gothic"/>
                <a:cs typeface="Malgun Gothic"/>
              </a:rPr>
              <a:t>(N-당화), </a:t>
            </a:r>
            <a:r>
              <a:rPr sz="2000" b="1" i="0">
                <a:solidFill>
                  <a:srgbClr val="11202B"/>
                </a:solidFill>
                <a:latin typeface="Malgun Gothic"/>
                <a:ea typeface="Malgun Gothic"/>
                <a:cs typeface="Malgun Gothic"/>
              </a:rPr>
              <a:t>유비퀴논(CoQ10)</a:t>
            </a:r>
            <a:r>
              <a:rPr sz="2000" b="0" i="0">
                <a:solidFill>
                  <a:srgbClr val="11202B"/>
                </a:solidFill>
                <a:latin typeface="Malgun Gothic"/>
                <a:ea typeface="Malgun Gothic"/>
                <a:cs typeface="Malgun Gothic"/>
              </a:rPr>
              <a:t>, 헴 A, </a:t>
            </a:r>
            <a:r>
              <a:rPr sz="2000" b="1" i="0">
                <a:solidFill>
                  <a:srgbClr val="11202B"/>
                </a:solidFill>
                <a:latin typeface="Malgun Gothic"/>
                <a:ea typeface="Malgun Gothic"/>
                <a:cs typeface="Malgun Gothic"/>
              </a:rPr>
              <a:t>단백질 프레닐화</a:t>
            </a:r>
            <a:r>
              <a:rPr sz="2000" b="0" i="0">
                <a:solidFill>
                  <a:srgbClr val="11202B"/>
                </a:solidFill>
                <a:latin typeface="Malgun Gothic"/>
                <a:ea typeface="Malgun Gothic"/>
                <a:cs typeface="Malgun Gothic"/>
              </a:rPr>
              <a:t>(Ras, Rho — 파네실화·제라닐제라닐화).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메발론산 경로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5</a:t>
            </a:r>
          </a:p>
        </p:txBody>
      </p:sp>
      <p:sp>
        <p:nvSpPr>
          <p:cNvPr id="7" name="Rectangle 6"/>
          <p:cNvSpPr/>
          <p:nvPr/>
        </p:nvSpPr>
        <p:spPr>
          <a:xfrm>
            <a:off x="640080" y="1325880"/>
            <a:ext cx="10881360" cy="1783080"/>
          </a:xfrm>
          <a:prstGeom prst="rect">
            <a:avLst/>
          </a:prstGeom>
          <a:solidFill>
            <a:srgbClr val="FFF5D6"/>
          </a:solidFill>
          <a:ln>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800" b="1" i="0">
                <a:solidFill>
                  <a:srgbClr val="9A6B00"/>
                </a:solidFill>
                <a:latin typeface="Malgun Gothic"/>
                <a:ea typeface="Malgun Gothic"/>
                <a:cs typeface="Malgun Gothic"/>
              </a:rPr>
              <a:t>핵심  </a:t>
            </a:r>
            <a:r>
              <a:rPr sz="1800" b="0" i="0">
                <a:solidFill>
                  <a:srgbClr val="11202B"/>
                </a:solidFill>
                <a:latin typeface="Malgun Gothic"/>
                <a:ea typeface="Malgun Gothic"/>
                <a:cs typeface="Malgun Gothic"/>
              </a:rPr>
              <a:t>스타틴 근육 증상의 가설 중 하나는 CoQ10 및 프레닐화 단백질의 감소이며, 비스포스포네이트(질소 함유)는 파네실-PP 합성효소를 억제해 파골세포 프레닐화를 차단한다. 즉 같은 경로의 서로 다른 단계가 서로 다른 약물의 표적이다.</a:t>
            </a:r>
          </a:p>
        </p:txBody>
      </p:sp>
      <p:sp>
        <p:nvSpPr>
          <p:cNvPr id="8" name="Rectangle 7"/>
          <p:cNvSpPr/>
          <p:nvPr/>
        </p:nvSpPr>
        <p:spPr>
          <a:xfrm>
            <a:off x="640080" y="3246120"/>
            <a:ext cx="10881360" cy="211455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800" b="1" i="0">
                <a:solidFill>
                  <a:srgbClr val="003C71"/>
                </a:solidFill>
                <a:latin typeface="Malgun Gothic"/>
                <a:ea typeface="Malgun Gothic"/>
                <a:cs typeface="Malgun Gothic"/>
              </a:rPr>
              <a:t>임상 연계  </a:t>
            </a:r>
            <a:r>
              <a:rPr sz="1800" b="0" i="0">
                <a:solidFill>
                  <a:srgbClr val="11202B"/>
                </a:solidFill>
                <a:latin typeface="Malgun Gothic"/>
                <a:ea typeface="Malgun Gothic"/>
                <a:cs typeface="Malgun Gothic"/>
              </a:rPr>
              <a:t>스미스-렘리-오피츠 증후군(DHCR7, 7-데하이드로콜레스테롤 환원효소)은 마지막 단계 결손으로 소두증, 2–3번째 발가락 합지증, 지적장애, 생식기 이상이 나타나며 혈중 7-DHC가 증가한다. 콜레스테롤이 소닉 헤지호그(SHH) 신호 단백질의 공유결합 변형과 Smoothened 활성에 필요하므로 발생 이상이 생긴다.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HMG-CoA 환원효소의 조절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전사(SREBP-2)</a:t>
            </a:r>
            <a:r>
              <a:rPr sz="1800" b="0" i="0">
                <a:solidFill>
                  <a:srgbClr val="11202B"/>
                </a:solidFill>
                <a:latin typeface="Malgun Gothic"/>
                <a:ea typeface="Malgun Gothic"/>
                <a:cs typeface="Malgun Gothic"/>
              </a:rPr>
              <a:t>: 소포체 막에서 SREBP-2는 SCAP(스테롤 감지)과 결합. 콜레스테롤이 높으면 SCAP–INSIG 결합으로 소포체에 머문다. 콜레스테롤이 낮으면 SCAP–SREBP가 COPII 소포로 골지로 이동 → S1P·S2P 프로테아제가 절단 → N말단 전사인자가 핵으로 → SRE에 결합 → </a:t>
            </a:r>
            <a:r>
              <a:rPr sz="1800" b="1" i="0">
                <a:solidFill>
                  <a:srgbClr val="11202B"/>
                </a:solidFill>
                <a:latin typeface="Malgun Gothic"/>
                <a:ea typeface="Malgun Gothic"/>
                <a:cs typeface="Malgun Gothic"/>
              </a:rPr>
              <a:t>HMGCR, LDLR, PCSK9</a:t>
            </a:r>
            <a:r>
              <a:rPr sz="1800" b="0" i="0">
                <a:solidFill>
                  <a:srgbClr val="11202B"/>
                </a:solidFill>
                <a:latin typeface="Malgun Gothic"/>
                <a:ea typeface="Malgun Gothic"/>
                <a:cs typeface="Malgun Gothic"/>
              </a:rPr>
              <a:t> 등 발현 증가.</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단백질 분해</a:t>
            </a:r>
            <a:r>
              <a:rPr sz="1800" b="0" i="0">
                <a:solidFill>
                  <a:srgbClr val="11202B"/>
                </a:solidFill>
                <a:latin typeface="Malgun Gothic"/>
                <a:ea typeface="Malgun Gothic"/>
                <a:cs typeface="Malgun Gothic"/>
              </a:rPr>
              <a:t>: 라노스테롤·25-하이드록시콜레스테롤이 HMGCR–INSIG 결합을 촉진 → 유비퀴틴화(gp78) → ERAD 분해.</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인산화</a:t>
            </a:r>
            <a:r>
              <a:rPr sz="1800" b="0" i="0">
                <a:solidFill>
                  <a:srgbClr val="11202B"/>
                </a:solidFill>
                <a:latin typeface="Malgun Gothic"/>
                <a:ea typeface="Malgun Gothic"/>
                <a:cs typeface="Malgun Gothic"/>
              </a:rPr>
              <a:t>: AMPK가 인산화하면 불활성(에너지 부족 시 합성 억제). 인슐린은 탈인산화(활성), 글루카곤은 억제.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HMG-CoA 환원효소의 조절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약물</a:t>
            </a:r>
            <a:r>
              <a:rPr sz="2200" b="0" i="0">
                <a:solidFill>
                  <a:srgbClr val="11202B"/>
                </a:solidFill>
                <a:latin typeface="Malgun Gothic"/>
                <a:ea typeface="Malgun Gothic"/>
                <a:cs typeface="Malgun Gothic"/>
              </a:rPr>
              <a:t>: 스타틴은 HMG-CoA 구조 유사체로 경쟁적 억제 → 세포 내 콜레스테롤↓ → SREBP-2 활성 → </a:t>
            </a:r>
            <a:r>
              <a:rPr sz="2200" b="1" i="0">
                <a:solidFill>
                  <a:srgbClr val="11202B"/>
                </a:solidFill>
                <a:latin typeface="Malgun Gothic"/>
                <a:ea typeface="Malgun Gothic"/>
                <a:cs typeface="Malgun Gothic"/>
              </a:rPr>
              <a:t>LDL 수용체 발현↑</a:t>
            </a:r>
            <a:r>
              <a:rPr sz="2200" b="0" i="0">
                <a:solidFill>
                  <a:srgbClr val="11202B"/>
                </a:solidFill>
                <a:latin typeface="Malgun Gothic"/>
                <a:ea typeface="Malgun Gothic"/>
                <a:cs typeface="Malgun Gothic"/>
              </a:rPr>
              <a:t> → 혈중 LDL 제거↑. (동시에 PCSK9도 증가하는 '자기 제한'이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식이 콜레스테롤이 높으면 장 흡수·간 합성이 상호 보상되어 혈중 수치 변화는 개인차가 크다.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콜레스테롤의 운명</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세포막</a:t>
            </a:r>
            <a:r>
              <a:rPr sz="1800" b="0" i="0">
                <a:solidFill>
                  <a:srgbClr val="11202B"/>
                </a:solidFill>
                <a:latin typeface="Malgun Gothic"/>
                <a:ea typeface="Malgun Gothic"/>
                <a:cs typeface="Malgun Gothic"/>
              </a:rPr>
              <a:t>: 막 유동성·지질 뗏목 구성. 세포 내 과잉 콜레스테롤은 </a:t>
            </a:r>
            <a:r>
              <a:rPr sz="1800" b="1" i="0">
                <a:solidFill>
                  <a:srgbClr val="11202B"/>
                </a:solidFill>
                <a:latin typeface="Malgun Gothic"/>
                <a:ea typeface="Malgun Gothic"/>
                <a:cs typeface="Malgun Gothic"/>
              </a:rPr>
              <a:t>ACAT(SOAT)</a:t>
            </a:r>
            <a:r>
              <a:rPr sz="1800" b="0" i="0">
                <a:solidFill>
                  <a:srgbClr val="11202B"/>
                </a:solidFill>
                <a:latin typeface="Malgun Gothic"/>
                <a:ea typeface="Malgun Gothic"/>
                <a:cs typeface="Malgun Gothic"/>
              </a:rPr>
              <a:t>이 콜레스테릴 에스터로 저장.</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담즙산</a:t>
            </a:r>
            <a:r>
              <a:rPr sz="1800" b="0" i="0">
                <a:solidFill>
                  <a:srgbClr val="11202B"/>
                </a:solidFill>
                <a:latin typeface="Malgun Gothic"/>
                <a:ea typeface="Malgun Gothic"/>
                <a:cs typeface="Malgun Gothic"/>
              </a:rPr>
              <a:t>: 간 </a:t>
            </a:r>
            <a:r>
              <a:rPr sz="1800" b="1" i="0">
                <a:solidFill>
                  <a:srgbClr val="11202B"/>
                </a:solidFill>
                <a:latin typeface="Malgun Gothic"/>
                <a:ea typeface="Malgun Gothic"/>
                <a:cs typeface="Malgun Gothic"/>
              </a:rPr>
              <a:t>CYP7A1</a:t>
            </a:r>
            <a:r>
              <a:rPr sz="1800" b="0" i="0">
                <a:solidFill>
                  <a:srgbClr val="11202B"/>
                </a:solidFill>
                <a:latin typeface="Malgun Gothic"/>
                <a:ea typeface="Malgun Gothic"/>
                <a:cs typeface="Malgun Gothic"/>
              </a:rPr>
              <a:t>(7α-수산화효소, 속도결정) → 콜산·케노데옥시콜산 → 글리신·타우린 포합 → 담즙. 하루 약 0.5 g의 콜레스테롤이 담즙산으로 제거되는 유일한 주요 배설 경로이다. 장간순환(회장 ASBT 흡수)으로 95%가 재흡수된다(B03 L04).</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스테로이드 호르몬</a:t>
            </a:r>
            <a:r>
              <a:rPr sz="1800" b="0" i="0">
                <a:solidFill>
                  <a:srgbClr val="11202B"/>
                </a:solidFill>
                <a:latin typeface="Malgun Gothic"/>
                <a:ea typeface="Malgun Gothic"/>
                <a:cs typeface="Malgun Gothic"/>
              </a:rPr>
              <a:t>: 부신·생식선 미토콘드리아로 StAR 단백질이 운반 → CYP11A1(측쇄 절단) → 프레그네놀론.</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비타민 D</a:t>
            </a:r>
            <a:r>
              <a:rPr sz="1800" b="0" i="0">
                <a:solidFill>
                  <a:srgbClr val="11202B"/>
                </a:solidFill>
                <a:latin typeface="Malgun Gothic"/>
                <a:ea typeface="Malgun Gothic"/>
                <a:cs typeface="Malgun Gothic"/>
              </a:rPr>
              <a:t>: 피부 7-데하이드로콜레스테롤 + UVB → 프리비타민 D₃.</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옥시스테롤</a:t>
            </a:r>
            <a:r>
              <a:rPr sz="1800" b="0" i="0">
                <a:solidFill>
                  <a:srgbClr val="11202B"/>
                </a:solidFill>
                <a:latin typeface="Malgun Gothic"/>
                <a:ea typeface="Malgun Gothic"/>
                <a:cs typeface="Malgun Gothic"/>
              </a:rPr>
              <a:t>: LXR 리간드, 면역 조절(25-HC).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콜레스테롤의 운명</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9</a:t>
            </a:r>
          </a:p>
        </p:txBody>
      </p:sp>
      <p:sp>
        <p:nvSpPr>
          <p:cNvPr id="7" name="Rectangle 6"/>
          <p:cNvSpPr/>
          <p:nvPr/>
        </p:nvSpPr>
        <p:spPr>
          <a:xfrm>
            <a:off x="640080" y="1325880"/>
            <a:ext cx="10881360" cy="19304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담즙산 결합수지(콜레스티라민)와 회장 담즙산 수송체 억제제는 장간순환을 끊어 간 CYP7A1을 증가시키고 간 콜레스테롤 소비를 늘려 LDL을 낮춘다(부작용: 중성지방 증가, 지용성 비타민·약물 흡수 저해).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지단백의 구조와 분류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지단백은 중성지방·콜레스테릴 에스터 핵을 인지질·유리콜레스테롤·아포단백 단층이 둘러싼 입자이다. 밀도가 높을수록 단백질 비율이 높고 크기가 작다.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지단백의 구조와 분류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500" b="1" i="0">
                          <a:solidFill>
                            <a:srgbClr val="FFFFFF"/>
                          </a:solidFill>
                          <a:latin typeface="Malgun Gothic"/>
                          <a:ea typeface="Malgun Gothic"/>
                          <a:cs typeface="Malgun Gothic"/>
                        </a:rPr>
                        <a:t>지단백</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기원</a:t>
                      </a:r>
                    </a:p>
                  </a:txBody>
                  <a:tcPr marL="73152" marR="73152">
                    <a:solidFill>
                      <a:srgbClr val="003C71"/>
                    </a:solidFill>
                  </a:tcPr>
                </a:tc>
                <a:tc>
                  <a:txBody>
                    <a:bodyPr/>
                    <a:lstStyle/>
                    <a:p>
                      <a:r>
                        <a:rPr sz="1500" b="1" i="0">
                          <a:solidFill>
                            <a:srgbClr val="FFFFFF"/>
                          </a:solidFill>
                          <a:latin typeface="Malgun Gothic"/>
                          <a:ea typeface="Malgun Gothic"/>
                          <a:cs typeface="Malgun Gothic"/>
                        </a:rPr>
                        <a:t>주성분</a:t>
                      </a:r>
                    </a:p>
                  </a:txBody>
                  <a:tcPr marL="73152" marR="73152">
                    <a:solidFill>
                      <a:srgbClr val="003C71"/>
                    </a:solidFill>
                  </a:tcPr>
                </a:tc>
                <a:tc>
                  <a:txBody>
                    <a:bodyPr/>
                    <a:lstStyle/>
                    <a:p>
                      <a:r>
                        <a:rPr sz="1500" b="1" i="0">
                          <a:solidFill>
                            <a:srgbClr val="FFFFFF"/>
                          </a:solidFill>
                          <a:latin typeface="Malgun Gothic"/>
                          <a:ea typeface="Malgun Gothic"/>
                          <a:cs typeface="Malgun Gothic"/>
                        </a:rPr>
                        <a:t>주요 아포단백</a:t>
                      </a:r>
                    </a:p>
                  </a:txBody>
                  <a:tcPr marL="73152" marR="73152">
                    <a:solidFill>
                      <a:srgbClr val="003C71"/>
                    </a:solidFill>
                  </a:tcPr>
                </a:tc>
                <a:tc>
                  <a:txBody>
                    <a:bodyPr/>
                    <a:lstStyle/>
                    <a:p>
                      <a:r>
                        <a:rPr sz="1500" b="1" i="0">
                          <a:solidFill>
                            <a:srgbClr val="FFFFFF"/>
                          </a:solidFill>
                          <a:latin typeface="Malgun Gothic"/>
                          <a:ea typeface="Malgun Gothic"/>
                          <a:cs typeface="Malgun Gothic"/>
                        </a:rPr>
                        <a:t>역할</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킬로미크론</a:t>
                      </a:r>
                    </a:p>
                  </a:txBody>
                  <a:tcPr marL="73152" marR="73152">
                    <a:solidFill>
                      <a:srgbClr val="FFFFFF"/>
                    </a:solidFill>
                  </a:tcPr>
                </a:tc>
                <a:tc>
                  <a:txBody>
                    <a:bodyPr/>
                    <a:lstStyle/>
                    <a:p>
                      <a:r>
                        <a:rPr sz="1500" b="0" i="0">
                          <a:solidFill>
                            <a:srgbClr val="11202B"/>
                          </a:solidFill>
                          <a:latin typeface="Malgun Gothic"/>
                          <a:ea typeface="Malgun Gothic"/>
                          <a:cs typeface="Malgun Gothic"/>
                        </a:rPr>
                        <a:t>소장</a:t>
                      </a:r>
                    </a:p>
                  </a:txBody>
                  <a:tcPr marL="73152" marR="73152">
                    <a:solidFill>
                      <a:srgbClr val="FFFFFF"/>
                    </a:solidFill>
                  </a:tcPr>
                </a:tc>
                <a:tc>
                  <a:txBody>
                    <a:bodyPr/>
                    <a:lstStyle/>
                    <a:p>
                      <a:r>
                        <a:rPr sz="1500" b="0" i="0">
                          <a:solidFill>
                            <a:srgbClr val="11202B"/>
                          </a:solidFill>
                          <a:latin typeface="Malgun Gothic"/>
                          <a:ea typeface="Malgun Gothic"/>
                          <a:cs typeface="Malgun Gothic"/>
                        </a:rPr>
                        <a:t>식이 TG</a:t>
                      </a:r>
                    </a:p>
                  </a:txBody>
                  <a:tcPr marL="73152" marR="73152">
                    <a:solidFill>
                      <a:srgbClr val="FFFFFF"/>
                    </a:solidFill>
                  </a:tcPr>
                </a:tc>
                <a:tc>
                  <a:txBody>
                    <a:bodyPr/>
                    <a:lstStyle/>
                    <a:p>
                      <a:r>
                        <a:rPr sz="1500" b="1" i="0">
                          <a:solidFill>
                            <a:srgbClr val="11202B"/>
                          </a:solidFill>
                          <a:latin typeface="Malgun Gothic"/>
                          <a:ea typeface="Malgun Gothic"/>
                          <a:cs typeface="Malgun Gothic"/>
                        </a:rPr>
                        <a:t>B-48</a:t>
                      </a:r>
                      <a:r>
                        <a:rPr sz="1500" b="0" i="0">
                          <a:solidFill>
                            <a:srgbClr val="11202B"/>
                          </a:solidFill>
                          <a:latin typeface="Malgun Gothic"/>
                          <a:ea typeface="Malgun Gothic"/>
                          <a:cs typeface="Malgun Gothic"/>
                        </a:rPr>
                        <a:t>, C-II, E, A-I</a:t>
                      </a:r>
                    </a:p>
                  </a:txBody>
                  <a:tcPr marL="73152" marR="73152">
                    <a:solidFill>
                      <a:srgbClr val="FFFFFF"/>
                    </a:solidFill>
                  </a:tcPr>
                </a:tc>
                <a:tc>
                  <a:txBody>
                    <a:bodyPr/>
                    <a:lstStyle/>
                    <a:p>
                      <a:r>
                        <a:rPr sz="1500" b="0" i="0">
                          <a:solidFill>
                            <a:srgbClr val="11202B"/>
                          </a:solidFill>
                          <a:latin typeface="Malgun Gothic"/>
                          <a:ea typeface="Malgun Gothic"/>
                          <a:cs typeface="Malgun Gothic"/>
                        </a:rPr>
                        <a:t>식이 지방을 말초·간으로</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VLDL</a:t>
                      </a:r>
                    </a:p>
                  </a:txBody>
                  <a:tcPr marL="73152" marR="73152">
                    <a:solidFill>
                      <a:srgbClr val="ECF1F5"/>
                    </a:solidFill>
                  </a:tcPr>
                </a:tc>
                <a:tc>
                  <a:txBody>
                    <a:bodyPr/>
                    <a:lstStyle/>
                    <a:p>
                      <a:r>
                        <a:rPr sz="1500" b="0" i="0">
                          <a:solidFill>
                            <a:srgbClr val="11202B"/>
                          </a:solidFill>
                          <a:latin typeface="Malgun Gothic"/>
                          <a:ea typeface="Malgun Gothic"/>
                          <a:cs typeface="Malgun Gothic"/>
                        </a:rPr>
                        <a:t>간</a:t>
                      </a:r>
                    </a:p>
                  </a:txBody>
                  <a:tcPr marL="73152" marR="73152">
                    <a:solidFill>
                      <a:srgbClr val="ECF1F5"/>
                    </a:solidFill>
                  </a:tcPr>
                </a:tc>
                <a:tc>
                  <a:txBody>
                    <a:bodyPr/>
                    <a:lstStyle/>
                    <a:p>
                      <a:r>
                        <a:rPr sz="1500" b="0" i="0">
                          <a:solidFill>
                            <a:srgbClr val="11202B"/>
                          </a:solidFill>
                          <a:latin typeface="Malgun Gothic"/>
                          <a:ea typeface="Malgun Gothic"/>
                          <a:cs typeface="Malgun Gothic"/>
                        </a:rPr>
                        <a:t>내인성 TG</a:t>
                      </a:r>
                    </a:p>
                  </a:txBody>
                  <a:tcPr marL="73152" marR="73152">
                    <a:solidFill>
                      <a:srgbClr val="ECF1F5"/>
                    </a:solidFill>
                  </a:tcPr>
                </a:tc>
                <a:tc>
                  <a:txBody>
                    <a:bodyPr/>
                    <a:lstStyle/>
                    <a:p>
                      <a:r>
                        <a:rPr sz="1500" b="1" i="0">
                          <a:solidFill>
                            <a:srgbClr val="11202B"/>
                          </a:solidFill>
                          <a:latin typeface="Malgun Gothic"/>
                          <a:ea typeface="Malgun Gothic"/>
                          <a:cs typeface="Malgun Gothic"/>
                        </a:rPr>
                        <a:t>B-100</a:t>
                      </a:r>
                      <a:r>
                        <a:rPr sz="1500" b="0" i="0">
                          <a:solidFill>
                            <a:srgbClr val="11202B"/>
                          </a:solidFill>
                          <a:latin typeface="Malgun Gothic"/>
                          <a:ea typeface="Malgun Gothic"/>
                          <a:cs typeface="Malgun Gothic"/>
                        </a:rPr>
                        <a:t>, C-II, E</a:t>
                      </a:r>
                    </a:p>
                  </a:txBody>
                  <a:tcPr marL="73152" marR="73152">
                    <a:solidFill>
                      <a:srgbClr val="ECF1F5"/>
                    </a:solidFill>
                  </a:tcPr>
                </a:tc>
                <a:tc>
                  <a:txBody>
                    <a:bodyPr/>
                    <a:lstStyle/>
                    <a:p>
                      <a:r>
                        <a:rPr sz="1500" b="0" i="0">
                          <a:solidFill>
                            <a:srgbClr val="11202B"/>
                          </a:solidFill>
                          <a:latin typeface="Malgun Gothic"/>
                          <a:ea typeface="Malgun Gothic"/>
                          <a:cs typeface="Malgun Gothic"/>
                        </a:rPr>
                        <a:t>간 TG를 말초로</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IDL</a:t>
                      </a:r>
                    </a:p>
                  </a:txBody>
                  <a:tcPr marL="73152" marR="73152">
                    <a:solidFill>
                      <a:srgbClr val="FFFFFF"/>
                    </a:solidFill>
                  </a:tcPr>
                </a:tc>
                <a:tc>
                  <a:txBody>
                    <a:bodyPr/>
                    <a:lstStyle/>
                    <a:p>
                      <a:r>
                        <a:rPr sz="1500" b="0" i="0">
                          <a:solidFill>
                            <a:srgbClr val="11202B"/>
                          </a:solidFill>
                          <a:latin typeface="Malgun Gothic"/>
                          <a:ea typeface="Malgun Gothic"/>
                          <a:cs typeface="Malgun Gothic"/>
                        </a:rPr>
                        <a:t>VLDL 잔여물</a:t>
                      </a:r>
                    </a:p>
                  </a:txBody>
                  <a:tcPr marL="73152" marR="73152">
                    <a:solidFill>
                      <a:srgbClr val="FFFFFF"/>
                    </a:solidFill>
                  </a:tcPr>
                </a:tc>
                <a:tc>
                  <a:txBody>
                    <a:bodyPr/>
                    <a:lstStyle/>
                    <a:p>
                      <a:r>
                        <a:rPr sz="1500" b="0" i="0">
                          <a:solidFill>
                            <a:srgbClr val="11202B"/>
                          </a:solidFill>
                          <a:latin typeface="Malgun Gothic"/>
                          <a:ea typeface="Malgun Gothic"/>
                          <a:cs typeface="Malgun Gothic"/>
                        </a:rPr>
                        <a:t>TG·CE</a:t>
                      </a:r>
                    </a:p>
                  </a:txBody>
                  <a:tcPr marL="73152" marR="73152">
                    <a:solidFill>
                      <a:srgbClr val="FFFFFF"/>
                    </a:solidFill>
                  </a:tcPr>
                </a:tc>
                <a:tc>
                  <a:txBody>
                    <a:bodyPr/>
                    <a:lstStyle/>
                    <a:p>
                      <a:r>
                        <a:rPr sz="1500" b="0" i="0">
                          <a:solidFill>
                            <a:srgbClr val="11202B"/>
                          </a:solidFill>
                          <a:latin typeface="Malgun Gothic"/>
                          <a:ea typeface="Malgun Gothic"/>
                          <a:cs typeface="Malgun Gothic"/>
                        </a:rPr>
                        <a:t>B-100, E</a:t>
                      </a:r>
                    </a:p>
                  </a:txBody>
                  <a:tcPr marL="73152" marR="73152">
                    <a:solidFill>
                      <a:srgbClr val="FFFFFF"/>
                    </a:solidFill>
                  </a:tcPr>
                </a:tc>
                <a:tc>
                  <a:txBody>
                    <a:bodyPr/>
                    <a:lstStyle/>
                    <a:p>
                      <a:r>
                        <a:rPr sz="1500" b="0" i="0">
                          <a:solidFill>
                            <a:srgbClr val="11202B"/>
                          </a:solidFill>
                          <a:latin typeface="Malgun Gothic"/>
                          <a:ea typeface="Malgun Gothic"/>
                          <a:cs typeface="Malgun Gothic"/>
                        </a:rPr>
                        <a:t>간 흡수 또는 LDL로</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LDL</a:t>
                      </a:r>
                    </a:p>
                  </a:txBody>
                  <a:tcPr marL="73152" marR="73152">
                    <a:solidFill>
                      <a:srgbClr val="ECF1F5"/>
                    </a:solidFill>
                  </a:tcPr>
                </a:tc>
                <a:tc>
                  <a:txBody>
                    <a:bodyPr/>
                    <a:lstStyle/>
                    <a:p>
                      <a:r>
                        <a:rPr sz="1500" b="0" i="0">
                          <a:solidFill>
                            <a:srgbClr val="11202B"/>
                          </a:solidFill>
                          <a:latin typeface="Malgun Gothic"/>
                          <a:ea typeface="Malgun Gothic"/>
                          <a:cs typeface="Malgun Gothic"/>
                        </a:rPr>
                        <a:t>IDL에서</a:t>
                      </a:r>
                    </a:p>
                  </a:txBody>
                  <a:tcPr marL="73152" marR="73152">
                    <a:solidFill>
                      <a:srgbClr val="ECF1F5"/>
                    </a:solidFill>
                  </a:tcPr>
                </a:tc>
                <a:tc>
                  <a:txBody>
                    <a:bodyPr/>
                    <a:lstStyle/>
                    <a:p>
                      <a:r>
                        <a:rPr sz="1500" b="1" i="0">
                          <a:solidFill>
                            <a:srgbClr val="11202B"/>
                          </a:solidFill>
                          <a:latin typeface="Malgun Gothic"/>
                          <a:ea typeface="Malgun Gothic"/>
                          <a:cs typeface="Malgun Gothic"/>
                        </a:rPr>
                        <a:t>콜레스테릴 에스터</a:t>
                      </a:r>
                    </a:p>
                  </a:txBody>
                  <a:tcPr marL="73152" marR="73152">
                    <a:solidFill>
                      <a:srgbClr val="ECF1F5"/>
                    </a:solidFill>
                  </a:tcPr>
                </a:tc>
                <a:tc>
                  <a:txBody>
                    <a:bodyPr/>
                    <a:lstStyle/>
                    <a:p>
                      <a:r>
                        <a:rPr sz="1500" b="0" i="0">
                          <a:solidFill>
                            <a:srgbClr val="11202B"/>
                          </a:solidFill>
                          <a:latin typeface="Malgun Gothic"/>
                          <a:ea typeface="Malgun Gothic"/>
                          <a:cs typeface="Malgun Gothic"/>
                        </a:rPr>
                        <a:t>B-100</a:t>
                      </a:r>
                    </a:p>
                  </a:txBody>
                  <a:tcPr marL="73152" marR="73152">
                    <a:solidFill>
                      <a:srgbClr val="ECF1F5"/>
                    </a:solidFill>
                  </a:tcPr>
                </a:tc>
                <a:tc>
                  <a:txBody>
                    <a:bodyPr/>
                    <a:lstStyle/>
                    <a:p>
                      <a:r>
                        <a:rPr sz="1500" b="0" i="0">
                          <a:solidFill>
                            <a:srgbClr val="11202B"/>
                          </a:solidFill>
                          <a:latin typeface="Malgun Gothic"/>
                          <a:ea typeface="Malgun Gothic"/>
                          <a:cs typeface="Malgun Gothic"/>
                        </a:rPr>
                        <a:t>콜레스테롤을 말초·간으로</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HDL</a:t>
                      </a:r>
                    </a:p>
                  </a:txBody>
                  <a:tcPr marL="73152" marR="73152">
                    <a:solidFill>
                      <a:srgbClr val="FFFFFF"/>
                    </a:solidFill>
                  </a:tcPr>
                </a:tc>
                <a:tc>
                  <a:txBody>
                    <a:bodyPr/>
                    <a:lstStyle/>
                    <a:p>
                      <a:r>
                        <a:rPr sz="1500" b="0" i="0">
                          <a:solidFill>
                            <a:srgbClr val="11202B"/>
                          </a:solidFill>
                          <a:latin typeface="Malgun Gothic"/>
                          <a:ea typeface="Malgun Gothic"/>
                          <a:cs typeface="Malgun Gothic"/>
                        </a:rPr>
                        <a:t>간·장</a:t>
                      </a:r>
                    </a:p>
                  </a:txBody>
                  <a:tcPr marL="73152" marR="73152">
                    <a:solidFill>
                      <a:srgbClr val="FFFFFF"/>
                    </a:solidFill>
                  </a:tcPr>
                </a:tc>
                <a:tc>
                  <a:txBody>
                    <a:bodyPr/>
                    <a:lstStyle/>
                    <a:p>
                      <a:r>
                        <a:rPr sz="1500" b="0" i="0">
                          <a:solidFill>
                            <a:srgbClr val="11202B"/>
                          </a:solidFill>
                          <a:latin typeface="Malgun Gothic"/>
                          <a:ea typeface="Malgun Gothic"/>
                          <a:cs typeface="Malgun Gothic"/>
                        </a:rPr>
                        <a:t>인지질·CE</a:t>
                      </a:r>
                    </a:p>
                  </a:txBody>
                  <a:tcPr marL="73152" marR="73152">
                    <a:solidFill>
                      <a:srgbClr val="FFFFFF"/>
                    </a:solidFill>
                  </a:tcPr>
                </a:tc>
                <a:tc>
                  <a:txBody>
                    <a:bodyPr/>
                    <a:lstStyle/>
                    <a:p>
                      <a:r>
                        <a:rPr sz="1500" b="1" i="0">
                          <a:solidFill>
                            <a:srgbClr val="11202B"/>
                          </a:solidFill>
                          <a:latin typeface="Malgun Gothic"/>
                          <a:ea typeface="Malgun Gothic"/>
                          <a:cs typeface="Malgun Gothic"/>
                        </a:rPr>
                        <a:t>A-I</a:t>
                      </a:r>
                      <a:r>
                        <a:rPr sz="1500" b="0" i="0">
                          <a:solidFill>
                            <a:srgbClr val="11202B"/>
                          </a:solidFill>
                          <a:latin typeface="Malgun Gothic"/>
                          <a:ea typeface="Malgun Gothic"/>
                          <a:cs typeface="Malgun Gothic"/>
                        </a:rPr>
                        <a:t>, A-II</a:t>
                      </a:r>
                    </a:p>
                  </a:txBody>
                  <a:tcPr marL="73152" marR="73152">
                    <a:solidFill>
                      <a:srgbClr val="FFFFFF"/>
                    </a:solidFill>
                  </a:tcPr>
                </a:tc>
                <a:tc>
                  <a:txBody>
                    <a:bodyPr/>
                    <a:lstStyle/>
                    <a:p>
                      <a:r>
                        <a:rPr sz="1500" b="0" i="0">
                          <a:solidFill>
                            <a:srgbClr val="11202B"/>
                          </a:solidFill>
                          <a:latin typeface="Malgun Gothic"/>
                          <a:ea typeface="Malgun Gothic"/>
                          <a:cs typeface="Malgun Gothic"/>
                        </a:rPr>
                        <a:t>역콜레스테롤 수송</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Lp(a)</a:t>
                      </a:r>
                    </a:p>
                  </a:txBody>
                  <a:tcPr marL="73152" marR="73152">
                    <a:solidFill>
                      <a:srgbClr val="ECF1F5"/>
                    </a:solidFill>
                  </a:tcPr>
                </a:tc>
                <a:tc>
                  <a:txBody>
                    <a:bodyPr/>
                    <a:lstStyle/>
                    <a:p>
                      <a:r>
                        <a:rPr sz="1500" b="0" i="0">
                          <a:solidFill>
                            <a:srgbClr val="11202B"/>
                          </a:solidFill>
                          <a:latin typeface="Malgun Gothic"/>
                          <a:ea typeface="Malgun Gothic"/>
                          <a:cs typeface="Malgun Gothic"/>
                        </a:rPr>
                        <a:t>간</a:t>
                      </a:r>
                    </a:p>
                  </a:txBody>
                  <a:tcPr marL="73152" marR="73152">
                    <a:solidFill>
                      <a:srgbClr val="ECF1F5"/>
                    </a:solidFill>
                  </a:tcPr>
                </a:tc>
                <a:tc>
                  <a:txBody>
                    <a:bodyPr/>
                    <a:lstStyle/>
                    <a:p>
                      <a:r>
                        <a:rPr sz="1500" b="0" i="0">
                          <a:solidFill>
                            <a:srgbClr val="11202B"/>
                          </a:solidFill>
                          <a:latin typeface="Malgun Gothic"/>
                          <a:ea typeface="Malgun Gothic"/>
                          <a:cs typeface="Malgun Gothic"/>
                        </a:rPr>
                        <a:t>LDL + apo(a)</a:t>
                      </a:r>
                    </a:p>
                  </a:txBody>
                  <a:tcPr marL="73152" marR="73152">
                    <a:solidFill>
                      <a:srgbClr val="ECF1F5"/>
                    </a:solidFill>
                  </a:tcPr>
                </a:tc>
                <a:tc>
                  <a:txBody>
                    <a:bodyPr/>
                    <a:lstStyle/>
                    <a:p>
                      <a:r>
                        <a:rPr sz="1500" b="0" i="0">
                          <a:solidFill>
                            <a:srgbClr val="11202B"/>
                          </a:solidFill>
                          <a:latin typeface="Malgun Gothic"/>
                          <a:ea typeface="Malgun Gothic"/>
                          <a:cs typeface="Malgun Gothic"/>
                        </a:rPr>
                        <a:t>B-100 + apo(a)</a:t>
                      </a:r>
                    </a:p>
                  </a:txBody>
                  <a:tcPr marL="73152" marR="73152">
                    <a:solidFill>
                      <a:srgbClr val="ECF1F5"/>
                    </a:solidFill>
                  </a:tcPr>
                </a:tc>
                <a:tc>
                  <a:txBody>
                    <a:bodyPr/>
                    <a:lstStyle/>
                    <a:p>
                      <a:r>
                        <a:rPr sz="1500" b="0" i="0">
                          <a:solidFill>
                            <a:srgbClr val="11202B"/>
                          </a:solidFill>
                          <a:latin typeface="Malgun Gothic"/>
                          <a:ea typeface="Malgun Gothic"/>
                          <a:cs typeface="Malgun Gothic"/>
                        </a:rPr>
                        <a:t>독립적 죽상경화·혈전 위험</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아포단백</a:t>
                      </a:r>
                    </a:p>
                  </a:txBody>
                  <a:tcPr marL="73152" marR="73152">
                    <a:solidFill>
                      <a:srgbClr val="FFFFFF"/>
                    </a:solidFill>
                  </a:tcPr>
                </a:tc>
                <a:tc>
                  <a:txBody>
                    <a:bodyPr/>
                    <a:lstStyle/>
                    <a:p>
                      <a:r>
                        <a:rPr sz="1500" b="0" i="0">
                          <a:solidFill>
                            <a:srgbClr val="11202B"/>
                          </a:solidFill>
                          <a:latin typeface="Malgun Gothic"/>
                          <a:ea typeface="Malgun Gothic"/>
                          <a:cs typeface="Malgun Gothic"/>
                        </a:rPr>
                        <a:t>기능</a:t>
                      </a:r>
                    </a:p>
                  </a:txBody>
                  <a:tcPr marL="73152" marR="73152">
                    <a:solidFill>
                      <a:srgbClr val="FFFFFF"/>
                    </a:solidFill>
                  </a:tcPr>
                </a:tc>
                <a:tc>
                  <a:txBody>
                    <a:bodyPr/>
                    <a:lstStyle/>
                    <a:p/>
                  </a:txBody>
                  <a:tcPr marL="73152" marR="73152">
                    <a:solidFill>
                      <a:srgbClr val="FFFFFF"/>
                    </a:solidFill>
                  </a:tcPr>
                </a:tc>
                <a:tc>
                  <a:txBody>
                    <a:bodyPr/>
                    <a:lstStyle/>
                    <a:p/>
                  </a:txBody>
                  <a:tcPr marL="73152" marR="73152">
                    <a:solidFill>
                      <a:srgbClr val="FFFFFF"/>
                    </a:solidFill>
                  </a:tcPr>
                </a:tc>
                <a:tc>
                  <a:txBody>
                    <a:bodyPr/>
                    <a:lstStyle/>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ApoA-I</a:t>
                      </a:r>
                    </a:p>
                  </a:txBody>
                  <a:tcPr marL="73152" marR="73152">
                    <a:solidFill>
                      <a:srgbClr val="ECF1F5"/>
                    </a:solidFill>
                  </a:tcPr>
                </a:tc>
                <a:tc>
                  <a:txBody>
                    <a:bodyPr/>
                    <a:lstStyle/>
                    <a:p>
                      <a:r>
                        <a:rPr sz="1500" b="0" i="0">
                          <a:solidFill>
                            <a:srgbClr val="11202B"/>
                          </a:solidFill>
                          <a:latin typeface="Malgun Gothic"/>
                          <a:ea typeface="Malgun Gothic"/>
                          <a:cs typeface="Malgun Gothic"/>
                        </a:rPr>
                        <a:t>LCAT 활성화, HDL 구조, ABCA1 수용</a:t>
                      </a:r>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지단백의 구조와 분류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500" b="1" i="0">
                          <a:solidFill>
                            <a:srgbClr val="FFFFFF"/>
                          </a:solidFill>
                          <a:latin typeface="Malgun Gothic"/>
                          <a:ea typeface="Malgun Gothic"/>
                          <a:cs typeface="Malgun Gothic"/>
                        </a:rPr>
                        <a:t>지단백</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기원</a:t>
                      </a:r>
                    </a:p>
                  </a:txBody>
                  <a:tcPr marL="73152" marR="73152">
                    <a:solidFill>
                      <a:srgbClr val="003C71"/>
                    </a:solidFill>
                  </a:tcPr>
                </a:tc>
                <a:tc>
                  <a:txBody>
                    <a:bodyPr/>
                    <a:lstStyle/>
                    <a:p>
                      <a:r>
                        <a:rPr sz="1500" b="1" i="0">
                          <a:solidFill>
                            <a:srgbClr val="FFFFFF"/>
                          </a:solidFill>
                          <a:latin typeface="Malgun Gothic"/>
                          <a:ea typeface="Malgun Gothic"/>
                          <a:cs typeface="Malgun Gothic"/>
                        </a:rPr>
                        <a:t>주성분</a:t>
                      </a:r>
                    </a:p>
                  </a:txBody>
                  <a:tcPr marL="73152" marR="73152">
                    <a:solidFill>
                      <a:srgbClr val="003C71"/>
                    </a:solidFill>
                  </a:tcPr>
                </a:tc>
                <a:tc>
                  <a:txBody>
                    <a:bodyPr/>
                    <a:lstStyle/>
                    <a:p>
                      <a:r>
                        <a:rPr sz="1500" b="1" i="0">
                          <a:solidFill>
                            <a:srgbClr val="FFFFFF"/>
                          </a:solidFill>
                          <a:latin typeface="Malgun Gothic"/>
                          <a:ea typeface="Malgun Gothic"/>
                          <a:cs typeface="Malgun Gothic"/>
                        </a:rPr>
                        <a:t>주요 아포단백</a:t>
                      </a:r>
                    </a:p>
                  </a:txBody>
                  <a:tcPr marL="73152" marR="73152">
                    <a:solidFill>
                      <a:srgbClr val="003C71"/>
                    </a:solidFill>
                  </a:tcPr>
                </a:tc>
                <a:tc>
                  <a:txBody>
                    <a:bodyPr/>
                    <a:lstStyle/>
                    <a:p>
                      <a:r>
                        <a:rPr sz="1500" b="1" i="0">
                          <a:solidFill>
                            <a:srgbClr val="FFFFFF"/>
                          </a:solidFill>
                          <a:latin typeface="Malgun Gothic"/>
                          <a:ea typeface="Malgun Gothic"/>
                          <a:cs typeface="Malgun Gothic"/>
                        </a:rPr>
                        <a:t>역할</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ApoB-48</a:t>
                      </a:r>
                    </a:p>
                  </a:txBody>
                  <a:tcPr marL="73152" marR="73152">
                    <a:solidFill>
                      <a:srgbClr val="FFFFFF"/>
                    </a:solidFill>
                  </a:tcPr>
                </a:tc>
                <a:tc>
                  <a:txBody>
                    <a:bodyPr/>
                    <a:lstStyle/>
                    <a:p>
                      <a:r>
                        <a:rPr sz="1500" b="0" i="0">
                          <a:solidFill>
                            <a:srgbClr val="11202B"/>
                          </a:solidFill>
                          <a:latin typeface="Malgun Gothic"/>
                          <a:ea typeface="Malgun Gothic"/>
                          <a:cs typeface="Malgun Gothic"/>
                        </a:rPr>
                        <a:t>킬로미크론 구조 (APOB mRNA 편집: APOBEC-1이 C→U, 정지코돈 생성)</a:t>
                      </a:r>
                    </a:p>
                  </a:txBody>
                  <a:tcPr marL="73152" marR="73152">
                    <a:solidFill>
                      <a:srgbClr val="FFFFFF"/>
                    </a:solidFill>
                  </a:tcPr>
                </a:tc>
                <a:tc>
                  <a:txBody>
                    <a:bodyPr/>
                    <a:lstStyle/>
                    <a:p/>
                  </a:txBody>
                  <a:tcPr marL="73152" marR="73152">
                    <a:solidFill>
                      <a:srgbClr val="FFFFFF"/>
                    </a:solidFill>
                  </a:tcPr>
                </a:tc>
                <a:tc>
                  <a:txBody>
                    <a:bodyPr/>
                    <a:lstStyle/>
                    <a:p/>
                  </a:txBody>
                  <a:tcPr marL="73152" marR="73152">
                    <a:solidFill>
                      <a:srgbClr val="FFFFFF"/>
                    </a:solidFill>
                  </a:tcPr>
                </a:tc>
                <a:tc>
                  <a:txBody>
                    <a:bodyPr/>
                    <a:lstStyle/>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ApoB-100</a:t>
                      </a:r>
                    </a:p>
                  </a:txBody>
                  <a:tcPr marL="73152" marR="73152">
                    <a:solidFill>
                      <a:srgbClr val="ECF1F5"/>
                    </a:solidFill>
                  </a:tcPr>
                </a:tc>
                <a:tc>
                  <a:txBody>
                    <a:bodyPr/>
                    <a:lstStyle/>
                    <a:p>
                      <a:r>
                        <a:rPr sz="1500" b="0" i="0">
                          <a:solidFill>
                            <a:srgbClr val="11202B"/>
                          </a:solidFill>
                          <a:latin typeface="Malgun Gothic"/>
                          <a:ea typeface="Malgun Gothic"/>
                          <a:cs typeface="Malgun Gothic"/>
                        </a:rPr>
                        <a:t>VLDL/LDL 구조, </a:t>
                      </a:r>
                      <a:r>
                        <a:rPr sz="1500" b="1" i="0">
                          <a:solidFill>
                            <a:srgbClr val="11202B"/>
                          </a:solidFill>
                          <a:latin typeface="Malgun Gothic"/>
                          <a:ea typeface="Malgun Gothic"/>
                          <a:cs typeface="Malgun Gothic"/>
                        </a:rPr>
                        <a:t>LDL 수용체 리간드</a:t>
                      </a:r>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ApoC-II</a:t>
                      </a:r>
                    </a:p>
                  </a:txBody>
                  <a:tcPr marL="73152" marR="73152">
                    <a:solidFill>
                      <a:srgbClr val="FFFFFF"/>
                    </a:solidFill>
                  </a:tcPr>
                </a:tc>
                <a:tc>
                  <a:txBody>
                    <a:bodyPr/>
                    <a:lstStyle/>
                    <a:p>
                      <a:r>
                        <a:rPr sz="1500" b="1" i="0">
                          <a:solidFill>
                            <a:srgbClr val="11202B"/>
                          </a:solidFill>
                          <a:latin typeface="Malgun Gothic"/>
                          <a:ea typeface="Malgun Gothic"/>
                          <a:cs typeface="Malgun Gothic"/>
                        </a:rPr>
                        <a:t>지단백 지질분해효소(LPL) 활성화</a:t>
                      </a:r>
                    </a:p>
                  </a:txBody>
                  <a:tcPr marL="73152" marR="73152">
                    <a:solidFill>
                      <a:srgbClr val="FFFFFF"/>
                    </a:solidFill>
                  </a:tcPr>
                </a:tc>
                <a:tc>
                  <a:txBody>
                    <a:bodyPr/>
                    <a:lstStyle/>
                    <a:p/>
                  </a:txBody>
                  <a:tcPr marL="73152" marR="73152">
                    <a:solidFill>
                      <a:srgbClr val="FFFFFF"/>
                    </a:solidFill>
                  </a:tcPr>
                </a:tc>
                <a:tc>
                  <a:txBody>
                    <a:bodyPr/>
                    <a:lstStyle/>
                    <a:p/>
                  </a:txBody>
                  <a:tcPr marL="73152" marR="73152">
                    <a:solidFill>
                      <a:srgbClr val="FFFFFF"/>
                    </a:solidFill>
                  </a:tcPr>
                </a:tc>
                <a:tc>
                  <a:txBody>
                    <a:bodyPr/>
                    <a:lstStyle/>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ApoC-III</a:t>
                      </a:r>
                    </a:p>
                  </a:txBody>
                  <a:tcPr marL="73152" marR="73152">
                    <a:solidFill>
                      <a:srgbClr val="ECF1F5"/>
                    </a:solidFill>
                  </a:tcPr>
                </a:tc>
                <a:tc>
                  <a:txBody>
                    <a:bodyPr/>
                    <a:lstStyle/>
                    <a:p>
                      <a:r>
                        <a:rPr sz="1500" b="0" i="0">
                          <a:solidFill>
                            <a:srgbClr val="11202B"/>
                          </a:solidFill>
                          <a:latin typeface="Malgun Gothic"/>
                          <a:ea typeface="Malgun Gothic"/>
                          <a:cs typeface="Malgun Gothic"/>
                        </a:rPr>
                        <a:t>LPL 억제·잔여물 제거 억제 (볼라네소르센·올레자르센 표적)</a:t>
                      </a:r>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ApoE</a:t>
                      </a:r>
                    </a:p>
                  </a:txBody>
                  <a:tcPr marL="73152" marR="73152">
                    <a:solidFill>
                      <a:srgbClr val="FFFFFF"/>
                    </a:solidFill>
                  </a:tcPr>
                </a:tc>
                <a:tc>
                  <a:txBody>
                    <a:bodyPr/>
                    <a:lstStyle/>
                    <a:p>
                      <a:r>
                        <a:rPr sz="1500" b="0" i="0">
                          <a:solidFill>
                            <a:srgbClr val="11202B"/>
                          </a:solidFill>
                          <a:latin typeface="Malgun Gothic"/>
                          <a:ea typeface="Malgun Gothic"/>
                          <a:cs typeface="Malgun Gothic"/>
                        </a:rPr>
                        <a:t>잔여물(킬로미크론 잔여물, IDL)의 간 수용체(LDLR, LRP1) 리간드; E2/E3/E4 다형성</a:t>
                      </a:r>
                    </a:p>
                  </a:txBody>
                  <a:tcPr marL="73152" marR="73152">
                    <a:solidFill>
                      <a:srgbClr val="FFFFFF"/>
                    </a:solidFill>
                  </a:tcPr>
                </a:tc>
                <a:tc>
                  <a:txBody>
                    <a:bodyPr/>
                    <a:lstStyle/>
                    <a:p/>
                  </a:txBody>
                  <a:tcPr marL="73152" marR="73152">
                    <a:solidFill>
                      <a:srgbClr val="FFFFFF"/>
                    </a:solidFill>
                  </a:tcPr>
                </a:tc>
                <a:tc>
                  <a:txBody>
                    <a:bodyPr/>
                    <a:lstStyle/>
                    <a:p/>
                  </a:txBody>
                  <a:tcPr marL="73152" marR="73152">
                    <a:solidFill>
                      <a:srgbClr val="FFFFFF"/>
                    </a:solidFill>
                  </a:tcPr>
                </a:tc>
                <a:tc>
                  <a:txBody>
                    <a:bodyPr/>
                    <a:lstStyle/>
                    <a:p/>
                  </a:txBody>
                  <a:tcPr marL="73152" marR="7315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지단백 대사 경로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외인성 경로</a:t>
            </a:r>
            <a:r>
              <a:rPr sz="1800" b="0" i="0">
                <a:solidFill>
                  <a:srgbClr val="11202B"/>
                </a:solidFill>
                <a:latin typeface="Malgun Gothic"/>
                <a:ea typeface="Malgun Gothic"/>
                <a:cs typeface="Malgun Gothic"/>
              </a:rPr>
              <a:t>: 장 → 킬로미크론 → 림프(유미관) → 흉관 → 혈류 → HDL로부터 apoC-II·E 획득 → 모세혈관 내피 </a:t>
            </a:r>
            <a:r>
              <a:rPr sz="1800" b="1" i="0">
                <a:solidFill>
                  <a:srgbClr val="11202B"/>
                </a:solidFill>
                <a:latin typeface="Malgun Gothic"/>
                <a:ea typeface="Malgun Gothic"/>
                <a:cs typeface="Malgun Gothic"/>
              </a:rPr>
              <a:t>LPL</a:t>
            </a:r>
            <a:r>
              <a:rPr sz="1800" b="0" i="0">
                <a:solidFill>
                  <a:srgbClr val="11202B"/>
                </a:solidFill>
                <a:latin typeface="Malgun Gothic"/>
                <a:ea typeface="Malgun Gothic"/>
                <a:cs typeface="Malgun Gothic"/>
              </a:rPr>
              <a:t>(GPIHBP1이 고정, ANGPTL3/4/8이 조절)이 TG 가수분해 → 지방산은 근육(연료)·지방(저장) → </a:t>
            </a:r>
            <a:r>
              <a:rPr sz="1800" b="1" i="0">
                <a:solidFill>
                  <a:srgbClr val="11202B"/>
                </a:solidFill>
                <a:latin typeface="Malgun Gothic"/>
                <a:ea typeface="Malgun Gothic"/>
                <a:cs typeface="Malgun Gothic"/>
              </a:rPr>
              <a:t>킬로미크론 잔여물</a:t>
            </a:r>
            <a:r>
              <a:rPr sz="1800" b="0" i="0">
                <a:solidFill>
                  <a:srgbClr val="11202B"/>
                </a:solidFill>
                <a:latin typeface="Malgun Gothic"/>
                <a:ea typeface="Malgun Gothic"/>
                <a:cs typeface="Malgun Gothic"/>
              </a:rPr>
              <a:t>은 apoE로 간에 흡수.</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내인성 경로</a:t>
            </a:r>
            <a:r>
              <a:rPr sz="1800" b="0" i="0">
                <a:solidFill>
                  <a:srgbClr val="11202B"/>
                </a:solidFill>
                <a:latin typeface="Malgun Gothic"/>
                <a:ea typeface="Malgun Gothic"/>
                <a:cs typeface="Malgun Gothic"/>
              </a:rPr>
              <a:t>: 간 VLDL → LPL로 IDL → 간 지질분해효소(HL)로 LDL → LDL 수용체로 간(약 70%)·말초 흡수.</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LDL 수용체 경로</a:t>
            </a:r>
            <a:r>
              <a:rPr sz="1800" b="0" i="0">
                <a:solidFill>
                  <a:srgbClr val="11202B"/>
                </a:solidFill>
                <a:latin typeface="Malgun Gothic"/>
                <a:ea typeface="Malgun Gothic"/>
                <a:cs typeface="Malgun Gothic"/>
              </a:rPr>
              <a:t>: LDL-apoB100이 수용체에 결합 → 클라트린 피복소공 → 엔도솜 산성화로 분리 → 수용체 재순환(수백 회), LDL은 리소좀 분해(산성 리파아제 LAL) → 유리콜레스테롤이 SREBP-2 억제, ACAT 활성.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지단백 대사 경로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PCSK9</a:t>
            </a:r>
            <a:r>
              <a:rPr sz="2200" b="0" i="0">
                <a:solidFill>
                  <a:srgbClr val="11202B"/>
                </a:solidFill>
                <a:latin typeface="Malgun Gothic"/>
                <a:ea typeface="Malgun Gothic"/>
                <a:cs typeface="Malgun Gothic"/>
              </a:rPr>
              <a:t>: 간에서 분비되어 LDL 수용체 EGF-A 도메인에 결합 → 수용체가 재순환하지 못하고 리소좀 분해 → LDL 수용체 수 감소.</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역콜레스테롤 수송(RCT)</a:t>
            </a:r>
            <a:r>
              <a:rPr sz="2200" b="0" i="0">
                <a:solidFill>
                  <a:srgbClr val="11202B"/>
                </a:solidFill>
                <a:latin typeface="Malgun Gothic"/>
                <a:ea typeface="Malgun Gothic"/>
                <a:cs typeface="Malgun Gothic"/>
              </a:rPr>
              <a:t>: 말초 대식세포 ABCA1/ABCG1 → 지질이 적은 apoA-I/HDL로 유출 → </a:t>
            </a:r>
            <a:r>
              <a:rPr sz="2200" b="1" i="0">
                <a:solidFill>
                  <a:srgbClr val="11202B"/>
                </a:solidFill>
                <a:latin typeface="Malgun Gothic"/>
                <a:ea typeface="Malgun Gothic"/>
                <a:cs typeface="Malgun Gothic"/>
              </a:rPr>
              <a:t>LCAT</a:t>
            </a:r>
            <a:r>
              <a:rPr sz="2200" b="0" i="0">
                <a:solidFill>
                  <a:srgbClr val="11202B"/>
                </a:solidFill>
                <a:latin typeface="Malgun Gothic"/>
                <a:ea typeface="Malgun Gothic"/>
                <a:cs typeface="Malgun Gothic"/>
              </a:rPr>
              <a:t>가 에스터화(구형 HDL 성숙) → 간 SR-BI 선택적 흡수 또는 </a:t>
            </a:r>
            <a:r>
              <a:rPr sz="2200" b="1" i="0">
                <a:solidFill>
                  <a:srgbClr val="11202B"/>
                </a:solidFill>
                <a:latin typeface="Malgun Gothic"/>
                <a:ea typeface="Malgun Gothic"/>
                <a:cs typeface="Malgun Gothic"/>
              </a:rPr>
              <a:t>CETP</a:t>
            </a:r>
            <a:r>
              <a:rPr sz="2200" b="0" i="0">
                <a:solidFill>
                  <a:srgbClr val="11202B"/>
                </a:solidFill>
                <a:latin typeface="Malgun Gothic"/>
                <a:ea typeface="Malgun Gothic"/>
                <a:cs typeface="Malgun Gothic"/>
              </a:rPr>
              <a:t>가 CE를 apoB 지단백으로 교환(TG와 교환) → 간 LDLR.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지단백 대사 경로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15</a:t>
            </a:r>
          </a:p>
        </p:txBody>
      </p:sp>
      <p:sp>
        <p:nvSpPr>
          <p:cNvPr id="7" name="Rectangle 6"/>
          <p:cNvSpPr/>
          <p:nvPr/>
        </p:nvSpPr>
        <p:spPr>
          <a:xfrm>
            <a:off x="640080" y="1325880"/>
            <a:ext cx="10881360" cy="1930400"/>
          </a:xfrm>
          <a:prstGeom prst="rect">
            <a:avLst/>
          </a:prstGeom>
          <a:solidFill>
            <a:srgbClr val="FFF5D6"/>
          </a:solidFill>
          <a:ln>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9A6B00"/>
                </a:solidFill>
                <a:latin typeface="Malgun Gothic"/>
                <a:ea typeface="Malgun Gothic"/>
                <a:cs typeface="Malgun Gothic"/>
              </a:rPr>
              <a:t>핵심  </a:t>
            </a:r>
            <a:r>
              <a:rPr sz="2000" b="0" i="0">
                <a:solidFill>
                  <a:srgbClr val="11202B"/>
                </a:solidFill>
                <a:latin typeface="Malgun Gothic"/>
                <a:ea typeface="Malgun Gothic"/>
                <a:cs typeface="Malgun Gothic"/>
              </a:rPr>
              <a:t>HDL 콜레스테롤 '수치'를 약으로 올리는 전략(CETP 억제제 토르세트라피브, 달세트라피브, 나이아신)은 대부분 심혈관 사건을 줄이지 못했다. 현재는 HDL 수치보다 '콜레스테롤 유출 능력'과 apoB 입자 수가 인과적 위험 지표로 중시된다(멘델 무작위분석 근거).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원발성 이상지질혈증</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3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300" b="1" i="0">
                          <a:solidFill>
                            <a:srgbClr val="FFFFFF"/>
                          </a:solidFill>
                          <a:latin typeface="Malgun Gothic"/>
                          <a:ea typeface="Malgun Gothic"/>
                          <a:cs typeface="Malgun Gothic"/>
                        </a:rPr>
                        <a:t>유전자</a:t>
                      </a:r>
                    </a:p>
                  </a:txBody>
                  <a:tcPr marL="73152" marR="73152">
                    <a:solidFill>
                      <a:srgbClr val="003C71"/>
                    </a:solidFill>
                  </a:tcPr>
                </a:tc>
                <a:tc>
                  <a:txBody>
                    <a:bodyPr/>
                    <a:lstStyle/>
                    <a:p>
                      <a:r>
                        <a:rPr sz="1300" b="1" i="0">
                          <a:solidFill>
                            <a:srgbClr val="FFFFFF"/>
                          </a:solidFill>
                          <a:latin typeface="Malgun Gothic"/>
                          <a:ea typeface="Malgun Gothic"/>
                          <a:cs typeface="Malgun Gothic"/>
                        </a:rPr>
                        <a:t>지질 소견</a:t>
                      </a:r>
                    </a:p>
                  </a:txBody>
                  <a:tcPr marL="73152" marR="73152">
                    <a:solidFill>
                      <a:srgbClr val="003C71"/>
                    </a:solidFill>
                  </a:tcPr>
                </a:tc>
                <a:tc>
                  <a:txBody>
                    <a:bodyPr/>
                    <a:lstStyle/>
                    <a:p>
                      <a:r>
                        <a:rPr sz="1300" b="1" i="0">
                          <a:solidFill>
                            <a:srgbClr val="FFFFFF"/>
                          </a:solidFill>
                          <a:latin typeface="Malgun Gothic"/>
                          <a:ea typeface="Malgun Gothic"/>
                          <a:cs typeface="Malgun Gothic"/>
                        </a:rPr>
                        <a:t>임상</a:t>
                      </a:r>
                    </a:p>
                  </a:txBody>
                  <a:tcPr marL="73152" marR="73152">
                    <a:solidFill>
                      <a:srgbClr val="003C71"/>
                    </a:solidFill>
                  </a:tcPr>
                </a:tc>
              </a:tr>
              <a:tr h="365760">
                <a:tc>
                  <a:txBody>
                    <a:bodyPr/>
                    <a:lstStyle/>
                    <a:p>
                      <a:r>
                        <a:rPr sz="1300" b="0" i="0">
                          <a:solidFill>
                            <a:srgbClr val="11202B"/>
                          </a:solidFill>
                          <a:latin typeface="Malgun Gothic"/>
                          <a:ea typeface="Malgun Gothic"/>
                          <a:cs typeface="Malgun Gothic"/>
                        </a:rPr>
                        <a:t>가족성 고콜레스테롤혈증(FH)</a:t>
                      </a:r>
                    </a:p>
                  </a:txBody>
                  <a:tcPr marL="73152" marR="73152">
                    <a:solidFill>
                      <a:srgbClr val="FFFFFF"/>
                    </a:solidFill>
                  </a:tcPr>
                </a:tc>
                <a:tc>
                  <a:txBody>
                    <a:bodyPr/>
                    <a:lstStyle/>
                    <a:p>
                      <a:r>
                        <a:rPr sz="1300" b="0" i="0">
                          <a:solidFill>
                            <a:srgbClr val="11202B"/>
                          </a:solidFill>
                          <a:latin typeface="Malgun Gothic"/>
                          <a:ea typeface="Malgun Gothic"/>
                          <a:cs typeface="Malgun Gothic"/>
                        </a:rPr>
                        <a:t>LDLR(85–90%), APOB, PCSK9(기능획득)</a:t>
                      </a:r>
                    </a:p>
                  </a:txBody>
                  <a:tcPr marL="73152" marR="73152">
                    <a:solidFill>
                      <a:srgbClr val="FFFFFF"/>
                    </a:solidFill>
                  </a:tcPr>
                </a:tc>
                <a:tc>
                  <a:txBody>
                    <a:bodyPr/>
                    <a:lstStyle/>
                    <a:p>
                      <a:r>
                        <a:rPr sz="1300" b="0" i="0">
                          <a:solidFill>
                            <a:srgbClr val="11202B"/>
                          </a:solidFill>
                          <a:latin typeface="Malgun Gothic"/>
                          <a:ea typeface="Malgun Gothic"/>
                          <a:cs typeface="Malgun Gothic"/>
                        </a:rPr>
                        <a:t>LDL-C 이형접합 190–400, 동형접합 &gt;500 mg/dL</a:t>
                      </a:r>
                    </a:p>
                  </a:txBody>
                  <a:tcPr marL="73152" marR="73152">
                    <a:solidFill>
                      <a:srgbClr val="FFFFFF"/>
                    </a:solidFill>
                  </a:tcPr>
                </a:tc>
                <a:tc>
                  <a:txBody>
                    <a:bodyPr/>
                    <a:lstStyle/>
                    <a:p>
                      <a:r>
                        <a:rPr sz="1300" b="0" i="0">
                          <a:solidFill>
                            <a:srgbClr val="11202B"/>
                          </a:solidFill>
                          <a:latin typeface="Malgun Gothic"/>
                          <a:ea typeface="Malgun Gothic"/>
                          <a:cs typeface="Malgun Gothic"/>
                        </a:rPr>
                        <a:t>건황색종(아킬레스건), 각막륜, 조기 관상동맥질환; 이형접합 약 1/250</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가족성 킬로미크론혈증(FCS)</a:t>
                      </a:r>
                    </a:p>
                  </a:txBody>
                  <a:tcPr marL="73152" marR="73152">
                    <a:solidFill>
                      <a:srgbClr val="ECF1F5"/>
                    </a:solidFill>
                  </a:tcPr>
                </a:tc>
                <a:tc>
                  <a:txBody>
                    <a:bodyPr/>
                    <a:lstStyle/>
                    <a:p>
                      <a:r>
                        <a:rPr sz="1300" b="0" i="0">
                          <a:solidFill>
                            <a:srgbClr val="11202B"/>
                          </a:solidFill>
                          <a:latin typeface="Malgun Gothic"/>
                          <a:ea typeface="Malgun Gothic"/>
                          <a:cs typeface="Malgun Gothic"/>
                        </a:rPr>
                        <a:t>LPL, APOC2, GPIHBP1, APOA5, LMF1</a:t>
                      </a:r>
                    </a:p>
                  </a:txBody>
                  <a:tcPr marL="73152" marR="73152">
                    <a:solidFill>
                      <a:srgbClr val="ECF1F5"/>
                    </a:solidFill>
                  </a:tcPr>
                </a:tc>
                <a:tc>
                  <a:txBody>
                    <a:bodyPr/>
                    <a:lstStyle/>
                    <a:p>
                      <a:r>
                        <a:rPr sz="1300" b="0" i="0">
                          <a:solidFill>
                            <a:srgbClr val="11202B"/>
                          </a:solidFill>
                          <a:latin typeface="Malgun Gothic"/>
                          <a:ea typeface="Malgun Gothic"/>
                          <a:cs typeface="Malgun Gothic"/>
                        </a:rPr>
                        <a:t>TG &gt; 1000 mg/dL, 공복 킬로미크론</a:t>
                      </a:r>
                    </a:p>
                  </a:txBody>
                  <a:tcPr marL="73152" marR="73152">
                    <a:solidFill>
                      <a:srgbClr val="ECF1F5"/>
                    </a:solidFill>
                  </a:tcPr>
                </a:tc>
                <a:tc>
                  <a:txBody>
                    <a:bodyPr/>
                    <a:lstStyle/>
                    <a:p>
                      <a:r>
                        <a:rPr sz="1300" b="1" i="0">
                          <a:solidFill>
                            <a:srgbClr val="11202B"/>
                          </a:solidFill>
                          <a:latin typeface="Malgun Gothic"/>
                          <a:ea typeface="Malgun Gothic"/>
                          <a:cs typeface="Malgun Gothic"/>
                        </a:rPr>
                        <a:t>급성 췌장염</a:t>
                      </a:r>
                      <a:r>
                        <a:rPr sz="1300" b="0" i="0">
                          <a:solidFill>
                            <a:srgbClr val="11202B"/>
                          </a:solidFill>
                          <a:latin typeface="Malgun Gothic"/>
                          <a:ea typeface="Malgun Gothic"/>
                          <a:cs typeface="Malgun Gothic"/>
                        </a:rPr>
                        <a:t>, 발진성 황색종, 망막지혈증</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이베타지단백혈증(III형)</a:t>
                      </a:r>
                    </a:p>
                  </a:txBody>
                  <a:tcPr marL="73152" marR="73152">
                    <a:solidFill>
                      <a:srgbClr val="FFFFFF"/>
                    </a:solidFill>
                  </a:tcPr>
                </a:tc>
                <a:tc>
                  <a:txBody>
                    <a:bodyPr/>
                    <a:lstStyle/>
                    <a:p>
                      <a:r>
                        <a:rPr sz="1300" b="0" i="0">
                          <a:solidFill>
                            <a:srgbClr val="11202B"/>
                          </a:solidFill>
                          <a:latin typeface="Malgun Gothic"/>
                          <a:ea typeface="Malgun Gothic"/>
                          <a:cs typeface="Malgun Gothic"/>
                        </a:rPr>
                        <a:t>APOE2/E2 + 2차 요인</a:t>
                      </a:r>
                    </a:p>
                  </a:txBody>
                  <a:tcPr marL="73152" marR="73152">
                    <a:solidFill>
                      <a:srgbClr val="FFFFFF"/>
                    </a:solidFill>
                  </a:tcPr>
                </a:tc>
                <a:tc>
                  <a:txBody>
                    <a:bodyPr/>
                    <a:lstStyle/>
                    <a:p>
                      <a:r>
                        <a:rPr sz="1300" b="0" i="0">
                          <a:solidFill>
                            <a:srgbClr val="11202B"/>
                          </a:solidFill>
                          <a:latin typeface="Malgun Gothic"/>
                          <a:ea typeface="Malgun Gothic"/>
                          <a:cs typeface="Malgun Gothic"/>
                        </a:rPr>
                        <a:t>콜레스테롤·TG 동시 상승, 잔여물↑</a:t>
                      </a:r>
                    </a:p>
                  </a:txBody>
                  <a:tcPr marL="73152" marR="73152">
                    <a:solidFill>
                      <a:srgbClr val="FFFFFF"/>
                    </a:solidFill>
                  </a:tcPr>
                </a:tc>
                <a:tc>
                  <a:txBody>
                    <a:bodyPr/>
                    <a:lstStyle/>
                    <a:p>
                      <a:r>
                        <a:rPr sz="1300" b="0" i="0">
                          <a:solidFill>
                            <a:srgbClr val="11202B"/>
                          </a:solidFill>
                          <a:latin typeface="Malgun Gothic"/>
                          <a:ea typeface="Malgun Gothic"/>
                          <a:cs typeface="Malgun Gothic"/>
                        </a:rPr>
                        <a:t>손바닥 줄무늬 황색종, 결절 황색종, 말초동맥질환</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가족성 복합형 고지혈증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다유전자</a:t>
                      </a:r>
                    </a:p>
                  </a:txBody>
                  <a:tcPr marL="73152" marR="73152">
                    <a:solidFill>
                      <a:srgbClr val="ECF1F5"/>
                    </a:solidFill>
                  </a:tcPr>
                </a:tc>
                <a:tc>
                  <a:txBody>
                    <a:bodyPr/>
                    <a:lstStyle/>
                    <a:p>
                      <a:r>
                        <a:rPr sz="1300" b="0" i="0">
                          <a:solidFill>
                            <a:srgbClr val="11202B"/>
                          </a:solidFill>
                          <a:latin typeface="Malgun Gothic"/>
                          <a:ea typeface="Malgun Gothic"/>
                          <a:cs typeface="Malgun Gothic"/>
                        </a:rPr>
                        <a:t>LDL·TG 다양</a:t>
                      </a:r>
                    </a:p>
                  </a:txBody>
                  <a:tcPr marL="73152" marR="73152">
                    <a:solidFill>
                      <a:srgbClr val="ECF1F5"/>
                    </a:solidFill>
                  </a:tcPr>
                </a:tc>
                <a:tc>
                  <a:txBody>
                    <a:bodyPr/>
                    <a:lstStyle/>
                    <a:p>
                      <a:r>
                        <a:rPr sz="1300" b="0" i="0">
                          <a:solidFill>
                            <a:srgbClr val="11202B"/>
                          </a:solidFill>
                          <a:latin typeface="Malgun Gothic"/>
                          <a:ea typeface="Malgun Gothic"/>
                          <a:cs typeface="Malgun Gothic"/>
                        </a:rPr>
                        <a:t>가장 흔한 유전성 이상지질혈증</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Lp(a) 상승</a:t>
                      </a:r>
                    </a:p>
                  </a:txBody>
                  <a:tcPr marL="73152" marR="73152">
                    <a:solidFill>
                      <a:srgbClr val="FFFFFF"/>
                    </a:solidFill>
                  </a:tcPr>
                </a:tc>
                <a:tc>
                  <a:txBody>
                    <a:bodyPr/>
                    <a:lstStyle/>
                    <a:p>
                      <a:r>
                        <a:rPr sz="1300" b="0" i="0">
                          <a:solidFill>
                            <a:srgbClr val="11202B"/>
                          </a:solidFill>
                          <a:latin typeface="Malgun Gothic"/>
                          <a:ea typeface="Malgun Gothic"/>
                          <a:cs typeface="Malgun Gothic"/>
                        </a:rPr>
                        <a:t>LPA (kringle IV-2 반복 수 역상관)</a:t>
                      </a:r>
                    </a:p>
                  </a:txBody>
                  <a:tcPr marL="73152" marR="73152">
                    <a:solidFill>
                      <a:srgbClr val="FFFFFF"/>
                    </a:solidFill>
                  </a:tcPr>
                </a:tc>
                <a:tc>
                  <a:txBody>
                    <a:bodyPr/>
                    <a:lstStyle/>
                    <a:p>
                      <a:r>
                        <a:rPr sz="1300" b="0" i="0">
                          <a:solidFill>
                            <a:srgbClr val="11202B"/>
                          </a:solidFill>
                          <a:latin typeface="Malgun Gothic"/>
                          <a:ea typeface="Malgun Gothic"/>
                          <a:cs typeface="Malgun Gothic"/>
                        </a:rPr>
                        <a:t>Lp(a) &gt; 50 mg/dL(125 nmol/L)</a:t>
                      </a:r>
                    </a:p>
                  </a:txBody>
                  <a:tcPr marL="73152" marR="73152">
                    <a:solidFill>
                      <a:srgbClr val="FFFFFF"/>
                    </a:solidFill>
                  </a:tcPr>
                </a:tc>
                <a:tc>
                  <a:txBody>
                    <a:bodyPr/>
                    <a:lstStyle/>
                    <a:p>
                      <a:r>
                        <a:rPr sz="1300" b="0" i="0">
                          <a:solidFill>
                            <a:srgbClr val="11202B"/>
                          </a:solidFill>
                          <a:latin typeface="Malgun Gothic"/>
                          <a:ea typeface="Malgun Gothic"/>
                          <a:cs typeface="Malgun Gothic"/>
                        </a:rPr>
                        <a:t>70–90% 유전 결정, 대동맥판 협착</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탄지에르병</a:t>
                      </a:r>
                    </a:p>
                  </a:txBody>
                  <a:tcPr marL="73152" marR="73152">
                    <a:solidFill>
                      <a:srgbClr val="ECF1F5"/>
                    </a:solidFill>
                  </a:tcPr>
                </a:tc>
                <a:tc>
                  <a:txBody>
                    <a:bodyPr/>
                    <a:lstStyle/>
                    <a:p>
                      <a:r>
                        <a:rPr sz="1300" b="0" i="0">
                          <a:solidFill>
                            <a:srgbClr val="11202B"/>
                          </a:solidFill>
                          <a:latin typeface="Malgun Gothic"/>
                          <a:ea typeface="Malgun Gothic"/>
                          <a:cs typeface="Malgun Gothic"/>
                        </a:rPr>
                        <a:t>ABCA1</a:t>
                      </a:r>
                    </a:p>
                  </a:txBody>
                  <a:tcPr marL="73152" marR="73152">
                    <a:solidFill>
                      <a:srgbClr val="ECF1F5"/>
                    </a:solidFill>
                  </a:tcPr>
                </a:tc>
                <a:tc>
                  <a:txBody>
                    <a:bodyPr/>
                    <a:lstStyle/>
                    <a:p>
                      <a:r>
                        <a:rPr sz="1300" b="0" i="0">
                          <a:solidFill>
                            <a:srgbClr val="11202B"/>
                          </a:solidFill>
                          <a:latin typeface="Malgun Gothic"/>
                          <a:ea typeface="Malgun Gothic"/>
                          <a:cs typeface="Malgun Gothic"/>
                        </a:rPr>
                        <a:t>HDL 거의 없음</a:t>
                      </a:r>
                    </a:p>
                  </a:txBody>
                  <a:tcPr marL="73152" marR="73152">
                    <a:solidFill>
                      <a:srgbClr val="ECF1F5"/>
                    </a:solidFill>
                  </a:tcPr>
                </a:tc>
                <a:tc>
                  <a:txBody>
                    <a:bodyPr/>
                    <a:lstStyle/>
                    <a:p>
                      <a:r>
                        <a:rPr sz="1300" b="0" i="0">
                          <a:solidFill>
                            <a:srgbClr val="11202B"/>
                          </a:solidFill>
                          <a:latin typeface="Malgun Gothic"/>
                          <a:ea typeface="Malgun Gothic"/>
                          <a:cs typeface="Malgun Gothic"/>
                        </a:rPr>
                        <a:t>주황색 편도, 신경병증</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시토스테롤혈증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ABCG5/ABCG8</a:t>
                      </a:r>
                    </a:p>
                  </a:txBody>
                  <a:tcPr marL="73152" marR="73152">
                    <a:solidFill>
                      <a:srgbClr val="FFFFFF"/>
                    </a:solidFill>
                  </a:tcPr>
                </a:tc>
                <a:tc>
                  <a:txBody>
                    <a:bodyPr/>
                    <a:lstStyle/>
                    <a:p>
                      <a:r>
                        <a:rPr sz="1300" b="0" i="0">
                          <a:solidFill>
                            <a:srgbClr val="11202B"/>
                          </a:solidFill>
                          <a:latin typeface="Malgun Gothic"/>
                          <a:ea typeface="Malgun Gothic"/>
                          <a:cs typeface="Malgun Gothic"/>
                        </a:rPr>
                        <a:t>식물스테롤↑</a:t>
                      </a:r>
                    </a:p>
                  </a:txBody>
                  <a:tcPr marL="73152" marR="73152">
                    <a:solidFill>
                      <a:srgbClr val="FFFFFF"/>
                    </a:solidFill>
                  </a:tcPr>
                </a:tc>
                <a:tc>
                  <a:txBody>
                    <a:bodyPr/>
                    <a:lstStyle/>
                    <a:p>
                      <a:r>
                        <a:rPr sz="1300" b="0" i="0">
                          <a:solidFill>
                            <a:srgbClr val="11202B"/>
                          </a:solidFill>
                          <a:latin typeface="Malgun Gothic"/>
                          <a:ea typeface="Malgun Gothic"/>
                          <a:cs typeface="Malgun Gothic"/>
                        </a:rPr>
                        <a:t>황색종, 조기 죽상경화; 에제티미브 효과적</a:t>
                      </a:r>
                    </a:p>
                  </a:txBody>
                  <a:tcPr marL="73152" marR="73152">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원발성 이상지질혈증</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17</a:t>
            </a:r>
          </a:p>
        </p:txBody>
      </p:sp>
      <p:sp>
        <p:nvSpPr>
          <p:cNvPr id="7" name="Rectangle 6"/>
          <p:cNvSpPr/>
          <p:nvPr/>
        </p:nvSpPr>
        <p:spPr>
          <a:xfrm>
            <a:off x="640080" y="1325880"/>
            <a:ext cx="10881360" cy="26670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이형접합 FH는 생애 초기부터 LDL에 노출되어 '누적 LDL 부담'이 크다. 가족 연쇄 선별(cascade screening)이 비용효과적이며, 소아는 8–10세부터 스타틴을 고려한다. 동형접합 FH는 LDL 수용체 기능이 없어 스타틴·PCSK9 항체의 반응이 약하므로 에비나쿠맙(항ANGPTL3), 로미타파이드, LDL 성분채집술을 사용한다.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지질강하 치료의 기전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Lp(a) 표적 약물(펠라카르센 ASO, 올파시란 siRNA, 무바파미 경구 소분자)은 심혈관 결과 3상 시험이 진행·발표 단계이다.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지질강하 치료의 기전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19</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LDL-C 감소</a:t>
                      </a:r>
                    </a:p>
                  </a:txBody>
                  <a:tcPr marL="73152" marR="73152">
                    <a:solidFill>
                      <a:srgbClr val="003C71"/>
                    </a:solidFill>
                  </a:tcPr>
                </a:tc>
                <a:tc>
                  <a:txBody>
                    <a:bodyPr/>
                    <a:lstStyle/>
                    <a:p>
                      <a:r>
                        <a:rPr sz="1500" b="1" i="0">
                          <a:solidFill>
                            <a:srgbClr val="FFFFFF"/>
                          </a:solidFill>
                          <a:latin typeface="Malgun Gothic"/>
                          <a:ea typeface="Malgun Gothic"/>
                          <a:cs typeface="Malgun Gothic"/>
                        </a:rPr>
                        <a:t>핵심</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스타틴</a:t>
                      </a:r>
                    </a:p>
                  </a:txBody>
                  <a:tcPr marL="73152" marR="73152">
                    <a:solidFill>
                      <a:srgbClr val="FFFFFF"/>
                    </a:solidFill>
                  </a:tcPr>
                </a:tc>
                <a:tc>
                  <a:txBody>
                    <a:bodyPr/>
                    <a:lstStyle/>
                    <a:p>
                      <a:r>
                        <a:rPr sz="1500" b="0" i="0">
                          <a:solidFill>
                            <a:srgbClr val="11202B"/>
                          </a:solidFill>
                          <a:latin typeface="Malgun Gothic"/>
                          <a:ea typeface="Malgun Gothic"/>
                          <a:cs typeface="Malgun Gothic"/>
                        </a:rPr>
                        <a:t>HMGCR</a:t>
                      </a:r>
                    </a:p>
                  </a:txBody>
                  <a:tcPr marL="73152" marR="73152">
                    <a:solidFill>
                      <a:srgbClr val="FFFFFF"/>
                    </a:solidFill>
                  </a:tcPr>
                </a:tc>
                <a:tc>
                  <a:txBody>
                    <a:bodyPr/>
                    <a:lstStyle/>
                    <a:p>
                      <a:r>
                        <a:rPr sz="1500" b="0" i="0">
                          <a:solidFill>
                            <a:srgbClr val="11202B"/>
                          </a:solidFill>
                          <a:latin typeface="Malgun Gothic"/>
                          <a:ea typeface="Malgun Gothic"/>
                          <a:cs typeface="Malgun Gothic"/>
                        </a:rPr>
                        <a:t>30–50%(고강도 ≥50%)</a:t>
                      </a:r>
                    </a:p>
                  </a:txBody>
                  <a:tcPr marL="73152" marR="73152">
                    <a:solidFill>
                      <a:srgbClr val="FFFFFF"/>
                    </a:solidFill>
                  </a:tcPr>
                </a:tc>
                <a:tc>
                  <a:txBody>
                    <a:bodyPr/>
                    <a:lstStyle/>
                    <a:p>
                      <a:r>
                        <a:rPr sz="1500" b="0" i="0">
                          <a:solidFill>
                            <a:srgbClr val="11202B"/>
                          </a:solidFill>
                          <a:latin typeface="Malgun Gothic"/>
                          <a:ea typeface="Malgun Gothic"/>
                          <a:cs typeface="Malgun Gothic"/>
                        </a:rPr>
                        <a:t>1차 약제, 근육증상·신규 당뇨 소폭 증가</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에제티미브</a:t>
                      </a:r>
                    </a:p>
                  </a:txBody>
                  <a:tcPr marL="73152" marR="73152">
                    <a:solidFill>
                      <a:srgbClr val="ECF1F5"/>
                    </a:solidFill>
                  </a:tcPr>
                </a:tc>
                <a:tc>
                  <a:txBody>
                    <a:bodyPr/>
                    <a:lstStyle/>
                    <a:p>
                      <a:r>
                        <a:rPr sz="1500" b="0" i="0">
                          <a:solidFill>
                            <a:srgbClr val="11202B"/>
                          </a:solidFill>
                          <a:latin typeface="Malgun Gothic"/>
                          <a:ea typeface="Malgun Gothic"/>
                          <a:cs typeface="Malgun Gothic"/>
                        </a:rPr>
                        <a:t>장 NPC1L1</a:t>
                      </a:r>
                    </a:p>
                  </a:txBody>
                  <a:tcPr marL="73152" marR="73152">
                    <a:solidFill>
                      <a:srgbClr val="ECF1F5"/>
                    </a:solidFill>
                  </a:tcPr>
                </a:tc>
                <a:tc>
                  <a:txBody>
                    <a:bodyPr/>
                    <a:lstStyle/>
                    <a:p>
                      <a:r>
                        <a:rPr sz="1500" b="0" i="0">
                          <a:solidFill>
                            <a:srgbClr val="11202B"/>
                          </a:solidFill>
                          <a:latin typeface="Malgun Gothic"/>
                          <a:ea typeface="Malgun Gothic"/>
                          <a:cs typeface="Malgun Gothic"/>
                        </a:rPr>
                        <a:t>15–25%</a:t>
                      </a:r>
                    </a:p>
                  </a:txBody>
                  <a:tcPr marL="73152" marR="73152">
                    <a:solidFill>
                      <a:srgbClr val="ECF1F5"/>
                    </a:solidFill>
                  </a:tcPr>
                </a:tc>
                <a:tc>
                  <a:txBody>
                    <a:bodyPr/>
                    <a:lstStyle/>
                    <a:p>
                      <a:r>
                        <a:rPr sz="1500" b="0" i="0">
                          <a:solidFill>
                            <a:srgbClr val="11202B"/>
                          </a:solidFill>
                          <a:latin typeface="Malgun Gothic"/>
                          <a:ea typeface="Malgun Gothic"/>
                          <a:cs typeface="Malgun Gothic"/>
                        </a:rPr>
                        <a:t>IMPROVE-IT: 스타틴 병용 이득</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벰페도산</a:t>
                      </a:r>
                    </a:p>
                  </a:txBody>
                  <a:tcPr marL="73152" marR="73152">
                    <a:solidFill>
                      <a:srgbClr val="FFFFFF"/>
                    </a:solidFill>
                  </a:tcPr>
                </a:tc>
                <a:tc>
                  <a:txBody>
                    <a:bodyPr/>
                    <a:lstStyle/>
                    <a:p>
                      <a:r>
                        <a:rPr sz="1500" b="0" i="0">
                          <a:solidFill>
                            <a:srgbClr val="11202B"/>
                          </a:solidFill>
                          <a:latin typeface="Malgun Gothic"/>
                          <a:ea typeface="Malgun Gothic"/>
                          <a:cs typeface="Malgun Gothic"/>
                        </a:rPr>
                        <a:t>ACLY (간 특이)</a:t>
                      </a:r>
                    </a:p>
                  </a:txBody>
                  <a:tcPr marL="73152" marR="73152">
                    <a:solidFill>
                      <a:srgbClr val="FFFFFF"/>
                    </a:solidFill>
                  </a:tcPr>
                </a:tc>
                <a:tc>
                  <a:txBody>
                    <a:bodyPr/>
                    <a:lstStyle/>
                    <a:p>
                      <a:r>
                        <a:rPr sz="1500" b="0" i="0">
                          <a:solidFill>
                            <a:srgbClr val="11202B"/>
                          </a:solidFill>
                          <a:latin typeface="Malgun Gothic"/>
                          <a:ea typeface="Malgun Gothic"/>
                          <a:cs typeface="Malgun Gothic"/>
                        </a:rPr>
                        <a:t>15–25%</a:t>
                      </a:r>
                    </a:p>
                  </a:txBody>
                  <a:tcPr marL="73152" marR="73152">
                    <a:solidFill>
                      <a:srgbClr val="FFFFFF"/>
                    </a:solidFill>
                  </a:tcPr>
                </a:tc>
                <a:tc>
                  <a:txBody>
                    <a:bodyPr/>
                    <a:lstStyle/>
                    <a:p>
                      <a:r>
                        <a:rPr sz="1500" b="0" i="0">
                          <a:solidFill>
                            <a:srgbClr val="11202B"/>
                          </a:solidFill>
                          <a:latin typeface="Malgun Gothic"/>
                          <a:ea typeface="Malgun Gothic"/>
                          <a:cs typeface="Malgun Gothic"/>
                        </a:rPr>
                        <a:t>스타틴 불내성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PCSK9 단클론항체(에볼로쿠맙, 알리로쿠맙)</a:t>
                      </a:r>
                    </a:p>
                  </a:txBody>
                  <a:tcPr marL="73152" marR="73152">
                    <a:solidFill>
                      <a:srgbClr val="ECF1F5"/>
                    </a:solidFill>
                  </a:tcPr>
                </a:tc>
                <a:tc>
                  <a:txBody>
                    <a:bodyPr/>
                    <a:lstStyle/>
                    <a:p>
                      <a:r>
                        <a:rPr sz="1500" b="0" i="0">
                          <a:solidFill>
                            <a:srgbClr val="11202B"/>
                          </a:solidFill>
                          <a:latin typeface="Malgun Gothic"/>
                          <a:ea typeface="Malgun Gothic"/>
                          <a:cs typeface="Malgun Gothic"/>
                        </a:rPr>
                        <a:t>혈중 PCSK9</a:t>
                      </a:r>
                    </a:p>
                  </a:txBody>
                  <a:tcPr marL="73152" marR="73152">
                    <a:solidFill>
                      <a:srgbClr val="ECF1F5"/>
                    </a:solidFill>
                  </a:tcPr>
                </a:tc>
                <a:tc>
                  <a:txBody>
                    <a:bodyPr/>
                    <a:lstStyle/>
                    <a:p>
                      <a:r>
                        <a:rPr sz="1500" b="0" i="0">
                          <a:solidFill>
                            <a:srgbClr val="11202B"/>
                          </a:solidFill>
                          <a:latin typeface="Malgun Gothic"/>
                          <a:ea typeface="Malgun Gothic"/>
                          <a:cs typeface="Malgun Gothic"/>
                        </a:rPr>
                        <a:t>~60%</a:t>
                      </a:r>
                    </a:p>
                  </a:txBody>
                  <a:tcPr marL="73152" marR="73152">
                    <a:solidFill>
                      <a:srgbClr val="ECF1F5"/>
                    </a:solidFill>
                  </a:tcPr>
                </a:tc>
                <a:tc>
                  <a:txBody>
                    <a:bodyPr/>
                    <a:lstStyle/>
                    <a:p>
                      <a:r>
                        <a:rPr sz="1500" b="0" i="0">
                          <a:solidFill>
                            <a:srgbClr val="11202B"/>
                          </a:solidFill>
                          <a:latin typeface="Malgun Gothic"/>
                          <a:ea typeface="Malgun Gothic"/>
                          <a:cs typeface="Malgun Gothic"/>
                        </a:rPr>
                        <a:t>FOURIER, ODYSSEY OUTCOMES</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인클리시란</a:t>
                      </a:r>
                    </a:p>
                  </a:txBody>
                  <a:tcPr marL="73152" marR="73152">
                    <a:solidFill>
                      <a:srgbClr val="FFFFFF"/>
                    </a:solidFill>
                  </a:tcPr>
                </a:tc>
                <a:tc>
                  <a:txBody>
                    <a:bodyPr/>
                    <a:lstStyle/>
                    <a:p>
                      <a:r>
                        <a:rPr sz="1500" b="0" i="0">
                          <a:solidFill>
                            <a:srgbClr val="11202B"/>
                          </a:solidFill>
                          <a:latin typeface="Malgun Gothic"/>
                          <a:ea typeface="Malgun Gothic"/>
                          <a:cs typeface="Malgun Gothic"/>
                        </a:rPr>
                        <a:t>간 PCSK9 mRNA (GalNAc-siRNA)</a:t>
                      </a:r>
                    </a:p>
                  </a:txBody>
                  <a:tcPr marL="73152" marR="73152">
                    <a:solidFill>
                      <a:srgbClr val="FFFFFF"/>
                    </a:solidFill>
                  </a:tcPr>
                </a:tc>
                <a:tc>
                  <a:txBody>
                    <a:bodyPr/>
                    <a:lstStyle/>
                    <a:p>
                      <a:r>
                        <a:rPr sz="1500" b="0" i="0">
                          <a:solidFill>
                            <a:srgbClr val="11202B"/>
                          </a:solidFill>
                          <a:latin typeface="Malgun Gothic"/>
                          <a:ea typeface="Malgun Gothic"/>
                          <a:cs typeface="Malgun Gothic"/>
                        </a:rPr>
                        <a:t>~50%</a:t>
                      </a:r>
                    </a:p>
                  </a:txBody>
                  <a:tcPr marL="73152" marR="73152">
                    <a:solidFill>
                      <a:srgbClr val="FFFFFF"/>
                    </a:solidFill>
                  </a:tcPr>
                </a:tc>
                <a:tc>
                  <a:txBody>
                    <a:bodyPr/>
                    <a:lstStyle/>
                    <a:p>
                      <a:r>
                        <a:rPr sz="1500" b="0" i="0">
                          <a:solidFill>
                            <a:srgbClr val="11202B"/>
                          </a:solidFill>
                          <a:latin typeface="Malgun Gothic"/>
                          <a:ea typeface="Malgun Gothic"/>
                          <a:cs typeface="Malgun Gothic"/>
                        </a:rPr>
                        <a:t>연 2회 피하주사</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에비나쿠맙</a:t>
                      </a:r>
                    </a:p>
                  </a:txBody>
                  <a:tcPr marL="73152" marR="73152">
                    <a:solidFill>
                      <a:srgbClr val="ECF1F5"/>
                    </a:solidFill>
                  </a:tcPr>
                </a:tc>
                <a:tc>
                  <a:txBody>
                    <a:bodyPr/>
                    <a:lstStyle/>
                    <a:p>
                      <a:r>
                        <a:rPr sz="1500" b="0" i="0">
                          <a:solidFill>
                            <a:srgbClr val="11202B"/>
                          </a:solidFill>
                          <a:latin typeface="Malgun Gothic"/>
                          <a:ea typeface="Malgun Gothic"/>
                          <a:cs typeface="Malgun Gothic"/>
                        </a:rPr>
                        <a:t>ANGPTL3</a:t>
                      </a:r>
                    </a:p>
                  </a:txBody>
                  <a:tcPr marL="73152" marR="73152">
                    <a:solidFill>
                      <a:srgbClr val="ECF1F5"/>
                    </a:solidFill>
                  </a:tcPr>
                </a:tc>
                <a:tc>
                  <a:txBody>
                    <a:bodyPr/>
                    <a:lstStyle/>
                    <a:p>
                      <a:r>
                        <a:rPr sz="1500" b="0" i="0">
                          <a:solidFill>
                            <a:srgbClr val="11202B"/>
                          </a:solidFill>
                          <a:latin typeface="Malgun Gothic"/>
                          <a:ea typeface="Malgun Gothic"/>
                          <a:cs typeface="Malgun Gothic"/>
                        </a:rPr>
                        <a:t>~50% (LDLR 비의존)</a:t>
                      </a:r>
                    </a:p>
                  </a:txBody>
                  <a:tcPr marL="73152" marR="73152">
                    <a:solidFill>
                      <a:srgbClr val="ECF1F5"/>
                    </a:solidFill>
                  </a:tcPr>
                </a:tc>
                <a:tc>
                  <a:txBody>
                    <a:bodyPr/>
                    <a:lstStyle/>
                    <a:p>
                      <a:r>
                        <a:rPr sz="1500" b="0" i="0">
                          <a:solidFill>
                            <a:srgbClr val="11202B"/>
                          </a:solidFill>
                          <a:latin typeface="Malgun Gothic"/>
                          <a:ea typeface="Malgun Gothic"/>
                          <a:cs typeface="Malgun Gothic"/>
                        </a:rPr>
                        <a:t>동형접합 FH</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피브레이트</a:t>
                      </a:r>
                    </a:p>
                  </a:txBody>
                  <a:tcPr marL="73152" marR="73152">
                    <a:solidFill>
                      <a:srgbClr val="FFFFFF"/>
                    </a:solidFill>
                  </a:tcPr>
                </a:tc>
                <a:tc>
                  <a:txBody>
                    <a:bodyPr/>
                    <a:lstStyle/>
                    <a:p>
                      <a:r>
                        <a:rPr sz="1500" b="0" i="0">
                          <a:solidFill>
                            <a:srgbClr val="11202B"/>
                          </a:solidFill>
                          <a:latin typeface="Malgun Gothic"/>
                          <a:ea typeface="Malgun Gothic"/>
                          <a:cs typeface="Malgun Gothic"/>
                        </a:rPr>
                        <a:t>PPARα</a:t>
                      </a:r>
                    </a:p>
                  </a:txBody>
                  <a:tcPr marL="73152" marR="73152">
                    <a:solidFill>
                      <a:srgbClr val="FFFFFF"/>
                    </a:solidFill>
                  </a:tcPr>
                </a:tc>
                <a:tc>
                  <a:txBody>
                    <a:bodyPr/>
                    <a:lstStyle/>
                    <a:p>
                      <a:r>
                        <a:rPr sz="1500" b="0" i="0">
                          <a:solidFill>
                            <a:srgbClr val="11202B"/>
                          </a:solidFill>
                          <a:latin typeface="Malgun Gothic"/>
                          <a:ea typeface="Malgun Gothic"/>
                          <a:cs typeface="Malgun Gothic"/>
                        </a:rPr>
                        <a:t>중성지방 30–50%↓</a:t>
                      </a:r>
                    </a:p>
                  </a:txBody>
                  <a:tcPr marL="73152" marR="73152">
                    <a:solidFill>
                      <a:srgbClr val="FFFFFF"/>
                    </a:solidFill>
                  </a:tcPr>
                </a:tc>
                <a:tc>
                  <a:txBody>
                    <a:bodyPr/>
                    <a:lstStyle/>
                    <a:p>
                      <a:r>
                        <a:rPr sz="1500" b="0" i="0">
                          <a:solidFill>
                            <a:srgbClr val="11202B"/>
                          </a:solidFill>
                          <a:latin typeface="Malgun Gothic"/>
                          <a:ea typeface="Malgun Gothic"/>
                          <a:cs typeface="Malgun Gothic"/>
                        </a:rPr>
                        <a:t>LPL↑, apoC-III↓</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오메가-3(EPA)</a:t>
                      </a:r>
                    </a:p>
                  </a:txBody>
                  <a:tcPr marL="73152" marR="73152">
                    <a:solidFill>
                      <a:srgbClr val="ECF1F5"/>
                    </a:solidFill>
                  </a:tcPr>
                </a:tc>
                <a:tc>
                  <a:txBody>
                    <a:bodyPr/>
                    <a:lstStyle/>
                    <a:p>
                      <a:r>
                        <a:rPr sz="1500" b="0" i="0">
                          <a:solidFill>
                            <a:srgbClr val="11202B"/>
                          </a:solidFill>
                          <a:latin typeface="Malgun Gothic"/>
                          <a:ea typeface="Malgun Gothic"/>
                          <a:cs typeface="Malgun Gothic"/>
                        </a:rPr>
                        <a:t>다중</a:t>
                      </a:r>
                    </a:p>
                  </a:txBody>
                  <a:tcPr marL="73152" marR="73152">
                    <a:solidFill>
                      <a:srgbClr val="ECF1F5"/>
                    </a:solidFill>
                  </a:tcPr>
                </a:tc>
                <a:tc>
                  <a:txBody>
                    <a:bodyPr/>
                    <a:lstStyle/>
                    <a:p>
                      <a:r>
                        <a:rPr sz="1500" b="0" i="0">
                          <a:solidFill>
                            <a:srgbClr val="11202B"/>
                          </a:solidFill>
                          <a:latin typeface="Malgun Gothic"/>
                          <a:ea typeface="Malgun Gothic"/>
                          <a:cs typeface="Malgun Gothic"/>
                        </a:rPr>
                        <a:t>중성지방↓</a:t>
                      </a:r>
                    </a:p>
                  </a:txBody>
                  <a:tcPr marL="73152" marR="73152">
                    <a:solidFill>
                      <a:srgbClr val="ECF1F5"/>
                    </a:solidFill>
                  </a:tcPr>
                </a:tc>
                <a:tc>
                  <a:txBody>
                    <a:bodyPr/>
                    <a:lstStyle/>
                    <a:p>
                      <a:r>
                        <a:rPr sz="1500" b="0" i="0">
                          <a:solidFill>
                            <a:srgbClr val="11202B"/>
                          </a:solidFill>
                          <a:latin typeface="Malgun Gothic"/>
                          <a:ea typeface="Malgun Gothic"/>
                          <a:cs typeface="Malgun Gothic"/>
                        </a:rPr>
                        <a:t>REDUCE-IT</a:t>
                      </a:r>
                    </a:p>
                  </a:txBody>
                  <a:tcPr marL="73152" marR="73152">
                    <a:solidFill>
                      <a:srgbClr val="ECF1F5"/>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지질강하 치료의 기전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20</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LDL-C 감소</a:t>
                      </a:r>
                    </a:p>
                  </a:txBody>
                  <a:tcPr marL="73152" marR="73152">
                    <a:solidFill>
                      <a:srgbClr val="003C71"/>
                    </a:solidFill>
                  </a:tcPr>
                </a:tc>
                <a:tc>
                  <a:txBody>
                    <a:bodyPr/>
                    <a:lstStyle/>
                    <a:p>
                      <a:r>
                        <a:rPr sz="1500" b="1" i="0">
                          <a:solidFill>
                            <a:srgbClr val="FFFFFF"/>
                          </a:solidFill>
                          <a:latin typeface="Malgun Gothic"/>
                          <a:ea typeface="Malgun Gothic"/>
                          <a:cs typeface="Malgun Gothic"/>
                        </a:rPr>
                        <a:t>핵심</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올레자르센</a:t>
                      </a:r>
                    </a:p>
                  </a:txBody>
                  <a:tcPr marL="73152" marR="73152">
                    <a:solidFill>
                      <a:srgbClr val="FFFFFF"/>
                    </a:solidFill>
                  </a:tcPr>
                </a:tc>
                <a:tc>
                  <a:txBody>
                    <a:bodyPr/>
                    <a:lstStyle/>
                    <a:p>
                      <a:r>
                        <a:rPr sz="1500" b="0" i="0">
                          <a:solidFill>
                            <a:srgbClr val="11202B"/>
                          </a:solidFill>
                          <a:latin typeface="Malgun Gothic"/>
                          <a:ea typeface="Malgun Gothic"/>
                          <a:cs typeface="Malgun Gothic"/>
                        </a:rPr>
                        <a:t>apoC-III mRNA</a:t>
                      </a:r>
                    </a:p>
                  </a:txBody>
                  <a:tcPr marL="73152" marR="73152">
                    <a:solidFill>
                      <a:srgbClr val="FFFFFF"/>
                    </a:solidFill>
                  </a:tcPr>
                </a:tc>
                <a:tc>
                  <a:txBody>
                    <a:bodyPr/>
                    <a:lstStyle/>
                    <a:p>
                      <a:r>
                        <a:rPr sz="1500" b="0" i="0">
                          <a:solidFill>
                            <a:srgbClr val="11202B"/>
                          </a:solidFill>
                          <a:latin typeface="Malgun Gothic"/>
                          <a:ea typeface="Malgun Gothic"/>
                          <a:cs typeface="Malgun Gothic"/>
                        </a:rPr>
                        <a:t>중성지방 50–70%↓</a:t>
                      </a:r>
                    </a:p>
                  </a:txBody>
                  <a:tcPr marL="73152" marR="73152">
                    <a:solidFill>
                      <a:srgbClr val="FFFFFF"/>
                    </a:solidFill>
                  </a:tcPr>
                </a:tc>
                <a:tc>
                  <a:txBody>
                    <a:bodyPr/>
                    <a:lstStyle/>
                    <a:p>
                      <a:r>
                        <a:rPr sz="1500" b="0" i="0">
                          <a:solidFill>
                            <a:srgbClr val="11202B"/>
                          </a:solidFill>
                          <a:latin typeface="Malgun Gothic"/>
                          <a:ea typeface="Malgun Gothic"/>
                          <a:cs typeface="Malgun Gothic"/>
                        </a:rPr>
                        <a:t>FCS 승인(2024)</a:t>
                      </a:r>
                    </a:p>
                  </a:txBody>
                  <a:tcPr marL="73152" marR="73152">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유전자 편집 콜레스테롤 저하</a:t>
            </a:r>
            <a:r>
              <a:rPr sz="2000" b="0" i="0">
                <a:solidFill>
                  <a:srgbClr val="11202B"/>
                </a:solidFill>
                <a:latin typeface="Malgun Gothic"/>
                <a:ea typeface="Malgun Gothic"/>
                <a:cs typeface="Malgun Gothic"/>
              </a:rPr>
              <a:t>: 간 PCSK9 염기편집(VERVE-101/102, LNP 단회 투여)이 이형접합 FH에서 LDL-C·PCSK9를 지속적으로 낮추었고, ANGPTL3 편집도 진행 중이다. 단회 투여로 평생 효과를 노리는 '원샷' 패러다임이다.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LDL 입자의 동맥벽 체류(response-to-retention) 가설, 대식세포 콜레스테롤 결정의 NLRP3 활성화, 클론성 조혈(CHIP; TET2, DNMT3A)이 죽상경화 염증을 연결한다(B03 L01).</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단일세포 지질체학과 질량분석 영상으로 죽상판 내 지질 종류의 공간 분포가 분석되고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HMGCR이 콜레스테롤 합성의 속도결정 효소이며 SREBP-2/SCAP/INSIG, 단백 분해, AMPK 인산화로 조절된다.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콜레스테롤은 막, 담즙산(CYP7A1), 스테로이드, 비타민 D의 전구체이며 담즙산 전환이 주요 제거 경로이다.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킬로미크론(B-48)과 VLDL(B-100)의 TG는 LPL(apoC-II 활성화)이 분해하고, 잔여물은 apoE로 간에 흡수된다.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LDL은 LDL 수용체로 제거되며 PCSK9가 수용체 분해를 촉진한다. FH는 이 경로의 결함이다.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스타틴·에제티미브·PCSK9 억제제·벰페도산·인클리시란은 모두 결국 간 LDL 수용체 활성을 높여 LDL을 낮춘다.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스타틴이 혈중 LDL을 낮추는 주된 기전이 '간의 콜레스테롤 합성 감소' 자체보다 무엇에 의존하는지 설명하라.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간세포 내 콜레스테롤이 감소하면 SREBP-2가 활성화되어 LDL 수용체 유전자 발현이 증가하고, 이로 인해 혈중 LDL 제거가 촉진되는 것이 주된 기전이다. 그래서 LDL 수용체 기능이 전혀 없는 동형접합 FH에서는 스타틴 효과가 미미하다.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TG 2500 mg/dL, 반복 췌장염을 가진 20세 환자에서 원인 유전자 후보와 식이 치료 원칙은?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가족성 킬로미크론혈증 증후군(LPL, APOC2, GPIHBP1, APOA5, LMF1 결함). 하루 지방 섭취를 총열량의 10–15%(또는 15–20 g) 이하로 극단적으로 제한하고, 필요 시 중쇄지방(MCT; 문맥으로 직접 흡수되어 킬로미크론을 만들지 않음)을 사용한다. 알코올·단순당을 피한다. 올레자르센(apoC-III ASO)이 승인되었다.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CETP 억제제가 HDL-C를 크게 올렸음에도 심혈관 사건을 줄이지 못한 이유로 제시되는 설명은?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HDL-C '수치'는 HDL의 기능(콜레스테롤 유출능, 항염 기능)을 반영하지 않으며, 멘델 무작위분석에서 HDL-C를 올리는 유전 변이가 심혈관 위험을 줄이지 못했다. 반면 아나세트라피브의 소폭 이득은 LDL/apoB 감소로 설명되었다. 즉 인과 인자는 apoB 함유 입자 수이다.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ApoE2 동형접합 환자에서 이베타지단백혈증이 발생하는 기전은?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ApoE2는 LDL 수용체 결합 능력이 낮아 킬로미크론 잔여물과 IDL(β-VLDL)의 간 흡수가 지연된다. 대부분은 무증상이나 비만·당뇨·갑상선기능저하증 등 2차 요인이 VLDL 생산을 늘리거나 제거를 줄이면 잔여물이 축적되어 콜레스테롤·TG가 동시에 상승하고 손바닥 황색종·조기 죽상경화가 생긴다.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Goldstein JL, Brown MS. A century of cholesterol and coronaries: from plaques to genes to statins. Cell 2015;161:161–172.</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Grundy SM et al. 2018 AHA/ACC Guideline on the management of blood cholesterol. Circulation 2019;139:e1082–e1143.</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Mach F et al. 2019 ESC/EAS Guidelines for the management of dyslipidaemias. Eur Heart J 2020;41:111–188.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B01-L07  ·  콜레스테롤 합성과 지단백 대사</a:t>
            </a:r>
            <a:r>
              <a:rPr sz="10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Ference BA et al. LDL causes atherosclerotic cardiovascular disease: consensus statement from the EAS. Eur Heart J 2017;38:2459–2472.</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Lee RG et al. Efficacy and safety of an investigational single-course CRISPR base-editing therapy targeting PCSK9 in nonhuman primate and mouse models. Circulation 2023;147:242–253.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