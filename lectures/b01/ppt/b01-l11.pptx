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헴은 적혈구 전구세포(전체의 ~85%)와 간(~15%; 사이토크롬 P450)에서 주로 합성된다. 첫 단계와 마지막 3단계는 미토콘드리아, 중간 4단계는 세포질에서 일어난다.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급성 간헐성 포르피린증(AIP) 급성 발작. 즉시 소변 PBG(및 ALA)를 정량한다. 유발 약물(CYP 유도 항경련제) 중단, 탄수화물 공급, 정맥 헤민 투여, 안전 약물로 통증·자율신경 증상 조절, 저나트륨혈증 교정, 호흡근 약화 감시. 재발 시 기보시란 예방을 고려한다.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납이 페로킬라타아제를 억제해 프로토포르피린 IX에 철 대신 아연이 삽입되기 때문이다(철결핍성 빈혈에서도 같은 이유로 증가). 납은 ALA 탈수효소도 억제해 소변 ALA가 증가한다.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티라민은 정상적으로 장과 간의 MAO-A에 의해 분해되지만 MAOI 복용 시 전신 순환으로 들어가 교감신경 말단에서 노르에피네프린을 대량 방출시키는 간접 교감신경작용제로 작용한다.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과량 시 글루쿠론산·황산 포합이 포화되어 CYP2E1이 독성 대사물 NAPQI를 더 많이 만든다. NAPQI는 글루타티온과 결합해 해독되는데, 글루타티온이 고갈되면 간세포 단백질과 결합해 괴사를 유발한다. NAC는 시스테인을 공급해 글루타티온을 재합성시키고 일부는 직접 NAPQI와 결합한다.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B01 의학생화학  ·  질소대사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아미노산 유래 특수 생체분자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Specialized Products of Amino Acids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B01-L11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B01-L11  ·  아미노산 유래 특수 생체분자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헴 생합성 8단계와 조절(ALAS1/ALAS2), 포르피린증의 분류·유발요인·치료를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헴 분해와 빌리루빈 대사의 개요를 정리한다(심화는 B03 L04).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카테콜아민, 세로토닌·멜라토닌, 히스타민, GABA의 합성·분해와 약물 표적을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산화질소(NO), 크레아틴, 글루타티온, 폴리아민, 카르니틴의 합성과 기능을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트립토판-키뉴레닌 경로와 NAD⁺ 생합성의 연결을 이해한다.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B01-L11  ·  아미노산 유래 특수 생체분자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헴 생합성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포르피린증의 임상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헴 분해 개요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카테콜아민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세로토닌, 멜라토닌, 히스타민, GABA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6.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NO, 크레아틴, 글루타티온, 폴리아민, 카르니틴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7.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트립토판 대사와 NAD⁺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헴 생합성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B01-L11  ·  아미노산 유래 특수 생체분자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조절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간 ALAS1은 헴이 전사·mRNA 안정성·미토콘드리아 유입을 되먹임 억제하며, CYP 유도 약물(바르비투르산, 리팜핀, 알코올)·공복(PGC-1α)·프로게스테론이 유도한다. 적혈구 ALAS2는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철(IRE–IRP 시스템)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에 의해 번역 조절되며 헴 되먹임을 받지 않는다.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헴 생합성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B01-L11  ·  아미노산 유래 특수 생체분자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6060"/>
                <a:gridCol w="2766060"/>
                <a:gridCol w="2766060"/>
                <a:gridCol w="276606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효소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위치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결손 질환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① 글리신 + 숙시닐-CoA → ALA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ALA 합성효소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(ALAS1 간 / ALAS2 적혈구; PLP)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ALAS2 결손: X연관 철모구빈혈 / 기능획득: XLP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② 2 ALA → 포르포빌리노겐(PBG)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ALA 탈수효소</a:t>
                      </a:r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(Zn²⁺)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세포질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ALAD 포르피린증;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납이 억제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③ 4 PBG → 하이드록시메틸빌란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PBG 탈아미노효소 (HMBS)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세포질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급성 간헐성 포르피린증(AIP)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④ → 유로포르피리노겐 III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유로포르피리노겐 III 합성효소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세포질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선천성 적혈구생성 포르피린증(CEP; 귄터병)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⑤ → 코프로포르피리노겐 III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유로포르피리노겐 탈카복실화효소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세포질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만발성 피부 포르피린증(PCT)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⑥ → 프로토포르피리노겐 IX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코프로포르피리노겐 산화효소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미토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유전성 코프로포르피린증(HCP)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⑦ → 프로토포르피린 IX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프로토포르피리노겐 산화효소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다양성 포르피린증(VP)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⑧ + Fe²⁺ → 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페로킬라타아제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미토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적혈구생성 프로토포르피린증(EPP); </a:t>
                      </a:r>
                      <a:r>
                        <a:rPr sz="13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납이 억제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포르피린증의 임상 (1/3)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B01-L11  ·  아미노산 유래 특수 생체분자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급성 간 포르피린증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(AIP, VP, HCP, ALAD): 상류 전구체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ALA·PBG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축적 → 신경독성(자율·운동·중추). 증상 5P: 복통(Pain in abdomen; 가장 흔함), 다발신경병증(Polyneuropathy), 정신증상(Psychological), 적색-갈색뇨(Port-wine urine), 유발인자(Precipitated by drugs). 저나트륨혈증(SIADH), 빈맥, 고혈압, 경련.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유발: CYP 유도 약물(바르비투르산, 카르바마제핀, 페니토인, 설폰아마이드, 일부 경구피임약), 알코올,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공복·저칼로리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, 황체기, 감염·스트레스.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진단: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소변 PBG 정량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(급성기 현저 증가) — 응급 선별.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포르피린증의 임상 (2/3)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B01-L11  ·  아미노산 유래 특수 생체분자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치료: 유발 약물 중단,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정맥 헤민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(ALAS1 억제; 효과 가장 확실), 포도당 정주(경증; 포도당이 PGC-1α를 억제해 ALAS1↓), 통증·자율신경 조절(안전 약물 목록 참조), 재발성 발작 예방에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기보시란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(간 ALAS1 siRNA).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피부 포르피린증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(PCT, EPP, CEP): 하류 포르피린 축적 → 빛(약 400 nm Soret 밴드) 흡수 → 활성산소 → 광과민.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PCT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가장 흔한 포르피린증; 노출부 수포·취약성·다모증; 유발: 알코올, C형 간염, HIV, 철 과부하(HFE), 에스트로겐. 치료: 사혈, 저용량 하이드록시클로로퀸, HCV 치료.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포르피린증의 임상 (3/3)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B01-L11  ·  아미노산 유래 특수 생체분자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1">
              <a:spcAft>
                <a:spcPts val="400"/>
              </a:spcAft>
            </a:pPr>
            <a:r>
              <a:rPr sz="2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20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EPP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수포 없이 노출 수 분 내 </a:t>
            </a:r>
            <a:r>
              <a:rPr sz="20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극심한 작열통</a:t>
            </a:r>
            <a:r>
              <a:rPr sz="20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, 담석·간부전; 아파멜라노타이드(α-MSH 유사체 피하 이식제), 경구 MC1R 작용제(데르시멜라곤)와 페로킬라타아제 상류 ALAS2 조절 약물이 개발 중.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포르피린증의 임상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B01-L11  ·  아미노산 유래 특수 생체분자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1451610"/>
          </a:xfrm>
          <a:prstGeom prst="rect">
            <a:avLst/>
          </a:prstGeom>
          <a:solidFill>
            <a:srgbClr val="FFF5D6"/>
          </a:solidFill>
          <a:ln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800" b="1" i="0">
                <a:solidFill>
                  <a:srgbClr val="9A6B00"/>
                </a:solidFill>
                <a:latin typeface="Malgun Gothic"/>
                <a:ea typeface="Malgun Gothic"/>
                <a:cs typeface="Malgun Gothic"/>
              </a:rPr>
              <a:t>핵심 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신경 증상은 ALA·PBG가 쌓이는 '급성 간형'에서만 나타나고, 광과민은 포르피린이 쌓이는 경우(PCT, EPP, CEP, 그리고 VP·HCP)에서 나타난다. VP·HCP는 두 증상 모두 가능하다.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914650"/>
            <a:ext cx="10881360" cy="178308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납 중독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ALAD와 페로킬라타아제 억제 → 소변 ALA 증가, 적혈구 아연 프로토포르피린(ZPP) 증가, 미세구성 빈혈,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호염기성 반점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(피리미딘 5'-뉴클레오티다아제 억제로 rRNA 잔존), 잇몸 납선, 신경병증(손목·발목 처짐), 소아 인지 저하. 킬레이트제(숙시머, CaNa₂EDTA, 다이머카프롤).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헴 분해 개요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B01-L11  ·  아미노산 유래 특수 생체분자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비장·간 대식세포에서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헴 산소화효소-1(HO-1)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헴 → 빌리버딘(녹색) + Fe²⁺ +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CO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(유일한 내인성 CO 원천; 혈중 COHb 1% 수준). 빌리버딘 환원효소 → 빌리루빈(주황).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비포합 빌리루빈 → 알부민 운반 → 간 OATP 흡수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UGT1A1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글루쿠론산 포합 → MRP2로 담즙 배설 → 장내세균 → 유로빌리노겐(일부 재흡수·신장 배설) → 스테르코빌린(갈색 변).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HO-1은 스트레스(산화·열·헴) 유도 단백질로 항산화·항염 효과가 있다. 상세한 황달 감별은 B03 L04.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카테콜아민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B01-L11  ·  아미노산 유래 특수 생체분자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Tyr → (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티로신 수산화효소 TH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; BH₄; 속도결정; 카테콜아민 되먹임 억제, PKA 인산화로 활성) → L-DOPA → (방향족 L-아미노산 탈카복실화효소 AADC; PLP)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도파민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(도파민 β-수산화효소 DBH; 비타민 C, Cu²⁺; 소포 내)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노르에피네프린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(PNMT; SAM; 부신수질, 코르티솔이 유도)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에피네프린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분해: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MAO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(미토콘드리아 외막; MAO-A: 5-HT·NE, MAO-B: 도파민) +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COMT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(SAM) → 바닐릴만델산(VMA), 호모바닐산(HVA), 메타네프린.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카테콜아민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B01-L11  ·  아미노산 유래 특수 생체분자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약물/독소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표적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임상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카비도파/벤세라지드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말초 AADC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L-DOPA의 말초 전환 억제(파킨슨병)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엔타카폰, 오피카폰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COMT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L-DOPA 효과 연장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셀레질린, 라사길린, 사피나마이드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MAO-B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파킨슨병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비선택 MAOI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MAO-A/B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우울증; 티라민 함유 음식(숙성 치즈)과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고혈압 위기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메티로신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TH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갈색세포종 수술 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레세르핀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VMAT2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소포 고갈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테트라베나진, 듀테트라베나진, 발베나진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VMAT2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헌팅턴 무도병, 지연성 운동이상증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카테콜아민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B01-L11  ·  아미노산 유래 특수 생체분자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881360" cy="3035300"/>
          </a:xfrm>
          <a:prstGeom prst="rect">
            <a:avLst/>
          </a:prstGeom>
          <a:solidFill>
            <a:srgbClr val="E8F1FA"/>
          </a:solidFill>
          <a:ln>
            <a:solidFill>
              <a:srgbClr val="003C7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/>
          <a:lstStyle/>
          <a:p>
            <a:pPr algn="l"/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임상 연계 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갈색세포종/부신경절종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의 생화학 진단은 혈장 유리 메타네프린 또는 24시간 소변 분획 메타네프린이 VMA보다 민감하다(종양 내 COMT에 의해 지속적으로 생성). 약 40%가 생식세포 변이(SDHx, VHL, RET, NF1, MAX, TMEM127)를 가지므로 유전 상담이 권고된다.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AADC 결핍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(DDC)은 영아 안구운동발작·근긴장저하를 일으키며, AAV2-DDC 피하선조체 주입 유전자치료(엘라도카겐 엑수파르보벡)가 승인되었다.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세로토닌, 멜라토닌, 히스타민, GABA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B01-L11  ·  아미노산 유래 특수 생체분자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세로토닌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Trp → (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트립토판 수산화효소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TPH1 장크롬친화세포·TPH2 뇌; BH₄) 5-HTP → (AADC)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5-HT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(MAO-A) 5-HIAA. 인체 세로토닌의 약 90%는 장에서 생성되며 혈소판(SERT)에 저장된다.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유암종 증후군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간 전이 신경내분비종양에서 5-HT가 전신 순환 → 홍조, 설사, 기관지수축, 우심 판막 섬유화; 소변 5-HIAA 증가; Trp 소모로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펠라그라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 발생 가능. 텔로트리스타트(TPH 억제제), 소마토스타틴 유사체.</a:t>
            </a:r>
          </a:p>
          <a:p>
            <a:pPr lvl="1">
              <a:spcAft>
                <a:spcPts val="400"/>
              </a:spcAft>
            </a:pPr>
            <a:r>
              <a:rPr sz="16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6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세로토닌 증후군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: SSRI + MAOI/트라마돌/리네졸리드 등 → 고열, 간대성 근경련, 자율신경 불안정. 사이프로헵타딘.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멜라토닌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송과선에서 5-HT → (AANAT; 야간·노르에피네프린 의존) N-아세틸세로토닌 → (ASMT) 멜라토닌. 빛이 망막-시교차상핵 경로로 분비를 억제.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세로토닌, 멜라토닌, 히스타민, GABA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B01-L11  ·  아미노산 유래 특수 생체분자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히스타민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His → (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히스티딘 탈카복실화효소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; PLP) 히스타민. 비만세포·호염기구·위 ECL세포·뇌 결절유두핵. 수용체 H1(알레르기·각성), H2(위산), H3(신경 자가수용체), H4(면역). 고등어 중독(스콤브로이드): 부패 생선 세균이 히스티딘 → 히스타민.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GABA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글루탐산 → (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GAD65/67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; PLP) GABA → (GABA 아미노기전이효소, PLP) 숙신산 세미알데하이드 → 숙신산(GABA 분로).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비가바트린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은 GABA-T 비가역 억제제(영아연축). PLP 의존 효소이므로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피리독신 의존성 뇌전증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(ALDH7A1; 축적된 P6C가 PLP를 불활성화)에서 신생아 난치성 경련이 B6에 반응한다. 이소니아지드 과량 → B6 고갈 → GABA 감소 → 경련(치료: 피리독신).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NO, 크레아틴, 글루타티온, 폴리아민, 카르니틴 (1/3)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B01-L11  ·  아미노산 유래 특수 생체분자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산화질소(NO)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L-아르기닌 + O₂ + NADPH → (NOS; BH₄, FAD, FMN, 헴, 칼모듈린) NO + 시트룰린. eNOS(혈관확장, 전단응력), nNOS(신경전달), iNOS(대식세포 고농도 NO; 패혈성 쇼크 저혈압). NO → 가용성 구아닐산 고리화효소 → cGMP → PKG → 평활근 이완. PDE5 억제제(실데나필)는 cGMP 분해를 막고, 질산염(니트로글리세린)과 병용 시 심한 저혈압.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크레아틴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Arg + Gly → (AGAT; 신장) 구아니디노아세트산 → (GAMT; 간; SAM) 크레아틴 → 근육·뇌로 운반(SLC6A8) → 크레아틴 키나아제로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포스포크레아틴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(빠른 ATP 완충). 크레아티닌은 비효소적 고리화 산물로 근육량에 비례해 일정하게 생성 → 사구체여과율 지표.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NO, 크레아틴, 글루타티온, 폴리아민, 카르니틴 (2/3)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B01-L11  ·  아미노산 유래 특수 생체분자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글루타티온(GSH)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γ-Glu-Cys-Gly. γ-글루타밀시스테인 합성효소(속도결정; GSH 되먹임) → GSH 합성효소. 기능: 과산화물 제거(GPx, 셀레늄), 생체이물 포합(GST;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아세트아미노펜 NAPQI 해독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 N-아세틸시스테인이 시스테인 공급), 티올 산화환원 완충. 결손: 5-옥소프롤린뇨증(용혈 + 대사산증; 아세트아미노펜 장기복용 후천성).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폴리아민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오르니틴 → (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ODC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, 속도결정) 푸트레신 → 스페르미딘 → 스페르민(SAM 유래 아미노프로필). 세포 증식·번역(eIF5A 하이푸신화). ODC 억제제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에플로르니틴(DFMO)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수면병(트리파노소마), 여성 다모증, 2023 고위험 신경모세포종 유지요법.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06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NO, 크레아틴, 글루타티온, 폴리아민, 카르니틴 (3/3)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B01-L11  ·  아미노산 유래 특수 생체분자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카르니틴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리신(단백질 내 트라이메틸리신) + Met(SAM) → 간·신장 합성 + 식이(붉은 고기). 장쇄 지방산 수송. 2차 결핍: 투석, 발프로산, 유기산혈증, 피발산 함유 항생제.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07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트립토판 대사와 NAD⁺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B01-L11  ·  아미노산 유래 특수 생체분자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트립토판의 95%는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키뉴레닌 경로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로 대사된다: Trp → (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IDO1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/IDO2, 간 TDO) N-포밀키뉴레닌 →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키뉴레닌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→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키뉴레닌산(KYNA; 성상세포, NMDA·α7nAChR 길항 — 신경보호/인지 저하)</a:t>
            </a:r>
          </a:p>
          <a:p>
            <a:pPr lvl="1">
              <a:spcAft>
                <a:spcPts val="400"/>
              </a:spcAft>
            </a:pPr>
            <a:r>
              <a:rPr sz="18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    – 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3-하이드록시키뉴레닌 →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퀴놀린산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(미세아교세포; NMDA 작용제, 흥분독성) → </a:t>
            </a:r>
            <a:r>
              <a:rPr sz="1800" b="1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NAD⁺</a:t>
            </a:r>
            <a:r>
              <a:rPr sz="18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(de novo 합성)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나이아신(B3) 결핍이 있을 때 트립토판 60 mg ≈ 나이아신 1 mg 당량. </a:t>
            </a:r>
            <a:r>
              <a:rPr sz="20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펠라그라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피부염, 설사, 치매, 사망(4D). 원인: 옥수수 주식(나이아신 결합형·Trp 부족), 알코올 사용장애, 하트넙병, 유암종, 이소니아지드(B6 결핍으로 키뉴레니나아제 저하).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07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트립토판 대사와 NAD⁺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B01-L11  ·  아미노산 유래 특수 생체분자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IDO1은 염증(IFN-γ)으로 유도되어 국소 Trp 고갈 + 키뉴레닌(AhR 작용) → T세포 억제·조절 T세포 유도 → 면역관용(태반, 종양 면역회피). IDO1 억제제 에파카도스타트는 3상에서 펨브롤리주맙 병용 이득을 보이지 못했다.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나이아신/니코틴아마이드 →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NAD⁺ 재활용 경로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(NAMPT 속도결정; NR·NMN 전구체) — 노화와 NAD⁺ 감소(B04 L10).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B01-L11  ·  아미노산 유래 특수 생체분자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기보시란(GalNAc-siRNA)은 AIP에서 연간 발작률을 74% 줄였고(ENVISION), 간 표적 RNAi가 희귀 대사질환 치료의 범용 플랫폼임을 보였다. 다만 신장 기능·호모시스테인 상승이 관찰되었으며, 간 헴 감소로 헴 의존 효소 CBS 활성이 떨어지는 기전이 제시되어 연구가 진행 중이다.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장내 미생물의 트립토판 대사물(인돌, 인돌-3-프로피온산)이 AhR·PXR을 통해 장벽·뇌 염증을 조절한다는 '장-뇌 축' 연구가 확장되었다(B08 L11).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정신질환·신경퇴행질환에서 키뉴레닌 경로 불균형(퀴놀린산/키뉴레닌산 비)이 바이오마커·치료 표적으로 연구된다(B05 L15).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B01-L11  ·  아미노산 유래 특수 생체분자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헴 합성의 속도결정 효소는 ALAS(간 ALAS1은 헴 되먹임, 적혈구 ALAS2는 철 조절)이다.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급성 간 포르피린증은 ALA·PBG 축적으로 신경내장 발작, 피부 포르피린증은 포르피린 광과민을 일으킨다. 치료는 헤민, 포도당, 기보시란.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티로신 → 도파민 → 노르에피네프린 → 에피네프린(TH가 속도결정), 분해는 MAO·COMT이다.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트립토판은 세로토닌·멜라토닌과 키뉴레닌–NAD⁺ 경로로 가며, 펠라그라·유암종과 연결된다.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아르기닌은 NO·크레아틴·요소·폴리아민의 공통 전구체이며, 글루타티온은 아세트아미노펜 해독의 핵심이다.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B01-L11  ·  아미노산 유래 특수 생체분자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25세 여성이 다이어트와 새로 처방받은 항경련제 복용 후 심한 복통, 빈맥, 저나트륨혈증, 근력저하를 보이고 소변이 적갈색이다. 진단 검사와 치료는?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급성 간헐성 포르피린증(AIP) 급성 발작. 즉시 소변 PBG(및 ALA)를 정량한다. 유발 약물(CYP 유도 항경련제) 중단, 탄수화물 공급, 정맥 헤민 투여, 안전 약물로 통증·자율신경 증상 조절, 저나트륨혈증 교정, 호흡근 약화 감시. 재발 시 기보시란 예방을 고려한다.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B01-L11  ·  아미노산 유래 특수 생체분자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납 중독에서 적혈구 아연 프로토포르피린이 증가하는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납이 페로킬라타아제를 억제해 프로토포르피린 IX에 철 대신 아연이 삽입되기 때문이다(철결핍성 빈혈에서도 같은 이유로 증가). 납은 ALA 탈수효소도 억제해 소변 ALA가 증가한다.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B01-L11  ·  아미노산 유래 특수 생체분자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비선택적 MAO 억제제 복용 중 숙성 치즈를 먹은 환자에게 고혈압 위기가 생기는 기전은?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티라민은 정상적으로 장과 간의 MAO-A에 의해 분해되지만 MAOI 복용 시 전신 순환으로 들어가 교감신경 말단에서 노르에피네프린을 대량 방출시키는 간접 교감신경작용제로 작용한다.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B01-L11  ·  아미노산 유래 특수 생체분자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아세트아미노펜 과량 복용 시 N-아세틸시스테인이 효과적인 생화학적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과량 시 글루쿠론산·황산 포합이 포화되어 CYP2E1이 독성 대사물 NAPQI를 더 많이 만든다. NAPQI는 글루타티온과 결합해 해독되는데, 글루타티온이 고갈되면 간세포 단백질과 결합해 괴사를 유발한다. NAC는 시스테인을 공급해 글루타티온을 재합성시키고 일부는 직접 NAPQI와 결합한다.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B01-L11  ·  아미노산 유래 특수 생체분자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Balwani M, Desnick RJ. The porphyrias: advances in diagnosis and treatment. Blood 2012;120:4496–4504.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Balwani M et al. Phase 3 trial of RNAi therapeutic givosiran for acute intermittent porphyria. N Engl J Med 2020;382:2289–2301.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Platten M et al. Tryptophan metabolism as a common therapeutic target in cancer, neurodegeneration and beyond. Nat Rev Drug Discov 2019;18:379–401.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B01-L11  ·  아미노산 유래 특수 생체분자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Eisenhofer G et al. Biochemical diagnosis of pheochromocytoma and paraganglioma. Clin Chem 2014.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Rodwell VW et al. Harper's Illustrated Biochemistry, 32nd ed. Ch. 29–31.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