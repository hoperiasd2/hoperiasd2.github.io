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포도당신생합성(gluconeogenesis)은 비탄수화물 전구체로부터 포도당을 만드는 경로로 주로 간(약 90%)과 신장 피질(장기 공복 시 최대 40%)에서 일어난다. 뇌는 하루 약 120 g, 적혈구는 약 40 g의 포도당을 필요로 하며, 간 글리코겐은 12–24시간 내에 고갈되므로 그 이후 혈당은 신생합성에 의존한다.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해당과정의 비가역 3단계(HK, PFK-1, PK)는 다른 효소로 우회한다. 피루브산 → PEP 우회는 2개 효소를 거치며 미토콘드리아와 세포질을 오간다.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글리코겐은 α-1,4 결합 사슬에 약 8–12 잔기마다 α-1,6 가지를 가진 고도로 분지된 포도당 중합체이다. 중심의 단백질 글리코제닌에 결합해 성장한다. 간 글리코겐(간 무게의 최대 10%)은 혈당 유지용, 근육 글리코겐(근육 무게의 1–2%, 총량은 더 많음)은 근육 자체 연료용이다.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합성효소와 포스포릴라아제는 같은 신호에 의해 반대로 조절된다. 인산화는 포스포릴라아제를 활성화하고 합성효소를 불활성화한다.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글루카곤은 글리코겐 분해를 활성화해 G6P를 만들지만 G6Pase가 없어 포도당으로 내보낼 수 없다. 축적된 G6P는 해당과정으로 흘러 젖산이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근육 글리코겐을 쓰지 못하지만, 운동이 지속되면 혈류 증가와 교감신경 자극으로 간 유래 혈중 포도당과 지방조직 유래 유리지방산의 근육 공급이 늘어나 대체 연료로 사용되기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공복이 길어지면 간의 케톤체 생성이 증가하고, 뇌가 케톤체(β-하이드록시부티르산)를 주요 연료로 사용하게 되어 포도당 요구량이 감소한다. 따라서 포도당신생 기질로서 근육 아미노산의 필요가 줄어 단백질이 절약된다.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짝수 사슬은 아세틸-CoA만 생성하는데, PDH는 비가역이고 TCA 회로에서 아세틸기 2탄소가 CO₂ 2분자로 손실되어 옥살로아세트산의 순증가가 없다. 홀수 사슬의 마지막 3탄소는 프로피오닐-CoA → 메틸말로닐-CoA → 숙시닐-CoA로 TCA 중간산물을 순증가시켜 옥살로아세트산 → PEP → 포도당이 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당대사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포도당신생합성과 글리코겐 대사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Gluconeogenesis and Glycogen Metabolism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포도당신생합성의 기질(젖산, 알라닌, 글리세롤, 프로피오닐-CoA)과 해당과정을 우회하는 4개 효소를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 합성·분해 효소(글리코겐 합성효소, 포스포릴라아제, 가지효소, 탈가지효소)의 반응과 구조적 의미를 이해한다.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인슐린·글루카곤·에피네프린·Ca²⁺·AMP가 글리코겐 대사를 상호 반대로 조절하는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 시간대별(식후→공복→기아) 혈당 공급원의 변화를 도식화한다.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글리코겐 축적병(I, II, III, V, VI형)의 효소 결함과 임상상을 연결한다.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포도당신생합성의 의의와 기질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해당과정을 우회하는 네 효소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글리코겐의 구조와 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 분해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 대사의 상호 조절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공복-섭식 주기와 혈당 공급원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 축적병(GSD)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포도당신생합성의 의의와 기질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LDH → 피루브산 (코리 회로).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알라닌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근육 단백질 분해 → ALT → 피루브산 (포도당-알라닌 회로; 질소를 간으로 운반).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글리세롤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지방조직 지방분해 → 간의 글리세롤 키나아제 → 글리세롤-3-인산 → DHAP. 지방조직에는 글리세롤 키나아제가 거의 없다.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신장 신생합성의 주 기질; 산증에서 암모니아 생성(NH₄⁺ 배설)과 짝지어진다.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프로피오닐-CoA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홀수 사슬 지방산, Val·Ile·Met·Thr 분해 → 메틸말로닐-CoA → 숙시닐-CoA.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포도당신생합성의 의의와 기질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짝수 사슬 지방산에서 나온 아세틸-CoA는 포도당이 될 수 없다. PDH 반응이 비가역이고, TCA 회로에서 아세틸-CoA의 2탄소는 CO₂ 2분자로 빠져나가기 때문이다(순 옥살로아세트산 생성 없음).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해당과정을 우회하는 네 효소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옥살로아세트산은 미토콘드리아 막을 통과하지 못하므로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(NADH도 함께 운반) 또는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아스파르트산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바뀌어 세포질로 나간다. 젖산에서 출발하면 세포질에 이미 NADH가 있어 PEPCK 미토콘드리아형 경로를 쓸 수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 비용: 피루브산 2분자 → 포도당 1분자에 ATP 4 + GTP 2 + NADH 2. 해당과정 역반응보다 고비용이지만 열역학적으로 비가역적으로 진행 가능하게 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근육에는 G6Pase가 없어 근육 글리코겐은 혈당으로 내보낼 수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해당과정을 우회하는 네 효소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우회 단계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피루브산 → 옥살로아세트산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피루브산 카복실화효소(PC, 비오틴 필요)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아세틸-CoA가 필수 알로스테릭 활성화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옥살로아세트산 → PEP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PEP 카복시키나아제(PEPCK, GTP 사용)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세포질/미토콘드리아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글루카곤·코르티솔이 전사 유도, 인슐린이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F1,6BP → F6P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과당-1,6-이인산가수분해효소(FBPase-1)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AMP·F2,6BP가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 → 포도당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포도당-6-인산가수분해효소(G6Pase)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소포체 내강(G6PT 수송체 필요)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간·신장·장에만 존재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해당과정을 우회하는 네 효소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산화가 공복 시 포도당신생을 '켜는' 이유: β-산화가 만든 아세틸-CoA는 PC를 활성화하고 PDH를 억제하며, NADH와 ATP를 공급한다. 따라서 지방산 산화 장애(예: MCAD 결핍)에서는 공복 저케톤성 저혈당이 나타난다. 알코올 대사로 NADH/NAD⁺가 증가하면 피루브산이 젖산으로, 옥살로아세트산이 말산으로 치우쳐 포도당신생이 억제되어 알코올성 저혈당이 생긴다.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글리코겐의 구조와 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→ G6P → (포스포글루코뮤타아제) G1P → (UDP-포도당 피로포스포릴라아제)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UDP-포도당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PPi. PPi 가수분해가 반응을 끌어간다.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 합성효소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UDP-포도당의 포도당을 비환원 말단에 α-1,4로 첨가(조절 효소).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가지효소(branching enzyme, 4:6 전이효소)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6–8개 잔기 조각을 떼어 α-1,6으로 붙임. 가지는 용해도를 높이고 동시에 분해할 수 있는 말단 수를 늘린다.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글리코제닌은 자기 티로신 잔기에 처음 몇 개의 포도당을 붙이는 프라이머 역할을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 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 포스포릴라아제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(PLP 보조인자): 비환원 말단의 α-1,4 결합을 무기인산으로 가인산분해 → G1P. 가지점 4잔기 앞에서 멈춘다.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탈가지효소(debranching enzyme)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하나의 폴리펩타이드에 두 활성 — (1) 4-α-글루카노전이효소가 3잔기를 다른 사슬로 옮기고, (2) α-1,6-글루코시다아제가 남은 1개를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유리 포도당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떼어냄.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G1P → G6P → 간: G6Pase로 포도당 방출 / 근육: 해당과정으로.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리소좀에서는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산성 α-글루코시다아제(GAA)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소량의 글리코겐을 분해한다(폼페병의 결손 효소).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 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가인산분해는 가수분해와 달리 ATP 소모 없이 인산화된 당(G1P)을 만들어, 근육에서 해당과정 시 헥소키나아제 단계 ATP를 절약한다(글리코겐 유래 포도당 단위당 ATP 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 대사의 상호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글루카곤(간)/에피네프린(간·근육, β수용체) → cAMP → PKA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포스포릴라아제 키나아제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인산화 → 포스포릴라아제 b→a 전환. PKA는 글리코겐 합성효소도 직접 인산화해 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에피네프린(간 α₁수용체) → IP₃ → Ca²⁺ ↑ → 포스포릴라아제 키나아제의 칼모듈린 소단위 활성화.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 수축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근소포체 Ca²⁺ 방출이 포스포릴라아제 키나아제를 활성화하고, AMP가 포스포릴라아제 b를 직접 알로스테릭 활성화 → 호르몬 없이도 에너지 수요에 반응.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간의 포도당 감지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포도당이 포스포릴라아제 a에 결합하면 탈인산화가 쉬워져 불활성화되고, 이때 풀려난 PP1이 합성효소를 활성화한다.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AKT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GSK3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인산화·억제 → 합성효소 탈인산화(활성); PP1 활성화; cAMP 분해(PDE3B).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 대사의 상호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포스포릴라아제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글리코겐 합성효소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글루카곤(간)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분해 → 혈당 상승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에피네프린(근육)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분해 → 근육 해당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Ca²⁺·AMP(수축 근육)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즉각적 분해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인슐린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 G6P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포스포릴라아제 a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G6P가 합성효소 알로스테릭 활성화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공복-섭식 주기와 혈당 공급원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식후 0–4시간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장관 흡수 포도당이 주공급. 인슐린↑ → 간·근육 글리코겐 합성, 지방 합성.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 4–16시간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간 글리코겐 분해가 주공급, 포도당신생이 점차 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 16시간–2일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포도당신생이 주공급(근육 단백질 유래 알라닌·글루타민, 글리세롤, 젖산). 지방산 산화↑, 케톤체 상승 시작.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기아 수일 이상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뇌가 케톤체를 연료의 최대 2/3까지 사용 → 포도당 요구량 감소 → 근육 단백질 분해가 줄어든다(단백질 절약). 신장의 포도당신생 비중이 커진다.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공복-섭식 주기와 혈당 공급원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신생아는 출생 후 모체 포도당 공급이 끊기며 수 시간 동안 혈당이 생리적으로 떨어진다. 간 글리코겐 저장이 적은 미숙아·자궁내 성장지연아·당뇨병 산모의 신생아(고인슐린혈증)는 저혈당 위험이 높다.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 축적병(GSD)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 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장기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임상상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Ia (von Gierke)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G6Pase (G6PC1)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간·신장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심한 공복 저혈당, 젖산산증, 고요산혈증, 고지혈증, 간비대, 인형 얼굴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 수송체 (SLC37A4)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+ 호중구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Ia 소견 + 호중구감소, 염증성 장질환 → 엠파글리플로진(1,5-AG6P 축적 감소)으로 호중구 기능 개선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II (Pompe)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 산성 α-글루코시다아제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근육·심장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영아형: 심비대, 근긴장저하, 1세 내 사망 / 성인형: 근위부 근약화·호흡부전. 효소대체요법(알글루코시다아제 알파)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III (Cori)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탈가지효소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간·근육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Ia보다 경한 저혈당, 젖산 정상, 짧은 외가지 글리코겐(한계덱스트린), 근병증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IV (Andersen)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가지효소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아밀로펙틴 유사 비정상 글리코겐, 간경화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 (McArdle)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 포스포릴라아제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골격근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불내성, 경련, 근색소뇨, '두 번째 바람(second wind)' 현상, 허혈운동검사 시 젖산 상승 없음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 (Hers)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포스포릴라아제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경한 간비대·저혈당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VII (Tarui)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 PFK-1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근육·적혈구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McArdle 유사 + 용혈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글리코겐 축적병(GSD)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GSD Ia에서 젖산·요산·중성지방이 증가하는 이유: G6P가 축적되어 해당과정(→ 젖산), 오탄당인산경로(→ 퓨린 합성 → 요산), 지방산 합성으로 흘러넘치고, 젖산이 요산의 신 배설과 경쟁한다. 치료는 생옥수수전분을 이용한 잦은 탄수화물 공급이다.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GSD Ia에 대한 AAV8 기반 G6PC 유전자 치료(DTX401)가 3상 임상에서 옥수수전분 의존도를 줄였으며, mRNA-LNP 치료도 개발 중이다.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폼페병에서 만노스-6-인산 함량을 높인 차세대 효소(아발글루코시다아제 알파, 시팍글루코시다아제+미글루스타트)가 근육 흡수를 개선하였다.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신경세포 글리코겐: 뇌의 글리코겐은 주로 성상세포에 있으며, 라포라병(EPM2A/EPM2B)은 과인산화된 비정상 글리코겐(라포라 소체)이 신경세포에 쌓여 진행성 근간대 뇌전증을 일으킨다. 글리코겐 합성효소 억제 ASO가 연구 중이다.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 포도당 생산은 신장 SGLT2 억제, 글루카곤 수용체 길항제, GIP/GLP-1 이중작용제(티르제파타이드) 등 최신 당뇨 약물의 공통 표적이다.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포도당신생합성은 PC·PEPCK·FBPase-1·G6Pase로 해당과정의 비가역 단계를 우회하며, 아세틸-CoA는 기질이 아니라 PC의 활성화인자이다.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글리코겐은 글리코제닌을 중심으로 합성효소·가지효소가 만들고, 포스포릴라아제·탈가지효소가 분해한다.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인산화는 포스포릴라아제를 켜고 합성효소를 끈다(글루카곤·에피네프린), 인슐린은 반대로 작동한다(GSK3 억제, PP1 활성).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 글리코겐은 G6Pase가 없어 혈당에 기여하지 못한다.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GSD는 효소 결함 위치에 따라 간형(저혈당)과 근육형(운동 불내성)으로 나뉜다.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GSD Ia 환자에게 글루카곤을 투여해도 혈당이 오르지 않고 젖산만 증가한다. 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글루카곤은 글리코겐 분해를 활성화해 G6P를 만들지만 G6Pase가 없어 포도당으로 내보낼 수 없다. 축적된 G6P는 해당과정으로 흘러 젖산이 증가한다.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McArdle병 환자가 운동 시작 후 약 10분이 지나면 운동을 더 잘 지속하게 되는 '두 번째 바람' 현상의 생화학적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근육 글리코겐을 쓰지 못하지만, 운동이 지속되면 혈류 증가와 교감신경 자극으로 간 유래 혈중 포도당과 지방조직 유래 유리지방산의 근육 공급이 늘어나 대체 연료로 사용되기 때문이다.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 공복 중 근육 단백질 분해가 시간이 지나며 감소하는 이유를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공복이 길어지면 간의 케톤체 생성이 증가하고, 뇌가 케톤체(β-하이드록시부티르산)를 주요 연료로 사용하게 되어 포도당 요구량이 감소한다. 따라서 포도당신생 기질로서 근육 아미노산의 필요가 줄어 단백질이 절약된다.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짝수 사슬 지방산은 포도당신생의 기질이 될 수 없지만 홀수 사슬 지방산의 일부는 가능하다.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짝수 사슬은 아세틸-CoA만 생성하는데, PDH는 비가역이고 TCA 회로에서 아세틸기 2탄소가 CO₂ 2분자로 손실되어 옥살로아세트산의 순증가가 없다. 홀수 사슬의 마지막 3탄소는 프로피오닐-CoA → 메틸말로닐-CoA → 숙시닐-CoA로 TCA 중간산물을 순증가시켜 옥살로아세트산 → PEP → 포도당이 될 수 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Ferrier DR. Lippincott Illustrated Reviews: Biochemistry, 8th ed. 2021. Unit II.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Roach PJ et al. Glycogen and its metabolism: some new developments and old themes. Biochem J 2012;441:763–787.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Kishnani PS et al. Diagnosis and management of glycogen storage disease type I: ACMG practice guideline. Genet Med 2014;16:e1.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B01-L02  ·  포도당신생합성과 글리코겐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Wortmann SB et al. Treating neutropenia and neutrophil dysfunction in GSD Ib with an SGLT2 inhibitor. Blood 2020;136:1033–1043.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Petersen MC, Vatner DF, Shulman GI. Regulation of hepatic glucose metabolism in health and disease. Nat Rev Endocrinol 2017;13:572–587.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