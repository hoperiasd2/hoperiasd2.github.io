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notesMaster" Target="notesMasters/notesMaster1.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MuSK 항체는 IgG4로 보체를 활성화하지 않고 MuSK–LRP4 상호작용을 차단해 AChR 군집 유지와 접합부 구조를 망가뜨린다. 따라서 단순히 ACh 농도를 높여도 효과가 적고, 접합부 과민으로 콜린성 부작용(근육다발수축·경련)이 쉽게 생긴다. 이 아형은 리툭시맙 반응이 특히 좋다.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무작위 대조 시험에서 경구·정주 스테로이드 단독은 회복을 개선하지 않았고 일부에서는 오히려 회복이 지연되었다. GBS의 손상은 항체·보체 매개의 급성 과정이어서 IVIG나 혈장교환으로 병원성 항체를 제거·중화하는 것이 효과적이다. 반면 만성 경과인 CIDP에서는 스테로이드가 효과적이다.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다초점 운동신경병증(MMN)이 의심되는데, 이 질환은 IVIG에만 반응하고 스테로이드나 혈장교환으로는 호전되지 않으며 오히려 악화 보고가 있다. ALS와도 감별해야 하므로 전도 차단 확인과 항GM1 IgM 검사, IVIG 반응 평가가 중요하다.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아미노글리코사이드·플루오로퀴놀론·마크로라이드계 항생제(신경근 전달 억제), 마그네슘 제제(전시냅스 Ca²⁺ 유입 차단 — 자간전증 치료 시 특히 위험), β차단제와 페니실라민(후자는 MG를 유발할 수 있음)이 대표적이다. 면역관문억제제도 중증 근무력증·근염·심근염을 유발할 수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B08 신경면역학과 신경퇴행질환  ·  항체 매개 신경질환</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중증 근무력증과 말초 신경 자가면역</a:t>
            </a:r>
          </a:p>
          <a:p>
            <a:r>
              <a:rPr sz="2000" b="0" i="0">
                <a:solidFill>
                  <a:srgbClr val="C2CDD6"/>
                </a:solidFill>
                <a:latin typeface="Malgun Gothic"/>
                <a:ea typeface="Malgun Gothic"/>
                <a:cs typeface="Malgun Gothic"/>
              </a:rPr>
              <a:t>Myasthenia Gravis and Peripheral Nerve Autoimmunity</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B08-L05</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B08-L05  ·  중증 근무력증과 말초 신경 자가면역</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신경근 접합부의 구조와 안전 계수 개념을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중증 근무력증의 항체 아형(AChR, MuSK, LRP4)별 기전과 임상 차이를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진단(항체, 전기생리, 흉선 영상)과 치료 단계(증상·면역·흉선절제·신규 표적)를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길랭-바레 증후군과 CIDP의 면역 기전·변이형·치료를 설명한다.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기타 말초 자가면역(MMN, 항MAG, 결절병증, 자율신경절병증)을 감별한다.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B08-L05  ·  중증 근무력증과 말초 신경 자가면역</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신경근 접합부와 안전 계수</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중증 근무력증의 아형</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MG의 진단과 치료</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길랭-바레 증후군과 CIDP</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기타 말초 자가면역</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신경근 접합부와 안전 계수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B08-L05  ·  중증 근무력증과 말초 신경 자가면역</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구조: 운동신경 말단(활성 구역, P/Q형 Ca²⁺ 통로) – 시냅스 틈(기저막, </a:t>
            </a:r>
            <a:r>
              <a:rPr sz="2000" b="1" i="0">
                <a:solidFill>
                  <a:srgbClr val="11202B"/>
                </a:solidFill>
                <a:latin typeface="Malgun Gothic"/>
                <a:ea typeface="Malgun Gothic"/>
                <a:cs typeface="Malgun Gothic"/>
              </a:rPr>
              <a:t>아세틸콜린에스테라아제</a:t>
            </a:r>
            <a:r>
              <a:rPr sz="2000" b="0" i="0">
                <a:solidFill>
                  <a:srgbClr val="11202B"/>
                </a:solidFill>
                <a:latin typeface="Malgun Gothic"/>
                <a:ea typeface="Malgun Gothic"/>
                <a:cs typeface="Malgun Gothic"/>
              </a:rPr>
              <a:t>) – 후시냅스 주름(</a:t>
            </a:r>
            <a:r>
              <a:rPr sz="2000" b="1" i="0">
                <a:solidFill>
                  <a:srgbClr val="11202B"/>
                </a:solidFill>
                <a:latin typeface="Malgun Gothic"/>
                <a:ea typeface="Malgun Gothic"/>
                <a:cs typeface="Malgun Gothic"/>
              </a:rPr>
              <a:t>AChR가 주름 정상에, Nav1.4가 골짜기에 집적</a:t>
            </a:r>
            <a:r>
              <a:rPr sz="2000" b="0" i="0">
                <a:solidFill>
                  <a:srgbClr val="11202B"/>
                </a:solidFill>
                <a:latin typeface="Malgun Gothic"/>
                <a:ea typeface="Malgun Gothic"/>
                <a:cs typeface="Malgun Gothic"/>
              </a:rPr>
              <a:t>).</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조직화: 신경 유래 </a:t>
            </a:r>
            <a:r>
              <a:rPr sz="2000" b="1" i="0">
                <a:solidFill>
                  <a:srgbClr val="11202B"/>
                </a:solidFill>
                <a:latin typeface="Malgun Gothic"/>
                <a:ea typeface="Malgun Gothic"/>
                <a:cs typeface="Malgun Gothic"/>
              </a:rPr>
              <a:t>아그린</a:t>
            </a:r>
            <a:r>
              <a:rPr sz="2000" b="0" i="0">
                <a:solidFill>
                  <a:srgbClr val="11202B"/>
                </a:solidFill>
                <a:latin typeface="Malgun Gothic"/>
                <a:ea typeface="Malgun Gothic"/>
                <a:cs typeface="Malgun Gothic"/>
              </a:rPr>
              <a:t> → </a:t>
            </a:r>
            <a:r>
              <a:rPr sz="2000" b="1" i="0">
                <a:solidFill>
                  <a:srgbClr val="11202B"/>
                </a:solidFill>
                <a:latin typeface="Malgun Gothic"/>
                <a:ea typeface="Malgun Gothic"/>
                <a:cs typeface="Malgun Gothic"/>
              </a:rPr>
              <a:t>LRP4</a:t>
            </a:r>
            <a:r>
              <a:rPr sz="2000" b="0" i="0">
                <a:solidFill>
                  <a:srgbClr val="11202B"/>
                </a:solidFill>
                <a:latin typeface="Malgun Gothic"/>
                <a:ea typeface="Malgun Gothic"/>
                <a:cs typeface="Malgun Gothic"/>
              </a:rPr>
              <a:t> → </a:t>
            </a:r>
            <a:r>
              <a:rPr sz="2000" b="1" i="0">
                <a:solidFill>
                  <a:srgbClr val="11202B"/>
                </a:solidFill>
                <a:latin typeface="Malgun Gothic"/>
                <a:ea typeface="Malgun Gothic"/>
                <a:cs typeface="Malgun Gothic"/>
              </a:rPr>
              <a:t>MuSK</a:t>
            </a:r>
            <a:r>
              <a:rPr sz="2000" b="0" i="0">
                <a:solidFill>
                  <a:srgbClr val="11202B"/>
                </a:solidFill>
                <a:latin typeface="Malgun Gothic"/>
                <a:ea typeface="Malgun Gothic"/>
                <a:cs typeface="Malgun Gothic"/>
              </a:rPr>
              <a:t> → Dok-7 → 랩신 → AChR 군집화.</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안전 계수</a:t>
            </a:r>
            <a:r>
              <a:rPr sz="2000" b="0" i="0">
                <a:solidFill>
                  <a:srgbClr val="11202B"/>
                </a:solidFill>
                <a:latin typeface="Malgun Gothic"/>
                <a:ea typeface="Malgun Gothic"/>
                <a:cs typeface="Malgun Gothic"/>
              </a:rPr>
              <a:t>: 방출되는 ACh 양과 AChR 수가 역치를 크게 넘도록 설계 → 정상에서는 매 자극마다 반드시 수축; 질환에서 이 여유가 줄면 반복 자극 시 전달 실패(감소 반응).</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신경근 접합부와 안전 계수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B08-L05  ·  중증 근무력증과 말초 신경 자가면역</a:t>
            </a:r>
            <a:r>
              <a:rPr sz="1000" b="1" i="0">
                <a:solidFill>
                  <a:srgbClr val="003C71"/>
                </a:solidFill>
                <a:latin typeface="Malgun Gothic"/>
                <a:ea typeface="Malgun Gothic"/>
                <a:cs typeface="Malgun Gothic"/>
              </a:rPr>
              <a:t>     5</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500" b="1" i="0">
                          <a:solidFill>
                            <a:srgbClr val="FFFFFF"/>
                          </a:solidFill>
                          <a:latin typeface="Malgun Gothic"/>
                          <a:ea typeface="Malgun Gothic"/>
                          <a:cs typeface="Malgun Gothic"/>
                        </a:rPr>
                        <a:t>표적</a:t>
                      </a:r>
                    </a:p>
                  </a:txBody>
                  <a:tcPr marL="73152" marR="73152">
                    <a:solidFill>
                      <a:srgbClr val="003C71"/>
                    </a:solidFill>
                  </a:tcPr>
                </a:tc>
                <a:tc>
                  <a:txBody>
                    <a:bodyPr/>
                    <a:lstStyle/>
                    <a:p>
                      <a:r>
                        <a:rPr sz="1500" b="1" i="0">
                          <a:solidFill>
                            <a:srgbClr val="FFFFFF"/>
                          </a:solidFill>
                          <a:latin typeface="Malgun Gothic"/>
                          <a:ea typeface="Malgun Gothic"/>
                          <a:cs typeface="Malgun Gothic"/>
                        </a:rPr>
                        <a:t>특징</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중증 근무력증(MG)</a:t>
                      </a:r>
                    </a:p>
                  </a:txBody>
                  <a:tcPr marL="73152" marR="73152">
                    <a:solidFill>
                      <a:srgbClr val="FFFFFF"/>
                    </a:solidFill>
                  </a:tcPr>
                </a:tc>
                <a:tc>
                  <a:txBody>
                    <a:bodyPr/>
                    <a:lstStyle/>
                    <a:p>
                      <a:r>
                        <a:rPr sz="1500" b="0" i="0">
                          <a:solidFill>
                            <a:srgbClr val="11202B"/>
                          </a:solidFill>
                          <a:latin typeface="Malgun Gothic"/>
                          <a:ea typeface="Malgun Gothic"/>
                          <a:cs typeface="Malgun Gothic"/>
                        </a:rPr>
                        <a:t>후시냅스 AChR·MuSK·LRP4</a:t>
                      </a:r>
                    </a:p>
                  </a:txBody>
                  <a:tcPr marL="73152" marR="73152">
                    <a:solidFill>
                      <a:srgbClr val="FFFFFF"/>
                    </a:solidFill>
                  </a:tcPr>
                </a:tc>
                <a:tc>
                  <a:txBody>
                    <a:bodyPr/>
                    <a:lstStyle/>
                    <a:p>
                      <a:r>
                        <a:rPr sz="1500" b="0" i="0">
                          <a:solidFill>
                            <a:srgbClr val="11202B"/>
                          </a:solidFill>
                          <a:latin typeface="Malgun Gothic"/>
                          <a:ea typeface="Malgun Gothic"/>
                          <a:cs typeface="Malgun Gothic"/>
                        </a:rPr>
                        <a:t>피로성 근력저하</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램버트-이튼(LEMS)</a:t>
                      </a:r>
                    </a:p>
                  </a:txBody>
                  <a:tcPr marL="73152" marR="73152">
                    <a:solidFill>
                      <a:srgbClr val="ECF1F5"/>
                    </a:solidFill>
                  </a:tcPr>
                </a:tc>
                <a:tc>
                  <a:txBody>
                    <a:bodyPr/>
                    <a:lstStyle/>
                    <a:p>
                      <a:r>
                        <a:rPr sz="1500" b="0" i="0">
                          <a:solidFill>
                            <a:srgbClr val="11202B"/>
                          </a:solidFill>
                          <a:latin typeface="Malgun Gothic"/>
                          <a:ea typeface="Malgun Gothic"/>
                          <a:cs typeface="Malgun Gothic"/>
                        </a:rPr>
                        <a:t>전시냅스 P/Q Ca²⁺ 통로</a:t>
                      </a:r>
                    </a:p>
                  </a:txBody>
                  <a:tcPr marL="73152" marR="73152">
                    <a:solidFill>
                      <a:srgbClr val="ECF1F5"/>
                    </a:solidFill>
                  </a:tcPr>
                </a:tc>
                <a:tc>
                  <a:txBody>
                    <a:bodyPr/>
                    <a:lstStyle/>
                    <a:p>
                      <a:r>
                        <a:rPr sz="1500" b="0" i="0">
                          <a:solidFill>
                            <a:srgbClr val="11202B"/>
                          </a:solidFill>
                          <a:latin typeface="Malgun Gothic"/>
                          <a:ea typeface="Malgun Gothic"/>
                          <a:cs typeface="Malgun Gothic"/>
                        </a:rPr>
                        <a:t>증가 반응, 자율 증상, 소세포폐암</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보툴리누스</a:t>
                      </a:r>
                    </a:p>
                  </a:txBody>
                  <a:tcPr marL="73152" marR="73152">
                    <a:solidFill>
                      <a:srgbClr val="FFFFFF"/>
                    </a:solidFill>
                  </a:tcPr>
                </a:tc>
                <a:tc>
                  <a:txBody>
                    <a:bodyPr/>
                    <a:lstStyle/>
                    <a:p>
                      <a:r>
                        <a:rPr sz="1500" b="0" i="0">
                          <a:solidFill>
                            <a:srgbClr val="11202B"/>
                          </a:solidFill>
                          <a:latin typeface="Malgun Gothic"/>
                          <a:ea typeface="Malgun Gothic"/>
                          <a:cs typeface="Malgun Gothic"/>
                        </a:rPr>
                        <a:t>SNARE(방출 기계)</a:t>
                      </a:r>
                    </a:p>
                  </a:txBody>
                  <a:tcPr marL="73152" marR="73152">
                    <a:solidFill>
                      <a:srgbClr val="FFFFFF"/>
                    </a:solidFill>
                  </a:tcPr>
                </a:tc>
                <a:tc>
                  <a:txBody>
                    <a:bodyPr/>
                    <a:lstStyle/>
                    <a:p>
                      <a:r>
                        <a:rPr sz="1500" b="0" i="0">
                          <a:solidFill>
                            <a:srgbClr val="11202B"/>
                          </a:solidFill>
                          <a:latin typeface="Malgun Gothic"/>
                          <a:ea typeface="Malgun Gothic"/>
                          <a:cs typeface="Malgun Gothic"/>
                        </a:rPr>
                        <a:t>산동·자율 침범, 하행 마비</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선천성 근무력 증후군</a:t>
                      </a:r>
                    </a:p>
                  </a:txBody>
                  <a:tcPr marL="73152" marR="73152">
                    <a:solidFill>
                      <a:srgbClr val="ECF1F5"/>
                    </a:solidFill>
                  </a:tcPr>
                </a:tc>
                <a:tc>
                  <a:txBody>
                    <a:bodyPr/>
                    <a:lstStyle/>
                    <a:p>
                      <a:r>
                        <a:rPr sz="1500" b="0" i="0">
                          <a:solidFill>
                            <a:srgbClr val="11202B"/>
                          </a:solidFill>
                          <a:latin typeface="Malgun Gothic"/>
                          <a:ea typeface="Malgun Gothic"/>
                          <a:cs typeface="Malgun Gothic"/>
                        </a:rPr>
                        <a:t>CHRNE, RAPSN, DOK7, COLQ, CHAT 등 유전</a:t>
                      </a:r>
                    </a:p>
                  </a:txBody>
                  <a:tcPr marL="73152" marR="73152">
                    <a:solidFill>
                      <a:srgbClr val="ECF1F5"/>
                    </a:solidFill>
                  </a:tcPr>
                </a:tc>
                <a:tc>
                  <a:txBody>
                    <a:bodyPr/>
                    <a:lstStyle/>
                    <a:p>
                      <a:r>
                        <a:rPr sz="1500" b="0" i="0">
                          <a:solidFill>
                            <a:srgbClr val="11202B"/>
                          </a:solidFill>
                          <a:latin typeface="Malgun Gothic"/>
                          <a:ea typeface="Malgun Gothic"/>
                          <a:cs typeface="Malgun Gothic"/>
                        </a:rPr>
                        <a:t>영아기, 항체 음성 → 약물(살부타몰·에페드린 — DOK7; 3,4-DAP)</a:t>
                      </a:r>
                    </a:p>
                  </a:txBody>
                  <a:tcPr marL="73152" marR="73152">
                    <a:solidFill>
                      <a:srgbClr val="ECF1F5"/>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중증 근무력증의 아형</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B08-L05  ·  중증 근무력증과 말초 신경 자가면역</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안구형(약 15%) — 2년 내 전신화 위험 50% 이상; 전신화 예방을 위한 조기 스테로이드 논의.</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악화 요인: 감염, 수술, 임신·산후, 체온 상승, 약물 — </a:t>
            </a:r>
            <a:r>
              <a:rPr sz="2200" b="1" i="0">
                <a:solidFill>
                  <a:srgbClr val="11202B"/>
                </a:solidFill>
                <a:latin typeface="Malgun Gothic"/>
                <a:ea typeface="Malgun Gothic"/>
                <a:cs typeface="Malgun Gothic"/>
              </a:rPr>
              <a:t>아미노글리코사이드·플루오로퀴놀론·마크로라이드, 마그네슘, β차단제, 페니실라민, 면역관문억제제</a:t>
            </a:r>
            <a:r>
              <a:rPr sz="2200" b="0" i="0">
                <a:solidFill>
                  <a:srgbClr val="11202B"/>
                </a:solidFill>
                <a:latin typeface="Malgun Gothic"/>
                <a:ea typeface="Malgun Gothic"/>
                <a:cs typeface="Malgun Gothic"/>
              </a:rPr>
              <a:t>.</a:t>
            </a:r>
          </a:p>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근무력 위기</a:t>
            </a:r>
            <a:r>
              <a:rPr sz="2200" b="0" i="0">
                <a:solidFill>
                  <a:srgbClr val="11202B"/>
                </a:solidFill>
                <a:latin typeface="Malgun Gothic"/>
                <a:ea typeface="Malgun Gothic"/>
                <a:cs typeface="Malgun Gothic"/>
              </a:rPr>
              <a:t>: 호흡부전(FVC·최대 흡기압 추적; 혈중 가스는 늦게 변함) → IVIG 또는 혈장교환 + 기도 확보.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중증 근무력증의 아형</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B08-L05  ·  중증 근무력증과 말초 신경 자가면역</a:t>
            </a:r>
            <a:r>
              <a:rPr sz="1000" b="1" i="0">
                <a:solidFill>
                  <a:srgbClr val="003C71"/>
                </a:solidFill>
                <a:latin typeface="Malgun Gothic"/>
                <a:ea typeface="Malgun Gothic"/>
                <a:cs typeface="Malgun Gothic"/>
              </a:rPr>
              <a:t>     7</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500" b="1" i="0">
                          <a:solidFill>
                            <a:srgbClr val="FFFFFF"/>
                          </a:solidFill>
                          <a:latin typeface="Malgun Gothic"/>
                          <a:ea typeface="Malgun Gothic"/>
                          <a:cs typeface="Malgun Gothic"/>
                        </a:rPr>
                        <a:t>아형</a:t>
                      </a:r>
                    </a:p>
                  </a:txBody>
                  <a:tcPr marL="73152" marR="73152">
                    <a:solidFill>
                      <a:srgbClr val="003C71"/>
                    </a:solidFill>
                  </a:tcPr>
                </a:tc>
                <a:tc>
                  <a:txBody>
                    <a:bodyPr/>
                    <a:lstStyle/>
                    <a:p>
                      <a:r>
                        <a:rPr sz="1500" b="1" i="0">
                          <a:solidFill>
                            <a:srgbClr val="FFFFFF"/>
                          </a:solidFill>
                          <a:latin typeface="Malgun Gothic"/>
                          <a:ea typeface="Malgun Gothic"/>
                          <a:cs typeface="Malgun Gothic"/>
                        </a:rPr>
                        <a:t>빈도</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500" b="1" i="0">
                          <a:solidFill>
                            <a:srgbClr val="FFFFFF"/>
                          </a:solidFill>
                          <a:latin typeface="Malgun Gothic"/>
                          <a:ea typeface="Malgun Gothic"/>
                          <a:cs typeface="Malgun Gothic"/>
                        </a:rPr>
                        <a:t>임상</a:t>
                      </a:r>
                    </a:p>
                  </a:txBody>
                  <a:tcPr marL="73152" marR="73152">
                    <a:solidFill>
                      <a:srgbClr val="003C71"/>
                    </a:solidFill>
                  </a:tcPr>
                </a:tc>
                <a:tc>
                  <a:txBody>
                    <a:bodyPr/>
                    <a:lstStyle/>
                    <a:p>
                      <a:r>
                        <a:rPr sz="1500" b="1" i="0">
                          <a:solidFill>
                            <a:srgbClr val="FFFFFF"/>
                          </a:solidFill>
                          <a:latin typeface="Malgun Gothic"/>
                          <a:ea typeface="Malgun Gothic"/>
                          <a:cs typeface="Malgun Gothic"/>
                        </a:rPr>
                        <a:t>치료 반응</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AChR 항체 양성</a:t>
                      </a:r>
                    </a:p>
                  </a:txBody>
                  <a:tcPr marL="73152" marR="73152">
                    <a:solidFill>
                      <a:srgbClr val="FFFFFF"/>
                    </a:solidFill>
                  </a:tcPr>
                </a:tc>
                <a:tc>
                  <a:txBody>
                    <a:bodyPr/>
                    <a:lstStyle/>
                    <a:p>
                      <a:r>
                        <a:rPr sz="1500" b="0" i="0">
                          <a:solidFill>
                            <a:srgbClr val="11202B"/>
                          </a:solidFill>
                          <a:latin typeface="Malgun Gothic"/>
                          <a:ea typeface="Malgun Gothic"/>
                          <a:cs typeface="Malgun Gothic"/>
                        </a:rPr>
                        <a:t>전신형의 ~85%</a:t>
                      </a:r>
                    </a:p>
                  </a:txBody>
                  <a:tcPr marL="73152" marR="73152">
                    <a:solidFill>
                      <a:srgbClr val="FFFFFF"/>
                    </a:solidFill>
                  </a:tcPr>
                </a:tc>
                <a:tc>
                  <a:txBody>
                    <a:bodyPr/>
                    <a:lstStyle/>
                    <a:p>
                      <a:r>
                        <a:rPr sz="1500" b="0" i="0">
                          <a:solidFill>
                            <a:srgbClr val="11202B"/>
                          </a:solidFill>
                          <a:latin typeface="Malgun Gothic"/>
                          <a:ea typeface="Malgun Gothic"/>
                          <a:cs typeface="Malgun Gothic"/>
                        </a:rPr>
                        <a:t>IgG1/3 — </a:t>
                      </a:r>
                      <a:r>
                        <a:rPr sz="1500" b="1" i="0">
                          <a:solidFill>
                            <a:srgbClr val="11202B"/>
                          </a:solidFill>
                          <a:latin typeface="Malgun Gothic"/>
                          <a:ea typeface="Malgun Gothic"/>
                          <a:cs typeface="Malgun Gothic"/>
                        </a:rPr>
                        <a:t>보체 활성(MAC)</a:t>
                      </a:r>
                      <a:r>
                        <a:rPr sz="1500" b="0" i="0">
                          <a:solidFill>
                            <a:srgbClr val="11202B"/>
                          </a:solidFill>
                          <a:latin typeface="Malgun Gothic"/>
                          <a:ea typeface="Malgun Gothic"/>
                          <a:cs typeface="Malgun Gothic"/>
                        </a:rPr>
                        <a:t>, 수용체 가교·내재화, 차단</a:t>
                      </a:r>
                    </a:p>
                  </a:txBody>
                  <a:tcPr marL="73152" marR="73152">
                    <a:solidFill>
                      <a:srgbClr val="FFFFFF"/>
                    </a:solidFill>
                  </a:tcPr>
                </a:tc>
                <a:tc>
                  <a:txBody>
                    <a:bodyPr/>
                    <a:lstStyle/>
                    <a:p>
                      <a:r>
                        <a:rPr sz="1500" b="0" i="0">
                          <a:solidFill>
                            <a:srgbClr val="11202B"/>
                          </a:solidFill>
                          <a:latin typeface="Malgun Gothic"/>
                          <a:ea typeface="Malgun Gothic"/>
                          <a:cs typeface="Malgun Gothic"/>
                        </a:rPr>
                        <a:t>안검하수·복시로 시작, 전신 피로성 근력저하, 흉선 과형성(젊은 여성)·</a:t>
                      </a:r>
                      <a:r>
                        <a:rPr sz="1500" b="1" i="0">
                          <a:solidFill>
                            <a:srgbClr val="11202B"/>
                          </a:solidFill>
                          <a:latin typeface="Malgun Gothic"/>
                          <a:ea typeface="Malgun Gothic"/>
                          <a:cs typeface="Malgun Gothic"/>
                        </a:rPr>
                        <a:t>흉선종(10–15%)</a:t>
                      </a:r>
                    </a:p>
                  </a:txBody>
                  <a:tcPr marL="73152" marR="73152">
                    <a:solidFill>
                      <a:srgbClr val="FFFFFF"/>
                    </a:solidFill>
                  </a:tcPr>
                </a:tc>
                <a:tc>
                  <a:txBody>
                    <a:bodyPr/>
                    <a:lstStyle/>
                    <a:p>
                      <a:r>
                        <a:rPr sz="1500" b="0" i="0">
                          <a:solidFill>
                            <a:srgbClr val="11202B"/>
                          </a:solidFill>
                          <a:latin typeface="Malgun Gothic"/>
                          <a:ea typeface="Malgun Gothic"/>
                          <a:cs typeface="Malgun Gothic"/>
                        </a:rPr>
                        <a:t>전반적으로 좋음; 보체 억제제 효과</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MuSK 항체</a:t>
                      </a:r>
                    </a:p>
                  </a:txBody>
                  <a:tcPr marL="73152" marR="73152">
                    <a:solidFill>
                      <a:srgbClr val="ECF1F5"/>
                    </a:solidFill>
                  </a:tcPr>
                </a:tc>
                <a:tc>
                  <a:txBody>
                    <a:bodyPr/>
                    <a:lstStyle/>
                    <a:p>
                      <a:r>
                        <a:rPr sz="1500" b="0" i="0">
                          <a:solidFill>
                            <a:srgbClr val="11202B"/>
                          </a:solidFill>
                          <a:latin typeface="Malgun Gothic"/>
                          <a:ea typeface="Malgun Gothic"/>
                          <a:cs typeface="Malgun Gothic"/>
                        </a:rPr>
                        <a:t>5–8%</a:t>
                      </a:r>
                    </a:p>
                  </a:txBody>
                  <a:tcPr marL="73152" marR="73152">
                    <a:solidFill>
                      <a:srgbClr val="ECF1F5"/>
                    </a:solidFill>
                  </a:tcPr>
                </a:tc>
                <a:tc>
                  <a:txBody>
                    <a:bodyPr/>
                    <a:lstStyle/>
                    <a:p>
                      <a:r>
                        <a:rPr sz="1500" b="1" i="0">
                          <a:solidFill>
                            <a:srgbClr val="11202B"/>
                          </a:solidFill>
                          <a:latin typeface="Malgun Gothic"/>
                          <a:ea typeface="Malgun Gothic"/>
                          <a:cs typeface="Malgun Gothic"/>
                        </a:rPr>
                        <a:t>IgG4</a:t>
                      </a:r>
                      <a:r>
                        <a:rPr sz="1500" b="0" i="0">
                          <a:solidFill>
                            <a:srgbClr val="11202B"/>
                          </a:solidFill>
                          <a:latin typeface="Malgun Gothic"/>
                          <a:ea typeface="Malgun Gothic"/>
                          <a:cs typeface="Malgun Gothic"/>
                        </a:rPr>
                        <a:t> — 보체 비활성, MuSK–LRP4 상호작용 차단</a:t>
                      </a:r>
                    </a:p>
                  </a:txBody>
                  <a:tcPr marL="73152" marR="73152">
                    <a:solidFill>
                      <a:srgbClr val="ECF1F5"/>
                    </a:solidFill>
                  </a:tcPr>
                </a:tc>
                <a:tc>
                  <a:txBody>
                    <a:bodyPr/>
                    <a:lstStyle/>
                    <a:p>
                      <a:r>
                        <a:rPr sz="1500" b="0" i="0">
                          <a:solidFill>
                            <a:srgbClr val="11202B"/>
                          </a:solidFill>
                          <a:latin typeface="Malgun Gothic"/>
                          <a:ea typeface="Malgun Gothic"/>
                          <a:cs typeface="Malgun Gothic"/>
                        </a:rPr>
                        <a:t>여성, </a:t>
                      </a:r>
                      <a:r>
                        <a:rPr sz="1500" b="1" i="0">
                          <a:solidFill>
                            <a:srgbClr val="11202B"/>
                          </a:solidFill>
                          <a:latin typeface="Malgun Gothic"/>
                          <a:ea typeface="Malgun Gothic"/>
                          <a:cs typeface="Malgun Gothic"/>
                        </a:rPr>
                        <a:t>연수·안면·목·호흡근</a:t>
                      </a:r>
                      <a:r>
                        <a:rPr sz="1500" b="0" i="0">
                          <a:solidFill>
                            <a:srgbClr val="11202B"/>
                          </a:solidFill>
                          <a:latin typeface="Malgun Gothic"/>
                          <a:ea typeface="Malgun Gothic"/>
                          <a:cs typeface="Malgun Gothic"/>
                        </a:rPr>
                        <a:t> 우세, 혀 위축, 근위축; 흉선 정상</a:t>
                      </a:r>
                    </a:p>
                  </a:txBody>
                  <a:tcPr marL="73152" marR="73152">
                    <a:solidFill>
                      <a:srgbClr val="ECF1F5"/>
                    </a:solidFill>
                  </a:tcPr>
                </a:tc>
                <a:tc>
                  <a:txBody>
                    <a:bodyPr/>
                    <a:lstStyle/>
                    <a:p>
                      <a:r>
                        <a:rPr sz="1500" b="1" i="0">
                          <a:solidFill>
                            <a:srgbClr val="11202B"/>
                          </a:solidFill>
                          <a:latin typeface="Malgun Gothic"/>
                          <a:ea typeface="Malgun Gothic"/>
                          <a:cs typeface="Malgun Gothic"/>
                        </a:rPr>
                        <a:t>콜린에스테라아제 억제제에 반응 나쁨·악화 가능</a:t>
                      </a:r>
                      <a:r>
                        <a:rPr sz="1500" b="0" i="0">
                          <a:solidFill>
                            <a:srgbClr val="11202B"/>
                          </a:solidFill>
                          <a:latin typeface="Malgun Gothic"/>
                          <a:ea typeface="Malgun Gothic"/>
                          <a:cs typeface="Malgun Gothic"/>
                        </a:rPr>
                        <a:t>, </a:t>
                      </a:r>
                      <a:r>
                        <a:rPr sz="1500" b="1" i="0">
                          <a:solidFill>
                            <a:srgbClr val="11202B"/>
                          </a:solidFill>
                          <a:latin typeface="Malgun Gothic"/>
                          <a:ea typeface="Malgun Gothic"/>
                          <a:cs typeface="Malgun Gothic"/>
                        </a:rPr>
                        <a:t>리툭시맙에 탁월</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LRP4·아그린 항체</a:t>
                      </a:r>
                    </a:p>
                  </a:txBody>
                  <a:tcPr marL="73152" marR="73152">
                    <a:solidFill>
                      <a:srgbClr val="FFFFFF"/>
                    </a:solidFill>
                  </a:tcPr>
                </a:tc>
                <a:tc>
                  <a:txBody>
                    <a:bodyPr/>
                    <a:lstStyle/>
                    <a:p>
                      <a:r>
                        <a:rPr sz="1500" b="0" i="0">
                          <a:solidFill>
                            <a:srgbClr val="11202B"/>
                          </a:solidFill>
                          <a:latin typeface="Malgun Gothic"/>
                          <a:ea typeface="Malgun Gothic"/>
                          <a:cs typeface="Malgun Gothic"/>
                        </a:rPr>
                        <a:t>1–3%</a:t>
                      </a:r>
                    </a:p>
                  </a:txBody>
                  <a:tcPr marL="73152" marR="73152">
                    <a:solidFill>
                      <a:srgbClr val="FFFFFF"/>
                    </a:solidFill>
                  </a:tcPr>
                </a:tc>
                <a:tc>
                  <a:txBody>
                    <a:bodyPr/>
                    <a:lstStyle/>
                    <a:p/>
                  </a:txBody>
                  <a:tcPr marL="73152" marR="73152">
                    <a:solidFill>
                      <a:srgbClr val="FFFFFF"/>
                    </a:solidFill>
                  </a:tcPr>
                </a:tc>
                <a:tc>
                  <a:txBody>
                    <a:bodyPr/>
                    <a:lstStyle/>
                    <a:p>
                      <a:r>
                        <a:rPr sz="1500" b="0" i="0">
                          <a:solidFill>
                            <a:srgbClr val="11202B"/>
                          </a:solidFill>
                          <a:latin typeface="Malgun Gothic"/>
                          <a:ea typeface="Malgun Gothic"/>
                          <a:cs typeface="Malgun Gothic"/>
                        </a:rPr>
                        <a:t>경증·안구형 많음</a:t>
                      </a:r>
                    </a:p>
                  </a:txBody>
                  <a:tcPr marL="73152" marR="73152">
                    <a:solidFill>
                      <a:srgbClr val="FFFFFF"/>
                    </a:solidFill>
                  </a:tcPr>
                </a:tc>
                <a:tc>
                  <a:txBody>
                    <a:bodyPr/>
                    <a:lstStyle/>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혈청 음성</a:t>
                      </a:r>
                    </a:p>
                  </a:txBody>
                  <a:tcPr marL="73152" marR="73152">
                    <a:solidFill>
                      <a:srgbClr val="ECF1F5"/>
                    </a:solidFill>
                  </a:tcPr>
                </a:tc>
                <a:tc>
                  <a:txBody>
                    <a:bodyPr/>
                    <a:lstStyle/>
                    <a:p>
                      <a:r>
                        <a:rPr sz="1500" b="0" i="0">
                          <a:solidFill>
                            <a:srgbClr val="11202B"/>
                          </a:solidFill>
                          <a:latin typeface="Malgun Gothic"/>
                          <a:ea typeface="Malgun Gothic"/>
                          <a:cs typeface="Malgun Gothic"/>
                        </a:rPr>
                        <a:t>5–10%</a:t>
                      </a:r>
                    </a:p>
                  </a:txBody>
                  <a:tcPr marL="73152" marR="73152">
                    <a:solidFill>
                      <a:srgbClr val="ECF1F5"/>
                    </a:solidFill>
                  </a:tcPr>
                </a:tc>
                <a:tc>
                  <a:txBody>
                    <a:bodyPr/>
                    <a:lstStyle/>
                    <a:p>
                      <a:r>
                        <a:rPr sz="1500" b="0" i="0">
                          <a:solidFill>
                            <a:srgbClr val="11202B"/>
                          </a:solidFill>
                          <a:latin typeface="Malgun Gothic"/>
                          <a:ea typeface="Malgun Gothic"/>
                          <a:cs typeface="Malgun Gothic"/>
                        </a:rPr>
                        <a:t>저친화도 AChR 항체(클러스터 분석에서 검출) 가능</a:t>
                      </a:r>
                    </a:p>
                  </a:txBody>
                  <a:tcPr marL="73152" marR="73152">
                    <a:solidFill>
                      <a:srgbClr val="ECF1F5"/>
                    </a:solidFill>
                  </a:tcPr>
                </a:tc>
                <a:tc>
                  <a:txBody>
                    <a:bodyPr/>
                    <a:lstStyle/>
                    <a:p/>
                  </a:txBody>
                  <a:tcPr marL="73152" marR="73152">
                    <a:solidFill>
                      <a:srgbClr val="ECF1F5"/>
                    </a:solidFill>
                  </a:tcPr>
                </a:tc>
                <a:tc>
                  <a:txBody>
                    <a:bodyPr/>
                    <a:lstStyle/>
                    <a:p/>
                  </a:txBody>
                  <a:tcPr marL="73152" marR="73152">
                    <a:solidFill>
                      <a:srgbClr val="ECF1F5"/>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MG의 진단과 치료</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B08-L05  ·  중증 근무력증과 말초 신경 자가면역</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진단:</a:t>
            </a:r>
          </a:p>
          <a:p>
            <a:pPr lvl="1">
              <a:spcAft>
                <a:spcPts val="400"/>
              </a:spcAft>
            </a:pPr>
            <a:r>
              <a:rPr sz="1800" b="0" i="0">
                <a:solidFill>
                  <a:srgbClr val="66788A"/>
                </a:solidFill>
                <a:latin typeface="Malgun Gothic"/>
                <a:ea typeface="Malgun Gothic"/>
                <a:cs typeface="Malgun Gothic"/>
              </a:rPr>
              <a:t>    – </a:t>
            </a:r>
            <a:r>
              <a:rPr sz="1800" b="1" i="0">
                <a:solidFill>
                  <a:srgbClr val="2E3F4C"/>
                </a:solidFill>
                <a:latin typeface="Malgun Gothic"/>
                <a:ea typeface="Malgun Gothic"/>
                <a:cs typeface="Malgun Gothic"/>
              </a:rPr>
              <a:t>혈청 항체</a:t>
            </a:r>
            <a:r>
              <a:rPr sz="1800" b="0" i="0">
                <a:solidFill>
                  <a:srgbClr val="2E3F4C"/>
                </a:solidFill>
                <a:latin typeface="Malgun Gothic"/>
                <a:ea typeface="Malgun Gothic"/>
                <a:cs typeface="Malgun Gothic"/>
              </a:rPr>
              <a:t>(AChR 결합 → 음성이면 MuSK → 클러스터 기반 AChR).</a:t>
            </a:r>
          </a:p>
          <a:p>
            <a:pPr lvl="1">
              <a:spcAft>
                <a:spcPts val="400"/>
              </a:spcAft>
            </a:pPr>
            <a:r>
              <a:rPr sz="1800" b="0" i="0">
                <a:solidFill>
                  <a:srgbClr val="66788A"/>
                </a:solidFill>
                <a:latin typeface="Malgun Gothic"/>
                <a:ea typeface="Malgun Gothic"/>
                <a:cs typeface="Malgun Gothic"/>
              </a:rPr>
              <a:t>    – </a:t>
            </a:r>
            <a:r>
              <a:rPr sz="1800" b="1" i="0">
                <a:solidFill>
                  <a:srgbClr val="2E3F4C"/>
                </a:solidFill>
                <a:latin typeface="Malgun Gothic"/>
                <a:ea typeface="Malgun Gothic"/>
                <a:cs typeface="Malgun Gothic"/>
              </a:rPr>
              <a:t>전기생리</a:t>
            </a:r>
            <a:r>
              <a:rPr sz="1800" b="0" i="0">
                <a:solidFill>
                  <a:srgbClr val="2E3F4C"/>
                </a:solidFill>
                <a:latin typeface="Malgun Gothic"/>
                <a:ea typeface="Malgun Gothic"/>
                <a:cs typeface="Malgun Gothic"/>
              </a:rPr>
              <a:t>: 반복 신경 자극 2–3 Hz에서 </a:t>
            </a:r>
            <a:r>
              <a:rPr sz="1800" b="1" i="0">
                <a:solidFill>
                  <a:srgbClr val="2E3F4C"/>
                </a:solidFill>
                <a:latin typeface="Malgun Gothic"/>
                <a:ea typeface="Malgun Gothic"/>
                <a:cs typeface="Malgun Gothic"/>
              </a:rPr>
              <a:t>10% 이상 감소 반응</a:t>
            </a:r>
            <a:r>
              <a:rPr sz="1800" b="0" i="0">
                <a:solidFill>
                  <a:srgbClr val="2E3F4C"/>
                </a:solidFill>
                <a:latin typeface="Malgun Gothic"/>
                <a:ea typeface="Malgun Gothic"/>
                <a:cs typeface="Malgun Gothic"/>
              </a:rPr>
              <a:t>, </a:t>
            </a:r>
            <a:r>
              <a:rPr sz="1800" b="1" i="0">
                <a:solidFill>
                  <a:srgbClr val="2E3F4C"/>
                </a:solidFill>
                <a:latin typeface="Malgun Gothic"/>
                <a:ea typeface="Malgun Gothic"/>
                <a:cs typeface="Malgun Gothic"/>
              </a:rPr>
              <a:t>단일섬유 근전도</a:t>
            </a:r>
            <a:r>
              <a:rPr sz="1800" b="0" i="0">
                <a:solidFill>
                  <a:srgbClr val="2E3F4C"/>
                </a:solidFill>
                <a:latin typeface="Malgun Gothic"/>
                <a:ea typeface="Malgun Gothic"/>
                <a:cs typeface="Malgun Gothic"/>
              </a:rPr>
              <a:t>(지터 증가 — 가장 민감).</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얼음 주머니 검사(안검하수 호전 — 저온에서 에스터라아제 활성 저하), 에드로포늄 검사는 현재 드물게 사용.</a:t>
            </a:r>
          </a:p>
          <a:p>
            <a:pPr lvl="1">
              <a:spcAft>
                <a:spcPts val="400"/>
              </a:spcAft>
            </a:pPr>
            <a:r>
              <a:rPr sz="1800" b="0" i="0">
                <a:solidFill>
                  <a:srgbClr val="66788A"/>
                </a:solidFill>
                <a:latin typeface="Malgun Gothic"/>
                <a:ea typeface="Malgun Gothic"/>
                <a:cs typeface="Malgun Gothic"/>
              </a:rPr>
              <a:t>    – </a:t>
            </a:r>
            <a:r>
              <a:rPr sz="1800" b="1" i="0">
                <a:solidFill>
                  <a:srgbClr val="2E3F4C"/>
                </a:solidFill>
                <a:latin typeface="Malgun Gothic"/>
                <a:ea typeface="Malgun Gothic"/>
                <a:cs typeface="Malgun Gothic"/>
              </a:rPr>
              <a:t>흉부 CT</a:t>
            </a:r>
            <a:r>
              <a:rPr sz="1800" b="0" i="0">
                <a:solidFill>
                  <a:srgbClr val="2E3F4C"/>
                </a:solidFill>
                <a:latin typeface="Malgun Gothic"/>
                <a:ea typeface="Malgun Gothic"/>
                <a:cs typeface="Malgun Gothic"/>
              </a:rPr>
              <a:t>(흉선종 — 수술 적응), 갑상선 기능·자가면역 동반 질환.</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치료 단계:</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특수 상황: 임신(피리도스티그민·프레드니손 안전, 마그네슘 금기 — 자간전증 시 대체), 신생아 일과성 MG(모체 IgG 이행), 흉선종 연관 다른 증후군(적혈구 무형성, 저감마글로불린혈증 — 굿 증후군).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MG의 진단과 치료</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B08-L05  ·  중증 근무력증과 말초 신경 자가면역</a:t>
            </a:r>
            <a:r>
              <a:rPr sz="10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단계</a:t>
                      </a:r>
                    </a:p>
                  </a:txBody>
                  <a:tcPr marL="73152" marR="73152">
                    <a:solidFill>
                      <a:srgbClr val="003C71"/>
                    </a:solidFill>
                  </a:tcPr>
                </a:tc>
                <a:tc>
                  <a:txBody>
                    <a:bodyPr/>
                    <a:lstStyle/>
                    <a:p>
                      <a:r>
                        <a:rPr sz="1500" b="1" i="0">
                          <a:solidFill>
                            <a:srgbClr val="FFFFFF"/>
                          </a:solidFill>
                          <a:latin typeface="Malgun Gothic"/>
                          <a:ea typeface="Malgun Gothic"/>
                          <a:cs typeface="Malgun Gothic"/>
                        </a:rPr>
                        <a:t>약물</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증상</a:t>
                      </a:r>
                    </a:p>
                  </a:txBody>
                  <a:tcPr marL="73152" marR="73152">
                    <a:solidFill>
                      <a:srgbClr val="FFFFFF"/>
                    </a:solidFill>
                  </a:tcPr>
                </a:tc>
                <a:tc>
                  <a:txBody>
                    <a:bodyPr/>
                    <a:lstStyle/>
                    <a:p>
                      <a:r>
                        <a:rPr sz="1500" b="1" i="0">
                          <a:solidFill>
                            <a:srgbClr val="11202B"/>
                          </a:solidFill>
                          <a:latin typeface="Malgun Gothic"/>
                          <a:ea typeface="Malgun Gothic"/>
                          <a:cs typeface="Malgun Gothic"/>
                        </a:rPr>
                        <a:t>피리도스티그민</a:t>
                      </a:r>
                      <a:r>
                        <a:rPr sz="1500" b="0" i="0">
                          <a:solidFill>
                            <a:srgbClr val="11202B"/>
                          </a:solidFill>
                          <a:latin typeface="Malgun Gothic"/>
                          <a:ea typeface="Malgun Gothic"/>
                          <a:cs typeface="Malgun Gothic"/>
                        </a:rPr>
                        <a:t>(AChE 억제; MuSK형은 효과 적음)</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면역 억제</a:t>
                      </a:r>
                    </a:p>
                  </a:txBody>
                  <a:tcPr marL="73152" marR="73152">
                    <a:solidFill>
                      <a:srgbClr val="ECF1F5"/>
                    </a:solidFill>
                  </a:tcPr>
                </a:tc>
                <a:tc>
                  <a:txBody>
                    <a:bodyPr/>
                    <a:lstStyle/>
                    <a:p>
                      <a:r>
                        <a:rPr sz="1500" b="0" i="0">
                          <a:solidFill>
                            <a:srgbClr val="11202B"/>
                          </a:solidFill>
                          <a:latin typeface="Malgun Gothic"/>
                          <a:ea typeface="Malgun Gothic"/>
                          <a:cs typeface="Malgun Gothic"/>
                        </a:rPr>
                        <a:t>프레드니손(초기 악화 주의 — 저용량에서 증량), 아자티오프린, 미코페놀레이트, 타크롤리무스, 메토트렉세이트</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급성·위기</a:t>
                      </a:r>
                    </a:p>
                  </a:txBody>
                  <a:tcPr marL="73152" marR="73152">
                    <a:solidFill>
                      <a:srgbClr val="FFFFFF"/>
                    </a:solidFill>
                  </a:tcPr>
                </a:tc>
                <a:tc>
                  <a:txBody>
                    <a:bodyPr/>
                    <a:lstStyle/>
                    <a:p>
                      <a:r>
                        <a:rPr sz="1500" b="1" i="0">
                          <a:solidFill>
                            <a:srgbClr val="11202B"/>
                          </a:solidFill>
                          <a:latin typeface="Malgun Gothic"/>
                          <a:ea typeface="Malgun Gothic"/>
                          <a:cs typeface="Malgun Gothic"/>
                        </a:rPr>
                        <a:t>IVIG</a:t>
                      </a:r>
                      <a:r>
                        <a:rPr sz="1500" b="0" i="0">
                          <a:solidFill>
                            <a:srgbClr val="11202B"/>
                          </a:solidFill>
                          <a:latin typeface="Malgun Gothic"/>
                          <a:ea typeface="Malgun Gothic"/>
                          <a:cs typeface="Malgun Gothic"/>
                        </a:rPr>
                        <a:t>, </a:t>
                      </a:r>
                      <a:r>
                        <a:rPr sz="1500" b="1" i="0">
                          <a:solidFill>
                            <a:srgbClr val="11202B"/>
                          </a:solidFill>
                          <a:latin typeface="Malgun Gothic"/>
                          <a:ea typeface="Malgun Gothic"/>
                          <a:cs typeface="Malgun Gothic"/>
                        </a:rPr>
                        <a:t>혈장교환</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난치·중증</a:t>
                      </a:r>
                    </a:p>
                  </a:txBody>
                  <a:tcPr marL="73152" marR="73152">
                    <a:solidFill>
                      <a:srgbClr val="ECF1F5"/>
                    </a:solidFill>
                  </a:tcPr>
                </a:tc>
                <a:tc>
                  <a:txBody>
                    <a:bodyPr/>
                    <a:lstStyle/>
                    <a:p>
                      <a:r>
                        <a:rPr sz="1500" b="1" i="0">
                          <a:solidFill>
                            <a:srgbClr val="11202B"/>
                          </a:solidFill>
                          <a:latin typeface="Malgun Gothic"/>
                          <a:ea typeface="Malgun Gothic"/>
                          <a:cs typeface="Malgun Gothic"/>
                        </a:rPr>
                        <a:t>리툭시맙</a:t>
                      </a:r>
                      <a:r>
                        <a:rPr sz="1500" b="0" i="0">
                          <a:solidFill>
                            <a:srgbClr val="11202B"/>
                          </a:solidFill>
                          <a:latin typeface="Malgun Gothic"/>
                          <a:ea typeface="Malgun Gothic"/>
                          <a:cs typeface="Malgun Gothic"/>
                        </a:rPr>
                        <a:t>(MuSK 우선), 에쿨리주맙·라불리주맙·지루코플란(</a:t>
                      </a:r>
                      <a:r>
                        <a:rPr sz="1500" b="1" i="0">
                          <a:solidFill>
                            <a:srgbClr val="11202B"/>
                          </a:solidFill>
                          <a:latin typeface="Malgun Gothic"/>
                          <a:ea typeface="Malgun Gothic"/>
                          <a:cs typeface="Malgun Gothic"/>
                        </a:rPr>
                        <a:t>보체 C5</a:t>
                      </a:r>
                      <a:r>
                        <a:rPr sz="1500" b="0" i="0">
                          <a:solidFill>
                            <a:srgbClr val="11202B"/>
                          </a:solidFill>
                          <a:latin typeface="Malgun Gothic"/>
                          <a:ea typeface="Malgun Gothic"/>
                          <a:cs typeface="Malgun Gothic"/>
                        </a:rPr>
                        <a:t> — AChR 양성 전신형), </a:t>
                      </a:r>
                      <a:r>
                        <a:rPr sz="1500" b="1" i="0">
                          <a:solidFill>
                            <a:srgbClr val="11202B"/>
                          </a:solidFill>
                          <a:latin typeface="Malgun Gothic"/>
                          <a:ea typeface="Malgun Gothic"/>
                          <a:cs typeface="Malgun Gothic"/>
                        </a:rPr>
                        <a:t>FcRn 억제제</a:t>
                      </a:r>
                      <a:r>
                        <a:rPr sz="1500" b="0" i="0">
                          <a:solidFill>
                            <a:srgbClr val="11202B"/>
                          </a:solidFill>
                          <a:latin typeface="Malgun Gothic"/>
                          <a:ea typeface="Malgun Gothic"/>
                          <a:cs typeface="Malgun Gothic"/>
                        </a:rPr>
                        <a:t>(에프가티지모드, 로자놀릭시주맙, 니포칼리맙 — IgG 재순환 차단 → 병원성 IgG 감소), 니포칼리맙·텔리타시셉트(BAFF/APRIL)</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수술</a:t>
                      </a:r>
                    </a:p>
                  </a:txBody>
                  <a:tcPr marL="73152" marR="73152">
                    <a:solidFill>
                      <a:srgbClr val="FFFFFF"/>
                    </a:solidFill>
                  </a:tcPr>
                </a:tc>
                <a:tc>
                  <a:txBody>
                    <a:bodyPr/>
                    <a:lstStyle/>
                    <a:p>
                      <a:r>
                        <a:rPr sz="1500" b="1" i="0">
                          <a:solidFill>
                            <a:srgbClr val="11202B"/>
                          </a:solidFill>
                          <a:latin typeface="Malgun Gothic"/>
                          <a:ea typeface="Malgun Gothic"/>
                          <a:cs typeface="Malgun Gothic"/>
                        </a:rPr>
                        <a:t>흉선절제</a:t>
                      </a:r>
                      <a:r>
                        <a:rPr sz="1500" b="0" i="0">
                          <a:solidFill>
                            <a:srgbClr val="11202B"/>
                          </a:solidFill>
                          <a:latin typeface="Malgun Gothic"/>
                          <a:ea typeface="Malgun Gothic"/>
                          <a:cs typeface="Malgun Gothic"/>
                        </a:rPr>
                        <a:t>(흉선종이면 필수; 비흉선종 AChR 양성 전신형 18–65세에서도 MGTX 시험상 이득 — 스테로이드 감량·증상 개선)</a:t>
                      </a:r>
                    </a:p>
                  </a:txBody>
                  <a:tcPr marL="73152" marR="7315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길랭-바레 증후군과 CIDP (1/3)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B08-L05  ·  중증 근무력증과 말초 신경 자가면역</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길랭-바레 증후군(GBS)</a:t>
            </a:r>
            <a:r>
              <a:rPr sz="1800" b="0" i="0">
                <a:solidFill>
                  <a:srgbClr val="11202B"/>
                </a:solidFill>
                <a:latin typeface="Malgun Gothic"/>
                <a:ea typeface="Malgun Gothic"/>
                <a:cs typeface="Malgun Gothic"/>
              </a:rPr>
              <a:t>: 급성 염증성 다발신경근병증 — 선행 감염(</a:t>
            </a:r>
            <a:r>
              <a:rPr sz="1800" b="1" i="0">
                <a:solidFill>
                  <a:srgbClr val="11202B"/>
                </a:solidFill>
                <a:latin typeface="Malgun Gothic"/>
                <a:ea typeface="Malgun Gothic"/>
                <a:cs typeface="Malgun Gothic"/>
              </a:rPr>
              <a:t>캄필로박터 제주니</a:t>
            </a:r>
            <a:r>
              <a:rPr sz="1800" b="0" i="0">
                <a:solidFill>
                  <a:srgbClr val="11202B"/>
                </a:solidFill>
                <a:latin typeface="Malgun Gothic"/>
                <a:ea typeface="Malgun Gothic"/>
                <a:cs typeface="Malgun Gothic"/>
              </a:rPr>
              <a:t>, CMV, EBV, 지카, 마이코플라스마, SARS-CoV-2; 백신 연관은 매우 드묾) 후 1–3주.</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기전: </a:t>
            </a:r>
            <a:r>
              <a:rPr sz="1600" b="1" i="0">
                <a:solidFill>
                  <a:srgbClr val="2E3F4C"/>
                </a:solidFill>
                <a:latin typeface="Malgun Gothic"/>
                <a:ea typeface="Malgun Gothic"/>
                <a:cs typeface="Malgun Gothic"/>
              </a:rPr>
              <a:t>분자 모방</a:t>
            </a:r>
            <a:r>
              <a:rPr sz="1600" b="0" i="0">
                <a:solidFill>
                  <a:srgbClr val="2E3F4C"/>
                </a:solidFill>
                <a:latin typeface="Malgun Gothic"/>
                <a:ea typeface="Malgun Gothic"/>
                <a:cs typeface="Malgun Gothic"/>
              </a:rPr>
              <a:t> — 세균 리포올리고당과 신경 </a:t>
            </a:r>
            <a:r>
              <a:rPr sz="1600" b="1" i="0">
                <a:solidFill>
                  <a:srgbClr val="2E3F4C"/>
                </a:solidFill>
                <a:latin typeface="Malgun Gothic"/>
                <a:ea typeface="Malgun Gothic"/>
                <a:cs typeface="Malgun Gothic"/>
              </a:rPr>
              <a:t>강글리오사이드</a:t>
            </a:r>
            <a:r>
              <a:rPr sz="1600" b="0" i="0">
                <a:solidFill>
                  <a:srgbClr val="2E3F4C"/>
                </a:solidFill>
                <a:latin typeface="Malgun Gothic"/>
                <a:ea typeface="Malgun Gothic"/>
                <a:cs typeface="Malgun Gothic"/>
              </a:rPr>
              <a:t>(GM1, GD1a, GQ1b)의 유사성 → 항체 + 보체 → 결절·결절 주위 손상.</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아형: </a:t>
            </a:r>
            <a:r>
              <a:rPr sz="1600" b="1" i="0">
                <a:solidFill>
                  <a:srgbClr val="2E3F4C"/>
                </a:solidFill>
                <a:latin typeface="Malgun Gothic"/>
                <a:ea typeface="Malgun Gothic"/>
                <a:cs typeface="Malgun Gothic"/>
              </a:rPr>
              <a:t>AIDP</a:t>
            </a:r>
            <a:r>
              <a:rPr sz="1600" b="0" i="0">
                <a:solidFill>
                  <a:srgbClr val="2E3F4C"/>
                </a:solidFill>
                <a:latin typeface="Malgun Gothic"/>
                <a:ea typeface="Malgun Gothic"/>
                <a:cs typeface="Malgun Gothic"/>
              </a:rPr>
              <a:t>(탈수초, 서구 우세), </a:t>
            </a:r>
            <a:r>
              <a:rPr sz="1600" b="1" i="0">
                <a:solidFill>
                  <a:srgbClr val="2E3F4C"/>
                </a:solidFill>
                <a:latin typeface="Malgun Gothic"/>
                <a:ea typeface="Malgun Gothic"/>
                <a:cs typeface="Malgun Gothic"/>
              </a:rPr>
              <a:t>AMAN</a:t>
            </a:r>
            <a:r>
              <a:rPr sz="1600" b="0" i="0">
                <a:solidFill>
                  <a:srgbClr val="2E3F4C"/>
                </a:solidFill>
                <a:latin typeface="Malgun Gothic"/>
                <a:ea typeface="Malgun Gothic"/>
                <a:cs typeface="Malgun Gothic"/>
              </a:rPr>
              <a:t>(축삭 운동형 — 아시아·중남미 흔함, 캄필로박터·GM1 연관), AMSAN, </a:t>
            </a:r>
            <a:r>
              <a:rPr sz="1600" b="1" i="0">
                <a:solidFill>
                  <a:srgbClr val="2E3F4C"/>
                </a:solidFill>
                <a:latin typeface="Malgun Gothic"/>
                <a:ea typeface="Malgun Gothic"/>
                <a:cs typeface="Malgun Gothic"/>
              </a:rPr>
              <a:t>밀러-피셔 증후군</a:t>
            </a:r>
            <a:r>
              <a:rPr sz="1600" b="0" i="0">
                <a:solidFill>
                  <a:srgbClr val="2E3F4C"/>
                </a:solidFill>
                <a:latin typeface="Malgun Gothic"/>
                <a:ea typeface="Malgun Gothic"/>
                <a:cs typeface="Malgun Gothic"/>
              </a:rPr>
              <a:t>(안근마비·운동실조·반사 소실 — </a:t>
            </a:r>
            <a:r>
              <a:rPr sz="1600" b="1" i="0">
                <a:solidFill>
                  <a:srgbClr val="2E3F4C"/>
                </a:solidFill>
                <a:latin typeface="Malgun Gothic"/>
                <a:ea typeface="Malgun Gothic"/>
                <a:cs typeface="Malgun Gothic"/>
              </a:rPr>
              <a:t>항GQ1b</a:t>
            </a:r>
            <a:r>
              <a:rPr sz="1600" b="0" i="0">
                <a:solidFill>
                  <a:srgbClr val="2E3F4C"/>
                </a:solidFill>
                <a:latin typeface="Malgun Gothic"/>
                <a:ea typeface="Malgun Gothic"/>
                <a:cs typeface="Malgun Gothic"/>
              </a:rPr>
              <a:t>; 비커스태프 뇌간 뇌염과 연속체), 인두-경부-상완형.</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임상: 상행성 대칭 이완성 마비, </a:t>
            </a:r>
            <a:r>
              <a:rPr sz="1600" b="1" i="0">
                <a:solidFill>
                  <a:srgbClr val="2E3F4C"/>
                </a:solidFill>
                <a:latin typeface="Malgun Gothic"/>
                <a:ea typeface="Malgun Gothic"/>
                <a:cs typeface="Malgun Gothic"/>
              </a:rPr>
              <a:t>반사 소실</a:t>
            </a:r>
            <a:r>
              <a:rPr sz="1600" b="0" i="0">
                <a:solidFill>
                  <a:srgbClr val="2E3F4C"/>
                </a:solidFill>
                <a:latin typeface="Malgun Gothic"/>
                <a:ea typeface="Malgun Gothic"/>
                <a:cs typeface="Malgun Gothic"/>
              </a:rPr>
              <a:t>, 감각 이상, 통증(흔함), 자율신경 불안정(부정맥·혈압 변동 — 사망 원인), 호흡부전(20–30%).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길랭-바레 증후군과 CIDP (2/3)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B08-L05  ·  중증 근무력증과 말초 신경 자가면역</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검사: CSF </a:t>
            </a:r>
            <a:r>
              <a:rPr sz="1800" b="1" i="0">
                <a:solidFill>
                  <a:srgbClr val="2E3F4C"/>
                </a:solidFill>
                <a:latin typeface="Malgun Gothic"/>
                <a:ea typeface="Malgun Gothic"/>
                <a:cs typeface="Malgun Gothic"/>
              </a:rPr>
              <a:t>알부민세포해리</a:t>
            </a:r>
            <a:r>
              <a:rPr sz="1800" b="0" i="0">
                <a:solidFill>
                  <a:srgbClr val="2E3F4C"/>
                </a:solidFill>
                <a:latin typeface="Malgun Gothic"/>
                <a:ea typeface="Malgun Gothic"/>
                <a:cs typeface="Malgun Gothic"/>
              </a:rPr>
              <a:t>(1주 이후), 전기생리(F파 소실·전도 차단), 항강글리오사이드 항체(MFS에서 유용).</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치료: </a:t>
            </a:r>
            <a:r>
              <a:rPr sz="1800" b="1" i="0">
                <a:solidFill>
                  <a:srgbClr val="2E3F4C"/>
                </a:solidFill>
                <a:latin typeface="Malgun Gothic"/>
                <a:ea typeface="Malgun Gothic"/>
                <a:cs typeface="Malgun Gothic"/>
              </a:rPr>
              <a:t>IVIG 또는 혈장교환</a:t>
            </a:r>
            <a:r>
              <a:rPr sz="1800" b="0" i="0">
                <a:solidFill>
                  <a:srgbClr val="2E3F4C"/>
                </a:solidFill>
                <a:latin typeface="Malgun Gothic"/>
                <a:ea typeface="Malgun Gothic"/>
                <a:cs typeface="Malgun Gothic"/>
              </a:rPr>
              <a:t>(동등, 병용 이득 없음), 지지 치료(호흡·자율·통증·혈전 예방·재활). </a:t>
            </a:r>
            <a:r>
              <a:rPr sz="1800" b="1" i="0">
                <a:solidFill>
                  <a:srgbClr val="2E3F4C"/>
                </a:solidFill>
                <a:latin typeface="Malgun Gothic"/>
                <a:ea typeface="Malgun Gothic"/>
                <a:cs typeface="Malgun Gothic"/>
              </a:rPr>
              <a:t>스테로이드는 효과 없음</a:t>
            </a:r>
            <a:r>
              <a:rPr sz="1800" b="0" i="0">
                <a:solidFill>
                  <a:srgbClr val="2E3F4C"/>
                </a:solidFill>
                <a:latin typeface="Malgun Gothic"/>
                <a:ea typeface="Malgun Gothic"/>
                <a:cs typeface="Malgun Gothic"/>
              </a:rPr>
              <a:t>(GBS에서 단독 무효).</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예후: 대부분 회복하나 약 20%가 보행 장애 잔존, 사망 3–5%; 에라시주맙(C5) 등 보체 억제 시험 진행.</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CIDP</a:t>
            </a:r>
            <a:r>
              <a:rPr sz="2000" b="0" i="0">
                <a:solidFill>
                  <a:srgbClr val="11202B"/>
                </a:solidFill>
                <a:latin typeface="Malgun Gothic"/>
                <a:ea typeface="Malgun Gothic"/>
                <a:cs typeface="Malgun Gothic"/>
              </a:rPr>
              <a:t>: 8주 이상 진행·재발하는 대칭 근위·원위 근력저하와 감각 소실, 반사 소실 — 전기생리에서 다초점 탈수초(전도 차단·시간 분산), CSF 단백 상승.</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길랭-바레 증후군과 CIDP (3/3)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B08-L05  ·  중증 근무력증과 말초 신경 자가면역</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1800" b="0" i="0">
                <a:solidFill>
                  <a:srgbClr val="66788A"/>
                </a:solidFill>
                <a:latin typeface="Malgun Gothic"/>
                <a:ea typeface="Malgun Gothic"/>
                <a:cs typeface="Malgun Gothic"/>
              </a:rPr>
              <a:t>    – </a:t>
            </a:r>
            <a:r>
              <a:rPr sz="1800" b="1" i="0">
                <a:solidFill>
                  <a:srgbClr val="2E3F4C"/>
                </a:solidFill>
                <a:latin typeface="Malgun Gothic"/>
                <a:ea typeface="Malgun Gothic"/>
                <a:cs typeface="Malgun Gothic"/>
              </a:rPr>
              <a:t>스테로이드·IVIG·혈장교환 모두 효과</a:t>
            </a:r>
            <a:r>
              <a:rPr sz="1800" b="0" i="0">
                <a:solidFill>
                  <a:srgbClr val="2E3F4C"/>
                </a:solidFill>
                <a:latin typeface="Malgun Gothic"/>
                <a:ea typeface="Malgun Gothic"/>
                <a:cs typeface="Malgun Gothic"/>
              </a:rPr>
              <a:t>(GBS와 달리 스테로이드 유효) → 유지 치료; 불응 시 리툭시맙·사이클로포스파마이드, 최근 </a:t>
            </a:r>
            <a:r>
              <a:rPr sz="1800" b="1" i="0">
                <a:solidFill>
                  <a:srgbClr val="2E3F4C"/>
                </a:solidFill>
                <a:latin typeface="Malgun Gothic"/>
                <a:ea typeface="Malgun Gothic"/>
                <a:cs typeface="Malgun Gothic"/>
              </a:rPr>
              <a:t>FcRn 억제제(에프가티지모드 — ADHERE 시험)</a:t>
            </a:r>
            <a:r>
              <a:rPr sz="1800" b="0" i="0">
                <a:solidFill>
                  <a:srgbClr val="2E3F4C"/>
                </a:solidFill>
                <a:latin typeface="Malgun Gothic"/>
                <a:ea typeface="Malgun Gothic"/>
                <a:cs typeface="Malgun Gothic"/>
              </a:rPr>
              <a:t> 승인.</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아형: 전형적 CIDP, 원위형(DADS — 항MAG 감별), 다초점형(루이스-섬너), 순수 운동·감각형.</a:t>
            </a:r>
          </a:p>
          <a:p>
            <a:pPr lvl="1">
              <a:spcAft>
                <a:spcPts val="400"/>
              </a:spcAft>
            </a:pPr>
            <a:r>
              <a:rPr sz="1800" b="0" i="0">
                <a:solidFill>
                  <a:srgbClr val="66788A"/>
                </a:solidFill>
                <a:latin typeface="Malgun Gothic"/>
                <a:ea typeface="Malgun Gothic"/>
                <a:cs typeface="Malgun Gothic"/>
              </a:rPr>
              <a:t>    – </a:t>
            </a:r>
            <a:r>
              <a:rPr sz="1800" b="1" i="0">
                <a:solidFill>
                  <a:srgbClr val="2E3F4C"/>
                </a:solidFill>
                <a:latin typeface="Malgun Gothic"/>
                <a:ea typeface="Malgun Gothic"/>
                <a:cs typeface="Malgun Gothic"/>
              </a:rPr>
              <a:t>과잉 진단 문제</a:t>
            </a:r>
            <a:r>
              <a:rPr sz="1800" b="0" i="0">
                <a:solidFill>
                  <a:srgbClr val="2E3F4C"/>
                </a:solidFill>
                <a:latin typeface="Malgun Gothic"/>
                <a:ea typeface="Malgun Gothic"/>
                <a:cs typeface="Malgun Gothic"/>
              </a:rPr>
              <a:t>: 전기생리 기준 미충족·치료 반응 없는 '추정 CIDP'가 많아 엄격한 기준(EAN/PNS 2021) 적용 필요.</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기타 말초 자가면역</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B08-L05  ·  중증 근무력증과 말초 신경 자가면역</a:t>
            </a:r>
            <a:r>
              <a:rPr sz="10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3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300" b="1" i="0">
                          <a:solidFill>
                            <a:srgbClr val="FFFFFF"/>
                          </a:solidFill>
                          <a:latin typeface="Malgun Gothic"/>
                          <a:ea typeface="Malgun Gothic"/>
                          <a:cs typeface="Malgun Gothic"/>
                        </a:rPr>
                        <a:t>항체·기전</a:t>
                      </a:r>
                    </a:p>
                  </a:txBody>
                  <a:tcPr marL="73152" marR="73152">
                    <a:solidFill>
                      <a:srgbClr val="003C71"/>
                    </a:solidFill>
                  </a:tcPr>
                </a:tc>
                <a:tc>
                  <a:txBody>
                    <a:bodyPr/>
                    <a:lstStyle/>
                    <a:p>
                      <a:r>
                        <a:rPr sz="1300" b="1" i="0">
                          <a:solidFill>
                            <a:srgbClr val="FFFFFF"/>
                          </a:solidFill>
                          <a:latin typeface="Malgun Gothic"/>
                          <a:ea typeface="Malgun Gothic"/>
                          <a:cs typeface="Malgun Gothic"/>
                        </a:rPr>
                        <a:t>특징</a:t>
                      </a:r>
                    </a:p>
                  </a:txBody>
                  <a:tcPr marL="73152" marR="73152">
                    <a:solidFill>
                      <a:srgbClr val="003C71"/>
                    </a:solidFill>
                  </a:tcPr>
                </a:tc>
              </a:tr>
              <a:tr h="365760">
                <a:tc>
                  <a:txBody>
                    <a:bodyPr/>
                    <a:lstStyle/>
                    <a:p>
                      <a:r>
                        <a:rPr sz="1300" b="1" i="0">
                          <a:solidFill>
                            <a:srgbClr val="11202B"/>
                          </a:solidFill>
                          <a:latin typeface="Malgun Gothic"/>
                          <a:ea typeface="Malgun Gothic"/>
                          <a:cs typeface="Malgun Gothic"/>
                        </a:rPr>
                        <a:t>다초점 운동신경병증(MMN)</a:t>
                      </a:r>
                    </a:p>
                  </a:txBody>
                  <a:tcPr marL="73152" marR="73152">
                    <a:solidFill>
                      <a:srgbClr val="FFFFFF"/>
                    </a:solidFill>
                  </a:tcPr>
                </a:tc>
                <a:tc>
                  <a:txBody>
                    <a:bodyPr/>
                    <a:lstStyle/>
                    <a:p>
                      <a:r>
                        <a:rPr sz="1300" b="0" i="0">
                          <a:solidFill>
                            <a:srgbClr val="11202B"/>
                          </a:solidFill>
                          <a:latin typeface="Malgun Gothic"/>
                          <a:ea typeface="Malgun Gothic"/>
                          <a:cs typeface="Malgun Gothic"/>
                        </a:rPr>
                        <a:t>항GM1 IgM, 전도 차단</a:t>
                      </a:r>
                    </a:p>
                  </a:txBody>
                  <a:tcPr marL="73152" marR="73152">
                    <a:solidFill>
                      <a:srgbClr val="FFFFFF"/>
                    </a:solidFill>
                  </a:tcPr>
                </a:tc>
                <a:tc>
                  <a:txBody>
                    <a:bodyPr/>
                    <a:lstStyle/>
                    <a:p>
                      <a:r>
                        <a:rPr sz="1300" b="0" i="0">
                          <a:solidFill>
                            <a:srgbClr val="11202B"/>
                          </a:solidFill>
                          <a:latin typeface="Malgun Gothic"/>
                          <a:ea typeface="Malgun Gothic"/>
                          <a:cs typeface="Malgun Gothic"/>
                        </a:rPr>
                        <a:t>비대칭 </a:t>
                      </a:r>
                      <a:r>
                        <a:rPr sz="1300" b="1" i="0">
                          <a:solidFill>
                            <a:srgbClr val="11202B"/>
                          </a:solidFill>
                          <a:latin typeface="Malgun Gothic"/>
                          <a:ea typeface="Malgun Gothic"/>
                          <a:cs typeface="Malgun Gothic"/>
                        </a:rPr>
                        <a:t>운동만</a:t>
                      </a:r>
                      <a:r>
                        <a:rPr sz="1300" b="0" i="0">
                          <a:solidFill>
                            <a:srgbClr val="11202B"/>
                          </a:solidFill>
                          <a:latin typeface="Malgun Gothic"/>
                          <a:ea typeface="Malgun Gothic"/>
                          <a:cs typeface="Malgun Gothic"/>
                        </a:rPr>
                        <a:t>(감각 정상), 상지 원위 우세, 서서히 진행 — </a:t>
                      </a:r>
                      <a:r>
                        <a:rPr sz="1300" b="1" i="0">
                          <a:solidFill>
                            <a:srgbClr val="11202B"/>
                          </a:solidFill>
                          <a:latin typeface="Malgun Gothic"/>
                          <a:ea typeface="Malgun Gothic"/>
                          <a:cs typeface="Malgun Gothic"/>
                        </a:rPr>
                        <a:t>IVIG에 반응, 스테로이드·혈장교환은 무효·악화</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항MAG 신경병증</a:t>
                      </a:r>
                    </a:p>
                  </a:txBody>
                  <a:tcPr marL="73152" marR="73152">
                    <a:solidFill>
                      <a:srgbClr val="ECF1F5"/>
                    </a:solidFill>
                  </a:tcPr>
                </a:tc>
                <a:tc>
                  <a:txBody>
                    <a:bodyPr/>
                    <a:lstStyle/>
                    <a:p>
                      <a:r>
                        <a:rPr sz="1300" b="0" i="0">
                          <a:solidFill>
                            <a:srgbClr val="11202B"/>
                          </a:solidFill>
                          <a:latin typeface="Malgun Gothic"/>
                          <a:ea typeface="Malgun Gothic"/>
                          <a:cs typeface="Malgun Gothic"/>
                        </a:rPr>
                        <a:t>IgM 단클론 감마병증, 항MAG 항체</a:t>
                      </a:r>
                    </a:p>
                  </a:txBody>
                  <a:tcPr marL="73152" marR="73152">
                    <a:solidFill>
                      <a:srgbClr val="ECF1F5"/>
                    </a:solidFill>
                  </a:tcPr>
                </a:tc>
                <a:tc>
                  <a:txBody>
                    <a:bodyPr/>
                    <a:lstStyle/>
                    <a:p>
                      <a:r>
                        <a:rPr sz="1300" b="0" i="0">
                          <a:solidFill>
                            <a:srgbClr val="11202B"/>
                          </a:solidFill>
                          <a:latin typeface="Malgun Gothic"/>
                          <a:ea typeface="Malgun Gothic"/>
                          <a:cs typeface="Malgun Gothic"/>
                        </a:rPr>
                        <a:t>원위·대칭·감각 우세, 보행 실조·진전, 매우 느린 진행 → 리툭시맙(부분)</a:t>
                      </a:r>
                    </a:p>
                  </a:txBody>
                  <a:tcPr marL="73152" marR="73152">
                    <a:solidFill>
                      <a:srgbClr val="ECF1F5"/>
                    </a:solidFill>
                  </a:tcPr>
                </a:tc>
              </a:tr>
              <a:tr h="365760">
                <a:tc>
                  <a:txBody>
                    <a:bodyPr/>
                    <a:lstStyle/>
                    <a:p>
                      <a:r>
                        <a:rPr sz="1300" b="1" i="0">
                          <a:solidFill>
                            <a:srgbClr val="11202B"/>
                          </a:solidFill>
                          <a:latin typeface="Malgun Gothic"/>
                          <a:ea typeface="Malgun Gothic"/>
                          <a:cs typeface="Malgun Gothic"/>
                        </a:rPr>
                        <a:t>결절병증(nodopathy)</a:t>
                      </a:r>
                    </a:p>
                  </a:txBody>
                  <a:tcPr marL="73152" marR="73152">
                    <a:solidFill>
                      <a:srgbClr val="FFFFFF"/>
                    </a:solidFill>
                  </a:tcPr>
                </a:tc>
                <a:tc>
                  <a:txBody>
                    <a:bodyPr/>
                    <a:lstStyle/>
                    <a:p>
                      <a:r>
                        <a:rPr sz="1300" b="0" i="0">
                          <a:solidFill>
                            <a:srgbClr val="11202B"/>
                          </a:solidFill>
                          <a:latin typeface="Malgun Gothic"/>
                          <a:ea typeface="Malgun Gothic"/>
                          <a:cs typeface="Malgun Gothic"/>
                        </a:rPr>
                        <a:t>항</a:t>
                      </a:r>
                      <a:r>
                        <a:rPr sz="1300" b="1" i="0">
                          <a:solidFill>
                            <a:srgbClr val="11202B"/>
                          </a:solidFill>
                          <a:latin typeface="Malgun Gothic"/>
                          <a:ea typeface="Malgun Gothic"/>
                          <a:cs typeface="Malgun Gothic"/>
                        </a:rPr>
                        <a:t>neurofascin-155</a:t>
                      </a:r>
                      <a:r>
                        <a:rPr sz="1300" b="0" i="0">
                          <a:solidFill>
                            <a:srgbClr val="11202B"/>
                          </a:solidFill>
                          <a:latin typeface="Malgun Gothic"/>
                          <a:ea typeface="Malgun Gothic"/>
                          <a:cs typeface="Malgun Gothic"/>
                        </a:rPr>
                        <a:t>(IgG4 — 젊은, 진전·실조, IVIG 저반응), 항</a:t>
                      </a:r>
                      <a:r>
                        <a:rPr sz="1300" b="1" i="0">
                          <a:solidFill>
                            <a:srgbClr val="11202B"/>
                          </a:solidFill>
                          <a:latin typeface="Malgun Gothic"/>
                          <a:ea typeface="Malgun Gothic"/>
                          <a:cs typeface="Malgun Gothic"/>
                        </a:rPr>
                        <a:t>contactin-1</a:t>
                      </a:r>
                      <a:r>
                        <a:rPr sz="1300" b="0" i="0">
                          <a:solidFill>
                            <a:srgbClr val="11202B"/>
                          </a:solidFill>
                          <a:latin typeface="Malgun Gothic"/>
                          <a:ea typeface="Malgun Gothic"/>
                          <a:cs typeface="Malgun Gothic"/>
                        </a:rPr>
                        <a:t>, 항CASPR1</a:t>
                      </a:r>
                    </a:p>
                  </a:txBody>
                  <a:tcPr marL="73152" marR="73152">
                    <a:solidFill>
                      <a:srgbClr val="FFFFFF"/>
                    </a:solidFill>
                  </a:tcPr>
                </a:tc>
                <a:tc>
                  <a:txBody>
                    <a:bodyPr/>
                    <a:lstStyle/>
                    <a:p>
                      <a:r>
                        <a:rPr sz="1300" b="0" i="0">
                          <a:solidFill>
                            <a:srgbClr val="11202B"/>
                          </a:solidFill>
                          <a:latin typeface="Malgun Gothic"/>
                          <a:ea typeface="Malgun Gothic"/>
                          <a:cs typeface="Malgun Gothic"/>
                        </a:rPr>
                        <a:t>CIDP 유사이나 </a:t>
                      </a:r>
                      <a:r>
                        <a:rPr sz="1300" b="1" i="0">
                          <a:solidFill>
                            <a:srgbClr val="11202B"/>
                          </a:solidFill>
                          <a:latin typeface="Malgun Gothic"/>
                          <a:ea typeface="Malgun Gothic"/>
                          <a:cs typeface="Malgun Gothic"/>
                        </a:rPr>
                        <a:t>리툭시맙 반응 좋음</a:t>
                      </a:r>
                      <a:r>
                        <a:rPr sz="1300" b="0" i="0">
                          <a:solidFill>
                            <a:srgbClr val="11202B"/>
                          </a:solidFill>
                          <a:latin typeface="Malgun Gothic"/>
                          <a:ea typeface="Malgun Gothic"/>
                          <a:cs typeface="Malgun Gothic"/>
                        </a:rPr>
                        <a:t> → 항체 검사의 임상적 가치</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POEMS 증후군</a:t>
                      </a:r>
                    </a:p>
                  </a:txBody>
                  <a:tcPr marL="73152" marR="73152">
                    <a:solidFill>
                      <a:srgbClr val="ECF1F5"/>
                    </a:solidFill>
                  </a:tcPr>
                </a:tc>
                <a:tc>
                  <a:txBody>
                    <a:bodyPr/>
                    <a:lstStyle/>
                    <a:p>
                      <a:r>
                        <a:rPr sz="1300" b="0" i="0">
                          <a:solidFill>
                            <a:srgbClr val="11202B"/>
                          </a:solidFill>
                          <a:latin typeface="Malgun Gothic"/>
                          <a:ea typeface="Malgun Gothic"/>
                          <a:cs typeface="Malgun Gothic"/>
                        </a:rPr>
                        <a:t>형질세포 질환, </a:t>
                      </a:r>
                      <a:r>
                        <a:rPr sz="1300" b="1" i="0">
                          <a:solidFill>
                            <a:srgbClr val="11202B"/>
                          </a:solidFill>
                          <a:latin typeface="Malgun Gothic"/>
                          <a:ea typeface="Malgun Gothic"/>
                          <a:cs typeface="Malgun Gothic"/>
                        </a:rPr>
                        <a:t>VEGF 상승</a:t>
                      </a:r>
                    </a:p>
                  </a:txBody>
                  <a:tcPr marL="73152" marR="73152">
                    <a:solidFill>
                      <a:srgbClr val="ECF1F5"/>
                    </a:solidFill>
                  </a:tcPr>
                </a:tc>
                <a:tc>
                  <a:txBody>
                    <a:bodyPr/>
                    <a:lstStyle/>
                    <a:p>
                      <a:r>
                        <a:rPr sz="1300" b="0" i="0">
                          <a:solidFill>
                            <a:srgbClr val="11202B"/>
                          </a:solidFill>
                          <a:latin typeface="Malgun Gothic"/>
                          <a:ea typeface="Malgun Gothic"/>
                          <a:cs typeface="Malgun Gothic"/>
                        </a:rPr>
                        <a:t>다발신경병증·장기비대·내분비병증·M단백·피부 변화</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혈관염성 신경병증</a:t>
                      </a:r>
                    </a:p>
                  </a:txBody>
                  <a:tcPr marL="73152" marR="73152">
                    <a:solidFill>
                      <a:srgbClr val="FFFFFF"/>
                    </a:solidFill>
                  </a:tcPr>
                </a:tc>
                <a:tc>
                  <a:txBody>
                    <a:bodyPr/>
                    <a:lstStyle/>
                    <a:p>
                      <a:r>
                        <a:rPr sz="1300" b="0" i="0">
                          <a:solidFill>
                            <a:srgbClr val="11202B"/>
                          </a:solidFill>
                          <a:latin typeface="Malgun Gothic"/>
                          <a:ea typeface="Malgun Gothic"/>
                          <a:cs typeface="Malgun Gothic"/>
                        </a:rPr>
                        <a:t>괴사성 혈관염(결절성 다발동맥염, ANCA, 류마티스)</a:t>
                      </a:r>
                    </a:p>
                  </a:txBody>
                  <a:tcPr marL="73152" marR="73152">
                    <a:solidFill>
                      <a:srgbClr val="FFFFFF"/>
                    </a:solidFill>
                  </a:tcPr>
                </a:tc>
                <a:tc>
                  <a:txBody>
                    <a:bodyPr/>
                    <a:lstStyle/>
                    <a:p>
                      <a:r>
                        <a:rPr sz="1300" b="1" i="0">
                          <a:solidFill>
                            <a:srgbClr val="11202B"/>
                          </a:solidFill>
                          <a:latin typeface="Malgun Gothic"/>
                          <a:ea typeface="Malgun Gothic"/>
                          <a:cs typeface="Malgun Gothic"/>
                        </a:rPr>
                        <a:t>다발단신경염</a:t>
                      </a:r>
                      <a:r>
                        <a:rPr sz="1300" b="0" i="0">
                          <a:solidFill>
                            <a:srgbClr val="11202B"/>
                          </a:solidFill>
                          <a:latin typeface="Malgun Gothic"/>
                          <a:ea typeface="Malgun Gothic"/>
                          <a:cs typeface="Malgun Gothic"/>
                        </a:rPr>
                        <a:t>, 통증, 급성; 신경·근육 생검 → 스테로이드 + 사이클로포스파마이드/리툭시맙</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자가면역 자율신경절병증</a:t>
                      </a:r>
                    </a:p>
                  </a:txBody>
                  <a:tcPr marL="73152" marR="73152">
                    <a:solidFill>
                      <a:srgbClr val="ECF1F5"/>
                    </a:solidFill>
                  </a:tcPr>
                </a:tc>
                <a:tc>
                  <a:txBody>
                    <a:bodyPr/>
                    <a:lstStyle/>
                    <a:p>
                      <a:r>
                        <a:rPr sz="1300" b="0" i="0">
                          <a:solidFill>
                            <a:srgbClr val="11202B"/>
                          </a:solidFill>
                          <a:latin typeface="Malgun Gothic"/>
                          <a:ea typeface="Malgun Gothic"/>
                          <a:cs typeface="Malgun Gothic"/>
                        </a:rPr>
                        <a:t>항신경절 AChR(α3)</a:t>
                      </a:r>
                    </a:p>
                  </a:txBody>
                  <a:tcPr marL="73152" marR="73152">
                    <a:solidFill>
                      <a:srgbClr val="ECF1F5"/>
                    </a:solidFill>
                  </a:tcPr>
                </a:tc>
                <a:tc>
                  <a:txBody>
                    <a:bodyPr/>
                    <a:lstStyle/>
                    <a:p>
                      <a:r>
                        <a:rPr sz="1300" b="0" i="0">
                          <a:solidFill>
                            <a:srgbClr val="11202B"/>
                          </a:solidFill>
                          <a:latin typeface="Malgun Gothic"/>
                          <a:ea typeface="Malgun Gothic"/>
                          <a:cs typeface="Malgun Gothic"/>
                        </a:rPr>
                        <a:t>기립성 저혈압·무한증·동공·위장관 → IVIG</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면역관문억제제 관련</a:t>
                      </a:r>
                    </a:p>
                  </a:txBody>
                  <a:tcPr marL="73152" marR="73152">
                    <a:solidFill>
                      <a:srgbClr val="FFFFFF"/>
                    </a:solidFill>
                  </a:tcPr>
                </a:tc>
                <a:tc>
                  <a:txBody>
                    <a:bodyPr/>
                    <a:lstStyle/>
                    <a:p>
                      <a:r>
                        <a:rPr sz="1300" b="0" i="0">
                          <a:solidFill>
                            <a:srgbClr val="11202B"/>
                          </a:solidFill>
                          <a:latin typeface="Malgun Gothic"/>
                          <a:ea typeface="Malgun Gothic"/>
                          <a:cs typeface="Malgun Gothic"/>
                        </a:rPr>
                        <a:t>근염·근무력증·신경병증(중복 가능, 심근염 동반 시 치명적)</a:t>
                      </a:r>
                    </a:p>
                  </a:txBody>
                  <a:tcPr marL="73152" marR="73152">
                    <a:solidFill>
                      <a:srgbClr val="FFFFFF"/>
                    </a:solidFill>
                  </a:tcPr>
                </a:tc>
                <a:tc>
                  <a:txBody>
                    <a:bodyPr/>
                    <a:lstStyle/>
                    <a:p>
                      <a:r>
                        <a:rPr sz="1300" b="0" i="0">
                          <a:solidFill>
                            <a:srgbClr val="11202B"/>
                          </a:solidFill>
                          <a:latin typeface="Malgun Gothic"/>
                          <a:ea typeface="Malgun Gothic"/>
                          <a:cs typeface="Malgun Gothic"/>
                        </a:rPr>
                        <a:t>조기 스테로이드·IVIG</a:t>
                      </a:r>
                    </a:p>
                  </a:txBody>
                  <a:tcPr marL="73152" marR="73152">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B08-L05  ·  중증 근무력증과 말초 신경 자가면역</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FcRn 억제제가 MG·CIDP·면역성 혈소판감소증 등 IgG 매개 질환 전반으로 확장되며 '병원성 항체 제거'라는 공통 전략이 자리 잡았다.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자가항체 특이 </a:t>
            </a:r>
            <a:r>
              <a:rPr sz="2000" b="1" i="0">
                <a:solidFill>
                  <a:srgbClr val="11202B"/>
                </a:solidFill>
                <a:latin typeface="Malgun Gothic"/>
                <a:ea typeface="Malgun Gothic"/>
                <a:cs typeface="Malgun Gothic"/>
              </a:rPr>
              <a:t>CAAR-T</a:t>
            </a:r>
            <a:r>
              <a:rPr sz="2000" b="0" i="0">
                <a:solidFill>
                  <a:srgbClr val="11202B"/>
                </a:solidFill>
                <a:latin typeface="Malgun Gothic"/>
                <a:ea typeface="Malgun Gothic"/>
                <a:cs typeface="Malgun Gothic"/>
              </a:rPr>
              <a:t>(키메라 자가항체 수용체 T세포, MuSK-CAAR-T 1상)와 CD19 CAR-T가 난치성 항체 매개 신경질환에서 '면역 리셋'을 시도하고 있다.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항결절 항체(IgG4) 발견처럼, 세분화된 항체 진단이 치료 선택을 바꾸는 사례가 말초 신경 자가면역에서 계속 늘고 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B08-L05  ·  중증 근무력증과 말초 신경 자가면역</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신경근 접합부의 안전 계수가 줄면 반복 자극 시 전달 실패가 생겨 피로성 근력저하가 나타난다.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MG는 AChR(보체 매개)·MuSK(IgG4, 연수형·리툭시맙 반응)·LRP4 아형으로 나뉘며 흉선 평가가 필수이다.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MG 치료는 피리도스티그민, 면역억제제, IVIG·혈장교환, 보체·FcRn 표적 약물, 흉선절제로 단계화된다.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GBS는 분자 모방에 의한 급성 면역 신경병증으로 IVIG·혈장교환이 치료이고 스테로이드는 무효이며, CIDP는 스테로이드도 효과가 있다.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MMN(IVIG만 효과), 항MAG, 항결절 항체 질환, 혈관염성 신경병증은 감별과 치료가 다르다.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B08-L05  ·  중증 근무력증과 말초 신경 자가면역</a:t>
            </a:r>
            <a:r>
              <a:rPr sz="1000" b="1" i="0">
                <a:solidFill>
                  <a:srgbClr val="003C71"/>
                </a:solidFill>
                <a:latin typeface="Malgun Gothic"/>
                <a:ea typeface="Malgun Gothic"/>
                <a:cs typeface="Malgun Gothic"/>
              </a:rPr>
              <a:t>     16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MuSK 항체 양성 중증 근무력증에서 피리도스티그민이 잘 듣지 않고 오히려 악화되기도 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MuSK 항체는 IgG4로 보체를 활성화하지 않고 MuSK–LRP4 상호작용을 차단해 AChR 군집 유지와 접합부 구조를 망가뜨린다. 따라서 단순히 ACh 농도를 높여도 효과가 적고, 접합부 과민으로 콜린성 부작용(근육다발수축·경련)이 쉽게 생긴다. 이 아형은 리툭시맙 반응이 특히 좋다.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B08-L05  ·  중증 근무력증과 말초 신경 자가면역</a:t>
            </a:r>
            <a:r>
              <a:rPr sz="1000" b="1" i="0">
                <a:solidFill>
                  <a:srgbClr val="003C71"/>
                </a:solidFill>
                <a:latin typeface="Malgun Gothic"/>
                <a:ea typeface="Malgun Gothic"/>
                <a:cs typeface="Malgun Gothic"/>
              </a:rPr>
              <a:t>     17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길랭-바레 증후군에 스테로이드를 쓰지 않는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무작위 대조 시험에서 경구·정주 스테로이드 단독은 회복을 개선하지 않았고 일부에서는 오히려 회복이 지연되었다. GBS의 손상은 항체·보체 매개의 급성 과정이어서 IVIG나 혈장교환으로 병원성 항체를 제거·중화하는 것이 효과적이다. 반면 만성 경과인 CIDP에서는 스테로이드가 효과적이다.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B08-L05  ·  중증 근무력증과 말초 신경 자가면역</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비대칭 상지 원위 근력저하와 전도 차단이 있으나 감각은 정상인 환자에게 스테로이드를 쓰면 안 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다초점 운동신경병증(MMN)이 의심되는데, 이 질환은 IVIG에만 반응하고 스테로이드나 혈장교환으로는 호전되지 않으며 오히려 악화 보고가 있다. ALS와도 감별해야 하므로 전도 차단 확인과 항GM1 IgM 검사, IVIG 반응 평가가 중요하다.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B08-L05  ·  중증 근무력증과 말초 신경 자가면역</a:t>
            </a:r>
            <a:r>
              <a:rPr sz="10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중증 근무력증 환자에게 피해야 할 약물을 세 가지 들고 이유를 설명하라.</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아미노글리코사이드·플루오로퀴놀론·마크로라이드계 항생제(신경근 전달 억제), 마그네슘 제제(전시냅스 Ca²⁺ 유입 차단 — 자간전증 치료 시 특히 위험), β차단제와 페니실라민(후자는 MG를 유발할 수 있음)이 대표적이다. 면역관문억제제도 중증 근무력증·근염·심근염을 유발할 수 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B08-L05  ·  중증 근무력증과 말초 신경 자가면역</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Gilhus NE et al. Myasthenia gravis. Nat Rev Dis Primers 2019;5:30.</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Wolfe GI et al. Randomized trial of thymectomy in myasthenia gravis (MGTX). N Engl J Med 2016;375:511–522.</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Leonhard SE et al. Diagnosis and management of Guillain-Barré syndrome in ten steps. Nat Rev Neurol 2019;15:671–683.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B08-L05  ·  중증 근무력증과 말초 신경 자가면역</a:t>
            </a:r>
            <a:r>
              <a:rPr sz="10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Van den Bergh PYK et al. EAN/PNS guideline on diagnosis and treatment of chronic inflammatory demyelinating polyradiculoneuropathy: 2021 revision. J Peripher Nerv Syst 2021;26:242–268.</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Howard JF et al. Safety and efficacy of efgartigimod in generalised myasthenia gravis (ADAPT). Lancet Neurol 2021;20:526–536.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