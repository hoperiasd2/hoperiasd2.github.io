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1,000만 명 이상의 미군 현역 코호트 종단 연구에서 EBV 혈청 음성자가 감염 후 MS 위험이 32배 증가했고, 혈청 전환이 MS 발병과 혈청 NfL 상승에 선행했으며, 다른 바이러스(CMV 등)에서는 같은 연관이 없었다. EBV 음성인 사람에서 MS는 거의 발생하지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B세포를 고갈시키면 수 주 내 재발과 새 병변이 급감하는데, 이 시점에는 항체 농도가 거의 변하지 않는다. 따라서 B세포의 역할이 항체 생산보다 항원 제시, T세포 활성화, 사이토카인(GM-CSF·IL-6) 분비에 있다는 것이 드러났고, MS를 'T세포 질환'에서 'B·T세포 상호작용 질환'으로 재구성하게 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S1P 조절제는 림프구를 림프절에 가두는데, 중단하면 갇혀 있던 자가반응 림프구가 한꺼번에 순환으로 방출되어 심한 반동 재발과 때로는 기저 상태보다 악화된 질환 활성(종양성 병변)이 생길 수 있다. 중단·전환 시에는 계획된 전략과 모니터링이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대부분의 약물은 말초 면역세포의 중추 유입을 막는 데 작용하지만, 진행형 장애는 혈액뇌장벽 뒤쪽에 갇힌 중추 구획의 만성 염증(만성 활성 병변의 미세아교세포, 수막 림프 소포)과 축삭 미토콘드리아 기능 장애, 재수초화 실패, 신경 예비력 소진으로 진행하기 때문이다. 그래서 중추 침투성 BTK 억제제나 신경보호·재수초화 전략이 연구된다.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B08 신경면역학과 신경퇴행질환  ·  탈수초 질환</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다발성 경화증: 면역 기전과 치료</a:t>
            </a:r>
          </a:p>
          <a:p>
            <a:r>
              <a:rPr sz="2000" b="0" i="0">
                <a:solidFill>
                  <a:srgbClr val="C2CDD6"/>
                </a:solidFill>
                <a:latin typeface="Malgun Gothic"/>
                <a:ea typeface="Malgun Gothic"/>
                <a:cs typeface="Malgun Gothic"/>
              </a:rPr>
              <a:t>Multiple Sclerosis: Immunopathogenesis and Therapy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B08-L03</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다발성 경화증(MS)의 역학·위험 인자(EBV, 비타민 D, 흡연, 비만, HLA)를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병태생리(말초 활성화, 유입, 탈수초, 축삭 손실, 만성 활성 병변)를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임상 경과 분류와 2017 맥도널드 진단 기준(시간·공간 파종)을 적용한다.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질환 조절 치료의 작용 기전과 선택 전략, 위험을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진행형 MS의 기전과 증상·재활 관리를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역학과 위험 인자</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병태생리</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임상과 진단</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질환 조절 치료</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진행형 MS와 증상 관리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역학과 위험 인자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젊은 성인(20–40세) 장애의 주요 원인, 여성 2–3배, 고위도에서 유병률 높음; 한국은 서구보다 낮으나(10만 명당 약 3–4) NMOSD 비율이 상대적으로 높다.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위험 인자:</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엡스타인-바 바이러스(EBV)</a:t>
            </a:r>
            <a:r>
              <a:rPr sz="1600" b="0" i="0">
                <a:solidFill>
                  <a:srgbClr val="2E3F4C"/>
                </a:solidFill>
                <a:latin typeface="Malgun Gothic"/>
                <a:ea typeface="Malgun Gothic"/>
                <a:cs typeface="Malgun Gothic"/>
              </a:rPr>
              <a:t>: 거의 모든 MS 환자가 감염 이력; 1,000만 명 군인 코호트에서 EBV 감염이 MS 위험을 </a:t>
            </a:r>
            <a:r>
              <a:rPr sz="1600" b="1" i="0">
                <a:solidFill>
                  <a:srgbClr val="2E3F4C"/>
                </a:solidFill>
                <a:latin typeface="Malgun Gothic"/>
                <a:ea typeface="Malgun Gothic"/>
                <a:cs typeface="Malgun Gothic"/>
              </a:rPr>
              <a:t>32배</a:t>
            </a:r>
            <a:r>
              <a:rPr sz="1600" b="0" i="0">
                <a:solidFill>
                  <a:srgbClr val="2E3F4C"/>
                </a:solidFill>
                <a:latin typeface="Malgun Gothic"/>
                <a:ea typeface="Malgun Gothic"/>
                <a:cs typeface="Malgun Gothic"/>
              </a:rPr>
              <a:t> 증가시키고 혈청 전환이 발병에 선행(Bjornevik et al., Science 2022) → </a:t>
            </a:r>
            <a:r>
              <a:rPr sz="1600" b="1" i="0">
                <a:solidFill>
                  <a:srgbClr val="2E3F4C"/>
                </a:solidFill>
                <a:latin typeface="Malgun Gothic"/>
                <a:ea typeface="Malgun Gothic"/>
                <a:cs typeface="Malgun Gothic"/>
              </a:rPr>
              <a:t>필요 조건에 가까운 인과 요인</a:t>
            </a:r>
            <a:r>
              <a:rPr sz="1600" b="0" i="0">
                <a:solidFill>
                  <a:srgbClr val="2E3F4C"/>
                </a:solidFill>
                <a:latin typeface="Malgun Gothic"/>
                <a:ea typeface="Malgun Gothic"/>
                <a:cs typeface="Malgun Gothic"/>
              </a:rPr>
              <a:t>; 기전 — EBNA1과 </a:t>
            </a:r>
            <a:r>
              <a:rPr sz="1600" b="1" i="0">
                <a:solidFill>
                  <a:srgbClr val="2E3F4C"/>
                </a:solidFill>
                <a:latin typeface="Malgun Gothic"/>
                <a:ea typeface="Malgun Gothic"/>
                <a:cs typeface="Malgun Gothic"/>
              </a:rPr>
              <a:t>GlialCAM</a:t>
            </a:r>
            <a:r>
              <a:rPr sz="1600" b="0" i="0">
                <a:solidFill>
                  <a:srgbClr val="2E3F4C"/>
                </a:solidFill>
                <a:latin typeface="Malgun Gothic"/>
                <a:ea typeface="Malgun Gothic"/>
                <a:cs typeface="Malgun Gothic"/>
              </a:rPr>
              <a:t>·아노크타민 등의 분자 모방, 감염 B세포의 면역 조절.</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유전</a:t>
            </a:r>
            <a:r>
              <a:rPr sz="1600" b="0" i="0">
                <a:solidFill>
                  <a:srgbClr val="2E3F4C"/>
                </a:solidFill>
                <a:latin typeface="Malgun Gothic"/>
                <a:ea typeface="Malgun Gothic"/>
                <a:cs typeface="Malgun Gothic"/>
              </a:rPr>
              <a:t>: HLA-DRB1*15:01(OR ~3), 230개 이상 비HLA 좌위(대부분 면역세포 유전자), 일란성 쌍생아 일치율 25–30%.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역학과 위험 인자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1" i="0">
                <a:solidFill>
                  <a:srgbClr val="2E3F4C"/>
                </a:solidFill>
                <a:latin typeface="Malgun Gothic"/>
                <a:ea typeface="Malgun Gothic"/>
                <a:cs typeface="Malgun Gothic"/>
              </a:rPr>
              <a:t>환경</a:t>
            </a:r>
            <a:r>
              <a:rPr sz="2000" b="0" i="0">
                <a:solidFill>
                  <a:srgbClr val="2E3F4C"/>
                </a:solidFill>
                <a:latin typeface="Malgun Gothic"/>
                <a:ea typeface="Malgun Gothic"/>
                <a:cs typeface="Malgun Gothic"/>
              </a:rPr>
              <a:t>: 낮은 비타민 D·햇빛, </a:t>
            </a:r>
            <a:r>
              <a:rPr sz="2000" b="1" i="0">
                <a:solidFill>
                  <a:srgbClr val="2E3F4C"/>
                </a:solidFill>
                <a:latin typeface="Malgun Gothic"/>
                <a:ea typeface="Malgun Gothic"/>
                <a:cs typeface="Malgun Gothic"/>
              </a:rPr>
              <a:t>청소년기 비만</a:t>
            </a:r>
            <a:r>
              <a:rPr sz="2000" b="0" i="0">
                <a:solidFill>
                  <a:srgbClr val="2E3F4C"/>
                </a:solidFill>
                <a:latin typeface="Malgun Gothic"/>
                <a:ea typeface="Malgun Gothic"/>
                <a:cs typeface="Malgun Gothic"/>
              </a:rPr>
              <a:t>, </a:t>
            </a:r>
            <a:r>
              <a:rPr sz="2000" b="1" i="0">
                <a:solidFill>
                  <a:srgbClr val="2E3F4C"/>
                </a:solidFill>
                <a:latin typeface="Malgun Gothic"/>
                <a:ea typeface="Malgun Gothic"/>
                <a:cs typeface="Malgun Gothic"/>
              </a:rPr>
              <a:t>흡연</a:t>
            </a:r>
            <a:r>
              <a:rPr sz="2000" b="0" i="0">
                <a:solidFill>
                  <a:srgbClr val="2E3F4C"/>
                </a:solidFill>
                <a:latin typeface="Malgun Gothic"/>
                <a:ea typeface="Malgun Gothic"/>
                <a:cs typeface="Malgun Gothic"/>
              </a:rPr>
              <a:t>(및 유기용제), 장내 미생물, 야간 교대 근무.</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소아 MS, 후기 발병 MS, 방사선학적 고립 증후군(RIS — 우연히 발견된 전형적 병변; 일부는 MS로 전환 → 치료 시험 긍정).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병태생리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외부–내부 모델</a:t>
            </a:r>
            <a:r>
              <a:rPr sz="1800" b="0" i="0">
                <a:solidFill>
                  <a:srgbClr val="11202B"/>
                </a:solidFill>
                <a:latin typeface="Malgun Gothic"/>
                <a:ea typeface="Malgun Gothic"/>
                <a:cs typeface="Malgun Gothic"/>
              </a:rPr>
              <a:t>(주류): 말초에서 자가반응 T세포(Th1·Th17)가 활성화(분자 모방·방관자 활성화) → 접착분자·케모카인 매개 중추 유입 → 수초 항원 재인식 → 미세아교세포·대식세포 동원 → </a:t>
            </a:r>
            <a:r>
              <a:rPr sz="1800" b="1" i="0">
                <a:solidFill>
                  <a:srgbClr val="11202B"/>
                </a:solidFill>
                <a:latin typeface="Malgun Gothic"/>
                <a:ea typeface="Malgun Gothic"/>
                <a:cs typeface="Malgun Gothic"/>
              </a:rPr>
              <a:t>탈수초·축삭 손상</a:t>
            </a:r>
            <a:r>
              <a:rPr sz="1800" b="0" i="0">
                <a:solidFill>
                  <a:srgbClr val="11202B"/>
                </a:solidFill>
                <a:latin typeface="Malgun Gothic"/>
                <a:ea typeface="Malgun Gothic"/>
                <a:cs typeface="Malgun Gothic"/>
              </a:rPr>
              <a:t>; B세포는 항원 제시·사이토카인(GM-CSF)·항체로 기여(</a:t>
            </a:r>
            <a:r>
              <a:rPr sz="1800" b="1" i="0">
                <a:solidFill>
                  <a:srgbClr val="11202B"/>
                </a:solidFill>
                <a:latin typeface="Malgun Gothic"/>
                <a:ea typeface="Malgun Gothic"/>
                <a:cs typeface="Malgun Gothic"/>
              </a:rPr>
              <a:t>항CD20 치료의 극적 효과</a:t>
            </a:r>
            <a:r>
              <a:rPr sz="1800" b="0" i="0">
                <a:solidFill>
                  <a:srgbClr val="11202B"/>
                </a:solidFill>
                <a:latin typeface="Malgun Gothic"/>
                <a:ea typeface="Malgun Gothic"/>
                <a:cs typeface="Malgun Gothic"/>
              </a:rPr>
              <a:t>가 B세포 중심성을 입증).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내부–외부 모델</a:t>
            </a:r>
            <a:r>
              <a:rPr sz="1800" b="0" i="0">
                <a:solidFill>
                  <a:srgbClr val="11202B"/>
                </a:solidFill>
                <a:latin typeface="Malgun Gothic"/>
                <a:ea typeface="Malgun Gothic"/>
                <a:cs typeface="Malgun Gothic"/>
              </a:rPr>
              <a:t>: 올리고덴드로사이트·수초의 일차 변성이 선행한다는 가설(초기 병변의 미세아교세포 활성과 올리고덴드로사이트 아폽토시스).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병변의 진화: 활동성(염증·조영 증강) → </a:t>
            </a:r>
            <a:r>
              <a:rPr sz="1800" b="1" i="0">
                <a:solidFill>
                  <a:srgbClr val="11202B"/>
                </a:solidFill>
                <a:latin typeface="Malgun Gothic"/>
                <a:ea typeface="Malgun Gothic"/>
                <a:cs typeface="Malgun Gothic"/>
              </a:rPr>
              <a:t>만성 활성(smoldering) 병변</a:t>
            </a:r>
            <a:r>
              <a:rPr sz="1800" b="0" i="0">
                <a:solidFill>
                  <a:srgbClr val="11202B"/>
                </a:solidFill>
                <a:latin typeface="Malgun Gothic"/>
                <a:ea typeface="Malgun Gothic"/>
                <a:cs typeface="Malgun Gothic"/>
              </a:rPr>
              <a:t> — 가장자리에 철 함유 활성 미세아교세포 테두리(</a:t>
            </a:r>
            <a:r>
              <a:rPr sz="1800" b="1" i="0">
                <a:solidFill>
                  <a:srgbClr val="11202B"/>
                </a:solidFill>
                <a:latin typeface="Malgun Gothic"/>
                <a:ea typeface="Malgun Gothic"/>
                <a:cs typeface="Malgun Gothic"/>
              </a:rPr>
              <a:t>상자성 테두리 병변</a:t>
            </a:r>
            <a:r>
              <a:rPr sz="1800" b="0" i="0">
                <a:solidFill>
                  <a:srgbClr val="11202B"/>
                </a:solidFill>
                <a:latin typeface="Malgun Gothic"/>
                <a:ea typeface="Malgun Gothic"/>
                <a:cs typeface="Malgun Gothic"/>
              </a:rPr>
              <a:t>, 7T·감수성 영상) → 서서히 확장, 진행형 장애와 연관.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병태생리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재수초화</a:t>
            </a:r>
            <a:r>
              <a:rPr sz="2200" b="0" i="0">
                <a:solidFill>
                  <a:srgbClr val="11202B"/>
                </a:solidFill>
                <a:latin typeface="Malgun Gothic"/>
                <a:ea typeface="Malgun Gothic"/>
                <a:cs typeface="Malgun Gothic"/>
              </a:rPr>
              <a:t>: OPC가 모집되지만 분화 실패(노화·염증·수초 파편) → 부분적; 재수초화 실패가 축삭 변성으로 이어짐.</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축삭·신경 손실: 초기부터 발생, 미토콘드리아 기능 장애(에너지 요구 증가 — 탈수초 축삭), 철 축적, 흥분독성 → </a:t>
            </a:r>
            <a:r>
              <a:rPr sz="2200" b="1" i="0">
                <a:solidFill>
                  <a:srgbClr val="11202B"/>
                </a:solidFill>
                <a:latin typeface="Malgun Gothic"/>
                <a:ea typeface="Malgun Gothic"/>
                <a:cs typeface="Malgun Gothic"/>
              </a:rPr>
              <a:t>진행형의 주된 기질</a:t>
            </a:r>
            <a:r>
              <a:rPr sz="2200" b="0" i="0">
                <a:solidFill>
                  <a:srgbClr val="11202B"/>
                </a:solidFill>
                <a:latin typeface="Malgun Gothic"/>
                <a:ea typeface="Malgun Gothic"/>
                <a:cs typeface="Malgun Gothic"/>
              </a:rPr>
              <a:t>.</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피질·수막 병리: 피질 탈수초(백질보다 염증 세포 적음), 수막 이소성 림프 소포 → 피질하 기울기 병변, 인지 저하.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임상과 진단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흔한 증상: 시신경염(통증성 단안 시력 저하), 부분 척수염(감각 수준·레르미트 징후), 뇌간(복시·INO·현훈·삼차신경통), 소뇌, 피로(가장 흔한 장애 요인), 인지(정보 처리 속도), 방광, 우트호프 현상(체온 상승 시 악화), 발작성 증상.</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경과: </a:t>
            </a:r>
            <a:r>
              <a:rPr sz="2000" b="1" i="0">
                <a:solidFill>
                  <a:srgbClr val="11202B"/>
                </a:solidFill>
                <a:latin typeface="Malgun Gothic"/>
                <a:ea typeface="Malgun Gothic"/>
                <a:cs typeface="Malgun Gothic"/>
              </a:rPr>
              <a:t>재발-완화형(RRMS, 85%)</a:t>
            </a:r>
            <a:r>
              <a:rPr sz="2000" b="0" i="0">
                <a:solidFill>
                  <a:srgbClr val="11202B"/>
                </a:solidFill>
                <a:latin typeface="Malgun Gothic"/>
                <a:ea typeface="Malgun Gothic"/>
                <a:cs typeface="Malgun Gothic"/>
              </a:rPr>
              <a:t> → 이차 진행형(SPMS); </a:t>
            </a:r>
            <a:r>
              <a:rPr sz="2000" b="1" i="0">
                <a:solidFill>
                  <a:srgbClr val="11202B"/>
                </a:solidFill>
                <a:latin typeface="Malgun Gothic"/>
                <a:ea typeface="Malgun Gothic"/>
                <a:cs typeface="Malgun Gothic"/>
              </a:rPr>
              <a:t>일차 진행형(PPMS, 10–15%)</a:t>
            </a:r>
            <a:r>
              <a:rPr sz="2000" b="0" i="0">
                <a:solidFill>
                  <a:srgbClr val="11202B"/>
                </a:solidFill>
                <a:latin typeface="Malgun Gothic"/>
                <a:ea typeface="Malgun Gothic"/>
                <a:cs typeface="Malgun Gothic"/>
              </a:rPr>
              <a:t> — 더 늦은 발병, 척수 우세; '진행 독립적 재발 활동(PIRA)'이 초기부터 장애 축적의 주된 경로로 재인식됨.</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2017 맥도널드 기준</a:t>
            </a:r>
            <a:r>
              <a:rPr sz="2000" b="0" i="0">
                <a:solidFill>
                  <a:srgbClr val="11202B"/>
                </a:solidFill>
                <a:latin typeface="Malgun Gothic"/>
                <a:ea typeface="Malgun Gothic"/>
                <a:cs typeface="Malgun Gothic"/>
              </a:rPr>
              <a:t>:</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공간 파종(DIS)</a:t>
            </a:r>
            <a:r>
              <a:rPr sz="1800" b="0" i="0">
                <a:solidFill>
                  <a:srgbClr val="2E3F4C"/>
                </a:solidFill>
                <a:latin typeface="Malgun Gothic"/>
                <a:ea typeface="Malgun Gothic"/>
                <a:cs typeface="Malgun Gothic"/>
              </a:rPr>
              <a:t>: 뇌실 주위·피질/피질 근접·천막하·척수 중 2개 이상 영역에 1개 이상 병변.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임상과 진단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시간 파종(DIT)</a:t>
            </a:r>
            <a:r>
              <a:rPr sz="1800" b="0" i="0">
                <a:solidFill>
                  <a:srgbClr val="2E3F4C"/>
                </a:solidFill>
                <a:latin typeface="Malgun Gothic"/>
                <a:ea typeface="Malgun Gothic"/>
                <a:cs typeface="Malgun Gothic"/>
              </a:rPr>
              <a:t>: 새 병변 발생, 또는 조영 증강·비증강 병변 동시 존재, 또는 </a:t>
            </a:r>
            <a:r>
              <a:rPr sz="1800" b="1" i="0">
                <a:solidFill>
                  <a:srgbClr val="2E3F4C"/>
                </a:solidFill>
                <a:latin typeface="Malgun Gothic"/>
                <a:ea typeface="Malgun Gothic"/>
                <a:cs typeface="Malgun Gothic"/>
              </a:rPr>
              <a:t>CSF 특이 올리고클론 밴드</a:t>
            </a:r>
            <a:r>
              <a:rPr sz="1800" b="0" i="0">
                <a:solidFill>
                  <a:srgbClr val="2E3F4C"/>
                </a:solidFill>
                <a:latin typeface="Malgun Gothic"/>
                <a:ea typeface="Malgun Gothic"/>
                <a:cs typeface="Malgun Gothic"/>
              </a:rPr>
              <a:t>(2017년부터 DIT 대체 가능).</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더 나은 설명이 없어야 함(감별 — NMOSD·MOGAD·혈관염·사르코이드·B12·유전성·감염).</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검사: MRI(T2 병변 — 뇌량 수직 '도슨 손가락', 척수 단분절 편측 병변), </a:t>
            </a:r>
            <a:r>
              <a:rPr sz="2000" b="1" i="0">
                <a:solidFill>
                  <a:srgbClr val="11202B"/>
                </a:solidFill>
                <a:latin typeface="Malgun Gothic"/>
                <a:ea typeface="Malgun Gothic"/>
                <a:cs typeface="Malgun Gothic"/>
              </a:rPr>
              <a:t>CSF 올리고클론 밴드</a:t>
            </a:r>
            <a:r>
              <a:rPr sz="2000" b="0" i="0">
                <a:solidFill>
                  <a:srgbClr val="11202B"/>
                </a:solidFill>
                <a:latin typeface="Malgun Gothic"/>
                <a:ea typeface="Malgun Gothic"/>
                <a:cs typeface="Malgun Gothic"/>
              </a:rPr>
              <a:t>(약 90% 양성; NMOSD에서는 드묾), 혈청 AQP4·MOG 항체(감별), 유발전위.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예후 지표: 조기 재발 빈도, 천막하·척수 병변, 남성, 늦은 발병, 흡연, 낮은 비타민 D, 초기 혈청 </a:t>
            </a:r>
            <a:r>
              <a:rPr sz="2000" b="1" i="0">
                <a:solidFill>
                  <a:srgbClr val="11202B"/>
                </a:solidFill>
                <a:latin typeface="Malgun Gothic"/>
                <a:ea typeface="Malgun Gothic"/>
                <a:cs typeface="Malgun Gothic"/>
              </a:rPr>
              <a:t>NfL</a:t>
            </a:r>
            <a:r>
              <a:rPr sz="2000" b="0" i="0">
                <a:solidFill>
                  <a:srgbClr val="11202B"/>
                </a:solidFill>
                <a:latin typeface="Malgun Gothic"/>
                <a:ea typeface="Malgun Gothic"/>
                <a:cs typeface="Malgun Gothic"/>
              </a:rPr>
              <a:t> 상승, 뇌 위축 속도.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질환 조절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전략 논쟁: 단계적 상향(escalation) vs </a:t>
            </a:r>
            <a:r>
              <a:rPr sz="2200" b="1" i="0">
                <a:solidFill>
                  <a:srgbClr val="11202B"/>
                </a:solidFill>
                <a:latin typeface="Malgun Gothic"/>
                <a:ea typeface="Malgun Gothic"/>
                <a:cs typeface="Malgun Gothic"/>
              </a:rPr>
              <a:t>조기 고효능(early intensive)</a:t>
            </a:r>
            <a:r>
              <a:rPr sz="2200" b="0" i="0">
                <a:solidFill>
                  <a:srgbClr val="11202B"/>
                </a:solidFill>
                <a:latin typeface="Malgun Gothic"/>
                <a:ea typeface="Malgun Gothic"/>
                <a:cs typeface="Malgun Gothic"/>
              </a:rPr>
              <a:t> — 관찰·무작위 연구 모두 조기 고효능이 장기 장애에 유리하다는 근거 증가.</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관리: 백신(치료 전 접종), 임신 계획(약물별 전략), 감염 감시, JCV 항체 추적, NfL 모니터링(연구).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질환 조절 치료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계열</a:t>
                      </a:r>
                    </a:p>
                  </a:txBody>
                  <a:tcPr marL="73152" marR="73152">
                    <a:solidFill>
                      <a:srgbClr val="003C71"/>
                    </a:solidFill>
                  </a:tcPr>
                </a:tc>
                <a:tc>
                  <a:txBody>
                    <a:bodyPr/>
                    <a:lstStyle/>
                    <a:p>
                      <a:r>
                        <a:rPr sz="13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3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인터페론-β</a:t>
                      </a:r>
                    </a:p>
                  </a:txBody>
                  <a:tcPr marL="73152" marR="73152">
                    <a:solidFill>
                      <a:srgbClr val="FFFFFF"/>
                    </a:solidFill>
                  </a:tcPr>
                </a:tc>
                <a:tc>
                  <a:txBody>
                    <a:bodyPr/>
                    <a:lstStyle/>
                    <a:p>
                      <a:r>
                        <a:rPr sz="1300" b="0" i="0">
                          <a:solidFill>
                            <a:srgbClr val="11202B"/>
                          </a:solidFill>
                          <a:latin typeface="Malgun Gothic"/>
                          <a:ea typeface="Malgun Gothic"/>
                          <a:cs typeface="Malgun Gothic"/>
                        </a:rPr>
                        <a:t>IFN-β1a/1b</a:t>
                      </a:r>
                    </a:p>
                  </a:txBody>
                  <a:tcPr marL="73152" marR="73152">
                    <a:solidFill>
                      <a:srgbClr val="FFFFFF"/>
                    </a:solidFill>
                  </a:tcPr>
                </a:tc>
                <a:tc>
                  <a:txBody>
                    <a:bodyPr/>
                    <a:lstStyle/>
                    <a:p>
                      <a:r>
                        <a:rPr sz="1300" b="0" i="0">
                          <a:solidFill>
                            <a:srgbClr val="11202B"/>
                          </a:solidFill>
                          <a:latin typeface="Malgun Gothic"/>
                          <a:ea typeface="Malgun Gothic"/>
                          <a:cs typeface="Malgun Gothic"/>
                        </a:rPr>
                        <a:t>면역 조절, 유입 감소</a:t>
                      </a:r>
                    </a:p>
                  </a:txBody>
                  <a:tcPr marL="73152" marR="73152">
                    <a:solidFill>
                      <a:srgbClr val="FFFFFF"/>
                    </a:solidFill>
                  </a:tcPr>
                </a:tc>
                <a:tc>
                  <a:txBody>
                    <a:bodyPr/>
                    <a:lstStyle/>
                    <a:p>
                      <a:r>
                        <a:rPr sz="1300" b="0" i="0">
                          <a:solidFill>
                            <a:srgbClr val="11202B"/>
                          </a:solidFill>
                          <a:latin typeface="Malgun Gothic"/>
                          <a:ea typeface="Malgun Gothic"/>
                          <a:cs typeface="Malgun Gothic"/>
                        </a:rPr>
                        <a:t>안전성 높음(임신 수유 가능), 효과 중등</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글라티라머 아세테이트</a:t>
                      </a:r>
                    </a:p>
                  </a:txBody>
                  <a:tcPr marL="73152" marR="73152">
                    <a:solidFill>
                      <a:srgbClr val="ECF1F5"/>
                    </a:solidFill>
                  </a:tcPr>
                </a:tc>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미엘린 염기성 단백 유사체 — Th2 전환</a:t>
                      </a:r>
                    </a:p>
                  </a:txBody>
                  <a:tcPr marL="73152" marR="73152">
                    <a:solidFill>
                      <a:srgbClr val="ECF1F5"/>
                    </a:solidFill>
                  </a:tcPr>
                </a:tc>
                <a:tc>
                  <a:txBody>
                    <a:bodyPr/>
                    <a:lstStyle/>
                    <a:p>
                      <a:r>
                        <a:rPr sz="1300" b="0" i="0">
                          <a:solidFill>
                            <a:srgbClr val="11202B"/>
                          </a:solidFill>
                          <a:latin typeface="Malgun Gothic"/>
                          <a:ea typeface="Malgun Gothic"/>
                          <a:cs typeface="Malgun Gothic"/>
                        </a:rPr>
                        <a:t>안전</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S1P 수용체 조절제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핀골리모드, 시포니모드, 오자니모드, 포네시모드</a:t>
                      </a:r>
                    </a:p>
                  </a:txBody>
                  <a:tcPr marL="73152" marR="73152">
                    <a:solidFill>
                      <a:srgbClr val="FFFFFF"/>
                    </a:solidFill>
                  </a:tcPr>
                </a:tc>
                <a:tc>
                  <a:txBody>
                    <a:bodyPr/>
                    <a:lstStyle/>
                    <a:p>
                      <a:r>
                        <a:rPr sz="1300" b="0" i="0">
                          <a:solidFill>
                            <a:srgbClr val="11202B"/>
                          </a:solidFill>
                          <a:latin typeface="Malgun Gothic"/>
                          <a:ea typeface="Malgun Gothic"/>
                          <a:cs typeface="Malgun Gothic"/>
                        </a:rPr>
                        <a:t>림프절에서 림프구 유출 차단</a:t>
                      </a:r>
                    </a:p>
                  </a:txBody>
                  <a:tcPr marL="73152" marR="73152">
                    <a:solidFill>
                      <a:srgbClr val="FFFFFF"/>
                    </a:solidFill>
                  </a:tcPr>
                </a:tc>
                <a:tc>
                  <a:txBody>
                    <a:bodyPr/>
                    <a:lstStyle/>
                    <a:p>
                      <a:r>
                        <a:rPr sz="1300" b="0" i="0">
                          <a:solidFill>
                            <a:srgbClr val="11202B"/>
                          </a:solidFill>
                          <a:latin typeface="Malgun Gothic"/>
                          <a:ea typeface="Malgun Gothic"/>
                          <a:cs typeface="Malgun Gothic"/>
                        </a:rPr>
                        <a:t>서맥·황반 부종·감염; 중단 시 </a:t>
                      </a:r>
                      <a:r>
                        <a:rPr sz="1300" b="1" i="0">
                          <a:solidFill>
                            <a:srgbClr val="11202B"/>
                          </a:solidFill>
                          <a:latin typeface="Malgun Gothic"/>
                          <a:ea typeface="Malgun Gothic"/>
                          <a:cs typeface="Malgun Gothic"/>
                        </a:rPr>
                        <a:t>반동 재발</a:t>
                      </a:r>
                      <a:r>
                        <a:rPr sz="1300" b="0" i="0">
                          <a:solidFill>
                            <a:srgbClr val="11202B"/>
                          </a:solidFill>
                          <a:latin typeface="Malgun Gothic"/>
                          <a:ea typeface="Malgun Gothic"/>
                          <a:cs typeface="Malgun Gothic"/>
                        </a:rPr>
                        <a:t>; 시포니모드는 활동성 SPMS</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푸마르산</a:t>
                      </a:r>
                    </a:p>
                  </a:txBody>
                  <a:tcPr marL="73152" marR="73152">
                    <a:solidFill>
                      <a:srgbClr val="ECF1F5"/>
                    </a:solidFill>
                  </a:tcPr>
                </a:tc>
                <a:tc>
                  <a:txBody>
                    <a:bodyPr/>
                    <a:lstStyle/>
                    <a:p>
                      <a:r>
                        <a:rPr sz="1300" b="0" i="0">
                          <a:solidFill>
                            <a:srgbClr val="11202B"/>
                          </a:solidFill>
                          <a:latin typeface="Malgun Gothic"/>
                          <a:ea typeface="Malgun Gothic"/>
                          <a:cs typeface="Malgun Gothic"/>
                        </a:rPr>
                        <a:t>디메틸·디록시멜 푸마레이트</a:t>
                      </a:r>
                    </a:p>
                  </a:txBody>
                  <a:tcPr marL="73152" marR="73152">
                    <a:solidFill>
                      <a:srgbClr val="ECF1F5"/>
                    </a:solidFill>
                  </a:tcPr>
                </a:tc>
                <a:tc>
                  <a:txBody>
                    <a:bodyPr/>
                    <a:lstStyle/>
                    <a:p>
                      <a:r>
                        <a:rPr sz="1300" b="0" i="0">
                          <a:solidFill>
                            <a:srgbClr val="11202B"/>
                          </a:solidFill>
                          <a:latin typeface="Malgun Gothic"/>
                          <a:ea typeface="Malgun Gothic"/>
                          <a:cs typeface="Malgun Gothic"/>
                        </a:rPr>
                        <a:t>NRF2 활성·면역 조절</a:t>
                      </a:r>
                    </a:p>
                  </a:txBody>
                  <a:tcPr marL="73152" marR="73152">
                    <a:solidFill>
                      <a:srgbClr val="ECF1F5"/>
                    </a:solidFill>
                  </a:tcPr>
                </a:tc>
                <a:tc>
                  <a:txBody>
                    <a:bodyPr/>
                    <a:lstStyle/>
                    <a:p>
                      <a:r>
                        <a:rPr sz="1300" b="0" i="0">
                          <a:solidFill>
                            <a:srgbClr val="11202B"/>
                          </a:solidFill>
                          <a:latin typeface="Malgun Gothic"/>
                          <a:ea typeface="Malgun Gothic"/>
                          <a:cs typeface="Malgun Gothic"/>
                        </a:rPr>
                        <a:t>홍조·위장관, 림프구 감소 → PML 드물게</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테리플루노마이드</a:t>
                      </a:r>
                    </a:p>
                  </a:txBody>
                  <a:tcPr marL="73152" marR="73152">
                    <a:solidFill>
                      <a:srgbClr val="FFFFFF"/>
                    </a:solidFill>
                  </a:tcPr>
                </a:tc>
                <a:tc>
                  <a:txBody>
                    <a:bodyPr/>
                    <a:lstStyle/>
                    <a:p/>
                  </a:txBody>
                  <a:tcPr marL="73152" marR="73152">
                    <a:solidFill>
                      <a:srgbClr val="FFFFFF"/>
                    </a:solidFill>
                  </a:tcPr>
                </a:tc>
                <a:tc>
                  <a:txBody>
                    <a:bodyPr/>
                    <a:lstStyle/>
                    <a:p>
                      <a:r>
                        <a:rPr sz="1300" b="0" i="0">
                          <a:solidFill>
                            <a:srgbClr val="11202B"/>
                          </a:solidFill>
                          <a:latin typeface="Malgun Gothic"/>
                          <a:ea typeface="Malgun Gothic"/>
                          <a:cs typeface="Malgun Gothic"/>
                        </a:rPr>
                        <a:t>DHODH 억제 → 활성 림프구 증식 억제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간독성, </a:t>
                      </a:r>
                      <a:r>
                        <a:rPr sz="1300" b="1" i="0">
                          <a:solidFill>
                            <a:srgbClr val="11202B"/>
                          </a:solidFill>
                          <a:latin typeface="Malgun Gothic"/>
                          <a:ea typeface="Malgun Gothic"/>
                          <a:cs typeface="Malgun Gothic"/>
                        </a:rPr>
                        <a:t>기형 유발</a:t>
                      </a:r>
                      <a:r>
                        <a:rPr sz="1300" b="0" i="0">
                          <a:solidFill>
                            <a:srgbClr val="11202B"/>
                          </a:solidFill>
                          <a:latin typeface="Malgun Gothic"/>
                          <a:ea typeface="Malgun Gothic"/>
                          <a:cs typeface="Malgun Gothic"/>
                        </a:rPr>
                        <a:t>(콜레스티라민 세척)</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항α4 인테그린</a:t>
                      </a:r>
                    </a:p>
                  </a:txBody>
                  <a:tcPr marL="73152" marR="73152">
                    <a:solidFill>
                      <a:srgbClr val="ECF1F5"/>
                    </a:solidFill>
                  </a:tcPr>
                </a:tc>
                <a:tc>
                  <a:txBody>
                    <a:bodyPr/>
                    <a:lstStyle/>
                    <a:p>
                      <a:r>
                        <a:rPr sz="1300" b="0" i="0">
                          <a:solidFill>
                            <a:srgbClr val="11202B"/>
                          </a:solidFill>
                          <a:latin typeface="Malgun Gothic"/>
                          <a:ea typeface="Malgun Gothic"/>
                          <a:cs typeface="Malgun Gothic"/>
                        </a:rPr>
                        <a:t>나탈리주맙</a:t>
                      </a:r>
                    </a:p>
                  </a:txBody>
                  <a:tcPr marL="73152" marR="73152">
                    <a:solidFill>
                      <a:srgbClr val="ECF1F5"/>
                    </a:solidFill>
                  </a:tcPr>
                </a:tc>
                <a:tc>
                  <a:txBody>
                    <a:bodyPr/>
                    <a:lstStyle/>
                    <a:p>
                      <a:r>
                        <a:rPr sz="1300" b="0" i="0">
                          <a:solidFill>
                            <a:srgbClr val="11202B"/>
                          </a:solidFill>
                          <a:latin typeface="Malgun Gothic"/>
                          <a:ea typeface="Malgun Gothic"/>
                          <a:cs typeface="Malgun Gothic"/>
                        </a:rPr>
                        <a:t>유입 차단</a:t>
                      </a:r>
                    </a:p>
                  </a:txBody>
                  <a:tcPr marL="73152" marR="73152">
                    <a:solidFill>
                      <a:srgbClr val="ECF1F5"/>
                    </a:solidFill>
                  </a:tcPr>
                </a:tc>
                <a:tc>
                  <a:txBody>
                    <a:bodyPr/>
                    <a:lstStyle/>
                    <a:p>
                      <a:r>
                        <a:rPr sz="1300" b="0" i="0">
                          <a:solidFill>
                            <a:srgbClr val="11202B"/>
                          </a:solidFill>
                          <a:latin typeface="Malgun Gothic"/>
                          <a:ea typeface="Malgun Gothic"/>
                          <a:cs typeface="Malgun Gothic"/>
                        </a:rPr>
                        <a:t>고효능; </a:t>
                      </a:r>
                      <a:r>
                        <a:rPr sz="1300" b="1" i="0">
                          <a:solidFill>
                            <a:srgbClr val="11202B"/>
                          </a:solidFill>
                          <a:latin typeface="Malgun Gothic"/>
                          <a:ea typeface="Malgun Gothic"/>
                          <a:cs typeface="Malgun Gothic"/>
                        </a:rPr>
                        <a:t>PML 위험</a:t>
                      </a:r>
                      <a:r>
                        <a:rPr sz="1300" b="0" i="0">
                          <a:solidFill>
                            <a:srgbClr val="11202B"/>
                          </a:solidFill>
                          <a:latin typeface="Malgun Gothic"/>
                          <a:ea typeface="Malgun Gothic"/>
                          <a:cs typeface="Malgun Gothic"/>
                        </a:rPr>
                        <a:t>(항JCV 항체·기간·이전 면역억제)</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항CD20</a:t>
                      </a:r>
                    </a:p>
                  </a:txBody>
                  <a:tcPr marL="73152" marR="73152">
                    <a:solidFill>
                      <a:srgbClr val="FFFFFF"/>
                    </a:solidFill>
                  </a:tcPr>
                </a:tc>
                <a:tc>
                  <a:txBody>
                    <a:bodyPr/>
                    <a:lstStyle/>
                    <a:p>
                      <a:r>
                        <a:rPr sz="1300" b="0" i="0">
                          <a:solidFill>
                            <a:srgbClr val="11202B"/>
                          </a:solidFill>
                          <a:latin typeface="Malgun Gothic"/>
                          <a:ea typeface="Malgun Gothic"/>
                          <a:cs typeface="Malgun Gothic"/>
                        </a:rPr>
                        <a:t>오크렐리주맙, 오파투무맙, 리툭시맙, 유블리툭시맙</a:t>
                      </a:r>
                    </a:p>
                  </a:txBody>
                  <a:tcPr marL="73152" marR="73152">
                    <a:solidFill>
                      <a:srgbClr val="FFFFFF"/>
                    </a:solidFill>
                  </a:tcPr>
                </a:tc>
                <a:tc>
                  <a:txBody>
                    <a:bodyPr/>
                    <a:lstStyle/>
                    <a:p>
                      <a:r>
                        <a:rPr sz="1300" b="0" i="0">
                          <a:solidFill>
                            <a:srgbClr val="11202B"/>
                          </a:solidFill>
                          <a:latin typeface="Malgun Gothic"/>
                          <a:ea typeface="Malgun Gothic"/>
                          <a:cs typeface="Malgun Gothic"/>
                        </a:rPr>
                        <a:t>B세포 고갈</a:t>
                      </a:r>
                    </a:p>
                  </a:txBody>
                  <a:tcPr marL="73152" marR="73152">
                    <a:solidFill>
                      <a:srgbClr val="FFFFFF"/>
                    </a:solidFill>
                  </a:tcPr>
                </a:tc>
                <a:tc>
                  <a:txBody>
                    <a:bodyPr/>
                    <a:lstStyle/>
                    <a:p>
                      <a:r>
                        <a:rPr sz="1300" b="0" i="0">
                          <a:solidFill>
                            <a:srgbClr val="11202B"/>
                          </a:solidFill>
                          <a:latin typeface="Malgun Gothic"/>
                          <a:ea typeface="Malgun Gothic"/>
                          <a:cs typeface="Malgun Gothic"/>
                        </a:rPr>
                        <a:t>고효능, </a:t>
                      </a:r>
                      <a:r>
                        <a:rPr sz="1300" b="1" i="0">
                          <a:solidFill>
                            <a:srgbClr val="11202B"/>
                          </a:solidFill>
                          <a:latin typeface="Malgun Gothic"/>
                          <a:ea typeface="Malgun Gothic"/>
                          <a:cs typeface="Malgun Gothic"/>
                        </a:rPr>
                        <a:t>PPMS에 유일하게 승인(오크렐리주맙)</a:t>
                      </a:r>
                      <a:r>
                        <a:rPr sz="1300" b="0" i="0">
                          <a:solidFill>
                            <a:srgbClr val="11202B"/>
                          </a:solidFill>
                          <a:latin typeface="Malgun Gothic"/>
                          <a:ea typeface="Malgun Gothic"/>
                          <a:cs typeface="Malgun Gothic"/>
                        </a:rPr>
                        <a:t>; 저감마글로불린혈증·감염·백신 반응 저하</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항CD52</a:t>
                      </a:r>
                    </a:p>
                  </a:txBody>
                  <a:tcPr marL="73152" marR="73152">
                    <a:solidFill>
                      <a:srgbClr val="ECF1F5"/>
                    </a:solidFill>
                  </a:tcPr>
                </a:tc>
                <a:tc>
                  <a:txBody>
                    <a:bodyPr/>
                    <a:lstStyle/>
                    <a:p>
                      <a:r>
                        <a:rPr sz="1300" b="0" i="0">
                          <a:solidFill>
                            <a:srgbClr val="11202B"/>
                          </a:solidFill>
                          <a:latin typeface="Malgun Gothic"/>
                          <a:ea typeface="Malgun Gothic"/>
                          <a:cs typeface="Malgun Gothic"/>
                        </a:rPr>
                        <a:t>알렘투주맙</a:t>
                      </a:r>
                    </a:p>
                  </a:txBody>
                  <a:tcPr marL="73152" marR="73152">
                    <a:solidFill>
                      <a:srgbClr val="ECF1F5"/>
                    </a:solidFill>
                  </a:tcPr>
                </a:tc>
                <a:tc>
                  <a:txBody>
                    <a:bodyPr/>
                    <a:lstStyle/>
                    <a:p>
                      <a:r>
                        <a:rPr sz="1300" b="0" i="0">
                          <a:solidFill>
                            <a:srgbClr val="11202B"/>
                          </a:solidFill>
                          <a:latin typeface="Malgun Gothic"/>
                          <a:ea typeface="Malgun Gothic"/>
                          <a:cs typeface="Malgun Gothic"/>
                        </a:rPr>
                        <a:t>림프구 고갈 후 재구성</a:t>
                      </a:r>
                    </a:p>
                  </a:txBody>
                  <a:tcPr marL="73152" marR="73152">
                    <a:solidFill>
                      <a:srgbClr val="ECF1F5"/>
                    </a:solidFill>
                  </a:tcPr>
                </a:tc>
                <a:tc>
                  <a:txBody>
                    <a:bodyPr/>
                    <a:lstStyle/>
                    <a:p>
                      <a:r>
                        <a:rPr sz="1300" b="0" i="0">
                          <a:solidFill>
                            <a:srgbClr val="11202B"/>
                          </a:solidFill>
                          <a:latin typeface="Malgun Gothic"/>
                          <a:ea typeface="Malgun Gothic"/>
                          <a:cs typeface="Malgun Gothic"/>
                        </a:rPr>
                        <a:t>2차 자가면역(갑상선·ITP·항GBM)</a:t>
                      </a:r>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질환 조절 치료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계열</a:t>
                      </a:r>
                    </a:p>
                  </a:txBody>
                  <a:tcPr marL="73152" marR="73152">
                    <a:solidFill>
                      <a:srgbClr val="003C71"/>
                    </a:solidFill>
                  </a:tcPr>
                </a:tc>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클라드리빈(경구)</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선택적 림프구 고갈(펄스)</a:t>
                      </a:r>
                    </a:p>
                  </a:txBody>
                  <a:tcPr marL="73152" marR="73152">
                    <a:solidFill>
                      <a:srgbClr val="FFFFFF"/>
                    </a:solidFill>
                  </a:tcPr>
                </a:tc>
                <a:tc>
                  <a:txBody>
                    <a:bodyPr/>
                    <a:lstStyle/>
                    <a:p>
                      <a:r>
                        <a:rPr sz="1500" b="0" i="0">
                          <a:solidFill>
                            <a:srgbClr val="11202B"/>
                          </a:solidFill>
                          <a:latin typeface="Malgun Gothic"/>
                          <a:ea typeface="Malgun Gothic"/>
                          <a:cs typeface="Malgun Gothic"/>
                        </a:rPr>
                        <a:t>2년 코스</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조혈모세포이식(aHSCT)</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면역 '리셋'</a:t>
                      </a:r>
                    </a:p>
                  </a:txBody>
                  <a:tcPr marL="73152" marR="73152">
                    <a:solidFill>
                      <a:srgbClr val="ECF1F5"/>
                    </a:solidFill>
                  </a:tcPr>
                </a:tc>
                <a:tc>
                  <a:txBody>
                    <a:bodyPr/>
                    <a:lstStyle/>
                    <a:p>
                      <a:r>
                        <a:rPr sz="1500" b="0" i="0">
                          <a:solidFill>
                            <a:srgbClr val="11202B"/>
                          </a:solidFill>
                          <a:latin typeface="Malgun Gothic"/>
                          <a:ea typeface="Malgun Gothic"/>
                          <a:cs typeface="Malgun Gothic"/>
                        </a:rPr>
                        <a:t>매우 활동적 RRMS에서 강력(MIST 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진행형·증상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시포니모드, 오크렐리주맙, </a:t>
                      </a:r>
                      <a:r>
                        <a:rPr sz="1500" b="1" i="0">
                          <a:solidFill>
                            <a:srgbClr val="11202B"/>
                          </a:solidFill>
                          <a:latin typeface="Malgun Gothic"/>
                          <a:ea typeface="Malgun Gothic"/>
                          <a:cs typeface="Malgun Gothic"/>
                        </a:rPr>
                        <a:t>톨레브루티닙</a:t>
                      </a:r>
                      <a:r>
                        <a:rPr sz="1500" b="0" i="0">
                          <a:solidFill>
                            <a:srgbClr val="11202B"/>
                          </a:solidFill>
                          <a:latin typeface="Malgun Gothic"/>
                          <a:ea typeface="Malgun Gothic"/>
                          <a:cs typeface="Malgun Gothic"/>
                        </a:rPr>
                        <a:t>(BTK 억제제 — 비재발형 SPMS 장애 진행 지연, 2024 HERCULES)</a:t>
                      </a:r>
                    </a:p>
                  </a:txBody>
                  <a:tcPr marL="73152" marR="73152">
                    <a:solidFill>
                      <a:srgbClr val="FFFFFF"/>
                    </a:solidFill>
                  </a:tcPr>
                </a:tc>
                <a:tc>
                  <a:txBody>
                    <a:bodyPr/>
                    <a:lstStyle/>
                    <a:p>
                      <a:r>
                        <a:rPr sz="1500" b="0" i="0">
                          <a:solidFill>
                            <a:srgbClr val="11202B"/>
                          </a:solidFill>
                          <a:latin typeface="Malgun Gothic"/>
                          <a:ea typeface="Malgun Gothic"/>
                          <a:cs typeface="Malgun Gothic"/>
                        </a:rPr>
                        <a:t>중추 구획 염증(미세아교·B세포) 표적</a:t>
                      </a:r>
                    </a:p>
                  </a:txBody>
                  <a:tcPr marL="73152" marR="73152">
                    <a:solidFill>
                      <a:srgbClr val="FFFFFF"/>
                    </a:solidFill>
                  </a:tcPr>
                </a:tc>
                <a:tc>
                  <a:txBody>
                    <a:bodyPr/>
                    <a:lstStyle/>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진행형 MS와 증상 관리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진행의 기전: 만성 활성 병변(미세아교·철), 수막 염증, 축삭 미토콘드리아 기능 장애, 재수초화 실패, 신경 예비력 소진, 노화.</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치료 과제: 기존 약물은 </a:t>
            </a:r>
            <a:r>
              <a:rPr sz="1800" b="1" i="0">
                <a:solidFill>
                  <a:srgbClr val="11202B"/>
                </a:solidFill>
                <a:latin typeface="Malgun Gothic"/>
                <a:ea typeface="Malgun Gothic"/>
                <a:cs typeface="Malgun Gothic"/>
              </a:rPr>
              <a:t>재발·새 병변은 잘 막지만 진행은 덜 막는다</a:t>
            </a:r>
            <a:r>
              <a:rPr sz="1800" b="0" i="0">
                <a:solidFill>
                  <a:srgbClr val="11202B"/>
                </a:solidFill>
                <a:latin typeface="Malgun Gothic"/>
                <a:ea typeface="Malgun Gothic"/>
                <a:cs typeface="Malgun Gothic"/>
              </a:rPr>
              <a:t> → 중추 구획 표적(BTK 억제제), 재수초화 촉진(클레마스틴·메트포르민 병용 2상), 신경보호(이부딜라스트, 심바스타틴 3상), 미토콘드리아·이온 통로.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증상 관리: 피로(에너지 절약·운동·아만타딘·모다피닐), 경직(바클로펜·티자니딘·보툴리눔·대마 추출물), 통증(신경병증성), 방광(항무스카린·보툴리눔·간헐 도뇨), 보행(</a:t>
            </a:r>
            <a:r>
              <a:rPr sz="1800" b="1" i="0">
                <a:solidFill>
                  <a:srgbClr val="11202B"/>
                </a:solidFill>
                <a:latin typeface="Malgun Gothic"/>
                <a:ea typeface="Malgun Gothic"/>
                <a:cs typeface="Malgun Gothic"/>
              </a:rPr>
              <a:t>달팜프리딘</a:t>
            </a:r>
            <a:r>
              <a:rPr sz="1800" b="0" i="0">
                <a:solidFill>
                  <a:srgbClr val="11202B"/>
                </a:solidFill>
                <a:latin typeface="Malgun Gothic"/>
                <a:ea typeface="Malgun Gothic"/>
                <a:cs typeface="Malgun Gothic"/>
              </a:rPr>
              <a:t> — 4-AP), 우울, 인지 재활, </a:t>
            </a:r>
            <a:r>
              <a:rPr sz="1800" b="1" i="0">
                <a:solidFill>
                  <a:srgbClr val="11202B"/>
                </a:solidFill>
                <a:latin typeface="Malgun Gothic"/>
                <a:ea typeface="Malgun Gothic"/>
                <a:cs typeface="Malgun Gothic"/>
              </a:rPr>
              <a:t>운동 치료</a:t>
            </a:r>
            <a:r>
              <a:rPr sz="1800" b="0" i="0">
                <a:solidFill>
                  <a:srgbClr val="11202B"/>
                </a:solidFill>
                <a:latin typeface="Malgun Gothic"/>
                <a:ea typeface="Malgun Gothic"/>
                <a:cs typeface="Malgun Gothic"/>
              </a:rPr>
              <a:t>(근거 강함), 열 관리.</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재발 치료: 고용량 스테로이드(경구·정주 동등), 불응 시 혈장교환.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EBV 인과성 확립 이후 EBV 백신·항바이러스·EBV 특이 T세포 치료(아탈루렌 계열 아님 — ATA188 2상 음성)가 시도되고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혈청 </a:t>
            </a:r>
            <a:r>
              <a:rPr sz="2200" b="1" i="0">
                <a:solidFill>
                  <a:srgbClr val="11202B"/>
                </a:solidFill>
                <a:latin typeface="Malgun Gothic"/>
                <a:ea typeface="Malgun Gothic"/>
                <a:cs typeface="Malgun Gothic"/>
              </a:rPr>
              <a:t>NfL</a:t>
            </a:r>
            <a:r>
              <a:rPr sz="2200" b="0" i="0">
                <a:solidFill>
                  <a:srgbClr val="11202B"/>
                </a:solidFill>
                <a:latin typeface="Malgun Gothic"/>
                <a:ea typeface="Malgun Gothic"/>
                <a:cs typeface="Malgun Gothic"/>
              </a:rPr>
              <a:t>과 </a:t>
            </a:r>
            <a:r>
              <a:rPr sz="2200" b="1" i="0">
                <a:solidFill>
                  <a:srgbClr val="11202B"/>
                </a:solidFill>
                <a:latin typeface="Malgun Gothic"/>
                <a:ea typeface="Malgun Gothic"/>
                <a:cs typeface="Malgun Gothic"/>
              </a:rPr>
              <a:t>GFAP</a:t>
            </a:r>
            <a:r>
              <a:rPr sz="2200" b="0" i="0">
                <a:solidFill>
                  <a:srgbClr val="11202B"/>
                </a:solidFill>
                <a:latin typeface="Malgun Gothic"/>
                <a:ea typeface="Malgun Gothic"/>
                <a:cs typeface="Malgun Gothic"/>
              </a:rPr>
              <a:t>가 재발 활동(NfL)과 진행(GFAP)을 각각 반영하는 지표로 임상 도입 단계에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상자성 테두리 병변·중심 정맥 징후(central vein sign)가 MS 진단 특이도와 진행 예측을 높이는 영상 표지로 표준화되고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MS는 EBV 감염을 거의 필수 조건으로 하며 HLA-DRB1*15:01, 비타민 D 부족, 흡연, 청소년기 비만이 위험을 높인다.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병태생리는 말초 T·B세포 활성화와 중추 유입, 탈수초, 축삭 손상, 만성 활성 병변으로 이어진다.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진단은 2017 맥도널드 기준의 공간·시간 파종이며 CSF 올리고클론 밴드가 시간 파종을 대체할 수 있다.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질환 조절 치료는 유입 차단(나탈리주맙), 림프구 재배치(S1P), B세포 고갈(항CD20), 고갈·재구성(알렘투주맙·클라드리빈·aHSCT)으로 나뉜다.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진행형은 중추 구획 염증과 축삭 변성이 기질이며 BTK 억제제·재수초화·신경보호가 연구되고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EBV와 다발성 경화증의 인과 관계를 지지하는 가장 강력한 역학적 증거는?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1,000만 명 이상의 미군 현역 코호트 종단 연구에서 EBV 혈청 음성자가 감염 후 MS 위험이 32배 증가했고, 혈청 전환이 MS 발병과 혈청 NfL 상승에 선행했으며, 다른 바이러스(CMV 등)에서는 같은 연관이 없었다. EBV 음성인 사람에서 MS는 거의 발생하지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항CD20 치료가 MS에 매우 효과적이라는 사실이 병태생리 이해에 미친 영향은?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B세포를 고갈시키면 수 주 내 재발과 새 병변이 급감하는데, 이 시점에는 항체 농도가 거의 변하지 않는다. 따라서 B세포의 역할이 항체 생산보다 항원 제시, T세포 활성화, 사이토카인(GM-CSF·IL-6) 분비에 있다는 것이 드러났고, MS를 'T세포 질환'에서 'B·T세포 상호작용 질환'으로 재구성하게 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핀골리모드 같은 S1P 조절제를 갑자기 중단하면 안 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S1P 조절제는 림프구를 림프절에 가두는데, 중단하면 갇혀 있던 자가반응 림프구가 한꺼번에 순환으로 방출되어 심한 반동 재발과 때로는 기저 상태보다 악화된 질환 활성(종양성 병변)이 생길 수 있다. 중단·전환 시에는 계획된 전략과 모니터링이 필요하다.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기존 질환 조절 치료가 재발은 줄이지만 진행형 장애를 충분히 막지 못하는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대부분의 약물은 말초 면역세포의 중추 유입을 막는 데 작용하지만, 진행형 장애는 혈액뇌장벽 뒤쪽에 갇힌 중추 구획의 만성 염증(만성 활성 병변의 미세아교세포, 수막 림프 소포)과 축삭 미토콘드리아 기능 장애, 재수초화 실패, 신경 예비력 소진으로 진행하기 때문이다. 그래서 중추 침투성 BTK 억제제나 신경보호·재수초화 전략이 연구된다.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Filippi M et al. Multiple sclerosis. Nat Rev Dis Primers 2018;4:43.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Bjornevik K et al. Longitudinal analysis reveals high prevalence of Epstein-Barr virus associated with multiple sclerosis. Science 2022;375:296–301.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Thompson AJ et al. Diagnosis of multiple sclerosis: 2017 revisions of the McDonald criteria. Lancet Neurol 2018;17:162–173.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B08-L03  ·  다발성 경화증: 면역 기전과 치료</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Montalban X et al. Ocrelizumab versus placebo in primary progressive multiple sclerosis. N Engl J Med 2017;376:209–220.</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Kappos L et al. Contribution of relapse-independent progression vs relapse-associated worsening to overall confirmed disability accumulation. JAMA Neurol 2020;77:1132–1140.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