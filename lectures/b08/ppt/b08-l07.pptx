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유전학적 증거가 가장 강력하다. 우성 유전 AD를 일으키는 모든 변이(APP, PSEN1/2)와 다운증후군의 APP 중복이 Aβ 생성·응집을 증가시키고, 보호 변이(A673T)는 감소시킨다. 또한 플라크 자체보다 가용성 올리고머·프로토피브릴이 독성이며, 아밀로이드가 타우 확산을 촉발하는 상류 사건이라는 수정 모델이 제시된다. 항아밀로이드 항체의 임상 효과도 부분적 지지를 제공한다.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APOE ε4 동형접합자는 혈관 아밀로이드 부담이 커 ARIA-E·ARIA-H 발생률이 크게 높고 중증 사례 위험도 증가한다. 따라서 유전형을 알면 위험-이득을 더 정확히 설명하고, MRI 감시 빈도를 높이며, 항응고제 병용 여부 등을 신중히 결정할 수 있다. 유전형만으로 치료를 금지하지는 않지만 공유 의사결정의 핵심 정보이다.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TREM2는 미세아교세포가 지질·세포 파편·아밀로이드를 감지하고 플라크를 둘러싸 방벽을 만드는 데 필요하다. 기능이 떨어지면 플라크 주변 미세아교세포 반응이 약해져 플라크가 확산되고 신경돌기 손상이 커진다. 즉 염증 반응을 무조건 억제하는 것이 아니라 '보호적 미세아교세포 반응은 강화하고 해로운 만성 염증은 줄이는' 선택적 전략이 필요함을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고가·침습적인 아밀로이드 PET이나 요추천자 없이도 아밀로이드 병리 여부를 높은 정확도로 선별할 수 있어, 1차 진료에서 전문의 의뢰와 치료 적격성 판단을 효율화한다. 다만 신기능 저하·비만 등에 영향을 받고, 인지 정상인에서 양성은 '위험'을 의미할 뿐 치매 발병을 확정하지 않으므로 결과 전달과 상담에 신중해야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B08 신경면역학과 신경퇴행질환  ·  신경퇴행과 면역</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3200" b="1" i="0">
                <a:solidFill>
                  <a:srgbClr val="FFFFFF"/>
                </a:solidFill>
                <a:latin typeface="Malgun Gothic"/>
                <a:ea typeface="Malgun Gothic"/>
                <a:cs typeface="Malgun Gothic"/>
              </a:rPr>
              <a:t>알츠하이머병: 병리, 신경염증과 항아밀로이드 치료</a:t>
            </a:r>
          </a:p>
          <a:p>
            <a:r>
              <a:rPr sz="2000" b="0" i="0">
                <a:solidFill>
                  <a:srgbClr val="C2CDD6"/>
                </a:solidFill>
                <a:latin typeface="Malgun Gothic"/>
                <a:ea typeface="Malgun Gothic"/>
                <a:cs typeface="Malgun Gothic"/>
              </a:rPr>
              <a:t>Alzheimer's Disease: Pathology, Neuroinflammation and Anti-Amyloid Therapy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B08-L07</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아밀로이드 연쇄 가설과 타우 병리의 진행(브라크 단계)을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미세아교세포·보체·TREM2를 중심으로 한 신경염증의 이중 역할을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A/T/N 체계와 혈액 바이오마커(p-tau217)에 기반한 생물학적 진단을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항아밀로이드 단클론항체의 효과·ARIA·적응 기준을 평가한다.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타우·염증·다영역 예방 등 그 밖의 치료 전략을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병리와 아밀로이드 연쇄 가설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신경염증: 미세아교세포와 보체</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생물학적 진단: A/T/N과 혈액 바이오마커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항아밀로이드 단클론항체</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그 외 치료 전략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병리와 아밀로이드 연쇄 가설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두 가지 특징 병리: 세포 외 </a:t>
            </a:r>
            <a:r>
              <a:rPr sz="2000" b="1" i="0">
                <a:solidFill>
                  <a:srgbClr val="11202B"/>
                </a:solidFill>
                <a:latin typeface="Malgun Gothic"/>
                <a:ea typeface="Malgun Gothic"/>
                <a:cs typeface="Malgun Gothic"/>
              </a:rPr>
              <a:t>아밀로이드 플라크</a:t>
            </a:r>
            <a:r>
              <a:rPr sz="2000" b="0" i="0">
                <a:solidFill>
                  <a:srgbClr val="11202B"/>
                </a:solidFill>
                <a:latin typeface="Malgun Gothic"/>
                <a:ea typeface="Malgun Gothic"/>
                <a:cs typeface="Malgun Gothic"/>
              </a:rPr>
              <a:t>(Aβ42 응집)와 세포 내 </a:t>
            </a:r>
            <a:r>
              <a:rPr sz="2000" b="1" i="0">
                <a:solidFill>
                  <a:srgbClr val="11202B"/>
                </a:solidFill>
                <a:latin typeface="Malgun Gothic"/>
                <a:ea typeface="Malgun Gothic"/>
                <a:cs typeface="Malgun Gothic"/>
              </a:rPr>
              <a:t>신경섬유 엉킴</a:t>
            </a:r>
            <a:r>
              <a:rPr sz="2000" b="0" i="0">
                <a:solidFill>
                  <a:srgbClr val="11202B"/>
                </a:solidFill>
                <a:latin typeface="Malgun Gothic"/>
                <a:ea typeface="Malgun Gothic"/>
                <a:cs typeface="Malgun Gothic"/>
              </a:rPr>
              <a:t>(과인산화 타우).</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APP 처리</a:t>
            </a:r>
            <a:r>
              <a:rPr sz="2000" b="0" i="0">
                <a:solidFill>
                  <a:srgbClr val="11202B"/>
                </a:solidFill>
                <a:latin typeface="Malgun Gothic"/>
                <a:ea typeface="Malgun Gothic"/>
                <a:cs typeface="Malgun Gothic"/>
              </a:rPr>
              <a:t>: α-세크레타아제(비아밀로이드 경로) vs </a:t>
            </a:r>
            <a:r>
              <a:rPr sz="2000" b="1" i="0">
                <a:solidFill>
                  <a:srgbClr val="11202B"/>
                </a:solidFill>
                <a:latin typeface="Malgun Gothic"/>
                <a:ea typeface="Malgun Gothic"/>
                <a:cs typeface="Malgun Gothic"/>
              </a:rPr>
              <a:t>β-세크레타아제(BACE1) + γ-세크레타아제</a:t>
            </a:r>
            <a:r>
              <a:rPr sz="2000" b="0" i="0">
                <a:solidFill>
                  <a:srgbClr val="11202B"/>
                </a:solidFill>
                <a:latin typeface="Malgun Gothic"/>
                <a:ea typeface="Malgun Gothic"/>
                <a:cs typeface="Malgun Gothic"/>
              </a:rPr>
              <a:t>(프레세닐린) → Aβ40/Aβ42; Aβ42는 응집 경향이 강하다.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아밀로이드 연쇄 가설: Aβ 생산·제거 불균형 → 올리고머·플라크 → 타우 과인산화·확산 → 시냅스 소실·신경 사멸 → 치매.</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지지: 우성 유전 AD 변이가 모두 Aβ42 비율·응집을 증가, 다운증후군(APP 3복사), 보호 변이 A673T(B06 L05), 항아밀로이드 항체의 임상 효과(작지만 유의).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병리와 아밀로이드 연쇄 가설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한계: 플라크 양과 인지의 상관이 약함, 많은 약물 실패, 플라크 없는 인지 저하 존재 → 수정된 모델(가용성 올리고머·프로토피브릴이 독성; 타우가 하류 실행자).</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타우 브라크 단계</a:t>
            </a:r>
            <a:r>
              <a:rPr sz="2000" b="0" i="0">
                <a:solidFill>
                  <a:srgbClr val="11202B"/>
                </a:solidFill>
                <a:latin typeface="Malgun Gothic"/>
                <a:ea typeface="Malgun Gothic"/>
                <a:cs typeface="Malgun Gothic"/>
              </a:rPr>
              <a:t>: I–II 내후각피질 → III–IV 변연계(해마) → V–VI 신생피질 — </a:t>
            </a:r>
            <a:r>
              <a:rPr sz="2000" b="1" i="0">
                <a:solidFill>
                  <a:srgbClr val="11202B"/>
                </a:solidFill>
                <a:latin typeface="Malgun Gothic"/>
                <a:ea typeface="Malgun Gothic"/>
                <a:cs typeface="Malgun Gothic"/>
              </a:rPr>
              <a:t>인지 저하와 상관이 높다</a:t>
            </a:r>
            <a:r>
              <a:rPr sz="2000" b="0" i="0">
                <a:solidFill>
                  <a:srgbClr val="11202B"/>
                </a:solidFill>
                <a:latin typeface="Malgun Gothic"/>
                <a:ea typeface="Malgun Gothic"/>
                <a:cs typeface="Malgun Gothic"/>
              </a:rPr>
              <a:t>(아밀로이드보다).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타우 확산: 시냅스 연결망을 따라 세포 간 전파(프리온 유사 '씨뿌리기'), 아밀로이드가 이 확산을 가속한다는 모델.</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동반 병리: 노인 뇌의 대부분은 </a:t>
            </a:r>
            <a:r>
              <a:rPr sz="2000" b="1" i="0">
                <a:solidFill>
                  <a:srgbClr val="11202B"/>
                </a:solidFill>
                <a:latin typeface="Malgun Gothic"/>
                <a:ea typeface="Malgun Gothic"/>
                <a:cs typeface="Malgun Gothic"/>
              </a:rPr>
              <a:t>혼합 병리</a:t>
            </a:r>
            <a:r>
              <a:rPr sz="2000" b="0" i="0">
                <a:solidFill>
                  <a:srgbClr val="11202B"/>
                </a:solidFill>
                <a:latin typeface="Malgun Gothic"/>
                <a:ea typeface="Malgun Gothic"/>
                <a:cs typeface="Malgun Gothic"/>
              </a:rPr>
              <a:t>(AD + 혈관 + LATE TDP-43 + 레비 소체) → '순수 AD'는 오히려 드물다.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신경염증: 미세아교세포와 보체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AD 유전 위험 변이의 다수가 미세아교세포 유전자(B06 L05) → 염증은 부수 현상이 아니라 </a:t>
            </a:r>
            <a:r>
              <a:rPr sz="1800" b="1" i="0">
                <a:solidFill>
                  <a:srgbClr val="11202B"/>
                </a:solidFill>
                <a:latin typeface="Malgun Gothic"/>
                <a:ea typeface="Malgun Gothic"/>
                <a:cs typeface="Malgun Gothic"/>
              </a:rPr>
              <a:t>인과적 기여자</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미세아교세포의 이중 역할</a:t>
            </a:r>
            <a:r>
              <a:rPr sz="1800" b="0" i="0">
                <a:solidFill>
                  <a:srgbClr val="11202B"/>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보호: Aβ 탐식·제거, 플라크를 둘러싸 '방벽' 형성(</a:t>
            </a:r>
            <a:r>
              <a:rPr sz="1600" b="1" i="0">
                <a:solidFill>
                  <a:srgbClr val="2E3F4C"/>
                </a:solidFill>
                <a:latin typeface="Malgun Gothic"/>
                <a:ea typeface="Malgun Gothic"/>
                <a:cs typeface="Malgun Gothic"/>
              </a:rPr>
              <a:t>TREM2 의존</a:t>
            </a:r>
            <a:r>
              <a:rPr sz="1600" b="0" i="0">
                <a:solidFill>
                  <a:srgbClr val="2E3F4C"/>
                </a:solidFill>
                <a:latin typeface="Malgun Gothic"/>
                <a:ea typeface="Malgun Gothic"/>
                <a:cs typeface="Malgun Gothic"/>
              </a:rPr>
              <a:t> — TREM2 결손 시 플라크가 더 확산되고 신경돌기 손상 증가).</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해로움: 만성 활성화 → IL-1β·TNF·보체 분비, </a:t>
            </a:r>
            <a:r>
              <a:rPr sz="1600" b="1" i="0">
                <a:solidFill>
                  <a:srgbClr val="2E3F4C"/>
                </a:solidFill>
                <a:latin typeface="Malgun Gothic"/>
                <a:ea typeface="Malgun Gothic"/>
                <a:cs typeface="Malgun Gothic"/>
              </a:rPr>
              <a:t>보체 의존 시냅스 가지치기 재활성화</a:t>
            </a:r>
            <a:r>
              <a:rPr sz="1600" b="0" i="0">
                <a:solidFill>
                  <a:srgbClr val="2E3F4C"/>
                </a:solidFill>
                <a:latin typeface="Malgun Gothic"/>
                <a:ea typeface="Malgun Gothic"/>
                <a:cs typeface="Malgun Gothic"/>
              </a:rPr>
              <a:t>(C1q–C3–CR3 — 병리 초기 시냅스 소실의 주 기전), 타우 확산 촉진(엑소좀), ApoE 매개 지질 축적(B05 L01).</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DAM</a:t>
            </a:r>
            <a:r>
              <a:rPr sz="1800" b="0" i="0">
                <a:solidFill>
                  <a:srgbClr val="11202B"/>
                </a:solidFill>
                <a:latin typeface="Malgun Gothic"/>
                <a:ea typeface="Malgun Gothic"/>
                <a:cs typeface="Malgun Gothic"/>
              </a:rPr>
              <a:t>(질환 연관 미세아교세포): 항상성 상태(P2RY12, TMEM119) → TREM2–APOE 의존 2단계 전환(지질 대사·탐식 유전자 상향).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신경염증: 미세아교세포와 보체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성상세포 반응(GFAP 상승 — 혈액 GFAP가 조기 바이오마커), 말초 면역세포 유입(제한적이나 T세포 존재 보고).</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감염 가설: HSV-1, 치주균(P. gingivalis), 장내 미생물 — Aβ가 </a:t>
            </a:r>
            <a:r>
              <a:rPr sz="2200" b="1" i="0">
                <a:solidFill>
                  <a:srgbClr val="11202B"/>
                </a:solidFill>
                <a:latin typeface="Malgun Gothic"/>
                <a:ea typeface="Malgun Gothic"/>
                <a:cs typeface="Malgun Gothic"/>
              </a:rPr>
              <a:t>항균 펩타이드</a:t>
            </a:r>
            <a:r>
              <a:rPr sz="2200" b="0" i="0">
                <a:solidFill>
                  <a:srgbClr val="11202B"/>
                </a:solidFill>
                <a:latin typeface="Malgun Gothic"/>
                <a:ea typeface="Malgun Gothic"/>
                <a:cs typeface="Malgun Gothic"/>
              </a:rPr>
              <a:t>로 작용한다는 '항미생물 보호 가설'이 제시되나 인과성은 미확립; 대상포진 백신 접종과 치매 감소의 자연 실험 결과(웨일스 코호트, 2025 Nature)가 주목받고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생물학적 진단: A/T/N과 혈액 바이오마커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A/T/N 체계</a:t>
            </a:r>
            <a:r>
              <a:rPr sz="1800" b="0" i="0">
                <a:solidFill>
                  <a:srgbClr val="11202B"/>
                </a:solidFill>
                <a:latin typeface="Malgun Gothic"/>
                <a:ea typeface="Malgun Gothic"/>
                <a:cs typeface="Malgun Gothic"/>
              </a:rPr>
              <a:t>(2018 NIA-AA): </a:t>
            </a:r>
            <a:r>
              <a:rPr sz="1800" b="1" i="0">
                <a:solidFill>
                  <a:srgbClr val="11202B"/>
                </a:solidFill>
                <a:latin typeface="Malgun Gothic"/>
                <a:ea typeface="Malgun Gothic"/>
                <a:cs typeface="Malgun Gothic"/>
              </a:rPr>
              <a:t>A</a:t>
            </a:r>
            <a:r>
              <a:rPr sz="1800" b="0" i="0">
                <a:solidFill>
                  <a:srgbClr val="11202B"/>
                </a:solidFill>
                <a:latin typeface="Malgun Gothic"/>
                <a:ea typeface="Malgun Gothic"/>
                <a:cs typeface="Malgun Gothic"/>
              </a:rPr>
              <a:t>(아밀로이드 — 아밀로이드 PET, CSF Aβ42/40), </a:t>
            </a:r>
            <a:r>
              <a:rPr sz="1800" b="1" i="0">
                <a:solidFill>
                  <a:srgbClr val="11202B"/>
                </a:solidFill>
                <a:latin typeface="Malgun Gothic"/>
                <a:ea typeface="Malgun Gothic"/>
                <a:cs typeface="Malgun Gothic"/>
              </a:rPr>
              <a:t>T</a:t>
            </a:r>
            <a:r>
              <a:rPr sz="1800" b="0" i="0">
                <a:solidFill>
                  <a:srgbClr val="11202B"/>
                </a:solidFill>
                <a:latin typeface="Malgun Gothic"/>
                <a:ea typeface="Malgun Gothic"/>
                <a:cs typeface="Malgun Gothic"/>
              </a:rPr>
              <a:t>(타우 — 타우 PET, CSF p-tau), </a:t>
            </a:r>
            <a:r>
              <a:rPr sz="1800" b="1" i="0">
                <a:solidFill>
                  <a:srgbClr val="11202B"/>
                </a:solidFill>
                <a:latin typeface="Malgun Gothic"/>
                <a:ea typeface="Malgun Gothic"/>
                <a:cs typeface="Malgun Gothic"/>
              </a:rPr>
              <a:t>N</a:t>
            </a:r>
            <a:r>
              <a:rPr sz="1800" b="0" i="0">
                <a:solidFill>
                  <a:srgbClr val="11202B"/>
                </a:solidFill>
                <a:latin typeface="Malgun Gothic"/>
                <a:ea typeface="Malgun Gothic"/>
                <a:cs typeface="Malgun Gothic"/>
              </a:rPr>
              <a:t>(신경퇴행 — MRI 위축, FDG-PET, CSF 총 타우) → 임상 증후군과 독립적으로 생물학적으로 정의.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2024 개정(NIA-AA): 핵심 바이오마커 1(아밀로이드·p-tau217 등 — 진단), 핵심 2(중기 타우), 비특이(NfL, GFAP) → </a:t>
            </a:r>
            <a:r>
              <a:rPr sz="1800" b="1" i="0">
                <a:solidFill>
                  <a:srgbClr val="11202B"/>
                </a:solidFill>
                <a:latin typeface="Malgun Gothic"/>
                <a:ea typeface="Malgun Gothic"/>
                <a:cs typeface="Malgun Gothic"/>
              </a:rPr>
              <a:t>혈액 기반 진단</a:t>
            </a:r>
            <a:r>
              <a:rPr sz="1800" b="0" i="0">
                <a:solidFill>
                  <a:srgbClr val="11202B"/>
                </a:solidFill>
                <a:latin typeface="Malgun Gothic"/>
                <a:ea typeface="Malgun Gothic"/>
                <a:cs typeface="Malgun Gothic"/>
              </a:rPr>
              <a:t>을 공식 인정하는 방향.</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혈장 p-tau217</a:t>
            </a:r>
            <a:r>
              <a:rPr sz="1800" b="0" i="0">
                <a:solidFill>
                  <a:srgbClr val="11202B"/>
                </a:solidFill>
                <a:latin typeface="Malgun Gothic"/>
                <a:ea typeface="Malgun Gothic"/>
                <a:cs typeface="Malgun Gothic"/>
              </a:rPr>
              <a:t>: 아밀로이드 병리를 90% 이상의 정확도로 예측(PET·CSF에 필적) → 1차 진료 선별·치료 적격성 판단으로 확산; p-tau181, Aβ42/40, GFAP, NfL 보조.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생물학적 진단: A/T/N과 혈액 바이오마커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진단 흐름 변화: 임상 증후군 → 혈액 바이오마커 → 필요 시 CSF·PET 확인 → 치료 결정(+APOE 유전형).</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주의: 신기능 저하·비만·동반 질환이 혈액 지표에 영향, 무증상 양성의 의미(아직 '위험'이지 '질병 확정'이 아님) — 선별 검사의 윤리.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항아밀로이드 단클론항체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대상</a:t>
            </a:r>
            <a:r>
              <a:rPr sz="1800" b="0" i="0">
                <a:solidFill>
                  <a:srgbClr val="11202B"/>
                </a:solidFill>
                <a:latin typeface="Malgun Gothic"/>
                <a:ea typeface="Malgun Gothic"/>
                <a:cs typeface="Malgun Gothic"/>
              </a:rPr>
              <a:t>: 경도인지장애~경도 AD 치매 + </a:t>
            </a:r>
            <a:r>
              <a:rPr sz="1800" b="1" i="0">
                <a:solidFill>
                  <a:srgbClr val="11202B"/>
                </a:solidFill>
                <a:latin typeface="Malgun Gothic"/>
                <a:ea typeface="Malgun Gothic"/>
                <a:cs typeface="Malgun Gothic"/>
              </a:rPr>
              <a:t>아밀로이드 양성 확인</a:t>
            </a:r>
            <a:r>
              <a:rPr sz="1800" b="0" i="0">
                <a:solidFill>
                  <a:srgbClr val="11202B"/>
                </a:solidFill>
                <a:latin typeface="Malgun Gothic"/>
                <a:ea typeface="Malgun Gothic"/>
                <a:cs typeface="Malgun Gothic"/>
              </a:rPr>
              <a:t>(PET 또는 CSF/혈액), MRI 안전성 평가.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ARIA</a:t>
            </a:r>
            <a:r>
              <a:rPr sz="1800" b="0" i="0">
                <a:solidFill>
                  <a:srgbClr val="11202B"/>
                </a:solidFill>
                <a:latin typeface="Malgun Gothic"/>
                <a:ea typeface="Malgun Gothic"/>
                <a:cs typeface="Malgun Gothic"/>
              </a:rPr>
              <a:t>(아밀로이드 관련 영상 이상): ARIA-E(혈관성 부종), ARIA-H(미세출혈·표재성 철침착) — 혈관벽 아밀로이드 제거에 따른 투과성 증가(B08 L02).</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위험: </a:t>
            </a:r>
            <a:r>
              <a:rPr sz="1600" b="1" i="0">
                <a:solidFill>
                  <a:srgbClr val="2E3F4C"/>
                </a:solidFill>
                <a:latin typeface="Malgun Gothic"/>
                <a:ea typeface="Malgun Gothic"/>
                <a:cs typeface="Malgun Gothic"/>
              </a:rPr>
              <a:t>APOE4 동형접합</a:t>
            </a:r>
            <a:r>
              <a:rPr sz="1600" b="0" i="0">
                <a:solidFill>
                  <a:srgbClr val="2E3F4C"/>
                </a:solidFill>
                <a:latin typeface="Malgun Gothic"/>
                <a:ea typeface="Malgun Gothic"/>
                <a:cs typeface="Malgun Gothic"/>
              </a:rPr>
              <a:t>(ARIA-E 30–40%), 항응고제 병용, 기저 미세출혈 다수 → </a:t>
            </a:r>
            <a:r>
              <a:rPr sz="1600" b="1" i="0">
                <a:solidFill>
                  <a:srgbClr val="2E3F4C"/>
                </a:solidFill>
                <a:latin typeface="Malgun Gothic"/>
                <a:ea typeface="Malgun Gothic"/>
                <a:cs typeface="Malgun Gothic"/>
              </a:rPr>
              <a:t>치료 전 APOE 유전형 검사와 정기 MRI</a:t>
            </a:r>
            <a:r>
              <a:rPr sz="1600" b="0" i="0">
                <a:solidFill>
                  <a:srgbClr val="2E3F4C"/>
                </a:solidFill>
                <a:latin typeface="Malgun Gothic"/>
                <a:ea typeface="Malgun Gothic"/>
                <a:cs typeface="Malgun Gothic"/>
              </a:rPr>
              <a:t>, 증상성 ARIA 시 중단·스테로이드.</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드물지만 사망 사례 보고(특히 항응고·혈전용해 병용).</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논쟁: 효과 크기가 임상적으로 의미 있는지(최소 중요 차이 논의), 비용·인프라(PET·MRI·정주), 실제 환자군 일반화, 장기(4년+) 효과와 안전성.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항아밀로이드 단클론항체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실무: 치료 적격성 평가, 공유 의사결정(이득·ARIA 위험·부담), 항응고 환자 신중, 치료 중 MRI 일정(기준·14주·26주·52주 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항아밀로이드 단클론항체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레카네맙</a:t>
                      </a:r>
                    </a:p>
                  </a:txBody>
                  <a:tcPr marL="73152" marR="73152">
                    <a:solidFill>
                      <a:srgbClr val="FFFFFF"/>
                    </a:solidFill>
                  </a:tcPr>
                </a:tc>
                <a:tc>
                  <a:txBody>
                    <a:bodyPr/>
                    <a:lstStyle/>
                    <a:p>
                      <a:r>
                        <a:rPr sz="1500" b="0" i="0">
                          <a:solidFill>
                            <a:srgbClr val="11202B"/>
                          </a:solidFill>
                          <a:latin typeface="Malgun Gothic"/>
                          <a:ea typeface="Malgun Gothic"/>
                          <a:cs typeface="Malgun Gothic"/>
                        </a:rPr>
                        <a:t>가용성 </a:t>
                      </a:r>
                      <a:r>
                        <a:rPr sz="1500" b="1" i="0">
                          <a:solidFill>
                            <a:srgbClr val="11202B"/>
                          </a:solidFill>
                          <a:latin typeface="Malgun Gothic"/>
                          <a:ea typeface="Malgun Gothic"/>
                          <a:cs typeface="Malgun Gothic"/>
                        </a:rPr>
                        <a:t>프로토피브릴</a:t>
                      </a:r>
                    </a:p>
                  </a:txBody>
                  <a:tcPr marL="73152" marR="73152">
                    <a:solidFill>
                      <a:srgbClr val="FFFFFF"/>
                    </a:solidFill>
                  </a:tcPr>
                </a:tc>
                <a:tc>
                  <a:txBody>
                    <a:bodyPr/>
                    <a:lstStyle/>
                    <a:p>
                      <a:r>
                        <a:rPr sz="1500" b="0" i="0">
                          <a:solidFill>
                            <a:srgbClr val="11202B"/>
                          </a:solidFill>
                          <a:latin typeface="Malgun Gothic"/>
                          <a:ea typeface="Malgun Gothic"/>
                          <a:cs typeface="Malgun Gothic"/>
                        </a:rPr>
                        <a:t>CLARITY-AD: 18개월 CDR-SB 악화 27% 감소(0.45점 차), 아밀로이드 제거; 2023 FDA 정식 승인</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도나네맙</a:t>
                      </a:r>
                    </a:p>
                  </a:txBody>
                  <a:tcPr marL="73152" marR="73152">
                    <a:solidFill>
                      <a:srgbClr val="ECF1F5"/>
                    </a:solidFill>
                  </a:tcPr>
                </a:tc>
                <a:tc>
                  <a:txBody>
                    <a:bodyPr/>
                    <a:lstStyle/>
                    <a:p>
                      <a:r>
                        <a:rPr sz="1500" b="0" i="0">
                          <a:solidFill>
                            <a:srgbClr val="11202B"/>
                          </a:solidFill>
                          <a:latin typeface="Malgun Gothic"/>
                          <a:ea typeface="Malgun Gothic"/>
                          <a:cs typeface="Malgun Gothic"/>
                        </a:rPr>
                        <a:t>플라크의 </a:t>
                      </a:r>
                      <a:r>
                        <a:rPr sz="1500" b="1" i="0">
                          <a:solidFill>
                            <a:srgbClr val="11202B"/>
                          </a:solidFill>
                          <a:latin typeface="Malgun Gothic"/>
                          <a:ea typeface="Malgun Gothic"/>
                          <a:cs typeface="Malgun Gothic"/>
                        </a:rPr>
                        <a:t>피로글루타메이트 Aβ</a:t>
                      </a:r>
                    </a:p>
                  </a:txBody>
                  <a:tcPr marL="73152" marR="73152">
                    <a:solidFill>
                      <a:srgbClr val="ECF1F5"/>
                    </a:solidFill>
                  </a:tcPr>
                </a:tc>
                <a:tc>
                  <a:txBody>
                    <a:bodyPr/>
                    <a:lstStyle/>
                    <a:p>
                      <a:r>
                        <a:rPr sz="1500" b="0" i="0">
                          <a:solidFill>
                            <a:srgbClr val="11202B"/>
                          </a:solidFill>
                          <a:latin typeface="Malgun Gothic"/>
                          <a:ea typeface="Malgun Gothic"/>
                          <a:cs typeface="Malgun Gothic"/>
                        </a:rPr>
                        <a:t>TRAILBLAZER-ALZ 2: 35% 감소(저·중간 타우군), 아밀로이드 제거 후 </a:t>
                      </a:r>
                      <a:r>
                        <a:rPr sz="1500" b="1" i="0">
                          <a:solidFill>
                            <a:srgbClr val="11202B"/>
                          </a:solidFill>
                          <a:latin typeface="Malgun Gothic"/>
                          <a:ea typeface="Malgun Gothic"/>
                          <a:cs typeface="Malgun Gothic"/>
                        </a:rPr>
                        <a:t>투약 중단 가능</a:t>
                      </a:r>
                      <a:r>
                        <a:rPr sz="1500" b="0" i="0">
                          <a:solidFill>
                            <a:srgbClr val="11202B"/>
                          </a:solidFill>
                          <a:latin typeface="Malgun Gothic"/>
                          <a:ea typeface="Malgun Gothic"/>
                          <a:cs typeface="Malgun Gothic"/>
                        </a:rPr>
                        <a:t>; 2024 승인</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아두카누맙</a:t>
                      </a:r>
                    </a:p>
                  </a:txBody>
                  <a:tcPr marL="73152" marR="73152">
                    <a:solidFill>
                      <a:srgbClr val="FFFFFF"/>
                    </a:solidFill>
                  </a:tcPr>
                </a:tc>
                <a:tc>
                  <a:txBody>
                    <a:bodyPr/>
                    <a:lstStyle/>
                    <a:p>
                      <a:r>
                        <a:rPr sz="1500" b="0" i="0">
                          <a:solidFill>
                            <a:srgbClr val="11202B"/>
                          </a:solidFill>
                          <a:latin typeface="Malgun Gothic"/>
                          <a:ea typeface="Malgun Gothic"/>
                          <a:cs typeface="Malgun Gothic"/>
                        </a:rPr>
                        <a:t>응집 Aβ</a:t>
                      </a:r>
                    </a:p>
                  </a:txBody>
                  <a:tcPr marL="73152" marR="73152">
                    <a:solidFill>
                      <a:srgbClr val="FFFFFF"/>
                    </a:solidFill>
                  </a:tcPr>
                </a:tc>
                <a:tc>
                  <a:txBody>
                    <a:bodyPr/>
                    <a:lstStyle/>
                    <a:p>
                      <a:r>
                        <a:rPr sz="1500" b="0" i="0">
                          <a:solidFill>
                            <a:srgbClr val="11202B"/>
                          </a:solidFill>
                          <a:latin typeface="Malgun Gothic"/>
                          <a:ea typeface="Malgun Gothic"/>
                          <a:cs typeface="Malgun Gothic"/>
                        </a:rPr>
                        <a:t>논란 속 가속 승인 후 2024 철수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간테네루맙·솔라네주맙 등</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1차 결과 실패(증상 전 시험 포함)</a:t>
                      </a:r>
                    </a:p>
                  </a:txBody>
                  <a:tcPr marL="73152" marR="73152">
                    <a:solidFill>
                      <a:srgbClr val="ECF1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그 외 치료 전략</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전략</a:t>
                      </a:r>
                    </a:p>
                  </a:txBody>
                  <a:tcPr marL="73152" marR="73152">
                    <a:solidFill>
                      <a:srgbClr val="003C71"/>
                    </a:solidFill>
                  </a:tcPr>
                </a:tc>
                <a:tc>
                  <a:txBody>
                    <a:bodyPr/>
                    <a:lstStyle/>
                    <a:p>
                      <a:r>
                        <a:rPr sz="1500" b="1" i="0">
                          <a:solidFill>
                            <a:srgbClr val="FFFFFF"/>
                          </a:solidFill>
                          <a:latin typeface="Malgun Gothic"/>
                          <a:ea typeface="Malgun Gothic"/>
                          <a:cs typeface="Malgun Gothic"/>
                        </a:rPr>
                        <a:t>현황</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콜린에스테라아제 억제제·메만틴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증상 완화(표준 치료)</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타우 표적</a:t>
                      </a:r>
                    </a:p>
                  </a:txBody>
                  <a:tcPr marL="73152" marR="73152">
                    <a:solidFill>
                      <a:srgbClr val="ECF1F5"/>
                    </a:solidFill>
                  </a:tcPr>
                </a:tc>
                <a:tc>
                  <a:txBody>
                    <a:bodyPr/>
                    <a:lstStyle/>
                    <a:p>
                      <a:r>
                        <a:rPr sz="1500" b="0" i="0">
                          <a:solidFill>
                            <a:srgbClr val="11202B"/>
                          </a:solidFill>
                          <a:latin typeface="Malgun Gothic"/>
                          <a:ea typeface="Malgun Gothic"/>
                          <a:cs typeface="Malgun Gothic"/>
                        </a:rPr>
                        <a:t>ASO(BIIB080 — 1b에서 CSF 타우·타우 PET 감소, 2상 진행), 항타우 항체(대부분 실패 — 세포 외 타우만 겨냥한 한계), O-GlcNAc 증가제, 응집 억제</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염증 표적</a:t>
                      </a:r>
                    </a:p>
                  </a:txBody>
                  <a:tcPr marL="73152" marR="73152">
                    <a:solidFill>
                      <a:srgbClr val="FFFFFF"/>
                    </a:solidFill>
                  </a:tcPr>
                </a:tc>
                <a:tc>
                  <a:txBody>
                    <a:bodyPr/>
                    <a:lstStyle/>
                    <a:p>
                      <a:r>
                        <a:rPr sz="1500" b="0" i="0">
                          <a:solidFill>
                            <a:srgbClr val="11202B"/>
                          </a:solidFill>
                          <a:latin typeface="Malgun Gothic"/>
                          <a:ea typeface="Malgun Gothic"/>
                          <a:cs typeface="Malgun Gothic"/>
                        </a:rPr>
                        <a:t>TREM2 작용 항체(3상 실패), NLRP3 억제제, 미세아교세포 상태 조절, CSF1R</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대사</a:t>
                      </a:r>
                    </a:p>
                  </a:txBody>
                  <a:tcPr marL="73152" marR="73152">
                    <a:solidFill>
                      <a:srgbClr val="ECF1F5"/>
                    </a:solidFill>
                  </a:tcPr>
                </a:tc>
                <a:tc>
                  <a:txBody>
                    <a:bodyPr/>
                    <a:lstStyle/>
                    <a:p>
                      <a:r>
                        <a:rPr sz="1500" b="0" i="0">
                          <a:solidFill>
                            <a:srgbClr val="11202B"/>
                          </a:solidFill>
                          <a:latin typeface="Malgun Gothic"/>
                          <a:ea typeface="Malgun Gothic"/>
                          <a:cs typeface="Malgun Gothic"/>
                        </a:rPr>
                        <a:t>GLP-1 RA(EVOKE 음성), 인슐린(실패), 케톤</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감염</a:t>
                      </a:r>
                    </a:p>
                  </a:txBody>
                  <a:tcPr marL="73152" marR="73152">
                    <a:solidFill>
                      <a:srgbClr val="FFFFFF"/>
                    </a:solidFill>
                  </a:tcPr>
                </a:tc>
                <a:tc>
                  <a:txBody>
                    <a:bodyPr/>
                    <a:lstStyle/>
                    <a:p>
                      <a:r>
                        <a:rPr sz="1500" b="0" i="0">
                          <a:solidFill>
                            <a:srgbClr val="11202B"/>
                          </a:solidFill>
                          <a:latin typeface="Malgun Gothic"/>
                          <a:ea typeface="Malgun Gothic"/>
                          <a:cs typeface="Malgun Gothic"/>
                        </a:rPr>
                        <a:t>항바이러스(발라시클로버 2상), 치주균 억제제(실패)</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예방·생활습관</a:t>
                      </a:r>
                    </a:p>
                  </a:txBody>
                  <a:tcPr marL="73152" marR="73152">
                    <a:solidFill>
                      <a:srgbClr val="ECF1F5"/>
                    </a:solidFill>
                  </a:tcPr>
                </a:tc>
                <a:tc>
                  <a:txBody>
                    <a:bodyPr/>
                    <a:lstStyle/>
                    <a:p>
                      <a:r>
                        <a:rPr sz="1500" b="0" i="0">
                          <a:solidFill>
                            <a:srgbClr val="11202B"/>
                          </a:solidFill>
                          <a:latin typeface="Malgun Gothic"/>
                          <a:ea typeface="Malgun Gothic"/>
                          <a:cs typeface="Malgun Gothic"/>
                        </a:rPr>
                        <a:t>다영역 개입(FINGER·US POINTER), 혈압(SPRINT-MIND), 청력, 운동 — 가장 근거 있는 공중보건 전략 (B05 L01)</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증상·돌봄</a:t>
                      </a:r>
                    </a:p>
                  </a:txBody>
                  <a:tcPr marL="73152" marR="73152">
                    <a:solidFill>
                      <a:srgbClr val="FFFFFF"/>
                    </a:solidFill>
                  </a:tcPr>
                </a:tc>
                <a:tc>
                  <a:txBody>
                    <a:bodyPr/>
                    <a:lstStyle/>
                    <a:p>
                      <a:r>
                        <a:rPr sz="1500" b="0" i="0">
                          <a:solidFill>
                            <a:srgbClr val="11202B"/>
                          </a:solidFill>
                          <a:latin typeface="Malgun Gothic"/>
                          <a:ea typeface="Malgun Gothic"/>
                          <a:cs typeface="Malgun Gothic"/>
                        </a:rPr>
                        <a:t>행동 증상(브렉스피프라졸 — 초조 승인), 수면, 돌봄자 지원, 진행 단계 계획</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증상 전(아밀로이드 양성 인지 정상) 예방 시험(AHEAD 3-45, TRAILBLAZER-ALZ 3)이 '치료 시점을 앞당기면 효과가 커지는가'를 검증하고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혈액 바이오마커의 1차 진료 도입이 치매 진단 경로를 근본적으로 바꾸고 있으며, 적정 사용 기준과 결과 전달 방식이 과제로 남아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다중 표적(아밀로이드 + 타우 + 염증) 병용과 유전형 기반(APOE4) 층화 치료가 다음 단계로 논의된다.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AD는 Aβ 플라크와 타우 엉킴이 특징이며, 타우 병리의 브라크 단계가 인지 저하와 더 잘 상관한다.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미세아교세포는 TREM2 의존적으로 플라크를 제어하는 보호 역할과 보체 매개 시냅스 소실·만성 염증의 해로운 역할을 함께 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A/T/N 체계와 혈장 p-tau217 등 혈액 바이오마커가 생물학적 진단을 가능하게 했다.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레카네맙·도나네맙은 아밀로이드를 제거하고 악화를 약 27–35% 늦추지만 ARIA 위험이 있어 APOE 유전형과 MRI 감시가 필수이다.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타우·염증 표적 치료와 다영역 생활습관 예방이 병행 전략으로 추진되고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아밀로이드 플라크의 양이 인지 저하 정도와 잘 맞지 않는데도 아밀로이드 연쇄 가설이 유지되는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유전학적 증거가 가장 강력하다. 우성 유전 AD를 일으키는 모든 변이(APP, PSEN1/2)와 다운증후군의 APP 중복이 Aβ 생성·응집을 증가시키고, 보호 변이(A673T)는 감소시킨다. 또한 플라크 자체보다 가용성 올리고머·프로토피브릴이 독성이며, 아밀로이드가 타우 확산을 촉발하는 상류 사건이라는 수정 모델이 제시된다. 항아밀로이드 항체의 임상 효과도 부분적 지지를 제공한다.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레카네맙 치료 전 APOE 유전형을 확인하는 이유와, 양성 결과가 치료 결정에 미치는 영향은?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APOE ε4 동형접합자는 혈관 아밀로이드 부담이 커 ARIA-E·ARIA-H 발생률이 크게 높고 중증 사례 위험도 증가한다. 따라서 유전형을 알면 위험-이득을 더 정확히 설명하고, MRI 감시 빈도를 높이며, 항응고제 병용 여부 등을 신중히 결정할 수 있다. 유전형만으로 치료를 금지하지는 않지만 공유 의사결정의 핵심 정보이다.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TREM2 기능 저하 변이가 알츠하이머 위험을 높인다는 사실이 신경염증 이해에 주는 함의는?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TREM2는 미세아교세포가 지질·세포 파편·아밀로이드를 감지하고 플라크를 둘러싸 방벽을 만드는 데 필요하다. 기능이 떨어지면 플라크 주변 미세아교세포 반응이 약해져 플라크가 확산되고 신경돌기 손상이 커진다. 즉 염증 반응을 무조건 억제하는 것이 아니라 '보호적 미세아교세포 반응은 강화하고 해로운 만성 염증은 줄이는' 선택적 전략이 필요함을 보여준다.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혈장 p-tau217 검사가 임상 진료를 어떻게 바꾸고 있으며 주의할 점은 무엇인가?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고가·침습적인 아밀로이드 PET이나 요추천자 없이도 아밀로이드 병리 여부를 높은 정확도로 선별할 수 있어, 1차 진료에서 전문의 의뢰와 치료 적격성 판단을 효율화한다. 다만 신기능 저하·비만 등에 영향을 받고, 인지 정상인에서 양성은 '위험'을 의미할 뿐 치매 발병을 확정하지 않으므로 결과 전달과 상담에 신중해야 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Knopman DS et al. Alzheimer disease. Nat Rev Dis Primers 2021;7:33.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Heneka MT et al. Neuroinflammation in Alzheimer's disease. Lancet Neurol 2015;14:388–405.</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van Dyck CH et al. Lecanemab in early Alzheimer's disease. N Engl J Med 2023;388:9–21.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Sims JR et al. Donanemab in early symptomatic Alzheimer disease (TRAILBLAZER-ALZ 2). JAMA 2023;330:512–527.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B08-L07  ·  알츠하이머병: 병리, 신경염증과 항아밀로이드 치료</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Palmqvist S et al. Blood biomarkers to detect Alzheimer disease in primary care and secondary care. JAMA 2024;332:1245–1257.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