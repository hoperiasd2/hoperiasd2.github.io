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치료 가능한 급속 진행 치매, 특히 자가면역 뇌염(NMDAR·LGI1 등), 중추신경계 혈관염·림프종, 감염(HIV·매독·휘플), 대사·영양 결핍(B12·티아민), 약물·독성, 비경련성 뇌전증 지속상태이다. 이들은 치료로 회복 가능하므로 CSF 자가항체·영상·EEG·대사 검사를 동시에 진행해야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14-3-3은 신경세포 파괴 시 비특이적으로 증가해 뇌졸중·뇌염·발작 후에도 양성이 될 수 있다. RT-QuIC은 환자 검체의 PrP^Sc가 가진 '주형 전환 활성' 자체를 증폭해 검출하므로 질환 특이적이며 민감도와 특이도가 모두 90% 이상이다.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129 동형접합(특히 MM)이 산발 CJD와 변종 CJD 감수성을 높이고, 이형접합(MV)은 전환 효율을 낮춰 보호적이며 잠복기를 늘린다. 또한 유전성 프리온병에서 변이와 129 유전형의 조합이 표현형(예: D178N + 129M은 치명적 가족성 불면증, 129V는 CJD)을 결정한다.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타우 응집체는 세포 간·연결망을 따라 주형 전파되어 병리를 확산시키지만, 사람 사이에서 일상적 접촉·호흡·음식으로 전파된다는 증거가 없다. 전파에는 침습적 경로와 많은 양의 응집체가 필요하며, 실제 보고된 의인성 사례는 과거 사체 유래 호르몬·경막 이식 같은 특수한 노출에 한정된다.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B08 신경면역학과 신경퇴행질환  ·  신경퇴행과 면역</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프리온병과 단백질 전파 패러다임</a:t>
            </a:r>
          </a:p>
          <a:p>
            <a:r>
              <a:rPr sz="2000" b="0" i="0">
                <a:solidFill>
                  <a:srgbClr val="C2CDD6"/>
                </a:solidFill>
                <a:latin typeface="Malgun Gothic"/>
                <a:ea typeface="Malgun Gothic"/>
                <a:cs typeface="Malgun Gothic"/>
              </a:rPr>
              <a:t>Prion Diseases and the Protein Propagation Paradigm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B08-L10</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프리온 개념과 PrP^C → PrP^Sc 전환 기전을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사람 프리온병의 분류(산발·유전·획득)와 임상·진단을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진단 검사(RT-QuIC, MRI, EEG, 14-3-3)의 해석을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다른 신경퇴행 단백(타우, α-시누클레인, Aβ)의 프리온 유사 전파 증거를 비교한다.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감염 관리와 의인성 전파, 치료 연구를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프리온 개념</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사람 프리온병의 분류</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진단</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프리온 유사 전파 패러다임</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감염 관리와 치료 연구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프리온 개념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프리온</a:t>
            </a:r>
            <a:r>
              <a:rPr sz="1800" b="0" i="0">
                <a:solidFill>
                  <a:srgbClr val="11202B"/>
                </a:solidFill>
                <a:latin typeface="Malgun Gothic"/>
                <a:ea typeface="Malgun Gothic"/>
                <a:cs typeface="Malgun Gothic"/>
              </a:rPr>
              <a:t>(Prusiner 1982, 1997 노벨상): 핵산 없이 단백질만으로 전염되는 감염원 — 정상 세포 단백 </a:t>
            </a:r>
            <a:r>
              <a:rPr sz="1800" b="1" i="0">
                <a:solidFill>
                  <a:srgbClr val="11202B"/>
                </a:solidFill>
                <a:latin typeface="Malgun Gothic"/>
                <a:ea typeface="Malgun Gothic"/>
                <a:cs typeface="Malgun Gothic"/>
              </a:rPr>
              <a:t>PrP^C</a:t>
            </a:r>
            <a:r>
              <a:rPr sz="1800" b="0" i="0">
                <a:solidFill>
                  <a:srgbClr val="11202B"/>
                </a:solidFill>
                <a:latin typeface="Malgun Gothic"/>
                <a:ea typeface="Malgun Gothic"/>
                <a:cs typeface="Malgun Gothic"/>
              </a:rPr>
              <a:t>(PRNP, GPI 앵커 막단백, 구리 결합·신경 보호 추정)가 병적 형태 </a:t>
            </a:r>
            <a:r>
              <a:rPr sz="1800" b="1" i="0">
                <a:solidFill>
                  <a:srgbClr val="11202B"/>
                </a:solidFill>
                <a:latin typeface="Malgun Gothic"/>
                <a:ea typeface="Malgun Gothic"/>
                <a:cs typeface="Malgun Gothic"/>
              </a:rPr>
              <a:t>PrP^Sc</a:t>
            </a:r>
            <a:r>
              <a:rPr sz="1800" b="0" i="0">
                <a:solidFill>
                  <a:srgbClr val="11202B"/>
                </a:solidFill>
                <a:latin typeface="Malgun Gothic"/>
                <a:ea typeface="Malgun Gothic"/>
                <a:cs typeface="Malgun Gothic"/>
              </a:rPr>
              <a:t>(β-시트 풍부, 프로테이나아제 K 저항, 불용성)로 전환되고 주형으로 작용해 연쇄 전환.</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전환은 자발적(산발형), 유전적(PRNP 변이로 불안정), 또는 외부 PrP^Sc 유입(획득형)으로 시작.</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종 장벽</a:t>
            </a:r>
            <a:r>
              <a:rPr sz="1800" b="0" i="0">
                <a:solidFill>
                  <a:srgbClr val="11202B"/>
                </a:solidFill>
                <a:latin typeface="Malgun Gothic"/>
                <a:ea typeface="Malgun Gothic"/>
                <a:cs typeface="Malgun Gothic"/>
              </a:rPr>
              <a:t>: PrP 서열 차이가 전환 효율을 결정; PRNP 코돈 </a:t>
            </a:r>
            <a:r>
              <a:rPr sz="1800" b="1" i="0">
                <a:solidFill>
                  <a:srgbClr val="11202B"/>
                </a:solidFill>
                <a:latin typeface="Malgun Gothic"/>
                <a:ea typeface="Malgun Gothic"/>
                <a:cs typeface="Malgun Gothic"/>
              </a:rPr>
              <a:t>129 다형성(M/V)</a:t>
            </a:r>
            <a:r>
              <a:rPr sz="1800" b="0" i="0">
                <a:solidFill>
                  <a:srgbClr val="11202B"/>
                </a:solidFill>
                <a:latin typeface="Malgun Gothic"/>
                <a:ea typeface="Malgun Gothic"/>
                <a:cs typeface="Malgun Gothic"/>
              </a:rPr>
              <a:t> — </a:t>
            </a:r>
            <a:r>
              <a:rPr sz="1800" b="1" i="0">
                <a:solidFill>
                  <a:srgbClr val="11202B"/>
                </a:solidFill>
                <a:latin typeface="Malgun Gothic"/>
                <a:ea typeface="Malgun Gothic"/>
                <a:cs typeface="Malgun Gothic"/>
              </a:rPr>
              <a:t>MM 동형접합이 산발 CJD·변종 CJD 감수성 높음</a:t>
            </a:r>
            <a:r>
              <a:rPr sz="1800" b="0" i="0">
                <a:solidFill>
                  <a:srgbClr val="11202B"/>
                </a:solidFill>
                <a:latin typeface="Malgun Gothic"/>
                <a:ea typeface="Malgun Gothic"/>
                <a:cs typeface="Malgun Gothic"/>
              </a:rPr>
              <a:t>(한국인 다수 MM), MV 이형접합은 보호적·잠복기 연장.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프리온 개념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균주(strain)</a:t>
            </a:r>
            <a:r>
              <a:rPr sz="2200" b="0" i="0">
                <a:solidFill>
                  <a:srgbClr val="11202B"/>
                </a:solidFill>
                <a:latin typeface="Malgun Gothic"/>
                <a:ea typeface="Malgun Gothic"/>
                <a:cs typeface="Malgun Gothic"/>
              </a:rPr>
              <a:t>: 같은 PrP가 서로 다른 입체 구조를 취해 질환 표현형(잠복기·병변 분포)을 결정 — 핵산 없이 '정보'가 구조에 담긴다는 개념.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사람 프리온병의 분류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병리: 해면상 변성, 신경세포 소실, 성상세포증, PrP 침착(플라크 — kuru plaque, GSS) — </a:t>
            </a:r>
            <a:r>
              <a:rPr sz="2200" b="1" i="0">
                <a:solidFill>
                  <a:srgbClr val="11202B"/>
                </a:solidFill>
                <a:latin typeface="Malgun Gothic"/>
                <a:ea typeface="Malgun Gothic"/>
                <a:cs typeface="Malgun Gothic"/>
              </a:rPr>
              <a:t>염증 세포 침윤이 거의 없다</a:t>
            </a:r>
            <a:r>
              <a:rPr sz="2200" b="0" i="0">
                <a:solidFill>
                  <a:srgbClr val="11202B"/>
                </a:solidFill>
                <a:latin typeface="Malgun Gothic"/>
                <a:ea typeface="Malgun Gothic"/>
                <a:cs typeface="Malgun Gothic"/>
              </a:rPr>
              <a:t>(면역 반응을 거의 유발하지 않는 '조용한' 질환).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사람 프리온병의 분류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7</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분류</a:t>
                      </a:r>
                    </a:p>
                  </a:txBody>
                  <a:tcPr marL="73152" marR="73152">
                    <a:solidFill>
                      <a:srgbClr val="003C71"/>
                    </a:solidFill>
                  </a:tcPr>
                </a:tc>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산발(85–90%)</a:t>
                      </a:r>
                    </a:p>
                  </a:txBody>
                  <a:tcPr marL="73152" marR="73152">
                    <a:solidFill>
                      <a:srgbClr val="FFFFFF"/>
                    </a:solidFill>
                  </a:tcPr>
                </a:tc>
                <a:tc>
                  <a:txBody>
                    <a:bodyPr/>
                    <a:lstStyle/>
                    <a:p>
                      <a:r>
                        <a:rPr sz="1300" b="1" i="0">
                          <a:solidFill>
                            <a:srgbClr val="11202B"/>
                          </a:solidFill>
                          <a:latin typeface="Malgun Gothic"/>
                          <a:ea typeface="Malgun Gothic"/>
                          <a:cs typeface="Malgun Gothic"/>
                        </a:rPr>
                        <a:t>산발 크로이츠펠트-야콥병(sCJD)</a:t>
                      </a:r>
                    </a:p>
                  </a:txBody>
                  <a:tcPr marL="73152" marR="73152">
                    <a:solidFill>
                      <a:srgbClr val="FFFFFF"/>
                    </a:solidFill>
                  </a:tcPr>
                </a:tc>
                <a:tc>
                  <a:txBody>
                    <a:bodyPr/>
                    <a:lstStyle/>
                    <a:p>
                      <a:r>
                        <a:rPr sz="1300" b="0" i="0">
                          <a:solidFill>
                            <a:srgbClr val="11202B"/>
                          </a:solidFill>
                          <a:latin typeface="Malgun Gothic"/>
                          <a:ea typeface="Malgun Gothic"/>
                          <a:cs typeface="Malgun Gothic"/>
                        </a:rPr>
                        <a:t>평균 60대, </a:t>
                      </a:r>
                      <a:r>
                        <a:rPr sz="1300" b="1" i="0">
                          <a:solidFill>
                            <a:srgbClr val="11202B"/>
                          </a:solidFill>
                          <a:latin typeface="Malgun Gothic"/>
                          <a:ea typeface="Malgun Gothic"/>
                          <a:cs typeface="Malgun Gothic"/>
                        </a:rPr>
                        <a:t>급속 진행 치매</a:t>
                      </a:r>
                      <a:r>
                        <a:rPr sz="1300" b="0" i="0">
                          <a:solidFill>
                            <a:srgbClr val="11202B"/>
                          </a:solidFill>
                          <a:latin typeface="Malgun Gothic"/>
                          <a:ea typeface="Malgun Gothic"/>
                          <a:cs typeface="Malgun Gothic"/>
                        </a:rPr>
                        <a:t>(수주–수개월) + </a:t>
                      </a:r>
                      <a:r>
                        <a:rPr sz="1300" b="1" i="0">
                          <a:solidFill>
                            <a:srgbClr val="11202B"/>
                          </a:solidFill>
                          <a:latin typeface="Malgun Gothic"/>
                          <a:ea typeface="Malgun Gothic"/>
                          <a:cs typeface="Malgun Gothic"/>
                        </a:rPr>
                        <a:t>근간대</a:t>
                      </a:r>
                      <a:r>
                        <a:rPr sz="1300" b="0" i="0">
                          <a:solidFill>
                            <a:srgbClr val="11202B"/>
                          </a:solidFill>
                          <a:latin typeface="Malgun Gothic"/>
                          <a:ea typeface="Malgun Gothic"/>
                          <a:cs typeface="Malgun Gothic"/>
                        </a:rPr>
                        <a:t> + 소뇌·시각·추체외로 징후, </a:t>
                      </a:r>
                      <a:r>
                        <a:rPr sz="1300" b="1" i="0">
                          <a:solidFill>
                            <a:srgbClr val="11202B"/>
                          </a:solidFill>
                          <a:latin typeface="Malgun Gothic"/>
                          <a:ea typeface="Malgun Gothic"/>
                          <a:cs typeface="Malgun Gothic"/>
                        </a:rPr>
                        <a:t>무동성 함묵</a:t>
                      </a:r>
                      <a:r>
                        <a:rPr sz="1300" b="0" i="0">
                          <a:solidFill>
                            <a:srgbClr val="11202B"/>
                          </a:solidFill>
                          <a:latin typeface="Malgun Gothic"/>
                          <a:ea typeface="Malgun Gothic"/>
                          <a:cs typeface="Malgun Gothic"/>
                        </a:rPr>
                        <a:t>으로 진행, 중앙 생존 4–6개월; 아형(MM1, VV2 등)에 따라 임상 다양</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유전(10–15%)</a:t>
                      </a:r>
                    </a:p>
                  </a:txBody>
                  <a:tcPr marL="73152" marR="73152">
                    <a:solidFill>
                      <a:srgbClr val="ECF1F5"/>
                    </a:solidFill>
                  </a:tcPr>
                </a:tc>
                <a:tc>
                  <a:txBody>
                    <a:bodyPr/>
                    <a:lstStyle/>
                    <a:p>
                      <a:r>
                        <a:rPr sz="1300" b="0" i="0">
                          <a:solidFill>
                            <a:srgbClr val="11202B"/>
                          </a:solidFill>
                          <a:latin typeface="Malgun Gothic"/>
                          <a:ea typeface="Malgun Gothic"/>
                          <a:cs typeface="Malgun Gothic"/>
                        </a:rPr>
                        <a:t>유전성 CJD(E200K 등), </a:t>
                      </a:r>
                      <a:r>
                        <a:rPr sz="1300" b="1" i="0">
                          <a:solidFill>
                            <a:srgbClr val="11202B"/>
                          </a:solidFill>
                          <a:latin typeface="Malgun Gothic"/>
                          <a:ea typeface="Malgun Gothic"/>
                          <a:cs typeface="Malgun Gothic"/>
                        </a:rPr>
                        <a:t>게르스트만-슈트로이슬러-샤잉커(GSS)</a:t>
                      </a:r>
                      <a:r>
                        <a:rPr sz="1300" b="0" i="0">
                          <a:solidFill>
                            <a:srgbClr val="11202B"/>
                          </a:solidFill>
                          <a:latin typeface="Malgun Gothic"/>
                          <a:ea typeface="Malgun Gothic"/>
                          <a:cs typeface="Malgun Gothic"/>
                        </a:rPr>
                        <a:t> — P102L, 느린 운동실조, </a:t>
                      </a:r>
                      <a:r>
                        <a:rPr sz="1300" b="1" i="0">
                          <a:solidFill>
                            <a:srgbClr val="11202B"/>
                          </a:solidFill>
                          <a:latin typeface="Malgun Gothic"/>
                          <a:ea typeface="Malgun Gothic"/>
                          <a:cs typeface="Malgun Gothic"/>
                        </a:rPr>
                        <a:t>치명적 가족성 불면증(FFI)</a:t>
                      </a:r>
                      <a:r>
                        <a:rPr sz="1300" b="0" i="0">
                          <a:solidFill>
                            <a:srgbClr val="11202B"/>
                          </a:solidFill>
                          <a:latin typeface="Malgun Gothic"/>
                          <a:ea typeface="Malgun Gothic"/>
                          <a:cs typeface="Malgun Gothic"/>
                        </a:rPr>
                        <a:t> — D178N/129M, 진행성 불면·자율 과활성·시상 변성</a:t>
                      </a:r>
                    </a:p>
                  </a:txBody>
                  <a:tcPr marL="73152" marR="73152">
                    <a:solidFill>
                      <a:srgbClr val="ECF1F5"/>
                    </a:solidFill>
                  </a:tcPr>
                </a:tc>
                <a:tc>
                  <a:txBody>
                    <a:bodyPr/>
                    <a:lstStyle/>
                    <a:p>
                      <a:r>
                        <a:rPr sz="1300" b="0" i="0">
                          <a:solidFill>
                            <a:srgbClr val="11202B"/>
                          </a:solidFill>
                          <a:latin typeface="Malgun Gothic"/>
                          <a:ea typeface="Malgun Gothic"/>
                          <a:cs typeface="Malgun Gothic"/>
                        </a:rPr>
                        <a:t>상염색체 우성</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획득(&lt;1%)</a:t>
                      </a:r>
                    </a:p>
                  </a:txBody>
                  <a:tcPr marL="73152" marR="73152">
                    <a:solidFill>
                      <a:srgbClr val="FFFFFF"/>
                    </a:solidFill>
                  </a:tcPr>
                </a:tc>
                <a:tc>
                  <a:txBody>
                    <a:bodyPr/>
                    <a:lstStyle/>
                    <a:p>
                      <a:r>
                        <a:rPr sz="1300" b="1" i="0">
                          <a:solidFill>
                            <a:srgbClr val="11202B"/>
                          </a:solidFill>
                          <a:latin typeface="Malgun Gothic"/>
                          <a:ea typeface="Malgun Gothic"/>
                          <a:cs typeface="Malgun Gothic"/>
                        </a:rPr>
                        <a:t>쿠루</a:t>
                      </a:r>
                      <a:r>
                        <a:rPr sz="1300" b="0" i="0">
                          <a:solidFill>
                            <a:srgbClr val="11202B"/>
                          </a:solidFill>
                          <a:latin typeface="Malgun Gothic"/>
                          <a:ea typeface="Malgun Gothic"/>
                          <a:cs typeface="Malgun Gothic"/>
                        </a:rPr>
                        <a:t>(파푸아뉴기니 식인 의례 — 소멸), </a:t>
                      </a:r>
                      <a:r>
                        <a:rPr sz="1300" b="1" i="0">
                          <a:solidFill>
                            <a:srgbClr val="11202B"/>
                          </a:solidFill>
                          <a:latin typeface="Malgun Gothic"/>
                          <a:ea typeface="Malgun Gothic"/>
                          <a:cs typeface="Malgun Gothic"/>
                        </a:rPr>
                        <a:t>의인성 CJD</a:t>
                      </a:r>
                      <a:r>
                        <a:rPr sz="1300" b="0" i="0">
                          <a:solidFill>
                            <a:srgbClr val="11202B"/>
                          </a:solidFill>
                          <a:latin typeface="Malgun Gothic"/>
                          <a:ea typeface="Malgun Gothic"/>
                          <a:cs typeface="Malgun Gothic"/>
                        </a:rPr>
                        <a:t>(사체 유래 성장호르몬·경막 이식·각막·오염 수술 기구), </a:t>
                      </a:r>
                      <a:r>
                        <a:rPr sz="1300" b="1" i="0">
                          <a:solidFill>
                            <a:srgbClr val="11202B"/>
                          </a:solidFill>
                          <a:latin typeface="Malgun Gothic"/>
                          <a:ea typeface="Malgun Gothic"/>
                          <a:cs typeface="Malgun Gothic"/>
                        </a:rPr>
                        <a:t>변종 CJD(vCJD)</a:t>
                      </a:r>
                      <a:r>
                        <a:rPr sz="1300" b="0" i="0">
                          <a:solidFill>
                            <a:srgbClr val="11202B"/>
                          </a:solidFill>
                          <a:latin typeface="Malgun Gothic"/>
                          <a:ea typeface="Malgun Gothic"/>
                          <a:cs typeface="Malgun Gothic"/>
                        </a:rPr>
                        <a:t> — 소해면상뇌증(광우병) 섭취; 젊은 연령, 정신 증상·감각 이상 선행, </a:t>
                      </a:r>
                      <a:r>
                        <a:rPr sz="1300" b="1" i="0">
                          <a:solidFill>
                            <a:srgbClr val="11202B"/>
                          </a:solidFill>
                          <a:latin typeface="Malgun Gothic"/>
                          <a:ea typeface="Malgun Gothic"/>
                          <a:cs typeface="Malgun Gothic"/>
                        </a:rPr>
                        <a:t>베개 징후</a:t>
                      </a:r>
                      <a:r>
                        <a:rPr sz="1300" b="0" i="0">
                          <a:solidFill>
                            <a:srgbClr val="11202B"/>
                          </a:solidFill>
                          <a:latin typeface="Malgun Gothic"/>
                          <a:ea typeface="Malgun Gothic"/>
                          <a:cs typeface="Malgun Gothic"/>
                        </a:rPr>
                        <a:t>(시상 후방 고신호), 편도 생검에서 PrP^Sc</a:t>
                      </a:r>
                    </a:p>
                  </a:txBody>
                  <a:tcPr marL="73152" marR="73152">
                    <a:solidFill>
                      <a:srgbClr val="FFFFFF"/>
                    </a:solidFill>
                  </a:tcPr>
                </a:tc>
                <a:tc>
                  <a:txBody>
                    <a:bodyPr/>
                    <a:lstStyle/>
                    <a:p/>
                  </a:txBody>
                  <a:tcPr marL="73152" marR="73152">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진단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임상 의심: </a:t>
            </a:r>
            <a:r>
              <a:rPr sz="1800" b="1" i="0">
                <a:solidFill>
                  <a:srgbClr val="11202B"/>
                </a:solidFill>
                <a:latin typeface="Malgun Gothic"/>
                <a:ea typeface="Malgun Gothic"/>
                <a:cs typeface="Malgun Gothic"/>
              </a:rPr>
              <a:t>급속 진행 치매</a:t>
            </a:r>
            <a:r>
              <a:rPr sz="1800" b="0" i="0">
                <a:solidFill>
                  <a:srgbClr val="11202B"/>
                </a:solidFill>
                <a:latin typeface="Malgun Gothic"/>
                <a:ea typeface="Malgun Gothic"/>
                <a:cs typeface="Malgun Gothic"/>
              </a:rPr>
              <a:t>(수개월 내) + 근간대·운동실조·시각 장애·추체외로·무동성 함묵.</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검사:</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CSF RT-QuIC</a:t>
            </a:r>
            <a:r>
              <a:rPr sz="1600" b="0" i="0">
                <a:solidFill>
                  <a:srgbClr val="2E3F4C"/>
                </a:solidFill>
                <a:latin typeface="Malgun Gothic"/>
                <a:ea typeface="Malgun Gothic"/>
                <a:cs typeface="Malgun Gothic"/>
              </a:rPr>
              <a:t>(실시간 떨림 유도 전환): PrP^Sc의 주형 활성을 증폭 — </a:t>
            </a:r>
            <a:r>
              <a:rPr sz="1600" b="1" i="0">
                <a:solidFill>
                  <a:srgbClr val="2E3F4C"/>
                </a:solidFill>
                <a:latin typeface="Malgun Gothic"/>
                <a:ea typeface="Malgun Gothic"/>
                <a:cs typeface="Malgun Gothic"/>
              </a:rPr>
              <a:t>민감도 ~92–97%, 특이도 ~99%</a:t>
            </a:r>
            <a:r>
              <a:rPr sz="1600" b="0" i="0">
                <a:solidFill>
                  <a:srgbClr val="2E3F4C"/>
                </a:solidFill>
                <a:latin typeface="Malgun Gothic"/>
                <a:ea typeface="Malgun Gothic"/>
                <a:cs typeface="Malgun Gothic"/>
              </a:rPr>
              <a:t> → 현재 진단의 핵심(피부·비강 점막에서도 가능).</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MRI DWI/FLAIR</a:t>
            </a:r>
            <a:r>
              <a:rPr sz="1600" b="0" i="0">
                <a:solidFill>
                  <a:srgbClr val="2E3F4C"/>
                </a:solidFill>
                <a:latin typeface="Malgun Gothic"/>
                <a:ea typeface="Malgun Gothic"/>
                <a:cs typeface="Malgun Gothic"/>
              </a:rPr>
              <a:t>: 피질 리본(cortical ribboning), 기저핵(미상-피각) 고신호; </a:t>
            </a:r>
            <a:r>
              <a:rPr sz="1600" b="1" i="0">
                <a:solidFill>
                  <a:srgbClr val="2E3F4C"/>
                </a:solidFill>
                <a:latin typeface="Malgun Gothic"/>
                <a:ea typeface="Malgun Gothic"/>
                <a:cs typeface="Malgun Gothic"/>
              </a:rPr>
              <a:t>가장 유용한 영상</a:t>
            </a:r>
            <a:r>
              <a:rPr sz="1600" b="0" i="0">
                <a:solidFill>
                  <a:srgbClr val="2E3F4C"/>
                </a:solidFill>
                <a:latin typeface="Malgun Gothic"/>
                <a:ea typeface="Malgun Gothic"/>
                <a:cs typeface="Malgun Gothic"/>
              </a:rPr>
              <a:t> — vCJD는 베개 징후.</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EEG</a:t>
            </a:r>
            <a:r>
              <a:rPr sz="1600" b="0" i="0">
                <a:solidFill>
                  <a:srgbClr val="2E3F4C"/>
                </a:solidFill>
                <a:latin typeface="Malgun Gothic"/>
                <a:ea typeface="Malgun Gothic"/>
                <a:cs typeface="Malgun Gothic"/>
              </a:rPr>
              <a:t>: 주기적 예파 복합(sCJD의 약 2/3, 후기에 출현).</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CSF 14-3-3, 총 타우, NSE</a:t>
            </a:r>
            <a:r>
              <a:rPr sz="1600" b="0" i="0">
                <a:solidFill>
                  <a:srgbClr val="2E3F4C"/>
                </a:solidFill>
                <a:latin typeface="Malgun Gothic"/>
                <a:ea typeface="Malgun Gothic"/>
                <a:cs typeface="Malgun Gothic"/>
              </a:rPr>
              <a:t>: 신경 파괴의 비특이 지표(민감하나 특이도 낮음 — 뇌염·뇌졸중에서도 상승).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진단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PRNP 유전자 검사(유전형·129 다형성).</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확진은 뇌 조직(생검·부검)의 PrP^Sc 검출.</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감별 — '치료 가능한 급속 진행 치매'를 반드시 배제</a:t>
            </a:r>
            <a:r>
              <a:rPr sz="2200" b="0" i="0">
                <a:solidFill>
                  <a:srgbClr val="11202B"/>
                </a:solidFill>
                <a:latin typeface="Malgun Gothic"/>
                <a:ea typeface="Malgun Gothic"/>
                <a:cs typeface="Malgun Gothic"/>
              </a:rPr>
              <a:t>: 자가면역 뇌염(B08 L06), 중추신경계 림프종·혈관염, 감염(HIV, 매독, 휘플), 대사(B12·티아민·간·신), 독성(비스무트·리튬), 경련(비경련성 지속상태), 하시모토 뇌병증, 전이·부신생물.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프리온 유사 전파 패러다임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공통 원리: 특정 단백이 응집체를 형성하고 그 구조를 주형으로 정상 단백을 전환시키며 세포 간 이동 → 질환 확산.</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중요한 구분</a:t>
            </a:r>
            <a:r>
              <a:rPr sz="2000" b="0" i="0">
                <a:solidFill>
                  <a:srgbClr val="11202B"/>
                </a:solidFill>
                <a:latin typeface="Malgun Gothic"/>
                <a:ea typeface="Malgun Gothic"/>
                <a:cs typeface="Malgun Gothic"/>
              </a:rPr>
              <a:t>: 이들은 프리온처럼 </a:t>
            </a:r>
            <a:r>
              <a:rPr sz="2000" b="1" i="0">
                <a:solidFill>
                  <a:srgbClr val="11202B"/>
                </a:solidFill>
                <a:latin typeface="Malgun Gothic"/>
                <a:ea typeface="Malgun Gothic"/>
                <a:cs typeface="Malgun Gothic"/>
              </a:rPr>
              <a:t>사람 사이에 일상적으로 전염되지 않는다</a:t>
            </a:r>
            <a:r>
              <a:rPr sz="2000" b="0" i="0">
                <a:solidFill>
                  <a:srgbClr val="11202B"/>
                </a:solidFill>
                <a:latin typeface="Malgun Gothic"/>
                <a:ea typeface="Malgun Gothic"/>
                <a:cs typeface="Malgun Gothic"/>
              </a:rPr>
              <a:t>('프리온 유사 전파'는 세포·조직 수준의 기전 개념). 예외적 의인성 전파(Aβ) 사례는 침습적 노출 경로에 한정된다.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임상적 함의: 전파 단계에서 응집체를 포착(SAA)·차단(항체, 응집 억제, 세포 흡수 차단)하는 치료 전략, 그리고 수술 기구·조직 이식 관리 기준.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프리온 유사 전파 패러다임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단백</a:t>
                      </a:r>
                    </a:p>
                  </a:txBody>
                  <a:tcPr marL="73152" marR="73152">
                    <a:solidFill>
                      <a:srgbClr val="003C71"/>
                    </a:solidFill>
                  </a:tcPr>
                </a:tc>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증거</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타우</a:t>
                      </a:r>
                    </a:p>
                  </a:txBody>
                  <a:tcPr marL="73152" marR="73152">
                    <a:solidFill>
                      <a:srgbClr val="FFFFFF"/>
                    </a:solidFill>
                  </a:tcPr>
                </a:tc>
                <a:tc>
                  <a:txBody>
                    <a:bodyPr/>
                    <a:lstStyle/>
                    <a:p>
                      <a:r>
                        <a:rPr sz="1500" b="0" i="0">
                          <a:solidFill>
                            <a:srgbClr val="11202B"/>
                          </a:solidFill>
                          <a:latin typeface="Malgun Gothic"/>
                          <a:ea typeface="Malgun Gothic"/>
                          <a:cs typeface="Malgun Gothic"/>
                        </a:rPr>
                        <a:t>AD, FTD, CTE, PSP</a:t>
                      </a:r>
                    </a:p>
                  </a:txBody>
                  <a:tcPr marL="73152" marR="73152">
                    <a:solidFill>
                      <a:srgbClr val="FFFFFF"/>
                    </a:solidFill>
                  </a:tcPr>
                </a:tc>
                <a:tc>
                  <a:txBody>
                    <a:bodyPr/>
                    <a:lstStyle/>
                    <a:p>
                      <a:r>
                        <a:rPr sz="1500" b="0" i="0">
                          <a:solidFill>
                            <a:srgbClr val="11202B"/>
                          </a:solidFill>
                          <a:latin typeface="Malgun Gothic"/>
                          <a:ea typeface="Malgun Gothic"/>
                          <a:cs typeface="Malgun Gothic"/>
                        </a:rPr>
                        <a:t>브라크 단계가 연결망을 따름, 동물에 환자 뇌 추출물 주입 시 병리 확산, 질환별 고유 섬유 구조(크라이오-EM)</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α-시누클레인</a:t>
                      </a:r>
                    </a:p>
                  </a:txBody>
                  <a:tcPr marL="73152" marR="73152">
                    <a:solidFill>
                      <a:srgbClr val="ECF1F5"/>
                    </a:solidFill>
                  </a:tcPr>
                </a:tc>
                <a:tc>
                  <a:txBody>
                    <a:bodyPr/>
                    <a:lstStyle/>
                    <a:p>
                      <a:r>
                        <a:rPr sz="1500" b="0" i="0">
                          <a:solidFill>
                            <a:srgbClr val="11202B"/>
                          </a:solidFill>
                          <a:latin typeface="Malgun Gothic"/>
                          <a:ea typeface="Malgun Gothic"/>
                          <a:cs typeface="Malgun Gothic"/>
                        </a:rPr>
                        <a:t>PD, DLB, MSA</a:t>
                      </a:r>
                    </a:p>
                  </a:txBody>
                  <a:tcPr marL="73152" marR="73152">
                    <a:solidFill>
                      <a:srgbClr val="ECF1F5"/>
                    </a:solidFill>
                  </a:tcPr>
                </a:tc>
                <a:tc>
                  <a:txBody>
                    <a:bodyPr/>
                    <a:lstStyle/>
                    <a:p>
                      <a:r>
                        <a:rPr sz="1500" b="0" i="0">
                          <a:solidFill>
                            <a:srgbClr val="11202B"/>
                          </a:solidFill>
                          <a:latin typeface="Malgun Gothic"/>
                          <a:ea typeface="Malgun Gothic"/>
                          <a:cs typeface="Malgun Gothic"/>
                        </a:rPr>
                        <a:t>이식 세포로의 전파, 장–미주 상행 모델, SAA 증폭 (B08 L08)</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Aβ</a:t>
                      </a:r>
                    </a:p>
                  </a:txBody>
                  <a:tcPr marL="73152" marR="73152">
                    <a:solidFill>
                      <a:srgbClr val="FFFFFF"/>
                    </a:solidFill>
                  </a:tcPr>
                </a:tc>
                <a:tc>
                  <a:txBody>
                    <a:bodyPr/>
                    <a:lstStyle/>
                    <a:p>
                      <a:r>
                        <a:rPr sz="1500" b="0" i="0">
                          <a:solidFill>
                            <a:srgbClr val="11202B"/>
                          </a:solidFill>
                          <a:latin typeface="Malgun Gothic"/>
                          <a:ea typeface="Malgun Gothic"/>
                          <a:cs typeface="Malgun Gothic"/>
                        </a:rPr>
                        <a:t>AD, 뇌 아밀로이드 혈관병증</a:t>
                      </a:r>
                    </a:p>
                  </a:txBody>
                  <a:tcPr marL="73152" marR="73152">
                    <a:solidFill>
                      <a:srgbClr val="FFFFFF"/>
                    </a:solidFill>
                  </a:tcPr>
                </a:tc>
                <a:tc>
                  <a:txBody>
                    <a:bodyPr/>
                    <a:lstStyle/>
                    <a:p>
                      <a:r>
                        <a:rPr sz="1500" b="0" i="0">
                          <a:solidFill>
                            <a:srgbClr val="11202B"/>
                          </a:solidFill>
                          <a:latin typeface="Malgun Gothic"/>
                          <a:ea typeface="Malgun Gothic"/>
                          <a:cs typeface="Malgun Gothic"/>
                        </a:rPr>
                        <a:t>의인성 Aβ 전파 보고 — 과거 사체 유래 성장호르몬·경막 이식 수여자에서 수십 년 후 CAA·조기 AD 병리(2015, 2024 Nat Med 보고)</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TDP-43</a:t>
                      </a:r>
                    </a:p>
                  </a:txBody>
                  <a:tcPr marL="73152" marR="73152">
                    <a:solidFill>
                      <a:srgbClr val="ECF1F5"/>
                    </a:solidFill>
                  </a:tcPr>
                </a:tc>
                <a:tc>
                  <a:txBody>
                    <a:bodyPr/>
                    <a:lstStyle/>
                    <a:p>
                      <a:r>
                        <a:rPr sz="1500" b="0" i="0">
                          <a:solidFill>
                            <a:srgbClr val="11202B"/>
                          </a:solidFill>
                          <a:latin typeface="Malgun Gothic"/>
                          <a:ea typeface="Malgun Gothic"/>
                          <a:cs typeface="Malgun Gothic"/>
                        </a:rPr>
                        <a:t>ALS, FTD, LATE</a:t>
                      </a:r>
                    </a:p>
                  </a:txBody>
                  <a:tcPr marL="73152" marR="73152">
                    <a:solidFill>
                      <a:srgbClr val="ECF1F5"/>
                    </a:solidFill>
                  </a:tcPr>
                </a:tc>
                <a:tc>
                  <a:txBody>
                    <a:bodyPr/>
                    <a:lstStyle/>
                    <a:p>
                      <a:r>
                        <a:rPr sz="1500" b="0" i="0">
                          <a:solidFill>
                            <a:srgbClr val="11202B"/>
                          </a:solidFill>
                          <a:latin typeface="Malgun Gothic"/>
                          <a:ea typeface="Malgun Gothic"/>
                          <a:cs typeface="Malgun Gothic"/>
                        </a:rPr>
                        <a:t>세포 간 전파(동물·배양)</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헌팅틴·polyQ, SOD1</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실험적 전파</a:t>
                      </a:r>
                    </a:p>
                  </a:txBody>
                  <a:tcPr marL="73152" marR="7315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감염 관리와 치료 연구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PrP^Sc는 일반 멸균에 저항</a:t>
            </a:r>
            <a:r>
              <a:rPr sz="2000" b="0" i="0">
                <a:solidFill>
                  <a:srgbClr val="11202B"/>
                </a:solidFill>
                <a:latin typeface="Malgun Gothic"/>
                <a:ea typeface="Malgun Gothic"/>
                <a:cs typeface="Malgun Gothic"/>
              </a:rPr>
              <a:t>(표준 고압증기·포름알데하이드·방사선 불충분) → 의심 환자 신경외과·안과 기구는 1회용 사용, 또는 1 N NaOH 또는 차아염소산나트륨 침지 + 134 °C 18분 이상 고압증기 등 특수 절차.</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일상 접촉·비경구 외 노출로는 전파되지 않는다(가족·의료진 일반 간호는 표준 예방).</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혈액: vCJD는 수혈 전파 사례 보고 → 헌혈 제한 정책; sCJD는 혈액 전파 근거 없음.</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치료 연구:</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현재 승인 치료 없음(퀴나크린·펜토산 폴리설페이트·독시사이클린 모두 실패).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감염 관리와 치료 연구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PrP 저하 전략</a:t>
            </a:r>
            <a:r>
              <a:rPr sz="1800" b="0" i="0">
                <a:solidFill>
                  <a:srgbClr val="2E3F4C"/>
                </a:solidFill>
                <a:latin typeface="Malgun Gothic"/>
                <a:ea typeface="Malgun Gothic"/>
                <a:cs typeface="Malgun Gothic"/>
              </a:rPr>
              <a:t>: PRNP 표적 ASO(전임상에서 생존 연장; 사람 1상 진행), 유전자 편집(염기 편집으로 PRNP 불활성화 — 전임상), 항PrP 항체(PRN100 소규모).</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증상 전 치료</a:t>
            </a:r>
            <a:r>
              <a:rPr sz="1800" b="0" i="0">
                <a:solidFill>
                  <a:srgbClr val="2E3F4C"/>
                </a:solidFill>
                <a:latin typeface="Malgun Gothic"/>
                <a:ea typeface="Malgun Gothic"/>
                <a:cs typeface="Malgun Gothic"/>
              </a:rPr>
              <a:t>: 유전성 프리온병 보인자(E200K, D178N, P102L) 코호트에서 발병 전 PrP 저하를 목표로 하는 설계 — 바이오마커(CSF PrP, RT-QuIC 음성 상태)로 추적.</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돌봄: 근간대(클로나제팜·레비티라세탐), 경련, 영양·호흡, 완화 의료와 가족 상담이 중심.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PRNP 표적 ASO의 임상 진입은 '증상 전 유전자 보인자에게 발병을 막는 치료'라는 신경퇴행 치료의 이상적 모델을 시험한다.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피부·비강 점막 RT-QuIC과 혈액 기반 검사가 조기·비침습 진단을 확장하고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의인성 Aβ 전파 사례는 신경외과·조직 이식의 장기 안전성과 '단백 병리의 전파 가능성'에 대한 공중보건 논의를 촉발했다.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프리온은 핵산 없이 단백질 구조 정보로 전파되며 PrP^C가 PrP^Sc로 전환되어 축적된다.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사람 프리온병은 산발(sCJD 85–90%), 유전(E200K, GSS, FFI), 획득(쿠루·의인성·vCJD)으로 나뉜다.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진단은 CSF RT-QuIC과 MRI DWI 피질 리본·기저핵 고신호가 핵심이며 14-3-3은 비특이적이다.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타우·α-시누클레인·Aβ·TDP-43도 프리온 유사 전파를 보이지만 사람 간 일상 전염은 일어나지 않는다.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치료는 없으나 PRNP 저하 ASO가 증상 전 치료 모델로 임상에 진입했고, 기구 멸균은 특수 절차가 필요하다.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수개월에 걸쳐 급속히 진행하는 치매와 근간대를 보이는 환자에서 CJD를 의심할 때, 반드시 먼저 배제해야 할 질환군은?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치료 가능한 급속 진행 치매, 특히 자가면역 뇌염(NMDAR·LGI1 등), 중추신경계 혈관염·림프종, 감염(HIV·매독·휘플), 대사·영양 결핍(B12·티아민), 약물·독성, 비경련성 뇌전증 지속상태이다. 이들은 치료로 회복 가능하므로 CSF 자가항체·영상·EEG·대사 검사를 동시에 진행해야 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CSF RT-QuIC이 기존 14-3-3 단백 검사보다 우수한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14-3-3은 신경세포 파괴 시 비특이적으로 증가해 뇌졸중·뇌염·발작 후에도 양성이 될 수 있다. RT-QuIC은 환자 검체의 PrP^Sc가 가진 '주형 전환 활성' 자체를 증폭해 검출하므로 질환 특이적이며 민감도와 특이도가 모두 90% 이상이다.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PRNP 코돈 129 다형성이 임상적으로 중요한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129 동형접합(특히 MM)이 산발 CJD와 변종 CJD 감수성을 높이고, 이형접합(MV)은 전환 효율을 낮춰 보호적이며 잠복기를 늘린다. 또한 유전성 프리온병에서 변이와 129 유전형의 조합이 표현형(예: D178N + 129M은 치명적 가족성 불면증, 129V는 CJD)을 결정한다.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알츠하이머병의 타우가 '프리온 유사'라고 불리지만 전염병으로 취급하지 않는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타우 응집체는 세포 간·연결망을 따라 주형 전파되어 병리를 확산시키지만, 사람 사이에서 일상적 접촉·호흡·음식으로 전파된다는 증거가 없다. 전파에는 침습적 경로와 많은 양의 응집체가 필요하며, 실제 보고된 의인성 사례는 과거 사체 유래 호르몬·경막 이식 같은 특수한 노출에 한정된다.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Prusiner SB. Prions. PNAS 1998;95:13363–13383.</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Geschwind MD. Prion diseases. Continuum 2015;21:1612–1638.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Hermann P et al. Clinical and diagnostic findings of Creutzfeldt-Jakob disease: an updated review. Lancet Neurol 2021;20:235–246.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Jaunmuktane Z et al. Evidence for human transmission of amyloid-β pathology and cerebral amyloid angiopathy. Nature 2015;525:247–250.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B08-L10  ·  프리온병과 단백질 전파 패러다임</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Minikel EV et al. Prion protein lowering is a disease-modifying therapy across prion disease stages. Nucleic Acids Res 2020;48:10615–10631.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