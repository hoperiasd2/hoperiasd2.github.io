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NMOSD를 의심한다. 연수 맨아래구역(최후영역)은 AQP4가 풍부해 난치성 딸꾹질·오심·구토가 첫 증상으로 나타나는 전형적 증후군이다. 혈청 AQP4-IgG(세포 기반 분석)와 척수·뇌 MRI(LETM, 연수 등쪽 병변)를 확인하고, 양성이면 급성기 치료 후 재발 예방 약물을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NMOSD 환자에게 인터페론-β, 나탈리주맙, 핀골리모드, 알렘투주맙 같은 MS 약물을 사용하면 재발이 급증하거나 중증 악화가 올 수 있다. 또한 NMOSD와 MOGAD는 치료 약제(보체·IL-6·CD19 표적, IVIG)와 치료 기간 전략이 MS와 완전히 다르므로 초기 감별이 예후를 좌우한다.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MOGAD는 스테로이드 반응이 매우 좋지만 감량 중 또는 중단 직후 재발이 흔하다(스테로이드 의존성). 따라서 급성기 치료 후 수주–수개월에 걸쳐 천천히 감량하고, 재발이 반복되면 IVIG나 B세포 표적 치료 등 유지 요법을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수막구균 백신 접종(가능하면 2주 전, 급할 경우 항생제 예방 병용)이다. C5 억제는 막공격복합체 형성을 막아 수막구균 등 피막 세균 감염 위험을 크게 높이기 때문이다. 접종 기록과 환자 경고 카드, 발열 시 즉시 의료기관 방문 교육이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B08 신경면역학과 신경퇴행질환  ·  탈수초 질환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시신경척수염 스펙트럼 장애와 MOG 항체 질환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NMOSD and MOG Antibody-Associated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B08-L04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AQP4 항체 매개 NMOSD의 병태생리(성상세포병증, 보체)와 임상을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MOGAD의 특징과 NMOSD·MS와의 감별점을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기준과 항체 검사의 해석(세포 기반 분석, 혈청 vs CSF)을 적용한다.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급성기 치료와 장기 면역 치료(보체·IL-6·CD19 표적)를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 탈수초 질환(ADEM)과 감별 진단을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NMOSD: AQP4 성상세포병증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MOGAD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감별과 검사 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ADEM과 소아 탈수초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NMOSD: AQP4 성상세포병증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항AQP4 IgG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(NMO-IgG, 2004 발견): 성상세포 종말발의 아쿠아포린-4(M23 아형 집합체)에 결합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보체 활성(CDC)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항체 의존 세포독성 → 성상세포 파괴 → 이차 탈수초·축삭 손상·괴사.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MS와 근본적으로 다름: MS는 올리고덴드로사이트·수초 질환, NMOSD는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성상세포병증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호중구·호산구 침윤, 혈관 중심성 병변, 심한 조직 괴사.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역학: 여성 압도적(9:1), 발병 연령 중앙 40대,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아시아·아프리카계에서 상대적으로 흔함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(한국에서 MS 대비 비율 높음), HLA-DPB1*05:01 연관(아시아).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핵심 증후군: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시신경염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흔히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양측·광범위(시신경교차 침범)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심한 시력 소실, 회복 불량.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NMOSD: AQP4 성상세포병증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종단 광범위 횡단 척수염(LETM)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3개 척추 분절 이상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척수 병변, 중심 회백질 침범 → 심한 마비·감각 소실·방광, 통증성 강직 경련.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최후영역 증후군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난치성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딸꾹질·오심·구토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(연수 맨아래구역 — AQP4 풍부) — 종종 첫 증상이며 소화기 질환으로 오인.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급성 뇌간·간뇌(기면·저체온·SIADH)·대뇌 증후군(뇌량 주위·뇌실 주위 병변).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경과: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재발형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(90% 이상), 재발마다 장애가 축적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재발 예방이 전부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MS와 달리 진행형 경과는 드묾.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MOGAD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항MOG IgG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미엘린 올리고덴드로사이트 당단백(수초 최외층)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올리고덴드로사이트·수초 표적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보체도 기여하나 조직 파괴는 덜하고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회복이 좋은 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역학: 소아·젊은 성인, 성비 비슷.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표현형: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소아 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ADEM 유사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(다초점 뇌병증), 재발성 ADEM, 시신경염.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성인 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양측 시신경염(시신경 주위 조영 증강·시신경 부종 뚜렷)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척수염(원추 침범 선호, LETM 가능), 피질 뇌염(발작·FLAMES — 단측 피질 FLAIR 고신호와 뇌막 증강).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특징: 스테로이드 반응이 좋고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감량 중 재발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흔함; 약 50%는 단상성, 나머지는 재발성.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MOGAD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MRI: 병변이 크고 경계가 흐리며 종종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완전히 소실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(MS의 잔존 병변과 대조), 뇌량 수직 병변 드묾.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CSF: 올리고클론 밴드 대개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음성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(10–15%), 세포 증가 가능.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2023 국제 진단 기준: 임상 표현형 +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혈청 세포 기반 분석 MOG-IgG 명확 양성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더 나은 설명 없음; 저역가 양성은 추가 소견 요구(위양성 흔함).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감별과 검사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기반 분석(CBA)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표준(ELISA·조직 면역형광은 위양성·위음성 많음); AQP4·MOG 모두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혈청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더 민감; MOG는 급성기·치료 전 채혈이 중요하고, 역가가 낮으면 반복 검사.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이중 음성 NMOSD(약 20%): 일부는 MOGAD 또는 다른 기전.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감별과 검사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MS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NMOSD(AQP4+)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MOGAD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올리고덴드로사이트·수초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성상세포(AQP4)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수초 MOG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시신경염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단측·경도, 회복 좋음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양측·시신경교차, 회복 나쁨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양측·시신경 부종, 회복 좋음, 통증 심함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단분절·편측·후측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LETM, 중심 회백질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LETM/단분절,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원추 선호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 병변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 주위 도슨 손가락, 피질 근접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최후영역·시상하부·뇌량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크고 흐릿, ADEM형, 피질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올리고클론 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 ~90%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 ~80%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대개 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후 진행형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재발형(진행 드묾)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단상 또는 재발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DMT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MS 약물이 악화시킬 수 있음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스테로이드 민감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감별과 검사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NMOSD에 MS 약물을 쓰면 악화될 수 있다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인터페론-β, 나탈리주맙, 핀골리모드, 알렘투주맙은 NMOSD를 악화시킨다는 보고가 많다. 따라서 탈수초 질환에서 항체 검사(AQP4·MOG)를 치료 시작 전에 반드시 확인해야 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(공통): 고용량 메틸프레드니솔론 3–5일 → 반응 불충분 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혈장교환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(NMOSD에서 특히 효과적, 조기 시행이 중요) 또는 면역글로불린.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NMOSD 재발 예방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(승인 약물):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MOGAD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단상성일 수 있어 첫 발작 후 장기 치료를 일률적으로 시작하지 않음; 재발성이면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IVIG(근거 비교적 양호)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리툭시맙, 미코페놀레이트, 저용량 스테로이드; 스테로이드 감량은 천천히. 사트랄리주맙·로젠리릴리맙(FcRn 억제) 등 시험 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관리: 신경병증성 통증(척수염 후 — 심함), 통증성 강직 경련(카르바마제핀), 방광, 호흡(경수 병변).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에쿨리주맙·라불리주맙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보체 C5 — 재발 위험 90% 이상 감소(PREVENT); 수막구균 백신 필수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이네빌리주맙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CD19 B세포·형질아세포 고갈(N-MOmentum)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사트랄리주맙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IL-6 수용체(SAkuraSky/Star)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리툭시맙(오프라벨, 널리 사용)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CD20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아자티오프린, 미코페놀레이트, 경구 스테로이드(자원 제한 환경)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ADEM과 소아 탈수초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파종성 뇌척수염(ADEM)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주로 소아, 감염·백신 후 수일–수주,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뇌병증(의식·행동 변화)이 필수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다초점 신경 증상; MRI 크고 흐릿한 다초점 백질·기저핵·시상 병변(동시기 병변).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상당수가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 항체 양성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(소아 ADEM의 40–60%) → MOGAD 스펙트럼으로 재분류되는 추세.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고용량 스테로이드 → IVIG/혈장교환; 대부분 회복, 일부 재발(다상성 ADEM, MOGAD) 또는 MS로 전환(ADEM 후 MS는 소수).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감별: 급성 출혈성 백질뇌염(심한 형태), 자가면역 뇌염, 감염성 뇌염, 혈관염, HLH, 대사·미토콘드리아(B05 L11).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 MS: 성인보다 재발 빈도 높고 인지 영향 큼, 조기 고효능 치료(핀골리모드·나탈리주맙·오파투무맙 소아 자료).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보체·IL-6·B세포 표적 치료의 등장으로 NMOSD는 '재발을 거의 막을 수 있는 질환'이 되었고, 치료 비용·접근성과 장기 중단 전략이 새로운 과제가 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MOGAD의 자연 경과(단상 vs 재발) 예측 지표(항체 역가 추이, 발병 연령, 표현형)를 찾는 연구가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항원 특이 관용 유도(AQP4 펩타이드, CAR-Treg, 키메라 자가항체 수용체 T세포)가 '선택적 면역 억제'의 가능성으로 연구되고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NMOSD는 AQP4 항체가 성상세포를 보체 매개로 파괴하는 성상세포병증으로 양측 시신경염·LETM·최후영역 증후군이 특징이다.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MOGAD는 수초 MOG를 표적하며 소아 ADEM형, 성인 양측 시신경염·피질 뇌염으로 나타나고 회복이 비교적 좋다.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MS·NMOSD·MOGAD는 병변 분포, CSF 올리고클론 밴드, 경과, 치료 반응에서 구분되며 치료 전 항체 검사가 필수이다.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급성기는 스테로이드와 혈장교환, NMOSD 예방은 C5·CD19·IL-6R 표적 약물, MOGAD는 IVIG 등이 쓰인다.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ADEM은 뇌병증을 동반한 다초점 탈수초 질환으로 상당수가 MOG 항체 양성이다.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난치성 딸꾹질과 구토로 소화기내과를 전전하던 40대 여성이 이후 시력 저하와 하지 마비를 보였다. 어떤 진단을 의심하고 어떤 검사를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NMOSD를 의심한다. 연수 맨아래구역(최후영역)은 AQP4가 풍부해 난치성 딸꾹질·오심·구토가 첫 증상으로 나타나는 전형적 증후군이다. 혈청 AQP4-IgG(세포 기반 분석)와 척수·뇌 MRI(LETM, 연수 등쪽 병변)를 확인하고, 양성이면 급성기 치료 후 재발 예방 약물을 시작한다.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탈수초 질환 환자에게 질환 조절 치료를 시작하기 전에 AQP4·MOG 항체를 확인해야 하는 실제적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NMOSD 환자에게 인터페론-β, 나탈리주맙, 핀골리모드, 알렘투주맙 같은 MS 약물을 사용하면 재발이 급증하거나 중증 악화가 올 수 있다. 또한 NMOSD와 MOGAD는 치료 약제(보체·IL-6·CD19 표적, IVIG)와 치료 기간 전략이 MS와 완전히 다르므로 초기 감별이 예후를 좌우한다.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MOGAD에서 스테로이드를 빠르게 감량하면 안 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MOGAD는 스테로이드 반응이 매우 좋지만 감량 중 또는 중단 직후 재발이 흔하다(스테로이드 의존성). 따라서 급성기 치료 후 수주–수개월에 걸쳐 천천히 감량하고, 재발이 반복되면 IVIG나 B세포 표적 치료 등 유지 요법을 고려한다.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NMOSD에서 에쿨리주맙 같은 C5 억제제 투여 전 반드시 해야 할 조치는?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수막구균 백신 접종(가능하면 2주 전, 급할 경우 항생제 예방 병용)이다. C5 억제는 막공격복합체 형성을 막아 수막구균 등 피막 세균 감염 위험을 크게 높이기 때문이다. 접종 기록과 환자 경고 카드, 발열 시 즉시 의료기관 방문 교육이 필요하다.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Wingerchuk DM et al. International consensus diagnostic criteria for neuromyelitis optica spectrum disorders. Neurology 2015;85:177–189.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Banwell B et al. Diagnosis of myelin oligodendrocyte glycoprotein antibody-associated disease: international MOGAD panel proposed criteria. Lancet Neurol 2023;22:268–282.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Pittock SJ et al. Eculizumab in aquaporin-4-positive neuromyelitis optica spectrum disorder. N Engl J Med 2019;381:614–625.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B08-L04  ·  시신경척수염 스펙트럼 장애와 MOG 항체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Cree BAC et al. Inebilizumab for the treatment of neuromyelitis optica spectrum disorder (N-MOmentum). Lancet 2019;394:1352–1363.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Jarius S et al. MOG encephalomyelitis: international recommendations on diagnosis and antibody testing. J Neuroinflammation 2018;15:134.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