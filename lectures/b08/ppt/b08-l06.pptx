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항NMDA 수용체 뇌염. CSF 항NMDAR 항체 검사(혈청보다 민감·특이)가 필수이며 CSF 림프구 증가, EEG의 극도 델타 브러시를 확인한다. 동시에 난소 기형종을 찾기 위한 골반 초음파·MRI를 시행하고, 종양이 있으면 제거하며 1차 면역치료를 즉시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HSV 뇌염 후 자가면역 뇌염(대개 항NMDAR 항체 양성)이다. 바이러스 재발로 오인해 아시클로버만 반복하기 쉬우나, HSV PCR은 음성인 경우가 많고 면역치료가 필요하다. CSF 자가항체 검사를 시행하고 면역치료를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항LGI1 뇌염이다. 면얼굴상완 근긴장이상 발작(FBDS)은 기억 장애에 수주–수개월 선행할 수 있고 항경련제에는 잘 듣지 않지만 스테로이드 등 면역치료에 빠르게 반응한다. 조기 면역치료가 해마 위축과 영구 기억 장애를 예방한다.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항Yo 항원(CDR2)은 세포 내 단백이므로 항체 자체가 병원성이기보다 세포독성 CD8 T세포가 퍼킨예 세포를 직접 파괴한다. 증상이 나타난 시점에 이미 퍼킨예 세포가 광범위하게 소실되어 재생되지 않으므로 면역치료로 기능을 되돌리기 어렵다. 조기 종양 발견·치료가 유일한 기회이다.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B08 신경면역학과 신경퇴행질환  ·  항체 매개 신경질환</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자가면역 뇌염과 부신생물 신경증후군</a:t>
            </a:r>
          </a:p>
          <a:p>
            <a:r>
              <a:rPr sz="2000" b="0" i="0">
                <a:solidFill>
                  <a:srgbClr val="C2CDD6"/>
                </a:solidFill>
                <a:latin typeface="Malgun Gothic"/>
                <a:ea typeface="Malgun Gothic"/>
                <a:cs typeface="Malgun Gothic"/>
              </a:rPr>
              <a:t>Autoimmune Encephalitis and Paraneoplastic Neurological Syndromes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B08-L06</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세포 표면 항원 항체와 세포 내 항원 항체의 기전·치료 반응 차이를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항NMDA 수용체 뇌염의 임상 경과·종양 연관·치료를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LGI1·CASPR2·GABA_B·AMPAR 등 주요 증후군을 비교한다.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부신생물 증후군의 항체와 동반 종양, 선별 전략을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진단 기준·감별(감염성·대사성·정신질환)과 치료 단계·예후를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두 범주: 표면 항원 vs 세포 내 항원</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항NMDA 수용체 뇌염</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주요 증후군 비교</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부신생물 신경증후군</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진단과 감별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두 범주: 표면 항원 vs 세포 내 항원</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임상 함의: 표면 항원 뇌염은 </a:t>
            </a:r>
            <a:r>
              <a:rPr sz="2200" b="1" i="0">
                <a:solidFill>
                  <a:srgbClr val="11202B"/>
                </a:solidFill>
                <a:latin typeface="Malgun Gothic"/>
                <a:ea typeface="Malgun Gothic"/>
                <a:cs typeface="Malgun Gothic"/>
              </a:rPr>
              <a:t>적극적·조기 면역치료</a:t>
            </a:r>
            <a:r>
              <a:rPr sz="2200" b="0" i="0">
                <a:solidFill>
                  <a:srgbClr val="11202B"/>
                </a:solidFill>
                <a:latin typeface="Malgun Gothic"/>
                <a:ea typeface="Malgun Gothic"/>
                <a:cs typeface="Malgun Gothic"/>
              </a:rPr>
              <a:t>로 극적 회복이 가능하므로 '치료 가능한 뇌염'을 놓치지 않는 것이 핵심이다.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두 범주: 표면 항원 vs 세포 내 항원</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구분</a:t>
                      </a:r>
                    </a:p>
                  </a:txBody>
                  <a:tcPr marL="73152" marR="73152">
                    <a:solidFill>
                      <a:srgbClr val="003C71"/>
                    </a:solidFill>
                  </a:tcPr>
                </a:tc>
                <a:tc>
                  <a:txBody>
                    <a:bodyPr/>
                    <a:lstStyle/>
                    <a:p>
                      <a:r>
                        <a:rPr sz="1500" b="1" i="0">
                          <a:solidFill>
                            <a:srgbClr val="FFFFFF"/>
                          </a:solidFill>
                          <a:latin typeface="Malgun Gothic"/>
                          <a:ea typeface="Malgun Gothic"/>
                          <a:cs typeface="Malgun Gothic"/>
                        </a:rPr>
                        <a:t>세포 표면·시냅스 항원</a:t>
                      </a:r>
                    </a:p>
                  </a:txBody>
                  <a:tcPr marL="73152" marR="73152">
                    <a:solidFill>
                      <a:srgbClr val="003C71"/>
                    </a:solidFill>
                  </a:tcPr>
                </a:tc>
                <a:tc>
                  <a:txBody>
                    <a:bodyPr/>
                    <a:lstStyle/>
                    <a:p>
                      <a:r>
                        <a:rPr sz="1500" b="1" i="0">
                          <a:solidFill>
                            <a:srgbClr val="FFFFFF"/>
                          </a:solidFill>
                          <a:latin typeface="Malgun Gothic"/>
                          <a:ea typeface="Malgun Gothic"/>
                          <a:cs typeface="Malgun Gothic"/>
                        </a:rPr>
                        <a:t>세포 내 항원</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예</a:t>
                      </a:r>
                    </a:p>
                  </a:txBody>
                  <a:tcPr marL="73152" marR="73152">
                    <a:solidFill>
                      <a:srgbClr val="FFFFFF"/>
                    </a:solidFill>
                  </a:tcPr>
                </a:tc>
                <a:tc>
                  <a:txBody>
                    <a:bodyPr/>
                    <a:lstStyle/>
                    <a:p>
                      <a:r>
                        <a:rPr sz="1500" b="0" i="0">
                          <a:solidFill>
                            <a:srgbClr val="11202B"/>
                          </a:solidFill>
                          <a:latin typeface="Malgun Gothic"/>
                          <a:ea typeface="Malgun Gothic"/>
                          <a:cs typeface="Malgun Gothic"/>
                        </a:rPr>
                        <a:t>NMDAR, LGI1, CASPR2, AMPAR, GABA_A/B, DPPX, IgLON5, mGluR5</a:t>
                      </a:r>
                    </a:p>
                  </a:txBody>
                  <a:tcPr marL="73152" marR="73152">
                    <a:solidFill>
                      <a:srgbClr val="FFFFFF"/>
                    </a:solidFill>
                  </a:tcPr>
                </a:tc>
                <a:tc>
                  <a:txBody>
                    <a:bodyPr/>
                    <a:lstStyle/>
                    <a:p>
                      <a:r>
                        <a:rPr sz="1500" b="0" i="0">
                          <a:solidFill>
                            <a:srgbClr val="11202B"/>
                          </a:solidFill>
                          <a:latin typeface="Malgun Gothic"/>
                          <a:ea typeface="Malgun Gothic"/>
                          <a:cs typeface="Malgun Gothic"/>
                        </a:rPr>
                        <a:t>Hu(ANNA-1), Yo(PCA-1), Ri, Ma2, CV2/CRMP5, 암피피신, GAD65(중간 성격)</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기전</a:t>
                      </a:r>
                    </a:p>
                  </a:txBody>
                  <a:tcPr marL="73152" marR="73152">
                    <a:solidFill>
                      <a:srgbClr val="ECF1F5"/>
                    </a:solidFill>
                  </a:tcPr>
                </a:tc>
                <a:tc>
                  <a:txBody>
                    <a:bodyPr/>
                    <a:lstStyle/>
                    <a:p>
                      <a:r>
                        <a:rPr sz="1500" b="1" i="0">
                          <a:solidFill>
                            <a:srgbClr val="11202B"/>
                          </a:solidFill>
                          <a:latin typeface="Malgun Gothic"/>
                          <a:ea typeface="Malgun Gothic"/>
                          <a:cs typeface="Malgun Gothic"/>
                        </a:rPr>
                        <a:t>항체가 직접 병원성</a:t>
                      </a:r>
                      <a:r>
                        <a:rPr sz="1500" b="0" i="0">
                          <a:solidFill>
                            <a:srgbClr val="11202B"/>
                          </a:solidFill>
                          <a:latin typeface="Malgun Gothic"/>
                          <a:ea typeface="Malgun Gothic"/>
                          <a:cs typeface="Malgun Gothic"/>
                        </a:rPr>
                        <a:t>(수용체 내재화·기능 차단·보체)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세포독성 </a:t>
                      </a:r>
                      <a:r>
                        <a:rPr sz="1500" b="1" i="0">
                          <a:solidFill>
                            <a:srgbClr val="11202B"/>
                          </a:solidFill>
                          <a:latin typeface="Malgun Gothic"/>
                          <a:ea typeface="Malgun Gothic"/>
                          <a:cs typeface="Malgun Gothic"/>
                        </a:rPr>
                        <a:t>T세포</a:t>
                      </a:r>
                      <a:r>
                        <a:rPr sz="1500" b="0" i="0">
                          <a:solidFill>
                            <a:srgbClr val="11202B"/>
                          </a:solidFill>
                          <a:latin typeface="Malgun Gothic"/>
                          <a:ea typeface="Malgun Gothic"/>
                          <a:cs typeface="Malgun Gothic"/>
                        </a:rPr>
                        <a:t>가 주된 매개(항체는 표지자)</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종양 동반</a:t>
                      </a:r>
                    </a:p>
                  </a:txBody>
                  <a:tcPr marL="73152" marR="73152">
                    <a:solidFill>
                      <a:srgbClr val="FFFFFF"/>
                    </a:solidFill>
                  </a:tcPr>
                </a:tc>
                <a:tc>
                  <a:txBody>
                    <a:bodyPr/>
                    <a:lstStyle/>
                    <a:p>
                      <a:r>
                        <a:rPr sz="1500" b="0" i="0">
                          <a:solidFill>
                            <a:srgbClr val="11202B"/>
                          </a:solidFill>
                          <a:latin typeface="Malgun Gothic"/>
                          <a:ea typeface="Malgun Gothic"/>
                          <a:cs typeface="Malgun Gothic"/>
                        </a:rPr>
                        <a:t>가변(NMDAR — 기형종, LGI1 — 드묾)</a:t>
                      </a:r>
                    </a:p>
                  </a:txBody>
                  <a:tcPr marL="73152" marR="73152">
                    <a:solidFill>
                      <a:srgbClr val="FFFFFF"/>
                    </a:solidFill>
                  </a:tcPr>
                </a:tc>
                <a:tc>
                  <a:txBody>
                    <a:bodyPr/>
                    <a:lstStyle/>
                    <a:p>
                      <a:r>
                        <a:rPr sz="1500" b="1" i="0">
                          <a:solidFill>
                            <a:srgbClr val="11202B"/>
                          </a:solidFill>
                          <a:latin typeface="Malgun Gothic"/>
                          <a:ea typeface="Malgun Gothic"/>
                          <a:cs typeface="Malgun Gothic"/>
                        </a:rPr>
                        <a:t>높음</a:t>
                      </a:r>
                      <a:r>
                        <a:rPr sz="1500" b="0" i="0">
                          <a:solidFill>
                            <a:srgbClr val="11202B"/>
                          </a:solidFill>
                          <a:latin typeface="Malgun Gothic"/>
                          <a:ea typeface="Malgun Gothic"/>
                          <a:cs typeface="Malgun Gothic"/>
                        </a:rPr>
                        <a:t>(종양 선별 필수)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치료 반응</a:t>
                      </a:r>
                    </a:p>
                  </a:txBody>
                  <a:tcPr marL="73152" marR="73152">
                    <a:solidFill>
                      <a:srgbClr val="ECF1F5"/>
                    </a:solidFill>
                  </a:tcPr>
                </a:tc>
                <a:tc>
                  <a:txBody>
                    <a:bodyPr/>
                    <a:lstStyle/>
                    <a:p>
                      <a:r>
                        <a:rPr sz="1500" b="1" i="0">
                          <a:solidFill>
                            <a:srgbClr val="11202B"/>
                          </a:solidFill>
                          <a:latin typeface="Malgun Gothic"/>
                          <a:ea typeface="Malgun Gothic"/>
                          <a:cs typeface="Malgun Gothic"/>
                        </a:rPr>
                        <a:t>좋음</a:t>
                      </a:r>
                      <a:r>
                        <a:rPr sz="1500" b="0" i="0">
                          <a:solidFill>
                            <a:srgbClr val="11202B"/>
                          </a:solidFill>
                          <a:latin typeface="Malgun Gothic"/>
                          <a:ea typeface="Malgun Gothic"/>
                          <a:cs typeface="Malgun Gothic"/>
                        </a:rPr>
                        <a:t>(면역치료로 회복 가능)</a:t>
                      </a:r>
                    </a:p>
                  </a:txBody>
                  <a:tcPr marL="73152" marR="73152">
                    <a:solidFill>
                      <a:srgbClr val="ECF1F5"/>
                    </a:solidFill>
                  </a:tcPr>
                </a:tc>
                <a:tc>
                  <a:txBody>
                    <a:bodyPr/>
                    <a:lstStyle/>
                    <a:p>
                      <a:r>
                        <a:rPr sz="1500" b="0" i="0">
                          <a:solidFill>
                            <a:srgbClr val="11202B"/>
                          </a:solidFill>
                          <a:latin typeface="Malgun Gothic"/>
                          <a:ea typeface="Malgun Gothic"/>
                          <a:cs typeface="Malgun Gothic"/>
                        </a:rPr>
                        <a:t>나쁨(신경세포 이미 소실) — 조기 종양 치료가 최선</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병리</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신경 소실 적음</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신경 소실·T세포 침윤</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항NMDA 수용체 뇌염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가장 흔한 자가면역 뇌염; 젊은 여성·소아에 많음(남성·고령도 발생).</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항원: NMDA 수용체 </a:t>
            </a:r>
            <a:r>
              <a:rPr sz="1800" b="1" i="0">
                <a:solidFill>
                  <a:srgbClr val="11202B"/>
                </a:solidFill>
                <a:latin typeface="Malgun Gothic"/>
                <a:ea typeface="Malgun Gothic"/>
                <a:cs typeface="Malgun Gothic"/>
              </a:rPr>
              <a:t>GluN1 소단위 세포외 도메인</a:t>
            </a:r>
            <a:r>
              <a:rPr sz="1800" b="0" i="0">
                <a:solidFill>
                  <a:srgbClr val="11202B"/>
                </a:solidFill>
                <a:latin typeface="Malgun Gothic"/>
                <a:ea typeface="Malgun Gothic"/>
                <a:cs typeface="Malgun Gothic"/>
              </a:rPr>
              <a:t> → 항체가 수용체를 가교·내재화 → 시냅스 NMDA 수용체 감소(보체 비의존) → </a:t>
            </a:r>
            <a:r>
              <a:rPr sz="1800" b="1" i="0">
                <a:solidFill>
                  <a:srgbClr val="11202B"/>
                </a:solidFill>
                <a:latin typeface="Malgun Gothic"/>
                <a:ea typeface="Malgun Gothic"/>
                <a:cs typeface="Malgun Gothic"/>
              </a:rPr>
              <a:t>가역적 기능 저하</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유발: </a:t>
            </a:r>
            <a:r>
              <a:rPr sz="1800" b="1" i="0">
                <a:solidFill>
                  <a:srgbClr val="11202B"/>
                </a:solidFill>
                <a:latin typeface="Malgun Gothic"/>
                <a:ea typeface="Malgun Gothic"/>
                <a:cs typeface="Malgun Gothic"/>
              </a:rPr>
              <a:t>난소 기형종</a:t>
            </a:r>
            <a:r>
              <a:rPr sz="1800" b="0" i="0">
                <a:solidFill>
                  <a:srgbClr val="11202B"/>
                </a:solidFill>
                <a:latin typeface="Malgun Gothic"/>
                <a:ea typeface="Malgun Gothic"/>
                <a:cs typeface="Malgun Gothic"/>
              </a:rPr>
              <a:t>(젊은 여성의 약 40–50%; 기형종 내 신경조직이 항원 공급), </a:t>
            </a:r>
            <a:r>
              <a:rPr sz="1800" b="1" i="0">
                <a:solidFill>
                  <a:srgbClr val="11202B"/>
                </a:solidFill>
                <a:latin typeface="Malgun Gothic"/>
                <a:ea typeface="Malgun Gothic"/>
                <a:cs typeface="Malgun Gothic"/>
              </a:rPr>
              <a:t>단순포진 뇌염 후</a:t>
            </a:r>
            <a:r>
              <a:rPr sz="1800" b="0" i="0">
                <a:solidFill>
                  <a:srgbClr val="11202B"/>
                </a:solidFill>
                <a:latin typeface="Malgun Gothic"/>
                <a:ea typeface="Malgun Gothic"/>
                <a:cs typeface="Malgun Gothic"/>
              </a:rPr>
              <a:t>(HSV 감염 2–6주 후 약 20%에서 자가면역 뇌염 발생 — 재발로 오인 금물), 기타 바이러스.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전형적 경과(단계적): 전구 증상(두통·발열) → </a:t>
            </a:r>
            <a:r>
              <a:rPr sz="1800" b="1" i="0">
                <a:solidFill>
                  <a:srgbClr val="11202B"/>
                </a:solidFill>
                <a:latin typeface="Malgun Gothic"/>
                <a:ea typeface="Malgun Gothic"/>
                <a:cs typeface="Malgun Gothic"/>
              </a:rPr>
              <a:t>정신·행동 변화</a:t>
            </a:r>
            <a:r>
              <a:rPr sz="1800" b="0" i="0">
                <a:solidFill>
                  <a:srgbClr val="11202B"/>
                </a:solidFill>
                <a:latin typeface="Malgun Gothic"/>
                <a:ea typeface="Malgun Gothic"/>
                <a:cs typeface="Malgun Gothic"/>
              </a:rPr>
              <a:t>(망상·환각·초조 — 정신과 입원 흔함) → 언어 장애·함묵 → </a:t>
            </a:r>
            <a:r>
              <a:rPr sz="1800" b="1" i="0">
                <a:solidFill>
                  <a:srgbClr val="11202B"/>
                </a:solidFill>
                <a:latin typeface="Malgun Gothic"/>
                <a:ea typeface="Malgun Gothic"/>
                <a:cs typeface="Malgun Gothic"/>
              </a:rPr>
              <a:t>경련</a:t>
            </a:r>
            <a:r>
              <a:rPr sz="1800" b="0" i="0">
                <a:solidFill>
                  <a:srgbClr val="11202B"/>
                </a:solidFill>
                <a:latin typeface="Malgun Gothic"/>
                <a:ea typeface="Malgun Gothic"/>
                <a:cs typeface="Malgun Gothic"/>
              </a:rPr>
              <a:t> → </a:t>
            </a:r>
            <a:r>
              <a:rPr sz="1800" b="1" i="0">
                <a:solidFill>
                  <a:srgbClr val="11202B"/>
                </a:solidFill>
                <a:latin typeface="Malgun Gothic"/>
                <a:ea typeface="Malgun Gothic"/>
                <a:cs typeface="Malgun Gothic"/>
              </a:rPr>
              <a:t>운동이상증</a:t>
            </a:r>
            <a:r>
              <a:rPr sz="1800" b="0" i="0">
                <a:solidFill>
                  <a:srgbClr val="11202B"/>
                </a:solidFill>
                <a:latin typeface="Malgun Gothic"/>
                <a:ea typeface="Malgun Gothic"/>
                <a:cs typeface="Malgun Gothic"/>
              </a:rPr>
              <a:t>(구강안면 운동이상, 무도무정위, 긴장증) → </a:t>
            </a:r>
            <a:r>
              <a:rPr sz="1800" b="1" i="0">
                <a:solidFill>
                  <a:srgbClr val="11202B"/>
                </a:solidFill>
                <a:latin typeface="Malgun Gothic"/>
                <a:ea typeface="Malgun Gothic"/>
                <a:cs typeface="Malgun Gothic"/>
              </a:rPr>
              <a:t>의식 저하·자율신경 불안정</a:t>
            </a:r>
            <a:r>
              <a:rPr sz="1800" b="0" i="0">
                <a:solidFill>
                  <a:srgbClr val="11202B"/>
                </a:solidFill>
                <a:latin typeface="Malgun Gothic"/>
                <a:ea typeface="Malgun Gothic"/>
                <a:cs typeface="Malgun Gothic"/>
              </a:rPr>
              <a:t>(부정맥·고열·혈압 변동) → </a:t>
            </a:r>
            <a:r>
              <a:rPr sz="1800" b="1" i="0">
                <a:solidFill>
                  <a:srgbClr val="11202B"/>
                </a:solidFill>
                <a:latin typeface="Malgun Gothic"/>
                <a:ea typeface="Malgun Gothic"/>
                <a:cs typeface="Malgun Gothic"/>
              </a:rPr>
              <a:t>중추성 저환기</a:t>
            </a:r>
            <a:r>
              <a:rPr sz="1800" b="0" i="0">
                <a:solidFill>
                  <a:srgbClr val="11202B"/>
                </a:solidFill>
                <a:latin typeface="Malgun Gothic"/>
                <a:ea typeface="Malgun Gothic"/>
                <a:cs typeface="Malgun Gothic"/>
              </a:rPr>
              <a:t>(인공호흡 필요).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항NMDA 수용체 뇌염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검사: </a:t>
            </a:r>
            <a:r>
              <a:rPr sz="2000" b="1" i="0">
                <a:solidFill>
                  <a:srgbClr val="11202B"/>
                </a:solidFill>
                <a:latin typeface="Malgun Gothic"/>
                <a:ea typeface="Malgun Gothic"/>
                <a:cs typeface="Malgun Gothic"/>
              </a:rPr>
              <a:t>CSF 항NMDAR 항체(필수 — 혈청보다 민감·특이)</a:t>
            </a:r>
            <a:r>
              <a:rPr sz="2000" b="0" i="0">
                <a:solidFill>
                  <a:srgbClr val="11202B"/>
                </a:solidFill>
                <a:latin typeface="Malgun Gothic"/>
                <a:ea typeface="Malgun Gothic"/>
                <a:cs typeface="Malgun Gothic"/>
              </a:rPr>
              <a:t>, CSF 림프구 증가·올리고클론 밴드, EEG의 </a:t>
            </a:r>
            <a:r>
              <a:rPr sz="2000" b="1" i="0">
                <a:solidFill>
                  <a:srgbClr val="11202B"/>
                </a:solidFill>
                <a:latin typeface="Malgun Gothic"/>
                <a:ea typeface="Malgun Gothic"/>
                <a:cs typeface="Malgun Gothic"/>
              </a:rPr>
              <a:t>극도 델타 브러시</a:t>
            </a:r>
            <a:r>
              <a:rPr sz="2000" b="0" i="0">
                <a:solidFill>
                  <a:srgbClr val="11202B"/>
                </a:solidFill>
                <a:latin typeface="Malgun Gothic"/>
                <a:ea typeface="Malgun Gothic"/>
                <a:cs typeface="Malgun Gothic"/>
              </a:rPr>
              <a:t>(약 30%, 특징적), MRI는 흔히 정상 또는 경미.</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치료: 종양 제거(기형종) + </a:t>
            </a:r>
            <a:r>
              <a:rPr sz="2000" b="1" i="0">
                <a:solidFill>
                  <a:srgbClr val="11202B"/>
                </a:solidFill>
                <a:latin typeface="Malgun Gothic"/>
                <a:ea typeface="Malgun Gothic"/>
                <a:cs typeface="Malgun Gothic"/>
              </a:rPr>
              <a:t>1차</a:t>
            </a:r>
            <a:r>
              <a:rPr sz="2000" b="0" i="0">
                <a:solidFill>
                  <a:srgbClr val="11202B"/>
                </a:solidFill>
                <a:latin typeface="Malgun Gothic"/>
                <a:ea typeface="Malgun Gothic"/>
                <a:cs typeface="Malgun Gothic"/>
              </a:rPr>
              <a:t>(고용량 스테로이드, IVIG, 혈장교환) → 반응 불충분 시 </a:t>
            </a:r>
            <a:r>
              <a:rPr sz="2000" b="1" i="0">
                <a:solidFill>
                  <a:srgbClr val="11202B"/>
                </a:solidFill>
                <a:latin typeface="Malgun Gothic"/>
                <a:ea typeface="Malgun Gothic"/>
                <a:cs typeface="Malgun Gothic"/>
              </a:rPr>
              <a:t>2차</a:t>
            </a:r>
            <a:r>
              <a:rPr sz="2000" b="0" i="0">
                <a:solidFill>
                  <a:srgbClr val="11202B"/>
                </a:solidFill>
                <a:latin typeface="Malgun Gothic"/>
                <a:ea typeface="Malgun Gothic"/>
                <a:cs typeface="Malgun Gothic"/>
              </a:rPr>
              <a:t>(리툭시맙, 사이클로포스파마이드) — 2차 치료의 조기 사용이 예후를 개선; 난치성에 토실리주맙·보르테조밉·CD19 CAR-T 보고.</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예후: 약 80%가 상당히 회복하나 수개월–2년 소요, 재발 10–25%(2차 치료로 감소), 장기 인지·수면·행동 후유증.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주요 증후군 비교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항체</a:t>
                      </a:r>
                    </a:p>
                  </a:txBody>
                  <a:tcPr marL="73152" marR="73152">
                    <a:solidFill>
                      <a:srgbClr val="003C71"/>
                    </a:solidFill>
                  </a:tcPr>
                </a:tc>
                <a:tc>
                  <a:txBody>
                    <a:bodyPr/>
                    <a:lstStyle/>
                    <a:p>
                      <a:r>
                        <a:rPr sz="1300" b="1" i="0">
                          <a:solidFill>
                            <a:srgbClr val="FFFFFF"/>
                          </a:solidFill>
                          <a:latin typeface="Malgun Gothic"/>
                          <a:ea typeface="Malgun Gothic"/>
                          <a:cs typeface="Malgun Gothic"/>
                        </a:rPr>
                        <a:t>임상</a:t>
                      </a:r>
                    </a:p>
                  </a:txBody>
                  <a:tcPr marL="73152" marR="73152">
                    <a:solidFill>
                      <a:srgbClr val="003C71"/>
                    </a:solidFill>
                  </a:tcPr>
                </a:tc>
                <a:tc>
                  <a:txBody>
                    <a:bodyPr/>
                    <a:lstStyle/>
                    <a:p>
                      <a:r>
                        <a:rPr sz="1300" b="1" i="0">
                          <a:solidFill>
                            <a:srgbClr val="FFFFFF"/>
                          </a:solidFill>
                          <a:latin typeface="Malgun Gothic"/>
                          <a:ea typeface="Malgun Gothic"/>
                          <a:cs typeface="Malgun Gothic"/>
                        </a:rPr>
                        <a:t>종양</a:t>
                      </a:r>
                    </a:p>
                  </a:txBody>
                  <a:tcPr marL="73152" marR="73152">
                    <a:solidFill>
                      <a:srgbClr val="003C71"/>
                    </a:solidFill>
                  </a:tcPr>
                </a:tc>
                <a:tc>
                  <a:txBody>
                    <a:bodyPr/>
                    <a:lstStyle/>
                    <a:p>
                      <a:r>
                        <a:rPr sz="1300" b="1" i="0">
                          <a:solidFill>
                            <a:srgbClr val="FFFFFF"/>
                          </a:solidFill>
                          <a:latin typeface="Malgun Gothic"/>
                          <a:ea typeface="Malgun Gothic"/>
                          <a:cs typeface="Malgun Gothic"/>
                        </a:rPr>
                        <a:t>특징·치료</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LGI1</a:t>
                      </a:r>
                    </a:p>
                  </a:txBody>
                  <a:tcPr marL="73152" marR="73152">
                    <a:solidFill>
                      <a:srgbClr val="FFFFFF"/>
                    </a:solidFill>
                  </a:tcPr>
                </a:tc>
                <a:tc>
                  <a:txBody>
                    <a:bodyPr/>
                    <a:lstStyle/>
                    <a:p>
                      <a:r>
                        <a:rPr sz="1300" b="0" i="0">
                          <a:solidFill>
                            <a:srgbClr val="11202B"/>
                          </a:solidFill>
                          <a:latin typeface="Malgun Gothic"/>
                          <a:ea typeface="Malgun Gothic"/>
                          <a:cs typeface="Malgun Gothic"/>
                        </a:rPr>
                        <a:t>변연계 뇌염(기억 장애·혼동·발작), </a:t>
                      </a:r>
                      <a:r>
                        <a:rPr sz="1300" b="1" i="0">
                          <a:solidFill>
                            <a:srgbClr val="11202B"/>
                          </a:solidFill>
                          <a:latin typeface="Malgun Gothic"/>
                          <a:ea typeface="Malgun Gothic"/>
                          <a:cs typeface="Malgun Gothic"/>
                        </a:rPr>
                        <a:t>면얼굴상완 근긴장이상 발작</a:t>
                      </a:r>
                      <a:r>
                        <a:rPr sz="1300" b="0" i="0">
                          <a:solidFill>
                            <a:srgbClr val="11202B"/>
                          </a:solidFill>
                          <a:latin typeface="Malgun Gothic"/>
                          <a:ea typeface="Malgun Gothic"/>
                          <a:cs typeface="Malgun Gothic"/>
                        </a:rPr>
                        <a:t>(FBDS — 초당 수 초의 짧은 팔·얼굴 수축, 하루 수십 회; 기억 장애에 선행), </a:t>
                      </a:r>
                      <a:r>
                        <a:rPr sz="1300" b="1" i="0">
                          <a:solidFill>
                            <a:srgbClr val="11202B"/>
                          </a:solidFill>
                          <a:latin typeface="Malgun Gothic"/>
                          <a:ea typeface="Malgun Gothic"/>
                          <a:cs typeface="Malgun Gothic"/>
                        </a:rPr>
                        <a:t>저나트륨혈증</a:t>
                      </a:r>
                      <a:r>
                        <a:rPr sz="1300" b="0" i="0">
                          <a:solidFill>
                            <a:srgbClr val="11202B"/>
                          </a:solidFill>
                          <a:latin typeface="Malgun Gothic"/>
                          <a:ea typeface="Malgun Gothic"/>
                          <a:cs typeface="Malgun Gothic"/>
                        </a:rPr>
                        <a:t>(SIADH)</a:t>
                      </a:r>
                    </a:p>
                  </a:txBody>
                  <a:tcPr marL="73152" marR="73152">
                    <a:solidFill>
                      <a:srgbClr val="FFFFFF"/>
                    </a:solidFill>
                  </a:tcPr>
                </a:tc>
                <a:tc>
                  <a:txBody>
                    <a:bodyPr/>
                    <a:lstStyle/>
                    <a:p>
                      <a:r>
                        <a:rPr sz="1300" b="0" i="0">
                          <a:solidFill>
                            <a:srgbClr val="11202B"/>
                          </a:solidFill>
                          <a:latin typeface="Malgun Gothic"/>
                          <a:ea typeface="Malgun Gothic"/>
                          <a:cs typeface="Malgun Gothic"/>
                        </a:rPr>
                        <a:t>드묾(&lt;10%)</a:t>
                      </a:r>
                    </a:p>
                  </a:txBody>
                  <a:tcPr marL="73152" marR="73152">
                    <a:solidFill>
                      <a:srgbClr val="FFFFFF"/>
                    </a:solidFill>
                  </a:tcPr>
                </a:tc>
                <a:tc>
                  <a:txBody>
                    <a:bodyPr/>
                    <a:lstStyle/>
                    <a:p>
                      <a:r>
                        <a:rPr sz="1300" b="0" i="0">
                          <a:solidFill>
                            <a:srgbClr val="11202B"/>
                          </a:solidFill>
                          <a:latin typeface="Malgun Gothic"/>
                          <a:ea typeface="Malgun Gothic"/>
                          <a:cs typeface="Malgun Gothic"/>
                        </a:rPr>
                        <a:t>노년 남성 우세, HLA-DRB1*07:01; </a:t>
                      </a:r>
                      <a:r>
                        <a:rPr sz="1300" b="1" i="0">
                          <a:solidFill>
                            <a:srgbClr val="11202B"/>
                          </a:solidFill>
                          <a:latin typeface="Malgun Gothic"/>
                          <a:ea typeface="Malgun Gothic"/>
                          <a:cs typeface="Malgun Gothic"/>
                        </a:rPr>
                        <a:t>스테로이드 반응 좋음</a:t>
                      </a:r>
                      <a:r>
                        <a:rPr sz="1300" b="0" i="0">
                          <a:solidFill>
                            <a:srgbClr val="11202B"/>
                          </a:solidFill>
                          <a:latin typeface="Malgun Gothic"/>
                          <a:ea typeface="Malgun Gothic"/>
                          <a:cs typeface="Malgun Gothic"/>
                        </a:rPr>
                        <a:t> — FBDS는 항경련제 반응 나쁘고 면역치료에 반응</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CASPR2</a:t>
                      </a:r>
                    </a:p>
                  </a:txBody>
                  <a:tcPr marL="73152" marR="73152">
                    <a:solidFill>
                      <a:srgbClr val="ECF1F5"/>
                    </a:solidFill>
                  </a:tcPr>
                </a:tc>
                <a:tc>
                  <a:txBody>
                    <a:bodyPr/>
                    <a:lstStyle/>
                    <a:p>
                      <a:r>
                        <a:rPr sz="1300" b="0" i="0">
                          <a:solidFill>
                            <a:srgbClr val="11202B"/>
                          </a:solidFill>
                          <a:latin typeface="Malgun Gothic"/>
                          <a:ea typeface="Malgun Gothic"/>
                          <a:cs typeface="Malgun Gothic"/>
                        </a:rPr>
                        <a:t>모르반 증후군(불면·자율 과활성·말초 신경과흥분), 변연계 뇌염, 신경근 긴장증, 통증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흉선종 약 20–50%</a:t>
                      </a:r>
                    </a:p>
                  </a:txBody>
                  <a:tcPr marL="73152" marR="73152">
                    <a:solidFill>
                      <a:srgbClr val="ECF1F5"/>
                    </a:solidFill>
                  </a:tcPr>
                </a:tc>
                <a:tc>
                  <a:txBody>
                    <a:bodyPr/>
                    <a:lstStyle/>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GABA_B 수용체</a:t>
                      </a:r>
                    </a:p>
                  </a:txBody>
                  <a:tcPr marL="73152" marR="73152">
                    <a:solidFill>
                      <a:srgbClr val="FFFFFF"/>
                    </a:solidFill>
                  </a:tcPr>
                </a:tc>
                <a:tc>
                  <a:txBody>
                    <a:bodyPr/>
                    <a:lstStyle/>
                    <a:p>
                      <a:r>
                        <a:rPr sz="1300" b="0" i="0">
                          <a:solidFill>
                            <a:srgbClr val="11202B"/>
                          </a:solidFill>
                          <a:latin typeface="Malgun Gothic"/>
                          <a:ea typeface="Malgun Gothic"/>
                          <a:cs typeface="Malgun Gothic"/>
                        </a:rPr>
                        <a:t>변연계 뇌염 + </a:t>
                      </a:r>
                      <a:r>
                        <a:rPr sz="1300" b="1" i="0">
                          <a:solidFill>
                            <a:srgbClr val="11202B"/>
                          </a:solidFill>
                          <a:latin typeface="Malgun Gothic"/>
                          <a:ea typeface="Malgun Gothic"/>
                          <a:cs typeface="Malgun Gothic"/>
                        </a:rPr>
                        <a:t>심한 난치성 발작</a:t>
                      </a:r>
                    </a:p>
                  </a:txBody>
                  <a:tcPr marL="73152" marR="73152">
                    <a:solidFill>
                      <a:srgbClr val="FFFFFF"/>
                    </a:solidFill>
                  </a:tcPr>
                </a:tc>
                <a:tc>
                  <a:txBody>
                    <a:bodyPr/>
                    <a:lstStyle/>
                    <a:p>
                      <a:r>
                        <a:rPr sz="1300" b="1" i="0">
                          <a:solidFill>
                            <a:srgbClr val="11202B"/>
                          </a:solidFill>
                          <a:latin typeface="Malgun Gothic"/>
                          <a:ea typeface="Malgun Gothic"/>
                          <a:cs typeface="Malgun Gothic"/>
                        </a:rPr>
                        <a:t>소세포폐암</a:t>
                      </a:r>
                      <a:r>
                        <a:rPr sz="1300" b="0" i="0">
                          <a:solidFill>
                            <a:srgbClr val="11202B"/>
                          </a:solidFill>
                          <a:latin typeface="Malgun Gothic"/>
                          <a:ea typeface="Malgun Gothic"/>
                          <a:cs typeface="Malgun Gothic"/>
                        </a:rPr>
                        <a:t> 약 50%</a:t>
                      </a:r>
                    </a:p>
                  </a:txBody>
                  <a:tcPr marL="73152" marR="73152">
                    <a:solidFill>
                      <a:srgbClr val="FFFFFF"/>
                    </a:solidFill>
                  </a:tcPr>
                </a:tc>
                <a:tc>
                  <a:txBody>
                    <a:bodyPr/>
                    <a:lstStyle/>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AMPA 수용체</a:t>
                      </a:r>
                    </a:p>
                  </a:txBody>
                  <a:tcPr marL="73152" marR="73152">
                    <a:solidFill>
                      <a:srgbClr val="ECF1F5"/>
                    </a:solidFill>
                  </a:tcPr>
                </a:tc>
                <a:tc>
                  <a:txBody>
                    <a:bodyPr/>
                    <a:lstStyle/>
                    <a:p>
                      <a:r>
                        <a:rPr sz="1300" b="0" i="0">
                          <a:solidFill>
                            <a:srgbClr val="11202B"/>
                          </a:solidFill>
                          <a:latin typeface="Malgun Gothic"/>
                          <a:ea typeface="Malgun Gothic"/>
                          <a:cs typeface="Malgun Gothic"/>
                        </a:rPr>
                        <a:t>변연계 뇌염, 정신증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폐·유방·흉선 종양 70%</a:t>
                      </a:r>
                    </a:p>
                  </a:txBody>
                  <a:tcPr marL="73152" marR="73152">
                    <a:solidFill>
                      <a:srgbClr val="ECF1F5"/>
                    </a:solidFill>
                  </a:tcPr>
                </a:tc>
                <a:tc>
                  <a:txBody>
                    <a:bodyPr/>
                    <a:lstStyle/>
                    <a:p>
                      <a:r>
                        <a:rPr sz="1300" b="0" i="0">
                          <a:solidFill>
                            <a:srgbClr val="11202B"/>
                          </a:solidFill>
                          <a:latin typeface="Malgun Gothic"/>
                          <a:ea typeface="Malgun Gothic"/>
                          <a:cs typeface="Malgun Gothic"/>
                        </a:rPr>
                        <a:t>재발 흔함</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GABA_A 수용체</a:t>
                      </a:r>
                    </a:p>
                  </a:txBody>
                  <a:tcPr marL="73152" marR="73152">
                    <a:solidFill>
                      <a:srgbClr val="FFFFFF"/>
                    </a:solidFill>
                  </a:tcPr>
                </a:tc>
                <a:tc>
                  <a:txBody>
                    <a:bodyPr/>
                    <a:lstStyle/>
                    <a:p>
                      <a:r>
                        <a:rPr sz="1300" b="0" i="0">
                          <a:solidFill>
                            <a:srgbClr val="11202B"/>
                          </a:solidFill>
                          <a:latin typeface="Malgun Gothic"/>
                          <a:ea typeface="Malgun Gothic"/>
                          <a:cs typeface="Malgun Gothic"/>
                        </a:rPr>
                        <a:t>난치성 발작·뇌전증 지속상태, 다초점 MRI 병변</a:t>
                      </a:r>
                    </a:p>
                  </a:txBody>
                  <a:tcPr marL="73152" marR="73152">
                    <a:solidFill>
                      <a:srgbClr val="FFFFFF"/>
                    </a:solidFill>
                  </a:tcPr>
                </a:tc>
                <a:tc>
                  <a:txBody>
                    <a:bodyPr/>
                    <a:lstStyle/>
                    <a:p>
                      <a:r>
                        <a:rPr sz="1300" b="0" i="0">
                          <a:solidFill>
                            <a:srgbClr val="11202B"/>
                          </a:solidFill>
                          <a:latin typeface="Malgun Gothic"/>
                          <a:ea typeface="Malgun Gothic"/>
                          <a:cs typeface="Malgun Gothic"/>
                        </a:rPr>
                        <a:t>가변</a:t>
                      </a:r>
                    </a:p>
                  </a:txBody>
                  <a:tcPr marL="73152" marR="73152">
                    <a:solidFill>
                      <a:srgbClr val="FFFFFF"/>
                    </a:solidFill>
                  </a:tcPr>
                </a:tc>
                <a:tc>
                  <a:txBody>
                    <a:bodyPr/>
                    <a:lstStyle/>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DPPX</a:t>
                      </a:r>
                    </a:p>
                  </a:txBody>
                  <a:tcPr marL="73152" marR="73152">
                    <a:solidFill>
                      <a:srgbClr val="ECF1F5"/>
                    </a:solidFill>
                  </a:tcPr>
                </a:tc>
                <a:tc>
                  <a:txBody>
                    <a:bodyPr/>
                    <a:lstStyle/>
                    <a:p>
                      <a:r>
                        <a:rPr sz="1300" b="0" i="0">
                          <a:solidFill>
                            <a:srgbClr val="11202B"/>
                          </a:solidFill>
                          <a:latin typeface="Malgun Gothic"/>
                          <a:ea typeface="Malgun Gothic"/>
                          <a:cs typeface="Malgun Gothic"/>
                        </a:rPr>
                        <a:t>설사·체중 감소(장 뉴런) + 과흥분(근간대·놀람 반응)·인지</a:t>
                      </a:r>
                    </a:p>
                  </a:txBody>
                  <a:tcPr marL="73152" marR="73152">
                    <a:solidFill>
                      <a:srgbClr val="ECF1F5"/>
                    </a:solidFill>
                  </a:tcPr>
                </a:tc>
                <a:tc>
                  <a:txBody>
                    <a:bodyPr/>
                    <a:lstStyle/>
                    <a:p>
                      <a:r>
                        <a:rPr sz="1300" b="0" i="0">
                          <a:solidFill>
                            <a:srgbClr val="11202B"/>
                          </a:solidFill>
                          <a:latin typeface="Malgun Gothic"/>
                          <a:ea typeface="Malgun Gothic"/>
                          <a:cs typeface="Malgun Gothic"/>
                        </a:rPr>
                        <a:t>드묾(B세포 종양)</a:t>
                      </a:r>
                    </a:p>
                  </a:txBody>
                  <a:tcPr marL="73152" marR="73152">
                    <a:solidFill>
                      <a:srgbClr val="ECF1F5"/>
                    </a:solidFill>
                  </a:tcPr>
                </a:tc>
                <a:tc>
                  <a:txBody>
                    <a:bodyPr/>
                    <a:lstStyle/>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IgLON5</a:t>
                      </a:r>
                    </a:p>
                  </a:txBody>
                  <a:tcPr marL="73152" marR="73152">
                    <a:solidFill>
                      <a:srgbClr val="FFFFFF"/>
                    </a:solidFill>
                  </a:tcPr>
                </a:tc>
                <a:tc>
                  <a:txBody>
                    <a:bodyPr/>
                    <a:lstStyle/>
                    <a:p>
                      <a:r>
                        <a:rPr sz="1300" b="0" i="0">
                          <a:solidFill>
                            <a:srgbClr val="11202B"/>
                          </a:solidFill>
                          <a:latin typeface="Malgun Gothic"/>
                          <a:ea typeface="Malgun Gothic"/>
                          <a:cs typeface="Malgun Gothic"/>
                        </a:rPr>
                        <a:t>수면 장애(비REM 사건수면·수면무호흡), 연수 증상, 보행·안구운동 — </a:t>
                      </a:r>
                      <a:r>
                        <a:rPr sz="1300" b="1" i="0">
                          <a:solidFill>
                            <a:srgbClr val="11202B"/>
                          </a:solidFill>
                          <a:latin typeface="Malgun Gothic"/>
                          <a:ea typeface="Malgun Gothic"/>
                          <a:cs typeface="Malgun Gothic"/>
                        </a:rPr>
                        <a:t>타우 병리 동반</a:t>
                      </a:r>
                      <a:r>
                        <a:rPr sz="1300" b="0" i="0">
                          <a:solidFill>
                            <a:srgbClr val="11202B"/>
                          </a:solidFill>
                          <a:latin typeface="Malgun Gothic"/>
                          <a:ea typeface="Malgun Gothic"/>
                          <a:cs typeface="Malgun Gothic"/>
                        </a:rPr>
                        <a:t>(퇴행·자가면역 경계)</a:t>
                      </a:r>
                    </a:p>
                  </a:txBody>
                  <a:tcPr marL="73152" marR="73152">
                    <a:solidFill>
                      <a:srgbClr val="FFFFFF"/>
                    </a:solidFill>
                  </a:tcPr>
                </a:tc>
                <a:tc>
                  <a:txBody>
                    <a:bodyPr/>
                    <a:lstStyle/>
                    <a:p>
                      <a:r>
                        <a:rPr sz="1300" b="0" i="0">
                          <a:solidFill>
                            <a:srgbClr val="11202B"/>
                          </a:solidFill>
                          <a:latin typeface="Malgun Gothic"/>
                          <a:ea typeface="Malgun Gothic"/>
                          <a:cs typeface="Malgun Gothic"/>
                        </a:rPr>
                        <a:t>없음</a:t>
                      </a:r>
                    </a:p>
                  </a:txBody>
                  <a:tcPr marL="73152" marR="73152">
                    <a:solidFill>
                      <a:srgbClr val="FFFFFF"/>
                    </a:solidFill>
                  </a:tcPr>
                </a:tc>
                <a:tc>
                  <a:txBody>
                    <a:bodyPr/>
                    <a:lstStyle/>
                    <a:p>
                      <a:r>
                        <a:rPr sz="1300" b="0" i="0">
                          <a:solidFill>
                            <a:srgbClr val="11202B"/>
                          </a:solidFill>
                          <a:latin typeface="Malgun Gothic"/>
                          <a:ea typeface="Malgun Gothic"/>
                          <a:cs typeface="Malgun Gothic"/>
                        </a:rPr>
                        <a:t>HLA-DRB1*10:01; 면역치료 반응 제한적</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mGluR5</a:t>
                      </a:r>
                    </a:p>
                  </a:txBody>
                  <a:tcPr marL="73152" marR="73152">
                    <a:solidFill>
                      <a:srgbClr val="ECF1F5"/>
                    </a:solidFill>
                  </a:tcPr>
                </a:tc>
                <a:tc>
                  <a:txBody>
                    <a:bodyPr/>
                    <a:lstStyle/>
                    <a:p>
                      <a:r>
                        <a:rPr sz="1300" b="0" i="0">
                          <a:solidFill>
                            <a:srgbClr val="11202B"/>
                          </a:solidFill>
                          <a:latin typeface="Malgun Gothic"/>
                          <a:ea typeface="Malgun Gothic"/>
                          <a:cs typeface="Malgun Gothic"/>
                        </a:rPr>
                        <a:t>오펠리아 증후군(호지킨 림프종 + 뇌염)</a:t>
                      </a:r>
                    </a:p>
                  </a:txBody>
                  <a:tcPr marL="73152" marR="73152">
                    <a:solidFill>
                      <a:srgbClr val="ECF1F5"/>
                    </a:solidFill>
                  </a:tcPr>
                </a:tc>
                <a:tc>
                  <a:txBody>
                    <a:bodyPr/>
                    <a:lstStyle/>
                    <a:p>
                      <a:r>
                        <a:rPr sz="1300" b="0" i="0">
                          <a:solidFill>
                            <a:srgbClr val="11202B"/>
                          </a:solidFill>
                          <a:latin typeface="Malgun Gothic"/>
                          <a:ea typeface="Malgun Gothic"/>
                          <a:cs typeface="Malgun Gothic"/>
                        </a:rPr>
                        <a:t>호지킨</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주요 증후군 비교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항체</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a:t>
                      </a:r>
                    </a:p>
                  </a:txBody>
                  <a:tcPr marL="73152" marR="73152">
                    <a:solidFill>
                      <a:srgbClr val="003C71"/>
                    </a:solidFill>
                  </a:tcPr>
                </a:tc>
                <a:tc>
                  <a:txBody>
                    <a:bodyPr/>
                    <a:lstStyle/>
                    <a:p>
                      <a:r>
                        <a:rPr sz="1500" b="1" i="0">
                          <a:solidFill>
                            <a:srgbClr val="FFFFFF"/>
                          </a:solidFill>
                          <a:latin typeface="Malgun Gothic"/>
                          <a:ea typeface="Malgun Gothic"/>
                          <a:cs typeface="Malgun Gothic"/>
                        </a:rPr>
                        <a:t>종양</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특징·치료</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GAD65 고역가</a:t>
                      </a:r>
                    </a:p>
                  </a:txBody>
                  <a:tcPr marL="73152" marR="73152">
                    <a:solidFill>
                      <a:srgbClr val="FFFFFF"/>
                    </a:solidFill>
                  </a:tcPr>
                </a:tc>
                <a:tc>
                  <a:txBody>
                    <a:bodyPr/>
                    <a:lstStyle/>
                    <a:p>
                      <a:r>
                        <a:rPr sz="1500" b="0" i="0">
                          <a:solidFill>
                            <a:srgbClr val="11202B"/>
                          </a:solidFill>
                          <a:latin typeface="Malgun Gothic"/>
                          <a:ea typeface="Malgun Gothic"/>
                          <a:cs typeface="Malgun Gothic"/>
                        </a:rPr>
                        <a:t>변연계 뇌염, 측두엽 뇌전증, </a:t>
                      </a:r>
                      <a:r>
                        <a:rPr sz="1500" b="1" i="0">
                          <a:solidFill>
                            <a:srgbClr val="11202B"/>
                          </a:solidFill>
                          <a:latin typeface="Malgun Gothic"/>
                          <a:ea typeface="Malgun Gothic"/>
                          <a:cs typeface="Malgun Gothic"/>
                        </a:rPr>
                        <a:t>강직인간 증후군</a:t>
                      </a:r>
                      <a:r>
                        <a:rPr sz="1500" b="0" i="0">
                          <a:solidFill>
                            <a:srgbClr val="11202B"/>
                          </a:solidFill>
                          <a:latin typeface="Malgun Gothic"/>
                          <a:ea typeface="Malgun Gothic"/>
                          <a:cs typeface="Malgun Gothic"/>
                        </a:rPr>
                        <a:t>, 소뇌 실조</a:t>
                      </a:r>
                    </a:p>
                  </a:txBody>
                  <a:tcPr marL="73152" marR="73152">
                    <a:solidFill>
                      <a:srgbClr val="FFFFFF"/>
                    </a:solidFill>
                  </a:tcPr>
                </a:tc>
                <a:tc>
                  <a:txBody>
                    <a:bodyPr/>
                    <a:lstStyle/>
                    <a:p>
                      <a:r>
                        <a:rPr sz="1500" b="0" i="0">
                          <a:solidFill>
                            <a:srgbClr val="11202B"/>
                          </a:solidFill>
                          <a:latin typeface="Malgun Gothic"/>
                          <a:ea typeface="Malgun Gothic"/>
                          <a:cs typeface="Malgun Gothic"/>
                        </a:rPr>
                        <a:t>드묾</a:t>
                      </a:r>
                    </a:p>
                  </a:txBody>
                  <a:tcPr marL="73152" marR="73152">
                    <a:solidFill>
                      <a:srgbClr val="FFFFFF"/>
                    </a:solidFill>
                  </a:tcPr>
                </a:tc>
                <a:tc>
                  <a:txBody>
                    <a:bodyPr/>
                    <a:lstStyle/>
                    <a:p>
                      <a:r>
                        <a:rPr sz="1500" b="0" i="0">
                          <a:solidFill>
                            <a:srgbClr val="11202B"/>
                          </a:solidFill>
                          <a:latin typeface="Malgun Gothic"/>
                          <a:ea typeface="Malgun Gothic"/>
                          <a:cs typeface="Malgun Gothic"/>
                        </a:rPr>
                        <a:t>1형 당뇨·자가면역 동반, 치료 반응 중간</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글리신 수용체</a:t>
                      </a:r>
                    </a:p>
                  </a:txBody>
                  <a:tcPr marL="73152" marR="73152">
                    <a:solidFill>
                      <a:srgbClr val="ECF1F5"/>
                    </a:solidFill>
                  </a:tcPr>
                </a:tc>
                <a:tc>
                  <a:txBody>
                    <a:bodyPr/>
                    <a:lstStyle/>
                    <a:p>
                      <a:r>
                        <a:rPr sz="1500" b="1" i="0">
                          <a:solidFill>
                            <a:srgbClr val="11202B"/>
                          </a:solidFill>
                          <a:latin typeface="Malgun Gothic"/>
                          <a:ea typeface="Malgun Gothic"/>
                          <a:cs typeface="Malgun Gothic"/>
                        </a:rPr>
                        <a:t>PERM</a:t>
                      </a:r>
                      <a:r>
                        <a:rPr sz="1500" b="0" i="0">
                          <a:solidFill>
                            <a:srgbClr val="11202B"/>
                          </a:solidFill>
                          <a:latin typeface="Malgun Gothic"/>
                          <a:ea typeface="Malgun Gothic"/>
                          <a:cs typeface="Malgun Gothic"/>
                        </a:rPr>
                        <a:t>(진행성 뇌척수염·강직·근간대)</a:t>
                      </a:r>
                    </a:p>
                  </a:txBody>
                  <a:tcPr marL="73152" marR="73152">
                    <a:solidFill>
                      <a:srgbClr val="ECF1F5"/>
                    </a:solidFill>
                  </a:tcPr>
                </a:tc>
                <a:tc>
                  <a:txBody>
                    <a:bodyPr/>
                    <a:lstStyle/>
                    <a:p>
                      <a:r>
                        <a:rPr sz="1500" b="0" i="0">
                          <a:solidFill>
                            <a:srgbClr val="11202B"/>
                          </a:solidFill>
                          <a:latin typeface="Malgun Gothic"/>
                          <a:ea typeface="Malgun Gothic"/>
                          <a:cs typeface="Malgun Gothic"/>
                        </a:rPr>
                        <a:t>드묾</a:t>
                      </a:r>
                    </a:p>
                  </a:txBody>
                  <a:tcPr marL="73152" marR="73152">
                    <a:solidFill>
                      <a:srgbClr val="ECF1F5"/>
                    </a:solidFill>
                  </a:tcPr>
                </a:tc>
                <a:tc>
                  <a:txBody>
                    <a:bodyPr/>
                    <a:lstStyle/>
                    <a:p>
                      <a:r>
                        <a:rPr sz="1500" b="0" i="0">
                          <a:solidFill>
                            <a:srgbClr val="11202B"/>
                          </a:solidFill>
                          <a:latin typeface="Malgun Gothic"/>
                          <a:ea typeface="Malgun Gothic"/>
                          <a:cs typeface="Malgun Gothic"/>
                        </a:rPr>
                        <a:t>면역치료 반응 양호</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아쿠아포린-4·MOG</a:t>
                      </a:r>
                    </a:p>
                  </a:txBody>
                  <a:tcPr marL="73152" marR="73152">
                    <a:solidFill>
                      <a:srgbClr val="FFFFFF"/>
                    </a:solidFill>
                  </a:tcPr>
                </a:tc>
                <a:tc>
                  <a:txBody>
                    <a:bodyPr/>
                    <a:lstStyle/>
                    <a:p>
                      <a:r>
                        <a:rPr sz="1500" b="0" i="0">
                          <a:solidFill>
                            <a:srgbClr val="11202B"/>
                          </a:solidFill>
                          <a:latin typeface="Malgun Gothic"/>
                          <a:ea typeface="Malgun Gothic"/>
                          <a:cs typeface="Malgun Gothic"/>
                        </a:rPr>
                        <a:t>탈수초 (B08 L04)</a:t>
                      </a:r>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부신생물 신경증후군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정의: 종양에 대한 면역 반응이 신경계를 교차 공격(종양 자체의 침윤·전이·대사 이상·치료 독성과 구분).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특징: 신경 증상이 </a:t>
            </a:r>
            <a:r>
              <a:rPr sz="2000" b="1" i="0">
                <a:solidFill>
                  <a:srgbClr val="11202B"/>
                </a:solidFill>
                <a:latin typeface="Malgun Gothic"/>
                <a:ea typeface="Malgun Gothic"/>
                <a:cs typeface="Malgun Gothic"/>
              </a:rPr>
              <a:t>종양보다 먼저</a:t>
            </a:r>
            <a:r>
              <a:rPr sz="2000" b="0" i="0">
                <a:solidFill>
                  <a:srgbClr val="11202B"/>
                </a:solidFill>
                <a:latin typeface="Malgun Gothic"/>
                <a:ea typeface="Malgun Gothic"/>
                <a:cs typeface="Malgun Gothic"/>
              </a:rPr>
              <a:t>(70%) 나타나 종양 발견의 단서가 된다 → 신체 CT·</a:t>
            </a:r>
            <a:r>
              <a:rPr sz="2000" b="1" i="0">
                <a:solidFill>
                  <a:srgbClr val="11202B"/>
                </a:solidFill>
                <a:latin typeface="Malgun Gothic"/>
                <a:ea typeface="Malgun Gothic"/>
                <a:cs typeface="Malgun Gothic"/>
              </a:rPr>
              <a:t>FDG-PET</a:t>
            </a:r>
            <a:r>
              <a:rPr sz="2000" b="0" i="0">
                <a:solidFill>
                  <a:srgbClr val="11202B"/>
                </a:solidFill>
                <a:latin typeface="Malgun Gothic"/>
                <a:ea typeface="Malgun Gothic"/>
                <a:cs typeface="Malgun Gothic"/>
              </a:rPr>
              <a:t>, 남성 고환 초음파, 여성 골반 영상·유방; 음성이면 3–6개월마다 2년간 반복.</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면역관문억제제 관련 신경 독성</a:t>
            </a:r>
            <a:r>
              <a:rPr sz="2000" b="0" i="0">
                <a:solidFill>
                  <a:srgbClr val="11202B"/>
                </a:solidFill>
                <a:latin typeface="Malgun Gothic"/>
                <a:ea typeface="Malgun Gothic"/>
                <a:cs typeface="Malgun Gothic"/>
              </a:rPr>
              <a:t>: 뇌염·근염·중증 근무력증·신경병증·무균성 수막염 — 기존 잠복 자가면역을 드러냄; 근염+MG+심근염 중복은 치명적 → 조기 고용량 스테로이드.</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치료: </a:t>
            </a:r>
            <a:r>
              <a:rPr sz="2000" b="1" i="0">
                <a:solidFill>
                  <a:srgbClr val="11202B"/>
                </a:solidFill>
                <a:latin typeface="Malgun Gothic"/>
                <a:ea typeface="Malgun Gothic"/>
                <a:cs typeface="Malgun Gothic"/>
              </a:rPr>
              <a:t>종양 치료가 최우선</a:t>
            </a:r>
            <a:r>
              <a:rPr sz="2000" b="0" i="0">
                <a:solidFill>
                  <a:srgbClr val="11202B"/>
                </a:solidFill>
                <a:latin typeface="Malgun Gothic"/>
                <a:ea typeface="Malgun Gothic"/>
                <a:cs typeface="Malgun Gothic"/>
              </a:rPr>
              <a:t> + 면역치료(세포 내 항원형은 반응 제한적); 조기 발견·조기 치료만이 기능 보존의 열쇠.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부신생물 신경증후군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항체</a:t>
                      </a:r>
                    </a:p>
                  </a:txBody>
                  <a:tcPr marL="73152" marR="73152">
                    <a:solidFill>
                      <a:srgbClr val="003C71"/>
                    </a:solidFill>
                  </a:tcPr>
                </a:tc>
                <a:tc>
                  <a:txBody>
                    <a:bodyPr/>
                    <a:lstStyle/>
                    <a:p>
                      <a:r>
                        <a:rPr sz="1500" b="1" i="0">
                          <a:solidFill>
                            <a:srgbClr val="FFFFFF"/>
                          </a:solidFill>
                          <a:latin typeface="Malgun Gothic"/>
                          <a:ea typeface="Malgun Gothic"/>
                          <a:cs typeface="Malgun Gothic"/>
                        </a:rPr>
                        <a:t>증후군</a:t>
                      </a:r>
                    </a:p>
                  </a:txBody>
                  <a:tcPr marL="73152" marR="73152">
                    <a:solidFill>
                      <a:srgbClr val="003C71"/>
                    </a:solidFill>
                  </a:tcPr>
                </a:tc>
                <a:tc>
                  <a:txBody>
                    <a:bodyPr/>
                    <a:lstStyle/>
                    <a:p>
                      <a:r>
                        <a:rPr sz="1500" b="1" i="0">
                          <a:solidFill>
                            <a:srgbClr val="FFFFFF"/>
                          </a:solidFill>
                          <a:latin typeface="Malgun Gothic"/>
                          <a:ea typeface="Malgun Gothic"/>
                          <a:cs typeface="Malgun Gothic"/>
                        </a:rPr>
                        <a:t>종양</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항Hu(ANNA-1)</a:t>
                      </a:r>
                    </a:p>
                  </a:txBody>
                  <a:tcPr marL="73152" marR="73152">
                    <a:solidFill>
                      <a:srgbClr val="FFFFFF"/>
                    </a:solidFill>
                  </a:tcPr>
                </a:tc>
                <a:tc>
                  <a:txBody>
                    <a:bodyPr/>
                    <a:lstStyle/>
                    <a:p>
                      <a:r>
                        <a:rPr sz="1500" b="0" i="0">
                          <a:solidFill>
                            <a:srgbClr val="11202B"/>
                          </a:solidFill>
                          <a:latin typeface="Malgun Gothic"/>
                          <a:ea typeface="Malgun Gothic"/>
                          <a:cs typeface="Malgun Gothic"/>
                        </a:rPr>
                        <a:t>감각 신경병증(후근신경절염), 변연계·뇌간 뇌염, 자율신경·위장관 가성폐쇄</a:t>
                      </a:r>
                    </a:p>
                  </a:txBody>
                  <a:tcPr marL="73152" marR="73152">
                    <a:solidFill>
                      <a:srgbClr val="FFFFFF"/>
                    </a:solidFill>
                  </a:tcPr>
                </a:tc>
                <a:tc>
                  <a:txBody>
                    <a:bodyPr/>
                    <a:lstStyle/>
                    <a:p>
                      <a:r>
                        <a:rPr sz="1500" b="1" i="0">
                          <a:solidFill>
                            <a:srgbClr val="11202B"/>
                          </a:solidFill>
                          <a:latin typeface="Malgun Gothic"/>
                          <a:ea typeface="Malgun Gothic"/>
                          <a:cs typeface="Malgun Gothic"/>
                        </a:rPr>
                        <a:t>소세포폐암</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항Yo(PCA-1)</a:t>
                      </a:r>
                    </a:p>
                  </a:txBody>
                  <a:tcPr marL="73152" marR="73152">
                    <a:solidFill>
                      <a:srgbClr val="ECF1F5"/>
                    </a:solidFill>
                  </a:tcPr>
                </a:tc>
                <a:tc>
                  <a:txBody>
                    <a:bodyPr/>
                    <a:lstStyle/>
                    <a:p>
                      <a:r>
                        <a:rPr sz="1500" b="1" i="0">
                          <a:solidFill>
                            <a:srgbClr val="11202B"/>
                          </a:solidFill>
                          <a:latin typeface="Malgun Gothic"/>
                          <a:ea typeface="Malgun Gothic"/>
                          <a:cs typeface="Malgun Gothic"/>
                        </a:rPr>
                        <a:t>아급성 소뇌 변성</a:t>
                      </a:r>
                      <a:r>
                        <a:rPr sz="1500" b="0" i="0">
                          <a:solidFill>
                            <a:srgbClr val="11202B"/>
                          </a:solidFill>
                          <a:latin typeface="Malgun Gothic"/>
                          <a:ea typeface="Malgun Gothic"/>
                          <a:cs typeface="Malgun Gothic"/>
                        </a:rPr>
                        <a:t>(퍼킨예 세포 소실 — 급속 진행, 회복 거의 없음)</a:t>
                      </a:r>
                    </a:p>
                  </a:txBody>
                  <a:tcPr marL="73152" marR="73152">
                    <a:solidFill>
                      <a:srgbClr val="ECF1F5"/>
                    </a:solidFill>
                  </a:tcPr>
                </a:tc>
                <a:tc>
                  <a:txBody>
                    <a:bodyPr/>
                    <a:lstStyle/>
                    <a:p>
                      <a:r>
                        <a:rPr sz="1500" b="0" i="0">
                          <a:solidFill>
                            <a:srgbClr val="11202B"/>
                          </a:solidFill>
                          <a:latin typeface="Malgun Gothic"/>
                          <a:ea typeface="Malgun Gothic"/>
                          <a:cs typeface="Malgun Gothic"/>
                        </a:rPr>
                        <a:t>난소·유방</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항Ri(ANNA-2)</a:t>
                      </a:r>
                    </a:p>
                  </a:txBody>
                  <a:tcPr marL="73152" marR="73152">
                    <a:solidFill>
                      <a:srgbClr val="FFFFFF"/>
                    </a:solidFill>
                  </a:tcPr>
                </a:tc>
                <a:tc>
                  <a:txBody>
                    <a:bodyPr/>
                    <a:lstStyle/>
                    <a:p>
                      <a:r>
                        <a:rPr sz="1500" b="0" i="0">
                          <a:solidFill>
                            <a:srgbClr val="11202B"/>
                          </a:solidFill>
                          <a:latin typeface="Malgun Gothic"/>
                          <a:ea typeface="Malgun Gothic"/>
                          <a:cs typeface="Malgun Gothic"/>
                        </a:rPr>
                        <a:t>눈떨림-간대성 근경련, 뇌간</a:t>
                      </a:r>
                    </a:p>
                  </a:txBody>
                  <a:tcPr marL="73152" marR="73152">
                    <a:solidFill>
                      <a:srgbClr val="FFFFFF"/>
                    </a:solidFill>
                  </a:tcPr>
                </a:tc>
                <a:tc>
                  <a:txBody>
                    <a:bodyPr/>
                    <a:lstStyle/>
                    <a:p>
                      <a:r>
                        <a:rPr sz="1500" b="0" i="0">
                          <a:solidFill>
                            <a:srgbClr val="11202B"/>
                          </a:solidFill>
                          <a:latin typeface="Malgun Gothic"/>
                          <a:ea typeface="Malgun Gothic"/>
                          <a:cs typeface="Malgun Gothic"/>
                        </a:rPr>
                        <a:t>유방·폐</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항Ma2</a:t>
                      </a:r>
                    </a:p>
                  </a:txBody>
                  <a:tcPr marL="73152" marR="73152">
                    <a:solidFill>
                      <a:srgbClr val="ECF1F5"/>
                    </a:solidFill>
                  </a:tcPr>
                </a:tc>
                <a:tc>
                  <a:txBody>
                    <a:bodyPr/>
                    <a:lstStyle/>
                    <a:p>
                      <a:r>
                        <a:rPr sz="1500" b="0" i="0">
                          <a:solidFill>
                            <a:srgbClr val="11202B"/>
                          </a:solidFill>
                          <a:latin typeface="Malgun Gothic"/>
                          <a:ea typeface="Malgun Gothic"/>
                          <a:cs typeface="Malgun Gothic"/>
                        </a:rPr>
                        <a:t>변연계·간뇌·뇌간 뇌염(기면·수직 주시 마비)</a:t>
                      </a:r>
                    </a:p>
                  </a:txBody>
                  <a:tcPr marL="73152" marR="73152">
                    <a:solidFill>
                      <a:srgbClr val="ECF1F5"/>
                    </a:solidFill>
                  </a:tcPr>
                </a:tc>
                <a:tc>
                  <a:txBody>
                    <a:bodyPr/>
                    <a:lstStyle/>
                    <a:p>
                      <a:r>
                        <a:rPr sz="1500" b="1" i="0">
                          <a:solidFill>
                            <a:srgbClr val="11202B"/>
                          </a:solidFill>
                          <a:latin typeface="Malgun Gothic"/>
                          <a:ea typeface="Malgun Gothic"/>
                          <a:cs typeface="Malgun Gothic"/>
                        </a:rPr>
                        <a:t>고환 생식세포종양</a:t>
                      </a:r>
                      <a:r>
                        <a:rPr sz="1500" b="0" i="0">
                          <a:solidFill>
                            <a:srgbClr val="11202B"/>
                          </a:solidFill>
                          <a:latin typeface="Malgun Gothic"/>
                          <a:ea typeface="Malgun Gothic"/>
                          <a:cs typeface="Malgun Gothic"/>
                        </a:rPr>
                        <a:t>(젊은 남성)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항CV2/CRMP5</a:t>
                      </a:r>
                    </a:p>
                  </a:txBody>
                  <a:tcPr marL="73152" marR="73152">
                    <a:solidFill>
                      <a:srgbClr val="FFFFFF"/>
                    </a:solidFill>
                  </a:tcPr>
                </a:tc>
                <a:tc>
                  <a:txBody>
                    <a:bodyPr/>
                    <a:lstStyle/>
                    <a:p>
                      <a:r>
                        <a:rPr sz="1500" b="0" i="0">
                          <a:solidFill>
                            <a:srgbClr val="11202B"/>
                          </a:solidFill>
                          <a:latin typeface="Malgun Gothic"/>
                          <a:ea typeface="Malgun Gothic"/>
                          <a:cs typeface="Malgun Gothic"/>
                        </a:rPr>
                        <a:t>뇌척수염·신경병증·무도증·시신경염</a:t>
                      </a:r>
                    </a:p>
                  </a:txBody>
                  <a:tcPr marL="73152" marR="73152">
                    <a:solidFill>
                      <a:srgbClr val="FFFFFF"/>
                    </a:solidFill>
                  </a:tcPr>
                </a:tc>
                <a:tc>
                  <a:txBody>
                    <a:bodyPr/>
                    <a:lstStyle/>
                    <a:p>
                      <a:r>
                        <a:rPr sz="1500" b="0" i="0">
                          <a:solidFill>
                            <a:srgbClr val="11202B"/>
                          </a:solidFill>
                          <a:latin typeface="Malgun Gothic"/>
                          <a:ea typeface="Malgun Gothic"/>
                          <a:cs typeface="Malgun Gothic"/>
                        </a:rPr>
                        <a:t>소세포폐암·흉선종</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항암피피신</a:t>
                      </a:r>
                    </a:p>
                  </a:txBody>
                  <a:tcPr marL="73152" marR="73152">
                    <a:solidFill>
                      <a:srgbClr val="ECF1F5"/>
                    </a:solidFill>
                  </a:tcPr>
                </a:tc>
                <a:tc>
                  <a:txBody>
                    <a:bodyPr/>
                    <a:lstStyle/>
                    <a:p>
                      <a:r>
                        <a:rPr sz="1500" b="0" i="0">
                          <a:solidFill>
                            <a:srgbClr val="11202B"/>
                          </a:solidFill>
                          <a:latin typeface="Malgun Gothic"/>
                          <a:ea typeface="Malgun Gothic"/>
                          <a:cs typeface="Malgun Gothic"/>
                        </a:rPr>
                        <a:t>강직인간 증후군·척수병증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유방</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항Tr/DNER</a:t>
                      </a:r>
                    </a:p>
                  </a:txBody>
                  <a:tcPr marL="73152" marR="73152">
                    <a:solidFill>
                      <a:srgbClr val="FFFFFF"/>
                    </a:solidFill>
                  </a:tcPr>
                </a:tc>
                <a:tc>
                  <a:txBody>
                    <a:bodyPr/>
                    <a:lstStyle/>
                    <a:p>
                      <a:r>
                        <a:rPr sz="1500" b="0" i="0">
                          <a:solidFill>
                            <a:srgbClr val="11202B"/>
                          </a:solidFill>
                          <a:latin typeface="Malgun Gothic"/>
                          <a:ea typeface="Malgun Gothic"/>
                          <a:cs typeface="Malgun Gothic"/>
                        </a:rPr>
                        <a:t>소뇌 변성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호지킨</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항SOX1</a:t>
                      </a:r>
                    </a:p>
                  </a:txBody>
                  <a:tcPr marL="73152" marR="73152">
                    <a:solidFill>
                      <a:srgbClr val="ECF1F5"/>
                    </a:solidFill>
                  </a:tcPr>
                </a:tc>
                <a:tc>
                  <a:txBody>
                    <a:bodyPr/>
                    <a:lstStyle/>
                    <a:p>
                      <a:r>
                        <a:rPr sz="1500" b="0" i="0">
                          <a:solidFill>
                            <a:srgbClr val="11202B"/>
                          </a:solidFill>
                          <a:latin typeface="Malgun Gothic"/>
                          <a:ea typeface="Malgun Gothic"/>
                          <a:cs typeface="Malgun Gothic"/>
                        </a:rPr>
                        <a:t>램버트-이튼</a:t>
                      </a:r>
                    </a:p>
                  </a:txBody>
                  <a:tcPr marL="73152" marR="73152">
                    <a:solidFill>
                      <a:srgbClr val="ECF1F5"/>
                    </a:solidFill>
                  </a:tcPr>
                </a:tc>
                <a:tc>
                  <a:txBody>
                    <a:bodyPr/>
                    <a:lstStyle/>
                    <a:p>
                      <a:r>
                        <a:rPr sz="1500" b="0" i="0">
                          <a:solidFill>
                            <a:srgbClr val="11202B"/>
                          </a:solidFill>
                          <a:latin typeface="Malgun Gothic"/>
                          <a:ea typeface="Malgun Gothic"/>
                          <a:cs typeface="Malgun Gothic"/>
                        </a:rPr>
                        <a:t>소세포폐암</a:t>
                      </a:r>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부신생물 신경증후군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항체</a:t>
                      </a:r>
                    </a:p>
                  </a:txBody>
                  <a:tcPr marL="73152" marR="73152">
                    <a:solidFill>
                      <a:srgbClr val="003C71"/>
                    </a:solidFill>
                  </a:tcPr>
                </a:tc>
                <a:tc>
                  <a:txBody>
                    <a:bodyPr/>
                    <a:lstStyle/>
                    <a:p>
                      <a:r>
                        <a:rPr sz="1500" b="1" i="0">
                          <a:solidFill>
                            <a:srgbClr val="FFFFFF"/>
                          </a:solidFill>
                          <a:latin typeface="Malgun Gothic"/>
                          <a:ea typeface="Malgun Gothic"/>
                          <a:cs typeface="Malgun Gothic"/>
                        </a:rPr>
                        <a:t>증후군</a:t>
                      </a:r>
                    </a:p>
                  </a:txBody>
                  <a:tcPr marL="73152" marR="73152">
                    <a:solidFill>
                      <a:srgbClr val="003C71"/>
                    </a:solidFill>
                  </a:tcPr>
                </a:tc>
                <a:tc>
                  <a:txBody>
                    <a:bodyPr/>
                    <a:lstStyle/>
                    <a:p>
                      <a:r>
                        <a:rPr sz="1500" b="1" i="0">
                          <a:solidFill>
                            <a:srgbClr val="FFFFFF"/>
                          </a:solidFill>
                          <a:latin typeface="Malgun Gothic"/>
                          <a:ea typeface="Malgun Gothic"/>
                          <a:cs typeface="Malgun Gothic"/>
                        </a:rPr>
                        <a:t>종양</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항KLHL11</a:t>
                      </a:r>
                    </a:p>
                  </a:txBody>
                  <a:tcPr marL="73152" marR="73152">
                    <a:solidFill>
                      <a:srgbClr val="FFFFFF"/>
                    </a:solidFill>
                  </a:tcPr>
                </a:tc>
                <a:tc>
                  <a:txBody>
                    <a:bodyPr/>
                    <a:lstStyle/>
                    <a:p>
                      <a:r>
                        <a:rPr sz="1500" b="0" i="0">
                          <a:solidFill>
                            <a:srgbClr val="11202B"/>
                          </a:solidFill>
                          <a:latin typeface="Malgun Gothic"/>
                          <a:ea typeface="Malgun Gothic"/>
                          <a:cs typeface="Malgun Gothic"/>
                        </a:rPr>
                        <a:t>뇌간·소뇌(난청·이명 선행)</a:t>
                      </a:r>
                    </a:p>
                  </a:txBody>
                  <a:tcPr marL="73152" marR="73152">
                    <a:solidFill>
                      <a:srgbClr val="FFFFFF"/>
                    </a:solidFill>
                  </a:tcPr>
                </a:tc>
                <a:tc>
                  <a:txBody>
                    <a:bodyPr/>
                    <a:lstStyle/>
                    <a:p>
                      <a:r>
                        <a:rPr sz="1500" b="0" i="0">
                          <a:solidFill>
                            <a:srgbClr val="11202B"/>
                          </a:solidFill>
                          <a:latin typeface="Malgun Gothic"/>
                          <a:ea typeface="Malgun Gothic"/>
                          <a:cs typeface="Malgun Gothic"/>
                        </a:rPr>
                        <a:t>고환 생식세포종양</a:t>
                      </a:r>
                    </a:p>
                  </a:txBody>
                  <a:tcPr marL="73152" marR="7315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진단과 감별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진단 접근</a:t>
            </a:r>
            <a:r>
              <a:rPr sz="1800" b="0" i="0">
                <a:solidFill>
                  <a:srgbClr val="11202B"/>
                </a:solidFill>
                <a:latin typeface="Malgun Gothic"/>
                <a:ea typeface="Malgun Gothic"/>
                <a:cs typeface="Malgun Gothic"/>
              </a:rPr>
              <a:t>(Graus 2016): ① 아급성(3개월 이내) 작업기억 저하·의식 변화·정신 증상 ② 다음 중 하나 — 새로운 국소 중추 징후, 원인 불명 발작, CSF 백혈구 증가, 뇌염 시사 MRI ③ 다른 원인 합리적 배제 → '가능성 있는 자가면역 뇌염' → 항체 검사·치료.</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항체 결과를 기다리지 말고 치료 시작</a:t>
            </a:r>
            <a:r>
              <a:rPr sz="1800" b="0" i="0">
                <a:solidFill>
                  <a:srgbClr val="11202B"/>
                </a:solidFill>
                <a:latin typeface="Malgun Gothic"/>
                <a:ea typeface="Malgun Gothic"/>
                <a:cs typeface="Malgun Gothic"/>
              </a:rPr>
              <a:t>(특히 중증) — 항체 음성 자가면역 뇌염도 존재.</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감별:</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감염</a:t>
            </a:r>
            <a:r>
              <a:rPr sz="1600" b="0" i="0">
                <a:solidFill>
                  <a:srgbClr val="2E3F4C"/>
                </a:solidFill>
                <a:latin typeface="Malgun Gothic"/>
                <a:ea typeface="Malgun Gothic"/>
                <a:cs typeface="Malgun Gothic"/>
              </a:rPr>
              <a:t>: 단순포진(측두엽, PCR — 반드시 아시클로버 경험적 투여), 수두대상포진, 일본뇌염, 자가면역 유발 감염, 결핵·매독·HIV, 프리온.</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대사·독성</a:t>
            </a:r>
            <a:r>
              <a:rPr sz="1600" b="0" i="0">
                <a:solidFill>
                  <a:srgbClr val="2E3F4C"/>
                </a:solidFill>
                <a:latin typeface="Malgun Gothic"/>
                <a:ea typeface="Malgun Gothic"/>
                <a:cs typeface="Malgun Gothic"/>
              </a:rPr>
              <a:t>: 간성·요독성 뇌병증, 베르니케, 약물, 전해질.</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종양</a:t>
            </a:r>
            <a:r>
              <a:rPr sz="1600" b="0" i="0">
                <a:solidFill>
                  <a:srgbClr val="2E3F4C"/>
                </a:solidFill>
                <a:latin typeface="Malgun Gothic"/>
                <a:ea typeface="Malgun Gothic"/>
                <a:cs typeface="Malgun Gothic"/>
              </a:rPr>
              <a:t>: 중추신경계 림프종, 신경교종증.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진단과 감별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1" i="0">
                <a:solidFill>
                  <a:srgbClr val="2E3F4C"/>
                </a:solidFill>
                <a:latin typeface="Malgun Gothic"/>
                <a:ea typeface="Malgun Gothic"/>
                <a:cs typeface="Malgun Gothic"/>
              </a:rPr>
              <a:t>정신질환</a:t>
            </a:r>
            <a:r>
              <a:rPr sz="2000" b="0" i="0">
                <a:solidFill>
                  <a:srgbClr val="2E3F4C"/>
                </a:solidFill>
                <a:latin typeface="Malgun Gothic"/>
                <a:ea typeface="Malgun Gothic"/>
                <a:cs typeface="Malgun Gothic"/>
              </a:rPr>
              <a:t>: 급성 정신증과의 감별이 어려워 '첫 삽화 정신증 + 비전형 소견(경련·운동이상증·자율 불안정·의식 변동·CSF 이상)'이면 자가면역 뇌염을 적극 고려.</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하시모토 뇌병증(스테로이드 반응성 뇌병증) — 갑상선 항체는 표지자일 뿐.</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예후 지표: 치료 지연, 중환자실 치료 필요, 2차 치료 미사용(NMDAR 뇌염의 NEOS 점수).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CD19 CAR-T와 형질세포 표적(다라투무맙, 보르테조밉)이 난치성 자가면역 뇌염에서 보고되며 '깊은 B세포·형질세포 제거' 전략이 시도된다.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새로운 신경 자가항체가 매년 발견되며, 자가항체 발굴 플랫폼(단백질체 어레이, 파지 디스플레이)이 '항체 음성' 환자의 원인을 밝히고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IgLON5 질환처럼 자가면역과 신경퇴행(타우)이 겹치는 경계 질환이 두 분야를 잇는 모델로 연구되고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세포 표면 항원 항체는 직접 병원성이며 치료 반응이 좋고, 세포 내 항원 항체는 T세포 매개로 예후가 나쁘다.</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항NMDAR 뇌염은 정신 증상 → 경련 → 운동이상증 → 자율 불안정의 단계를 밟으며 기형종 제거와 조기 2차 면역치료가 중요하다.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LGI1(FBDS·저나트륨), CASPR2(모르반), GABA_B(소세포폐암·난치 발작), DPPX(설사·과흥분), IgLON5(수면·타우)는 특징적 표현형을 가진다.</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부신생물 증후군은 신경 증상이 종양에 선행하는 경우가 많아 적극적 종양 선별과 반복 검사가 필요하다.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항체 결과를 기다리지 않고 감염을 배제하며 조기 면역치료를 시작하는 것이 예후를 좌우한다.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20대 여성이 급성 정신증으로 정신과에 입원했다가 경련과 구강안면 운동이상증, 자율신경 불안정이 나타났다. 진단과 필수 검사는?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항NMDA 수용체 뇌염. CSF 항NMDAR 항체 검사(혈청보다 민감·특이)가 필수이며 CSF 림프구 증가, EEG의 극도 델타 브러시를 확인한다. 동시에 난소 기형종을 찾기 위한 골반 초음파·MRI를 시행하고, 종양이 있으면 제거하며 1차 면역치료를 즉시 시작한다.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단순포진 뇌염 치료 후 3주 만에 다시 행동 변화와 운동이상증이 나타났다. 가장 먼저 고려할 진단은?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HSV 뇌염 후 자가면역 뇌염(대개 항NMDAR 항체 양성)이다. 바이러스 재발로 오인해 아시클로버만 반복하기 쉬우나, HSV PCR은 음성인 경우가 많고 면역치료가 필요하다. CSF 자가항체 검사를 시행하고 면역치료를 시작한다.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노년 남성이 하루 수십 차례의 매우 짧은 한쪽 팔·얼굴 수축과 함께 기억 장애, 저나트륨혈증을 보인다. 진단과 치료 반응의 특징은?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항LGI1 뇌염이다. 면얼굴상완 근긴장이상 발작(FBDS)은 기억 장애에 수주–수개월 선행할 수 있고 항경련제에는 잘 듣지 않지만 스테로이드 등 면역치료에 빠르게 반응한다. 조기 면역치료가 해마 위축과 영구 기억 장애를 예방한다.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항Yo 항체 양성 아급성 소뇌 변성 환자가 면역치료에 거의 반응하지 않는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항Yo 항원(CDR2)은 세포 내 단백이므로 항체 자체가 병원성이기보다 세포독성 CD8 T세포가 퍼킨예 세포를 직접 파괴한다. 증상이 나타난 시점에 이미 퍼킨예 세포가 광범위하게 소실되어 재생되지 않으므로 면역치료로 기능을 되돌리기 어렵다. 조기 종양 발견·치료가 유일한 기회이다.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Graus F et al. A clinical approach to diagnosis of autoimmune encephalitis. Lancet Neurol 2016;15:391–404.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Dalmau J, Graus F. Antibody-mediated encephalitis. N Engl J Med 2018;378:840–851.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Titulaer MJ et al. Treatment and prognostic factors for long-term outcome in patients with anti-NMDAR encephalitis. Lancet Neurol 2013;12:157–165.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B08-L06  ·  자가면역 뇌염과 부신생물 신경증후군</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Graus F et al. Updated diagnostic criteria for paraneoplastic neurologic syndromes. Neurol Neuroimmunol Neuroinflamm 2021;8:e1014.</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van Sonderen A et al. Anti-LGI1 encephalitis: clinical syndrome and long-term follow-up. Neurology 2016;87:1449–1456.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