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무균 생쥐는 미생물이 전혀 없는 상태에서 미세아교세포 미성숙, 혈액뇌장벽 투과성 증가, 불안 행동 변화 등을 보여 미생물이 뇌 발달·기능에 필요하다는 인과적 증거를 제공한다. 그러나 완전 무균이라는 극단적 조건은 사람의 미생물 조성 변화와 다르고, 면역·대사 발달 전반이 비정상이어서 특정 균이나 사람 질환으로 직접 번역하기 어렵다.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대규모 메타유전체 분석에서 자폐 자체보다 제한적·편중된 식이가 미생물 조성 차이의 대부분을 설명했다. 즉 미생물 변화가 자폐의 원인이 아니라 감각 민감성·편식이라는 자폐 특성의 결과일 가능성이 크다. 이는 연관 연구에서 역인과와 교란을 반드시 고려해야 함을 보여주는 대표 사례이다.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일부 장내 세균(Enterococcus faecalis)의 티로신 탈카복실화효소가 레보도파를 장에서 도파민으로 전환해 버려 뇌로 가는 약물량을 줄인다. 카비도파는 사람 효소는 억제하지만 이 세균 효소는 잘 억제하지 못한다. 이는 약효 변동의 개인차를 설명하고 세균 효소 억제제 개발의 근거가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(1) 말초에서 조절 T세포를 유도하고 HDAC를 억제해 전신 염증을 낮추며, 이것이 중추 염증과 미세아교세포 상태에 영향을 준다. (2) 혈액뇌장벽 치밀이음부 단백 발현을 유지하고 미세아교세포의 성숙·항상성 유지에 직접 필요하다(무균 생쥐에서 결핍 시 이상, SCFA 보충으로 회복).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B08 신경면역학과 신경퇴행질환  ·  신경면역의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장-뇌 축과 미생물-면역-신경 상호작용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The Gut–Brain Axis and Microbiome–Immune–Neural Interactions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B08-L11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B08-L11  ·  장-뇌 축과 미생물-면역-신경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장-뇌 축의 해부학적·체액성·면역학적 경로를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장내 미생물의 대사산물(단쇄지방산, 담즙산, 트립토판 대사물)이 신경계에 미치는 영향을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미생물과 신경질환(파킨슨, 다발성 경화증, 자폐, 우울)의 연관 근거와 한계를 평가한다.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무균 동물·대변 이식·역학 연구의 인과 추론 수준을 비판적으로 해석한다.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미생물 기반 치료의 현황과 과제를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B08-L11  ·  장-뇌 축과 미생물-면역-신경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장-뇌 축의 경로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주요 대사산물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질환별 연관과 근거 수준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미생물 기반 치료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장-뇌 축의 경로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B08-L11  ·  장-뇌 축과 미생물-면역-신경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내용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 — 미주 구심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 상피·장신경계 신호 → 미주 감각 뉴런(결절 신경절) → 고립로핵 → 시상하부·편도; 영양소 감지(장분비세포–뉴런 시냅스 'neuropod'), 기계·염증 신호;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미주 절단이 일부 행동 효과를 차단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 — 장신경계·척수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장신경계(B07 L11) 자체 반사, 척수 구심(통증·내장 감각)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내분비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 호르몬(GLP-1, PYY, CCK, 그렐린, 세로토닌 — 장 EC세포가 체내 5-HT의 90% 생산)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면역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 연관 림프조직(GALT), Treg·Th17 유도, 사이토카인 순환, 장 투과성('장 누수')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대사산물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단쇄지방산, 담즙산, 트립토판 대사물, TMAO, 폴리아민, 세균 유래 신경전달물질(GABA, 도파민 — 대부분 혈액뇌장벽 통과 제한)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미생물–면역–뇌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미생물 → 면역세포 교육 → 순환 면역세포가 수막·뇌 영향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주요 대사산물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B08-L11  ·  장-뇌 축과 미생물-면역-신경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단쇄지방산(SCFA)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식이섬유 발효 산물 —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부티르산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(대장세포 연료, HDAC 억제,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말초 Treg 유도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), 프로피온산(간 포도당신생, FFAR2/3 → GLP-1·PYY), 아세트산(중추 식욕 조절).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중추 효과: 혈액뇌장벽 치밀이음부 단백 발현 유지(무균 생쥐에서 BBB 투과성 증가 → SCFA 보충으로 회복),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미세아교세포 성숙·항상성 유지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(무균 생쥐 미세아교세포는 미성숙 — Erny 2015).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담즙산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2차 담즙산(장내 세균 7α-탈수산화) → FXR·TGR5 신호(B03 L04), 신경 보호·독성 양면.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트립토판 대사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세균 유래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계열 →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AhR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작용 → 성상세포 I형 인터페론 신호를 통해 중추 염증 억제(Rothhammer 2016); 숙주 키뉴레닌 경로와 경쟁(B01 L11, B05 L15).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주요 대사산물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B08-L11  ·  장-뇌 축과 미생물-면역-신경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TMAO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콜린·카르니틴 → 세균 TMA → 간 FMO3 → TMAO — 죽상경화·혈전 위험(B03 L01), 인지 저하 연관 보고.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비타민 합성(K, B군), 약물 대사(레보도파 탈카복실화 — B05 L02; 디곡신, 이리노테칸 — B03 L10).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질환별 연관과 근거 수준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B08-L11  ·  장-뇌 축과 미생물-면역-신경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인과 추론의 사다리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조성 연관(가장 약함) → 무균/항생제 처리 동물 →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환자→동물 이식(표현형 전달)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특정 균주·대사산물 재현 → 사람 중재 시험(가장 강함). 대부분의 신경질환 연구는 2–3단계에 머물러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방법론적 주의: 상대 조성 데이터의 compositionality, 식이·약물(PPI·메트포르민·항생제·변비약)·검체 처리 교란, 소규모·다중 검정, 역인과(질환이 미생물을 바꿈).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질환별 연관과 근거 수준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B08-L11  ·  장-뇌 축과 미생물-면역-신경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인과 근거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비판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파킨슨병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변비가 운동 증상 10–20년 선행, 장 α-시누클레인, 미생물 조성 변화(Prevotella 감소, Akkermansia 증가), 미주 절단 코호트에서 위험 감소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생쥐 모델: 환자 미생물 이식 시 운동 증상·신경염증 악화(Sampson 2016); 장→뇌 전파(동물)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사람에서 조성 변화의 방향·인과 불명, 변비·약물 교란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다발성 경화증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미생물 조성 차이, 쌍생아 연구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쌍생아 미생물 이식 생쥐에서 자가면역 뇌척수염 증가(Berer 2017)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소규모, 기전 특이성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자폐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위장관 증상 동반 흔함, 조성 차이 보고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생쥐 모델 일부, 소규모 FMT 개방 연구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대규모 분석에서 조성 차이는 편식 등 식이로 상당 부분 설명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(Yap 2021) — 인과 주장 신중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우울·불안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부티르산 생성균 감소(대규모 코호트 — Valles-Colomer 2019)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무균 생쥐 행동, 환자 미생물 이식 모델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교란(식이·약물·BMI), 재현성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알츠하이머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조성 변화, 치주균 가설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뇌전증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케톤생성식이의 항경련 효과 일부가 미생물 매개(Olson 2018)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동물에서 비교적 명확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사람 번역 미흡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뇌졸중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 투과성·면역세포 이동(장 유래 T세포), TMAO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미생물 기반 치료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B08-L11  ·  장-뇌 축과 미생물-면역-신경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임상 실무: 현재 신경질환에서 미생물 조작을 표준 치료로 권고할 근거는 없다. 다만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식이섬유·지중해식·운동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미생물과 무관하게도 이득이 있어 권장된다.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미생물 기반 치료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B08-L11  ·  장-뇌 축과 미생물-면역-신경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현황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대변 미생물 이식(FMT)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C. difficile 재발에서 확립(치료율 ~90%), 표준화 제제 승인(B01 L12·B03 L04 참조); 신경질환에서는 소규모 연구 단계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프로바이오틱스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제품의 신경 효과 근거 약함; 특정 균주·용량 기반 '정신생물학(psychobiotics)' 연구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프리바이오틱스·식이섬유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SCFA 증가 — 대사·면역 이득 근거 비교적 양호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식이(지중해식, 케톤생성식)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미생물 변화 매개 효과 일부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공학 미생물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대사산물 생산·독성 물질 제거(PKU SYNB1934, 암모니아 — B01 L09·L10)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대사산물 직접 투여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부티르산, 인돌 유도체, 담즙산 유도체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항생제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간성뇌병증 리팍시민(확립), 그 외 신경질환에서는 근거 없음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B08-L11  ·  장-뇌 축과 미생물-면역-신경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다중 코호트·메타유전체 표준화와 종단 설계, 멘델 무작위분석으로 '미생물 → 질환' 인과를 검증하려는 시도가 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장-뇌 신경 회로의 세포 수준 지도(미주 감각 뉴런 아형, neuropod 세포)가 밝혀지면서 '어떤 신호가 어떤 뉴런을 통해 뇌에 도달하는가'를 특정할 수 있게 되었다.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미주신경 자극의 항염증 효과('염증 반사')를 이용한 자가면역·염증 질환 치료가 임상시험 단계에 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B08-L11  ·  장-뇌 축과 미생물-면역-신경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장-뇌 축은 미주 구심 신경, 내분비, 면역, 미생물 대사산물의 네 경로로 작동한다.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단쇄지방산은 Treg 유도, 혈액뇌장벽 유지, 미세아교세포 성숙에 기여하고 트립토판 대사물은 AhR을 통해 중추 염증을 조절한다.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파킨슨병·다발성 경화증·우울 등에서 미생물 연관이 보고되나 대부분 인과 근거는 동물 수준에 머문다.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조성 데이터의 교란과 역인과를 고려한 비판적 해석과 단계적 인과 추론이 필요하다.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현재 신경질환에서 미생물 조작은 표준 치료가 아니며 식이·운동 같은 검증된 개입이 우선이다.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B08-L11  ·  장-뇌 축과 미생물-면역-신경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무균 생쥐 실험이 장-뇌 축 연구에서 중요한 이유와 한계는?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무균 생쥐는 미생물이 전혀 없는 상태에서 미세아교세포 미성숙, 혈액뇌장벽 투과성 증가, 불안 행동 변화 등을 보여 미생물이 뇌 발달·기능에 필요하다는 인과적 증거를 제공한다. 그러나 완전 무균이라는 극단적 조건은 사람의 미생물 조성 변화와 다르고, 면역·대사 발달 전반이 비정상이어서 특정 균이나 사람 질환으로 직접 번역하기 어렵다.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B08-L11  ·  장-뇌 축과 미생물-면역-신경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자폐와 장내 미생물의 관계 연구에서 Yap 등(2021)의 결과가 시사하는 바는?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대규모 메타유전체 분석에서 자폐 자체보다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제한적·편중된 식이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가 미생물 조성 차이의 대부분을 설명했다. 즉 미생물 변화가 자폐의 원인이 아니라 감각 민감성·편식이라는 자폐 특성의 결과일 가능성이 크다. 이는 연관 연구에서 역인과와 교란을 반드시 고려해야 함을 보여주는 대표 사례이다.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B08-L11  ·  장-뇌 축과 미생물-면역-신경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레보도파를 복용하는 파킨슨병 환자에게 장내 미생물이 임상적으로 중요한 구체적 예를 들라.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일부 장내 세균(Enterococcus faecalis)의 티로신 탈카복실화효소가 레보도파를 장에서 도파민으로 전환해 버려 뇌로 가는 약물량을 줄인다. 카비도파는 사람 효소는 억제하지만 이 세균 효소는 잘 억제하지 못한다. 이는 약효 변동의 개인차를 설명하고 세균 효소 억제제 개발의 근거가 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B08-L11  ·  장-뇌 축과 미생물-면역-신경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단쇄지방산이 중추신경계에 영향을 주는 기전을 두 가지 들라.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(1) 말초에서 조절 T세포를 유도하고 HDAC를 억제해 전신 염증을 낮추며, 이것이 중추 염증과 미세아교세포 상태에 영향을 준다. (2) 혈액뇌장벽 치밀이음부 단백 발현을 유지하고 미세아교세포의 성숙·항상성 유지에 직접 필요하다(무균 생쥐에서 결핍 시 이상, SCFA 보충으로 회복).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B08-L11  ·  장-뇌 축과 미생물-면역-신경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Cryan JF et al. The microbiota–gut–brain axis. Physiol Rev 2019;99:1877–2013.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Erny D et al. Host microbiota constantly control maturation and function of microglia in the CNS. Nat Neurosci 2015;18:965–977.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Sampson TR et al. Gut microbiota regulate motor deficits and neuroinflammation in a model of Parkinson's disease. Cell 2016;167:1469–1480.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B08-L11  ·  장-뇌 축과 미생물-면역-신경 상호작용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Rothhammer V et al. Type I interferons and microbial metabolites of tryptophan modulate astrocyte activity. Nat Med 2016;22:586–597.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Yap CX et al. Autism-related dietary preferences mediate autism–gut microbiome associations. Cell 2021;184:5916–5931.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