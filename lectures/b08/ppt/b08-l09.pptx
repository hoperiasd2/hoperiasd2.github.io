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변이 SOD1을 운동신경세포에만 발현시키면 질환이 약하게 나타나고, 반대로 미세아교세포나 성상세포에서 변이 SOD1을 선택적으로 제거하면 발병 후 진행이 느려지고 생존이 연장되었다. 또한 변이 교세포와 정상 운동신경세포를 공배양하면 운동신경세포가 죽는다. 이는 주변 교세포가 질환 진행을 능동적으로 좌우함을 보여준다.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Treg의 수와 억제 기능이 낮을수록 질환 진행이 빠르고 생존이 짧다는 관찰이 반복 보고되었다. Treg는 미세아교세포의 독성 전환을 억제하고 보호적 표현형을 유지하는 데 기여하므로, 저용량 IL-2나 자가 Treg 확장 주입으로 이를 보강하려는 치료가 시험되고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C9orf72 단백은 골수계 세포에서 높게 발현되며 자가포식·엔도솜 조절에 관여한다. 결손 생쥐는 비장비대, 자가항체, I형 인터페론 상승 같은 자가면역 표현형을 보이고, 확장 보유 환자에서 자가면역 질환 동반 빈도가 높다는 보고가 있다. 이는 기능 소실이 DPR 독성과 함께 염증을 통해 질환에 기여함을 시사한다.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축삭 손상의 정량 지표로 질환 진행 속도와 상관이 높고, 증상 전 유전자 보인자에서 발병 수개월 전부터 상승해 치료 개시 시점을 정하는 데 쓸 수 있으며, 토퍼센 시험에서 임상 결과와 연동되는 변화를 보여 대리 지표로 인정받았기 때문이다.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B08 신경면역학과 신경퇴행질환  ·  신경퇴행과 면역</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ALS·전두측두치매의 신경염증</a:t>
            </a:r>
          </a:p>
          <a:p>
            <a:r>
              <a:rPr sz="2000" b="0" i="0">
                <a:solidFill>
                  <a:srgbClr val="C2CDD6"/>
                </a:solidFill>
                <a:latin typeface="Malgun Gothic"/>
                <a:ea typeface="Malgun Gothic"/>
                <a:cs typeface="Malgun Gothic"/>
              </a:rPr>
              <a:t>Neuroinflammation in ALS and Frontotemporal Dementia</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B08-L09</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ALS에서 미세아교세포·성상세포의 비세포자율 독성을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말초 면역(T세포, 단핵구)과 ALS 진행의 관계를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C9orf72·GRN·TBK1 등 유전자가 면역 기능과 연결되는 방식을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ALS·FTD의 면역 표적 치료 시도와 결과를 평가한다.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신경염증 바이오마커와 영상의 임상적 가치를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비세포자율 독성</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말초 면역과 전신 염증</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유전자와 면역의 접점</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면역 표적 치료의 시도</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바이오마커와 영상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비세포자율 독성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운동신경세포만의 문제가 아니다</a:t>
            </a:r>
            <a:r>
              <a:rPr sz="1800" b="0" i="0">
                <a:solidFill>
                  <a:srgbClr val="11202B"/>
                </a:solidFill>
                <a:latin typeface="Malgun Gothic"/>
                <a:ea typeface="Malgun Gothic"/>
                <a:cs typeface="Malgun Gothic"/>
              </a:rPr>
              <a:t>: SOD1 변이 생쥐에서 운동신경세포에만 변이를 발현시키면 질환이 약하게 나타나지만, </a:t>
            </a:r>
            <a:r>
              <a:rPr sz="1800" b="1" i="0">
                <a:solidFill>
                  <a:srgbClr val="11202B"/>
                </a:solidFill>
                <a:latin typeface="Malgun Gothic"/>
                <a:ea typeface="Malgun Gothic"/>
                <a:cs typeface="Malgun Gothic"/>
              </a:rPr>
              <a:t>미세아교세포·성상세포에 변이를 발현</a:t>
            </a:r>
            <a:r>
              <a:rPr sz="1800" b="0" i="0">
                <a:solidFill>
                  <a:srgbClr val="11202B"/>
                </a:solidFill>
                <a:latin typeface="Malgun Gothic"/>
                <a:ea typeface="Malgun Gothic"/>
                <a:cs typeface="Malgun Gothic"/>
              </a:rPr>
              <a:t>시키면 진행이 가속된다; 반대로 교세포에서 변이 SOD1을 제거하면 생존이 연장된다(Boillée 2006, Yamanaka 2008).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성상세포: 환자 유래 성상세포(iPSC·사후 조직)가 정상 운동신경세포를 배양에서 죽임 → 분비 인자(TGF-β, 지질, 미확인 독성 인자), 글루탐산 수송체 </a:t>
            </a:r>
            <a:r>
              <a:rPr sz="1800" b="1" i="0">
                <a:solidFill>
                  <a:srgbClr val="11202B"/>
                </a:solidFill>
                <a:latin typeface="Malgun Gothic"/>
                <a:ea typeface="Malgun Gothic"/>
                <a:cs typeface="Malgun Gothic"/>
              </a:rPr>
              <a:t>EAAT2 감소</a:t>
            </a:r>
            <a:r>
              <a:rPr sz="1800" b="0" i="0">
                <a:solidFill>
                  <a:srgbClr val="11202B"/>
                </a:solidFill>
                <a:latin typeface="Malgun Gothic"/>
                <a:ea typeface="Malgun Gothic"/>
                <a:cs typeface="Malgun Gothic"/>
              </a:rPr>
              <a:t> → 흥분독성(B05 L04).</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미세아교세포: 초기에는 보호(신경영양·파편 제거) → 후기 독성 전환(NF-κB, NLRP3, TNF); C9orf72 결손 미세아교세포는 과활성.</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올리고덴드로사이트: MCT1 감소 → 축삭 대사 지원 실패.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비세포자율 독성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질환 단계 의존성: 발병은 운동신경세포 내재 요인이, </a:t>
            </a:r>
            <a:r>
              <a:rPr sz="2200" b="1" i="0">
                <a:solidFill>
                  <a:srgbClr val="11202B"/>
                </a:solidFill>
                <a:latin typeface="Malgun Gothic"/>
                <a:ea typeface="Malgun Gothic"/>
                <a:cs typeface="Malgun Gothic"/>
              </a:rPr>
              <a:t>진행 속도는 교세포·면역</a:t>
            </a:r>
            <a:r>
              <a:rPr sz="2200" b="0" i="0">
                <a:solidFill>
                  <a:srgbClr val="11202B"/>
                </a:solidFill>
                <a:latin typeface="Malgun Gothic"/>
                <a:ea typeface="Malgun Gothic"/>
                <a:cs typeface="Malgun Gothic"/>
              </a:rPr>
              <a:t>이 결정한다는 모델.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말초 면역과 전신 염증</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혈액: 단핵구 활성 표현형, CD4 </a:t>
            </a:r>
            <a:r>
              <a:rPr sz="2000" b="1" i="0">
                <a:solidFill>
                  <a:srgbClr val="11202B"/>
                </a:solidFill>
                <a:latin typeface="Malgun Gothic"/>
                <a:ea typeface="Malgun Gothic"/>
                <a:cs typeface="Malgun Gothic"/>
              </a:rPr>
              <a:t>Treg 수와 억제 기능 저하가 빠른 진행과 상관</a:t>
            </a:r>
            <a:r>
              <a:rPr sz="2000" b="0" i="0">
                <a:solidFill>
                  <a:srgbClr val="11202B"/>
                </a:solidFill>
                <a:latin typeface="Malgun Gothic"/>
                <a:ea typeface="Malgun Gothic"/>
                <a:cs typeface="Malgun Gothic"/>
              </a:rPr>
              <a:t>(Beers 2017) → </a:t>
            </a:r>
            <a:r>
              <a:rPr sz="2000" b="1" i="0">
                <a:solidFill>
                  <a:srgbClr val="11202B"/>
                </a:solidFill>
                <a:latin typeface="Malgun Gothic"/>
                <a:ea typeface="Malgun Gothic"/>
                <a:cs typeface="Malgun Gothic"/>
              </a:rPr>
              <a:t>Treg 보강 치료</a:t>
            </a:r>
            <a:r>
              <a:rPr sz="2000" b="0" i="0">
                <a:solidFill>
                  <a:srgbClr val="11202B"/>
                </a:solidFill>
                <a:latin typeface="Malgun Gothic"/>
                <a:ea typeface="Malgun Gothic"/>
                <a:cs typeface="Malgun Gothic"/>
              </a:rPr>
              <a:t>(저용량 IL-2, 자가 Treg 확장 주입)가 시도됨.</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CD8 T세포: 척수에 침윤, 동물에서 이중 역할.</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장–면역 축: 장내 미생물 변화 보고(SOD1 생쥐에서 Akkermansia·니코틴아마이드가 진행 완화 — Blacher 2019; 사람 번역은 미확립).</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전신 대사·염증의 연결: 과대사, 체중 감소, 지질 변화(B05 L04).</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뇌척수액·혈청 사이토카인(IL-6, MCP-1), 보체 활성 증가.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유전자와 면역의 접점</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공통 주제: </a:t>
            </a:r>
            <a:r>
              <a:rPr sz="2200" b="1" i="0">
                <a:solidFill>
                  <a:srgbClr val="11202B"/>
                </a:solidFill>
                <a:latin typeface="Malgun Gothic"/>
                <a:ea typeface="Malgun Gothic"/>
                <a:cs typeface="Malgun Gothic"/>
              </a:rPr>
              <a:t>자가포식-리소좀-선천면역</a:t>
            </a:r>
            <a:r>
              <a:rPr sz="2200" b="0" i="0">
                <a:solidFill>
                  <a:srgbClr val="11202B"/>
                </a:solidFill>
                <a:latin typeface="Malgun Gothic"/>
                <a:ea typeface="Malgun Gothic"/>
                <a:cs typeface="Malgun Gothic"/>
              </a:rPr>
              <a:t> 경로의 실패가 신경퇴행과 염증을 동시에 일으킨다.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유전자와 면역의 접점</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8</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유전자</a:t>
                      </a:r>
                    </a:p>
                  </a:txBody>
                  <a:tcPr marL="73152" marR="73152">
                    <a:solidFill>
                      <a:srgbClr val="003C71"/>
                    </a:solidFill>
                  </a:tcPr>
                </a:tc>
                <a:tc>
                  <a:txBody>
                    <a:bodyPr/>
                    <a:lstStyle/>
                    <a:p>
                      <a:r>
                        <a:rPr sz="1500" b="1" i="0">
                          <a:solidFill>
                            <a:srgbClr val="FFFFFF"/>
                          </a:solidFill>
                          <a:latin typeface="Malgun Gothic"/>
                          <a:ea typeface="Malgun Gothic"/>
                          <a:cs typeface="Malgun Gothic"/>
                        </a:rPr>
                        <a:t>면역 연관</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C9orf72</a:t>
                      </a:r>
                    </a:p>
                  </a:txBody>
                  <a:tcPr marL="73152" marR="73152">
                    <a:solidFill>
                      <a:srgbClr val="FFFFFF"/>
                    </a:solidFill>
                  </a:tcPr>
                </a:tc>
                <a:tc>
                  <a:txBody>
                    <a:bodyPr/>
                    <a:lstStyle/>
                    <a:p>
                      <a:r>
                        <a:rPr sz="1500" b="0" i="0">
                          <a:solidFill>
                            <a:srgbClr val="11202B"/>
                          </a:solidFill>
                          <a:latin typeface="Malgun Gothic"/>
                          <a:ea typeface="Malgun Gothic"/>
                          <a:cs typeface="Malgun Gothic"/>
                        </a:rPr>
                        <a:t>단백이 골수계 세포에서 높게 발현 — 결손 생쥐는 </a:t>
                      </a:r>
                      <a:r>
                        <a:rPr sz="1500" b="1" i="0">
                          <a:solidFill>
                            <a:srgbClr val="11202B"/>
                          </a:solidFill>
                          <a:latin typeface="Malgun Gothic"/>
                          <a:ea typeface="Malgun Gothic"/>
                          <a:cs typeface="Malgun Gothic"/>
                        </a:rPr>
                        <a:t>자가면역·비장비대·인터페론 상승</a:t>
                      </a:r>
                      <a:r>
                        <a:rPr sz="1500" b="0" i="0">
                          <a:solidFill>
                            <a:srgbClr val="11202B"/>
                          </a:solidFill>
                          <a:latin typeface="Malgun Gothic"/>
                          <a:ea typeface="Malgun Gothic"/>
                          <a:cs typeface="Malgun Gothic"/>
                        </a:rPr>
                        <a:t>; 환자에서 자가면역 질환 동반 빈도 증가; DPR이 cGAS–STING 활성화</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TBK1</a:t>
                      </a:r>
                    </a:p>
                  </a:txBody>
                  <a:tcPr marL="73152" marR="73152">
                    <a:solidFill>
                      <a:srgbClr val="ECF1F5"/>
                    </a:solidFill>
                  </a:tcPr>
                </a:tc>
                <a:tc>
                  <a:txBody>
                    <a:bodyPr/>
                    <a:lstStyle/>
                    <a:p>
                      <a:r>
                        <a:rPr sz="1500" b="0" i="0">
                          <a:solidFill>
                            <a:srgbClr val="11202B"/>
                          </a:solidFill>
                          <a:latin typeface="Malgun Gothic"/>
                          <a:ea typeface="Malgun Gothic"/>
                          <a:cs typeface="Malgun Gothic"/>
                        </a:rPr>
                        <a:t>자가포식 수용체 인산화 + </a:t>
                      </a:r>
                      <a:r>
                        <a:rPr sz="1500" b="1" i="0">
                          <a:solidFill>
                            <a:srgbClr val="11202B"/>
                          </a:solidFill>
                          <a:latin typeface="Malgun Gothic"/>
                          <a:ea typeface="Malgun Gothic"/>
                          <a:cs typeface="Malgun Gothic"/>
                        </a:rPr>
                        <a:t>I형 인터페론 신호</a:t>
                      </a:r>
                      <a:r>
                        <a:rPr sz="1500" b="0" i="0">
                          <a:solidFill>
                            <a:srgbClr val="11202B"/>
                          </a:solidFill>
                          <a:latin typeface="Malgun Gothic"/>
                          <a:ea typeface="Malgun Gothic"/>
                          <a:cs typeface="Malgun Gothic"/>
                        </a:rPr>
                        <a:t> 조절 — ALS/FTD 반수부족</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OPTN</a:t>
                      </a:r>
                      <a:r>
                        <a:rPr sz="1500" b="0" i="0">
                          <a:solidFill>
                            <a:srgbClr val="11202B"/>
                          </a:solidFill>
                          <a:latin typeface="Malgun Gothic"/>
                          <a:ea typeface="Malgun Gothic"/>
                          <a:cs typeface="Malgun Gothic"/>
                        </a:rPr>
                        <a:t>, </a:t>
                      </a:r>
                      <a:r>
                        <a:rPr sz="1500" b="1" i="0">
                          <a:solidFill>
                            <a:srgbClr val="11202B"/>
                          </a:solidFill>
                          <a:latin typeface="Malgun Gothic"/>
                          <a:ea typeface="Malgun Gothic"/>
                          <a:cs typeface="Malgun Gothic"/>
                        </a:rPr>
                        <a:t>SQSTM1</a:t>
                      </a:r>
                    </a:p>
                  </a:txBody>
                  <a:tcPr marL="73152" marR="73152">
                    <a:solidFill>
                      <a:srgbClr val="FFFFFF"/>
                    </a:solidFill>
                  </a:tcPr>
                </a:tc>
                <a:tc>
                  <a:txBody>
                    <a:bodyPr/>
                    <a:lstStyle/>
                    <a:p>
                      <a:r>
                        <a:rPr sz="1500" b="0" i="0">
                          <a:solidFill>
                            <a:srgbClr val="11202B"/>
                          </a:solidFill>
                          <a:latin typeface="Malgun Gothic"/>
                          <a:ea typeface="Malgun Gothic"/>
                          <a:cs typeface="Malgun Gothic"/>
                        </a:rPr>
                        <a:t>선택적 자가포식 수용체, NF-κB 조절</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GRN</a:t>
                      </a:r>
                    </a:p>
                  </a:txBody>
                  <a:tcPr marL="73152" marR="73152">
                    <a:solidFill>
                      <a:srgbClr val="ECF1F5"/>
                    </a:solidFill>
                  </a:tcPr>
                </a:tc>
                <a:tc>
                  <a:txBody>
                    <a:bodyPr/>
                    <a:lstStyle/>
                    <a:p>
                      <a:r>
                        <a:rPr sz="1500" b="0" i="0">
                          <a:solidFill>
                            <a:srgbClr val="11202B"/>
                          </a:solidFill>
                          <a:latin typeface="Malgun Gothic"/>
                          <a:ea typeface="Malgun Gothic"/>
                          <a:cs typeface="Malgun Gothic"/>
                        </a:rPr>
                        <a:t>프로그라눌린 결손 → 리소좀 기능 저하·미세아교세포 과활성(B06 L06); 양대립 결손은 NCL</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TMEM106B</a:t>
                      </a:r>
                    </a:p>
                  </a:txBody>
                  <a:tcPr marL="73152" marR="73152">
                    <a:solidFill>
                      <a:srgbClr val="FFFFFF"/>
                    </a:solidFill>
                  </a:tcPr>
                </a:tc>
                <a:tc>
                  <a:txBody>
                    <a:bodyPr/>
                    <a:lstStyle/>
                    <a:p>
                      <a:r>
                        <a:rPr sz="1500" b="0" i="0">
                          <a:solidFill>
                            <a:srgbClr val="11202B"/>
                          </a:solidFill>
                          <a:latin typeface="Malgun Gothic"/>
                          <a:ea typeface="Malgun Gothic"/>
                          <a:cs typeface="Malgun Gothic"/>
                        </a:rPr>
                        <a:t>리소좀 — FTD 위험 수정</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SOD1</a:t>
                      </a:r>
                    </a:p>
                  </a:txBody>
                  <a:tcPr marL="73152" marR="73152">
                    <a:solidFill>
                      <a:srgbClr val="ECF1F5"/>
                    </a:solidFill>
                  </a:tcPr>
                </a:tc>
                <a:tc>
                  <a:txBody>
                    <a:bodyPr/>
                    <a:lstStyle/>
                    <a:p>
                      <a:r>
                        <a:rPr sz="1500" b="0" i="0">
                          <a:solidFill>
                            <a:srgbClr val="11202B"/>
                          </a:solidFill>
                          <a:latin typeface="Malgun Gothic"/>
                          <a:ea typeface="Malgun Gothic"/>
                          <a:cs typeface="Malgun Gothic"/>
                        </a:rPr>
                        <a:t>변이 단백이 미세아교세포 활성·세포 간 전파</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NEK1, KIF5A</a:t>
                      </a:r>
                    </a:p>
                  </a:txBody>
                  <a:tcPr marL="73152" marR="73152">
                    <a:solidFill>
                      <a:srgbClr val="FFFFFF"/>
                    </a:solidFill>
                  </a:tcPr>
                </a:tc>
                <a:tc>
                  <a:txBody>
                    <a:bodyPr/>
                    <a:lstStyle/>
                    <a:p>
                      <a:r>
                        <a:rPr sz="1500" b="0" i="0">
                          <a:solidFill>
                            <a:srgbClr val="11202B"/>
                          </a:solidFill>
                          <a:latin typeface="Malgun Gothic"/>
                          <a:ea typeface="Malgun Gothic"/>
                          <a:cs typeface="Malgun Gothic"/>
                        </a:rPr>
                        <a:t>축삭·DNA 수선</a:t>
                      </a:r>
                    </a:p>
                  </a:txBody>
                  <a:tcPr marL="73152" marR="73152">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면역 표적 치료의 시도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교훈: '항염증'이라는 단일 개념으로 접근해서는 실패하기 쉽다 — </a:t>
            </a:r>
            <a:r>
              <a:rPr sz="2200" b="1" i="0">
                <a:solidFill>
                  <a:srgbClr val="11202B"/>
                </a:solidFill>
                <a:latin typeface="Malgun Gothic"/>
                <a:ea typeface="Malgun Gothic"/>
                <a:cs typeface="Malgun Gothic"/>
              </a:rPr>
              <a:t>보호적 반응과 해로운 반응을 구분</a:t>
            </a:r>
            <a:r>
              <a:rPr sz="2200" b="0" i="0">
                <a:solidFill>
                  <a:srgbClr val="11202B"/>
                </a:solidFill>
                <a:latin typeface="Malgun Gothic"/>
                <a:ea typeface="Malgun Gothic"/>
                <a:cs typeface="Malgun Gothic"/>
              </a:rPr>
              <a:t>하고, 시기(초기 vs 후기)와 세포 유형(미세아교 vs 성상 vs T세포)을 특정해야 한다.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다학제 클리닉, 비침습 환기, 영양이 여전히 생존에 가장 큰 영향을 준다.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면역 표적 치료의 시도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10</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치료</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결과</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저용량 IL-2(Treg 증강)</a:t>
                      </a:r>
                    </a:p>
                  </a:txBody>
                  <a:tcPr marL="73152" marR="73152">
                    <a:solidFill>
                      <a:srgbClr val="FFFFFF"/>
                    </a:solidFill>
                  </a:tcPr>
                </a:tc>
                <a:tc>
                  <a:txBody>
                    <a:bodyPr/>
                    <a:lstStyle/>
                    <a:p>
                      <a:r>
                        <a:rPr sz="1500" b="0" i="0">
                          <a:solidFill>
                            <a:srgbClr val="11202B"/>
                          </a:solidFill>
                          <a:latin typeface="Malgun Gothic"/>
                          <a:ea typeface="Malgun Gothic"/>
                          <a:cs typeface="Malgun Gothic"/>
                        </a:rPr>
                        <a:t>2상(MIROCALS) — 생존 신호(사전 지정 하위군), 3상 필요</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자가 Treg 확장 주입</a:t>
                      </a:r>
                    </a:p>
                  </a:txBody>
                  <a:tcPr marL="73152" marR="73152">
                    <a:solidFill>
                      <a:srgbClr val="ECF1F5"/>
                    </a:solidFill>
                  </a:tcPr>
                </a:tc>
                <a:tc>
                  <a:txBody>
                    <a:bodyPr/>
                    <a:lstStyle/>
                    <a:p>
                      <a:r>
                        <a:rPr sz="1500" b="0" i="0">
                          <a:solidFill>
                            <a:srgbClr val="11202B"/>
                          </a:solidFill>
                          <a:latin typeface="Malgun Gothic"/>
                          <a:ea typeface="Malgun Gothic"/>
                          <a:cs typeface="Malgun Gothic"/>
                        </a:rPr>
                        <a:t>1상 안전·진행 둔화 신호, 2상 결과 혼재</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마시티닙</a:t>
                      </a:r>
                      <a:r>
                        <a:rPr sz="1500" b="0" i="0">
                          <a:solidFill>
                            <a:srgbClr val="11202B"/>
                          </a:solidFill>
                          <a:latin typeface="Malgun Gothic"/>
                          <a:ea typeface="Malgun Gothic"/>
                          <a:cs typeface="Malgun Gothic"/>
                        </a:rPr>
                        <a:t>(티로신 키나아제 — 미세아교·비만세포)</a:t>
                      </a:r>
                    </a:p>
                  </a:txBody>
                  <a:tcPr marL="73152" marR="73152">
                    <a:solidFill>
                      <a:srgbClr val="FFFFFF"/>
                    </a:solidFill>
                  </a:tcPr>
                </a:tc>
                <a:tc>
                  <a:txBody>
                    <a:bodyPr/>
                    <a:lstStyle/>
                    <a:p>
                      <a:r>
                        <a:rPr sz="1500" b="0" i="0">
                          <a:solidFill>
                            <a:srgbClr val="11202B"/>
                          </a:solidFill>
                          <a:latin typeface="Malgun Gothic"/>
                          <a:ea typeface="Malgun Gothic"/>
                          <a:cs typeface="Malgun Gothic"/>
                        </a:rPr>
                        <a:t>2b/3상 일부 긍정, 규제 승인 보류·추가 시험</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NP001(대식세포 조절)</a:t>
                      </a:r>
                    </a:p>
                  </a:txBody>
                  <a:tcPr marL="73152" marR="73152">
                    <a:solidFill>
                      <a:srgbClr val="ECF1F5"/>
                    </a:solidFill>
                  </a:tcPr>
                </a:tc>
                <a:tc>
                  <a:txBody>
                    <a:bodyPr/>
                    <a:lstStyle/>
                    <a:p>
                      <a:r>
                        <a:rPr sz="1500" b="0" i="0">
                          <a:solidFill>
                            <a:srgbClr val="11202B"/>
                          </a:solidFill>
                          <a:latin typeface="Malgun Gothic"/>
                          <a:ea typeface="Malgun Gothic"/>
                          <a:cs typeface="Malgun Gothic"/>
                        </a:rPr>
                        <a:t>2상 혼재</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토실리주맙(IL-6R), 아나킨라(IL-1)</a:t>
                      </a:r>
                    </a:p>
                  </a:txBody>
                  <a:tcPr marL="73152" marR="73152">
                    <a:solidFill>
                      <a:srgbClr val="FFFFFF"/>
                    </a:solidFill>
                  </a:tcPr>
                </a:tc>
                <a:tc>
                  <a:txBody>
                    <a:bodyPr/>
                    <a:lstStyle/>
                    <a:p>
                      <a:r>
                        <a:rPr sz="1500" b="0" i="0">
                          <a:solidFill>
                            <a:srgbClr val="11202B"/>
                          </a:solidFill>
                          <a:latin typeface="Malgun Gothic"/>
                          <a:ea typeface="Malgun Gothic"/>
                          <a:cs typeface="Malgun Gothic"/>
                        </a:rPr>
                        <a:t>소규모·음성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사이클로포스파마이드·면역억제</a:t>
                      </a:r>
                    </a:p>
                  </a:txBody>
                  <a:tcPr marL="73152" marR="73152">
                    <a:solidFill>
                      <a:srgbClr val="ECF1F5"/>
                    </a:solidFill>
                  </a:tcPr>
                </a:tc>
                <a:tc>
                  <a:txBody>
                    <a:bodyPr/>
                    <a:lstStyle/>
                    <a:p>
                      <a:r>
                        <a:rPr sz="1500" b="0" i="0">
                          <a:solidFill>
                            <a:srgbClr val="11202B"/>
                          </a:solidFill>
                          <a:latin typeface="Malgun Gothic"/>
                          <a:ea typeface="Malgun Gothic"/>
                          <a:cs typeface="Malgun Gothic"/>
                        </a:rPr>
                        <a:t>효과 없음</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CNM-Au8</a:t>
                      </a:r>
                      <a:r>
                        <a:rPr sz="1500" b="0" i="0">
                          <a:solidFill>
                            <a:srgbClr val="11202B"/>
                          </a:solidFill>
                          <a:latin typeface="Malgun Gothic"/>
                          <a:ea typeface="Malgun Gothic"/>
                          <a:cs typeface="Malgun Gothic"/>
                        </a:rPr>
                        <a:t>(나노결정 금 — 산화환원·대사)</a:t>
                      </a:r>
                    </a:p>
                  </a:txBody>
                  <a:tcPr marL="73152" marR="73152">
                    <a:solidFill>
                      <a:srgbClr val="FFFFFF"/>
                    </a:solidFill>
                  </a:tcPr>
                </a:tc>
                <a:tc>
                  <a:txBody>
                    <a:bodyPr/>
                    <a:lstStyle/>
                    <a:p>
                      <a:r>
                        <a:rPr sz="1500" b="0" i="0">
                          <a:solidFill>
                            <a:srgbClr val="11202B"/>
                          </a:solidFill>
                          <a:latin typeface="Malgun Gothic"/>
                          <a:ea typeface="Malgun Gothic"/>
                          <a:cs typeface="Malgun Gothic"/>
                        </a:rPr>
                        <a:t>2상 혼재, 생존 신호</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유전자 표적</a:t>
                      </a:r>
                    </a:p>
                  </a:txBody>
                  <a:tcPr marL="73152" marR="73152">
                    <a:solidFill>
                      <a:srgbClr val="ECF1F5"/>
                    </a:solidFill>
                  </a:tcPr>
                </a:tc>
                <a:tc>
                  <a:txBody>
                    <a:bodyPr/>
                    <a:lstStyle/>
                    <a:p>
                      <a:r>
                        <a:rPr sz="1500" b="0" i="0">
                          <a:solidFill>
                            <a:srgbClr val="11202B"/>
                          </a:solidFill>
                          <a:latin typeface="Malgun Gothic"/>
                          <a:ea typeface="Malgun Gothic"/>
                          <a:cs typeface="Malgun Gothic"/>
                        </a:rPr>
                        <a:t>토퍼센(SOD1), FUS·C9orf72 ASO (B05 L04, B06 L06)</a:t>
                      </a:r>
                    </a:p>
                  </a:txBody>
                  <a:tcPr marL="73152" marR="73152">
                    <a:solidFill>
                      <a:srgbClr val="ECF1F5"/>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면역 표적 치료의 시도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73152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치료</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결과</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레티가빈·에조가빈(흥분성 억제)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2상 생리 지표 개선</a:t>
                      </a:r>
                    </a:p>
                  </a:txBody>
                  <a:tcPr marL="73152" marR="7315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바이오마커와 영상</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혈청·CSF NfL</a:t>
            </a:r>
            <a:r>
              <a:rPr sz="1800" b="0" i="0">
                <a:solidFill>
                  <a:srgbClr val="11202B"/>
                </a:solidFill>
                <a:latin typeface="Malgun Gothic"/>
                <a:ea typeface="Malgun Gothic"/>
                <a:cs typeface="Malgun Gothic"/>
              </a:rPr>
              <a:t>: 축삭 손상 — 진단 보조(ALS에서 뚜렷한 상승이 모방 질환과 감별에 도움), 진행 속도 예측, 치료 반응(토퍼센) 지표; </a:t>
            </a:r>
            <a:r>
              <a:rPr sz="1800" b="1" i="0">
                <a:solidFill>
                  <a:srgbClr val="11202B"/>
                </a:solidFill>
                <a:latin typeface="Malgun Gothic"/>
                <a:ea typeface="Malgun Gothic"/>
                <a:cs typeface="Malgun Gothic"/>
              </a:rPr>
              <a:t>증상 전 보인자에서 발병 6–12개월 전 상승</a:t>
            </a:r>
            <a:r>
              <a:rPr sz="1800" b="0" i="0">
                <a:solidFill>
                  <a:srgbClr val="11202B"/>
                </a:solidFill>
                <a:latin typeface="Malgun Gothic"/>
                <a:ea typeface="Malgun Gothic"/>
                <a:cs typeface="Malgun Gothic"/>
              </a:rPr>
              <a:t>.</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CSF/혈액 염증 지표: CHIT1·CHI3L1(키티나아제 — 미세아교세포·성상세포 활성, 진행과 상관), MCP-1, 가용성 TREM2.</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영상: </a:t>
            </a:r>
            <a:r>
              <a:rPr sz="1800" b="1" i="0">
                <a:solidFill>
                  <a:srgbClr val="11202B"/>
                </a:solidFill>
                <a:latin typeface="Malgun Gothic"/>
                <a:ea typeface="Malgun Gothic"/>
                <a:cs typeface="Malgun Gothic"/>
              </a:rPr>
              <a:t>TSPO PET</a:t>
            </a:r>
            <a:r>
              <a:rPr sz="1800" b="0" i="0">
                <a:solidFill>
                  <a:srgbClr val="11202B"/>
                </a:solidFill>
                <a:latin typeface="Malgun Gothic"/>
                <a:ea typeface="Malgun Gothic"/>
                <a:cs typeface="Malgun Gothic"/>
              </a:rPr>
              <a:t>(미세아교세포 활성 — 운동 피질 증가), MRI 피질척수로 신호·피질 위축, 확산·MR 분광.</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병리 특이 바이오마커: TDP-43 기능 소실 지표(잠재 엑손 펩타이드 — B05 L04, B06 L06).</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FTD: 혈장 </a:t>
            </a:r>
            <a:r>
              <a:rPr sz="1800" b="1" i="0">
                <a:solidFill>
                  <a:srgbClr val="11202B"/>
                </a:solidFill>
                <a:latin typeface="Malgun Gothic"/>
                <a:ea typeface="Malgun Gothic"/>
                <a:cs typeface="Malgun Gothic"/>
              </a:rPr>
              <a:t>NfL</a:t>
            </a:r>
            <a:r>
              <a:rPr sz="1800" b="0" i="0">
                <a:solidFill>
                  <a:srgbClr val="11202B"/>
                </a:solidFill>
                <a:latin typeface="Malgun Gothic"/>
                <a:ea typeface="Malgun Gothic"/>
                <a:cs typeface="Malgun Gothic"/>
              </a:rPr>
              <a:t>(진행·전환 예측), GRN 보인자의 혈장 프로그라눌린, 타우 PET(4R 추적자 한계).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증상 전 유전자 보인자 코호트에서 NfL 상승을 '발병 신호'로 삼아 조기 치료를 시작하는 설계(ATLAS — SOD1)가 신경퇴행 예방 시험의 모델이 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단일세포·공간 전사체로 ALS 척수의 미세아교세포·성상세포 상태가 질환 단계별로 정의되면서 '시기 특이' 면역 표적이 모색된다.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말초 면역 조절(Treg 증강)과 유전자 표적 치료의 병용 가능성이 논의된다.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ALS는 운동신경세포만의 질환이 아니라 미세아교세포·성상세포의 비세포자율 독성이 진행을 결정한다.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말초 Treg 기능 저하가 빠른 진행과 연관되어 Treg 증강 치료가 시도되고 있다.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C9orf72·TBK1·OPTN·GRN 등 ALS/FTD 유전자는 자가포식-리소좀-선천면역 경로에 수렴한다.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단순 항염증 치료는 대부분 실패했으며 보호적·해로운 반응과 시기·세포 특이성을 구분해야 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NfL과 키티나아제, TSPO PET이 진단·진행·치료 반응의 바이오마커로 쓰인다.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15</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SOD1 변이 생쥐 실험에서 '비세포자율 독성'이 어떻게 입증되었는가?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변이 SOD1을 운동신경세포에만 발현시키면 질환이 약하게 나타나고, 반대로 미세아교세포나 성상세포에서 변이 SOD1을 선택적으로 제거하면 발병 후 진행이 느려지고 생존이 연장되었다. 또한 변이 교세포와 정상 운동신경세포를 공배양하면 운동신경세포가 죽는다. 이는 주변 교세포가 질환 진행을 능동적으로 좌우함을 보여준다.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ALS에서 조절 T세포 수와 기능이 임상적으로 중요한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Treg의 수와 억제 기능이 낮을수록 질환 진행이 빠르고 생존이 짧다는 관찰이 반복 보고되었다. Treg는 미세아교세포의 독성 전환을 억제하고 보호적 표현형을 유지하는 데 기여하므로, 저용량 IL-2나 자가 Treg 확장 주입으로 이를 보강하려는 치료가 시험되고 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C9orf72 결손이 면역 이상을 일으킨다는 증거와 그 임상적 의미는?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C9orf72 단백은 골수계 세포에서 높게 발현되며 자가포식·엔도솜 조절에 관여한다. 결손 생쥐는 비장비대, 자가항체, I형 인터페론 상승 같은 자가면역 표현형을 보이고, 확장 보유 환자에서 자가면역 질환 동반 빈도가 높다는 보고가 있다. 이는 기능 소실이 DPR 독성과 함께 염증을 통해 질환에 기여함을 시사한다.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신경미세섬유 경쇄(NfL)가 ALS 임상시험에서 중요한 지표가 된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축삭 손상의 정량 지표로 질환 진행 속도와 상관이 높고, 증상 전 유전자 보인자에서 발병 수개월 전부터 상승해 치료 개시 시점을 정하는 데 쓸 수 있으며, 토퍼센 시험에서 임상 결과와 연동되는 변화를 보여 대리 지표로 인정받았기 때문이다.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Hardiman O et al. Amyotrophic lateral sclerosis. Nat Rev Dis Primers 2017;3:17071.</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Boillée S et al. Onset and progression in inherited ALS determined by motor neurons and microglia. Science 2006;312:1389–1392.</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Beers DR, Appel SH. Immune dysregulation in amyotrophic lateral sclerosis: mechanisms and emerging therapies. Lancet Neurol 2019;18:211–220.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B08-L09  ·  ALS·전두측두치매의 신경염증</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Benatar M et al. Design of a randomized, placebo-controlled, phase 3 trial of tofersen initiated in clinically presymptomatic SOD1 variant carriers (ATLAS). Neurotherapeutics 2022;19:1248–1258.</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Verde F et al. Neurofilament light chain in serum for the diagnosis of ALS. J Neurol Neurosurg Psychiatry 2019;90:157–164.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