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선천성 고인슐린혈증(지속성). 높은 포도당 요구량과 저케톤·저지방산 저혈당은 인슐린 과다로 지방분해·케톤 생성이 억제되었음을 시사한다. 결정적 검체의 인슐린·C-펩타이드, 글루카곤 자극 반응을 확인하고 디아족사이드를 시도한다. 반응이 없으면 ABCC8/KCNJ11 유전자 검사와 ¹⁸F-DOPA PET으로 국소형 여부를 확인해 국소형은 부분 췌장 절제로 완치를 노린다.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고전형 염류소실 CAH 가능성이 있어 즉시 혈청 전해질(저나트륨·고칼륨), 혈당, 혈압·탈수 상태를 확인한다. 남아는 외부생식기가 정상이어서 임상적으로 놓치기 쉬워 생후 1–3주에 부신 위기로 사망할 수 있다. 확진 검사(17-OHP 재검, ACTH 자극, 레닌)와 함께 위기 소견이 있으면 하이드로코르티손 스트레스 용량과 수액을 즉시 투여한다.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TREC는 흉선에서 T세포 수용체 유전자가 재배열될 때 잘려 나온 원형 DNA로, 분열 시 희석되어 최근 흉선에서 나온 신생 T세포 수를 반영한다. SCID는 T세포 생성이 거의 없어 TREC가 낮다. T세포 면역이 없으므로 로타바이러스·BCG 등 생백신의 약독화 병원체가 전신 감염을 일으킬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후기 비타민 K 결핍 출혈이다. 비타민 K는 태반 통과가 제한되어 신생아 저장이 적고, 모유의 비타민 K 함량이 낮으며, 장내 세균에 의한 메나퀴논 합성도 부족하다. 비타민 K 의존 응고인자(II, VII, IX, X) 감마카복실화가 불충분해 출혈이 생긴다. 담즙정체(지방 흡수장애)가 동반되면 위험이 더 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B04 생애주기의학과 생화학  ·  소아의학과 대사학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신생아 대사 적응과 신생아 선별검사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Neonatal Metabolic Transition and Newborn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B04-L03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출생 시 대사 전환(포도당 항상성, 열생성, 호흡·순환)을 생화학적으로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저혈당의 원인(일과성, 지속성 고인슐린혈증, 내분비, 대사)과 관리 원칙을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황달, 저칼슘혈증, 비타민 K 결핍 출혈을 대사적으로 이해한다.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선별검사의 대상 질환·검사법·추적 과정을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선천성 갑상선기능저하증·선천성 부신과형성증·SCID·SMA 선별의 생화학을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출생 시 대사 전환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저혈당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황달·저칼슘혈증·비타민 K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선별검사 체계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선별 질환의 생화학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출생 시 대사 전환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출생 = 태반 연속 공급 → 간헐적 장관 영양으로의 전환. 탯줄 절단 후 혈당은 1–2시간에 최저(약 30–45 mg/dL)로 떨어졌다가 회복.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호르몬 서지: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카테콜아민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(분만 스트레스; 10–20배),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글루카곤↑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인슐린↓, 코르티솔↑ → 간 글리코겐 분해(첫 12–24시간에 대부분 소진) → 포도당신생 효소(PEPCK, G6Pase) 유도 → 지방분해·케톤 생성(신생아 뇌는 케톤 이용 능력이 큼).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열생성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갈색지방(만삭아 체중의 2–5%, 견갑골 사이·신장 주위) — 노르에피네프린 → β₃ → UCP1 탈공역(B01 L03). 미숙아는 BAT·피하지방 부족 → 저체온 → 저혈당·산증 악순환.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폐: 폐액 흡수(ENaC; 카테콜아민 유도), 계면활성제 방출, 폐혈관 저항 급감(산소·NO).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출생 시 대사 전환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순환: 난원공·동맥관 폐쇄(동맥관은 산소↑·PGE₂↓로 수축; 조산아 PDA → 인도메타신·이부프로펜·아세트아미노펜).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모유: 초유(면역글로불린 A, 락토페린, 올리고당) → 성숙유; 신생아 위 리파아제·모유 담즙염 자극 리파아제가 지방 소화 보조.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신생아 저혈당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'결정적 검체(critical sample)'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저혈당 순간(&lt;50 mg/dL)에 혈액(인슐린, C-펩타이드, βHB, 유리지방산, 코르티솔, GH, 젖산, 암모니아, 아실카르니틴, 아미노산)과 첫 소변(유기산)을 채취 → 원인 진단의 핵심.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관리: 수유 강화, 구강 포도당 젤(40%; hPOD·Sugar Babies 시험), 정주 포도당(2 mL/kg 10% 볼루스 후 6–8 mg/kg/min). CHI: 디아족사이드(K_ATP 개방; 수분 저류·다모증), 옥트레오타이드, 글루카곤, 췌장 절제. 반복·지속 저혈당은 후두엽 백질 손상·뇌전증·발달지연을 남긴다.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신생아 저혈당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일과성 – 공급 부족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미숙아, 자궁내 성장지연(글리코겐·지방 저장↓), 저체온, 패혈증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포도당 공급으로 수일 내 호전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일과성 – 고인슐린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당뇨 산모 신생아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거대아, 주산기 스트레스 고인슐린혈증(성장지연·질식 후; 수주 지속 가능), 베크위드-비데만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높은 포도당 요구량(&gt;8 mg/kg/min)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지속성 고인슐린혈증(CHI)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K_ATP 통로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(ABCC8/KCNJ11; 가장 흔함, 디아족사이드 무반응), GLUD1(HI/HA), GCK GoF, HADH(단백 유발)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저케톤·저지방산 저혈당, 글루카곤 반응(+), 국소형(부계 ABCC8 변이 + 11p15 모계 소실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¹⁸F-DOPA PET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후 부분 절제로 완치)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내분비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범뇌하수체기능저하(미세음경, 시신경 형성이상, 담즙정체), 부신 기능저하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성장호르몬·코르티솔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선천대사이상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GSD I, 지방산 산화장애, 갈락토스혈증, HFI, 유기산혈증, 포도당신생 효소 결손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케톤·젖산 패턴으로 감별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신생아 저혈당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케톤(βHB)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유리지방산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고인슐린혈증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지방분해·케톤 생성 모두 억제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 산화장애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지방분해는 되나 산화·케톤 생성 실패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케톤성(GSD 0·III, 내분비, 특발성 케톤성)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정상적 공복 반응 + 포도당 공급 실패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GSD I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높음/중간 + 젖산↑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G6Pase 결손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신생아 황달·저칼슘혈증·비타민 K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황달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(B03 L04): 생리적 비포합형; 위험 요인(용혈 — ABO·Rh 부적합, G6PD 결핍; 미숙; 아시아계; 두혈종; 모유 수유 부족). 시간 기준 노모그램(2022 AAP 개정)에 따라 광선요법·교환수혈.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빌리루빈 뇌병증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핵황달(기저핵·뇌간 청각핵 손상: 무정위운동, 감각신경 난청, 상방 주시 장애).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저칼슘혈증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조기(72시간 내): 출생 시 태반 Ca 공급 중단 + 상대적 부갑상선 미성숙; 미숙아, 당뇨 산모 신생아(저마그네슘 동반), 질식.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후기(5–10일): 고인산 우유(소젖 기반) 섭취, 모체 비타민 D 결핍, 저마그네슘, 부갑상선기능저하(22q11.2 디조지 — 흉선 형성부전·원뿔동맥간 기형 동반), 모체 부갑상선항진(태아 PTH 억제).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신생아 황달·저칼슘혈증·비타민 K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비타민 K 결핍 출혈(VKDB)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신생아는 태반 통과 제한·간 저장 적음·장내 세균 부족·모유 내 비타민 K 낮음 → 조기(24시간; 모체 항경련제·와파린), 고전(2–7일),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후기(2–12주; 두개내 출혈 위험, 모유 수유 단독·담즙정체)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출생 시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비타민 K 1 mg 근주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거의 완전히 예방(부모 거부 시 위험 81배).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신생아 선별검사 체계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시기: 생후 48–72시간(수유 시작 후) 발뒤꿈치 건조혈반(Guthrie 카드). 너무 이르면 PKU 등 위음성, 미숙아·TPN·수혈은 재검 필요.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기술: 탠덤질량분석(아미노산·아실카르니틴; B01 L10), 면역분석(TSH, 17-OHP, IRT), 효소 분석(GALT, 비오티니다아제, 리소좀 효소), 분자검사(TREC/KREC, SMN1 엑손 7 결실), 맥박산소측정(중증 선천심질환), 청력 선별(OAE/AABR).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한국: 6종 기본(PKU, 갑상선기능저하증, 호모시스틴뇨증, 단풍당뇨병, 갈락토스혈증, 선천성 부신과형성증) → 2018년 탠덤질량분석 포함 확대(약 50종) 국가 지원, 2023년 SMA·SCID 등 추가 시범사업.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신생아 선별검사 체계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추적: 양성 → 신속 통보 → 확진 검사·전문가 진료(대사·내분비) → 장기 추적. 위양성의 부모 불안, 경증·불확실 표현형(SCAD, 히스티딘혈증, 경증 고페닐알라닌혈증) 처리.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선별 질환의 생화학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생화학·치료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선천성 갑상선기능저하증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(1/2,000–3,000)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TSH↑(1차 선별), 확진 FT4↓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갑상선 형성이상(이소성 — 혀 아래, 무형성; 대부분 산발) 또는 호르몬 합성장애(TPO, DUOX2, TG — AR); 미치료 시 크레틴병(지적장애, 저성장) →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생후 2주 내 레보티록신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10–15 µg/kg 시작 시 정상 지능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선천성 부신과형성증(CAH)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(1/15,000)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17-OHP↑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(21-수산화효소 결핍 ~95%, CYP21A2)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코르티솔·알도스테론↓, ACTH↑ → 안드로겐↑: 여아 외부생식기 남성화, 남아 생후 1–3주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염류소실 위기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(저Na·고K·저혈당·쇼크) → 하이드로코르티손 + 플루드로코르티손 + 염분; 미숙아·스트레스 위양성 → 2단계 LC-MS/MS(21-데옥시코르티솔 등)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PKU, MSUD, 호모시스틴뇨증, 유기산혈증, FAOD, UCD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MS/MS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B01 L09–L10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갈락토스혈증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GALT 활성, 갈락토스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B01 L04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비오티니다아제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비오틴으로 완전 예방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낭성섬유증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IRT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(면역반응성 트립시노겐↑) → CFTR 변이 → 땀 Cl⁻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조기 영양·호흡 관리, CFTR 조절제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TREC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(T세포 수용체 절제 원형 DNA — 흉선 신생 T세포 표지) 낮음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감염 전 HSCT(3.5개월 이전 시 생존 &gt;90%), 생백신(로타·BCG) 금지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SMA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SMN1 엑손 7 동형 결실(qPCR), SMN2 복제 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 전 누시너센·리스디플람·오나셈노진 → 정상 운동 발달 가능(B06 L04)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선별 질환의 생화학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생화학·치료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리소좀 질환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 활성(폼페, MPS I·II, 크라베, 파브리, 고셔)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B03 L05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X-ALD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C26:0-리소PC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감시 → 대뇌형 조기 HSCT (B05 L13)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혈색소병증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HPLC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겸상적혈구병 → 페니실린 예방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유전체 신생아 선별(BabySeq, GUARDIAN 10만 명, 영국 Generation Study 10만 명)이 200–600개 치료 가능 유전질환을 대상으로 시범 운영 중이며, 생화학 선별을 놓친 질환을 추가로 찾아내는 한편 위음성·VUS·자원 문제가 평가되고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2단계 선별(1차 MS/MS → 2차 LC-MS/MS 표지자·유전자)로 위양성을 줄이고, 기계학습 기반 다변량 해석(CLIR 도구)이 확산되고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증상 전 치료 효과의 장기 근거(SMA, 크라베 HSCT, MLD 유전자치료)가 선별 대상 확대 결정의 기준이 되고 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출생 시 카테콜아민·글루카곤 서지가 글리코겐 분해·포도당신생·지방분해·갈색지방 열생성을 개시한다.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저혈당은 공급 부족·일과성/지속성 고인슐린혈증·내분비·대사 원인으로 나뉘며 '결정적 검체'의 케톤·유리지방산 패턴이 감별의 열쇠이다.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황달·저칼슘혈증·비타민 K 결핍 출혈은 출생 전환기의 미성숙에서 비롯되며 비타민 K 근주로 VKDB를 예방한다.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선별은 건조혈반의 MS/MS·면역·효소·분자 검사로 수십 종 질환을 증상 전에 찾는다.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선천성 갑상선기능저하증(TSH)·CAH(17-OHP)·SCID(TREC)·SMA(SMN1) 선별은 조기 치료로 결과를 바꾼다.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생후 2일 거대아가 정주 포도당 12 mg/kg/min을 투여해도 저혈당이 반복된다. 저혈당 시 βHB와 유리지방산이 모두 낮다. 진단과 검사·치료 방향은?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선천성 고인슐린혈증(지속성). 높은 포도당 요구량과 저케톤·저지방산 저혈당은 인슐린 과다로 지방분해·케톤 생성이 억제되었음을 시사한다. 결정적 검체의 인슐린·C-펩타이드, 글루카곤 자극 반응을 확인하고 디아족사이드를 시도한다. 반응이 없으면 ABCC8/KCNJ11 유전자 검사와 ¹⁸F-DOPA PET으로 국소형 여부를 확인해 국소형은 부분 췌장 절제로 완치를 노린다.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선별에서 17-OHP가 높게 나온 생후 10일 남아에게 시급히 확인해야 할 것은?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고전형 염류소실 CAH 가능성이 있어 즉시 혈청 전해질(저나트륨·고칼륨), 혈당, 혈압·탈수 상태를 확인한다. 남아는 외부생식기가 정상이어서 임상적으로 놓치기 쉬워 생후 1–3주에 부신 위기로 사망할 수 있다. 확진 검사(17-OHP 재검, ACTH 자극, 레닌)와 함께 위기 소견이 있으면 하이드로코르티손 스트레스 용량과 수액을 즉시 투여한다.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SCID 선별에서 TREC가 낮은 이유와, 양성 영아에게 생백신을 피해야 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TREC는 흉선에서 T세포 수용체 유전자가 재배열될 때 잘려 나온 원형 DNA로, 분열 시 희석되어 최근 흉선에서 나온 신생 T세포 수를 반영한다. SCID는 T세포 생성이 거의 없어 TREC가 낮다. T세포 면역이 없으므로 로타바이러스·BCG 등 생백신의 약독화 병원체가 전신 감염을 일으킬 수 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모유 수유만 하는 생후 6주 영아가 두개내 출혈로 내원했다. 출생 시 비타민 K를 맞지 않았다.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후기 비타민 K 결핍 출혈이다. 비타민 K는 태반 통과가 제한되어 신생아 저장이 적고, 모유의 비타민 K 함량이 낮으며, 장내 세균에 의한 메나퀴논 합성도 부족하다. 비타민 K 의존 응고인자(II, VII, IX, X) 감마카복실화가 불충분해 출혈이 생긴다. 담즙정체(지방 흡수장애)가 동반되면 위험이 더 크다.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Thornton PS et al. Recommendations from the Pediatric Endocrine Society for evaluation and management of persistent hypoglycemia in neonates, infants, and children. J Pediatr 2015;167:238–245.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Harris DL et al. Dextrose gel for neonatal hypoglycaemia (the Sugar Babies Study). Lancet 2013;382:2077–2083.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B04-L03  ·  신생아 대사 적응과 신생아 선별검사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Speiser PW et al. Congenital adrenal hyperplasia due to steroid 21-hydroxylase deficiency: an Endocrine Society guideline. J Clin Endocrinol Metab 2018;103:4043–4088.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Kwan A et al. Newborn screening for severe combined immunodeficiency in 11 screening programs in the United States. JAMA 2014;312:729–738.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Therrell BL et al. Current status of newborn screening worldwide: 2015. Semin Perinatol 2015;39:171–187.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