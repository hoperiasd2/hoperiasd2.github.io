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가족성 저칼슘뇨성 고칼슘혈증(FHH; CASR 기능소실). CaSR 설정점이 높아져 부갑상선과 신장이 높은 칼슘을 '정상'으로 인식하므로 PTH가 억제되지 않고 신장의 칼슘 배설이 낮다. 대개 양성으로 부갑상선 절제술이 효과가 없으므로 원발성 부갑상선기능항진과 감별해 불필요한 수술을 피하는 것이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정상적으로 저인산혈증은 CYP27B1을 강하게 자극해 1,25-D를 높여야 한다. XLH에서는 PHEX 결손으로 FGF23이 과다해 CYP27B1을 억제하고 CYP24A1을 유도하므로 저인산혈증에도 1,25-D가 오르지 않는다. 이 패턴(저인산 + 인산뇨 + 정상/낮은 1,25-D + 높은 FGF23)이 FGF23 매개 질환을 시사하며 부로수맙 치료로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데노수맙은 RANKL을 가역적으로 차단하며 뼈에 결합해 남지 않으므로, 중단 후 억제되어 있던 파골전구세포가 한꺼번에 활성화되어 골흡수가 기저치보다 크게 증가(반동)한다. 이로 인해 골밀도가 빠르게 소실되고 다발 척추골절이 생긴다. 중단 시 6개월 시점에 비스포스포네이트(졸레드론산 등)로 이어서 치료해야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네프론 수가 줄어들면 남은 네프론이 인을 더 배설해야 하므로 골세포가 FGF23을 초기부터 증가시켜 인 균형을 유지한다(보상). 이 때문에 혈청 인은 늦게까지 정상이다. 그러나 FGF23 상승은 1,25-D를 낮춰 2차 부갑상선기능항진을 시작시키고, 그 자체로 좌심실 비대·사망 위험과 연관되어 CKD-MBD의 가장 이른 표지가 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B04 생애주기의학과 생화학  ·  호르몬과 대사학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3200" b="1" i="0">
                <a:solidFill>
                  <a:srgbClr val="FFFFFF"/>
                </a:solidFill>
                <a:latin typeface="Malgun Gothic"/>
                <a:ea typeface="Malgun Gothic"/>
                <a:cs typeface="Malgun Gothic"/>
              </a:rPr>
              <a:t>칼슘·인·뼈 대사: PTH, 비타민 D, FGF23</a:t>
            </a:r>
          </a:p>
          <a:p>
            <a:r>
              <a:rPr sz="2000" b="0" i="0">
                <a:solidFill>
                  <a:srgbClr val="C2CDD6"/>
                </a:solidFill>
                <a:latin typeface="Malgun Gothic"/>
                <a:ea typeface="Malgun Gothic"/>
                <a:cs typeface="Malgun Gothic"/>
              </a:rPr>
              <a:t>Calcium, Phosphate and Bone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B04-L08</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칼슘·인의 체내 분포와 장·신장·뼈 사이 항상성 조절을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PTH, 1,25-다이하이드록시비타민 D, FGF23–Klotho, 칼시토닌의 작용과 되먹임을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뼈 재형성(조골세포·파골세포·골세포, RANKL/OPG, 스클레로스틴)의 분자 기전을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구루병·골연화증·부갑상선 질환·CKD-MBD의 생화학적 진단을 적용한다.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골다공증 약물(비스포스포네이트, 데노수맙, 테리파라타이드, 로모소주맙)의 기전을 비교한다.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칼슘·인 항상성의 구조</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조절 호르몬</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뼈의 재형성</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구루병·골연화증과 인산 질환</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부갑상선 질환과 CKD-MBD</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골다공증과 치료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칼슘·인 항상성의 구조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칼슘: 체내 약 1 kg의 99%가 뼈(하이드록시아파타이트). 혈청 Ca 8.5–10.5 mg/dL = 이온화(~50%, 생리적 활성) + 알부민 결합(~40%) + 음이온 복합(~10%). 알칼리증은 알부민 결합↑ → 이온화 Ca↓(과환기 테타니).</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인: 약 85%가 뼈, 세포 내 ATP·핵산·인지질·2,3-BPG. 혈청 2.5–4.5 mg/dL(소아 더 높음).</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기관별 흐름: 장 흡수(Ca — 능동 TRPV6·칼빈딘(1,25-D 의존) + 수동 세포 사이; 인 — NaPi-IIb), 신장(Ca — 원위 TRPV5, 두꺼운 상행지 세포 사이(CaSR·클라우딘16/19); 인 — 근위 </a:t>
            </a:r>
            <a:r>
              <a:rPr sz="1800" b="1" i="0">
                <a:solidFill>
                  <a:srgbClr val="11202B"/>
                </a:solidFill>
                <a:latin typeface="Malgun Gothic"/>
                <a:ea typeface="Malgun Gothic"/>
                <a:cs typeface="Malgun Gothic"/>
              </a:rPr>
              <a:t>NaPi-IIa/IIc</a:t>
            </a:r>
            <a:r>
              <a:rPr sz="1800" b="0" i="0">
                <a:solidFill>
                  <a:srgbClr val="11202B"/>
                </a:solidFill>
                <a:latin typeface="Malgun Gothic"/>
                <a:ea typeface="Malgun Gothic"/>
                <a:cs typeface="Malgun Gothic"/>
              </a:rPr>
              <a:t>), 뼈(저장·완충).</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센서: 부갑상선 </a:t>
            </a:r>
            <a:r>
              <a:rPr sz="1800" b="1" i="0">
                <a:solidFill>
                  <a:srgbClr val="11202B"/>
                </a:solidFill>
                <a:latin typeface="Malgun Gothic"/>
                <a:ea typeface="Malgun Gothic"/>
                <a:cs typeface="Malgun Gothic"/>
              </a:rPr>
              <a:t>칼슘감지수용체(CaSR)</a:t>
            </a:r>
            <a:r>
              <a:rPr sz="1800" b="0" i="0">
                <a:solidFill>
                  <a:srgbClr val="11202B"/>
                </a:solidFill>
                <a:latin typeface="Malgun Gothic"/>
                <a:ea typeface="Malgun Gothic"/>
                <a:cs typeface="Malgun Gothic"/>
              </a:rPr>
              <a:t> — Ca²⁺↑ → Gq/i → PTH 분비↓ (역 S자 관계; 설정점).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조절 호르몬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비타민 D 대사</a:t>
            </a:r>
            <a:r>
              <a:rPr sz="1800" b="0" i="0">
                <a:solidFill>
                  <a:srgbClr val="11202B"/>
                </a:solidFill>
                <a:latin typeface="Malgun Gothic"/>
                <a:ea typeface="Malgun Gothic"/>
                <a:cs typeface="Malgun Gothic"/>
              </a:rPr>
              <a:t>: 피부 7-DHC + UVB(290–315 nm) → D₃(또는 식이 D₂/D₃) → 간 </a:t>
            </a:r>
            <a:r>
              <a:rPr sz="1800" b="1" i="0">
                <a:solidFill>
                  <a:srgbClr val="11202B"/>
                </a:solidFill>
                <a:latin typeface="Malgun Gothic"/>
                <a:ea typeface="Malgun Gothic"/>
                <a:cs typeface="Malgun Gothic"/>
              </a:rPr>
              <a:t>CYP2R1</a:t>
            </a:r>
            <a:r>
              <a:rPr sz="1800" b="0" i="0">
                <a:solidFill>
                  <a:srgbClr val="11202B"/>
                </a:solidFill>
                <a:latin typeface="Malgun Gothic"/>
                <a:ea typeface="Malgun Gothic"/>
                <a:cs typeface="Malgun Gothic"/>
              </a:rPr>
              <a:t> → 25(OH)D(저장형·</a:t>
            </a:r>
            <a:r>
              <a:rPr sz="1800" b="1" i="0">
                <a:solidFill>
                  <a:srgbClr val="11202B"/>
                </a:solidFill>
                <a:latin typeface="Malgun Gothic"/>
                <a:ea typeface="Malgun Gothic"/>
                <a:cs typeface="Malgun Gothic"/>
              </a:rPr>
              <a:t>영양 상태 지표</a:t>
            </a:r>
            <a:r>
              <a:rPr sz="1800" b="0" i="0">
                <a:solidFill>
                  <a:srgbClr val="11202B"/>
                </a:solidFill>
                <a:latin typeface="Malgun Gothic"/>
                <a:ea typeface="Malgun Gothic"/>
                <a:cs typeface="Malgun Gothic"/>
              </a:rPr>
              <a:t>, 반감기 2–3주) → 신장 </a:t>
            </a:r>
            <a:r>
              <a:rPr sz="1800" b="1" i="0">
                <a:solidFill>
                  <a:srgbClr val="11202B"/>
                </a:solidFill>
                <a:latin typeface="Malgun Gothic"/>
                <a:ea typeface="Malgun Gothic"/>
                <a:cs typeface="Malgun Gothic"/>
              </a:rPr>
              <a:t>CYP27B1</a:t>
            </a:r>
            <a:r>
              <a:rPr sz="1800" b="0" i="0">
                <a:solidFill>
                  <a:srgbClr val="11202B"/>
                </a:solidFill>
                <a:latin typeface="Malgun Gothic"/>
                <a:ea typeface="Malgun Gothic"/>
                <a:cs typeface="Malgun Gothic"/>
              </a:rPr>
              <a:t> → 1,25(OH)₂D(활성, 반감기 4–6시간) → VDR(RXR 이형이량체) → 표적 유전자. </a:t>
            </a:r>
            <a:r>
              <a:rPr sz="1800" b="1" i="0">
                <a:solidFill>
                  <a:srgbClr val="11202B"/>
                </a:solidFill>
                <a:latin typeface="Malgun Gothic"/>
                <a:ea typeface="Malgun Gothic"/>
                <a:cs typeface="Malgun Gothic"/>
              </a:rPr>
              <a:t>CYP24A1</a:t>
            </a:r>
            <a:r>
              <a:rPr sz="1800" b="0" i="0">
                <a:solidFill>
                  <a:srgbClr val="11202B"/>
                </a:solidFill>
                <a:latin typeface="Malgun Gothic"/>
                <a:ea typeface="Malgun Gothic"/>
                <a:cs typeface="Malgun Gothic"/>
              </a:rPr>
              <a:t> → 24,25(OH)₂D 불활성화.</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25(OH)D &lt;20 ng/mL 결핍, &lt;12 중증. 1,25-D는 결핍 초기에 PTH 상승으로 오히려 정상·높을 수 있어 영양 평가에 부적합.</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CYP24A1 기능소실 → 비타민 D 보충 후 영아 고칼슘혈증·신석회증(특발성 영아 고칼슘혈증).</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육아종(사르코이드, 결핵, 림프종)의 대식세포 CYP27B1(PTH 비의존) → 고칼슘혈증 → 글루코코르티코이드.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조절 호르몬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365760">
                <a:tc>
                  <a:txBody>
                    <a:bodyPr/>
                    <a:lstStyle/>
                    <a:p>
                      <a:r>
                        <a:rPr sz="1300" b="1" i="0">
                          <a:solidFill>
                            <a:srgbClr val="FFFFFF"/>
                          </a:solidFill>
                          <a:latin typeface="Malgun Gothic"/>
                          <a:ea typeface="Malgun Gothic"/>
                          <a:cs typeface="Malgun Gothic"/>
                        </a:rPr>
                        <a:t>호르몬</a:t>
                      </a:r>
                    </a:p>
                  </a:txBody>
                  <a:tcPr marL="73152" marR="73152">
                    <a:solidFill>
                      <a:srgbClr val="003C71"/>
                    </a:solidFill>
                  </a:tcPr>
                </a:tc>
                <a:tc>
                  <a:txBody>
                    <a:bodyPr/>
                    <a:lstStyle/>
                    <a:p>
                      <a:r>
                        <a:rPr sz="1300" b="1" i="0">
                          <a:solidFill>
                            <a:srgbClr val="FFFFFF"/>
                          </a:solidFill>
                          <a:latin typeface="Malgun Gothic"/>
                          <a:ea typeface="Malgun Gothic"/>
                          <a:cs typeface="Malgun Gothic"/>
                        </a:rPr>
                        <a:t>분비 자극</a:t>
                      </a:r>
                    </a:p>
                  </a:txBody>
                  <a:tcPr marL="73152" marR="73152">
                    <a:solidFill>
                      <a:srgbClr val="003C71"/>
                    </a:solidFill>
                  </a:tcPr>
                </a:tc>
                <a:tc>
                  <a:txBody>
                    <a:bodyPr/>
                    <a:lstStyle/>
                    <a:p>
                      <a:r>
                        <a:rPr sz="1300" b="1" i="0">
                          <a:solidFill>
                            <a:srgbClr val="FFFFFF"/>
                          </a:solidFill>
                          <a:latin typeface="Malgun Gothic"/>
                          <a:ea typeface="Malgun Gothic"/>
                          <a:cs typeface="Malgun Gothic"/>
                        </a:rPr>
                        <a:t>뼈</a:t>
                      </a:r>
                    </a:p>
                  </a:txBody>
                  <a:tcPr marL="73152" marR="73152">
                    <a:solidFill>
                      <a:srgbClr val="003C71"/>
                    </a:solidFill>
                  </a:tcPr>
                </a:tc>
                <a:tc>
                  <a:txBody>
                    <a:bodyPr/>
                    <a:lstStyle/>
                    <a:p>
                      <a:r>
                        <a:rPr sz="1300" b="1" i="0">
                          <a:solidFill>
                            <a:srgbClr val="FFFFFF"/>
                          </a:solidFill>
                          <a:latin typeface="Malgun Gothic"/>
                          <a:ea typeface="Malgun Gothic"/>
                          <a:cs typeface="Malgun Gothic"/>
                        </a:rPr>
                        <a:t>신장</a:t>
                      </a:r>
                    </a:p>
                  </a:txBody>
                  <a:tcPr marL="73152" marR="73152">
                    <a:solidFill>
                      <a:srgbClr val="003C71"/>
                    </a:solidFill>
                  </a:tcPr>
                </a:tc>
                <a:tc>
                  <a:txBody>
                    <a:bodyPr/>
                    <a:lstStyle/>
                    <a:p>
                      <a:r>
                        <a:rPr sz="1300" b="1" i="0">
                          <a:solidFill>
                            <a:srgbClr val="FFFFFF"/>
                          </a:solidFill>
                          <a:latin typeface="Malgun Gothic"/>
                          <a:ea typeface="Malgun Gothic"/>
                          <a:cs typeface="Malgun Gothic"/>
                        </a:rPr>
                        <a:t>장</a:t>
                      </a:r>
                    </a:p>
                  </a:txBody>
                  <a:tcPr marL="73152" marR="73152">
                    <a:solidFill>
                      <a:srgbClr val="003C71"/>
                    </a:solidFill>
                  </a:tcPr>
                </a:tc>
                <a:tc>
                  <a:txBody>
                    <a:bodyPr/>
                    <a:lstStyle/>
                    <a:p>
                      <a:r>
                        <a:rPr sz="1300" b="1" i="0">
                          <a:solidFill>
                            <a:srgbClr val="FFFFFF"/>
                          </a:solidFill>
                          <a:latin typeface="Malgun Gothic"/>
                          <a:ea typeface="Malgun Gothic"/>
                          <a:cs typeface="Malgun Gothic"/>
                        </a:rPr>
                        <a:t>혈청 효과</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PTH</a:t>
                      </a:r>
                    </a:p>
                  </a:txBody>
                  <a:tcPr marL="73152" marR="73152">
                    <a:solidFill>
                      <a:srgbClr val="FFFFFF"/>
                    </a:solidFill>
                  </a:tcPr>
                </a:tc>
                <a:tc>
                  <a:txBody>
                    <a:bodyPr/>
                    <a:lstStyle/>
                    <a:p>
                      <a:r>
                        <a:rPr sz="1300" b="0" i="0">
                          <a:solidFill>
                            <a:srgbClr val="11202B"/>
                          </a:solidFill>
                          <a:latin typeface="Malgun Gothic"/>
                          <a:ea typeface="Malgun Gothic"/>
                          <a:cs typeface="Malgun Gothic"/>
                        </a:rPr>
                        <a:t>저Ca(CaSR), 고인, 1,25-D↓</a:t>
                      </a:r>
                    </a:p>
                  </a:txBody>
                  <a:tcPr marL="73152" marR="73152">
                    <a:solidFill>
                      <a:srgbClr val="FFFFFF"/>
                    </a:solidFill>
                  </a:tcPr>
                </a:tc>
                <a:tc>
                  <a:txBody>
                    <a:bodyPr/>
                    <a:lstStyle/>
                    <a:p>
                      <a:r>
                        <a:rPr sz="1300" b="0" i="0">
                          <a:solidFill>
                            <a:srgbClr val="11202B"/>
                          </a:solidFill>
                          <a:latin typeface="Malgun Gothic"/>
                          <a:ea typeface="Malgun Gothic"/>
                          <a:cs typeface="Malgun Gothic"/>
                        </a:rPr>
                        <a:t>지속: 흡수↑(조골세포 RANKL↑) / 간헐: 형성↑</a:t>
                      </a:r>
                    </a:p>
                  </a:txBody>
                  <a:tcPr marL="73152" marR="73152">
                    <a:solidFill>
                      <a:srgbClr val="FFFFFF"/>
                    </a:solidFill>
                  </a:tcPr>
                </a:tc>
                <a:tc>
                  <a:txBody>
                    <a:bodyPr/>
                    <a:lstStyle/>
                    <a:p>
                      <a:r>
                        <a:rPr sz="1300" b="0" i="0">
                          <a:solidFill>
                            <a:srgbClr val="11202B"/>
                          </a:solidFill>
                          <a:latin typeface="Malgun Gothic"/>
                          <a:ea typeface="Malgun Gothic"/>
                          <a:cs typeface="Malgun Gothic"/>
                        </a:rPr>
                        <a:t>Ca 재흡수↑(원위), </a:t>
                      </a:r>
                      <a:r>
                        <a:rPr sz="1300" b="1" i="0">
                          <a:solidFill>
                            <a:srgbClr val="11202B"/>
                          </a:solidFill>
                          <a:latin typeface="Malgun Gothic"/>
                          <a:ea typeface="Malgun Gothic"/>
                          <a:cs typeface="Malgun Gothic"/>
                        </a:rPr>
                        <a:t>인 배설↑</a:t>
                      </a:r>
                      <a:r>
                        <a:rPr sz="1300" b="0" i="0">
                          <a:solidFill>
                            <a:srgbClr val="11202B"/>
                          </a:solidFill>
                          <a:latin typeface="Malgun Gothic"/>
                          <a:ea typeface="Malgun Gothic"/>
                          <a:cs typeface="Malgun Gothic"/>
                        </a:rPr>
                        <a:t>(NaPi-IIa 내재화), </a:t>
                      </a:r>
                      <a:r>
                        <a:rPr sz="1300" b="1" i="0">
                          <a:solidFill>
                            <a:srgbClr val="11202B"/>
                          </a:solidFill>
                          <a:latin typeface="Malgun Gothic"/>
                          <a:ea typeface="Malgun Gothic"/>
                          <a:cs typeface="Malgun Gothic"/>
                        </a:rPr>
                        <a:t>CYP27B1↑</a:t>
                      </a:r>
                      <a:r>
                        <a:rPr sz="1300" b="0" i="0">
                          <a:solidFill>
                            <a:srgbClr val="11202B"/>
                          </a:solidFill>
                          <a:latin typeface="Malgun Gothic"/>
                          <a:ea typeface="Malgun Gothic"/>
                          <a:cs typeface="Malgun Gothic"/>
                        </a:rPr>
                        <a:t>(1,25-D 생성)</a:t>
                      </a:r>
                    </a:p>
                  </a:txBody>
                  <a:tcPr marL="73152" marR="73152">
                    <a:solidFill>
                      <a:srgbClr val="FFFFFF"/>
                    </a:solidFill>
                  </a:tcPr>
                </a:tc>
                <a:tc>
                  <a:txBody>
                    <a:bodyPr/>
                    <a:lstStyle/>
                    <a:p>
                      <a:r>
                        <a:rPr sz="1300" b="0" i="0">
                          <a:solidFill>
                            <a:srgbClr val="11202B"/>
                          </a:solidFill>
                          <a:latin typeface="Malgun Gothic"/>
                          <a:ea typeface="Malgun Gothic"/>
                          <a:cs typeface="Malgun Gothic"/>
                        </a:rPr>
                        <a:t>간접(1,25-D)</a:t>
                      </a:r>
                    </a:p>
                  </a:txBody>
                  <a:tcPr marL="73152" marR="73152">
                    <a:solidFill>
                      <a:srgbClr val="FFFFFF"/>
                    </a:solidFill>
                  </a:tcPr>
                </a:tc>
                <a:tc>
                  <a:txBody>
                    <a:bodyPr/>
                    <a:lstStyle/>
                    <a:p>
                      <a:r>
                        <a:rPr sz="1300" b="0" i="0">
                          <a:solidFill>
                            <a:srgbClr val="11202B"/>
                          </a:solidFill>
                          <a:latin typeface="Malgun Gothic"/>
                          <a:ea typeface="Malgun Gothic"/>
                          <a:cs typeface="Malgun Gothic"/>
                        </a:rPr>
                        <a:t>Ca↑, 인↓</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1,25(OH)₂D (칼시트리올)</a:t>
                      </a:r>
                    </a:p>
                  </a:txBody>
                  <a:tcPr marL="73152" marR="73152">
                    <a:solidFill>
                      <a:srgbClr val="ECF1F5"/>
                    </a:solidFill>
                  </a:tcPr>
                </a:tc>
                <a:tc>
                  <a:txBody>
                    <a:bodyPr/>
                    <a:lstStyle/>
                    <a:p>
                      <a:r>
                        <a:rPr sz="1300" b="0" i="0">
                          <a:solidFill>
                            <a:srgbClr val="11202B"/>
                          </a:solidFill>
                          <a:latin typeface="Malgun Gothic"/>
                          <a:ea typeface="Malgun Gothic"/>
                          <a:cs typeface="Malgun Gothic"/>
                        </a:rPr>
                        <a:t>PTH, 저인; FGF23·고Ca가 억제</a:t>
                      </a:r>
                    </a:p>
                  </a:txBody>
                  <a:tcPr marL="73152" marR="73152">
                    <a:solidFill>
                      <a:srgbClr val="ECF1F5"/>
                    </a:solidFill>
                  </a:tcPr>
                </a:tc>
                <a:tc>
                  <a:txBody>
                    <a:bodyPr/>
                    <a:lstStyle/>
                    <a:p>
                      <a:r>
                        <a:rPr sz="1300" b="0" i="0">
                          <a:solidFill>
                            <a:srgbClr val="11202B"/>
                          </a:solidFill>
                          <a:latin typeface="Malgun Gothic"/>
                          <a:ea typeface="Malgun Gothic"/>
                          <a:cs typeface="Malgun Gothic"/>
                        </a:rPr>
                        <a:t>광물화 지원, RANKL↑</a:t>
                      </a:r>
                    </a:p>
                  </a:txBody>
                  <a:tcPr marL="73152" marR="73152">
                    <a:solidFill>
                      <a:srgbClr val="ECF1F5"/>
                    </a:solidFill>
                  </a:tcPr>
                </a:tc>
                <a:tc>
                  <a:txBody>
                    <a:bodyPr/>
                    <a:lstStyle/>
                    <a:p>
                      <a:r>
                        <a:rPr sz="1300" b="0" i="0">
                          <a:solidFill>
                            <a:srgbClr val="11202B"/>
                          </a:solidFill>
                          <a:latin typeface="Malgun Gothic"/>
                          <a:ea typeface="Malgun Gothic"/>
                          <a:cs typeface="Malgun Gothic"/>
                        </a:rPr>
                        <a:t>Ca·인 재흡수↑, CYP24A1(불활성화) 유도</a:t>
                      </a:r>
                    </a:p>
                  </a:txBody>
                  <a:tcPr marL="73152" marR="73152">
                    <a:solidFill>
                      <a:srgbClr val="ECF1F5"/>
                    </a:solidFill>
                  </a:tcPr>
                </a:tc>
                <a:tc>
                  <a:txBody>
                    <a:bodyPr/>
                    <a:lstStyle/>
                    <a:p>
                      <a:r>
                        <a:rPr sz="1300" b="1" i="0">
                          <a:solidFill>
                            <a:srgbClr val="11202B"/>
                          </a:solidFill>
                          <a:latin typeface="Malgun Gothic"/>
                          <a:ea typeface="Malgun Gothic"/>
                          <a:cs typeface="Malgun Gothic"/>
                        </a:rPr>
                        <a:t>Ca·인 흡수↑</a:t>
                      </a:r>
                    </a:p>
                  </a:txBody>
                  <a:tcPr marL="73152" marR="73152">
                    <a:solidFill>
                      <a:srgbClr val="ECF1F5"/>
                    </a:solidFill>
                  </a:tcPr>
                </a:tc>
                <a:tc>
                  <a:txBody>
                    <a:bodyPr/>
                    <a:lstStyle/>
                    <a:p>
                      <a:r>
                        <a:rPr sz="1300" b="0" i="0">
                          <a:solidFill>
                            <a:srgbClr val="11202B"/>
                          </a:solidFill>
                          <a:latin typeface="Malgun Gothic"/>
                          <a:ea typeface="Malgun Gothic"/>
                          <a:cs typeface="Malgun Gothic"/>
                        </a:rPr>
                        <a:t>Ca↑, 인↑</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FGF23</a:t>
                      </a:r>
                      <a:r>
                        <a:rPr sz="1300" b="0" i="0">
                          <a:solidFill>
                            <a:srgbClr val="11202B"/>
                          </a:solidFill>
                          <a:latin typeface="Malgun Gothic"/>
                          <a:ea typeface="Malgun Gothic"/>
                          <a:cs typeface="Malgun Gothic"/>
                        </a:rPr>
                        <a:t>(골세포)</a:t>
                      </a:r>
                    </a:p>
                  </a:txBody>
                  <a:tcPr marL="73152" marR="73152">
                    <a:solidFill>
                      <a:srgbClr val="FFFFFF"/>
                    </a:solidFill>
                  </a:tcPr>
                </a:tc>
                <a:tc>
                  <a:txBody>
                    <a:bodyPr/>
                    <a:lstStyle/>
                    <a:p>
                      <a:r>
                        <a:rPr sz="1300" b="0" i="0">
                          <a:solidFill>
                            <a:srgbClr val="11202B"/>
                          </a:solidFill>
                          <a:latin typeface="Malgun Gothic"/>
                          <a:ea typeface="Malgun Gothic"/>
                          <a:cs typeface="Malgun Gothic"/>
                        </a:rPr>
                        <a:t>고인, 1,25-D, PTH</a:t>
                      </a:r>
                    </a:p>
                  </a:txBody>
                  <a:tcPr marL="73152" marR="73152">
                    <a:solidFill>
                      <a:srgbClr val="FFFFFF"/>
                    </a:solidFill>
                  </a:tcPr>
                </a:tc>
                <a:tc>
                  <a:txBody>
                    <a:bodyPr/>
                    <a:lstStyle/>
                    <a:p>
                      <a:r>
                        <a:rPr sz="1300" b="0" i="0">
                          <a:solidFill>
                            <a:srgbClr val="11202B"/>
                          </a:solidFill>
                          <a:latin typeface="Malgun Gothic"/>
                          <a:ea typeface="Malgun Gothic"/>
                          <a:cs typeface="Malgun Gothic"/>
                        </a:rPr>
                        <a:t>—</a:t>
                      </a:r>
                    </a:p>
                  </a:txBody>
                  <a:tcPr marL="73152" marR="73152">
                    <a:solidFill>
                      <a:srgbClr val="FFFFFF"/>
                    </a:solidFill>
                  </a:tcPr>
                </a:tc>
                <a:tc>
                  <a:txBody>
                    <a:bodyPr/>
                    <a:lstStyle/>
                    <a:p>
                      <a:r>
                        <a:rPr sz="1300" b="1" i="0">
                          <a:solidFill>
                            <a:srgbClr val="11202B"/>
                          </a:solidFill>
                          <a:latin typeface="Malgun Gothic"/>
                          <a:ea typeface="Malgun Gothic"/>
                          <a:cs typeface="Malgun Gothic"/>
                        </a:rPr>
                        <a:t>인 배설↑</a:t>
                      </a:r>
                      <a:r>
                        <a:rPr sz="1300" b="0" i="0">
                          <a:solidFill>
                            <a:srgbClr val="11202B"/>
                          </a:solidFill>
                          <a:latin typeface="Malgun Gothic"/>
                          <a:ea typeface="Malgun Gothic"/>
                          <a:cs typeface="Malgun Gothic"/>
                        </a:rPr>
                        <a:t>(NaPi 하향), </a:t>
                      </a:r>
                      <a:r>
                        <a:rPr sz="1300" b="1" i="0">
                          <a:solidFill>
                            <a:srgbClr val="11202B"/>
                          </a:solidFill>
                          <a:latin typeface="Malgun Gothic"/>
                          <a:ea typeface="Malgun Gothic"/>
                          <a:cs typeface="Malgun Gothic"/>
                        </a:rPr>
                        <a:t>CYP27B1↓ CYP24A1↑</a:t>
                      </a:r>
                      <a:r>
                        <a:rPr sz="1300" b="0" i="0">
                          <a:solidFill>
                            <a:srgbClr val="11202B"/>
                          </a:solidFill>
                          <a:latin typeface="Malgun Gothic"/>
                          <a:ea typeface="Malgun Gothic"/>
                          <a:cs typeface="Malgun Gothic"/>
                        </a:rPr>
                        <a:t>(1,25-D↓); 공동수용체 </a:t>
                      </a:r>
                      <a:r>
                        <a:rPr sz="1300" b="1" i="0">
                          <a:solidFill>
                            <a:srgbClr val="11202B"/>
                          </a:solidFill>
                          <a:latin typeface="Malgun Gothic"/>
                          <a:ea typeface="Malgun Gothic"/>
                          <a:cs typeface="Malgun Gothic"/>
                        </a:rPr>
                        <a:t>α-Klotho</a:t>
                      </a:r>
                      <a:r>
                        <a:rPr sz="1300" b="0" i="0">
                          <a:solidFill>
                            <a:srgbClr val="11202B"/>
                          </a:solidFill>
                          <a:latin typeface="Malgun Gothic"/>
                          <a:ea typeface="Malgun Gothic"/>
                          <a:cs typeface="Malgun Gothic"/>
                        </a:rPr>
                        <a:t> 필요</a:t>
                      </a:r>
                    </a:p>
                  </a:txBody>
                  <a:tcPr marL="73152" marR="73152">
                    <a:solidFill>
                      <a:srgbClr val="FFFFFF"/>
                    </a:solidFill>
                  </a:tcPr>
                </a:tc>
                <a:tc>
                  <a:txBody>
                    <a:bodyPr/>
                    <a:lstStyle/>
                    <a:p>
                      <a:r>
                        <a:rPr sz="1300" b="0" i="0">
                          <a:solidFill>
                            <a:srgbClr val="11202B"/>
                          </a:solidFill>
                          <a:latin typeface="Malgun Gothic"/>
                          <a:ea typeface="Malgun Gothic"/>
                          <a:cs typeface="Malgun Gothic"/>
                        </a:rPr>
                        <a:t>(1,25-D↓ 경유) 흡수↓</a:t>
                      </a:r>
                    </a:p>
                  </a:txBody>
                  <a:tcPr marL="73152" marR="73152">
                    <a:solidFill>
                      <a:srgbClr val="FFFFFF"/>
                    </a:solidFill>
                  </a:tcPr>
                </a:tc>
                <a:tc>
                  <a:txBody>
                    <a:bodyPr/>
                    <a:lstStyle/>
                    <a:p>
                      <a:r>
                        <a:rPr sz="1300" b="0" i="0">
                          <a:solidFill>
                            <a:srgbClr val="11202B"/>
                          </a:solidFill>
                          <a:latin typeface="Malgun Gothic"/>
                          <a:ea typeface="Malgun Gothic"/>
                          <a:cs typeface="Malgun Gothic"/>
                        </a:rPr>
                        <a:t>인↓, 1,25-D↓</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칼시토닌(C세포)</a:t>
                      </a:r>
                    </a:p>
                  </a:txBody>
                  <a:tcPr marL="73152" marR="73152">
                    <a:solidFill>
                      <a:srgbClr val="ECF1F5"/>
                    </a:solidFill>
                  </a:tcPr>
                </a:tc>
                <a:tc>
                  <a:txBody>
                    <a:bodyPr/>
                    <a:lstStyle/>
                    <a:p>
                      <a:r>
                        <a:rPr sz="1300" b="0" i="0">
                          <a:solidFill>
                            <a:srgbClr val="11202B"/>
                          </a:solidFill>
                          <a:latin typeface="Malgun Gothic"/>
                          <a:ea typeface="Malgun Gothic"/>
                          <a:cs typeface="Malgun Gothic"/>
                        </a:rPr>
                        <a:t>고Ca</a:t>
                      </a:r>
                    </a:p>
                  </a:txBody>
                  <a:tcPr marL="73152" marR="73152">
                    <a:solidFill>
                      <a:srgbClr val="ECF1F5"/>
                    </a:solidFill>
                  </a:tcPr>
                </a:tc>
                <a:tc>
                  <a:txBody>
                    <a:bodyPr/>
                    <a:lstStyle/>
                    <a:p>
                      <a:r>
                        <a:rPr sz="1300" b="0" i="0">
                          <a:solidFill>
                            <a:srgbClr val="11202B"/>
                          </a:solidFill>
                          <a:latin typeface="Malgun Gothic"/>
                          <a:ea typeface="Malgun Gothic"/>
                          <a:cs typeface="Malgun Gothic"/>
                        </a:rPr>
                        <a:t>파골세포 억제</a:t>
                      </a:r>
                    </a:p>
                  </a:txBody>
                  <a:tcPr marL="73152" marR="73152">
                    <a:solidFill>
                      <a:srgbClr val="ECF1F5"/>
                    </a:solidFill>
                  </a:tcPr>
                </a:tc>
                <a:tc>
                  <a:txBody>
                    <a:bodyPr/>
                    <a:lstStyle/>
                    <a:p>
                      <a:r>
                        <a:rPr sz="1300" b="0" i="0">
                          <a:solidFill>
                            <a:srgbClr val="11202B"/>
                          </a:solidFill>
                          <a:latin typeface="Malgun Gothic"/>
                          <a:ea typeface="Malgun Gothic"/>
                          <a:cs typeface="Malgun Gothic"/>
                        </a:rPr>
                        <a:t>약한 배설</a:t>
                      </a:r>
                    </a:p>
                  </a:txBody>
                  <a:tcPr marL="73152" marR="73152">
                    <a:solidFill>
                      <a:srgbClr val="ECF1F5"/>
                    </a:solidFill>
                  </a:tcPr>
                </a:tc>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Ca↓ (인간에서 생리적 역할 미미; 수질암 종양표지)</a:t>
                      </a:r>
                    </a:p>
                  </a:txBody>
                  <a:tcPr marL="73152" marR="73152">
                    <a:solidFill>
                      <a:srgbClr val="ECF1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뼈의 재형성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세포: </a:t>
            </a:r>
            <a:r>
              <a:rPr sz="1800" b="1" i="0">
                <a:solidFill>
                  <a:srgbClr val="11202B"/>
                </a:solidFill>
                <a:latin typeface="Malgun Gothic"/>
                <a:ea typeface="Malgun Gothic"/>
                <a:cs typeface="Malgun Gothic"/>
              </a:rPr>
              <a:t>조골세포</a:t>
            </a:r>
            <a:r>
              <a:rPr sz="1800" b="0" i="0">
                <a:solidFill>
                  <a:srgbClr val="11202B"/>
                </a:solidFill>
                <a:latin typeface="Malgun Gothic"/>
                <a:ea typeface="Malgun Gothic"/>
                <a:cs typeface="Malgun Gothic"/>
              </a:rPr>
              <a:t>(중간엽 기원; RUNX2·Osterix; 1형 콜라겐·오스테오칼신·ALP 분비), </a:t>
            </a:r>
            <a:r>
              <a:rPr sz="1800" b="1" i="0">
                <a:solidFill>
                  <a:srgbClr val="11202B"/>
                </a:solidFill>
                <a:latin typeface="Malgun Gothic"/>
                <a:ea typeface="Malgun Gothic"/>
                <a:cs typeface="Malgun Gothic"/>
              </a:rPr>
              <a:t>파골세포</a:t>
            </a:r>
            <a:r>
              <a:rPr sz="1800" b="0" i="0">
                <a:solidFill>
                  <a:srgbClr val="11202B"/>
                </a:solidFill>
                <a:latin typeface="Malgun Gothic"/>
                <a:ea typeface="Malgun Gothic"/>
                <a:cs typeface="Malgun Gothic"/>
              </a:rPr>
              <a:t>(조혈 단핵구-대식세포 기원; 다핵; RANK 신호; 산성화 v-ATPase·Cl⁻ 통로(CLCN7)·카텝신 K로 기질 흡수), </a:t>
            </a:r>
            <a:r>
              <a:rPr sz="1800" b="1" i="0">
                <a:solidFill>
                  <a:srgbClr val="11202B"/>
                </a:solidFill>
                <a:latin typeface="Malgun Gothic"/>
                <a:ea typeface="Malgun Gothic"/>
                <a:cs typeface="Malgun Gothic"/>
              </a:rPr>
              <a:t>골세포</a:t>
            </a:r>
            <a:r>
              <a:rPr sz="1800" b="0" i="0">
                <a:solidFill>
                  <a:srgbClr val="11202B"/>
                </a:solidFill>
                <a:latin typeface="Malgun Gothic"/>
                <a:ea typeface="Malgun Gothic"/>
                <a:cs typeface="Malgun Gothic"/>
              </a:rPr>
              <a:t>(조골세포가 묻힘; 뼈 세포의 90%, 기계 감지 → </a:t>
            </a:r>
            <a:r>
              <a:rPr sz="1800" b="1" i="0">
                <a:solidFill>
                  <a:srgbClr val="11202B"/>
                </a:solidFill>
                <a:latin typeface="Malgun Gothic"/>
                <a:ea typeface="Malgun Gothic"/>
                <a:cs typeface="Malgun Gothic"/>
              </a:rPr>
              <a:t>스클레로스틴</a:t>
            </a:r>
            <a:r>
              <a:rPr sz="1800" b="0" i="0">
                <a:solidFill>
                  <a:srgbClr val="11202B"/>
                </a:solidFill>
                <a:latin typeface="Malgun Gothic"/>
                <a:ea typeface="Malgun Gothic"/>
                <a:cs typeface="Malgun Gothic"/>
              </a:rPr>
              <a:t>·FGF23·RANKL 분비).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RANKL–RANK–OPG</a:t>
            </a:r>
            <a:r>
              <a:rPr sz="1800" b="0" i="0">
                <a:solidFill>
                  <a:srgbClr val="11202B"/>
                </a:solidFill>
                <a:latin typeface="Malgun Gothic"/>
                <a:ea typeface="Malgun Gothic"/>
                <a:cs typeface="Malgun Gothic"/>
              </a:rPr>
              <a:t>: 조골세포·골세포의 RANKL이 파골전구세포 RANK에 결합 → NF-κB·NFATc1 → 파골세포 분화·활성. OPG(유인 수용체)가 RANKL을 차단. 에스트로겐·PTH(간헐)·기계 부하가 균형 조절.</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Wnt–LRP5/6–β-카테닌</a:t>
            </a:r>
            <a:r>
              <a:rPr sz="1800" b="0" i="0">
                <a:solidFill>
                  <a:srgbClr val="11202B"/>
                </a:solidFill>
                <a:latin typeface="Malgun Gothic"/>
                <a:ea typeface="Malgun Gothic"/>
                <a:cs typeface="Malgun Gothic"/>
              </a:rPr>
              <a:t>: 조골세포 형성 촉진; 골세포 </a:t>
            </a:r>
            <a:r>
              <a:rPr sz="1800" b="1" i="0">
                <a:solidFill>
                  <a:srgbClr val="11202B"/>
                </a:solidFill>
                <a:latin typeface="Malgun Gothic"/>
                <a:ea typeface="Malgun Gothic"/>
                <a:cs typeface="Malgun Gothic"/>
              </a:rPr>
              <a:t>스클레로스틴</a:t>
            </a:r>
            <a:r>
              <a:rPr sz="1800" b="0" i="0">
                <a:solidFill>
                  <a:srgbClr val="11202B"/>
                </a:solidFill>
                <a:latin typeface="Malgun Gothic"/>
                <a:ea typeface="Malgun Gothic"/>
                <a:cs typeface="Malgun Gothic"/>
              </a:rPr>
              <a:t>(SOST)과 DKK1이 억제. 기계 부하는 스클레로스틴↓ → 골형성↑; 부동(우주비행·와병)은 반대.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뼈의 재형성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재형성 주기: 활성화 → 흡수(~3주) → 역전 → 형성(~3개월) → 광물화. 성인 골격 연 약 10% 교체.</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표지자: 형성 — P1NP, 골 특이 ALP, 오스테오칼신; 흡수 — </a:t>
            </a:r>
            <a:r>
              <a:rPr sz="2200" b="1" i="0">
                <a:solidFill>
                  <a:srgbClr val="11202B"/>
                </a:solidFill>
                <a:latin typeface="Malgun Gothic"/>
                <a:ea typeface="Malgun Gothic"/>
                <a:cs typeface="Malgun Gothic"/>
              </a:rPr>
              <a:t>CTX</a:t>
            </a:r>
            <a:r>
              <a:rPr sz="2200" b="0" i="0">
                <a:solidFill>
                  <a:srgbClr val="11202B"/>
                </a:solidFill>
                <a:latin typeface="Malgun Gothic"/>
                <a:ea typeface="Malgun Gothic"/>
                <a:cs typeface="Malgun Gothic"/>
              </a:rPr>
              <a:t>(공복 아침), NTX. 치료 반응 모니터링(골흡수 억제제 3–6개월 후 CTX 감소).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뼈의 재형성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유전 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골화석증(CLCN7, TCIRG1, CA2)</a:t>
                      </a:r>
                    </a:p>
                  </a:txBody>
                  <a:tcPr marL="73152" marR="73152">
                    <a:solidFill>
                      <a:srgbClr val="FFFFFF"/>
                    </a:solidFill>
                  </a:tcPr>
                </a:tc>
                <a:tc>
                  <a:txBody>
                    <a:bodyPr/>
                    <a:lstStyle/>
                    <a:p>
                      <a:r>
                        <a:rPr sz="1500" b="0" i="0">
                          <a:solidFill>
                            <a:srgbClr val="11202B"/>
                          </a:solidFill>
                          <a:latin typeface="Malgun Gothic"/>
                          <a:ea typeface="Malgun Gothic"/>
                          <a:cs typeface="Malgun Gothic"/>
                        </a:rPr>
                        <a:t>파골세포 산성화 실패 → 뼈 과밀·취약, 골수 공간 소실(범혈구감소), 뇌신경 압박</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경화골증·반부허르병(SOST)</a:t>
                      </a:r>
                    </a:p>
                  </a:txBody>
                  <a:tcPr marL="73152" marR="73152">
                    <a:solidFill>
                      <a:srgbClr val="ECF1F5"/>
                    </a:solidFill>
                  </a:tcPr>
                </a:tc>
                <a:tc>
                  <a:txBody>
                    <a:bodyPr/>
                    <a:lstStyle/>
                    <a:p>
                      <a:r>
                        <a:rPr sz="1500" b="0" i="0">
                          <a:solidFill>
                            <a:srgbClr val="11202B"/>
                          </a:solidFill>
                          <a:latin typeface="Malgun Gothic"/>
                          <a:ea typeface="Malgun Gothic"/>
                          <a:cs typeface="Malgun Gothic"/>
                        </a:rPr>
                        <a:t>스클레로스틴 결손 → 고골량 (로모소주맙의 근거)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골다공증-가성신경교종(LRP5 LoF) / 고골량(LRP5 GoF)</a:t>
                      </a:r>
                    </a:p>
                  </a:txBody>
                  <a:tcPr marL="73152" marR="73152">
                    <a:solidFill>
                      <a:srgbClr val="FFFFFF"/>
                    </a:solidFill>
                  </a:tcPr>
                </a:tc>
                <a:tc>
                  <a:txBody>
                    <a:bodyPr/>
                    <a:lstStyle/>
                    <a:p>
                      <a:r>
                        <a:rPr sz="1500" b="0" i="0">
                          <a:solidFill>
                            <a:srgbClr val="11202B"/>
                          </a:solidFill>
                          <a:latin typeface="Malgun Gothic"/>
                          <a:ea typeface="Malgun Gothic"/>
                          <a:cs typeface="Malgun Gothic"/>
                        </a:rPr>
                        <a:t>Wnt 신호</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농축이골증(CTSK)</a:t>
                      </a:r>
                    </a:p>
                  </a:txBody>
                  <a:tcPr marL="73152" marR="73152">
                    <a:solidFill>
                      <a:srgbClr val="ECF1F5"/>
                    </a:solidFill>
                  </a:tcPr>
                </a:tc>
                <a:tc>
                  <a:txBody>
                    <a:bodyPr/>
                    <a:lstStyle/>
                    <a:p>
                      <a:r>
                        <a:rPr sz="1500" b="0" i="0">
                          <a:solidFill>
                            <a:srgbClr val="11202B"/>
                          </a:solidFill>
                          <a:latin typeface="Malgun Gothic"/>
                          <a:ea typeface="Malgun Gothic"/>
                          <a:cs typeface="Malgun Gothic"/>
                        </a:rPr>
                        <a:t>카텝신 K 결손</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저포스파타아제증(ALPL)</a:t>
                      </a:r>
                    </a:p>
                  </a:txBody>
                  <a:tcPr marL="73152" marR="73152">
                    <a:solidFill>
                      <a:srgbClr val="FFFFFF"/>
                    </a:solidFill>
                  </a:tcPr>
                </a:tc>
                <a:tc>
                  <a:txBody>
                    <a:bodyPr/>
                    <a:lstStyle/>
                    <a:p>
                      <a:r>
                        <a:rPr sz="1500" b="0" i="0">
                          <a:solidFill>
                            <a:srgbClr val="11202B"/>
                          </a:solidFill>
                          <a:latin typeface="Malgun Gothic"/>
                          <a:ea typeface="Malgun Gothic"/>
                          <a:cs typeface="Malgun Gothic"/>
                        </a:rPr>
                        <a:t>TNSALP 결손 → 피로인산 축적·광물화 실패, PLP↑ → </a:t>
                      </a:r>
                      <a:r>
                        <a:rPr sz="1500" b="1" i="0">
                          <a:solidFill>
                            <a:srgbClr val="11202B"/>
                          </a:solidFill>
                          <a:latin typeface="Malgun Gothic"/>
                          <a:ea typeface="Malgun Gothic"/>
                          <a:cs typeface="Malgun Gothic"/>
                        </a:rPr>
                        <a:t>아스포타제 알파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골형성부전증(COL1A1/2)</a:t>
                      </a:r>
                    </a:p>
                  </a:txBody>
                  <a:tcPr marL="73152" marR="73152">
                    <a:solidFill>
                      <a:srgbClr val="ECF1F5"/>
                    </a:solidFill>
                  </a:tcPr>
                </a:tc>
                <a:tc>
                  <a:txBody>
                    <a:bodyPr/>
                    <a:lstStyle/>
                    <a:p>
                      <a:r>
                        <a:rPr sz="1500" b="0" i="0">
                          <a:solidFill>
                            <a:srgbClr val="11202B"/>
                          </a:solidFill>
                          <a:latin typeface="Malgun Gothic"/>
                          <a:ea typeface="Malgun Gothic"/>
                          <a:cs typeface="Malgun Gothic"/>
                        </a:rPr>
                        <a:t>B02 L09</a:t>
                      </a:r>
                    </a:p>
                  </a:txBody>
                  <a:tcPr marL="73152" marR="73152">
                    <a:solidFill>
                      <a:srgbClr val="ECF1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구루병·골연화증과 인산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구루병</a:t>
            </a:r>
            <a:r>
              <a:rPr sz="2000" b="0" i="0">
                <a:solidFill>
                  <a:srgbClr val="11202B"/>
                </a:solidFill>
                <a:latin typeface="Malgun Gothic"/>
                <a:ea typeface="Malgun Gothic"/>
                <a:cs typeface="Malgun Gothic"/>
              </a:rPr>
              <a:t>(성장판 광물화 실패; 소아) / </a:t>
            </a:r>
            <a:r>
              <a:rPr sz="2000" b="1" i="0">
                <a:solidFill>
                  <a:srgbClr val="11202B"/>
                </a:solidFill>
                <a:latin typeface="Malgun Gothic"/>
                <a:ea typeface="Malgun Gothic"/>
                <a:cs typeface="Malgun Gothic"/>
              </a:rPr>
              <a:t>골연화증</a:t>
            </a:r>
            <a:r>
              <a:rPr sz="2000" b="0" i="0">
                <a:solidFill>
                  <a:srgbClr val="11202B"/>
                </a:solidFill>
                <a:latin typeface="Malgun Gothic"/>
                <a:ea typeface="Malgun Gothic"/>
                <a:cs typeface="Malgun Gothic"/>
              </a:rPr>
              <a:t>(유골 광물화 실패; 성인). 원인은 Ca 결핍형과 인 결핍형으로 나눈다.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XLH 치료: 과거 인산 + 칼시트리올(신석회증·부갑상선 항진 부작용) → </a:t>
            </a:r>
            <a:r>
              <a:rPr sz="2000" b="1" i="0">
                <a:solidFill>
                  <a:srgbClr val="11202B"/>
                </a:solidFill>
                <a:latin typeface="Malgun Gothic"/>
                <a:ea typeface="Malgun Gothic"/>
                <a:cs typeface="Malgun Gothic"/>
              </a:rPr>
              <a:t>부로수맙</a:t>
            </a:r>
            <a:r>
              <a:rPr sz="2000" b="0" i="0">
                <a:solidFill>
                  <a:srgbClr val="11202B"/>
                </a:solidFill>
                <a:latin typeface="Malgun Gothic"/>
                <a:ea typeface="Malgun Gothic"/>
                <a:cs typeface="Malgun Gothic"/>
              </a:rPr>
              <a:t>(항FGF23 항체; 인산 정상화, 구루병 치유 우월).</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세뇨관 인 재흡수율(TmP/GFR)</a:t>
            </a:r>
            <a:r>
              <a:rPr sz="2000" b="0" i="0">
                <a:solidFill>
                  <a:srgbClr val="11202B"/>
                </a:solidFill>
                <a:latin typeface="Malgun Gothic"/>
                <a:ea typeface="Malgun Gothic"/>
                <a:cs typeface="Malgun Gothic"/>
              </a:rPr>
              <a:t>로 신장 인 소실을 정량.</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영양성 구루병의 한국 등 고위도·실내 생활·모유 단독 수유 영아 위험 → 생후 400 IU/일 비타민 D 보충 권고.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구루병·골연화증과 인산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1383030"/>
                <a:gridCol w="1383030"/>
                <a:gridCol w="1383030"/>
                <a:gridCol w="1383030"/>
                <a:gridCol w="1383030"/>
                <a:gridCol w="1383030"/>
                <a:gridCol w="1383030"/>
                <a:gridCol w="1383030"/>
              </a:tblGrid>
              <a:tr h="365760">
                <a:tc>
                  <a:txBody>
                    <a:bodyPr/>
                    <a:lstStyle/>
                    <a:p>
                      <a:r>
                        <a:rPr sz="1500" b="1" i="0">
                          <a:solidFill>
                            <a:srgbClr val="FFFFFF"/>
                          </a:solidFill>
                          <a:latin typeface="Malgun Gothic"/>
                          <a:ea typeface="Malgun Gothic"/>
                          <a:cs typeface="Malgun Gothic"/>
                        </a:rPr>
                        <a:t>유형</a:t>
                      </a:r>
                    </a:p>
                  </a:txBody>
                  <a:tcPr marL="73152" marR="73152">
                    <a:solidFill>
                      <a:srgbClr val="003C71"/>
                    </a:solidFill>
                  </a:tcPr>
                </a:tc>
                <a:tc>
                  <a:txBody>
                    <a:bodyPr/>
                    <a:lstStyle/>
                    <a:p>
                      <a:r>
                        <a:rPr sz="1500" b="1" i="0">
                          <a:solidFill>
                            <a:srgbClr val="FFFFFF"/>
                          </a:solidFill>
                          <a:latin typeface="Malgun Gothic"/>
                          <a:ea typeface="Malgun Gothic"/>
                          <a:cs typeface="Malgun Gothic"/>
                        </a:rPr>
                        <a:t>Ca</a:t>
                      </a:r>
                    </a:p>
                  </a:txBody>
                  <a:tcPr marL="73152" marR="73152">
                    <a:solidFill>
                      <a:srgbClr val="003C71"/>
                    </a:solidFill>
                  </a:tcPr>
                </a:tc>
                <a:tc>
                  <a:txBody>
                    <a:bodyPr/>
                    <a:lstStyle/>
                    <a:p>
                      <a:r>
                        <a:rPr sz="1500" b="1" i="0">
                          <a:solidFill>
                            <a:srgbClr val="FFFFFF"/>
                          </a:solidFill>
                          <a:latin typeface="Malgun Gothic"/>
                          <a:ea typeface="Malgun Gothic"/>
                          <a:cs typeface="Malgun Gothic"/>
                        </a:rPr>
                        <a:t>인</a:t>
                      </a:r>
                    </a:p>
                  </a:txBody>
                  <a:tcPr marL="73152" marR="73152">
                    <a:solidFill>
                      <a:srgbClr val="003C71"/>
                    </a:solidFill>
                  </a:tcPr>
                </a:tc>
                <a:tc>
                  <a:txBody>
                    <a:bodyPr/>
                    <a:lstStyle/>
                    <a:p>
                      <a:r>
                        <a:rPr sz="1500" b="1" i="0">
                          <a:solidFill>
                            <a:srgbClr val="FFFFFF"/>
                          </a:solidFill>
                          <a:latin typeface="Malgun Gothic"/>
                          <a:ea typeface="Malgun Gothic"/>
                          <a:cs typeface="Malgun Gothic"/>
                        </a:rPr>
                        <a:t>ALP</a:t>
                      </a:r>
                    </a:p>
                  </a:txBody>
                  <a:tcPr marL="73152" marR="73152">
                    <a:solidFill>
                      <a:srgbClr val="003C71"/>
                    </a:solidFill>
                  </a:tcPr>
                </a:tc>
                <a:tc>
                  <a:txBody>
                    <a:bodyPr/>
                    <a:lstStyle/>
                    <a:p>
                      <a:r>
                        <a:rPr sz="1500" b="1" i="0">
                          <a:solidFill>
                            <a:srgbClr val="FFFFFF"/>
                          </a:solidFill>
                          <a:latin typeface="Malgun Gothic"/>
                          <a:ea typeface="Malgun Gothic"/>
                          <a:cs typeface="Malgun Gothic"/>
                        </a:rPr>
                        <a:t>PTH</a:t>
                      </a:r>
                    </a:p>
                  </a:txBody>
                  <a:tcPr marL="73152" marR="73152">
                    <a:solidFill>
                      <a:srgbClr val="003C71"/>
                    </a:solidFill>
                  </a:tcPr>
                </a:tc>
                <a:tc>
                  <a:txBody>
                    <a:bodyPr/>
                    <a:lstStyle/>
                    <a:p>
                      <a:r>
                        <a:rPr sz="1500" b="1" i="0">
                          <a:solidFill>
                            <a:srgbClr val="FFFFFF"/>
                          </a:solidFill>
                          <a:latin typeface="Malgun Gothic"/>
                          <a:ea typeface="Malgun Gothic"/>
                          <a:cs typeface="Malgun Gothic"/>
                        </a:rPr>
                        <a:t>25-D</a:t>
                      </a:r>
                    </a:p>
                  </a:txBody>
                  <a:tcPr marL="73152" marR="73152">
                    <a:solidFill>
                      <a:srgbClr val="003C71"/>
                    </a:solidFill>
                  </a:tcPr>
                </a:tc>
                <a:tc>
                  <a:txBody>
                    <a:bodyPr/>
                    <a:lstStyle/>
                    <a:p>
                      <a:r>
                        <a:rPr sz="1500" b="1" i="0">
                          <a:solidFill>
                            <a:srgbClr val="FFFFFF"/>
                          </a:solidFill>
                          <a:latin typeface="Malgun Gothic"/>
                          <a:ea typeface="Malgun Gothic"/>
                          <a:cs typeface="Malgun Gothic"/>
                        </a:rPr>
                        <a:t>1,25-D</a:t>
                      </a:r>
                    </a:p>
                  </a:txBody>
                  <a:tcPr marL="73152" marR="73152">
                    <a:solidFill>
                      <a:srgbClr val="003C71"/>
                    </a:solidFill>
                  </a:tcPr>
                </a:tc>
                <a:tc>
                  <a:txBody>
                    <a:bodyPr/>
                    <a:lstStyle/>
                    <a:p>
                      <a:r>
                        <a:rPr sz="1500" b="1" i="0">
                          <a:solidFill>
                            <a:srgbClr val="FFFFFF"/>
                          </a:solidFill>
                          <a:latin typeface="Malgun Gothic"/>
                          <a:ea typeface="Malgun Gothic"/>
                          <a:cs typeface="Malgun Gothic"/>
                        </a:rPr>
                        <a:t>FGF23</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영양성 비타민 D 결핍</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↓/정상</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정상/↑/↓</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정상</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비타민 D 의존성 1A(CYP27B1)</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500" b="1" i="0">
                          <a:solidFill>
                            <a:srgbClr val="11202B"/>
                          </a:solidFill>
                          <a:latin typeface="Malgun Gothic"/>
                          <a:ea typeface="Malgun Gothic"/>
                          <a:cs typeface="Malgun Gothic"/>
                        </a:rPr>
                        <a:t>↓</a:t>
                      </a:r>
                    </a:p>
                  </a:txBody>
                  <a:tcPr marL="73152" marR="73152">
                    <a:solidFill>
                      <a:srgbClr val="ECF1F5"/>
                    </a:solidFill>
                  </a:tcPr>
                </a:tc>
                <a:tc>
                  <a:txBody>
                    <a:bodyPr/>
                    <a:lstStyle/>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비타민 D 의존성 2A(VDR; 저항성)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정상</a:t>
                      </a:r>
                    </a:p>
                  </a:txBody>
                  <a:tcPr marL="73152" marR="73152">
                    <a:solidFill>
                      <a:srgbClr val="FFFFFF"/>
                    </a:solidFill>
                  </a:tcPr>
                </a:tc>
                <a:tc>
                  <a:txBody>
                    <a:bodyPr/>
                    <a:lstStyle/>
                    <a:p>
                      <a:r>
                        <a:rPr sz="1500" b="1" i="0">
                          <a:solidFill>
                            <a:srgbClr val="11202B"/>
                          </a:solidFill>
                          <a:latin typeface="Malgun Gothic"/>
                          <a:ea typeface="Malgun Gothic"/>
                          <a:cs typeface="Malgun Gothic"/>
                        </a:rPr>
                        <a:t>↑↑</a:t>
                      </a:r>
                      <a:r>
                        <a:rPr sz="1500" b="0" i="0">
                          <a:solidFill>
                            <a:srgbClr val="11202B"/>
                          </a:solidFill>
                          <a:latin typeface="Malgun Gothic"/>
                          <a:ea typeface="Malgun Gothic"/>
                          <a:cs typeface="Malgun Gothic"/>
                        </a:rPr>
                        <a:t> (탈모 동반)</a:t>
                      </a:r>
                    </a:p>
                  </a:txBody>
                  <a:tcPr marL="73152" marR="73152">
                    <a:solidFill>
                      <a:srgbClr val="FFFFFF"/>
                    </a:solidFill>
                  </a:tcPr>
                </a:tc>
                <a:tc>
                  <a:txBody>
                    <a:bodyPr/>
                    <a:lstStyle/>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X연관 저인산혈증(XLH; PHEX)</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정상/경도↑</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500" b="1" i="0">
                          <a:solidFill>
                            <a:srgbClr val="11202B"/>
                          </a:solidFill>
                          <a:latin typeface="Malgun Gothic"/>
                          <a:ea typeface="Malgun Gothic"/>
                          <a:cs typeface="Malgun Gothic"/>
                        </a:rPr>
                        <a:t>부적절하게 정상·낮음</a:t>
                      </a:r>
                    </a:p>
                  </a:txBody>
                  <a:tcPr marL="73152" marR="73152">
                    <a:solidFill>
                      <a:srgbClr val="ECF1F5"/>
                    </a:solidFill>
                  </a:tcPr>
                </a:tc>
                <a:tc>
                  <a:txBody>
                    <a:bodyPr/>
                    <a:lstStyle/>
                    <a:p>
                      <a:r>
                        <a:rPr sz="1500" b="1" i="0">
                          <a:solidFill>
                            <a:srgbClr val="11202B"/>
                          </a:solidFill>
                          <a:latin typeface="Malgun Gothic"/>
                          <a:ea typeface="Malgun Gothic"/>
                          <a:cs typeface="Malgun Gothic"/>
                        </a:rPr>
                        <a:t>↑</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종양 유발 골연화증(TIO)</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정상</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 (인산뇨성 간엽종양)</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ADHR(FGF23 분해 저항) / ARHR(DMP1, ENPP1)</a:t>
                      </a:r>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유전성 저인산 구루병 + 고칼슘뇨(SLC34A3)</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txBody>
                  <a:tcPr marL="73152" marR="73152">
                    <a:solidFill>
                      <a:srgbClr val="FFFFFF"/>
                    </a:solidFill>
                  </a:tcPr>
                </a:tc>
                <a:tc>
                  <a:txBody>
                    <a:bodyPr/>
                    <a:lstStyle/>
                    <a:p>
                      <a:r>
                        <a:rPr sz="1500" b="1"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판코니 증후군</a:t>
                      </a:r>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 (+ 당뇨·아미노산뇨)</a:t>
                      </a:r>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부갑상선 질환과 CKD-MBD</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CKD-MBD</a:t>
            </a:r>
            <a:r>
              <a:rPr sz="2000" b="0" i="0">
                <a:solidFill>
                  <a:srgbClr val="11202B"/>
                </a:solidFill>
                <a:latin typeface="Malgun Gothic"/>
                <a:ea typeface="Malgun Gothic"/>
                <a:cs typeface="Malgun Gothic"/>
              </a:rPr>
              <a:t>: GFR 감소 → 인 저류 → </a:t>
            </a:r>
            <a:r>
              <a:rPr sz="2000" b="1" i="0">
                <a:solidFill>
                  <a:srgbClr val="11202B"/>
                </a:solidFill>
                <a:latin typeface="Malgun Gothic"/>
                <a:ea typeface="Malgun Gothic"/>
                <a:cs typeface="Malgun Gothic"/>
              </a:rPr>
              <a:t>FGF23 초기부터 상승</a:t>
            </a:r>
            <a:r>
              <a:rPr sz="2000" b="0" i="0">
                <a:solidFill>
                  <a:srgbClr val="11202B"/>
                </a:solidFill>
                <a:latin typeface="Malgun Gothic"/>
                <a:ea typeface="Malgun Gothic"/>
                <a:cs typeface="Malgun Gothic"/>
              </a:rPr>
              <a:t>(CKD 2–3기) → 1,25-D↓ → Ca 흡수↓ → PTH↑; Klotho 감소. 결과: 신성 골이영양증(섬유성 골염, 무형성 골질환), </a:t>
            </a:r>
            <a:r>
              <a:rPr sz="2000" b="1" i="0">
                <a:solidFill>
                  <a:srgbClr val="11202B"/>
                </a:solidFill>
                <a:latin typeface="Malgun Gothic"/>
                <a:ea typeface="Malgun Gothic"/>
                <a:cs typeface="Malgun Gothic"/>
              </a:rPr>
              <a:t>혈관 석회화</a:t>
            </a:r>
            <a:r>
              <a:rPr sz="2000" b="0" i="0">
                <a:solidFill>
                  <a:srgbClr val="11202B"/>
                </a:solidFill>
                <a:latin typeface="Malgun Gothic"/>
                <a:ea typeface="Malgun Gothic"/>
                <a:cs typeface="Malgun Gothic"/>
              </a:rPr>
              <a:t>(인 → 혈관 평활근의 골모세포 유사 전환), 심혈관 사망↑. FGF23 자체가 좌심실 비대 유발. 치료: 인 제한·결합제(세벨라머, 란타늄, 철 기반), 활성 비타민 D·칼시뮤레틱(시나칼세트, 에텔칼세티드), 부갑상선 절제.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부갑상선 질환과 CKD-MBD</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Ca</a:t>
                      </a:r>
                    </a:p>
                  </a:txBody>
                  <a:tcPr marL="73152" marR="73152">
                    <a:solidFill>
                      <a:srgbClr val="003C71"/>
                    </a:solidFill>
                  </a:tcPr>
                </a:tc>
                <a:tc>
                  <a:txBody>
                    <a:bodyPr/>
                    <a:lstStyle/>
                    <a:p>
                      <a:r>
                        <a:rPr sz="1300" b="1" i="0">
                          <a:solidFill>
                            <a:srgbClr val="FFFFFF"/>
                          </a:solidFill>
                          <a:latin typeface="Malgun Gothic"/>
                          <a:ea typeface="Malgun Gothic"/>
                          <a:cs typeface="Malgun Gothic"/>
                        </a:rPr>
                        <a:t>인</a:t>
                      </a:r>
                    </a:p>
                  </a:txBody>
                  <a:tcPr marL="73152" marR="73152">
                    <a:solidFill>
                      <a:srgbClr val="003C71"/>
                    </a:solidFill>
                  </a:tcPr>
                </a:tc>
                <a:tc>
                  <a:txBody>
                    <a:bodyPr/>
                    <a:lstStyle/>
                    <a:p>
                      <a:r>
                        <a:rPr sz="1300" b="1" i="0">
                          <a:solidFill>
                            <a:srgbClr val="FFFFFF"/>
                          </a:solidFill>
                          <a:latin typeface="Malgun Gothic"/>
                          <a:ea typeface="Malgun Gothic"/>
                          <a:cs typeface="Malgun Gothic"/>
                        </a:rPr>
                        <a:t>PTH</a:t>
                      </a:r>
                    </a:p>
                  </a:txBody>
                  <a:tcPr marL="73152" marR="73152">
                    <a:solidFill>
                      <a:srgbClr val="003C71"/>
                    </a:solidFill>
                  </a:tcPr>
                </a:tc>
                <a:tc>
                  <a:txBody>
                    <a:bodyPr/>
                    <a:lstStyle/>
                    <a:p>
                      <a:r>
                        <a:rPr sz="1300" b="1" i="0">
                          <a:solidFill>
                            <a:srgbClr val="FFFFFF"/>
                          </a:solidFill>
                          <a:latin typeface="Malgun Gothic"/>
                          <a:ea typeface="Malgun Gothic"/>
                          <a:cs typeface="Malgun Gothic"/>
                        </a:rPr>
                        <a:t>원인·특징</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원발성 부갑상선기능항진</a:t>
                      </a:r>
                    </a:p>
                  </a:txBody>
                  <a:tcPr marL="73152" marR="73152">
                    <a:solidFill>
                      <a:srgbClr val="FFFFFF"/>
                    </a:solidFill>
                  </a:tcPr>
                </a:tc>
                <a:tc>
                  <a:txBody>
                    <a:bodyPr/>
                    <a:lstStyle/>
                    <a:p>
                      <a:r>
                        <a:rPr sz="1300" b="0" i="0">
                          <a:solidFill>
                            <a:srgbClr val="11202B"/>
                          </a:solidFill>
                          <a:latin typeface="Malgun Gothic"/>
                          <a:ea typeface="Malgun Gothic"/>
                          <a:cs typeface="Malgun Gothic"/>
                        </a:rPr>
                        <a:t>↑</a:t>
                      </a:r>
                    </a:p>
                  </a:txBody>
                  <a:tcPr marL="73152" marR="73152">
                    <a:solidFill>
                      <a:srgbClr val="FFFFFF"/>
                    </a:solidFill>
                  </a:tcPr>
                </a:tc>
                <a:tc>
                  <a:txBody>
                    <a:bodyPr/>
                    <a:lstStyle/>
                    <a:p>
                      <a:r>
                        <a:rPr sz="1300" b="0" i="0">
                          <a:solidFill>
                            <a:srgbClr val="11202B"/>
                          </a:solidFill>
                          <a:latin typeface="Malgun Gothic"/>
                          <a:ea typeface="Malgun Gothic"/>
                          <a:cs typeface="Malgun Gothic"/>
                        </a:rPr>
                        <a:t>↓/정상</a:t>
                      </a:r>
                    </a:p>
                  </a:txBody>
                  <a:tcPr marL="73152" marR="73152">
                    <a:solidFill>
                      <a:srgbClr val="FFFFFF"/>
                    </a:solidFill>
                  </a:tcPr>
                </a:tc>
                <a:tc>
                  <a:txBody>
                    <a:bodyPr/>
                    <a:lstStyle/>
                    <a:p>
                      <a:r>
                        <a:rPr sz="1300" b="0" i="0">
                          <a:solidFill>
                            <a:srgbClr val="11202B"/>
                          </a:solidFill>
                          <a:latin typeface="Malgun Gothic"/>
                          <a:ea typeface="Malgun Gothic"/>
                          <a:cs typeface="Malgun Gothic"/>
                        </a:rPr>
                        <a:t>↑/부적절 정상</a:t>
                      </a:r>
                    </a:p>
                  </a:txBody>
                  <a:tcPr marL="73152" marR="73152">
                    <a:solidFill>
                      <a:srgbClr val="FFFFFF"/>
                    </a:solidFill>
                  </a:tcPr>
                </a:tc>
                <a:tc>
                  <a:txBody>
                    <a:bodyPr/>
                    <a:lstStyle/>
                    <a:p>
                      <a:r>
                        <a:rPr sz="1300" b="0" i="0">
                          <a:solidFill>
                            <a:srgbClr val="11202B"/>
                          </a:solidFill>
                          <a:latin typeface="Malgun Gothic"/>
                          <a:ea typeface="Malgun Gothic"/>
                          <a:cs typeface="Malgun Gothic"/>
                        </a:rPr>
                        <a:t>선종 ~85%(MEN1, CDC73 등), 증상: 신결석·골다공증(피질골 — 원위 요골)·소화성 궤양·정신증상; 무증상 다수 → 수술 기준(Ca &gt;ULN+1, 골다공증, 신결석, &lt;50세)</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가족성 저칼슘뇨성 고칼슘혈증(FHH)</a:t>
                      </a:r>
                    </a:p>
                  </a:txBody>
                  <a:tcPr marL="73152" marR="73152">
                    <a:solidFill>
                      <a:srgbClr val="ECF1F5"/>
                    </a:solidFill>
                  </a:tcPr>
                </a:tc>
                <a:tc>
                  <a:txBody>
                    <a:bodyPr/>
                    <a:lstStyle/>
                    <a:p>
                      <a:r>
                        <a:rPr sz="1300" b="0" i="0">
                          <a:solidFill>
                            <a:srgbClr val="11202B"/>
                          </a:solidFill>
                          <a:latin typeface="Malgun Gothic"/>
                          <a:ea typeface="Malgun Gothic"/>
                          <a:cs typeface="Malgun Gothic"/>
                        </a:rPr>
                        <a:t>↑</a:t>
                      </a:r>
                    </a:p>
                  </a:txBody>
                  <a:tcPr marL="73152" marR="73152">
                    <a:solidFill>
                      <a:srgbClr val="ECF1F5"/>
                    </a:solidFill>
                  </a:tcPr>
                </a:tc>
                <a:tc>
                  <a:txBody>
                    <a:bodyPr/>
                    <a:lstStyle/>
                    <a:p>
                      <a:r>
                        <a:rPr sz="13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300" b="0" i="0">
                          <a:solidFill>
                            <a:srgbClr val="11202B"/>
                          </a:solidFill>
                          <a:latin typeface="Malgun Gothic"/>
                          <a:ea typeface="Malgun Gothic"/>
                          <a:cs typeface="Malgun Gothic"/>
                        </a:rPr>
                        <a:t>정상/경도↑</a:t>
                      </a:r>
                    </a:p>
                  </a:txBody>
                  <a:tcPr marL="73152" marR="73152">
                    <a:solidFill>
                      <a:srgbClr val="ECF1F5"/>
                    </a:solidFill>
                  </a:tcPr>
                </a:tc>
                <a:tc>
                  <a:txBody>
                    <a:bodyPr/>
                    <a:lstStyle/>
                    <a:p>
                      <a:r>
                        <a:rPr sz="1300" b="0" i="0">
                          <a:solidFill>
                            <a:srgbClr val="11202B"/>
                          </a:solidFill>
                          <a:latin typeface="Malgun Gothic"/>
                          <a:ea typeface="Malgun Gothic"/>
                          <a:cs typeface="Malgun Gothic"/>
                        </a:rPr>
                        <a:t>CASR 기능소실(설정점 상향) → </a:t>
                      </a:r>
                      <a:r>
                        <a:rPr sz="1300" b="1" i="0">
                          <a:solidFill>
                            <a:srgbClr val="11202B"/>
                          </a:solidFill>
                          <a:latin typeface="Malgun Gothic"/>
                          <a:ea typeface="Malgun Gothic"/>
                          <a:cs typeface="Malgun Gothic"/>
                        </a:rPr>
                        <a:t>소변 Ca/Cr 청소율 비 &lt;0.01</a:t>
                      </a:r>
                      <a:r>
                        <a:rPr sz="1300" b="0" i="0">
                          <a:solidFill>
                            <a:srgbClr val="11202B"/>
                          </a:solidFill>
                          <a:latin typeface="Malgun Gothic"/>
                          <a:ea typeface="Malgun Gothic"/>
                          <a:cs typeface="Malgun Gothic"/>
                        </a:rPr>
                        <a:t> → 수술 불필요(감별 중요)</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2차 부갑상선기능항진</a:t>
                      </a:r>
                    </a:p>
                  </a:txBody>
                  <a:tcPr marL="73152" marR="73152">
                    <a:solidFill>
                      <a:srgbClr val="FFFFFF"/>
                    </a:solidFill>
                  </a:tcPr>
                </a:tc>
                <a:tc>
                  <a:txBody>
                    <a:bodyPr/>
                    <a:lstStyle/>
                    <a:p>
                      <a:r>
                        <a:rPr sz="1300" b="0" i="0">
                          <a:solidFill>
                            <a:srgbClr val="11202B"/>
                          </a:solidFill>
                          <a:latin typeface="Malgun Gothic"/>
                          <a:ea typeface="Malgun Gothic"/>
                          <a:cs typeface="Malgun Gothic"/>
                        </a:rPr>
                        <a:t>↓/정상</a:t>
                      </a:r>
                    </a:p>
                  </a:txBody>
                  <a:tcPr marL="73152" marR="73152">
                    <a:solidFill>
                      <a:srgbClr val="FFFFFF"/>
                    </a:solidFill>
                  </a:tcPr>
                </a:tc>
                <a:tc>
                  <a:txBody>
                    <a:bodyPr/>
                    <a:lstStyle/>
                    <a:p>
                      <a:r>
                        <a:rPr sz="1300" b="0" i="0">
                          <a:solidFill>
                            <a:srgbClr val="11202B"/>
                          </a:solidFill>
                          <a:latin typeface="Malgun Gothic"/>
                          <a:ea typeface="Malgun Gothic"/>
                          <a:cs typeface="Malgun Gothic"/>
                        </a:rPr>
                        <a:t>다양</a:t>
                      </a:r>
                    </a:p>
                  </a:txBody>
                  <a:tcPr marL="73152" marR="73152">
                    <a:solidFill>
                      <a:srgbClr val="FFFFFF"/>
                    </a:solidFill>
                  </a:tcPr>
                </a:tc>
                <a:tc>
                  <a:txBody>
                    <a:bodyPr/>
                    <a:lstStyle/>
                    <a:p>
                      <a:r>
                        <a:rPr sz="1300" b="0" i="0">
                          <a:solidFill>
                            <a:srgbClr val="11202B"/>
                          </a:solidFill>
                          <a:latin typeface="Malgun Gothic"/>
                          <a:ea typeface="Malgun Gothic"/>
                          <a:cs typeface="Malgun Gothic"/>
                        </a:rPr>
                        <a:t>↑</a:t>
                      </a:r>
                    </a:p>
                  </a:txBody>
                  <a:tcPr marL="73152" marR="73152">
                    <a:solidFill>
                      <a:srgbClr val="FFFFFF"/>
                    </a:solidFill>
                  </a:tcPr>
                </a:tc>
                <a:tc>
                  <a:txBody>
                    <a:bodyPr/>
                    <a:lstStyle/>
                    <a:p>
                      <a:r>
                        <a:rPr sz="1300" b="0" i="0">
                          <a:solidFill>
                            <a:srgbClr val="11202B"/>
                          </a:solidFill>
                          <a:latin typeface="Malgun Gothic"/>
                          <a:ea typeface="Malgun Gothic"/>
                          <a:cs typeface="Malgun Gothic"/>
                        </a:rPr>
                        <a:t>비타민 D 결핍, CKD, 흡수장애</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3차</a:t>
                      </a:r>
                    </a:p>
                  </a:txBody>
                  <a:tcPr marL="73152" marR="73152">
                    <a:solidFill>
                      <a:srgbClr val="ECF1F5"/>
                    </a:solidFill>
                  </a:tcPr>
                </a:tc>
                <a:tc>
                  <a:txBody>
                    <a:bodyPr/>
                    <a:lstStyle/>
                    <a:p>
                      <a:r>
                        <a:rPr sz="1300" b="0" i="0">
                          <a:solidFill>
                            <a:srgbClr val="11202B"/>
                          </a:solidFill>
                          <a:latin typeface="Malgun Gothic"/>
                          <a:ea typeface="Malgun Gothic"/>
                          <a:cs typeface="Malgun Gothic"/>
                        </a:rPr>
                        <a:t>↑</a:t>
                      </a:r>
                    </a:p>
                  </a:txBody>
                  <a:tcPr marL="73152" marR="73152">
                    <a:solidFill>
                      <a:srgbClr val="ECF1F5"/>
                    </a:solidFill>
                  </a:tcPr>
                </a:tc>
                <a:tc>
                  <a:txBody>
                    <a:bodyPr/>
                    <a:lstStyle/>
                    <a:p>
                      <a:r>
                        <a:rPr sz="1300" b="0" i="0">
                          <a:solidFill>
                            <a:srgbClr val="11202B"/>
                          </a:solidFill>
                          <a:latin typeface="Malgun Gothic"/>
                          <a:ea typeface="Malgun Gothic"/>
                          <a:cs typeface="Malgun Gothic"/>
                        </a:rPr>
                        <a:t>↑</a:t>
                      </a:r>
                    </a:p>
                  </a:txBody>
                  <a:tcPr marL="73152" marR="73152">
                    <a:solidFill>
                      <a:srgbClr val="ECF1F5"/>
                    </a:solidFill>
                  </a:tcPr>
                </a:tc>
                <a:tc>
                  <a:txBody>
                    <a:bodyPr/>
                    <a:lstStyle/>
                    <a:p>
                      <a:r>
                        <a:rPr sz="1300" b="0" i="0">
                          <a:solidFill>
                            <a:srgbClr val="11202B"/>
                          </a:solidFill>
                          <a:latin typeface="Malgun Gothic"/>
                          <a:ea typeface="Malgun Gothic"/>
                          <a:cs typeface="Malgun Gothic"/>
                        </a:rPr>
                        <a:t>↑↑</a:t>
                      </a:r>
                    </a:p>
                  </a:txBody>
                  <a:tcPr marL="73152" marR="73152">
                    <a:solidFill>
                      <a:srgbClr val="ECF1F5"/>
                    </a:solidFill>
                  </a:tcPr>
                </a:tc>
                <a:tc>
                  <a:txBody>
                    <a:bodyPr/>
                    <a:lstStyle/>
                    <a:p>
                      <a:r>
                        <a:rPr sz="1300" b="0" i="0">
                          <a:solidFill>
                            <a:srgbClr val="11202B"/>
                          </a:solidFill>
                          <a:latin typeface="Malgun Gothic"/>
                          <a:ea typeface="Malgun Gothic"/>
                          <a:cs typeface="Malgun Gothic"/>
                        </a:rPr>
                        <a:t>장기 2차 후 자율화(투석 환자)</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부갑상선기능저하</a:t>
                      </a:r>
                    </a:p>
                  </a:txBody>
                  <a:tcPr marL="73152" marR="73152">
                    <a:solidFill>
                      <a:srgbClr val="FFFFFF"/>
                    </a:solidFill>
                  </a:tcPr>
                </a:tc>
                <a:tc>
                  <a:txBody>
                    <a:bodyPr/>
                    <a:lstStyle/>
                    <a:p>
                      <a:r>
                        <a:rPr sz="1300" b="0" i="0">
                          <a:solidFill>
                            <a:srgbClr val="11202B"/>
                          </a:solidFill>
                          <a:latin typeface="Malgun Gothic"/>
                          <a:ea typeface="Malgun Gothic"/>
                          <a:cs typeface="Malgun Gothic"/>
                        </a:rPr>
                        <a:t>↓</a:t>
                      </a:r>
                    </a:p>
                  </a:txBody>
                  <a:tcPr marL="73152" marR="73152">
                    <a:solidFill>
                      <a:srgbClr val="FFFFFF"/>
                    </a:solidFill>
                  </a:tcPr>
                </a:tc>
                <a:tc>
                  <a:txBody>
                    <a:bodyPr/>
                    <a:lstStyle/>
                    <a:p>
                      <a:r>
                        <a:rPr sz="1300" b="0" i="0">
                          <a:solidFill>
                            <a:srgbClr val="11202B"/>
                          </a:solidFill>
                          <a:latin typeface="Malgun Gothic"/>
                          <a:ea typeface="Malgun Gothic"/>
                          <a:cs typeface="Malgun Gothic"/>
                        </a:rPr>
                        <a:t>↑</a:t>
                      </a:r>
                    </a:p>
                  </a:txBody>
                  <a:tcPr marL="73152" marR="73152">
                    <a:solidFill>
                      <a:srgbClr val="FFFFFF"/>
                    </a:solidFill>
                  </a:tcPr>
                </a:tc>
                <a:tc>
                  <a:txBody>
                    <a:bodyPr/>
                    <a:lstStyle/>
                    <a:p>
                      <a:r>
                        <a:rPr sz="1300" b="0" i="0">
                          <a:solidFill>
                            <a:srgbClr val="11202B"/>
                          </a:solidFill>
                          <a:latin typeface="Malgun Gothic"/>
                          <a:ea typeface="Malgun Gothic"/>
                          <a:cs typeface="Malgun Gothic"/>
                        </a:rPr>
                        <a:t>↓</a:t>
                      </a:r>
                    </a:p>
                  </a:txBody>
                  <a:tcPr marL="73152" marR="73152">
                    <a:solidFill>
                      <a:srgbClr val="FFFFFF"/>
                    </a:solidFill>
                  </a:tcPr>
                </a:tc>
                <a:tc>
                  <a:txBody>
                    <a:bodyPr/>
                    <a:lstStyle/>
                    <a:p>
                      <a:r>
                        <a:rPr sz="1300" b="0" i="0">
                          <a:solidFill>
                            <a:srgbClr val="11202B"/>
                          </a:solidFill>
                          <a:latin typeface="Malgun Gothic"/>
                          <a:ea typeface="Malgun Gothic"/>
                          <a:cs typeface="Malgun Gothic"/>
                        </a:rPr>
                        <a:t>수술 후, 자가면역(APS-1), 22q11.2, CASR 기능획득(ADH1 — 고칼슘뇨), 저마그네슘 → 칼슘·칼시트리올; </a:t>
                      </a:r>
                      <a:r>
                        <a:rPr sz="1300" b="1" i="0">
                          <a:solidFill>
                            <a:srgbClr val="11202B"/>
                          </a:solidFill>
                          <a:latin typeface="Malgun Gothic"/>
                          <a:ea typeface="Malgun Gothic"/>
                          <a:cs typeface="Malgun Gothic"/>
                        </a:rPr>
                        <a:t>팔로파라타이드</a:t>
                      </a:r>
                      <a:r>
                        <a:rPr sz="1300" b="0" i="0">
                          <a:solidFill>
                            <a:srgbClr val="11202B"/>
                          </a:solidFill>
                          <a:latin typeface="Malgun Gothic"/>
                          <a:ea typeface="Malgun Gothic"/>
                          <a:cs typeface="Malgun Gothic"/>
                        </a:rPr>
                        <a:t>(PTH 1–34 지속형, 2024 승인)</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가성부갑상선기능저하 1a</a:t>
                      </a:r>
                    </a:p>
                  </a:txBody>
                  <a:tcPr marL="73152" marR="73152">
                    <a:solidFill>
                      <a:srgbClr val="ECF1F5"/>
                    </a:solidFill>
                  </a:tcPr>
                </a:tc>
                <a:tc>
                  <a:txBody>
                    <a:bodyPr/>
                    <a:lstStyle/>
                    <a:p>
                      <a:r>
                        <a:rPr sz="1300" b="0" i="0">
                          <a:solidFill>
                            <a:srgbClr val="11202B"/>
                          </a:solidFill>
                          <a:latin typeface="Malgun Gothic"/>
                          <a:ea typeface="Malgun Gothic"/>
                          <a:cs typeface="Malgun Gothic"/>
                        </a:rPr>
                        <a:t>↓</a:t>
                      </a:r>
                    </a:p>
                  </a:txBody>
                  <a:tcPr marL="73152" marR="73152">
                    <a:solidFill>
                      <a:srgbClr val="ECF1F5"/>
                    </a:solidFill>
                  </a:tcPr>
                </a:tc>
                <a:tc>
                  <a:txBody>
                    <a:bodyPr/>
                    <a:lstStyle/>
                    <a:p>
                      <a:r>
                        <a:rPr sz="1300" b="0" i="0">
                          <a:solidFill>
                            <a:srgbClr val="11202B"/>
                          </a:solidFill>
                          <a:latin typeface="Malgun Gothic"/>
                          <a:ea typeface="Malgun Gothic"/>
                          <a:cs typeface="Malgun Gothic"/>
                        </a:rPr>
                        <a:t>↑</a:t>
                      </a:r>
                    </a:p>
                  </a:txBody>
                  <a:tcPr marL="73152" marR="73152">
                    <a:solidFill>
                      <a:srgbClr val="ECF1F5"/>
                    </a:solidFill>
                  </a:tcPr>
                </a:tc>
                <a:tc>
                  <a:txBody>
                    <a:bodyPr/>
                    <a:lstStyle/>
                    <a:p>
                      <a:r>
                        <a:rPr sz="1300" b="0" i="0">
                          <a:solidFill>
                            <a:srgbClr val="11202B"/>
                          </a:solidFill>
                          <a:latin typeface="Malgun Gothic"/>
                          <a:ea typeface="Malgun Gothic"/>
                          <a:cs typeface="Malgun Gothic"/>
                        </a:rPr>
                        <a:t>↑</a:t>
                      </a:r>
                    </a:p>
                  </a:txBody>
                  <a:tcPr marL="73152" marR="73152">
                    <a:solidFill>
                      <a:srgbClr val="ECF1F5"/>
                    </a:solidFill>
                  </a:tcPr>
                </a:tc>
                <a:tc>
                  <a:txBody>
                    <a:bodyPr/>
                    <a:lstStyle/>
                    <a:p>
                      <a:r>
                        <a:rPr sz="1300" b="0" i="0">
                          <a:solidFill>
                            <a:srgbClr val="11202B"/>
                          </a:solidFill>
                          <a:latin typeface="Malgun Gothic"/>
                          <a:ea typeface="Malgun Gothic"/>
                          <a:cs typeface="Malgun Gothic"/>
                        </a:rPr>
                        <a:t>GNAS 모계 기능소실 → PTH 저항 + AHO (B02 L02)</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악성 고칼슘혈증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a:t>
                      </a:r>
                    </a:p>
                  </a:txBody>
                  <a:tcPr marL="73152" marR="73152">
                    <a:solidFill>
                      <a:srgbClr val="FFFFFF"/>
                    </a:solidFill>
                  </a:tcPr>
                </a:tc>
                <a:tc>
                  <a:txBody>
                    <a:bodyPr/>
                    <a:lstStyle/>
                    <a:p>
                      <a:r>
                        <a:rPr sz="1300" b="0" i="0">
                          <a:solidFill>
                            <a:srgbClr val="11202B"/>
                          </a:solidFill>
                          <a:latin typeface="Malgun Gothic"/>
                          <a:ea typeface="Malgun Gothic"/>
                          <a:cs typeface="Malgun Gothic"/>
                        </a:rPr>
                        <a:t>다양</a:t>
                      </a:r>
                    </a:p>
                  </a:txBody>
                  <a:tcPr marL="73152" marR="73152">
                    <a:solidFill>
                      <a:srgbClr val="FFFFFF"/>
                    </a:solidFill>
                  </a:tcPr>
                </a:tc>
                <a:tc>
                  <a:txBody>
                    <a:bodyPr/>
                    <a:lstStyle/>
                    <a:p>
                      <a:r>
                        <a:rPr sz="1300" b="1" i="0">
                          <a:solidFill>
                            <a:srgbClr val="11202B"/>
                          </a:solidFill>
                          <a:latin typeface="Malgun Gothic"/>
                          <a:ea typeface="Malgun Gothic"/>
                          <a:cs typeface="Malgun Gothic"/>
                        </a:rPr>
                        <a:t>↓</a:t>
                      </a:r>
                    </a:p>
                  </a:txBody>
                  <a:tcPr marL="73152" marR="73152">
                    <a:solidFill>
                      <a:srgbClr val="FFFFFF"/>
                    </a:solidFill>
                  </a:tcPr>
                </a:tc>
                <a:tc>
                  <a:txBody>
                    <a:bodyPr/>
                    <a:lstStyle/>
                    <a:p>
                      <a:r>
                        <a:rPr sz="1300" b="0" i="0">
                          <a:solidFill>
                            <a:srgbClr val="11202B"/>
                          </a:solidFill>
                          <a:latin typeface="Malgun Gothic"/>
                          <a:ea typeface="Malgun Gothic"/>
                          <a:cs typeface="Malgun Gothic"/>
                        </a:rPr>
                        <a:t>PTHrP(편평세포암, 신세포암), 골전이(용골성 — 다발골수종·유방암), 1,25-D(림프종)</a:t>
                      </a:r>
                    </a:p>
                  </a:txBody>
                  <a:tcPr marL="73152" marR="7315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골다공증과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정의: 골량 감소 + 미세구조 악화 → 취약 골절. DXA T 점수 ≤ −2.5 또는 취약 골절(척추·고관절). FRAX 10년 골절 위험.</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원인: 폐경(에스트로겐 결핍 → RANKL↑), 노화(골형성 감소, 골수 지방↑), 글루코코르티코이드(조골세포 자멸·형성 억제 — 가장 흔한 2차 원인), 성선기능저하, 갑상선항진, 부갑상선항진, 흡수장애(셀리악), 약물(아로마타제 억제제, ADT, PPI, SGLT2i 일부), 골수종.</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순서 전략</a:t>
            </a:r>
            <a:r>
              <a:rPr sz="2000" b="0" i="0">
                <a:solidFill>
                  <a:srgbClr val="11202B"/>
                </a:solidFill>
                <a:latin typeface="Malgun Gothic"/>
                <a:ea typeface="Malgun Gothic"/>
                <a:cs typeface="Malgun Gothic"/>
              </a:rPr>
              <a:t>: 초고위험(최근 골절 등)은 </a:t>
            </a:r>
            <a:r>
              <a:rPr sz="2000" b="1" i="0">
                <a:solidFill>
                  <a:srgbClr val="11202B"/>
                </a:solidFill>
                <a:latin typeface="Malgun Gothic"/>
                <a:ea typeface="Malgun Gothic"/>
                <a:cs typeface="Malgun Gothic"/>
              </a:rPr>
              <a:t>동화제 먼저</a:t>
            </a:r>
            <a:r>
              <a:rPr sz="2000" b="0" i="0">
                <a:solidFill>
                  <a:srgbClr val="11202B"/>
                </a:solidFill>
                <a:latin typeface="Malgun Gothic"/>
                <a:ea typeface="Malgun Gothic"/>
                <a:cs typeface="Malgun Gothic"/>
              </a:rPr>
              <a:t> → 흡수 억제제(ARCH, VERO 시험 근거).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골다공증과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주의</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비스포스포네이트</a:t>
                      </a:r>
                      <a:r>
                        <a:rPr sz="1500" b="0" i="0">
                          <a:solidFill>
                            <a:srgbClr val="11202B"/>
                          </a:solidFill>
                          <a:latin typeface="Malgun Gothic"/>
                          <a:ea typeface="Malgun Gothic"/>
                          <a:cs typeface="Malgun Gothic"/>
                        </a:rPr>
                        <a:t>(알렌드로네이트, 졸레드론산)</a:t>
                      </a:r>
                    </a:p>
                  </a:txBody>
                  <a:tcPr marL="73152" marR="73152">
                    <a:solidFill>
                      <a:srgbClr val="FFFFFF"/>
                    </a:solidFill>
                  </a:tcPr>
                </a:tc>
                <a:tc>
                  <a:txBody>
                    <a:bodyPr/>
                    <a:lstStyle/>
                    <a:p>
                      <a:r>
                        <a:rPr sz="1500" b="0" i="0">
                          <a:solidFill>
                            <a:srgbClr val="11202B"/>
                          </a:solidFill>
                          <a:latin typeface="Malgun Gothic"/>
                          <a:ea typeface="Malgun Gothic"/>
                          <a:cs typeface="Malgun Gothic"/>
                        </a:rPr>
                        <a:t>하이드록시아파타이트 결합 → 파골세포가 흡수 → </a:t>
                      </a:r>
                      <a:r>
                        <a:rPr sz="1500" b="1" i="0">
                          <a:solidFill>
                            <a:srgbClr val="11202B"/>
                          </a:solidFill>
                          <a:latin typeface="Malgun Gothic"/>
                          <a:ea typeface="Malgun Gothic"/>
                          <a:cs typeface="Malgun Gothic"/>
                        </a:rPr>
                        <a:t>파네실 피로인산 합성효소 억제</a:t>
                      </a:r>
                      <a:r>
                        <a:rPr sz="1500" b="0" i="0">
                          <a:solidFill>
                            <a:srgbClr val="11202B"/>
                          </a:solidFill>
                          <a:latin typeface="Malgun Gothic"/>
                          <a:ea typeface="Malgun Gothic"/>
                          <a:cs typeface="Malgun Gothic"/>
                        </a:rPr>
                        <a:t>(메발론산 경로, 질소 함유) → 프레닐화 차단 → 파골세포 기능·생존↓</a:t>
                      </a:r>
                    </a:p>
                  </a:txBody>
                  <a:tcPr marL="73152" marR="73152">
                    <a:solidFill>
                      <a:srgbClr val="FFFFFF"/>
                    </a:solidFill>
                  </a:tcPr>
                </a:tc>
                <a:tc>
                  <a:txBody>
                    <a:bodyPr/>
                    <a:lstStyle/>
                    <a:p>
                      <a:r>
                        <a:rPr sz="1500" b="0" i="0">
                          <a:solidFill>
                            <a:srgbClr val="11202B"/>
                          </a:solidFill>
                          <a:latin typeface="Malgun Gothic"/>
                          <a:ea typeface="Malgun Gothic"/>
                          <a:cs typeface="Malgun Gothic"/>
                        </a:rPr>
                        <a:t>식도염, 비정형 대퇴골 골절, 턱뼈 괴사(드묾), 휴약기 고려</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데노수맙</a:t>
                      </a:r>
                    </a:p>
                  </a:txBody>
                  <a:tcPr marL="73152" marR="73152">
                    <a:solidFill>
                      <a:srgbClr val="ECF1F5"/>
                    </a:solidFill>
                  </a:tcPr>
                </a:tc>
                <a:tc>
                  <a:txBody>
                    <a:bodyPr/>
                    <a:lstStyle/>
                    <a:p>
                      <a:r>
                        <a:rPr sz="1500" b="0" i="0">
                          <a:solidFill>
                            <a:srgbClr val="11202B"/>
                          </a:solidFill>
                          <a:latin typeface="Malgun Gothic"/>
                          <a:ea typeface="Malgun Gothic"/>
                          <a:cs typeface="Malgun Gothic"/>
                        </a:rPr>
                        <a:t>항RANKL 항체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중단 시 </a:t>
                      </a:r>
                      <a:r>
                        <a:rPr sz="1500" b="1" i="0">
                          <a:solidFill>
                            <a:srgbClr val="11202B"/>
                          </a:solidFill>
                          <a:latin typeface="Malgun Gothic"/>
                          <a:ea typeface="Malgun Gothic"/>
                          <a:cs typeface="Malgun Gothic"/>
                        </a:rPr>
                        <a:t>반동 골흡수·다발 척추골절</a:t>
                      </a:r>
                      <a:r>
                        <a:rPr sz="1500" b="0" i="0">
                          <a:solidFill>
                            <a:srgbClr val="11202B"/>
                          </a:solidFill>
                          <a:latin typeface="Malgun Gothic"/>
                          <a:ea typeface="Malgun Gothic"/>
                          <a:cs typeface="Malgun Gothic"/>
                        </a:rPr>
                        <a:t> → 비스포스포네이트로 전환 필수; 저칼슘혈증(CKD)</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테리파라타이드, 아발로파라타이드</a:t>
                      </a:r>
                    </a:p>
                  </a:txBody>
                  <a:tcPr marL="73152" marR="73152">
                    <a:solidFill>
                      <a:srgbClr val="FFFFFF"/>
                    </a:solidFill>
                  </a:tcPr>
                </a:tc>
                <a:tc>
                  <a:txBody>
                    <a:bodyPr/>
                    <a:lstStyle/>
                    <a:p>
                      <a:r>
                        <a:rPr sz="1500" b="0" i="0">
                          <a:solidFill>
                            <a:srgbClr val="11202B"/>
                          </a:solidFill>
                          <a:latin typeface="Malgun Gothic"/>
                          <a:ea typeface="Malgun Gothic"/>
                          <a:cs typeface="Malgun Gothic"/>
                        </a:rPr>
                        <a:t>PTH/PTHrP 유사체 </a:t>
                      </a:r>
                      <a:r>
                        <a:rPr sz="1500" b="1" i="0">
                          <a:solidFill>
                            <a:srgbClr val="11202B"/>
                          </a:solidFill>
                          <a:latin typeface="Malgun Gothic"/>
                          <a:ea typeface="Malgun Gothic"/>
                          <a:cs typeface="Malgun Gothic"/>
                        </a:rPr>
                        <a:t>간헐 투여</a:t>
                      </a:r>
                      <a:r>
                        <a:rPr sz="1500" b="0" i="0">
                          <a:solidFill>
                            <a:srgbClr val="11202B"/>
                          </a:solidFill>
                          <a:latin typeface="Malgun Gothic"/>
                          <a:ea typeface="Malgun Gothic"/>
                          <a:cs typeface="Malgun Gothic"/>
                        </a:rPr>
                        <a:t> → 골형성 &gt; 흡수(동화창)</a:t>
                      </a:r>
                    </a:p>
                  </a:txBody>
                  <a:tcPr marL="73152" marR="73152">
                    <a:solidFill>
                      <a:srgbClr val="FFFFFF"/>
                    </a:solidFill>
                  </a:tcPr>
                </a:tc>
                <a:tc>
                  <a:txBody>
                    <a:bodyPr/>
                    <a:lstStyle/>
                    <a:p>
                      <a:r>
                        <a:rPr sz="1500" b="0" i="0">
                          <a:solidFill>
                            <a:srgbClr val="11202B"/>
                          </a:solidFill>
                          <a:latin typeface="Malgun Gothic"/>
                          <a:ea typeface="Malgun Gothic"/>
                          <a:cs typeface="Malgun Gothic"/>
                        </a:rPr>
                        <a:t>최대 2년, 이후 흡수 억제제</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로모소주맙</a:t>
                      </a:r>
                    </a:p>
                  </a:txBody>
                  <a:tcPr marL="73152" marR="73152">
                    <a:solidFill>
                      <a:srgbClr val="ECF1F5"/>
                    </a:solidFill>
                  </a:tcPr>
                </a:tc>
                <a:tc>
                  <a:txBody>
                    <a:bodyPr/>
                    <a:lstStyle/>
                    <a:p>
                      <a:r>
                        <a:rPr sz="1500" b="0" i="0">
                          <a:solidFill>
                            <a:srgbClr val="11202B"/>
                          </a:solidFill>
                          <a:latin typeface="Malgun Gothic"/>
                          <a:ea typeface="Malgun Gothic"/>
                          <a:cs typeface="Malgun Gothic"/>
                        </a:rPr>
                        <a:t>항스클레로스틴 → 형성↑ + 흡수↓(이중 효과)</a:t>
                      </a:r>
                    </a:p>
                  </a:txBody>
                  <a:tcPr marL="73152" marR="73152">
                    <a:solidFill>
                      <a:srgbClr val="ECF1F5"/>
                    </a:solidFill>
                  </a:tcPr>
                </a:tc>
                <a:tc>
                  <a:txBody>
                    <a:bodyPr/>
                    <a:lstStyle/>
                    <a:p>
                      <a:r>
                        <a:rPr sz="1500" b="0" i="0">
                          <a:solidFill>
                            <a:srgbClr val="11202B"/>
                          </a:solidFill>
                          <a:latin typeface="Malgun Gothic"/>
                          <a:ea typeface="Malgun Gothic"/>
                          <a:cs typeface="Malgun Gothic"/>
                        </a:rPr>
                        <a:t>12개월; 심혈관 사건 경고(ARCH)</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SERM(랄록시펜)</a:t>
                      </a:r>
                    </a:p>
                  </a:txBody>
                  <a:tcPr marL="73152" marR="73152">
                    <a:solidFill>
                      <a:srgbClr val="FFFFFF"/>
                    </a:solidFill>
                  </a:tcPr>
                </a:tc>
                <a:tc>
                  <a:txBody>
                    <a:bodyPr/>
                    <a:lstStyle/>
                    <a:p>
                      <a:r>
                        <a:rPr sz="1500" b="0" i="0">
                          <a:solidFill>
                            <a:srgbClr val="11202B"/>
                          </a:solidFill>
                          <a:latin typeface="Malgun Gothic"/>
                          <a:ea typeface="Malgun Gothic"/>
                          <a:cs typeface="Malgun Gothic"/>
                        </a:rPr>
                        <a:t>뼈 ER 작용제·유방 길항</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정맥혈전</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칼슘·비타민 D</a:t>
                      </a:r>
                    </a:p>
                  </a:txBody>
                  <a:tcPr marL="73152" marR="73152">
                    <a:solidFill>
                      <a:srgbClr val="ECF1F5"/>
                    </a:solidFill>
                  </a:tcPr>
                </a:tc>
                <a:tc>
                  <a:txBody>
                    <a:bodyPr/>
                    <a:lstStyle/>
                    <a:p>
                      <a:r>
                        <a:rPr sz="1500" b="0" i="0">
                          <a:solidFill>
                            <a:srgbClr val="11202B"/>
                          </a:solidFill>
                          <a:latin typeface="Malgun Gothic"/>
                          <a:ea typeface="Malgun Gothic"/>
                          <a:cs typeface="Malgun Gothic"/>
                        </a:rPr>
                        <a:t>기본</a:t>
                      </a:r>
                    </a:p>
                  </a:txBody>
                  <a:tcPr marL="73152" marR="73152">
                    <a:solidFill>
                      <a:srgbClr val="ECF1F5"/>
                    </a:solidFill>
                  </a:tcPr>
                </a:tc>
                <a:tc>
                  <a:txBody>
                    <a:bodyPr/>
                    <a:lstStyle/>
                    <a:p>
                      <a:r>
                        <a:rPr sz="1500" b="0" i="0">
                          <a:solidFill>
                            <a:srgbClr val="11202B"/>
                          </a:solidFill>
                          <a:latin typeface="Malgun Gothic"/>
                          <a:ea typeface="Malgun Gothic"/>
                          <a:cs typeface="Malgun Gothic"/>
                        </a:rPr>
                        <a:t>결핍 교정</a:t>
                      </a:r>
                    </a:p>
                  </a:txBody>
                  <a:tcPr marL="73152" marR="73152">
                    <a:solidFill>
                      <a:srgbClr val="ECF1F5"/>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골은 내분비 기관: 오스테오칼신(저카복실화형)이 인슐린 분비·남성 생식능·기억에 영향을 준다는 쥐 연구가 있으나 인간 재현성 논쟁이 있다. 골수 지방조직과 조혈·대사의 상호작용도 주목받는다.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FGF23–Klotho 축의 노화 연관성(Klotho 결손 쥐의 조로 표현형)과 가용성 Klotho 보충의 신장·인지 보호 효과가 전임상에서 보고되었다.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단일세포 아틀라스로 성장판 줄기세포(PTHrP⁺ 휴지대 세포), 골막 줄기세포가 정의되고, 노인 골절 치유를 높이는 표적이 탐색되고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칼슘·인 항상성은 CaSR–PTH, 비타민 D(CYP2R1 → CYP27B1 → CYP24A1), FGF23–Klotho가 장·신장·뼈에서 통합 조절한다.</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PTH는 Ca↑·인↓·1,25-D↑, FGF23은 인↓·1,25-D↓를 일으키며 25(OH)D가 비타민 D 영양 지표이다.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뼈 재형성은 RANKL/OPG(흡수)와 Wnt/스클레로스틴(형성)으로 조절되며 단일유전자 질환이 약물 표적을 알려주었다.</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구루병·골연화증은 Ca 결핍형과 인 결핍형(FGF23 과잉 — XLH, TIO)으로 감별하고, 부갑상선 질환은 Ca–인–PTH–소변 Ca 패턴으로 진단한다.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골다공증 치료는 비스포스포네이트·데노수맙(흡수 억제), 테리파라타이드·로모소주맙(동화)이며 초고위험군은 동화제 우선이다.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고칼슘혈증(10.9 mg/dL), PTH 경도 상승, 소변 Ca/Cr 청소율 비 0.006, 가족 중 같은 소견. 진단과 관리는?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가족성 저칼슘뇨성 고칼슘혈증(FHH; CASR 기능소실). CaSR 설정점이 높아져 부갑상선과 신장이 높은 칼슘을 '정상'으로 인식하므로 PTH가 억제되지 않고 신장의 칼슘 배설이 낮다. 대개 양성으로 부갑상선 절제술이 효과가 없으므로 원발성 부갑상선기능항진과 감별해 불필요한 수술을 피하는 것이 핵심이다.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저인산혈증 구루병 소아에서 1,25-D가 '부적절하게 정상'인 것이 XLH 진단에 중요한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정상적으로 저인산혈증은 CYP27B1을 강하게 자극해 1,25-D를 높여야 한다. XLH에서는 PHEX 결손으로 FGF23이 과다해 CYP27B1을 억제하고 CYP24A1을 유도하므로 저인산혈증에도 1,25-D가 오르지 않는다. 이 패턴(저인산 + 인산뇨 + 정상/낮은 1,25-D + 높은 FGF23)이 FGF23 매개 질환을 시사하며 부로수맙 치료로 이어진다.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데노수맙을 5년 투여한 환자가 임의로 중단한 후 수개월 내 여러 척추 골절이 생겼다. 기전과 예방법은?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데노수맙은 RANKL을 가역적으로 차단하며 뼈에 결합해 남지 않으므로, 중단 후 억제되어 있던 파골전구세포가 한꺼번에 활성화되어 골흡수가 기저치보다 크게 증가(반동)한다. 이로 인해 골밀도가 빠르게 소실되고 다발 척추골절이 생긴다. 중단 시 6개월 시점에 비스포스포네이트(졸레드론산 등)로 이어서 치료해야 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CKD 3기 환자에서 혈청 인과 PTH가 정상인데도 FGF23이 이미 상승해 있다. 의미는?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네프론 수가 줄어들면 남은 네프론이 인을 더 배설해야 하므로 골세포가 FGF23을 초기부터 증가시켜 인 균형을 유지한다(보상). 이 때문에 혈청 인은 늦게까지 정상이다. 그러나 FGF23 상승은 1,25-D를 낮춰 2차 부갑상선기능항진을 시작시키고, 그 자체로 좌심실 비대·사망 위험과 연관되어 CKD-MBD의 가장 이른 표지가 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Bilezikian JP (ed). Primer on the Metabolic Bone Diseases and Disorders of Mineral Metabolism, 9th ed. Wiley, 2018.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Bikle DD. Vitamin D metabolism, mechanism of action, and clinical applications. Chem Biol 2014;21:319–329.</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Carpenter TO et al. Burosumab therapy in children with X-linked hypophosphatemia. N Engl J Med 2018;378:1987–1998.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Compston JE, McClung MR, Leslie WD. Osteoporosis. Lancet 2019;393:364–376.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B04-L08  ·  칼슘·인·뼈 대사: PTH, 비타민 D, FGF23</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KDIGO 2017 Clinical Practice Guideline Update for CKD–Mineral and Bone Disorder. Kidney Int Suppl 2017;7:1–59.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