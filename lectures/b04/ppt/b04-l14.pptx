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구리 결핍(저구리 척수병증과 혈구 감소). 십이지장 우회로 구리 흡수 부위가 사라지고, 아연 보충제를 과량 복용하면 장세포 메탈로티오네인이 구리를 격리해 흡수가 더 떨어진다. 혈청 구리·세룰로플라스민을 측정하고 구리를 보충하며 아연 섭취를 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이소니아지드가 피리독신과 하이드라존을 형성하고 피리독신 키나아제를 억제해 PLP가 고갈된다. PLP는 GAD(GABA 합성)의 보조인자이므로 GABA 감소로 경련이, 신경 대사 장애로 말초신경병증이 생긴다. 고위험군(영양불량, 알코올, 당뇨, 임신, HIV)에 피리독신 25–50 mg/일을 예방 투여하며, 이소니아지드 과량 중독 시 고용량 정주 피리독신을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급성기 반응으로 간이 아연을 메탈로티오네인으로 격리하고 레티놀 결합 단백(음성 급성기 단백) 합성을 줄여 혈청 농도가 일시적으로 낮아질 수 있다. 따라서 결핍으로 단정하지 말고 염증이 가라앉은 뒤 재측정하거나 염증 보정 기준을 적용하며, 임상적 결핍 증상 유무를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영아 비타민 B12 결핍. 식물성 식품에는 B12가 거의 없어 산모의 B12 저장과 모유 B12가 낮고, 영아는 저장이 적어 수개월 내 결핍된다. 메티오닌 합성효소·메틸말로닐-CoA 뮤타아제 기능 저하로 수초 형성과 DNA 합성이 장애되어 퇴행·거대적모구빈혈이 생긴다. MMA·Hcy 상승을 확인하고 즉시 B12를 투여하며(대개 빠른 회복), 산모도 보충한다.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B04 생애주기의학과 생화학  ·  영양대사학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비타민과 미량원소: 생화학과 결핍증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Vitamins and Trace Elements: Biochemistry and Deficiency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B04-L14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수용성 비타민(B군, C)의 활성형·보조효소 기능·결핍증을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지용성 비타민(A, D, E, K)의 대사·기능·결핍과 과잉 독성을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미량원소(철, 아연, 구리, 셀레늄, 요오드, 망간, 몰리브덴, 크롬)의 효소 기능과 결핍·과잉을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위험군(알코올, 비만수술, 고령, 채식, 임신, 투석, 장기 TPN)의 미량영양소 평가를 수행한다.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결핍의 생화학적 진단 검사(기능 검사 포함)를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수용성 비타민 (B군)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비타민 C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지용성 비타민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미량원소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위험군 평가와 진단 검사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수용성 비타민 (B군)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엽산–B12 '메틸 함정'과 감별 지표(MMA)는 B01 L05, L10 참조.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수용성 비타민 (B군)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비타민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효소·반응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결핍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주의·과잉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B1 티아민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PDH, α-KGDH, BCKDH,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트랜스케톨라아제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각기병(습성: 고박출 심부전, 건성: 말초신경병증),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베르니케 뇌병증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(안구운동마비·운동실조·혼동) → 코르사코프; 젖산산증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알코올·비만수술·구토(임신오조)·재급식 위험; 포도당 전에 투여; 적혈구 트랜스케톨라아제 활성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B2 리보플라빈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FMN, FAD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복합체 I·II, 아실-CoA 탈수소효소, 글루타티온 환원효소, MTHFR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구각염, 설염, 지루피부염, 빈혈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MADD 리보플라빈 반응형, 브라운-비알레토-반 랄레 증후군(SLC52A2/3 수송체 — 고용량 치료)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B3 나이아신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NAD⁺, NADP⁺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산화환원 수백 종, 서투인·PARP 기질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펠라그라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피부염(햇빛 노출, 카살 목걸이), 설사, 치매(4D)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트립토판에서 합성(B01 L11); 고용량 → 홍조(PGD₂), 간독성, 고혈당·요산↑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B5 판토텐산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CoA, ACP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아실기 운반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드묾(작열족 증후군)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PANK2 → PKAN(판토텐산 키나아제 신경퇴행 — 뇌 철 축적 '호랑이 눈' MRI)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B6 피리독신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아미노기 전이, 탈카복실화(GABA, 세로토닌, 도파민, 히스타민, 헴 ALAS), CBS, 글리코겐 포스포릴라아제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경련(영아), 철모구빈혈, 구각염, 말초신경병증, 우울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 길항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이소니아지드(PLP 고갈 → 신경병증·경련 — 예방 투여), 하이드랄라진, 페니실라민; 과잉(&gt;100–200 mg/일 장기) →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감각신경병증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(역설)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B7 비오틴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비오틴-리신(바이오시틴)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카복실화효소 4종(PC, ACC, PCC, MCC)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피부염, 탈모, 신경 증상 — 날달걀 흰자(아비딘), 비오티니다아제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고용량 → 면역분석 간섭(B03 L09)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B9 엽산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THF 유도체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일탄소 — 퓨린, 티미딜산, 메티오닌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거대적모구빈혈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신경관 결손, Hcy↑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메토트렉세이트·트라이메토프림·페니토인·알코올; B12 결핍 은폐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B12 코발라민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메틸코발라민, 아데노실코발라민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메티오닌 합성효소, 메틸말로닐-CoA 뮤타아제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거대적모구빈혈 +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신경(아급성 연합 변성)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MMA·Hcy↑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흡수 경로·원인(B03 L04); N₂O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비타민 C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아스코르브산: 인간은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굴로노락톤 산화효소(GULO) 유사유전자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합성 불가(영장류·기니피그·박쥐 공통).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기능: Fe²⁺/Cu⁺ 의존 이산소화효소의 환원제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프롤릴·리실 수산화효소(콜라겐)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도파민 β-수산화효소(노르에피네프린), 카르니틴 합성, 펩타이드 아미드화(PAM), TET·JmjC(후성유전), HIF-PHD; 장 비헴철 흡수(Fe³⁺ → Fe²⁺), 항산화(비타민 E 재생).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괴혈병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(B02 L09): 피로·우울 → 모낭 주위 출혈·코르크스크류 모발 → 잇몸 출혈·치아 탈락 → 상처 치유 지연·골막하 출혈(소아 '개구리 다리' 자세) → 사망. 현대 위험군: 노인 독거, 알코올, 극단적 편식(자폐 아동), 투석, 비만수술.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비타민 C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과잉: 고용량(&gt;2 g/일) → 옥살산 결석, 철 과부하 악화, G6PD 결핍 용혈(정주 고용량), 포도당 측정 간섭(일부 혈당계).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지용성 비타민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지용성 비타민은 지방 흡수(담즙산·췌장효소·킬로미크론)에 의존하므로 흡수장애·담즙정체·오르리스타트·담즙산 결합제·비만수술에서 다발 결핍.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지용성 비타민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비타민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활성형·기능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결핍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과잉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(레티놀, β-카로틴)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11-cis-레티날(로돕신; 시각 회로), 레티노산(RAR/RXR — 상피 분화·면역·발생)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야맹증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(최초), 비토 반점, 각막연화·실명(개발도상국 소아 실명 주원인), 감염(홍역 사망↑ → 비타민 A 투여), 모낭 각화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급성: 두개내압 상승(가성 뇌종양), 두통·구토 / 만성: 간독성, 골다공증,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기형 유발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(이소트레티노인; B04 L01); β-카로틴은 독성 낮음(흡연자 폐암↑ — ATBC·CARET)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1,25(OH)₂D–VDR (B04 L08)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구루병·골연화증, 근력저하·낙상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고칼슘혈증·고칼슘뇨·신석회증(25-D &gt;150 ng/mL), CYP24A1 결손 감수성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(α-토코페롤)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막 지질 과산화 연쇄 차단(지용성 항산화)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척수소뇌 운동실조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·후삭 장애·말초신경병증·망막병증,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용혈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(미숙아), 원인: 지방흡수장애(CF, 담즙정체, 무베타지단백혈증), TTPA 결손(AVED; 프리드라이히 유사)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고용량 → 출혈 경향(비타민 K 길항), 출혈성 뇌졸중↑(SELECT: 전립선암↑)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(K1 필로퀴논, K2 메나퀴논)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γ-글루타밀 카복실화효소 보조인자 → 응고인자 II·VII·IX·X, 단백 C·S, 오스테오칼신, MGP(혈관 석회화 억제);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VKORC1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재생(와파린 표적)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출혈(INR↑) — 신생아(B04 L03), 장기 항생제 + 금식, 지방흡수장애, 담즙정체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K3(메나디온) 신생아 용혈·핵황달 → 사용 안 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미량원소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효소·기능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결핍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과잉·질환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헴(Hb, 미오글로빈, CYP, 시토크롬), Fe–S(복합체 I–III, 아코니타아제), RNR, PHD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빈혈, 피로, 이식증(얼음), 하지불안, 영아 인지 발달 저하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혈색소증, 급성 중독(소아 철제 — 데페록사민) (B03 L08)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300여 효소(탄산탈수효소, ALP, ADH, SOD1, 레티놀 결합), 아연 손가락 전사인자(약 3% 유전자)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장병성 피부염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(SLC39A4/ZIP4 — 영아 이유 후 사지·구강 주위 피부염, 탈모, 설사), 상처 치유 지연, 미각 저하, 성장·성선 기능 저하, 면역 저하(설사 → WHO 아연 보충)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과잉 보충 →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구리 결핍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(장 메탈로티오네인 유도로 구리 격리) → 빈혈·호중구감소·척수병증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세룰로플라스민(페록시다아제 — 철 산화), 시토크롬 c 산화효소, SOD1, 리실 산화효소, 도파민 β-수산화효소, 티로시나아제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소구성 빈혈·호중구감소,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척수병증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(B12 결핍 유사), 골다공증 — 비만수술·아연 과잉·장기 TPN; 멘케스병(ATP7A)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윌슨병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(ATP7B; B03 L04), 인도 소아 간경변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셀레늄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셀레노단백(GPx, 티오레독신 환원효소, 탈요오드효소 D1–3, 셀레노단백 P)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케샨병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(중국 셀레늄 부족 토양 — 심근병증, 콕사키바이러스 독성 증가), 카신-벡병(골관절), 근병증, 갑상선 기능 저하 동반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셀레늄증(마늘 호흡, 손발톱·모발 변화); 2형 당뇨 위험↑(SELECT)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요오드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갑상선호르몬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갑상선종, 크레틴병(지적장애의 예방 가능 주원인), 임신 중 요구 증가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과잉: 볼프-차이코프·요드-바세도우(B04 L06), 해조류 다량 섭취국(한국·일본) 자가면역 갑상선염 연관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망간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Mn-SOD(미토콘드리아), 아르기나아제, PEPCK, 글리코실전이효소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드묾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신경독성(망간 중독)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용접공·광부·장기 TPN·간부전 → 파킨슨증(담창구 T1 고신호), SLC30A10·SLC39A14 유전성 축적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몰리브덴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몰리브덴 보조인자: 크산틴 산화효소,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아황산 산화효소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알데하이드 산화효소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보조인자 결핍(MOCS1/2) → 신생아 난치성 경련·수정체 탈구·저요산혈증 → 포스데노프테린(MOCS1 A형 치료)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인슐린 작용 보조 가설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TPN 장기 시 내당능 장애(논쟁)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6가 크롬 발암(산업)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미량원소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효소·기능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결핍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과잉·질환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법랑질 플루오로아파타이트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반점치, 골불소증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코발트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B12 구성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(B12로)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금속-금속 인공관절 → 심근병증·시신경병증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위험군 평가와 진단 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검사의 함정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혈중 농도 ≠ 조직 상태: 아연·셀레늄·철(페리틴)·비타민 A(레티놀 결합 단백)는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급성기 반응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으로 염증 시 감소/증가 → CRP 동시 측정.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기능 검사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적혈구 트랜스케톨라아제(B1), 적혈구 글루타티온 환원효소 활성 계수(B2), MMA·Hcy(B12·엽산), PIVKA-II(비타민 K), 상대적 용량-반응(비타민 A).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25(OH)D(비타민 D 상태), 1,25-D는 아님.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결핍 의심 시 검사 결과를 기다리지 않고 치료(티아민).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위험군 평가와 진단 검사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 결핍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알코올 사용장애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B1(최우선), 엽산, B6, B3, Mg, Zn, 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비만대사수술 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B12, 철, 칼슘·비타민 D, B1(구토), 구리, 아연, 지용성 비타민(담췌관 전환술) — 평생 보충·연례 검사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B12(위축성 위염·PPI·메트포르민), 비타민 D, 단백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엄격한 채식(비건)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B12(필수 보충), 철, 아연, 요오드, 칼슘, n-3 장쇄지방산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임신·수유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엽산(임신 전부터), 철, 요오드, 비타민 D, 콜린, DHA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수용성 비타민(투석 손실: B1, B6, 엽산, C), 아연; 비타민 A 축적 주의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장기 TPN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필수지방산, 미량원소(구리·셀레늄·아연·망간 과잉/결핍 모두), 카르니틴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염증성 장질환·단장증후군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B12(회장), 지용성 비타민, 아연, 마그네슘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위험군 평가와 진단 검사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 결핍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메토트렉세이트(엽산), 이소니아지드(B6), PPI(B12·Mg·철), 메트포르민(B12), 항경련제(D·엽산), 와파린(K 상호작용)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미량영양소 '은밀한 기아(hidden hunger)'는 전 세계 20억 명 이상에 영향 — 생물강화 작물(황금쌀 — β-카로틴, 아연 강화 밀)과 강화 식품 정책이 공중보건 과제이다.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대규모 보충 RCT(VITAL — 비타민 D·n-3, D-Health)는 일반 성인에서 암·심혈관 예방 효과가 없음을 보여, '결핍 교정'과 '충분한 상태에서 추가 보충'을 구분해야 함을 강조했다.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장내 미생물의 비타민 합성·소비(B12 유사체 경쟁, 비타민 K2 합성)와 숙주 상태의 상호작용 연구가 진행 중이다.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B군 비타민은 보조효소(TPP, FAD, NAD⁺, CoA, PLP, 비오틴, THF, 코발라민)로 에너지·아미노산·일탄소 대사를 지원하며 결핍은 신경·혈액·피부 증상으로 나타난다.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비타민 C는 수산화효소의 환원제로 콜라겐·카르니틴·카테콜아민 합성에 필요하며 결핍 시 괴혈병이 생긴다.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지용성 비타민 A·D·E·K는 지방 흡수에 의존하며 결핍과 과잉 독성(A·D·E)이 모두 임상적으로 중요하다.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미량원소(철, 아연, 구리, 셀레늄, 요오드, 망간, 몰리브덴)는 금속효소의 핵심이며 아연 과잉에 의한 구리 결핍처럼 상호작용한다.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위험군 선별, 급성기 반응 보정, 기능 검사가 결핍 평가의 원칙이다.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비만대사수술 10년 후 환자가 보행 장애·감각 저하와 빈혈·호중구감소를 보인다. B12는 정상이다. 의심 결핍과 원인은?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구리 결핍(저구리 척수병증과 혈구 감소). 십이지장 우회로 구리 흡수 부위가 사라지고, 아연 보충제를 과량 복용하면 장세포 메탈로티오네인이 구리를 격리해 흡수가 더 떨어진다. 혈청 구리·세룰로플라스민을 측정하고 구리를 보충하며 아연 섭취를 조정한다.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결핵 치료 중 손발 저림과 경련이 생겼다. 생화학적 원인과 예방은?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이소니아지드가 피리독신과 하이드라존을 형성하고 피리독신 키나아제를 억제해 PLP가 고갈된다. PLP는 GAD(GABA 합성)의 보조인자이므로 GABA 감소로 경련이, 신경 대사 장애로 말초신경병증이 생긴다. 고위험군(영양불량, 알코올, 당뇨, 임신, HIV)에 피리독신 25–50 mg/일을 예방 투여하며, 이소니아지드 과량 중독 시 고용량 정주 피리독신을 준다.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감염으로 CRP가 120 mg/L인 환자의 혈청 아연과 레티놀이 낮게 나왔다. 해석은?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급성기 반응으로 간이 아연을 메탈로티오네인으로 격리하고 레티놀 결합 단백(음성 급성기 단백) 합성을 줄여 혈청 농도가 일시적으로 낮아질 수 있다. 따라서 결핍으로 단정하지 말고 염증이 가라앉은 뒤 재측정하거나 염증 보정 기준을 적용하며, 임상적 결핍 증상 유무를 함께 본다.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엄격한 비건 산모의 모유만 먹은 영아가 생후 8개월에 발달 퇴행과 근긴장저하를 보였다. 의심 진단과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영아 비타민 B12 결핍. 식물성 식품에는 B12가 거의 없어 산모의 B12 저장과 모유 B12가 낮고, 영아는 저장이 적어 수개월 내 결핍된다. 메티오닌 합성효소·메틸말로닐-CoA 뮤타아제 기능 저하로 수초 형성과 DNA 합성이 장애되어 퇴행·거대적모구빈혈이 생긴다. MMA·Hcy 상승을 확인하고 즉시 B12를 투여하며(대개 빠른 회복), 산모도 보충한다.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Ross AC et al. (eds). Modern Nutrition in Health and Disease, 11th ed. Lippincott, 2014.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Sinha AK et al. Wernicke encephalopathy — clinical pearls. Mayo Clin Proc 2019;94:1065–1072.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Mechanick JI et al. Clinical practice guidelines for the perioperative nutrition, metabolic, and nonsurgical support of patients undergoing bariatric procedures — 2019 update. Obesity 2020;28:O1–O58.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B04-L14  ·  비타민과 미량원소: 생화학과 결핍증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Kumar N. Neurologic presentations of nutritional deficiencies. Neurol Clin 2010;28:107–170.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보건복지부·한국영양학회. 2020 한국인 영양소 섭취기준. 2020.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