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López-Otín 등(2013, 2023 개정)은 노화의 특징을 12가지로 정리했다: (1) 이를 악화시키면 노화가 가속되고, (2) 개선하면 노화가 지연되며, (3) 나이에 따라 나타나야 한다는 기준.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단순한 '자유 라디칼 노화 이론'(ROS 손상 축적이 노화의 주원인)이 수정되었다. ROS는 적정 수준에서 운동 적응·미토호르메시스·면역에 필요한 신호 분자이며, 무분별한 항산화제가 이런 적응을 방해하거나(운동 효과 감소) 일부 암 위험을 높일 수 있다. 노화는 다중 특징의 네트워크로 이해된다.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노화 세포는 SASP를 통해 IL-6·IL-1·MMP 등을 분비해 주변 세포에 측분비 노화를 전파하고, 만성 염증과 기질 리모델링을 일으키며, 줄기세포 니치를 손상시키고 면역세포를 끌어들여 조직 전체의 기능을 떨어뜨린다. 그래서 일부만 제거해도 생쥐에서 건강 수명 개선이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노인 근육은 '동화 저항성'을 보여 같은 양의 아미노산·단백질에 대한 mTORC1 활성화와 근단백 합성 반응이 둔하다. 따라서 끼니당 충분한 단백(25–30 g)과 류신을 공급해야 합성 역치를 넘을 수 있고, 저항 운동과 병행하면 근감소증 예방 효과가 커진다.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GrimAge는 혈장 단백·흡연량의 메틸화 대리 지표와 사망 시간을 학습한 2세대 시계로 '생물학적 나이'를 추정하며 사망·질병 예측력이 높다. DunedinPACE는 같은 사람의 여러 장기 지표가 20년간 변하는 속도를 학습한 3세대 시계로 현재의 '노화 속도'를 측정해 개입 효과(예: 칼로리 제한)의 단기 평가에 적합하다.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B04 생애주기의학과 생화학  ·  노화의학과 대사학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노화의 생화학적 특징</a:t>
            </a:r>
          </a:p>
          <a:p>
            <a:r>
              <a:rPr sz="2000" b="0" i="0">
                <a:solidFill>
                  <a:srgbClr val="C2CDD6"/>
                </a:solidFill>
                <a:latin typeface="Malgun Gothic"/>
                <a:ea typeface="Malgun Gothic"/>
                <a:cs typeface="Malgun Gothic"/>
              </a:rPr>
              <a:t>Biochemical Hallmarks of Aging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B04-L09</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노화의 12가지 특징(hallmarks)을 1차·길항·통합 범주로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유전체 불안정성·텔로미어·후성유전 변화·단백질 항상성 상실의 분자 기전을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미토콘드리아 기능 장애·세포 노화·줄기세포 고갈·염증노화의 상호관계를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생물학적 나이 측정(후성유전 시계, 단백체 시계)의 원리와 한계를 이해한다.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노년 증후군(근감소증, 노쇠)과 노화 생물학의 임상 연결을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노화 특징의 체계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1차 특징: 손상의 축적</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길항 특징: 적응 반응의 부적응</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통합 특징: 조직 기능의 쇠퇴</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생물학적 나이의 측정</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노년 증후군과 노화 생물학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노화 특징의 체계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특징들은 독립적이지 않고 서로 연결된 네트워크이며, 노화는 '프로그램'이라기보다 손상의 축적과 반응의 부적응으로 이해된다.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노화 특징의 체계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범주</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1차(손상 원인)</a:t>
                      </a:r>
                    </a:p>
                  </a:txBody>
                  <a:tcPr marL="73152" marR="73152">
                    <a:solidFill>
                      <a:srgbClr val="FFFFFF"/>
                    </a:solidFill>
                  </a:tcPr>
                </a:tc>
                <a:tc>
                  <a:txBody>
                    <a:bodyPr/>
                    <a:lstStyle/>
                    <a:p>
                      <a:r>
                        <a:rPr sz="1500" b="0" i="0">
                          <a:solidFill>
                            <a:srgbClr val="11202B"/>
                          </a:solidFill>
                          <a:latin typeface="Malgun Gothic"/>
                          <a:ea typeface="Malgun Gothic"/>
                          <a:cs typeface="Malgun Gothic"/>
                        </a:rPr>
                        <a:t>유전체 불안정성, 텔로미어 마모, 후성유전 변화, 단백질 항상성 상실, </a:t>
                      </a:r>
                      <a:r>
                        <a:rPr sz="1500" b="1" i="0">
                          <a:solidFill>
                            <a:srgbClr val="11202B"/>
                          </a:solidFill>
                          <a:latin typeface="Malgun Gothic"/>
                          <a:ea typeface="Malgun Gothic"/>
                          <a:cs typeface="Malgun Gothic"/>
                        </a:rPr>
                        <a:t>거대자가포식 장애</a:t>
                      </a:r>
                      <a:r>
                        <a:rPr sz="1500" b="0" i="0">
                          <a:solidFill>
                            <a:srgbClr val="11202B"/>
                          </a:solidFill>
                          <a:latin typeface="Malgun Gothic"/>
                          <a:ea typeface="Malgun Gothic"/>
                          <a:cs typeface="Malgun Gothic"/>
                        </a:rPr>
                        <a:t>(2023 추가)</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길항(손상 반응 — 적정하면 이롭고 과하면 해로움)</a:t>
                      </a:r>
                    </a:p>
                  </a:txBody>
                  <a:tcPr marL="73152" marR="73152">
                    <a:solidFill>
                      <a:srgbClr val="ECF1F5"/>
                    </a:solidFill>
                  </a:tcPr>
                </a:tc>
                <a:tc>
                  <a:txBody>
                    <a:bodyPr/>
                    <a:lstStyle/>
                    <a:p>
                      <a:r>
                        <a:rPr sz="1500" b="0" i="0">
                          <a:solidFill>
                            <a:srgbClr val="11202B"/>
                          </a:solidFill>
                          <a:latin typeface="Malgun Gothic"/>
                          <a:ea typeface="Malgun Gothic"/>
                          <a:cs typeface="Malgun Gothic"/>
                        </a:rPr>
                        <a:t>영양 감지 탈조절, 미토콘드리아 기능 장애, 세포 노화</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통합(표현형)</a:t>
                      </a:r>
                    </a:p>
                  </a:txBody>
                  <a:tcPr marL="73152" marR="73152">
                    <a:solidFill>
                      <a:srgbClr val="FFFFFF"/>
                    </a:solidFill>
                  </a:tcPr>
                </a:tc>
                <a:tc>
                  <a:txBody>
                    <a:bodyPr/>
                    <a:lstStyle/>
                    <a:p>
                      <a:r>
                        <a:rPr sz="1500" b="0" i="0">
                          <a:solidFill>
                            <a:srgbClr val="11202B"/>
                          </a:solidFill>
                          <a:latin typeface="Malgun Gothic"/>
                          <a:ea typeface="Malgun Gothic"/>
                          <a:cs typeface="Malgun Gothic"/>
                        </a:rPr>
                        <a:t>줄기세포 고갈, 세포 간 소통 변화, </a:t>
                      </a:r>
                      <a:r>
                        <a:rPr sz="1500" b="1" i="0">
                          <a:solidFill>
                            <a:srgbClr val="11202B"/>
                          </a:solidFill>
                          <a:latin typeface="Malgun Gothic"/>
                          <a:ea typeface="Malgun Gothic"/>
                          <a:cs typeface="Malgun Gothic"/>
                        </a:rPr>
                        <a:t>만성 염증</a:t>
                      </a:r>
                      <a:r>
                        <a:rPr sz="1500" b="0" i="0">
                          <a:solidFill>
                            <a:srgbClr val="11202B"/>
                          </a:solidFill>
                          <a:latin typeface="Malgun Gothic"/>
                          <a:ea typeface="Malgun Gothic"/>
                          <a:cs typeface="Malgun Gothic"/>
                        </a:rPr>
                        <a:t>(2023), </a:t>
                      </a:r>
                      <a:r>
                        <a:rPr sz="1500" b="1" i="0">
                          <a:solidFill>
                            <a:srgbClr val="11202B"/>
                          </a:solidFill>
                          <a:latin typeface="Malgun Gothic"/>
                          <a:ea typeface="Malgun Gothic"/>
                          <a:cs typeface="Malgun Gothic"/>
                        </a:rPr>
                        <a:t>장내 미생물 불균형</a:t>
                      </a:r>
                      <a:r>
                        <a:rPr sz="1500" b="0" i="0">
                          <a:solidFill>
                            <a:srgbClr val="11202B"/>
                          </a:solidFill>
                          <a:latin typeface="Malgun Gothic"/>
                          <a:ea typeface="Malgun Gothic"/>
                          <a:cs typeface="Malgun Gothic"/>
                        </a:rPr>
                        <a:t>(2023)</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1차 특징: 손상의 축적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유전체 불안정성</a:t>
            </a:r>
            <a:r>
              <a:rPr sz="1800" b="0" i="0">
                <a:solidFill>
                  <a:srgbClr val="11202B"/>
                </a:solidFill>
                <a:latin typeface="Malgun Gothic"/>
                <a:ea typeface="Malgun Gothic"/>
                <a:cs typeface="Malgun Gothic"/>
              </a:rPr>
              <a:t>: 체세포 변이 축적(정상 조직에서 연 15–50개/세포; B02 L04), 염색체 이상, 미토콘드리아 DNA 결실, 전위인자(LINE-1) 재활성 → cGAS–STING 인터페론 염증. 조기 노화 증후군의 대부분이 DNA 수선 결함이다(베르너 WRN, 코케인, XP일부, 블룸).</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클론성 조혈(CHIP)</a:t>
            </a:r>
            <a:r>
              <a:rPr sz="1600" b="0" i="0">
                <a:solidFill>
                  <a:srgbClr val="2E3F4C"/>
                </a:solidFill>
                <a:latin typeface="Malgun Gothic"/>
                <a:ea typeface="Malgun Gothic"/>
                <a:cs typeface="Malgun Gothic"/>
              </a:rPr>
              <a:t>: 노인 혈액 클론 확장 → 혈액암·심혈관·신장질환 위험(B03 L01). Y 염색체 소실(LOY)도 남성 노화 표지.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텔로미어 마모</a:t>
            </a:r>
            <a:r>
              <a:rPr sz="1800" b="0" i="0">
                <a:solidFill>
                  <a:srgbClr val="11202B"/>
                </a:solidFill>
                <a:latin typeface="Malgun Gothic"/>
                <a:ea typeface="Malgun Gothic"/>
                <a:cs typeface="Malgun Gothic"/>
              </a:rPr>
              <a:t>: 복제 시 단축, 산화 손상에 취약 → 셸터린 기능 상실 → DNA 손상 반응 → 세포 노화. 텔로미어 생물학 장애는 조기 노화 질환(폐섬유증, 골수부전; B02 L04). 텔로머레이스 재활성 생쥐는 노화 표현형 일부 역전.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1차 특징: 손상의 축적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후성유전 변화</a:t>
            </a:r>
            <a:r>
              <a:rPr sz="1800" b="0" i="0">
                <a:solidFill>
                  <a:srgbClr val="11202B"/>
                </a:solidFill>
                <a:latin typeface="Malgun Gothic"/>
                <a:ea typeface="Malgun Gothic"/>
                <a:cs typeface="Malgun Gothic"/>
              </a:rPr>
              <a:t>: DNA 메틸화 패턴 표류(전체 저메틸화 + 국소 과메틸화), 히스톤 변형·변이체 변화, 이질염색질 소실, 크로마틴 접근성 변화, 전사 잡음 증가. </a:t>
            </a:r>
            <a:r>
              <a:rPr sz="1800" b="1" i="0">
                <a:solidFill>
                  <a:srgbClr val="11202B"/>
                </a:solidFill>
                <a:latin typeface="Malgun Gothic"/>
                <a:ea typeface="Malgun Gothic"/>
                <a:cs typeface="Malgun Gothic"/>
              </a:rPr>
              <a:t>'노화의 정보 이론'</a:t>
            </a:r>
            <a:r>
              <a:rPr sz="1800" b="0" i="0">
                <a:solidFill>
                  <a:srgbClr val="11202B"/>
                </a:solidFill>
                <a:latin typeface="Malgun Gothic"/>
                <a:ea typeface="Malgun Gothic"/>
                <a:cs typeface="Malgun Gothic"/>
              </a:rPr>
              <a:t>: 후성유전 정보 소실이 노화를 일으키며 부분적 재프로그래밍(OSK)으로 회복 가능하다는 가설(Sinclair 그룹; ICE 생쥐 — 논쟁 있음).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단백질 항상성 상실</a:t>
            </a:r>
            <a:r>
              <a:rPr sz="1800" b="0" i="0">
                <a:solidFill>
                  <a:srgbClr val="11202B"/>
                </a:solidFill>
                <a:latin typeface="Malgun Gothic"/>
                <a:ea typeface="Malgun Gothic"/>
                <a:cs typeface="Malgun Gothic"/>
              </a:rPr>
              <a:t>: 샤페론·UPS·자가포식 능력 저하 → 잘못 접힌 단백 응집(Aβ, α-시누클레인, TDP-43), 산화·당화 변형 단백 축적(B02 L09). 장수 동물(벌거숭이두더지쥐)은 단백질 항상성이 뛰어나다.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거대자가포식 장애</a:t>
            </a:r>
            <a:r>
              <a:rPr sz="1800" b="0" i="0">
                <a:solidFill>
                  <a:srgbClr val="11202B"/>
                </a:solidFill>
                <a:latin typeface="Malgun Gothic"/>
                <a:ea typeface="Malgun Gothic"/>
                <a:cs typeface="Malgun Gothic"/>
              </a:rPr>
              <a:t>: 리소좀·자가포식 효율 감소 → 손상 소기관·응집체 축적; 스페르미딘·라파마이신·운동이 자가포식을 유도해 수명 연장(동물).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길항 특징: 적응 반응의 부적응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영양 감지 탈조절</a:t>
            </a:r>
            <a:r>
              <a:rPr sz="2000" b="0" i="0">
                <a:solidFill>
                  <a:srgbClr val="11202B"/>
                </a:solidFill>
                <a:latin typeface="Malgun Gothic"/>
                <a:ea typeface="Malgun Gothic"/>
                <a:cs typeface="Malgun Gothic"/>
              </a:rPr>
              <a:t>: 인슐린/IGF-1, mTOR, AMPK, 서투인 경로 — 상세는 B04 L10. 핵심: 동화 신호 감소가 수명을 연장한다(진화적으로 보존).</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미토콘드리아 기능 장애</a:t>
            </a:r>
            <a:r>
              <a:rPr sz="2000" b="0" i="0">
                <a:solidFill>
                  <a:srgbClr val="11202B"/>
                </a:solidFill>
                <a:latin typeface="Malgun Gothic"/>
                <a:ea typeface="Malgun Gothic"/>
                <a:cs typeface="Malgun Gothic"/>
              </a:rPr>
              <a:t>: 호흡사슬 효율↓, ROS 증가(그러나 ROS는 신호 분자로 '미토호르메시스' 가능 — 단순한 '자유 라디칼 노화 이론'은 항산화제 보충 실패로 수정됨), mtDNA 변이·결실, 미토파지↓, NAD⁺↓, 미토콘드리아 생합성(PGC-1α)↓, 미토콘드리아 유래 DAMP(mtDNA 방출 → cGAS–STING, TLR9).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길항 특징: 적응 반응의 부적응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세포 노화(senescence)</a:t>
            </a:r>
            <a:r>
              <a:rPr sz="1800" b="0" i="0">
                <a:solidFill>
                  <a:srgbClr val="11202B"/>
                </a:solidFill>
                <a:latin typeface="Malgun Gothic"/>
                <a:ea typeface="Malgun Gothic"/>
                <a:cs typeface="Malgun Gothic"/>
              </a:rPr>
              <a:t>: 비가역 주기 정지(p16INK4a, p21), SA-β-gal, 자멸 저항(BCL-2 계열↑), </a:t>
            </a:r>
            <a:r>
              <a:rPr sz="1800" b="1" i="0">
                <a:solidFill>
                  <a:srgbClr val="11202B"/>
                </a:solidFill>
                <a:latin typeface="Malgun Gothic"/>
                <a:ea typeface="Malgun Gothic"/>
                <a:cs typeface="Malgun Gothic"/>
              </a:rPr>
              <a:t>SASP</a:t>
            </a:r>
            <a:r>
              <a:rPr sz="1800" b="0" i="0">
                <a:solidFill>
                  <a:srgbClr val="11202B"/>
                </a:solidFill>
                <a:latin typeface="Malgun Gothic"/>
                <a:ea typeface="Malgun Gothic"/>
                <a:cs typeface="Malgun Gothic"/>
              </a:rPr>
              <a:t>(IL-6, IL-1, IL-8, MMP, PAI-1, GDF15) → 주변 세포 노화 전파·만성 염증·조직 리모델링. 노화 세포는 나이에 따라 축적되며(면역 제거 감소), 제거하면 생쥐의 건강 수명이 연장된다(p16-INK-ATTAC, Baker et al., Nature 2011/2016).</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세놀리틱스</a:t>
            </a:r>
            <a:r>
              <a:rPr sz="1600" b="0" i="0">
                <a:solidFill>
                  <a:srgbClr val="2E3F4C"/>
                </a:solidFill>
                <a:latin typeface="Malgun Gothic"/>
                <a:ea typeface="Malgun Gothic"/>
                <a:cs typeface="Malgun Gothic"/>
              </a:rPr>
              <a:t>: 다사티닙 + 퀘르세틴(D+Q), 피세틴, 나비토클락스(BCL-2/xL), 노화 세포 표면 표지(uPAR) CAR-T. 인간 소규모 시험(특발성 폐섬유증, 당뇨 신병증)은 초기 단계.</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세노모픽스</a:t>
            </a:r>
            <a:r>
              <a:rPr sz="1600" b="0" i="0">
                <a:solidFill>
                  <a:srgbClr val="2E3F4C"/>
                </a:solidFill>
                <a:latin typeface="Malgun Gothic"/>
                <a:ea typeface="Malgun Gothic"/>
                <a:cs typeface="Malgun Gothic"/>
              </a:rPr>
              <a:t>: SASP 억제(JAK 억제제, 라파마이신, 메트포르민).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통합 특징: 조직 기능의 쇠퇴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줄기세포 고갈</a:t>
            </a:r>
            <a:r>
              <a:rPr sz="1800" b="0" i="0">
                <a:solidFill>
                  <a:srgbClr val="11202B"/>
                </a:solidFill>
                <a:latin typeface="Malgun Gothic"/>
                <a:ea typeface="Malgun Gothic"/>
                <a:cs typeface="Malgun Gothic"/>
              </a:rPr>
              <a:t>: 조혈모세포의 골수계 편향·클론 감소, 근육 위성세포 감소(근감소증), 신경 줄기세포 감소(해마 신경생성 — 인간 성인 신경생성 존재 여부 논쟁), 장 줄기세포 기능 저하. 원인: 니치 노화, 세포 내재 손상, 전신 인자.</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세포 간 소통 변화</a:t>
            </a:r>
            <a:r>
              <a:rPr sz="1800" b="0" i="0">
                <a:solidFill>
                  <a:srgbClr val="11202B"/>
                </a:solidFill>
                <a:latin typeface="Malgun Gothic"/>
                <a:ea typeface="Malgun Gothic"/>
                <a:cs typeface="Malgun Gothic"/>
              </a:rPr>
              <a:t>: 내분비(GH/IGF-1, 성호르몬, 멜라토닌 감소), 신경내분비, 전신 인자 — </a:t>
            </a:r>
            <a:r>
              <a:rPr sz="1800" b="1" i="0">
                <a:solidFill>
                  <a:srgbClr val="11202B"/>
                </a:solidFill>
                <a:latin typeface="Malgun Gothic"/>
                <a:ea typeface="Malgun Gothic"/>
                <a:cs typeface="Malgun Gothic"/>
              </a:rPr>
              <a:t>이종 결합(parabiosis)</a:t>
            </a:r>
            <a:r>
              <a:rPr sz="1800" b="0" i="0">
                <a:solidFill>
                  <a:srgbClr val="11202B"/>
                </a:solidFill>
                <a:latin typeface="Malgun Gothic"/>
                <a:ea typeface="Malgun Gothic"/>
                <a:cs typeface="Malgun Gothic"/>
              </a:rPr>
              <a:t> 실험: 젊은 혈액이 늙은 생쥐의 근육·간·뇌 재생을 개선, 늙은 혈액은 젊은 생쥐에 해로움. 후보 인자: GDF11(논쟁), 옥시토신, TIMP2, 혈소판 인자 4(PF4 — 인지 개선), 늙은 혈액의 β2-마이크로글로불린·CCL11.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통합 특징: 조직 기능의 쇠퇴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만성 염증(inflammaging)</a:t>
            </a:r>
            <a:r>
              <a:rPr sz="2000" b="0" i="0">
                <a:solidFill>
                  <a:srgbClr val="11202B"/>
                </a:solidFill>
                <a:latin typeface="Malgun Gothic"/>
                <a:ea typeface="Malgun Gothic"/>
                <a:cs typeface="Malgun Gothic"/>
              </a:rPr>
              <a:t>: 저등급 전신 염증(IL-6, CRP, TNF↑) — 원인: 노화 세포 SASP, 면역노화(흉선 퇴화 → 순수 T세포↓·기억/소진 T세포↑, CMV 만성 감염), 장벽 손상(미생물 산물), 미토콘드리아 DAMP, 클론성 조혈. 노인의 감염 취약성·백신 반응 저하·만성질환 위험과 연결.</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장내 미생물 불균형</a:t>
            </a:r>
            <a:r>
              <a:rPr sz="2000" b="0" i="0">
                <a:solidFill>
                  <a:srgbClr val="11202B"/>
                </a:solidFill>
                <a:latin typeface="Malgun Gothic"/>
                <a:ea typeface="Malgun Gothic"/>
                <a:cs typeface="Malgun Gothic"/>
              </a:rPr>
              <a:t>: 다양성 감소, 병원성 공생균 증가, 단쇄지방산 생산균 감소; 백세인은 고유한 미생물(담즙산 대사 Odoribacteraceae) — 늙은 생쥐에 젊은 미생물 이식 시 일부 회복(킬리피시·생쥐).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생물학적 나이의 측정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활용: 개입(칼로리 제한 CALERIE 시험에서 DunedinPACE 감속), 생활습관·사회적 역경의 생물학적 흔적, 임상시험 대리 지표 후보.</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한계: 시계 간 상관 낮음, 개인 수준 측정 잡음, 세포 조성 교란, 인과적 의미 불분명(표지 vs 원인), 상업적 과장.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생물학적 나이의 측정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시계</a:t>
                      </a:r>
                    </a:p>
                  </a:txBody>
                  <a:tcPr marL="73152" marR="73152">
                    <a:solidFill>
                      <a:srgbClr val="003C71"/>
                    </a:solidFill>
                  </a:tcPr>
                </a:tc>
                <a:tc>
                  <a:txBody>
                    <a:bodyPr/>
                    <a:lstStyle/>
                    <a:p>
                      <a:r>
                        <a:rPr sz="1500" b="1" i="0">
                          <a:solidFill>
                            <a:srgbClr val="FFFFFF"/>
                          </a:solidFill>
                          <a:latin typeface="Malgun Gothic"/>
                          <a:ea typeface="Malgun Gothic"/>
                          <a:cs typeface="Malgun Gothic"/>
                        </a:rPr>
                        <a:t>원리</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1세대 후성유전 시계</a:t>
                      </a:r>
                      <a:r>
                        <a:rPr sz="1500" b="0" i="0">
                          <a:solidFill>
                            <a:srgbClr val="11202B"/>
                          </a:solidFill>
                          <a:latin typeface="Malgun Gothic"/>
                          <a:ea typeface="Malgun Gothic"/>
                          <a:cs typeface="Malgun Gothic"/>
                        </a:rPr>
                        <a:t> (Horvath 2013, Hannum)</a:t>
                      </a:r>
                    </a:p>
                  </a:txBody>
                  <a:tcPr marL="73152" marR="73152">
                    <a:solidFill>
                      <a:srgbClr val="FFFFFF"/>
                    </a:solidFill>
                  </a:tcPr>
                </a:tc>
                <a:tc>
                  <a:txBody>
                    <a:bodyPr/>
                    <a:lstStyle/>
                    <a:p>
                      <a:r>
                        <a:rPr sz="1500" b="0" i="0">
                          <a:solidFill>
                            <a:srgbClr val="11202B"/>
                          </a:solidFill>
                          <a:latin typeface="Malgun Gothic"/>
                          <a:ea typeface="Malgun Gothic"/>
                          <a:cs typeface="Malgun Gothic"/>
                        </a:rPr>
                        <a:t>수백 CpG 메틸화로 </a:t>
                      </a:r>
                      <a:r>
                        <a:rPr sz="1500" b="1" i="0">
                          <a:solidFill>
                            <a:srgbClr val="11202B"/>
                          </a:solidFill>
                          <a:latin typeface="Malgun Gothic"/>
                          <a:ea typeface="Malgun Gothic"/>
                          <a:cs typeface="Malgun Gothic"/>
                        </a:rPr>
                        <a:t>연대기적 나이</a:t>
                      </a:r>
                      <a:r>
                        <a:rPr sz="1500" b="0" i="0">
                          <a:solidFill>
                            <a:srgbClr val="11202B"/>
                          </a:solidFill>
                          <a:latin typeface="Malgun Gothic"/>
                          <a:ea typeface="Malgun Gothic"/>
                          <a:cs typeface="Malgun Gothic"/>
                        </a:rPr>
                        <a:t> 예측</a:t>
                      </a:r>
                    </a:p>
                  </a:txBody>
                  <a:tcPr marL="73152" marR="73152">
                    <a:solidFill>
                      <a:srgbClr val="FFFFFF"/>
                    </a:solidFill>
                  </a:tcPr>
                </a:tc>
                <a:tc>
                  <a:txBody>
                    <a:bodyPr/>
                    <a:lstStyle/>
                    <a:p>
                      <a:r>
                        <a:rPr sz="1500" b="0" i="0">
                          <a:solidFill>
                            <a:srgbClr val="11202B"/>
                          </a:solidFill>
                          <a:latin typeface="Malgun Gothic"/>
                          <a:ea typeface="Malgun Gothic"/>
                          <a:cs typeface="Malgun Gothic"/>
                        </a:rPr>
                        <a:t>다조직 적용(Horvath), 오차 ~3–4년</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2세대</a:t>
                      </a:r>
                      <a:r>
                        <a:rPr sz="1500" b="0" i="0">
                          <a:solidFill>
                            <a:srgbClr val="11202B"/>
                          </a:solidFill>
                          <a:latin typeface="Malgun Gothic"/>
                          <a:ea typeface="Malgun Gothic"/>
                          <a:cs typeface="Malgun Gothic"/>
                        </a:rPr>
                        <a:t> (PhenoAge, </a:t>
                      </a:r>
                      <a:r>
                        <a:rPr sz="1500" b="1" i="0">
                          <a:solidFill>
                            <a:srgbClr val="11202B"/>
                          </a:solidFill>
                          <a:latin typeface="Malgun Gothic"/>
                          <a:ea typeface="Malgun Gothic"/>
                          <a:cs typeface="Malgun Gothic"/>
                        </a:rPr>
                        <a:t>GrimAge</a:t>
                      </a:r>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사망·질병·혈액 표지와 연동해 학습</a:t>
                      </a:r>
                    </a:p>
                  </a:txBody>
                  <a:tcPr marL="73152" marR="73152">
                    <a:solidFill>
                      <a:srgbClr val="ECF1F5"/>
                    </a:solidFill>
                  </a:tcPr>
                </a:tc>
                <a:tc>
                  <a:txBody>
                    <a:bodyPr/>
                    <a:lstStyle/>
                    <a:p>
                      <a:r>
                        <a:rPr sz="1500" b="0" i="0">
                          <a:solidFill>
                            <a:srgbClr val="11202B"/>
                          </a:solidFill>
                          <a:latin typeface="Malgun Gothic"/>
                          <a:ea typeface="Malgun Gothic"/>
                          <a:cs typeface="Malgun Gothic"/>
                        </a:rPr>
                        <a:t>사망·질병 예측력 높음; '가속' = 생물학적 &gt; 연대기적 나이</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3세대</a:t>
                      </a:r>
                      <a:r>
                        <a:rPr sz="1500" b="0" i="0">
                          <a:solidFill>
                            <a:srgbClr val="11202B"/>
                          </a:solidFill>
                          <a:latin typeface="Malgun Gothic"/>
                          <a:ea typeface="Malgun Gothic"/>
                          <a:cs typeface="Malgun Gothic"/>
                        </a:rPr>
                        <a:t> (</a:t>
                      </a:r>
                      <a:r>
                        <a:rPr sz="1500" b="1" i="0">
                          <a:solidFill>
                            <a:srgbClr val="11202B"/>
                          </a:solidFill>
                          <a:latin typeface="Malgun Gothic"/>
                          <a:ea typeface="Malgun Gothic"/>
                          <a:cs typeface="Malgun Gothic"/>
                        </a:rPr>
                        <a:t>DunedinPACE</a:t>
                      </a:r>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20년간 장기 기능 변화 속도로 학습</a:t>
                      </a:r>
                    </a:p>
                  </a:txBody>
                  <a:tcPr marL="73152" marR="73152">
                    <a:solidFill>
                      <a:srgbClr val="FFFFFF"/>
                    </a:solidFill>
                  </a:tcPr>
                </a:tc>
                <a:tc>
                  <a:txBody>
                    <a:bodyPr/>
                    <a:lstStyle/>
                    <a:p>
                      <a:r>
                        <a:rPr sz="1500" b="0" i="0">
                          <a:solidFill>
                            <a:srgbClr val="11202B"/>
                          </a:solidFill>
                          <a:latin typeface="Malgun Gothic"/>
                          <a:ea typeface="Malgun Gothic"/>
                          <a:cs typeface="Malgun Gothic"/>
                        </a:rPr>
                        <a:t>'노화 속도'(1년당 생물학적 나이 변화) — 개입 효과 측정 후보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단백체 시계·장기 나이</a:t>
                      </a:r>
                    </a:p>
                  </a:txBody>
                  <a:tcPr marL="73152" marR="73152">
                    <a:solidFill>
                      <a:srgbClr val="ECF1F5"/>
                    </a:solidFill>
                  </a:tcPr>
                </a:tc>
                <a:tc>
                  <a:txBody>
                    <a:bodyPr/>
                    <a:lstStyle/>
                    <a:p>
                      <a:r>
                        <a:rPr sz="1500" b="0" i="0">
                          <a:solidFill>
                            <a:srgbClr val="11202B"/>
                          </a:solidFill>
                          <a:latin typeface="Malgun Gothic"/>
                          <a:ea typeface="Malgun Gothic"/>
                          <a:cs typeface="Malgun Gothic"/>
                        </a:rPr>
                        <a:t>혈장 단백 수천 개로 장기별 나이 추정(Oh et al., Nature 2023)</a:t>
                      </a:r>
                    </a:p>
                  </a:txBody>
                  <a:tcPr marL="73152" marR="73152">
                    <a:solidFill>
                      <a:srgbClr val="ECF1F5"/>
                    </a:solidFill>
                  </a:tcPr>
                </a:tc>
                <a:tc>
                  <a:txBody>
                    <a:bodyPr/>
                    <a:lstStyle/>
                    <a:p>
                      <a:r>
                        <a:rPr sz="1500" b="0" i="0">
                          <a:solidFill>
                            <a:srgbClr val="11202B"/>
                          </a:solidFill>
                          <a:latin typeface="Malgun Gothic"/>
                          <a:ea typeface="Malgun Gothic"/>
                          <a:cs typeface="Malgun Gothic"/>
                        </a:rPr>
                        <a:t>장기별 노화 가속이 해당 장기 질환 예측(심장 → 심부전, 뇌 → 알츠하이머)</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기타</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전사체, 대사체, 텔로미어 길이, 영상(뇌 나이), 임상 지표(KDM)</a:t>
                      </a:r>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노년 증후군과 노화 생물학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근감소증</a:t>
            </a:r>
            <a:r>
              <a:rPr sz="1800" b="0" i="0">
                <a:solidFill>
                  <a:srgbClr val="11202B"/>
                </a:solidFill>
                <a:latin typeface="Malgun Gothic"/>
                <a:ea typeface="Malgun Gothic"/>
                <a:cs typeface="Malgun Gothic"/>
              </a:rPr>
              <a:t>: 근육량·근력·신체 기능 감소(아시아 기준 AWGS 2019 — 악력 남 &lt;28 kg, 여 &lt;18 kg; 5회 의자 일어서기 ≥12초). 기전: 위성세포 감소, 운동신경 단위 소실, 동화 저항성(같은 단백 섭취에 mTORC1 반응 저하 → 노인 단백 1.0–1.2 g/kg/일·류신 풍부), 미토콘드리아 기능 저하, 염증, 성호르몬·IGF-1 감소. 치료: </a:t>
            </a:r>
            <a:r>
              <a:rPr sz="1800" b="1" i="0">
                <a:solidFill>
                  <a:srgbClr val="11202B"/>
                </a:solidFill>
                <a:latin typeface="Malgun Gothic"/>
                <a:ea typeface="Malgun Gothic"/>
                <a:cs typeface="Malgun Gothic"/>
              </a:rPr>
              <a:t>저항 운동이 가장 효과적</a:t>
            </a:r>
            <a:r>
              <a:rPr sz="1800" b="0" i="0">
                <a:solidFill>
                  <a:srgbClr val="11202B"/>
                </a:solidFill>
                <a:latin typeface="Malgun Gothic"/>
                <a:ea typeface="Malgun Gothic"/>
                <a:cs typeface="Malgun Gothic"/>
              </a:rPr>
              <a:t>, 단백·비타민 D; 약물(마이오스타틴 차단제 비마그루맙 — GLP-1RA 병용 근육 보존 시험).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노쇠(frailty)</a:t>
            </a:r>
            <a:r>
              <a:rPr sz="1800" b="0" i="0">
                <a:solidFill>
                  <a:srgbClr val="11202B"/>
                </a:solidFill>
                <a:latin typeface="Malgun Gothic"/>
                <a:ea typeface="Malgun Gothic"/>
                <a:cs typeface="Malgun Gothic"/>
              </a:rPr>
              <a:t>: Fried 표현형(체중 감소, 탈진, 저활동, 느린 보행, 약한 악력 중 ≥3) 또는 결손 누적 지수(Rockwood). 생리적 예비력 감소 → 스트레스(수술·감염)에 대한 취약성 → 수술 전 평가, 다약제 정리(탈처방).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노년 증후군과 노화 생물학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노인 약물 대사</a:t>
            </a:r>
            <a:r>
              <a:rPr sz="2200" b="0" i="0">
                <a:solidFill>
                  <a:srgbClr val="11202B"/>
                </a:solidFill>
                <a:latin typeface="Malgun Gothic"/>
                <a:ea typeface="Malgun Gothic"/>
                <a:cs typeface="Malgun Gothic"/>
              </a:rPr>
              <a:t>(B03 L10), </a:t>
            </a:r>
            <a:r>
              <a:rPr sz="2200" b="1" i="0">
                <a:solidFill>
                  <a:srgbClr val="11202B"/>
                </a:solidFill>
                <a:latin typeface="Malgun Gothic"/>
                <a:ea typeface="Malgun Gothic"/>
                <a:cs typeface="Malgun Gothic"/>
              </a:rPr>
              <a:t>면역노화</a:t>
            </a:r>
            <a:r>
              <a:rPr sz="2200" b="0" i="0">
                <a:solidFill>
                  <a:srgbClr val="11202B"/>
                </a:solidFill>
                <a:latin typeface="Malgun Gothic"/>
                <a:ea typeface="Malgun Gothic"/>
                <a:cs typeface="Malgun Gothic"/>
              </a:rPr>
              <a:t>(고용량·보강 인플루엔자 백신, RSV·대상포진 재조합 백신).</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노화는 대부분 만성질환(심혈관, 암, 당뇨, 신경퇴행, CKD)의 가장 큰 위험인자 → </a:t>
            </a:r>
            <a:r>
              <a:rPr sz="2200" b="1" i="0">
                <a:solidFill>
                  <a:srgbClr val="11202B"/>
                </a:solidFill>
                <a:latin typeface="Malgun Gothic"/>
                <a:ea typeface="Malgun Gothic"/>
                <a:cs typeface="Malgun Gothic"/>
              </a:rPr>
              <a:t>'노화 과학(geroscience)' 가설</a:t>
            </a:r>
            <a:r>
              <a:rPr sz="2200" b="0" i="0">
                <a:solidFill>
                  <a:srgbClr val="11202B"/>
                </a:solidFill>
                <a:latin typeface="Malgun Gothic"/>
                <a:ea typeface="Malgun Gothic"/>
                <a:cs typeface="Malgun Gothic"/>
              </a:rPr>
              <a:t>: 노화 자체를 표적하면 여러 질환을 동시에 지연할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부분적 재프로그래밍(OSK 일시 발현)으로 노화 생쥐의 시력·조직 기능을 일부 회복한 연구, 그리고 이를 사람에 적용하려는 기업(Altos Labs, Retro, Life Biosciences — 시신경 질환 1상 2025–2026 계획)이 등장했다.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노화의 비선형성: 다중오믹스 종단 연구에서 분자 변화가 약 44세와 60세 무렵 급격히 일어나는 '파동'이 관찰되었다(Shen et al., Nat Aging 2024).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노화 시계를 1차 결과로 하는 임상시험의 규제 수용성, '노화'를 질병 지표로 인정할지(ICD-11 '노화 관련' 코드 논쟁)가 정책 이슈이다.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노화의 12 특징은 1차(유전체·텔로미어·후성유전·단백질 항상성·자가포식), 길항(영양 감지·미토콘드리아·세포 노화), 통합(줄기세포·소통·염증·미생물) 범주로 정리된다.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체세포 변이·CHIP·텔로미어 단축·후성유전 정보 소실이 손상을 축적한다.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세포 노화와 SASP는 염증노화를 매개하며, 노화 세포 제거(세놀리틱스)는 동물에서 건강 수명을 늘린다.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후성유전·단백체 시계는 생물학적 나이와 노화 속도를 측정하지만 해석에 한계가 있다.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근감소증·노쇠·면역노화는 노화 생물학의 임상적 표현이며, 노화 과학은 노화 자체를 다질환 예방 표적으로 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항산화제(비타민 E, β-카로틴) 보충이 대규모 시험에서 수명·질환을 개선하지 못한 사실은 노화 이론에 어떤 수정을 가져왔는가?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단순한 '자유 라디칼 노화 이론'(ROS 손상 축적이 노화의 주원인)이 수정되었다. ROS는 적정 수준에서 운동 적응·미토호르메시스·면역에 필요한 신호 분자이며, 무분별한 항산화제가 이런 적응을 방해하거나(운동 효과 감소) 일부 암 위험을 높일 수 있다. 노화는 다중 특징의 네트워크로 이해된다.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노화 세포가 소수임에도 조직 기능 저하를 크게 일으킬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노화 세포는 SASP를 통해 IL-6·IL-1·MMP 등을 분비해 주변 세포에 측분비 노화를 전파하고, 만성 염증과 기질 리모델링을 일으키며, 줄기세포 니치를 손상시키고 면역세포를 끌어들여 조직 전체의 기능을 떨어뜨린다. 그래서 일부만 제거해도 생쥐에서 건강 수명 개선이 나타난다.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노인에게 단백질 섭취 권장량을 젊은 성인보다 높게(1.0–1.2 g/kg/일) 제시하는 생화학적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노인 근육은 '동화 저항성'을 보여 같은 양의 아미노산·단백질에 대한 mTORC1 활성화와 근단백 합성 반응이 둔하다. 따라서 끼니당 충분한 단백(25–30 g)과 류신을 공급해야 합성 역치를 넘을 수 있고, 저항 운동과 병행하면 근감소증 예방 효과가 커진다.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GrimAge와 DunedinPACE의 차이와 각각의 용도는?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GrimAge는 혈장 단백·흡연량의 메틸화 대리 지표와 사망 시간을 학습한 2세대 시계로 '생물학적 나이'를 추정하며 사망·질병 예측력이 높다. DunedinPACE는 같은 사람의 여러 장기 지표가 20년간 변하는 속도를 학습한 3세대 시계로 현재의 '노화 속도'를 측정해 개입 효과(예: 칼로리 제한)의 단기 평가에 적합하다.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López-Otín C et al. Hallmarks of aging: an expanding universe. Cell 2023;186:243–278.</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Baker DJ et al. Naturally occurring p16Ink4a-positive cells shorten healthy lifespan. Nature 2016;530:184–189.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Horvath S, Raj K. DNA methylation-based biomarkers and the epigenetic clock theory of ageing. Nat Rev Genet 2018;19:371–384.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B04-L09  ·  노화의 생화학적 특징</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Oh HS et al. Organ aging signatures in the plasma proteome track health and disease. Nature 2023;624:164–172.</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Cruz-Jentoft AJ, Sayer AA. Sarcopenia. Lancet 2019;393:2636–2646.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