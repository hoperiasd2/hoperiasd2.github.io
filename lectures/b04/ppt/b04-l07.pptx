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notesMaster" Target="notesMasters/notesMaster1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5α-환원효소 2형(SRD5A2) 결핍. 태아기에는 DHT가 부족해 외부생식기 남성화가 불완전하지만, 사춘기에 테스토스테론이 크게 증가하고 1형 효소가 일부 DHT를 만들어 남성화가 진행된다. 혈청 테스토스테론/DHT 비 상승(hCG 자극 후 더 명확)과 소변 5β/5α 대사물 비, 유전자 검사로 확진한다.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(1) 고인슐린혈증이 LH와 협력해 난포막세포의 CYP17A1 활성을 높여 안드로겐 합성을 증가시킨다. (2) 인슐린이 간의 SHBG 합성을 억제해 유리(생물학적 활성) 테스토스테론 분율이 증가한다. 그래서 체중 감량과 인슐린 감수성 개선(메트포르민)이 안드로겐을 낮춘다.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골단판 폐쇄와 골흡수 억제는 테스토스테론이 아니라 방향족화로 만들어진 에스트로겐(ERα)에 의해 매개된다. 에스트로겐이 없으면 테스토스테론이 정상·높아도 골단이 닫히지 않아 선형 성장이 지속되고 골밀도가 낮아진다. 에스트로겐 투여 시 골단이 닫히고 골밀도가 개선된다.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경구 에스트로겐은 간 초회통과로 응고인자·CRP·SHBG·TG를 증가시켜 정맥혈전 위험을 높이지만, 경피 투여는 간 노출이 적어 혈전·뇌졸중 위험이 거의 증가하지 않는다. 60세 미만·폐경 10년 이내로 시기 가설상 이득이 큰 군이며, 자궁이 있으면 미분화 프로게스테론을 병용한다.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7315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B04 생애주기의학과 생화학  ·  호르몬과 대사학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20116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성호르몬과 생식 대사: 사춘기, 임신, 폐경</a:t>
            </a:r>
          </a:p>
          <a:p>
            <a:r>
              <a:rPr sz="20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Sex Steroids and Reproductive Metabolism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B04-L07</a:t>
            </a:r>
          </a:p>
          <a:p>
            <a:r>
              <a:rPr sz="14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의학생화학 · 의학분자생물학 · 신경과학 강의록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GOALS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B04-L07  ·  성호르몬과 생식 대사: 사춘기, 임신, 폐경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성스테로이드(테스토스테론, DHT, 에스트라디올, 프로게스테론)의 합성 경로와 핵심 효소(CYP19, 5α-환원효소)를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시상하부-뇌하수체-생식선 축과 키스펩틴, 사춘기 개시를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성호르몬의 대사 작용(지질, 포도당, 체성분, 뼈)과 성차를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성 발달 차이(DSD)와 PCOS의 생화학적 기전을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폐경·안드로겐 결핍과 호르몬 치료, 성호르몬 관련 약물의 기전을 이해한다.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OUTLINE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강의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B04-L07  ·  성호르몬과 생식 대사: 사춘기, 임신, 폐경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성스테로이드 합성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시상하부-뇌하수체-생식선 축과 사춘기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성호르몬의 대사 작용과 성차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성 발달 차이(DSD)와 PCOS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임신·수유와 폐경의 내분비 대사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성스테로이드 합성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B04-L07  ·  성호르몬과 생식 대사: 사춘기, 임신, 폐경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콜레스테롤 → 프레그네놀론 → (Δ5 경로) DHEA →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17β-HSD3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(고환 라이디히) → 테스토스테론.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5α-환원효소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테스토스테론 →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DHT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(AR 친화도 2–10배) — SRD5A2(생식기 피부·전립선), SRD5A1(피부·간). 피나스테리드(2형), 두타스테리드(1·2형) → BPH, 남성형 탈모.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방향족화효소(CYP19A1)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안드로스테네디온 → 에스트론, 테스토스테론 →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에스트라디올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— 과립막세포(FSH 유도), 지방조직(폐경 후 주된 에스트로겐 원천 — 비만 여성 자궁내막암 위험), 뼈, 뇌, 태반.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방향족화효소 억제제(아나스트로졸, 레트로졸 — 폐경 후 HR⁺ 유방암, 배란 유도), 결핍(CYP19A1) → 남성 골단 폐쇄 지연·큰 키·골다공증 →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뼈 성숙에 에스트로겐이 필수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임을 보여줌(남성에서도).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성스테로이드 합성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B04-L07  ·  성호르몬과 생식 대사: 사춘기, 임신, 폐경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2-세포 2-성선자극호르몬 모델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난포막세포(LH → 안드로겐) + 과립막세포(FSH → 방향족화) → 에스트라디올.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운반: SHBG(테스토스테론·DHT 고친화; 에스트로겐·갑상선호르몬이 증가시키고 인슐린·안드로겐·비만이 감소시킴), 알부민. 생물학적 이용 가능 = 유리 + 알부민 결합.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역방향 경로(backdoor pathway)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17-OHP → DHT (테스토스테론 경유 없이) — 21-수산화효소 결핍 여아 남성화, 거세 저항성 전립선암 종양 내 안드로겐 합성(아비라테론 = CYP17A1 억제).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시상하부-뇌하수체-생식선 축과 사춘기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B04-L07  ·  성호르몬과 생식 대사: 사춘기, 임신, 폐경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시상하부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GnRH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박동 분비(60–90분) → 뇌하수체 LH·FSH → 생식선. 지속적 GnRH 노출은 수용체 탈감작 →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GnRH 작용제(류프롤라이드) 지속 투여 = 억제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(중추성 성조숙증, 전립선암, 자궁내막증), GnRH 길항제(엘라골릭스, 렐루골릭스) — 즉시 억제.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키스펩틴(KISS1)–KISS1R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GnRH 신경세포의 상위 조절자; KNDy 신경세포(키스펩틴·뉴로키닌 B·다이노르핀)가 GnRH 박동 생성기.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KISS1R·TACR3 결손 → 저성선자극호르몬성 성선기능저하증(HH); MKRN3 기능소실(부계 각인) → 중추성 성조숙증(가장 흔한 유전 원인).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칼만 증후군(ANOS1, FGFR1, CHD7 등): GnRH 신경세포 이동 실패(후각 기원판에서) → HH +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후각 상실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시상하부-뇌하수체-생식선 축과 사춘기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B04-L07  ·  성호르몬과 생식 대사: 사춘기, 임신, 폐경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뉴로키닌 B 수용체 길항제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페졸리네탄트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(2023): 폐경기 혈관운동 증상(안면홍조) 비호르몬 치료.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사춘기 개시: 중추 GnRH 재활성(소아기 '휴지기' 해제) — 영양 상태(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렙틴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허용 신호; 렙틴 결핍 → 사춘기 없음), 체지방, 유전(사춘기 시기 GWAS — LIN28B), 환경(내분비 교란물질).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사춘기 단계(태너), 성장 급증(에스트로겐 → GH–IGF-1 증폭, 결국 골단 폐쇄), 부신 사춘기(adrenarche; DHEA-S 증가 — 6–8세)와 생식선 사춘기의 구분.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성조숙증: 여아 8세·남아 9세 이전. 중추성(GnRH 의존; LH 반응↑) vs 말초성(맥큔-올브라이트, CAH, 생식선·부신 종양, LHCGR 활성 변이 '가족성 남성 제한 성조숙증').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성호르몬의 대사 작용과 성차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B04-L07  ·  성호르몬과 생식 대사: 사춘기, 임신, 폐경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폐경 전 여성의 심혈관 보호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와 폐경 후 위험 증가, 남성의 이른 관상동맥질환은 성호르몬·유전(X 연관 유전자 용량, Y 염색체 소실 — 노인 남성 혈구 *LOY*가 심혈관·사망 위험과 연관)·생활 요인이 복합적으로 작용한다.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약동학·약력학 성차(체지방, CYP3A4 활성 여성↑, QT 연장 감수성 여성↑)와 임상시험 참여 성비 불균형은 정밀의학의 과제이다.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성호르몬의 대사 작용과 성차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B04-L07  ·  성호르몬과 생식 대사: 사춘기, 임신, 폐경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영역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에스트로겐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안드로겐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지질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HDL↑, LDL↓(간 LDLR), TG↑(경구 — 간 초회통과), Lp(a)↓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HDL↓, LDL 경도↑(아나볼릭 스테로이드 남용 시 HDL 크게↓)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포도당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인슐린 감수성↑(ERα — 간·근육·β세포 보호)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남성: 결핍 시 인슐린 저항성 / 여성: 과잉 시 인슐린 저항성(PCOS) — 양방향 성 이형성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체지방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하체(둔부·대퇴) 피하 지방 — '배'형 → 대사적으로 보호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근육량↑, 내장지방 감소(남성 생리적 수준)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뼈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파골세포 자멸·RANKL↓ → </a:t>
                      </a:r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골흡수 억제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; 골단 폐쇄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골막 성장(남성 뼈가 더 굵음), 일부는 방향족화 후 작용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혈관·응고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NO↑; 경구 에스트로겐은 간 응고인자↑ → </a:t>
                      </a:r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정맥 혈전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적혈구 생성↑(헤마토크리트 — 테스토스테론 치료 모니터)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간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SHBG·TBG·CBG·안지오텐시노겐↑(경구)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SHBG↓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성 발달 차이(DSD)와 PCOS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B04-L07  ·  성호르몬과 생식 대사: 사춘기, 임신, 폐경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성 결정: SRY → SOX9 → 세르톨리세포(AMH → 뮐러관 퇴화) + 라이디히세포(테스토스테론 → 볼프관 발달) → DHT → 외부생식기 남성화.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DSD 관리: 다학제 팀, 성별 지정·수술 시기의 윤리, 생식세포종양 위험 평가.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PCOS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(가임기 여성 6–13%; 로테르담 기준 — 희발배란, 고안드로겐증, 다낭성 난소 중 2개):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신경내분비: GnRH 박동 빈도↑ → LH/FSH 비↑ → 난포막 안드로겐↑.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인슐린 저항성·고인슐린혈증 → 난포막 CYP17 활성↑ + 간 SHBG↓ → 유리 안드로겐↑; 난포 성숙 정지(AMH↑).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장기 위험: 2형 당뇨, MASLD, 이상지질, 자궁내막 증식·암(무배란 → 프로게스테론 없는 에스트로겐), 수면무호흡, 우울.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성 발달 차이(DSD)와 PCOS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B04-L07  ·  성호르몬과 생식 대사: 사춘기, 임신, 폐경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1">
              <a:spcAft>
                <a:spcPts val="400"/>
              </a:spcAft>
            </a:pPr>
            <a:r>
              <a:rPr sz="2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20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치료: 체중 감량, 경구피임약(SHBG↑, LH↓), 스피로노락톤(항안드로겐), 메트포르민, </a:t>
            </a:r>
            <a:r>
              <a:rPr sz="20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레트로졸</a:t>
            </a:r>
            <a:r>
              <a:rPr sz="20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(배란 유도 1차), GLP-1 RA.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성 발달 차이(DSD)와 PCOS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B04-L07  ·  성호르몬과 생식 대사: 사춘기, 임신, 폐경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DSD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기전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소견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46,XX DSD — 21-수산화효소 결핍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태아 부신 안드로겐↑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외부생식기 남성화, 내부 여성(자궁 정상)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46,XX — 방향족화효소 결핍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태반이 안드로겐을 에스트로겐으로 전환 못함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태아 남성화 + </a:t>
                      </a:r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산모도 임신 중 남성화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46,XY — </a:t>
                      </a:r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완전 안드로겐 무감응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(AR)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AR 기능 상실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여성 외형, 자궁 없음(AMH 작용), 사춘기 유방 발달·음모 결여, 잠복 고환 (B02 L02)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46,XY — </a:t>
                      </a:r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5α-환원효소 2형 결핍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DHT↓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출생 시 모호/여성형 외부생식기 → </a:t>
                      </a:r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사춘기에 남성화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(테스토스테론 증가 + SRD5A1) — 도미니카 '게베도세스'; T/DHT 비↑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46,XY — 17β-HSD3 결핍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테스토스테론↓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사춘기 남성화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46,XY — 생식선 이형성(SRY, NR5A1, MAP3K1)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고환 형성 실패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스와이어 증후군(완전형: 여성 외형 + 자궁; 생식선종 위험)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성염색체 DSD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45,X/46,XY 모자이크 등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다양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임신·수유와 폐경의 내분비 대사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B04-L07  ·  성호르몬과 생식 대사: 사춘기, 임신, 폐경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임신: hCG → 황체 프로게스테론(7–9주 태반 전환), 에스트리올(태아-태반 단위), hPL·프로락틴 → 인슐린 저항성(B04 L01), 갑상선 결합단백↑.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수유: 프로락틴(도파민이 억제; 항정신병약 → 고프로락틴혈증), 옥시토신(사출 반사), 칼슘 — 수유 중 PTHrP → 골흡수(일시적 골밀도 감소 후 회복).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폐경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(평균 50세; 12개월 무월경): 난포 고갈 → 인히빈 B·에스트라디올↓ →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FSH↑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대사 변화: LDL·Lp(a)↑, 내장지방↑, 인슐린 저항성↑, 골흡수 급증(폐경 후 5–7년 연 2–3% 골소실), 비뇨생식 위축, 혈관운동 증상(KNDy 신경세포 과활성).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임신·수유와 폐경의 내분비 대사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B04-L07  ·  성호르몬과 생식 대사: 사춘기, 임신, 폐경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1">
              <a:spcAft>
                <a:spcPts val="400"/>
              </a:spcAft>
            </a:pPr>
            <a:r>
              <a:rPr sz="14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4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조기 난소부전(&lt;40세): 터너, FMR1 전돌연변이(55–200 CGG), 자가면역, 갈락토스혈증, 항암치료 → 호르몬 대체가 심혈관·뼈 보호에 필요.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폐경 호르몬 요법(MHT)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WHI(2002) 이후 재평가 —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'시기 가설'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60세 미만 또는 폐경 10년 이내 시작 시 혈관운동 증상·골절 이득이 위험보다 큼; 자궁 있으면 프로게스토겐 병용(자궁내막암 예방); 경피 에스트라디올은 정맥혈전·뇌졸중 위험 낮음(간 초회통과 회피); 에스트로겐 + 프로게스틴 병용은 유방암 위험 소폭↑.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남성 성선기능저하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아침 총 테스토스테론 반복 저하 + 증상 → LH/FSH로 1차/2차 구분 → 테스토스테론 대체(TRAVERSE 시험 2023: 심혈관 위험 증가 없음, 심방세동·폐색전 소폭↑); 헤마토크리트 &gt;54% 시 중단; 불임 원하면 외인성 테스토스테론 금기(정자형성 억제) → hCG·클로미펜.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FRONTIER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연구 최전선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B04-L07  ·  성호르몬과 생식 대사: 사춘기, 임신, 폐경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성호르몬 수용체의 비전사 작용(막 ER — GPER)과 X 염색체 유전자 용량·불활성화 탈출 유전자가 면역 질환의 여성 우세(루푸스 90%)를 설명하는 기전으로 연구된다(XIST 리보핵단백 복합체가 자가항원으로 작용한다는 2024 Cell 보고).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성인 성별 확정 호르몬 요법의 장기 심혈관·골 대사 결과에 대한 코호트 연구가 축적되고 있다.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난소 노화의 분자 기전(난자 미토콘드리아·NAD⁺, 난포 세포 노화)과 난소 수명 연장(라파마이신 VIBRANT 시험) 연구가 시작되었다.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SUMMARY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B04-L07  ·  성호르몬과 생식 대사: 사춘기, 임신, 폐경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성스테로이드는 콜레스테롤에서 CYP17·17β-HSD·5α-환원효소·CYP19로 합성되며, DHT와 에스트라디올이 각각 강력한 활성형이다.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GnRH 박동(키스펩틴·KNDy)이 사춘기와 생식을 조절하고, 지속 GnRH 작용제는 역설적으로 축을 억제한다.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에스트로겐은 지질·인슐린 감수성·뼈를 보호하고 안드로겐은 근육·적혈구를 늘리며, 대사 효과에 성 이형성이 있다.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DSD는 성 결정·스테로이드 합성·수용체 결함의 생화학으로 분류되며, PCOS는 GnRH 박동 이상과 인슐린 저항성이 고안드로겐을 만든다.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폐경은 FSH 상승과 대사·골 위험 증가를 동반하며 MHT는 시기 가설에 따라 개별화하고, 남성 테스토스테론 대체는 생화학적 확인 후 시행한다.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B04-L07  ·  성호르몬과 생식 대사: 사춘기, 임신, 폐경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출생 시 여성형 외부생식기로 키워진 46,XY 아이가 사춘기에 음경이 커지고 목소리가 굵어졌다. 진단과 생화학적 확인 방법은?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5α-환원효소 2형(SRD5A2) 결핍. 태아기에는 DHT가 부족해 외부생식기 남성화가 불완전하지만, 사춘기에 테스토스테론이 크게 증가하고 1형 효소가 일부 DHT를 만들어 남성화가 진행된다. 혈청 테스토스테론/DHT 비 상승(hCG 자극 후 더 명확)과 소변 5β/5α 대사물 비, 유전자 검사로 확진한다.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B04-L07  ·  성호르몬과 생식 대사: 사춘기, 임신, 폐경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PCOS에서 인슐린 저항성이 고안드로겐증을 악화시키는 두 가지 기전은?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(1) 고인슐린혈증이 LH와 협력해 난포막세포의 CYP17A1 활성을 높여 안드로겐 합성을 증가시킨다. (2) 인슐린이 간의 SHBG 합성을 억제해 유리(생물학적 활성) 테스토스테론 분율이 증가한다. 그래서 체중 감량과 인슐린 감수성 개선(메트포르민)이 안드로겐을 낮춘다.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B04-L07  ·  성호르몬과 생식 대사: 사춘기, 임신, 폐경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방향족화효소 결핍 남성이 20대에도 키가 계속 자라고 골다공증이 생기는 이유는?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골단판 폐쇄와 골흡수 억제는 테스토스테론이 아니라 방향족화로 만들어진 에스트로겐(ERα)에 의해 매개된다. 에스트로겐이 없으면 테스토스테론이 정상·높아도 골단이 닫히지 않아 선형 성장이 지속되고 골밀도가 낮아진다. 에스트로겐 투여 시 골단이 닫히고 골밀도가 개선된다.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B04-L07  ·  성호르몬과 생식 대사: 사춘기, 임신, 폐경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폐경 호르몬 요법을 고려하는 58세 여성(폐경 6년, 정맥혈전 위험인자 있음)에게 경피 에스트라디올을 선호하는 이유는?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경구 에스트로겐은 간 초회통과로 응고인자·CRP·SHBG·TG를 증가시켜 정맥혈전 위험을 높이지만, 경피 투여는 간 노출이 적어 혈전·뇌졸중 위험이 거의 증가하지 않는다. 60세 미만·폐경 10년 이내로 시기 가설상 이득이 큰 군이며, 자궁이 있으면 미분화 프로게스테론을 병용한다.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B04-L07  ·  성호르몬과 생식 대사: 사춘기, 임신, 폐경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Melmed S et al. Williams Textbook of Endocrinology, 15th ed. Ch. on reproduction and DSD.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Herbison AE. Control of puberty onset and fertility by gonadotropin-releasing hormone neurons. Nat Rev Endocrinol 2016;12:452–466.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Mauvais-Jarvis F et al. Sex and gender: modifiers of health, disease, and medicine. Lancet 2020;396:565–582.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B04-L07  ·  성호르몬과 생식 대사: 사춘기, 임신, 폐경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Teede HJ et al. Recommendations from the 2023 international evidence-based guideline for the assessment and management of PCOS. J Clin Endocrinol Metab 2023;108:2447–2469.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The 2022 hormone therapy position statement of The North American Menopause Society. Menopause 2022;29:767–794.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