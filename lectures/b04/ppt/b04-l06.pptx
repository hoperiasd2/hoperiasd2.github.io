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T3는 TRβ를 통해 간 LDL 수용체 유전자 발현을 증가시키고(SREBP-2 경로 포함), 콜레스테롤의 담즙산 전환(CYP7A1)도 촉진한다. 갑상선호르몬이 부족하면 LDL 수용체가 줄어 LDL 제거가 감소하므로 LDL-C가 상승한다. 따라서 이상지질혈증 평가 시 갑상선 기능을 확인해야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11β-수산화효소(CYP11B1) 결핍. 코르티솔 합성이 막혀 ACTH가 증가하고, 상류의 11-데옥시코르티솔과 DOC가 축적된다. DOC는 미네랄로코르티코이드 활성이 있어 고혈압·저칼륨을 일으키고, 축적된 전구체가 안드로겐 경로로 흘러 남성화가 생긴다. 21-수산화효소 결핍은 염류소실·저혈압을 보인다는 점에서 감별된다.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감초의 글리시르레틴산이 신장 11β-HSD2를 억제해 코르티솔이 코르티손으로 불활성화되지 못한다. 코르티솔은 알도스테론보다 훨씬 고농도로 존재하며 MR에 같은 친화도로 결합하므로 MR이 과활성화되어 Na⁺ 재흡수와 K⁺ 배설이 증가한다(가성 알도스테론증). 혈압 상승이 레닌·알도스테론을 억제한다.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요오드를 먼저 주면 TPO 유기화가 차단되지 않은 상태에서 갑상선 내 요오드 기질이 늘어나 오히려 호르몬 합성이 증가할 수 있다. 메티마졸·PTU로 유기화를 먼저 차단한 뒤(약 1시간 후) 요오드를 투여하면 볼프-차이코프 효과와 Tg 분해·분비 억제로 이미 합성된 호르몬의 방출을 빠르게 줄일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B04 생애주기의학과 생화학  ·  내분비와 대사학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갑상선·부신 호르몬의 대사 작용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Metabolic Actions of Thyroid and Adrenal Hormones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B04-L06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B04-L06  ·  갑상선·부신 호르몬의 대사 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갑상선호르몬의 합성(요오드 포획·유기화·결합)과 탈요오드효소에 의한 활성 조절을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T3의 핵수용체 작용과 기초대사·열생성·지질·심장에 대한 대사 효과를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갑상선 기능 이상의 생화학적 진단과 약물 기전을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부신피질 스테로이드 합성 경로와 효소 결손(CAH)을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코르티솔·알도스테론·카테콜아민의 대사 작용과 쿠싱·애디슨·갈색세포종의 생화학을 설명한다.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B04-L06  ·  갑상선·부신 호르몬의 대사 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갑상선호르몬의 합성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탈요오드효소와 T3의 작용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갑상선 기능 이상의 생화학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부신피질 스테로이드 합성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코르티솔·알도스테론·카테콜아민의 대사 작용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갑상선호르몬의 합성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B04-L06  ·  갑상선·부신 호르몬의 대사 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요오드 포획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기저측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NIS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(Na⁺/I⁻ 공동수송체; TSH 자극) — 과염소산염·티오시안산염 경쟁 억제; 방사성 요오드 치료·스캔의 원리. 정단막 펜드린(SLC26A4 — 펜드레드 증후군: 갑상선종 + 감각신경 난청)으로 여포강 이동.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유기화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여포강 경계에서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갑상선 과산화효소(TPO)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 H₂O₂(DUOX2 생성)로 I⁻ 산화 → 티로글로불린(Tg)의 티로신에 결합 → MIT, DIT.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결합(coupling)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TPO가 DIT + DIT → T4, MIT + DIT → T3.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저장: 여포 콜로이드에 Tg 결합 형태로 수개월분.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분비: TSH → Tg 세포내섭취 → 리소좀 분해 → T4(~90%)·T3 방출(MCT8 수송체), MIT/DIT의 요오드는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탈할로겐효소(IYD)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로 재활용.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갑상선호르몬의 합성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B04-L06  ·  갑상선·부신 호르몬의 대사 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볼프-차이코프 효과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고용량 요오드가 일시적으로 유기화를 억제(갑상선 수술 전 루골 용액); 탈출 실패 시 갑상선기능저하(자가면역 갑상선염 기저).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요드-바세도우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결절성 갑상선종에서 요오드 부하 후 항진(아미오다론, 조영제).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혈중 운반: TBG(~70%), 트랜스티레틴, 알부민; 유리형 T4 0.03%, T3 0.3%. 에스트로겐(임신·경구피임약)은 TBG↑ → 총 T4↑, 유리 T4 정상.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탈요오드효소와 T3의 작용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B04-L06  ·  갑상선·부신 호르몬의 대사 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셀레노시스테인 함유 효소(셀레늄 결핍 → 기능 저하).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비갑상선 질환 증후군(정상 갑상선 병증후군)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중증 질환·기아 시 D1↓·D3↑ → T3↓, rT3↑, 중증 시 T4·TSH↓ → 에너지 절약 적응; 일반적으로 치료하지 않는다.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T3 작용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핵 갑상선호르몬 수용체(TRα — 심장·뼈, TRβ — 간·뇌하수체; RXR 이형이량체) → 유전자 전사: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기초대사율↑: Na⁺/K⁺-ATPase·SERCA 발현, 미토콘드리아 생합성, UCP 발현 → 열생성.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탄수화물: 장 흡수↑, 포도당신생·글리코겐 분해↑, 인슐린 분해↑.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지질: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LDL 수용체 발현↑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(갑상선기능저하 → LDL↑), 지방분해↑(β수용체 증가), 콜레스테롤의 담즙산 전환.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탈요오드효소와 T3의 작용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B04-L06  ·  갑상선·부신 호르몬의 대사 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단백: 합성·분해 모두 증가(항진 시 근육 소모).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심장: α-MHC↑·β-MHC↓, SERCA2↑·포스포람반↓, β₁ 수용체↑ → 빈맥·수축력↑, 심방세동.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발달: 뇌 수초화·신경 이동(크레틴병), 골성숙.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갑상선호르몬 수송체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MCT8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(SLC16A2) 결손 →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앨런-헌든-더들리 증후군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(X연관; 뇌는 저갑상선 — 중증 신경발달 장애, 말초는 고T3 — 체중 감소·빈맥) → T3 유사체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티라트리콜(Triac)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로 말초 항진 교정.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TRβ 선택 작용제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레스메티롬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(MASH; B03 L03).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탈요오드효소와 T3의 작용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B04-L06  ·  갑상선·부신 호르몬의 대사 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효소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반응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분포·의의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T4 → T3 (외환), rT3 분해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간·신장·갑상선; PTU가 억제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D2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T4 → T3 (외환)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뇌·뇌하수체·갈색지방·근육; 국소 T3 공급, 뇌하수체 TSH 되먹임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T4 → rT3, T3 → T2 (내환; 불활성화)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태반·뇌·피부; 거대 혈관종에서 '소모성 갑상선기능저하'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갑상선 기능 이상의 생화학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B04-L06  ·  갑상선·부신 호르몬의 대사 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그레이브스 안병증: TSHR·IGF-1R 자가항체가 안와 섬유모세포 활성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테프로투무맙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(IGF-1R 항체).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약물: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메티마졸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(TPO 억제; 1분기 제외 선호),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PTU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(TPO + D1 억제; 갑상선 폭풍·1분기 임신; 간독성), β차단제(증상·D1 약한 억제 — 프로프라놀롤), 방사성 요오드(¹³¹I; 임신 금기), 레보티록신(T4; 반감기 7일, 공복·칼슘·철·PPI와 분리 복용).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갑상선 폭풍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(Burch-Wartofsky 점수): PTU/메티마졸 → 1시간 후 요오드(유기화 차단 이후 투여), β차단, 하이드로코르티손(T4→T3 전환↓·상대적 부신 기능저하), 원인 치료.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점액부종 혼수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저체온, 저나트륨, 저환기 → 정주 T4(± T3) + 하이드로코르티손(부신 기능저하 공존 배제 전).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갑상선 기능 이상의 생화학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B04-L06  ·  갑상선·부신 호르몬의 대사 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소견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해석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TSH↑, FT4↓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갑상선기능저하(하시모토 — 항TPO 항체; 요오드 결핍; 수술·방사성요오드 후; 약물 — 아미오다론, 리튬, 면역관문억제제)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TSH↑, FT4 정상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무증상 갑상선기능저하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TSH↓, FT4·T3↑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항진(그레이브스 — TSH 수용체 자극 항체 TRAb; 독성 결절; 갑상선염 — 섭취율 낮음)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TSH↓, FT4 정상, T3↑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T3 갑상선중독증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TSH 낮음·정상 + FT4↓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중추성 저하(뇌하수체·시상하부) 또는 비갑상선 질환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TSH 정상·↑ + FT4↑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TSH 분비 선종, 갑상선호르몬 저항성(THRB), 분석 간섭(비오틴, 이종항체)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부신피질 스테로이드 합성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B04-L06  ·  갑상선·부신 호르몬의 대사 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원료: LDL 콜레스테롤(주) 또는 de novo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StAR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단백이 미토콘드리아 내막으로 운반(급성 속도결정; ACTH–cAMP)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CYP11A1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(측쇄 절단) → 프레그네놀론.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층별 효소 분포: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사구대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(미네랄로코르티코이드; 안지오텐신 II·K⁺): 3β-HSD → 프로게스테론 →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CYP21A2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(21-수산화) → 11-데옥시코르티코스테론(DOC) → CYP11B1/B2 → 코르티코스테론 →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CYP11B2(알도스테론 합성효소)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 → 알도스테론.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속상대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(글루코코르티코이드; ACTH):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CYP17A1 17α-수산화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 → 17-OH 프레그네놀론/프로게스테론 → CYP21A2 → 11-데옥시코르티솔 →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CYP11B1(11β-수산화)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 → 코르티솔.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부신피질 스테로이드 합성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B04-L06  ·  갑상선·부신 호르몬의 대사 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망상대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(안드로겐): CYP17A1 17,20-분해효소(사이토크롬 b5 의존) → DHEA → DHEA-S(SULT2A1), 안드로스테네디온 → 말초에서 테스토스테론·에스트로겐.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비고전형 21-수산화효소 결핍: 소아기 조기 음모·성장 가속, 성인 여성 다모증·불규칙 월경(PCOS 유사) → ACTH 자극 17-OHP.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2024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크리넥서폰트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(CRF1 수용체 길항제)가 고전형 CAH에서 ACTH·안드로겐을 낮춰 글루코코르티코이드 용량 감량을 가능하게 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부신피질 스테로이드 합성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B04-L06  ·  갑상선·부신 호르몬의 대사 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결손(CAH)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코르티솔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알도스테론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안드로겐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혈압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21-수산화효소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(~95%)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↓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↓(염류소실형)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↓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17-OHP↑; 여아 남성화, 염류소실 위기 (B04 L03)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11β-수산화효소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↓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↓ (DOC↑)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DOC(약한 미네랄로코르티코이드)↑ → 고혈압·저칼륨 + 남성화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17α-수산화효소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↓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↓ (DOC↑)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↓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46,XY 저남성화·사춘기 지연, 고혈압·저칼륨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3β-HSD2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↓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↓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DHEA↑(약함)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↓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여아 경도 남성화, 남아 저남성화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StAR(지방성 CAH)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↓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↓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↓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↓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모든 스테로이드 결핍, 부신 지질 축적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P450 산화환원효소(POR)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앤틀리-빅슬러 골격 기형, 산모 남성화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코르티솔·알도스테론·카테콜아민의 대사 작용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B04-L06  ·  갑상선·부신 호르몬의 대사 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코르티솔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(GR; 일주기 — 새벽 정점):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간 포도당신생↑(PEPCK·G6Pase 전사), 글리코겐 저장↑(공복 대비), 근육 단백 분해(아미노산 공급), 지방분해 허용·체간 지방 재분포, 인슐린 저항성.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항염·면역억제(NF-κB·AP-1 억제, 림프구 자멸, 호산구 감소), 골 형성 억제(골다공증), 콜라겐 합성 억제(피부 얇아짐·자색선조), 혈관 카테콜아민 반응 허용.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11β-HSD1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(간·지방; 코르티손 → 코르티솔 재활성) vs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11β-HSD2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(신장·태반; 코르티솔 → 코르티손 불활성 → MR 보호). 감초(글리시르레틴산)·이소성 ACTH의 과량 코르티솔은 11β-HSD2를 넘어 MR 자극 → 가성 알도스테론증.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코르티솔·알도스테론·카테콜아민의 대사 작용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B04-L06  ·  갑상선·부신 호르몬의 대사 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알도스테론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(MR): 집합관 주세포 ENaC·Na⁺/K⁺-ATPase·ROMK ↑ → Na⁺ 재흡수, K⁺·H⁺ 배설; 비상피 작용(심근·혈관 섬유화).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카테콜아민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(부신수질; B01 L11): 에피네프린 β₂ → 간 글리코겐 분해·포도당신생, 근육 글리코겐 분해, β₁/β₃ 지방분해, α₂ 인슐린 분비 억제 → '투쟁-도피' 연료 동원.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코르티솔·알도스테론·카테콜아민의 대사 작용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B04-L06  ·  갑상선·부신 호르몬의 대사 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생화학 진단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쿠싱 증후군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선별: 1 mg 야간 덱사메타손 억제검사(아침 코르티솔 &gt;1.8 µg/dL), 24시간 소변 유리 코르티솔, 심야 타액 코르티솔 → ACTH 측정: 낮음(부신 선종·과형성) / 높음 → 고용량 덱사메타손·CRH·하추체정맥동 채혈로 쿠싱병(뇌하수체) vs 이소성 ACTH(소세포 폐암, 카르시노이드) 감별; 치료제 오실로드로스타트(CYP11B1 억제), 메티라폰, 케토코나졸, 파시레오타이드, 미페프리스톤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애디슨병(1차 부신 기능저하)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아침 코르티솔↓ + ACTH↑ + 레닌↑, 저Na·고K, 과색소(POMC → α-MSH); 원인: 자가면역(21-수산화효소 항체; APS-1 AIRE), 결핵, 출혈(워터하우스-프리데릭센), X-ALD(남성 — VLCFA 확인), 면역관문억제제; 250 µg ACTH 자극검사 → 하이드로코르티손 + 플루드로코르티손, 스트레스 용량 교육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2·3차 부신 기능저하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ACTH↓, 알도스테론 보존(고K 없음); 외인성 스테로이드 중단이 가장 흔한 원인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원발성 알도스테론증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고혈압 + (저칼륨) → 알도스테론/레닌 비(ARR) 선별 → 식염 부하 확진 → CT + </a:t>
                      </a:r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부신정맥채혈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(편측 선종 수술 vs 양측 과형성 MRA); KCNJ5 체세포 변이(선종 ~40%, 동아시아 더 흔함); 고혈압의 5–10%로 저평가됨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갈색세포종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혈장 유리 메타네프린 (B01 L11)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B04-L06  ·  갑상선·부신 호르몬의 대사 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갑상선호르몬의 비전사적(non-genomic) 작용(인테그린 αvβ3 매개)과 TRβ 선택 작용제, T3 유사체(Triac, 소베티롬)의 대사·희귀질환 응용이 확대되고 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알도스테론 합성효소(CYP11B2) 선택 억제제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박스드로스타트·로르운드로스타트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 난치성 고혈압 3상에서 혈압을 유의하게 낮췄다(2025).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일주기·초일주기 코르티솔 리듬을 모사하는 하이드로코르티손 방출 조절 제제·펌프가 부신 기능저하 환자의 대사 결과를 개선하는지 연구 중이다.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B04-L06  ·  갑상선·부신 호르몬의 대사 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갑상선호르몬은 NIS 포획 → TPO 유기화·결합 → Tg 분해로 분비되며, 탈요오드효소(D1–D3)가 조직별 T3 활성을 정한다.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T3는 핵수용체를 통해 기초대사·열생성·LDL 수용체·심장 유전자를 조절하며, MCT8 결손은 뇌와 말초의 갑상선 상태를 분리시킨다.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TSH–FT4 패턴과 항체로 갑상선 질환을 진단하고 메티마졸·PTU·요오드·β차단제의 기전을 이해한다.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부신 스테로이드는 StAR–CYP11A1에서 시작해 층별 효소로 분기하며, CAH 효소 결손은 코르티솔·알도스테론·안드로겐·혈압 패턴으로 구분된다.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코르티솔은 포도당신생·단백 분해·면역억제를, 알도스테론은 Na⁺ 재흡수·K⁺ 배설을 담당하며 쿠싱·애디슨·원발성 알도스테론증의 생화학적 진단 흐름을 따른다.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B04-L06  ·  갑상선·부신 호르몬의 대사 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갑상선기능저하증 환자에서 LDL 콜레스테롤이 상승하는 기전은?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T3는 TRβ를 통해 간 LDL 수용체 유전자 발현을 증가시키고(SREBP-2 경로 포함), 콜레스테롤의 담즙산 전환(CYP7A1)도 촉진한다. 갑상선호르몬이 부족하면 LDL 수용체가 줄어 LDL 제거가 감소하므로 LDL-C가 상승한다. 따라서 이상지질혈증 평가 시 갑상선 기능을 확인해야 한다.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B04-L06  ·  갑상선·부신 호르몬의 대사 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고혈압·저칼륨혈증·남성화를 보이는 여아의 CAH 효소 결손과 그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11β-수산화효소(CYP11B1) 결핍. 코르티솔 합성이 막혀 ACTH가 증가하고, 상류의 11-데옥시코르티솔과 DOC가 축적된다. DOC는 미네랄로코르티코이드 활성이 있어 고혈압·저칼륨을 일으키고, 축적된 전구체가 안드로겐 경로로 흘러 남성화가 생긴다. 21-수산화효소 결핍은 염류소실·저혈압을 보인다는 점에서 감별된다.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B04-L06  ·  갑상선·부신 호르몬의 대사 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감초를 다량 섭취한 사람에게 고혈압과 저칼륨혈증이 생기지만 알도스테론과 레닌은 모두 낮다. 기전은?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감초의 글리시르레틴산이 신장 11β-HSD2를 억제해 코르티솔이 코르티손으로 불활성화되지 못한다. 코르티솔은 알도스테론보다 훨씬 고농도로 존재하며 MR에 같은 친화도로 결합하므로 MR이 과활성화되어 Na⁺ 재흡수와 K⁺ 배설이 증가한다(가성 알도스테론증). 혈압 상승이 레닌·알도스테론을 억제한다.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B04-L06  ·  갑상선·부신 호르몬의 대사 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갑상선 폭풍 치료에서 항갑상선제를 요오드보다 먼저 투여해야 하는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요오드를 먼저 주면 TPO 유기화가 차단되지 않은 상태에서 갑상선 내 요오드 기질이 늘어나 오히려 호르몬 합성이 증가할 수 있다. 메티마졸·PTU로 유기화를 먼저 차단한 뒤(약 1시간 후) 요오드를 투여하면 볼프-차이코프 효과와 Tg 분해·분비 억제로 이미 합성된 호르몬의 방출을 빠르게 줄일 수 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B04-L06  ·  갑상선·부신 호르몬의 대사 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Melmed S et al. (eds). Williams Textbook of Endocrinology, 15th ed. Elsevier, 2024.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Brent GA. Mechanisms of thyroid hormone action. J Clin Invest 2012;122:3035–3043.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Ross DS et al. 2016 American Thyroid Association guidelines for diagnosis and management of hyperthyroidism. Thyroid 2016;26:1343–1421.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B04-L06  ·  갑상선·부신 호르몬의 대사 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Miller WL, Auchus RJ. The molecular biology, biochemistry, and physiology of human steroidogenesis and its disorders. Endocr Rev 2011;32:81–151.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Funder JW et al. The management of primary aldosteronism: Endocrine Society guideline. J Clin Endocrinol Metab 2016;101:1889–1916.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