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활성 변이로 Kir6.2 K_ATP 통로가 ATP에 의해 닫히지 않아 β세포가 탈분극하지 못해 인슐린이 분비되지 않는다. 설폰요소는 SUR1 소단위에 결합해 ATP와 독립적으로 통로를 닫으므로 β세포 탈분극과 인슐린 분비를 회복시킨다. 고용량이 필요하지만 혈당 조절이 개선되고, 뇌에도 K_ATP가 있어 일부 신경발달 증상도 호전될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HNF1A-MODY(MODY3). 상염색체 우성, 젊은 발병, 비비만, 자가항체 음성, 인슐린 분비 유지가 특징이며 설폰요소에 매우 민감하다. 신장 포도당 역치가 낮아 고혈당 이전에 요당이 나올 수 있다. HNF1A 유전자 검사로 확진하고 가족 검사를 시행한다.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 미토콘드리아 복합체 I을 약하게 억제해 세포 에너지 전하를 낮추고 AMP를 증가시켜, 글루카곤–cAMP 신호(아데닐산 고리화효소 억제)와 포도당신생의 에너지 공급을 줄이며 AMPK를 활성화한다. (2) 미토콘드리아 글리세롤인산 탈수소효소를 억제해 세포질 산화환원 상태(NADH/NAD⁺)를 바꿔 젖산·글리세롤로부터의 포도당신생을 억제한다. 장에서 GLP-1·GDF-15 분비 증가도 기여한다.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장기간의 고혈당이 혈관세포에 후성유전 변화(염증 유전자 프로모터 히스톤 메틸화 등), AGE에 의한 장수명 단백질 변형, 미토콘드리아 손상을 남겨, 혈당이 정상화된 이후에도 염증·산화 스트레스 경로가 지속 활성화되기 때문이다. 반대로 초기의 철저한 조절은 수십 년간 이득을 남긴다(legacy effect).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B04 생애주기의학과 생화학  ·  내분비와 대사학</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인슐린·글루카곤과 당뇨병의 생화학</a:t>
            </a:r>
          </a:p>
          <a:p>
            <a:r>
              <a:rPr sz="2000" b="0" i="0">
                <a:solidFill>
                  <a:srgbClr val="C2CDD6"/>
                </a:solidFill>
                <a:latin typeface="Malgun Gothic"/>
                <a:ea typeface="Malgun Gothic"/>
                <a:cs typeface="Malgun Gothic"/>
              </a:rPr>
              <a:t>Insulin, Glucagon and the Biochemistry of Diabetes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B04-L05</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인슐린 생합성과 β세포의 포도당 자극 인슐린 분비(GSIS) 기전, 인크레틴 효과를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인슐린 수용체 신호와 조직별 대사 작용, 글루카곤의 작용을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1형·2형·단일유전자 당뇨(MODY, 신생아 당뇨)의 병태생리와 분류를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인슐린 저항성의 분자 기전과 당뇨 합병증의 생화학을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당뇨 약물의 작용 기전과 최신 치료(인크레틴 다중작용제, 세포치료)를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인슐린의 합성과 분비</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인슐린 신호와 대사 작용</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당뇨병의 분류와 병태생리</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인슐린 저항성의 분자 기전</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당뇨 합병증의 생화학</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당뇨 치료의 기전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인슐린의 합성과 분비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INS → 프레프로인슐린(ER 신호서열 제거) → 프로인슐린(A–C–B; 이황화결합 3개) → 분비과립에서 </a:t>
            </a:r>
            <a:r>
              <a:rPr sz="1800" b="1" i="0">
                <a:solidFill>
                  <a:srgbClr val="11202B"/>
                </a:solidFill>
                <a:latin typeface="Malgun Gothic"/>
                <a:ea typeface="Malgun Gothic"/>
                <a:cs typeface="Malgun Gothic"/>
              </a:rPr>
              <a:t>PC1/3·PC2</a:t>
            </a:r>
            <a:r>
              <a:rPr sz="1800" b="0" i="0">
                <a:solidFill>
                  <a:srgbClr val="11202B"/>
                </a:solidFill>
                <a:latin typeface="Malgun Gothic"/>
                <a:ea typeface="Malgun Gothic"/>
                <a:cs typeface="Malgun Gothic"/>
              </a:rPr>
              <a:t>와 카복시펩티다아제 E가 절단 → 인슐린 + </a:t>
            </a:r>
            <a:r>
              <a:rPr sz="1800" b="1" i="0">
                <a:solidFill>
                  <a:srgbClr val="11202B"/>
                </a:solidFill>
                <a:latin typeface="Malgun Gothic"/>
                <a:ea typeface="Malgun Gothic"/>
                <a:cs typeface="Malgun Gothic"/>
              </a:rPr>
              <a:t>C-펩타이드</a:t>
            </a:r>
            <a:r>
              <a:rPr sz="1800" b="0" i="0">
                <a:solidFill>
                  <a:srgbClr val="11202B"/>
                </a:solidFill>
                <a:latin typeface="Malgun Gothic"/>
                <a:ea typeface="Malgun Gothic"/>
                <a:cs typeface="Malgun Gothic"/>
              </a:rPr>
              <a:t>(동몰; 내인성 분비 지표). 과립 내 아연-육량체 결정.</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GSIS 경로</a:t>
            </a:r>
            <a:r>
              <a:rPr sz="1800" b="0" i="0">
                <a:solidFill>
                  <a:srgbClr val="11202B"/>
                </a:solidFill>
                <a:latin typeface="Malgun Gothic"/>
                <a:ea typeface="Malgun Gothic"/>
                <a:cs typeface="Malgun Gothic"/>
              </a:rPr>
              <a:t>: 포도당 → GLUT1/2 → </a:t>
            </a:r>
            <a:r>
              <a:rPr sz="1800" b="1" i="0">
                <a:solidFill>
                  <a:srgbClr val="11202B"/>
                </a:solidFill>
                <a:latin typeface="Malgun Gothic"/>
                <a:ea typeface="Malgun Gothic"/>
                <a:cs typeface="Malgun Gothic"/>
              </a:rPr>
              <a:t>글루코키나아제</a:t>
            </a:r>
            <a:r>
              <a:rPr sz="1800" b="0" i="0">
                <a:solidFill>
                  <a:srgbClr val="11202B"/>
                </a:solidFill>
                <a:latin typeface="Malgun Gothic"/>
                <a:ea typeface="Malgun Gothic"/>
                <a:cs typeface="Malgun Gothic"/>
              </a:rPr>
              <a:t>(β세포 포도당 센서; Km ~8 mM) → 해당·산화 → </a:t>
            </a:r>
            <a:r>
              <a:rPr sz="1800" b="1" i="0">
                <a:solidFill>
                  <a:srgbClr val="11202B"/>
                </a:solidFill>
                <a:latin typeface="Malgun Gothic"/>
                <a:ea typeface="Malgun Gothic"/>
                <a:cs typeface="Malgun Gothic"/>
              </a:rPr>
              <a:t>ATP/ADP 비↑</a:t>
            </a:r>
            <a:r>
              <a:rPr sz="1800" b="0" i="0">
                <a:solidFill>
                  <a:srgbClr val="11202B"/>
                </a:solidFill>
                <a:latin typeface="Malgun Gothic"/>
                <a:ea typeface="Malgun Gothic"/>
                <a:cs typeface="Malgun Gothic"/>
              </a:rPr>
              <a:t> → </a:t>
            </a:r>
            <a:r>
              <a:rPr sz="1800" b="1" i="0">
                <a:solidFill>
                  <a:srgbClr val="11202B"/>
                </a:solidFill>
                <a:latin typeface="Malgun Gothic"/>
                <a:ea typeface="Malgun Gothic"/>
                <a:cs typeface="Malgun Gothic"/>
              </a:rPr>
              <a:t>K_ATP 통로(Kir6.2/SUR1) 폐쇄</a:t>
            </a:r>
            <a:r>
              <a:rPr sz="1800" b="0" i="0">
                <a:solidFill>
                  <a:srgbClr val="11202B"/>
                </a:solidFill>
                <a:latin typeface="Malgun Gothic"/>
                <a:ea typeface="Malgun Gothic"/>
                <a:cs typeface="Malgun Gothic"/>
              </a:rPr>
              <a:t> → 막 탈분극 → 전압개폐 L형 Ca²⁺ 통로 개방 → Ca²⁺ 유입 → 과립 세포외유출(SNARE).</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이상성 분비: 1상(즉시 방출 가능 과립, 5–10분 — 2형 당뇨 초기에 먼저 소실), 2상(지속).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인슐린의 합성과 분비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증폭 경로: 아미노산(류신 → GDH 활성; 아르기닌 탈분극), 지방산(FFAR1/GPR40), 부교감(ACh → M3 → Gq).</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인크레틴 효과</a:t>
            </a:r>
            <a:r>
              <a:rPr sz="2000" b="0" i="0">
                <a:solidFill>
                  <a:srgbClr val="11202B"/>
                </a:solidFill>
                <a:latin typeface="Malgun Gothic"/>
                <a:ea typeface="Malgun Gothic"/>
                <a:cs typeface="Malgun Gothic"/>
              </a:rPr>
              <a:t>: 경구 포도당이 정맥 포도당보다 인슐린을 2–3배 더 분비 — 장 L세포 </a:t>
            </a:r>
            <a:r>
              <a:rPr sz="2000" b="1" i="0">
                <a:solidFill>
                  <a:srgbClr val="11202B"/>
                </a:solidFill>
                <a:latin typeface="Malgun Gothic"/>
                <a:ea typeface="Malgun Gothic"/>
                <a:cs typeface="Malgun Gothic"/>
              </a:rPr>
              <a:t>GLP-1</a:t>
            </a:r>
            <a:r>
              <a:rPr sz="2000" b="0" i="0">
                <a:solidFill>
                  <a:srgbClr val="11202B"/>
                </a:solidFill>
                <a:latin typeface="Malgun Gothic"/>
                <a:ea typeface="Malgun Gothic"/>
                <a:cs typeface="Malgun Gothic"/>
              </a:rPr>
              <a:t>, K세포 </a:t>
            </a:r>
            <a:r>
              <a:rPr sz="2000" b="1" i="0">
                <a:solidFill>
                  <a:srgbClr val="11202B"/>
                </a:solidFill>
                <a:latin typeface="Malgun Gothic"/>
                <a:ea typeface="Malgun Gothic"/>
                <a:cs typeface="Malgun Gothic"/>
              </a:rPr>
              <a:t>GIP</a:t>
            </a:r>
            <a:r>
              <a:rPr sz="2000" b="0" i="0">
                <a:solidFill>
                  <a:srgbClr val="11202B"/>
                </a:solidFill>
                <a:latin typeface="Malgun Gothic"/>
                <a:ea typeface="Malgun Gothic"/>
                <a:cs typeface="Malgun Gothic"/>
              </a:rPr>
              <a:t> → β세포 GPCR → cAMP–PKA/EPAC2 → 포도당 의존적 분비 증폭. DPP-4가 수 분 내 분해. 2형 당뇨에서 인크레틴 효과 감소(GIP 반응 특히 저하).</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억제: 소마토스타틴, α₂-아드레날린(교감; 스트레스 시 분비 억제), 렙틴.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인슐린의 합성과 분비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설폰요소(글리메피리드), 메글리티나이드</a:t>
                      </a:r>
                    </a:p>
                  </a:txBody>
                  <a:tcPr marL="73152" marR="73152">
                    <a:solidFill>
                      <a:srgbClr val="FFFFFF"/>
                    </a:solidFill>
                  </a:tcPr>
                </a:tc>
                <a:tc>
                  <a:txBody>
                    <a:bodyPr/>
                    <a:lstStyle/>
                    <a:p>
                      <a:r>
                        <a:rPr sz="1500" b="0" i="0">
                          <a:solidFill>
                            <a:srgbClr val="11202B"/>
                          </a:solidFill>
                          <a:latin typeface="Malgun Gothic"/>
                          <a:ea typeface="Malgun Gothic"/>
                          <a:cs typeface="Malgun Gothic"/>
                        </a:rPr>
                        <a:t>SUR1 결합 → K_ATP 폐쇄 (포도당 비의존 → 저혈당)</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디아족사이드</a:t>
                      </a:r>
                    </a:p>
                  </a:txBody>
                  <a:tcPr marL="73152" marR="73152">
                    <a:solidFill>
                      <a:srgbClr val="ECF1F5"/>
                    </a:solidFill>
                  </a:tcPr>
                </a:tc>
                <a:tc>
                  <a:txBody>
                    <a:bodyPr/>
                    <a:lstStyle/>
                    <a:p>
                      <a:r>
                        <a:rPr sz="1500" b="0" i="0">
                          <a:solidFill>
                            <a:srgbClr val="11202B"/>
                          </a:solidFill>
                          <a:latin typeface="Malgun Gothic"/>
                          <a:ea typeface="Malgun Gothic"/>
                          <a:cs typeface="Malgun Gothic"/>
                        </a:rPr>
                        <a:t>K_ATP 개방 → 분비 억제 (고인슐린혈증)</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GLP-1 RA, DPP-4 억제제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인크레틴 경로 (포도당 의존 → 저혈당 적음)</a:t>
                      </a:r>
                    </a:p>
                  </a:txBody>
                  <a:tcPr marL="73152" marR="7315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인슐린의 합성과 분비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7</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1" i="0">
                <a:solidFill>
                  <a:srgbClr val="11202B"/>
                </a:solidFill>
                <a:latin typeface="Malgun Gothic"/>
                <a:ea typeface="Malgun Gothic"/>
                <a:cs typeface="Malgun Gothic"/>
              </a:rPr>
              <a:t>신생아 당뇨</a:t>
            </a:r>
            <a:r>
              <a:rPr sz="2000" b="0" i="0">
                <a:solidFill>
                  <a:srgbClr val="11202B"/>
                </a:solidFill>
                <a:latin typeface="Malgun Gothic"/>
                <a:ea typeface="Malgun Gothic"/>
                <a:cs typeface="Malgun Gothic"/>
              </a:rPr>
              <a:t>(생후 6개월 이내): KCNJ11/ABCC8 활성 변이(K_ATP가 닫히지 않음)가 약 50% → 인슐린 대신 </a:t>
            </a:r>
            <a:r>
              <a:rPr sz="2000" b="1" i="0">
                <a:solidFill>
                  <a:srgbClr val="11202B"/>
                </a:solidFill>
                <a:latin typeface="Malgun Gothic"/>
                <a:ea typeface="Malgun Gothic"/>
                <a:cs typeface="Malgun Gothic"/>
              </a:rPr>
              <a:t>고용량 설폰요소</a:t>
            </a:r>
            <a:r>
              <a:rPr sz="2000" b="0" i="0">
                <a:solidFill>
                  <a:srgbClr val="11202B"/>
                </a:solidFill>
                <a:latin typeface="Malgun Gothic"/>
                <a:ea typeface="Malgun Gothic"/>
                <a:cs typeface="Malgun Gothic"/>
              </a:rPr>
              <a:t>로 전환 가능(혈당 조절·신경발달 개선; Pearson et al., NEJM 2006) — 유전 진단이 치료를 바꾼 대표 예. 6q24 각인 이상은 일과성.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인슐린 신호와 대사 작용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인슐린 수용체(IR; α₂β₂ 수용체 티로신 키나아제) 자가인산화 → </a:t>
            </a:r>
            <a:r>
              <a:rPr sz="1800" b="1" i="0">
                <a:solidFill>
                  <a:srgbClr val="11202B"/>
                </a:solidFill>
                <a:latin typeface="Malgun Gothic"/>
                <a:ea typeface="Malgun Gothic"/>
                <a:cs typeface="Malgun Gothic"/>
              </a:rPr>
              <a:t>IRS1/2</a:t>
            </a:r>
            <a:r>
              <a:rPr sz="1800" b="0" i="0">
                <a:solidFill>
                  <a:srgbClr val="11202B"/>
                </a:solidFill>
                <a:latin typeface="Malgun Gothic"/>
                <a:ea typeface="Malgun Gothic"/>
                <a:cs typeface="Malgun Gothic"/>
              </a:rPr>
              <a:t> → </a:t>
            </a:r>
            <a:r>
              <a:rPr sz="1800" b="1" i="0">
                <a:solidFill>
                  <a:srgbClr val="11202B"/>
                </a:solidFill>
                <a:latin typeface="Malgun Gothic"/>
                <a:ea typeface="Malgun Gothic"/>
                <a:cs typeface="Malgun Gothic"/>
              </a:rPr>
              <a:t>PI3K–AKT</a:t>
            </a:r>
            <a:r>
              <a:rPr sz="1800" b="0" i="0">
                <a:solidFill>
                  <a:srgbClr val="11202B"/>
                </a:solidFill>
                <a:latin typeface="Malgun Gothic"/>
                <a:ea typeface="Malgun Gothic"/>
                <a:cs typeface="Malgun Gothic"/>
              </a:rPr>
              <a:t> 대사 경로 / Grb2–SOS–</a:t>
            </a:r>
            <a:r>
              <a:rPr sz="1800" b="1" i="0">
                <a:solidFill>
                  <a:srgbClr val="11202B"/>
                </a:solidFill>
                <a:latin typeface="Malgun Gothic"/>
                <a:ea typeface="Malgun Gothic"/>
                <a:cs typeface="Malgun Gothic"/>
              </a:rPr>
              <a:t>Ras–MAPK</a:t>
            </a:r>
            <a:r>
              <a:rPr sz="1800" b="0" i="0">
                <a:solidFill>
                  <a:srgbClr val="11202B"/>
                </a:solidFill>
                <a:latin typeface="Malgun Gothic"/>
                <a:ea typeface="Malgun Gothic"/>
                <a:cs typeface="Malgun Gothic"/>
              </a:rPr>
              <a:t> 성장 경로(B02 L02).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인슐린은 문맥으로 분비되어 간이 처음 50–60%를 제거(간 '선점') → 간은 말초보다 고농도 인슐린에 노출. 피하 주사 인슐린은 이 생리적 기울기를 재현하지 못한다.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글루카곤</a:t>
            </a:r>
            <a:r>
              <a:rPr sz="1800" b="0" i="0">
                <a:solidFill>
                  <a:srgbClr val="11202B"/>
                </a:solidFill>
                <a:latin typeface="Malgun Gothic"/>
                <a:ea typeface="Malgun Gothic"/>
                <a:cs typeface="Malgun Gothic"/>
              </a:rPr>
              <a:t>(α세포; 저혈당·아미노산이 자극, 인슐린·소마토스타틴·포도당이 억제) → 간 GCGR → Gs–cAMP–PKA → 글리코겐 분해·포도당신생↑, 해당·지방합성↓, 케톤 생성↑(B01 L01–L02), </a:t>
            </a:r>
            <a:r>
              <a:rPr sz="1800" b="1" i="0">
                <a:solidFill>
                  <a:srgbClr val="11202B"/>
                </a:solidFill>
                <a:latin typeface="Malgun Gothic"/>
                <a:ea typeface="Malgun Gothic"/>
                <a:cs typeface="Malgun Gothic"/>
              </a:rPr>
              <a:t>아미노산 이화·요소 생성</a:t>
            </a:r>
            <a:r>
              <a:rPr sz="1800" b="0" i="0">
                <a:solidFill>
                  <a:srgbClr val="11202B"/>
                </a:solidFill>
                <a:latin typeface="Malgun Gothic"/>
                <a:ea typeface="Malgun Gothic"/>
                <a:cs typeface="Malgun Gothic"/>
              </a:rPr>
              <a:t>(간-α세포 축: 아미노산↑ → 글루카곤↑ → 아미노산 제거; GCGR 차단 시 고아미노산혈증·α세포 증식).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인슐린 신호와 대사 작용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반조절 호르몬 위계(저혈당 시): 인슐린 분비 감소(~80 mg/dL) → 글루카곤·에피네프린(~65–70) → 코르티솔·GH(지속 시) → 증상(~55) → 인지 장애(&lt;50).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인슐린 신호와 대사 작용</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조직</a:t>
                      </a:r>
                    </a:p>
                  </a:txBody>
                  <a:tcPr marL="73152" marR="73152">
                    <a:solidFill>
                      <a:srgbClr val="003C71"/>
                    </a:solidFill>
                  </a:tcPr>
                </a:tc>
                <a:tc>
                  <a:txBody>
                    <a:bodyPr/>
                    <a:lstStyle/>
                    <a:p>
                      <a:r>
                        <a:rPr sz="1500" b="1" i="0">
                          <a:solidFill>
                            <a:srgbClr val="FFFFFF"/>
                          </a:solidFill>
                          <a:latin typeface="Malgun Gothic"/>
                          <a:ea typeface="Malgun Gothic"/>
                          <a:cs typeface="Malgun Gothic"/>
                        </a:rPr>
                        <a:t>작용</a:t>
                      </a:r>
                    </a:p>
                  </a:txBody>
                  <a:tcPr marL="73152" marR="73152">
                    <a:solidFill>
                      <a:srgbClr val="003C71"/>
                    </a:solidFill>
                  </a:tcPr>
                </a:tc>
                <a:tc>
                  <a:txBody>
                    <a:bodyPr/>
                    <a:lstStyle/>
                    <a:p>
                      <a:r>
                        <a:rPr sz="1500" b="1" i="0">
                          <a:solidFill>
                            <a:srgbClr val="FFFFFF"/>
                          </a:solidFill>
                          <a:latin typeface="Malgun Gothic"/>
                          <a:ea typeface="Malgun Gothic"/>
                          <a:cs typeface="Malgun Gothic"/>
                        </a:rPr>
                        <a:t>분자</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골격근</a:t>
                      </a:r>
                    </a:p>
                  </a:txBody>
                  <a:tcPr marL="73152" marR="73152">
                    <a:solidFill>
                      <a:srgbClr val="FFFFFF"/>
                    </a:solidFill>
                  </a:tcPr>
                </a:tc>
                <a:tc>
                  <a:txBody>
                    <a:bodyPr/>
                    <a:lstStyle/>
                    <a:p>
                      <a:r>
                        <a:rPr sz="1500" b="0" i="0">
                          <a:solidFill>
                            <a:srgbClr val="11202B"/>
                          </a:solidFill>
                          <a:latin typeface="Malgun Gothic"/>
                          <a:ea typeface="Malgun Gothic"/>
                          <a:cs typeface="Malgun Gothic"/>
                        </a:rPr>
                        <a:t>포도당 흡수, 글리코겐 합성, 단백 합성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AKT → AS160 → </a:t>
                      </a:r>
                      <a:r>
                        <a:rPr sz="1500" b="1" i="0">
                          <a:solidFill>
                            <a:srgbClr val="11202B"/>
                          </a:solidFill>
                          <a:latin typeface="Malgun Gothic"/>
                          <a:ea typeface="Malgun Gothic"/>
                          <a:cs typeface="Malgun Gothic"/>
                        </a:rPr>
                        <a:t>GLUT4</a:t>
                      </a:r>
                      <a:r>
                        <a:rPr sz="1500" b="0" i="0">
                          <a:solidFill>
                            <a:srgbClr val="11202B"/>
                          </a:solidFill>
                          <a:latin typeface="Malgun Gothic"/>
                          <a:ea typeface="Malgun Gothic"/>
                          <a:cs typeface="Malgun Gothic"/>
                        </a:rPr>
                        <a:t> 막 이동; GSK3 억제; mTORC1</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지방조직</a:t>
                      </a:r>
                    </a:p>
                  </a:txBody>
                  <a:tcPr marL="73152" marR="73152">
                    <a:solidFill>
                      <a:srgbClr val="ECF1F5"/>
                    </a:solidFill>
                  </a:tcPr>
                </a:tc>
                <a:tc>
                  <a:txBody>
                    <a:bodyPr/>
                    <a:lstStyle/>
                    <a:p>
                      <a:r>
                        <a:rPr sz="1500" b="0" i="0">
                          <a:solidFill>
                            <a:srgbClr val="11202B"/>
                          </a:solidFill>
                          <a:latin typeface="Malgun Gothic"/>
                          <a:ea typeface="Malgun Gothic"/>
                          <a:cs typeface="Malgun Gothic"/>
                        </a:rPr>
                        <a:t>포도당 흡수, TG 합성, </a:t>
                      </a:r>
                      <a:r>
                        <a:rPr sz="1500" b="1" i="0">
                          <a:solidFill>
                            <a:srgbClr val="11202B"/>
                          </a:solidFill>
                          <a:latin typeface="Malgun Gothic"/>
                          <a:ea typeface="Malgun Gothic"/>
                          <a:cs typeface="Malgun Gothic"/>
                        </a:rPr>
                        <a:t>지방분해 억제</a:t>
                      </a:r>
                      <a:r>
                        <a:rPr sz="1500" b="0" i="0">
                          <a:solidFill>
                            <a:srgbClr val="11202B"/>
                          </a:solidFill>
                          <a:latin typeface="Malgun Gothic"/>
                          <a:ea typeface="Malgun Gothic"/>
                          <a:cs typeface="Malgun Gothic"/>
                        </a:rPr>
                        <a:t>(가장 민감)</a:t>
                      </a:r>
                    </a:p>
                  </a:txBody>
                  <a:tcPr marL="73152" marR="73152">
                    <a:solidFill>
                      <a:srgbClr val="ECF1F5"/>
                    </a:solidFill>
                  </a:tcPr>
                </a:tc>
                <a:tc>
                  <a:txBody>
                    <a:bodyPr/>
                    <a:lstStyle/>
                    <a:p>
                      <a:r>
                        <a:rPr sz="1500" b="0" i="0">
                          <a:solidFill>
                            <a:srgbClr val="11202B"/>
                          </a:solidFill>
                          <a:latin typeface="Malgun Gothic"/>
                          <a:ea typeface="Malgun Gothic"/>
                          <a:cs typeface="Malgun Gothic"/>
                        </a:rPr>
                        <a:t>GLUT4; PDE3B → cAMP↓ → HSL 억제; LPL 유도</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간</a:t>
                      </a:r>
                    </a:p>
                  </a:txBody>
                  <a:tcPr marL="73152" marR="73152">
                    <a:solidFill>
                      <a:srgbClr val="FFFFFF"/>
                    </a:solidFill>
                  </a:tcPr>
                </a:tc>
                <a:tc>
                  <a:txBody>
                    <a:bodyPr/>
                    <a:lstStyle/>
                    <a:p>
                      <a:r>
                        <a:rPr sz="1500" b="1" i="0">
                          <a:solidFill>
                            <a:srgbClr val="11202B"/>
                          </a:solidFill>
                          <a:latin typeface="Malgun Gothic"/>
                          <a:ea typeface="Malgun Gothic"/>
                          <a:cs typeface="Malgun Gothic"/>
                        </a:rPr>
                        <a:t>포도당 생산 억제</a:t>
                      </a:r>
                      <a:r>
                        <a:rPr sz="1500" b="0" i="0">
                          <a:solidFill>
                            <a:srgbClr val="11202B"/>
                          </a:solidFill>
                          <a:latin typeface="Malgun Gothic"/>
                          <a:ea typeface="Malgun Gothic"/>
                          <a:cs typeface="Malgun Gothic"/>
                        </a:rPr>
                        <a:t>(포도당신생↓, 글리코겐 분해↓), 글리코겐 합성, 지방 합성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AKT → </a:t>
                      </a:r>
                      <a:r>
                        <a:rPr sz="1500" b="1" i="0">
                          <a:solidFill>
                            <a:srgbClr val="11202B"/>
                          </a:solidFill>
                          <a:latin typeface="Malgun Gothic"/>
                          <a:ea typeface="Malgun Gothic"/>
                          <a:cs typeface="Malgun Gothic"/>
                        </a:rPr>
                        <a:t>FOXO1</a:t>
                      </a:r>
                      <a:r>
                        <a:rPr sz="1500" b="0" i="0">
                          <a:solidFill>
                            <a:srgbClr val="11202B"/>
                          </a:solidFill>
                          <a:latin typeface="Malgun Gothic"/>
                          <a:ea typeface="Malgun Gothic"/>
                          <a:cs typeface="Malgun Gothic"/>
                        </a:rPr>
                        <a:t> 인산화·핵 배제 → PEPCK·G6Pase 전사↓; SREBP-1c↑; GCK 유도</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뇌</a:t>
                      </a:r>
                    </a:p>
                  </a:txBody>
                  <a:tcPr marL="73152" marR="73152">
                    <a:solidFill>
                      <a:srgbClr val="ECF1F5"/>
                    </a:solidFill>
                  </a:tcPr>
                </a:tc>
                <a:tc>
                  <a:txBody>
                    <a:bodyPr/>
                    <a:lstStyle/>
                    <a:p>
                      <a:r>
                        <a:rPr sz="1500" b="0" i="0">
                          <a:solidFill>
                            <a:srgbClr val="11202B"/>
                          </a:solidFill>
                          <a:latin typeface="Malgun Gothic"/>
                          <a:ea typeface="Malgun Gothic"/>
                          <a:cs typeface="Malgun Gothic"/>
                        </a:rPr>
                        <a:t>섭식 억제, 말초 대사 조절</a:t>
                      </a:r>
                    </a:p>
                  </a:txBody>
                  <a:tcPr marL="73152" marR="73152">
                    <a:solidFill>
                      <a:srgbClr val="ECF1F5"/>
                    </a:solidFill>
                  </a:tcPr>
                </a:tc>
                <a:tc>
                  <a:txBody>
                    <a:bodyPr/>
                    <a:lstStyle/>
                    <a:p>
                      <a:r>
                        <a:rPr sz="1500" b="0" i="0">
                          <a:solidFill>
                            <a:srgbClr val="11202B"/>
                          </a:solidFill>
                          <a:latin typeface="Malgun Gothic"/>
                          <a:ea typeface="Malgun Gothic"/>
                          <a:cs typeface="Malgun Gothic"/>
                        </a:rPr>
                        <a:t>시상하부</a:t>
                      </a:r>
                    </a:p>
                  </a:txBody>
                  <a:tcPr marL="73152" marR="73152">
                    <a:solidFill>
                      <a:srgbClr val="ECF1F5"/>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당뇨병의 분류와 병태생리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2형 당뇨의 새로운 아형화(스웨덴 ANDIS): 중증 자가면역(SAID), 중증 인슐린 결핍(SIDD — 망막병증 위험↑), 중증 인슐린 저항(SIRD — 신병증·MASLD↑), 경도 비만 관련(MOD), 경도 연령 관련(MARD).</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진단 기준(ADA/대한당뇨병학회): HbA1c ≥6.5%, 공복 ≥126, OGTT 2시간 ≥200, 무작위 ≥200 + 증상. 당뇨 전단계: HbA1c 5.7–6.4%, 공복 100–125.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당뇨병의 분류와 병태생리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100" b="1" i="0">
                          <a:solidFill>
                            <a:srgbClr val="FFFFFF"/>
                          </a:solidFill>
                          <a:latin typeface="Malgun Gothic"/>
                          <a:ea typeface="Malgun Gothic"/>
                          <a:cs typeface="Malgun Gothic"/>
                        </a:rPr>
                        <a:t>유형</a:t>
                      </a:r>
                    </a:p>
                  </a:txBody>
                  <a:tcPr marL="73152" marR="73152">
                    <a:solidFill>
                      <a:srgbClr val="003C71"/>
                    </a:solidFill>
                  </a:tcPr>
                </a:tc>
                <a:tc>
                  <a:txBody>
                    <a:bodyPr/>
                    <a:lstStyle/>
                    <a:p>
                      <a:r>
                        <a:rPr sz="1100" b="1" i="0">
                          <a:solidFill>
                            <a:srgbClr val="FFFFFF"/>
                          </a:solidFill>
                          <a:latin typeface="Malgun Gothic"/>
                          <a:ea typeface="Malgun Gothic"/>
                          <a:cs typeface="Malgun Gothic"/>
                        </a:rPr>
                        <a:t>병태생리</a:t>
                      </a:r>
                    </a:p>
                  </a:txBody>
                  <a:tcPr marL="73152" marR="73152">
                    <a:solidFill>
                      <a:srgbClr val="003C71"/>
                    </a:solidFill>
                  </a:tcPr>
                </a:tc>
                <a:tc>
                  <a:txBody>
                    <a:bodyPr/>
                    <a:lstStyle/>
                    <a:p>
                      <a:r>
                        <a:rPr sz="11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100" b="1" i="0">
                          <a:solidFill>
                            <a:srgbClr val="11202B"/>
                          </a:solidFill>
                          <a:latin typeface="Malgun Gothic"/>
                          <a:ea typeface="Malgun Gothic"/>
                          <a:cs typeface="Malgun Gothic"/>
                        </a:rPr>
                        <a:t>1형</a:t>
                      </a:r>
                    </a:p>
                  </a:txBody>
                  <a:tcPr marL="73152" marR="73152">
                    <a:solidFill>
                      <a:srgbClr val="FFFFFF"/>
                    </a:solidFill>
                  </a:tcPr>
                </a:tc>
                <a:tc>
                  <a:txBody>
                    <a:bodyPr/>
                    <a:lstStyle/>
                    <a:p>
                      <a:r>
                        <a:rPr sz="1100" b="0" i="0">
                          <a:solidFill>
                            <a:srgbClr val="11202B"/>
                          </a:solidFill>
                          <a:latin typeface="Malgun Gothic"/>
                          <a:ea typeface="Malgun Gothic"/>
                          <a:cs typeface="Malgun Gothic"/>
                        </a:rPr>
                        <a:t>T세포 매개 β세포 파괴; 자가항체 </a:t>
                      </a:r>
                      <a:r>
                        <a:rPr sz="1100" b="1" i="0">
                          <a:solidFill>
                            <a:srgbClr val="11202B"/>
                          </a:solidFill>
                          <a:latin typeface="Malgun Gothic"/>
                          <a:ea typeface="Malgun Gothic"/>
                          <a:cs typeface="Malgun Gothic"/>
                        </a:rPr>
                        <a:t>GAD65, IA-2, ZnT8, 인슐린(IAA)</a:t>
                      </a:r>
                      <a:r>
                        <a:rPr sz="1100" b="0" i="0">
                          <a:solidFill>
                            <a:srgbClr val="11202B"/>
                          </a:solidFill>
                          <a:latin typeface="Malgun Gothic"/>
                          <a:ea typeface="Malgun Gothic"/>
                          <a:cs typeface="Malgun Gothic"/>
                        </a:rPr>
                        <a:t>; HLA-DR3-DQ2/DR4-DQ8</a:t>
                      </a:r>
                    </a:p>
                  </a:txBody>
                  <a:tcPr marL="73152" marR="73152">
                    <a:solidFill>
                      <a:srgbClr val="FFFFFF"/>
                    </a:solidFill>
                  </a:tcPr>
                </a:tc>
                <a:tc>
                  <a:txBody>
                    <a:bodyPr/>
                    <a:lstStyle/>
                    <a:p>
                      <a:r>
                        <a:rPr sz="1100" b="0" i="0">
                          <a:solidFill>
                            <a:srgbClr val="11202B"/>
                          </a:solidFill>
                          <a:latin typeface="Malgun Gothic"/>
                          <a:ea typeface="Malgun Gothic"/>
                          <a:cs typeface="Malgun Gothic"/>
                        </a:rPr>
                        <a:t>3단계(자가항체 2개 이상 정상혈당 → 이상혈당 → 증상); DKA 경향; C-펩타이드 낮음; </a:t>
                      </a:r>
                      <a:r>
                        <a:rPr sz="1100" b="1" i="0">
                          <a:solidFill>
                            <a:srgbClr val="11202B"/>
                          </a:solidFill>
                          <a:latin typeface="Malgun Gothic"/>
                          <a:ea typeface="Malgun Gothic"/>
                          <a:cs typeface="Malgun Gothic"/>
                        </a:rPr>
                        <a:t>테플리주맙</a:t>
                      </a:r>
                      <a:r>
                        <a:rPr sz="1100" b="0" i="0">
                          <a:solidFill>
                            <a:srgbClr val="11202B"/>
                          </a:solidFill>
                          <a:latin typeface="Malgun Gothic"/>
                          <a:ea typeface="Malgun Gothic"/>
                          <a:cs typeface="Malgun Gothic"/>
                        </a:rPr>
                        <a:t>(항CD3)이 2단계에서 발병 약 2–3년 지연(2022 승인)</a:t>
                      </a:r>
                    </a:p>
                  </a:txBody>
                  <a:tcPr marL="73152" marR="73152">
                    <a:solidFill>
                      <a:srgbClr val="FFFFFF"/>
                    </a:solidFill>
                  </a:tcPr>
                </a:tc>
              </a:tr>
              <a:tr h="365760">
                <a:tc>
                  <a:txBody>
                    <a:bodyPr/>
                    <a:lstStyle/>
                    <a:p>
                      <a:r>
                        <a:rPr sz="1100" b="0" i="0">
                          <a:solidFill>
                            <a:srgbClr val="11202B"/>
                          </a:solidFill>
                          <a:latin typeface="Malgun Gothic"/>
                          <a:ea typeface="Malgun Gothic"/>
                          <a:cs typeface="Malgun Gothic"/>
                        </a:rPr>
                        <a:t>성인 잠복 자가면역 당뇨(LADA)</a:t>
                      </a:r>
                    </a:p>
                  </a:txBody>
                  <a:tcPr marL="73152" marR="73152">
                    <a:solidFill>
                      <a:srgbClr val="ECF1F5"/>
                    </a:solidFill>
                  </a:tcPr>
                </a:tc>
                <a:tc>
                  <a:txBody>
                    <a:bodyPr/>
                    <a:lstStyle/>
                    <a:p>
                      <a:r>
                        <a:rPr sz="1100" b="0" i="0">
                          <a:solidFill>
                            <a:srgbClr val="11202B"/>
                          </a:solidFill>
                          <a:latin typeface="Malgun Gothic"/>
                          <a:ea typeface="Malgun Gothic"/>
                          <a:cs typeface="Malgun Gothic"/>
                        </a:rPr>
                        <a:t>1형의 느린 형</a:t>
                      </a:r>
                    </a:p>
                  </a:txBody>
                  <a:tcPr marL="73152" marR="73152">
                    <a:solidFill>
                      <a:srgbClr val="ECF1F5"/>
                    </a:solidFill>
                  </a:tcPr>
                </a:tc>
                <a:tc>
                  <a:txBody>
                    <a:bodyPr/>
                    <a:lstStyle/>
                    <a:p>
                      <a:r>
                        <a:rPr sz="1100" b="0" i="0">
                          <a:solidFill>
                            <a:srgbClr val="11202B"/>
                          </a:solidFill>
                          <a:latin typeface="Malgun Gothic"/>
                          <a:ea typeface="Malgun Gothic"/>
                          <a:cs typeface="Malgun Gothic"/>
                        </a:rPr>
                        <a:t>성인, 초기 경구약 반응 후 인슐린 의존</a:t>
                      </a:r>
                    </a:p>
                  </a:txBody>
                  <a:tcPr marL="73152" marR="73152">
                    <a:solidFill>
                      <a:srgbClr val="ECF1F5"/>
                    </a:solidFill>
                  </a:tcPr>
                </a:tc>
              </a:tr>
              <a:tr h="365760">
                <a:tc>
                  <a:txBody>
                    <a:bodyPr/>
                    <a:lstStyle/>
                    <a:p>
                      <a:r>
                        <a:rPr sz="1100" b="1" i="0">
                          <a:solidFill>
                            <a:srgbClr val="11202B"/>
                          </a:solidFill>
                          <a:latin typeface="Malgun Gothic"/>
                          <a:ea typeface="Malgun Gothic"/>
                          <a:cs typeface="Malgun Gothic"/>
                        </a:rPr>
                        <a:t>2형</a:t>
                      </a:r>
                    </a:p>
                  </a:txBody>
                  <a:tcPr marL="73152" marR="73152">
                    <a:solidFill>
                      <a:srgbClr val="FFFFFF"/>
                    </a:solidFill>
                  </a:tcPr>
                </a:tc>
                <a:tc>
                  <a:txBody>
                    <a:bodyPr/>
                    <a:lstStyle/>
                    <a:p>
                      <a:r>
                        <a:rPr sz="1100" b="0" i="0">
                          <a:solidFill>
                            <a:srgbClr val="11202B"/>
                          </a:solidFill>
                          <a:latin typeface="Malgun Gothic"/>
                          <a:ea typeface="Malgun Gothic"/>
                          <a:cs typeface="Malgun Gothic"/>
                        </a:rPr>
                        <a:t>인슐린 저항성 + </a:t>
                      </a:r>
                      <a:r>
                        <a:rPr sz="1100" b="1" i="0">
                          <a:solidFill>
                            <a:srgbClr val="11202B"/>
                          </a:solidFill>
                          <a:latin typeface="Malgun Gothic"/>
                          <a:ea typeface="Malgun Gothic"/>
                          <a:cs typeface="Malgun Gothic"/>
                        </a:rPr>
                        <a:t>진행성 β세포 기능부전</a:t>
                      </a:r>
                      <a:r>
                        <a:rPr sz="1100" b="0" i="0">
                          <a:solidFill>
                            <a:srgbClr val="11202B"/>
                          </a:solidFill>
                          <a:latin typeface="Malgun Gothic"/>
                          <a:ea typeface="Malgun Gothic"/>
                          <a:cs typeface="Malgun Gothic"/>
                        </a:rPr>
                        <a:t>(β세포 탈분화·소실, 아밀린(IAPP) 아밀로이드, 지질·당독성, ER 스트레스)</a:t>
                      </a:r>
                    </a:p>
                  </a:txBody>
                  <a:tcPr marL="73152" marR="73152">
                    <a:solidFill>
                      <a:srgbClr val="FFFFFF"/>
                    </a:solidFill>
                  </a:tcPr>
                </a:tc>
                <a:tc>
                  <a:txBody>
                    <a:bodyPr/>
                    <a:lstStyle/>
                    <a:p>
                      <a:r>
                        <a:rPr sz="1100" b="0" i="0">
                          <a:solidFill>
                            <a:srgbClr val="11202B"/>
                          </a:solidFill>
                          <a:latin typeface="Malgun Gothic"/>
                          <a:ea typeface="Malgun Gothic"/>
                          <a:cs typeface="Malgun Gothic"/>
                        </a:rPr>
                        <a:t>다유전자(*TCF7L2*가 가장 강한 흔한 변이), 비만·내장지방; 아시아인은 낮은 BMI에서 발병·β세포 기능 저하 우세</a:t>
                      </a:r>
                    </a:p>
                  </a:txBody>
                  <a:tcPr marL="73152" marR="73152">
                    <a:solidFill>
                      <a:srgbClr val="FFFFFF"/>
                    </a:solidFill>
                  </a:tcPr>
                </a:tc>
              </a:tr>
              <a:tr h="365760">
                <a:tc>
                  <a:txBody>
                    <a:bodyPr/>
                    <a:lstStyle/>
                    <a:p>
                      <a:r>
                        <a:rPr sz="1100" b="1" i="0">
                          <a:solidFill>
                            <a:srgbClr val="11202B"/>
                          </a:solidFill>
                          <a:latin typeface="Malgun Gothic"/>
                          <a:ea typeface="Malgun Gothic"/>
                          <a:cs typeface="Malgun Gothic"/>
                        </a:rPr>
                        <a:t>MODY</a:t>
                      </a:r>
                    </a:p>
                  </a:txBody>
                  <a:tcPr marL="73152" marR="73152">
                    <a:solidFill>
                      <a:srgbClr val="ECF1F5"/>
                    </a:solidFill>
                  </a:tcPr>
                </a:tc>
                <a:tc>
                  <a:txBody>
                    <a:bodyPr/>
                    <a:lstStyle/>
                    <a:p>
                      <a:r>
                        <a:rPr sz="1100" b="0" i="0">
                          <a:solidFill>
                            <a:srgbClr val="11202B"/>
                          </a:solidFill>
                          <a:latin typeface="Malgun Gothic"/>
                          <a:ea typeface="Malgun Gothic"/>
                          <a:cs typeface="Malgun Gothic"/>
                        </a:rPr>
                        <a:t>단일유전자 β세포 기능 이상(AD, 25세 이전, 비비만, 자가항체 음성, C-펩타이드 유지)</a:t>
                      </a:r>
                    </a:p>
                  </a:txBody>
                  <a:tcPr marL="73152" marR="73152">
                    <a:solidFill>
                      <a:srgbClr val="ECF1F5"/>
                    </a:solidFill>
                  </a:tcPr>
                </a:tc>
                <a:tc>
                  <a:txBody>
                    <a:bodyPr/>
                    <a:lstStyle/>
                    <a:p>
                      <a:r>
                        <a:rPr sz="1100" b="0" i="0">
                          <a:solidFill>
                            <a:srgbClr val="11202B"/>
                          </a:solidFill>
                          <a:latin typeface="Malgun Gothic"/>
                          <a:ea typeface="Malgun Gothic"/>
                          <a:cs typeface="Malgun Gothic"/>
                        </a:rPr>
                        <a:t>HNF1A(가장 흔함; </a:t>
                      </a:r>
                      <a:r>
                        <a:rPr sz="1100" b="1" i="0">
                          <a:solidFill>
                            <a:srgbClr val="11202B"/>
                          </a:solidFill>
                          <a:latin typeface="Malgun Gothic"/>
                          <a:ea typeface="Malgun Gothic"/>
                          <a:cs typeface="Malgun Gothic"/>
                        </a:rPr>
                        <a:t>저용량 설폰요소 극민감</a:t>
                      </a:r>
                      <a:r>
                        <a:rPr sz="1100" b="0" i="0">
                          <a:solidFill>
                            <a:srgbClr val="11202B"/>
                          </a:solidFill>
                          <a:latin typeface="Malgun Gothic"/>
                          <a:ea typeface="Malgun Gothic"/>
                          <a:cs typeface="Malgun Gothic"/>
                        </a:rPr>
                        <a:t>, 신장 당역치 낮음), GCK(경도 안정 공복고혈당 — 치료 불필요, 임신 시 태아 유전형 고려), HNF4A(신생아 거대아·저혈당 → 이후 당뇨), HNF1B(신장 낭종 + 당뇨 + 생식기 이상)</a:t>
                      </a:r>
                    </a:p>
                  </a:txBody>
                  <a:tcPr marL="73152" marR="73152">
                    <a:solidFill>
                      <a:srgbClr val="ECF1F5"/>
                    </a:solidFill>
                  </a:tcPr>
                </a:tc>
              </a:tr>
              <a:tr h="365760">
                <a:tc>
                  <a:txBody>
                    <a:bodyPr/>
                    <a:lstStyle/>
                    <a:p>
                      <a:r>
                        <a:rPr sz="1100" b="0" i="0">
                          <a:solidFill>
                            <a:srgbClr val="11202B"/>
                          </a:solidFill>
                          <a:latin typeface="Malgun Gothic"/>
                          <a:ea typeface="Malgun Gothic"/>
                          <a:cs typeface="Malgun Gothic"/>
                        </a:rPr>
                        <a:t>기타</a:t>
                      </a:r>
                    </a:p>
                  </a:txBody>
                  <a:tcPr marL="73152" marR="73152">
                    <a:solidFill>
                      <a:srgbClr val="FFFFFF"/>
                    </a:solidFill>
                  </a:tcPr>
                </a:tc>
                <a:tc>
                  <a:txBody>
                    <a:bodyPr/>
                    <a:lstStyle/>
                    <a:p>
                      <a:r>
                        <a:rPr sz="1100" b="0" i="0">
                          <a:solidFill>
                            <a:srgbClr val="11202B"/>
                          </a:solidFill>
                          <a:latin typeface="Malgun Gothic"/>
                          <a:ea typeface="Malgun Gothic"/>
                          <a:cs typeface="Malgun Gothic"/>
                        </a:rPr>
                        <a:t>췌장 외분비 질환(췌장염, CF 관련 당뇨, 혈색소증, 췌장암), 내분비병증(쿠싱, 말단비대, 갈색세포종), 약물(글루코코르티코이드, 칼시뉴린 억제제, 면역관문억제제 → 급성 1형 유사, 비정형 항정신병약, 티아자이드), 미토콘드리아(m.3243A&gt;G MIDD), 리포디스트로피</a:t>
                      </a:r>
                    </a:p>
                  </a:txBody>
                  <a:tcPr marL="73152" marR="73152">
                    <a:solidFill>
                      <a:srgbClr val="FFFFFF"/>
                    </a:solidFill>
                  </a:tcPr>
                </a:tc>
                <a:tc>
                  <a:txBody>
                    <a:bodyPr/>
                    <a:lstStyle/>
                    <a:p/>
                  </a:txBody>
                  <a:tcPr marL="73152" marR="7315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인슐린 저항성의 분자 기전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이소성 지질·DAG–PKCε 가설</a:t>
            </a:r>
            <a:r>
              <a:rPr sz="1800" b="0" i="0">
                <a:solidFill>
                  <a:srgbClr val="11202B"/>
                </a:solidFill>
                <a:latin typeface="Malgun Gothic"/>
                <a:ea typeface="Malgun Gothic"/>
                <a:cs typeface="Malgun Gothic"/>
              </a:rPr>
              <a:t>(Shulman): 간 DAG 축적 → PKCε → 인슐린 수용체 Thr1160 인산화 → 키나아제 활성↓; 근육 DAG → PKCθ → IRS1 세린 인산화.</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세라마이드</a:t>
            </a:r>
            <a:r>
              <a:rPr sz="1800" b="0" i="0">
                <a:solidFill>
                  <a:srgbClr val="11202B"/>
                </a:solidFill>
                <a:latin typeface="Malgun Gothic"/>
                <a:ea typeface="Malgun Gothic"/>
                <a:cs typeface="Malgun Gothic"/>
              </a:rPr>
              <a:t>: PP2A 활성화·AKT 억제, 미토콘드리아 기능 저하 → 세라마이드 합성 억제가 동물에서 인슐린 감수성 회복.</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염증</a:t>
            </a:r>
            <a:r>
              <a:rPr sz="1800" b="0" i="0">
                <a:solidFill>
                  <a:srgbClr val="11202B"/>
                </a:solidFill>
                <a:latin typeface="Malgun Gothic"/>
                <a:ea typeface="Malgun Gothic"/>
                <a:cs typeface="Malgun Gothic"/>
              </a:rPr>
              <a:t>: 비만 지방조직의 M1 유사 대식세포·크라운 구조 → TNF-α·IL-1β → JNK·IKKβ → IRS1 세린 인산화; 장 투과성·LPS.</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ER 스트레스·UPR</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미토콘드리아 기능 저하</a:t>
            </a:r>
            <a:r>
              <a:rPr sz="1800" b="0" i="0">
                <a:solidFill>
                  <a:srgbClr val="11202B"/>
                </a:solidFill>
                <a:latin typeface="Malgun Gothic"/>
                <a:ea typeface="Malgun Gothic"/>
                <a:cs typeface="Malgun Gothic"/>
              </a:rPr>
              <a:t>(근육 산화 능력↓; 원인인지 결과인지 논쟁), </a:t>
            </a:r>
            <a:r>
              <a:rPr sz="1800" b="1" i="0">
                <a:solidFill>
                  <a:srgbClr val="11202B"/>
                </a:solidFill>
                <a:latin typeface="Malgun Gothic"/>
                <a:ea typeface="Malgun Gothic"/>
                <a:cs typeface="Malgun Gothic"/>
              </a:rPr>
              <a:t>고인슐린혈증 자체</a:t>
            </a:r>
            <a:r>
              <a:rPr sz="1800" b="0" i="0">
                <a:solidFill>
                  <a:srgbClr val="11202B"/>
                </a:solidFill>
                <a:latin typeface="Malgun Gothic"/>
                <a:ea typeface="Malgun Gothic"/>
                <a:cs typeface="Malgun Gothic"/>
              </a:rPr>
              <a:t>가 저항성을 유발하는 '닭과 달걀' 문제.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인슐린 저항성의 분자 기전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선택적 인슐린 저항성</a:t>
            </a:r>
            <a:r>
              <a:rPr sz="2000" b="0" i="0">
                <a:solidFill>
                  <a:srgbClr val="11202B"/>
                </a:solidFill>
                <a:latin typeface="Malgun Gothic"/>
                <a:ea typeface="Malgun Gothic"/>
                <a:cs typeface="Malgun Gothic"/>
              </a:rPr>
              <a:t>: 간에서 FOXO1 경로(포도당 생산 억제)는 저항, SREBP-1c 경로(지방 합성)는 유지 → 고혈당 + 고중성지방(B01 L06).</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극단적 인슐린 저항성 증후군: INSR 변이(도노휴/레프리코니즘, 랍손-멘덴홀), B형(항인슐린 수용체 항체), 지방이영양증 — </a:t>
            </a:r>
            <a:r>
              <a:rPr sz="2000" b="1" i="0">
                <a:solidFill>
                  <a:srgbClr val="11202B"/>
                </a:solidFill>
                <a:latin typeface="Malgun Gothic"/>
                <a:ea typeface="Malgun Gothic"/>
                <a:cs typeface="Malgun Gothic"/>
              </a:rPr>
              <a:t>흑색극세포증</a:t>
            </a:r>
            <a:r>
              <a:rPr sz="2000" b="0" i="0">
                <a:solidFill>
                  <a:srgbClr val="11202B"/>
                </a:solidFill>
                <a:latin typeface="Malgun Gothic"/>
                <a:ea typeface="Malgun Gothic"/>
                <a:cs typeface="Malgun Gothic"/>
              </a:rPr>
              <a:t>, 고안드로겐(난소 인슐린 → 테카세포).</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다낭성 난소 증후군(PCOS)</a:t>
            </a:r>
            <a:r>
              <a:rPr sz="2000" b="0" i="0">
                <a:solidFill>
                  <a:srgbClr val="11202B"/>
                </a:solidFill>
                <a:latin typeface="Malgun Gothic"/>
                <a:ea typeface="Malgun Gothic"/>
                <a:cs typeface="Malgun Gothic"/>
              </a:rPr>
              <a:t>: 인슐린 저항성·고인슐린혈증 → 난소 안드로겐 합성↑ + 간 SHBG↓ → 고안드로겐, 무배란; 메트포르민·체중 감량 효과(B04 L07).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당뇨 합병증의 생화학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미세혈관</a:t>
            </a:r>
            <a:r>
              <a:rPr sz="1800" b="0" i="0">
                <a:solidFill>
                  <a:srgbClr val="11202B"/>
                </a:solidFill>
                <a:latin typeface="Malgun Gothic"/>
                <a:ea typeface="Malgun Gothic"/>
                <a:cs typeface="Malgun Gothic"/>
              </a:rPr>
              <a:t>(망막병증, 신병증, 신경병증): 인슐린 비의존 포도당 유입 세포(내피, 메산지움, 슈반세포, 망막 주피세포)에서 고혈당 → 미토콘드리아 초과산화물 → </a:t>
            </a:r>
            <a:r>
              <a:rPr sz="1800" b="1" i="0">
                <a:solidFill>
                  <a:srgbClr val="11202B"/>
                </a:solidFill>
                <a:latin typeface="Malgun Gothic"/>
                <a:ea typeface="Malgun Gothic"/>
                <a:cs typeface="Malgun Gothic"/>
              </a:rPr>
              <a:t>폴리올 경로, AGE–RAGE, PKC(DAG; PKCβ), 헥소사민(O-GlcNAc)</a:t>
            </a:r>
            <a:r>
              <a:rPr sz="1800" b="0" i="0">
                <a:solidFill>
                  <a:srgbClr val="11202B"/>
                </a:solidFill>
                <a:latin typeface="Malgun Gothic"/>
                <a:ea typeface="Malgun Gothic"/>
                <a:cs typeface="Malgun Gothic"/>
              </a:rPr>
              <a:t> 4대 경로 활성화(Brownlee 통합 가설; B01 L04) → VEGF↑(증식망막병증, 황반부종 → 항VEGF 주사), TGF-β↑(사구체 경화, 알부민뇨), 신경 미세혈관·축삭 손상.</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대사 기억(legacy effect)</a:t>
            </a:r>
            <a:r>
              <a:rPr sz="1800" b="0" i="0">
                <a:solidFill>
                  <a:srgbClr val="11202B"/>
                </a:solidFill>
                <a:latin typeface="Malgun Gothic"/>
                <a:ea typeface="Malgun Gothic"/>
                <a:cs typeface="Malgun Gothic"/>
              </a:rPr>
              <a:t>: 초기 철저한 혈당 조절의 이득이 수십 년 지속(DCCT/EDIC, UKPDS 추적) — 후성유전 변화(NF-κB p65 프로모터 H3K4me1) 설명 가설.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대혈관</a:t>
            </a:r>
            <a:r>
              <a:rPr sz="1800" b="0" i="0">
                <a:solidFill>
                  <a:srgbClr val="11202B"/>
                </a:solidFill>
                <a:latin typeface="Malgun Gothic"/>
                <a:ea typeface="Malgun Gothic"/>
                <a:cs typeface="Malgun Gothic"/>
              </a:rPr>
              <a:t>: 가속 죽상경화(이상지질, 인슐린 저항성, 고혈압, 염증, 혈소판 활성) — 당뇨는 관상동맥질환 위험 2–4배.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당뇨 합병증의 생화학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신경병증</a:t>
            </a:r>
            <a:r>
              <a:rPr sz="2200" b="0" i="0">
                <a:solidFill>
                  <a:srgbClr val="11202B"/>
                </a:solidFill>
                <a:latin typeface="Malgun Gothic"/>
                <a:ea typeface="Malgun Gothic"/>
                <a:cs typeface="Malgun Gothic"/>
              </a:rPr>
              <a:t>: 원위부 대칭성 다발신경병증(장갑-양말형), 자율신경병증(위마비, 기립성 저혈압, 무증상 저혈당), 당뇨발(신경병증 + 허혈 + 감염).</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신병증 진행 지연</a:t>
            </a:r>
            <a:r>
              <a:rPr sz="2200" b="0" i="0">
                <a:solidFill>
                  <a:srgbClr val="11202B"/>
                </a:solidFill>
                <a:latin typeface="Malgun Gothic"/>
                <a:ea typeface="Malgun Gothic"/>
                <a:cs typeface="Malgun Gothic"/>
              </a:rPr>
              <a:t>: RAAS 차단, </a:t>
            </a:r>
            <a:r>
              <a:rPr sz="2200" b="1" i="0">
                <a:solidFill>
                  <a:srgbClr val="11202B"/>
                </a:solidFill>
                <a:latin typeface="Malgun Gothic"/>
                <a:ea typeface="Malgun Gothic"/>
                <a:cs typeface="Malgun Gothic"/>
              </a:rPr>
              <a:t>SGLT2 억제제</a:t>
            </a:r>
            <a:r>
              <a:rPr sz="2200" b="0" i="0">
                <a:solidFill>
                  <a:srgbClr val="11202B"/>
                </a:solidFill>
                <a:latin typeface="Malgun Gothic"/>
                <a:ea typeface="Malgun Gothic"/>
                <a:cs typeface="Malgun Gothic"/>
              </a:rPr>
              <a:t>(CREDENCE, DAPA-CKD), </a:t>
            </a:r>
            <a:r>
              <a:rPr sz="2200" b="1" i="0">
                <a:solidFill>
                  <a:srgbClr val="11202B"/>
                </a:solidFill>
                <a:latin typeface="Malgun Gothic"/>
                <a:ea typeface="Malgun Gothic"/>
                <a:cs typeface="Malgun Gothic"/>
              </a:rPr>
              <a:t>피네레논</a:t>
            </a:r>
            <a:r>
              <a:rPr sz="2200" b="0" i="0">
                <a:solidFill>
                  <a:srgbClr val="11202B"/>
                </a:solidFill>
                <a:latin typeface="Malgun Gothic"/>
                <a:ea typeface="Malgun Gothic"/>
                <a:cs typeface="Malgun Gothic"/>
              </a:rPr>
              <a:t>(비스테로이드성 MRA; FIDELIO), </a:t>
            </a:r>
            <a:r>
              <a:rPr sz="2200" b="1" i="0">
                <a:solidFill>
                  <a:srgbClr val="11202B"/>
                </a:solidFill>
                <a:latin typeface="Malgun Gothic"/>
                <a:ea typeface="Malgun Gothic"/>
                <a:cs typeface="Malgun Gothic"/>
              </a:rPr>
              <a:t>세마글루타이드</a:t>
            </a:r>
            <a:r>
              <a:rPr sz="2200" b="0" i="0">
                <a:solidFill>
                  <a:srgbClr val="11202B"/>
                </a:solidFill>
                <a:latin typeface="Malgun Gothic"/>
                <a:ea typeface="Malgun Gothic"/>
                <a:cs typeface="Malgun Gothic"/>
              </a:rPr>
              <a:t>(FLOW, 2024).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당뇨 치료의 기전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기술</a:t>
            </a:r>
            <a:r>
              <a:rPr sz="2200" b="0" i="0">
                <a:solidFill>
                  <a:srgbClr val="11202B"/>
                </a:solidFill>
                <a:latin typeface="Malgun Gothic"/>
                <a:ea typeface="Malgun Gothic"/>
                <a:cs typeface="Malgun Gothic"/>
              </a:rPr>
              <a:t>: 연속혈당측정(CGM; TIR &gt;70%, TBR &lt;4%), 자동 인슐린 주입(</a:t>
            </a:r>
            <a:r>
              <a:rPr sz="2200" b="1" i="0">
                <a:solidFill>
                  <a:srgbClr val="11202B"/>
                </a:solidFill>
                <a:latin typeface="Malgun Gothic"/>
                <a:ea typeface="Malgun Gothic"/>
                <a:cs typeface="Malgun Gothic"/>
              </a:rPr>
              <a:t>하이브리드 폐쇄회로</a:t>
            </a:r>
            <a:r>
              <a:rPr sz="2200" b="0" i="0">
                <a:solidFill>
                  <a:srgbClr val="11202B"/>
                </a:solidFill>
                <a:latin typeface="Malgun Gothic"/>
                <a:ea typeface="Malgun Gothic"/>
                <a:cs typeface="Malgun Gothic"/>
              </a:rPr>
              <a:t>, 인공췌장) — 1형 당뇨 관리의 표준으로 정착.</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세포 치료</a:t>
            </a:r>
            <a:r>
              <a:rPr sz="2200" b="0" i="0">
                <a:solidFill>
                  <a:srgbClr val="11202B"/>
                </a:solidFill>
                <a:latin typeface="Malgun Gothic"/>
                <a:ea typeface="Malgun Gothic"/>
                <a:cs typeface="Malgun Gothic"/>
              </a:rPr>
              <a:t>: 사체 췌도 이식(</a:t>
            </a:r>
            <a:r>
              <a:rPr sz="2200" b="1" i="0">
                <a:solidFill>
                  <a:srgbClr val="11202B"/>
                </a:solidFill>
                <a:latin typeface="Malgun Gothic"/>
                <a:ea typeface="Malgun Gothic"/>
                <a:cs typeface="Malgun Gothic"/>
              </a:rPr>
              <a:t>도니슬레셀</a:t>
            </a:r>
            <a:r>
              <a:rPr sz="2200" b="0" i="0">
                <a:solidFill>
                  <a:srgbClr val="11202B"/>
                </a:solidFill>
                <a:latin typeface="Malgun Gothic"/>
                <a:ea typeface="Malgun Gothic"/>
                <a:cs typeface="Malgun Gothic"/>
              </a:rPr>
              <a:t>, 2023 FDA 승인 — 면역억제 필요), 줄기세포 유래 췌도(VX-880/질리셀 — 1/2상에서 다수 인슐린 독립), 면역 회피 편집 세포(저면역원성 HIP 세포, 2025 면역억제 없이 생존 보고).</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당뇨 치료의 기전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3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300" b="1" i="0">
                          <a:solidFill>
                            <a:srgbClr val="FFFFFF"/>
                          </a:solidFill>
                          <a:latin typeface="Malgun Gothic"/>
                          <a:ea typeface="Malgun Gothic"/>
                          <a:cs typeface="Malgun Gothic"/>
                        </a:rPr>
                        <a:t>핵심</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메트포르민</a:t>
                      </a:r>
                    </a:p>
                  </a:txBody>
                  <a:tcPr marL="73152" marR="73152">
                    <a:solidFill>
                      <a:srgbClr val="FFFFFF"/>
                    </a:solidFill>
                  </a:tcPr>
                </a:tc>
                <a:tc>
                  <a:txBody>
                    <a:bodyPr/>
                    <a:lstStyle/>
                    <a:p>
                      <a:r>
                        <a:rPr sz="1300" b="0" i="0">
                          <a:solidFill>
                            <a:srgbClr val="11202B"/>
                          </a:solidFill>
                          <a:latin typeface="Malgun Gothic"/>
                          <a:ea typeface="Malgun Gothic"/>
                          <a:cs typeface="Malgun Gothic"/>
                        </a:rPr>
                        <a:t>간 포도당 생산↓ — 복합체 I 약한 억제 → 에너지 전하·AMPK, 미토콘드리아 GPD2 억제(산화환원), 장 GDF-15·GLP-1↑</a:t>
                      </a:r>
                    </a:p>
                  </a:txBody>
                  <a:tcPr marL="73152" marR="73152">
                    <a:solidFill>
                      <a:srgbClr val="FFFFFF"/>
                    </a:solidFill>
                  </a:tcPr>
                </a:tc>
                <a:tc>
                  <a:txBody>
                    <a:bodyPr/>
                    <a:lstStyle/>
                    <a:p>
                      <a:r>
                        <a:rPr sz="1300" b="0" i="0">
                          <a:solidFill>
                            <a:srgbClr val="11202B"/>
                          </a:solidFill>
                          <a:latin typeface="Malgun Gothic"/>
                          <a:ea typeface="Malgun Gothic"/>
                          <a:cs typeface="Malgun Gothic"/>
                        </a:rPr>
                        <a:t>1차 약제, 체중 중립, B12 결핍, 젖산산증(eGFR &lt;30 금기)</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SGLT2 억제제</a:t>
                      </a:r>
                    </a:p>
                  </a:txBody>
                  <a:tcPr marL="73152" marR="73152">
                    <a:solidFill>
                      <a:srgbClr val="ECF1F5"/>
                    </a:solidFill>
                  </a:tcPr>
                </a:tc>
                <a:tc>
                  <a:txBody>
                    <a:bodyPr/>
                    <a:lstStyle/>
                    <a:p>
                      <a:r>
                        <a:rPr sz="1300" b="0" i="0">
                          <a:solidFill>
                            <a:srgbClr val="11202B"/>
                          </a:solidFill>
                          <a:latin typeface="Malgun Gothic"/>
                          <a:ea typeface="Malgun Gothic"/>
                          <a:cs typeface="Malgun Gothic"/>
                        </a:rPr>
                        <a:t>신장 포도당 재흡수 억제</a:t>
                      </a:r>
                    </a:p>
                  </a:txBody>
                  <a:tcPr marL="73152" marR="73152">
                    <a:solidFill>
                      <a:srgbClr val="ECF1F5"/>
                    </a:solidFill>
                  </a:tcPr>
                </a:tc>
                <a:tc>
                  <a:txBody>
                    <a:bodyPr/>
                    <a:lstStyle/>
                    <a:p>
                      <a:r>
                        <a:rPr sz="1300" b="0" i="0">
                          <a:solidFill>
                            <a:srgbClr val="11202B"/>
                          </a:solidFill>
                          <a:latin typeface="Malgun Gothic"/>
                          <a:ea typeface="Malgun Gothic"/>
                          <a:cs typeface="Malgun Gothic"/>
                        </a:rPr>
                        <a:t>심부전·CKD·심혈관 보호; 정상혈당 DKA, 생식기 감염</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GLP-1 RA(세마글루타이드, 둘라글루타이드) / GIP/GLP-1(티르제파타이드)</a:t>
                      </a:r>
                    </a:p>
                  </a:txBody>
                  <a:tcPr marL="73152" marR="73152">
                    <a:solidFill>
                      <a:srgbClr val="FFFFFF"/>
                    </a:solidFill>
                  </a:tcPr>
                </a:tc>
                <a:tc>
                  <a:txBody>
                    <a:bodyPr/>
                    <a:lstStyle/>
                    <a:p>
                      <a:r>
                        <a:rPr sz="1300" b="0" i="0">
                          <a:solidFill>
                            <a:srgbClr val="11202B"/>
                          </a:solidFill>
                          <a:latin typeface="Malgun Gothic"/>
                          <a:ea typeface="Malgun Gothic"/>
                          <a:cs typeface="Malgun Gothic"/>
                        </a:rPr>
                        <a:t>인슐린 분비↑, 글루카곤↓, 위배출 지연, 중추 식욕 억제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체중 10–20% 감소, 심혈관 이득(SUSTAIN-6, SELECT), 위장관 부작용, 췌장염·담석</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DPP-4 억제제</a:t>
                      </a:r>
                    </a:p>
                  </a:txBody>
                  <a:tcPr marL="73152" marR="73152">
                    <a:solidFill>
                      <a:srgbClr val="ECF1F5"/>
                    </a:solidFill>
                  </a:tcPr>
                </a:tc>
                <a:tc>
                  <a:txBody>
                    <a:bodyPr/>
                    <a:lstStyle/>
                    <a:p>
                      <a:r>
                        <a:rPr sz="1300" b="0" i="0">
                          <a:solidFill>
                            <a:srgbClr val="11202B"/>
                          </a:solidFill>
                          <a:latin typeface="Malgun Gothic"/>
                          <a:ea typeface="Malgun Gothic"/>
                          <a:cs typeface="Malgun Gothic"/>
                        </a:rPr>
                        <a:t>내인성 GLP-1/GIP 보존</a:t>
                      </a:r>
                    </a:p>
                  </a:txBody>
                  <a:tcPr marL="73152" marR="73152">
                    <a:solidFill>
                      <a:srgbClr val="ECF1F5"/>
                    </a:solidFill>
                  </a:tcPr>
                </a:tc>
                <a:tc>
                  <a:txBody>
                    <a:bodyPr/>
                    <a:lstStyle/>
                    <a:p>
                      <a:r>
                        <a:rPr sz="1300" b="0" i="0">
                          <a:solidFill>
                            <a:srgbClr val="11202B"/>
                          </a:solidFill>
                          <a:latin typeface="Malgun Gothic"/>
                          <a:ea typeface="Malgun Gothic"/>
                          <a:cs typeface="Malgun Gothic"/>
                        </a:rPr>
                        <a:t>체중 중립, 저혈당 적음</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티아졸리딘디온(피오글리타존)</a:t>
                      </a:r>
                    </a:p>
                  </a:txBody>
                  <a:tcPr marL="73152" marR="73152">
                    <a:solidFill>
                      <a:srgbClr val="FFFFFF"/>
                    </a:solidFill>
                  </a:tcPr>
                </a:tc>
                <a:tc>
                  <a:txBody>
                    <a:bodyPr/>
                    <a:lstStyle/>
                    <a:p>
                      <a:r>
                        <a:rPr sz="1300" b="0" i="0">
                          <a:solidFill>
                            <a:srgbClr val="11202B"/>
                          </a:solidFill>
                          <a:latin typeface="Malgun Gothic"/>
                          <a:ea typeface="Malgun Gothic"/>
                          <a:cs typeface="Malgun Gothic"/>
                        </a:rPr>
                        <a:t>PPARγ → 지방 재분포, 아디포넥틴↑</a:t>
                      </a:r>
                    </a:p>
                  </a:txBody>
                  <a:tcPr marL="73152" marR="73152">
                    <a:solidFill>
                      <a:srgbClr val="FFFFFF"/>
                    </a:solidFill>
                  </a:tcPr>
                </a:tc>
                <a:tc>
                  <a:txBody>
                    <a:bodyPr/>
                    <a:lstStyle/>
                    <a:p>
                      <a:r>
                        <a:rPr sz="1300" b="0" i="0">
                          <a:solidFill>
                            <a:srgbClr val="11202B"/>
                          </a:solidFill>
                          <a:latin typeface="Malgun Gothic"/>
                          <a:ea typeface="Malgun Gothic"/>
                          <a:cs typeface="Malgun Gothic"/>
                        </a:rPr>
                        <a:t>인슐린 감수성↑, MASH 개선; 부종·심부전·골절</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설폰요소</a:t>
                      </a:r>
                    </a:p>
                  </a:txBody>
                  <a:tcPr marL="73152" marR="73152">
                    <a:solidFill>
                      <a:srgbClr val="ECF1F5"/>
                    </a:solidFill>
                  </a:tcPr>
                </a:tc>
                <a:tc>
                  <a:txBody>
                    <a:bodyPr/>
                    <a:lstStyle/>
                    <a:p>
                      <a:r>
                        <a:rPr sz="1300" b="0" i="0">
                          <a:solidFill>
                            <a:srgbClr val="11202B"/>
                          </a:solidFill>
                          <a:latin typeface="Malgun Gothic"/>
                          <a:ea typeface="Malgun Gothic"/>
                          <a:cs typeface="Malgun Gothic"/>
                        </a:rPr>
                        <a:t>K_ATP 폐쇄</a:t>
                      </a:r>
                    </a:p>
                  </a:txBody>
                  <a:tcPr marL="73152" marR="73152">
                    <a:solidFill>
                      <a:srgbClr val="ECF1F5"/>
                    </a:solidFill>
                  </a:tcPr>
                </a:tc>
                <a:tc>
                  <a:txBody>
                    <a:bodyPr/>
                    <a:lstStyle/>
                    <a:p>
                      <a:r>
                        <a:rPr sz="1300" b="0" i="0">
                          <a:solidFill>
                            <a:srgbClr val="11202B"/>
                          </a:solidFill>
                          <a:latin typeface="Malgun Gothic"/>
                          <a:ea typeface="Malgun Gothic"/>
                          <a:cs typeface="Malgun Gothic"/>
                        </a:rPr>
                        <a:t>저렴, 저혈당·체중 증가</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α-글루코시다아제 억제제(아카보스)</a:t>
                      </a:r>
                    </a:p>
                  </a:txBody>
                  <a:tcPr marL="73152" marR="73152">
                    <a:solidFill>
                      <a:srgbClr val="FFFFFF"/>
                    </a:solidFill>
                  </a:tcPr>
                </a:tc>
                <a:tc>
                  <a:txBody>
                    <a:bodyPr/>
                    <a:lstStyle/>
                    <a:p>
                      <a:r>
                        <a:rPr sz="1300" b="0" i="0">
                          <a:solidFill>
                            <a:srgbClr val="11202B"/>
                          </a:solidFill>
                          <a:latin typeface="Malgun Gothic"/>
                          <a:ea typeface="Malgun Gothic"/>
                          <a:cs typeface="Malgun Gothic"/>
                        </a:rPr>
                        <a:t>장 이당류 분해 지연</a:t>
                      </a:r>
                    </a:p>
                  </a:txBody>
                  <a:tcPr marL="73152" marR="73152">
                    <a:solidFill>
                      <a:srgbClr val="FFFFFF"/>
                    </a:solidFill>
                  </a:tcPr>
                </a:tc>
                <a:tc>
                  <a:txBody>
                    <a:bodyPr/>
                    <a:lstStyle/>
                    <a:p>
                      <a:r>
                        <a:rPr sz="1300" b="0" i="0">
                          <a:solidFill>
                            <a:srgbClr val="11202B"/>
                          </a:solidFill>
                          <a:latin typeface="Malgun Gothic"/>
                          <a:ea typeface="Malgun Gothic"/>
                          <a:cs typeface="Malgun Gothic"/>
                        </a:rPr>
                        <a:t>식후 혈당↓, 방귀</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인슐린</a:t>
                      </a:r>
                    </a:p>
                  </a:txBody>
                  <a:tcPr marL="73152" marR="73152">
                    <a:solidFill>
                      <a:srgbClr val="ECF1F5"/>
                    </a:solidFill>
                  </a:tcPr>
                </a:tc>
                <a:tc>
                  <a:txBody>
                    <a:bodyPr/>
                    <a:lstStyle/>
                    <a:p>
                      <a:r>
                        <a:rPr sz="1300" b="0" i="0">
                          <a:solidFill>
                            <a:srgbClr val="11202B"/>
                          </a:solidFill>
                          <a:latin typeface="Malgun Gothic"/>
                          <a:ea typeface="Malgun Gothic"/>
                          <a:cs typeface="Malgun Gothic"/>
                        </a:rPr>
                        <a:t>기저(글라진, 데글루덱, 주 1회 아이코덱) + 식사(리스프로, 아스파트)</a:t>
                      </a:r>
                    </a:p>
                  </a:txBody>
                  <a:tcPr marL="73152" marR="73152">
                    <a:solidFill>
                      <a:srgbClr val="ECF1F5"/>
                    </a:solidFill>
                  </a:tcPr>
                </a:tc>
                <a:tc>
                  <a:txBody>
                    <a:bodyPr/>
                    <a:lstStyle/>
                    <a:p>
                      <a:r>
                        <a:rPr sz="1300" b="0" i="0">
                          <a:solidFill>
                            <a:srgbClr val="11202B"/>
                          </a:solidFill>
                          <a:latin typeface="Malgun Gothic"/>
                          <a:ea typeface="Malgun Gothic"/>
                          <a:cs typeface="Malgun Gothic"/>
                        </a:rPr>
                        <a:t>1형 필수; 저혈당</a:t>
                      </a:r>
                    </a:p>
                  </a:txBody>
                  <a:tcPr marL="73152" marR="73152">
                    <a:solidFill>
                      <a:srgbClr val="ECF1F5"/>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삼중 작용제(레타트루타이드; GIP/GLP-1/글루카곤) 3상에서 체중 약 24% 감소, 경구 소분자 GLP-1 RA(오르포글리프론)가 승인 단계에 이르렀으며, 아밀린 유사체 병용(카그릴린타이드 + 세마글루타이드)이 개발 중이다.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1형 당뇨 예방: 자가항체 선별 프로그램(Fr1da, TrialNet), 테플리주맙, 베라파밀(β세포 TXNIP 억제), JAK 억제제(바리시티닙 BANDIT 시험 — C-펩타이드 보존)가 연구 중이다.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2형 당뇨 관해: 집중 체중 감량(DiRECT; 15 kg 감량 시 약 86% 관해)과 비만대사수술은 간·췌장 지방 감소로 β세포 기능을 회복시킨다는 '쌍둥이 순환(twin cycle)' 가설을 지지한다.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1. </a:t>
            </a:r>
            <a:r>
              <a:rPr sz="1800" b="0" i="0">
                <a:solidFill>
                  <a:srgbClr val="11202B"/>
                </a:solidFill>
                <a:latin typeface="Malgun Gothic"/>
                <a:ea typeface="Malgun Gothic"/>
                <a:cs typeface="Malgun Gothic"/>
              </a:rPr>
              <a:t>β세포는 글루코키나아제–ATP/ADP–K_ATP–Ca²⁺ 축으로 인슐린을 분비하고, GLP-1·GIP가 이를 포도당 의존적으로 증폭한다.</a:t>
            </a:r>
          </a:p>
          <a:p>
            <a:pPr>
              <a:spcAft>
                <a:spcPts val="800"/>
              </a:spcAft>
            </a:pPr>
            <a:r>
              <a:rPr sz="1800" b="1" i="0">
                <a:solidFill>
                  <a:srgbClr val="003C71"/>
                </a:solidFill>
                <a:latin typeface="Malgun Gothic"/>
                <a:ea typeface="Malgun Gothic"/>
                <a:cs typeface="Malgun Gothic"/>
              </a:rPr>
              <a:t>2. </a:t>
            </a:r>
            <a:r>
              <a:rPr sz="1800" b="0" i="0">
                <a:solidFill>
                  <a:srgbClr val="11202B"/>
                </a:solidFill>
                <a:latin typeface="Malgun Gothic"/>
                <a:ea typeface="Malgun Gothic"/>
                <a:cs typeface="Malgun Gothic"/>
              </a:rPr>
              <a:t>인슐린은 PI3K–AKT를 통해 근육·지방의 포도당 흡수, 간의 포도당 생산 억제(FOXO1), 지방분해 억제를 일으키며 글루카곤은 반대로 작용한다.</a:t>
            </a:r>
          </a:p>
          <a:p>
            <a:pPr>
              <a:spcAft>
                <a:spcPts val="800"/>
              </a:spcAft>
            </a:pPr>
            <a:r>
              <a:rPr sz="1800" b="1" i="0">
                <a:solidFill>
                  <a:srgbClr val="003C71"/>
                </a:solidFill>
                <a:latin typeface="Malgun Gothic"/>
                <a:ea typeface="Malgun Gothic"/>
                <a:cs typeface="Malgun Gothic"/>
              </a:rPr>
              <a:t>3. </a:t>
            </a:r>
            <a:r>
              <a:rPr sz="1800" b="0" i="0">
                <a:solidFill>
                  <a:srgbClr val="11202B"/>
                </a:solidFill>
                <a:latin typeface="Malgun Gothic"/>
                <a:ea typeface="Malgun Gothic"/>
                <a:cs typeface="Malgun Gothic"/>
              </a:rPr>
              <a:t>1형(자가면역), 2형(저항성 + β세포 부전), MODY·신생아 당뇨(단일유전자; 설폰요소 반응)로 분류하며 유전 진단이 치료를 바꾼다.</a:t>
            </a:r>
          </a:p>
          <a:p>
            <a:pPr>
              <a:spcAft>
                <a:spcPts val="800"/>
              </a:spcAft>
            </a:pPr>
            <a:r>
              <a:rPr sz="1800" b="1" i="0">
                <a:solidFill>
                  <a:srgbClr val="003C71"/>
                </a:solidFill>
                <a:latin typeface="Malgun Gothic"/>
                <a:ea typeface="Malgun Gothic"/>
                <a:cs typeface="Malgun Gothic"/>
              </a:rPr>
              <a:t>4. </a:t>
            </a:r>
            <a:r>
              <a:rPr sz="1800" b="0" i="0">
                <a:solidFill>
                  <a:srgbClr val="11202B"/>
                </a:solidFill>
                <a:latin typeface="Malgun Gothic"/>
                <a:ea typeface="Malgun Gothic"/>
                <a:cs typeface="Malgun Gothic"/>
              </a:rPr>
              <a:t>인슐린 저항성은 이소성 지질(DAG–PKC, 세라마이드), 염증, ER 스트레스로 설명되고, 합병증은 고혈당 유도 4대 경로와 대사 기억으로 설명된다.</a:t>
            </a:r>
          </a:p>
          <a:p>
            <a:pPr>
              <a:spcAft>
                <a:spcPts val="800"/>
              </a:spcAft>
            </a:pPr>
            <a:r>
              <a:rPr sz="1800" b="1" i="0">
                <a:solidFill>
                  <a:srgbClr val="003C71"/>
                </a:solidFill>
                <a:latin typeface="Malgun Gothic"/>
                <a:ea typeface="Malgun Gothic"/>
                <a:cs typeface="Malgun Gothic"/>
              </a:rPr>
              <a:t>5. </a:t>
            </a:r>
            <a:r>
              <a:rPr sz="1800" b="0" i="0">
                <a:solidFill>
                  <a:srgbClr val="11202B"/>
                </a:solidFill>
                <a:latin typeface="Malgun Gothic"/>
                <a:ea typeface="Malgun Gothic"/>
                <a:cs typeface="Malgun Gothic"/>
              </a:rPr>
              <a:t>메트포르민·SGLT2i·GLP-1 RA·티르제파타이드·인슐린·폐쇄회로·세포치료가 현재와 미래의 치료 축이다.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생후 3개월 영아의 당뇨가 KCNJ11 활성 변이로 확인되었다. 인슐린에서 설폰요소로 바꿀 수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활성 변이로 Kir6.2 K_ATP 통로가 ATP에 의해 닫히지 않아 β세포가 탈분극하지 못해 인슐린이 분비되지 않는다. 설폰요소는 SUR1 소단위에 결합해 ATP와 독립적으로 통로를 닫으므로 β세포 탈분극과 인슐린 분비를 회복시킨다. 고용량이 필요하지만 혈당 조절이 개선되고, 뇌에도 K_ATP가 있어 일부 신경발달 증상도 호전될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25세 비비만 환자, 3대에 걸친 당뇨 가족력, 자가항체 음성, C-펩타이드 정상, 저용량 글리클라자이드에 저혈당이 생겼다. 의심 진단은?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HNF1A-MODY(MODY3). 상염색체 우성, 젊은 발병, 비비만, 자가항체 음성, 인슐린 분비 유지가 특징이며 설폰요소에 매우 민감하다. 신장 포도당 역치가 낮아 고혈당 이전에 요당이 나올 수 있다. HNF1A 유전자 검사로 확진하고 가족 검사를 시행한다.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메트포르민이 간 포도당 생산을 줄이는 기전으로 제시되는 가설 두 가지를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 미토콘드리아 복합체 I을 약하게 억제해 세포 에너지 전하를 낮추고 AMP를 증가시켜, 글루카곤–cAMP 신호(아데닐산 고리화효소 억제)와 포도당신생의 에너지 공급을 줄이며 AMPK를 활성화한다. (2) 미토콘드리아 글리세롤인산 탈수소효소를 억제해 세포질 산화환원 상태(NADH/NAD⁺)를 바꿔 젖산·글리세롤로부터의 포도당신생을 억제한다. 장에서 GLP-1·GDF-15 분비 증가도 기여한다.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2형 당뇨 환자가 철저한 혈당 조절 후에도 수년간 망막병증이 진행했다. '대사 기억' 개념으로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장기간의 고혈당이 혈관세포에 후성유전 변화(염증 유전자 프로모터 히스톤 메틸화 등), AGE에 의한 장수명 단백질 변형, 미토콘드리아 손상을 남겨, 혈당이 정상화된 이후에도 염증·산화 스트레스 경로가 지속 활성화되기 때문이다. 반대로 초기의 철저한 조절은 수십 년간 이득을 남긴다(legacy effect).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DeFronzo RA et al. Type 2 diabetes mellitus. Nat Rev Dis Primers 2015;1:15019.</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Petersen MC, Shulman GI. Mechanisms of insulin action and insulin resistance. Physiol Rev 2018;98:2133–2223.</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Pearson ER et al. Switching from insulin to oral sulfonylureas in patients with diabetes due to Kir6.2 mutations. N Engl J Med 2006;355:467–477.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B04-L05  ·  인슐린·글루카곤과 당뇨병의 생화학</a:t>
            </a:r>
            <a:r>
              <a:rPr sz="10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Ahlqvist E et al. Novel subgroups of adult-onset diabetes and their association with outcomes. Lancet Diabetes Endocrinol 2018;6:361–369.</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American Diabetes Association. Standards of Care in Diabetes — 2025. Diabetes Care 2025;48(Suppl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