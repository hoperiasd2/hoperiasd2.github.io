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해당 중간산물을 오탄당인산경로·세린·지질 합성 등 생합성으로 분기할 수 있다. (2) LDH가 NAD⁺를 빠르게 재생해 해당과 아스파르트산 합성 등 산화 반응을 지속할 수 있다. (3) 단위 시간·단위 단백질당 ATP 생산 속도가 빨라 막·단백 자원 제약 하에서 유리하다. 또한 젖산·산성 환경이 침윤과 면역 회피를 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ALL 세포는 아스파라긴 합성효소(ASNS) 발현이 낮아 외부 아스파라긴에 의존하는데, 아스파라기나아제가 혈중 아스파라긴을 고갈시켜 단백 합성 실패·자멸을 유도한다. 간 단백 합성 저하로 응고인자·항트롬빈 감소(혈전·출혈), 알부민 감소, 인슐린 감소(고혈당), 지단백 변화(고중성지방혈증), 췌장염, 그리고 이종 단백에 대한 과민반응이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젖산·H⁺ 축적은 T세포의 젖산 배출을 막아 해당과 NAD⁺ 재생을 저해하고 NFAT 신호와 IFN-γ 생산을 억제한다. 반면 FOXP3⁺ 조절 T세포는 산화적 대사 비중이 크고 MCT1으로 젖산을 흡수해 연료로 사용할 수 있어 기능이 유지·강화된다. 결과적으로 면역 억제 쪽으로 균형이 기운다.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배양 배지는 비생리적으로 높은 글루타민과 낮은 대체 영양소 조건이어서 세포가 글루타민에 과도하게 의존한다. 생체 내에서는 포도당 산화·순환 젖산·피루브산 카복실화 등 대체 탄소원이 풍부하고 조직 미세환경에 따라 의존성이 달라, 단일 경로 억제를 우회할 수 있다. 생체 내 동위원소 추적으로 표적 의존성을 검증해야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암과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Warburg 효과와 암 대사 재프로그래밍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The Warburg Effect and Cancer Metabolic Reprogramming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Warburg 효과의 역사와 현대적 해석(호기성 해당의 이점)을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종양유전자(MYC, KRAS, PI3K)·종양억제유전자(p53, LKB1)·HIF가 대사를 재프로그래밍하는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 대사, 일탄소·세린 대사, 지질·뉴클레오타이드 합성의 암 의존성을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미세환경의 대사 경쟁(영양 고갈, 젖산, 저산소)과 면역 억제를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생체 내 종양 대사의 이질성과 동위원소 추적 연구의 교훈을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Warburg 효과의 재해석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신호에 의한 대사 재프로그래밍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글루타민·일탄소·지질·뉴클레오타이드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미세환경의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생체 내 대사의 이질성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Warburg 효과의 재해석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Otto Warburg(1920s): 암세포는 산소가 있어도 포도당을 젖산으로 발효(호기성 해당) → 그는 미토콘드리아 손상을 원인으로 봤다.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현대 해석: 대부분 암세포의 미토콘드리아는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기능적이며 필수적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(TCA 회로는 생합성의 허브). 호기성 해당은 결함이 아니라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증식 프로그램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일부(활성화 T세포·배아 세포도 유사).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호기성 해당의 이점(가설):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빠른 ATP 생산 속도(단위 시간당; 효율은 낮음) + 막 공간 제약(미토콘드리아보다 해당 효소가 '단백 비용' 효율적).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해당 중간산물을 생합성으로 분기: G6P → 오탄당인산경로(NADPH, 리보스), 3-PG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세린·글리신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(일탄소), DHAP → 글리세롤-3-인산(지질), 피루브산/시트르산 → 지방산.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Warburg 효과의 재해석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NAD⁺ 재생(LDH)으로 해당 지속 → 아스파르트산 합성 등 산화 요구 충족(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'증식은 NAD⁺ 재생 제한적'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Luengo et al., Mol Cell 2021).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미세환경 산성화 → 침윤·면역 억제.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PKM2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저활성 이량체가 상류 중간산물을 축적시켜 생합성으로 우회; 세린·FBP가 알로스테릭 활성화.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FDG-PET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(GLUT1·HK2 과발현 종양에서 높은 흡수; 병기·반응 평가), 혈중 LDH(종양량·예후 — 흑색종 병기 포함).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신호에 의한 대사 재프로그래밍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대사는 신호의 '하류 결과'이자 종양 형성에 기여하는 '능동 동력'이다(종양대사물질; B04 L12).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신호에 의한 대사 재프로그래밍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PI3K–AKT–mTORC1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GLUT1 막 이동, HK2 미토콘드리아 결합, PFKFB 활성, SREBP(지질), ATF4(아미노산·세린 합성), 뉴클레오타이드 합성(CAD 인산화 by S6K)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MYC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효소·LDHA·글루타민 수송체(SLC1A5)·글루타미나아제(GLS, miR-23 억제 해제), 리보솜·뉴클레오타이드 합성 — '총체적 동화'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증가, 헥소사민 경로,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거대음세포작용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(세포외 단백 섭취 → 아미노산), 자가포식 의존(췌장암), NRF2 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HIF-1α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(저산소, VHL 결손, 숙신산·푸마르산 축적)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GLUT1, HK2, LDHA,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PDK1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(PDH 억제 → 미토콘드리아 유입↓), CA9, MCT4, VEGF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p53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TIGAR(F2,6BP↓)·SCO2 상실 → 해당↑·산화↓; 세린 합성·지질 과산화 조절(페로토시스)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LKB1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소실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AMPK 활성화 불가 → mTORC1 과활성, 에너지 스트레스 취약(폐암 — 페노포르민 감수성 전임상)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KEAP1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소실/NRF2 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항산화(GSH, NADPH) 증가 → 글루타민 의존·xCT 시스틴 의존↑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글루타민·일탄소·지질·뉴클레오타이드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 중독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글루타민 → (GLS) 글루탐산 → α-KG(보충반응; 시트르산 합성 이어감) → 아스파르트산(뉴클레오타이드)·GSH·비필수아미노산; 질소 공여(뉴클레오타이드·헥소사민). 저산소·미토콘드리아 결함 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환원적 카복실화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(α-KG → 시트르산, IDH1/2 역방향)로 지질 합성.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GLS 억제제 텔라글레나스타트: 3상에서 실패(신장암) — 생체 내 의존성은 배양보다 작음(조직 의존적 — 폐암 생체 내 포도당 의존).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세린·일탄소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PHGDH 증폭(유방암·흑색종) → 세린 합성; SHMT → 5,10-메틸렌-THF → 퓨린·티미딜산·NADPH(MTHFD2 — 배아·암 특이 미토콘드리아 효소). 항엽산제(메토트렉세이트, 페메트렉시드)는 가장 오래된 '대사 표적' 항암제. 식이 세린/글리신 제한이 일부 종양 성장 억제(생쥐).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글루타민·일탄소·지질·뉴클레오타이드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de novo 지방생성(ACLY, ACC, FASN, SCD1) — 종양별 의존 차이; 저산소·혈청 결핍 시 외부 지방산 섭취(CD36 — 전이 개시 세포), 지질 저장(지방구). 뇌 전이 세포의 SREBP 의존(뇌는 지질 부족 환경).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뉴클레오타이드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퓨린·피리미딘 합성(CAD, DHODH, IMPDH) — 항대사제의 표적(B01 L12). DHODH 억제 → AML 분화.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아스파라긴·아르기닌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ALL 세포는 아스파라긴 합성효소(ASNS) 발현이 낮아 혈중 아스파라긴 의존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L-아스파라기나아제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(가장 성공적인 대사 표적 치료 중 하나). ASS1 결손 종양(흑색종, 중피종, 간암)은 아르기닌 의존 → 페길화 아르기닌 탈이미노효소(ADI-PEG20; 중피종 3상 성공 2024).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종양 미세환경의 대사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 경쟁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종양세포가 포도당·글루타민·트립토판·아르기닌을 소비 → 침윤 T세포의 해당·IFN-γ 생산 저하(T세포 소진의 대사적 요인).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젖산과 산성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고농도 젖산·H⁺ → T세포·NK 세포 기능 억제(NFAT 억제), 조절 T세포는 젖산을 연료로 사용(MCT1)해 오히려 기능 유지, 종양 연관 대식세포 M2 유사 분극(젖산 → HIF·히스톤 락틸화).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저산소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HIF → 아데노신 생성(CD39/CD73 → A2A 수용체 → 면역 억제), VEGF, PD-L1 상향.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트립토판–키뉴레닌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IDO1/TDO2 → 트립토판 고갈 + 키뉴레닌–AhR → T세포 억제·Treg 유도 (IDO 억제제 3상 실패).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아르기닌 고갈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MDSC의 아르기나아제 1 → T세포 CD3ζ 감소.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종양 미세환경의 대사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종양 미세환경의 산화 지질 → CD8 T세포 CD36 섭취 → 페로토시스·기능 저하; 수지상세포 지질 축적 → 항원 제시 장애.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암-기질 대사 공생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암 연관 섬유모세포가 젖산·케톤·아미노산(알라닌 — 췌장암에서 성상세포 자가포식 유래)을 공급하는 '역 Warburg' 모델.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전략: 면역 대사 강화(CAR-T 세포 대사 공학 — PGC-1α 과발현, 아데노신 A2A 차단), 종양 해당 억제로 T세포에 포도당 양보.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생체 내 대사의 이질성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배양 세포 대사는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배지 조성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(비생리적 고포도당·고글루타민, 시스틴, 피루브산)에 크게 좌우 → 인간 혈장 유사 배지(HPLM)에서 대사·약물 반응이 달라짐(요산이 UMPS 억제 등; Cantor et al., Cell 2017).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생체 내 ¹³C 동위원소 주입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(환자 수술 중):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비소세포폐암은 포도당 산화(PDH·PC)가 활발하고 종양 내 영역별 이질성(관류 낮은 영역은 대체 연료) — Hensley et al., Cell 2016.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순환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젖산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많은 종양의 주요 TCA 탄소원(Faubert, Hui 2017).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신장 투명세포암은 실제로 포도당 산화가 낮음(VHL–HIF).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생체 내 대사의 이질성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조직 기원·발암 유전자·미세환경이 대사를 결정: 같은 KRAS 변이도 폐(BCAA 이용↑)와 췌장(BCAA 이용↓)에서 다른 대사(Mayers et al., Science 2016).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전이 과정의 대사 적응: 혈류 내 산화 스트레스 → NADPH·항산화(엽산 경로) 의존, 전이 장기 영양 환경(폐 — 피루브산 → PC; 뇌 — 아세트산·지질 합성; 림프 — 올레산이 페로토시스 보호).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공간 대사체(MALDI 영상)와 단일세포 대사 프로파일링(SCENITH 등)으로 종양 내 대사 지형과 면역세포 대사 상태를 함께 지도화하고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히스톤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락틸화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(젖산 유래 Kla; Zhang et al., Nature 2019) 등 대사물질 유래 히스톤 변형이 종양·면역 유전자 발현을 직접 조절한다는 발견이 '대사–후성' 연구를 확장했다.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식이 중재(케톤생성식이 + PI3K 억제제 병용 — 인슐린 되먹임 차단, Hopkins et al., Nature 2018; 단식 모방 식이 + 항암제)가 임상시험 중이다.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Warburg 효과는 미토콘드리아 결함이 아니라 생합성·NAD⁺ 재생·빠른 ATP 생산을 위한 증식 프로그램으로 이해된다.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PI3K–AKT–mTOR, MYC, KRAS, HIF, p53·LKB1·KEAP1 변이가 대사를 재프로그래밍한다.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 보충반응, 세린·일탄소, 지질·뉴클레오타이드 합성, 아스파라긴·아르기닌 의존이 표적 후보이며 아스파라기나아제·항엽산제가 성공 사례이다.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미세환경의 영양 고갈·젖산·저산소·아데노신·키뉴레닌이 항종양 면역을 억제한다.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생체 내 동위원소 추적은 배양과 다른 대사 의존성을 보여주어 대사 표적 치료 개발의 기준이 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암세포가 산소가 충분해도 포도당을 젖산으로 바꾸는 것이 효율이 낮은데도 증식에 유리한 이유를 세 가지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해당 중간산물을 오탄당인산경로·세린·지질 합성 등 생합성으로 분기할 수 있다. (2) LDH가 NAD⁺를 빠르게 재생해 해당과 아스파르트산 합성 등 산화 반응을 지속할 수 있다. (3) 단위 시간·단위 단백질당 ATP 생산 속도가 빨라 막·단백 자원 제약 하에서 유리하다. 또한 젖산·산성 환경이 침윤과 면역 회피를 돕는다.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 ALL에서 L-아스파라기나아제가 효과적인 이유와 주요 부작용의 생화학적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ALL 세포는 아스파라긴 합성효소(ASNS) 발현이 낮아 외부 아스파라긴에 의존하는데, 아스파라기나아제가 혈중 아스파라긴을 고갈시켜 단백 합성 실패·자멸을 유도한다. 간 단백 합성 저하로 응고인자·항트롬빈 감소(혈전·출혈), 알부민 감소, 인슐린 감소(고혈당), 지단백 변화(고중성지방혈증), 췌장염, 그리고 이종 단백에 대한 과민반응이 생긴다.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미세환경에서 높은 젖산 농도가 세포독성 T세포는 억제하면서 조절 T세포는 덜 억제하는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젖산·H⁺ 축적은 T세포의 젖산 배출을 막아 해당과 NAD⁺ 재생을 저해하고 NFAT 신호와 IFN-γ 생산을 억제한다. 반면 FOXP3⁺ 조절 T세포는 산화적 대사 비중이 크고 MCT1으로 젖산을 흡수해 연료로 사용할 수 있어 기능이 유지·강화된다. 결과적으로 면역 억제 쪽으로 균형이 기운다.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배양 세포에서 강력했던 글루타미나아제 억제제가 환자 종양에서 기대보다 효과가 적었던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배양 배지는 비생리적으로 높은 글루타민과 낮은 대체 영양소 조건이어서 세포가 글루타민에 과도하게 의존한다. 생체 내에서는 포도당 산화·순환 젖산·피루브산 카복실화 등 대체 탄소원이 풍부하고 조직 미세환경에 따라 의존성이 달라, 단일 경로 억제를 우회할 수 있다. 생체 내 동위원소 추적으로 표적 의존성을 검증해야 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Vander Heiden MG, Cantley LC, Thompson CB. Understanding the Warburg effect: the metabolic requirements of cell proliferation. Science 2009;324:1029–1033.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Pavlova NN, Zhu J, Thompson CB. The hallmarks of cancer metabolism: still emerging. Cell Metab 2022;34:355–377.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Faubert B et al. Lactate metabolism in human lung tumors. Cell 2017;171:358–371.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B04-L11  ·  Warburg 효과와 암 대사 재프로그래밍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Cantor JR et al. Physiologic medium rewires cellular metabolism and reveals uric acid as an endogenous inhibitor of UMP synthase. Cell 2017;169:258–272.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Leone RD, Powell JD. Metabolism of immune cells in cancer. Nat Rev Cancer 2020;20:516–531.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