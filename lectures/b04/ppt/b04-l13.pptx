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POMC 결손. POMC에서 ACTH(부신 기능저하 → 저혈당), α-MSH(MC4R 포만 신호 결핍 → 과식·비만, MC1R 결핍 → 붉은 머리·흰 피부)가 생성되지 못한다. 하이드로코르티손 대체와 MC4R 작용제 세트멜라노타이드가 치료이다.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단백질 결핍으로 간의 알부민 합성이 감소해 혈장 교질 삼투압이 떨어져 부종·복수가 생기고, apoB-100 등 아포단백 합성이 부족해 VLDL로 중성지방을 수출하지 못해 간에 TG가 축적된다. 산화 스트레스(글루타티온 결핍)와 감염도 기여한다.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영양분이 빠르게 원위 소장에 도달해 L세포의 GLP-1·PYY 분비가 급증하고(인크레틴 효과 증가), 그렐린이 감소하며, 담즙산 증가(FXR·TGR5 신호)와 장내 미생물 변화, 간 포도당 생산 감소가 수술 직후부터 나타나기 때문이다. 수술 후 칼로리 제한 자체도 간 지방을 빠르게 줄인다.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(1) 대사 적응 — REE가 체성분 변화로 예상되는 것보다 더 감소하고 근육 효율이 높아진다. (2) 식욕 신호 변화 — 렙틴·GLP-1·PYY 감소, 그렐린 증가로 배고픔이 지속된다. (3) 보상·습관 회로와 지방조직의 후성유전 '비만 기억'이 남아 재증가를 촉진한다. 그래서 장기적인 행동·약물 치료가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B04 생애주기의학과 생화학  ·  영양대사학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다량영양소, 에너지 균형과 비만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Macronutrients, Energy Balance and Obesity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B04-L13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B04-L13  ·  다량영양소, 에너지 균형과 비만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에너지 소비의 구성(기초대사, 음식의 열효과, 활동)과 측정법(간접 열량계, 이중표지수)을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탄수화물·지방·단백질·식이섬유의 대사적 특성과 권장 섭취 기준을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식욕 조절의 신경내분비 회로(렙틴–멜라노코르틴, 장 호르몬)를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비만의 유전학(단일유전자·다유전자)과 병태생리(지방조직 기능장애, 대사 적응)를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영양실조(마라스무스, 콰시오커)와 비만 치료(생활습관, 약물, 수술)의 기전을 설명한다.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B04-L13  ·  다량영양소, 에너지 균형과 비만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에너지 소비의 구성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다량영양소의 대사적 특성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식욕과 체중의 신경내분비 조절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비만의 유전학과 병태생리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영양실조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6.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비만 치료의 기전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에너지 소비의 구성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B04-L13  ·  다량영양소, 에너지 균형과 비만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총에너지소비(TEE)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= 기초(안정)대사량(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BMR/REE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60–70%) +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음식의 열효과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(TEF, ~10%; 단백질 20–30% &gt; 탄수화물 5–10% &gt; 지방 0–3%) +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활동 에너지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(운동 + 비운동 활동 열생성 NEAT; 15–30%, 개인차 최대).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BMR 결정 요인: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제지방량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(최대 결정인자), 장기 대사율(간·뇌·심장·신장이 체중의 6%지만 BMR의 60%), 나이(감소), 성별, 갑상선, 체온, 교감신경.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측정: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간접 열량계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(O₂ 소비·CO₂ 생성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호흡상 RQ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= VCO₂/VO₂: 탄수화물 1.0, 지방 0.7, 단백질 0.8; RQ &gt;1은 지방 합성(과영양)),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이중표지수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(²H₂¹⁸O; 자유 생활 TEE 표준).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에너지 소비의 구성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B04-L13  ·  다량영양소, 에너지 균형과 비만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생애주기: 인간 에너지 대사는 1세 무렵 정점(체중 보정 50% 높음), 20–60세 안정, 60세 이후 연 0.7% 감소(Pontzer et al., Science 2021) — '중년 대사 감소' 통념과 다름.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추정식: 해리스-베네딕트, 미플린-세인트 조르(일반인 더 정확), 중환자는 간접 열량계 권장.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대사 적응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체중 감소 시 REE가 체성분 변화로 예측되는 것보다 추가로 감소(갑상선·렙틴↓·교감↓) — 체중 재증가의 생물학적 압력. 'The Biggest Loser' 참가자 6년 후에도 약 500 kcal/일 감소 지속(일부 재해석 논쟁).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다량영양소의 대사적 특성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B04-L13  ·  다량영양소, 에너지 균형과 비만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단쇄지방산: 부티르산(대장세포 주연료, HDAC 억제, 조절 T세포 유도), 프로피온산(간 포도당신생 기질, FFAR2/3 → GLP-1·PYY), 아세트산(말초·중추 신호).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식이 패턴 근거: 지중해식(PREDIMED: 심혈관 사건 감소), DASH(혈압), 식물성 위주·초가공식품 제한(초가공식 자유 섭취 시 하루 약 500 kcal 더 섭취 — Hall et al., Cell Metab 2019 무작위 교차 시험).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저탄수 vs 저지방: 동일 열량에서 체중 감소 차이 작음(DIETFITS); 개인 순응도가 핵심. '탄수화물-인슐린 모델' vs '에너지 균형 모델' 논쟁.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다량영양소의 대사적 특성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B04-L13  ·  다량영양소, 에너지 균형과 비만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영양소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에너지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권장(한국인 영양소 섭취기준 2020)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대사 핵심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탄수화물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 kcal/g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에너지의 55–65%; 첨가당 &lt;10%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뇌·적혈구 필수 포도당(최소 ~130 g/일 권장), 과당은 간 대사(B01 L04), 혈당지수·부하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지방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 kcal/g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15–30%; 포화지방 &lt;7%, 트랜스지방 &lt;1%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필수지방산(n-6 LA, n-3 ALA), 지용성 비타민 흡수, 포화지방 → LDL↑, 트랜스지방 → LDL↑·HDL↓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단백질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 kcal/g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성인 0.73–0.91 g/kg 권장(노인 1.0–1.2 제안)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필수아미노산 9종, 단백질 질 점수(DIAAS), 질소 평형, 저장 형태 없음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알코올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 kcal/g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 산화(다른 연료 산화 억제), 간 NADH↑ (B03 L03)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식이섬유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~2 kcal/g(발효)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성인 20–30 g/일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수용성(β-글루칸, 펙틴 → 담즙산 결합·LDL↓, 점성 → 식후 혈당↓), 불용성(대변 부피), 장내 미생물 발효 → 단쇄지방산(아세트산·프로피온산·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부티르산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식욕과 체중의 신경내분비 조절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B04-L13  ·  다량영양소, 에너지 균형과 비만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장기 신호(지방량)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렙틴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(지방세포; 지방량 비례) → 시상하부 궁상핵: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POMC/CART 신경세포 활성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(α-MSH →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MC4R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(실방핵) → 섭식↓·에너지 소비↑),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AgRP/NPY 신경세포 억제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(AgRP는 MC4R 역작용제·NPY는 섭식↑).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인슐린도 중추에서 유사한 포만 신호.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단기 신호(식사)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그렐린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(위 X/A 유사 세포; 아실화 — GOAT 효소): 공복 시 상승·식사 전 정점 → AgRP/NPY 활성 →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유일한 말초 식욕 촉진 호르몬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; GH 분비 촉진.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CCK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(십이지장 I세포; 지방·단백),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GLP-1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PYY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(회장·대장 L세포),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옥신토모듈린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GIP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아밀린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(β세포 공동분비) → 미주신경 구심·뇌간(고립로핵, 맨아래구역) → 포만.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식욕과 체중의 신경내분비 조절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B04-L13  ·  다량영양소, 에너지 균형과 비만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위 팽창 → 미주신경 기계감지.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보상 회로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중변연계 도파민(복측피개 → 측좌핵) — 고열량 기호식품의 쾌락 섭식; GLP-1RA는 보상 회로에도 작용(알코올·흡연 갈망 감소 연구).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에너지 소비 조절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교감신경 → 갈색·베이지 지방 열생성, 갑상선.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체중 설정점(set point)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vs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정착점(settling point)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생물학적 방어 기전이 체중 감소를 더 강하게 방어(비대칭) — 비만 유발 환경에서 체중 증가는 쉽고 감소는 어려운 이유.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비만의 유전학과 병태생리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B04-L13  ·  다량영양소, 에너지 균형과 비만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유전율: 쌍생아 40–70%.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세트멜라노타이드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(MC4R 작용제): POMC·PCSK1·LEPR 결핍, 바르데-비들 증후군 비만 승인.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다유전자 비만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GWAS 1,000개 이상 좌위, 대부분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뇌(시상하부·보상)에서 발현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— FTO(IRX3/5 조절; B02 L08), MC4R 주변, TMEM18, NEGR1. 다유전자 점수 최상위 10%는 평균 13 kg 더 무겁다.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병태생리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지방조직 확장 방식: 비대(hypertrophy; 큰 지방세포 → 저산소·섬유화·염증) vs 증식(hyperplasia; 건강한 확장).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내장지방·이소성 지방(간·근육·췌장·심외막) → 인슐린 저항성(B04 L05), MASLD(B03 L03), 이상지질, 고혈압.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비만의 유전학과 병태생리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B04-L13  ·  다량영양소, 에너지 균형과 비만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렙틴 저항성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비만에서 렙틴은 높지만 중추 반응 저하(BBB 수송, SOCS3, 시상하부 염증·ER 스트레스·신경교증).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비만 관련 질환: 2형 당뇨, 심혈관, 수면무호흡, 골관절염,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13종 암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(자궁내막, 식도 선암, 신장, 간, 대장 등), 불임, 우울.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 진화: BMI(아시아 ≥25 비만, 23–24.9 과체중)의 한계 → 2025 Lancet 위원회: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'임상적 비만'(장기 기능장애 동반) vs '전임상 비만'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구분, 허리둘레·체지방 직접 측정 병행 권고.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비만의 유전학과 병태생리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B04-L13  ·  다량영양소, 에너지 균형과 비만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단일유전자 비만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MC4R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기능소실(이형접합, AD)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가장 흔한 단일유전자 비만(중증 조기 비만의 2–5%), 과식, 큰 키, 고인슐린혈증; 이형접합 기능획득 변이는 마름·보호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LEP, LEPR 결손(AR)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생후 수개월 극심한 과식·비만, 저성선자극호르몬, 면역 이상; LEP 결핍은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메트렐렙틴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으로 극적 호전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POMC 결손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비만 + 부신 기능저하(ACTH 결핍) +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붉은 머리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(α-MSH → MC1R 결핍)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PCSK1 결손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비만 + 흡수장애 설사 + 저혈당(프로호르몬 가공 결함)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증후군성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프라더-윌리(B02 L05), 바르데-비들(섬모병; BBS — 망막변성·다지증·신장), 알스트룀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영양실조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B04-L13  ·  다량영양소, 에너지 균형과 비만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단백질-에너지 영양실조(PEM)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병태생리: 렙틴·인슐린↓, 코르티솔↑, T3↓(에너지 절약), 면역 저하(흉선 위축 — '영양 AIDS'), 장 융모 위축·흡수장애, 심근 위축.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치료(WHO 10단계): 저혈당·저체온·탈수(저삼투 ReSoMal; 정주 수액 신중) → 전해질·미량원소(K, Mg, Zn, 구리;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철은 초기에 금지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— 감염·산화) → 감염 치료(무증상이어도 광범위 항생제)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신중한 재급식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(F-75 → F-100, 즉석 치료식 RUTF) —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재급식 증후군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(저인산혈증) 주의(B03 L07).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성인 병원 영양실조: 입원 환자 20–50%, 근감소·합병증·재원일↑ → GLIM 기준 진단, 조기 영양 지원(장관 우선).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영양실조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B04-L13  ·  다량영양소, 에너지 균형과 비만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악액질(cachexia): 암·심부전·COPD·CKD의 염증성(IL-6, TNF, GDF15) 근육·지방 소모 — 영양만으로 회복 어려움;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GDF15–GFRAL 차단 항체 폰세그로맙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2상에서 체중·근육 회복(2024 NEJM).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영양실조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B04-L13  ·  다량영양소, 에너지 균형과 비만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마라스무스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콰시오커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총에너지·단백 모두 부족(만성)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상대적 단백 부족 + 산화 스트레스·감염(급성 촉발; 이유기 탄수화물 위주)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체중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극심한 소모(피하지방·근육 소실, '노인 얼굴')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상대적으로 보존·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부종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 가림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부종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양측 함요 부종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복수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지방간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(apoB·VLDL 합성 부족으로 TG 수출 실패)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피부·모발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얇음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벗겨지는 '페인트' 피부염, 탈색 모발('깃발 징후')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알부민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정상~경도↓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현저↓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지방·근육 동원 적응 성공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적응 실패 — 사망률 더 높음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비만 치료의 기전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B04-L13  ·  다량영양소, 에너지 균형과 비만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체중 감소의 질: GLP-1RA 체중 감소의 25–40%가 제지방 → 단백 섭취·저항 운동 병행; 근육 보존 약물 병용(비마그루맙 — 항액티빈 II형 수용체) 시험.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약물 중단 시 체중 재증가(STEP-1 연장: 1년 내 감소량의 2/3 회복) → 만성질환으로서 장기 치료 개념.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비만대사수술 후 장기 결과: 사망률·당뇨·심혈관·암 감소(SOS 연구); 영양 결핍(철, B12, 칼슘·비타민 D, 티아민, 구리), 덤핑, 수술 후 저혈당(고인슐린성 — 과도한 GLP-1), 알코올 사용장애 증가.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비만 치료의 기전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B04-L13  ·  다량영양소, 에너지 균형과 비만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체중 감소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생활습관(식이·운동·행동)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5–10%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에너지 결손; 대사 적응으로 장기 유지 어려움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오르리스타트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~3%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 리파아제 억제 → 지방 흡수 30%↓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펜터민/토피라메이트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7–9%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교감 작용 + GABA/글루탐산 조절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날트렉손/부프로피온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~5%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POMC 활성 + 오피오이드 되먹임 차단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세마글루타이드 2.4 mg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~15%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GLP-1R(시상하부·뇌간·보상), 위배출 지연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티르제파타이드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~20%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GIP/GLP-1 이중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레타트루타이드(임상)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~24%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GIP/GLP-1/글루카곤(에너지 소비↑)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세트멜라노타이드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단일유전자형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MC4R 작용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비만 치료의 기전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B04-L13  ·  다량영양소, 에너지 균형과 비만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체중 감소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비만대사수술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(루와이 위우회술, 소매 위절제)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25–30%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 용적 감소 +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 호르몬 변화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(GLP-1·PYY 급증, 그렐린↓), 담즙산·미생물 변화, 2형 당뇨 관해(체중 감소 전 조기 개선)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B04-L13  ·  다량영양소, 에너지 균형과 비만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GLP-1 계열 약물의 다장기 효과(심혈관·신장·MASH·수면무호흡·골관절염·알코올 사용장애·알츠하이머(EVOKE — 2025 결과 음성))가 '비만 = 다장기 질환' 패러다임을 강화하고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단일세포 아틀라스로 사람 시상하부 섭식 회로(GLP-1R 발현 신경세포 아형)가 지도화되었고, 장–뇌 미주 구심 경로의 세포 유형별 기능이 밝혀지고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체중 감소 후 지방조직이 '비만 기억'(후성유전)을 유지해 재증가를 촉진한다는 연구(Hinte et al., Nature 2024)가 장기 유지 전략에 시사점을 준다.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B04-L13  ·  다량영양소, 에너지 균형과 비만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총에너지소비는 BMR(제지방량 주도)·TEF·활동으로 구성되며 간접 열량계와 이중표지수로 측정하고, 체중 감소 시 대사 적응이 일어난다.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다량영양소는 RQ·TEF·필수성에서 차이가 있으며 식이섬유는 단쇄지방산을 통해 장·대사 건강에 기여한다.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렙틴–POMC/AgRP–MC4R 축과 그렐린·GLP-1·PYY·CCK가 식욕을 조절하며 체중은 감소 방향으로 더 강하게 방어된다.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비만은 MC4R·렙틴 경로 단일유전자형과 뇌 발현 다유전자형이 있고, 지방조직 기능장애·이소성 지방·렙틴 저항성이 합병증을 만든다.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마라스무스와 콰시오커는 적응 성공/실패로 구분되며, 비만 치료는 인크레틴 약물과 비만대사수술이 장 호르몬 기전으로 큰 효과를 보인다.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B04-L13  ·  다량영양소, 에너지 균형과 비만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중증 조기 비만 아동이 극심한 과식, 붉은 머리, 생후 저혈당과 부신 기능저하 병력을 가진다. 원인 유전자와 기전, 치료는?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POMC 결손. POMC에서 ACTH(부신 기능저하 → 저혈당), α-MSH(MC4R 포만 신호 결핍 → 과식·비만, MC1R 결핍 → 붉은 머리·흰 피부)가 생성되지 못한다. 하이드로코르티손 대체와 MC4R 작용제 세트멜라노타이드가 치료이다.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B04-L13  ·  다량영양소, 에너지 균형과 비만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콰시오커에서 지방간과 부종이 생기는 생화학적 기전은?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단백질 결핍으로 간의 알부민 합성이 감소해 혈장 교질 삼투압이 떨어져 부종·복수가 생기고, apoB-100 등 아포단백 합성이 부족해 VLDL로 중성지방을 수출하지 못해 간에 TG가 축적된다. 산화 스트레스(글루타티온 결핍)와 감염도 기여한다.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B04-L13  ·  다량영양소, 에너지 균형과 비만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루와이 위우회술 후 체중이 크게 줄기 전부터 2형 당뇨가 개선되는 기전은?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영양분이 빠르게 원위 소장에 도달해 L세포의 GLP-1·PYY 분비가 급증하고(인크레틴 효과 증가), 그렐린이 감소하며, 담즙산 증가(FXR·TGR5 신호)와 장내 미생물 변화, 간 포도당 생산 감소가 수술 직후부터 나타나기 때문이다. 수술 후 칼로리 제한 자체도 간 지방을 빠르게 줄인다.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B04-L13  ·  다량영양소, 에너지 균형과 비만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체중 감소를 유지하기 어려운 생물학적 이유를 세 가지 제시하라.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(1) 대사 적응 — REE가 체성분 변화로 예상되는 것보다 더 감소하고 근육 효율이 높아진다. (2) 식욕 신호 변화 — 렙틴·GLP-1·PYY 감소, 그렐린 증가로 배고픔이 지속된다. (3) 보상·습관 회로와 지방조직의 후성유전 '비만 기억'이 남아 재증가를 촉진한다. 그래서 장기적인 행동·약물 치료가 필요하다.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B04-L13  ·  다량영양소, 에너지 균형과 비만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Hall KD et al. Energy balance and its components: implications for body weight regulation. Am J Clin Nutr 2012;95:989–994.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Pontzer H et al. Daily energy expenditure through the human life course. Science 2021;373:808–812.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Loos RJF, Yeo GSH. The genetics of obesity: from discovery to biology. Nat Rev Genet 2022;23:120–133.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B04-L13  ·  다량영양소, 에너지 균형과 비만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Rubino F et al. Definition and diagnostic criteria of clinical obesity. Lancet Diabetes Endocrinol 2025;13:221–262.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Jastreboff AM et al. Tirzepatide once weekly for the treatment of obesity (SURMOUNT-1). N Engl J Med 2022;387:205–216.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