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notesMaster" Target="notesMasters/notesMaster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변이 효소는 정상 반응(아이소시트르산 → α-KG)을 잃을 뿐 아니라 새로운 반응(α-KG + NADPH → D-2HG)을 수행한다. 이형접합 상태에서 정상 대립유전자가 만든 α-KG를 변이 효소가 2-HG로 바꾸어 종양 내 수 mM으로 축적시키며, 이 새로운 산물이 TET·KDM 등을 억제해 종양 형성을 촉진하므로 신형 기능 획득(neomorphic gain-of-function)이다.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유전성 평활근종증·신세포암(HLRCC; FH 생식세포 변이). 신장의 2형 유두상 유사 FH 결핍 신세포암은 작아도 전이가 빠르므로 관찰하지 않고 넓은 경계로 신속히 절제한다. 생식세포 검사, 가족 선별, 8–10세 이후 매년 신장 MRI 감시를 시행한다.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MTAP는 메티오닌 재활용 경로에서 MTA를 분해하는데, *CDKN2A*와 함께 결실되면 MTA가 축적된다. MTA는 PRMT5에 결합해 부분 억제하므로 MTAP 결손 세포는 PRMT5 기능 여유가 줄어든다. MTA 협력 억제제는 MTA–PRMT5 복합체에 선택적으로 결합해 결손 세포의 PRMT5만 강하게 억제하고 정상 세포는 보존하는 합성치사 전략이다.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분화 증후군(IDH 억제로 2-HG가 감소해 분화 차단이 풀리며 백혈병 세포가 급속히 성숙·증식하고 사이토카인을 분비하며 조직에 침윤). 즉시 덱사메타손(10 mg 1일 2회)을 투여하고, 이뇨·하이드록시유레아(백혈구 증가 시)·지지 치료를 하며, 중증 시 IDH 억제제를 일시 중단한다.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B04 생애주기의학과 생화학  ·  암과 대사학</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종양대사물질과 대사 표적 항암치료</a:t>
            </a:r>
          </a:p>
          <a:p>
            <a:r>
              <a:rPr sz="2000" b="0" i="0">
                <a:solidFill>
                  <a:srgbClr val="C2CDD6"/>
                </a:solidFill>
                <a:latin typeface="Malgun Gothic"/>
                <a:ea typeface="Malgun Gothic"/>
                <a:cs typeface="Malgun Gothic"/>
              </a:rPr>
              <a:t>Oncometabolites and Metabolism-Targeted Cancer Therapy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B04-L12</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종양대사물질(2-HG, 숙신산, 푸마르산)의 생성 기전과 α-KG 의존 효소 억제를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IDH 변이 종양(신경교종, AML, 담관암)의 진단과 IDH 억제제를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SDH·FH 결손 유전성 종양 증후군의 생화학을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항대사제·대사 표적 약물·식이·면역대사 병용 전략의 원리와 근거를 정리한다.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대사 영상과 대사 바이오마커의 임상 활용을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종양대사물질의 개념</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IDH 변이와 2-HG</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SDH·FH 결손과 유전성 종양 증후군</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대사 표적 항암치료의 지형</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식이·대사 개입과 면역대사 병용</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대사 영상과 대사 바이오마커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종양대사물질의 개념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정의: 암 특이적 유전 변이로 비정상적으로 축적되어 </a:t>
            </a:r>
            <a:r>
              <a:rPr sz="2200" b="1" i="0">
                <a:solidFill>
                  <a:srgbClr val="11202B"/>
                </a:solidFill>
                <a:latin typeface="Malgun Gothic"/>
                <a:ea typeface="Malgun Gothic"/>
                <a:cs typeface="Malgun Gothic"/>
              </a:rPr>
              <a:t>스스로 종양 형성에 기여</a:t>
            </a:r>
            <a:r>
              <a:rPr sz="2200" b="0" i="0">
                <a:solidFill>
                  <a:srgbClr val="11202B"/>
                </a:solidFill>
                <a:latin typeface="Malgun Gothic"/>
                <a:ea typeface="Malgun Gothic"/>
                <a:cs typeface="Malgun Gothic"/>
              </a:rPr>
              <a:t>하는 대사물질.</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공통 기전: </a:t>
            </a:r>
            <a:r>
              <a:rPr sz="2200" b="1" i="0">
                <a:solidFill>
                  <a:srgbClr val="11202B"/>
                </a:solidFill>
                <a:latin typeface="Malgun Gothic"/>
                <a:ea typeface="Malgun Gothic"/>
                <a:cs typeface="Malgun Gothic"/>
              </a:rPr>
              <a:t>α-KG 의존 이산소화효소</a:t>
            </a:r>
            <a:r>
              <a:rPr sz="2200" b="0" i="0">
                <a:solidFill>
                  <a:srgbClr val="11202B"/>
                </a:solidFill>
                <a:latin typeface="Malgun Gothic"/>
                <a:ea typeface="Malgun Gothic"/>
                <a:cs typeface="Malgun Gothic"/>
              </a:rPr>
              <a:t>(약 60종 이상) 경쟁 억제 —</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TET1–3(DNA 5mC 산화 → 탈메틸화)</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JmjC 히스톤 탈메틸화효소(KDM4/5/6)</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PHD(HIF-α 수산화 → 분해)</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콜라겐 프롤릴 수산화효소</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ALKBH(DNA/RNA 탈메틸화, DNA 수선)</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종양대사물질의 개념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결과: </a:t>
            </a:r>
            <a:r>
              <a:rPr sz="2200" b="1" i="0">
                <a:solidFill>
                  <a:srgbClr val="11202B"/>
                </a:solidFill>
                <a:latin typeface="Malgun Gothic"/>
                <a:ea typeface="Malgun Gothic"/>
                <a:cs typeface="Malgun Gothic"/>
              </a:rPr>
              <a:t>과메틸화 표현형</a:t>
            </a:r>
            <a:r>
              <a:rPr sz="2200" b="0" i="0">
                <a:solidFill>
                  <a:srgbClr val="11202B"/>
                </a:solidFill>
                <a:latin typeface="Malgun Gothic"/>
                <a:ea typeface="Malgun Gothic"/>
                <a:cs typeface="Malgun Gothic"/>
              </a:rPr>
              <a:t>(CpG 섬 메틸화 표현형, 분화 차단), 가성저산소(HIF 안정화), 상동재조합 결함(ALKBH·KDM4 억제 → PARP 억제제 감수성).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IDH 변이와 2-HG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정상 IDH1(세포질·퍼옥시좀)/IDH2(미토콘드리아): 아이소시트르산 + NADP⁺ → α-KG + NADPH.</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핫스팟 이형접합 변이(IDH1 </a:t>
            </a:r>
            <a:r>
              <a:rPr sz="1800" b="1" i="0">
                <a:solidFill>
                  <a:srgbClr val="11202B"/>
                </a:solidFill>
                <a:latin typeface="Malgun Gothic"/>
                <a:ea typeface="Malgun Gothic"/>
                <a:cs typeface="Malgun Gothic"/>
              </a:rPr>
              <a:t>R132H</a:t>
            </a:r>
            <a:r>
              <a:rPr sz="1800" b="0" i="0">
                <a:solidFill>
                  <a:srgbClr val="11202B"/>
                </a:solidFill>
                <a:latin typeface="Malgun Gothic"/>
                <a:ea typeface="Malgun Gothic"/>
                <a:cs typeface="Malgun Gothic"/>
              </a:rPr>
              <a:t> 등, IDH2 R140Q/R172K) → </a:t>
            </a:r>
            <a:r>
              <a:rPr sz="1800" b="1" i="0">
                <a:solidFill>
                  <a:srgbClr val="11202B"/>
                </a:solidFill>
                <a:latin typeface="Malgun Gothic"/>
                <a:ea typeface="Malgun Gothic"/>
                <a:cs typeface="Malgun Gothic"/>
              </a:rPr>
              <a:t>신형 기능(neomorphic)</a:t>
            </a:r>
            <a:r>
              <a:rPr sz="1800" b="0" i="0">
                <a:solidFill>
                  <a:srgbClr val="11202B"/>
                </a:solidFill>
                <a:latin typeface="Malgun Gothic"/>
                <a:ea typeface="Malgun Gothic"/>
                <a:cs typeface="Malgun Gothic"/>
              </a:rPr>
              <a:t>: α-KG + NADPH → </a:t>
            </a:r>
            <a:r>
              <a:rPr sz="1800" b="1" i="0">
                <a:solidFill>
                  <a:srgbClr val="11202B"/>
                </a:solidFill>
                <a:latin typeface="Malgun Gothic"/>
                <a:ea typeface="Malgun Gothic"/>
                <a:cs typeface="Malgun Gothic"/>
              </a:rPr>
              <a:t>D-2-하이드록시글루타르산(D-2HG)</a:t>
            </a:r>
            <a:r>
              <a:rPr sz="1800" b="0" i="0">
                <a:solidFill>
                  <a:srgbClr val="11202B"/>
                </a:solidFill>
                <a:latin typeface="Malgun Gothic"/>
                <a:ea typeface="Malgun Gothic"/>
                <a:cs typeface="Malgun Gothic"/>
              </a:rPr>
              <a:t> — 종양 내 수 mM 축적(정상의 100배).</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2-HG 효과: TET2 억제(TET2 변이와 상호 배타적 → 같은 경로), 신경교 전구세포 분화 차단, CTCF 결합부위 과메틸화 → TAD 경계 붕괴 → PDGFRA 활성(B02 L05), T세포 기능 억제(종양 미세환경으로 분비).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진단</a:t>
            </a:r>
            <a:r>
              <a:rPr sz="1800" b="0" i="0">
                <a:solidFill>
                  <a:srgbClr val="11202B"/>
                </a:solidFill>
                <a:latin typeface="Malgun Gothic"/>
                <a:ea typeface="Malgun Gothic"/>
                <a:cs typeface="Malgun Gothic"/>
              </a:rPr>
              <a:t>: IDH1 R132H 면역조직화학(신경교종 표준), 시퀀싱(비정형 변이), </a:t>
            </a:r>
            <a:r>
              <a:rPr sz="1800" b="1" i="0">
                <a:solidFill>
                  <a:srgbClr val="11202B"/>
                </a:solidFill>
                <a:latin typeface="Malgun Gothic"/>
                <a:ea typeface="Malgun Gothic"/>
                <a:cs typeface="Malgun Gothic"/>
              </a:rPr>
              <a:t>MR 분광 2-HG 피크</a:t>
            </a:r>
            <a:r>
              <a:rPr sz="1800" b="0" i="0">
                <a:solidFill>
                  <a:srgbClr val="11202B"/>
                </a:solidFill>
                <a:latin typeface="Malgun Gothic"/>
                <a:ea typeface="Malgun Gothic"/>
                <a:cs typeface="Malgun Gothic"/>
              </a:rPr>
              <a:t>(2.25 ppm; 비침습 진단·반응 평가), 혈청 2-HG(AML).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IDH 변이와 2-HG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IDH 억제제</a:t>
            </a:r>
            <a:r>
              <a:rPr sz="2000" b="0" i="0">
                <a:solidFill>
                  <a:srgbClr val="11202B"/>
                </a:solidFill>
                <a:latin typeface="Malgun Gothic"/>
                <a:ea typeface="Malgun Gothic"/>
                <a:cs typeface="Malgun Gothic"/>
              </a:rPr>
              <a:t>:</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AML: 이보시데닙(IDH1), 엔아시데닙(IDH2), 올루타시데닙 — 분화 유도 → </a:t>
            </a:r>
            <a:r>
              <a:rPr sz="1800" b="1" i="0">
                <a:solidFill>
                  <a:srgbClr val="2E3F4C"/>
                </a:solidFill>
                <a:latin typeface="Malgun Gothic"/>
                <a:ea typeface="Malgun Gothic"/>
                <a:cs typeface="Malgun Gothic"/>
              </a:rPr>
              <a:t>분화 증후군</a:t>
            </a:r>
            <a:r>
              <a:rPr sz="1800" b="0" i="0">
                <a:solidFill>
                  <a:srgbClr val="2E3F4C"/>
                </a:solidFill>
                <a:latin typeface="Malgun Gothic"/>
                <a:ea typeface="Malgun Gothic"/>
                <a:cs typeface="Malgun Gothic"/>
              </a:rPr>
              <a:t>(발열·호흡곤란·부종 → 덱사메타손), 아자시티딘 병용(AGILE 시험 생존 개선).</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담관암: 이보시데닙(ClarIDHy).</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보라시데닙</a:t>
            </a:r>
            <a:r>
              <a:rPr sz="1800" b="0" i="0">
                <a:solidFill>
                  <a:srgbClr val="2E3F4C"/>
                </a:solidFill>
                <a:latin typeface="Malgun Gothic"/>
                <a:ea typeface="Malgun Gothic"/>
                <a:cs typeface="Malgun Gothic"/>
              </a:rPr>
              <a:t>(뇌 투과 IDH1/2 이중 억제제): 수술 후 저등급 IDH 변이 신경교종에서 무진행 생존 27.7 vs 11.1개월(INDIGO, 2023) → 방사선·항암 연기 가능(2024 FDA 승인).</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내성: 2차 IDH 변이(이소형 전환 — IDH1 억제 시 IDH2 변이 획득), 수용 부위 변이.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IDH 변이와 2-HG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역설: IDH 변이 신경교종은 IDH 야생형보다 예후가 좋다(과메틸화로 증식 속도 느림, NADPH 감소로 방사선·화학 감수성).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IDH 변이와 2-HG</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종양</a:t>
                      </a:r>
                    </a:p>
                  </a:txBody>
                  <a:tcPr marL="73152" marR="73152">
                    <a:solidFill>
                      <a:srgbClr val="003C71"/>
                    </a:solidFill>
                  </a:tcPr>
                </a:tc>
                <a:tc>
                  <a:txBody>
                    <a:bodyPr/>
                    <a:lstStyle/>
                    <a:p>
                      <a:r>
                        <a:rPr sz="1500" b="1" i="0">
                          <a:solidFill>
                            <a:srgbClr val="FFFFFF"/>
                          </a:solidFill>
                          <a:latin typeface="Malgun Gothic"/>
                          <a:ea typeface="Malgun Gothic"/>
                          <a:cs typeface="Malgun Gothic"/>
                        </a:rPr>
                        <a:t>빈도</a:t>
                      </a:r>
                    </a:p>
                  </a:txBody>
                  <a:tcPr marL="73152" marR="73152">
                    <a:solidFill>
                      <a:srgbClr val="003C71"/>
                    </a:solidFill>
                  </a:tcPr>
                </a:tc>
                <a:tc>
                  <a:txBody>
                    <a:bodyPr/>
                    <a:lstStyle/>
                    <a:p>
                      <a:r>
                        <a:rPr sz="1500" b="1" i="0">
                          <a:solidFill>
                            <a:srgbClr val="FFFFFF"/>
                          </a:solidFill>
                          <a:latin typeface="Malgun Gothic"/>
                          <a:ea typeface="Malgun Gothic"/>
                          <a:cs typeface="Malgun Gothic"/>
                        </a:rPr>
                        <a:t>의미</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성인 미만성 신경교종</a:t>
                      </a:r>
                    </a:p>
                  </a:txBody>
                  <a:tcPr marL="73152" marR="73152">
                    <a:solidFill>
                      <a:srgbClr val="FFFFFF"/>
                    </a:solidFill>
                  </a:tcPr>
                </a:tc>
                <a:tc>
                  <a:txBody>
                    <a:bodyPr/>
                    <a:lstStyle/>
                    <a:p>
                      <a:r>
                        <a:rPr sz="1500" b="0" i="0">
                          <a:solidFill>
                            <a:srgbClr val="11202B"/>
                          </a:solidFill>
                          <a:latin typeface="Malgun Gothic"/>
                          <a:ea typeface="Malgun Gothic"/>
                          <a:cs typeface="Malgun Gothic"/>
                        </a:rPr>
                        <a:t>저등급 별아교세포종·희소돌기아교세포종 &gt;80%</a:t>
                      </a:r>
                    </a:p>
                  </a:txBody>
                  <a:tcPr marL="73152" marR="73152">
                    <a:solidFill>
                      <a:srgbClr val="FFFFFF"/>
                    </a:solidFill>
                  </a:tcPr>
                </a:tc>
                <a:tc>
                  <a:txBody>
                    <a:bodyPr/>
                    <a:lstStyle/>
                    <a:p>
                      <a:r>
                        <a:rPr sz="1500" b="0" i="0">
                          <a:solidFill>
                            <a:srgbClr val="11202B"/>
                          </a:solidFill>
                          <a:latin typeface="Malgun Gothic"/>
                          <a:ea typeface="Malgun Gothic"/>
                          <a:cs typeface="Malgun Gothic"/>
                        </a:rPr>
                        <a:t>WHO CNS5: IDH 변이 여부가 정의 기준; IDH 야생형 + 특정 분자 표지는 교모세포종(B09 L05)</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AML</a:t>
                      </a:r>
                    </a:p>
                  </a:txBody>
                  <a:tcPr marL="73152" marR="73152">
                    <a:solidFill>
                      <a:srgbClr val="ECF1F5"/>
                    </a:solidFill>
                  </a:tcPr>
                </a:tc>
                <a:tc>
                  <a:txBody>
                    <a:bodyPr/>
                    <a:lstStyle/>
                    <a:p>
                      <a:r>
                        <a:rPr sz="1500" b="0" i="0">
                          <a:solidFill>
                            <a:srgbClr val="11202B"/>
                          </a:solidFill>
                          <a:latin typeface="Malgun Gothic"/>
                          <a:ea typeface="Malgun Gothic"/>
                          <a:cs typeface="Malgun Gothic"/>
                        </a:rPr>
                        <a:t>IDH1 ~8%, IDH2 ~12%</a:t>
                      </a:r>
                    </a:p>
                  </a:txBody>
                  <a:tcPr marL="73152" marR="73152">
                    <a:solidFill>
                      <a:srgbClr val="ECF1F5"/>
                    </a:solidFill>
                  </a:tcPr>
                </a:tc>
                <a:tc>
                  <a:txBody>
                    <a:bodyPr/>
                    <a:lstStyle/>
                    <a:p>
                      <a:r>
                        <a:rPr sz="1500" b="0" i="0">
                          <a:solidFill>
                            <a:srgbClr val="11202B"/>
                          </a:solidFill>
                          <a:latin typeface="Malgun Gothic"/>
                          <a:ea typeface="Malgun Gothic"/>
                          <a:cs typeface="Malgun Gothic"/>
                        </a:rPr>
                        <a:t>2-HG 혈중 상승</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담관암(간내)</a:t>
                      </a:r>
                    </a:p>
                  </a:txBody>
                  <a:tcPr marL="73152" marR="73152">
                    <a:solidFill>
                      <a:srgbClr val="FFFFFF"/>
                    </a:solidFill>
                  </a:tcPr>
                </a:tc>
                <a:tc>
                  <a:txBody>
                    <a:bodyPr/>
                    <a:lstStyle/>
                    <a:p>
                      <a:r>
                        <a:rPr sz="1500" b="0" i="0">
                          <a:solidFill>
                            <a:srgbClr val="11202B"/>
                          </a:solidFill>
                          <a:latin typeface="Malgun Gothic"/>
                          <a:ea typeface="Malgun Gothic"/>
                          <a:cs typeface="Malgun Gothic"/>
                        </a:rPr>
                        <a:t>IDH1 ~15–20%</a:t>
                      </a:r>
                    </a:p>
                  </a:txBody>
                  <a:tcPr marL="73152" marR="73152">
                    <a:solidFill>
                      <a:srgbClr val="FFFFFF"/>
                    </a:solidFill>
                  </a:tcPr>
                </a:tc>
                <a:tc>
                  <a:txBody>
                    <a:bodyPr/>
                    <a:lstStyle/>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연골육종</a:t>
                      </a:r>
                    </a:p>
                  </a:txBody>
                  <a:tcPr marL="73152" marR="73152">
                    <a:solidFill>
                      <a:srgbClr val="ECF1F5"/>
                    </a:solidFill>
                  </a:tcPr>
                </a:tc>
                <a:tc>
                  <a:txBody>
                    <a:bodyPr/>
                    <a:lstStyle/>
                    <a:p>
                      <a:r>
                        <a:rPr sz="1500" b="0" i="0">
                          <a:solidFill>
                            <a:srgbClr val="11202B"/>
                          </a:solidFill>
                          <a:latin typeface="Malgun Gothic"/>
                          <a:ea typeface="Malgun Gothic"/>
                          <a:cs typeface="Malgun Gothic"/>
                        </a:rPr>
                        <a:t>~50%</a:t>
                      </a:r>
                    </a:p>
                  </a:txBody>
                  <a:tcPr marL="73152" marR="73152">
                    <a:solidFill>
                      <a:srgbClr val="ECF1F5"/>
                    </a:solidFill>
                  </a:tcPr>
                </a:tc>
                <a:tc>
                  <a:txBody>
                    <a:bodyPr/>
                    <a:lstStyle/>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혈관면역모세포성 T세포 림프종</a:t>
                      </a:r>
                    </a:p>
                  </a:txBody>
                  <a:tcPr marL="73152" marR="73152">
                    <a:solidFill>
                      <a:srgbClr val="FFFFFF"/>
                    </a:solidFill>
                  </a:tcPr>
                </a:tc>
                <a:tc>
                  <a:txBody>
                    <a:bodyPr/>
                    <a:lstStyle/>
                    <a:p>
                      <a:r>
                        <a:rPr sz="1500" b="0" i="0">
                          <a:solidFill>
                            <a:srgbClr val="11202B"/>
                          </a:solidFill>
                          <a:latin typeface="Malgun Gothic"/>
                          <a:ea typeface="Malgun Gothic"/>
                          <a:cs typeface="Malgun Gothic"/>
                        </a:rPr>
                        <a:t>IDH2 R172</a:t>
                      </a:r>
                    </a:p>
                  </a:txBody>
                  <a:tcPr marL="73152" marR="73152">
                    <a:solidFill>
                      <a:srgbClr val="FFFFFF"/>
                    </a:solidFill>
                  </a:tcPr>
                </a:tc>
                <a:tc>
                  <a:txBody>
                    <a:bodyPr/>
                    <a:lstStyle/>
                    <a:p/>
                  </a:txBody>
                  <a:tcPr marL="73152" marR="7315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SDH·FH 결손과 유전성 종양 증후군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숙신산·푸마르산: α-KG 의존 효소 억제(PHD → 가성저산소 HIF; TET → 과메틸화). 푸마르산은 시스테인 </a:t>
            </a:r>
            <a:r>
              <a:rPr sz="1800" b="1" i="0">
                <a:solidFill>
                  <a:srgbClr val="11202B"/>
                </a:solidFill>
                <a:latin typeface="Malgun Gothic"/>
                <a:ea typeface="Malgun Gothic"/>
                <a:cs typeface="Malgun Gothic"/>
              </a:rPr>
              <a:t>숙신화</a:t>
            </a:r>
            <a:r>
              <a:rPr sz="1800" b="0" i="0">
                <a:solidFill>
                  <a:srgbClr val="11202B"/>
                </a:solidFill>
                <a:latin typeface="Malgun Gothic"/>
                <a:ea typeface="Malgun Gothic"/>
                <a:cs typeface="Malgun Gothic"/>
              </a:rPr>
              <a:t>(KEAP1 → NRF2 활성, 아코니타아제 불활성), mtDNA 방출 → 선천면역 활성.</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진단: 종양의 </a:t>
            </a:r>
            <a:r>
              <a:rPr sz="1800" b="1" i="0">
                <a:solidFill>
                  <a:srgbClr val="11202B"/>
                </a:solidFill>
                <a:latin typeface="Malgun Gothic"/>
                <a:ea typeface="Malgun Gothic"/>
                <a:cs typeface="Malgun Gothic"/>
              </a:rPr>
              <a:t>SDHB 면역염색 소실</a:t>
            </a:r>
            <a:r>
              <a:rPr sz="1800" b="0" i="0">
                <a:solidFill>
                  <a:srgbClr val="11202B"/>
                </a:solidFill>
                <a:latin typeface="Malgun Gothic"/>
                <a:ea typeface="Malgun Gothic"/>
                <a:cs typeface="Malgun Gothic"/>
              </a:rPr>
              <a:t>(SDH 어느 소단위 결손이든 복합체 불안정 → SDHB 소실), 2SC(S-(2-숙시노)시스테인) 면역염색(FH 결손), 혈장 메톡시티라민(SDHB 부신경절종 — 도파민 분비형).</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관리: 생식세포 검사·가족 선별, 전신 MRI·기능 영상(⁶⁸Ga-DOTATATE PET) 감시, HLRCC 신장 MRI 연 1회.</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벨주티판</a:t>
            </a:r>
            <a:r>
              <a:rPr sz="1800" b="0" i="0">
                <a:solidFill>
                  <a:srgbClr val="11202B"/>
                </a:solidFill>
                <a:latin typeface="Malgun Gothic"/>
                <a:ea typeface="Malgun Gothic"/>
                <a:cs typeface="Malgun Gothic"/>
              </a:rPr>
              <a:t>(HIF-2α 억제): VHL 질환·갈색세포종/부신경절종(2025 승인 확대) — 가성저산소 경로 표적.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SDH·FH 결손과 유전성 종양 증후군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유전자</a:t>
                      </a:r>
                    </a:p>
                  </a:txBody>
                  <a:tcPr marL="73152" marR="73152">
                    <a:solidFill>
                      <a:srgbClr val="003C71"/>
                    </a:solidFill>
                  </a:tcPr>
                </a:tc>
                <a:tc>
                  <a:txBody>
                    <a:bodyPr/>
                    <a:lstStyle/>
                    <a:p>
                      <a:r>
                        <a:rPr sz="1500" b="1" i="0">
                          <a:solidFill>
                            <a:srgbClr val="FFFFFF"/>
                          </a:solidFill>
                          <a:latin typeface="Malgun Gothic"/>
                          <a:ea typeface="Malgun Gothic"/>
                          <a:cs typeface="Malgun Gothic"/>
                        </a:rPr>
                        <a:t>증후군</a:t>
                      </a:r>
                    </a:p>
                  </a:txBody>
                  <a:tcPr marL="73152" marR="73152">
                    <a:solidFill>
                      <a:srgbClr val="003C71"/>
                    </a:solidFill>
                  </a:tcPr>
                </a:tc>
                <a:tc>
                  <a:txBody>
                    <a:bodyPr/>
                    <a:lstStyle/>
                    <a:p>
                      <a:r>
                        <a:rPr sz="1500" b="1" i="0">
                          <a:solidFill>
                            <a:srgbClr val="FFFFFF"/>
                          </a:solidFill>
                          <a:latin typeface="Malgun Gothic"/>
                          <a:ea typeface="Malgun Gothic"/>
                          <a:cs typeface="Malgun Gothic"/>
                        </a:rPr>
                        <a:t>축적 대사물질</a:t>
                      </a:r>
                    </a:p>
                  </a:txBody>
                  <a:tcPr marL="73152" marR="73152">
                    <a:solidFill>
                      <a:srgbClr val="003C71"/>
                    </a:solidFill>
                  </a:tcPr>
                </a:tc>
                <a:tc>
                  <a:txBody>
                    <a:bodyPr/>
                    <a:lstStyle/>
                    <a:p>
                      <a:r>
                        <a:rPr sz="1500" b="1" i="0">
                          <a:solidFill>
                            <a:srgbClr val="FFFFFF"/>
                          </a:solidFill>
                          <a:latin typeface="Malgun Gothic"/>
                          <a:ea typeface="Malgun Gothic"/>
                          <a:cs typeface="Malgun Gothic"/>
                        </a:rPr>
                        <a:t>종양</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SDHA/B/C/D, SDHAF2 (숙신산 탈수소효소; 복합체 II)</a:t>
                      </a:r>
                    </a:p>
                  </a:txBody>
                  <a:tcPr marL="73152" marR="73152">
                    <a:solidFill>
                      <a:srgbClr val="FFFFFF"/>
                    </a:solidFill>
                  </a:tcPr>
                </a:tc>
                <a:tc>
                  <a:txBody>
                    <a:bodyPr/>
                    <a:lstStyle/>
                    <a:p>
                      <a:r>
                        <a:rPr sz="1500" b="0" i="0">
                          <a:solidFill>
                            <a:srgbClr val="11202B"/>
                          </a:solidFill>
                          <a:latin typeface="Malgun Gothic"/>
                          <a:ea typeface="Malgun Gothic"/>
                          <a:cs typeface="Malgun Gothic"/>
                        </a:rPr>
                        <a:t>유전성 부신경절종-갈색세포종 증후군 (SDHD·*SDHAF2*는 </a:t>
                      </a:r>
                      <a:r>
                        <a:rPr sz="1500" b="1" i="0">
                          <a:solidFill>
                            <a:srgbClr val="11202B"/>
                          </a:solidFill>
                          <a:latin typeface="Malgun Gothic"/>
                          <a:ea typeface="Malgun Gothic"/>
                          <a:cs typeface="Malgun Gothic"/>
                        </a:rPr>
                        <a:t>부계 전달 시만</a:t>
                      </a:r>
                      <a:r>
                        <a:rPr sz="1500" b="0" i="0">
                          <a:solidFill>
                            <a:srgbClr val="11202B"/>
                          </a:solidFill>
                          <a:latin typeface="Malgun Gothic"/>
                          <a:ea typeface="Malgun Gothic"/>
                          <a:cs typeface="Malgun Gothic"/>
                        </a:rPr>
                        <a:t> 발현 — 각인)</a:t>
                      </a:r>
                    </a:p>
                  </a:txBody>
                  <a:tcPr marL="73152" marR="73152">
                    <a:solidFill>
                      <a:srgbClr val="FFFFFF"/>
                    </a:solidFill>
                  </a:tcPr>
                </a:tc>
                <a:tc>
                  <a:txBody>
                    <a:bodyPr/>
                    <a:lstStyle/>
                    <a:p>
                      <a:r>
                        <a:rPr sz="1500" b="1" i="0">
                          <a:solidFill>
                            <a:srgbClr val="11202B"/>
                          </a:solidFill>
                          <a:latin typeface="Malgun Gothic"/>
                          <a:ea typeface="Malgun Gothic"/>
                          <a:cs typeface="Malgun Gothic"/>
                        </a:rPr>
                        <a:t>숙신산</a:t>
                      </a:r>
                    </a:p>
                  </a:txBody>
                  <a:tcPr marL="73152" marR="73152">
                    <a:solidFill>
                      <a:srgbClr val="FFFFFF"/>
                    </a:solidFill>
                  </a:tcPr>
                </a:tc>
                <a:tc>
                  <a:txBody>
                    <a:bodyPr/>
                    <a:lstStyle/>
                    <a:p>
                      <a:r>
                        <a:rPr sz="1500" b="0" i="0">
                          <a:solidFill>
                            <a:srgbClr val="11202B"/>
                          </a:solidFill>
                          <a:latin typeface="Malgun Gothic"/>
                          <a:ea typeface="Malgun Gothic"/>
                          <a:cs typeface="Malgun Gothic"/>
                        </a:rPr>
                        <a:t>두경부 부신경절종(SDHD), 복부·흉부 부신경절종(SDHB — </a:t>
                      </a:r>
                      <a:r>
                        <a:rPr sz="1500" b="1" i="0">
                          <a:solidFill>
                            <a:srgbClr val="11202B"/>
                          </a:solidFill>
                          <a:latin typeface="Malgun Gothic"/>
                          <a:ea typeface="Malgun Gothic"/>
                          <a:cs typeface="Malgun Gothic"/>
                        </a:rPr>
                        <a:t>악성 위험 높음</a:t>
                      </a:r>
                      <a:r>
                        <a:rPr sz="1500" b="0" i="0">
                          <a:solidFill>
                            <a:srgbClr val="11202B"/>
                          </a:solidFill>
                          <a:latin typeface="Malgun Gothic"/>
                          <a:ea typeface="Malgun Gothic"/>
                          <a:cs typeface="Malgun Gothic"/>
                        </a:rPr>
                        <a:t>), GIST(야생형; 젊은 여성 위), 신세포암, 뇌하수체 선종</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FH (푸마르산 수화효소)</a:t>
                      </a:r>
                    </a:p>
                  </a:txBody>
                  <a:tcPr marL="73152" marR="73152">
                    <a:solidFill>
                      <a:srgbClr val="ECF1F5"/>
                    </a:solidFill>
                  </a:tcPr>
                </a:tc>
                <a:tc>
                  <a:txBody>
                    <a:bodyPr/>
                    <a:lstStyle/>
                    <a:p>
                      <a:r>
                        <a:rPr sz="1500" b="0" i="0">
                          <a:solidFill>
                            <a:srgbClr val="11202B"/>
                          </a:solidFill>
                          <a:latin typeface="Malgun Gothic"/>
                          <a:ea typeface="Malgun Gothic"/>
                          <a:cs typeface="Malgun Gothic"/>
                        </a:rPr>
                        <a:t>유전성 평활근종증·신세포암(HLRCC)</a:t>
                      </a:r>
                    </a:p>
                  </a:txBody>
                  <a:tcPr marL="73152" marR="73152">
                    <a:solidFill>
                      <a:srgbClr val="ECF1F5"/>
                    </a:solidFill>
                  </a:tcPr>
                </a:tc>
                <a:tc>
                  <a:txBody>
                    <a:bodyPr/>
                    <a:lstStyle/>
                    <a:p>
                      <a:r>
                        <a:rPr sz="1500" b="1" i="0">
                          <a:solidFill>
                            <a:srgbClr val="11202B"/>
                          </a:solidFill>
                          <a:latin typeface="Malgun Gothic"/>
                          <a:ea typeface="Malgun Gothic"/>
                          <a:cs typeface="Malgun Gothic"/>
                        </a:rPr>
                        <a:t>푸마르산</a:t>
                      </a:r>
                    </a:p>
                  </a:txBody>
                  <a:tcPr marL="73152" marR="73152">
                    <a:solidFill>
                      <a:srgbClr val="ECF1F5"/>
                    </a:solidFill>
                  </a:tcPr>
                </a:tc>
                <a:tc>
                  <a:txBody>
                    <a:bodyPr/>
                    <a:lstStyle/>
                    <a:p>
                      <a:r>
                        <a:rPr sz="1500" b="0" i="0">
                          <a:solidFill>
                            <a:srgbClr val="11202B"/>
                          </a:solidFill>
                          <a:latin typeface="Malgun Gothic"/>
                          <a:ea typeface="Malgun Gothic"/>
                          <a:cs typeface="Malgun Gothic"/>
                        </a:rPr>
                        <a:t>다발성 피부·자궁 평활근종(젊은 여성 다발 자궁근종), 공격적 2형 유두상 신세포암(작아도 전이)</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MDH2</a:t>
                      </a:r>
                    </a:p>
                  </a:txBody>
                  <a:tcPr marL="73152" marR="73152">
                    <a:solidFill>
                      <a:srgbClr val="FFFFFF"/>
                    </a:solidFill>
                  </a:tcPr>
                </a:tc>
                <a:tc>
                  <a:txBody>
                    <a:bodyPr/>
                    <a:lstStyle/>
                    <a:p>
                      <a:r>
                        <a:rPr sz="1500" b="0" i="0">
                          <a:solidFill>
                            <a:srgbClr val="11202B"/>
                          </a:solidFill>
                          <a:latin typeface="Malgun Gothic"/>
                          <a:ea typeface="Malgun Gothic"/>
                          <a:cs typeface="Malgun Gothic"/>
                        </a:rPr>
                        <a:t>부신경절종</a:t>
                      </a:r>
                    </a:p>
                  </a:txBody>
                  <a:tcPr marL="73152" marR="73152">
                    <a:solidFill>
                      <a:srgbClr val="FFFFFF"/>
                    </a:solidFill>
                  </a:tcPr>
                </a:tc>
                <a:tc>
                  <a:txBody>
                    <a:bodyPr/>
                    <a:lstStyle/>
                    <a:p>
                      <a:r>
                        <a:rPr sz="1500" b="0" i="0">
                          <a:solidFill>
                            <a:srgbClr val="11202B"/>
                          </a:solidFill>
                          <a:latin typeface="Malgun Gothic"/>
                          <a:ea typeface="Malgun Gothic"/>
                          <a:cs typeface="Malgun Gothic"/>
                        </a:rPr>
                        <a:t>말산</a:t>
                      </a:r>
                    </a:p>
                  </a:txBody>
                  <a:tcPr marL="73152" marR="73152">
                    <a:solidFill>
                      <a:srgbClr val="FFFFFF"/>
                    </a:solidFill>
                  </a:tcPr>
                </a:tc>
                <a:tc>
                  <a:txBody>
                    <a:bodyPr/>
                    <a:lstStyle/>
                    <a:p>
                      <a:r>
                        <a:rPr sz="1500" b="0" i="0">
                          <a:solidFill>
                            <a:srgbClr val="11202B"/>
                          </a:solidFill>
                          <a:latin typeface="Malgun Gothic"/>
                          <a:ea typeface="Malgun Gothic"/>
                          <a:cs typeface="Malgun Gothic"/>
                        </a:rPr>
                        <a:t>드묾</a:t>
                      </a:r>
                    </a:p>
                  </a:txBody>
                  <a:tcPr marL="73152" marR="7315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대사 표적 항암치료의 지형</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성공 조건: (1) 종양 특이적 의존성(유전 변이로 생긴 취약점 — IDH, ASS1 결손, MTAP 결손), (2) 정상 조직의 대체 경로, (3) 생체 내 검증.</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MTAP 결손</a:t>
            </a:r>
            <a:r>
              <a:rPr sz="2000" b="0" i="0">
                <a:solidFill>
                  <a:srgbClr val="11202B"/>
                </a:solidFill>
                <a:latin typeface="Malgun Gothic"/>
                <a:ea typeface="Malgun Gothic"/>
                <a:cs typeface="Malgun Gothic"/>
              </a:rPr>
              <a:t>(*CDKN2A*와 동반 결실; 암의 ~15%): 메틸티오아데노신(MTA) 축적 → PRMT5 부분 억제 → </a:t>
            </a:r>
            <a:r>
              <a:rPr sz="2000" b="1" i="0">
                <a:solidFill>
                  <a:srgbClr val="11202B"/>
                </a:solidFill>
                <a:latin typeface="Malgun Gothic"/>
                <a:ea typeface="Malgun Gothic"/>
                <a:cs typeface="Malgun Gothic"/>
              </a:rPr>
              <a:t>MTA 협력 PRMT5 억제제</a:t>
            </a:r>
            <a:r>
              <a:rPr sz="2000" b="0" i="0">
                <a:solidFill>
                  <a:srgbClr val="11202B"/>
                </a:solidFill>
                <a:latin typeface="Malgun Gothic"/>
                <a:ea typeface="Malgun Gothic"/>
                <a:cs typeface="Malgun Gothic"/>
              </a:rPr>
              <a:t>(AMG 193, MRTX1719) 또는 MAT2A 억제제로 합성치사 — 대사 변이를 이용한 신세대 정밀 표적.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대사 표적 항암치료의 지형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범주</a:t>
                      </a:r>
                    </a:p>
                  </a:txBody>
                  <a:tcPr marL="73152" marR="73152">
                    <a:solidFill>
                      <a:srgbClr val="003C71"/>
                    </a:solidFill>
                  </a:tcPr>
                </a:tc>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고전적 항대사제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메토트렉세이트, 페메트렉시드, 5-FU/카페시타빈, 젬시타빈, 시타라빈, 6-MP, 하이드록시유레아</a:t>
                      </a:r>
                    </a:p>
                  </a:txBody>
                  <a:tcPr marL="73152" marR="73152">
                    <a:solidFill>
                      <a:srgbClr val="FFFFFF"/>
                    </a:solidFill>
                  </a:tcPr>
                </a:tc>
                <a:tc>
                  <a:txBody>
                    <a:bodyPr/>
                    <a:lstStyle/>
                    <a:p>
                      <a:r>
                        <a:rPr sz="1500" b="0" i="0">
                          <a:solidFill>
                            <a:srgbClr val="11202B"/>
                          </a:solidFill>
                          <a:latin typeface="Malgun Gothic"/>
                          <a:ea typeface="Malgun Gothic"/>
                          <a:cs typeface="Malgun Gothic"/>
                        </a:rPr>
                        <a:t>뉴클레오타이드 합성 (B01 L12)</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아미노산 고갈</a:t>
                      </a:r>
                    </a:p>
                  </a:txBody>
                  <a:tcPr marL="73152" marR="73152">
                    <a:solidFill>
                      <a:srgbClr val="ECF1F5"/>
                    </a:solidFill>
                  </a:tcPr>
                </a:tc>
                <a:tc>
                  <a:txBody>
                    <a:bodyPr/>
                    <a:lstStyle/>
                    <a:p>
                      <a:r>
                        <a:rPr sz="1500" b="0" i="0">
                          <a:solidFill>
                            <a:srgbClr val="11202B"/>
                          </a:solidFill>
                          <a:latin typeface="Malgun Gothic"/>
                          <a:ea typeface="Malgun Gothic"/>
                          <a:cs typeface="Malgun Gothic"/>
                        </a:rPr>
                        <a:t>L-아스파라기나아제, ADI-PEG20(아르기닌)</a:t>
                      </a:r>
                    </a:p>
                  </a:txBody>
                  <a:tcPr marL="73152" marR="73152">
                    <a:solidFill>
                      <a:srgbClr val="ECF1F5"/>
                    </a:solidFill>
                  </a:tcPr>
                </a:tc>
                <a:tc>
                  <a:txBody>
                    <a:bodyPr/>
                    <a:lstStyle/>
                    <a:p>
                      <a:r>
                        <a:rPr sz="1500" b="0" i="0">
                          <a:solidFill>
                            <a:srgbClr val="11202B"/>
                          </a:solidFill>
                          <a:latin typeface="Malgun Gothic"/>
                          <a:ea typeface="Malgun Gothic"/>
                          <a:cs typeface="Malgun Gothic"/>
                        </a:rPr>
                        <a:t>영양 요구</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변이 대사 효소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IDH1/2 억제제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종양대사물질</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전사 매개</a:t>
                      </a:r>
                    </a:p>
                  </a:txBody>
                  <a:tcPr marL="73152" marR="73152">
                    <a:solidFill>
                      <a:srgbClr val="ECF1F5"/>
                    </a:solidFill>
                  </a:tcPr>
                </a:tc>
                <a:tc>
                  <a:txBody>
                    <a:bodyPr/>
                    <a:lstStyle/>
                    <a:p>
                      <a:r>
                        <a:rPr sz="1500" b="0" i="0">
                          <a:solidFill>
                            <a:srgbClr val="11202B"/>
                          </a:solidFill>
                          <a:latin typeface="Malgun Gothic"/>
                          <a:ea typeface="Malgun Gothic"/>
                          <a:cs typeface="Malgun Gothic"/>
                        </a:rPr>
                        <a:t>벨주티판(HIF-2α)</a:t>
                      </a:r>
                    </a:p>
                  </a:txBody>
                  <a:tcPr marL="73152" marR="73152">
                    <a:solidFill>
                      <a:srgbClr val="ECF1F5"/>
                    </a:solidFill>
                  </a:tcPr>
                </a:tc>
                <a:tc>
                  <a:txBody>
                    <a:bodyPr/>
                    <a:lstStyle/>
                    <a:p>
                      <a:r>
                        <a:rPr sz="1500" b="0" i="0">
                          <a:solidFill>
                            <a:srgbClr val="11202B"/>
                          </a:solidFill>
                          <a:latin typeface="Malgun Gothic"/>
                          <a:ea typeface="Malgun Gothic"/>
                          <a:cs typeface="Malgun Gothic"/>
                        </a:rPr>
                        <a:t>가성저산소</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지질</a:t>
                      </a:r>
                    </a:p>
                  </a:txBody>
                  <a:tcPr marL="73152" marR="73152">
                    <a:solidFill>
                      <a:srgbClr val="FFFFFF"/>
                    </a:solidFill>
                  </a:tcPr>
                </a:tc>
                <a:tc>
                  <a:txBody>
                    <a:bodyPr/>
                    <a:lstStyle/>
                    <a:p>
                      <a:r>
                        <a:rPr sz="1500" b="0" i="0">
                          <a:solidFill>
                            <a:srgbClr val="11202B"/>
                          </a:solidFill>
                          <a:latin typeface="Malgun Gothic"/>
                          <a:ea typeface="Malgun Gothic"/>
                          <a:cs typeface="Malgun Gothic"/>
                        </a:rPr>
                        <a:t>FASN 억제제(덴포글라스타트), SCD1 억제제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임상시험</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미토콘드리아</a:t>
                      </a:r>
                    </a:p>
                  </a:txBody>
                  <a:tcPr marL="73152" marR="73152">
                    <a:solidFill>
                      <a:srgbClr val="ECF1F5"/>
                    </a:solidFill>
                  </a:tcPr>
                </a:tc>
                <a:tc>
                  <a:txBody>
                    <a:bodyPr/>
                    <a:lstStyle/>
                    <a:p>
                      <a:r>
                        <a:rPr sz="1500" b="0" i="0">
                          <a:solidFill>
                            <a:srgbClr val="11202B"/>
                          </a:solidFill>
                          <a:latin typeface="Malgun Gothic"/>
                          <a:ea typeface="Malgun Gothic"/>
                          <a:cs typeface="Malgun Gothic"/>
                        </a:rPr>
                        <a:t>베네토클락스 + 아자시티딘(AML 줄기세포 산화적 인산화 억제 효과 포함), IACS-010759(복합체 I 억제 — 독성으로 중단), 메트포르민(관찰 연구 근거, RCT 대부분 음성)</a:t>
                      </a:r>
                    </a:p>
                  </a:txBody>
                  <a:tcPr marL="73152" marR="73152">
                    <a:solidFill>
                      <a:srgbClr val="ECF1F5"/>
                    </a:solidFill>
                  </a:tcPr>
                </a:tc>
                <a:tc>
                  <a:txBody>
                    <a:bodyPr/>
                    <a:lstStyle/>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산화환원·페로토시스</a:t>
                      </a:r>
                    </a:p>
                  </a:txBody>
                  <a:tcPr marL="73152" marR="73152">
                    <a:solidFill>
                      <a:srgbClr val="FFFFFF"/>
                    </a:solidFill>
                  </a:tcPr>
                </a:tc>
                <a:tc>
                  <a:txBody>
                    <a:bodyPr/>
                    <a:lstStyle/>
                    <a:p>
                      <a:r>
                        <a:rPr sz="1500" b="0" i="0">
                          <a:solidFill>
                            <a:srgbClr val="11202B"/>
                          </a:solidFill>
                          <a:latin typeface="Malgun Gothic"/>
                          <a:ea typeface="Malgun Gothic"/>
                          <a:cs typeface="Malgun Gothic"/>
                        </a:rPr>
                        <a:t>xCT 억제(설파살라진·에라스틴), GPX4 억제(전임상)</a:t>
                      </a:r>
                    </a:p>
                  </a:txBody>
                  <a:tcPr marL="73152" marR="73152">
                    <a:solidFill>
                      <a:srgbClr val="FFFFFF"/>
                    </a:solidFill>
                  </a:tcPr>
                </a:tc>
                <a:tc>
                  <a:txBody>
                    <a:bodyPr/>
                    <a:lstStyle/>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NAD⁺</a:t>
                      </a:r>
                    </a:p>
                  </a:txBody>
                  <a:tcPr marL="73152" marR="73152">
                    <a:solidFill>
                      <a:srgbClr val="ECF1F5"/>
                    </a:solidFill>
                  </a:tcPr>
                </a:tc>
                <a:tc>
                  <a:txBody>
                    <a:bodyPr/>
                    <a:lstStyle/>
                    <a:p>
                      <a:r>
                        <a:rPr sz="1500" b="0" i="0">
                          <a:solidFill>
                            <a:srgbClr val="11202B"/>
                          </a:solidFill>
                          <a:latin typeface="Malgun Gothic"/>
                          <a:ea typeface="Malgun Gothic"/>
                          <a:cs typeface="Malgun Gothic"/>
                        </a:rPr>
                        <a:t>NAMPT 억제제(독성으로 실패), NAPRT 결손 종양의 합성치사</a:t>
                      </a:r>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대사 표적 항암치료의 지형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범주</a:t>
                      </a:r>
                    </a:p>
                  </a:txBody>
                  <a:tcPr marL="73152" marR="73152">
                    <a:solidFill>
                      <a:srgbClr val="003C71"/>
                    </a:solidFill>
                  </a:tcPr>
                </a:tc>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글루타민</a:t>
                      </a:r>
                    </a:p>
                  </a:txBody>
                  <a:tcPr marL="73152" marR="73152">
                    <a:solidFill>
                      <a:srgbClr val="FFFFFF"/>
                    </a:solidFill>
                  </a:tcPr>
                </a:tc>
                <a:tc>
                  <a:txBody>
                    <a:bodyPr/>
                    <a:lstStyle/>
                    <a:p>
                      <a:r>
                        <a:rPr sz="1500" b="0" i="0">
                          <a:solidFill>
                            <a:srgbClr val="11202B"/>
                          </a:solidFill>
                          <a:latin typeface="Malgun Gothic"/>
                          <a:ea typeface="Malgun Gothic"/>
                          <a:cs typeface="Malgun Gothic"/>
                        </a:rPr>
                        <a:t>GLS 억제제(텔라글레나스타트 실패), DON 전구약물(시리돈)</a:t>
                      </a:r>
                    </a:p>
                  </a:txBody>
                  <a:tcPr marL="73152" marR="73152">
                    <a:solidFill>
                      <a:srgbClr val="FFFFFF"/>
                    </a:solidFill>
                  </a:tcPr>
                </a:tc>
                <a:tc>
                  <a:txBody>
                    <a:bodyPr/>
                    <a:lstStyle/>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일탄소</a:t>
                      </a:r>
                    </a:p>
                  </a:txBody>
                  <a:tcPr marL="73152" marR="73152">
                    <a:solidFill>
                      <a:srgbClr val="ECF1F5"/>
                    </a:solidFill>
                  </a:tcPr>
                </a:tc>
                <a:tc>
                  <a:txBody>
                    <a:bodyPr/>
                    <a:lstStyle/>
                    <a:p>
                      <a:r>
                        <a:rPr sz="1500" b="0" i="0">
                          <a:solidFill>
                            <a:srgbClr val="11202B"/>
                          </a:solidFill>
                          <a:latin typeface="Malgun Gothic"/>
                          <a:ea typeface="Malgun Gothic"/>
                          <a:cs typeface="Malgun Gothic"/>
                        </a:rPr>
                        <a:t>MTHFD2, SHMT 억제제(전임상), 식이 세린 제한</a:t>
                      </a:r>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식이·대사 개입과 면역대사 병용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케톤생성식이</a:t>
            </a:r>
            <a:r>
              <a:rPr sz="2000" b="0" i="0">
                <a:solidFill>
                  <a:srgbClr val="11202B"/>
                </a:solidFill>
                <a:latin typeface="Malgun Gothic"/>
                <a:ea typeface="Malgun Gothic"/>
                <a:cs typeface="Malgun Gothic"/>
              </a:rPr>
              <a:t>: PI3K 억제제의 고혈당 → 인슐린 되먹임 재활성화를 차단해 효과 증가(전임상, 임상시험 중); 일부 뇌종양 보조 연구(근거 약함).</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단식·단식 모방 식이</a:t>
            </a:r>
            <a:r>
              <a:rPr sz="2000" b="0" i="0">
                <a:solidFill>
                  <a:srgbClr val="11202B"/>
                </a:solidFill>
                <a:latin typeface="Malgun Gothic"/>
                <a:ea typeface="Malgun Gothic"/>
                <a:cs typeface="Malgun Gothic"/>
              </a:rPr>
              <a:t>: 정상 세포 보호(차별적 스트레스 저항)·항암제 효과 증가(전임상); 유방암 화학요법 중 FMD RCT(DIRECT) — 반응률 개선 신호.</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식이 아미노산 제한</a:t>
            </a:r>
            <a:r>
              <a:rPr sz="2000" b="0" i="0">
                <a:solidFill>
                  <a:srgbClr val="11202B"/>
                </a:solidFill>
                <a:latin typeface="Malgun Gothic"/>
                <a:ea typeface="Malgun Gothic"/>
                <a:cs typeface="Malgun Gothic"/>
              </a:rPr>
              <a:t>: 메티오닌 제한 + 방사선/5-FU(생쥐), 세린/글리신 제한(LKB1/p53 상태 의존).</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비만·고인슐린혈증</a:t>
            </a:r>
            <a:r>
              <a:rPr sz="2000" b="0" i="0">
                <a:solidFill>
                  <a:srgbClr val="11202B"/>
                </a:solidFill>
                <a:latin typeface="Malgun Gothic"/>
                <a:ea typeface="Malgun Gothic"/>
                <a:cs typeface="Malgun Gothic"/>
              </a:rPr>
              <a:t>은 여러 암의 위험·예후 인자 → 체중 관리·운동(대장암 수술 후 운동 CHALLENGE 시험 2025: 무병생존 개선).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식이·대사 개입과 면역대사 병용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면역대사 병용</a:t>
            </a:r>
            <a:r>
              <a:rPr sz="2200" b="0" i="0">
                <a:solidFill>
                  <a:srgbClr val="11202B"/>
                </a:solidFill>
                <a:latin typeface="Malgun Gothic"/>
                <a:ea typeface="Malgun Gothic"/>
                <a:cs typeface="Malgun Gothic"/>
              </a:rPr>
              <a:t>: 아데노신 축(CD73 항체·A2A 길항제), 글루타민 길항(DON 전구약물이 종양 대사는 억제하고 T세포는 산화 대사로 전환 — Leone et al., Science 2019), IDO1 억제(실패), CAR-T 대사 공학, 메트포르민·PD-1 병용 시험.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대사 영상과 대사 바이오마커</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대사 바이오마커: 혈청 LDH, 2-HG(AML), 메타네프린·메톡시티라민(부신경절종), 5-HIAA(신경내분비), 소변 VMA/HVA(신경모세포종).</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대사 영상과 대사 바이오마커</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방법</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표지·원리</a:t>
                      </a:r>
                    </a:p>
                  </a:txBody>
                  <a:tcPr marL="73152" marR="73152">
                    <a:solidFill>
                      <a:srgbClr val="003C71"/>
                    </a:solidFill>
                  </a:tcPr>
                </a:tc>
                <a:tc>
                  <a:txBody>
                    <a:bodyPr/>
                    <a:lstStyle/>
                    <a:p>
                      <a:r>
                        <a:rPr sz="1500" b="1" i="0">
                          <a:solidFill>
                            <a:srgbClr val="FFFFFF"/>
                          </a:solidFill>
                          <a:latin typeface="Malgun Gothic"/>
                          <a:ea typeface="Malgun Gothic"/>
                          <a:cs typeface="Malgun Gothic"/>
                        </a:rPr>
                        <a:t>활용</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¹⁸F-FDG PET</a:t>
                      </a:r>
                    </a:p>
                  </a:txBody>
                  <a:tcPr marL="73152" marR="73152">
                    <a:solidFill>
                      <a:srgbClr val="FFFFFF"/>
                    </a:solidFill>
                  </a:tcPr>
                </a:tc>
                <a:tc>
                  <a:txBody>
                    <a:bodyPr/>
                    <a:lstStyle/>
                    <a:p>
                      <a:r>
                        <a:rPr sz="1500" b="0" i="0">
                          <a:solidFill>
                            <a:srgbClr val="11202B"/>
                          </a:solidFill>
                          <a:latin typeface="Malgun Gothic"/>
                          <a:ea typeface="Malgun Gothic"/>
                          <a:cs typeface="Malgun Gothic"/>
                        </a:rPr>
                        <a:t>포도당 흡수(GLUT·HK)</a:t>
                      </a:r>
                    </a:p>
                  </a:txBody>
                  <a:tcPr marL="73152" marR="73152">
                    <a:solidFill>
                      <a:srgbClr val="FFFFFF"/>
                    </a:solidFill>
                  </a:tcPr>
                </a:tc>
                <a:tc>
                  <a:txBody>
                    <a:bodyPr/>
                    <a:lstStyle/>
                    <a:p>
                      <a:r>
                        <a:rPr sz="1500" b="0" i="0">
                          <a:solidFill>
                            <a:srgbClr val="11202B"/>
                          </a:solidFill>
                          <a:latin typeface="Malgun Gothic"/>
                          <a:ea typeface="Malgun Gothic"/>
                          <a:cs typeface="Malgun Gothic"/>
                        </a:rPr>
                        <a:t>병기·반응(림프종 Deauville), 뇌는 생리적 고흡수</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¹¹C/¹⁸F-콜린, ¹⁸F-플루시클로빈</a:t>
                      </a:r>
                    </a:p>
                  </a:txBody>
                  <a:tcPr marL="73152" marR="73152">
                    <a:solidFill>
                      <a:srgbClr val="ECF1F5"/>
                    </a:solidFill>
                  </a:tcPr>
                </a:tc>
                <a:tc>
                  <a:txBody>
                    <a:bodyPr/>
                    <a:lstStyle/>
                    <a:p>
                      <a:r>
                        <a:rPr sz="1500" b="0" i="0">
                          <a:solidFill>
                            <a:srgbClr val="11202B"/>
                          </a:solidFill>
                          <a:latin typeface="Malgun Gothic"/>
                          <a:ea typeface="Malgun Gothic"/>
                          <a:cs typeface="Malgun Gothic"/>
                        </a:rPr>
                        <a:t>인지질·아미노산 수송</a:t>
                      </a:r>
                    </a:p>
                  </a:txBody>
                  <a:tcPr marL="73152" marR="73152">
                    <a:solidFill>
                      <a:srgbClr val="ECF1F5"/>
                    </a:solidFill>
                  </a:tcPr>
                </a:tc>
                <a:tc>
                  <a:txBody>
                    <a:bodyPr/>
                    <a:lstStyle/>
                    <a:p>
                      <a:r>
                        <a:rPr sz="1500" b="0" i="0">
                          <a:solidFill>
                            <a:srgbClr val="11202B"/>
                          </a:solidFill>
                          <a:latin typeface="Malgun Gothic"/>
                          <a:ea typeface="Malgun Gothic"/>
                          <a:cs typeface="Malgun Gothic"/>
                        </a:rPr>
                        <a:t>전립선암 재발</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⁶⁸Ga-PSMA PET</a:t>
                      </a:r>
                    </a:p>
                  </a:txBody>
                  <a:tcPr marL="73152" marR="73152">
                    <a:solidFill>
                      <a:srgbClr val="FFFFFF"/>
                    </a:solidFill>
                  </a:tcPr>
                </a:tc>
                <a:tc>
                  <a:txBody>
                    <a:bodyPr/>
                    <a:lstStyle/>
                    <a:p>
                      <a:r>
                        <a:rPr sz="1500" b="0" i="0">
                          <a:solidFill>
                            <a:srgbClr val="11202B"/>
                          </a:solidFill>
                          <a:latin typeface="Malgun Gothic"/>
                          <a:ea typeface="Malgun Gothic"/>
                          <a:cs typeface="Malgun Gothic"/>
                        </a:rPr>
                        <a:t>(대사 아님) PSMA</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전립선암 + ¹⁷⁷Lu-PSMA 치료(테라노스틱스)</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⁶⁸Ga-DOTATATE</a:t>
                      </a:r>
                    </a:p>
                  </a:txBody>
                  <a:tcPr marL="73152" marR="73152">
                    <a:solidFill>
                      <a:srgbClr val="ECF1F5"/>
                    </a:solidFill>
                  </a:tcPr>
                </a:tc>
                <a:tc>
                  <a:txBody>
                    <a:bodyPr/>
                    <a:lstStyle/>
                    <a:p>
                      <a:r>
                        <a:rPr sz="1500" b="0" i="0">
                          <a:solidFill>
                            <a:srgbClr val="11202B"/>
                          </a:solidFill>
                          <a:latin typeface="Malgun Gothic"/>
                          <a:ea typeface="Malgun Gothic"/>
                          <a:cs typeface="Malgun Gothic"/>
                        </a:rPr>
                        <a:t>소마토스타틴 수용체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신경내분비종양 + ¹⁷⁷Lu-DOTATATE</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¹⁸F-FET, ¹¹C-메티오닌</a:t>
                      </a:r>
                    </a:p>
                  </a:txBody>
                  <a:tcPr marL="73152" marR="73152">
                    <a:solidFill>
                      <a:srgbClr val="FFFFFF"/>
                    </a:solidFill>
                  </a:tcPr>
                </a:tc>
                <a:tc>
                  <a:txBody>
                    <a:bodyPr/>
                    <a:lstStyle/>
                    <a:p>
                      <a:r>
                        <a:rPr sz="1500" b="0" i="0">
                          <a:solidFill>
                            <a:srgbClr val="11202B"/>
                          </a:solidFill>
                          <a:latin typeface="Malgun Gothic"/>
                          <a:ea typeface="Malgun Gothic"/>
                          <a:cs typeface="Malgun Gothic"/>
                        </a:rPr>
                        <a:t>아미노산 수송(LAT1)</a:t>
                      </a:r>
                    </a:p>
                  </a:txBody>
                  <a:tcPr marL="73152" marR="73152">
                    <a:solidFill>
                      <a:srgbClr val="FFFFFF"/>
                    </a:solidFill>
                  </a:tcPr>
                </a:tc>
                <a:tc>
                  <a:txBody>
                    <a:bodyPr/>
                    <a:lstStyle/>
                    <a:p>
                      <a:r>
                        <a:rPr sz="1500" b="0" i="0">
                          <a:solidFill>
                            <a:srgbClr val="11202B"/>
                          </a:solidFill>
                          <a:latin typeface="Malgun Gothic"/>
                          <a:ea typeface="Malgun Gothic"/>
                          <a:cs typeface="Malgun Gothic"/>
                        </a:rPr>
                        <a:t>뇌종양(FDG 배경 문제 극복)</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MR 분광</a:t>
                      </a:r>
                    </a:p>
                  </a:txBody>
                  <a:tcPr marL="73152" marR="73152">
                    <a:solidFill>
                      <a:srgbClr val="ECF1F5"/>
                    </a:solidFill>
                  </a:tcPr>
                </a:tc>
                <a:tc>
                  <a:txBody>
                    <a:bodyPr/>
                    <a:lstStyle/>
                    <a:p>
                      <a:r>
                        <a:rPr sz="1500" b="0" i="0">
                          <a:solidFill>
                            <a:srgbClr val="11202B"/>
                          </a:solidFill>
                          <a:latin typeface="Malgun Gothic"/>
                          <a:ea typeface="Malgun Gothic"/>
                          <a:cs typeface="Malgun Gothic"/>
                        </a:rPr>
                        <a:t>2-HG, 콜린, NAA, 젖산</a:t>
                      </a:r>
                    </a:p>
                  </a:txBody>
                  <a:tcPr marL="73152" marR="73152">
                    <a:solidFill>
                      <a:srgbClr val="ECF1F5"/>
                    </a:solidFill>
                  </a:tcPr>
                </a:tc>
                <a:tc>
                  <a:txBody>
                    <a:bodyPr/>
                    <a:lstStyle/>
                    <a:p>
                      <a:r>
                        <a:rPr sz="1500" b="0" i="0">
                          <a:solidFill>
                            <a:srgbClr val="11202B"/>
                          </a:solidFill>
                          <a:latin typeface="Malgun Gothic"/>
                          <a:ea typeface="Malgun Gothic"/>
                          <a:cs typeface="Malgun Gothic"/>
                        </a:rPr>
                        <a:t>IDH 변이 신경교종 비침습 진단</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과분극 ¹³C-피루브산 MRI</a:t>
                      </a:r>
                    </a:p>
                  </a:txBody>
                  <a:tcPr marL="73152" marR="73152">
                    <a:solidFill>
                      <a:srgbClr val="FFFFFF"/>
                    </a:solidFill>
                  </a:tcPr>
                </a:tc>
                <a:tc>
                  <a:txBody>
                    <a:bodyPr/>
                    <a:lstStyle/>
                    <a:p>
                      <a:r>
                        <a:rPr sz="1500" b="0" i="0">
                          <a:solidFill>
                            <a:srgbClr val="11202B"/>
                          </a:solidFill>
                          <a:latin typeface="Malgun Gothic"/>
                          <a:ea typeface="Malgun Gothic"/>
                          <a:cs typeface="Malgun Gothic"/>
                        </a:rPr>
                        <a:t>피루브산 → 젖산 실시간 전환</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전립선암 등급·조기 반응 평가(연구)</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중수소 대사 영상(DMI)</a:t>
                      </a:r>
                    </a:p>
                  </a:txBody>
                  <a:tcPr marL="73152" marR="73152">
                    <a:solidFill>
                      <a:srgbClr val="ECF1F5"/>
                    </a:solidFill>
                  </a:tcPr>
                </a:tc>
                <a:tc>
                  <a:txBody>
                    <a:bodyPr/>
                    <a:lstStyle/>
                    <a:p>
                      <a:r>
                        <a:rPr sz="1500" b="0" i="0">
                          <a:solidFill>
                            <a:srgbClr val="11202B"/>
                          </a:solidFill>
                          <a:latin typeface="Malgun Gothic"/>
                          <a:ea typeface="Malgun Gothic"/>
                          <a:cs typeface="Malgun Gothic"/>
                        </a:rPr>
                        <a:t>²H-포도당 대사</a:t>
                      </a:r>
                    </a:p>
                  </a:txBody>
                  <a:tcPr marL="73152" marR="73152">
                    <a:solidFill>
                      <a:srgbClr val="ECF1F5"/>
                    </a:solidFill>
                  </a:tcPr>
                </a:tc>
                <a:tc>
                  <a:txBody>
                    <a:bodyPr/>
                    <a:lstStyle/>
                    <a:p>
                      <a:r>
                        <a:rPr sz="1500" b="0" i="0">
                          <a:solidFill>
                            <a:srgbClr val="11202B"/>
                          </a:solidFill>
                          <a:latin typeface="Malgun Gothic"/>
                          <a:ea typeface="Malgun Gothic"/>
                          <a:cs typeface="Malgun Gothic"/>
                        </a:rPr>
                        <a:t>연구</a:t>
                      </a:r>
                    </a:p>
                  </a:txBody>
                  <a:tcPr marL="73152" marR="73152">
                    <a:solidFill>
                      <a:srgbClr val="ECF1F5"/>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원발 종양 유형별 '대사 아틀라스'(생체 내 플럭스 + 공간 대사체 + 유전체)를 구축해 정밀 대사 치료의 표적을 고르는 연구가 진행 중이다.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종양대사물질 개념의 확장: L-2HG(저산소·산증 시 LDH/MDH 부반응 생성), 메틸말론산(노화 혈청에서 전이 촉진, Gomes et al., Nature 2020), 숙신산의 SUCNR1 신호.</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IDH 변이 신경교종의 백신(IDH1 R132H 펩타이드 — NOA-16 1상, 면역 반응·안전성 입증)과 보라시데닙 병용 면역치료가 연구 중이다.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1. </a:t>
            </a:r>
            <a:r>
              <a:rPr sz="1800" b="0" i="0">
                <a:solidFill>
                  <a:srgbClr val="11202B"/>
                </a:solidFill>
                <a:latin typeface="Malgun Gothic"/>
                <a:ea typeface="Malgun Gothic"/>
                <a:cs typeface="Malgun Gothic"/>
              </a:rPr>
              <a:t>종양대사물질(D-2HG, 숙신산, 푸마르산)은 α-KG 의존 효소(TET, KDM, PHD)를 억제해 과메틸화·가성저산소를 일으킨다.</a:t>
            </a:r>
          </a:p>
          <a:p>
            <a:pPr>
              <a:spcAft>
                <a:spcPts val="800"/>
              </a:spcAft>
            </a:pPr>
            <a:r>
              <a:rPr sz="1800" b="1" i="0">
                <a:solidFill>
                  <a:srgbClr val="003C71"/>
                </a:solidFill>
                <a:latin typeface="Malgun Gothic"/>
                <a:ea typeface="Malgun Gothic"/>
                <a:cs typeface="Malgun Gothic"/>
              </a:rPr>
              <a:t>2. </a:t>
            </a:r>
            <a:r>
              <a:rPr sz="1800" b="0" i="0">
                <a:solidFill>
                  <a:srgbClr val="11202B"/>
                </a:solidFill>
                <a:latin typeface="Malgun Gothic"/>
                <a:ea typeface="Malgun Gothic"/>
                <a:cs typeface="Malgun Gothic"/>
              </a:rPr>
              <a:t>IDH1/2 변이는 신형 기능으로 2-HG를 만들며 신경교종·AML·담관암의 진단 표지이자 표적이고, 보라시데닙은 저등급 신경교종 치료를 바꾸었다.</a:t>
            </a:r>
          </a:p>
          <a:p>
            <a:pPr>
              <a:spcAft>
                <a:spcPts val="800"/>
              </a:spcAft>
            </a:pPr>
            <a:r>
              <a:rPr sz="1800" b="1" i="0">
                <a:solidFill>
                  <a:srgbClr val="003C71"/>
                </a:solidFill>
                <a:latin typeface="Malgun Gothic"/>
                <a:ea typeface="Malgun Gothic"/>
                <a:cs typeface="Malgun Gothic"/>
              </a:rPr>
              <a:t>3. </a:t>
            </a:r>
            <a:r>
              <a:rPr sz="1800" b="0" i="0">
                <a:solidFill>
                  <a:srgbClr val="11202B"/>
                </a:solidFill>
                <a:latin typeface="Malgun Gothic"/>
                <a:ea typeface="Malgun Gothic"/>
                <a:cs typeface="Malgun Gothic"/>
              </a:rPr>
              <a:t>SDHx·FH 생식세포 변이는 부신경절종·GIST·신세포암·평활근종을 일으키며 SDHB·2SC 면역염색으로 선별한다.</a:t>
            </a:r>
          </a:p>
          <a:p>
            <a:pPr>
              <a:spcAft>
                <a:spcPts val="800"/>
              </a:spcAft>
            </a:pPr>
            <a:r>
              <a:rPr sz="1800" b="1" i="0">
                <a:solidFill>
                  <a:srgbClr val="003C71"/>
                </a:solidFill>
                <a:latin typeface="Malgun Gothic"/>
                <a:ea typeface="Malgun Gothic"/>
                <a:cs typeface="Malgun Gothic"/>
              </a:rPr>
              <a:t>4. </a:t>
            </a:r>
            <a:r>
              <a:rPr sz="1800" b="0" i="0">
                <a:solidFill>
                  <a:srgbClr val="11202B"/>
                </a:solidFill>
                <a:latin typeface="Malgun Gothic"/>
                <a:ea typeface="Malgun Gothic"/>
                <a:cs typeface="Malgun Gothic"/>
              </a:rPr>
              <a:t>성공한 대사 표적 치료는 종양 특이 의존성(아스파라긴, 변이 IDH, MTAP 결손 합성치사)을 이용한다.</a:t>
            </a:r>
          </a:p>
          <a:p>
            <a:pPr>
              <a:spcAft>
                <a:spcPts val="800"/>
              </a:spcAft>
            </a:pPr>
            <a:r>
              <a:rPr sz="1800" b="1" i="0">
                <a:solidFill>
                  <a:srgbClr val="003C71"/>
                </a:solidFill>
                <a:latin typeface="Malgun Gothic"/>
                <a:ea typeface="Malgun Gothic"/>
                <a:cs typeface="Malgun Gothic"/>
              </a:rPr>
              <a:t>5. </a:t>
            </a:r>
            <a:r>
              <a:rPr sz="1800" b="0" i="0">
                <a:solidFill>
                  <a:srgbClr val="11202B"/>
                </a:solidFill>
                <a:latin typeface="Malgun Gothic"/>
                <a:ea typeface="Malgun Gothic"/>
                <a:cs typeface="Malgun Gothic"/>
              </a:rPr>
              <a:t>식이 개입·면역대사 병용과 FDG·아미노산 PET·MR 분광 등 대사 영상이 정밀 종양학을 보완한다.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IDH1 R132H 변이가 '기능 소실'이 아니라 '신형 기능 획득'이라고 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변이 효소는 정상 반응(아이소시트르산 → α-KG)을 잃을 뿐 아니라 새로운 반응(α-KG + NADPH → D-2HG)을 수행한다. 이형접합 상태에서 정상 대립유전자가 만든 α-KG를 변이 효소가 2-HG로 바꾸어 종양 내 수 mM으로 축적시키며, 이 새로운 산물이 TET·KDM 등을 억제해 종양 형성을 촉진하므로 신형 기능 획득(neomorphic gain-of-function)이다.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젊은 여성의 다발성 자궁근종과 피부 평활근종, 그리고 소량의 신장 종괴가 발견되었다. 의심 증후군과 관리 원칙은?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유전성 평활근종증·신세포암(HLRCC; FH 생식세포 변이). 신장의 2형 유두상 유사 FH 결핍 신세포암은 작아도 전이가 빠르므로 관찰하지 않고 넓은 경계로 신속히 절제한다. 생식세포 검사, 가족 선별, 8–10세 이후 매년 신장 MRI 감시를 시행한다.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MTAP 결손 종양에 MTA 협력 PRMT5 억제제가 선택적으로 효과적인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MTAP는 메티오닌 재활용 경로에서 MTA를 분해하는데, *CDKN2A*와 함께 결실되면 MTA가 축적된다. MTA는 PRMT5에 결합해 부분 억제하므로 MTAP 결손 세포는 PRMT5 기능 여유가 줄어든다. MTA 협력 억제제는 MTA–PRMT5 복합체에 선택적으로 결합해 결손 세포의 PRMT5만 강하게 억제하고 정상 세포는 보존하는 합성치사 전략이다.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IDH 억제제 치료 중인 AML 환자가 발열, 호흡곤란, 부종, 체중 증가를 보였다. 진단과 처치는?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분화 증후군(IDH 억제로 2-HG가 감소해 분화 차단이 풀리며 백혈병 세포가 급속히 성숙·증식하고 사이토카인을 분비하며 조직에 침윤). 즉시 덱사메타손(10 mg 1일 2회)을 투여하고, 이뇨·하이드록시유레아(백혈구 증가 시)·지지 치료를 하며, 중증 시 IDH 억제제를 일시 중단한다.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Losman JA, Kaelin WG Jr. What a difference a hydroxyl makes: mutant IDH, (R)-2-hydroxyglutarate, and cancer. Genes Dev 2013;27:836–852.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Mellinghoff IK et al. Vorasidenib in IDH1- or IDH2-mutant low-grade glioma (INDIGO). N Engl J Med 2023;389:589–601.</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Sciacovelli M, Frezza C. Oncometabolites: unconventional triggers of oncogenic signalling cascades. Free Radic Biol Med 2016;100:175–181.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B04-L12  ·  종양대사물질과 대사 표적 항암치료</a:t>
            </a:r>
            <a:r>
              <a:rPr sz="10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Stine ZE et al. Targeting cancer metabolism in the era of precision oncology. Nat Rev Drug Discov 2022;21:141–162.</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Kryukov GV et al. MTAP deletion confers enhanced dependency on the PRMT5 arginine methyltransferase in cancer cells. Science 2016;351:1214–1218.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