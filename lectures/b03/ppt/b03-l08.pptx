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메츠너 지수(64/5.9 ≈ 10.8 &lt;13)와 적혈구 수 증가는 지중해빈혈 형질을 시사한다. Hb HPLC/전기영동에서 HbA₂ &gt;3.5%면 β-지중해빈혈 형질, 정상이면 α-지중해빈혈 형질 가능성으로 α-글로빈 유전자 결실 검사를 시행한다. 철 보충은 불필요하며 배우자 보인자 검사로 산전 상담을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메트헤모글로빈혈증(벤조카인 산화). 메트Hb는 산소를 운반하지 못하지만 용해 산소(PaO₂)는 정상이어서 '포화도 간격'이 생기고, 맥박산소측정기는 메트Hb 흡광 때문에 약 85%로 고정된다. CO-산소측정으로 메트Hb 비율을 확인하고, 증상이 있거나 &gt;20–30%면 메틸렌블루(1–2 mg/kg)를 투여한다(G6PD 결핍 시 금기).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리보뉴클레오타이드 환원효소 억제로 골수 스트레스를 유발해 γ-글로빈 발현 세포의 생성을 늘려 HbF를 증가시키고(HbS 중합 억제), (2) 호중구·망상적혈구 수를 줄여 혈관 부착과 염증을 감소시키며, (3) NO 공여·cGMP 증가로 혈관 기능을 개선하고 적혈구 수분 상태를 개선(MCV 증가)한다.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혈전성 혈소판감소성 자반증(TTP) 의심. ADAMTS13 활성·억제자(항체) 검사를 채혈한 후 결과를 기다리지 않고 즉시 혈장교환과 글루코코르티코이드를 시작하며, 카플라시주맙(vWF–혈소판 결합 차단), 리툭시맙을 추가한다. 혈소판 수혈은 원칙적으로 피한다. PLASMIC 점수로 사전 확률을 평가한다.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B03 중개의학과 생화학  ·  Harrison 내과학과 생화학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철·헴 대사 장애: 빈혈, 혈색소증, 혈색소병증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Disorders of Iron and Heme: Anemias, Hemochromatosis and Hemoglobinopathies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B03-L08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 지표(혈청 철, TIBC, 트랜스페린 포화도, 페리틴, sTfR)를 해석하고 소구성 빈혈을 감별한다.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유전성 혈색소증과 2차 철 과부하의 병태생리·진단·치료를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헤모글로빈의 구조·산소 결합 생화학(협동성, 보어 효과, 2,3-BPG)과 메트헤모글로빈혈증을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지중해빈혈과 겸상적혈구병의 분자기전과 최신 치료(HbF 유도, 유전자 치료)를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거대적모구빈혈과 용혈성 빈혈의 생화학적 감별을 적용한다.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 지표의 해석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 과부하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헤모글로빈의 생화학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지중해빈혈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겸상적혈구병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거대적모구빈혈과 용혈성 빈혈의 생화학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 지표의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페리틴은 급성기 반응물이므로 염증 시 철결핍이 숨을 수 있다 → 염증 동반 시 페리틴 &lt;100 + TSAT &lt;20%를 철결핍으로 해석(CKD·심부전 기준).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철결핍 원인 조사: 성인 남성·폐경 여성은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위장관 실혈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(대장암, 위암, 혈관이형성) 내시경 필수; 셀리악병, 위축성 위염·H. pylori, 비만수술, 과다 월경.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경구 철(격일 투여가 헵시딘 상승을 피해 흡수 효율↑), 정주 철(카복시말토스철 — 저인산혈증 주의, 데루이소말토스철) — 흡수장애·심부전·CKD·임신 후기·불내성.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 지표의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철결핍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만성 염증 빈혈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지중해빈혈 형질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철모구빈혈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혈청 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TIBC(트랜스페린)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↓/정상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트랜스페린 포화도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 (&lt;16–20%)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페리틴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 (&lt;30)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정상/↑ (급성기 반응)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sTfR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 (적혈구 생성 증가)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RDW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↑(이형성)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메츠너 지수(MCV/RBC)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&gt;13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&lt;13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 지표의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철결핍 없는 빈혈 + 저철 지표 + 높은 헵시딘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철 불응성 철결핍빈혈(IRIDA, TMPRSS6 결함)은 경구 철에 반응하지 않고 정주 철에 부분 반응한다.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 과부하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장기 손상: 간(간경변,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간세포암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위험 20배), 췌장(당뇨 — '청동 당뇨'), 심장(심근병증·부정맥), 뇌하수체(생식선 기능저하), 관절(2–3번째 MCP 관절병증), 피부 착색.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TSAT &gt;45% + 페리틴 상승 → HFE 유전형; MRI R2*/T2*(간·심장 철 정량).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(1단위 = 철 약 250 mg; 페리틴 50–100 목표), 2차 철 과부하는 킬레이트(데페록사민 피하·정주, 데페라시록스 경구 — 신독성, 데페리프론 — 무과립구증, 심장 철에 우수).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비트랜스페린결합철(NTBI)·불안정 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TSAT &gt;70–80%에서 출현 → 펜톤 반응(Fe²⁺ + H₂O₂ → •OH) 산화 손상, 간·심장·내분비 세포에 우선 유입.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철 과부하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HFE 혈색소증(1형)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HFE C282Y 동형접합(북유럽 1/200; 한국 매우 드묾)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HFE–TfR2–BMP–SMAD 신호 저하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헵시딘 상대 결핍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장 흡수·대식세포 방출 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청소년 혈색소증(2형)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HJV, HAMP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중증 헵시딘 결핍 → 20–30대 심부전·생식선 기능저하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TFR2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동아시아 보고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페로포틴병(4형)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SLC40A1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A형: 기능소실(대식세포 철, 페리틴↑ TSAT 정상·사혈 내성) / B형: 헵시딘 저항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철 과부하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수혈 의존(지중해빈혈, MDS), 무효 조혈(에리트로페론 → 헵시딘 억제), 만성 간질환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수혈 1단위 = 철 200–250 mg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헤모글로빈의 생화학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구조: 사량체(성인 HbA α₂β₂, HbA₂ α₂δ₂ 2–3%, HbF α₂γ₂ &lt;1%), 각 소단위의 헴 Fe²⁺가 O₂ 1분자 결합.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협동성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T(긴장, 낮은 친화도) ↔ R(이완) 상태 전환 → S자형 해리곡선(힐 계수 ~2.8). 미오글로빈은 단량체로 쌍곡선(조직 저장).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해리곡선 우측 이동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(친화도↓, 조직 방출↑): H⁺↑(보어 효과), CO₂↑(카바미노 형성), 온도↑,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2,3-BPG↑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(B01 L01). 좌측 이동: HbF, CO, 메트Hb, 알칼리증, 저체온, 2,3-BPG↓(보관 혈액).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할데인 효과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탈산소 Hb가 CO₂·H⁺를 더 잘 운반 → 조직에서 CO₂ 적재, 폐에서 방출.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헤모글로빈의 생화학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일산화탄소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Hb 친화도가 O₂의 약 240배 + 남은 헴의 O₂ 방출 방해(좌측 이동) → 산소 운반 이중 저해. 맥박산소측정기는 COHb를 O₂Hb로 오인(정상처럼 보임) → CO-산소측정 필요.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메트헤모글로빈(Fe³⁺)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O₂ 결합 불가 + 나머지 헴 친화도↑. 정상 &lt;1–2%, 시토크롬 b5 환원효소(CYB5R3)가 NADH로 환원.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후천성: 다프손, 국소마취제(벤조카인, 프릴로카인), 질산염·아질산염(우물물 영아 '청색아'), 리도카인, 라스부리카아제.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증상: 청색증이 산소로 교정 안 됨,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초콜릿색 혈액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맥박산소포화도 85% 근처 고정('포화도 간격'), PaO₂ 정상.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메틸렌블루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(NADPH-메트Hb 환원효소 경유; G6PD 결핍 금기 → 아스코르브산·교환수혈), 원인 제거.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지중해빈혈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글로빈 사슬 합성 불균형 → 남는 사슬이 침전 → 적혈구 전구세포 사멸(무효 조혈) + 말초 용혈.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변이: β는 주로 점변이(프로모터, 스플라이싱 — IVS1-110, 넌센스 — 코돈 39), α는 주로 결실.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수정인자: α 사슬 공동 유전(α-지중해빈혈 동반 시 β-지중해빈혈 경증화), HbF 증가 변이(BCL11A, HBS1L-MYB, XmnI-HBG2).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치료: 수혈(Hb 9–10.5 유지) + 킬레이트, HSCT,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루스파테르셉트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(TGF-β 리간드 트랩 → 후기 적혈구 성숙 촉진, 수혈 감소),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미타피바트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(PK 활성제, α·β 지중해빈혈 3상 성공), 유전자치료(베티베글로진 — 렌티 βA-T87Q; 엑사-셀 — BCL11A 인핸서 편집).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지중해빈혈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α-지중해빈혈 침묵 보인자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−α/αα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 형질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−−/αα (cis; 동남아 SEA 결실) 또는 −α/−α (trans; 아프리카)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경도 소구성, 철 정상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HbH병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−−/−α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β₄ 사량체(HbH; 산소 친화도 높고 불안정) → 중등도 용혈 빈혈, 비장비대, 골프공 모양 봉입체(브릴리언트 크레실 블루)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Hb 바트 태아수종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−−/−−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γ₄(Hb 바트) → 태아수종, 사망(자궁내 수혈로 생존 사례); 모체 임신중독증 위험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β-지중해빈혈 형질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β⁰/β 또는 β⁺/β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경도 소구성,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HbA₂ &gt;3.5%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(진단 표지), HbF 경도↑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β-지중해빈혈 중증(쿨리)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β⁰/β⁰ 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생후 6–12개월 HbF 감소 시 발현; α 사슬 침전 → 심한 무효 조혈 → 골수 확장(두개골 '털 곤두선' 모양, 다람쥐 얼굴), 간비장비대, 철 과부하(무효 조혈 + 수혈)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겸상적혈구병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HBB c.20A&gt;T (Glu6Val) → HbS: 탈산소 시 Val6이 이웃 β사슬 소수성 주머니(Phe85, Leu88)에 결합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중합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겸상화 → 혈관 폐쇄 + 용혈.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중합 지연 시간이 모세혈관 통과 시간보다 짧을 때 폐쇄 → 탈수(KCNN4 가르도스 통로), HbS 농도↑, 산증·저산소·발열이 악화 요인. HbF는 중합체에 들어가지 못해 억제.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병태생리 확장: 용혈 → 유리 Hb가 NO 소거(NO 생체이용률↓, 폐고혈압, 지속발기증), 헴 → TLR4 염증, 내피 활성화·부착(P-셀렉틴), 호중구·혈소판 활성.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겸상적혈구병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임상: 혈관폐쇄 통증 위기, 급성 흉부 증후군(사망 주원인), 뇌졸중(소아: 경두개 도플러로 선별 → 만성 수혈로 예방), 비장 자가경색(기능적 무비장 → 피막 세균 감염; 페니실린 예방·백신), 무혈성 괴사, 신병증(저장성뇨·유두괴사), 다리 궤양, 망막병증, 지속발기증.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겸상 형질(HbAS): 말라리아 보호, 대부분 무증상이나 고강도 운동·고지대 횡문근융해, 신수질암(드묾), 혈뇨.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겸상적혈구병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하이드록시유레아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RNR 억제 → 스트레스 적혈구 생성으로 HbF↑, 호중구 감소, NO 공여 — 통증·흉부 증후군·사망 감소(1차 약제, 9개월 이상 소아부터)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L-글루타민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NAD 산화환원 개선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크리잔리주맙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P-셀렉틴 항체 (STAND 시험에서 효과 미확인 — 유럽 허가 취소)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복셀로토르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HbS 산소 친화도↑ → 중합 억제 (2024 사망 증가 우려로 전 세계 회수)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적합 형제 공여 시 완치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 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엑사감글로진(CRISPR BCL11A 인핸서 → HbF), 로보티베글로진(렌티 βA-T87Q 항겸상 글로빈) — 2023 승인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거대적모구빈혈과 용혈성 빈혈의 생화학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거대적모구빈혈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DNA 합성 장애(B12·엽산 결핍, 약물 — 메토트렉세이트·하이드록시유레아·지도부딘, UMPS 결핍) → MCV &gt;100, 과분엽 호중구(5엽 이상), 범혈구감소, LDH·간접 빌리루빈↑(골수 내 용혈).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B12: MMA↑ + Hcy↑, 신경 증상; 엽산: Hcy↑, MMA 정상 (B01 L05, L10).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비거대적모구 대구성(MCV 100–110): 알코올, 간질환, 갑상선기능저하, MDS, 망상적혈구증가.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용혈 표지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LDH↑, 간접 빌리루빈↑,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합토글로빈↓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망상적혈구↑; 혈관 내 용혈 → 헤모글로빈혈증·헤모글로빈뇨·헤모시데린뇨.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거대적모구빈혈과 용혈성 빈혈의 생화학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검사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막 결함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유전성 구상적혈구증(안키린, 밴드 3, 스펙트린)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구상적혈구, MCHC↑,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EMA 결합 유세포검사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삼투 취약성; 비장절제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 결함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G6PD 결핍(하인츠 소체, B01 L04), PK 결핍(B01 L01)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 활성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혈색소병증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겸상, 지중해빈혈, 불안정 Hb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HPLC/전기영동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온난 자가면역(IgG, 혈관 외), 한랭 응집소(IgM–보체; 수티밀리맙), 약물 유발, 용혈성 수혈 반응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쿰스 검사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미세혈관병증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TTP(ADAMTS13 &lt;10% → 카플라시주맙·혈장교환·재조합 ADAMTS13), HUS(STEC 시가독소; 비정형 aHUS 보체 → 에쿨리주맙), DIC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분열적혈구(schistocyte)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혈소판감소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보체 매개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PNH (B02 L01)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FLAER 유세포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감염·물리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말라리아, 클로스트리디움, 기계판막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생체 내(in vivo) HSC 표적 유전자 편집(정맥 주사 LNP/바이러스로 골수 줄기세포에 BCL11A 편집 도달)이 영장류에서 시도되어 고가의 체외 과정·골수 제거(부설판) 없이 겸상적혈구병을 치료하려는 연구가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아프리카 등 저소득 지역의 겸상적혈구병 부담이 가장 크므로 저비용 하이드록시유레아 확대(REACH 시험)와 현장 진단(POC HbS 검사)이 세계보건의 핵심 과제이다.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헵시딘 조절제(루스페르타이드, 리트롬펩타이드 등)는 진성적혈구증가증, β-지중해빈혈의 철 과부하에서 임상 3상 결과를 내고 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철결핍은 페리틴↓·TIBC↑, 만성 염증 빈혈은 헵시딘↑로 페리틴 정상·TIBC↓이며, 성인 철결핍은 위장관 실혈 평가가 필수이다.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혈색소증은 헵시딘 결핍에 의한 철 과흡수로 간·췌장·심장·관절을 손상하며 사혈·킬레이트로 치료한다.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헤모글로빈은 협동성과 보어·2,3-BPG 효과로 산소를 운반하고, CO·메트Hb는 산소 운반을 이중으로 저해한다.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지중해빈혈은 사슬 불균형(무효 조혈), 겸상적혈구병은 HbS 중합(혈관 폐쇄·용혈)이 핵심이며 HbF 유도와 유전자 치료가 도입되었다.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용혈은 LDH·간접 빌리루빈·합토글로빈·망상적혈구로 확인하고, 쿰스·도말·유세포·효소 검사로 원인을 분류한다.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MCV 64 fL, Hb 11.8 g/dL, RBC 5.9×10⁶/µL, 페리틴 정상인 무증상 성인의 다음 검사와 예상 진단은?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메츠너 지수(64/5.9 ≈ 10.8 &lt;13)와 적혈구 수 증가는 지중해빈혈 형질을 시사한다. Hb HPLC/전기영동에서 HbA₂ &gt;3.5%면 β-지중해빈혈 형질, 정상이면 α-지중해빈혈 형질 가능성으로 α-글로빈 유전자 결실 검사를 시행한다. 철 보충은 불필요하며 배우자 보인자 검사로 산전 상담을 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국소 벤조카인 분무 후 청색증이 생긴 환자의 맥박산소포화도가 85%, 동맥혈 PaO₂ 95 mmHg이다. 진단과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메트헤모글로빈혈증(벤조카인 산화). 메트Hb는 산소를 운반하지 못하지만 용해 산소(PaO₂)는 정상이어서 '포화도 간격'이 생기고, 맥박산소측정기는 메트Hb 흡광 때문에 약 85%로 고정된다. CO-산소측정으로 메트Hb 비율을 확인하고, 증상이 있거나 &gt;20–30%면 메틸렌블루(1–2 mg/kg)를 투여한다(G6PD 결핍 시 금기).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하이드록시유레아가 겸상적혈구병의 임상 경과를 개선하는 기전 세 가지는?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리보뉴클레오타이드 환원효소 억제로 골수 스트레스를 유발해 γ-글로빈 발현 세포의 생성을 늘려 HbF를 증가시키고(HbS 중합 억제), (2) 호중구·망상적혈구 수를 줄여 혈관 부착과 염증을 감소시키며, (3) NO 공여·cGMP 증가로 혈관 기능을 개선하고 적혈구 수분 상태를 개선(MCV 증가)한다.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혈소판감소증, 분열적혈구, LDH 상승, 신기능 저하, 발열, 의식 변화를 보이는 환자에서 즉시 시행할 검사와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혈전성 혈소판감소성 자반증(TTP) 의심. ADAMTS13 활성·억제자(항체) 검사를 채혈한 후 결과를 기다리지 않고 즉시 혈장교환과 글루코코르티코이드를 시작하며, 카플라시주맙(vWF–혈소판 결합 차단), 리툭시맙을 추가한다. 혈소판 수혈은 원칙적으로 피한다. PLASMIC 점수로 사전 확률을 평가한다.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Loscalzo J et al. Harrison's Principles of Internal Medicine, 21st ed. Ch. 97–100 (Iron deficiency, Hemoglobin disorders, Megaloblastic anemias, Hemolytic anemias).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Camaschella C. Iron-deficiency anemia. N Engl J Med 2015;372:1832–1843.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Taher AT, Musallam KM, Cappellini MD. β-Thalassemias. N Engl J Med 2021;384:727–743.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Kato GJ et al. Sickle cell disease. Nat Rev Dis Primers 2018;4:18010.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B03-L08  ·  철·헴 대사 장애: 빈혈, 혈색소증, 혈색소병증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Brissot P et al. Haemochromatosis. Nat Rev Dis Primers 2018;4:18016.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