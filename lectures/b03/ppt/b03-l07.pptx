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산혈증 + HCO₃⁻ 감소 → 대사산증. 윈터 공식 예측 PaCO₂ = 1.5×12 + 8 = 26 ± 2 → 28은 적절한 보상. AG = 140 − (100 + 12) = 28(증가). ΔAG = 28 − 12 = 16, ΔHCO₃⁻ = 24 − 12 = 12 → 비 약 1.3으로 순수 AG 증가 대사산증. 케톤산증·젖산·독성 알코올·신부전 등을 감별한다.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메탄올 또는 에틸렌글리콜 중독. 이들 알코올은 삼투 활성이 있어 삼투질 간격을 늘리고 ADH에 의해 독성 대사물(포름산, 글리콜산·옥살산)로 바뀌어 AG 산증을 만든다. 포메피졸(ADH 억제)을 즉시 투여하고, 중증 산증·시력 장애·신부전 시 혈액투석, 메탄올은 엽산/폴린산, 에틸렌글리콜은 티아민·피리독신을 보조로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구토로 HCl을 잃어 HCO₃⁻가 생성되고, 체액 감소가 RAAS를 활성화해 근위 HCO₃⁻ 재흡수를 늘리며 원위에서 Na⁺ 재흡수와 교환으로 H⁺·K⁺ 분비가 증가해 알칼리증이 유지된다. 생리식염수로 체액과 Cl⁻를 보충하면 펜드린(Cl⁻/HCO₃⁻ 교환) 통한 HCO₃⁻ 배설이 가능해지고, KCl이 저칼륨을 교정해 H⁺ 분비 자극을 줄인다.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만성 저나트륨혈증이며 알코올·영양불량·저칼륨으로 삼투성 탈수초 증후군 고위험군이다. 중증 증상이 있으면 3% 식염수로 4–6 mEq/L만 빠르게 올리고, 24시간 총 교정을 8 mEq/L 이하로 제한한다. 수분 섭취·티아민 투여 후 수분 이뇨로 과교정되기 쉬우므로 2–4시간마다 Na⁺를 측정하고, 과교정 시 5% 포도당수와 데스모프레신으로 다시 낮춘다.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Harrison 내과학과 생화학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산염기·전해질 장애의 생화학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Biochemistry of Acid–Base and Electrolyte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체내 산 생산·완충(중탄산, 단백, 인산)과 신장·폐의 조절을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동맥혈가스의 단계적 해석(1차 장애, 보상 예측, 음이온차, 델타-델타)을 수행한다.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음이온차 증가 대사산증(MUDPILES/GOLDMARK)과 정상 음이온차 대사산증, 대사 알칼리증의 원인을 생화학적으로 분류한다.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나트륨·수분(저나트륨혈증, 고나트륨혈증)과 칼륨·칼슘·마그네슘·인 장애의 기전과 치료 원칙을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삼투질 간격과 독성 알코올, 재급식 증후군 등 통합 사례를 적용한다.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 생산과 완충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동맥혈가스의 단계적 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대사산증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알칼리증과 호흡 장애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나트륨과 수분: 저나트륨혈증·고나트륨혈증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칼륨, 칼슘, 마그네슘, 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 생산과 완충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하루 산 부하: 휘발성 산(CO₂ 약 15,000 mmol → 폐) + 비휘발성 산(약 1 mEq/kg/일; 황 함유 아미노산 → H₂SO₄, 인단백, 유기산 불완전 대사).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중탄산 완충계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CO₂ + H₂O ⇌ H₂CO₃ ⇌ H⁺ + HCO₃⁻ (탄산탈수효소). 헨더슨-하셀발흐: pH = 6.1 + log[HCO₃⁻/(0.03 × PaCO₂)]. 개방계(폐가 CO₂, 신장이 HCO₃⁻ 조절)라 강력하다.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내 완충: 헤모글로빈(히스티딘 이미다졸), 단백, 인산; 뼈(만성 산증 시 탄산칼슘 동원 → 골감소).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 생산과 완충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신장의 산 배설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(1) 근위세뇨관 HCO₃⁻ 재흡수(~85%; NHE3, 탄산탈수효소 IV/II), (2) 원위 H⁺ 분비(α-사이시세포 H⁺-ATPase, H⁺/K⁺-ATPase) → 적정산(인산) +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암모늄(NH₄⁺)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배설(글루타민 대사, 산증 시 증가; B01 L09) → 새로운 HCO₃⁻ 생성.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 보상: 말초(경동맥체)·중추(연수 CSF pH) 화학수용체 → 분 단위로 환기 조절.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동맥혈가스의 단계적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1단계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pH — 산혈증(&lt;7.35) / 알칼리혈증(&gt;7.45).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2단계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1차 장애 — PaCO₂·HCO₃⁻ 방향.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3단계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보상 예측(벗어나면 혼합 장애).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4단계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음이온차(AG)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= Na⁺ − (Cl⁻ + HCO₃⁻), 정상 약 8–12(측정법별).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알부민 보정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알부민 1 g/dL 감소당 AG 2.5 증가 보정.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5단계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AG 증가 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델타-델타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ΔAG/ΔHCO₃⁻ — 1–2 순수 AG 산증, &lt;1 정상 AG 산증 동반, &gt;2 대사 알칼리증(또는 만성 호흡산증 보상) 동반.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6단계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삼투질 간격(측정 − 계산; 계산 = 2Na⁺ + 포도당/18 + BUN/2.8) &gt;10이면 독성 알코올 의심.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동맥혈가스의 단계적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장애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보상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윈터 공식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예측 PaCO₂ = 1.5 × HCO₃⁻ + 8 ± 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알칼리증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PaCO₂ 증가 ≈ 0.7 × ΔHCO₃⁻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호흡산증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PaCO₂ 10↑당 HCO₃⁻ 1↑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호흡산증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PaCO₂ 10↑당 HCO₃⁻ 3.5–4↑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호흡알칼리증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PaCO₂ 10↓당 HCO₃⁻ 2↓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호흡알칼리증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PaCO₂ 10↓당 HCO₃⁻ 4–5↓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대사산증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소변 음이온차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(UAG = Na⁺ + K⁺ − Cl⁻): 음수면 NH₄⁺ 배설 적절(설사), 양수면 신장 산 배설 결함(원위 RTA).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원인 교정이 핵심. NaHCO₃는 정상 AG 산증·신부전·중증(pH &lt;7.1–7.2 + AKI; BICAR-ICU) 선택적 사용, 케톤·젖산 산증에서 일상적 사용은 이득 불확실.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대사산증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음이온차 증가 (GOLDMARK)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lycols(에틸렌·프로필렌글리콜)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글리콜산·옥살산 (칼슘 옥살산 결정뇨, 신부전)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xoproline(5-옥소프롤린)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아세트아미노펜 장기 사용 + 영양불량·여성·패혈증 → 글루타티온 회로 고갈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-젖산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A형/B형 (B01 L01)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-젖산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단장증후군 → 대장 세균 탄수화물 발효 → 혼동·운동실조; 일반 젖산 검사에서 검출 안 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ethanol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포름산 → 시신경 손상(실명), 기저핵 괴사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spirin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탈공역 + 젖산·케톤; 초기 호흡알칼리증 혼합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enal failure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황산·인산·요산 축적 (GFR &lt;15–20)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etoacidosis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당뇨, 알코올, 기아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대사산증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음이온차 증가 (GOLDMARK)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음이온차(고염소성)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설사·장루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HCO₃⁻ 소실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근위 신세뇨관산증(2형)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HCO₃⁻ 재흡수 결함; 판코니 증후군(다발성 골수종, 테노포비르, 이포스파마이드, 시스틴증); 탄산탈수효소 억제제(아세타졸라마이드, 토피라메이트)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원위 신세뇨관산증(1형)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H⁺ 분비 결함 → 소변 pH &gt;5.5, 저칼륨, 신석회증·결석; 쇼그렌·SLE, 암포테리신 B, ATP6V1B1(난청 동반)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4형 신세뇨관산증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저알도스테론·저항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고칼륨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암모니아 생성 저하; 당뇨 신병증, ACEi/ARB, 트리메토프림, 헤파린, 칼시뉴린 억제제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생리식염수 대량 투여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희석·Cl⁻ 부하 → 균형 결정질액 선호(SMART 시험)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요관-장 문합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장의 Cl⁻/HCO₃⁻ 교환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 알칼리증과 호흡 장애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알칼리증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생성(H⁺ 소실: 구토·비위관, 이뇨제, 고알도스테론증; HCO₃⁻ 투여) + 유지(체액 감소·Cl⁻ 결핍·저칼륨 → 신장이 HCO₃⁻를 배설하지 못함).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소변 Cl⁻ &lt;20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(식염수 반응성): 구토, 과거 이뇨제, 고탄산혈증 후 → 생리식염수 + KCl.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소변 Cl⁻ &gt;20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(식염수 비반응성): 고혈압 동반 — 원발성 알도스테론증(KCNJ5 등), 쿠싱, 리들 증후군(ENaC GoF → 아밀로라이드), 감초(11β-HSD2 억제 → 코르티솔이 MR 자극); 정상혈압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바터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(NKCC2 등; 루프 이뇨제 유사, 고칼슘뇨) /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지텔만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(NCC; 티아자이드 유사, 저칼슘뇨·저마그네슘), 현재 이뇨제 사용.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 알칼리증과 호흡 장애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호흡산증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환기 부전(COPD, 신경근 질환, 진정제, 비만저환기) → CO₂ 축적. 만성 COPD 환자에서 과도한 산소 → V/Q 불균형·할데인 효과로 고탄산혈증 악화.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호흡알칼리증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과환기(불안, 저산소, 패혈증 초기, 간부전, 임신(프로게스테론), 살리실산, 폐색전증).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나트륨과 수분: 저나트륨혈증·고나트륨혈증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혈청 Na⁺는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총체 수분 대비 나트륨 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반영 — 저나트륨혈증은 대부분 '물 과잉' 문제이며, ADH(바소프레신)–V2 수용체–아쿠아포린-2 축이 핵심.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저나트륨혈증 접근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혈청 삼투압: 정상(가성; 고지혈·고단백혈증 — 간접 ISE), 높음(고혈당: 포도당 100 mg/dL↑당 Na⁺ 1.6–2.4↓ 보정, 만니톨),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낮음(진성 저삼투성)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소변 삼투압 &lt;100: 원발성 다음증, 맥주 다음증·'차와 토스트'(용질 부족).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나트륨과 수분: 저나트륨혈증·고나트륨혈증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소변 삼투압 &gt;100 → 체액 상태: 감소(구토·이뇨제·부신 기능저하; 소변 Na⁺ &lt;30 신외 소실), 증가(심부전·간경변·신증후군), 정상(</a:t>
            </a:r>
            <a:r>
              <a:rPr sz="14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SIAD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소변 Na⁺ &gt;30, 요산 낮음; 갑상선기능저하·부신 기능저하 배제; 원인 — 폐암(소세포), 뇌 질환, 약물(SSRI, 카르바마제핀, 사이클로포스파마이드, 엑스터시), 통증·구역, 수술 후).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삼투성 탈수초 증후군(ODS)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만성(&gt;48시간) 저나트륨혈증을 빠르게 교정하면 뇌세포가 잃었던 유기 삼투질(미오이노시톨, 글루타민, 타우린)을 재축적하지 못해 교뇌 중심 탈수초(사지마비, 가성구마비, 감금 증후군). 교정 한도: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24시간 8–10 mEq/L 이하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(고위험군: 알코올, 영양불량, 저칼륨, 간질환 — 8 이하).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중증 증상(경련·혼수) → 3% 고장성 식염수 100–150 mL 볼루스(최대 3회) → 4–6 mEq/L 상승 목표.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나트륨과 수분: 저나트륨혈증·고나트륨혈증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SIAD 치료: 수분 제한, 경구 요소, 바프탄(V2 길항제 톨밥탄; 간독성 주의), SGLT2 억제제(경도 효과).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고나트륨혈증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수분 부족(갈증 장애·접근 제한 노인), 요붕증(중추: ADH 결핍 → 데스모프레신; 신성: V2R(AVPR2)·AQP2 결함, 리튬, 고칼슘혈증, 저칼륨 → 티아자이드·NSAID). 교정은 24시간 10–12 mEq/L 이하(만성 시 뇌부종 위험).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칼륨, 칼슘, 마그네슘, 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기전·원인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응급 소견·치료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고칼륨혈증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배설 감소(신부전, 저알도스테론, ACEi/ARB/MRA, 트리메토프림), 세포 밖 이동(산증, 인슐린 결핍, 횡문근융해, 용혈, 종양용해, 숙시닐콜린, 디곡신 중독), 가성(용혈·혈소판증가)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뾰족 T, PR 연장, QRS 확장 →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칼슘 글루코네이트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(막 안정) → 인슐린+포도당, β₂ 작용제(세포 내 이동) → 배설(루프 이뇨제, 파티로머·소듐 지르코늄 사이클로실리케이트, 투석)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저칼륨혈증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섭취 부족, 세포 내 이동(인슐린, β₂, 알칼리증, 주기마비), 신장 소실(이뇨제, 고알도스테론, 저마그네슘, 바터/지텔만, RTA 1·2), 장 소실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U파, ST 하강, 근력저하·횡문근융해, 부정맥;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저마그네슘 동반 시 Mg 교정 없이는 K⁺ 교정 안 됨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(ROMK 억제 해제)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고칼슘혈증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외래: 원발성 부갑상선기능항진증 / 입원: 악성(PTHrP, 골전이, 1,25-D 생성 림프종) · 육아종(사르코이드), 비타민 D 과잉, 티아자이드, 리튬, 부동, 가족성 저칼슘뇨성(CASR)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'뼈, 돌, 신음, 정신증상'; QT 단축 → 생리식염수, 칼시토닌, 비스포스포네이트/데노수맙, 글루코코르티코이드(1,25-D 매개)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저칼슘혈증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부갑상선기능저하(수술 후, 22q11.2, 자가면역 AIRE), 비타민 D 결핍, 저마그네슘(PTH 분비·작용 저하), 췌장염(비누화), 종양용해, 대량 수혈(시트르산), 가성부갑상선기능저하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트루소·크보스테크 징후, 테타니, QT 연장 → 정주 칼슘;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칼슘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= 측정 Ca + 0.8 × (4 − 알부민) 또는 이온화 칼슘 측정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저마그네슘혈증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PPI 장기(TRPM6/7 흡수 저하), 이뇨제, 알코올, 설사, 시스플라틴, 지텔만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부정맥(염전성 심실빈맥 → MgSO₄), 저K·저Ca 동반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저인산혈증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재급식 증후군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DKA 치료, 알코올, 호흡알칼리증, FGF23 과잉(종양유발 골연화증, X연관 저인산혈증 → 부로수맙)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근력저하, 호흡부전, 용혈, 심부전(ATP·2,3-BPG 고갈)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고인산혈증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신부전, 종양용해, 횡문근융해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인산 결합제, 투석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칼륨, 칼슘, 마그네슘, 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재급식 증후군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기아 중 세포 내 인·칼륨·마그네슘이 고갈된 상태에서 탄수화물을 갑자기 공급하면 인슐린이 이들을 세포 안으로 이동시키고 해당·ATP 합성에 인산이 소모되어 급격한 저인산혈증 → 호흡근 약화·심부전·부정맥·사망. 고위험군(신경성 식욕부진, 알코올, 장기 금식)은 저열량(10–20 kcal/kg)으로 시작하고 티아민을 먼저 투여하며 전해질을 매일 모니터링한다.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 산 배설 장애 생체표지(소변 암모늄 직접 측정)가 CKD 진행 예측에 유용하다는 근거와, CKD 대사산증에서 경구 알칼리 치료(베베리머 — 염산 결합 중합체, 2상 성공 후 3상에서 신기능 1차 결과 실패)의 결과가 논의되고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저나트륨혈증은 경도라도 낙상·골다공증·인지 저하와 연관되며, 고령자 관리에서 교정 이득을 검증하는 시험이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칼슘감지수용체(CaSR) 표적 약물: 칼시뮤레틱(시나칼세트, 에텔칼세티드; 2차 부갑상선기능항진), 칼시리틱(엔칼레렛; CASR 기능획득 상염색체 우성 저칼슘혈증, 3상 성공).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산은 중탄산(개방계)·세포 내·뼈 완충과 폐(CO₂)·신장(HCO₃⁻ 재흡수, NH₄⁺ 배설)으로 조절된다.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ABG는 pH → 1차 장애 → 보상 예측(윈터 공식) → 알부민 보정 AG → 델타-델타 → 삼투질 간격 순으로 해석한다.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AG 증가 산증은 GOLDMARK, 정상 AG는 설사·RTA, 대사 알칼리증은 소변 Cl⁻와 혈압으로 분류한다.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저나트륨혈증은 삼투압·소변 삼투압·체액 상태로 접근하고, 만성은 24시간 8–10 이하로 교정한다.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칼륨·칼슘·마그네슘·인 장애는 세포 이동·신장 배설·호르몬(PTH, 비타민 D, 알도스테론, FGF23)의 관점에서 해석한다.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pH 7.25, PaCO₂ 28, HCO₃⁻ 12, Na⁺ 140, Cl⁻ 100, 알부민 4.0인 환자의 산염기 장애를 해석하라.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산혈증 + HCO₃⁻ 감소 → 대사산증. 윈터 공식 예측 PaCO₂ = 1.5×12 + 8 = 26 ± 2 → 28은 적절한 보상. AG = 140 − (100 + 12) = 28(증가). ΔAG = 28 − 12 = 16, ΔHCO₃⁻ = 24 − 12 = 12 → 비 약 1.3으로 순수 AG 증가 대사산증. 케톤산증·젖산·독성 알코올·신부전 등을 감별한다.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 불명 AG 증가 대사산증과 삼투질 간격 25가 있는 의식 저하 환자에서 의심 진단과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메탄올 또는 에틸렌글리콜 중독. 이들 알코올은 삼투 활성이 있어 삼투질 간격을 늘리고 ADH에 의해 독성 대사물(포름산, 글리콜산·옥살산)로 바뀌어 AG 산증을 만든다. 포메피졸(ADH 억제)을 즉시 투여하고, 중증 산증·시력 장애·신부전 시 혈액투석, 메탄올은 엽산/폴린산, 에틸렌글리콜은 티아민·피리독신을 보조로 준다.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구토가 반복된 환자의 대사 알칼리증이 생리식염수와 KCl 투여로 교정되는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구토로 HCl을 잃어 HCO₃⁻가 생성되고, 체액 감소가 RAAS를 활성화해 근위 HCO₃⁻ 재흡수를 늘리며 원위에서 Na⁺ 재흡수와 교환으로 H⁺·K⁺ 분비가 증가해 알칼리증이 유지된다. 생리식염수로 체액과 Cl⁻를 보충하면 펜드린(Cl⁻/HCO₃⁻ 교환) 통한 HCO₃⁻ 배설이 가능해지고, KCl이 저칼륨을 교정해 H⁺ 분비 자극을 줄인다.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 사용장애 환자의 혈청 Na⁺ 112 mEq/L(3일 이상 진행 추정)를 교정할 때 주의할 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만성 저나트륨혈증이며 알코올·영양불량·저칼륨으로 삼투성 탈수초 증후군 고위험군이다. 중증 증상이 있으면 3% 식염수로 4–6 mEq/L만 빠르게 올리고, 24시간 총 교정을 8 mEq/L 이하로 제한한다. 수분 섭취·티아민 투여 후 수분 이뇨로 과교정되기 쉬우므로 2–4시간마다 Na⁺를 측정하고, 과교정 시 5% 포도당수와 데스모프레신으로 다시 낮춘다.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Loscalzo J et al. (eds). Harrison's Principles of Internal Medicine, 21st ed. McGraw Hill, 2022. Ch. 55–56 (Fluid and electrolyte disturbances; Acidosis and alkalosis).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Berend K, de Vries AP, Gans RO. Physiological approach to assessment of acid–base disturbances. N Engl J Med 2014;371:1434–1445.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Adrogué HJ, Tucker BM, Madias NE. Diagnosis and management of hyponatremia: a review. JAMA 2022;328:280–291.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B03-L07  ·  산염기·전해질 장애의 생화학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Spasovski G et al. Clinical practice guideline on diagnosis and treatment of hyponatraemia. Eur J Endocrinol 2014;170:G1–G47.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Palmer BF, Clegg DJ. Physiology and pathophysiology of potassium homeostasis. Adv Physiol Educ 2016;40:480–490.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