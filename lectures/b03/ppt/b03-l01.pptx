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프리드월드 식은 VLDL-C를 TG/5로 추정하는데 TG가 높으면 VLDL 조성이 달라져 오차가 커지고, TG &gt;400에서는 사용할 수 없다. 직접 LDL-C 측정, 마틴-홉킨스/샘슨 식, non-HDL-C 또는 apoB를 사용하며, 이 수준의 TG는 췌장염 예방 치료도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Lp(a) 혈중 농도는 주로 간의 apo(a) 생산 속도(LPA 유전자, kringle IV-2 반복 수)로 결정되며 제거는 LDL 수용체에 크게 의존하지 않는다. 스타틴은 오히려 apo(a) 발현을 약간 증가시킬 수 있다. 따라서 apo(a) mRNA를 직접 표적하는 ASO/siRNA가 개발되고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CHIP은 관상동맥질환·뇌졸중·심부전 위험을 약 1.5–2배 높이므로 심혈관 위험인자(LDL, 혈압, 흡연, 당뇨)를 적극 관리해야 한다. TET2 결손 대식세포의 IL-1β/IL-6 과생산 기전상 항염증 치료가 더 효과적일 수 있다는 가설이 있다. 혈구 감소·진행 소견이 있으면 혈액내과 추적(CCUS 평가)을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스타틴은 지질 핵을 줄이고 섬유모자를 두껍게 하며 대식세포 염증을 줄여 파열 경향의 취약 판을 안정화한다. 그 결과 지질이 적고 평활근·프로테오글리칸이 풍부한 판에서 내피 손상과 호중구 NETs에 의해 생기는 미란이 상대적으로 많아졌다.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B03 중개의학과 생화학  ·  심혈관대사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죽상경화의 분자병태생리와 이상지질혈증 진료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Molecular Pathogenesis of Atherosclerosis and Dyslipidemia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B03-L01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죽상경화의 개시(LDL 체류·변형)–진행(포말세포, 염증)–합병증(판 파열·미란) 단계를 분자 수준에서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선천·적응 면역과 인플라마좀, 클론성 조혈이 죽상경화에 기여하는 기전을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지질 검사(LDL-C 계산식, non-HDL-C, apoB, Lp(a))의 해석과 한계를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심혈관 위험 평가와 LDL-C 목표에 따른 단계적 치료 전략을 수립한다.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항염증 치료(콜히친, 카나키누맙)와 잔여 위험 개념을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죽상경화의 개시: LDL의 체류와 변형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진행: 포말세포, 염증, 섬유모자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합병증: 불안정 판과 혈전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클론성 조혈과 잔여 염증 위험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지질 검사의 해석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위험 평가와 치료 전략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죽상경화의 개시: LDL의 체류와 변형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반응-체류(response-to-retention) 가설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apoB 함유 지단백(LDL, 잔여물, Lp(a); 직경 &lt;70 nm)이 내피를 통과(트랜스사이토시스: SR-BI, ALK1)해 내막 프로테오글리칸(바이글리칸, 버시칸)에 apoB의 양전하 부위로 결합·체류 → 체류된 입자가 변형된다.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변형: 산화(골수세포 MPO, 15-LOX, NOX) → oxLDL, 효소 변형(sPLA₂, 스핑고미엘리나아제 → 응집), 당화.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내피 활성화: 혈류 교란 부위(분지·만곡; 낮고 진동하는 전단응력)에서 KLF2/KLF4 저하, NF-κB 활성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VCAM-1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ICAM-1, MCP-1(CCL2) 발현, eNOS·NO 감소.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단핵구 유입(VLA-4–VCAM-1, CCR2–MCP-1) → 대식세포 분화(M-CSF).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죽상경화의 개시: LDL의 체류와 변형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누적 노출 개념: LDL에 노출된 '양 × 시간'(LDL-년)이 죽상경화 부담을 결정한다. 그래서 유전적으로 평생 LDL이 낮은 사람(PCSK9 LoF)은 같은 LDL 감소폭의 약물보다 훨씬 큰 위험 감소를 보인다 — 조기·장기 강하의 근거.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진행: 포말세포, 염증, 섬유모자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포말세포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대식세포가 스캐빈저 수용체(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SR-A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CD36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LOX-1)로 oxLDL을 무제한 섭취(LDL 수용체와 달리 하향조절 없음) → 콜레스테릴 에스터 축적. 유출(ABCA1/ABCG1 → apoA-I/HDL) 능력을 초과하면 축적.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과다한 유리콜레스테롤 → ER 스트레스·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콜레스테롤 결정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NLRP3 인플라마좀 → IL-1β → IL-6 → CRP (간).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선천면역: TLR2/4, oxLDL 산화 인지질(OxPL), NETs. 적응면역: 병변 내 Th1(IFN-γ; 섬유모자 약화), 조절 T세포(IL-10, TGF-β; 보호), B1세포 자연 IgM(항-OxPL; 보호).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진행: 포말세포, 염증, 섬유모자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평활근세포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중막에서 내막으로 이동·증식, 세포외기질(콜라겐) 분비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섬유모자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계통 추적에서 평활근세포가 대식세포 유사·골모세포 유사 세포로 전환(KLF4)됨이 밝혀졌다.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괴사 중심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세포사 + 결함 있는 탐식(efferocytosis; MerTK 절단, CD47 '먹지 마' 신호 증가) → 괴사 핵 확대.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석회화: 미세석회화(파열 위험↑) vs 거대석회화(안정; 관상동맥 석회 점수 CAC로 측정).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합병증: 불안정 판과 혈전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취약 판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얇은 섬유모자(&lt;65 µm), 큰 괴사 중심, 대식세포 풍부, 양성 재형성, 판내 출혈, 점상 석회화.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섬유모자 약화: 대식세포 MMP-1/8/13(콜라겐 분해), MMP-9, 카텝신; IFN-γ가 평활근 콜라겐 합성 억제.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판 파열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(급성 심근경색의 약 60–70%) → 조직인자 노출 → 혈소판·응고 활성 → 폐쇄 혈전.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판 미란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(약 30%, 젊은 여성·흡연자 증가): 내피 결손, 호중구 NETs, TLR2 — 스타틴 시대에 비율 증가.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연계: 급성관상동맥증후군(STEMI/NSTEMI/불안정협심증) → 항혈소판(아스피린 + P2Y12) + 고강도 스타틴 + 재관류.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클론성 조혈과 잔여 염증 위험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CHIP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나이가 들며 조혈모세포 체세포 변이(DNMT3A, TET2, ASXL1, JAK2) 클론 확장(VAF ≥2%). 70세 이상 10–20%.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CHIP 보유자는 혈액암 위험(연 0.5–1%)보다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관상동맥질환 위험 약 2배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더 중요한 임상 결과(Jaiswal et al., NEJM 2017). TET2 결손 대식세포 → NLRP3–IL-1β 증가; JAK2 V617F → NETs·혈전.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잔여 염증 위험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LDL 목표 도달 후에도 hsCRP ≥2 mg/L이면 위험 지속.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염증 경로의 인과성은 IL6R Asp358Ala 변이 MR 연구(관상동맥질환 감소)로도 지지된다.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클론성 조혈과 잔여 염증 위험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CANTOS (2017)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카나키누맙(항IL-1β)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MACE 15% 감소, 치명적 감염 증가 → 승인 안 됨; TET2 CHIP에서 효과 큰 경향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COLCOT, LoDoCo2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저용량 콜히친 0.5 mg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MACE 23–31% 감소 → 2023 FDA 승인(죽상경화 적응증 최초 항염증제)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CIRT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저용량 메토트렉세이트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 없음 (IL-6 경로 비억제)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ZEUS(진행 중)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지틸리맙(항IL-6)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CKD·hsCRP 고위험군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지질 검사의 해석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표준 지질 패널: 총콜레스테롤(TC), HDL-C, TG, LDL-C(계산 또는 직접).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프리드월드 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LDL-C = TC − HDL-C − TG/5 (mg/dL). TG &gt; 400 또는 LDL-C &lt; 70에서 과소평가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마틴-홉킨스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또는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샘슨(NIH) 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권장.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non-HDL-C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= TC − HDL-C: 모든 apoB 함유 지단백 콜레스테롤; 비공복에도 유효, 고중성지방혈증·당뇨에서 우수.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apoB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입자 수(입자당 apoB 1개) — LDL-C와 불일치(작고 조밀한 LDL; 대사증후군) 시 위험을 더 잘 반영. ESC/EAS는 apoB 측정 권장.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지질 검사의 해석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Lp(a)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평생 1회 이상 측정 권고(ESC 2019/2022, 한국 2022 지침 개정). &gt;50 mg/dL(&gt;105–125 nmol/L) 고위험; 식이·운동·스타틴으로 거의 변하지 않음(스타틴은 오히려 약간 증가), PCSK9 억제제는 20–30% 감소.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비공복 검사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TG 소폭 상승 외 대부분 지표에 영향 적어 일상 선별에 허용.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2차 이상지질혈증 확인: 갑상선기능저하증(LDL↑), 신증후군(LDL↑), 담즙정체(LpX), 당뇨·비만·알코올·에스트로겐·레티노이드·스테로이드·항레트로바이러스제(TG↑), 임신.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위험 평가와 치료 전략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위험 계산기(ASCVD Pooled Cohort Equations, SCORE2, 한국인 KRPM) + 위험 증강인자(가족력, Lp(a), CAC 점수, 만성염증질환, CKD, 조기 폐경·임신중독증 병력).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단계적 강하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생활습관 → 고강도 스타틴(아토르바스타틴 40–80, 로수바스타틴 20)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에제티미브 병용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PCSK9 억제제/인클리시란 → 벰페도산. 한국에서는 중강도 스타틴 + 에제티미브 복합제를 초기부터 쓰는 전략(RACING 시험: 고강도 단독과 비열등, 불내성 적음).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"낮을수록 좋다"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FOURIER·ODYSSEY 하위분석에서 LDL-C 20 mg/dL 미만에서도 추가 이득과 안전성.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위험 평가와 치료 전략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고중성지방혈증: TG ≥500은 췌장염 예방 우선(피브레이트, 오메가-3, 저지방식, 금주); 150–499 잔여 위험은 이코사펜트 에틸(REDUCE-IT; 한국 허가 제한적), 페마피브레이트(PROMINENT: 심혈관 이득 없음).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위험 평가와 치료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위험군 (한국 이상지질혈증 진료지침 2022 요약)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LDL-C 목표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초고위험: 관상동맥질환·죽상경화성 뇌경색·말초동맥질환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&lt;55 mg/dL + 기저 대비 50% 이상 감소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고위험: 경동맥질환, 복부대동맥류, 당뇨(표적장기 손상·위험인자 동반)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&lt;70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중등도 위험: 주요 위험인자 2개 이상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&lt;130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저위험: 위험인자 0–1개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&lt;160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위험 평가와 치료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77749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스타틴 근육 증상(SAMS)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실제 약리적 근병증은 드물고(&lt;1%; 횡문근융해 0.01%) 다수는 노세보 효과(SAMSON N-of-1 시험에서 증상의 90%가 위약에서도 발생). CK, 갑상선, 비타민 D, 약물 상호작용(CYP3A4 억제제 + 심바스타틴, 젬피브로질), SLCO1B1 c.521T&gt;C를 확인하고, 재투약·다른 스타틴·격일 투여·비스타틴 약물로 대응한다. 항HMGCR 항체 면역매개 괴사성 근병증(진행성 근력저하, CK 수천)은 스타틴 중단 후에도 지속되므로 면역치료가 필요하다.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Lp(a) 표적 3상 시험(펠라카르센 Lp(a)HORIZON, 올파시란 OCEAN(a), 레포디시란, 경구 무바파미)의 결과가 2025–2027년 발표되며 Lp(a) 가설의 최종 검증이 될 예정이다.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단일세포·공간 전사체로 사람 죽상판의 평활근 전환 세포(SEM 세포), TREM2hi 지질 대식세포가 지도화되었고, 판 불안정성의 분자 서명이 영상 바이오마커(PET ⁶⁸Ga-DOTATATE, ¹⁸F-NaF)와 연결되고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체내 유전자 편집(PCSK9, ANGPTL3, Lp(a) LPA)이 '평생 1회 치료'로 고위험군 예방 패러다임을 바꿀 가능성이 제기된다.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죽상경화는 apoB 지단백의 내막 체류·변형으로 시작되고, 포말세포·NLRP3 염증·평활근 전환·탐식 결함으로 진행한다.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판 파열(얇은 섬유모자·MMP)과 미란(NETs)이 급성관상동맥증후군의 원인이다.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CHIP과 IL-1β–IL-6 축은 잔여 염증 위험을 설명하며 콜히친이 승인된 항염증 치료이다.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LDL-C 계산식의 한계를 알고 non-HDL-C, apoB, 평생 1회 Lp(a)를 활용한다.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위험군별 LDL-C 목표를 정하고 스타틴 → 에제티미브 → PCSK9 억제제 순서로 강하한다.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TG 520 mg/dL인 당뇨 환자에서 계산 LDL-C를 신뢰하기 어려운 이유와 대안 지표는?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프리드월드 식은 VLDL-C를 TG/5로 추정하는데 TG가 높으면 VLDL 조성이 달라져 오차가 커지고, TG &gt;400에서는 사용할 수 없다. 직접 LDL-C 측정, 마틴-홉킨스/샘슨 식, non-HDL-C 또는 apoB를 사용하며, 이 수준의 TG는 췌장염 예방 치료도 필요하다.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스타틴이 LDL 수용체를 늘리는데도 Lp(a)는 거의 낮추지 못하는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Lp(a) 혈중 농도는 주로 간의 apo(a) 생산 속도(LPA 유전자, kringle IV-2 반복 수)로 결정되며 제거는 LDL 수용체에 크게 의존하지 않는다. 스타틴은 오히려 apo(a) 발현을 약간 증가시킬 수 있다. 따라서 apo(a) mRNA를 직접 표적하는 ASO/siRNA가 개발되고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75세 남성의 우연한 유전자 검사에서 TET2 CHIP(VAF 8%)이 발견되었다. 혈액암 위험 외에 임상적으로 고려할 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CHIP은 관상동맥질환·뇌졸중·심부전 위험을 약 1.5–2배 높이므로 심혈관 위험인자(LDL, 혈압, 흡연, 당뇨)를 적극 관리해야 한다. TET2 결손 대식세포의 IL-1β/IL-6 과생산 기전상 항염증 치료가 더 효과적일 수 있다는 가설이 있다. 혈구 감소·진행 소견이 있으면 혈액내과 추적(CCUS 평가)을 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판 미란이 스타틴 시대에 상대적으로 증가한 이유로 제시되는 설명은?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스타틴은 지질 핵을 줄이고 섬유모자를 두껍게 하며 대식세포 염증을 줄여 파열 경향의 취약 판을 안정화한다. 그 결과 지질이 적고 평활근·프로테오글리칸이 풍부한 판에서 내피 손상과 호중구 NETs에 의해 생기는 미란이 상대적으로 많아졌다.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Libby P et al. Atherosclerosis. Nat Rev Dis Primers 2019;5:56.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Borén J et al. Low-density lipoproteins cause atherosclerotic cardiovascular disease: pathophysiological, genetic, and therapeutic insights. Eur Heart J 2020;41:2313–2330.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Jaiswal S et al. Clonal hematopoiesis and risk of atherosclerotic cardiovascular disease. N Engl J Med 2017;377:111–121.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B03-L01  ·  죽상경화의 분자병태생리와 이상지질혈증 진료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Nidorf SM et al. Colchicine in patients with chronic coronary disease (LoDoCo2). N Engl J Med 2020;383:1838–1847.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한국지질·동맥경화학회. 이상지질혈증 진료지침 제5판.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