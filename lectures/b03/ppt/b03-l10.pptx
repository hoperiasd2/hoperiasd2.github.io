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클로피도그렐은 CYP2C19에 의해 활성 티올 대사물로 전환되는 전구약물이다. *2/*2 저대사자는 활성화가 크게 떨어져 혈소판 억제가 불충분하므로 혈전 위험이 높다. CYP2C19 비의존 P2Y12 억제제인 티카그렐러 또는 프라수그렐로 대체한다.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리팜핀은 PXR을 통해 CYP3A4와 P-gp를 강력히 유도해 타크롤리무스 청소율을 크게 높이므로(1–2주에 걸쳐) 혈중 농도가 급감해 급성 거부 반응 위험이 생긴다. 타크롤리무스 용량을 3–5배 이상 증량하며 농도를 자주 측정하거나, 가능하면 리파부틴(유도 작용이 약함)으로 대체한다. 리팜핀 중단 시에는 반대로 독성 위험이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산모가 CYP2D6 초고속 대사자(유전자 복제수 증가)여서 코데인이 모르핀으로 과도하게 전환되었고, 모르핀이 모유로 다량 분비되어 신생아에게 호흡억제를 일으켰다. 이에 따라 수유부와 12세 미만 소아에게 코데인·트라마돌 사용이 금기 또는 경고 대상이 되었다.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임신 중 에스트로겐 증가로 UGT1A4 글루쿠론산 포합이 유도되고 GFR이 증가해 라모트리진 청소율이 50–300% 증가하므로 혈중 농도가 떨어진다. 임신 전 기준 농도를 측정해 두고 임신 중 4주마다 농도를 확인하며 용량을 늘리고, 출산 후에는 2–3주 내 청소율이 빠르게 정상화되므로 용량을 다시 줄여 독성을 피한다.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B03 중개의학과 생화학  ·  기타 임상의학과 생화학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약물대사와 약물유전체학</a:t>
            </a:r>
          </a:p>
          <a:p>
            <a:r>
              <a:rPr sz="2000" b="0" i="0">
                <a:solidFill>
                  <a:srgbClr val="C2CDD6"/>
                </a:solidFill>
                <a:latin typeface="Malgun Gothic"/>
                <a:ea typeface="Malgun Gothic"/>
                <a:cs typeface="Malgun Gothic"/>
              </a:rPr>
              <a:t>Drug Metabolism and Pharmacogenomics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B03-L10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약동학(흡수·분포·대사·배설)의 기본 개념과 반감기·청소율·분포용적을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1상(CYP450) 및 2상(포합) 반응과 약물 수송체(P-gp, OATP)의 역할을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CYP 유도·억제에 의한 약물 상호작용과 임상적으로 중요한 조합을 정리한다.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주요 약물유전체 표지자(CYP2C19, CYP2D6, CYP2C9/VKORC1, TPMT/NUDT15, DPYD, UGT1A1, HLA)의 임상 적용을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특수 집단(소아, 노인, 임신, 간·신부전)의 약물대사 변화와 약물 유발 간손상을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약동학의 핵심</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1상·2상 대사와 수송체</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약물 상호작용</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약물유전체의 임상 적용</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특수 집단과 약물 유발 간손상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약동학의 핵심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흡수</a:t>
            </a:r>
            <a:r>
              <a:rPr sz="1800" b="0" i="0">
                <a:solidFill>
                  <a:srgbClr val="11202B"/>
                </a:solidFill>
                <a:latin typeface="Malgun Gothic"/>
                <a:ea typeface="Malgun Gothic"/>
                <a:cs typeface="Malgun Gothic"/>
              </a:rPr>
              <a:t>: 생체이용률(F) = 전신 도달 분율; 장 CYP3A4·P-gp와 간 </a:t>
            </a:r>
            <a:r>
              <a:rPr sz="1800" b="1" i="0">
                <a:solidFill>
                  <a:srgbClr val="11202B"/>
                </a:solidFill>
                <a:latin typeface="Malgun Gothic"/>
                <a:ea typeface="Malgun Gothic"/>
                <a:cs typeface="Malgun Gothic"/>
              </a:rPr>
              <a:t>초회 통과 효과</a:t>
            </a:r>
            <a:r>
              <a:rPr sz="1800" b="0" i="0">
                <a:solidFill>
                  <a:srgbClr val="11202B"/>
                </a:solidFill>
                <a:latin typeface="Malgun Gothic"/>
                <a:ea typeface="Malgun Gothic"/>
                <a:cs typeface="Malgun Gothic"/>
              </a:rPr>
              <a:t>(니트로글리세린 설하, 모르핀 경구 F ~25%).</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분포</a:t>
            </a:r>
            <a:r>
              <a:rPr sz="1800" b="0" i="0">
                <a:solidFill>
                  <a:srgbClr val="11202B"/>
                </a:solidFill>
                <a:latin typeface="Malgun Gothic"/>
                <a:ea typeface="Malgun Gothic"/>
                <a:cs typeface="Malgun Gothic"/>
              </a:rPr>
              <a:t>: 분포용적(Vd) = 체내 총량/혈장 농도. 지용성·조직 결합 약물은 Vd가 큼(아미오다론, 클로로퀸), 단백 결합(와파린 99% 알부민; 저알부민혈증 시 유리형 증가).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청소율(CL)</a:t>
            </a:r>
            <a:r>
              <a:rPr sz="1800" b="0" i="0">
                <a:solidFill>
                  <a:srgbClr val="11202B"/>
                </a:solidFill>
                <a:latin typeface="Malgun Gothic"/>
                <a:ea typeface="Malgun Gothic"/>
                <a:cs typeface="Malgun Gothic"/>
              </a:rPr>
              <a:t>: 단위 시간당 약물이 제거되는 혈장 부피. </a:t>
            </a:r>
            <a:r>
              <a:rPr sz="1800" b="1" i="0">
                <a:solidFill>
                  <a:srgbClr val="11202B"/>
                </a:solidFill>
                <a:latin typeface="Malgun Gothic"/>
                <a:ea typeface="Malgun Gothic"/>
                <a:cs typeface="Malgun Gothic"/>
              </a:rPr>
              <a:t>반감기</a:t>
            </a:r>
            <a:r>
              <a:rPr sz="1800" b="0" i="0">
                <a:solidFill>
                  <a:srgbClr val="11202B"/>
                </a:solidFill>
                <a:latin typeface="Malgun Gothic"/>
                <a:ea typeface="Malgun Gothic"/>
                <a:cs typeface="Malgun Gothic"/>
              </a:rPr>
              <a:t> t½ = 0.693 × Vd/CL. 정상상태 도달 약 4–5 반감기.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1차 동역학(대부분; 일정 비율 제거) vs </a:t>
            </a:r>
            <a:r>
              <a:rPr sz="1800" b="1" i="0">
                <a:solidFill>
                  <a:srgbClr val="11202B"/>
                </a:solidFill>
                <a:latin typeface="Malgun Gothic"/>
                <a:ea typeface="Malgun Gothic"/>
                <a:cs typeface="Malgun Gothic"/>
              </a:rPr>
              <a:t>0차 동역학</a:t>
            </a:r>
            <a:r>
              <a:rPr sz="1800" b="0" i="0">
                <a:solidFill>
                  <a:srgbClr val="11202B"/>
                </a:solidFill>
                <a:latin typeface="Malgun Gothic"/>
                <a:ea typeface="Malgun Gothic"/>
                <a:cs typeface="Malgun Gothic"/>
              </a:rPr>
              <a:t>(포화; 일정량 제거 — 에탄올, 고용량 페니토인, 아스피린 대량) → 소량 증량에도 농도 급증.</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부하 용량 = 목표 농도 × Vd / F; 유지 용량 = 목표 농도 × CL × 투여 간격 /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약동학의 핵심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치료 약물 모니터링(TDM): 치료역 좁음(디곡신, 리튬, 페니토인, 아미노글리코사이드, 반코마이신 AUC, 타크롤리무스, 항경련제).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1상·2상 대사와 수송체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1상</a:t>
            </a:r>
            <a:r>
              <a:rPr sz="1800" b="0" i="0">
                <a:solidFill>
                  <a:srgbClr val="11202B"/>
                </a:solidFill>
                <a:latin typeface="Malgun Gothic"/>
                <a:ea typeface="Malgun Gothic"/>
                <a:cs typeface="Malgun Gothic"/>
              </a:rPr>
              <a:t>(기능기 도입·노출): 산화(CYP450, FMO, MAO), 환원, 가수분해(에스터라아제 — 숙시닐콜린, 레미펜타닐).</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CYP450: 헴 단백, 소포체, NADPH-P450 환원효소. 인간 57개 유전자; 약물 대사 기여 — </a:t>
            </a:r>
            <a:r>
              <a:rPr sz="1600" b="1" i="0">
                <a:solidFill>
                  <a:srgbClr val="2E3F4C"/>
                </a:solidFill>
                <a:latin typeface="Malgun Gothic"/>
                <a:ea typeface="Malgun Gothic"/>
                <a:cs typeface="Malgun Gothic"/>
              </a:rPr>
              <a:t>CYP3A4/5 (~50%)</a:t>
            </a:r>
            <a:r>
              <a:rPr sz="1600" b="0" i="0">
                <a:solidFill>
                  <a:srgbClr val="2E3F4C"/>
                </a:solidFill>
                <a:latin typeface="Malgun Gothic"/>
                <a:ea typeface="Malgun Gothic"/>
                <a:cs typeface="Malgun Gothic"/>
              </a:rPr>
              <a:t>, CYP2D6 (~20–25%), CYP2C9, CYP2C19, CYP1A2, CYP2E1, CYP2B6.</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2상</a:t>
            </a:r>
            <a:r>
              <a:rPr sz="1800" b="0" i="0">
                <a:solidFill>
                  <a:srgbClr val="11202B"/>
                </a:solidFill>
                <a:latin typeface="Malgun Gothic"/>
                <a:ea typeface="Malgun Gothic"/>
                <a:cs typeface="Malgun Gothic"/>
              </a:rPr>
              <a:t>(포합 → 수용성 증가, 배설): 글루쿠론산(UGT), 황산(SULT), 글루타티온(GST), 아세틸화(NAT2), 메틸화(TPMT, COMT), 아미노산 포합.</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전구약물 활성화</a:t>
            </a:r>
            <a:r>
              <a:rPr sz="1800" b="0" i="0">
                <a:solidFill>
                  <a:srgbClr val="11202B"/>
                </a:solidFill>
                <a:latin typeface="Malgun Gothic"/>
                <a:ea typeface="Malgun Gothic"/>
                <a:cs typeface="Malgun Gothic"/>
              </a:rPr>
              <a:t>: 클로피도그렐(CYP2C19), 코데인→모르핀(CYP2D6), 타목시펜→엔독시펜(CYP2D6), 사이클로포스파마이드(CYP2B6), 발라시클로버, 레보도파.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1상·2상 대사와 수송체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독성 대사물</a:t>
            </a:r>
            <a:r>
              <a:rPr sz="2000" b="0" i="0">
                <a:solidFill>
                  <a:srgbClr val="11202B"/>
                </a:solidFill>
                <a:latin typeface="Malgun Gothic"/>
                <a:ea typeface="Malgun Gothic"/>
                <a:cs typeface="Malgun Gothic"/>
              </a:rPr>
              <a:t>: 아세트아미노펜 NAPQI(CYP2E1/3A4), 할로탄, 이소니아지드(NAT2 저아세틸화 → 간독성·신경병증), 사이클로포스파마이드 아크롤레인(출혈성 방광염 → 메스나).</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수송체</a:t>
            </a:r>
            <a:r>
              <a:rPr sz="2000" b="0" i="0">
                <a:solidFill>
                  <a:srgbClr val="11202B"/>
                </a:solidFill>
                <a:latin typeface="Malgun Gothic"/>
                <a:ea typeface="Malgun Gothic"/>
                <a:cs typeface="Malgun Gothic"/>
              </a:rPr>
              <a:t>: P-gp(ABCB1; 장·BBB·신장 유출 — 디곡신, 다비가트란), BCRP(ABCG2; 로수바스타틴 — 동아시아 Q141K 노출↑ → 저용량 시작), OATP1B1(SLCO1B1; 스타틴 간 흡수), OAT/OCT·MATE(신장 분비 — 메트포르민, 시스플라틴).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약물 상호작용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유도는 새 효소 합성이 필요해 1–2주에 걸쳐 나타나고 중단 후에도 수 주 지속, 억제는 수 시간–수 일 내 즉시 발생.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약물 상호작용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CYP3A4 강력 억제제(클래리스로마이신, 이트라코나졸·케토코나졸, 리토나비르·코비시스타트, 자몽주스(장 CYP3A4), 딜티아젬·베라파밀)</a:t>
                      </a:r>
                    </a:p>
                  </a:txBody>
                  <a:tcPr marL="73152" marR="73152">
                    <a:solidFill>
                      <a:srgbClr val="FFFFFF"/>
                    </a:solidFill>
                  </a:tcPr>
                </a:tc>
                <a:tc>
                  <a:txBody>
                    <a:bodyPr/>
                    <a:lstStyle/>
                    <a:p>
                      <a:r>
                        <a:rPr sz="1500" b="0" i="0">
                          <a:solidFill>
                            <a:srgbClr val="11202B"/>
                          </a:solidFill>
                          <a:latin typeface="Malgun Gothic"/>
                          <a:ea typeface="Malgun Gothic"/>
                          <a:cs typeface="Malgun Gothic"/>
                        </a:rPr>
                        <a:t>+ 심바스타틴·로바스타틴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횡문근융해</a:t>
                      </a:r>
                    </a:p>
                  </a:txBody>
                  <a:tcPr marL="73152" marR="73152">
                    <a:solidFill>
                      <a:srgbClr val="FFFFFF"/>
                    </a:solidFill>
                  </a:tcPr>
                </a:tc>
              </a:tr>
              <a:tr h="365760">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 타크롤리무스·사이클로스포린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신독성</a:t>
                      </a:r>
                    </a:p>
                  </a:txBody>
                  <a:tcPr marL="73152" marR="73152">
                    <a:solidFill>
                      <a:srgbClr val="ECF1F5"/>
                    </a:solidFill>
                  </a:tcPr>
                </a:tc>
              </a:tr>
              <a:tr h="365760">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 미다졸람, 펜타닐</a:t>
                      </a:r>
                    </a:p>
                  </a:txBody>
                  <a:tcPr marL="73152" marR="73152">
                    <a:solidFill>
                      <a:srgbClr val="FFFFFF"/>
                    </a:solidFill>
                  </a:tcPr>
                </a:tc>
                <a:tc>
                  <a:txBody>
                    <a:bodyPr/>
                    <a:lstStyle/>
                    <a:p>
                      <a:r>
                        <a:rPr sz="1500" b="0" i="0">
                          <a:solidFill>
                            <a:srgbClr val="11202B"/>
                          </a:solidFill>
                          <a:latin typeface="Malgun Gothic"/>
                          <a:ea typeface="Malgun Gothic"/>
                          <a:cs typeface="Malgun Gothic"/>
                        </a:rPr>
                        <a:t>과진정·호흡억제</a:t>
                      </a:r>
                    </a:p>
                  </a:txBody>
                  <a:tcPr marL="73152" marR="73152">
                    <a:solidFill>
                      <a:srgbClr val="FFFFFF"/>
                    </a:solidFill>
                  </a:tcPr>
                </a:tc>
              </a:tr>
              <a:tr h="365760">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 콜히친</a:t>
                      </a:r>
                    </a:p>
                  </a:txBody>
                  <a:tcPr marL="73152" marR="73152">
                    <a:solidFill>
                      <a:srgbClr val="ECF1F5"/>
                    </a:solidFill>
                  </a:tcPr>
                </a:tc>
                <a:tc>
                  <a:txBody>
                    <a:bodyPr/>
                    <a:lstStyle/>
                    <a:p>
                      <a:r>
                        <a:rPr sz="1500" b="0" i="0">
                          <a:solidFill>
                            <a:srgbClr val="11202B"/>
                          </a:solidFill>
                          <a:latin typeface="Malgun Gothic"/>
                          <a:ea typeface="Malgun Gothic"/>
                          <a:cs typeface="Malgun Gothic"/>
                        </a:rPr>
                        <a:t>치명적 독성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CYP 유도제(</a:t>
                      </a:r>
                      <a:r>
                        <a:rPr sz="1500" b="1" i="0">
                          <a:solidFill>
                            <a:srgbClr val="11202B"/>
                          </a:solidFill>
                          <a:latin typeface="Malgun Gothic"/>
                          <a:ea typeface="Malgun Gothic"/>
                          <a:cs typeface="Malgun Gothic"/>
                        </a:rPr>
                        <a:t>리팜핀</a:t>
                      </a:r>
                      <a:r>
                        <a:rPr sz="1500" b="0" i="0">
                          <a:solidFill>
                            <a:srgbClr val="11202B"/>
                          </a:solidFill>
                          <a:latin typeface="Malgun Gothic"/>
                          <a:ea typeface="Malgun Gothic"/>
                          <a:cs typeface="Malgun Gothic"/>
                        </a:rPr>
                        <a:t>, 카르바마제핀, 페니토인, 페노바르비탈, </a:t>
                      </a:r>
                      <a:r>
                        <a:rPr sz="1500" b="1" i="0">
                          <a:solidFill>
                            <a:srgbClr val="11202B"/>
                          </a:solidFill>
                          <a:latin typeface="Malgun Gothic"/>
                          <a:ea typeface="Malgun Gothic"/>
                          <a:cs typeface="Malgun Gothic"/>
                        </a:rPr>
                        <a:t>세인트존스워트</a:t>
                      </a:r>
                      <a:r>
                        <a:rPr sz="1500" b="0" i="0">
                          <a:solidFill>
                            <a:srgbClr val="11202B"/>
                          </a:solidFill>
                          <a:latin typeface="Malgun Gothic"/>
                          <a:ea typeface="Malgun Gothic"/>
                          <a:cs typeface="Malgun Gothic"/>
                        </a:rPr>
                        <a:t>, 만성 음주)</a:t>
                      </a:r>
                    </a:p>
                  </a:txBody>
                  <a:tcPr marL="73152" marR="73152">
                    <a:solidFill>
                      <a:srgbClr val="FFFFFF"/>
                    </a:solidFill>
                  </a:tcPr>
                </a:tc>
                <a:tc>
                  <a:txBody>
                    <a:bodyPr/>
                    <a:lstStyle/>
                    <a:p>
                      <a:r>
                        <a:rPr sz="1500" b="0" i="0">
                          <a:solidFill>
                            <a:srgbClr val="11202B"/>
                          </a:solidFill>
                          <a:latin typeface="Malgun Gothic"/>
                          <a:ea typeface="Malgun Gothic"/>
                          <a:cs typeface="Malgun Gothic"/>
                        </a:rPr>
                        <a:t>+ 경구 피임약</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피임 실패</a:t>
                      </a:r>
                    </a:p>
                  </a:txBody>
                  <a:tcPr marL="73152" marR="73152">
                    <a:solidFill>
                      <a:srgbClr val="FFFFFF"/>
                    </a:solidFill>
                  </a:tcPr>
                </a:tc>
              </a:tr>
              <a:tr h="365760">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 와파린, DOAC, 타크롤리무스, 항HIV</a:t>
                      </a:r>
                    </a:p>
                  </a:txBody>
                  <a:tcPr marL="73152" marR="73152">
                    <a:solidFill>
                      <a:srgbClr val="ECF1F5"/>
                    </a:solidFill>
                  </a:tcPr>
                </a:tc>
                <a:tc>
                  <a:txBody>
                    <a:bodyPr/>
                    <a:lstStyle/>
                    <a:p>
                      <a:r>
                        <a:rPr sz="1500" b="0" i="0">
                          <a:solidFill>
                            <a:srgbClr val="11202B"/>
                          </a:solidFill>
                          <a:latin typeface="Malgun Gothic"/>
                          <a:ea typeface="Malgun Gothic"/>
                          <a:cs typeface="Malgun Gothic"/>
                        </a:rPr>
                        <a:t>효과 저하·거부 반응</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CYP2C9 억제(플루코나졸, 아미오다론, 메트로니다졸)</a:t>
                      </a:r>
                    </a:p>
                  </a:txBody>
                  <a:tcPr marL="73152" marR="73152">
                    <a:solidFill>
                      <a:srgbClr val="FFFFFF"/>
                    </a:solidFill>
                  </a:tcPr>
                </a:tc>
                <a:tc>
                  <a:txBody>
                    <a:bodyPr/>
                    <a:lstStyle/>
                    <a:p>
                      <a:r>
                        <a:rPr sz="1500" b="0" i="0">
                          <a:solidFill>
                            <a:srgbClr val="11202B"/>
                          </a:solidFill>
                          <a:latin typeface="Malgun Gothic"/>
                          <a:ea typeface="Malgun Gothic"/>
                          <a:cs typeface="Malgun Gothic"/>
                        </a:rPr>
                        <a:t>+ 와파린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INR 급등 출혈</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CYP2D6 억제(플루옥세틴·파록세틴, 부프로피온)</a:t>
                      </a:r>
                    </a:p>
                  </a:txBody>
                  <a:tcPr marL="73152" marR="73152">
                    <a:solidFill>
                      <a:srgbClr val="ECF1F5"/>
                    </a:solidFill>
                  </a:tcPr>
                </a:tc>
                <a:tc>
                  <a:txBody>
                    <a:bodyPr/>
                    <a:lstStyle/>
                    <a:p>
                      <a:r>
                        <a:rPr sz="1500" b="0" i="0">
                          <a:solidFill>
                            <a:srgbClr val="11202B"/>
                          </a:solidFill>
                          <a:latin typeface="Malgun Gothic"/>
                          <a:ea typeface="Malgun Gothic"/>
                          <a:cs typeface="Malgun Gothic"/>
                        </a:rPr>
                        <a:t>+ 타목시펜</a:t>
                      </a:r>
                    </a:p>
                  </a:txBody>
                  <a:tcPr marL="73152" marR="73152">
                    <a:solidFill>
                      <a:srgbClr val="ECF1F5"/>
                    </a:solidFill>
                  </a:tcPr>
                </a:tc>
                <a:tc>
                  <a:txBody>
                    <a:bodyPr/>
                    <a:lstStyle/>
                    <a:p>
                      <a:r>
                        <a:rPr sz="1500" b="0" i="0">
                          <a:solidFill>
                            <a:srgbClr val="11202B"/>
                          </a:solidFill>
                          <a:latin typeface="Malgun Gothic"/>
                          <a:ea typeface="Malgun Gothic"/>
                          <a:cs typeface="Malgun Gothic"/>
                        </a:rPr>
                        <a:t>효과 저하</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약물 상호작용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CYP2C19 억제(오메프라졸)</a:t>
                      </a:r>
                    </a:p>
                  </a:txBody>
                  <a:tcPr marL="73152" marR="73152">
                    <a:solidFill>
                      <a:srgbClr val="FFFFFF"/>
                    </a:solidFill>
                  </a:tcPr>
                </a:tc>
                <a:tc>
                  <a:txBody>
                    <a:bodyPr/>
                    <a:lstStyle/>
                    <a:p>
                      <a:r>
                        <a:rPr sz="1500" b="0" i="0">
                          <a:solidFill>
                            <a:srgbClr val="11202B"/>
                          </a:solidFill>
                          <a:latin typeface="Malgun Gothic"/>
                          <a:ea typeface="Malgun Gothic"/>
                          <a:cs typeface="Malgun Gothic"/>
                        </a:rPr>
                        <a:t>+ 클로피도그렐</a:t>
                      </a:r>
                    </a:p>
                  </a:txBody>
                  <a:tcPr marL="73152" marR="73152">
                    <a:solidFill>
                      <a:srgbClr val="FFFFFF"/>
                    </a:solidFill>
                  </a:tcPr>
                </a:tc>
                <a:tc>
                  <a:txBody>
                    <a:bodyPr/>
                    <a:lstStyle/>
                    <a:p>
                      <a:r>
                        <a:rPr sz="1500" b="0" i="0">
                          <a:solidFill>
                            <a:srgbClr val="11202B"/>
                          </a:solidFill>
                          <a:latin typeface="Malgun Gothic"/>
                          <a:ea typeface="Malgun Gothic"/>
                          <a:cs typeface="Malgun Gothic"/>
                        </a:rPr>
                        <a:t>활성화 저하(판토프라졸 선호)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CYP1A2 억제(플루복사민, 시프로플록사신)</a:t>
                      </a:r>
                    </a:p>
                  </a:txBody>
                  <a:tcPr marL="73152" marR="73152">
                    <a:solidFill>
                      <a:srgbClr val="ECF1F5"/>
                    </a:solidFill>
                  </a:tcPr>
                </a:tc>
                <a:tc>
                  <a:txBody>
                    <a:bodyPr/>
                    <a:lstStyle/>
                    <a:p>
                      <a:r>
                        <a:rPr sz="1500" b="0" i="0">
                          <a:solidFill>
                            <a:srgbClr val="11202B"/>
                          </a:solidFill>
                          <a:latin typeface="Malgun Gothic"/>
                          <a:ea typeface="Malgun Gothic"/>
                          <a:cs typeface="Malgun Gothic"/>
                        </a:rPr>
                        <a:t>+ 테오필린, 클로자핀</a:t>
                      </a:r>
                    </a:p>
                  </a:txBody>
                  <a:tcPr marL="73152" marR="73152">
                    <a:solidFill>
                      <a:srgbClr val="ECF1F5"/>
                    </a:solidFill>
                  </a:tcPr>
                </a:tc>
                <a:tc>
                  <a:txBody>
                    <a:bodyPr/>
                    <a:lstStyle/>
                    <a:p>
                      <a:r>
                        <a:rPr sz="1500" b="0" i="0">
                          <a:solidFill>
                            <a:srgbClr val="11202B"/>
                          </a:solidFill>
                          <a:latin typeface="Malgun Gothic"/>
                          <a:ea typeface="Malgun Gothic"/>
                          <a:cs typeface="Malgun Gothic"/>
                        </a:rPr>
                        <a:t>독성; 흡연은 1A2 유도(금연 시 클로자핀 농도↑)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P-gp 억제(아미오다론, 베라파밀, 퀴니딘)</a:t>
                      </a:r>
                    </a:p>
                  </a:txBody>
                  <a:tcPr marL="73152" marR="73152">
                    <a:solidFill>
                      <a:srgbClr val="FFFFFF"/>
                    </a:solidFill>
                  </a:tcPr>
                </a:tc>
                <a:tc>
                  <a:txBody>
                    <a:bodyPr/>
                    <a:lstStyle/>
                    <a:p>
                      <a:r>
                        <a:rPr sz="1500" b="0" i="0">
                          <a:solidFill>
                            <a:srgbClr val="11202B"/>
                          </a:solidFill>
                          <a:latin typeface="Malgun Gothic"/>
                          <a:ea typeface="Malgun Gothic"/>
                          <a:cs typeface="Malgun Gothic"/>
                        </a:rPr>
                        <a:t>+ 디곡신</a:t>
                      </a:r>
                    </a:p>
                  </a:txBody>
                  <a:tcPr marL="73152" marR="73152">
                    <a:solidFill>
                      <a:srgbClr val="FFFFFF"/>
                    </a:solidFill>
                  </a:tcPr>
                </a:tc>
                <a:tc>
                  <a:txBody>
                    <a:bodyPr/>
                    <a:lstStyle/>
                    <a:p>
                      <a:r>
                        <a:rPr sz="1500" b="0" i="0">
                          <a:solidFill>
                            <a:srgbClr val="11202B"/>
                          </a:solidFill>
                          <a:latin typeface="Malgun Gothic"/>
                          <a:ea typeface="Malgun Gothic"/>
                          <a:cs typeface="Malgun Gothic"/>
                        </a:rPr>
                        <a:t>디곡신 독성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약력학적</a:t>
                      </a:r>
                    </a:p>
                  </a:txBody>
                  <a:tcPr marL="73152" marR="73152">
                    <a:solidFill>
                      <a:srgbClr val="ECF1F5"/>
                    </a:solidFill>
                  </a:tcPr>
                </a:tc>
                <a:tc>
                  <a:txBody>
                    <a:bodyPr/>
                    <a:lstStyle/>
                    <a:p>
                      <a:r>
                        <a:rPr sz="1500" b="0" i="0">
                          <a:solidFill>
                            <a:srgbClr val="11202B"/>
                          </a:solidFill>
                          <a:latin typeface="Malgun Gothic"/>
                          <a:ea typeface="Malgun Gothic"/>
                          <a:cs typeface="Malgun Gothic"/>
                        </a:rPr>
                        <a:t>QT 연장 약물 병용, 세로토닌 증후군, 출혈(항혈소판 + 항응고 + NSAID), 고칼륨(ACEi + MRA + TMP-SMX)</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약물유전체의 임상 적용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표현형 명명: 저대사자(PM), 중간(IM), 정상(NM), 빠른(RM), 초고속(UM) — 활성 점수(activity score) 체계.</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표현형 전환(phenoconversion)</a:t>
            </a:r>
            <a:r>
              <a:rPr sz="2200" b="0" i="0">
                <a:solidFill>
                  <a:srgbClr val="11202B"/>
                </a:solidFill>
                <a:latin typeface="Malgun Gothic"/>
                <a:ea typeface="Malgun Gothic"/>
                <a:cs typeface="Malgun Gothic"/>
              </a:rPr>
              <a:t>: 유전형이 정상이어도 강한 억제제 병용 시 PM처럼 행동 → 유전형만 보는 해석의 함정.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약물유전체의 임상 적용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300" b="1" i="0">
                          <a:solidFill>
                            <a:srgbClr val="FFFFFF"/>
                          </a:solidFill>
                          <a:latin typeface="Malgun Gothic"/>
                          <a:ea typeface="Malgun Gothic"/>
                          <a:cs typeface="Malgun Gothic"/>
                        </a:rPr>
                        <a:t>표현형</a:t>
                      </a:r>
                    </a:p>
                  </a:txBody>
                  <a:tcPr marL="73152" marR="73152">
                    <a:solidFill>
                      <a:srgbClr val="003C71"/>
                    </a:solidFill>
                  </a:tcPr>
                </a:tc>
                <a:tc>
                  <a:txBody>
                    <a:bodyPr/>
                    <a:lstStyle/>
                    <a:p>
                      <a:r>
                        <a:rPr sz="13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300" b="1" i="0">
                          <a:solidFill>
                            <a:srgbClr val="FFFFFF"/>
                          </a:solidFill>
                          <a:latin typeface="Malgun Gothic"/>
                          <a:ea typeface="Malgun Gothic"/>
                          <a:cs typeface="Malgun Gothic"/>
                        </a:rPr>
                        <a:t>권고(CPIC 등)</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CYP2C19</a:t>
                      </a:r>
                    </a:p>
                  </a:txBody>
                  <a:tcPr marL="73152" marR="73152">
                    <a:solidFill>
                      <a:srgbClr val="FFFFFF"/>
                    </a:solidFill>
                  </a:tcPr>
                </a:tc>
                <a:tc>
                  <a:txBody>
                    <a:bodyPr/>
                    <a:lstStyle/>
                    <a:p>
                      <a:r>
                        <a:rPr sz="1300" b="0" i="0">
                          <a:solidFill>
                            <a:srgbClr val="11202B"/>
                          </a:solidFill>
                          <a:latin typeface="Malgun Gothic"/>
                          <a:ea typeface="Malgun Gothic"/>
                          <a:cs typeface="Malgun Gothic"/>
                        </a:rPr>
                        <a:t>저대사자(PM; *2/*2 등) 동아시아 13–15%, 중간대사자 ~45%</a:t>
                      </a:r>
                    </a:p>
                  </a:txBody>
                  <a:tcPr marL="73152" marR="73152">
                    <a:solidFill>
                      <a:srgbClr val="FFFFFF"/>
                    </a:solidFill>
                  </a:tcPr>
                </a:tc>
                <a:tc>
                  <a:txBody>
                    <a:bodyPr/>
                    <a:lstStyle/>
                    <a:p>
                      <a:r>
                        <a:rPr sz="1300" b="0" i="0">
                          <a:solidFill>
                            <a:srgbClr val="11202B"/>
                          </a:solidFill>
                          <a:latin typeface="Malgun Gothic"/>
                          <a:ea typeface="Malgun Gothic"/>
                          <a:cs typeface="Malgun Gothic"/>
                        </a:rPr>
                        <a:t>클로피도그렐</a:t>
                      </a:r>
                    </a:p>
                  </a:txBody>
                  <a:tcPr marL="73152" marR="73152">
                    <a:solidFill>
                      <a:srgbClr val="FFFFFF"/>
                    </a:solidFill>
                  </a:tcPr>
                </a:tc>
                <a:tc>
                  <a:txBody>
                    <a:bodyPr/>
                    <a:lstStyle/>
                    <a:p>
                      <a:r>
                        <a:rPr sz="1300" b="0" i="0">
                          <a:solidFill>
                            <a:srgbClr val="11202B"/>
                          </a:solidFill>
                          <a:latin typeface="Malgun Gothic"/>
                          <a:ea typeface="Malgun Gothic"/>
                          <a:cs typeface="Malgun Gothic"/>
                        </a:rPr>
                        <a:t>PCI 환자 PM/IM → 티카그렐러·프라수그렐</a:t>
                      </a:r>
                    </a:p>
                  </a:txBody>
                  <a:tcPr marL="73152" marR="73152">
                    <a:solidFill>
                      <a:srgbClr val="FFFFFF"/>
                    </a:solidFill>
                  </a:tcPr>
                </a:tc>
              </a:tr>
              <a:tr h="365760">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초고속(*17)</a:t>
                      </a:r>
                    </a:p>
                  </a:txBody>
                  <a:tcPr marL="73152" marR="73152">
                    <a:solidFill>
                      <a:srgbClr val="ECF1F5"/>
                    </a:solidFill>
                  </a:tcPr>
                </a:tc>
                <a:tc>
                  <a:txBody>
                    <a:bodyPr/>
                    <a:lstStyle/>
                    <a:p>
                      <a:r>
                        <a:rPr sz="1300" b="0" i="0">
                          <a:solidFill>
                            <a:srgbClr val="11202B"/>
                          </a:solidFill>
                          <a:latin typeface="Malgun Gothic"/>
                          <a:ea typeface="Malgun Gothic"/>
                          <a:cs typeface="Malgun Gothic"/>
                        </a:rPr>
                        <a:t>보리코나졸, SSRI(에스시탈로프람)</a:t>
                      </a:r>
                    </a:p>
                  </a:txBody>
                  <a:tcPr marL="73152" marR="73152">
                    <a:solidFill>
                      <a:srgbClr val="ECF1F5"/>
                    </a:solidFill>
                  </a:tcPr>
                </a:tc>
                <a:tc>
                  <a:txBody>
                    <a:bodyPr/>
                    <a:lstStyle/>
                    <a:p>
                      <a:r>
                        <a:rPr sz="1300" b="0" i="0">
                          <a:solidFill>
                            <a:srgbClr val="11202B"/>
                          </a:solidFill>
                          <a:latin typeface="Malgun Gothic"/>
                          <a:ea typeface="Malgun Gothic"/>
                          <a:cs typeface="Malgun Gothic"/>
                        </a:rPr>
                        <a:t>대체·용량 조정</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CYP2D6</a:t>
                      </a:r>
                    </a:p>
                  </a:txBody>
                  <a:tcPr marL="73152" marR="73152">
                    <a:solidFill>
                      <a:srgbClr val="FFFFFF"/>
                    </a:solidFill>
                  </a:tcPr>
                </a:tc>
                <a:tc>
                  <a:txBody>
                    <a:bodyPr/>
                    <a:lstStyle/>
                    <a:p>
                      <a:r>
                        <a:rPr sz="1300" b="0" i="0">
                          <a:solidFill>
                            <a:srgbClr val="11202B"/>
                          </a:solidFill>
                          <a:latin typeface="Malgun Gothic"/>
                          <a:ea typeface="Malgun Gothic"/>
                          <a:cs typeface="Malgun Gothic"/>
                        </a:rPr>
                        <a:t>PM(서양 ~7%, 아시아 ~1%), *10(아시아 흔한 감소 기능), 초고속(복제수 증가)</a:t>
                      </a:r>
                    </a:p>
                  </a:txBody>
                  <a:tcPr marL="73152" marR="73152">
                    <a:solidFill>
                      <a:srgbClr val="FFFFFF"/>
                    </a:solidFill>
                  </a:tcPr>
                </a:tc>
                <a:tc>
                  <a:txBody>
                    <a:bodyPr/>
                    <a:lstStyle/>
                    <a:p>
                      <a:r>
                        <a:rPr sz="1300" b="0" i="0">
                          <a:solidFill>
                            <a:srgbClr val="11202B"/>
                          </a:solidFill>
                          <a:latin typeface="Malgun Gothic"/>
                          <a:ea typeface="Malgun Gothic"/>
                          <a:cs typeface="Malgun Gothic"/>
                        </a:rPr>
                        <a:t>코데인·트라마돌</a:t>
                      </a:r>
                    </a:p>
                  </a:txBody>
                  <a:tcPr marL="73152" marR="73152">
                    <a:solidFill>
                      <a:srgbClr val="FFFFFF"/>
                    </a:solidFill>
                  </a:tcPr>
                </a:tc>
                <a:tc>
                  <a:txBody>
                    <a:bodyPr/>
                    <a:lstStyle/>
                    <a:p>
                      <a:r>
                        <a:rPr sz="1300" b="0" i="0">
                          <a:solidFill>
                            <a:srgbClr val="11202B"/>
                          </a:solidFill>
                          <a:latin typeface="Malgun Gothic"/>
                          <a:ea typeface="Malgun Gothic"/>
                          <a:cs typeface="Malgun Gothic"/>
                        </a:rPr>
                        <a:t>초고속: 모르핀 과다 — 수유모·소아 사망 사례 → 금기 / PM: 무효</a:t>
                      </a:r>
                    </a:p>
                  </a:txBody>
                  <a:tcPr marL="73152" marR="73152">
                    <a:solidFill>
                      <a:srgbClr val="FFFFFF"/>
                    </a:solidFill>
                  </a:tcPr>
                </a:tc>
              </a:tr>
              <a:tr h="365760">
                <a:tc>
                  <a:txBody>
                    <a:bodyPr/>
                    <a:lstStyle/>
                    <a:p/>
                  </a:txBody>
                  <a:tcPr marL="73152" marR="73152">
                    <a:solidFill>
                      <a:srgbClr val="ECF1F5"/>
                    </a:solidFill>
                  </a:tcPr>
                </a:tc>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타목시펜, 아토목세틴, 삼환계, 온단세트론</a:t>
                      </a:r>
                    </a:p>
                  </a:txBody>
                  <a:tcPr marL="73152" marR="73152">
                    <a:solidFill>
                      <a:srgbClr val="ECF1F5"/>
                    </a:solidFill>
                  </a:tcPr>
                </a:tc>
                <a:tc>
                  <a:txBody>
                    <a:bodyPr/>
                    <a:lstStyle/>
                    <a:p>
                      <a:r>
                        <a:rPr sz="1300" b="0" i="0">
                          <a:solidFill>
                            <a:srgbClr val="11202B"/>
                          </a:solidFill>
                          <a:latin typeface="Malgun Gothic"/>
                          <a:ea typeface="Malgun Gothic"/>
                          <a:cs typeface="Malgun Gothic"/>
                        </a:rPr>
                        <a:t>대체·용량</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CYP2C9 + VKORC1</a:t>
                      </a:r>
                    </a:p>
                  </a:txBody>
                  <a:tcPr marL="73152" marR="73152">
                    <a:solidFill>
                      <a:srgbClr val="FFFFFF"/>
                    </a:solidFill>
                  </a:tcPr>
                </a:tc>
                <a:tc>
                  <a:txBody>
                    <a:bodyPr/>
                    <a:lstStyle/>
                    <a:p>
                      <a:r>
                        <a:rPr sz="1300" b="0" i="0">
                          <a:solidFill>
                            <a:srgbClr val="11202B"/>
                          </a:solidFill>
                          <a:latin typeface="Malgun Gothic"/>
                          <a:ea typeface="Malgun Gothic"/>
                          <a:cs typeface="Malgun Gothic"/>
                        </a:rPr>
                        <a:t>2/*3 감소; *VKORC1 -1639G&gt;A(동아시아 A 대립 ~90%)</a:t>
                      </a:r>
                    </a:p>
                  </a:txBody>
                  <a:tcPr marL="73152" marR="73152">
                    <a:solidFill>
                      <a:srgbClr val="FFFFFF"/>
                    </a:solidFill>
                  </a:tcPr>
                </a:tc>
                <a:tc>
                  <a:txBody>
                    <a:bodyPr/>
                    <a:lstStyle/>
                    <a:p>
                      <a:r>
                        <a:rPr sz="1300" b="0" i="0">
                          <a:solidFill>
                            <a:srgbClr val="11202B"/>
                          </a:solidFill>
                          <a:latin typeface="Malgun Gothic"/>
                          <a:ea typeface="Malgun Gothic"/>
                          <a:cs typeface="Malgun Gothic"/>
                        </a:rPr>
                        <a:t>와파린</a:t>
                      </a:r>
                    </a:p>
                  </a:txBody>
                  <a:tcPr marL="73152" marR="73152">
                    <a:solidFill>
                      <a:srgbClr val="FFFFFF"/>
                    </a:solidFill>
                  </a:tcPr>
                </a:tc>
                <a:tc>
                  <a:txBody>
                    <a:bodyPr/>
                    <a:lstStyle/>
                    <a:p>
                      <a:r>
                        <a:rPr sz="1300" b="0" i="0">
                          <a:solidFill>
                            <a:srgbClr val="11202B"/>
                          </a:solidFill>
                          <a:latin typeface="Malgun Gothic"/>
                          <a:ea typeface="Malgun Gothic"/>
                          <a:cs typeface="Malgun Gothic"/>
                        </a:rPr>
                        <a:t>유전형 기반 용량(아시아인 저용량), 페니토인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CYP3A5</a:t>
                      </a:r>
                    </a:p>
                  </a:txBody>
                  <a:tcPr marL="73152" marR="73152">
                    <a:solidFill>
                      <a:srgbClr val="ECF1F5"/>
                    </a:solidFill>
                  </a:tcPr>
                </a:tc>
                <a:tc>
                  <a:txBody>
                    <a:bodyPr/>
                    <a:lstStyle/>
                    <a:p>
                      <a:r>
                        <a:rPr sz="1300" b="0" i="0">
                          <a:solidFill>
                            <a:srgbClr val="11202B"/>
                          </a:solidFill>
                          <a:latin typeface="Malgun Gothic"/>
                          <a:ea typeface="Malgun Gothic"/>
                          <a:cs typeface="Malgun Gothic"/>
                        </a:rPr>
                        <a:t>발현자(*1) vs 비발현(*3/*3; 동아시아 ~50%)</a:t>
                      </a:r>
                    </a:p>
                  </a:txBody>
                  <a:tcPr marL="73152" marR="73152">
                    <a:solidFill>
                      <a:srgbClr val="ECF1F5"/>
                    </a:solidFill>
                  </a:tcPr>
                </a:tc>
                <a:tc>
                  <a:txBody>
                    <a:bodyPr/>
                    <a:lstStyle/>
                    <a:p>
                      <a:r>
                        <a:rPr sz="1300" b="0" i="0">
                          <a:solidFill>
                            <a:srgbClr val="11202B"/>
                          </a:solidFill>
                          <a:latin typeface="Malgun Gothic"/>
                          <a:ea typeface="Malgun Gothic"/>
                          <a:cs typeface="Malgun Gothic"/>
                        </a:rPr>
                        <a:t>타크롤리무스</a:t>
                      </a:r>
                    </a:p>
                  </a:txBody>
                  <a:tcPr marL="73152" marR="73152">
                    <a:solidFill>
                      <a:srgbClr val="ECF1F5"/>
                    </a:solidFill>
                  </a:tcPr>
                </a:tc>
                <a:tc>
                  <a:txBody>
                    <a:bodyPr/>
                    <a:lstStyle/>
                    <a:p>
                      <a:r>
                        <a:rPr sz="1300" b="0" i="0">
                          <a:solidFill>
                            <a:srgbClr val="11202B"/>
                          </a:solidFill>
                          <a:latin typeface="Malgun Gothic"/>
                          <a:ea typeface="Malgun Gothic"/>
                          <a:cs typeface="Malgun Gothic"/>
                        </a:rPr>
                        <a:t>발현자 1.5–2배 증량</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TPMT, NUDT15</a:t>
                      </a:r>
                    </a:p>
                  </a:txBody>
                  <a:tcPr marL="73152" marR="73152">
                    <a:solidFill>
                      <a:srgbClr val="FFFFFF"/>
                    </a:solidFill>
                  </a:tcPr>
                </a:tc>
                <a:tc>
                  <a:txBody>
                    <a:bodyPr/>
                    <a:lstStyle/>
                    <a:p>
                      <a:r>
                        <a:rPr sz="1300" b="0" i="0">
                          <a:solidFill>
                            <a:srgbClr val="11202B"/>
                          </a:solidFill>
                          <a:latin typeface="Malgun Gothic"/>
                          <a:ea typeface="Malgun Gothic"/>
                          <a:cs typeface="Malgun Gothic"/>
                        </a:rPr>
                        <a:t>저활성</a:t>
                      </a:r>
                    </a:p>
                  </a:txBody>
                  <a:tcPr marL="73152" marR="73152">
                    <a:solidFill>
                      <a:srgbClr val="FFFFFF"/>
                    </a:solidFill>
                  </a:tcPr>
                </a:tc>
                <a:tc>
                  <a:txBody>
                    <a:bodyPr/>
                    <a:lstStyle/>
                    <a:p>
                      <a:r>
                        <a:rPr sz="1300" b="0" i="0">
                          <a:solidFill>
                            <a:srgbClr val="11202B"/>
                          </a:solidFill>
                          <a:latin typeface="Malgun Gothic"/>
                          <a:ea typeface="Malgun Gothic"/>
                          <a:cs typeface="Malgun Gothic"/>
                        </a:rPr>
                        <a:t>아자티오프린, 6-MP</a:t>
                      </a:r>
                    </a:p>
                  </a:txBody>
                  <a:tcPr marL="73152" marR="73152">
                    <a:solidFill>
                      <a:srgbClr val="FFFFFF"/>
                    </a:solidFill>
                  </a:tcPr>
                </a:tc>
                <a:tc>
                  <a:txBody>
                    <a:bodyPr/>
                    <a:lstStyle/>
                    <a:p>
                      <a:r>
                        <a:rPr sz="1300" b="0" i="0">
                          <a:solidFill>
                            <a:srgbClr val="11202B"/>
                          </a:solidFill>
                          <a:latin typeface="Malgun Gothic"/>
                          <a:ea typeface="Malgun Gothic"/>
                          <a:cs typeface="Malgun Gothic"/>
                        </a:rPr>
                        <a:t>감량·대체 (B01 L12)</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DPYD</a:t>
                      </a:r>
                    </a:p>
                  </a:txBody>
                  <a:tcPr marL="73152" marR="73152">
                    <a:solidFill>
                      <a:srgbClr val="ECF1F5"/>
                    </a:solidFill>
                  </a:tcPr>
                </a:tc>
                <a:tc>
                  <a:txBody>
                    <a:bodyPr/>
                    <a:lstStyle/>
                    <a:p>
                      <a:r>
                        <a:rPr sz="1300" b="0" i="0">
                          <a:solidFill>
                            <a:srgbClr val="11202B"/>
                          </a:solidFill>
                          <a:latin typeface="Malgun Gothic"/>
                          <a:ea typeface="Malgun Gothic"/>
                          <a:cs typeface="Malgun Gothic"/>
                        </a:rPr>
                        <a:t>감소 기능</a:t>
                      </a:r>
                    </a:p>
                  </a:txBody>
                  <a:tcPr marL="73152" marR="73152">
                    <a:solidFill>
                      <a:srgbClr val="ECF1F5"/>
                    </a:solidFill>
                  </a:tcPr>
                </a:tc>
                <a:tc>
                  <a:txBody>
                    <a:bodyPr/>
                    <a:lstStyle/>
                    <a:p>
                      <a:r>
                        <a:rPr sz="1300" b="0" i="0">
                          <a:solidFill>
                            <a:srgbClr val="11202B"/>
                          </a:solidFill>
                          <a:latin typeface="Malgun Gothic"/>
                          <a:ea typeface="Malgun Gothic"/>
                          <a:cs typeface="Malgun Gothic"/>
                        </a:rPr>
                        <a:t>5-FU, 카페시타빈</a:t>
                      </a:r>
                    </a:p>
                  </a:txBody>
                  <a:tcPr marL="73152" marR="73152">
                    <a:solidFill>
                      <a:srgbClr val="ECF1F5"/>
                    </a:solidFill>
                  </a:tcPr>
                </a:tc>
                <a:tc>
                  <a:txBody>
                    <a:bodyPr/>
                    <a:lstStyle/>
                    <a:p>
                      <a:r>
                        <a:rPr sz="1300" b="0" i="0">
                          <a:solidFill>
                            <a:srgbClr val="11202B"/>
                          </a:solidFill>
                          <a:latin typeface="Malgun Gothic"/>
                          <a:ea typeface="Malgun Gothic"/>
                          <a:cs typeface="Malgun Gothic"/>
                        </a:rPr>
                        <a:t>50% 감량 또는 회피</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약물유전체의 임상 적용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표현형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권고(CPIC 등)</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UGT1A1 *28/*6</a:t>
                      </a:r>
                    </a:p>
                  </a:txBody>
                  <a:tcPr marL="73152" marR="73152">
                    <a:solidFill>
                      <a:srgbClr val="FFFFFF"/>
                    </a:solidFill>
                  </a:tcPr>
                </a:tc>
                <a:tc>
                  <a:txBody>
                    <a:bodyPr/>
                    <a:lstStyle/>
                    <a:p>
                      <a:r>
                        <a:rPr sz="1500" b="0" i="0">
                          <a:solidFill>
                            <a:srgbClr val="11202B"/>
                          </a:solidFill>
                          <a:latin typeface="Malgun Gothic"/>
                          <a:ea typeface="Malgun Gothic"/>
                          <a:cs typeface="Malgun Gothic"/>
                        </a:rPr>
                        <a:t>저활성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이리노테칸, 아타자나비르</a:t>
                      </a:r>
                    </a:p>
                  </a:txBody>
                  <a:tcPr marL="73152" marR="73152">
                    <a:solidFill>
                      <a:srgbClr val="FFFFFF"/>
                    </a:solidFill>
                  </a:tcPr>
                </a:tc>
                <a:tc>
                  <a:txBody>
                    <a:bodyPr/>
                    <a:lstStyle/>
                    <a:p>
                      <a:r>
                        <a:rPr sz="1500" b="0" i="0">
                          <a:solidFill>
                            <a:srgbClr val="11202B"/>
                          </a:solidFill>
                          <a:latin typeface="Malgun Gothic"/>
                          <a:ea typeface="Malgun Gothic"/>
                          <a:cs typeface="Malgun Gothic"/>
                        </a:rPr>
                        <a:t>감량</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SLCO1B1 c.521T&gt;C</a:t>
                      </a:r>
                    </a:p>
                  </a:txBody>
                  <a:tcPr marL="73152" marR="73152">
                    <a:solidFill>
                      <a:srgbClr val="ECF1F5"/>
                    </a:solidFill>
                  </a:tcPr>
                </a:tc>
                <a:tc>
                  <a:txBody>
                    <a:bodyPr/>
                    <a:lstStyle/>
                    <a:p>
                      <a:r>
                        <a:rPr sz="1500" b="0" i="0">
                          <a:solidFill>
                            <a:srgbClr val="11202B"/>
                          </a:solidFill>
                          <a:latin typeface="Malgun Gothic"/>
                          <a:ea typeface="Malgun Gothic"/>
                          <a:cs typeface="Malgun Gothic"/>
                        </a:rPr>
                        <a:t>감소 기능</a:t>
                      </a:r>
                    </a:p>
                  </a:txBody>
                  <a:tcPr marL="73152" marR="73152">
                    <a:solidFill>
                      <a:srgbClr val="ECF1F5"/>
                    </a:solidFill>
                  </a:tcPr>
                </a:tc>
                <a:tc>
                  <a:txBody>
                    <a:bodyPr/>
                    <a:lstStyle/>
                    <a:p>
                      <a:r>
                        <a:rPr sz="1500" b="0" i="0">
                          <a:solidFill>
                            <a:srgbClr val="11202B"/>
                          </a:solidFill>
                          <a:latin typeface="Malgun Gothic"/>
                          <a:ea typeface="Malgun Gothic"/>
                          <a:cs typeface="Malgun Gothic"/>
                        </a:rPr>
                        <a:t>심바스타틴</a:t>
                      </a:r>
                    </a:p>
                  </a:txBody>
                  <a:tcPr marL="73152" marR="73152">
                    <a:solidFill>
                      <a:srgbClr val="ECF1F5"/>
                    </a:solidFill>
                  </a:tcPr>
                </a:tc>
                <a:tc>
                  <a:txBody>
                    <a:bodyPr/>
                    <a:lstStyle/>
                    <a:p>
                      <a:r>
                        <a:rPr sz="1500" b="0" i="0">
                          <a:solidFill>
                            <a:srgbClr val="11202B"/>
                          </a:solidFill>
                          <a:latin typeface="Malgun Gothic"/>
                          <a:ea typeface="Malgun Gothic"/>
                          <a:cs typeface="Malgun Gothic"/>
                        </a:rPr>
                        <a:t>저용량·대체</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NAT2</a:t>
                      </a:r>
                    </a:p>
                  </a:txBody>
                  <a:tcPr marL="73152" marR="73152">
                    <a:solidFill>
                      <a:srgbClr val="FFFFFF"/>
                    </a:solidFill>
                  </a:tcPr>
                </a:tc>
                <a:tc>
                  <a:txBody>
                    <a:bodyPr/>
                    <a:lstStyle/>
                    <a:p>
                      <a:r>
                        <a:rPr sz="1500" b="0" i="0">
                          <a:solidFill>
                            <a:srgbClr val="11202B"/>
                          </a:solidFill>
                          <a:latin typeface="Malgun Gothic"/>
                          <a:ea typeface="Malgun Gothic"/>
                          <a:cs typeface="Malgun Gothic"/>
                        </a:rPr>
                        <a:t>저아세틸화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이소니아지드, 하이드랄라진</a:t>
                      </a:r>
                    </a:p>
                  </a:txBody>
                  <a:tcPr marL="73152" marR="73152">
                    <a:solidFill>
                      <a:srgbClr val="FFFFFF"/>
                    </a:solidFill>
                  </a:tcPr>
                </a:tc>
                <a:tc>
                  <a:txBody>
                    <a:bodyPr/>
                    <a:lstStyle/>
                    <a:p>
                      <a:r>
                        <a:rPr sz="1500" b="0" i="0">
                          <a:solidFill>
                            <a:srgbClr val="11202B"/>
                          </a:solidFill>
                          <a:latin typeface="Malgun Gothic"/>
                          <a:ea typeface="Malgun Gothic"/>
                          <a:cs typeface="Malgun Gothic"/>
                        </a:rPr>
                        <a:t>간독성·약물유발 루푸스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G6PD</a:t>
                      </a:r>
                    </a:p>
                  </a:txBody>
                  <a:tcPr marL="73152" marR="73152">
                    <a:solidFill>
                      <a:srgbClr val="ECF1F5"/>
                    </a:solidFill>
                  </a:tcPr>
                </a:tc>
                <a:tc>
                  <a:txBody>
                    <a:bodyPr/>
                    <a:lstStyle/>
                    <a:p>
                      <a:r>
                        <a:rPr sz="1500" b="0" i="0">
                          <a:solidFill>
                            <a:srgbClr val="11202B"/>
                          </a:solidFill>
                          <a:latin typeface="Malgun Gothic"/>
                          <a:ea typeface="Malgun Gothic"/>
                          <a:cs typeface="Malgun Gothic"/>
                        </a:rPr>
                        <a:t>결핍</a:t>
                      </a:r>
                    </a:p>
                  </a:txBody>
                  <a:tcPr marL="73152" marR="73152">
                    <a:solidFill>
                      <a:srgbClr val="ECF1F5"/>
                    </a:solidFill>
                  </a:tcPr>
                </a:tc>
                <a:tc>
                  <a:txBody>
                    <a:bodyPr/>
                    <a:lstStyle/>
                    <a:p>
                      <a:r>
                        <a:rPr sz="1500" b="0" i="0">
                          <a:solidFill>
                            <a:srgbClr val="11202B"/>
                          </a:solidFill>
                          <a:latin typeface="Malgun Gothic"/>
                          <a:ea typeface="Malgun Gothic"/>
                          <a:cs typeface="Malgun Gothic"/>
                        </a:rPr>
                        <a:t>라스부리카아제, 프리마퀸, 다프손, 메틸렌블루</a:t>
                      </a:r>
                    </a:p>
                  </a:txBody>
                  <a:tcPr marL="73152" marR="73152">
                    <a:solidFill>
                      <a:srgbClr val="ECF1F5"/>
                    </a:solidFill>
                  </a:tcPr>
                </a:tc>
                <a:tc>
                  <a:txBody>
                    <a:bodyPr/>
                    <a:lstStyle/>
                    <a:p>
                      <a:r>
                        <a:rPr sz="1500" b="0" i="0">
                          <a:solidFill>
                            <a:srgbClr val="11202B"/>
                          </a:solidFill>
                          <a:latin typeface="Malgun Gothic"/>
                          <a:ea typeface="Malgun Gothic"/>
                          <a:cs typeface="Malgun Gothic"/>
                        </a:rPr>
                        <a:t>금기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HLA-B*15:02</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카르바마제핀·옥스카르바제핀·페니토인</a:t>
                      </a:r>
                    </a:p>
                  </a:txBody>
                  <a:tcPr marL="73152" marR="73152">
                    <a:solidFill>
                      <a:srgbClr val="FFFFFF"/>
                    </a:solidFill>
                  </a:tcPr>
                </a:tc>
                <a:tc>
                  <a:txBody>
                    <a:bodyPr/>
                    <a:lstStyle/>
                    <a:p>
                      <a:r>
                        <a:rPr sz="1500" b="0" i="0">
                          <a:solidFill>
                            <a:srgbClr val="11202B"/>
                          </a:solidFill>
                          <a:latin typeface="Malgun Gothic"/>
                          <a:ea typeface="Malgun Gothic"/>
                          <a:cs typeface="Malgun Gothic"/>
                        </a:rPr>
                        <a:t>SJS/TEN → 동아시아 투여 전 검사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HLA-A*31:01</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카르바마제핀</a:t>
                      </a:r>
                    </a:p>
                  </a:txBody>
                  <a:tcPr marL="73152" marR="73152">
                    <a:solidFill>
                      <a:srgbClr val="ECF1F5"/>
                    </a:solidFill>
                  </a:tcPr>
                </a:tc>
                <a:tc>
                  <a:txBody>
                    <a:bodyPr/>
                    <a:lstStyle/>
                    <a:p>
                      <a:r>
                        <a:rPr sz="1500" b="0" i="0">
                          <a:solidFill>
                            <a:srgbClr val="11202B"/>
                          </a:solidFill>
                          <a:latin typeface="Malgun Gothic"/>
                          <a:ea typeface="Malgun Gothic"/>
                          <a:cs typeface="Malgun Gothic"/>
                        </a:rPr>
                        <a:t>DRESS·SJS (한국·일본·유럽)</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HLA-B*58:01</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알로퓨리놀</a:t>
                      </a:r>
                    </a:p>
                  </a:txBody>
                  <a:tcPr marL="73152" marR="73152">
                    <a:solidFill>
                      <a:srgbClr val="FFFFFF"/>
                    </a:solidFill>
                  </a:tcPr>
                </a:tc>
                <a:tc>
                  <a:txBody>
                    <a:bodyPr/>
                    <a:lstStyle/>
                    <a:p>
                      <a:r>
                        <a:rPr sz="1500" b="0" i="0">
                          <a:solidFill>
                            <a:srgbClr val="11202B"/>
                          </a:solidFill>
                          <a:latin typeface="Malgun Gothic"/>
                          <a:ea typeface="Malgun Gothic"/>
                          <a:cs typeface="Malgun Gothic"/>
                        </a:rPr>
                        <a:t>SJS/TEN (한국인 대립빈도 ~6–7%)</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HLA-B*57:01</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아바카비르 / 플루클록사실린 간손상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투여 전 필수</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약물유전체의 임상 적용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표현형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권고(CPIC 등)</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RYR1, CACNA1S</a:t>
                      </a:r>
                    </a:p>
                  </a:txBody>
                  <a:tcPr marL="73152" marR="73152">
                    <a:solidFill>
                      <a:srgbClr val="FFFFFF"/>
                    </a:solidFill>
                  </a:tcPr>
                </a:tc>
                <a:tc>
                  <a:txBody>
                    <a:bodyPr/>
                    <a:lstStyle/>
                    <a:p>
                      <a:r>
                        <a:rPr sz="1500" b="0" i="0">
                          <a:solidFill>
                            <a:srgbClr val="11202B"/>
                          </a:solidFill>
                          <a:latin typeface="Malgun Gothic"/>
                          <a:ea typeface="Malgun Gothic"/>
                          <a:cs typeface="Malgun Gothic"/>
                        </a:rPr>
                        <a:t>악성고열 감수성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휘발성 흡입마취제, 숙시닐콜린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금기 → 단트롤렌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BCHE</a:t>
                      </a:r>
                    </a:p>
                  </a:txBody>
                  <a:tcPr marL="73152" marR="73152">
                    <a:solidFill>
                      <a:srgbClr val="ECF1F5"/>
                    </a:solidFill>
                  </a:tcPr>
                </a:tc>
                <a:tc>
                  <a:txBody>
                    <a:bodyPr/>
                    <a:lstStyle/>
                    <a:p>
                      <a:r>
                        <a:rPr sz="1500" b="0" i="0">
                          <a:solidFill>
                            <a:srgbClr val="11202B"/>
                          </a:solidFill>
                          <a:latin typeface="Malgun Gothic"/>
                          <a:ea typeface="Malgun Gothic"/>
                          <a:cs typeface="Malgun Gothic"/>
                        </a:rPr>
                        <a:t>부티릴콜린에스테라아제 결핍</a:t>
                      </a:r>
                    </a:p>
                  </a:txBody>
                  <a:tcPr marL="73152" marR="73152">
                    <a:solidFill>
                      <a:srgbClr val="ECF1F5"/>
                    </a:solidFill>
                  </a:tcPr>
                </a:tc>
                <a:tc>
                  <a:txBody>
                    <a:bodyPr/>
                    <a:lstStyle/>
                    <a:p>
                      <a:r>
                        <a:rPr sz="1500" b="0" i="0">
                          <a:solidFill>
                            <a:srgbClr val="11202B"/>
                          </a:solidFill>
                          <a:latin typeface="Malgun Gothic"/>
                          <a:ea typeface="Malgun Gothic"/>
                          <a:cs typeface="Malgun Gothic"/>
                        </a:rPr>
                        <a:t>숙시닐콜린, 미바쿠리움</a:t>
                      </a:r>
                    </a:p>
                  </a:txBody>
                  <a:tcPr marL="73152" marR="73152">
                    <a:solidFill>
                      <a:srgbClr val="ECF1F5"/>
                    </a:solidFill>
                  </a:tcPr>
                </a:tc>
                <a:tc>
                  <a:txBody>
                    <a:bodyPr/>
                    <a:lstStyle/>
                    <a:p>
                      <a:r>
                        <a:rPr sz="1500" b="0" i="0">
                          <a:solidFill>
                            <a:srgbClr val="11202B"/>
                          </a:solidFill>
                          <a:latin typeface="Malgun Gothic"/>
                          <a:ea typeface="Malgun Gothic"/>
                          <a:cs typeface="Malgun Gothic"/>
                        </a:rPr>
                        <a:t>지속 무호흡</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MT-RNR1 m.1555A&gt;G</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아미노글리코사이드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난청 → 회피</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특수 집단과 약물 유발 간손상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신생아·영아</a:t>
            </a:r>
            <a:r>
              <a:rPr sz="1800" b="0" i="0">
                <a:solidFill>
                  <a:srgbClr val="11202B"/>
                </a:solidFill>
                <a:latin typeface="Malgun Gothic"/>
                <a:ea typeface="Malgun Gothic"/>
                <a:cs typeface="Malgun Gothic"/>
              </a:rPr>
              <a:t>: CYP3A7(태아형) → CYP3A4 전환, UGT 미성숙(클로람페니콜 </a:t>
            </a:r>
            <a:r>
              <a:rPr sz="1800" b="1" i="0">
                <a:solidFill>
                  <a:srgbClr val="11202B"/>
                </a:solidFill>
                <a:latin typeface="Malgun Gothic"/>
                <a:ea typeface="Malgun Gothic"/>
                <a:cs typeface="Malgun Gothic"/>
              </a:rPr>
              <a:t>회색아기 증후군</a:t>
            </a:r>
            <a:r>
              <a:rPr sz="1800" b="0" i="0">
                <a:solidFill>
                  <a:srgbClr val="11202B"/>
                </a:solidFill>
                <a:latin typeface="Malgun Gothic"/>
                <a:ea typeface="Malgun Gothic"/>
                <a:cs typeface="Malgun Gothic"/>
              </a:rPr>
              <a:t>, 신생아 황달), 신기능 미성숙, 체수분 비율 높음(수용성 약물 Vd↑).</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노인</a:t>
            </a:r>
            <a:r>
              <a:rPr sz="1800" b="0" i="0">
                <a:solidFill>
                  <a:srgbClr val="11202B"/>
                </a:solidFill>
                <a:latin typeface="Malgun Gothic"/>
                <a:ea typeface="Malgun Gothic"/>
                <a:cs typeface="Malgun Gothic"/>
              </a:rPr>
              <a:t>: 체지방↑(지용성 약물 Vd↑·t½↑; 벤조디아제핀), 간 혈류·크기 감소(1상 저하, 2상 비교적 보존), GFR 감소(크레아티닌이 정상처럼 보임), 다약제 사용 → </a:t>
            </a:r>
            <a:r>
              <a:rPr sz="1800" b="1" i="0">
                <a:solidFill>
                  <a:srgbClr val="11202B"/>
                </a:solidFill>
                <a:latin typeface="Malgun Gothic"/>
                <a:ea typeface="Malgun Gothic"/>
                <a:cs typeface="Malgun Gothic"/>
              </a:rPr>
              <a:t>Beers 기준</a:t>
            </a:r>
            <a:r>
              <a:rPr sz="1800" b="0" i="0">
                <a:solidFill>
                  <a:srgbClr val="11202B"/>
                </a:solidFill>
                <a:latin typeface="Malgun Gothic"/>
                <a:ea typeface="Malgun Gothic"/>
                <a:cs typeface="Malgun Gothic"/>
              </a:rPr>
              <a:t>(항콜린제, 장기 작용 벤조디아제핀, 1세대 항히스타민 회피).</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임신</a:t>
            </a:r>
            <a:r>
              <a:rPr sz="1800" b="0" i="0">
                <a:solidFill>
                  <a:srgbClr val="11202B"/>
                </a:solidFill>
                <a:latin typeface="Malgun Gothic"/>
                <a:ea typeface="Malgun Gothic"/>
                <a:cs typeface="Malgun Gothic"/>
              </a:rPr>
              <a:t>: Vd·GFR 증가, CYP3A4·2D6·UGT1A4 활성 증가(라모트리진 농도 50% 감소 → 경련 위험·용량 증가 필요), CYP1A2·2C19 감소; 태반 통과·기형성(발프로산 신경관 결손·인지 저하, 와파린 배아병증, ACEi 2–3분기 신발생 장애, 이소트레티노인, 미코페놀레이트, 메토트렉세이트).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특수 집단과 약물 유발 간손상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간부전</a:t>
            </a:r>
            <a:r>
              <a:rPr sz="1800" b="0" i="0">
                <a:solidFill>
                  <a:srgbClr val="11202B"/>
                </a:solidFill>
                <a:latin typeface="Malgun Gothic"/>
                <a:ea typeface="Malgun Gothic"/>
                <a:cs typeface="Malgun Gothic"/>
              </a:rPr>
              <a:t>: 높은 추출률 약물(프로프라놀롤, 모르핀)의 경구 F 크게 증가, 알부민↓; Child-Pugh에 따라 조정, 벤조디아제핀은 로라제팜·옥사제팜(포합만).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신부전</a:t>
            </a:r>
            <a:r>
              <a:rPr sz="1800" b="0" i="0">
                <a:solidFill>
                  <a:srgbClr val="11202B"/>
                </a:solidFill>
                <a:latin typeface="Malgun Gothic"/>
                <a:ea typeface="Malgun Gothic"/>
                <a:cs typeface="Malgun Gothic"/>
              </a:rPr>
              <a:t>: 신배설 약물(아미노글리코사이드, 반코마이신, 메트포르민, DOAC, 가바펜틴, 엔옥사파린) 용량 조정, 활성 대사물 축적(모르핀 M6G, 메페리딘 노르메페리딘 → 경련).</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약물 유발 간손상(DILI)</a:t>
            </a:r>
            <a:r>
              <a:rPr sz="1800" b="0" i="0">
                <a:solidFill>
                  <a:srgbClr val="11202B"/>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내재형(용량 의존, 예측 가능): 아세트아미노펜(&gt;150 mg/kg 또는 4 g/일 초과·위험인자 → 루맥-매슈 노모그램, NAC).</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특이형(예측 불가, 면역·대사 기전): 아목시실린-클라불란산(가장 흔한 원인; 담즙정체형, HLA-DRB1*15:01), 이소니아지드, 항결핵제, 발프로산, 한약·건강보조제(한국에서 중요), 면역관문억제제.</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특수 집단과 약물 유발 간손상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1" i="0">
                <a:solidFill>
                  <a:srgbClr val="2E3F4C"/>
                </a:solidFill>
                <a:latin typeface="Malgun Gothic"/>
                <a:ea typeface="Malgun Gothic"/>
                <a:cs typeface="Malgun Gothic"/>
              </a:rPr>
              <a:t>해리 법칙(Hy's law)</a:t>
            </a:r>
            <a:r>
              <a:rPr sz="2000" b="0" i="0">
                <a:solidFill>
                  <a:srgbClr val="2E3F4C"/>
                </a:solidFill>
                <a:latin typeface="Malgun Gothic"/>
                <a:ea typeface="Malgun Gothic"/>
                <a:cs typeface="Malgun Gothic"/>
              </a:rPr>
              <a:t>: ALT &gt;3× ULN + 빌리루빈 &gt;2× ULN(담즙정체 없음) → 사망·이식 위험 약 10%; 신약 개발의 핵심 안전 신호.</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RUCAM 인과성 평가, 의심 약물 즉시 중단.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선제적 약물유전체 패널을 전자의무기록 경고와 연계하는 시스템(미국 PREDICT, 유럽 U-PGx)이 부작용 감소를 입증했으며, 한국에서도 일부 병원이 HLA·CYP 패널을 도입하고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장기칩(liver-on-chip), iPSC 간세포 오가노이드, 인간 간 키메라 마우스가 DILI·상호작용 예측 도구로 개발되고, 2022년 미국 FDA 현대화법 2.0은 동물시험 외 대체 모델을 허용했다.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장내 미생물의 약물 대사(76종 장내 세균이 271개 약물 대사, Zimmermann et al., Nature 2019)가 개인 간 약물 반응 차이의 새로운 축으로 주목된다.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약동학은 F·Vd·CL·t½로 기술하며, 포화(0차) 동역학 약물은 소폭 증량에도 농도가 급증한다.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CYP3A4가 약물 대사의 절반을 담당하고, 2상 포합과 수송체(P-gp, OATP, BCRP)가 노출을 함께 결정한다.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리팜핀·카르바마제핀은 유도, 아졸·마크로라이드·리토나비르·자몽은 억제의 대표이며 임상적으로 치명적 조합을 알아야 한다.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CYP2C19–클로피도그렐, CYP2D6–코데인, HLA–카르바마제핀/알로퓨리놀/아바카비르, TPMT/NUDT15, DPYD는 대표적 약물유전체 적용 사례이다.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소아·노인·임신·간신부전에서는 대사·배설 변화를 고려해 용량을 조정하고, DILI는 해리 법칙으로 중증도를 판단한다.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관상동맥 스텐트 시술 후 클로피도그렐을 복용하던 환자가 스텐트 혈전증을 겪었다. 유전형 검사 결과 *CYP2C19*2/*2*였다. 기전과 대안은?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클로피도그렐은 CYP2C19에 의해 활성 티올 대사물로 전환되는 전구약물이다. *2/*2 저대사자는 활성화가 크게 떨어져 혈소판 억제가 불충분하므로 혈전 위험이 높다. CYP2C19 비의존 P2Y12 억제제인 티카그렐러 또는 프라수그렐로 대체한다.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신장이식 후 타크롤리무스 농도가 안정적이던 환자에게 결핵 치료로 리팜핀을 추가했다. 예상되는 문제와 대응은?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리팜핀은 PXR을 통해 CYP3A4와 P-gp를 강력히 유도해 타크롤리무스 청소율을 크게 높이므로(1–2주에 걸쳐) 혈중 농도가 급감해 급성 거부 반응 위험이 생긴다. 타크롤리무스 용량을 3–5배 이상 증량하며 농도를 자주 측정하거나, 가능하면 리파부틴(유도 작용이 약함)으로 대체한다. 리팜핀 중단 시에는 반대로 독성 위험이 생긴다.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수유 중인 산모가 제왕절개 후 코데인을 복용했고 신생아가 무호흡으로 사망했다. 약물유전체적 설명은?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산모가 CYP2D6 초고속 대사자(유전자 복제수 증가)여서 코데인이 모르핀으로 과도하게 전환되었고, 모르핀이 모유로 다량 분비되어 신생아에게 호흡억제를 일으켰다. 이에 따라 수유부와 12세 미만 소아에게 코데인·트라마돌 사용이 금기 또는 경고 대상이 되었다.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임신 중 라모트리진을 복용하는 뇌전증 환자에게서 경련이 증가했다. 기전과 관리 방법은?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임신 중 에스트로겐 증가로 UGT1A4 글루쿠론산 포합이 유도되고 GFR이 증가해 라모트리진 청소율이 50–300% 증가하므로 혈중 농도가 떨어진다. 임신 전 기준 농도를 측정해 두고 임신 중 4주마다 농도를 확인하며 용량을 늘리고, 출산 후에는 2–3주 내 청소율이 빠르게 정상화되므로 용량을 다시 줄여 독성을 피한다.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Brunton LL, Knollmann BC (eds). Goodman &amp; Gilman's The Pharmacological Basis of Therapeutics, 14th ed. McGraw Hill, 2023.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Relling MV, Evans WE. Pharmacogenomics in the clinic. Nature 2015;526:343–350.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Clinical Pharmacogenetics Implementation Consortium (CPIC) guidelines. cpicpgx.org.</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Andrade RJ et al. Drug-induced liver injury. Nat Rev Dis Primers 2019;5:58.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B03-L10  ·  약물대사와 약물유전체학</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Zimmermann M et al. Mapping human microbiome drug metabolism by gut bacteria and their genes. Nature 2019;570:462–467.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