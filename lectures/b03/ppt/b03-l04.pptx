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길버트 증후군(UGT1A1 활성 저하에 의한 비포합 고빌리루빈혈증; 공복·감염 시 악화)이다. 양성으로 치료가 필요 없지만 이리노테칸(SN-38 포합 저하로 중증 호중구감소·설사), 아타자나비르·인디나비르 등 UGT1A1 의존 약물 사용 시 주의가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포합 빌리루빈 우세 상승, 소변 빌리루빈 양성, 소변 유로빌리노겐 감소·소실(장으로 빌리루빈이 가지 않음), ALP·GGT 현저 상승, 담즙산 상승(가려움), 장기간이면 지용성 비타민 K 흡수 장애로 INR 상승(비타민 K 정주로 교정됨). 영상으로 담관 확장 여부를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만성 염증 빈혈은 혈청 철·트랜스페린 포화도가 낮지만 페리틴은 정상·증가하고 TIBC는 정상·감소한다. IL-6가 간 헵시딘을 증가시켜 페로포틴을 분해하므로 장 흡수와 대식세포 철 방출이 막혀 철이 저장고에 갇히기 때문이다. 철결핍빈혈은 페리틴이 낮고 TIBC가 증가하며, 가용성 트랜스페린 수용체가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셀리악병 환자에서 선택적 IgA 결핍의 빈도가 일반 인구보다 높아(약 2–3%), IgA 결핍이면 항-tTG IgA가 위음성이 된다. 총 IgA가 낮으면 IgG 기반 검사(항-DGP IgG, tTG IgG)를 사용하며, 검사는 글루텐 섭취 중에 시행해야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소화간대사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빌리루빈·담즙산 대사와 위장관 소화흡수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Bilirubin and Bile Acid Metabolism, Digestion and Absorption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B03-L04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빌리루빈의 생성·운반·포합·배설 경로와 황달의 감별(비포합/포합)을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고빌리루빈혈증(길버트, 크리글러-나자르, 두빈-존슨, 로터)과 신생아 황달을 비교한다.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담즙산 합성·장간순환·FXR/FGF19 조절과 담즙정체 질환·약물을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탄수화물·단백질·지질 소화흡수의 효소와 수송체, 흡수장애 질환을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철·구리·비타민 B12의 흡수 대사와 관련 질환을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빌리루빈 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고빌리루빈혈증과 신생아 황달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담즙산 대사와 장간순환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탄수화물과 단백질의 소화흡수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 소화흡수와 흡수장애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철, 구리, 비타민 B12의 흡수와 대사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빌리루빈 대사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생성: 하루 약 250–350 mg, 80%는 노화 적혈구 헴(비장 대식세포), 20%는 무효 조혈·간 헴 단백(사이토크롬).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→ (HO-1) 빌리버딘 → (빌리버딘 환원효소)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비포합 빌리루빈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(지용성, 알부민 결합, 소변 배설 안 됨; 유리형은 혈액뇌장벽 통과 → 핵황달).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 흡수: OATP1B1/1B3 → 세포 내 리간딘(GST) → 소포체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UGT1A1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글루쿠론산 2개 포합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포합 빌리루빈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(수용성) → 소관막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MRP2(ABCC2)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담즙 배설(속도결정 단계). 일부는 MRP3로 혈액으로 되돌아가 OATP로 재흡수('간세포 호핑').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장: 세균 β-글루쿠로니다아제·환원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유로빌리노겐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일부 재흡수(장간순환·소변 배설) / 스테르코빌린(갈색 변).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빌리루빈 대사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측정: 반 덴 베르그 반응 — 직접(포합 + 델타 빌리루빈) / 간접(비포합 = 총 − 직접).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델타 빌리루빈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알부민에 공유결합한 포합형으로 반감기가 길어(~19일) 회복기 황달 지속을 설명.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빌리루빈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소변 빌리루빈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소변 유로빌리노겐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 색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비포합 우세 (전간성)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용혈, 무효 조혈, 길버트, 크리글러-나자르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증가(용혈)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정상/진함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포합 우세 – 간세포성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간염, 간경변, 약물, 두빈-존슨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증가/정상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포합 우세 – 담즙정체/폐쇄성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담석, 췌두부암, PBC, PSC, 담도폐쇄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양성(진한 소변)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감소/없음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회색(무담즙변)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유전성 고빌리루빈혈증과 신생아 황달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생리적 황달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적혈구 수명 짧음(80–90일)·HbF 높음 + UGT1A1 미성숙 + 장간순환 증가(장내 세균 부족, β-글루쿠로니다아제) → 생후 2–4일 정점, 비포합.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병적 황달 신호: 생후 24시간 내 황달, 빠른 상승(&gt;0.2 mg/dL/h), 2주 이상 지속(만삭),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포합 빌리루빈 &gt;1 mg/dL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(담도폐쇄 등 담즙정체 — 응급 평가).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광선요법: 청록색 빛(460–490 nm)이 빌리루빈을 수용성 구조 이성질체(루미루빈) 및 광이성질체로 바꿔 포합 없이 배설.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모유 황달(모유 수유 황달 vs 모유 황달: 섭취 부족 vs 모유 β-글루쿠로니다아제·인자).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유전성 고빌리루빈혈증과 신생아 황달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빌리루빈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길버트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UGT1A1 프로모터 TA 반복(28; 서양) / *UGT1A1*6 G71R(동아시아)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비포합, 대개 &lt;3–4 mg/dL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인구 5–10%; 공복·스트레스·감염 시 상승; 양성;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이리노테칸 독성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↑; 아타자나비르 시 황달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크리글러-나자르 1형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UGT1A1 완전 결손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비포합 20–50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핵황달; 광선요법 평생, 간이식; 유전자치료 시험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크리글러-나자르 2형(아리아스)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UGT1A1 &lt;10%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6–20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페노바르비탈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 반응(UGT 유도)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두빈-존슨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ABCC2(MRP2)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흑색 간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(에피네프린 대사물 색소), 소변 코프로포르피린 I 증가; 양성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SLCO1B1+SLCO1B3 동시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색 간, 양성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유전성 고빌리루빈혈증과 신생아 황달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담도폐쇄증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신생아 담즙정체의 가장 흔한 원인이며 생후 60일 이내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카사이 문합술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시행해야 예후가 좋다. 대변 색 카드 선별(대만·일본·한국 도입)이 조기 발견에 효과적이다. 소아 간이식의 가장 흔한 적응증이다.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담즙산 대사와 장간순환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합성(간): 콜레스테롤 → 고전 경로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CYP7A1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(속도결정) / 대체 경로 CYP27A1 → 1차 담즙산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콜산(CA)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케노데옥시콜산(CDCA)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글리신/타우린 포합(pKa↓, 이온화 → 장 흡수 방지·미셀 형성) → BSEP(ABCB11)로 담즙 분비. 인지질은 MDR3(ABCB4), 콜레스테롤은 ABCG5/8.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장: 지방 미셀 형성 → 회장 말단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ASBT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95% 재흡수 → 문맥 → 간 NTCP 흡수(장간순환; 하루 6–10회 순환, 풀 3–5 g). 대장 세균이 탈포합·7α-탈수산화 → 2차 담즙산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데옥시콜산(DCA)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리토콜산(LCA; 독성, 황산화로 해독).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담즙산 대사와 장간순환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조절: 담즙산 → 회장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FXR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FGF19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간 FGFR4/β-Klotho → CYP7A1 억제; 간 FXR → SHP → CYP7A1 억제, BSEP 유도.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TGR5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(GPCR): GLP-1 분비, 갈색지방 열생성, 담낭 이완.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담즙산은 '호르몬'이자 미생물 생태 조절자이며 비만대사수술 후 담즙산 증가가 대사 개선에 기여한다.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담즙산 대사와 장간순환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질환·약물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진행성 가족성 간내 담즙정체(PFIC)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1형 ATP8B1, 2형 ABCB11(BSEP; HCC 위험), 3형 ABCB4(MDR3; GGT 높음)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IBAT 억제제 오데빅시밧, 마랄릭시밧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(가려움·담즙산 감소)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알라질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JAG1/NOTCH2 — 담관 부족, 나비 척추, 후배아환, 말초 폐동맥 협착 → 마랄릭시밧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원발성 담즙성 담관염(PBC)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항미토콘드리아 항체(PDC-E2), 중년 여성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UDCA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불응 시 오베티콜산(FXR 작용제; 간경변 환자 간손상으로 사용 제한),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엘라피브라노르·셀라델파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(PPAR 작용제, 2024 승인)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원발성 경화성 담관염(PSC)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궤양성 대장염 동반, 구슬 모양 담관, 담관암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임신성 간내 담즙정체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3분기 가려움, 담즙산 &gt;40 µmol/L 시 태아 사망 위험 → UDCA, 조기 분만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담즙산 설사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회장 절제·크론병 → 대장에서 Cl⁻ 분비 → 담즙산 결합제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담즙산 합성 결손(CYP27A1 뇌건황색종증)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콜레스탄올 축적: 건황색종, 백내장, 소아 설사, 신경학적 악화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CDCA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보충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콜레스테롤 담석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담즙 콜레스테롤 과포화(콜레스테롤 &gt; 담즙산 + 인지질 용해 능력), 핵형성, 담낭 운동 저하 — 여성, 비만, 급격한 체중 감소, 임신; ABCG8 D19H 변이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탄수화물과 단백질의 소화흡수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침·췌장 α-아밀라아제(α-1,4 → 말토스, 말토트리오스, α-한계덱스트린) → 솔가장자리 이당류분해효소: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수크라아제-이소말타아제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말타아제-글루코아밀라아제,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락타아제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(β-갈락토시다아제), 트레할라아제 → 단당류 → SGLT1(포도당·갈락토스), GLUT5(과당) → 기저측 GLUT2.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락타아제 비지속성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(성인 젖당불내증): 전 세계 약 65–70%, 동아시아 90% 이상. 젖당이 대장에서 발효 → H₂·CO₂·단쇄지방산 → 복부팽만·삼투성 설사. 수소 호기 검사로 진단.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선천성 수크라아제-이소말타아제 결핍: 영아 설사(자당 도입 시) → 사크로시다아제 효소.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포도당-갈락토스 흡수장애(SLC5A1): 신생아 심한 설사 → 과당 기반 분유.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탄수화물과 단백질의 소화흡수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펩신(위) → 트립신·키모트립신·엘라스테이스·카복시펩티다아제(췌장;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엔테로펩티다아제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트립시노겐 활성 → 연쇄 활성) → 솔가장자리 펩티다아제 → 아미노산 수송체(B⁰AT1, b⁰⁺AT 등)와 다이/트라이펩타이드 PEPT1.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엔테로펩티다아제 결핍: 영아 부종·성장 장애·저단백혈증.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유전성 췌장염: PRSS1 기능획득(트립신 자가분해 저항) → 반복 췌장염, 췌장암 위험; SPINK1, CFTR, CTRC 변이.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지질 소화흡수와 흡수장애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혀·위 리파아제(신생아에서 중요)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췌장 리파아제 + 콜리파아제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(담즙산 미셀 표면에서 작용) → 2-모노아실글리세롤 + 지방산; 콜레스테롤 에스터라아제; 포스포리파아제 A₂.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(담즙산 + 인지질 + 2-MG + 지방산 + 콜레스테롤 + 지용성 비타민) → 솔가장자리 흡수(CD36, NPC1L1 콜레스테롤 — 에제티미브 표적).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장세포 내: TG 재합성(MGAT/DGAT)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apoB-48에 지질 적재 → 킬로미크론 → 림프. 중쇄지방산(MCT; C8–C12)은 미셀·킬로미크론 없이 문맥으로 직접 흡수.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지용성 비타민 결핍: A(야맹증, 각막연화), D(골연화), E(척수소뇌 변성, 용혈), K(INR 상승, 출혈).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지질 소화흡수와 흡수장애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흡수장애 분류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관강 내(소화 장애)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췌장염·낭성섬유증(췌장 외분비 부전), 담즙산 부족(담즙정체, 회장 절제), 소장 세균 과증식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지방변, 대변 엘라스테이스-1 저하 → 췌장효소 대체(PERT)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셀리악병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(HLA-DQ2/DQ8, 글루텐 → tTG 항체, 융모 위축; 철결핍·골다공증·포진상 피부염), 열대 스프루, 휘플병(PAS 양성 대식세포), 이당류분해효소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항-tTG IgA(총 IgA 확인), 십이지장 생검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흡수 후(운반)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무베타지단백혈증, 장림프관확장증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극세포, 림프구감소·저알부민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구리, 비타민 B12의 흡수와 대사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(하루 흡수 1–2 mg, 배설 조절 없음 → 흡수에서 조절):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비헴철 Fe³⁺ → 솔가장자리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DCYTB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환원 → Fe²⁺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DMT1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흡수 → 페리틴 저장 또는 기저측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페로포틴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배출 → 헤페스틴 산화 → 트랜스페린. 헴철은 별도 경로(수송체·세포내섭취; 기전 미확정)로 흡수된 뒤 HO-1로 철이 유리된다.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헵시딘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(간 분비): 페로포틴 결합·분해 → 흡수·대식세포 철 방출 차단. 철 과잉·염증(IL-6–STAT3)이 증가시키고, 빈혈·저산소·적혈구 생성(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에리트로페론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)이 억제.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구리, 비타민 B12의 흡수와 대사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질환: 철결핍빈혈(페리틴 &lt;30 ng/mL), </a:t>
            </a:r>
            <a:r>
              <a:rPr sz="14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만성 염증 빈혈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(헵시딘↑ → 페리틴 정상·높음, 트랜스페린 포화도 낮음), </a:t>
            </a:r>
            <a:r>
              <a:rPr sz="14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유전성 혈색소증</a:t>
            </a:r>
            <a:r>
              <a:rPr sz="14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(HFE C282Y — 북유럽; 헵시딘 상대 결핍 → 철 과흡수 → 간경변·당뇨·청동 피부·관절병증·심근병증; 사혈), 철 불응성 철결핍빈혈(TMPRSS6 → 헵시딘↑).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장 CTR1 흡수 → ATP7A로 기저측 배출(결손: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멘케스병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→ 간 → ATP7B가 세룰로플라스민에 적재·담즙 배설(결손: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윌슨병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간·신경·카이저-플라이셔 고리, 세룰로플라스민↓, 24시간 소변 구리↑ → 페니실라민·트리엔틴·아연).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B12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식이 단백 결합 → 위산·펩신 유리 → 침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합토코린(R 단백)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결합 → 십이지장 췌장 단백분해로 유리 → 위벽세포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내인자(IF)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결합 → 회장 말단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큐빌린–앰니오네스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수용체 흡수 → 트랜스코발라민 II.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구리, 비타민 B12의 흡수와 대사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결핍 원인: 악성빈혈(항IF·항벽세포 항체, 위축성 위염), 위절제·비만수술, 회장 절제·크론병, 메트포르민·PPI 장기 복용, 엄격한 채식, 광절열두조충, 질소 산화물(N₂O; 코발라민 산화 → 급성 척수병증).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결과: 거대적모구빈혈 +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아급성 연합 변성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(후삭·측삭), 말초신경병증, 인지장애; MMA·호모시스테인 상승(B01 L05, L10).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구리, 비타민 B12의 흡수와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아산화질소(웃음 가스) 남용 젊은 성인의 급성 척수병증·신경병증이 증가하고 있다. 혈청 B12는 정상일 수 있으나 MMA·호모시스테인이 상승하며 MRI에서 경수 후삭의 '역 V자' T2 고신호를 보인다. 비경구 B12 즉시 투여가 필요하다.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담즙산–미생물–숙주 축: 장내 미생물이 만드는 담즙산 접합체(MCA, 아미노산 접합 담즙산 — 새로운 '미생물 접합 담즙산' 수백 종 발견, Quinn et al., Nature 2020)가 면역과 대사를 조절한다는 연구가 확장되고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크리글러-나자르 1형에 대한 AAV8-UGT1A1 유전자 치료가 광선요법 의존도를 줄였으며, 윌슨병 AAV-ATP7B 치료와 구리 결합 약물(비스-콜린 테트라티오몰리브덴산은 개발 중단)이 연구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헵시딘 조절제(헵시딘 모방 루스페르타이드 — 진성적혈구증가증 3상 성공, 헵시딘 억제제 — 염증 빈혈)가 철 대사 질환 치료를 확장하고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빌리루빈은 UGT1A1 포합과 MRP2 배설을 거치며, 황달은 비포합(용혈·길버트)과 포합(간세포성·담즙정체)으로 감별한다.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크리글러-나자르(UGT1A1)·두빈-존슨(MRP2)·로터(OATP)는 유전성 고빌리루빈혈증이고, 신생아 포합 황달은 담도폐쇄 응급 평가가 필요하다.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담즙산은 CYP7A1이 합성하고 장간순환과 FXR–FGF19가 조절하며, PFIC·PBC·담석은 이 경로의 이상이다.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탄수화물(락타아제·SGLT1), 단백질(엔테로펩티다아제·트립신), 지질(리파아제·미셀·MTP)의 단계별 결손이 흡수장애를 만든다.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철은 헵시딘–페로포틴, 구리는 ATP7A/7B, B12는 내인자–큐빌린 경로로 조절되며 각각의 결손이 특징적 질환을 일으킨다.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25세 남성이 감기 후 경미한 황달을 보였다. 총 빌리루빈 3.2, 직접 0.3 mg/dL, 혈색소·망상적혈구·간효소 정상이다. 진단과 임상적 의미는?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길버트 증후군(UGT1A1 활성 저하에 의한 비포합 고빌리루빈혈증; 공복·감염 시 악화)이다. 양성으로 치료가 필요 없지만 이리노테칸(SN-38 포합 저하로 중증 호중구감소·설사), 아타자나비르·인디나비르 등 UGT1A1 의존 약물 사용 시 주의가 필요하다.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무담즙변(회색 변), 진한 소변, 가려움을 동반한 황달 환자의 검사 소견으로 예상되는 것은?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포합 빌리루빈 우세 상승, 소변 빌리루빈 양성, 소변 유로빌리노겐 감소·소실(장으로 빌리루빈이 가지 않음), ALP·GGT 현저 상승, 담즙산 상승(가려움), 장기간이면 지용성 비타민 K 흡수 장애로 INR 상승(비타민 K 정주로 교정됨). 영상으로 담관 확장 여부를 확인한다.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염증 질환 환자의 빈혈을 철결핍빈혈과 구분하는 철 지표 패턴과 그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만성 염증 빈혈은 혈청 철·트랜스페린 포화도가 낮지만 페리틴은 정상·증가하고 TIBC는 정상·감소한다. IL-6가 간 헵시딘을 증가시켜 페로포틴을 분해하므로 장 흡수와 대식세포 철 방출이 막혀 철이 저장고에 갇히기 때문이다. 철결핍빈혈은 페리틴이 낮고 TIBC가 증가하며, 가용성 트랜스페린 수용체가 증가한다.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셀리악병 선별검사로 항-tTG IgA를 측정할 때 총 IgA를 함께 측정하는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셀리악병 환자에서 선택적 IgA 결핍의 빈도가 일반 인구보다 높아(약 2–3%), IgA 결핍이면 항-tTG IgA가 위음성이 된다. 총 IgA가 낮으면 IgG 기반 검사(항-DGP IgG, tTG IgG)를 사용하며, 검사는 글루텐 섭취 중에 시행해야 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Erlinger S, Arias IM, Dhumeaux D. Inherited disorders of bilirubin transport and conjugation. Gastroenterology 2014;146:1625–1638.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Fuchs CD, Trauner M. Role of bile acids and their receptors in gastrointestinal and hepatic pathophysiology. Nat Rev Gastroenterol Hepatol 2022;19:432–450.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Muckenthaler MU et al. A red carpet for iron metabolism. Cell 2017;168:344–361.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B03-L04  ·  빌리루빈·담즙산 대사와 위장관 소화흡수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Stabler SP. Vitamin B12 deficiency. N Engl J Med 2013;368:149–160.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Kemper AR et al. Clinical practice guideline revision: management of hyperbilirubinemia in the newborn infant ≥35 weeks. Pediatrics 2022;150:e2022058859.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