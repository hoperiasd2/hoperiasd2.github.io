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심장은 매일 약 6 kg의 ATP를 회전시키지만 ATP 저장은 수 초 분량(~5 mM)에 불과하다. 따라서 끊임없는 산화적 인산화(ATP의 ~95%)가 필수이다.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같은 양의 산소로 생산하는 ATP가 포도당 산화(P/O 약 2.58)가 지방산 산화(약 2.33)보다 많아 산소 효율이 좋다. 또한 해당과 포도당 산화의 짝짓기가 개선되면 젖산·H⁺ 축적이 줄어 Na⁺·Ca²⁺ 과부하가 감소한다. 트리메타지딘(3-KAT 억제), 퍼헥실린(CPT1 억제)이 이 원리이다.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다논병(LAMP2 결손, X연관). LAMP2는 자가포식소체-리소좀 융합(샤페론 매개 자가포식)에 필요하므로 결손 시 자가포식 공포와 글리코겐이 심근·골격근에 축적되어 비대 심근병증, 전도 이상, 근병증이 생긴다. 예후가 나빠 조기 심장이식을 고려하며 AAV 유전자 치료가 시험 중이다.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재관류 시 산소 공급과 함께 축적된 숙신산의 빠른 산화가 역전자전달로 ROS를 폭발적으로 만들고, 허혈 중 쌓인 Ca²⁺ 과부하와 pH 정상화(허혈 중 산성 pH는 mPTP를 억제)가 겹쳐 mPTP가 열린다. 그 결과 막전위가 소실되어 ATP 합성효소가 역방향으로 ATP를 소모하고, 미토콘드리아 팽창·외막 파열로 사이토크롬 c 방출과 괴사·자멸이 일어난다.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(1) 근위세뇨관 Na⁺ 재흡수 억제로 나트륨이뇨·혈장량 감소 및 세뇨관-사구체 되먹임 회복. (2) 경도 케톤혈증으로 심근에 효율적 연료 공급과 기아 모방 신호(AMPK/SIRT1, 자가포식). (3) 신장 피질 저산소 해소로 EPO 증가·헤마토크리트 상승, 염증·섬유화 감소. 그 외 심근 NHE1 억제 가설이 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3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480560"/>
            <a:ext cx="12191695" cy="73152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8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B03 중개의학과 생화학  ·  심혈관대사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698480" cy="201168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심근 에너지대사와 심부전</a:t>
            </a:r>
          </a:p>
          <a:p>
            <a:r>
              <a:rPr sz="2000" b="0" i="0">
                <a:solidFill>
                  <a:srgbClr val="C2CDD6"/>
                </a:solidFill>
                <a:latin typeface="Malgun Gothic"/>
                <a:ea typeface="Malgun Gothic"/>
                <a:cs typeface="Malgun Gothic"/>
              </a:rPr>
              <a:t>Myocardial Energy Metabolism and Heart Failure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75488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B03-L02</a:t>
            </a:r>
          </a:p>
          <a:p>
            <a:r>
              <a:rPr sz="1400" b="0" i="0">
                <a:solidFill>
                  <a:srgbClr val="C2CDD6"/>
                </a:solidFill>
                <a:latin typeface="Malgun Gothic"/>
                <a:ea typeface="Malgun Gothic"/>
                <a:cs typeface="Malgun Gothic"/>
              </a:rPr>
              <a:t>의학생화학 · 의학분자생물학 · 신경과학 강의록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GOALS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B03-L02  ·  심근 에너지대사와 심부전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심근의 연료 선택(지방산·포도당·젖산·케톤·아미노산)과 랜들 회로를 설명한다.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2.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포스포크레아틴 셔틀과 흥분-수축 연관의 에너지 비용을 설명한다.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3.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허혈·재관류의 대사 변화와 재관류 손상 기전을 설명한다.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4.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심부전(HFrEF/HFpEF)의 대사 재프로그래밍과 '연료가 고갈된 엔진' 가설을 설명한다.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5.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대사 심근병증(당원병, 파브리, 아밀로이드, 미토콘드리아)과 심부전 약물의 대사적 효과를 정리한다.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OUTLINE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강의 구성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B03-L02  ·  심근 에너지대사와 심부전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심근 연료 선택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2.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포스포크레아틴 셔틀과 에너지 소비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3.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허혈과 재관류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4.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심부전의 대사 재프로그래밍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5.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심부전 약물의 대사적 관점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6.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대사·축적성 심근병증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01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심근 연료 선택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B03-L02  ·  심근 에너지대사와 심부전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랜들(포도당-지방산) 회로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지방산 산화 → 아세틸-CoA/CoA·NADH/NAD⁺↑ → PDH 억제; 시트르산 → PFK-1 억제; G6P↑ → HK 억제. 반대로 포도당 산화 → 말로닐-CoA↑ → CPT1 억제.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대사 유연성: 식후(인슐린) 포도당, 공복 지방산, 운동 젖산으로 신속히 전환 — 심부전·당뇨에서 상실.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태아 심장은 포도당·젖산 위주 → 출생 후 수일 내 지방산 산화로 전환(PPARα/PGC-1α 성숙).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01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심근 연료 선택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B03-L02  ·  심근 에너지대사와 심부전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연료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정상 기여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특징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지방산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60–90%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ATP/O₂ 효율 낮음(P/O 2.33), ATP 수율 높음; CD36·CPT1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포도당·젖산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10–30%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산소 효율 높음(P/O 2.58); 운동 시 젖산↑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케톤체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수 %, 공복·당뇨·심부전에서↑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효율적, '슈퍼연료' 가설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BCAA·아미노산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소량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심부전에서 BCAA 산화 저하 → mTOR 활성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02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포스포크레아틴 셔틀과 에너지 소비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B03-L02  ·  심근 에너지대사와 심부전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미토콘드리아 크레아틴 키나아제(mtCK)가 ATP의 고에너지 인산을 크레아틴으로 →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포스포크레아틴(PCr)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→ 근원섬유 CK가 수축 부위에서 ATP 재생. PCr은 ATP보다 작고 빠르게 확산하는 에너지 운반체이자 완충제.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PCr/ATP 비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(³¹P-MR 분광): 정상 ~1.8–2.0, 심부전에서 저하되며 사망률 독립 예측 인자.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ATP 소비처: 액틴-미오신 교차다리(~70%), SERCA(~15%; Ca²⁺ 재흡수 → 이완), Na⁺/K⁺-ATPase.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이완 역시 ATP 의존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SERCA2a 기능 저하·포스포람반 탈인산화 → 이완기 기능장애(HFpEF와 연관).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02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포스포크레아틴 셔틀과 에너지 소비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B03-L02  ·  심근 에너지대사와 심부전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7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881360" cy="2298700"/>
          </a:xfrm>
          <a:prstGeom prst="rect">
            <a:avLst/>
          </a:prstGeom>
          <a:solidFill>
            <a:srgbClr val="E8F1FA"/>
          </a:solidFill>
          <a:ln>
            <a:solidFill>
              <a:srgbClr val="003C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임상 연계 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비대 심근병증(MYH7, MYBPC3 등 근절 변이)은 '에너지 결핍' 질환으로 볼 수 있다: 변이로 미오신의 초이완 상태(SRX; ATP 절약) 비율이 줄어 ATP 소비가 증가한다. 심장 미오신 억제제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마바캄텐·아피캄텐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은 SRX를 회복시켜 좌심실 유출로 폐쇄를 줄인다 — 대사·기계적 기전을 직접 표적하는 정밀 치료.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03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허혈과 재관류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B03-L02  ·  심근 에너지대사와 심부전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허혈 직후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산소 결핍 → 산화적 인산화 정지 → PCr 수 초 내 소진 → 혐기성 해당(젖산, H⁺ 축적) → pH 저하 → 수축력 소실(수십 초) → ATP 고갈 → Na⁺/K⁺-ATPase 실패 → Na⁺·Ca²⁺ 과부하(NHE, NCX 역방향).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20–40분 이상 지속 시 비가역 손상(괴사; 심내막하에서 심외막 방향으로 '파면 현상').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허혈 중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숙신산 축적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(푸마르산 환원·아스파르트산 경로).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재관류 손상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재관류 수 분 내 축적 숙신산의 빠른 산화 → 복합체 I 역전자전달(RET) → ROS 폭발; Ca²⁺ 과부하 + ROS + pH 정상화 →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미토콘드리아 투과성 전이공(mPTP)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개방 → 막전위 소실·세포사. 심근 기절(stunning; 가역적 수축 장애), 무재관류(미세혈관 폐쇄), 재관류 부정맥.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03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허혈과 재관류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B03-L02  ·  심근 에너지대사와 심부전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심장보호 시도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허혈 전·후 조건화(짧은 반복 허혈), 원격 조건화(CONDI-2/ERIC-PPCI 대규모 시험 음성), 사이클로스포린(mPTP 억제; CIRCUS 음성) — 실험실 성공이 임상으로 이어지지 않은 대표 영역.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진단 생화학: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고감도 트로포닌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(cTnI/cTnT; 99백분위 초과 + 상승·하강 패턴 = 심근 손상, 임상 허혈 증거 + = 심근경색; 1–2시간 신속 배제 알고리즘), CK-MB(재경색 판단 보조).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04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심부전의 대사 재프로그래밍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B03-L02  ·  심근 에너지대사와 심부전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'연료가 고갈된 엔진(engine out of fuel)'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심부전 심장은 ATP 생산이 30–40% 감소, PCr/ATP 저하, 미토콘드리아 생합성(PGC-1α) 감소.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케톤 산화 증가는 보상 반응: 심부전 환자의 심근이 βHB를 더 많이 소비하며, βHB 주입 시 심박출량이 증가했다(Nielsen et al., Circulation 2019).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신경호르몬 활성: 교감신경(β₁ 탈감작·하향조절), RAAS(알도스테론 섬유화), 나트륨이뇨펩타이드(BNP/NT-proBNP; 진단·예후 표지, 사쿠비트릴이 네프릴리신 억제로 증가).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철 결핍(헤모글로빈 무관): 미토콘드리아 Fe–S·헴 단백 기능 저하 → 정맥 철(카복시말토스철) 투여가 운동능력·입원 감소.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04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심부전의 대사 재프로그래밍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B03-L02  ·  심근 에너지대사와 심부전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11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특징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HFrEF (박출률 감소)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HFpEF (박출률 보존)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연료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지방산 산화↓, 포도당 흡수↑이나 산화와 탈공역(해당–산화 불일치), 케톤 산화↑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지방산 산화 유지·증가, 인슐린 저항성, 지질독성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동반 질환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허혈, 근절 변이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비만, 당뇨, 고혈압, 노화, CKD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미토콘드리아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기능·밀도 저하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산화 스트레스, NO–cGMP 저하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염증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국소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전신 저등급 염증(내피 기능장애)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05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심부전 약물의 대사적 관점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B03-L02  ·  심근 에너지대사와 심부전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HFrEF의 '4대 기둥'(ARNI/ACEi, β차단제, MRA, SGLT2i)을 빠르게 병용·적정하는 것이 사망률을 크게 줄인다(STRONG-HF).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05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심부전 약물의 대사적 관점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B03-L02  ·  심근 에너지대사와 심부전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13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36576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약물군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주 기전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대사적 효과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ARNI(사쿠비트릴/발사르탄)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네프릴리신 억제 + AT₁ 차단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나트륨이뇨펩타이드 cGMP↑, 지방분해 변화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β차단제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교감 차단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심박 감소로 ATP 수요↓, 지방산 산화 → 포도당 전환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MRA(스피로노락톤, 피네레논)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알도스테론 차단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섬유화·염증↓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SGLT2 억제제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근위세뇨관 포도당·Na⁺ 재흡수 억제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경도 케톤혈증, 적혈구 증가(EPO), 나트륨이뇨, 심근 NHE1 억제(가설), 자가포식·기아 모방 신호(SIRT1/AMPK) — HFrEF·HFpEF 모두 입원·사망 감소(DAPA-HF, EMPEROR-Reduced/Preserved, DELIVER)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GLP-1 작용제(세마글루타이드)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체중·염증 감소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비만 HFpEF에서 증상·기능 개선(STEP-HFpEF), 티르제파타이드(SUMMIT) 사건 감소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베리시구앗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sGC 자극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NO–cGMP 회복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오메캄티브 메카빌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심장 미오신 활성제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수축력↑ (GALACTIC-HF 소폭)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트리메타지딘, 퍼헥실린, 라놀라진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지방산 산화 억제 → 포도당 전환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협심증; 심부전 대규모 근거 부족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06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대사·축적성 심근병증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B03-L02  ·  심근 에너지대사와 심부전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14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36576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질환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생화학적 기전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단서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치료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폼페병 영아형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리소좀 글리코겐 축적(GAA)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거대 심비대, 짧은 PR, 근긴장저하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ERT 조기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PRKAG2 증후군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AMPK γ2 변이 → 글리코겐 축적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비대 + 조기흥분(WPW), 전도장애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심박조율기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다논병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LAMP2 자가포식 결함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젊은 남성 극심 비대, WPW, 지적장애, CK↑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심장이식, AAV 유전자치료 시험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파브리병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Gb3 축적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동심성 비대, 짧은 PR, 심장 MRI T1 저하(특징적), 신장·신경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ERT, 미갈라스타트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ATTR 심아밀로이드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TTR 불안정·응집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저전압 ECG + 비대, 양측 수근관, 요추관 협착, 피로인산 스캔 양성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타파미디스, 아코라미디스, 부트리시란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AL 아밀로이드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경쇄 독성 + 침착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단클론 단백, 신증후군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형질세포 치료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미토콘드리아 심근병증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호흡사슬 결손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다장기, 젖산↑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대증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장쇄 FAOD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VLCAD, LCHAD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영아 심근병증, 저혈당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트라이헵타노인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06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대사·축적성 심근병증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B03-L02  ·  심근 에너지대사와 심부전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질환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생화학적 기전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단서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치료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1차 카르니틴 결핍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OCTN2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확장성 심근병증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카르니틴 — 완전 회복 가능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철 과부하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비트랜스페린결합철 유입(L형 Ca²⁺ 통로)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수혈 의존 빈혈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킬레이트(T2* MRI 모니터)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티아민 결핍(습성 각기병)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PDH·α-KGDH 저하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고박출 심부전, 젖산산증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티아민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06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대사·축적성 심근병증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B03-L02  ·  심근 에너지대사와 심부전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16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881360" cy="1930400"/>
          </a:xfrm>
          <a:prstGeom prst="rect">
            <a:avLst/>
          </a:prstGeom>
          <a:solidFill>
            <a:srgbClr val="E8F1FA"/>
          </a:solidFill>
          <a:ln>
            <a:solidFill>
              <a:srgbClr val="003C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임상 연계 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'치료 가능한 심근병증을 놓치지 마라'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원인 불명 비대·확장성 심근병증에서 파브리(α-Gal A 활성/lyso-Gb3), ATTR(피로인산 스캔 + 단클론 단백 배제), 카르니틴, 철, 티아민, 갑상선, 근절 유전자 패널을 체계적으로 확인한다.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FRONTIER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연구 최전선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B03-L02  ·  심근 에너지대사와 심부전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심근의 케톤·BCAA 대사 조절(BCKDK 억제제 BT2), PDK4 억제, mPTP 조절 등 '대사 조절 심부전 치료'가 전임상·초기 임상 단계이다.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단일핵·공간 전사체로 사람 심부전 심근의 세포 상태(스트레스 심근세포, 활성 섬유모세포 POSTN⁺)가 지도화되고, 섬유화 표적(IL-11 항체) 연구가 진행 중이다.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유전성 심근병증 AAV 유전자 치료(MYBPC3 TN-201, PKP2 부정맥유발 심근병증, LAMP2 RP-A501)가 임상에 들어갔다.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SUMMARY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요약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B03-L02  ·  심근 에너지대사와 심부전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심근은 주로 지방산을 산화하지만 상황에 따라 포도당·젖산·케톤으로 전환하며, 랜들 회로가 연료 선택을 조정한다.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2.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PCr–CK 셔틀이 ATP를 운반·완충하며 PCr/ATP 저하는 심부전 예후 지표이다.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3.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허혈은 ATP 고갈·Ca²⁺ 과부하·숙신산 축적을, 재관류는 RET–ROS·mPTP 개방으로 추가 손상을 일으킨다.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4.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심부전은 미토콘드리아 기능 저하와 대사 유연성 상실을 보이며 SGLT2i·GLP-1RA가 대사적 이득을 준다.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5.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축적·대사성 심근병증(파브리, ATTR, 다논, 카르니틴 결핍 등)은 특이 치료가 있어 체계적 감별이 필요하다.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B03-L02  ·  심근 에너지대사와 심부전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허혈 심근에서 지방산 산화를 억제하고 포도당 산화를 늘리는 약물이 이론적으로 유리한 이유는?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같은 양의 산소로 생산하는 ATP가 포도당 산화(P/O 약 2.58)가 지방산 산화(약 2.33)보다 많아 산소 효율이 좋다. 또한 해당과 포도당 산화의 짝짓기가 개선되면 젖산·H⁺ 축적이 줄어 Na⁺·Ca²⁺ 과부하가 감소한다. 트리메타지딘(3-KAT 억제), 퍼헥실린(CPT1 억제)이 이 원리이다.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B03-L02  ·  심근 에너지대사와 심부전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젊은 남성의 극심한 좌심실 비대, WPW 패턴, 상승된 CK, 경도 지적장애가 있다. 의심 질환과 기전은?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다논병(LAMP2 결손, X연관). LAMP2는 자가포식소체-리소좀 융합(샤페론 매개 자가포식)에 필요하므로 결손 시 자가포식 공포와 글리코겐이 심근·골격근에 축적되어 비대 심근병증, 전도 이상, 근병증이 생긴다. 예후가 나빠 조기 심장이식을 고려하며 AAV 유전자 치료가 시험 중이다.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B03-L02  ·  심근 에너지대사와 심부전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재관류 직후 미토콘드리아 투과성 전이공(mPTP)이 열리는 요인과 결과를 설명하라.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재관류 시 산소 공급과 함께 축적된 숙신산의 빠른 산화가 역전자전달로 ROS를 폭발적으로 만들고, 허혈 중 쌓인 Ca²⁺ 과부하와 pH 정상화(허혈 중 산성 pH는 mPTP를 억제)가 겹쳐 mPTP가 열린다. 그 결과 막전위가 소실되어 ATP 합성효소가 역방향으로 ATP를 소모하고, 미토콘드리아 팽창·외막 파열로 사이토크롬 c 방출과 괴사·자멸이 일어난다.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B03-L02  ·  심근 에너지대사와 심부전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SGLT2 억제제가 당뇨가 없는 심부전 환자에서도 효과적인 이유로 제시되는 기전 세 가지는?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(1) 근위세뇨관 Na⁺ 재흡수 억제로 나트륨이뇨·혈장량 감소 및 세뇨관-사구체 되먹임 회복. (2) 경도 케톤혈증으로 심근에 효율적 연료 공급과 기아 모방 신호(AMPK/SIRT1, 자가포식). (3) 신장 피질 저산소 해소로 EPO 증가·헤마토크리트 상승, 염증·섬유화 감소. 그 외 심근 NHE1 억제 가설이 있다.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REFERENCES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참고 문헌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B03-L02  ·  심근 에너지대사와 심부전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Lopaschuk GD et al. Cardiac energy metabolism in heart failure. Circ Res 2021;128:1487–1513.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Neubauer S. The failing heart — an engine out of fuel. N Engl J Med 2007;356:1140–1151.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Heusch G. Myocardial ischaemia–reperfusion injury and cardioprotection in perspective. Nat Rev Cardiol 2020;17:773–789.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McDonagh TA et al. 2023 Focused Update of the 2021 ESC Guidelines for heart failure. Eur Heart J 2023;44:3627–3639.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REFERENCES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참고 문헌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B03-L02  ·  심근 에너지대사와 심부전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Olivotto I et al. Mavacamten for symptomatic obstructive hypertrophic cardiomyopathy (EXPLORER-HCM). Lancet 2020;396:759–769.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