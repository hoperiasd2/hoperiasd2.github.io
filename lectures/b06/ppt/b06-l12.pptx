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notesMaster" Target="notesMasters/notesMaster1.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상동재조합은 주로 S/G2기에 자매염색분체를 주형으로 작동하므로 분열하지 않는 신경세포에서는 거의 일어나지 않고 비상동말단연결이 우세하다. 따라서 점변이 교정에는 이중가닥 절단이 필요 없는 염기 편집·프라임 편집이나, 절단형을 쓰더라도 '독성 대립유전자 비활성화' 같은 파괴 목적 전략, 또는 올리고뉴클레오타이드로 전사체 수준에서 조절하는 방법을 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첫 투여 후 캡시드에 대한 중화항체가 생겨 재투여 시 벡터가 표적 세포에 도달하기 전에 중화되기 때문이다. 그래서 투여 전 기존 중화항체를 확인해 대상자를 선별하고, 한 번에 충분한 효과를 내는 용량 설계가 필요하며, 다른 혈청형 사용·면역 억제·항체 분해 효소 병용이 연구되고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뇌척수액으로 투여하면 약물이 척수와 뇌 표면을 따라 잘 분포하지만, 실질 깊숙한 구조로는 확산이 제한된다. 척수 전각의 운동신경세포는 뇌척수액에 가까워 도달하기 쉬운 반면, 선조체처럼 깊은 핵은 농도가 낮아 정위 실질 내 주입이나 혈액뇌장벽 통과 전달체가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유전자를 교정한 환자 자신의 조혈모세포를 이식하면 그 자손 단핵구가 뇌로 이동해 미세아교세포 계열 세포로 자리 잡고, 결핍된 효소를 지속적으로 분비한다. 주변 신경세포와 교세포가 이 효소를 받아들여(교차 교정) 축적물을 분해하므로, 혈액뇌장벽을 통과하지 못하는 효소 보충의 한계를 우회할 수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B06 신경질환과 유전학  ·  신경유전 치료</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신경유전 질환의 유전자 치료와 RNA 치료</a:t>
            </a:r>
          </a:p>
          <a:p>
            <a:r>
              <a:rPr sz="2000" b="0" i="0">
                <a:solidFill>
                  <a:srgbClr val="C2CDD6"/>
                </a:solidFill>
                <a:latin typeface="Malgun Gothic"/>
                <a:ea typeface="Malgun Gothic"/>
                <a:cs typeface="Malgun Gothic"/>
              </a:rPr>
              <a:t>Gene and RNA Therapies for Neurogenetic Disorders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B06-L12</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신경계 표적 치료의 전달 장벽(혈액뇌장벽, 세포 유형, 분포)과 투여 경로를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ASO·siRNA의 작용 방식과 승인된 신경 RNA 치료(누시너센, 토퍼센, 에플론테르센 등)를 정리한다.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AAV 유전자 보충·침묵 치료의 설계(캡시드, 프로모터, 용량)와 성공·실패 사례를 설명한다.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유전자 편집(CRISPR, 염기·프라임 편집)과 HSC 기반 치료의 신경계 적용을 설명한다.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안전성(면역, 간독성, 후근신경절 독성), 가격·접근성, N-of-1 치료 윤리를 평가한다.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전달 장벽과 투여 경로</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올리고뉴클레오타이드 치료</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AAV 유전자 치료</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편집 기반 치료와 세포 치료</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안전성, 비용, 접근성</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전달 장벽과 투여 경로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혈액뇌장벽</a:t>
            </a:r>
            <a:r>
              <a:rPr sz="2200" b="0" i="0">
                <a:solidFill>
                  <a:srgbClr val="11202B"/>
                </a:solidFill>
                <a:latin typeface="Malgun Gothic"/>
                <a:ea typeface="Malgun Gothic"/>
                <a:cs typeface="Malgun Gothic"/>
              </a:rPr>
              <a:t>: 내피 치밀이음부·유출 펌프 → 거대분자(항체 ~0.1%, ASO, 대부분 AAV) 통과 제한.</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신경계 세포 다양성: 신경세포 아형, 교세포, 말초 운동·감각 신경, 근육 — 표적 세포를 정해야 함.</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신경세포는 분열하지 않아 </a:t>
            </a:r>
            <a:r>
              <a:rPr sz="2200" b="1" i="0">
                <a:solidFill>
                  <a:srgbClr val="11202B"/>
                </a:solidFill>
                <a:latin typeface="Malgun Gothic"/>
                <a:ea typeface="Malgun Gothic"/>
                <a:cs typeface="Malgun Gothic"/>
              </a:rPr>
              <a:t>AAV 에피솜이 장기 유지</a:t>
            </a:r>
            <a:r>
              <a:rPr sz="2200" b="0" i="0">
                <a:solidFill>
                  <a:srgbClr val="11202B"/>
                </a:solidFill>
                <a:latin typeface="Malgun Gothic"/>
                <a:ea typeface="Malgun Gothic"/>
                <a:cs typeface="Malgun Gothic"/>
              </a:rPr>
              <a:t>(이론적 단회 투여 장기 효과) — 반대로 과발현 독성도 지속.</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전달 장벽과 투여 경로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경로</a:t>
                      </a:r>
                    </a:p>
                  </a:txBody>
                  <a:tcPr marL="73152" marR="73152">
                    <a:solidFill>
                      <a:srgbClr val="003C71"/>
                    </a:solidFill>
                  </a:tcPr>
                </a:tc>
                <a:tc>
                  <a:txBody>
                    <a:bodyPr/>
                    <a:lstStyle/>
                    <a:p>
                      <a:r>
                        <a:rPr sz="1500" b="1" i="0">
                          <a:solidFill>
                            <a:srgbClr val="FFFFFF"/>
                          </a:solidFill>
                          <a:latin typeface="Malgun Gothic"/>
                          <a:ea typeface="Malgun Gothic"/>
                          <a:cs typeface="Malgun Gothic"/>
                        </a:rPr>
                        <a:t>장점</a:t>
                      </a:r>
                    </a:p>
                  </a:txBody>
                  <a:tcPr marL="73152" marR="73152">
                    <a:solidFill>
                      <a:srgbClr val="003C71"/>
                    </a:solidFill>
                  </a:tcPr>
                </a:tc>
                <a:tc>
                  <a:txBody>
                    <a:bodyPr/>
                    <a:lstStyle/>
                    <a:p>
                      <a:r>
                        <a:rPr sz="1500" b="1" i="0">
                          <a:solidFill>
                            <a:srgbClr val="FFFFFF"/>
                          </a:solidFill>
                          <a:latin typeface="Malgun Gothic"/>
                          <a:ea typeface="Malgun Gothic"/>
                          <a:cs typeface="Malgun Gothic"/>
                        </a:rPr>
                        <a:t>한계</a:t>
                      </a:r>
                    </a:p>
                  </a:txBody>
                  <a:tcPr marL="73152" marR="73152">
                    <a:solidFill>
                      <a:srgbClr val="003C71"/>
                    </a:solidFill>
                  </a:tcPr>
                </a:tc>
                <a:tc>
                  <a:txBody>
                    <a:bodyPr/>
                    <a:lstStyle/>
                    <a:p>
                      <a:r>
                        <a:rPr sz="1500" b="1" i="0">
                          <a:solidFill>
                            <a:srgbClr val="FFFFFF"/>
                          </a:solidFill>
                          <a:latin typeface="Malgun Gothic"/>
                          <a:ea typeface="Malgun Gothic"/>
                          <a:cs typeface="Malgun Gothic"/>
                        </a:rPr>
                        <a:t>예</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척수강 내(IT)</a:t>
                      </a:r>
                    </a:p>
                  </a:txBody>
                  <a:tcPr marL="73152" marR="73152">
                    <a:solidFill>
                      <a:srgbClr val="FFFFFF"/>
                    </a:solidFill>
                  </a:tcPr>
                </a:tc>
                <a:tc>
                  <a:txBody>
                    <a:bodyPr/>
                    <a:lstStyle/>
                    <a:p>
                      <a:r>
                        <a:rPr sz="1500" b="0" i="0">
                          <a:solidFill>
                            <a:srgbClr val="11202B"/>
                          </a:solidFill>
                          <a:latin typeface="Malgun Gothic"/>
                          <a:ea typeface="Malgun Gothic"/>
                          <a:cs typeface="Malgun Gothic"/>
                        </a:rPr>
                        <a:t>CSF로 척수·뇌간·피질 표층 분포</a:t>
                      </a:r>
                    </a:p>
                  </a:txBody>
                  <a:tcPr marL="73152" marR="73152">
                    <a:solidFill>
                      <a:srgbClr val="FFFFFF"/>
                    </a:solidFill>
                  </a:tcPr>
                </a:tc>
                <a:tc>
                  <a:txBody>
                    <a:bodyPr/>
                    <a:lstStyle/>
                    <a:p>
                      <a:r>
                        <a:rPr sz="1500" b="0" i="0">
                          <a:solidFill>
                            <a:srgbClr val="11202B"/>
                          </a:solidFill>
                          <a:latin typeface="Malgun Gothic"/>
                          <a:ea typeface="Malgun Gothic"/>
                          <a:cs typeface="Malgun Gothic"/>
                        </a:rPr>
                        <a:t>심부 구조(선조체·시상) 분포 낮음, 반복 요추천자</a:t>
                      </a:r>
                    </a:p>
                  </a:txBody>
                  <a:tcPr marL="73152" marR="73152">
                    <a:solidFill>
                      <a:srgbClr val="FFFFFF"/>
                    </a:solidFill>
                  </a:tcPr>
                </a:tc>
                <a:tc>
                  <a:txBody>
                    <a:bodyPr/>
                    <a:lstStyle/>
                    <a:p>
                      <a:r>
                        <a:rPr sz="1500" b="0" i="0">
                          <a:solidFill>
                            <a:srgbClr val="11202B"/>
                          </a:solidFill>
                          <a:latin typeface="Malgun Gothic"/>
                          <a:ea typeface="Malgun Gothic"/>
                          <a:cs typeface="Malgun Gothic"/>
                        </a:rPr>
                        <a:t>누시너센, 토퍼센, AAV9 IT</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대수조·뇌실 내</a:t>
                      </a:r>
                    </a:p>
                  </a:txBody>
                  <a:tcPr marL="73152" marR="73152">
                    <a:solidFill>
                      <a:srgbClr val="ECF1F5"/>
                    </a:solidFill>
                  </a:tcPr>
                </a:tc>
                <a:tc>
                  <a:txBody>
                    <a:bodyPr/>
                    <a:lstStyle/>
                    <a:p>
                      <a:r>
                        <a:rPr sz="1500" b="0" i="0">
                          <a:solidFill>
                            <a:srgbClr val="11202B"/>
                          </a:solidFill>
                          <a:latin typeface="Malgun Gothic"/>
                          <a:ea typeface="Malgun Gothic"/>
                          <a:cs typeface="Malgun Gothic"/>
                        </a:rPr>
                        <a:t>뇌 분포 개선</a:t>
                      </a:r>
                    </a:p>
                  </a:txBody>
                  <a:tcPr marL="73152" marR="73152">
                    <a:solidFill>
                      <a:srgbClr val="ECF1F5"/>
                    </a:solidFill>
                  </a:tcPr>
                </a:tc>
                <a:tc>
                  <a:txBody>
                    <a:bodyPr/>
                    <a:lstStyle/>
                    <a:p>
                      <a:r>
                        <a:rPr sz="1500" b="0" i="0">
                          <a:solidFill>
                            <a:srgbClr val="11202B"/>
                          </a:solidFill>
                          <a:latin typeface="Malgun Gothic"/>
                          <a:ea typeface="Malgun Gothic"/>
                          <a:cs typeface="Malgun Gothic"/>
                        </a:rPr>
                        <a:t>시술 위험</a:t>
                      </a:r>
                    </a:p>
                  </a:txBody>
                  <a:tcPr marL="73152" marR="73152">
                    <a:solidFill>
                      <a:srgbClr val="ECF1F5"/>
                    </a:solidFill>
                  </a:tcPr>
                </a:tc>
                <a:tc>
                  <a:txBody>
                    <a:bodyPr/>
                    <a:lstStyle/>
                    <a:p>
                      <a:r>
                        <a:rPr sz="1500" b="0" i="0">
                          <a:solidFill>
                            <a:srgbClr val="11202B"/>
                          </a:solidFill>
                          <a:latin typeface="Malgun Gothic"/>
                          <a:ea typeface="Malgun Gothic"/>
                          <a:cs typeface="Malgun Gothic"/>
                        </a:rPr>
                        <a:t>세를리포나아제(뇌실), AAV 대수조</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실질 내 정위 주입</a:t>
                      </a:r>
                    </a:p>
                  </a:txBody>
                  <a:tcPr marL="73152" marR="73152">
                    <a:solidFill>
                      <a:srgbClr val="FFFFFF"/>
                    </a:solidFill>
                  </a:tcPr>
                </a:tc>
                <a:tc>
                  <a:txBody>
                    <a:bodyPr/>
                    <a:lstStyle/>
                    <a:p>
                      <a:r>
                        <a:rPr sz="1500" b="0" i="0">
                          <a:solidFill>
                            <a:srgbClr val="11202B"/>
                          </a:solidFill>
                          <a:latin typeface="Malgun Gothic"/>
                          <a:ea typeface="Malgun Gothic"/>
                          <a:cs typeface="Malgun Gothic"/>
                        </a:rPr>
                        <a:t>선조체·시상 등 국소 고농도</a:t>
                      </a:r>
                    </a:p>
                  </a:txBody>
                  <a:tcPr marL="73152" marR="73152">
                    <a:solidFill>
                      <a:srgbClr val="FFFFFF"/>
                    </a:solidFill>
                  </a:tcPr>
                </a:tc>
                <a:tc>
                  <a:txBody>
                    <a:bodyPr/>
                    <a:lstStyle/>
                    <a:p>
                      <a:r>
                        <a:rPr sz="1500" b="0" i="0">
                          <a:solidFill>
                            <a:srgbClr val="11202B"/>
                          </a:solidFill>
                          <a:latin typeface="Malgun Gothic"/>
                          <a:ea typeface="Malgun Gothic"/>
                          <a:cs typeface="Malgun Gothic"/>
                        </a:rPr>
                        <a:t>침습적, 분포 국한</a:t>
                      </a:r>
                    </a:p>
                  </a:txBody>
                  <a:tcPr marL="73152" marR="73152">
                    <a:solidFill>
                      <a:srgbClr val="FFFFFF"/>
                    </a:solidFill>
                  </a:tcPr>
                </a:tc>
                <a:tc>
                  <a:txBody>
                    <a:bodyPr/>
                    <a:lstStyle/>
                    <a:p>
                      <a:r>
                        <a:rPr sz="1500" b="0" i="0">
                          <a:solidFill>
                            <a:srgbClr val="11202B"/>
                          </a:solidFill>
                          <a:latin typeface="Malgun Gothic"/>
                          <a:ea typeface="Malgun Gothic"/>
                          <a:cs typeface="Malgun Gothic"/>
                        </a:rPr>
                        <a:t>AADC 유전자치료(피각/흑질), AMT-130(선조체)</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정맥</a:t>
                      </a:r>
                    </a:p>
                  </a:txBody>
                  <a:tcPr marL="73152" marR="73152">
                    <a:solidFill>
                      <a:srgbClr val="ECF1F5"/>
                    </a:solidFill>
                  </a:tcPr>
                </a:tc>
                <a:tc>
                  <a:txBody>
                    <a:bodyPr/>
                    <a:lstStyle/>
                    <a:p>
                      <a:r>
                        <a:rPr sz="1500" b="0" i="0">
                          <a:solidFill>
                            <a:srgbClr val="11202B"/>
                          </a:solidFill>
                          <a:latin typeface="Malgun Gothic"/>
                          <a:ea typeface="Malgun Gothic"/>
                          <a:cs typeface="Malgun Gothic"/>
                        </a:rPr>
                        <a:t>전신·근육·말초 신경·간</a:t>
                      </a:r>
                    </a:p>
                  </a:txBody>
                  <a:tcPr marL="73152" marR="73152">
                    <a:solidFill>
                      <a:srgbClr val="ECF1F5"/>
                    </a:solidFill>
                  </a:tcPr>
                </a:tc>
                <a:tc>
                  <a:txBody>
                    <a:bodyPr/>
                    <a:lstStyle/>
                    <a:p>
                      <a:r>
                        <a:rPr sz="1500" b="0" i="0">
                          <a:solidFill>
                            <a:srgbClr val="11202B"/>
                          </a:solidFill>
                          <a:latin typeface="Malgun Gothic"/>
                          <a:ea typeface="Malgun Gothic"/>
                          <a:cs typeface="Malgun Gothic"/>
                        </a:rPr>
                        <a:t>BBB, 고용량, 간 노출</a:t>
                      </a:r>
                    </a:p>
                  </a:txBody>
                  <a:tcPr marL="73152" marR="73152">
                    <a:solidFill>
                      <a:srgbClr val="ECF1F5"/>
                    </a:solidFill>
                  </a:tcPr>
                </a:tc>
                <a:tc>
                  <a:txBody>
                    <a:bodyPr/>
                    <a:lstStyle/>
                    <a:p>
                      <a:r>
                        <a:rPr sz="1500" b="0" i="0">
                          <a:solidFill>
                            <a:srgbClr val="11202B"/>
                          </a:solidFill>
                          <a:latin typeface="Malgun Gothic"/>
                          <a:ea typeface="Malgun Gothic"/>
                          <a:cs typeface="Malgun Gothic"/>
                        </a:rPr>
                        <a:t>오나셈노진(AAV9 일부 BBB 통과), 파티시란(간)</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BBB 셔틀</a:t>
                      </a:r>
                    </a:p>
                  </a:txBody>
                  <a:tcPr marL="73152" marR="73152">
                    <a:solidFill>
                      <a:srgbClr val="FFFFFF"/>
                    </a:solidFill>
                  </a:tcPr>
                </a:tc>
                <a:tc>
                  <a:txBody>
                    <a:bodyPr/>
                    <a:lstStyle/>
                    <a:p>
                      <a:r>
                        <a:rPr sz="1500" b="0" i="0">
                          <a:solidFill>
                            <a:srgbClr val="11202B"/>
                          </a:solidFill>
                          <a:latin typeface="Malgun Gothic"/>
                          <a:ea typeface="Malgun Gothic"/>
                          <a:cs typeface="Malgun Gothic"/>
                        </a:rPr>
                        <a:t>수용체 매개 통과(TfR1, CD98hc, ALPL)</a:t>
                      </a:r>
                    </a:p>
                  </a:txBody>
                  <a:tcPr marL="73152" marR="73152">
                    <a:solidFill>
                      <a:srgbClr val="FFFFFF"/>
                    </a:solidFill>
                  </a:tcPr>
                </a:tc>
                <a:tc>
                  <a:txBody>
                    <a:bodyPr/>
                    <a:lstStyle/>
                    <a:p>
                      <a:r>
                        <a:rPr sz="1500" b="0" i="0">
                          <a:solidFill>
                            <a:srgbClr val="11202B"/>
                          </a:solidFill>
                          <a:latin typeface="Malgun Gothic"/>
                          <a:ea typeface="Malgun Gothic"/>
                          <a:cs typeface="Malgun Gothic"/>
                        </a:rPr>
                        <a:t>개발 중</a:t>
                      </a:r>
                    </a:p>
                  </a:txBody>
                  <a:tcPr marL="73152" marR="73152">
                    <a:solidFill>
                      <a:srgbClr val="FFFFFF"/>
                    </a:solidFill>
                  </a:tcPr>
                </a:tc>
                <a:tc>
                  <a:txBody>
                    <a:bodyPr/>
                    <a:lstStyle/>
                    <a:p>
                      <a:r>
                        <a:rPr sz="1500" b="0" i="0">
                          <a:solidFill>
                            <a:srgbClr val="11202B"/>
                          </a:solidFill>
                          <a:latin typeface="Malgun Gothic"/>
                          <a:ea typeface="Malgun Gothic"/>
                          <a:cs typeface="Malgun Gothic"/>
                        </a:rPr>
                        <a:t>TfR 결합 효소·항체·ASO 결합체</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망막 하/유리체</a:t>
                      </a:r>
                    </a:p>
                  </a:txBody>
                  <a:tcPr marL="73152" marR="73152">
                    <a:solidFill>
                      <a:srgbClr val="ECF1F5"/>
                    </a:solidFill>
                  </a:tcPr>
                </a:tc>
                <a:tc>
                  <a:txBody>
                    <a:bodyPr/>
                    <a:lstStyle/>
                    <a:p>
                      <a:r>
                        <a:rPr sz="1500" b="0" i="0">
                          <a:solidFill>
                            <a:srgbClr val="11202B"/>
                          </a:solidFill>
                          <a:latin typeface="Malgun Gothic"/>
                          <a:ea typeface="Malgun Gothic"/>
                          <a:cs typeface="Malgun Gothic"/>
                        </a:rPr>
                        <a:t>면역 특권, 국소</a:t>
                      </a:r>
                    </a:p>
                  </a:txBody>
                  <a:tcPr marL="73152" marR="73152">
                    <a:solidFill>
                      <a:srgbClr val="ECF1F5"/>
                    </a:solidFill>
                  </a:tcPr>
                </a:tc>
                <a:tc>
                  <a:txBody>
                    <a:bodyPr/>
                    <a:lstStyle/>
                    <a:p/>
                  </a:txBody>
                  <a:tcPr marL="73152" marR="73152">
                    <a:solidFill>
                      <a:srgbClr val="ECF1F5"/>
                    </a:solidFill>
                  </a:tcPr>
                </a:tc>
                <a:tc>
                  <a:txBody>
                    <a:bodyPr/>
                    <a:lstStyle/>
                    <a:p>
                      <a:r>
                        <a:rPr sz="1500" b="0" i="0">
                          <a:solidFill>
                            <a:srgbClr val="11202B"/>
                          </a:solidFill>
                          <a:latin typeface="Malgun Gothic"/>
                          <a:ea typeface="Malgun Gothic"/>
                          <a:cs typeface="Malgun Gothic"/>
                        </a:rPr>
                        <a:t>보레티진(RPE65)</a:t>
                      </a:r>
                    </a:p>
                  </a:txBody>
                  <a:tcPr marL="73152" marR="73152">
                    <a:solidFill>
                      <a:srgbClr val="ECF1F5"/>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올리고뉴클레오타이드 치료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장점: 약리학적 조절 가능(용량 조절·중단), 서열 설계 신속(N-of-1), 비통합.</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한계: 반복 투여(3–6개월 IT), 심부 뇌 분포, 일부 수두증·혈소판 감소·신독성, 표적 외 혼성화.</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N-of-1 ASO</a:t>
            </a:r>
            <a:r>
              <a:rPr sz="2000" b="0" i="0">
                <a:solidFill>
                  <a:srgbClr val="11202B"/>
                </a:solidFill>
                <a:latin typeface="Malgun Gothic"/>
                <a:ea typeface="Malgun Gothic"/>
                <a:cs typeface="Malgun Gothic"/>
              </a:rPr>
              <a:t>: 밀라센(2019), 아티펙투스(ATXN2?), 다수 개별 환자 맞춤 ASO — 진단 후 1년 내 투여 가능; n-Lorem 재단, 2021 FDA 지침 → 표적 확인(환자 세포)·독성 평가 최소화·개별 IND.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올리고뉴클레오타이드 치료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7</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3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3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3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300" b="1" i="0">
                          <a:solidFill>
                            <a:srgbClr val="FFFFFF"/>
                          </a:solidFill>
                          <a:latin typeface="Malgun Gothic"/>
                          <a:ea typeface="Malgun Gothic"/>
                          <a:cs typeface="Malgun Gothic"/>
                        </a:rPr>
                        <a:t>투여</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누시너센</a:t>
                      </a:r>
                    </a:p>
                  </a:txBody>
                  <a:tcPr marL="73152" marR="73152">
                    <a:solidFill>
                      <a:srgbClr val="FFFFFF"/>
                    </a:solidFill>
                  </a:tcPr>
                </a:tc>
                <a:tc>
                  <a:txBody>
                    <a:bodyPr/>
                    <a:lstStyle/>
                    <a:p>
                      <a:r>
                        <a:rPr sz="1300" b="0" i="0">
                          <a:solidFill>
                            <a:srgbClr val="11202B"/>
                          </a:solidFill>
                          <a:latin typeface="Malgun Gothic"/>
                          <a:ea typeface="Malgun Gothic"/>
                          <a:cs typeface="Malgun Gothic"/>
                        </a:rPr>
                        <a:t>스플라이싱 전환(SMN2 엑손 7 포함)</a:t>
                      </a:r>
                    </a:p>
                  </a:txBody>
                  <a:tcPr marL="73152" marR="73152">
                    <a:solidFill>
                      <a:srgbClr val="FFFFFF"/>
                    </a:solidFill>
                  </a:tcPr>
                </a:tc>
                <a:tc>
                  <a:txBody>
                    <a:bodyPr/>
                    <a:lstStyle/>
                    <a:p>
                      <a:r>
                        <a:rPr sz="1300" b="0" i="0">
                          <a:solidFill>
                            <a:srgbClr val="11202B"/>
                          </a:solidFill>
                          <a:latin typeface="Malgun Gothic"/>
                          <a:ea typeface="Malgun Gothic"/>
                          <a:cs typeface="Malgun Gothic"/>
                        </a:rPr>
                        <a:t>SMA</a:t>
                      </a:r>
                    </a:p>
                  </a:txBody>
                  <a:tcPr marL="73152" marR="73152">
                    <a:solidFill>
                      <a:srgbClr val="FFFFFF"/>
                    </a:solidFill>
                  </a:tcPr>
                </a:tc>
                <a:tc>
                  <a:txBody>
                    <a:bodyPr/>
                    <a:lstStyle/>
                    <a:p>
                      <a:r>
                        <a:rPr sz="1300" b="0" i="0">
                          <a:solidFill>
                            <a:srgbClr val="11202B"/>
                          </a:solidFill>
                          <a:latin typeface="Malgun Gothic"/>
                          <a:ea typeface="Malgun Gothic"/>
                          <a:cs typeface="Malgun Gothic"/>
                        </a:rPr>
                        <a:t>IT</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토퍼센</a:t>
                      </a:r>
                    </a:p>
                  </a:txBody>
                  <a:tcPr marL="73152" marR="73152">
                    <a:solidFill>
                      <a:srgbClr val="ECF1F5"/>
                    </a:solidFill>
                  </a:tcPr>
                </a:tc>
                <a:tc>
                  <a:txBody>
                    <a:bodyPr/>
                    <a:lstStyle/>
                    <a:p>
                      <a:r>
                        <a:rPr sz="1300" b="0" i="0">
                          <a:solidFill>
                            <a:srgbClr val="11202B"/>
                          </a:solidFill>
                          <a:latin typeface="Malgun Gothic"/>
                          <a:ea typeface="Malgun Gothic"/>
                          <a:cs typeface="Malgun Gothic"/>
                        </a:rPr>
                        <a:t>RNase H 분해(SOD1)</a:t>
                      </a:r>
                    </a:p>
                  </a:txBody>
                  <a:tcPr marL="73152" marR="73152">
                    <a:solidFill>
                      <a:srgbClr val="ECF1F5"/>
                    </a:solidFill>
                  </a:tcPr>
                </a:tc>
                <a:tc>
                  <a:txBody>
                    <a:bodyPr/>
                    <a:lstStyle/>
                    <a:p>
                      <a:r>
                        <a:rPr sz="1300" b="0" i="0">
                          <a:solidFill>
                            <a:srgbClr val="11202B"/>
                          </a:solidFill>
                          <a:latin typeface="Malgun Gothic"/>
                          <a:ea typeface="Malgun Gothic"/>
                          <a:cs typeface="Malgun Gothic"/>
                        </a:rPr>
                        <a:t>SOD1-ALS</a:t>
                      </a:r>
                    </a:p>
                  </a:txBody>
                  <a:tcPr marL="73152" marR="73152">
                    <a:solidFill>
                      <a:srgbClr val="ECF1F5"/>
                    </a:solidFill>
                  </a:tcPr>
                </a:tc>
                <a:tc>
                  <a:txBody>
                    <a:bodyPr/>
                    <a:lstStyle/>
                    <a:p>
                      <a:r>
                        <a:rPr sz="1300" b="0" i="0">
                          <a:solidFill>
                            <a:srgbClr val="11202B"/>
                          </a:solidFill>
                          <a:latin typeface="Malgun Gothic"/>
                          <a:ea typeface="Malgun Gothic"/>
                          <a:cs typeface="Malgun Gothic"/>
                        </a:rPr>
                        <a:t>IT</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엑손 건너뛰기 ASO(에테플리르센 등)</a:t>
                      </a:r>
                    </a:p>
                  </a:txBody>
                  <a:tcPr marL="73152" marR="73152">
                    <a:solidFill>
                      <a:srgbClr val="FFFFFF"/>
                    </a:solidFill>
                  </a:tcPr>
                </a:tc>
                <a:tc>
                  <a:txBody>
                    <a:bodyPr/>
                    <a:lstStyle/>
                    <a:p>
                      <a:r>
                        <a:rPr sz="1300" b="0" i="0">
                          <a:solidFill>
                            <a:srgbClr val="11202B"/>
                          </a:solidFill>
                          <a:latin typeface="Malgun Gothic"/>
                          <a:ea typeface="Malgun Gothic"/>
                          <a:cs typeface="Malgun Gothic"/>
                        </a:rPr>
                        <a:t>스플라이싱 전환</a:t>
                      </a:r>
                    </a:p>
                  </a:txBody>
                  <a:tcPr marL="73152" marR="73152">
                    <a:solidFill>
                      <a:srgbClr val="FFFFFF"/>
                    </a:solidFill>
                  </a:tcPr>
                </a:tc>
                <a:tc>
                  <a:txBody>
                    <a:bodyPr/>
                    <a:lstStyle/>
                    <a:p>
                      <a:r>
                        <a:rPr sz="1300" b="0" i="0">
                          <a:solidFill>
                            <a:srgbClr val="11202B"/>
                          </a:solidFill>
                          <a:latin typeface="Malgun Gothic"/>
                          <a:ea typeface="Malgun Gothic"/>
                          <a:cs typeface="Malgun Gothic"/>
                        </a:rPr>
                        <a:t>DMD</a:t>
                      </a:r>
                    </a:p>
                  </a:txBody>
                  <a:tcPr marL="73152" marR="73152">
                    <a:solidFill>
                      <a:srgbClr val="FFFFFF"/>
                    </a:solidFill>
                  </a:tcPr>
                </a:tc>
                <a:tc>
                  <a:txBody>
                    <a:bodyPr/>
                    <a:lstStyle/>
                    <a:p>
                      <a:r>
                        <a:rPr sz="1300" b="0" i="0">
                          <a:solidFill>
                            <a:srgbClr val="11202B"/>
                          </a:solidFill>
                          <a:latin typeface="Malgun Gothic"/>
                          <a:ea typeface="Malgun Gothic"/>
                          <a:cs typeface="Malgun Gothic"/>
                        </a:rPr>
                        <a:t>정맥</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이노테르센, 에플론테르센</a:t>
                      </a:r>
                    </a:p>
                  </a:txBody>
                  <a:tcPr marL="73152" marR="73152">
                    <a:solidFill>
                      <a:srgbClr val="ECF1F5"/>
                    </a:solidFill>
                  </a:tcPr>
                </a:tc>
                <a:tc>
                  <a:txBody>
                    <a:bodyPr/>
                    <a:lstStyle/>
                    <a:p>
                      <a:r>
                        <a:rPr sz="1300" b="0" i="0">
                          <a:solidFill>
                            <a:srgbClr val="11202B"/>
                          </a:solidFill>
                          <a:latin typeface="Malgun Gothic"/>
                          <a:ea typeface="Malgun Gothic"/>
                          <a:cs typeface="Malgun Gothic"/>
                        </a:rPr>
                        <a:t>RNase H(TTR, 간)</a:t>
                      </a:r>
                    </a:p>
                  </a:txBody>
                  <a:tcPr marL="73152" marR="73152">
                    <a:solidFill>
                      <a:srgbClr val="ECF1F5"/>
                    </a:solidFill>
                  </a:tcPr>
                </a:tc>
                <a:tc>
                  <a:txBody>
                    <a:bodyPr/>
                    <a:lstStyle/>
                    <a:p>
                      <a:r>
                        <a:rPr sz="1300" b="0" i="0">
                          <a:solidFill>
                            <a:srgbClr val="11202B"/>
                          </a:solidFill>
                          <a:latin typeface="Malgun Gothic"/>
                          <a:ea typeface="Malgun Gothic"/>
                          <a:cs typeface="Malgun Gothic"/>
                        </a:rPr>
                        <a:t>hATTR 다발신경병증</a:t>
                      </a:r>
                    </a:p>
                  </a:txBody>
                  <a:tcPr marL="73152" marR="73152">
                    <a:solidFill>
                      <a:srgbClr val="ECF1F5"/>
                    </a:solidFill>
                  </a:tcPr>
                </a:tc>
                <a:tc>
                  <a:txBody>
                    <a:bodyPr/>
                    <a:lstStyle/>
                    <a:p>
                      <a:r>
                        <a:rPr sz="1300" b="0" i="0">
                          <a:solidFill>
                            <a:srgbClr val="11202B"/>
                          </a:solidFill>
                          <a:latin typeface="Malgun Gothic"/>
                          <a:ea typeface="Malgun Gothic"/>
                          <a:cs typeface="Malgun Gothic"/>
                        </a:rPr>
                        <a:t>피하</a:t>
                      </a:r>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파티시란, 부트리시란</a:t>
                      </a:r>
                    </a:p>
                  </a:txBody>
                  <a:tcPr marL="73152" marR="73152">
                    <a:solidFill>
                      <a:srgbClr val="FFFFFF"/>
                    </a:solidFill>
                  </a:tcPr>
                </a:tc>
                <a:tc>
                  <a:txBody>
                    <a:bodyPr/>
                    <a:lstStyle/>
                    <a:p>
                      <a:r>
                        <a:rPr sz="1300" b="0" i="0">
                          <a:solidFill>
                            <a:srgbClr val="11202B"/>
                          </a:solidFill>
                          <a:latin typeface="Malgun Gothic"/>
                          <a:ea typeface="Malgun Gothic"/>
                          <a:cs typeface="Malgun Gothic"/>
                        </a:rPr>
                        <a:t>siRNA(TTR, 간 — LNP / GalNAc)</a:t>
                      </a:r>
                    </a:p>
                  </a:txBody>
                  <a:tcPr marL="73152" marR="73152">
                    <a:solidFill>
                      <a:srgbClr val="FFFFFF"/>
                    </a:solidFill>
                  </a:tcPr>
                </a:tc>
                <a:tc>
                  <a:txBody>
                    <a:bodyPr/>
                    <a:lstStyle/>
                    <a:p>
                      <a:r>
                        <a:rPr sz="1300" b="0" i="0">
                          <a:solidFill>
                            <a:srgbClr val="11202B"/>
                          </a:solidFill>
                          <a:latin typeface="Malgun Gothic"/>
                          <a:ea typeface="Malgun Gothic"/>
                          <a:cs typeface="Malgun Gothic"/>
                        </a:rPr>
                        <a:t>hATTR</a:t>
                      </a:r>
                    </a:p>
                  </a:txBody>
                  <a:tcPr marL="73152" marR="73152">
                    <a:solidFill>
                      <a:srgbClr val="FFFFFF"/>
                    </a:solidFill>
                  </a:tcPr>
                </a:tc>
                <a:tc>
                  <a:txBody>
                    <a:bodyPr/>
                    <a:lstStyle/>
                    <a:p>
                      <a:r>
                        <a:rPr sz="1300" b="0" i="0">
                          <a:solidFill>
                            <a:srgbClr val="11202B"/>
                          </a:solidFill>
                          <a:latin typeface="Malgun Gothic"/>
                          <a:ea typeface="Malgun Gothic"/>
                          <a:cs typeface="Malgun Gothic"/>
                        </a:rPr>
                        <a:t>정맥/피하</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기보시란</a:t>
                      </a:r>
                    </a:p>
                  </a:txBody>
                  <a:tcPr marL="73152" marR="73152">
                    <a:solidFill>
                      <a:srgbClr val="ECF1F5"/>
                    </a:solidFill>
                  </a:tcPr>
                </a:tc>
                <a:tc>
                  <a:txBody>
                    <a:bodyPr/>
                    <a:lstStyle/>
                    <a:p>
                      <a:r>
                        <a:rPr sz="1300" b="0" i="0">
                          <a:solidFill>
                            <a:srgbClr val="11202B"/>
                          </a:solidFill>
                          <a:latin typeface="Malgun Gothic"/>
                          <a:ea typeface="Malgun Gothic"/>
                          <a:cs typeface="Malgun Gothic"/>
                        </a:rPr>
                        <a:t>siRNA(ALAS1, 간)</a:t>
                      </a:r>
                    </a:p>
                  </a:txBody>
                  <a:tcPr marL="73152" marR="73152">
                    <a:solidFill>
                      <a:srgbClr val="ECF1F5"/>
                    </a:solidFill>
                  </a:tcPr>
                </a:tc>
                <a:tc>
                  <a:txBody>
                    <a:bodyPr/>
                    <a:lstStyle/>
                    <a:p>
                      <a:r>
                        <a:rPr sz="1300" b="0" i="0">
                          <a:solidFill>
                            <a:srgbClr val="11202B"/>
                          </a:solidFill>
                          <a:latin typeface="Malgun Gothic"/>
                          <a:ea typeface="Malgun Gothic"/>
                          <a:cs typeface="Malgun Gothic"/>
                        </a:rPr>
                        <a:t>급성 간 포르피린증(신경 발작)</a:t>
                      </a:r>
                    </a:p>
                  </a:txBody>
                  <a:tcPr marL="73152" marR="73152">
                    <a:solidFill>
                      <a:srgbClr val="ECF1F5"/>
                    </a:solidFill>
                  </a:tcPr>
                </a:tc>
                <a:tc>
                  <a:txBody>
                    <a:bodyPr/>
                    <a:lstStyle/>
                    <a:p>
                      <a:r>
                        <a:rPr sz="1300" b="0" i="0">
                          <a:solidFill>
                            <a:srgbClr val="11202B"/>
                          </a:solidFill>
                          <a:latin typeface="Malgun Gothic"/>
                          <a:ea typeface="Malgun Gothic"/>
                          <a:cs typeface="Malgun Gothic"/>
                        </a:rPr>
                        <a:t>피하</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밀라센</a:t>
                      </a:r>
                    </a:p>
                  </a:txBody>
                  <a:tcPr marL="73152" marR="73152">
                    <a:solidFill>
                      <a:srgbClr val="FFFFFF"/>
                    </a:solidFill>
                  </a:tcPr>
                </a:tc>
                <a:tc>
                  <a:txBody>
                    <a:bodyPr/>
                    <a:lstStyle/>
                    <a:p>
                      <a:r>
                        <a:rPr sz="1300" b="0" i="0">
                          <a:solidFill>
                            <a:srgbClr val="11202B"/>
                          </a:solidFill>
                          <a:latin typeface="Malgun Gothic"/>
                          <a:ea typeface="Malgun Gothic"/>
                          <a:cs typeface="Malgun Gothic"/>
                        </a:rPr>
                        <a:t>스플라이싱 전환(맞춤)</a:t>
                      </a:r>
                    </a:p>
                  </a:txBody>
                  <a:tcPr marL="73152" marR="73152">
                    <a:solidFill>
                      <a:srgbClr val="FFFFFF"/>
                    </a:solidFill>
                  </a:tcPr>
                </a:tc>
                <a:tc>
                  <a:txBody>
                    <a:bodyPr/>
                    <a:lstStyle/>
                    <a:p>
                      <a:r>
                        <a:rPr sz="1300" b="0" i="0">
                          <a:solidFill>
                            <a:srgbClr val="11202B"/>
                          </a:solidFill>
                          <a:latin typeface="Malgun Gothic"/>
                          <a:ea typeface="Malgun Gothic"/>
                          <a:cs typeface="Malgun Gothic"/>
                        </a:rPr>
                        <a:t>CLN7 1인</a:t>
                      </a:r>
                    </a:p>
                  </a:txBody>
                  <a:tcPr marL="73152" marR="73152">
                    <a:solidFill>
                      <a:srgbClr val="FFFFFF"/>
                    </a:solidFill>
                  </a:tcPr>
                </a:tc>
                <a:tc>
                  <a:txBody>
                    <a:bodyPr/>
                    <a:lstStyle/>
                    <a:p>
                      <a:r>
                        <a:rPr sz="1300" b="0" i="0">
                          <a:solidFill>
                            <a:srgbClr val="11202B"/>
                          </a:solidFill>
                          <a:latin typeface="Malgun Gothic"/>
                          <a:ea typeface="Malgun Gothic"/>
                          <a:cs typeface="Malgun Gothic"/>
                        </a:rPr>
                        <a:t>IT</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개발 중</a:t>
                      </a:r>
                    </a:p>
                  </a:txBody>
                  <a:tcPr marL="73152" marR="73152">
                    <a:solidFill>
                      <a:srgbClr val="ECF1F5"/>
                    </a:solidFill>
                  </a:tcPr>
                </a:tc>
                <a:tc>
                  <a:txBody>
                    <a:bodyPr/>
                    <a:lstStyle/>
                    <a:p>
                      <a:r>
                        <a:rPr sz="1300" b="0" i="0">
                          <a:solidFill>
                            <a:srgbClr val="11202B"/>
                          </a:solidFill>
                          <a:latin typeface="Malgun Gothic"/>
                          <a:ea typeface="Malgun Gothic"/>
                          <a:cs typeface="Malgun Gothic"/>
                        </a:rPr>
                        <a:t>HTT(토미네르센 재시도), MAPT(BIIB080 — 타우 PET 감소), SNCA, ATXN2(ALS), ATXN3, SCN1A TANGO(조레베네르센), SCN2A(엘수너센), UBE3A-ATS(안젤만), FUS(울레페르센), C9orf72, PMP22, GFAP(질가네르센 — 알렉산더)</a:t>
                      </a:r>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AAV 유전자 치료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AAV 벡터</a:t>
            </a:r>
            <a:r>
              <a:rPr sz="1800" b="0" i="0">
                <a:solidFill>
                  <a:srgbClr val="11202B"/>
                </a:solidFill>
                <a:latin typeface="Malgun Gothic"/>
                <a:ea typeface="Malgun Gothic"/>
                <a:cs typeface="Malgun Gothic"/>
              </a:rPr>
              <a:t>: 단일가닥 DNA ~4.7 kb 적재, 비병원성, 비통합 에피솜(신경세포 장기 발현), 혈청형별 지향성 — AAV9(BBB 일부 통과, 운동신경세포·성상세포), AAVrh10, AAV2(국소 신경세포), AAV5, 공학 캡시드(PHP.eB — 생쥐 특이, 영장류용 BBB 통과 캡시드 개발 — TfR1 결합 BI-hTFR1, ALPL 결합).</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설계 요소: 프로모터(세포 특이·강도 — 과발현 독성 고려; *MECP2*는 자기조절 회로), 미니유전자(대형 유전자 — 마이크로디스트로핀, 이중 AAV 분할 단백 인테인), miRNA 표적 서열(후근신경절·간 탈표적화), 자기 상보 AAV(빠른 발현).</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AAV 안전성</a:t>
            </a:r>
            <a:r>
              <a:rPr sz="1800" b="0" i="0">
                <a:solidFill>
                  <a:srgbClr val="11202B"/>
                </a:solidFill>
                <a:latin typeface="Malgun Gothic"/>
                <a:ea typeface="Malgun Gothic"/>
                <a:cs typeface="Malgun Gothic"/>
              </a:rPr>
              <a:t>:</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간독성</a:t>
            </a:r>
            <a:r>
              <a:rPr sz="1600" b="0" i="0">
                <a:solidFill>
                  <a:srgbClr val="2E3F4C"/>
                </a:solidFill>
                <a:latin typeface="Malgun Gothic"/>
                <a:ea typeface="Malgun Gothic"/>
                <a:cs typeface="Malgun Gothic"/>
              </a:rPr>
              <a:t>(고용량 정맥 — 급성 간부전·사망: DMD, MTM1 근관 근병증), </a:t>
            </a:r>
            <a:r>
              <a:rPr sz="1600" b="1" i="0">
                <a:solidFill>
                  <a:srgbClr val="2E3F4C"/>
                </a:solidFill>
                <a:latin typeface="Malgun Gothic"/>
                <a:ea typeface="Malgun Gothic"/>
                <a:cs typeface="Malgun Gothic"/>
              </a:rPr>
              <a:t>혈전성 미세혈관병증·보체 활성</a:t>
            </a:r>
            <a:r>
              <a:rPr sz="1600" b="0" i="0">
                <a:solidFill>
                  <a:srgbClr val="2E3F4C"/>
                </a:solidFill>
                <a:latin typeface="Malgun Gothic"/>
                <a:ea typeface="Malgun Gothic"/>
                <a:cs typeface="Malgun Gothic"/>
              </a:rPr>
              <a:t>(고용량), 심근염.</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AAV 유전자 치료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1" i="0">
                <a:solidFill>
                  <a:srgbClr val="2E3F4C"/>
                </a:solidFill>
                <a:latin typeface="Malgun Gothic"/>
                <a:ea typeface="Malgun Gothic"/>
                <a:cs typeface="Malgun Gothic"/>
              </a:rPr>
              <a:t>후근신경절(DRG) 독성</a:t>
            </a:r>
            <a:r>
              <a:rPr sz="2000" b="0" i="0">
                <a:solidFill>
                  <a:srgbClr val="2E3F4C"/>
                </a:solidFill>
                <a:latin typeface="Malgun Gothic"/>
                <a:ea typeface="Malgun Gothic"/>
                <a:cs typeface="Malgun Gothic"/>
              </a:rPr>
              <a:t>: 영장류 고용량 IT/정맥에서 감각 신경세포 변성 — 트랜스진 과발현 기인 → miR183 표적 서열로 탈표적화.</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면역: 기존 중화항체(대상자 배제), 캡시드·트랜스진 T세포 반응(트랜스진에 대한 면역 관용이 없는 null 변이 환자 — DMD 엑손 8–9 결실 근염), </a:t>
            </a:r>
            <a:r>
              <a:rPr sz="2000" b="1" i="0">
                <a:solidFill>
                  <a:srgbClr val="2E3F4C"/>
                </a:solidFill>
                <a:latin typeface="Malgun Gothic"/>
                <a:ea typeface="Malgun Gothic"/>
                <a:cs typeface="Malgun Gothic"/>
              </a:rPr>
              <a:t>재투여 불가</a:t>
            </a:r>
            <a:r>
              <a:rPr sz="2000" b="0" i="0">
                <a:solidFill>
                  <a:srgbClr val="2E3F4C"/>
                </a:solidFill>
                <a:latin typeface="Malgun Gothic"/>
                <a:ea typeface="Malgun Gothic"/>
                <a:cs typeface="Malgun Gothic"/>
              </a:rPr>
              <a:t>.</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장기: 에피솜 통합 드묾(간세포암 — 개 연구 논의), 유전자 침묵 지속성.</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AAV 유전자 치료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10</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300" b="1" i="0">
                          <a:solidFill>
                            <a:srgbClr val="FFFFFF"/>
                          </a:solidFill>
                          <a:latin typeface="Malgun Gothic"/>
                          <a:ea typeface="Malgun Gothic"/>
                          <a:cs typeface="Malgun Gothic"/>
                        </a:rPr>
                        <a:t>승인/주요</a:t>
                      </a:r>
                    </a:p>
                  </a:txBody>
                  <a:tcPr marL="73152" marR="73152">
                    <a:solidFill>
                      <a:srgbClr val="003C71"/>
                    </a:solidFill>
                  </a:tcPr>
                </a:tc>
                <a:tc>
                  <a:txBody>
                    <a:bodyPr/>
                    <a:lstStyle/>
                    <a:p>
                      <a:r>
                        <a:rPr sz="1300" b="1" i="0">
                          <a:solidFill>
                            <a:srgbClr val="FFFFFF"/>
                          </a:solidFill>
                          <a:latin typeface="Malgun Gothic"/>
                          <a:ea typeface="Malgun Gothic"/>
                          <a:cs typeface="Malgun Gothic"/>
                        </a:rPr>
                        <a:t>표적</a:t>
                      </a:r>
                    </a:p>
                  </a:txBody>
                  <a:tcPr marL="73152" marR="73152">
                    <a:solidFill>
                      <a:srgbClr val="003C71"/>
                    </a:solidFill>
                  </a:tcPr>
                </a:tc>
                <a:tc>
                  <a:txBody>
                    <a:bodyPr/>
                    <a:lstStyle/>
                    <a:p>
                      <a:r>
                        <a:rPr sz="1300" b="1" i="0">
                          <a:solidFill>
                            <a:srgbClr val="FFFFFF"/>
                          </a:solidFill>
                          <a:latin typeface="Malgun Gothic"/>
                          <a:ea typeface="Malgun Gothic"/>
                          <a:cs typeface="Malgun Gothic"/>
                        </a:rPr>
                        <a:t>결과</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오나셈노진</a:t>
                      </a:r>
                      <a:r>
                        <a:rPr sz="1300" b="0" i="0">
                          <a:solidFill>
                            <a:srgbClr val="11202B"/>
                          </a:solidFill>
                          <a:latin typeface="Malgun Gothic"/>
                          <a:ea typeface="Malgun Gothic"/>
                          <a:cs typeface="Malgun Gothic"/>
                        </a:rPr>
                        <a:t>(AAV9-SMN1, 정맥)</a:t>
                      </a:r>
                    </a:p>
                  </a:txBody>
                  <a:tcPr marL="73152" marR="73152">
                    <a:solidFill>
                      <a:srgbClr val="FFFFFF"/>
                    </a:solidFill>
                  </a:tcPr>
                </a:tc>
                <a:tc>
                  <a:txBody>
                    <a:bodyPr/>
                    <a:lstStyle/>
                    <a:p>
                      <a:r>
                        <a:rPr sz="1300" b="0" i="0">
                          <a:solidFill>
                            <a:srgbClr val="11202B"/>
                          </a:solidFill>
                          <a:latin typeface="Malgun Gothic"/>
                          <a:ea typeface="Malgun Gothic"/>
                          <a:cs typeface="Malgun Gothic"/>
                        </a:rPr>
                        <a:t>SMA</a:t>
                      </a:r>
                    </a:p>
                  </a:txBody>
                  <a:tcPr marL="73152" marR="73152">
                    <a:solidFill>
                      <a:srgbClr val="FFFFFF"/>
                    </a:solidFill>
                  </a:tcPr>
                </a:tc>
                <a:tc>
                  <a:txBody>
                    <a:bodyPr/>
                    <a:lstStyle/>
                    <a:p>
                      <a:r>
                        <a:rPr sz="1300" b="0" i="0">
                          <a:solidFill>
                            <a:srgbClr val="11202B"/>
                          </a:solidFill>
                          <a:latin typeface="Malgun Gothic"/>
                          <a:ea typeface="Malgun Gothic"/>
                          <a:cs typeface="Malgun Gothic"/>
                        </a:rPr>
                        <a:t>영아 SMA1 생존·운동 이정표 획기적 — 증상 전 거의 정상 발달</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엘라도카겐 엑수파르보벡</a:t>
                      </a:r>
                      <a:r>
                        <a:rPr sz="1300" b="0" i="0">
                          <a:solidFill>
                            <a:srgbClr val="11202B"/>
                          </a:solidFill>
                          <a:latin typeface="Malgun Gothic"/>
                          <a:ea typeface="Malgun Gothic"/>
                          <a:cs typeface="Malgun Gothic"/>
                        </a:rPr>
                        <a:t>(AAV2-DDC, 피각/중뇌)</a:t>
                      </a:r>
                    </a:p>
                  </a:txBody>
                  <a:tcPr marL="73152" marR="73152">
                    <a:solidFill>
                      <a:srgbClr val="ECF1F5"/>
                    </a:solidFill>
                  </a:tcPr>
                </a:tc>
                <a:tc>
                  <a:txBody>
                    <a:bodyPr/>
                    <a:lstStyle/>
                    <a:p>
                      <a:r>
                        <a:rPr sz="1300" b="0" i="0">
                          <a:solidFill>
                            <a:srgbClr val="11202B"/>
                          </a:solidFill>
                          <a:latin typeface="Malgun Gothic"/>
                          <a:ea typeface="Malgun Gothic"/>
                          <a:cs typeface="Malgun Gothic"/>
                        </a:rPr>
                        <a:t>AADC 결핍</a:t>
                      </a:r>
                    </a:p>
                  </a:txBody>
                  <a:tcPr marL="73152" marR="73152">
                    <a:solidFill>
                      <a:srgbClr val="ECF1F5"/>
                    </a:solidFill>
                  </a:tcPr>
                </a:tc>
                <a:tc>
                  <a:txBody>
                    <a:bodyPr/>
                    <a:lstStyle/>
                    <a:p>
                      <a:r>
                        <a:rPr sz="1300" b="0" i="0">
                          <a:solidFill>
                            <a:srgbClr val="11202B"/>
                          </a:solidFill>
                          <a:latin typeface="Malgun Gothic"/>
                          <a:ea typeface="Malgun Gothic"/>
                          <a:cs typeface="Malgun Gothic"/>
                        </a:rPr>
                        <a:t>운동 이정표 획득</a:t>
                      </a:r>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델란디스트로진</a:t>
                      </a:r>
                      <a:r>
                        <a:rPr sz="1300" b="0" i="0">
                          <a:solidFill>
                            <a:srgbClr val="11202B"/>
                          </a:solidFill>
                          <a:latin typeface="Malgun Gothic"/>
                          <a:ea typeface="Malgun Gothic"/>
                          <a:cs typeface="Malgun Gothic"/>
                        </a:rPr>
                        <a:t>(AAVrh74 마이크로디스트로핀)</a:t>
                      </a:r>
                    </a:p>
                  </a:txBody>
                  <a:tcPr marL="73152" marR="73152">
                    <a:solidFill>
                      <a:srgbClr val="FFFFFF"/>
                    </a:solidFill>
                  </a:tcPr>
                </a:tc>
                <a:tc>
                  <a:txBody>
                    <a:bodyPr/>
                    <a:lstStyle/>
                    <a:p>
                      <a:r>
                        <a:rPr sz="1300" b="0" i="0">
                          <a:solidFill>
                            <a:srgbClr val="11202B"/>
                          </a:solidFill>
                          <a:latin typeface="Malgun Gothic"/>
                          <a:ea typeface="Malgun Gothic"/>
                          <a:cs typeface="Malgun Gothic"/>
                        </a:rPr>
                        <a:t>DMD</a:t>
                      </a:r>
                    </a:p>
                  </a:txBody>
                  <a:tcPr marL="73152" marR="73152">
                    <a:solidFill>
                      <a:srgbClr val="FFFFFF"/>
                    </a:solidFill>
                  </a:tcPr>
                </a:tc>
                <a:tc>
                  <a:txBody>
                    <a:bodyPr/>
                    <a:lstStyle/>
                    <a:p>
                      <a:r>
                        <a:rPr sz="1300" b="0" i="0">
                          <a:solidFill>
                            <a:srgbClr val="11202B"/>
                          </a:solidFill>
                          <a:latin typeface="Malgun Gothic"/>
                          <a:ea typeface="Malgun Gothic"/>
                          <a:cs typeface="Malgun Gothic"/>
                        </a:rPr>
                        <a:t>기능 1차 미달·간부전 사망 → 제한 (B06 L04)</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보레티진</a:t>
                      </a:r>
                      <a:r>
                        <a:rPr sz="1300" b="0" i="0">
                          <a:solidFill>
                            <a:srgbClr val="11202B"/>
                          </a:solidFill>
                          <a:latin typeface="Malgun Gothic"/>
                          <a:ea typeface="Malgun Gothic"/>
                          <a:cs typeface="Malgun Gothic"/>
                        </a:rPr>
                        <a:t>(AAV2-RPE65, 망막하)</a:t>
                      </a:r>
                    </a:p>
                  </a:txBody>
                  <a:tcPr marL="73152" marR="73152">
                    <a:solidFill>
                      <a:srgbClr val="ECF1F5"/>
                    </a:solidFill>
                  </a:tcPr>
                </a:tc>
                <a:tc>
                  <a:txBody>
                    <a:bodyPr/>
                    <a:lstStyle/>
                    <a:p>
                      <a:r>
                        <a:rPr sz="1300" b="0" i="0">
                          <a:solidFill>
                            <a:srgbClr val="11202B"/>
                          </a:solidFill>
                          <a:latin typeface="Malgun Gothic"/>
                          <a:ea typeface="Malgun Gothic"/>
                          <a:cs typeface="Malgun Gothic"/>
                        </a:rPr>
                        <a:t>레버 선천성 흑암시</a:t>
                      </a:r>
                    </a:p>
                  </a:txBody>
                  <a:tcPr marL="73152" marR="73152">
                    <a:solidFill>
                      <a:srgbClr val="ECF1F5"/>
                    </a:solidFill>
                  </a:tcPr>
                </a:tc>
                <a:tc>
                  <a:txBody>
                    <a:bodyPr/>
                    <a:lstStyle/>
                    <a:p>
                      <a:r>
                        <a:rPr sz="1300" b="0" i="0">
                          <a:solidFill>
                            <a:srgbClr val="11202B"/>
                          </a:solidFill>
                          <a:latin typeface="Malgun Gothic"/>
                          <a:ea typeface="Malgun Gothic"/>
                          <a:cs typeface="Malgun Gothic"/>
                        </a:rPr>
                        <a:t>시기능 개선 — 최초 FDA 승인 AAV(2017)</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레니포타진(AAV2-ND4 유리체)</a:t>
                      </a:r>
                    </a:p>
                  </a:txBody>
                  <a:tcPr marL="73152" marR="73152">
                    <a:solidFill>
                      <a:srgbClr val="FFFFFF"/>
                    </a:solidFill>
                  </a:tcPr>
                </a:tc>
                <a:tc>
                  <a:txBody>
                    <a:bodyPr/>
                    <a:lstStyle/>
                    <a:p>
                      <a:r>
                        <a:rPr sz="1300" b="0" i="0">
                          <a:solidFill>
                            <a:srgbClr val="11202B"/>
                          </a:solidFill>
                          <a:latin typeface="Malgun Gothic"/>
                          <a:ea typeface="Malgun Gothic"/>
                          <a:cs typeface="Malgun Gothic"/>
                        </a:rPr>
                        <a:t>LHON</a:t>
                      </a:r>
                    </a:p>
                  </a:txBody>
                  <a:tcPr marL="73152" marR="73152">
                    <a:solidFill>
                      <a:srgbClr val="FFFFFF"/>
                    </a:solidFill>
                  </a:tcPr>
                </a:tc>
                <a:tc>
                  <a:txBody>
                    <a:bodyPr/>
                    <a:lstStyle/>
                    <a:p>
                      <a:r>
                        <a:rPr sz="1300" b="0" i="0">
                          <a:solidFill>
                            <a:srgbClr val="11202B"/>
                          </a:solidFill>
                          <a:latin typeface="Malgun Gothic"/>
                          <a:ea typeface="Malgun Gothic"/>
                          <a:cs typeface="Malgun Gothic"/>
                        </a:rPr>
                        <a:t>양안 개선(대조 눈 효과 — 전신 확산 논쟁)</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AMT-130(AAV5-miHTT 선조체)</a:t>
                      </a:r>
                    </a:p>
                  </a:txBody>
                  <a:tcPr marL="73152" marR="73152">
                    <a:solidFill>
                      <a:srgbClr val="ECF1F5"/>
                    </a:solidFill>
                  </a:tcPr>
                </a:tc>
                <a:tc>
                  <a:txBody>
                    <a:bodyPr/>
                    <a:lstStyle/>
                    <a:p>
                      <a:r>
                        <a:rPr sz="1300" b="0" i="0">
                          <a:solidFill>
                            <a:srgbClr val="11202B"/>
                          </a:solidFill>
                          <a:latin typeface="Malgun Gothic"/>
                          <a:ea typeface="Malgun Gothic"/>
                          <a:cs typeface="Malgun Gothic"/>
                        </a:rPr>
                        <a:t>헌팅턴</a:t>
                      </a:r>
                    </a:p>
                  </a:txBody>
                  <a:tcPr marL="73152" marR="73152">
                    <a:solidFill>
                      <a:srgbClr val="ECF1F5"/>
                    </a:solidFill>
                  </a:tcPr>
                </a:tc>
                <a:tc>
                  <a:txBody>
                    <a:bodyPr/>
                    <a:lstStyle/>
                    <a:p>
                      <a:r>
                        <a:rPr sz="1300" b="0" i="0">
                          <a:solidFill>
                            <a:srgbClr val="11202B"/>
                          </a:solidFill>
                          <a:latin typeface="Malgun Gothic"/>
                          <a:ea typeface="Malgun Gothic"/>
                          <a:cs typeface="Malgun Gothic"/>
                        </a:rPr>
                        <a:t>2025 3년 고용량 진행 지연 보고</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진행 중</a:t>
                      </a:r>
                    </a:p>
                  </a:txBody>
                  <a:tcPr marL="73152" marR="73152">
                    <a:solidFill>
                      <a:srgbClr val="FFFFFF"/>
                    </a:solidFill>
                  </a:tcPr>
                </a:tc>
                <a:tc>
                  <a:txBody>
                    <a:bodyPr/>
                    <a:lstStyle/>
                    <a:p>
                      <a:r>
                        <a:rPr sz="1300" b="0" i="0">
                          <a:solidFill>
                            <a:srgbClr val="11202B"/>
                          </a:solidFill>
                          <a:latin typeface="Malgun Gothic"/>
                          <a:ea typeface="Malgun Gothic"/>
                          <a:cs typeface="Malgun Gothic"/>
                        </a:rPr>
                        <a:t>GBA1-PD, GRN-FTD, CLN3·5, GM1·GM2, Canavan(ASPA), MECP2(레트), Angelman, SCN1A(ETX101), FA 심장</a:t>
                      </a:r>
                    </a:p>
                  </a:txBody>
                  <a:tcPr marL="73152" marR="73152">
                    <a:solidFill>
                      <a:srgbClr val="FFFFFF"/>
                    </a:solidFill>
                  </a:tcPr>
                </a:tc>
                <a:tc>
                  <a:txBody>
                    <a:bodyPr/>
                    <a:lstStyle/>
                    <a:p/>
                  </a:txBody>
                  <a:tcPr marL="73152" marR="73152">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편집 기반 치료와 세포 치료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편집 도구는 절단 여부로 나뉜다. 뉴클레이스는 이중가닥 절단 후 복구 과정을 이용하고, 염기 편집기와 프라임 편집기는 절단 없이 서열을 바꾼다. 분열하지 않는 신경세포에서는 상동재조합 교정이 거의 일어나지 않으므로, 절단형은 주로 '독성 대립유전자 비활성화'에, 비절단형은 '점변이 교정'에 쓰인다.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신경계 적용 사례와 과제:</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우성 독성 질환에서 변이 대립만 선택적으로 끊는 대립 특이 전략(헌팅턴병, SOD1).</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간을 고쳐 신경계를 보호하는 간접 전략 — 유전성 트랜스티레틴 아밀로이드증의 체내 편집이 대표적이며, 간은 전달이 쉬워 신경 표적보다 먼저 임상에 들어왔다.</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조절 요소(인핸서) 편집으로 유전자 발현량만 조정하는 방법.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편집 기반 치료와 세포 치료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남은 문제: 뇌 전달 효율, 세포 유형 선택성, 표적 외 편집, 단회 비가역 투여의 안전성 평가.</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조혈모세포 기반 치료</a:t>
            </a:r>
            <a:r>
              <a:rPr sz="1800" b="0" i="0">
                <a:solidFill>
                  <a:srgbClr val="11202B"/>
                </a:solidFill>
                <a:latin typeface="Malgun Gothic"/>
                <a:ea typeface="Malgun Gothic"/>
                <a:cs typeface="Malgun Gothic"/>
              </a:rPr>
              <a:t>: 환자 조혈모세포를 꺼내 유전자를 넣고 되돌려주면, 공여 세포가 뇌로 이동해 미세아교세포 계열로 자리 잡아 효소를 지속 공급한다. 이염성 백질이영양증과 대뇌형 부신백질이영양증에서 승인되었고(B05 L13), 다른 리소좀 질환으로 확장 중이다. 골수 제거 전처치의 부담과 삽입 돌연변이 위험이 한계이다.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세포 이식</a:t>
            </a:r>
            <a:r>
              <a:rPr sz="1800" b="0" i="0">
                <a:solidFill>
                  <a:srgbClr val="11202B"/>
                </a:solidFill>
                <a:latin typeface="Malgun Gothic"/>
                <a:ea typeface="Malgun Gothic"/>
                <a:cs typeface="Malgun Gothic"/>
              </a:rPr>
              <a:t>: 줄기세포 유래 도파민 전구세포(파킨슨병), 개재뉴런 전구세포(뇌전증), 올리고덴드로사이트 전구세포(탈수초)가 초기 임상 단계이며, 생착·회로 통합·면역 거부가 관건이다.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안전성, 비용, 접근성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안전성 감시</a:t>
            </a:r>
            <a:r>
              <a:rPr sz="1800" b="0" i="0">
                <a:solidFill>
                  <a:srgbClr val="11202B"/>
                </a:solidFill>
                <a:latin typeface="Malgun Gothic"/>
                <a:ea typeface="Malgun Gothic"/>
                <a:cs typeface="Malgun Gothic"/>
              </a:rPr>
              <a:t>: 투여 경로별 위험(요추천자 합병증, 정위 수술, 전신 투여 후 간·혈액·보체 반응), 과발현 독성, 장기 추적(규제 기관은 통합 벡터 15년 추적 권고).</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용량-반응의 비대칭</a:t>
            </a:r>
            <a:r>
              <a:rPr sz="1800" b="0" i="0">
                <a:solidFill>
                  <a:srgbClr val="11202B"/>
                </a:solidFill>
                <a:latin typeface="Malgun Gothic"/>
                <a:ea typeface="Malgun Gothic"/>
                <a:cs typeface="Malgun Gothic"/>
              </a:rPr>
              <a:t>: 효과를 내기엔 부족하고 독성을 내기엔 충분한 구간이 좁아, 영장류 분포 자료와 바이오마커 기반 용량 결정이 중요하다.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바이오마커</a:t>
            </a:r>
            <a:r>
              <a:rPr sz="1800" b="0" i="0">
                <a:solidFill>
                  <a:srgbClr val="11202B"/>
                </a:solidFill>
                <a:latin typeface="Malgun Gothic"/>
                <a:ea typeface="Malgun Gothic"/>
                <a:cs typeface="Malgun Gothic"/>
              </a:rPr>
              <a:t>: 표적 관여(CSF 내 표적 단백 농도), 손상 지표(신경미세섬유 경쇄), 영상(타우·도파민 PET) — 작은 임상시험에서 효과를 조기에 판단하는 데 필수적이다.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비용과 형평성</a:t>
            </a:r>
            <a:r>
              <a:rPr sz="1800" b="0" i="0">
                <a:solidFill>
                  <a:srgbClr val="11202B"/>
                </a:solidFill>
                <a:latin typeface="Malgun Gothic"/>
                <a:ea typeface="Malgun Gothic"/>
                <a:cs typeface="Malgun Gothic"/>
              </a:rPr>
              <a:t>: 단회 치료가 수억~수십억 원대이며, 성과 기반 지불·분할 상환 등 새로운 보험 모델이 논의된다. 초희귀 질환은 상업성이 낮아 학술·비영리 주도(재단, 병원 기반 생산)가 대안으로 제시된다.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안전성, 비용, 접근성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N-of-1 치료의 윤리</a:t>
            </a:r>
            <a:r>
              <a:rPr sz="2200" b="0" i="0">
                <a:solidFill>
                  <a:srgbClr val="11202B"/>
                </a:solidFill>
                <a:latin typeface="Malgun Gothic"/>
                <a:ea typeface="Malgun Gothic"/>
                <a:cs typeface="Malgun Gothic"/>
              </a:rPr>
              <a:t>: 한 명을 위한 약은 무작위 대조가 불가능하므로 사전 표적 검증, 명확한 반응 지표, 보호자 동의, 실패 시의 기대 관리, 결과의 공개 공유가 요구된다. 신속 진단 — 설계 — 생산 — 투여의 연쇄를 유지하려면 규제·재원·제조 역량이 함께 필요하다.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영장류에서 혈액뇌장벽을 효율적으로 통과하는 공학 캡시드가 보고되면서, 정맥 투여만으로 뇌 전반을 겨냥하는 치료의 가능성이 커졌다.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지질나노입자와 결합체 기술이 간 밖(중추신경·근육)으로 확장되면 비바이러스 반복 투여형 유전자 치료가 가능해진다.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유전자 발현을 켜고 끌 수 있는 조절 회로(약물 반응성 프로모터, 자기조절 요소)는 과발현 독성 문제를 해결할 열쇠로 연구되고 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증상 전 치료의 효과가 반복 확인되면서, 신생아 유전체 선별과 치료 접근성을 연결하는 체계 설계가 다음 과제가 되었다.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신경계 유전 치료의 최대 장벽은 전달이며, 척수강 내·실질 내·정맥·수용체 매개 통과 등 경로 선택이 설계의 출발점이다.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올리고뉴클레오타이드는 조절 가능하고 설계가 빨라 맞춤 치료에 적합하지만 반복 투여와 분포 한계가 있다.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AAV는 단회 투여로 장기 발현이 가능하나 적재 용량, 면역, 고용량 독성, 재투여 불가가 제약이다.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편집 치료는 절단형과 비절단형으로 나뉘며 신경계에서는 독성 대립 비활성화와 간 경유 전략이 먼저 자리 잡았다.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조혈모세포 유전자 치료는 미세아교세포를 통해 뇌에 효소를 공급하며, 비용·형평성·N-of-1 윤리가 남은 과제이다.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분열하지 않는 신경세포에서 상동재조합 기반 유전자 교정이 어려운 이유와, 이에 대한 대안을 설명하라.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상동재조합은 주로 S/G2기에 자매염색분체를 주형으로 작동하므로 분열하지 않는 신경세포에서는 거의 일어나지 않고 비상동말단연결이 우세하다. 따라서 점변이 교정에는 이중가닥 절단이 필요 없는 염기 편집·프라임 편집이나, 절단형을 쓰더라도 '독성 대립유전자 비활성화' 같은 파괴 목적 전략, 또는 올리고뉴클레오타이드로 전사체 수준에서 조절하는 방법을 사용한다.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AAV 유전자 치료를 한 번 투여하면 같은 혈청형으로 재투여가 어려운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첫 투여 후 캡시드에 대한 중화항체가 생겨 재투여 시 벡터가 표적 세포에 도달하기 전에 중화되기 때문이다. 그래서 투여 전 기존 중화항체를 확인해 대상자를 선별하고, 한 번에 충분한 효과를 내는 용량 설계가 필요하며, 다른 혈청형 사용·면역 억제·항체 분해 효소 병용이 연구되고 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척수강 내 투여가 운동신경세포 질환에는 적합하지만 선조체 표적 치료에는 한계가 있는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뇌척수액으로 투여하면 약물이 척수와 뇌 표면을 따라 잘 분포하지만, 실질 깊숙한 구조로는 확산이 제한된다. 척수 전각의 운동신경세포는 뇌척수액에 가까워 도달하기 쉬운 반면, 선조체처럼 깊은 핵은 농도가 낮아 정위 실질 내 주입이나 혈액뇌장벽 통과 전달체가 필요하다.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조혈모세포 유전자 치료가 뇌 질환을 치료할 수 있는 기전은?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유전자를 교정한 환자 자신의 조혈모세포를 이식하면 그 자손 단핵구가 뇌로 이동해 미세아교세포 계열 세포로 자리 잡고, 결핍된 효소를 지속적으로 분비한다. 주변 신경세포와 교세포가 이 효소를 받아들여(교차 교정) 축적물을 분해하므로, 혈액뇌장벽을 통과하지 못하는 효소 보충의 한계를 우회할 수 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Kuzmin DA et al. The clinical landscape for AAV gene therapies. Nat Rev Drug Discov 2021;20:173–174.</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Bennett CF, Krainer AR, Cleveland DW. Antisense oligonucleotide therapies for neurodegenerative diseases. Annu Rev Neurosci 2019;42:385–406.</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Hudry E, Vandenberghe LH. Therapeutic AAV gene transfer to the nervous system: a clinical reality. Neuron 2019;101:839–862.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B06-L12  ·  신경유전 질환의 유전자 치료와 RNA 치료</a:t>
            </a:r>
            <a:r>
              <a:rPr sz="10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Anzalone AV, Koblan LW, Liu DR. Genome editing with CRISPR-Cas nucleases, base editors, transposases and prime editors. Nat Biotechnol 2020;38:824–844.</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Synofzik M, van Roon-Mom WMC, Marckmann G et al. Preparing n-of-1 antisense oligonucleotide treatments for rare neurological diseases. Nucleic Acid Ther 2022;32:83–94.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