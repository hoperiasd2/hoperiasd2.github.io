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200 이상의 완전 돌연변이는 프로모터·반복 과메틸화로 FMR1 전사가 침묵되어 FMRP가 결핍(기능소실)되므로 신경 발달 장애(FXS)가 생긴다. 55–200 전돌연변이는 메틸화되지 않고 오히려 전사가 2–8배 증가해 CGG 반복 RNA가 단백을 격리하고 RAN 번역 FMRpolyG를 만들어 노년기 신경퇴행(FXTAS)을 일으키는 RNA 독성(기능획득) 기전이다.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CTG 반복 RNA의 MBNL 격리로 심장 Na⁺ 통로(SCN5A) 등의 스플라이싱이 바뀌고 전도계 섬유화가 진행해 방실·각 차단과 심실성 부정맥에 의한 급사 위험이 높다. PR 연장·QRS 확장 등 전도 이상이 진행하면 전기생리 검사와 심박조율기·ICD를 고려한다.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확장된 polyQ 안드로겐 수용체의 독성은 리간드 의존적이다. 테스토스테론이 결합해야 수용체가 핵으로 이동해 응집·독성을 나타내므로, 테스토스테론 수준이 낮은 여성에서는 거의 증상이 없다. 또한 X 불활성화로 정상 대립이 일부 발현된다. 이 원리로 남성 환자에게 항안드로겐(류프롤라이드) 치료가 시험되었다.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후근신경절과 대섬유 감각 축삭이 일찍 손상되어 반사궁의 구심 경로가 끊기므로 심부건반사가 소실되고, 동시에 피질척수로(추체로)가 퇴행해 상위 운동신경세포 징후인 바빈스키 반사가 나타난다. 이 조합은 FRDA, 비타민 B12·E 결핍, 아급성 연합 변성 등의 감별 단서이다.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B06 신경질환과 유전학  ·  신경유전학 기초</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반복 확장 질환</a:t>
            </a:r>
          </a:p>
          <a:p>
            <a:r>
              <a:rPr sz="2000" b="0" i="0">
                <a:solidFill>
                  <a:srgbClr val="C2CDD6"/>
                </a:solidFill>
                <a:latin typeface="Malgun Gothic"/>
                <a:ea typeface="Malgun Gothic"/>
                <a:cs typeface="Malgun Gothic"/>
              </a:rPr>
              <a:t>Repeat Expansion Disorders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B06-L02</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반복 확장의 위치(부호화, 비부호화)별 병태 기전(polyQ 독성, RNA 독성, 기능소실, RAN 번역)을 분류한다.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척수소뇌실조증(SCA)과 DRPLA, 척수구근위축증의 특징을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취약 X 관련 질환 스펙트럼(FXS, FXTAS, FXPOI)과 메틸화 기전을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근긴장성 이영양증 1·2형과 프리드라이히 운동실조의 분자 병리를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반복 불안정성의 기전과 안티시페이션, 신규 반복 질환(RFC1, FGF14)을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반복 확장 질환의 분류와 기전</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척수소뇌실조증과 polyQ 질환</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취약 X 관련 질환</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근긴장성 이영양증과 프리드라이히 운동실조</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새로운 반복 확장 질환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반복 확장 질환의 분류와 기전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RAN 번역</a:t>
            </a:r>
            <a:r>
              <a:rPr sz="2000" b="0" i="0">
                <a:solidFill>
                  <a:srgbClr val="11202B"/>
                </a:solidFill>
                <a:latin typeface="Malgun Gothic"/>
                <a:ea typeface="Malgun Gothic"/>
                <a:cs typeface="Malgun Gothic"/>
              </a:rPr>
              <a:t>(반복 연관 비AUG 번역): 시작 코돈 없이 반복 서열 전체 틀에서 번역 → 동종중합체 펩타이드(C9orf72 poly-GA/GR/PR, HD, SCA8, DM1, FXTAS poly-G) — 독성 기여.</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반복 길이와 중증도 상관, </a:t>
            </a:r>
            <a:r>
              <a:rPr sz="2000" b="1" i="0">
                <a:solidFill>
                  <a:srgbClr val="11202B"/>
                </a:solidFill>
                <a:latin typeface="Malgun Gothic"/>
                <a:ea typeface="Malgun Gothic"/>
                <a:cs typeface="Malgun Gothic"/>
              </a:rPr>
              <a:t>안티시페이션</a:t>
            </a:r>
            <a:r>
              <a:rPr sz="2000" b="0" i="0">
                <a:solidFill>
                  <a:srgbClr val="11202B"/>
                </a:solidFill>
                <a:latin typeface="Malgun Gothic"/>
                <a:ea typeface="Malgun Gothic"/>
                <a:cs typeface="Malgun Gothic"/>
              </a:rPr>
              <a:t>, 전달 성별 편향(HD·SCA 부계, FXS·DM1 선천형 모계).</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반복 불안정성 기전</a:t>
            </a:r>
            <a:r>
              <a:rPr sz="2000" b="0" i="0">
                <a:solidFill>
                  <a:srgbClr val="11202B"/>
                </a:solidFill>
                <a:latin typeface="Malgun Gothic"/>
                <a:ea typeface="Malgun Gothic"/>
                <a:cs typeface="Malgun Gothic"/>
              </a:rPr>
              <a:t>: DNA 복제(지연가닥 머리핀), </a:t>
            </a:r>
            <a:r>
              <a:rPr sz="2000" b="1" i="0">
                <a:solidFill>
                  <a:srgbClr val="11202B"/>
                </a:solidFill>
                <a:latin typeface="Malgun Gothic"/>
                <a:ea typeface="Malgun Gothic"/>
                <a:cs typeface="Malgun Gothic"/>
              </a:rPr>
              <a:t>불일치 수선(MutSβ — MSH2–MSH3)</a:t>
            </a:r>
            <a:r>
              <a:rPr sz="2000" b="0" i="0">
                <a:solidFill>
                  <a:srgbClr val="11202B"/>
                </a:solidFill>
                <a:latin typeface="Malgun Gothic"/>
                <a:ea typeface="Malgun Gothic"/>
                <a:cs typeface="Malgun Gothic"/>
              </a:rPr>
              <a:t>이 슬립 아웃 구조를 인식해 오히려 확장 유도, 전사 연계 R-루프 → 체세포 확장(뇌 선조체·소뇌 등 조직 특이) → 수정인자 표적(B05 L03).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반복 확장 질환의 분류와 기전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위치</a:t>
                      </a:r>
                    </a:p>
                  </a:txBody>
                  <a:tcPr marL="73152" marR="73152">
                    <a:solidFill>
                      <a:srgbClr val="003C71"/>
                    </a:solidFill>
                  </a:tcPr>
                </a:tc>
                <a:tc>
                  <a:txBody>
                    <a:bodyPr/>
                    <a:lstStyle/>
                    <a:p>
                      <a:r>
                        <a:rPr sz="1500" b="1" i="0">
                          <a:solidFill>
                            <a:srgbClr val="FFFFFF"/>
                          </a:solidFill>
                          <a:latin typeface="Malgun Gothic"/>
                          <a:ea typeface="Malgun Gothic"/>
                          <a:cs typeface="Malgun Gothic"/>
                        </a:rPr>
                        <a:t>반복</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예</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부호화(엑손)</a:t>
                      </a:r>
                    </a:p>
                  </a:txBody>
                  <a:tcPr marL="73152" marR="73152">
                    <a:solidFill>
                      <a:srgbClr val="FFFFFF"/>
                    </a:solidFill>
                  </a:tcPr>
                </a:tc>
                <a:tc>
                  <a:txBody>
                    <a:bodyPr/>
                    <a:lstStyle/>
                    <a:p>
                      <a:r>
                        <a:rPr sz="1500" b="0" i="0">
                          <a:solidFill>
                            <a:srgbClr val="11202B"/>
                          </a:solidFill>
                          <a:latin typeface="Malgun Gothic"/>
                          <a:ea typeface="Malgun Gothic"/>
                          <a:cs typeface="Malgun Gothic"/>
                        </a:rPr>
                        <a:t>CAG → polyQ</a:t>
                      </a:r>
                    </a:p>
                  </a:txBody>
                  <a:tcPr marL="73152" marR="73152">
                    <a:solidFill>
                      <a:srgbClr val="FFFFFF"/>
                    </a:solidFill>
                  </a:tcPr>
                </a:tc>
                <a:tc>
                  <a:txBody>
                    <a:bodyPr/>
                    <a:lstStyle/>
                    <a:p>
                      <a:r>
                        <a:rPr sz="1500" b="1" i="0">
                          <a:solidFill>
                            <a:srgbClr val="11202B"/>
                          </a:solidFill>
                          <a:latin typeface="Malgun Gothic"/>
                          <a:ea typeface="Malgun Gothic"/>
                          <a:cs typeface="Malgun Gothic"/>
                        </a:rPr>
                        <a:t>독성 기능획득</a:t>
                      </a:r>
                      <a:r>
                        <a:rPr sz="1500" b="0" i="0">
                          <a:solidFill>
                            <a:srgbClr val="11202B"/>
                          </a:solidFill>
                          <a:latin typeface="Malgun Gothic"/>
                          <a:ea typeface="Malgun Gothic"/>
                          <a:cs typeface="Malgun Gothic"/>
                        </a:rPr>
                        <a:t>(단백 응집, 전사 이상)</a:t>
                      </a:r>
                    </a:p>
                  </a:txBody>
                  <a:tcPr marL="73152" marR="73152">
                    <a:solidFill>
                      <a:srgbClr val="FFFFFF"/>
                    </a:solidFill>
                  </a:tcPr>
                </a:tc>
                <a:tc>
                  <a:txBody>
                    <a:bodyPr/>
                    <a:lstStyle/>
                    <a:p>
                      <a:r>
                        <a:rPr sz="1500" b="0" i="0">
                          <a:solidFill>
                            <a:srgbClr val="11202B"/>
                          </a:solidFill>
                          <a:latin typeface="Malgun Gothic"/>
                          <a:ea typeface="Malgun Gothic"/>
                          <a:cs typeface="Malgun Gothic"/>
                        </a:rPr>
                        <a:t>HD, SCA1/2/3/6/7/17, DRPLA, SBMA</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부호화</a:t>
                      </a:r>
                    </a:p>
                  </a:txBody>
                  <a:tcPr marL="73152" marR="73152">
                    <a:solidFill>
                      <a:srgbClr val="ECF1F5"/>
                    </a:solidFill>
                  </a:tcPr>
                </a:tc>
                <a:tc>
                  <a:txBody>
                    <a:bodyPr/>
                    <a:lstStyle/>
                    <a:p>
                      <a:r>
                        <a:rPr sz="1500" b="0" i="0">
                          <a:solidFill>
                            <a:srgbClr val="11202B"/>
                          </a:solidFill>
                          <a:latin typeface="Malgun Gothic"/>
                          <a:ea typeface="Malgun Gothic"/>
                          <a:cs typeface="Malgun Gothic"/>
                        </a:rPr>
                        <a:t>GCN → polyAla</a:t>
                      </a:r>
                    </a:p>
                  </a:txBody>
                  <a:tcPr marL="73152" marR="73152">
                    <a:solidFill>
                      <a:srgbClr val="ECF1F5"/>
                    </a:solidFill>
                  </a:tcPr>
                </a:tc>
                <a:tc>
                  <a:txBody>
                    <a:bodyPr/>
                    <a:lstStyle/>
                    <a:p>
                      <a:r>
                        <a:rPr sz="1500" b="0" i="0">
                          <a:solidFill>
                            <a:srgbClr val="11202B"/>
                          </a:solidFill>
                          <a:latin typeface="Malgun Gothic"/>
                          <a:ea typeface="Malgun Gothic"/>
                          <a:cs typeface="Malgun Gothic"/>
                        </a:rPr>
                        <a:t>응집·기능소실</a:t>
                      </a:r>
                    </a:p>
                  </a:txBody>
                  <a:tcPr marL="73152" marR="73152">
                    <a:solidFill>
                      <a:srgbClr val="ECF1F5"/>
                    </a:solidFill>
                  </a:tcPr>
                </a:tc>
                <a:tc>
                  <a:txBody>
                    <a:bodyPr/>
                    <a:lstStyle/>
                    <a:p>
                      <a:r>
                        <a:rPr sz="1500" b="0" i="0">
                          <a:solidFill>
                            <a:srgbClr val="11202B"/>
                          </a:solidFill>
                          <a:latin typeface="Malgun Gothic"/>
                          <a:ea typeface="Malgun Gothic"/>
                          <a:cs typeface="Malgun Gothic"/>
                        </a:rPr>
                        <a:t>안구인두 근이영양증(PABPN1), 일부 발생 질환</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5'UTR</a:t>
                      </a:r>
                    </a:p>
                  </a:txBody>
                  <a:tcPr marL="73152" marR="73152">
                    <a:solidFill>
                      <a:srgbClr val="FFFFFF"/>
                    </a:solidFill>
                  </a:tcPr>
                </a:tc>
                <a:tc>
                  <a:txBody>
                    <a:bodyPr/>
                    <a:lstStyle/>
                    <a:p>
                      <a:r>
                        <a:rPr sz="1500" b="0" i="0">
                          <a:solidFill>
                            <a:srgbClr val="11202B"/>
                          </a:solidFill>
                          <a:latin typeface="Malgun Gothic"/>
                          <a:ea typeface="Malgun Gothic"/>
                          <a:cs typeface="Malgun Gothic"/>
                        </a:rPr>
                        <a:t>CGG</a:t>
                      </a:r>
                    </a:p>
                  </a:txBody>
                  <a:tcPr marL="73152" marR="73152">
                    <a:solidFill>
                      <a:srgbClr val="FFFFFF"/>
                    </a:solidFill>
                  </a:tcPr>
                </a:tc>
                <a:tc>
                  <a:txBody>
                    <a:bodyPr/>
                    <a:lstStyle/>
                    <a:p>
                      <a:r>
                        <a:rPr sz="1500" b="0" i="0">
                          <a:solidFill>
                            <a:srgbClr val="11202B"/>
                          </a:solidFill>
                          <a:latin typeface="Malgun Gothic"/>
                          <a:ea typeface="Malgun Gothic"/>
                          <a:cs typeface="Malgun Gothic"/>
                        </a:rPr>
                        <a:t>과확장 → </a:t>
                      </a:r>
                      <a:r>
                        <a:rPr sz="1500" b="1" i="0">
                          <a:solidFill>
                            <a:srgbClr val="11202B"/>
                          </a:solidFill>
                          <a:latin typeface="Malgun Gothic"/>
                          <a:ea typeface="Malgun Gothic"/>
                          <a:cs typeface="Malgun Gothic"/>
                        </a:rPr>
                        <a:t>메틸화·침묵(기능소실)</a:t>
                      </a:r>
                      <a:r>
                        <a:rPr sz="1500" b="0" i="0">
                          <a:solidFill>
                            <a:srgbClr val="11202B"/>
                          </a:solidFill>
                          <a:latin typeface="Malgun Gothic"/>
                          <a:ea typeface="Malgun Gothic"/>
                          <a:cs typeface="Malgun Gothic"/>
                        </a:rPr>
                        <a:t> / 전돌연변이 → RNA 독성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FXS / FXTAS·FXPOI</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인트론</a:t>
                      </a:r>
                    </a:p>
                  </a:txBody>
                  <a:tcPr marL="73152" marR="73152">
                    <a:solidFill>
                      <a:srgbClr val="ECF1F5"/>
                    </a:solidFill>
                  </a:tcPr>
                </a:tc>
                <a:tc>
                  <a:txBody>
                    <a:bodyPr/>
                    <a:lstStyle/>
                    <a:p>
                      <a:r>
                        <a:rPr sz="1500" b="0" i="0">
                          <a:solidFill>
                            <a:srgbClr val="11202B"/>
                          </a:solidFill>
                          <a:latin typeface="Malgun Gothic"/>
                          <a:ea typeface="Malgun Gothic"/>
                          <a:cs typeface="Malgun Gothic"/>
                        </a:rPr>
                        <a:t>GAA</a:t>
                      </a:r>
                    </a:p>
                  </a:txBody>
                  <a:tcPr marL="73152" marR="73152">
                    <a:solidFill>
                      <a:srgbClr val="ECF1F5"/>
                    </a:solidFill>
                  </a:tcPr>
                </a:tc>
                <a:tc>
                  <a:txBody>
                    <a:bodyPr/>
                    <a:lstStyle/>
                    <a:p>
                      <a:r>
                        <a:rPr sz="1500" b="0" i="0">
                          <a:solidFill>
                            <a:srgbClr val="11202B"/>
                          </a:solidFill>
                          <a:latin typeface="Malgun Gothic"/>
                          <a:ea typeface="Malgun Gothic"/>
                          <a:cs typeface="Malgun Gothic"/>
                        </a:rPr>
                        <a:t>이질염색질화 → 전사 감소(기능소실)</a:t>
                      </a:r>
                    </a:p>
                  </a:txBody>
                  <a:tcPr marL="73152" marR="73152">
                    <a:solidFill>
                      <a:srgbClr val="ECF1F5"/>
                    </a:solidFill>
                  </a:tcPr>
                </a:tc>
                <a:tc>
                  <a:txBody>
                    <a:bodyPr/>
                    <a:lstStyle/>
                    <a:p>
                      <a:r>
                        <a:rPr sz="1500" b="0" i="0">
                          <a:solidFill>
                            <a:srgbClr val="11202B"/>
                          </a:solidFill>
                          <a:latin typeface="Malgun Gothic"/>
                          <a:ea typeface="Malgun Gothic"/>
                          <a:cs typeface="Malgun Gothic"/>
                        </a:rPr>
                        <a:t>프리드라이히 운동실조(FXN), SCA27B(FGF14)</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인트론</a:t>
                      </a:r>
                    </a:p>
                  </a:txBody>
                  <a:tcPr marL="73152" marR="73152">
                    <a:solidFill>
                      <a:srgbClr val="FFFFFF"/>
                    </a:solidFill>
                  </a:tcPr>
                </a:tc>
                <a:tc>
                  <a:txBody>
                    <a:bodyPr/>
                    <a:lstStyle/>
                    <a:p>
                      <a:r>
                        <a:rPr sz="1500" b="0" i="0">
                          <a:solidFill>
                            <a:srgbClr val="11202B"/>
                          </a:solidFill>
                          <a:latin typeface="Malgun Gothic"/>
                          <a:ea typeface="Malgun Gothic"/>
                          <a:cs typeface="Malgun Gothic"/>
                        </a:rPr>
                        <a:t>GGGGCC</a:t>
                      </a:r>
                    </a:p>
                  </a:txBody>
                  <a:tcPr marL="73152" marR="73152">
                    <a:solidFill>
                      <a:srgbClr val="FFFFFF"/>
                    </a:solidFill>
                  </a:tcPr>
                </a:tc>
                <a:tc>
                  <a:txBody>
                    <a:bodyPr/>
                    <a:lstStyle/>
                    <a:p>
                      <a:r>
                        <a:rPr sz="1500" b="0" i="0">
                          <a:solidFill>
                            <a:srgbClr val="11202B"/>
                          </a:solidFill>
                          <a:latin typeface="Malgun Gothic"/>
                          <a:ea typeface="Malgun Gothic"/>
                          <a:cs typeface="Malgun Gothic"/>
                        </a:rPr>
                        <a:t>RNA 병소 + RAN 펩타이드 + 기능소실</a:t>
                      </a:r>
                    </a:p>
                  </a:txBody>
                  <a:tcPr marL="73152" marR="73152">
                    <a:solidFill>
                      <a:srgbClr val="FFFFFF"/>
                    </a:solidFill>
                  </a:tcPr>
                </a:tc>
                <a:tc>
                  <a:txBody>
                    <a:bodyPr/>
                    <a:lstStyle/>
                    <a:p>
                      <a:r>
                        <a:rPr sz="1500" b="0" i="0">
                          <a:solidFill>
                            <a:srgbClr val="11202B"/>
                          </a:solidFill>
                          <a:latin typeface="Malgun Gothic"/>
                          <a:ea typeface="Malgun Gothic"/>
                          <a:cs typeface="Malgun Gothic"/>
                        </a:rPr>
                        <a:t>C9orf72 ALS/FTD</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인트론</a:t>
                      </a:r>
                    </a:p>
                  </a:txBody>
                  <a:tcPr marL="73152" marR="73152">
                    <a:solidFill>
                      <a:srgbClr val="ECF1F5"/>
                    </a:solidFill>
                  </a:tcPr>
                </a:tc>
                <a:tc>
                  <a:txBody>
                    <a:bodyPr/>
                    <a:lstStyle/>
                    <a:p>
                      <a:r>
                        <a:rPr sz="1500" b="0" i="0">
                          <a:solidFill>
                            <a:srgbClr val="11202B"/>
                          </a:solidFill>
                          <a:latin typeface="Malgun Gothic"/>
                          <a:ea typeface="Malgun Gothic"/>
                          <a:cs typeface="Malgun Gothic"/>
                        </a:rPr>
                        <a:t>CCTG</a:t>
                      </a:r>
                    </a:p>
                  </a:txBody>
                  <a:tcPr marL="73152" marR="73152">
                    <a:solidFill>
                      <a:srgbClr val="ECF1F5"/>
                    </a:solidFill>
                  </a:tcPr>
                </a:tc>
                <a:tc>
                  <a:txBody>
                    <a:bodyPr/>
                    <a:lstStyle/>
                    <a:p>
                      <a:r>
                        <a:rPr sz="1500" b="0" i="0">
                          <a:solidFill>
                            <a:srgbClr val="11202B"/>
                          </a:solidFill>
                          <a:latin typeface="Malgun Gothic"/>
                          <a:ea typeface="Malgun Gothic"/>
                          <a:cs typeface="Malgun Gothic"/>
                        </a:rPr>
                        <a:t>RNA 병소(MBNL 격리)</a:t>
                      </a:r>
                    </a:p>
                  </a:txBody>
                  <a:tcPr marL="73152" marR="73152">
                    <a:solidFill>
                      <a:srgbClr val="ECF1F5"/>
                    </a:solidFill>
                  </a:tcPr>
                </a:tc>
                <a:tc>
                  <a:txBody>
                    <a:bodyPr/>
                    <a:lstStyle/>
                    <a:p>
                      <a:r>
                        <a:rPr sz="1500" b="0" i="0">
                          <a:solidFill>
                            <a:srgbClr val="11202B"/>
                          </a:solidFill>
                          <a:latin typeface="Malgun Gothic"/>
                          <a:ea typeface="Malgun Gothic"/>
                          <a:cs typeface="Malgun Gothic"/>
                        </a:rPr>
                        <a:t>DM2(CNBP)</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3'UTR</a:t>
                      </a:r>
                    </a:p>
                  </a:txBody>
                  <a:tcPr marL="73152" marR="73152">
                    <a:solidFill>
                      <a:srgbClr val="FFFFFF"/>
                    </a:solidFill>
                  </a:tcPr>
                </a:tc>
                <a:tc>
                  <a:txBody>
                    <a:bodyPr/>
                    <a:lstStyle/>
                    <a:p>
                      <a:r>
                        <a:rPr sz="1500" b="0" i="0">
                          <a:solidFill>
                            <a:srgbClr val="11202B"/>
                          </a:solidFill>
                          <a:latin typeface="Malgun Gothic"/>
                          <a:ea typeface="Malgun Gothic"/>
                          <a:cs typeface="Malgun Gothic"/>
                        </a:rPr>
                        <a:t>CTG</a:t>
                      </a:r>
                    </a:p>
                  </a:txBody>
                  <a:tcPr marL="73152" marR="73152">
                    <a:solidFill>
                      <a:srgbClr val="FFFFFF"/>
                    </a:solidFill>
                  </a:tcPr>
                </a:tc>
                <a:tc>
                  <a:txBody>
                    <a:bodyPr/>
                    <a:lstStyle/>
                    <a:p>
                      <a:r>
                        <a:rPr sz="1500" b="0" i="0">
                          <a:solidFill>
                            <a:srgbClr val="11202B"/>
                          </a:solidFill>
                          <a:latin typeface="Malgun Gothic"/>
                          <a:ea typeface="Malgun Gothic"/>
                          <a:cs typeface="Malgun Gothic"/>
                        </a:rPr>
                        <a:t>RNA 병소(MBNL 격리, CELF1↑)</a:t>
                      </a:r>
                    </a:p>
                  </a:txBody>
                  <a:tcPr marL="73152" marR="73152">
                    <a:solidFill>
                      <a:srgbClr val="FFFFFF"/>
                    </a:solidFill>
                  </a:tcPr>
                </a:tc>
                <a:tc>
                  <a:txBody>
                    <a:bodyPr/>
                    <a:lstStyle/>
                    <a:p>
                      <a:r>
                        <a:rPr sz="1500" b="0" i="0">
                          <a:solidFill>
                            <a:srgbClr val="11202B"/>
                          </a:solidFill>
                          <a:latin typeface="Malgun Gothic"/>
                          <a:ea typeface="Malgun Gothic"/>
                          <a:cs typeface="Malgun Gothic"/>
                        </a:rPr>
                        <a:t>DM1(DMPK)</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인트론</a:t>
                      </a:r>
                    </a:p>
                  </a:txBody>
                  <a:tcPr marL="73152" marR="73152">
                    <a:solidFill>
                      <a:srgbClr val="ECF1F5"/>
                    </a:solidFill>
                  </a:tcPr>
                </a:tc>
                <a:tc>
                  <a:txBody>
                    <a:bodyPr/>
                    <a:lstStyle/>
                    <a:p>
                      <a:r>
                        <a:rPr sz="1500" b="0" i="0">
                          <a:solidFill>
                            <a:srgbClr val="11202B"/>
                          </a:solidFill>
                          <a:latin typeface="Malgun Gothic"/>
                          <a:ea typeface="Malgun Gothic"/>
                          <a:cs typeface="Malgun Gothic"/>
                        </a:rPr>
                        <a:t>AAGGG (양대립)</a:t>
                      </a:r>
                    </a:p>
                  </a:txBody>
                  <a:tcPr marL="73152" marR="73152">
                    <a:solidFill>
                      <a:srgbClr val="ECF1F5"/>
                    </a:solidFill>
                  </a:tcPr>
                </a:tc>
                <a:tc>
                  <a:txBody>
                    <a:bodyPr/>
                    <a:lstStyle/>
                    <a:p>
                      <a:r>
                        <a:rPr sz="1500" b="0" i="0">
                          <a:solidFill>
                            <a:srgbClr val="11202B"/>
                          </a:solidFill>
                          <a:latin typeface="Malgun Gothic"/>
                          <a:ea typeface="Malgun Gothic"/>
                          <a:cs typeface="Malgun Gothic"/>
                        </a:rPr>
                        <a:t>기능?</a:t>
                      </a:r>
                    </a:p>
                  </a:txBody>
                  <a:tcPr marL="73152" marR="73152">
                    <a:solidFill>
                      <a:srgbClr val="ECF1F5"/>
                    </a:solidFill>
                  </a:tcPr>
                </a:tc>
                <a:tc>
                  <a:txBody>
                    <a:bodyPr/>
                    <a:lstStyle/>
                    <a:p>
                      <a:r>
                        <a:rPr sz="1500" b="0" i="0">
                          <a:solidFill>
                            <a:srgbClr val="11202B"/>
                          </a:solidFill>
                          <a:latin typeface="Malgun Gothic"/>
                          <a:ea typeface="Malgun Gothic"/>
                          <a:cs typeface="Malgun Gothic"/>
                        </a:rPr>
                        <a:t>CANVAS(RFC1)</a:t>
                      </a:r>
                    </a:p>
                  </a:txBody>
                  <a:tcPr marL="73152" marR="73152">
                    <a:solidFill>
                      <a:srgbClr val="ECF1F5"/>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반복 확장 질환의 분류와 기전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위치</a:t>
                      </a:r>
                    </a:p>
                  </a:txBody>
                  <a:tcPr marL="73152" marR="73152">
                    <a:solidFill>
                      <a:srgbClr val="003C71"/>
                    </a:solidFill>
                  </a:tcPr>
                </a:tc>
                <a:tc>
                  <a:txBody>
                    <a:bodyPr/>
                    <a:lstStyle/>
                    <a:p>
                      <a:r>
                        <a:rPr sz="1500" b="1" i="0">
                          <a:solidFill>
                            <a:srgbClr val="FFFFFF"/>
                          </a:solidFill>
                          <a:latin typeface="Malgun Gothic"/>
                          <a:ea typeface="Malgun Gothic"/>
                          <a:cs typeface="Malgun Gothic"/>
                        </a:rPr>
                        <a:t>반복</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예</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인트론·5'UTR</a:t>
                      </a:r>
                    </a:p>
                  </a:txBody>
                  <a:tcPr marL="73152" marR="73152">
                    <a:solidFill>
                      <a:srgbClr val="FFFFFF"/>
                    </a:solidFill>
                  </a:tcPr>
                </a:tc>
                <a:tc>
                  <a:txBody>
                    <a:bodyPr/>
                    <a:lstStyle/>
                    <a:p>
                      <a:r>
                        <a:rPr sz="1500" b="0" i="0">
                          <a:solidFill>
                            <a:srgbClr val="11202B"/>
                          </a:solidFill>
                          <a:latin typeface="Malgun Gothic"/>
                          <a:ea typeface="Malgun Gothic"/>
                          <a:cs typeface="Malgun Gothic"/>
                        </a:rPr>
                        <a:t>TTTCA, 기타 오각형</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가족성 성인 근간대 뇌전증(FAME)</a:t>
                      </a:r>
                    </a:p>
                  </a:txBody>
                  <a:tcPr marL="73152" marR="7315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척수소뇌실조증과 polyQ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SCA</a:t>
            </a:r>
            <a:r>
              <a:rPr sz="2000" b="0" i="0">
                <a:solidFill>
                  <a:srgbClr val="11202B"/>
                </a:solidFill>
                <a:latin typeface="Malgun Gothic"/>
                <a:ea typeface="Malgun Gothic"/>
                <a:cs typeface="Malgun Gothic"/>
              </a:rPr>
              <a:t>: 상염색체 우성 운동실조 50여 형; polyQ형(SCA1, 2, 3, 6, 7, 17, DRPLA)이 가장 흔함.</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공통 병리: 핵 봉입체, 전사 이상, 퍼킨예 세포 소실(소뇌), 뇌간 침범.</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진단: 반복 확장 패널(SCA1/2/3/6/7/17·DRPLA·FXN·RFC1·FGF14).</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치료: 대증(재활 — 집중 운동 재활이 운동실조 점수 개선), 리루졸(소규모), ASO(ATXN2 — ALS 대상, ATXN3 — SCA3 1상, ATXN1), 표적 RNAi.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척수소뇌실조증과 polyQ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300" b="1" i="0">
                          <a:solidFill>
                            <a:srgbClr val="FFFFFF"/>
                          </a:solidFill>
                          <a:latin typeface="Malgun Gothic"/>
                          <a:ea typeface="Malgun Gothic"/>
                          <a:cs typeface="Malgun Gothic"/>
                        </a:rPr>
                        <a:t>유전자</a:t>
                      </a:r>
                    </a:p>
                  </a:txBody>
                  <a:tcPr marL="73152" marR="73152">
                    <a:solidFill>
                      <a:srgbClr val="003C71"/>
                    </a:solidFill>
                  </a:tcPr>
                </a:tc>
                <a:tc>
                  <a:txBody>
                    <a:bodyPr/>
                    <a:lstStyle/>
                    <a:p>
                      <a:r>
                        <a:rPr sz="13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SCA3</a:t>
                      </a:r>
                      <a:r>
                        <a:rPr sz="1300" b="0" i="0">
                          <a:solidFill>
                            <a:srgbClr val="11202B"/>
                          </a:solidFill>
                          <a:latin typeface="Malgun Gothic"/>
                          <a:ea typeface="Malgun Gothic"/>
                          <a:cs typeface="Malgun Gothic"/>
                        </a:rPr>
                        <a:t>(마차도-조셉병)</a:t>
                      </a:r>
                    </a:p>
                  </a:txBody>
                  <a:tcPr marL="73152" marR="73152">
                    <a:solidFill>
                      <a:srgbClr val="FFFFFF"/>
                    </a:solidFill>
                  </a:tcPr>
                </a:tc>
                <a:tc>
                  <a:txBody>
                    <a:bodyPr/>
                    <a:lstStyle/>
                    <a:p>
                      <a:r>
                        <a:rPr sz="1300" b="0" i="0">
                          <a:solidFill>
                            <a:srgbClr val="11202B"/>
                          </a:solidFill>
                          <a:latin typeface="Malgun Gothic"/>
                          <a:ea typeface="Malgun Gothic"/>
                          <a:cs typeface="Malgun Gothic"/>
                        </a:rPr>
                        <a:t>ATXN3</a:t>
                      </a:r>
                    </a:p>
                  </a:txBody>
                  <a:tcPr marL="73152" marR="73152">
                    <a:solidFill>
                      <a:srgbClr val="FFFFFF"/>
                    </a:solidFill>
                  </a:tcPr>
                </a:tc>
                <a:tc>
                  <a:txBody>
                    <a:bodyPr/>
                    <a:lstStyle/>
                    <a:p>
                      <a:r>
                        <a:rPr sz="1300" b="0" i="0">
                          <a:solidFill>
                            <a:srgbClr val="11202B"/>
                          </a:solidFill>
                          <a:latin typeface="Malgun Gothic"/>
                          <a:ea typeface="Malgun Gothic"/>
                          <a:cs typeface="Malgun Gothic"/>
                        </a:rPr>
                        <a:t>세계적으로 가장 흔한 SCA(한국·중국·브라질·포르투갈), 운동실조 + 경직·근긴장이상·파킨슨증·외안근마비·'튀어나온 눈'</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SCA2</a:t>
                      </a:r>
                    </a:p>
                  </a:txBody>
                  <a:tcPr marL="73152" marR="73152">
                    <a:solidFill>
                      <a:srgbClr val="ECF1F5"/>
                    </a:solidFill>
                  </a:tcPr>
                </a:tc>
                <a:tc>
                  <a:txBody>
                    <a:bodyPr/>
                    <a:lstStyle/>
                    <a:p>
                      <a:r>
                        <a:rPr sz="1300" b="0" i="0">
                          <a:solidFill>
                            <a:srgbClr val="11202B"/>
                          </a:solidFill>
                          <a:latin typeface="Malgun Gothic"/>
                          <a:ea typeface="Malgun Gothic"/>
                          <a:cs typeface="Malgun Gothic"/>
                        </a:rPr>
                        <a:t>ATXN2</a:t>
                      </a:r>
                    </a:p>
                  </a:txBody>
                  <a:tcPr marL="73152" marR="73152">
                    <a:solidFill>
                      <a:srgbClr val="ECF1F5"/>
                    </a:solidFill>
                  </a:tcPr>
                </a:tc>
                <a:tc>
                  <a:txBody>
                    <a:bodyPr/>
                    <a:lstStyle/>
                    <a:p>
                      <a:r>
                        <a:rPr sz="1300" b="1" i="0">
                          <a:solidFill>
                            <a:srgbClr val="11202B"/>
                          </a:solidFill>
                          <a:latin typeface="Malgun Gothic"/>
                          <a:ea typeface="Malgun Gothic"/>
                          <a:cs typeface="Malgun Gothic"/>
                        </a:rPr>
                        <a:t>느린 단속운동</a:t>
                      </a:r>
                      <a:r>
                        <a:rPr sz="1300" b="0" i="0">
                          <a:solidFill>
                            <a:srgbClr val="11202B"/>
                          </a:solidFill>
                          <a:latin typeface="Malgun Gothic"/>
                          <a:ea typeface="Malgun Gothic"/>
                          <a:cs typeface="Malgun Gothic"/>
                        </a:rPr>
                        <a:t>, 신경병증, 파킨슨증; 중간 확장(27–33)은 </a:t>
                      </a:r>
                      <a:r>
                        <a:rPr sz="1300" b="1" i="0">
                          <a:solidFill>
                            <a:srgbClr val="11202B"/>
                          </a:solidFill>
                          <a:latin typeface="Malgun Gothic"/>
                          <a:ea typeface="Malgun Gothic"/>
                          <a:cs typeface="Malgun Gothic"/>
                        </a:rPr>
                        <a:t>ALS 위험 인자</a:t>
                      </a:r>
                      <a:r>
                        <a:rPr sz="1300" b="0" i="0">
                          <a:solidFill>
                            <a:srgbClr val="11202B"/>
                          </a:solidFill>
                          <a:latin typeface="Malgun Gothic"/>
                          <a:ea typeface="Malgun Gothic"/>
                          <a:cs typeface="Malgun Gothic"/>
                        </a:rPr>
                        <a:t>(TDP-43 독성 수정 → ATXN2 저하 ASO 시험)</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SCA1</a:t>
                      </a:r>
                    </a:p>
                  </a:txBody>
                  <a:tcPr marL="73152" marR="73152">
                    <a:solidFill>
                      <a:srgbClr val="FFFFFF"/>
                    </a:solidFill>
                  </a:tcPr>
                </a:tc>
                <a:tc>
                  <a:txBody>
                    <a:bodyPr/>
                    <a:lstStyle/>
                    <a:p>
                      <a:r>
                        <a:rPr sz="1300" b="0" i="0">
                          <a:solidFill>
                            <a:srgbClr val="11202B"/>
                          </a:solidFill>
                          <a:latin typeface="Malgun Gothic"/>
                          <a:ea typeface="Malgun Gothic"/>
                          <a:cs typeface="Malgun Gothic"/>
                        </a:rPr>
                        <a:t>ATXN1</a:t>
                      </a:r>
                    </a:p>
                  </a:txBody>
                  <a:tcPr marL="73152" marR="73152">
                    <a:solidFill>
                      <a:srgbClr val="FFFFFF"/>
                    </a:solidFill>
                  </a:tcPr>
                </a:tc>
                <a:tc>
                  <a:txBody>
                    <a:bodyPr/>
                    <a:lstStyle/>
                    <a:p>
                      <a:r>
                        <a:rPr sz="1300" b="0" i="0">
                          <a:solidFill>
                            <a:srgbClr val="11202B"/>
                          </a:solidFill>
                          <a:latin typeface="Malgun Gothic"/>
                          <a:ea typeface="Malgun Gothic"/>
                          <a:cs typeface="Malgun Gothic"/>
                        </a:rPr>
                        <a:t>운동실조 + 연수 증상·추체로</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SCA6</a:t>
                      </a:r>
                    </a:p>
                  </a:txBody>
                  <a:tcPr marL="73152" marR="73152">
                    <a:solidFill>
                      <a:srgbClr val="ECF1F5"/>
                    </a:solidFill>
                  </a:tcPr>
                </a:tc>
                <a:tc>
                  <a:txBody>
                    <a:bodyPr/>
                    <a:lstStyle/>
                    <a:p>
                      <a:r>
                        <a:rPr sz="1300" b="0" i="0">
                          <a:solidFill>
                            <a:srgbClr val="11202B"/>
                          </a:solidFill>
                          <a:latin typeface="Malgun Gothic"/>
                          <a:ea typeface="Malgun Gothic"/>
                          <a:cs typeface="Malgun Gothic"/>
                        </a:rPr>
                        <a:t>CACNA1A (작은 확장 21–33)</a:t>
                      </a:r>
                    </a:p>
                  </a:txBody>
                  <a:tcPr marL="73152" marR="73152">
                    <a:solidFill>
                      <a:srgbClr val="ECF1F5"/>
                    </a:solidFill>
                  </a:tcPr>
                </a:tc>
                <a:tc>
                  <a:txBody>
                    <a:bodyPr/>
                    <a:lstStyle/>
                    <a:p>
                      <a:r>
                        <a:rPr sz="1300" b="0" i="0">
                          <a:solidFill>
                            <a:srgbClr val="11202B"/>
                          </a:solidFill>
                          <a:latin typeface="Malgun Gothic"/>
                          <a:ea typeface="Malgun Gothic"/>
                          <a:cs typeface="Malgun Gothic"/>
                        </a:rPr>
                        <a:t>순수 소뇌형, 늦은 발병, 하방 안진</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SCA7</a:t>
                      </a:r>
                    </a:p>
                  </a:txBody>
                  <a:tcPr marL="73152" marR="73152">
                    <a:solidFill>
                      <a:srgbClr val="FFFFFF"/>
                    </a:solidFill>
                  </a:tcPr>
                </a:tc>
                <a:tc>
                  <a:txBody>
                    <a:bodyPr/>
                    <a:lstStyle/>
                    <a:p>
                      <a:r>
                        <a:rPr sz="1300" b="0" i="0">
                          <a:solidFill>
                            <a:srgbClr val="11202B"/>
                          </a:solidFill>
                          <a:latin typeface="Malgun Gothic"/>
                          <a:ea typeface="Malgun Gothic"/>
                          <a:cs typeface="Malgun Gothic"/>
                        </a:rPr>
                        <a:t>ATXN7</a:t>
                      </a:r>
                    </a:p>
                  </a:txBody>
                  <a:tcPr marL="73152" marR="73152">
                    <a:solidFill>
                      <a:srgbClr val="FFFFFF"/>
                    </a:solidFill>
                  </a:tcPr>
                </a:tc>
                <a:tc>
                  <a:txBody>
                    <a:bodyPr/>
                    <a:lstStyle/>
                    <a:p>
                      <a:r>
                        <a:rPr sz="1300" b="0" i="0">
                          <a:solidFill>
                            <a:srgbClr val="11202B"/>
                          </a:solidFill>
                          <a:latin typeface="Malgun Gothic"/>
                          <a:ea typeface="Malgun Gothic"/>
                          <a:cs typeface="Malgun Gothic"/>
                        </a:rPr>
                        <a:t>운동실조 + </a:t>
                      </a:r>
                      <a:r>
                        <a:rPr sz="1300" b="1" i="0">
                          <a:solidFill>
                            <a:srgbClr val="11202B"/>
                          </a:solidFill>
                          <a:latin typeface="Malgun Gothic"/>
                          <a:ea typeface="Malgun Gothic"/>
                          <a:cs typeface="Malgun Gothic"/>
                        </a:rPr>
                        <a:t>망막 황반 변성(시력 소실)</a:t>
                      </a:r>
                      <a:r>
                        <a:rPr sz="1300" b="0" i="0">
                          <a:solidFill>
                            <a:srgbClr val="11202B"/>
                          </a:solidFill>
                          <a:latin typeface="Malgun Gothic"/>
                          <a:ea typeface="Malgun Gothic"/>
                          <a:cs typeface="Malgun Gothic"/>
                        </a:rPr>
                        <a:t>, 큰 안티시페이션</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SCA17</a:t>
                      </a:r>
                    </a:p>
                  </a:txBody>
                  <a:tcPr marL="73152" marR="73152">
                    <a:solidFill>
                      <a:srgbClr val="ECF1F5"/>
                    </a:solidFill>
                  </a:tcPr>
                </a:tc>
                <a:tc>
                  <a:txBody>
                    <a:bodyPr/>
                    <a:lstStyle/>
                    <a:p>
                      <a:r>
                        <a:rPr sz="1300" b="0" i="0">
                          <a:solidFill>
                            <a:srgbClr val="11202B"/>
                          </a:solidFill>
                          <a:latin typeface="Malgun Gothic"/>
                          <a:ea typeface="Malgun Gothic"/>
                          <a:cs typeface="Malgun Gothic"/>
                        </a:rPr>
                        <a:t>TBP</a:t>
                      </a:r>
                    </a:p>
                  </a:txBody>
                  <a:tcPr marL="73152" marR="73152">
                    <a:solidFill>
                      <a:srgbClr val="ECF1F5"/>
                    </a:solidFill>
                  </a:tcPr>
                </a:tc>
                <a:tc>
                  <a:txBody>
                    <a:bodyPr/>
                    <a:lstStyle/>
                    <a:p>
                      <a:r>
                        <a:rPr sz="1300" b="0" i="0">
                          <a:solidFill>
                            <a:srgbClr val="11202B"/>
                          </a:solidFill>
                          <a:latin typeface="Malgun Gothic"/>
                          <a:ea typeface="Malgun Gothic"/>
                          <a:cs typeface="Malgun Gothic"/>
                        </a:rPr>
                        <a:t>운동실조 + 무도증·치매·정신증(HD 유사 — HDL4)</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DRPLA</a:t>
                      </a:r>
                    </a:p>
                  </a:txBody>
                  <a:tcPr marL="73152" marR="73152">
                    <a:solidFill>
                      <a:srgbClr val="FFFFFF"/>
                    </a:solidFill>
                  </a:tcPr>
                </a:tc>
                <a:tc>
                  <a:txBody>
                    <a:bodyPr/>
                    <a:lstStyle/>
                    <a:p>
                      <a:r>
                        <a:rPr sz="1300" b="0" i="0">
                          <a:solidFill>
                            <a:srgbClr val="11202B"/>
                          </a:solidFill>
                          <a:latin typeface="Malgun Gothic"/>
                          <a:ea typeface="Malgun Gothic"/>
                          <a:cs typeface="Malgun Gothic"/>
                        </a:rPr>
                        <a:t>ATN1</a:t>
                      </a:r>
                    </a:p>
                  </a:txBody>
                  <a:tcPr marL="73152" marR="73152">
                    <a:solidFill>
                      <a:srgbClr val="FFFFFF"/>
                    </a:solidFill>
                  </a:tcPr>
                </a:tc>
                <a:tc>
                  <a:txBody>
                    <a:bodyPr/>
                    <a:lstStyle/>
                    <a:p>
                      <a:r>
                        <a:rPr sz="1300" b="0" i="0">
                          <a:solidFill>
                            <a:srgbClr val="11202B"/>
                          </a:solidFill>
                          <a:latin typeface="Malgun Gothic"/>
                          <a:ea typeface="Malgun Gothic"/>
                          <a:cs typeface="Malgun Gothic"/>
                        </a:rPr>
                        <a:t>일본 흔함; 소아 근간대 뇌전증 / 성인 운동실조·무도증·치매</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SBMA</a:t>
                      </a:r>
                      <a:r>
                        <a:rPr sz="1300" b="0" i="0">
                          <a:solidFill>
                            <a:srgbClr val="11202B"/>
                          </a:solidFill>
                          <a:latin typeface="Malgun Gothic"/>
                          <a:ea typeface="Malgun Gothic"/>
                          <a:cs typeface="Malgun Gothic"/>
                        </a:rPr>
                        <a:t>(케네디병)</a:t>
                      </a:r>
                    </a:p>
                  </a:txBody>
                  <a:tcPr marL="73152" marR="73152">
                    <a:solidFill>
                      <a:srgbClr val="ECF1F5"/>
                    </a:solidFill>
                  </a:tcPr>
                </a:tc>
                <a:tc>
                  <a:txBody>
                    <a:bodyPr/>
                    <a:lstStyle/>
                    <a:p>
                      <a:r>
                        <a:rPr sz="1300" b="0" i="0">
                          <a:solidFill>
                            <a:srgbClr val="11202B"/>
                          </a:solidFill>
                          <a:latin typeface="Malgun Gothic"/>
                          <a:ea typeface="Malgun Gothic"/>
                          <a:cs typeface="Malgun Gothic"/>
                        </a:rPr>
                        <a:t>AR (X연관)</a:t>
                      </a:r>
                    </a:p>
                  </a:txBody>
                  <a:tcPr marL="73152" marR="73152">
                    <a:solidFill>
                      <a:srgbClr val="ECF1F5"/>
                    </a:solidFill>
                  </a:tcPr>
                </a:tc>
                <a:tc>
                  <a:txBody>
                    <a:bodyPr/>
                    <a:lstStyle/>
                    <a:p>
                      <a:r>
                        <a:rPr sz="1300" b="0" i="0">
                          <a:solidFill>
                            <a:srgbClr val="11202B"/>
                          </a:solidFill>
                          <a:latin typeface="Malgun Gothic"/>
                          <a:ea typeface="Malgun Gothic"/>
                          <a:cs typeface="Malgun Gothic"/>
                        </a:rPr>
                        <a:t>남성 하위 운동신경세포·연수 근위축, 여성형 유방·고환 위축(안드로겐 무감응 부분) — </a:t>
                      </a:r>
                      <a:r>
                        <a:rPr sz="1300" b="1" i="0">
                          <a:solidFill>
                            <a:srgbClr val="11202B"/>
                          </a:solidFill>
                          <a:latin typeface="Malgun Gothic"/>
                          <a:ea typeface="Malgun Gothic"/>
                          <a:cs typeface="Malgun Gothic"/>
                        </a:rPr>
                        <a:t>리간드(테스토스테론) 의존 독성</a:t>
                      </a:r>
                      <a:r>
                        <a:rPr sz="1300" b="0" i="0">
                          <a:solidFill>
                            <a:srgbClr val="11202B"/>
                          </a:solidFill>
                          <a:latin typeface="Malgun Gothic"/>
                          <a:ea typeface="Malgun Gothic"/>
                          <a:cs typeface="Malgun Gothic"/>
                        </a:rPr>
                        <a:t>(여성 보인자 무증상) → 류프롤라이드 시험</a:t>
                      </a:r>
                    </a:p>
                  </a:txBody>
                  <a:tcPr marL="73152" marR="73152">
                    <a:solidFill>
                      <a:srgbClr val="ECF1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취약 X 관련 질환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FMR1 5'UTR CGG 반복: 정상 &lt;45, 중간(회색) 45–54, </a:t>
            </a:r>
            <a:r>
              <a:rPr sz="1800" b="1" i="0">
                <a:solidFill>
                  <a:srgbClr val="11202B"/>
                </a:solidFill>
                <a:latin typeface="Malgun Gothic"/>
                <a:ea typeface="Malgun Gothic"/>
                <a:cs typeface="Malgun Gothic"/>
              </a:rPr>
              <a:t>전돌연변이 55–200</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완전 돌연변이 &gt;200</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완전 돌연변이 → 취약 X 증후군(FXS)</a:t>
            </a:r>
            <a:r>
              <a:rPr sz="1800" b="0" i="0">
                <a:solidFill>
                  <a:srgbClr val="11202B"/>
                </a:solidFill>
                <a:latin typeface="Malgun Gothic"/>
                <a:ea typeface="Malgun Gothic"/>
                <a:cs typeface="Malgun Gothic"/>
              </a:rPr>
              <a:t>: CGG 과확장 → 프로모터·반복 </a:t>
            </a:r>
            <a:r>
              <a:rPr sz="1800" b="1" i="0">
                <a:solidFill>
                  <a:srgbClr val="11202B"/>
                </a:solidFill>
                <a:latin typeface="Malgun Gothic"/>
                <a:ea typeface="Malgun Gothic"/>
                <a:cs typeface="Malgun Gothic"/>
              </a:rPr>
              <a:t>과메틸화</a:t>
            </a:r>
            <a:r>
              <a:rPr sz="1800" b="0" i="0">
                <a:solidFill>
                  <a:srgbClr val="11202B"/>
                </a:solidFill>
                <a:latin typeface="Malgun Gothic"/>
                <a:ea typeface="Malgun Gothic"/>
                <a:cs typeface="Malgun Gothic"/>
              </a:rPr>
              <a:t> → 이질염색질 → FMR1 전사 침묵 → </a:t>
            </a:r>
            <a:r>
              <a:rPr sz="1800" b="1" i="0">
                <a:solidFill>
                  <a:srgbClr val="11202B"/>
                </a:solidFill>
                <a:latin typeface="Malgun Gothic"/>
                <a:ea typeface="Malgun Gothic"/>
                <a:cs typeface="Malgun Gothic"/>
              </a:rPr>
              <a:t>FMRP 결손</a:t>
            </a:r>
            <a:r>
              <a:rPr sz="1800" b="0" i="0">
                <a:solidFill>
                  <a:srgbClr val="11202B"/>
                </a:solidFill>
                <a:latin typeface="Malgun Gothic"/>
                <a:ea typeface="Malgun Gothic"/>
                <a:cs typeface="Malgun Gothic"/>
              </a:rPr>
              <a:t>(mRNA 결합 번역 억제자; 시냅스 국소 번역 조절) → mGluR5 의존 장기 억압 과다·시냅스 단백 과합성('mGluR 이론').</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임상: 유전성 지적장애·자폐의 가장 흔한 단일 원인(남성 ~1/4,000), 긴 얼굴·큰 귀, 대고환증(사춘기 후), 결합조직 과유연, 불안·과잉행동·시선 회피.</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치료 시도: mGluR5 길항제(마보글루란트 — 3상 실패), GABA_B 작용제(아르바클로펜), PDE4D 음성 알로스테릭 조절제(</a:t>
            </a:r>
            <a:r>
              <a:rPr sz="1600" b="1" i="0">
                <a:solidFill>
                  <a:srgbClr val="2E3F4C"/>
                </a:solidFill>
                <a:latin typeface="Malgun Gothic"/>
                <a:ea typeface="Malgun Gothic"/>
                <a:cs typeface="Malgun Gothic"/>
              </a:rPr>
              <a:t>자톨밀라스트</a:t>
            </a:r>
            <a:r>
              <a:rPr sz="1600" b="0" i="0">
                <a:solidFill>
                  <a:srgbClr val="2E3F4C"/>
                </a:solidFill>
                <a:latin typeface="Malgun Gothic"/>
                <a:ea typeface="Malgun Gothic"/>
                <a:cs typeface="Malgun Gothic"/>
              </a:rPr>
              <a:t> — cAMP 신호 회복, 3상 진행).</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취약 X 관련 질환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전돌연변이(55–200)</a:t>
            </a:r>
            <a:r>
              <a:rPr sz="1800" b="0" i="0">
                <a:solidFill>
                  <a:srgbClr val="11202B"/>
                </a:solidFill>
                <a:latin typeface="Malgun Gothic"/>
                <a:ea typeface="Malgun Gothic"/>
                <a:cs typeface="Malgun Gothic"/>
              </a:rPr>
              <a:t>: FMRP는 정상 근처이나 FMR1 mRNA가 </a:t>
            </a:r>
            <a:r>
              <a:rPr sz="1800" b="1" i="0">
                <a:solidFill>
                  <a:srgbClr val="11202B"/>
                </a:solidFill>
                <a:latin typeface="Malgun Gothic"/>
                <a:ea typeface="Malgun Gothic"/>
                <a:cs typeface="Malgun Gothic"/>
              </a:rPr>
              <a:t>2–8배 증가</a:t>
            </a:r>
            <a:r>
              <a:rPr sz="1800" b="0" i="0">
                <a:solidFill>
                  <a:srgbClr val="11202B"/>
                </a:solidFill>
                <a:latin typeface="Malgun Gothic"/>
                <a:ea typeface="Malgun Gothic"/>
                <a:cs typeface="Malgun Gothic"/>
              </a:rPr>
              <a:t> → RNA 독성(단백 격리 — Sam68, DROSHA/DGCR8) + RAN 번역 FMRpolyG:</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FXTAS</a:t>
            </a:r>
            <a:r>
              <a:rPr sz="1600" b="0" i="0">
                <a:solidFill>
                  <a:srgbClr val="2E3F4C"/>
                </a:solidFill>
                <a:latin typeface="Malgun Gothic"/>
                <a:ea typeface="Malgun Gothic"/>
                <a:cs typeface="Malgun Gothic"/>
              </a:rPr>
              <a:t>(취약 X 연관 진전/운동실조 증후군): 50세 이상 남성 전돌연변이 보인자의 ~40%, 의도 진전·운동실조·인지 저하·</a:t>
            </a:r>
            <a:r>
              <a:rPr sz="1600" b="1" i="0">
                <a:solidFill>
                  <a:srgbClr val="2E3F4C"/>
                </a:solidFill>
                <a:latin typeface="Malgun Gothic"/>
                <a:ea typeface="Malgun Gothic"/>
                <a:cs typeface="Malgun Gothic"/>
              </a:rPr>
              <a:t>중소뇌각 T2 고신호(MCP 징후)</a:t>
            </a:r>
            <a:r>
              <a:rPr sz="1600" b="0" i="0">
                <a:solidFill>
                  <a:srgbClr val="2E3F4C"/>
                </a:solidFill>
                <a:latin typeface="Malgun Gothic"/>
                <a:ea typeface="Malgun Gothic"/>
                <a:cs typeface="Malgun Gothic"/>
              </a:rPr>
              <a:t>.</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FXPOI</a:t>
            </a:r>
            <a:r>
              <a:rPr sz="1600" b="0" i="0">
                <a:solidFill>
                  <a:srgbClr val="2E3F4C"/>
                </a:solidFill>
                <a:latin typeface="Malgun Gothic"/>
                <a:ea typeface="Malgun Gothic"/>
                <a:cs typeface="Malgun Gothic"/>
              </a:rPr>
              <a:t>(일차 난소 기능부전): 여성 보인자 ~20% 40세 전 폐경.</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FXAND(신경정신 장애).</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전달: 모계 전달 시 확장(전돌연변이 → 완전 돌연변이 위험은 반복 수·AGG 중단 수에 의존; 90 이상은 거의 100%), 부계 전달 시 전돌연변이 유지(딸 모두 보인자 — '셔먼 역설'의 설명).</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취약 X 관련 질환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진단: PCR + 서던(메틸화 상태), AmplideX(AGG 중단).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근긴장성 이영양증과 프리드라이히 운동실조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DM1</a:t>
            </a:r>
            <a:r>
              <a:rPr sz="1800" b="0" i="0">
                <a:solidFill>
                  <a:srgbClr val="11202B"/>
                </a:solidFill>
                <a:latin typeface="Malgun Gothic"/>
                <a:ea typeface="Malgun Gothic"/>
                <a:cs typeface="Malgun Gothic"/>
              </a:rPr>
              <a:t>(DMPK 3'UTR CTG; 50 이상 질환, 선천형 &gt;1,000):</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RNA 병소 → </a:t>
            </a:r>
            <a:r>
              <a:rPr sz="1600" b="1" i="0">
                <a:solidFill>
                  <a:srgbClr val="2E3F4C"/>
                </a:solidFill>
                <a:latin typeface="Malgun Gothic"/>
                <a:ea typeface="Malgun Gothic"/>
                <a:cs typeface="Malgun Gothic"/>
              </a:rPr>
              <a:t>MBNL1 격리</a:t>
            </a:r>
            <a:r>
              <a:rPr sz="1600" b="0" i="0">
                <a:solidFill>
                  <a:srgbClr val="2E3F4C"/>
                </a:solidFill>
                <a:latin typeface="Malgun Gothic"/>
                <a:ea typeface="Malgun Gothic"/>
                <a:cs typeface="Malgun Gothic"/>
              </a:rPr>
              <a:t> + CELF1 증가 → 태아형 스플라이싱(B02 L08): CLCN1(근긴장증), INSR(인슐린 저항성), SCN5A·TNNT2(전도 장애·부정맥 — 급사 위험 → 매년 심전도, 심박조율기/ICD), BIN1(근병증).</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임상: 원위부 근위약·근긴장증(악수 후 놓지 못함), 측두근·교근 위축('도끼 얼굴'), 전두 탈모, </a:t>
            </a:r>
            <a:r>
              <a:rPr sz="1600" b="1" i="0">
                <a:solidFill>
                  <a:srgbClr val="2E3F4C"/>
                </a:solidFill>
                <a:latin typeface="Malgun Gothic"/>
                <a:ea typeface="Malgun Gothic"/>
                <a:cs typeface="Malgun Gothic"/>
              </a:rPr>
              <a:t>백내장</a:t>
            </a:r>
            <a:r>
              <a:rPr sz="1600" b="0" i="0">
                <a:solidFill>
                  <a:srgbClr val="2E3F4C"/>
                </a:solidFill>
                <a:latin typeface="Malgun Gothic"/>
                <a:ea typeface="Malgun Gothic"/>
                <a:cs typeface="Malgun Gothic"/>
              </a:rPr>
              <a:t>(무지개 백내장), 과다 수면, 위장관 장애, 인지·성격 변화, 남성 생식선 기능저하.</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선천형 DM1</a:t>
            </a:r>
            <a:r>
              <a:rPr sz="1600" b="0" i="0">
                <a:solidFill>
                  <a:srgbClr val="2E3F4C"/>
                </a:solidFill>
                <a:latin typeface="Malgun Gothic"/>
                <a:ea typeface="Malgun Gothic"/>
                <a:cs typeface="Malgun Gothic"/>
              </a:rPr>
              <a:t>: 모계 전달(대개 큰 확장), 신생아 근긴장저하·호흡부전·내반족·지적장애, 양수과다.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근긴장성 이영양증과 프리드라이히 운동실조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치료 연구: AOC 1001(델파시베르트 — 항TfR1 항체–siRNA 결합 DMPK 저하, 2상 근긴장증·근력 개선), 소분자 MBNL 방출, 멕실레틴(근긴장증).</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DM2</a:t>
            </a:r>
            <a:r>
              <a:rPr sz="2000" b="0" i="0">
                <a:solidFill>
                  <a:srgbClr val="11202B"/>
                </a:solidFill>
                <a:latin typeface="Malgun Gothic"/>
                <a:ea typeface="Malgun Gothic"/>
                <a:cs typeface="Malgun Gothic"/>
              </a:rPr>
              <a:t>(CNBP 인트론 CCTG): 근위부 근위약·근육통, 안티시페이션·선천형 없음, 늦은 발병, 경증.</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프리드라이히 운동실조(FRDA)</a:t>
            </a:r>
            <a:r>
              <a:rPr sz="2000" b="0" i="0">
                <a:solidFill>
                  <a:srgbClr val="11202B"/>
                </a:solidFill>
                <a:latin typeface="Malgun Gothic"/>
                <a:ea typeface="Malgun Gothic"/>
                <a:cs typeface="Malgun Gothic"/>
              </a:rPr>
              <a:t>(FXN 인트론 1 GAA 양대립 확장; 상염색체 열성 — 가장 흔한 유전성 운동실조, 서구):</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GAA 확장 → 이질염색질화(H3K9me3) → </a:t>
            </a:r>
            <a:r>
              <a:rPr sz="1800" b="1" i="0">
                <a:solidFill>
                  <a:srgbClr val="2E3F4C"/>
                </a:solidFill>
                <a:latin typeface="Malgun Gothic"/>
                <a:ea typeface="Malgun Gothic"/>
                <a:cs typeface="Malgun Gothic"/>
              </a:rPr>
              <a:t>프라탁신 결핍</a:t>
            </a:r>
            <a:r>
              <a:rPr sz="1800" b="0" i="0">
                <a:solidFill>
                  <a:srgbClr val="2E3F4C"/>
                </a:solidFill>
                <a:latin typeface="Malgun Gothic"/>
                <a:ea typeface="Malgun Gothic"/>
                <a:cs typeface="Malgun Gothic"/>
              </a:rPr>
              <a:t> → 미토콘드리아 Fe–S 클러스터 결함·철 축적(B05 L11).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근긴장성 이영양증과 프리드라이히 운동실조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임상: 10대 발병 진행성 운동실조, </a:t>
            </a:r>
            <a:r>
              <a:rPr sz="2000" b="1" i="0">
                <a:solidFill>
                  <a:srgbClr val="2E3F4C"/>
                </a:solidFill>
                <a:latin typeface="Malgun Gothic"/>
                <a:ea typeface="Malgun Gothic"/>
                <a:cs typeface="Malgun Gothic"/>
              </a:rPr>
              <a:t>감각 신경병증(후근신경절 — 반사 소실)</a:t>
            </a:r>
            <a:r>
              <a:rPr sz="2000" b="0" i="0">
                <a:solidFill>
                  <a:srgbClr val="2E3F4C"/>
                </a:solidFill>
                <a:latin typeface="Malgun Gothic"/>
                <a:ea typeface="Malgun Gothic"/>
                <a:cs typeface="Malgun Gothic"/>
              </a:rPr>
              <a:t>, 추체로 징후(바빈스키), 구음장애, </a:t>
            </a:r>
            <a:r>
              <a:rPr sz="2000" b="1" i="0">
                <a:solidFill>
                  <a:srgbClr val="2E3F4C"/>
                </a:solidFill>
                <a:latin typeface="Malgun Gothic"/>
                <a:ea typeface="Malgun Gothic"/>
                <a:cs typeface="Malgun Gothic"/>
              </a:rPr>
              <a:t>비대 심근병증</a:t>
            </a:r>
            <a:r>
              <a:rPr sz="2000" b="0" i="0">
                <a:solidFill>
                  <a:srgbClr val="2E3F4C"/>
                </a:solidFill>
                <a:latin typeface="Malgun Gothic"/>
                <a:ea typeface="Malgun Gothic"/>
                <a:cs typeface="Malgun Gothic"/>
              </a:rPr>
              <a:t>(주된 사망 원인), 당뇨, 척추측만, 요족; 소뇌보다 척수·후근신경절 침범 우세.</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치료: </a:t>
            </a:r>
            <a:r>
              <a:rPr sz="2000" b="1" i="0">
                <a:solidFill>
                  <a:srgbClr val="2E3F4C"/>
                </a:solidFill>
                <a:latin typeface="Malgun Gothic"/>
                <a:ea typeface="Malgun Gothic"/>
                <a:cs typeface="Malgun Gothic"/>
              </a:rPr>
              <a:t>오마벨록솔렌</a:t>
            </a:r>
            <a:r>
              <a:rPr sz="2000" b="0" i="0">
                <a:solidFill>
                  <a:srgbClr val="2E3F4C"/>
                </a:solidFill>
                <a:latin typeface="Malgun Gothic"/>
                <a:ea typeface="Malgun Gothic"/>
                <a:cs typeface="Malgun Gothic"/>
              </a:rPr>
              <a:t>(NRF2), 개발 중 — 프라탁신 대체(노미프라탁시드 — TAT 융합), 유전자 치료(심장 AAV), 이질염색질 해제(HDAC 억제제), FXN 발현 증가.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새로운 반복 확장 질환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CANVAS</a:t>
            </a:r>
            <a:r>
              <a:rPr sz="1800" b="0" i="0">
                <a:solidFill>
                  <a:srgbClr val="11202B"/>
                </a:solidFill>
                <a:latin typeface="Malgun Gothic"/>
                <a:ea typeface="Malgun Gothic"/>
                <a:cs typeface="Malgun Gothic"/>
              </a:rPr>
              <a:t>(소뇌 실조·신경병증·전정 반사소실 증후군): RFC1 인트론 AAGGG 양대립 확장(2019 발견) — 성인 발병 운동실조·감각 신경병증·만성 기침, 후기 발병 운동실조의 흔한 원인.</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SCA27B</a:t>
            </a:r>
            <a:r>
              <a:rPr sz="1800" b="0" i="0">
                <a:solidFill>
                  <a:srgbClr val="11202B"/>
                </a:solidFill>
                <a:latin typeface="Malgun Gothic"/>
                <a:ea typeface="Malgun Gothic"/>
                <a:cs typeface="Malgun Gothic"/>
              </a:rPr>
              <a:t>(FGF14 인트론 GAA 확장 ≥250, 2023): 후기 발병 순수 소뇌 운동실조 — 유럽 원인 불명 후기 발병 운동실조의 10–60%, </a:t>
            </a:r>
            <a:r>
              <a:rPr sz="1800" b="1" i="0">
                <a:solidFill>
                  <a:srgbClr val="11202B"/>
                </a:solidFill>
                <a:latin typeface="Malgun Gothic"/>
                <a:ea typeface="Malgun Gothic"/>
                <a:cs typeface="Malgun Gothic"/>
              </a:rPr>
              <a:t>4-아미노피리딘</a:t>
            </a:r>
            <a:r>
              <a:rPr sz="1800" b="0" i="0">
                <a:solidFill>
                  <a:srgbClr val="11202B"/>
                </a:solidFill>
                <a:latin typeface="Malgun Gothic"/>
                <a:ea typeface="Malgun Gothic"/>
                <a:cs typeface="Malgun Gothic"/>
              </a:rPr>
              <a:t>에 반응 가능.</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신경핵 내 봉입체병(NIID)</a:t>
            </a:r>
            <a:r>
              <a:rPr sz="1800" b="0" i="0">
                <a:solidFill>
                  <a:srgbClr val="11202B"/>
                </a:solidFill>
                <a:latin typeface="Malgun Gothic"/>
                <a:ea typeface="Malgun Gothic"/>
                <a:cs typeface="Malgun Gothic"/>
              </a:rPr>
              <a:t>: NOTCH2NLC 5'UTR GGC 확장 — 동아시아(일본·중국·한국) 흔함, 피질하 U섬유 따라 DWI 고신호(</a:t>
            </a:r>
            <a:r>
              <a:rPr sz="1800" b="1" i="0">
                <a:solidFill>
                  <a:srgbClr val="11202B"/>
                </a:solidFill>
                <a:latin typeface="Malgun Gothic"/>
                <a:ea typeface="Malgun Gothic"/>
                <a:cs typeface="Malgun Gothic"/>
              </a:rPr>
              <a:t>피질수질 경계 리본 징후</a:t>
            </a:r>
            <a:r>
              <a:rPr sz="1800" b="0" i="0">
                <a:solidFill>
                  <a:srgbClr val="11202B"/>
                </a:solidFill>
                <a:latin typeface="Malgun Gothic"/>
                <a:ea typeface="Malgun Gothic"/>
                <a:cs typeface="Malgun Gothic"/>
              </a:rPr>
              <a:t>), 치매·뇌병증 발작·신경병증·자율신경; 피부 생검 핵 봉입체.</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FAME</a:t>
            </a:r>
            <a:r>
              <a:rPr sz="1800" b="0" i="0">
                <a:solidFill>
                  <a:srgbClr val="11202B"/>
                </a:solidFill>
                <a:latin typeface="Malgun Gothic"/>
                <a:ea typeface="Malgun Gothic"/>
                <a:cs typeface="Malgun Gothic"/>
              </a:rPr>
              <a:t>(가족성 성인 근간대 뇌전증): 여러 유전자 인트론의 TTTCA/TTTTA 오각형 반복.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새로운 반복 확장 질환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장판독 시퀀싱이 반복 종류·길이·중단·메틸화를 동시에 측정하며 새로운 반복 질환 발견을 가속하고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체세포 확장을 표적하는 'MutSβ/MSH3 억제'가 HD·DM1·SCA 등 여러 반복 질환의 공통 치료 전략으로 부상했다.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반복 RNA 표적 소분자(DM1 CUG 결합), 반복 특이 ASO(C9orf72 센스·안티센스), CRISPR 반복 절제(반복 결실로 과메틸화 해제 — FXS 재활성화 실험)가 연구 중이다.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2019년 이후 RFC1, FGF14, NOTCH2NLC 등 새로운 반복 질환 발견은 '원인 불명' 후기 발병 신경질환 상당수가 숨은 반복 확장일 수 있음을 보여준다.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1. </a:t>
            </a:r>
            <a:r>
              <a:rPr sz="1800" b="0" i="0">
                <a:solidFill>
                  <a:srgbClr val="11202B"/>
                </a:solidFill>
                <a:latin typeface="Malgun Gothic"/>
                <a:ea typeface="Malgun Gothic"/>
                <a:cs typeface="Malgun Gothic"/>
              </a:rPr>
              <a:t>반복 확장은 위치에 따라 polyQ 독성(부호화 CAG), RNA 독성(비부호화), 기능소실(FXS 메틸화, FRDA 이질염색질), RAN 번역으로 질환을 일으킨다.</a:t>
            </a:r>
          </a:p>
          <a:p>
            <a:pPr>
              <a:spcAft>
                <a:spcPts val="800"/>
              </a:spcAft>
            </a:pPr>
            <a:r>
              <a:rPr sz="1800" b="1" i="0">
                <a:solidFill>
                  <a:srgbClr val="003C71"/>
                </a:solidFill>
                <a:latin typeface="Malgun Gothic"/>
                <a:ea typeface="Malgun Gothic"/>
                <a:cs typeface="Malgun Gothic"/>
              </a:rPr>
              <a:t>2. </a:t>
            </a:r>
            <a:r>
              <a:rPr sz="1800" b="0" i="0">
                <a:solidFill>
                  <a:srgbClr val="11202B"/>
                </a:solidFill>
                <a:latin typeface="Malgun Gothic"/>
                <a:ea typeface="Malgun Gothic"/>
                <a:cs typeface="Malgun Gothic"/>
              </a:rPr>
              <a:t>SCA·DRPLA·SBMA는 polyQ 질환이며 SCA3가 한국 등 동아시아에서 가장 흔하고 ATXN2 중간 확장은 ALS 위험을 높인다.</a:t>
            </a:r>
          </a:p>
          <a:p>
            <a:pPr>
              <a:spcAft>
                <a:spcPts val="800"/>
              </a:spcAft>
            </a:pPr>
            <a:r>
              <a:rPr sz="1800" b="1" i="0">
                <a:solidFill>
                  <a:srgbClr val="003C71"/>
                </a:solidFill>
                <a:latin typeface="Malgun Gothic"/>
                <a:ea typeface="Malgun Gothic"/>
                <a:cs typeface="Malgun Gothic"/>
              </a:rPr>
              <a:t>3. </a:t>
            </a:r>
            <a:r>
              <a:rPr sz="1800" b="0" i="0">
                <a:solidFill>
                  <a:srgbClr val="11202B"/>
                </a:solidFill>
                <a:latin typeface="Malgun Gothic"/>
                <a:ea typeface="Malgun Gothic"/>
                <a:cs typeface="Malgun Gothic"/>
              </a:rPr>
              <a:t>FMR1 완전 돌연변이는 메틸화 침묵으로 FXS를, 전돌연변이는 RNA 독성으로 FXTAS·FXPOI를 일으킨다.</a:t>
            </a:r>
          </a:p>
          <a:p>
            <a:pPr>
              <a:spcAft>
                <a:spcPts val="800"/>
              </a:spcAft>
            </a:pPr>
            <a:r>
              <a:rPr sz="1800" b="1" i="0">
                <a:solidFill>
                  <a:srgbClr val="003C71"/>
                </a:solidFill>
                <a:latin typeface="Malgun Gothic"/>
                <a:ea typeface="Malgun Gothic"/>
                <a:cs typeface="Malgun Gothic"/>
              </a:rPr>
              <a:t>4. </a:t>
            </a:r>
            <a:r>
              <a:rPr sz="1800" b="0" i="0">
                <a:solidFill>
                  <a:srgbClr val="11202B"/>
                </a:solidFill>
                <a:latin typeface="Malgun Gothic"/>
                <a:ea typeface="Malgun Gothic"/>
                <a:cs typeface="Malgun Gothic"/>
              </a:rPr>
              <a:t>DM1은 CTG RNA가 MBNL을 격리해 다장기 스플라이싱 이상을, FRDA는 GAA 이질염색질로 프라탁신 결핍·미토콘드리아 질환을 일으킨다.</a:t>
            </a:r>
          </a:p>
          <a:p>
            <a:pPr>
              <a:spcAft>
                <a:spcPts val="800"/>
              </a:spcAft>
            </a:pPr>
            <a:r>
              <a:rPr sz="1800" b="1" i="0">
                <a:solidFill>
                  <a:srgbClr val="003C71"/>
                </a:solidFill>
                <a:latin typeface="Malgun Gothic"/>
                <a:ea typeface="Malgun Gothic"/>
                <a:cs typeface="Malgun Gothic"/>
              </a:rPr>
              <a:t>5. </a:t>
            </a:r>
            <a:r>
              <a:rPr sz="1800" b="0" i="0">
                <a:solidFill>
                  <a:srgbClr val="11202B"/>
                </a:solidFill>
                <a:latin typeface="Malgun Gothic"/>
                <a:ea typeface="Malgun Gothic"/>
                <a:cs typeface="Malgun Gothic"/>
              </a:rPr>
              <a:t>불일치 수선(MSH3)이 체세포 확장을 촉진하며 장판독으로 RFC1·FGF14·NOTCH2NLC 같은 새로운 반복 질환이 발견되고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같은 FMR1 유전자의 CGG 확장이 어떤 경우엔 지적장애(FXS)를, 어떤 경우엔 노년 진전·운동실조(FXTAS)를 일으키는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200 이상의 완전 돌연변이는 프로모터·반복 과메틸화로 FMR1 전사가 침묵되어 FMRP가 결핍(기능소실)되므로 신경 발달 장애(FXS)가 생긴다. 55–200 전돌연변이는 메틸화되지 않고 오히려 전사가 2–8배 증가해 CGG 반복 RNA가 단백을 격리하고 RAN 번역 FMRpolyG를 만들어 노년기 신경퇴행(FXTAS)을 일으키는 RNA 독성(기능획득) 기전이다.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DM1 환자에게 매년 심전도를 시행하는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CTG 반복 RNA의 MBNL 격리로 심장 Na⁺ 통로(SCN5A) 등의 스플라이싱이 바뀌고 전도계 섬유화가 진행해 방실·각 차단과 심실성 부정맥에 의한 급사 위험이 높다. PR 연장·QRS 확장 등 전도 이상이 진행하면 전기생리 검사와 심박조율기·ICD를 고려한다.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척수구근위축증(SBMA)에서 여성 보인자는 대개 무증상인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확장된 polyQ 안드로겐 수용체의 독성은 리간드 의존적이다. 테스토스테론이 결합해야 수용체가 핵으로 이동해 응집·독성을 나타내므로, 테스토스테론 수준이 낮은 여성에서는 거의 증상이 없다. 또한 X 불활성화로 정상 대립이 일부 발현된다. 이 원리로 남성 환자에게 항안드로겐(류프롤라이드) 치료가 시험되었다.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프리드라이히 운동실조에서 반사가 소실되는데 바빈스키 징후가 양성인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후근신경절과 대섬유 감각 축삭이 일찍 손상되어 반사궁의 구심 경로가 끊기므로 심부건반사가 소실되고, 동시에 피질척수로(추체로)가 퇴행해 상위 운동신경세포 징후인 바빈스키 반사가 나타난다. 이 조합은 FRDA, 비타민 B12·E 결핍, 아급성 연합 변성 등의 감별 단서이다.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Paulson H. Repeat expansion diseases. Handb Clin Neurol 2018;147:105–123.</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Klockgether T, Mariotti C, Paulson HL. Spinocerebellar ataxia. Nat Rev Dis Primers 2019;5:24.</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Hagerman RJ et al. Fragile X syndrome. Nat Rev Dis Primers 2017;3:17065.</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Johnson NE. Myotonic muscular dystrophies. Continuum 2019;25:1682–1695.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B06-L02  ·  반복 확장 질환</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Pellerin D et al. Deep intronic FGF14 GAA repeat expansion in late-onset cerebellar ataxia. N Engl J Med 2023;388:128–141.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