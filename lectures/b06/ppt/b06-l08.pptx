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결실은 대두·비만·ASD와, 중복은 소두·저체중·조현병 위험과 연관된다. 같은 영역 유전자의 용량이 감소/증가함에 따라 뇌 크기와 체중이 반대 방향으로 변하는 것은 이 영역에 용량 민감 유전자(예: KCTD13)가 있어 신경 전구세포 증식과 에너지 균형을 조절함을 시사한다.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레트 증후군의 신경 이상이 신경세포의 영구적 사멸이나 고정된 발생 결함이 아니라, 성숙 신경세포의 지속적인 MeCP2 기능 부족에 의한 가역적 기능 장애임을 보여주었다. 이는 증상 발현 후에도 유전자 기반 치료가 효과를 낼 수 있다는 근거가 되었다. 다만 MeCP2 과발현도 질환(중복 증후군)을 일으키므로 용량 조절이 필수이다.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취약 X 증후군은 FMR1 5'UTR의 CGG 반복 확장과 메틸화로 생기는데, 단판독 엑솜 시퀀싱은 수백 개의 GC 풍부 반복을 읽거나 길이를 측정하지 못한다. 따라서 반복 프라이밍 PCR과 메틸화 분석(서던) 같은 표적 검사가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저칼슘혈증(부갑상선 저형성)을 정기 감시하고 수술·감염·사춘기 등 스트레스 시 특히 확인한다. (2) 선천심질환(원뿔동맥간 기형)과 흉선 저형성에 따른 T세포 면역 평가(생백신 판단)를 한다. (3) 청소년·성인기 조현병 등 정신질환 위험(약 25%)을 알고 조기 정신건강 감시를 하며, 구개·청력·발달·학습 지원을 제공한다.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B06 신경질환과 유전학  ·  발작·발달 질환 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신경발달장애의 유전학: 지적장애, 자폐, 레트 증후군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Genetics of Neurodevelopmental Disorders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B06-L08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지적장애·자폐 스펙트럼 장애(ASD)의 유전 구조(신생 변이, CNV, 흔한 변이)를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대표 증후군(취약 X, 레트, 안젤만, 22q11.2, 16p11.2, 결절성 경화증)의 분자 기전을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수렴 경로(시냅스, 크로마틴 조절, 번역 조절)와 흥분/억제 균형 가설을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신경발달장애의 유전 검사 전략과 결과의 임상적 의미를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성인기 신경 회로 가역성(레트 생쥐 회복)과 유전자 기반 치료를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구조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대표 신경발달 증후군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수렴 경로와 회로 가설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검사와 임상적 의미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회로 가역성과 유전자 기반 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구조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지적장애(ID): 인구 1–3%; 중증 ID는 단일 원인(유전) 비율이 높음. ASD: 인구 1–2.8%(남:여 ~3–4:1), 유전율 ~80%(쌍생아).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구성: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신생 변이(SNV/indel)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중증 ID·DEE의 주원인(진단의 ~40–50%); 단일 유전자당 기여는 작지만 1,000개 이상 유전자(DDG2P, SFARI Gene).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CNV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15q11–q13 중복(모계), 16p11.2 결실/중복(ASD·대두/소두·비만/저체중 — 거울 표현형), 22q11.2, 1q21.1, 7q11.23 중복(윌리엄스 영역 — 자폐 vs 결실 — 과사교성).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유전 희귀 변이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열성(근친혼 집단), X연관(남성 ID의 ~10%).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구조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흔한 변이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(다유전자): ASD 유전율의 상당 부분, 고기능 ASD·인지 능력·교육 성취·ADHD·조현병과 유전 상관.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여성 보호 효과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여성 ASD는 더 큰 유전 부담(더 많은 신생 변이·CNV)을 가져야 발현 → 남성 우세 설명 가설.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대표 유전자(대규모 엑솜 — Fu et al., Nat Genet 2022; 72+ ASD 유전자): SCN2A, CHD8, SYNGAP1, ADNP, ARID1B, SHANK3, DYRK1A, POGZ, ANKRD11, GRIN2B, KMT2C.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신경발달 증후군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증후군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분자 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취약 X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(FMR1)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CGG &gt;200 메틸화 → FMRP 결손 → 시냅스 국소 번역 과다(mGluR 이론)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남성 유전성 ID 1위, 자폐 행동, 대고환 (B06 L02)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레트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(MECP2)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MeCP2(메틸-CpG 결합; 신경세포 크로마틴 '판독자') 결손 → 성숙 신경세포 유전자 발현 미세 조절 실패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여아, 6–18개월 정상 후 퇴행, 손 상동행동, 호흡 이상, 후천 소두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트로피네타이드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(2023)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MECP2 중복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 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남아 ID, 감염, 경련 — ASO로 정상화 연구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안젤만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(모계 UBE3A)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신경세포 각인 — 부계 UBE3A 침묵(안티센스 전사체)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무언어, 행복한 행동, 운동실조, 경련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ASO로 부계 대립 재활성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(B02 L05)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프라더-윌리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부계 15q11–q13(SNORD116)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과식·비만, 근긴장저하 (B02 L05)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22q11.2 결실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TBX1(심장·인두), DGCR8(miRNA), COMT, PRODH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심장 기형, 흉선·부갑상선 저형성, 구개, ID 경도,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조현병 위험 ~25%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16p11.2 결실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~29 유전자(KCTD13, TAOK2)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ASD, 대두, 비만 / 중복 — 소두, 저체중, 조현병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결절성 경화증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(TSC1/2)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mTORC1 과활성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ASD ~50%, 뇌전증, ID → 에베롤리무스(뇌전증), TAND 관리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신경발달 증후군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증후군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분자 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NF1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뉴로피브로민(Ras GAP)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학습장애·ADHD·ASD, 밀크커피 반점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윌리엄스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(7q11.23 결실, ELN, GTF2I)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과사교성, 시공간 장애, 대동맥판상부 협착, 고칼슘혈증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펠란-맥더미드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(22q13.3, SHANK3)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시냅스 후 밀도 스캐폴드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중증 ID·무언어·근긴장저하, 퇴행·정신증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다운증후군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21번 삼염색체(DYRK1A, APP)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 흔한 염색체 ID 원인, 조기 AD (B06 L05)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코넬리아 드랑게·크로마틴병증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NIPBL, CHD7(CHARGE), KMT2D(가부키)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(B02 L05)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수렴 경로와 회로 가설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수백 개 유전자가 소수 생물학적 경로로 수렴: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시냅스 기능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시냅스 후 밀도(SHANK3, SYNGAP1, DLG4), 접착(NRXN1 — 결실 흔함, NLGN3/4), 수용체(GRIN2B), 이온통로(SCN2A).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크로마틴 조절·전사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CHD8(인핸서 조절 — 대두·위장 증상), ARID1B, ADNP, KMT2 계열, MECP2 — 발생 중 신경 유전자 프로그램 시기 조절.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번역 조절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FMRP, mTOR(TSC, PTEN — 대두 ASD), eIF4E, UBE3A(단백 분해).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유형 수렴: 단일세포 분석에서 ASD 유전자가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발생 중 피질 흥분성 신경세포(상층·심층)와 억제성 개재뉴런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에서 공동 발현, 중기 태아 전전두 피질에 집중(Satterstrom 2020, Willsey 2013).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수렴 경로와 회로 가설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흥분/억제(E/I) 불균형 가설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억제성 개재뉴런(PV, SST) 기능 저하 → E/I 비 상승 → 감각 과민·뇌전증 동반(ASD의 ~20–30%)·인지 장애. 다만 일부 모델은 보상적 항상성 변화.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시냅스 가지치기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미세아교세포·보체에 의한 가지치기 결함(ASD 수상돌기 가시 밀도↑ — mTOR 과활성·자가포식 결함) vs 조현병 과도 가지치기(C4A).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대두·뇌 과성장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PTEN, CHD8, 16p11.2 결실 — 초기 신경 전구세포 증식 이상.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검사와 임상적 의미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권고(ACMG 2021): 원인 불명 ID/발달 지연·ASD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엑솜/유전체를 1차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(CMA 포함·대체), 남아 ID → 취약 X 검사(반복 확장 — 엑솜으로 불가) 병행; 진단율 ID 30–50%, ASD 단독 10–25%(동반 증상 많을수록 높음).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진단의 이득: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의학적 감시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22q11.2(저칼슘·심장·면역·정신증), TSC(신장·폐·심장·뇌), PTEN(암 감시 — 유방·갑상선·자궁내막), NF1(종양), 다운(갑상선·청력·조기 AD), SCN2A(약물), SYNGAP1(섭식 유발 발작).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트로피네타이드(레트), 에베롤리무스(TSC 뇌전증), 대사 원인(크레아틴·세린·PKU — B05 L14), 임상시험 참여.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유전 검사와 임상적 의미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가족: 재발 위험(신생 변이 — 생식선 모자이크 ~1%; 유전 CNV — 50%), 예후 정보, 환자 단체·지원.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해석 주의: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CNV의 불완전 침투·가변 표현도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(16p11.2 결실 보유 부모 무증상 가능), 2차 타격 모델, 다유전자 배경에 따라 같은 변이도 결과가 다름.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윤리: 신경다양성 관점 — ASD를 '치료할 질병'으로만 보는 시각에 대한 비판, 지원·적응 중심 접근 존중.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회로 가역성과 유전자 기반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레트 생쥐 회복 실험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(Guy et al., Science 2007): 증상 발현 후 *Mecp2*를 다시 켜자 신경 증상이 대부분 회복 → 발달 장애도 성인기 회로가 가역적일 수 있다는 개념의 전환.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유사 결과: Shank3(성인 재발현 시 사회 행동·선조체 시냅스 회복), Syngap1(초기 결정적 시기 존재 — 늦으면 제한적), Ube3a(시기 의존적).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개발: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결과 지표의 어려움: 행동·인지 척도의 민감도, 위약 효과, 연령 의존적 가소성 → 객관적 생체표지(EEG 스펙트럼 — 레트·안젤만 델타 파워, 시선 추적).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회로 가역성과 유전자 기반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트로피네타이드(IGF-1 N말단 유사체 — 시냅스·미세아교 조절, 승인), AAV9-MECP2 미니유전자 + 자기조절 요소(과발현 독성 방지 — TSHA-102·NGN-401 1/2상), X 재활성화(불활성 X의 정상 MECP2 깨우기), RNA 편집(ADAR — 미스센스 교정)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안젤만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부계 UBE3A 안티센스 ASO(GTX-102, ION582 — 3상), 유전자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MECP2 중복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ASO 저하(동물에서 회복)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취약 X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PDE4D 조절(자톨밀라스트), 대사형 글루탐산 표적(실패 교훈 — 결과 지표·연령)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SCN2A·SYNGAP1·STXBP1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ASO 상향/하향(B06 L07)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다운증후군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DYRK1A 억제(EGCG — 소규모), AD 예방 시험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대규모 엑솜·유전체(SPARK, MSSNG, 신경발달 유전체 — 한국 KAIST 연구 포함)로 ASD 유전자 수백 개가 정의되고, 단일세포 아틀라스로 발생 시기·세포 유형별 수렴이 정량되고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체세포 모자이크(뇌 특이)와 비부호화 신생 변이(프로모터·인핸서)의 기여가 유전체 분석으로 탐색되고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오가노이드·조립체(assembloid)로 인간 특이 피질 발생(외측 방사 교세포, 개재뉴런 이동)과 ASD 변이 영향을 연구하는 체계가 정착하고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ID·ASD의 유전 구조는 신생 SNV, CNV, X연관·열성 변이, 다유전자 흔한 변이로 구성되며 여성 보호 효과가 성비를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취약 X·레트·안젤만·22q11.2·16p11.2·TSC 등은 번역 조절·크로마틴 판독·각인·용량 기전의 대표 증후군이다.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ASD 유전자는 시냅스·크로마틴·번역 조절 경로와 태아 피질 흥분성/억제성 신경세포로 수렴하며 E/I 불균형 가설과 연결된다.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엑솜/유전체가 1차 검사이며 진단은 의학적 감시·치료·재발 위험 상담을 바꾼다.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레트 생쥐 회복 실험은 성인기 회로 가역성을 보였고 트로피네타이드·ASO·자기조절 AAV 등 유전자 기반 치료가 진행 중이다.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16p11.2 결실과 중복이 '거울 표현형'을 보이는 예를 들고 그 의미를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결실은 대두·비만·ASD와, 중복은 소두·저체중·조현병 위험과 연관된다. 같은 영역 유전자의 용량이 감소/증가함에 따라 뇌 크기와 체중이 반대 방향으로 변하는 것은 이 영역에 용량 민감 유전자(예: KCTD13)가 있어 신경 전구세포 증식과 에너지 균형을 조절함을 시사한다.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레트 증후군 생쥐에서 증상 발현 후 *Mecp2*를 재활성화하자 증상이 회복된 실험이 갖는 의미는?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레트 증후군의 신경 이상이 신경세포의 영구적 사멸이나 고정된 발생 결함이 아니라, 성숙 신경세포의 지속적인 MeCP2 기능 부족에 의한 가역적 기능 장애임을 보여주었다. 이는 증상 발현 후에도 유전자 기반 치료가 효과를 낼 수 있다는 근거가 되었다. 다만 MeCP2 과발현도 질환(중복 증후군)을 일으키므로 용량 조절이 필수이다.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남아의 원인 불명 지적장애에서 엑솜 검사와 함께 취약 X 검사를 별도로 해야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취약 X 증후군은 FMR1 5'UTR의 CGG 반복 확장과 메틸화로 생기는데, 단판독 엑솜 시퀀싱은 수백 개의 GC 풍부 반복을 읽거나 길이를 측정하지 못한다. 따라서 반복 프라이밍 PCR과 메틸화 분석(서던) 같은 표적 검사가 필요하다.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22q11.2 결실 증후군 진단이 소아의 장기 관리에 미치는 영향 세 가지를 들라.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저칼슘혈증(부갑상선 저형성)을 정기 감시하고 수술·감염·사춘기 등 스트레스 시 특히 확인한다. (2) 선천심질환(원뿔동맥간 기형)과 흉선 저형성에 따른 T세포 면역 평가(생백신 판단)를 한다. (3) 청소년·성인기 조현병 등 정신질환 위험(약 25%)을 알고 조기 정신건강 감시를 하며, 구개·청력·발달·학습 지원을 제공한다.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Satterstrom FK et al. Large-scale exome sequencing study implicates both developmental and functional changes in the neurobiology of autism. Cell 2020;180:568–584.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Fu JM et al. Rare coding variation provides insight into the genetic architecture and phenotypic context of autism. Nat Genet 2022;54:1320–1331.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Guy J et al. Reversal of neurological defects in a mouse model of Rett syndrome. Science 2007;315:1143–1147.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B06-L08  ·  신경발달장애의 유전학: 지적장애, 자폐, 레트 증후군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Neul JL et al. Trofinetide for the treatment of Rett syndrome: a randomized phase 3 study (LAVENDER). Nat Med 2023;29:1468–1475.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Lord C et al. The Lancet Commission on the future of care and clinical research in autism. Lancet 2022;399:271–334.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