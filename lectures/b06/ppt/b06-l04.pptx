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읽기틀 규칙에 따라 엑손 48–50 결실은 읽기틀을 이동시켜 조기 종결 코돈과 NMD로 디스트로핀이 거의 없는 뒤시엔형이 예상된다. 엑손 45–47 결실은 읽기틀이 유지되어 중간 막대 도메인 일부가 빠진 짧은 디스트로핀이 생성되므로 경증 베커형이 예상된다. 전자는 엑손 51 건너뛰기 ASO로 읽기틀 회복이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SMN2는 SMN1과 거의 같지만 엑손 7의 C→T 변화로 대부분 엑손 7이 빠진 불안정 단백을 만들고 약 10%만 기능 SMN을 만든다. 따라서 SMN2 복제 수가 많을수록 기능 SMN 총량이 늘어 경증이 된다. 누시너센(ASO)과 리스디플람(소분자)은 모두 SMN2 pre-mRNA의 스플라이싱을 교정해 엑손 7 포함을 늘려 기능 SMN을 증가시킨다.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디스트로핀 결손은 심근에도 진행성 손상과 섬유화를 일으켜 확장성 심근병증이 주된 사망 원인이 되며, 증상과 박출률 저하는 늦게 나타난다. 무증상 시기에 ACE 억제제를 시작하면 좌심실 기능 저하와 사망이 줄어든다는 근거가 있어 예방적으로 시작하고, 심장 MRI로 조기 섬유화를 감시한다.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D4Z4 반복 수축은 염색질 저메틸화로 DUX4 전사를 허용하지만, 전사된 DUX4 mRNA가 안정적으로 번역되려면 마지막 반복 바로 뒤의 4qA 대립에 있는 폴리아데닐화 신호가 필요하다. 4qB 대립에는 이 신호가 없어 DUX4 mRNA가 불안정하므로 독성 단백이 생기지 않는다(2-타격 모델).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B06 신경질환과 유전학  ·  신경근육 유전학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근이영양증과 척수성 근위축증</a:t>
            </a:r>
          </a:p>
          <a:p>
            <a:r>
              <a:rPr sz="2000" b="0" i="0">
                <a:solidFill>
                  <a:srgbClr val="C2CDD6"/>
                </a:solidFill>
                <a:latin typeface="Malgun Gothic"/>
                <a:ea typeface="Malgun Gothic"/>
                <a:cs typeface="Malgun Gothic"/>
              </a:rPr>
              <a:t>Muscular Dystrophies and Spinal Muscular Atrophy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B06-L04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근섬유막의 디스트로핀-당단백 복합체(DGC)와 근이영양증의 분자 분류를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뒤시엔/베커 근이영양증의 유전(읽기틀 규칙), 임상, 관리, 표준 치료를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DMD 유전 치료(엑손 건너뛰기, 마이크로디스트로핀, 기타)의 원리와 한계를 평가한다.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척수성 근위축증(SMA)의 유전(SMN1/SMN2)과 세 가지 승인 치료의 기전, 신생아 선별의 효과를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기타 주요 근이영양증(지대형, 안면견갑상완형, 근긴장성)과 근병증의 유전을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근섬유막과 근이영양증</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뒤시엔·베커 근이영양증</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DMD 유전 치료</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척수성 근위축증(SMA)</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기타 근이영양증과 선천 근병증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근섬유막과 근이영양증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디스트로핀</a:t>
            </a:r>
            <a:r>
              <a:rPr sz="2000" b="0" i="0">
                <a:solidFill>
                  <a:srgbClr val="11202B"/>
                </a:solidFill>
                <a:latin typeface="Malgun Gothic"/>
                <a:ea typeface="Malgun Gothic"/>
                <a:cs typeface="Malgun Gothic"/>
              </a:rPr>
              <a:t>(DMD, Xp21 — 인간 최대 유전자 2.2 Mb, 79 엑손): 세포골격 액틴(N말단) ↔ 막 β-디스트로글리칸(시스테인 풍부 도메인) 연결 → </a:t>
            </a:r>
            <a:r>
              <a:rPr sz="2000" b="1" i="0">
                <a:solidFill>
                  <a:srgbClr val="11202B"/>
                </a:solidFill>
                <a:latin typeface="Malgun Gothic"/>
                <a:ea typeface="Malgun Gothic"/>
                <a:cs typeface="Malgun Gothic"/>
              </a:rPr>
              <a:t>DGC</a:t>
            </a:r>
            <a:r>
              <a:rPr sz="2000" b="0" i="0">
                <a:solidFill>
                  <a:srgbClr val="11202B"/>
                </a:solidFill>
                <a:latin typeface="Malgun Gothic"/>
                <a:ea typeface="Malgun Gothic"/>
                <a:cs typeface="Malgun Gothic"/>
              </a:rPr>
              <a:t>(디스트로글리칸, 사르코글리칸 α/β/γ/δ, 사르코스판, 신트로핀 — nNOS 고정, 디스트로브레빈) → 세포외 </a:t>
            </a:r>
            <a:r>
              <a:rPr sz="2000" b="1" i="0">
                <a:solidFill>
                  <a:srgbClr val="11202B"/>
                </a:solidFill>
                <a:latin typeface="Malgun Gothic"/>
                <a:ea typeface="Malgun Gothic"/>
                <a:cs typeface="Malgun Gothic"/>
              </a:rPr>
              <a:t>라미닌-211(메로신)</a:t>
            </a:r>
            <a:r>
              <a:rPr sz="2000" b="0" i="0">
                <a:solidFill>
                  <a:srgbClr val="11202B"/>
                </a:solidFill>
                <a:latin typeface="Malgun Gothic"/>
                <a:ea typeface="Malgun Gothic"/>
                <a:cs typeface="Malgun Gothic"/>
              </a:rPr>
              <a:t> 결합.</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기능: 수축 시 기계적 스트레스로부터 근섬유막 보호, 신호 스캐폴드(nNOS → 운동 시 혈관 확장).</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결손 → 수축 유발 막 손상 → Ca²⁺ 유입 → 칼페인·미토콘드리아 손상 → 괴사 → 재생 반복 → 위성세포 고갈·섬유화·지방 대체.</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분류(손상 위치):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근섬유막과 근이영양증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DGC: DMD/BMD(디스트로핀), 지대형 LGMD R3–R6(사르코글리칸), 디스트로글리칸병증(</a:t>
            </a:r>
            <a:r>
              <a:rPr sz="1600" b="1" i="0">
                <a:solidFill>
                  <a:srgbClr val="2E3F4C"/>
                </a:solidFill>
                <a:latin typeface="Malgun Gothic"/>
                <a:ea typeface="Malgun Gothic"/>
                <a:cs typeface="Malgun Gothic"/>
              </a:rPr>
              <a:t>당화 결함</a:t>
            </a:r>
            <a:r>
              <a:rPr sz="1600" b="0" i="0">
                <a:solidFill>
                  <a:srgbClr val="2E3F4C"/>
                </a:solidFill>
                <a:latin typeface="Malgun Gothic"/>
                <a:ea typeface="Malgun Gothic"/>
                <a:cs typeface="Malgun Gothic"/>
              </a:rPr>
              <a:t> — FKTN 후쿠야마형(일본), FKRP, POMT1 — α-디스트로글리칸 라미닌 결합 당사슬 결손 → 근이영양증 + 뇌·눈 기형: 워커-워버그), 선천성 메로신 결핍(LAMA2).</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막 수리: </a:t>
            </a:r>
            <a:r>
              <a:rPr sz="1600" b="1" i="0">
                <a:solidFill>
                  <a:srgbClr val="2E3F4C"/>
                </a:solidFill>
                <a:latin typeface="Malgun Gothic"/>
                <a:ea typeface="Malgun Gothic"/>
                <a:cs typeface="Malgun Gothic"/>
              </a:rPr>
              <a:t>디스페를린</a:t>
            </a:r>
            <a:r>
              <a:rPr sz="1600" b="0" i="0">
                <a:solidFill>
                  <a:srgbClr val="2E3F4C"/>
                </a:solidFill>
                <a:latin typeface="Malgun Gothic"/>
                <a:ea typeface="Malgun Gothic"/>
                <a:cs typeface="Malgun Gothic"/>
              </a:rPr>
              <a:t>(DYSF — LGMD R2, 미요시 원위 근병증; Ca²⁺ 의존 막 봉합), 칼페인-3(CAPN3 — LGMD R1, 가장 흔한 LGMD), 아녹타민-5.</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핵막: 에머리-드라이푸스(EMD, LMNA — 조기 구축·심장 전도 장애 → 급사).</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후성유전·독성: 안면견갑상완형(FSHD — DUX4).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근섬유막과 근이영양증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공통 검사: </a:t>
            </a:r>
            <a:r>
              <a:rPr sz="2200" b="1" i="0">
                <a:solidFill>
                  <a:srgbClr val="11202B"/>
                </a:solidFill>
                <a:latin typeface="Malgun Gothic"/>
                <a:ea typeface="Malgun Gothic"/>
                <a:cs typeface="Malgun Gothic"/>
              </a:rPr>
              <a:t>CK</a:t>
            </a:r>
            <a:r>
              <a:rPr sz="2200" b="0" i="0">
                <a:solidFill>
                  <a:srgbClr val="11202B"/>
                </a:solidFill>
                <a:latin typeface="Malgun Gothic"/>
                <a:ea typeface="Malgun Gothic"/>
                <a:cs typeface="Malgun Gothic"/>
              </a:rPr>
              <a:t>(DMD 10–100배), 근생검 면역염색·웨스턴, 근육 MRI 패턴(지방 대체 분포가 유전형 단서), 유전 검사.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뒤시엔·베커 근이영양증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X연관 열성</a:t>
            </a:r>
            <a:r>
              <a:rPr sz="1800" b="0" i="0">
                <a:solidFill>
                  <a:srgbClr val="11202B"/>
                </a:solidFill>
                <a:latin typeface="Malgun Gothic"/>
                <a:ea typeface="Malgun Gothic"/>
                <a:cs typeface="Malgun Gothic"/>
              </a:rPr>
              <a:t>; DMD 남아 약 1/3,500–5,000 출생; 약 1/3 신생 변이; 결실(~65%, 핫스팟 엑손 45–55), 중복(~10%), 점변이(~25%).</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읽기틀 규칙(Monaco)</a:t>
            </a:r>
            <a:r>
              <a:rPr sz="1800" b="0" i="0">
                <a:solidFill>
                  <a:srgbClr val="11202B"/>
                </a:solidFill>
                <a:latin typeface="Malgun Gothic"/>
                <a:ea typeface="Malgun Gothic"/>
                <a:cs typeface="Malgun Gothic"/>
              </a:rPr>
              <a:t>: 결실이 읽기틀을 이동시키면(out-of-frame) 디스트로핀 소실 → DMD; 읽기틀이 유지되면(in-frame) 짧지만 부분 기능 디스트로핀 → </a:t>
            </a:r>
            <a:r>
              <a:rPr sz="1800" b="1" i="0">
                <a:solidFill>
                  <a:srgbClr val="11202B"/>
                </a:solidFill>
                <a:latin typeface="Malgun Gothic"/>
                <a:ea typeface="Malgun Gothic"/>
                <a:cs typeface="Malgun Gothic"/>
              </a:rPr>
              <a:t>BMD</a:t>
            </a:r>
            <a:r>
              <a:rPr sz="1800" b="0" i="0">
                <a:solidFill>
                  <a:srgbClr val="11202B"/>
                </a:solidFill>
                <a:latin typeface="Malgun Gothic"/>
                <a:ea typeface="Malgun Gothic"/>
                <a:cs typeface="Malgun Gothic"/>
              </a:rPr>
              <a:t>(경증) — ~90% 예측.</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DMD 임상</a:t>
            </a:r>
            <a:r>
              <a:rPr sz="1800" b="0" i="0">
                <a:solidFill>
                  <a:srgbClr val="11202B"/>
                </a:solidFill>
                <a:latin typeface="Malgun Gothic"/>
                <a:ea typeface="Malgun Gothic"/>
                <a:cs typeface="Malgun Gothic"/>
              </a:rPr>
              <a:t>: 2–5세 보행 지연·잦은 넘어짐, </a:t>
            </a:r>
            <a:r>
              <a:rPr sz="1800" b="1" i="0">
                <a:solidFill>
                  <a:srgbClr val="11202B"/>
                </a:solidFill>
                <a:latin typeface="Malgun Gothic"/>
                <a:ea typeface="Malgun Gothic"/>
                <a:cs typeface="Malgun Gothic"/>
              </a:rPr>
              <a:t>가워스 징후</a:t>
            </a:r>
            <a:r>
              <a:rPr sz="1800" b="0" i="0">
                <a:solidFill>
                  <a:srgbClr val="11202B"/>
                </a:solidFill>
                <a:latin typeface="Malgun Gothic"/>
                <a:ea typeface="Malgun Gothic"/>
                <a:cs typeface="Malgun Gothic"/>
              </a:rPr>
              <a:t>, 종아리 가성비대(지방·섬유 대체), 진행성 근위부 근약화 → 10–13세 보행 상실(스테로이드 없이) → 척추측만, 호흡부전(10대 후반), </a:t>
            </a:r>
            <a:r>
              <a:rPr sz="1800" b="1" i="0">
                <a:solidFill>
                  <a:srgbClr val="11202B"/>
                </a:solidFill>
                <a:latin typeface="Malgun Gothic"/>
                <a:ea typeface="Malgun Gothic"/>
                <a:cs typeface="Malgun Gothic"/>
              </a:rPr>
              <a:t>확장성 심근병증</a:t>
            </a:r>
            <a:r>
              <a:rPr sz="1800" b="0" i="0">
                <a:solidFill>
                  <a:srgbClr val="11202B"/>
                </a:solidFill>
                <a:latin typeface="Malgun Gothic"/>
                <a:ea typeface="Malgun Gothic"/>
                <a:cs typeface="Malgun Gothic"/>
              </a:rPr>
              <a:t>(주된 사인), 비진행성 인지·행동 문제(뇌 디스트로핀 이소형 Dp140·Dp71 — 원위 결실에서 더 흔함). 기대수명 현재 30대 이상(다학제 관리).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뒤시엔·베커 근이영양증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BMD: 보행 16세 이후 유지, 근육 경련·운동 불내성, 심근병증이 근육보다 심할 수 있음.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여성 보인자</a:t>
            </a:r>
            <a:r>
              <a:rPr sz="1800" b="0" i="0">
                <a:solidFill>
                  <a:srgbClr val="11202B"/>
                </a:solidFill>
                <a:latin typeface="Malgun Gothic"/>
                <a:ea typeface="Malgun Gothic"/>
                <a:cs typeface="Malgun Gothic"/>
              </a:rPr>
              <a:t>: 약 8–10%가 근력 저하, 심근병증 위험 → 심장 감시(X 불활성화 왜곡).</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표준 관리</a:t>
            </a:r>
            <a:r>
              <a:rPr sz="1800" b="0" i="0">
                <a:solidFill>
                  <a:srgbClr val="11202B"/>
                </a:solidFill>
                <a:latin typeface="Malgun Gothic"/>
                <a:ea typeface="Malgun Gothic"/>
                <a:cs typeface="Malgun Gothic"/>
              </a:rPr>
              <a:t>(2018 DMD Care Considerations):</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글루코코르티코이드</a:t>
            </a:r>
            <a:r>
              <a:rPr sz="1600" b="0" i="0">
                <a:solidFill>
                  <a:srgbClr val="2E3F4C"/>
                </a:solidFill>
                <a:latin typeface="Malgun Gothic"/>
                <a:ea typeface="Malgun Gothic"/>
                <a:cs typeface="Malgun Gothic"/>
              </a:rPr>
              <a:t>(프레드니손·데플라자코트) — 보행 기간 연장 2–3년, 심폐·척추측만 지연; 부작용 관리(골다공증·체중·성장·백내장). </a:t>
            </a:r>
            <a:r>
              <a:rPr sz="1600" b="1" i="0">
                <a:solidFill>
                  <a:srgbClr val="2E3F4C"/>
                </a:solidFill>
                <a:latin typeface="Malgun Gothic"/>
                <a:ea typeface="Malgun Gothic"/>
                <a:cs typeface="Malgun Gothic"/>
              </a:rPr>
              <a:t>바모롤론</a:t>
            </a:r>
            <a:r>
              <a:rPr sz="1600" b="0" i="0">
                <a:solidFill>
                  <a:srgbClr val="2E3F4C"/>
                </a:solidFill>
                <a:latin typeface="Malgun Gothic"/>
                <a:ea typeface="Malgun Gothic"/>
                <a:cs typeface="Malgun Gothic"/>
              </a:rPr>
              <a:t>(해리 스테로이드 — 성장·골 부작용 감소, 2023 승인), </a:t>
            </a:r>
            <a:r>
              <a:rPr sz="1600" b="1" i="0">
                <a:solidFill>
                  <a:srgbClr val="2E3F4C"/>
                </a:solidFill>
                <a:latin typeface="Malgun Gothic"/>
                <a:ea typeface="Malgun Gothic"/>
                <a:cs typeface="Malgun Gothic"/>
              </a:rPr>
              <a:t>기비노스타트</a:t>
            </a:r>
            <a:r>
              <a:rPr sz="1600" b="0" i="0">
                <a:solidFill>
                  <a:srgbClr val="2E3F4C"/>
                </a:solidFill>
                <a:latin typeface="Malgun Gothic"/>
                <a:ea typeface="Malgun Gothic"/>
                <a:cs typeface="Malgun Gothic"/>
              </a:rPr>
              <a:t>(HDAC 억제 — 섬유화·염증 감소, 2024 승인).</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심장: ACEi/ARB(10세 무렵 시작 — 예방), MRA, β차단; 심장 MRI.</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호흡: 기침 보조, 비침습 환기.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뒤시엔·베커 근이영양증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정형외과: 척추 유합, 골절 예방(비스포스포네이트·비타민 D), 부신 위기 교육(스테로이드).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DMD 유전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공통 과제: 근육은 체중의 40% — 전신 전달 용량 막대(10¹⁴ vg/kg), 재투여 불가(항AAV 항체), 심장·횡격막 효율, 장기 지속성(근섬유 회전에 따른 에피솜 소실).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DMD 유전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전략</a:t>
                      </a:r>
                    </a:p>
                  </a:txBody>
                  <a:tcPr marL="73152" marR="73152">
                    <a:solidFill>
                      <a:srgbClr val="003C71"/>
                    </a:solidFill>
                  </a:tcPr>
                </a:tc>
                <a:tc>
                  <a:txBody>
                    <a:bodyPr/>
                    <a:lstStyle/>
                    <a:p>
                      <a:r>
                        <a:rPr sz="13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원리·적용</a:t>
                      </a:r>
                    </a:p>
                  </a:txBody>
                  <a:tcPr marL="73152" marR="73152">
                    <a:solidFill>
                      <a:srgbClr val="003C71"/>
                    </a:solidFill>
                  </a:tcPr>
                </a:tc>
                <a:tc>
                  <a:txBody>
                    <a:bodyPr/>
                    <a:lstStyle/>
                    <a:p>
                      <a:r>
                        <a:rPr sz="1300" b="1" i="0">
                          <a:solidFill>
                            <a:srgbClr val="FFFFFF"/>
                          </a:solidFill>
                          <a:latin typeface="Malgun Gothic"/>
                          <a:ea typeface="Malgun Gothic"/>
                          <a:cs typeface="Malgun Gothic"/>
                        </a:rPr>
                        <a:t>한계</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엑손 건너뛰기 ASO</a:t>
                      </a:r>
                    </a:p>
                  </a:txBody>
                  <a:tcPr marL="73152" marR="73152">
                    <a:solidFill>
                      <a:srgbClr val="FFFFFF"/>
                    </a:solidFill>
                  </a:tcPr>
                </a:tc>
                <a:tc>
                  <a:txBody>
                    <a:bodyPr/>
                    <a:lstStyle/>
                    <a:p>
                      <a:r>
                        <a:rPr sz="1300" b="0" i="0">
                          <a:solidFill>
                            <a:srgbClr val="11202B"/>
                          </a:solidFill>
                          <a:latin typeface="Malgun Gothic"/>
                          <a:ea typeface="Malgun Gothic"/>
                          <a:cs typeface="Malgun Gothic"/>
                        </a:rPr>
                        <a:t>에테플리르센(엑손 51), 골로디르센·빌톨라르센(53), 카시메르센(45)</a:t>
                      </a:r>
                    </a:p>
                  </a:txBody>
                  <a:tcPr marL="73152" marR="73152">
                    <a:solidFill>
                      <a:srgbClr val="FFFFFF"/>
                    </a:solidFill>
                  </a:tcPr>
                </a:tc>
                <a:tc>
                  <a:txBody>
                    <a:bodyPr/>
                    <a:lstStyle/>
                    <a:p>
                      <a:r>
                        <a:rPr sz="1300" b="0" i="0">
                          <a:solidFill>
                            <a:srgbClr val="11202B"/>
                          </a:solidFill>
                          <a:latin typeface="Malgun Gothic"/>
                          <a:ea typeface="Malgun Gothic"/>
                          <a:cs typeface="Malgun Gothic"/>
                        </a:rPr>
                        <a:t>인접 엑손을 건너뛰어 읽기틀 회복 → BMD형 디스트로핀(B02 L08)</a:t>
                      </a:r>
                    </a:p>
                  </a:txBody>
                  <a:tcPr marL="73152" marR="73152">
                    <a:solidFill>
                      <a:srgbClr val="FFFFFF"/>
                    </a:solidFill>
                  </a:tcPr>
                </a:tc>
                <a:tc>
                  <a:txBody>
                    <a:bodyPr/>
                    <a:lstStyle/>
                    <a:p>
                      <a:r>
                        <a:rPr sz="1300" b="0" i="0">
                          <a:solidFill>
                            <a:srgbClr val="11202B"/>
                          </a:solidFill>
                          <a:latin typeface="Malgun Gothic"/>
                          <a:ea typeface="Malgun Gothic"/>
                          <a:cs typeface="Malgun Gothic"/>
                        </a:rPr>
                        <a:t>해당 결실 환자만(51번 ~13%), </a:t>
                      </a:r>
                      <a:r>
                        <a:rPr sz="1300" b="1" i="0">
                          <a:solidFill>
                            <a:srgbClr val="11202B"/>
                          </a:solidFill>
                          <a:latin typeface="Malgun Gothic"/>
                          <a:ea typeface="Malgun Gothic"/>
                          <a:cs typeface="Malgun Gothic"/>
                        </a:rPr>
                        <a:t>디스트로핀 발현 1–6% 수준</a:t>
                      </a:r>
                      <a:r>
                        <a:rPr sz="1300" b="0" i="0">
                          <a:solidFill>
                            <a:srgbClr val="11202B"/>
                          </a:solidFill>
                          <a:latin typeface="Malgun Gothic"/>
                          <a:ea typeface="Malgun Gothic"/>
                          <a:cs typeface="Malgun Gothic"/>
                        </a:rPr>
                        <a:t>, 임상 이득 근거 논쟁(가속 승인)</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마이크로디스트로핀 AAV</a:t>
                      </a:r>
                    </a:p>
                  </a:txBody>
                  <a:tcPr marL="73152" marR="73152">
                    <a:solidFill>
                      <a:srgbClr val="ECF1F5"/>
                    </a:solidFill>
                  </a:tcPr>
                </a:tc>
                <a:tc>
                  <a:txBody>
                    <a:bodyPr/>
                    <a:lstStyle/>
                    <a:p>
                      <a:r>
                        <a:rPr sz="1300" b="1" i="0">
                          <a:solidFill>
                            <a:srgbClr val="11202B"/>
                          </a:solidFill>
                          <a:latin typeface="Malgun Gothic"/>
                          <a:ea typeface="Malgun Gothic"/>
                          <a:cs typeface="Malgun Gothic"/>
                        </a:rPr>
                        <a:t>델란디스트로진 목세파르보벡</a:t>
                      </a:r>
                      <a:r>
                        <a:rPr sz="1300" b="0" i="0">
                          <a:solidFill>
                            <a:srgbClr val="11202B"/>
                          </a:solidFill>
                          <a:latin typeface="Malgun Gothic"/>
                          <a:ea typeface="Malgun Gothic"/>
                          <a:cs typeface="Malgun Gothic"/>
                        </a:rPr>
                        <a:t>(Elevidys; AAVrh74, 2023–2024 승인)</a:t>
                      </a:r>
                    </a:p>
                  </a:txBody>
                  <a:tcPr marL="73152" marR="73152">
                    <a:solidFill>
                      <a:srgbClr val="ECF1F5"/>
                    </a:solidFill>
                  </a:tcPr>
                </a:tc>
                <a:tc>
                  <a:txBody>
                    <a:bodyPr/>
                    <a:lstStyle/>
                    <a:p>
                      <a:r>
                        <a:rPr sz="1300" b="0" i="0">
                          <a:solidFill>
                            <a:srgbClr val="11202B"/>
                          </a:solidFill>
                          <a:latin typeface="Malgun Gothic"/>
                          <a:ea typeface="Malgun Gothic"/>
                          <a:cs typeface="Malgun Gothic"/>
                        </a:rPr>
                        <a:t>디스트로핀 핵심 도메인을 축소한 4 kb 유전자(AAV 용량 제한)를 근육 프로모터로 발현</a:t>
                      </a:r>
                    </a:p>
                  </a:txBody>
                  <a:tcPr marL="73152" marR="73152">
                    <a:solidFill>
                      <a:srgbClr val="ECF1F5"/>
                    </a:solidFill>
                  </a:tcPr>
                </a:tc>
                <a:tc>
                  <a:txBody>
                    <a:bodyPr/>
                    <a:lstStyle/>
                    <a:p>
                      <a:r>
                        <a:rPr sz="1300" b="0" i="0">
                          <a:solidFill>
                            <a:srgbClr val="11202B"/>
                          </a:solidFill>
                          <a:latin typeface="Malgun Gothic"/>
                          <a:ea typeface="Malgun Gothic"/>
                          <a:cs typeface="Malgun Gothic"/>
                        </a:rPr>
                        <a:t>3상(EMBARK) 1차 결과 미달(2차 지표 개선), </a:t>
                      </a:r>
                      <a:r>
                        <a:rPr sz="1300" b="1" i="0">
                          <a:solidFill>
                            <a:srgbClr val="11202B"/>
                          </a:solidFill>
                          <a:latin typeface="Malgun Gothic"/>
                          <a:ea typeface="Malgun Gothic"/>
                          <a:cs typeface="Malgun Gothic"/>
                        </a:rPr>
                        <a:t>치명적 급성 간부전 보고(2025) — 보행 불가 환자 투여 중단·라벨 변경</a:t>
                      </a:r>
                      <a:r>
                        <a:rPr sz="1300" b="0" i="0">
                          <a:solidFill>
                            <a:srgbClr val="11202B"/>
                          </a:solidFill>
                          <a:latin typeface="Malgun Gothic"/>
                          <a:ea typeface="Malgun Gothic"/>
                          <a:cs typeface="Malgun Gothic"/>
                        </a:rPr>
                        <a:t>, AAV 중화항체 배제, 근육 손상 면역 반응(엑손 8–9 결실에서 T세포 반응)</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넌센스 판독</a:t>
                      </a:r>
                    </a:p>
                  </a:txBody>
                  <a:tcPr marL="73152" marR="73152">
                    <a:solidFill>
                      <a:srgbClr val="FFFFFF"/>
                    </a:solidFill>
                  </a:tcPr>
                </a:tc>
                <a:tc>
                  <a:txBody>
                    <a:bodyPr/>
                    <a:lstStyle/>
                    <a:p>
                      <a:r>
                        <a:rPr sz="1300" b="0" i="0">
                          <a:solidFill>
                            <a:srgbClr val="11202B"/>
                          </a:solidFill>
                          <a:latin typeface="Malgun Gothic"/>
                          <a:ea typeface="Malgun Gothic"/>
                          <a:cs typeface="Malgun Gothic"/>
                        </a:rPr>
                        <a:t>아탈루렌(유럽 조건부 → 철회)</a:t>
                      </a:r>
                    </a:p>
                  </a:txBody>
                  <a:tcPr marL="73152" marR="73152">
                    <a:solidFill>
                      <a:srgbClr val="FFFFFF"/>
                    </a:solidFill>
                  </a:tcPr>
                </a:tc>
                <a:tc>
                  <a:txBody>
                    <a:bodyPr/>
                    <a:lstStyle/>
                    <a:p>
                      <a:r>
                        <a:rPr sz="1300" b="0" i="0">
                          <a:solidFill>
                            <a:srgbClr val="11202B"/>
                          </a:solidFill>
                          <a:latin typeface="Malgun Gothic"/>
                          <a:ea typeface="Malgun Gothic"/>
                          <a:cs typeface="Malgun Gothic"/>
                        </a:rPr>
                        <a:t>조기 종결 코돈 통과</a:t>
                      </a:r>
                    </a:p>
                  </a:txBody>
                  <a:tcPr marL="73152" marR="73152">
                    <a:solidFill>
                      <a:srgbClr val="FFFFFF"/>
                    </a:solidFill>
                  </a:tcPr>
                </a:tc>
                <a:tc>
                  <a:txBody>
                    <a:bodyPr/>
                    <a:lstStyle/>
                    <a:p>
                      <a:r>
                        <a:rPr sz="1300" b="0" i="0">
                          <a:solidFill>
                            <a:srgbClr val="11202B"/>
                          </a:solidFill>
                          <a:latin typeface="Malgun Gothic"/>
                          <a:ea typeface="Malgun Gothic"/>
                          <a:cs typeface="Malgun Gothic"/>
                        </a:rPr>
                        <a:t>효과 미입증</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유트로핀 증강</a:t>
                      </a:r>
                    </a:p>
                  </a:txBody>
                  <a:tcPr marL="73152" marR="73152">
                    <a:solidFill>
                      <a:srgbClr val="ECF1F5"/>
                    </a:solidFill>
                  </a:tcPr>
                </a:tc>
                <a:tc>
                  <a:txBody>
                    <a:bodyPr/>
                    <a:lstStyle/>
                    <a:p>
                      <a:r>
                        <a:rPr sz="1300" b="0" i="0">
                          <a:solidFill>
                            <a:srgbClr val="11202B"/>
                          </a:solidFill>
                          <a:latin typeface="Malgun Gothic"/>
                          <a:ea typeface="Malgun Gothic"/>
                          <a:cs typeface="Malgun Gothic"/>
                        </a:rPr>
                        <a:t>에주트로미드(실패)</a:t>
                      </a:r>
                    </a:p>
                  </a:txBody>
                  <a:tcPr marL="73152" marR="73152">
                    <a:solidFill>
                      <a:srgbClr val="ECF1F5"/>
                    </a:solidFill>
                  </a:tcPr>
                </a:tc>
                <a:tc>
                  <a:txBody>
                    <a:bodyPr/>
                    <a:lstStyle/>
                    <a:p>
                      <a:r>
                        <a:rPr sz="1300" b="0" i="0">
                          <a:solidFill>
                            <a:srgbClr val="11202B"/>
                          </a:solidFill>
                          <a:latin typeface="Malgun Gothic"/>
                          <a:ea typeface="Malgun Gothic"/>
                          <a:cs typeface="Malgun Gothic"/>
                        </a:rPr>
                        <a:t>디스트로핀 유사 단백 상향</a:t>
                      </a:r>
                    </a:p>
                  </a:txBody>
                  <a:tcPr marL="73152" marR="73152">
                    <a:solidFill>
                      <a:srgbClr val="ECF1F5"/>
                    </a:solidFill>
                  </a:tcPr>
                </a:tc>
                <a:tc>
                  <a:txBody>
                    <a:bodyPr/>
                    <a:lstStyle/>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유전자 편집</a:t>
                      </a:r>
                    </a:p>
                  </a:txBody>
                  <a:tcPr marL="73152" marR="73152">
                    <a:solidFill>
                      <a:srgbClr val="FFFFFF"/>
                    </a:solidFill>
                  </a:tcPr>
                </a:tc>
                <a:tc>
                  <a:txBody>
                    <a:bodyPr/>
                    <a:lstStyle/>
                    <a:p>
                      <a:r>
                        <a:rPr sz="1300" b="0" i="0">
                          <a:solidFill>
                            <a:srgbClr val="11202B"/>
                          </a:solidFill>
                          <a:latin typeface="Malgun Gothic"/>
                          <a:ea typeface="Malgun Gothic"/>
                          <a:cs typeface="Malgun Gothic"/>
                        </a:rPr>
                        <a:t>CRISPR 엑손 결실(동물), 염기·프라임 편집</a:t>
                      </a:r>
                    </a:p>
                  </a:txBody>
                  <a:tcPr marL="73152" marR="73152">
                    <a:solidFill>
                      <a:srgbClr val="FFFFFF"/>
                    </a:solidFill>
                  </a:tcPr>
                </a:tc>
                <a:tc>
                  <a:txBody>
                    <a:bodyPr/>
                    <a:lstStyle/>
                    <a:p>
                      <a:r>
                        <a:rPr sz="1300" b="0" i="0">
                          <a:solidFill>
                            <a:srgbClr val="11202B"/>
                          </a:solidFill>
                          <a:latin typeface="Malgun Gothic"/>
                          <a:ea typeface="Malgun Gothic"/>
                          <a:cs typeface="Malgun Gothic"/>
                        </a:rPr>
                        <a:t>영구 읽기틀 회복</a:t>
                      </a:r>
                    </a:p>
                  </a:txBody>
                  <a:tcPr marL="73152" marR="73152">
                    <a:solidFill>
                      <a:srgbClr val="FFFFFF"/>
                    </a:solidFill>
                  </a:tcPr>
                </a:tc>
                <a:tc>
                  <a:txBody>
                    <a:bodyPr/>
                    <a:lstStyle/>
                    <a:p>
                      <a:r>
                        <a:rPr sz="1300" b="0" i="0">
                          <a:solidFill>
                            <a:srgbClr val="11202B"/>
                          </a:solidFill>
                          <a:latin typeface="Malgun Gothic"/>
                          <a:ea typeface="Malgun Gothic"/>
                          <a:cs typeface="Malgun Gothic"/>
                        </a:rPr>
                        <a:t>전달·면역</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세포 치료</a:t>
                      </a:r>
                    </a:p>
                  </a:txBody>
                  <a:tcPr marL="73152" marR="73152">
                    <a:solidFill>
                      <a:srgbClr val="ECF1F5"/>
                    </a:solidFill>
                  </a:tcPr>
                </a:tc>
                <a:tc>
                  <a:txBody>
                    <a:bodyPr/>
                    <a:lstStyle/>
                    <a:p>
                      <a:r>
                        <a:rPr sz="1300" b="0" i="0">
                          <a:solidFill>
                            <a:srgbClr val="11202B"/>
                          </a:solidFill>
                          <a:latin typeface="Malgun Gothic"/>
                          <a:ea typeface="Malgun Gothic"/>
                          <a:cs typeface="Malgun Gothic"/>
                        </a:rPr>
                        <a:t>CAP-1002(심장구 유래 세포 — 심근병증 3상)</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척수성 근위축증(SMA)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상염색체 열성, 출생 1/10,000, 보인자 1/40–50; 척수 전각 하위 운동신경세포 퇴행.</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SMN1(텔로미어 쪽) </a:t>
            </a:r>
            <a:r>
              <a:rPr sz="2000" b="1" i="0">
                <a:solidFill>
                  <a:srgbClr val="11202B"/>
                </a:solidFill>
                <a:latin typeface="Malgun Gothic"/>
                <a:ea typeface="Malgun Gothic"/>
                <a:cs typeface="Malgun Gothic"/>
              </a:rPr>
              <a:t>양대립 결실</a:t>
            </a:r>
            <a:r>
              <a:rPr sz="2000" b="0" i="0">
                <a:solidFill>
                  <a:srgbClr val="11202B"/>
                </a:solidFill>
                <a:latin typeface="Malgun Gothic"/>
                <a:ea typeface="Malgun Gothic"/>
                <a:cs typeface="Malgun Gothic"/>
              </a:rPr>
              <a:t>(~95%; 엑손 7) → SMN 단백 결핍. 거의 동일한 </a:t>
            </a:r>
            <a:r>
              <a:rPr sz="2000" b="1" i="0">
                <a:solidFill>
                  <a:srgbClr val="11202B"/>
                </a:solidFill>
                <a:latin typeface="Malgun Gothic"/>
                <a:ea typeface="Malgun Gothic"/>
                <a:cs typeface="Malgun Gothic"/>
              </a:rPr>
              <a:t>SMN2</a:t>
            </a:r>
            <a:r>
              <a:rPr sz="2000" b="0" i="0">
                <a:solidFill>
                  <a:srgbClr val="11202B"/>
                </a:solidFill>
                <a:latin typeface="Malgun Gothic"/>
                <a:ea typeface="Malgun Gothic"/>
                <a:cs typeface="Malgun Gothic"/>
              </a:rPr>
              <a:t>(센트로미어 쪽)는 엑손 7 c.840C&gt;T(ESE 파괴·ISS 생성)로 전사체의 ~90%가 엑손 7 결손(불안정 SMNΔ7) → 기능 SMN ~10% → </a:t>
            </a:r>
            <a:r>
              <a:rPr sz="2000" b="1" i="0">
                <a:solidFill>
                  <a:srgbClr val="11202B"/>
                </a:solidFill>
                <a:latin typeface="Malgun Gothic"/>
                <a:ea typeface="Malgun Gothic"/>
                <a:cs typeface="Malgun Gothic"/>
              </a:rPr>
              <a:t>SMN2 복제 수가 중증도의 주된 수정인자</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SMN 기능: snRNP 조립(스플라이세오솜; B02 L08) — 운동신경세포 선택 취약성의 이유는 아직 완전히 밝혀지지 않음(축삭 mRNA 수송, 신경근 접합부 성숙, 고유감각 시냅스).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척수성 근위축증(SMA)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증상 전 치료</a:t>
            </a:r>
            <a:r>
              <a:rPr sz="2200" b="0" i="0">
                <a:solidFill>
                  <a:srgbClr val="11202B"/>
                </a:solidFill>
                <a:latin typeface="Malgun Gothic"/>
                <a:ea typeface="Malgun Gothic"/>
                <a:cs typeface="Malgun Gothic"/>
              </a:rPr>
              <a:t>(신생아 선별)의 극적 효과: 2복제 영아도 대부분 독립 보행 달성(NURTURE, SPR1NT) → 미국·유럽·한국 신생아 선별 도입(B04 L03); 운동신경세포가 남아 있을 때 치료해야 함.</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남은 과제: 치료 후 '새로운 표현형'(경증 근약화, 연하·말·호흡 문제 잔존), 병용 치료(근육 표적 — 마이오스타틴 억제 아필데마브·타드나실리맙, SMN 독립 경로), 성인 환자 이득 평가.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척수성 근위축증(SMA)</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유형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발병</a:t>
                      </a:r>
                    </a:p>
                  </a:txBody>
                  <a:tcPr marL="73152" marR="73152">
                    <a:solidFill>
                      <a:srgbClr val="003C71"/>
                    </a:solidFill>
                  </a:tcPr>
                </a:tc>
                <a:tc>
                  <a:txBody>
                    <a:bodyPr/>
                    <a:lstStyle/>
                    <a:p>
                      <a:r>
                        <a:rPr sz="1500" b="1" i="0">
                          <a:solidFill>
                            <a:srgbClr val="FFFFFF"/>
                          </a:solidFill>
                          <a:latin typeface="Malgun Gothic"/>
                          <a:ea typeface="Malgun Gothic"/>
                          <a:cs typeface="Malgun Gothic"/>
                        </a:rPr>
                        <a:t>최대 운동</a:t>
                      </a:r>
                    </a:p>
                  </a:txBody>
                  <a:tcPr marL="73152" marR="73152">
                    <a:solidFill>
                      <a:srgbClr val="003C71"/>
                    </a:solidFill>
                  </a:tcPr>
                </a:tc>
                <a:tc>
                  <a:txBody>
                    <a:bodyPr/>
                    <a:lstStyle/>
                    <a:p>
                      <a:r>
                        <a:rPr sz="1500" b="1" i="0">
                          <a:solidFill>
                            <a:srgbClr val="FFFFFF"/>
                          </a:solidFill>
                          <a:latin typeface="Malgun Gothic"/>
                          <a:ea typeface="Malgun Gothic"/>
                          <a:cs typeface="Malgun Gothic"/>
                        </a:rPr>
                        <a:t>SMN2 복제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0</a:t>
                      </a:r>
                    </a:p>
                  </a:txBody>
                  <a:tcPr marL="73152" marR="73152">
                    <a:solidFill>
                      <a:srgbClr val="FFFFFF"/>
                    </a:solidFill>
                  </a:tcPr>
                </a:tc>
                <a:tc>
                  <a:txBody>
                    <a:bodyPr/>
                    <a:lstStyle/>
                    <a:p>
                      <a:r>
                        <a:rPr sz="1500" b="0" i="0">
                          <a:solidFill>
                            <a:srgbClr val="11202B"/>
                          </a:solidFill>
                          <a:latin typeface="Malgun Gothic"/>
                          <a:ea typeface="Malgun Gothic"/>
                          <a:cs typeface="Malgun Gothic"/>
                        </a:rPr>
                        <a:t>태아·신생아</a:t>
                      </a:r>
                    </a:p>
                  </a:txBody>
                  <a:tcPr marL="73152" marR="73152">
                    <a:solidFill>
                      <a:srgbClr val="FFFFFF"/>
                    </a:solidFill>
                  </a:tcPr>
                </a:tc>
                <a:tc>
                  <a:txBody>
                    <a:bodyPr/>
                    <a:lstStyle/>
                    <a:p>
                      <a:r>
                        <a:rPr sz="1500" b="0" i="0">
                          <a:solidFill>
                            <a:srgbClr val="11202B"/>
                          </a:solidFill>
                          <a:latin typeface="Malgun Gothic"/>
                          <a:ea typeface="Malgun Gothic"/>
                          <a:cs typeface="Malgun Gothic"/>
                        </a:rPr>
                        <a:t>없음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1</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1</a:t>
                      </a:r>
                      <a:r>
                        <a:rPr sz="1500" b="0" i="0">
                          <a:solidFill>
                            <a:srgbClr val="11202B"/>
                          </a:solidFill>
                          <a:latin typeface="Malgun Gothic"/>
                          <a:ea typeface="Malgun Gothic"/>
                          <a:cs typeface="Malgun Gothic"/>
                        </a:rPr>
                        <a:t>(베르드니히-호프만; ~60%)</a:t>
                      </a:r>
                    </a:p>
                  </a:txBody>
                  <a:tcPr marL="73152" marR="73152">
                    <a:solidFill>
                      <a:srgbClr val="ECF1F5"/>
                    </a:solidFill>
                  </a:tcPr>
                </a:tc>
                <a:tc>
                  <a:txBody>
                    <a:bodyPr/>
                    <a:lstStyle/>
                    <a:p>
                      <a:r>
                        <a:rPr sz="1500" b="0" i="0">
                          <a:solidFill>
                            <a:srgbClr val="11202B"/>
                          </a:solidFill>
                          <a:latin typeface="Malgun Gothic"/>
                          <a:ea typeface="Malgun Gothic"/>
                          <a:cs typeface="Malgun Gothic"/>
                        </a:rPr>
                        <a:t>&lt;6개월</a:t>
                      </a:r>
                    </a:p>
                  </a:txBody>
                  <a:tcPr marL="73152" marR="73152">
                    <a:solidFill>
                      <a:srgbClr val="ECF1F5"/>
                    </a:solidFill>
                  </a:tcPr>
                </a:tc>
                <a:tc>
                  <a:txBody>
                    <a:bodyPr/>
                    <a:lstStyle/>
                    <a:p>
                      <a:r>
                        <a:rPr sz="1500" b="0" i="0">
                          <a:solidFill>
                            <a:srgbClr val="11202B"/>
                          </a:solidFill>
                          <a:latin typeface="Malgun Gothic"/>
                          <a:ea typeface="Malgun Gothic"/>
                          <a:cs typeface="Malgun Gothic"/>
                        </a:rPr>
                        <a:t>앉지 못함 — 미치료 시 2년 내 사망·호흡부전</a:t>
                      </a:r>
                    </a:p>
                  </a:txBody>
                  <a:tcPr marL="73152" marR="73152">
                    <a:solidFill>
                      <a:srgbClr val="ECF1F5"/>
                    </a:solidFill>
                  </a:tcPr>
                </a:tc>
                <a:tc>
                  <a:txBody>
                    <a:bodyPr/>
                    <a:lstStyle/>
                    <a:p>
                      <a:r>
                        <a:rPr sz="1500" b="0" i="0">
                          <a:solidFill>
                            <a:srgbClr val="11202B"/>
                          </a:solidFill>
                          <a:latin typeface="Malgun Gothic"/>
                          <a:ea typeface="Malgun Gothic"/>
                          <a:cs typeface="Malgun Gothic"/>
                        </a:rPr>
                        <a:t>2</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2</a:t>
                      </a:r>
                    </a:p>
                  </a:txBody>
                  <a:tcPr marL="73152" marR="73152">
                    <a:solidFill>
                      <a:srgbClr val="FFFFFF"/>
                    </a:solidFill>
                  </a:tcPr>
                </a:tc>
                <a:tc>
                  <a:txBody>
                    <a:bodyPr/>
                    <a:lstStyle/>
                    <a:p>
                      <a:r>
                        <a:rPr sz="1500" b="0" i="0">
                          <a:solidFill>
                            <a:srgbClr val="11202B"/>
                          </a:solidFill>
                          <a:latin typeface="Malgun Gothic"/>
                          <a:ea typeface="Malgun Gothic"/>
                          <a:cs typeface="Malgun Gothic"/>
                        </a:rPr>
                        <a:t>6–18개월</a:t>
                      </a:r>
                    </a:p>
                  </a:txBody>
                  <a:tcPr marL="73152" marR="73152">
                    <a:solidFill>
                      <a:srgbClr val="FFFFFF"/>
                    </a:solidFill>
                  </a:tcPr>
                </a:tc>
                <a:tc>
                  <a:txBody>
                    <a:bodyPr/>
                    <a:lstStyle/>
                    <a:p>
                      <a:r>
                        <a:rPr sz="1500" b="0" i="0">
                          <a:solidFill>
                            <a:srgbClr val="11202B"/>
                          </a:solidFill>
                          <a:latin typeface="Malgun Gothic"/>
                          <a:ea typeface="Malgun Gothic"/>
                          <a:cs typeface="Malgun Gothic"/>
                        </a:rPr>
                        <a:t>앉음, 걷지 못함</a:t>
                      </a:r>
                    </a:p>
                  </a:txBody>
                  <a:tcPr marL="73152" marR="73152">
                    <a:solidFill>
                      <a:srgbClr val="FFFFFF"/>
                    </a:solidFill>
                  </a:tcPr>
                </a:tc>
                <a:tc>
                  <a:txBody>
                    <a:bodyPr/>
                    <a:lstStyle/>
                    <a:p>
                      <a:r>
                        <a:rPr sz="1500" b="0" i="0">
                          <a:solidFill>
                            <a:srgbClr val="11202B"/>
                          </a:solidFill>
                          <a:latin typeface="Malgun Gothic"/>
                          <a:ea typeface="Malgun Gothic"/>
                          <a:cs typeface="Malgun Gothic"/>
                        </a:rPr>
                        <a:t>3</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3(쿠겔베르그-벨란더)</a:t>
                      </a:r>
                    </a:p>
                  </a:txBody>
                  <a:tcPr marL="73152" marR="73152">
                    <a:solidFill>
                      <a:srgbClr val="ECF1F5"/>
                    </a:solidFill>
                  </a:tcPr>
                </a:tc>
                <a:tc>
                  <a:txBody>
                    <a:bodyPr/>
                    <a:lstStyle/>
                    <a:p>
                      <a:r>
                        <a:rPr sz="1500" b="0" i="0">
                          <a:solidFill>
                            <a:srgbClr val="11202B"/>
                          </a:solidFill>
                          <a:latin typeface="Malgun Gothic"/>
                          <a:ea typeface="Malgun Gothic"/>
                          <a:cs typeface="Malgun Gothic"/>
                        </a:rPr>
                        <a:t>&gt;18개월</a:t>
                      </a:r>
                    </a:p>
                  </a:txBody>
                  <a:tcPr marL="73152" marR="73152">
                    <a:solidFill>
                      <a:srgbClr val="ECF1F5"/>
                    </a:solidFill>
                  </a:tcPr>
                </a:tc>
                <a:tc>
                  <a:txBody>
                    <a:bodyPr/>
                    <a:lstStyle/>
                    <a:p>
                      <a:r>
                        <a:rPr sz="1500" b="0" i="0">
                          <a:solidFill>
                            <a:srgbClr val="11202B"/>
                          </a:solidFill>
                          <a:latin typeface="Malgun Gothic"/>
                          <a:ea typeface="Malgun Gothic"/>
                          <a:cs typeface="Malgun Gothic"/>
                        </a:rPr>
                        <a:t>걸음(이후 상실 가능)</a:t>
                      </a:r>
                    </a:p>
                  </a:txBody>
                  <a:tcPr marL="73152" marR="73152">
                    <a:solidFill>
                      <a:srgbClr val="ECF1F5"/>
                    </a:solidFill>
                  </a:tcPr>
                </a:tc>
                <a:tc>
                  <a:txBody>
                    <a:bodyPr/>
                    <a:lstStyle/>
                    <a:p>
                      <a:r>
                        <a:rPr sz="1500" b="0" i="0">
                          <a:solidFill>
                            <a:srgbClr val="11202B"/>
                          </a:solidFill>
                          <a:latin typeface="Malgun Gothic"/>
                          <a:ea typeface="Malgun Gothic"/>
                          <a:cs typeface="Malgun Gothic"/>
                        </a:rPr>
                        <a:t>3–4</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4</a:t>
                      </a:r>
                    </a:p>
                  </a:txBody>
                  <a:tcPr marL="73152" marR="73152">
                    <a:solidFill>
                      <a:srgbClr val="FFFFFF"/>
                    </a:solidFill>
                  </a:tcPr>
                </a:tc>
                <a:tc>
                  <a:txBody>
                    <a:bodyPr/>
                    <a:lstStyle/>
                    <a:p>
                      <a:r>
                        <a:rPr sz="1500" b="0" i="0">
                          <a:solidFill>
                            <a:srgbClr val="11202B"/>
                          </a:solidFill>
                          <a:latin typeface="Malgun Gothic"/>
                          <a:ea typeface="Malgun Gothic"/>
                          <a:cs typeface="Malgun Gothic"/>
                        </a:rPr>
                        <a:t>성인</a:t>
                      </a:r>
                    </a:p>
                  </a:txBody>
                  <a:tcPr marL="73152" marR="73152">
                    <a:solidFill>
                      <a:srgbClr val="FFFFFF"/>
                    </a:solidFill>
                  </a:tcPr>
                </a:tc>
                <a:tc>
                  <a:txBody>
                    <a:bodyPr/>
                    <a:lstStyle/>
                    <a:p>
                      <a:r>
                        <a:rPr sz="1500" b="0" i="0">
                          <a:solidFill>
                            <a:srgbClr val="11202B"/>
                          </a:solidFill>
                          <a:latin typeface="Malgun Gothic"/>
                          <a:ea typeface="Malgun Gothic"/>
                          <a:cs typeface="Malgun Gothic"/>
                        </a:rPr>
                        <a:t>경증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≥4</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척수성 근위축증(SMA)</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투여</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누시너센</a:t>
                      </a:r>
                      <a:r>
                        <a:rPr sz="1500" b="0" i="0">
                          <a:solidFill>
                            <a:srgbClr val="11202B"/>
                          </a:solidFill>
                          <a:latin typeface="Malgun Gothic"/>
                          <a:ea typeface="Malgun Gothic"/>
                          <a:cs typeface="Malgun Gothic"/>
                        </a:rPr>
                        <a:t>(2016)</a:t>
                      </a:r>
                    </a:p>
                  </a:txBody>
                  <a:tcPr marL="73152" marR="73152">
                    <a:solidFill>
                      <a:srgbClr val="FFFFFF"/>
                    </a:solidFill>
                  </a:tcPr>
                </a:tc>
                <a:tc>
                  <a:txBody>
                    <a:bodyPr/>
                    <a:lstStyle/>
                    <a:p>
                      <a:r>
                        <a:rPr sz="1500" b="0" i="0">
                          <a:solidFill>
                            <a:srgbClr val="11202B"/>
                          </a:solidFill>
                          <a:latin typeface="Malgun Gothic"/>
                          <a:ea typeface="Malgun Gothic"/>
                          <a:cs typeface="Malgun Gothic"/>
                        </a:rPr>
                        <a:t>SMN2 인트론 7 ISS-N1 결합 ASO → 엑손 7 포함↑</a:t>
                      </a:r>
                    </a:p>
                  </a:txBody>
                  <a:tcPr marL="73152" marR="73152">
                    <a:solidFill>
                      <a:srgbClr val="FFFFFF"/>
                    </a:solidFill>
                  </a:tcPr>
                </a:tc>
                <a:tc>
                  <a:txBody>
                    <a:bodyPr/>
                    <a:lstStyle/>
                    <a:p>
                      <a:r>
                        <a:rPr sz="1500" b="0" i="0">
                          <a:solidFill>
                            <a:srgbClr val="11202B"/>
                          </a:solidFill>
                          <a:latin typeface="Malgun Gothic"/>
                          <a:ea typeface="Malgun Gothic"/>
                          <a:cs typeface="Malgun Gothic"/>
                        </a:rPr>
                        <a:t>척수강 내(부하 4회 후 4개월마다)</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오나셈노진 아베파르보벡</a:t>
                      </a:r>
                      <a:r>
                        <a:rPr sz="1500" b="0" i="0">
                          <a:solidFill>
                            <a:srgbClr val="11202B"/>
                          </a:solidFill>
                          <a:latin typeface="Malgun Gothic"/>
                          <a:ea typeface="Malgun Gothic"/>
                          <a:cs typeface="Malgun Gothic"/>
                        </a:rPr>
                        <a:t>(2019)</a:t>
                      </a:r>
                    </a:p>
                  </a:txBody>
                  <a:tcPr marL="73152" marR="73152">
                    <a:solidFill>
                      <a:srgbClr val="ECF1F5"/>
                    </a:solidFill>
                  </a:tcPr>
                </a:tc>
                <a:tc>
                  <a:txBody>
                    <a:bodyPr/>
                    <a:lstStyle/>
                    <a:p>
                      <a:r>
                        <a:rPr sz="1500" b="0" i="0">
                          <a:solidFill>
                            <a:srgbClr val="11202B"/>
                          </a:solidFill>
                          <a:latin typeface="Malgun Gothic"/>
                          <a:ea typeface="Malgun Gothic"/>
                          <a:cs typeface="Malgun Gothic"/>
                        </a:rPr>
                        <a:t>AAV9-SMN1 cDNA, 단회 정주</a:t>
                      </a:r>
                    </a:p>
                  </a:txBody>
                  <a:tcPr marL="73152" marR="73152">
                    <a:solidFill>
                      <a:srgbClr val="ECF1F5"/>
                    </a:solidFill>
                  </a:tcPr>
                </a:tc>
                <a:tc>
                  <a:txBody>
                    <a:bodyPr/>
                    <a:lstStyle/>
                    <a:p>
                      <a:r>
                        <a:rPr sz="1500" b="0" i="0">
                          <a:solidFill>
                            <a:srgbClr val="11202B"/>
                          </a:solidFill>
                          <a:latin typeface="Malgun Gothic"/>
                          <a:ea typeface="Malgun Gothic"/>
                          <a:cs typeface="Malgun Gothic"/>
                        </a:rPr>
                        <a:t>2세 미만(체중 제한), 간독성 → 스테로이드; 2025 척수강 내 제형(OAV101 IT) 고연령 확대</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리스디플람</a:t>
                      </a:r>
                      <a:r>
                        <a:rPr sz="1500" b="0" i="0">
                          <a:solidFill>
                            <a:srgbClr val="11202B"/>
                          </a:solidFill>
                          <a:latin typeface="Malgun Gothic"/>
                          <a:ea typeface="Malgun Gothic"/>
                          <a:cs typeface="Malgun Gothic"/>
                        </a:rPr>
                        <a:t>(2020)</a:t>
                      </a:r>
                    </a:p>
                  </a:txBody>
                  <a:tcPr marL="73152" marR="73152">
                    <a:solidFill>
                      <a:srgbClr val="FFFFFF"/>
                    </a:solidFill>
                  </a:tcPr>
                </a:tc>
                <a:tc>
                  <a:txBody>
                    <a:bodyPr/>
                    <a:lstStyle/>
                    <a:p>
                      <a:r>
                        <a:rPr sz="1500" b="0" i="0">
                          <a:solidFill>
                            <a:srgbClr val="11202B"/>
                          </a:solidFill>
                          <a:latin typeface="Malgun Gothic"/>
                          <a:ea typeface="Malgun Gothic"/>
                          <a:cs typeface="Malgun Gothic"/>
                        </a:rPr>
                        <a:t>경구 소분자 — SMN2 엑손 7 5' 스플라이스 부위·U1 snRNP 상호작용 안정화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매일 경구, 전신 분포</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근이영양증과 선천 근병증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FSHD</a:t>
            </a:r>
            <a:r>
              <a:rPr sz="1800" b="0" i="0">
                <a:solidFill>
                  <a:srgbClr val="11202B"/>
                </a:solidFill>
                <a:latin typeface="Malgun Gothic"/>
                <a:ea typeface="Malgun Gothic"/>
                <a:cs typeface="Malgun Gothic"/>
              </a:rPr>
              <a:t>(가장 흔한 성인 근이영양증 중 하나): 4q35 </a:t>
            </a:r>
            <a:r>
              <a:rPr sz="1800" b="1" i="0">
                <a:solidFill>
                  <a:srgbClr val="11202B"/>
                </a:solidFill>
                <a:latin typeface="Malgun Gothic"/>
                <a:ea typeface="Malgun Gothic"/>
                <a:cs typeface="Malgun Gothic"/>
              </a:rPr>
              <a:t>D4Z4 반복 수축</a:t>
            </a:r>
            <a:r>
              <a:rPr sz="1800" b="0" i="0">
                <a:solidFill>
                  <a:srgbClr val="11202B"/>
                </a:solidFill>
                <a:latin typeface="Malgun Gothic"/>
                <a:ea typeface="Malgun Gothic"/>
                <a:cs typeface="Malgun Gothic"/>
              </a:rPr>
              <a:t>(FSHD1; 1–10 단위) 또는 SMCHD1 변이(FSHD2) → D4Z4 저메틸화 → 원래 배아에서만 발현되는 </a:t>
            </a:r>
            <a:r>
              <a:rPr sz="1800" b="1" i="0">
                <a:solidFill>
                  <a:srgbClr val="11202B"/>
                </a:solidFill>
                <a:latin typeface="Malgun Gothic"/>
                <a:ea typeface="Malgun Gothic"/>
                <a:cs typeface="Malgun Gothic"/>
              </a:rPr>
              <a:t>DUX4</a:t>
            </a:r>
            <a:r>
              <a:rPr sz="1800" b="0" i="0">
                <a:solidFill>
                  <a:srgbClr val="11202B"/>
                </a:solidFill>
                <a:latin typeface="Malgun Gothic"/>
                <a:ea typeface="Malgun Gothic"/>
                <a:cs typeface="Malgun Gothic"/>
              </a:rPr>
              <a:t>가 근육에서 이소성 발현(허용 4qA 대립의 폴리A 신호 필요 — '2-타격') → 독성 전사 프로그램. 비대칭 안면(휘파람 불기 어려움)·견갑골 날개·상완 근약화, 하복근(비버 징후). 치료 연구: DUX4 억제(로스마피모드 3상 음성), ASO/siRNA(델-브락시시란 — AOC 1020).</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LGMD</a:t>
            </a:r>
            <a:r>
              <a:rPr sz="1800" b="0" i="0">
                <a:solidFill>
                  <a:srgbClr val="11202B"/>
                </a:solidFill>
                <a:latin typeface="Malgun Gothic"/>
                <a:ea typeface="Malgun Gothic"/>
                <a:cs typeface="Malgun Gothic"/>
              </a:rPr>
              <a:t> 새 명명(2018): LGMD D(우성)/R(열성) + 숫자 + 단백명 — 예 LGMD R1 칼페인3, R2 디스페를린, R9 FKRP(</a:t>
            </a:r>
            <a:r>
              <a:rPr sz="1800" b="1" i="0">
                <a:solidFill>
                  <a:srgbClr val="11202B"/>
                </a:solidFill>
                <a:latin typeface="Malgun Gothic"/>
                <a:ea typeface="Malgun Gothic"/>
                <a:cs typeface="Malgun Gothic"/>
              </a:rPr>
              <a:t>리비톨 보충 시험</a:t>
            </a:r>
            <a:r>
              <a:rPr sz="1800" b="0" i="0">
                <a:solidFill>
                  <a:srgbClr val="11202B"/>
                </a:solidFill>
                <a:latin typeface="Malgun Gothic"/>
                <a:ea typeface="Malgun Gothic"/>
                <a:cs typeface="Malgun Gothic"/>
              </a:rPr>
              <a:t>), R3–R6 사르코글리칸(AAV 유전자 치료 — 비소글리칸 SRP-9003 진행).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근이영양증과 선천 근병증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근긴장성 이영양증</a:t>
            </a:r>
            <a:r>
              <a:rPr sz="2000" b="0" i="0">
                <a:solidFill>
                  <a:srgbClr val="11202B"/>
                </a:solidFill>
                <a:latin typeface="Malgun Gothic"/>
                <a:ea typeface="Malgun Gothic"/>
                <a:cs typeface="Malgun Gothic"/>
              </a:rPr>
              <a:t>(B06 L02), </a:t>
            </a:r>
            <a:r>
              <a:rPr sz="2000" b="1" i="0">
                <a:solidFill>
                  <a:srgbClr val="11202B"/>
                </a:solidFill>
                <a:latin typeface="Malgun Gothic"/>
                <a:ea typeface="Malgun Gothic"/>
                <a:cs typeface="Malgun Gothic"/>
              </a:rPr>
              <a:t>폼페병</a:t>
            </a:r>
            <a:r>
              <a:rPr sz="2000" b="0" i="0">
                <a:solidFill>
                  <a:srgbClr val="11202B"/>
                </a:solidFill>
                <a:latin typeface="Malgun Gothic"/>
                <a:ea typeface="Malgun Gothic"/>
                <a:cs typeface="Malgun Gothic"/>
              </a:rPr>
              <a:t>(B03 L05), </a:t>
            </a:r>
            <a:r>
              <a:rPr sz="2000" b="1" i="0">
                <a:solidFill>
                  <a:srgbClr val="11202B"/>
                </a:solidFill>
                <a:latin typeface="Malgun Gothic"/>
                <a:ea typeface="Malgun Gothic"/>
                <a:cs typeface="Malgun Gothic"/>
              </a:rPr>
              <a:t>안구인두 근이영양증</a:t>
            </a:r>
            <a:r>
              <a:rPr sz="2000" b="0" i="0">
                <a:solidFill>
                  <a:srgbClr val="11202B"/>
                </a:solidFill>
                <a:latin typeface="Malgun Gothic"/>
                <a:ea typeface="Malgun Gothic"/>
                <a:cs typeface="Malgun Gothic"/>
              </a:rPr>
              <a:t>(PABPN1 GCN 확장).</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선천 근병증</a:t>
            </a:r>
            <a:r>
              <a:rPr sz="2000" b="0" i="0">
                <a:solidFill>
                  <a:srgbClr val="11202B"/>
                </a:solidFill>
                <a:latin typeface="Malgun Gothic"/>
                <a:ea typeface="Malgun Gothic"/>
                <a:cs typeface="Malgun Gothic"/>
              </a:rPr>
              <a:t>: 중심핵 근병증(RYR1 — </a:t>
            </a:r>
            <a:r>
              <a:rPr sz="2000" b="1" i="0">
                <a:solidFill>
                  <a:srgbClr val="11202B"/>
                </a:solidFill>
                <a:latin typeface="Malgun Gothic"/>
                <a:ea typeface="Malgun Gothic"/>
                <a:cs typeface="Malgun Gothic"/>
              </a:rPr>
              <a:t>악성고열 감수성</a:t>
            </a:r>
            <a:r>
              <a:rPr sz="2000" b="0" i="0">
                <a:solidFill>
                  <a:srgbClr val="11202B"/>
                </a:solidFill>
                <a:latin typeface="Malgun Gothic"/>
                <a:ea typeface="Malgun Gothic"/>
                <a:cs typeface="Malgun Gothic"/>
              </a:rPr>
              <a:t>), 근관 근병증(MTM1 X연관 — 중증 영아; AAV 시험 사망 사례로 간독성 경고), 네말린 근병증(NEB, ACTA1), 다중미세핵.</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이온통로 근육병</a:t>
            </a:r>
            <a:r>
              <a:rPr sz="2000" b="0" i="0">
                <a:solidFill>
                  <a:srgbClr val="11202B"/>
                </a:solidFill>
                <a:latin typeface="Malgun Gothic"/>
                <a:ea typeface="Malgun Gothic"/>
                <a:cs typeface="Malgun Gothic"/>
              </a:rPr>
              <a:t>: 선천 근긴장증(CLCN1), 주기 마비(B06 L09).</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대사성 근병증</a:t>
            </a:r>
            <a:r>
              <a:rPr sz="2000" b="0" i="0">
                <a:solidFill>
                  <a:srgbClr val="11202B"/>
                </a:solidFill>
                <a:latin typeface="Malgun Gothic"/>
                <a:ea typeface="Malgun Gothic"/>
                <a:cs typeface="Malgun Gothic"/>
              </a:rPr>
              <a:t>: McArdle(B01 L02), CPT2 결핍(B01 L05), 미토콘드리아(B05 L11).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DMD 유전자 치료는 효능 기대와 함께 간독성·심근염 사망 사례로 안전성 재평가 중이며, 차세대 근육 지향 캡시드(MyoAAV — RGD 모티프로 근육 형질도입 10배↑, 간 이탈↓)가 개발되고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SMA 치료 성공은 '증상 전 진단 → 질환 수정 치료' 모델의 대표 사례가 되어, 신생아 유전체 선별 확대의 근거로 쓰인다.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근육 MRI 정량(지방 분율), 혈청 생체표지(CK, 근육 특이 miRNA, 디스트로핀 단편), 웨어러블 기반 실생활 운동 측정(SV95C — 유럽 의약품청 승인 1차 지표)이 임상시험 지표로 확립되고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디스트로핀-당단백 복합체는 액틴과 세포외 라미닌을 연결해 근섬유막을 보호하며 그 결손이 근이영양증의 공통 기전이다.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DMD/BMD는 읽기틀 규칙으로 중증도가 예측되며 글루코코르티코이드(바모롤론)·기비노스타트·심장 보호·호흡 관리가 표준이다.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엑손 건너뛰기 ASO와 마이크로디스트로핀 AAV는 디스트로핀을 부분 회복시키지만 효능 크기·전달·간독성 문제가 남아 있다.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SMA는 SMN1 결실과 SMN2 복제 수가 결정하며 누시너센·오나셈노진·리스디플람과 신생아 선별 후 증상 전 치료가 예후를 바꾸었다.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FSHD(DUX4 이소 발현), LGMD(칼페인·디스페를린·FKRP·사르코글리칸), 선천·대사 근병증은 각기 다른 분자 기전을 가진다.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DMD 유전자의 엑손 48–50 결실(out-of-frame)과 엑손 45–47 결실(in-frame)을 가진 두 소년의 예상 표현형 차이는?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읽기틀 규칙에 따라 엑손 48–50 결실은 읽기틀을 이동시켜 조기 종결 코돈과 NMD로 디스트로핀이 거의 없는 뒤시엔형이 예상된다. 엑손 45–47 결실은 읽기틀이 유지되어 중간 막대 도메인 일부가 빠진 짧은 디스트로핀이 생성되므로 경증 베커형이 예상된다. 전자는 엑손 51 건너뛰기 ASO로 읽기틀 회복이 가능하다.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SMN2 복제 수가 SMA 중증도를 결정하는 이유와, 누시너센과 리스디플람의 공통 표적은?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SMN2는 SMN1과 거의 같지만 엑손 7의 C→T 변화로 대부분 엑손 7이 빠진 불안정 단백을 만들고 약 10%만 기능 SMN을 만든다. 따라서 SMN2 복제 수가 많을수록 기능 SMN 총량이 늘어 경증이 된다. 누시너센(ASO)과 리스디플람(소분자)은 모두 SMN2 pre-mRNA의 스플라이싱을 교정해 엑손 7 포함을 늘려 기능 SMN을 증가시킨다.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DMD 환자에게 보행이 가능한 시기에도 10세 전후부터 ACE 억제제를 시작하는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디스트로핀 결손은 심근에도 진행성 손상과 섬유화를 일으켜 확장성 심근병증이 주된 사망 원인이 되며, 증상과 박출률 저하는 늦게 나타난다. 무증상 시기에 ACE 억제제를 시작하면 좌심실 기능 저하와 사망이 줄어든다는 근거가 있어 예방적으로 시작하고, 심장 MRI로 조기 섬유화를 감시한다.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FSHD1에서 D4Z4 반복 수축만으로는 질환이 생기지 않고 '허용 대립(4qA)'이 필요한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D4Z4 반복 수축은 염색질 저메틸화로 DUX4 전사를 허용하지만, 전사된 DUX4 mRNA가 안정적으로 번역되려면 마지막 반복 바로 뒤의 4qA 대립에 있는 폴리아데닐화 신호가 필요하다. 4qB 대립에는 이 신호가 없어 DUX4 mRNA가 불안정하므로 독성 단백이 생기지 않는다(2-타격 모델).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Duan D et al. Duchenne muscular dystrophy. Nat Rev Dis Primers 2021;7:13.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Birnkrant DJ et al. Diagnosis and management of Duchenne muscular dystrophy, part 1–3. Lancet Neurol 2018;17:251–267, 347–361, 445–455.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Mercuri E et al. Spinal muscular atrophy. Nat Rev Dis Primers 2022;8:52.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B06-L04  ·  근이영양증과 척수성 근위축증</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Strauss KA et al. Onasemnogene abeparvovec for presymptomatic infants with two copies of SMN2 at risk for spinal muscular atrophy type 1 (SPR1NT). Nat Med 2022;28:1381–1389.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Mendell JR et al. Phase 3 trial of delandistrogene moxeparvovec in Duchenne muscular dystrophy (EMBARK). Nat Med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