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 변이는 β-세크레타아제(BACE1) 절단 부위 옆에 있어 Aβ 생성을 약 40% 줄이며, 보유자는 AD 위험이 낮고 노년 인지 저하도 적다. Aβ 생성 감소가 평생에 걸쳐 AD를 예방할 수 있다는 인간 유전학적 증거로 아밀로이드 가설과 BACE1 억제 전략을 지지했다(다만 BACE1 억제제는 인지 악화 등으로 임상 실패).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APOE ε4 보유, 특히 동형접합자에서 아밀로이드 관련 영상 이상(ARIA-E 부종, ARIA-H 미세출혈·표재성 철침착)의 위험이 크게 증가한다(동형접합 ARIA-E 약 30–40%). 이는 혈관 아밀로이드 부담이 크기 때문으로 보이며, 위험-이득 상담과 MRI 감시 강도 결정에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PRKN(Parkin) 양대립 변이(결실·중복 흔함 — MLPA 포함 검사 필요). 상염색체 열성 조기발병 PD로 진행이 느리고 레보도파 반응이 좋지만 이상운동증이 일찍 생긴다. 병리에서 레비 소체가 드물고, 미토파지(PINK1–Parkin 경로) 결함이 기전이다.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GBA1, LRRK2, TMEM175, SCARB2, VPS35 등 PD 위험 유전자가 리소좀–엔도솜–자가포식 경로로 수렴한다는 것은 α-시누클레인 처리 실패가 공통 병인임을 시사한다. 따라서 GCase 활성화, LRRK2 억제, 리소좀 산성화·TFEB 활성화 등 리소좀 기능 회복이 유전형을 넘어 산발 PD에도 적용 가능한 치료 전략이 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퇴행성 질환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알츠하이머병과 파킨슨병의 유전학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Genetics of Alzheimer's and Parkinson's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B06-L05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조기발병 상염색체 우성 AD(APP, PSEN1, PSEN2)와 다운증후군 AD의 분자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만발성 AD의 유전 구조(APOE, TREM2, GWAS 좌위)와 경로(지질, 면역, 엔도솜)를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단일유전자 PD(SNCA, LRRK2, VPS35, PRKN, PINK1, DJ1)와 위험 유전자(GBA1)의 특징을 정리한다.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정보가 예측·임상시험·정밀 치료에 쓰이는 방식을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동아시아 집단의 유전적 특성과 유전 상담 원칙을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상염색체 우성 AD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만발성 AD의 유전 구조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파킨슨병의 단일유전자 형태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정보의 임상 활용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동아시아·한국 집단의 특성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상염색체 우성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전체 AD의 &lt;1%, 대개 65세 이전(30–50대) 발병, 거의 완전 침투.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다운증후군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21번 삼염색체 → APP 3복사 → 40세까지 거의 모두 AD 병리, 60세까지 치매 위험 &gt;80% → 가장 흔한 유전성 AD 형태; 21번 부분 삼염색체에서 *APP*가 빠지면 AD 없음.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연구 코호트: DIAN(우성 유전 AD 네트워크) — 증상 15–25년 전부터 Aβ 축적, 10–15년 전 타우·대사 변화, 5년 전 위축 순서를 밝힘; 예방 시험(DIAN-TU — 간테네루맙·솔라네주맙 1차 결과 음성, 연장 연구에서 일부 신호), 콜롬비아 PSEN1 E280A(파이사) 코호트(크레네주맙 음성).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아밀로이드 연쇄 가설의 유전적 근거: AD 유발 변이는 모두 Aβ 생성·응집을 늘리고, 보호 변이(A673T)는 줄인다.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상염색체 우성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PSEN1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(14q)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흔함(&gt;300 변이)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γ-세크레타아제 촉매 소단위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Aβ42/Aβ40 비 증가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(카복시펩티다아제 유사 '다듬기' 효율 저하 → 긴 Aβ 증가); 경련·경직성 하지마비·근간대 동반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(21q)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절단 부위 주변 변이: 스웨덴 KM670/671NL(β-세크레타아제 절단↑ — 총 Aβ↑), 런던 V717I(Aβ42↑), 북극 E693G(응집↑);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아이슬란드 A673T — 보호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(BACE1 절단↓ — 노년 인지 보존; Jonsson et al., Nature 2012)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PSEN2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(1q)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볼가 독일계, 침투 불완전·발병 늦음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 중복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증가 → AD + 뇌 아밀로이드 혈관병증(출혈)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만발성 AD의 유전 구조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유전율 60–80%.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APOE ε4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가장 큰 흔한 위험 인자(B05 L01); ε2 보호.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희귀 중등도 효과 변이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TREM2 R47H(OR ~3; 미세아교세포 지질 감지·탐식 저하), SORL1 LoF(엔도솜 APP 분류 — 우성 유사 고위험), ABCA7 LoF(지질 수송), PLCG2 P522R(보호 — 미세아교세포 신호 증가).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GWAS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75–100 좌위; Bellenguez et al., Nat Genet 2022) 경로: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미세아교세포·선천면역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TREM2, CD33(억제 수용체 — 보호 대립은 탐식↑), MS4A(가용성 TREM2 수준 조절), INPP5D, SPI1(PU.1 — 미세아교세포 전사), PLCG2, ABI3.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지질·콜레스테롤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APOE, CLU, ABCA7, ABCA1.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만발성 AD의 유전 구조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엔도솜·세포내섭취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BIN1(미세아교·신경 — 타우 확산), PICALM, SORL1, CD2AP, RIN3.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세포 유형 강화 분석: AD 위험 유전자는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미세아교세포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인핸서에 집중 → AD를 '미세아교세포 질환'으로 보는 관점(B08 L04).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다유전자 위험 점수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APOE를 제외해도 상·하위 십분위 위험 차이 수배; 그러나 임상 예측 추가 가치는 제한적이고 유럽 외 집단 성능 저하.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APOE4 동형접합 = 유전형 AD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(2024 제안; B05 L01) — 항아밀로이드 항체 ARIA 위험(동형접합 ARIA-E ~40%) 때문에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전 APOE 유전형 검사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권고(레카네맙·도나네맙 라벨).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파킨슨병의 단일유전자 형태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 GWAS(약 90–130 좌위): SNCA, LRRK2, GBA1, MAPT(H1 하플로타입), TMEM175, 리소좀 유전자 집중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리소좀–자가포식 경로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PD 유전 위험의 수렴점. 동아시아 GWAS에서 SV2C, WBSCR17 등 집단 특이 좌위.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 환자의 약 10–15%가 단일유전자 또는 GBA1 변이 보유 — 조기 발병·가족력·아슈케나지 등에서 검사 권장 → 유전형 특이 임상시험 참여 근거.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파킨슨병의 단일유전자 형태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*SNCA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점변이(A53T, A30P, E46K) — 조기·치매 동반;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중복·삼중복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용량 의존(삼중복이 더 이르고 중함)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*LRRK2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AD, 불완전 침투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G2019S(북아프리카 아랍 ~40%, 아슈케나지 ~15–20%; 동아시아 드묾),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동아시아 위험 변이 G2385R·R1628P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(OR ~2); 임상은 산발 PD와 유사, 레비 병리 다양 — 키나아제 억제제·ASO 시험(B05 L02)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VPS35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D620N — 레트로머(엔도솜 재순환)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*PRKN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*(Parkin)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흔한 조기발병 PD 원인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(&lt;40세, 특히 &lt;20세) — 하지 근긴장이상, 느린 진행, 수면 후 호전, 레보도파 반응 우수·이상운동 조기; 레비 소체 드묾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*PINK1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Parkin과 같은 미토파지 경로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PARK7(DJ-1)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 스트레스 센서, 드묾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ATP13A2, PLA2G6, FBXO7, SYNJ1, DNAJC6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비전형(근긴장이상·인지·피라미드 징후 동반)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*GBA1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인자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 위험 5–10배, 가장 흔한 유전 위험 요인(PD의 5–15%; 아슈케나지 ~20%); 조기 인지 저하·환각, 빠른 진행 (B05 L02)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정보의 임상 활용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조기발병 치매(65세 미만)·가족력 강함 → APP/PSEN1/PSEN2(± MAPT, GRN, C9orf72 — FTD 감별) 검사; 조기발병 PD(&lt;50세) → PRKN, PINK1, LRRK2, GBA1, SNCA 용량.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예측 검사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우성 AD 가족 — 헌팅턴 프로토콜 준용(B06 L01). APOE 유전형은 일반인의 예측 목적 검사로 권장되지 않음(침투 불완전, 행동 변화 근거 부족) — 단, 항아밀로이드 치료 시 안전성 목적.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 임상시험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DIAN-TU·API(증상 전 우성 AD), LRRK2 억제제(LRRK2 보유자 + 산발 PD), GBA1 표적(GCase 활성제), SNCA ASO, APOE4 동형접합 대상 시험(ALZ-801 발리트라미프로세이트 — APOLLOE4, 1차 결과 음성·하위군 신호).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정보의 임상 활용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상담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우성 질환 자녀 50%, 불완전 침투(LRRK2) 위험 수치 설명, 착상 전 진단 선택지, 결과의 심리적 영향, 연구 참여 기회.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동아시아·한국 집단의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APOE ε4 대립 빈도: 한국 ~9–11%(유럽 ~14%), 그러나 ε4 효과 크기는 동아시아에서 유사하거나 더 큼.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SORL1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등 희귀 변이의 집단 특이 분포, 한국인 AD GWAS에서 APOE 외 새 좌위 보고(예: SORL1, LINC00982).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PD: LRRK2 G2019S 드묾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G2385R, R1628P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주요 위험 변이; GBA1 변이 스펙트럼 다름(L444P 흔함); PRKN 결실·중복 빈도 높음.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비유럽 집단 GWAS·바이오뱅크(한국인 칩, 일본 BioBank Japan, 중국) 확대가 PRS 형평성과 새 표적 발견에 필수.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보호 변이 기반 치료 개발: APP A673T(BACE1 억제 — 임상 실패 후 저용량 재검토), APOE 크라이스트처치(헤파란 황산 결합 차단 항체), PLCG2 P522R 모방, TREM2 작용 항체(3상 INVOKE-2 음성 2024).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eQTL과 미세아교세포 인핸서 지도로 AD GWAS 좌위의 원인 유전자·세포가 하나씩 확정되고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혈장 바이오마커(p-tau217, α-시누클레인 SAA)와 유전형을 결합해 증상 전 고위험군을 식별하고 예방 시험에 등록하는 '정밀 예방'이 시작되었다.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우성 AD는 PSEN1·APP·PSEN2 변이로 Aβ42 생성·응집이 증가하며, 다운증후군은 APP 용량 증가로 거의 모두 AD 병리를 보인다.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만발성 AD의 유전 구조는 APOE4와 미세아교세포·지질·엔도솜 경로의 다수 좌위로 이루어지며 APOE4 동형접합은 유전형 AD로 제안되었다.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PD의 단일유전자 원인은 SNCA(용량), LRRK2, VPS35(우성)와 PRKN·PINK1(열성 조기발병)이며 *GBA1*이 가장 흔한 위험 인자이다.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정보는 조기발병 환자 진단, 항아밀로이드 치료 안전성(APOE), 유전형 특이 시험에 쓰인다.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동아시아 집단은 LRRK2 G2385R·R1628P 등 고유 위험 변이를 가져 비유럽 유전체 연구가 필요하다.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아이슬란드 APP A673T 변이가 AD 연구에서 갖는 의미는?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변이는 β-세크레타아제(BACE1) 절단 부위 옆에 있어 Aβ 생성을 약 40% 줄이며, 보유자는 AD 위험이 낮고 노년 인지 저하도 적다. Aβ 생성 감소가 평생에 걸쳐 AD를 예방할 수 있다는 인간 유전학적 증거로 아밀로이드 가설과 BACE1 억제 전략을 지지했다(다만 BACE1 억제제는 인지 악화 등으로 임상 실패).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레카네맙 투여 전 APOE 유전형을 확인하는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APOE ε4 보유, 특히 동형접합자에서 아밀로이드 관련 영상 이상(ARIA-E 부종, ARIA-H 미세출혈·표재성 철침착)의 위험이 크게 증가한다(동형접합 ARIA-E 약 30–40%). 이는 혈관 아밀로이드 부담이 크기 때문으로 보이며, 위험-이득 상담과 MRI 감시 강도 결정에 필요하다.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20세에 발병한 파킨슨증 환자가 하지 근긴장이상, 아침에 좋은 증상, 레보도파에 대한 우수한 반응을 보인다. 가장 가능성 높은 유전 원인과 특징은?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PRKN(Parkin) 양대립 변이(결실·중복 흔함 — MLPA 포함 검사 필요). 상염색체 열성 조기발병 PD로 진행이 느리고 레보도파 반응이 좋지만 이상운동증이 일찍 생긴다. 병리에서 레비 소체가 드물고, 미토파지(PINK1–Parkin 경로) 결함이 기전이다.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 GWAS 좌위들이 리소좀 유전자에 집중된다는 사실이 치료 개발에 주는 시사점은?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GBA1, LRRK2, TMEM175, SCARB2, VPS35 등 PD 위험 유전자가 리소좀–엔도솜–자가포식 경로로 수렴한다는 것은 α-시누클레인 처리 실패가 공통 병인임을 시사한다. 따라서 GCase 활성화, LRRK2 억제, 리소좀 산성화·TFEB 활성화 등 리소좀 기능 회복이 유전형을 넘어 산발 PD에도 적용 가능한 치료 전략이 될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Bellenguez C et al. New insights into the genetic etiology of Alzheimer's disease and related dementias. Nat Genet 2022;54:412–436.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Bateman RJ et al. Clinical and biomarker changes in dominantly inherited Alzheimer's disease (DIAN). N Engl J Med 2012;367:795–804.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Jonsson T et al. A mutation in APP protects against Alzheimer's disease and age-related cognitive decline. Nature 2012;488:96–99.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B06-L05  ·  알츠하이머병과 파킨슨병의 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Blauwendraat C, Nalls MA, Singleton AB. The genetic architecture of Parkinson's disease. Lancet Neurol 2020;19:170–178.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Nalls MA et al. Identification of novel risk loci, causal insights, and heritable risk for Parkinson's disease. Lancet Neurol 2019;18:1091–1102.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