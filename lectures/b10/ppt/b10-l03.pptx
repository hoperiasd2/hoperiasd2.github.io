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보존 기간이 길어지면 적혈구의 2,3-BPG가 감소해 헤모글로빈의 산소 친화도가 높아지고 해리 곡선이 좌측 이동한다. 폐에서 산소는 잘 싣지만 조직에서 방출이 줄어든다. 2,3-BPG는 수혈 후 수시간에서 하루 정도에 회복되며, 저장 혈액의 산성화·칼륨 상승·구연산에 의한 저칼슘도 함께 고려해야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맥박산소측정기는 두 파장의 흡광비로 산소헤모글로빈 분율을 추정하는데, 일산화탄소헤모글로빈의 흡광 특성이 산소헤모글로빈과 유사해 포화도가 높게 읽힌다. 진단은 다파장 공동 산소측정기를 이용한 동맥 또는 정맥혈 일산화탄소헤모글로빈 직접 측정이며, 임상 의심이 있으면 결과를 기다리지 않고 고농도 산소를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두 치료 모두 ALA 합성효소 1의 활성을 낮춘다. 금식과 탄수화물 부족은 PGC-1α를 통해 ALAS1 전사를 올리므로 포도당 공급이 이를 억제한다. 헤민은 간의 유리 헴 풀을 보충해 ALAS1에 대한 음성 피드백을 복원하여 ALA와 PBG 생산을 줄인다. 반복 발작에는 ALAS1 mRNA를 표적하는 기보시란을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철 결핍에서는 저장 철이 소진되어 페리틴이 낮고, 세포 내 IRP 활성화로 TfR1이 늘어 가용성 트랜스페린 수용체가 상승하며 총 철결합능이 증가한다. 염증성 빈혈에서는 IL-6가 헵시딘을 올려 철이 대식세포에 갇히므로 혈청 철은 낮지만 페리틴은 정상 또는 상승하고 총 철결합능은 감소하며 가용성 수용체는 정상이다. 두 상태가 겹칠 때는 페리틴 역치를 높여 해석하거나 수용체-페리틴 지수를 활용한다.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B10 기타질환학  ·  혈액과 지혈</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3200" b="1" i="0">
                <a:solidFill>
                  <a:srgbClr val="FFFFFF"/>
                </a:solidFill>
                <a:latin typeface="Malgun Gothic"/>
                <a:ea typeface="Malgun Gothic"/>
                <a:cs typeface="Malgun Gothic"/>
              </a:rPr>
              <a:t>혈액질환의 생화학: 적혈구, 헤모글로빈과 철 대사</a:t>
            </a:r>
          </a:p>
          <a:p>
            <a:r>
              <a:rPr sz="2000" b="0" i="0">
                <a:solidFill>
                  <a:srgbClr val="C2CDD6"/>
                </a:solidFill>
                <a:latin typeface="Malgun Gothic"/>
                <a:ea typeface="Malgun Gothic"/>
                <a:cs typeface="Malgun Gothic"/>
              </a:rPr>
              <a:t>Biochemistry of Hematologic Disease: Erythrocyte, Hemoglobin and Iron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B10-L03</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적혈구의 대사 특수성과 산화 스트레스 방어를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헤모글로빈의 구조-기능과 산소 해리 곡선의 조절을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헴 합성과 포르피린증, 빌리루빈 대사의 장애를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전신 철 대사와 결핍·과부하의 분자 기전을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헤모글로빈병과 적혈구 효소 결핍의 병태생리와 치료를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적혈구의 대사 특수성</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헤모글로빈의 구조-기능</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헴 합성, 포르피린증과 빌리루빈</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전신 철 대사</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헤모글로빈병과 적혈구 효소 결핍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적혈구의 대사 특수성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성숙 적혈구는 핵·미토콘드리아·리보솜이 없다 → </a:t>
            </a:r>
            <a:r>
              <a:rPr sz="1800" b="1" i="0">
                <a:solidFill>
                  <a:srgbClr val="11202B"/>
                </a:solidFill>
                <a:latin typeface="Malgun Gothic"/>
                <a:ea typeface="Malgun Gothic"/>
                <a:cs typeface="Malgun Gothic"/>
              </a:rPr>
              <a:t>ATP는 전적으로 해당과정</a:t>
            </a:r>
            <a:r>
              <a:rPr sz="1800" b="0" i="0">
                <a:solidFill>
                  <a:srgbClr val="11202B"/>
                </a:solidFill>
                <a:latin typeface="Malgun Gothic"/>
                <a:ea typeface="Malgun Gothic"/>
                <a:cs typeface="Malgun Gothic"/>
              </a:rPr>
              <a:t>에서, 환원력은 </a:t>
            </a:r>
            <a:r>
              <a:rPr sz="1800" b="1" i="0">
                <a:solidFill>
                  <a:srgbClr val="11202B"/>
                </a:solidFill>
                <a:latin typeface="Malgun Gothic"/>
                <a:ea typeface="Malgun Gothic"/>
                <a:cs typeface="Malgun Gothic"/>
              </a:rPr>
              <a:t>오탄당 인산 경로(PPP)</a:t>
            </a:r>
            <a:r>
              <a:rPr sz="1800" b="0" i="0">
                <a:solidFill>
                  <a:srgbClr val="11202B"/>
                </a:solidFill>
                <a:latin typeface="Malgun Gothic"/>
                <a:ea typeface="Malgun Gothic"/>
                <a:cs typeface="Malgun Gothic"/>
              </a:rPr>
              <a:t>의 NADPH에서 얻는다. 지질·단백질 신생합성이 불가능해 손상 복구가 제한되고 수명이 약 120일로 정해진다.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2,3-BPG 우회로(라파포트-루버링)</a:t>
            </a:r>
            <a:r>
              <a:rPr sz="1800" b="0" i="0">
                <a:solidFill>
                  <a:srgbClr val="11202B"/>
                </a:solidFill>
                <a:latin typeface="Malgun Gothic"/>
                <a:ea typeface="Malgun Gothic"/>
                <a:cs typeface="Malgun Gothic"/>
              </a:rPr>
              <a:t>: 1,3-BPG → 2,3-BPG(BPG 무타아제) → 3-PG. 이 우회로를 지나면 ATP를 얻지 못하는 대신 산소 해리 조절자를 만든다.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에너지 용도: Na⁺/K⁺-ATPase(세포 부피), Ca²⁺-ATPase(세포질 Ca²⁺ 낮게 유지 — 상승 시 가드로스 통로 활성 → 탈수·에리프토시스), 막 지질 비대칭 유지(플리파아제), 해당과정 효소-밴드3 복합체.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적혈구의 대사 특수성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막 세포골격: 스펙트린 α/β 사량체 – 액틴 – 단백질 4.1 – 안키린 – 밴드3(AE1) – 글리코포린. 수직 연결 결함 → </a:t>
            </a:r>
            <a:r>
              <a:rPr sz="2200" b="1" i="0">
                <a:solidFill>
                  <a:srgbClr val="11202B"/>
                </a:solidFill>
                <a:latin typeface="Malgun Gothic"/>
                <a:ea typeface="Malgun Gothic"/>
                <a:cs typeface="Malgun Gothic"/>
              </a:rPr>
              <a:t>구형적혈구증</a:t>
            </a:r>
            <a:r>
              <a:rPr sz="2200" b="0" i="0">
                <a:solidFill>
                  <a:srgbClr val="11202B"/>
                </a:solidFill>
                <a:latin typeface="Malgun Gothic"/>
                <a:ea typeface="Malgun Gothic"/>
                <a:cs typeface="Malgun Gothic"/>
              </a:rPr>
              <a:t>(안키린, 스펙트린, 밴드3, 단백질 4.2), 수평 결함 → </a:t>
            </a:r>
            <a:r>
              <a:rPr sz="2200" b="1" i="0">
                <a:solidFill>
                  <a:srgbClr val="11202B"/>
                </a:solidFill>
                <a:latin typeface="Malgun Gothic"/>
                <a:ea typeface="Malgun Gothic"/>
                <a:cs typeface="Malgun Gothic"/>
              </a:rPr>
              <a:t>타원적혈구증</a:t>
            </a:r>
            <a:r>
              <a:rPr sz="2200" b="0" i="0">
                <a:solidFill>
                  <a:srgbClr val="11202B"/>
                </a:solidFill>
                <a:latin typeface="Malgun Gothic"/>
                <a:ea typeface="Malgun Gothic"/>
                <a:cs typeface="Malgun Gothic"/>
              </a:rPr>
              <a:t>(스펙트린 이량체화, 단백질 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적혈구의 대사 특수성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산화 방어</a:t>
                      </a:r>
                    </a:p>
                  </a:txBody>
                  <a:tcPr marL="73152" marR="73152">
                    <a:solidFill>
                      <a:srgbClr val="003C71"/>
                    </a:solidFill>
                  </a:tcPr>
                </a:tc>
                <a:tc>
                  <a:txBody>
                    <a:bodyPr/>
                    <a:lstStyle/>
                    <a:p>
                      <a:r>
                        <a:rPr sz="1500" b="1" i="0">
                          <a:solidFill>
                            <a:srgbClr val="FFFFFF"/>
                          </a:solidFill>
                          <a:latin typeface="Malgun Gothic"/>
                          <a:ea typeface="Malgun Gothic"/>
                          <a:cs typeface="Malgun Gothic"/>
                        </a:rPr>
                        <a:t>반응</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결핍 시</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G6PD → NADPH</a:t>
                      </a:r>
                    </a:p>
                  </a:txBody>
                  <a:tcPr marL="73152" marR="73152">
                    <a:solidFill>
                      <a:srgbClr val="FFFFFF"/>
                    </a:solidFill>
                  </a:tcPr>
                </a:tc>
                <a:tc>
                  <a:txBody>
                    <a:bodyPr/>
                    <a:lstStyle/>
                    <a:p>
                      <a:r>
                        <a:rPr sz="1500" b="0" i="0">
                          <a:solidFill>
                            <a:srgbClr val="11202B"/>
                          </a:solidFill>
                          <a:latin typeface="Malgun Gothic"/>
                          <a:ea typeface="Malgun Gothic"/>
                          <a:cs typeface="Malgun Gothic"/>
                        </a:rPr>
                        <a:t>PPP 첫 단계, 속도 결정</a:t>
                      </a:r>
                    </a:p>
                  </a:txBody>
                  <a:tcPr marL="73152" marR="73152">
                    <a:solidFill>
                      <a:srgbClr val="FFFFFF"/>
                    </a:solidFill>
                  </a:tcPr>
                </a:tc>
                <a:tc>
                  <a:txBody>
                    <a:bodyPr/>
                    <a:lstStyle/>
                    <a:p>
                      <a:r>
                        <a:rPr sz="1500" b="0" i="0">
                          <a:solidFill>
                            <a:srgbClr val="11202B"/>
                          </a:solidFill>
                          <a:latin typeface="Malgun Gothic"/>
                          <a:ea typeface="Malgun Gothic"/>
                          <a:cs typeface="Malgun Gothic"/>
                        </a:rPr>
                        <a:t>G6PD 결핍 — 산화 용혈, 하인츠체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글루타티온 환원효소/페록시다아제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GSSG → 2GSH, H₂O₂ 제거</a:t>
                      </a:r>
                    </a:p>
                  </a:txBody>
                  <a:tcPr marL="73152" marR="73152">
                    <a:solidFill>
                      <a:srgbClr val="ECF1F5"/>
                    </a:solidFill>
                  </a:tcPr>
                </a:tc>
                <a:tc>
                  <a:txBody>
                    <a:bodyPr/>
                    <a:lstStyle/>
                    <a:p>
                      <a:r>
                        <a:rPr sz="1500" b="0" i="0">
                          <a:solidFill>
                            <a:srgbClr val="11202B"/>
                          </a:solidFill>
                          <a:latin typeface="Malgun Gothic"/>
                          <a:ea typeface="Malgun Gothic"/>
                          <a:cs typeface="Malgun Gothic"/>
                        </a:rPr>
                        <a:t>용혈, 셀레늄·리보플라빈 의존</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카탈라아제, SOD</a:t>
                      </a:r>
                    </a:p>
                  </a:txBody>
                  <a:tcPr marL="73152" marR="73152">
                    <a:solidFill>
                      <a:srgbClr val="FFFFFF"/>
                    </a:solidFill>
                  </a:tcPr>
                </a:tc>
                <a:tc>
                  <a:txBody>
                    <a:bodyPr/>
                    <a:lstStyle/>
                    <a:p>
                      <a:r>
                        <a:rPr sz="1500" b="0" i="0">
                          <a:solidFill>
                            <a:srgbClr val="11202B"/>
                          </a:solidFill>
                          <a:latin typeface="Malgun Gothic"/>
                          <a:ea typeface="Malgun Gothic"/>
                          <a:cs typeface="Malgun Gothic"/>
                        </a:rPr>
                        <a:t>H₂O₂, O₂⁻ 제거</a:t>
                      </a:r>
                    </a:p>
                  </a:txBody>
                  <a:tcPr marL="73152" marR="73152">
                    <a:solidFill>
                      <a:srgbClr val="FFFFFF"/>
                    </a:solidFill>
                  </a:tcPr>
                </a:tc>
                <a:tc>
                  <a:txBody>
                    <a:bodyPr/>
                    <a:lstStyle/>
                    <a:p>
                      <a:r>
                        <a:rPr sz="1500" b="0" i="0">
                          <a:solidFill>
                            <a:srgbClr val="11202B"/>
                          </a:solidFill>
                          <a:latin typeface="Malgun Gothic"/>
                          <a:ea typeface="Malgun Gothic"/>
                          <a:cs typeface="Malgun Gothic"/>
                        </a:rPr>
                        <a:t>산화 손상</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메트헤모글로빈 환원효소(시토크롬 b5 환원효소)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Fe³⁺ → Fe²⁺</a:t>
                      </a:r>
                    </a:p>
                  </a:txBody>
                  <a:tcPr marL="73152" marR="73152">
                    <a:solidFill>
                      <a:srgbClr val="ECF1F5"/>
                    </a:solidFill>
                  </a:tcPr>
                </a:tc>
                <a:tc>
                  <a:txBody>
                    <a:bodyPr/>
                    <a:lstStyle/>
                    <a:p>
                      <a:r>
                        <a:rPr sz="1500" b="0" i="0">
                          <a:solidFill>
                            <a:srgbClr val="11202B"/>
                          </a:solidFill>
                          <a:latin typeface="Malgun Gothic"/>
                          <a:ea typeface="Malgun Gothic"/>
                          <a:cs typeface="Malgun Gothic"/>
                        </a:rPr>
                        <a:t>선천성 메트헤모글로빈혈증</a:t>
                      </a:r>
                    </a:p>
                  </a:txBody>
                  <a:tcPr marL="73152" marR="73152">
                    <a:solidFill>
                      <a:srgbClr val="ECF1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헤모글로빈의 구조-기능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HbA = α₂β₂, 각 사슬에 헴 1개. </a:t>
            </a:r>
            <a:r>
              <a:rPr sz="2000" b="1" i="0">
                <a:solidFill>
                  <a:srgbClr val="11202B"/>
                </a:solidFill>
                <a:latin typeface="Malgun Gothic"/>
                <a:ea typeface="Malgun Gothic"/>
                <a:cs typeface="Malgun Gothic"/>
              </a:rPr>
              <a:t>협동적 결합</a:t>
            </a:r>
            <a:r>
              <a:rPr sz="2000" b="0" i="0">
                <a:solidFill>
                  <a:srgbClr val="11202B"/>
                </a:solidFill>
                <a:latin typeface="Malgun Gothic"/>
                <a:ea typeface="Malgun Gothic"/>
                <a:cs typeface="Malgun Gothic"/>
              </a:rPr>
              <a:t>: T(긴장, 저친화) ↔ R(이완, 고친화) 전이로 S자 해리 곡선(힐 계수 ~2.8). 미오글로빈은 단량체로 쌍곡선.</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발달 단계별: Hb Gower/Portland(태생 초기) → </a:t>
            </a:r>
            <a:r>
              <a:rPr sz="2000" b="1" i="0">
                <a:solidFill>
                  <a:srgbClr val="11202B"/>
                </a:solidFill>
                <a:latin typeface="Malgun Gothic"/>
                <a:ea typeface="Malgun Gothic"/>
                <a:cs typeface="Malgun Gothic"/>
              </a:rPr>
              <a:t>HbF(α₂γ₂)</a:t>
            </a:r>
            <a:r>
              <a:rPr sz="2000" b="0" i="0">
                <a:solidFill>
                  <a:srgbClr val="11202B"/>
                </a:solidFill>
                <a:latin typeface="Malgun Gothic"/>
                <a:ea typeface="Malgun Gothic"/>
                <a:cs typeface="Malgun Gothic"/>
              </a:rPr>
              <a:t> → HbA(α₂β₂) + HbA2(α₂δ₂ ~2.5%). γ→β 전환은 </a:t>
            </a:r>
            <a:r>
              <a:rPr sz="2000" b="1" i="0">
                <a:solidFill>
                  <a:srgbClr val="11202B"/>
                </a:solidFill>
                <a:latin typeface="Malgun Gothic"/>
                <a:ea typeface="Malgun Gothic"/>
                <a:cs typeface="Malgun Gothic"/>
              </a:rPr>
              <a:t>BCL11A</a:t>
            </a:r>
            <a:r>
              <a:rPr sz="2000" b="0" i="0">
                <a:solidFill>
                  <a:srgbClr val="11202B"/>
                </a:solidFill>
                <a:latin typeface="Malgun Gothic"/>
                <a:ea typeface="Malgun Gothic"/>
                <a:cs typeface="Malgun Gothic"/>
              </a:rPr>
              <a:t>와 ZBTB7A가 억제자로 작동 — 유전자 치료의 표적.</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보어 효과</a:t>
            </a:r>
            <a:r>
              <a:rPr sz="2000" b="0" i="0">
                <a:solidFill>
                  <a:srgbClr val="11202B"/>
                </a:solidFill>
                <a:latin typeface="Malgun Gothic"/>
                <a:ea typeface="Malgun Gothic"/>
                <a:cs typeface="Malgun Gothic"/>
              </a:rPr>
              <a:t>: 조직에서 생성된 H⁺·CO₂가 T 상태를 안정화해 산소 방출을 촉진. </a:t>
            </a:r>
            <a:r>
              <a:rPr sz="2000" b="1" i="0">
                <a:solidFill>
                  <a:srgbClr val="11202B"/>
                </a:solidFill>
                <a:latin typeface="Malgun Gothic"/>
                <a:ea typeface="Malgun Gothic"/>
                <a:cs typeface="Malgun Gothic"/>
              </a:rPr>
              <a:t>할데인 효과</a:t>
            </a:r>
            <a:r>
              <a:rPr sz="2000" b="0" i="0">
                <a:solidFill>
                  <a:srgbClr val="11202B"/>
                </a:solidFill>
                <a:latin typeface="Malgun Gothic"/>
                <a:ea typeface="Malgun Gothic"/>
                <a:cs typeface="Malgun Gothic"/>
              </a:rPr>
              <a:t>: 산소 방출로 생긴 디옥시Hb이 CO₂·H⁺를 더 잘 운반.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헤모글로빈의 구조-기능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CO 중독: CO의 Hb 친화도는 O₂의 약 200–250배, 게다가 남은 부위의 친화도를 높여 </a:t>
            </a:r>
            <a:r>
              <a:rPr sz="2000" b="1" i="0">
                <a:solidFill>
                  <a:srgbClr val="11202B"/>
                </a:solidFill>
                <a:latin typeface="Malgun Gothic"/>
                <a:ea typeface="Malgun Gothic"/>
                <a:cs typeface="Malgun Gothic"/>
              </a:rPr>
              <a:t>곡선을 좌측 이동</a:t>
            </a:r>
            <a:r>
              <a:rPr sz="2000" b="0" i="0">
                <a:solidFill>
                  <a:srgbClr val="11202B"/>
                </a:solidFill>
                <a:latin typeface="Malgun Gothic"/>
                <a:ea typeface="Malgun Gothic"/>
                <a:cs typeface="Malgun Gothic"/>
              </a:rPr>
              <a:t> → 산소 함량과 방출이 모두 감소. 맥박산소측정기는 정상으로 읽히므로 </a:t>
            </a:r>
            <a:r>
              <a:rPr sz="2000" b="1" i="0">
                <a:solidFill>
                  <a:srgbClr val="11202B"/>
                </a:solidFill>
                <a:latin typeface="Malgun Gothic"/>
                <a:ea typeface="Malgun Gothic"/>
                <a:cs typeface="Malgun Gothic"/>
              </a:rPr>
              <a:t>동맥혈 일산화탄소헤모글로빈 측정</a:t>
            </a:r>
            <a:r>
              <a:rPr sz="2000" b="0" i="0">
                <a:solidFill>
                  <a:srgbClr val="11202B"/>
                </a:solidFill>
                <a:latin typeface="Malgun Gothic"/>
                <a:ea typeface="Malgun Gothic"/>
                <a:cs typeface="Malgun Gothic"/>
              </a:rPr>
              <a:t>이 필요하다. 치료는 고농도 산소(± 고압산소).</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메트헤모글로빈혈증: Fe³⁺는 산소를 운반하지 못하고 남은 아단위 친화도를 높인다. 청색증 + 정상 PaO₂ + </a:t>
            </a:r>
            <a:r>
              <a:rPr sz="2000" b="1" i="0">
                <a:solidFill>
                  <a:srgbClr val="11202B"/>
                </a:solidFill>
                <a:latin typeface="Malgun Gothic"/>
                <a:ea typeface="Malgun Gothic"/>
                <a:cs typeface="Malgun Gothic"/>
              </a:rPr>
              <a:t>산소 투여에 반응 없는 포화도</a:t>
            </a:r>
            <a:r>
              <a:rPr sz="2000" b="0" i="0">
                <a:solidFill>
                  <a:srgbClr val="11202B"/>
                </a:solidFill>
                <a:latin typeface="Malgun Gothic"/>
                <a:ea typeface="Malgun Gothic"/>
                <a:cs typeface="Malgun Gothic"/>
              </a:rPr>
              <a:t> → 메틸렌블루(G6PD 결핍에서는 금기에 가깝다 — 대안 아스코르브산·수혈).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헤모글로빈의 구조-기능</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우측 이동(친화도 ↓, 조직 산소 공급 ↑)</a:t>
                      </a:r>
                    </a:p>
                  </a:txBody>
                  <a:tcPr marL="73152" marR="73152">
                    <a:solidFill>
                      <a:srgbClr val="003C71"/>
                    </a:solidFill>
                  </a:tcPr>
                </a:tc>
                <a:tc>
                  <a:txBody>
                    <a:bodyPr/>
                    <a:lstStyle/>
                    <a:p>
                      <a:r>
                        <a:rPr sz="1500" b="1" i="0">
                          <a:solidFill>
                            <a:srgbClr val="FFFFFF"/>
                          </a:solidFill>
                          <a:latin typeface="Malgun Gothic"/>
                          <a:ea typeface="Malgun Gothic"/>
                          <a:cs typeface="Malgun Gothic"/>
                        </a:rPr>
                        <a:t>좌측 이동(친화도 ↑)</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 H⁺(보어 효과), ↑ CO₂, ↑ 2,3-BPG, ↑ 체온</a:t>
                      </a:r>
                    </a:p>
                  </a:txBody>
                  <a:tcPr marL="73152" marR="73152">
                    <a:solidFill>
                      <a:srgbClr val="FFFFFF"/>
                    </a:solidFill>
                  </a:tcPr>
                </a:tc>
                <a:tc>
                  <a:txBody>
                    <a:bodyPr/>
                    <a:lstStyle/>
                    <a:p>
                      <a:r>
                        <a:rPr sz="1500" b="0" i="0">
                          <a:solidFill>
                            <a:srgbClr val="11202B"/>
                          </a:solidFill>
                          <a:latin typeface="Malgun Gothic"/>
                          <a:ea typeface="Malgun Gothic"/>
                          <a:cs typeface="Malgun Gothic"/>
                        </a:rPr>
                        <a:t>↓ H⁺, ↓ CO₂, ↓ 2,3-BPG(수혈 저장혈), ↓ 체온</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만성 빈혈·고지대 적응, 겸상적혈구</a:t>
                      </a:r>
                    </a:p>
                  </a:txBody>
                  <a:tcPr marL="73152" marR="73152">
                    <a:solidFill>
                      <a:srgbClr val="ECF1F5"/>
                    </a:solidFill>
                  </a:tcPr>
                </a:tc>
                <a:tc>
                  <a:txBody>
                    <a:bodyPr/>
                    <a:lstStyle/>
                    <a:p>
                      <a:r>
                        <a:rPr sz="1500" b="1" i="0">
                          <a:solidFill>
                            <a:srgbClr val="11202B"/>
                          </a:solidFill>
                          <a:latin typeface="Malgun Gothic"/>
                          <a:ea typeface="Malgun Gothic"/>
                          <a:cs typeface="Malgun Gothic"/>
                        </a:rPr>
                        <a:t>HbF</a:t>
                      </a:r>
                      <a:r>
                        <a:rPr sz="1500" b="0" i="0">
                          <a:solidFill>
                            <a:srgbClr val="11202B"/>
                          </a:solidFill>
                          <a:latin typeface="Malgun Gothic"/>
                          <a:ea typeface="Malgun Gothic"/>
                          <a:cs typeface="Malgun Gothic"/>
                        </a:rPr>
                        <a:t>(2,3-BPG 결합 약함), 메트·일산화탄소헤모글로빈, 고친화 변이</a:t>
                      </a:r>
                    </a:p>
                  </a:txBody>
                  <a:tcPr marL="73152" marR="73152">
                    <a:solidFill>
                      <a:srgbClr val="ECF1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헴 합성, 포르피린증과 빌리루빈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합성 8단계: 미토콘드리아(ALA 합성효소 — 글리신 + 석시닐-CoA, </a:t>
            </a:r>
            <a:r>
              <a:rPr sz="1800" b="1" i="0">
                <a:solidFill>
                  <a:srgbClr val="11202B"/>
                </a:solidFill>
                <a:latin typeface="Malgun Gothic"/>
                <a:ea typeface="Malgun Gothic"/>
                <a:cs typeface="Malgun Gothic"/>
              </a:rPr>
              <a:t>속도 결정</a:t>
            </a:r>
            <a:r>
              <a:rPr sz="1800" b="0" i="0">
                <a:solidFill>
                  <a:srgbClr val="11202B"/>
                </a:solidFill>
                <a:latin typeface="Malgun Gothic"/>
                <a:ea typeface="Malgun Gothic"/>
                <a:cs typeface="Malgun Gothic"/>
              </a:rPr>
              <a:t>, 헴에 의한 음성 피드백) → 세포질 4단계 → 다시 미토콘드리아(ferrochelatase가 Fe²⁺ 삽입).</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급성 발작 유발: CYP 유도 약물(바르비투르산, 리팜핀, 일부 항경련제), 금식·저탄수화물, 알코올, 감염, 성호르몬 변동. 치료는 </a:t>
            </a:r>
            <a:r>
              <a:rPr sz="1800" b="1" i="0">
                <a:solidFill>
                  <a:srgbClr val="11202B"/>
                </a:solidFill>
                <a:latin typeface="Malgun Gothic"/>
                <a:ea typeface="Malgun Gothic"/>
                <a:cs typeface="Malgun Gothic"/>
              </a:rPr>
              <a:t>헤민 정주</a:t>
            </a:r>
            <a:r>
              <a:rPr sz="1800" b="0" i="0">
                <a:solidFill>
                  <a:srgbClr val="11202B"/>
                </a:solidFill>
                <a:latin typeface="Malgun Gothic"/>
                <a:ea typeface="Malgun Gothic"/>
                <a:cs typeface="Malgun Gothic"/>
              </a:rPr>
              <a:t> + 포도당, 통증·구역 조절, 발작 시 안전한 항경련제(레베티라세탐·가바펜틴); 반복 발작에는 </a:t>
            </a:r>
            <a:r>
              <a:rPr sz="1800" b="1" i="0">
                <a:solidFill>
                  <a:srgbClr val="11202B"/>
                </a:solidFill>
                <a:latin typeface="Malgun Gothic"/>
                <a:ea typeface="Malgun Gothic"/>
                <a:cs typeface="Malgun Gothic"/>
              </a:rPr>
              <a:t>기보시란</a:t>
            </a:r>
            <a:r>
              <a:rPr sz="1800" b="0" i="0">
                <a:solidFill>
                  <a:srgbClr val="11202B"/>
                </a:solidFill>
                <a:latin typeface="Malgun Gothic"/>
                <a:ea typeface="Malgun Gothic"/>
                <a:cs typeface="Malgun Gothic"/>
              </a:rPr>
              <a:t>(ALAS1 siRNA).</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빌리루빈: 헴 → (헴 산화효소, HO-1) 빌리베르딘 + CO + Fe → 빌리루빈 → 알부민 결합 운반 → 간 OATP 흡수 → </a:t>
            </a:r>
            <a:r>
              <a:rPr sz="1800" b="1" i="0">
                <a:solidFill>
                  <a:srgbClr val="11202B"/>
                </a:solidFill>
                <a:latin typeface="Malgun Gothic"/>
                <a:ea typeface="Malgun Gothic"/>
                <a:cs typeface="Malgun Gothic"/>
              </a:rPr>
              <a:t>UGT1A1</a:t>
            </a:r>
            <a:r>
              <a:rPr sz="1800" b="0" i="0">
                <a:solidFill>
                  <a:srgbClr val="11202B"/>
                </a:solidFill>
                <a:latin typeface="Malgun Gothic"/>
                <a:ea typeface="Malgun Gothic"/>
                <a:cs typeface="Malgun Gothic"/>
              </a:rPr>
              <a:t> 글루쿠론산화 → 담즙 배출(MRP2) → 장내 세균이 유로빌리노겐으로.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헴 합성, 포르피린증과 빌리루빈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신생아 황달의 생화학: 적혈구 수명 짧음 + UGT1A1 미성숙 + 장간 순환 증가. 광선치료는 빌리루빈을 수용성 이성체(루미루빈)로 바꾼다. 비결합 빌리루빈이 알부민 결합능을 넘으면 기저핵에 침착 → </a:t>
            </a:r>
            <a:r>
              <a:rPr sz="2200" b="1" i="0">
                <a:solidFill>
                  <a:srgbClr val="11202B"/>
                </a:solidFill>
                <a:latin typeface="Malgun Gothic"/>
                <a:ea typeface="Malgun Gothic"/>
                <a:cs typeface="Malgun Gothic"/>
              </a:rPr>
              <a:t>핵황달</a:t>
            </a:r>
            <a:r>
              <a:rPr sz="2200" b="0" i="0">
                <a:solidFill>
                  <a:srgbClr val="11202B"/>
                </a:solidFill>
                <a:latin typeface="Malgun Gothic"/>
                <a:ea typeface="Malgun Gothic"/>
                <a:cs typeface="Malgun Gothic"/>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헴 합성, 포르피린증과 빌리루빈</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결핍 효소</a:t>
                      </a:r>
                    </a:p>
                  </a:txBody>
                  <a:tcPr marL="73152" marR="73152">
                    <a:solidFill>
                      <a:srgbClr val="003C71"/>
                    </a:solidFill>
                  </a:tcPr>
                </a:tc>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축적물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ALA 탈수효소(납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납중독, 드문 ADP</a:t>
                      </a:r>
                    </a:p>
                  </a:txBody>
                  <a:tcPr marL="73152" marR="73152">
                    <a:solidFill>
                      <a:srgbClr val="FFFFFF"/>
                    </a:solidFill>
                  </a:tcPr>
                </a:tc>
                <a:tc>
                  <a:txBody>
                    <a:bodyPr/>
                    <a:lstStyle/>
                    <a:p>
                      <a:r>
                        <a:rPr sz="1500" b="0" i="0">
                          <a:solidFill>
                            <a:srgbClr val="11202B"/>
                          </a:solidFill>
                          <a:latin typeface="Malgun Gothic"/>
                          <a:ea typeface="Malgun Gothic"/>
                          <a:cs typeface="Malgun Gothic"/>
                        </a:rPr>
                        <a:t>ALA, 적혈구 ZPP ↑</a:t>
                      </a:r>
                    </a:p>
                  </a:txBody>
                  <a:tcPr marL="73152" marR="73152">
                    <a:solidFill>
                      <a:srgbClr val="FFFFFF"/>
                    </a:solidFill>
                  </a:tcPr>
                </a:tc>
                <a:tc>
                  <a:txBody>
                    <a:bodyPr/>
                    <a:lstStyle/>
                    <a:p>
                      <a:r>
                        <a:rPr sz="1500" b="0" i="0">
                          <a:solidFill>
                            <a:srgbClr val="11202B"/>
                          </a:solidFill>
                          <a:latin typeface="Malgun Gothic"/>
                          <a:ea typeface="Malgun Gothic"/>
                          <a:cs typeface="Malgun Gothic"/>
                        </a:rPr>
                        <a:t>복통, 빈혈, 말초신경병, 소아 인지 저하</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HMB 합성효소(PBG 탈아미노효소)</a:t>
                      </a:r>
                    </a:p>
                  </a:txBody>
                  <a:tcPr marL="73152" marR="73152">
                    <a:solidFill>
                      <a:srgbClr val="ECF1F5"/>
                    </a:solidFill>
                  </a:tcPr>
                </a:tc>
                <a:tc>
                  <a:txBody>
                    <a:bodyPr/>
                    <a:lstStyle/>
                    <a:p>
                      <a:r>
                        <a:rPr sz="1500" b="1" i="0">
                          <a:solidFill>
                            <a:srgbClr val="11202B"/>
                          </a:solidFill>
                          <a:latin typeface="Malgun Gothic"/>
                          <a:ea typeface="Malgun Gothic"/>
                          <a:cs typeface="Malgun Gothic"/>
                        </a:rPr>
                        <a:t>급성 간헐성 포르피린증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ALA, PBG(요)</a:t>
                      </a:r>
                    </a:p>
                  </a:txBody>
                  <a:tcPr marL="73152" marR="73152">
                    <a:solidFill>
                      <a:srgbClr val="ECF1F5"/>
                    </a:solidFill>
                  </a:tcPr>
                </a:tc>
                <a:tc>
                  <a:txBody>
                    <a:bodyPr/>
                    <a:lstStyle/>
                    <a:p>
                      <a:r>
                        <a:rPr sz="1500" b="0" i="0">
                          <a:solidFill>
                            <a:srgbClr val="11202B"/>
                          </a:solidFill>
                          <a:latin typeface="Malgun Gothic"/>
                          <a:ea typeface="Malgun Gothic"/>
                          <a:cs typeface="Malgun Gothic"/>
                        </a:rPr>
                        <a:t>복통, 자율신경 불안정, 저나트륨(SIADH), 정신증, 운동 신경병 — </a:t>
                      </a:r>
                      <a:r>
                        <a:rPr sz="1500" b="1" i="0">
                          <a:solidFill>
                            <a:srgbClr val="11202B"/>
                          </a:solidFill>
                          <a:latin typeface="Malgun Gothic"/>
                          <a:ea typeface="Malgun Gothic"/>
                          <a:cs typeface="Malgun Gothic"/>
                        </a:rPr>
                        <a:t>피부 증상 없음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코프로포르피리노겐 산화효소 / 프로토포르피리노겐 산화효소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세습성 코프로 / </a:t>
                      </a:r>
                      <a:r>
                        <a:rPr sz="1500" b="1" i="0">
                          <a:solidFill>
                            <a:srgbClr val="11202B"/>
                          </a:solidFill>
                          <a:latin typeface="Malgun Gothic"/>
                          <a:ea typeface="Malgun Gothic"/>
                          <a:cs typeface="Malgun Gothic"/>
                        </a:rPr>
                        <a:t>다양성 포르피린증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급성 발작 + 피부 취약성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유로포르피리노겐 탈카르복실화효소</a:t>
                      </a:r>
                    </a:p>
                  </a:txBody>
                  <a:tcPr marL="73152" marR="73152">
                    <a:solidFill>
                      <a:srgbClr val="ECF1F5"/>
                    </a:solidFill>
                  </a:tcPr>
                </a:tc>
                <a:tc>
                  <a:txBody>
                    <a:bodyPr/>
                    <a:lstStyle/>
                    <a:p>
                      <a:r>
                        <a:rPr sz="1500" b="1" i="0">
                          <a:solidFill>
                            <a:srgbClr val="11202B"/>
                          </a:solidFill>
                          <a:latin typeface="Malgun Gothic"/>
                          <a:ea typeface="Malgun Gothic"/>
                          <a:cs typeface="Malgun Gothic"/>
                        </a:rPr>
                        <a:t>만성 포르피린증(PCT)</a:t>
                      </a:r>
                    </a:p>
                  </a:txBody>
                  <a:tcPr marL="73152" marR="73152">
                    <a:solidFill>
                      <a:srgbClr val="ECF1F5"/>
                    </a:solidFill>
                  </a:tcPr>
                </a:tc>
                <a:tc>
                  <a:txBody>
                    <a:bodyPr/>
                    <a:lstStyle/>
                    <a:p>
                      <a:r>
                        <a:rPr sz="1500" b="0" i="0">
                          <a:solidFill>
                            <a:srgbClr val="11202B"/>
                          </a:solidFill>
                          <a:latin typeface="Malgun Gothic"/>
                          <a:ea typeface="Malgun Gothic"/>
                          <a:cs typeface="Malgun Gothic"/>
                        </a:rPr>
                        <a:t>유로포르피린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수포·과다색소, HCV·철·알코올·에스트로겐이 유발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Ferrochelatase</a:t>
                      </a:r>
                    </a:p>
                  </a:txBody>
                  <a:tcPr marL="73152" marR="73152">
                    <a:solidFill>
                      <a:srgbClr val="FFFFFF"/>
                    </a:solidFill>
                  </a:tcPr>
                </a:tc>
                <a:tc>
                  <a:txBody>
                    <a:bodyPr/>
                    <a:lstStyle/>
                    <a:p>
                      <a:r>
                        <a:rPr sz="1500" b="0" i="0">
                          <a:solidFill>
                            <a:srgbClr val="11202B"/>
                          </a:solidFill>
                          <a:latin typeface="Malgun Gothic"/>
                          <a:ea typeface="Malgun Gothic"/>
                          <a:cs typeface="Malgun Gothic"/>
                        </a:rPr>
                        <a:t>적혈구생성 프로토포르피린증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프로토포르피린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즉각적 광통증, 담석, 간 손상</a:t>
                      </a:r>
                    </a:p>
                  </a:txBody>
                  <a:tcP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헴 합성, 포르피린증과 빌리루빈</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장애</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길버트 증후군</a:t>
                      </a:r>
                    </a:p>
                  </a:txBody>
                  <a:tcPr marL="73152" marR="73152">
                    <a:solidFill>
                      <a:srgbClr val="FFFFFF"/>
                    </a:solidFill>
                  </a:tcPr>
                </a:tc>
                <a:tc>
                  <a:txBody>
                    <a:bodyPr/>
                    <a:lstStyle/>
                    <a:p>
                      <a:r>
                        <a:rPr sz="1500" b="0" i="0">
                          <a:solidFill>
                            <a:srgbClr val="11202B"/>
                          </a:solidFill>
                          <a:latin typeface="Malgun Gothic"/>
                          <a:ea typeface="Malgun Gothic"/>
                          <a:cs typeface="Malgun Gothic"/>
                        </a:rPr>
                        <a:t>UGT1A1 프로모터 TA 반복 → 활성 ~30%</a:t>
                      </a:r>
                    </a:p>
                  </a:txBody>
                  <a:tcPr marL="73152" marR="73152">
                    <a:solidFill>
                      <a:srgbClr val="FFFFFF"/>
                    </a:solidFill>
                  </a:tcPr>
                </a:tc>
                <a:tc>
                  <a:txBody>
                    <a:bodyPr/>
                    <a:lstStyle/>
                    <a:p>
                      <a:r>
                        <a:rPr sz="1500" b="0" i="0">
                          <a:solidFill>
                            <a:srgbClr val="11202B"/>
                          </a:solidFill>
                          <a:latin typeface="Malgun Gothic"/>
                          <a:ea typeface="Malgun Gothic"/>
                          <a:cs typeface="Malgun Gothic"/>
                        </a:rPr>
                        <a:t>금식·스트레스 시 경도 비결합 고빌리루빈, 이리노테칸 독성 ↑</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크리글러-나자르 I/II</a:t>
                      </a:r>
                    </a:p>
                  </a:txBody>
                  <a:tcPr marL="73152" marR="73152">
                    <a:solidFill>
                      <a:srgbClr val="ECF1F5"/>
                    </a:solidFill>
                  </a:tcPr>
                </a:tc>
                <a:tc>
                  <a:txBody>
                    <a:bodyPr/>
                    <a:lstStyle/>
                    <a:p>
                      <a:r>
                        <a:rPr sz="1500" b="0" i="0">
                          <a:solidFill>
                            <a:srgbClr val="11202B"/>
                          </a:solidFill>
                          <a:latin typeface="Malgun Gothic"/>
                          <a:ea typeface="Malgun Gothic"/>
                          <a:cs typeface="Malgun Gothic"/>
                        </a:rPr>
                        <a:t>UGT1A1 완전/부분 결손</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중증 신생아 황달, 핵황달 위험; II형은 페노바르비탈 반응</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두빈-존슨 / 로터</a:t>
                      </a:r>
                    </a:p>
                  </a:txBody>
                  <a:tcPr marL="73152" marR="73152">
                    <a:solidFill>
                      <a:srgbClr val="FFFFFF"/>
                    </a:solidFill>
                  </a:tcPr>
                </a:tc>
                <a:tc>
                  <a:txBody>
                    <a:bodyPr/>
                    <a:lstStyle/>
                    <a:p>
                      <a:r>
                        <a:rPr sz="1500" b="0" i="0">
                          <a:solidFill>
                            <a:srgbClr val="11202B"/>
                          </a:solidFill>
                          <a:latin typeface="Malgun Gothic"/>
                          <a:ea typeface="Malgun Gothic"/>
                          <a:cs typeface="Malgun Gothic"/>
                        </a:rPr>
                        <a:t>MRP2(ABCC2) / OATP1B1·3</a:t>
                      </a:r>
                    </a:p>
                  </a:txBody>
                  <a:tcPr marL="73152" marR="73152">
                    <a:solidFill>
                      <a:srgbClr val="FFFFFF"/>
                    </a:solidFill>
                  </a:tcPr>
                </a:tc>
                <a:tc>
                  <a:txBody>
                    <a:bodyPr/>
                    <a:lstStyle/>
                    <a:p>
                      <a:r>
                        <a:rPr sz="1500" b="0" i="0">
                          <a:solidFill>
                            <a:srgbClr val="11202B"/>
                          </a:solidFill>
                          <a:latin typeface="Malgun Gothic"/>
                          <a:ea typeface="Malgun Gothic"/>
                          <a:cs typeface="Malgun Gothic"/>
                        </a:rPr>
                        <a:t>결합형 고빌리루빈, 양성</a:t>
                      </a:r>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전신 철 대사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흡수: 십이지장 — Fe³⁺ → (DCYTB) Fe²⁺ → </a:t>
            </a:r>
            <a:r>
              <a:rPr sz="1800" b="1" i="0">
                <a:solidFill>
                  <a:srgbClr val="11202B"/>
                </a:solidFill>
                <a:latin typeface="Malgun Gothic"/>
                <a:ea typeface="Malgun Gothic"/>
                <a:cs typeface="Malgun Gothic"/>
              </a:rPr>
              <a:t>DMT1</a:t>
            </a:r>
            <a:r>
              <a:rPr sz="1800" b="0" i="0">
                <a:solidFill>
                  <a:srgbClr val="11202B"/>
                </a:solidFill>
                <a:latin typeface="Malgun Gothic"/>
                <a:ea typeface="Malgun Gothic"/>
                <a:cs typeface="Malgun Gothic"/>
              </a:rPr>
              <a:t>로 유입 → 페로포르틴으로 혈중 방출 → 헤파에스틴/세룰로플라스민이 Fe³⁺로 산화 → 트랜스페린 결합. 헴철은 별도 경로로 효율적 흡수.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조절의 중심은 </a:t>
            </a:r>
            <a:r>
              <a:rPr sz="1800" b="1" i="0">
                <a:solidFill>
                  <a:srgbClr val="11202B"/>
                </a:solidFill>
                <a:latin typeface="Malgun Gothic"/>
                <a:ea typeface="Malgun Gothic"/>
                <a:cs typeface="Malgun Gothic"/>
              </a:rPr>
              <a:t>헵시딘</a:t>
            </a:r>
            <a:r>
              <a:rPr sz="1800" b="0" i="0">
                <a:solidFill>
                  <a:srgbClr val="11202B"/>
                </a:solidFill>
                <a:latin typeface="Malgun Gothic"/>
                <a:ea typeface="Malgun Gothic"/>
                <a:cs typeface="Malgun Gothic"/>
              </a:rPr>
              <a:t>(간, HAMP): 페로포르틴에 결합 → 유비퀴틴화·분해 → 흡수·재활용 모두 차단.</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헵시딘 ↑: 철 충분(BMP6-SMAD, HFE·TfR2·HJV 신호), </a:t>
            </a:r>
            <a:r>
              <a:rPr sz="1600" b="1" i="0">
                <a:solidFill>
                  <a:srgbClr val="2E3F4C"/>
                </a:solidFill>
                <a:latin typeface="Malgun Gothic"/>
                <a:ea typeface="Malgun Gothic"/>
                <a:cs typeface="Malgun Gothic"/>
              </a:rPr>
              <a:t>염증(IL-6-STAT3)</a:t>
            </a:r>
            <a:r>
              <a:rPr sz="1600" b="0" i="0">
                <a:solidFill>
                  <a:srgbClr val="2E3F4C"/>
                </a:solidFill>
                <a:latin typeface="Malgun Gothic"/>
                <a:ea typeface="Malgun Gothic"/>
                <a:cs typeface="Malgun Gothic"/>
              </a:rPr>
              <a:t>.</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헵시딘 ↓: 철 결핍, 저산소, </a:t>
            </a:r>
            <a:r>
              <a:rPr sz="1600" b="1" i="0">
                <a:solidFill>
                  <a:srgbClr val="2E3F4C"/>
                </a:solidFill>
                <a:latin typeface="Malgun Gothic"/>
                <a:ea typeface="Malgun Gothic"/>
                <a:cs typeface="Malgun Gothic"/>
              </a:rPr>
              <a:t>적혈구생성 요구 ↑(에리트로페론 ERFE)</a:t>
            </a:r>
            <a:r>
              <a:rPr sz="1600" b="0" i="0">
                <a:solidFill>
                  <a:srgbClr val="2E3F4C"/>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세포 내 조절: IRP1/2 – IRE. 철 부족 시 IRP가 페리틴·페로포르틴 mRNA의 5′ IRE에 결합해 번역 억제, TfR1 mRNA 3′ IRE에 결합해 안정화 → 흡수 ↑ 저장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전신 철 대사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유전성 혈색소증</a:t>
            </a:r>
            <a:r>
              <a:rPr sz="1800" b="0" i="0">
                <a:solidFill>
                  <a:srgbClr val="11202B"/>
                </a:solidFill>
                <a:latin typeface="Malgun Gothic"/>
                <a:ea typeface="Malgun Gothic"/>
                <a:cs typeface="Malgun Gothic"/>
              </a:rPr>
              <a:t>: HFE C282Y 동형접합이 가장 흔하며(침투율 낮음 — 알코올·대사증후군·남성에서 발현), 헵시딘 저하로 흡수가 지속 증가 → 간(섬유화·간암), 심장(심부전·부정맥), 췌장(당뇨), 관절, 피부. 치료는 </a:t>
            </a:r>
            <a:r>
              <a:rPr sz="1800" b="1" i="0">
                <a:solidFill>
                  <a:srgbClr val="11202B"/>
                </a:solidFill>
                <a:latin typeface="Malgun Gothic"/>
                <a:ea typeface="Malgun Gothic"/>
                <a:cs typeface="Malgun Gothic"/>
              </a:rPr>
              <a:t>반복 사혈</a:t>
            </a:r>
            <a:r>
              <a:rPr sz="1800" b="0" i="0">
                <a:solidFill>
                  <a:srgbClr val="11202B"/>
                </a:solidFill>
                <a:latin typeface="Malgun Gothic"/>
                <a:ea typeface="Malgun Gothic"/>
                <a:cs typeface="Malgun Gothic"/>
              </a:rPr>
              <a:t>(페리틴 목표 &lt;50–100), 2차 과부하(수혈 의존)에는 킬레이션(데페록사민·데페라시록스·데페리프론).</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철 결핍의 원인 추적: 성인 남성·폐경 후 여성의 철 결핍은 </a:t>
            </a:r>
            <a:r>
              <a:rPr sz="1800" b="1" i="0">
                <a:solidFill>
                  <a:srgbClr val="11202B"/>
                </a:solidFill>
                <a:latin typeface="Malgun Gothic"/>
                <a:ea typeface="Malgun Gothic"/>
                <a:cs typeface="Malgun Gothic"/>
              </a:rPr>
              <a:t>위장관 출혈·악성종양 배제가 원칙</a:t>
            </a:r>
            <a:r>
              <a:rPr sz="1800" b="0" i="0">
                <a:solidFill>
                  <a:srgbClr val="11202B"/>
                </a:solidFill>
                <a:latin typeface="Malgun Gothic"/>
                <a:ea typeface="Malgun Gothic"/>
                <a:cs typeface="Malgun Gothic"/>
              </a:rPr>
              <a:t>. 셀리악병, 위산 저하(PPI·위우회술), 운동성 혈색소뇨, 자궁 출혈, 그리고 TMPRSS6 변이(철 불응성 철 결핍 — 헵시딘 부적절 상승)도 고려한다.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전신 철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365760">
                <a:tc>
                  <a:txBody>
                    <a:bodyPr/>
                    <a:lstStyle/>
                    <a:p>
                      <a:r>
                        <a:rPr sz="1500" b="1" i="0">
                          <a:solidFill>
                            <a:srgbClr val="FFFFFF"/>
                          </a:solidFill>
                          <a:latin typeface="Malgun Gothic"/>
                          <a:ea typeface="Malgun Gothic"/>
                          <a:cs typeface="Malgun Gothic"/>
                        </a:rPr>
                        <a:t>상태</a:t>
                      </a:r>
                    </a:p>
                  </a:txBody>
                  <a:tcPr marL="73152" marR="73152">
                    <a:solidFill>
                      <a:srgbClr val="003C71"/>
                    </a:solidFill>
                  </a:tcPr>
                </a:tc>
                <a:tc>
                  <a:txBody>
                    <a:bodyPr/>
                    <a:lstStyle/>
                    <a:p>
                      <a:r>
                        <a:rPr sz="1500" b="1" i="0">
                          <a:solidFill>
                            <a:srgbClr val="FFFFFF"/>
                          </a:solidFill>
                          <a:latin typeface="Malgun Gothic"/>
                          <a:ea typeface="Malgun Gothic"/>
                          <a:cs typeface="Malgun Gothic"/>
                        </a:rPr>
                        <a:t>혈청 철</a:t>
                      </a:r>
                    </a:p>
                  </a:txBody>
                  <a:tcPr marL="73152" marR="73152">
                    <a:solidFill>
                      <a:srgbClr val="003C71"/>
                    </a:solidFill>
                  </a:tcPr>
                </a:tc>
                <a:tc>
                  <a:txBody>
                    <a:bodyPr/>
                    <a:lstStyle/>
                    <a:p>
                      <a:r>
                        <a:rPr sz="1500" b="1" i="0">
                          <a:solidFill>
                            <a:srgbClr val="FFFFFF"/>
                          </a:solidFill>
                          <a:latin typeface="Malgun Gothic"/>
                          <a:ea typeface="Malgun Gothic"/>
                          <a:cs typeface="Malgun Gothic"/>
                        </a:rPr>
                        <a:t>페리틴</a:t>
                      </a:r>
                    </a:p>
                  </a:txBody>
                  <a:tcPr marL="73152" marR="73152">
                    <a:solidFill>
                      <a:srgbClr val="003C71"/>
                    </a:solidFill>
                  </a:tcPr>
                </a:tc>
                <a:tc>
                  <a:txBody>
                    <a:bodyPr/>
                    <a:lstStyle/>
                    <a:p>
                      <a:r>
                        <a:rPr sz="1500" b="1" i="0">
                          <a:solidFill>
                            <a:srgbClr val="FFFFFF"/>
                          </a:solidFill>
                          <a:latin typeface="Malgun Gothic"/>
                          <a:ea typeface="Malgun Gothic"/>
                          <a:cs typeface="Malgun Gothic"/>
                        </a:rPr>
                        <a:t>TIBC/트랜스페린</a:t>
                      </a:r>
                    </a:p>
                  </a:txBody>
                  <a:tcPr marL="73152" marR="73152">
                    <a:solidFill>
                      <a:srgbClr val="003C71"/>
                    </a:solidFill>
                  </a:tcPr>
                </a:tc>
                <a:tc>
                  <a:txBody>
                    <a:bodyPr/>
                    <a:lstStyle/>
                    <a:p>
                      <a:r>
                        <a:rPr sz="1500" b="1" i="0">
                          <a:solidFill>
                            <a:srgbClr val="FFFFFF"/>
                          </a:solidFill>
                          <a:latin typeface="Malgun Gothic"/>
                          <a:ea typeface="Malgun Gothic"/>
                          <a:cs typeface="Malgun Gothic"/>
                        </a:rPr>
                        <a:t>포화도</a:t>
                      </a:r>
                    </a:p>
                  </a:txBody>
                  <a:tcPr marL="73152" marR="73152">
                    <a:solidFill>
                      <a:srgbClr val="003C71"/>
                    </a:solidFill>
                  </a:tcPr>
                </a:tc>
                <a:tc>
                  <a:txBody>
                    <a:bodyPr/>
                    <a:lstStyle/>
                    <a:p>
                      <a:r>
                        <a:rPr sz="1500" b="1" i="0">
                          <a:solidFill>
                            <a:srgbClr val="FFFFFF"/>
                          </a:solidFill>
                          <a:latin typeface="Malgun Gothic"/>
                          <a:ea typeface="Malgun Gothic"/>
                          <a:cs typeface="Malgun Gothic"/>
                        </a:rPr>
                        <a:t>가용성 TfR</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철 결핍</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1"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1" i="0">
                          <a:solidFill>
                            <a:srgbClr val="11202B"/>
                          </a:solidFill>
                          <a:latin typeface="Malgun Gothic"/>
                          <a:ea typeface="Malgun Gothic"/>
                          <a:cs typeface="Malgun Gothic"/>
                        </a:rPr>
                        <a:t>↑</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염증성 빈혈</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철 과부하</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500" b="1" i="0">
                          <a:solidFill>
                            <a:srgbClr val="11202B"/>
                          </a:solidFill>
                          <a:latin typeface="Malgun Gothic"/>
                          <a:ea typeface="Malgun Gothic"/>
                          <a:cs typeface="Malgun Gothic"/>
                        </a:rPr>
                        <a:t>↑↑ &gt;45%</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탈라세미아</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헤모글로빈병과 적혈구 효소 결핍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겸상적혈구병</a:t>
            </a:r>
            <a:r>
              <a:rPr sz="2000" b="0" i="0">
                <a:solidFill>
                  <a:srgbClr val="11202B"/>
                </a:solidFill>
                <a:latin typeface="Malgun Gothic"/>
                <a:ea typeface="Malgun Gothic"/>
                <a:cs typeface="Malgun Gothic"/>
              </a:rPr>
              <a:t>: β-글로빈 Glu6Val → 디옥시 상태에서 소수성 접촉으로 중합 → 적혈구 변형·탈수·접착·용혈 → 혈관 폐색, 용혈로 인한 NO 소모와 내피 기능 이상.</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치료: </a:t>
            </a:r>
            <a:r>
              <a:rPr sz="1800" b="1" i="0">
                <a:solidFill>
                  <a:srgbClr val="2E3F4C"/>
                </a:solidFill>
                <a:latin typeface="Malgun Gothic"/>
                <a:ea typeface="Malgun Gothic"/>
                <a:cs typeface="Malgun Gothic"/>
              </a:rPr>
              <a:t>하이드록시유레아</a:t>
            </a:r>
            <a:r>
              <a:rPr sz="1800" b="0" i="0">
                <a:solidFill>
                  <a:srgbClr val="2E3F4C"/>
                </a:solidFill>
                <a:latin typeface="Malgun Gothic"/>
                <a:ea typeface="Malgun Gothic"/>
                <a:cs typeface="Malgun Gothic"/>
              </a:rPr>
              <a:t>(HbF 유도 — 핵심), 수분·통증 관리, 감염 예방(폐렴구균 백신·페니실린 예방), 경두개 도플러 기반 뇌졸중 예방 수혈, 복합 치료(L-글루타민, 보셀로토르 — HbS 산소 친화도 ↑, 크리잔리주맙 — P-셀렉틴), </a:t>
            </a:r>
            <a:r>
              <a:rPr sz="1800" b="1" i="0">
                <a:solidFill>
                  <a:srgbClr val="2E3F4C"/>
                </a:solidFill>
                <a:latin typeface="Malgun Gothic"/>
                <a:ea typeface="Malgun Gothic"/>
                <a:cs typeface="Malgun Gothic"/>
              </a:rPr>
              <a:t>유전자 치료</a:t>
            </a:r>
            <a:r>
              <a:rPr sz="1800" b="0" i="0">
                <a:solidFill>
                  <a:srgbClr val="2E3F4C"/>
                </a:solidFill>
                <a:latin typeface="Malgun Gothic"/>
                <a:ea typeface="Malgun Gothic"/>
                <a:cs typeface="Malgun Gothic"/>
              </a:rPr>
              <a:t>(엑사감글로진 오토템셀: CRISPR로 BCL11A 적혈구 인핸서 편집 → HbF 재유도; 로보셀, 렌티글로빈 기반 리피진글로진 오토템셀).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헤모글로빈병과 적혈구 효소 결핍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탈라세미아</a:t>
            </a:r>
            <a:r>
              <a:rPr sz="1800" b="0" i="0">
                <a:solidFill>
                  <a:srgbClr val="11202B"/>
                </a:solidFill>
                <a:latin typeface="Malgun Gothic"/>
                <a:ea typeface="Malgun Gothic"/>
                <a:cs typeface="Malgun Gothic"/>
              </a:rPr>
              <a:t>: α 또는 β 사슬 생산 불균형 → 짝 없는 사슬 침전 → 무효 적혈구생성 + 용혈. β-탈라세미아 메이저는 수혈 의존 + 철 과부하; </a:t>
            </a:r>
            <a:r>
              <a:rPr sz="1800" b="1" i="0">
                <a:solidFill>
                  <a:srgbClr val="11202B"/>
                </a:solidFill>
                <a:latin typeface="Malgun Gothic"/>
                <a:ea typeface="Malgun Gothic"/>
                <a:cs typeface="Malgun Gothic"/>
              </a:rPr>
              <a:t>루스파터셉트</a:t>
            </a:r>
            <a:r>
              <a:rPr sz="1800" b="0" i="0">
                <a:solidFill>
                  <a:srgbClr val="11202B"/>
                </a:solidFill>
                <a:latin typeface="Malgun Gothic"/>
                <a:ea typeface="Malgun Gothic"/>
                <a:cs typeface="Malgun Gothic"/>
              </a:rPr>
              <a:t>(TGF-β 상과 리간드 트랩)가 수혈 요구를 줄인다. α-탈라세미아 4유전자 결실은 Hb Bart 태아수종.</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G6PD 결핍</a:t>
            </a:r>
            <a:r>
              <a:rPr sz="1800" b="0" i="0">
                <a:solidFill>
                  <a:srgbClr val="11202B"/>
                </a:solidFill>
                <a:latin typeface="Malgun Gothic"/>
                <a:ea typeface="Malgun Gothic"/>
                <a:cs typeface="Malgun Gothic"/>
              </a:rPr>
              <a:t>: X-연관, 세계적으로 가장 흔한 효소 결핍. 산화 유발(프리마퀸·답손·니트로푸란토인·설폰아마이드, 나프탈렌, 파바콩, 감염) → 하인츠체·물린세포, 급성 혈관 내·외 용혈. 발작 중 효소 활성이 정상으로 측정될 수 있어 </a:t>
            </a:r>
            <a:r>
              <a:rPr sz="1800" b="1" i="0">
                <a:solidFill>
                  <a:srgbClr val="11202B"/>
                </a:solidFill>
                <a:latin typeface="Malgun Gothic"/>
                <a:ea typeface="Malgun Gothic"/>
                <a:cs typeface="Malgun Gothic"/>
              </a:rPr>
              <a:t>회복기 재검</a:t>
            </a:r>
            <a:r>
              <a:rPr sz="1800" b="0" i="0">
                <a:solidFill>
                  <a:srgbClr val="11202B"/>
                </a:solidFill>
                <a:latin typeface="Malgun Gothic"/>
                <a:ea typeface="Malgun Gothic"/>
                <a:cs typeface="Malgun Gothic"/>
              </a:rPr>
              <a:t>이 필요하다.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피루브산 키나아제 결핍</a:t>
            </a:r>
            <a:r>
              <a:rPr sz="1800" b="0" i="0">
                <a:solidFill>
                  <a:srgbClr val="11202B"/>
                </a:solidFill>
                <a:latin typeface="Malgun Gothic"/>
                <a:ea typeface="Malgun Gothic"/>
                <a:cs typeface="Malgun Gothic"/>
              </a:rPr>
              <a:t>: ATP 부족으로 만성 비구형 용혈; 2,3-BPG 축적으로 산소 방출은 오히려 좋아 빈혈 내성이 상대적으로 높다. </a:t>
            </a:r>
            <a:r>
              <a:rPr sz="1800" b="1" i="0">
                <a:solidFill>
                  <a:srgbClr val="11202B"/>
                </a:solidFill>
                <a:latin typeface="Malgun Gothic"/>
                <a:ea typeface="Malgun Gothic"/>
                <a:cs typeface="Malgun Gothic"/>
              </a:rPr>
              <a:t>미타피바트</a:t>
            </a:r>
            <a:r>
              <a:rPr sz="1800" b="0" i="0">
                <a:solidFill>
                  <a:srgbClr val="11202B"/>
                </a:solidFill>
                <a:latin typeface="Malgun Gothic"/>
                <a:ea typeface="Malgun Gothic"/>
                <a:cs typeface="Malgun Gothic"/>
              </a:rPr>
              <a:t>(PK 활성화제)가 치료로 승인되었다.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헤모글로빈병과 적혈구 효소 결핍</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19</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임상 상관: 지중해·아프리카·동남아 출신 환자에게 답손이나 프리마퀸을 처방하기 전 G6PD 활성을 확인한다. 같은 지역 배경의 경미한 저색소성 빈혈에서는 무조건 철을 주기보다 Mentzer 지수(MCV/RBC &lt;13)와 HbA2·유전자 검사로 </a:t>
            </a:r>
            <a:r>
              <a:rPr sz="2000" b="1" i="0">
                <a:solidFill>
                  <a:srgbClr val="11202B"/>
                </a:solidFill>
                <a:latin typeface="Malgun Gothic"/>
                <a:ea typeface="Malgun Gothic"/>
                <a:cs typeface="Malgun Gothic"/>
              </a:rPr>
              <a:t>탈라세미아 보유자</a:t>
            </a:r>
            <a:r>
              <a:rPr sz="2000" b="0" i="0">
                <a:solidFill>
                  <a:srgbClr val="11202B"/>
                </a:solidFill>
                <a:latin typeface="Malgun Gothic"/>
                <a:ea typeface="Malgun Gothic"/>
                <a:cs typeface="Malgun Gothic"/>
              </a:rPr>
              <a:t>를 구분해야 한다 — 불필요한 철 보충은 과부하를 만들고 유전 상담 기회를 놓치게 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BCL11A 적혈구 인핸서 편집과 β-글로빈 유전자 추가 요법이 겸상적혈구병·수혈 의존 β-탈라세미아에서 사실상 치유에 가까운 결과를 보이며, 비용·접근성·골수 전처치 독성이 남은 과제다.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헵시딘·페로포르틴 작용제·길항제가 철 과부하와 염증성 빈혈 양방향 치료제로 개발되고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피루브산 키나아제 활성화제가 겸상적혈구병과 탈라세미아로도 적응증 확장을 시험하고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적혈구는 해당과정으로 ATP를, PPP의 NADPH로 환원력을 얻으며 복구 능력이 없어 산화 손상에 취약하다.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산소 해리 곡선은 pH·CO₂·2,3-BPG·온도로 조절되고 HbF와 CO·메트헤모글로빈은 좌측 이동을 일으킨다.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급성 포르피린증은 ALA·PBG 축적으로 신경·복부 증상을 일으키고 헤민과 ALAS1 siRNA로 치료한다.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헵시딘이 전신 철 항상성의 중심이며 염증성 빈혈과 혈색소증은 서로 반대 방향의 헵시딘 이상이다.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겸상적혈구병과 탈라세미아의 치료 축은 HbF 재유도이고 유전자 편집이 이를 근본적으로 구현하고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저장 혈액을 대량 수혈한 직후 조직 산소 공급이 기대보다 나쁠 수 있는 생화학적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보존 기간이 길어지면 적혈구의 2,3-BPG가 감소해 헤모글로빈의 산소 친화도가 높아지고 해리 곡선이 좌측 이동한다. 폐에서 산소는 잘 싣지만 조직에서 방출이 줄어든다. 2,3-BPG는 수혈 후 수시간에서 하루 정도에 회복되며, 저장 혈액의 산성화·칼륨 상승·구연산에 의한 저칼슘도 함께 고려해야 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일산화탄소 중독 환자의 맥박산소포화도가 정상으로 나오는 이유와 올바른 진단법은?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맥박산소측정기는 두 파장의 흡광비로 산소헤모글로빈 분율을 추정하는데, 일산화탄소헤모글로빈의 흡광 특성이 산소헤모글로빈과 유사해 포화도가 높게 읽힌다. 진단은 다파장 공동 산소측정기를 이용한 동맥 또는 정맥혈 일산화탄소헤모글로빈 직접 측정이며, 임상 의심이 있으면 결과를 기다리지 않고 고농도 산소를 시작한다.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급성 간헐성 포르피린증 환자에게 포도당과 헤민을 투여하는 기전상의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두 치료 모두 ALA 합성효소 1의 활성을 낮춘다. 금식과 탄수화물 부족은 PGC-1α를 통해 ALAS1 전사를 올리므로 포도당 공급이 이를 억제한다. 헤민은 간의 유리 헴 풀을 보충해 ALAS1에 대한 음성 피드백을 복원하여 ALA와 PBG 생산을 줄인다. 반복 발작에는 ALAS1 mRNA를 표적하는 기보시란을 사용한다.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철 결핍과 염증성 빈혈을 검사로 구분하는 핵심 지표와 그 분자적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철 결핍에서는 저장 철이 소진되어 페리틴이 낮고, 세포 내 IRP 활성화로 TfR1이 늘어 가용성 트랜스페린 수용체가 상승하며 총 철결합능이 증가한다. 염증성 빈혈에서는 IL-6가 헵시딘을 올려 철이 대식세포에 갇히므로 혈청 철은 낮지만 페리틴은 정상 또는 상승하고 총 철결합능은 감소하며 가용성 수용체는 정상이다. 두 상태가 겹칠 때는 페리틴 역치를 높여 해석하거나 수용체-페리틴 지수를 활용한다.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Bunn HF. Pathogenesis and treatment of sickle cell disease. N Engl J Med 1997;337:762–769.</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Frangoul H et al. CRISPR-Cas9 gene editing for sickle cell disease and β-thalassemia. N Engl J Med 2021;384:252–260.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Camaschella C, Nai A, Silvestri L. Iron metabolism and iron disorders revisited in the hepcidin era. Haematologica 2020;105:260–272.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Bissell DM, Anderson KE, Bonkovsky HL. Porphyria. N Engl J Med 2017;377:862–872.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B10-L03  ·  혈액질환의 생화학: 적혈구, 헤모글로빈과 철 대사</a:t>
            </a:r>
            <a:r>
              <a:rPr sz="10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Luzzatto L, Ally M, Notaro R. Glucose-6-phosphate dehydrogenase deficiency. Blood 2020;136:1225–1240.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