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30"/>
    <p:sldId id="279" r:id="rId31"/>
    <p:sldId id="280" r:id="rId32"/>
    <p:sldId id="281" r:id="rId33"/>
    <p:sldId id="282" r:id="rId3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notesMaster" Target="notesMasters/notesMaster1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해설: 근 글리코겐 포스포릴라아제 결핍으로 운동 초기에는 근육 글리코겐을 쓸 수 없어 ATP가 부족하고 통증·경직이 생긴다. 몇 분 뒤 심박과 혈류가 늘고 간 당신생과 지방 분해로 공급되는 혈중 포도당과 지방산이 산화 대사로 들어오면 운동 수행이 다시 개선된다. 그래서 환자는 가벼운 준비 운동으로 증상을 줄일 수 있고, 운동 중 젖산은 오르지 않고 암모니아는 오른다.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해설: 스타틴을 중단해도 CK가 떨어지지 않고 근력 약화가 진행하면 단순 근육통이 아니다. 항-HMGCR 자가항체 검사와 근 MRI·생검을 고려하며, 생검에서 염증 침윤은 적고 괴사·재생 섬유와 보체 침착이 보인다. 치료는 스타틴 중단만으로 부족하고 스테로이드·IVIG·메토트렉세이트 등 면역치료가 필요하다.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해설: 데노수맙은 RANKL을 중화해 골파괴세포를 억제하지만 골에 잔류하지 않아 효과가 가역적이다. 중단하면 억제되어 있던 골파괴세포 전구세포가 한꺼번에 활성화되어 반동적 골흡수가 일어나고, 수개월 내 다발성 척추 골절이 보고된다. 치료를 끝낼 때는 비스포스포네이트로 전환해 골에 남는 억제 효과를 확보해야 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해설: 끊지 않는다. 요산이 낮아지면 조직에 침착된 결정이 녹아 나오면서 일시적으로 발작이 증가하는 것은 예상되는 반응이다. 시작 시 저용량 콜키신이나 NSAID로 수개월간 예방하고, 요산을 6 mg/dL 미만으로 유지하며 용량을 점진적으로 올린다. 이미 복용 중이라면 급성 발작 중에도 중단하지 않고 발작 치료를 병행한다.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23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480560"/>
            <a:ext cx="12191695" cy="73152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914400"/>
            <a:ext cx="106984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8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B10 기타질환학  ·  근골격과 감각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10698480" cy="2011680"/>
          </a:xfrm>
          <a:prstGeom prst="rect">
            <a:avLst/>
          </a:prstGeom>
          <a:noFill/>
        </p:spPr>
        <p:txBody>
          <a:bodyPr wrap="square" anchor="b">
            <a:spAutoFit/>
          </a:bodyPr>
          <a:lstStyle/>
          <a:p>
            <a:r>
              <a:rPr sz="40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근육·골대사 질환과 결합조직</a:t>
            </a:r>
          </a:p>
          <a:p>
            <a:r>
              <a:rPr sz="2000" b="0" i="0">
                <a:solidFill>
                  <a:srgbClr val="C2CDD6"/>
                </a:solidFill>
                <a:latin typeface="Malgun Gothic"/>
                <a:ea typeface="Malgun Gothic"/>
                <a:cs typeface="Malgun Gothic"/>
              </a:rPr>
              <a:t>Muscle, Bone Metabolism and Connective Tissue Disease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4754880"/>
            <a:ext cx="1069848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6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B10-L07</a:t>
            </a:r>
          </a:p>
          <a:p>
            <a:r>
              <a:rPr sz="1400" b="0" i="0">
                <a:solidFill>
                  <a:srgbClr val="C2CDD6"/>
                </a:solidFill>
                <a:latin typeface="Malgun Gothic"/>
                <a:ea typeface="Malgun Gothic"/>
                <a:cs typeface="Malgun Gothic"/>
              </a:rPr>
              <a:t>의학생화학 · 의학분자생물학 · 신경과학 강의록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3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1247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GOALS   </a:t>
            </a:r>
            <a:r>
              <a:rPr sz="26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학습 목표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B10-L07  ·  근육·골대사 질환과 결합조직</a:t>
            </a:r>
            <a:r>
              <a:rPr sz="1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     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280160"/>
            <a:ext cx="10881360" cy="502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800"/>
              </a:spcAft>
            </a:pPr>
            <a:r>
              <a:rPr sz="22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1. </a:t>
            </a:r>
            <a:r>
              <a:rPr sz="22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골격근의 수축·에너지 대사와 근육 질환의 생화학적 분류를 설명한다.</a:t>
            </a:r>
          </a:p>
          <a:p>
            <a:pPr>
              <a:spcAft>
                <a:spcPts val="800"/>
              </a:spcAft>
            </a:pPr>
            <a:r>
              <a:rPr sz="22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2. </a:t>
            </a:r>
            <a:r>
              <a:rPr sz="22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근육막 복합체와 근육병의 분자 기전을 설명한다.</a:t>
            </a:r>
          </a:p>
          <a:p>
            <a:pPr>
              <a:spcAft>
                <a:spcPts val="800"/>
              </a:spcAft>
            </a:pPr>
            <a:r>
              <a:rPr sz="22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3. </a:t>
            </a:r>
            <a:r>
              <a:rPr sz="22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골 재형성의 세포·분자 조절과 골대사 질환을 설명한다.</a:t>
            </a:r>
          </a:p>
          <a:p>
            <a:pPr>
              <a:spcAft>
                <a:spcPts val="800"/>
              </a:spcAft>
            </a:pPr>
            <a:r>
              <a:rPr sz="22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4. </a:t>
            </a:r>
            <a:r>
              <a:rPr sz="22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콜라겐·엘라스틴 생합성과 유전성 결합조직질환을 설명한다.</a:t>
            </a:r>
          </a:p>
          <a:p>
            <a:pPr>
              <a:spcAft>
                <a:spcPts val="800"/>
              </a:spcAft>
            </a:pPr>
            <a:r>
              <a:rPr sz="22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5. </a:t>
            </a:r>
            <a:r>
              <a:rPr sz="22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결정 유발 관절염과 골관절염의 생화학을 설명한다.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3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1247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OUTLINE   </a:t>
            </a:r>
            <a:r>
              <a:rPr sz="26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강의 구성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B10-L07  ·  근육·골대사 질환과 결합조직</a:t>
            </a:r>
            <a:r>
              <a:rPr sz="1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     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280160"/>
            <a:ext cx="10881360" cy="502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800"/>
              </a:spcAft>
            </a:pPr>
            <a:r>
              <a:rPr sz="22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1. </a:t>
            </a:r>
            <a:r>
              <a:rPr sz="22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골격근의 에너지 대사와 운동 생화학</a:t>
            </a:r>
          </a:p>
          <a:p>
            <a:pPr>
              <a:spcAft>
                <a:spcPts val="800"/>
              </a:spcAft>
            </a:pPr>
            <a:r>
              <a:rPr sz="22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2. </a:t>
            </a:r>
            <a:r>
              <a:rPr sz="22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근육막 복합체와 근육병</a:t>
            </a:r>
          </a:p>
          <a:p>
            <a:pPr>
              <a:spcAft>
                <a:spcPts val="800"/>
              </a:spcAft>
            </a:pPr>
            <a:r>
              <a:rPr sz="22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3. </a:t>
            </a:r>
            <a:r>
              <a:rPr sz="22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골 재형성의 분자 조절</a:t>
            </a:r>
          </a:p>
          <a:p>
            <a:pPr>
              <a:spcAft>
                <a:spcPts val="800"/>
              </a:spcAft>
            </a:pPr>
            <a:r>
              <a:rPr sz="22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4. </a:t>
            </a:r>
            <a:r>
              <a:rPr sz="22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콜라겐·엘라스틴과 유전성 결합조직질환</a:t>
            </a:r>
          </a:p>
          <a:p>
            <a:pPr>
              <a:spcAft>
                <a:spcPts val="800"/>
              </a:spcAft>
            </a:pPr>
            <a:r>
              <a:rPr sz="22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5. </a:t>
            </a:r>
            <a:r>
              <a:rPr sz="22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결정 유발 관절염과 골관절염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3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1247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01   </a:t>
            </a:r>
            <a:r>
              <a:rPr sz="26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골격근의 에너지 대사와 운동 생화학 (1/2)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B10-L07  ·  근육·골대사 질환과 결합조직</a:t>
            </a:r>
            <a:r>
              <a:rPr sz="1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     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280160"/>
            <a:ext cx="10881360" cy="502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800"/>
              </a:spcAft>
            </a:pPr>
            <a:r>
              <a:rPr sz="18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18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수축: 활동전위 → T관 </a:t>
            </a:r>
            <a:r>
              <a:rPr sz="18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DHPR(CACNA1S)</a:t>
            </a:r>
            <a:r>
              <a:rPr sz="18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 → </a:t>
            </a:r>
            <a:r>
              <a:rPr sz="18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RYR1</a:t>
            </a:r>
            <a:r>
              <a:rPr sz="18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 Ca²⁺ 방출 → 트로포닌 C 결합 → 트로포미오신 이동 → 액틴-미오신 교차교 순환(ATP 가수분해) → </a:t>
            </a:r>
            <a:r>
              <a:rPr sz="18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SERCA</a:t>
            </a:r>
            <a:r>
              <a:rPr sz="18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가 Ca²⁺ 재흡수(ATP 소모 — 이완도 에너지를 쓴다).</a:t>
            </a:r>
          </a:p>
          <a:p>
            <a:pPr>
              <a:spcAft>
                <a:spcPts val="800"/>
              </a:spcAft>
            </a:pPr>
            <a:r>
              <a:rPr sz="18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18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근육은 글루코스-6-인산분해효소가 없다</a:t>
            </a:r>
            <a:r>
              <a:rPr sz="18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 → 글리코겐은 근육 자체 소비용. 젖산은 간으로 가서 당신생(코리 회로), 알라닌은 질소 운반(알라닌 회로).</a:t>
            </a:r>
          </a:p>
          <a:p>
            <a:pPr>
              <a:spcAft>
                <a:spcPts val="800"/>
              </a:spcAft>
            </a:pPr>
            <a:r>
              <a:rPr sz="18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18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운동 적응: AMPK(에너지 센서) + PGC-1α → 미토콘드리아 생합성; 저항 운동은 mTORC1 → 근단백 합성. 마이오카인(이리신, IL-6, 마이오스타틴 억제)이 전신 대사에 작용(B04 연계).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3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1247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01   </a:t>
            </a:r>
            <a:r>
              <a:rPr sz="26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골격근의 에너지 대사와 운동 생화학 (2/2)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B10-L07  ·  근육·골대사 질환과 결합조직</a:t>
            </a:r>
            <a:r>
              <a:rPr sz="1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     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280160"/>
            <a:ext cx="10881360" cy="502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800"/>
              </a:spcAft>
            </a:pPr>
            <a:r>
              <a:rPr sz="22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22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횡문근분해증</a:t>
            </a:r>
            <a:r>
              <a:rPr sz="22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: CK 수천~수만, 미오글로빈뇨(요 딥스틱 혈액 양성·적혈구 없음), 고칼륨·고인·저칼슘·대사 산증 → 급성 신손상. 원인은 외상·압박, 과도한 운동, 발작, 열사병, 약물(스타틴 — 특히 상호작용, 고용량; 코카인), 유전성 대사 근병, 감염. 치료는 </a:t>
            </a:r>
            <a:r>
              <a:rPr sz="22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적극적 수액</a:t>
            </a:r>
            <a:r>
              <a:rPr sz="22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이 핵심.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3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1247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01   </a:t>
            </a:r>
            <a:r>
              <a:rPr sz="26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골격근의 에너지 대사와 운동 생화학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B10-L07  ·  근육·골대사 질환과 결합조직</a:t>
            </a:r>
            <a:r>
              <a:rPr sz="1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     6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48640" y="1280160"/>
          <a:ext cx="11064240" cy="1463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88080"/>
                <a:gridCol w="3688080"/>
                <a:gridCol w="3688080"/>
              </a:tblGrid>
              <a:tr h="365760">
                <a:tc>
                  <a:txBody>
                    <a:bodyPr/>
                    <a:lstStyle/>
                    <a:p>
                      <a:r>
                        <a:rPr sz="1500" b="1" i="0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에너지 체계</a:t>
                      </a:r>
                    </a:p>
                  </a:txBody>
                  <a:tcPr marL="73152" marR="73152">
                    <a:solidFill>
                      <a:srgbClr val="003C7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 i="0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시간 범위</a:t>
                      </a:r>
                    </a:p>
                  </a:txBody>
                  <a:tcPr marL="73152" marR="73152">
                    <a:solidFill>
                      <a:srgbClr val="003C7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 i="0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핵심 반응</a:t>
                      </a:r>
                    </a:p>
                  </a:txBody>
                  <a:tcPr marL="73152" marR="73152">
                    <a:solidFill>
                      <a:srgbClr val="003C71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포스포크레아틴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0–10초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크레아틴 키나아제: PCr + ADP → Cr + ATP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무산소 해당</a:t>
                      </a:r>
                    </a:p>
                  </a:txBody>
                  <a:tcPr marL="73152" marR="73152">
                    <a:solidFill>
                      <a:srgbClr val="ECF1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10초–2분</a:t>
                      </a:r>
                    </a:p>
                  </a:txBody>
                  <a:tcPr marL="73152" marR="73152">
                    <a:solidFill>
                      <a:srgbClr val="ECF1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글리코겐 → 젖산, 근육에는 G6P 가수분해효소가 없어 포도당을 혈중으로 내보내지 못한다</a:t>
                      </a:r>
                    </a:p>
                  </a:txBody>
                  <a:tcPr marL="73152" marR="73152">
                    <a:solidFill>
                      <a:srgbClr val="ECF1F5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산화적 인산화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2분 이후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지방산·포도당·케톤, 지속 운동에서 지방산 비중 ↑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3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1247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01   </a:t>
            </a:r>
            <a:r>
              <a:rPr sz="26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골격근의 에너지 대사와 운동 생화학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B10-L07  ·  근육·골대사 질환과 결합조직</a:t>
            </a:r>
            <a:r>
              <a:rPr sz="1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     7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48640" y="1280160"/>
          <a:ext cx="11064240" cy="2560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88080"/>
                <a:gridCol w="3688080"/>
                <a:gridCol w="3688080"/>
              </a:tblGrid>
              <a:tr h="365760">
                <a:tc>
                  <a:txBody>
                    <a:bodyPr/>
                    <a:lstStyle/>
                    <a:p>
                      <a:r>
                        <a:rPr sz="1500" b="1" i="0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운동 유발 증상의 감별</a:t>
                      </a:r>
                    </a:p>
                  </a:txBody>
                  <a:tcPr marL="73152" marR="73152">
                    <a:solidFill>
                      <a:srgbClr val="003C7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 i="0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결함</a:t>
                      </a:r>
                    </a:p>
                  </a:txBody>
                  <a:tcPr marL="73152" marR="73152">
                    <a:solidFill>
                      <a:srgbClr val="003C7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 i="0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특징</a:t>
                      </a:r>
                    </a:p>
                  </a:txBody>
                  <a:tcPr marL="73152" marR="73152">
                    <a:solidFill>
                      <a:srgbClr val="003C71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500" b="1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맥아들병(근 글리코겐 포스포릴라아제, PYGM)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해당과정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초기 운동 통증, </a:t>
                      </a:r>
                      <a:r>
                        <a:rPr sz="1500" b="1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세컨드 윈드</a:t>
                      </a:r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 현상, 운동 시 젖산 상승 없음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인산과당분해효소 결핍(타루이)</a:t>
                      </a:r>
                    </a:p>
                  </a:txBody>
                  <a:tcPr marL="73152" marR="73152">
                    <a:solidFill>
                      <a:srgbClr val="ECF1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해당과정</a:t>
                      </a:r>
                    </a:p>
                  </a:txBody>
                  <a:tcPr marL="73152" marR="73152">
                    <a:solidFill>
                      <a:srgbClr val="ECF1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용혈 동반, 당분 섭취가 오히려 악화</a:t>
                      </a:r>
                    </a:p>
                  </a:txBody>
                  <a:tcPr marL="73152" marR="73152">
                    <a:solidFill>
                      <a:srgbClr val="ECF1F5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500" b="1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CPT2 결핍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긴사슬 지방산 산화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장시간 운동·금식·추위 후 근육분해, 근긴장성 아니라 지연성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VLCAD, TFP 결핍</a:t>
                      </a:r>
                    </a:p>
                  </a:txBody>
                  <a:tcPr marL="73152" marR="73152">
                    <a:solidFill>
                      <a:srgbClr val="ECF1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지방산 산화</a:t>
                      </a:r>
                    </a:p>
                  </a:txBody>
                  <a:tcPr marL="73152" marR="73152">
                    <a:solidFill>
                      <a:srgbClr val="ECF1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신생아형은 심근병·저혈당</a:t>
                      </a:r>
                    </a:p>
                  </a:txBody>
                  <a:tcPr marL="73152" marR="73152">
                    <a:solidFill>
                      <a:srgbClr val="ECF1F5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미토콘드리아 근병(MELAS 등)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호흡사슬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운동 불내성, 젖산 ↑, 누더기 적색 섬유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악성 고열증(RYR1·CACNA1S)</a:t>
                      </a:r>
                    </a:p>
                  </a:txBody>
                  <a:tcPr marL="73152" marR="73152">
                    <a:solidFill>
                      <a:srgbClr val="ECF1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Ca²⁺ 방출 과다</a:t>
                      </a:r>
                    </a:p>
                  </a:txBody>
                  <a:tcPr marL="73152" marR="73152">
                    <a:solidFill>
                      <a:srgbClr val="ECF1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휘발성 마취제·숙시닐콜린 → 대사 폭주, </a:t>
                      </a:r>
                      <a:r>
                        <a:rPr sz="1500" b="1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단트롤렌</a:t>
                      </a:r>
                    </a:p>
                  </a:txBody>
                  <a:tcPr marL="73152" marR="73152">
                    <a:solidFill>
                      <a:srgbClr val="ECF1F5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3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1247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02   </a:t>
            </a:r>
            <a:r>
              <a:rPr sz="26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근육막 복합체와 근육병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B10-L07  ·  근육·골대사 질환과 결합조직</a:t>
            </a:r>
            <a:r>
              <a:rPr sz="1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     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280160"/>
            <a:ext cx="10881360" cy="502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800"/>
              </a:spcAft>
            </a:pPr>
            <a:r>
              <a:rPr sz="22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22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디스트로핀-당단백 복합체(DGC)</a:t>
            </a:r>
            <a:r>
              <a:rPr sz="22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: 디스트로핀이 액틴 세포골격과 β-디스트로글리칸-α-디스트로글리칸-라미닌(기저막)을 잇는다. 사르코글리칸, 디스트로브레빈, 신트로핀, </a:t>
            </a:r>
            <a:r>
              <a:rPr sz="22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nNOS</a:t>
            </a:r>
            <a:r>
              <a:rPr sz="22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가 함께 결합 — 수축력 전달과 막 보호.</a:t>
            </a:r>
          </a:p>
          <a:p>
            <a:pPr>
              <a:spcAft>
                <a:spcPts val="800"/>
              </a:spcAft>
            </a:pPr>
            <a:r>
              <a:rPr sz="22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22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중증근육경직·신경근접합부 질환은 B08에서 다룬다. 여기서는 </a:t>
            </a:r>
            <a:r>
              <a:rPr sz="22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근육 자체</a:t>
            </a:r>
            <a:r>
              <a:rPr sz="22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의 구조·대사 결함에 초점을 둔다.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3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1247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02   </a:t>
            </a:r>
            <a:r>
              <a:rPr sz="26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근육막 복합체와 근육병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B10-L07  ·  근육·골대사 질환과 결합조직</a:t>
            </a:r>
            <a:r>
              <a:rPr sz="1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     9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48640" y="1280160"/>
          <a:ext cx="11064240" cy="3291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88080"/>
                <a:gridCol w="3688080"/>
                <a:gridCol w="3688080"/>
              </a:tblGrid>
              <a:tr h="365760">
                <a:tc>
                  <a:txBody>
                    <a:bodyPr/>
                    <a:lstStyle/>
                    <a:p>
                      <a:r>
                        <a:rPr sz="1300" b="1" i="0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질환</a:t>
                      </a:r>
                    </a:p>
                  </a:txBody>
                  <a:tcPr marL="73152" marR="73152">
                    <a:solidFill>
                      <a:srgbClr val="003C7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 i="0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유전자·단백</a:t>
                      </a:r>
                    </a:p>
                  </a:txBody>
                  <a:tcPr marL="73152" marR="73152">
                    <a:solidFill>
                      <a:srgbClr val="003C7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 i="0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특징</a:t>
                      </a:r>
                    </a:p>
                  </a:txBody>
                  <a:tcPr marL="73152" marR="73152">
                    <a:solidFill>
                      <a:srgbClr val="003C71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300" b="1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뒤센 근육병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DMD 틀이동 → 디스트로핀 부재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3–5세 발병, 가워스 징후·종아리 가성비대, CK 매우 높음, 심근병, 스테로이드로 진행 지연; </a:t>
                      </a:r>
                      <a:r>
                        <a:rPr sz="1300" b="1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엑손 스킵</a:t>
                      </a:r>
                      <a:r>
                        <a:rPr sz="13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(에테플리르센 등), 유전자 치료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베커 근육병</a:t>
                      </a:r>
                    </a:p>
                  </a:txBody>
                  <a:tcPr marL="73152" marR="73152">
                    <a:solidFill>
                      <a:srgbClr val="ECF1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DMD 틀 유지 → 단축 단백</a:t>
                      </a:r>
                    </a:p>
                  </a:txBody>
                  <a:tcPr marL="73152" marR="73152">
                    <a:solidFill>
                      <a:srgbClr val="ECF1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경증·후기 발병, 심근병이 주 문제일 수 있다</a:t>
                      </a:r>
                    </a:p>
                  </a:txBody>
                  <a:tcPr marL="73152" marR="73152">
                    <a:solidFill>
                      <a:srgbClr val="ECF1F5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지대근육병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사르코글리칸, 디스펄린, 칼파인-3, 당화 효소(FKRP)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상염색체, 아형별 심·호흡 침범 차이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300" b="1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근긴장성 근육병 1형</a:t>
                      </a:r>
                    </a:p>
                  </a:txBody>
                  <a:tcPr marL="73152" marR="73152">
                    <a:solidFill>
                      <a:srgbClr val="ECF1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DMPK 3′UTR </a:t>
                      </a:r>
                      <a:r>
                        <a:rPr sz="1300" b="1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CTG 반복</a:t>
                      </a:r>
                      <a:r>
                        <a:rPr sz="13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 → 독성 RNA가 MBNL 격리 → 광범위 잘못된 스플라이싱</a:t>
                      </a:r>
                    </a:p>
                  </a:txBody>
                  <a:tcPr marL="73152" marR="73152">
                    <a:solidFill>
                      <a:srgbClr val="ECF1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근긴장증, 전두 탈모, 백내장, 전도 장애(돌연사), 인슐린 저항, 다장기</a:t>
                      </a:r>
                    </a:p>
                  </a:txBody>
                  <a:tcPr marL="73152" marR="73152">
                    <a:solidFill>
                      <a:srgbClr val="ECF1F5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2형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CNBP CCTG 반복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근위 우세, 경증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안면견갑상완 근육병</a:t>
                      </a:r>
                    </a:p>
                  </a:txBody>
                  <a:tcPr marL="73152" marR="73152">
                    <a:solidFill>
                      <a:srgbClr val="ECF1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4q35 D4Z4 수축 → </a:t>
                      </a:r>
                      <a:r>
                        <a:rPr sz="1300" b="1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DUX4</a:t>
                      </a:r>
                      <a:r>
                        <a:rPr sz="13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 탈억제</a:t>
                      </a:r>
                    </a:p>
                  </a:txBody>
                  <a:tcPr marL="73152" marR="73152">
                    <a:solidFill>
                      <a:srgbClr val="ECF1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비대칭 안면·견갑 약화</a:t>
                      </a:r>
                    </a:p>
                  </a:txBody>
                  <a:tcPr marL="73152" marR="73152">
                    <a:solidFill>
                      <a:srgbClr val="ECF1F5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폼페병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산성 α-글루코시다아제(리소좀 글리코겐)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영아형 심근병, 성인형 근육·호흡 약화 — </a:t>
                      </a:r>
                      <a:r>
                        <a:rPr sz="1300" b="1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효소 대체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염증성 근육병</a:t>
                      </a:r>
                    </a:p>
                  </a:txBody>
                  <a:tcPr marL="73152" marR="73152">
                    <a:solidFill>
                      <a:srgbClr val="ECF1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면역 매개(B10 L02)</a:t>
                      </a:r>
                    </a:p>
                  </a:txBody>
                  <a:tcPr marL="73152" marR="73152">
                    <a:solidFill>
                      <a:srgbClr val="ECF1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피부근염(I형 IFN), 면역매개 괴사성(HMGCR·SRP 항체 — 스타틴 연관)</a:t>
                      </a:r>
                    </a:p>
                  </a:txBody>
                  <a:tcPr marL="73152" marR="73152">
                    <a:solidFill>
                      <a:srgbClr val="ECF1F5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3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1247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03   </a:t>
            </a:r>
            <a:r>
              <a:rPr sz="26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골 재형성의 분자 조절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B10-L07  ·  근육·골대사 질환과 결합조직</a:t>
            </a:r>
            <a:r>
              <a:rPr sz="1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     10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280160"/>
            <a:ext cx="10881360" cy="502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800"/>
              </a:spcAft>
            </a:pPr>
            <a:r>
              <a:rPr sz="18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18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핵심 축: 골세포(osteocyte)가 기계적 부하를 감지 → </a:t>
            </a:r>
            <a:r>
              <a:rPr sz="18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스클레로스틴(SOST)</a:t>
            </a:r>
            <a:r>
              <a:rPr sz="18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 분비 조절 → WNT-β-카테닌(LRP5/6)을 통한 골형성 조절. 부하가 있으면 스클레로스틴 ↓ → 골형성 ↑.</a:t>
            </a:r>
          </a:p>
          <a:p>
            <a:pPr>
              <a:spcAft>
                <a:spcPts val="800"/>
              </a:spcAft>
            </a:pPr>
            <a:r>
              <a:rPr sz="18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18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골흡수: 골형성세포 계열이 </a:t>
            </a:r>
            <a:r>
              <a:rPr sz="18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RANKL</a:t>
            </a:r>
            <a:r>
              <a:rPr sz="18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을 발현 → 전구세포의 RANK → NF-κB·NFATc1 → 골파괴세포 성숙·활성(H⁺-ATPase + 염소 통로로 산성화, </a:t>
            </a:r>
            <a:r>
              <a:rPr sz="18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카텝신 K</a:t>
            </a:r>
            <a:r>
              <a:rPr sz="18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가 콜라겐 분해, TRAP). </a:t>
            </a:r>
            <a:r>
              <a:rPr sz="18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OPG</a:t>
            </a:r>
            <a:r>
              <a:rPr sz="18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가 RANKL을 중화하는 내재 브레이크.</a:t>
            </a:r>
          </a:p>
          <a:p>
            <a:pPr>
              <a:spcAft>
                <a:spcPts val="800"/>
              </a:spcAft>
            </a:pPr>
            <a:r>
              <a:rPr sz="18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18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치료 중단의 생화학: </a:t>
            </a:r>
            <a:r>
              <a:rPr sz="18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데노수맙 중단 시 반동적 골흡수 폭발</a:t>
            </a:r>
            <a:r>
              <a:rPr sz="18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로 다발성 척추 골절 위험 — 중단할 때 비스포스포네이트로 전환해야 한다. 비스포스포네이트는 골에 결합해 효과가 지속되므로 약물 휴지기가 가능하다. 턱뼈 골괴사·비전형 대퇴골 골절은 장기 사용 시 드물게 발생.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3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1247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03   </a:t>
            </a:r>
            <a:r>
              <a:rPr sz="26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골 재형성의 분자 조절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B10-L07  ·  근육·골대사 질환과 결합조직</a:t>
            </a:r>
            <a:r>
              <a:rPr sz="1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     11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48640" y="1280160"/>
          <a:ext cx="11064240" cy="2926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88080"/>
                <a:gridCol w="3688080"/>
                <a:gridCol w="3688080"/>
              </a:tblGrid>
              <a:tr h="365760">
                <a:tc>
                  <a:txBody>
                    <a:bodyPr/>
                    <a:lstStyle/>
                    <a:p>
                      <a:r>
                        <a:rPr sz="1300" b="1" i="0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질환</a:t>
                      </a:r>
                    </a:p>
                  </a:txBody>
                  <a:tcPr marL="73152" marR="73152">
                    <a:solidFill>
                      <a:srgbClr val="003C7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 i="0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기전</a:t>
                      </a:r>
                    </a:p>
                  </a:txBody>
                  <a:tcPr marL="73152" marR="73152">
                    <a:solidFill>
                      <a:srgbClr val="003C7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 i="0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치료</a:t>
                      </a:r>
                    </a:p>
                  </a:txBody>
                  <a:tcPr marL="73152" marR="73152">
                    <a:solidFill>
                      <a:srgbClr val="003C71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300" b="1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골다공증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에스트로겐 감소 → RANKL ↑, 노화·스테로이드·부동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비스포스포네이트(파네실 경로 억제 → 골파괴세포 아폽토시스), </a:t>
                      </a:r>
                      <a:r>
                        <a:rPr sz="1300" b="1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데노수맙</a:t>
                      </a:r>
                      <a:r>
                        <a:rPr sz="13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(항-RANKL), </a:t>
                      </a:r>
                      <a:r>
                        <a:rPr sz="1300" b="1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로모소주맙</a:t>
                      </a:r>
                      <a:r>
                        <a:rPr sz="13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(항-스클레로스틴 — 형성 ↑ 흡수 ↓), PTH 유사체(테리파라타이드·아발로파라타이드 — 간헐 투여가 형성 우위)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구루병·골연화</a:t>
                      </a:r>
                    </a:p>
                  </a:txBody>
                  <a:tcPr marL="73152" marR="73152">
                    <a:solidFill>
                      <a:srgbClr val="ECF1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비타민 D 결핍, 저인(</a:t>
                      </a:r>
                      <a:r>
                        <a:rPr sz="1300" b="1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X-연관 저인성 — FGF23 과다</a:t>
                      </a:r>
                      <a:r>
                        <a:rPr sz="13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)</a:t>
                      </a:r>
                    </a:p>
                  </a:txBody>
                  <a:tcPr marL="73152" marR="73152">
                    <a:solidFill>
                      <a:srgbClr val="ECF1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비타민 D·인, </a:t>
                      </a:r>
                      <a:r>
                        <a:rPr sz="1300" b="1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부로수맙</a:t>
                      </a:r>
                      <a:r>
                        <a:rPr sz="13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(항-FGF23)</a:t>
                      </a:r>
                    </a:p>
                  </a:txBody>
                  <a:tcPr marL="73152" marR="73152">
                    <a:solidFill>
                      <a:srgbClr val="ECF1F5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골석화증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골파괴세포 산성화·분화 결함(CLCN7, TCIRG1, RANKL)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이식(일부)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파제트병</a:t>
                      </a:r>
                    </a:p>
                  </a:txBody>
                  <a:tcPr marL="73152" marR="73152">
                    <a:solidFill>
                      <a:srgbClr val="ECF1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국소 골 재형성 과다(SQSTM1)</a:t>
                      </a:r>
                    </a:p>
                  </a:txBody>
                  <a:tcPr marL="73152" marR="73152">
                    <a:solidFill>
                      <a:srgbClr val="ECF1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졸레드론산</a:t>
                      </a:r>
                    </a:p>
                  </a:txBody>
                  <a:tcPr marL="73152" marR="73152">
                    <a:solidFill>
                      <a:srgbClr val="ECF1F5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골형성이상증(OI)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I형 콜라겐</a:t>
                      </a:r>
                      <a:r>
                        <a:rPr sz="13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(COL1A1/2) 또는 가공 효소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비스포스포네이트, 항-스클레로스틴 연구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저인산효소증</a:t>
                      </a:r>
                    </a:p>
                  </a:txBody>
                  <a:tcPr marL="73152" marR="73152">
                    <a:solidFill>
                      <a:srgbClr val="ECF1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조직 비특이 알칼리 인산분해효소(TNSALP) → 피로인산 축적</a:t>
                      </a:r>
                    </a:p>
                  </a:txBody>
                  <a:tcPr marL="73152" marR="73152">
                    <a:solidFill>
                      <a:srgbClr val="ECF1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아스포타아제 알파</a:t>
                      </a:r>
                    </a:p>
                  </a:txBody>
                  <a:tcPr marL="73152" marR="73152">
                    <a:solidFill>
                      <a:srgbClr val="ECF1F5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가성·진성 부갑상선 질환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PTH-GNAS 신호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B04 연계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3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1247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03   </a:t>
            </a:r>
            <a:r>
              <a:rPr sz="26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골 재형성의 분자 조절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B10-L07  ·  근육·골대사 질환과 결합조직</a:t>
            </a:r>
            <a:r>
              <a:rPr sz="1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     12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325880"/>
            <a:ext cx="10881360" cy="1193800"/>
          </a:xfrm>
          <a:prstGeom prst="rect">
            <a:avLst/>
          </a:prstGeom>
          <a:solidFill>
            <a:srgbClr val="FFF5D6"/>
          </a:solidFill>
          <a:ln>
            <a:solidFill>
              <a:srgbClr val="F2B70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/>
          <a:lstStyle/>
          <a:p>
            <a:pPr algn="l"/>
            <a:r>
              <a:rPr sz="2000" b="1" i="0">
                <a:solidFill>
                  <a:srgbClr val="9A6B00"/>
                </a:solidFill>
                <a:latin typeface="Malgun Gothic"/>
                <a:ea typeface="Malgun Gothic"/>
                <a:cs typeface="Malgun Gothic"/>
              </a:rPr>
              <a:t>핵심  </a:t>
            </a:r>
            <a:r>
              <a:rPr sz="20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골은 대사 기관이다. 칼슘·인 저장고이면서 FGF23·오스테오칼신을 분비해 인 대사와 전신 에너지 대사에 참여한다.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3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1247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04   </a:t>
            </a:r>
            <a:r>
              <a:rPr sz="26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콜라겐·엘라스틴과 유전성 결합조직질환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B10-L07  ·  근육·골대사 질환과 결합조직</a:t>
            </a:r>
            <a:r>
              <a:rPr sz="1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     13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280160"/>
            <a:ext cx="10881360" cy="502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800"/>
              </a:spcAft>
            </a:pPr>
            <a:r>
              <a:rPr sz="2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20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콜라겐 생합성: 전구 사슬 → 소포체에서 </a:t>
            </a:r>
            <a:r>
              <a:rPr sz="20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프롤린·라이신 수산화</a:t>
            </a:r>
            <a:r>
              <a:rPr sz="20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(비타민 C 의존 — 결핍 시 괴혈병: 잇몸 출혈, 모세혈관 취약, 창상 치유 지연) → 당화 → 삼중 나선 → 분비 → 프로펩타이드 절단 → 섬유 조립 → </a:t>
            </a:r>
            <a:r>
              <a:rPr sz="20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라이실 산화효소(구리 의존)</a:t>
            </a:r>
            <a:r>
              <a:rPr sz="20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의 교차결합.</a:t>
            </a:r>
          </a:p>
          <a:p>
            <a:pPr>
              <a:spcAft>
                <a:spcPts val="800"/>
              </a:spcAft>
            </a:pPr>
            <a:r>
              <a:rPr sz="2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20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마르팡의 개념 전환: 단순한 구조 결함이 아니라 </a:t>
            </a:r>
            <a:r>
              <a:rPr sz="20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피브릴린-1이 잠재 TGF-β를 붙잡아 두는 기능</a:t>
            </a:r>
            <a:r>
              <a:rPr sz="20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의 상실로 TGF-β 신호가 과다해진다는 모형이 ARB 치료의 근거가 되었다.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3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1247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04   </a:t>
            </a:r>
            <a:r>
              <a:rPr sz="26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콜라겐·엘라스틴과 유전성 결합조직질환 (1/2)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B10-L07  ·  근육·골대사 질환과 결합조직</a:t>
            </a:r>
            <a:r>
              <a:rPr sz="1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     14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48640" y="1280160"/>
          <a:ext cx="11064240" cy="3291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88080"/>
                <a:gridCol w="3688080"/>
                <a:gridCol w="3688080"/>
              </a:tblGrid>
              <a:tr h="365760">
                <a:tc>
                  <a:txBody>
                    <a:bodyPr/>
                    <a:lstStyle/>
                    <a:p>
                      <a:r>
                        <a:rPr sz="1500" b="1" i="0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질환</a:t>
                      </a:r>
                    </a:p>
                  </a:txBody>
                  <a:tcPr marL="73152" marR="73152">
                    <a:solidFill>
                      <a:srgbClr val="003C7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 i="0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결함</a:t>
                      </a:r>
                    </a:p>
                  </a:txBody>
                  <a:tcPr marL="73152" marR="73152">
                    <a:solidFill>
                      <a:srgbClr val="003C7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 i="0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특징</a:t>
                      </a:r>
                    </a:p>
                  </a:txBody>
                  <a:tcPr marL="73152" marR="73152">
                    <a:solidFill>
                      <a:srgbClr val="003C71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500" b="1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마르팡 증후군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FBN1 피브릴린-1 → TGF-β 격리 실패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대동맥근 확장·박리, 수정체 상방 전위, 긴 사지; </a:t>
                      </a:r>
                      <a:r>
                        <a:rPr sz="1500" b="1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β차단제·ARB</a:t>
                      </a:r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, 대동맥 직경 기준 수술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500" b="1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혈관형 엘러스-단로스</a:t>
                      </a:r>
                    </a:p>
                  </a:txBody>
                  <a:tcPr marL="73152" marR="73152">
                    <a:solidFill>
                      <a:srgbClr val="ECF1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COL3A1</a:t>
                      </a:r>
                    </a:p>
                  </a:txBody>
                  <a:tcPr marL="73152" marR="73152">
                    <a:solidFill>
                      <a:srgbClr val="ECF1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동맥·장·자궁 파열 — 가장 치명적; 셀리프롤롤</a:t>
                      </a:r>
                    </a:p>
                  </a:txBody>
                  <a:tcPr marL="73152" marR="73152">
                    <a:solidFill>
                      <a:srgbClr val="ECF1F5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고전형 EDS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COL5A1/2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피부 과신전, 위축성 흉터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로이스-디츠</a:t>
                      </a:r>
                    </a:p>
                  </a:txBody>
                  <a:tcPr marL="73152" marR="73152">
                    <a:solidFill>
                      <a:srgbClr val="ECF1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TGFBR1/2, SMAD3, TGFB2</a:t>
                      </a:r>
                    </a:p>
                  </a:txBody>
                  <a:tcPr marL="73152" marR="73152">
                    <a:solidFill>
                      <a:srgbClr val="ECF1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더 공격적 대동맥 질환, 구개열·내반족</a:t>
                      </a:r>
                    </a:p>
                  </a:txBody>
                  <a:tcPr marL="73152" marR="73152">
                    <a:solidFill>
                      <a:srgbClr val="ECF1F5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500" b="1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골형성이상증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COL1A1/2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골 취약, 청색 공막, 난청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알포트 증후군</a:t>
                      </a:r>
                    </a:p>
                  </a:txBody>
                  <a:tcPr marL="73152" marR="73152">
                    <a:solidFill>
                      <a:srgbClr val="ECF1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COL4A3/4/5</a:t>
                      </a:r>
                    </a:p>
                  </a:txBody>
                  <a:tcPr marL="73152" marR="73152">
                    <a:solidFill>
                      <a:srgbClr val="ECF1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사구체 기저막 — 혈뇨·신부전·난청</a:t>
                      </a:r>
                    </a:p>
                  </a:txBody>
                  <a:tcPr marL="73152" marR="73152">
                    <a:solidFill>
                      <a:srgbClr val="ECF1F5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윌리엄스 증후군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ELN 결실 포함 7q11.23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대동맥판상부 협착, 특징적 인지·사회성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가성탄력섬유종</a:t>
                      </a:r>
                    </a:p>
                  </a:txBody>
                  <a:tcPr marL="73152" marR="73152">
                    <a:solidFill>
                      <a:srgbClr val="ECF1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ABCC6</a:t>
                      </a:r>
                    </a:p>
                  </a:txBody>
                  <a:tcPr marL="73152" marR="73152">
                    <a:solidFill>
                      <a:srgbClr val="ECF1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미네랄화 이상 — 피부·망막(각막선)·혈관</a:t>
                      </a:r>
                    </a:p>
                  </a:txBody>
                  <a:tcPr marL="73152" marR="73152">
                    <a:solidFill>
                      <a:srgbClr val="ECF1F5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3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1247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04   </a:t>
            </a:r>
            <a:r>
              <a:rPr sz="26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콜라겐·엘라스틴과 유전성 결합조직질환 (2/2)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B10-L07  ·  근육·골대사 질환과 결합조직</a:t>
            </a:r>
            <a:r>
              <a:rPr sz="1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     15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48640" y="1280160"/>
          <a:ext cx="11064240" cy="1097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88080"/>
                <a:gridCol w="3688080"/>
                <a:gridCol w="3688080"/>
              </a:tblGrid>
              <a:tr h="365760">
                <a:tc>
                  <a:txBody>
                    <a:bodyPr/>
                    <a:lstStyle/>
                    <a:p>
                      <a:r>
                        <a:rPr sz="1500" b="1" i="0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질환</a:t>
                      </a:r>
                    </a:p>
                  </a:txBody>
                  <a:tcPr marL="73152" marR="73152">
                    <a:solidFill>
                      <a:srgbClr val="003C7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 i="0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결함</a:t>
                      </a:r>
                    </a:p>
                  </a:txBody>
                  <a:tcPr marL="73152" marR="73152">
                    <a:solidFill>
                      <a:srgbClr val="003C7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 i="0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특징</a:t>
                      </a:r>
                    </a:p>
                  </a:txBody>
                  <a:tcPr marL="73152" marR="73152">
                    <a:solidFill>
                      <a:srgbClr val="003C71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괴혈병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비타민 C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수산화 실패 → 불안정 콜라겐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멘케스병</a:t>
                      </a:r>
                    </a:p>
                  </a:txBody>
                  <a:tcPr marL="73152" marR="73152">
                    <a:solidFill>
                      <a:srgbClr val="ECF1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ATP7A 구리 수송</a:t>
                      </a:r>
                    </a:p>
                  </a:txBody>
                  <a:tcPr marL="73152" marR="73152">
                    <a:solidFill>
                      <a:srgbClr val="ECF1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라이실 산화효소 실패 → 혈관·모발(꼬인 모발)</a:t>
                      </a:r>
                    </a:p>
                  </a:txBody>
                  <a:tcPr marL="73152" marR="73152">
                    <a:solidFill>
                      <a:srgbClr val="ECF1F5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3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1247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05   </a:t>
            </a:r>
            <a:r>
              <a:rPr sz="26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결정 유발 관절염과 골관절염 (1/3)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B10-L07  ·  근육·골대사 질환과 결합조직</a:t>
            </a:r>
            <a:r>
              <a:rPr sz="1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     16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280160"/>
            <a:ext cx="10881360" cy="502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800"/>
              </a:spcAft>
            </a:pPr>
            <a:r>
              <a:rPr sz="2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20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통풍</a:t>
            </a:r>
            <a:r>
              <a:rPr sz="20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: 요산은 퓨린 분해의 최종 산물(사람은 요산분해효소가 없다). 과포화 → 요산일나트륨 결정 → </a:t>
            </a:r>
            <a:r>
              <a:rPr sz="20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NLRP3 인플라마좀</a:t>
            </a:r>
            <a:r>
              <a:rPr sz="20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 → IL-1β → 급성 관절염.</a:t>
            </a:r>
          </a:p>
          <a:p>
            <a:pPr lvl="1">
              <a:spcAft>
                <a:spcPts val="400"/>
              </a:spcAft>
            </a:pPr>
            <a:r>
              <a:rPr sz="18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    – </a:t>
            </a:r>
            <a:r>
              <a:rPr sz="1800" b="0" i="0">
                <a:solidFill>
                  <a:srgbClr val="2E3F4C"/>
                </a:solidFill>
                <a:latin typeface="Malgun Gothic"/>
                <a:ea typeface="Malgun Gothic"/>
                <a:cs typeface="Malgun Gothic"/>
              </a:rPr>
              <a:t>생산 증가: 세포 전환 증가(혈액암, 종양용해), 과당·알코올(ATP 소모 → AMP → 요산), PRPS1 과활성, HGPRT 결핍(레쉬-니한).</a:t>
            </a:r>
          </a:p>
          <a:p>
            <a:pPr lvl="1">
              <a:spcAft>
                <a:spcPts val="400"/>
              </a:spcAft>
            </a:pPr>
            <a:r>
              <a:rPr sz="18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    – </a:t>
            </a:r>
            <a:r>
              <a:rPr sz="1800" b="0" i="0">
                <a:solidFill>
                  <a:srgbClr val="2E3F4C"/>
                </a:solidFill>
                <a:latin typeface="Malgun Gothic"/>
                <a:ea typeface="Malgun Gothic"/>
                <a:cs typeface="Malgun Gothic"/>
              </a:rPr>
              <a:t>배출 감소(대부분): 신기능, </a:t>
            </a:r>
            <a:r>
              <a:rPr sz="1800" b="1" i="0">
                <a:solidFill>
                  <a:srgbClr val="2E3F4C"/>
                </a:solidFill>
                <a:latin typeface="Malgun Gothic"/>
                <a:ea typeface="Malgun Gothic"/>
                <a:cs typeface="Malgun Gothic"/>
              </a:rPr>
              <a:t>URAT1(SLC22A12)·GLUT9(SLC2A9)·ABCG2</a:t>
            </a:r>
            <a:r>
              <a:rPr sz="1800" b="0" i="0">
                <a:solidFill>
                  <a:srgbClr val="2E3F4C"/>
                </a:solidFill>
                <a:latin typeface="Malgun Gothic"/>
                <a:ea typeface="Malgun Gothic"/>
                <a:cs typeface="Malgun Gothic"/>
              </a:rPr>
              <a:t> 변이, 이뇨제·저용량 아스피린·사이클로스포린, 젖산·케톤 경쟁.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3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1247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05   </a:t>
            </a:r>
            <a:r>
              <a:rPr sz="26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결정 유발 관절염과 골관절염 (2/3)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B10-L07  ·  근육·골대사 질환과 결합조직</a:t>
            </a:r>
            <a:r>
              <a:rPr sz="1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     17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280160"/>
            <a:ext cx="10881360" cy="502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lvl="1">
              <a:spcAft>
                <a:spcPts val="400"/>
              </a:spcAft>
            </a:pPr>
            <a:r>
              <a:rPr sz="14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    – </a:t>
            </a:r>
            <a:r>
              <a:rPr sz="1400" b="0" i="0">
                <a:solidFill>
                  <a:srgbClr val="2E3F4C"/>
                </a:solidFill>
                <a:latin typeface="Malgun Gothic"/>
                <a:ea typeface="Malgun Gothic"/>
                <a:cs typeface="Malgun Gothic"/>
              </a:rPr>
              <a:t>치료: 급성 — NSAID·콜키신(미세관 중합 억제 → 호중구 이동·인플라마좀 억제)·스테로이드, 불응 시 IL-1 차단. 요산 저하 — </a:t>
            </a:r>
            <a:r>
              <a:rPr sz="1400" b="1" i="0">
                <a:solidFill>
                  <a:srgbClr val="2E3F4C"/>
                </a:solidFill>
                <a:latin typeface="Malgun Gothic"/>
                <a:ea typeface="Malgun Gothic"/>
                <a:cs typeface="Malgun Gothic"/>
              </a:rPr>
              <a:t>알로푸리놀/페북소스타트</a:t>
            </a:r>
            <a:r>
              <a:rPr sz="1400" b="0" i="0">
                <a:solidFill>
                  <a:srgbClr val="2E3F4C"/>
                </a:solidFill>
                <a:latin typeface="Malgun Gothic"/>
                <a:ea typeface="Malgun Gothic"/>
                <a:cs typeface="Malgun Gothic"/>
              </a:rPr>
              <a:t>(잔틴 산화효소), 배출 촉진(프로베네시드, 레시누라드), 페글로티카제(재조합 요산분해효소). 목표 요산 &lt;6 mg/dL(결정 용해 임계).</a:t>
            </a:r>
          </a:p>
          <a:p>
            <a:pPr lvl="1">
              <a:spcAft>
                <a:spcPts val="400"/>
              </a:spcAft>
            </a:pPr>
            <a:r>
              <a:rPr sz="14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    – </a:t>
            </a:r>
            <a:r>
              <a:rPr sz="1400" b="0" i="0">
                <a:solidFill>
                  <a:srgbClr val="2E3F4C"/>
                </a:solidFill>
                <a:latin typeface="Malgun Gothic"/>
                <a:ea typeface="Malgun Gothic"/>
                <a:cs typeface="Malgun Gothic"/>
              </a:rPr>
              <a:t>중요 원칙: 요산 저하 치료 </a:t>
            </a:r>
            <a:r>
              <a:rPr sz="1400" b="1" i="0">
                <a:solidFill>
                  <a:srgbClr val="2E3F4C"/>
                </a:solidFill>
                <a:latin typeface="Malgun Gothic"/>
                <a:ea typeface="Malgun Gothic"/>
                <a:cs typeface="Malgun Gothic"/>
              </a:rPr>
              <a:t>시작 시 급성 발작이 늘어나므로 예방약(콜키신 저용량)을 동반</a:t>
            </a:r>
            <a:r>
              <a:rPr sz="1400" b="0" i="0">
                <a:solidFill>
                  <a:srgbClr val="2E3F4C"/>
                </a:solidFill>
                <a:latin typeface="Malgun Gothic"/>
                <a:ea typeface="Malgun Gothic"/>
                <a:cs typeface="Malgun Gothic"/>
              </a:rPr>
              <a:t>하고, 발작 중이라도 이미 복용 중이면 중단하지 않는다. 알로푸리놀은 HLA-B*58:01에서 중증 과민반응 위험(아시아인 선별).</a:t>
            </a:r>
          </a:p>
          <a:p>
            <a:pPr>
              <a:spcAft>
                <a:spcPts val="800"/>
              </a:spcAft>
            </a:pPr>
            <a:r>
              <a:rPr sz="16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16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칼슘 피로인산 침착(CPPD)</a:t>
            </a:r>
            <a:r>
              <a:rPr sz="16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: 연골에서 ATP → 피로인산(ENPP1) 과다, ANKH 수송, 알칼리 인산분해효소 부족 → 이수화물 결정. 이차 원인: 혈색소증, 부갑상선기능과다, 저마그네슘, 저인산효소증, 길버트형 가족성. 양굴절성 약한 막대·마름모 결정.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3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1247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05   </a:t>
            </a:r>
            <a:r>
              <a:rPr sz="26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결정 유발 관절염과 골관절염 (3/3)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B10-L07  ·  근육·골대사 질환과 결합조직</a:t>
            </a:r>
            <a:r>
              <a:rPr sz="1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     18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280160"/>
            <a:ext cx="10881360" cy="502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800"/>
              </a:spcAft>
            </a:pPr>
            <a:r>
              <a:rPr sz="22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22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골관절염</a:t>
            </a:r>
            <a:r>
              <a:rPr sz="22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은 "마모"가 아니라 대사·염증 질환: 연골세포가 MMP-13·ADAMTS-5를 분비해 II형 콜라겐·아그리칸을 분해하고, 활막 염증(IL-1, IL-6), 골하 골 재형성, 통증 감작(NGF)이 동반된다. 비만은 기계적 부하와 전신 염증(렙틴·아디포카인) 양쪽으로 작용한다. 현재 치료는 증상 중심(운동·체중·NSAID)이며 </a:t>
            </a:r>
            <a:r>
              <a:rPr sz="22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타네주맙(항-NGF)</a:t>
            </a:r>
            <a:r>
              <a:rPr sz="22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 등은 관절 안전성 문제로 제한되었다.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3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1247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05   </a:t>
            </a:r>
            <a:r>
              <a:rPr sz="26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결정 유발 관절염과 골관절염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B10-L07  ·  근육·골대사 질환과 결합조직</a:t>
            </a:r>
            <a:r>
              <a:rPr sz="1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     19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325880"/>
            <a:ext cx="10881360" cy="2298700"/>
          </a:xfrm>
          <a:prstGeom prst="rect">
            <a:avLst/>
          </a:prstGeom>
          <a:solidFill>
            <a:srgbClr val="E8F1FA"/>
          </a:solidFill>
          <a:ln>
            <a:solidFill>
              <a:srgbClr val="003C7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/>
          <a:lstStyle/>
          <a:p>
            <a:pPr algn="l"/>
            <a:r>
              <a:rPr sz="2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임상 연계  </a:t>
            </a:r>
            <a:r>
              <a:rPr sz="20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임상 상관: 발열과 단일 관절 종창에서 결정 관절염과 </a:t>
            </a:r>
            <a:r>
              <a:rPr sz="20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화농성 관절염</a:t>
            </a:r>
            <a:r>
              <a:rPr sz="20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은 임상만으로 구분할 수 없다. 관절 천자로 세포수·배양·결정 검사를 모두 보내야 하며, 결정이 보여도 감염이 동반될 수 있다. 또 급성 발작 중의 혈청 요산은 정상이거나 낮을 수 있어 통풍을 배제하는 근거가 되지 않는다 — 진단은 결정 확인이다.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3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1247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FRONTIER   </a:t>
            </a:r>
            <a:r>
              <a:rPr sz="26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연구 최전선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B10-L07  ·  근육·골대사 질환과 결합조직</a:t>
            </a:r>
            <a:r>
              <a:rPr sz="1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     20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280160"/>
            <a:ext cx="10881360" cy="502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800"/>
              </a:spcAft>
            </a:pPr>
            <a:r>
              <a:rPr sz="22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22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항-스클레로스틴 항체와 골형성 우위 약물의 순차 치료 전략이 골다공증 치료의 순서를 바꾸고 있다.</a:t>
            </a:r>
          </a:p>
          <a:p>
            <a:pPr>
              <a:spcAft>
                <a:spcPts val="800"/>
              </a:spcAft>
            </a:pPr>
            <a:r>
              <a:rPr sz="22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22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디스트로핀 미니유전자 전달과 염기 편집이 뒤센 근육병의 근본 치료로 임상 단계에 들어섰으며 용량 의존 간·면역 독성이 과제다.</a:t>
            </a:r>
          </a:p>
          <a:p>
            <a:pPr>
              <a:spcAft>
                <a:spcPts val="800"/>
              </a:spcAft>
            </a:pPr>
            <a:r>
              <a:rPr sz="22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22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골관절염에서 구조 변화를 늦추는 질병 조절 약물(WNT 조절, ADAMTS-5 억제, 연골세포 노화 표적)이 탐색되고 있다.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3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1247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SUMMARY   </a:t>
            </a:r>
            <a:r>
              <a:rPr sz="26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요약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B10-L07  ·  근육·골대사 질환과 결합조직</a:t>
            </a:r>
            <a:r>
              <a:rPr sz="1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     21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280160"/>
            <a:ext cx="10881360" cy="502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800"/>
              </a:spcAft>
            </a:pPr>
            <a:r>
              <a:rPr sz="2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1. </a:t>
            </a:r>
            <a:r>
              <a:rPr sz="20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근육은 글루코스-6-인산분해효소가 없어 글리코겐을 자체 소비하며 운동 단계별로 에너지 체계가 전환된다.</a:t>
            </a:r>
          </a:p>
          <a:p>
            <a:pPr>
              <a:spcAft>
                <a:spcPts val="800"/>
              </a:spcAft>
            </a:pPr>
            <a:r>
              <a:rPr sz="2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2. </a:t>
            </a:r>
            <a:r>
              <a:rPr sz="20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해당과정 결함은 단시간 고강도 운동에서, 지방산 산화 결함은 지속 운동·금식 후에 증상을 일으킨다.</a:t>
            </a:r>
          </a:p>
          <a:p>
            <a:pPr>
              <a:spcAft>
                <a:spcPts val="800"/>
              </a:spcAft>
            </a:pPr>
            <a:r>
              <a:rPr sz="2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3. </a:t>
            </a:r>
            <a:r>
              <a:rPr sz="20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골 항상성은 RANKL-RANK-OPG와 WNT-스클레로스틴 두 축으로 조절되며 각각이 약물 표적이다.</a:t>
            </a:r>
          </a:p>
          <a:p>
            <a:pPr>
              <a:spcAft>
                <a:spcPts val="800"/>
              </a:spcAft>
            </a:pPr>
            <a:r>
              <a:rPr sz="2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4. </a:t>
            </a:r>
            <a:r>
              <a:rPr sz="20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데노수맙 중단 시 반동 골흡수로 골절 위험이 커지므로 비스포스포네이트 전환이 필요하다.</a:t>
            </a:r>
          </a:p>
          <a:p>
            <a:pPr>
              <a:spcAft>
                <a:spcPts val="800"/>
              </a:spcAft>
            </a:pPr>
            <a:r>
              <a:rPr sz="2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5. </a:t>
            </a:r>
            <a:r>
              <a:rPr sz="20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통풍은 요산 결정이 NLRP3를 활성화하는 자가염증이며 배출 감소가 대부분의 원인이다.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3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1247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QUIZ   </a:t>
            </a:r>
            <a:r>
              <a:rPr sz="26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자가 평가 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B10-L07  ·  근육·골대사 질환과 결합조직</a:t>
            </a:r>
            <a:r>
              <a:rPr sz="1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     22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71600"/>
            <a:ext cx="10881360" cy="2194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22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맥아들병의 세컨드 윈드 현상을 생화학적으로 설명하라.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3749039"/>
            <a:ext cx="10881360" cy="2514600"/>
          </a:xfrm>
          <a:prstGeom prst="rect">
            <a:avLst/>
          </a:prstGeom>
          <a:solidFill>
            <a:srgbClr val="FFFFFF"/>
          </a:solidFill>
          <a:ln>
            <a:solidFill>
              <a:srgbClr val="C2CD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rIns="228600"/>
          <a:lstStyle/>
          <a:p>
            <a:pPr algn="l"/>
            <a:r>
              <a:rPr sz="16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해설  </a:t>
            </a:r>
            <a:r>
              <a:rPr sz="1600" b="0" i="0">
                <a:solidFill>
                  <a:srgbClr val="2E3F4C"/>
                </a:solidFill>
                <a:latin typeface="Malgun Gothic"/>
                <a:ea typeface="Malgun Gothic"/>
                <a:cs typeface="Malgun Gothic"/>
              </a:rPr>
              <a:t>근 글리코겐 포스포릴라아제 결핍으로 운동 초기에는 근육 글리코겐을 쓸 수 없어 ATP가 부족하고 통증·경직이 생긴다. 몇 분 뒤 심박과 혈류가 늘고 간 당신생과 지방 분해로 공급되는 혈중 포도당과 지방산이 산화 대사로 들어오면 운동 수행이 다시 개선된다. 그래서 환자는 가벼운 준비 운동으로 증상을 줄일 수 있고, 운동 중 젖산은 오르지 않고 암모니아는 오른다.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3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1247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QUIZ   </a:t>
            </a:r>
            <a:r>
              <a:rPr sz="26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자가 평가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B10-L07  ·  근육·골대사 질환과 결합조직</a:t>
            </a:r>
            <a:r>
              <a:rPr sz="1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     23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71600"/>
            <a:ext cx="10881360" cy="2194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22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스타틴 복용 환자의 근육 증상에서 면역매개 괴사성 근육병을 의심할 단서는?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3749039"/>
            <a:ext cx="10881360" cy="2514600"/>
          </a:xfrm>
          <a:prstGeom prst="rect">
            <a:avLst/>
          </a:prstGeom>
          <a:solidFill>
            <a:srgbClr val="FFFFFF"/>
          </a:solidFill>
          <a:ln>
            <a:solidFill>
              <a:srgbClr val="C2CD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rIns="228600"/>
          <a:lstStyle/>
          <a:p>
            <a:pPr algn="l"/>
            <a:r>
              <a:rPr sz="16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해설  </a:t>
            </a:r>
            <a:r>
              <a:rPr sz="1600" b="0" i="0">
                <a:solidFill>
                  <a:srgbClr val="2E3F4C"/>
                </a:solidFill>
                <a:latin typeface="Malgun Gothic"/>
                <a:ea typeface="Malgun Gothic"/>
                <a:cs typeface="Malgun Gothic"/>
              </a:rPr>
              <a:t>스타틴을 중단해도 CK가 떨어지지 않고 근력 약화가 진행하면 단순 근육통이 아니다. 항-HMGCR 자가항체 검사와 근 MRI·생검을 고려하며, 생검에서 염증 침윤은 적고 괴사·재생 섬유와 보체 침착이 보인다. 치료는 스타틴 중단만으로 부족하고 스테로이드·IVIG·메토트렉세이트 등 면역치료가 필요하다.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3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1247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QUIZ   </a:t>
            </a:r>
            <a:r>
              <a:rPr sz="26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자가 평가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B10-L07  ·  근육·골대사 질환과 결합조직</a:t>
            </a:r>
            <a:r>
              <a:rPr sz="1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     24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71600"/>
            <a:ext cx="10881360" cy="2194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22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데노수맙을 2년 투여한 환자가 자의로 중단하려 한다. 무엇을 설명해야 하는가?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3749039"/>
            <a:ext cx="10881360" cy="2514600"/>
          </a:xfrm>
          <a:prstGeom prst="rect">
            <a:avLst/>
          </a:prstGeom>
          <a:solidFill>
            <a:srgbClr val="FFFFFF"/>
          </a:solidFill>
          <a:ln>
            <a:solidFill>
              <a:srgbClr val="C2CD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rIns="228600"/>
          <a:lstStyle/>
          <a:p>
            <a:pPr algn="l"/>
            <a:r>
              <a:rPr sz="16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해설  </a:t>
            </a:r>
            <a:r>
              <a:rPr sz="1600" b="0" i="0">
                <a:solidFill>
                  <a:srgbClr val="2E3F4C"/>
                </a:solidFill>
                <a:latin typeface="Malgun Gothic"/>
                <a:ea typeface="Malgun Gothic"/>
                <a:cs typeface="Malgun Gothic"/>
              </a:rPr>
              <a:t>데노수맙은 RANKL을 중화해 골파괴세포를 억제하지만 골에 잔류하지 않아 효과가 가역적이다. 중단하면 억제되어 있던 골파괴세포 전구세포가 한꺼번에 활성화되어 반동적 골흡수가 일어나고, 수개월 내 다발성 척추 골절이 보고된다. 치료를 끝낼 때는 비스포스포네이트로 전환해 골에 남는 억제 효과를 확보해야 한다.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3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1247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QUIZ   </a:t>
            </a:r>
            <a:r>
              <a:rPr sz="26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자가 평가 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B10-L07  ·  근육·골대사 질환과 결합조직</a:t>
            </a:r>
            <a:r>
              <a:rPr sz="1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     25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71600"/>
            <a:ext cx="10881360" cy="2194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22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통풍으로 알로푸리놀을 시작하자 발작이 더 생겼다. 약을 끊어야 하는가?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3749039"/>
            <a:ext cx="10881360" cy="2514600"/>
          </a:xfrm>
          <a:prstGeom prst="rect">
            <a:avLst/>
          </a:prstGeom>
          <a:solidFill>
            <a:srgbClr val="FFFFFF"/>
          </a:solidFill>
          <a:ln>
            <a:solidFill>
              <a:srgbClr val="C2CD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rIns="228600"/>
          <a:lstStyle/>
          <a:p>
            <a:pPr algn="l"/>
            <a:r>
              <a:rPr sz="16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해설  </a:t>
            </a:r>
            <a:r>
              <a:rPr sz="1600" b="0" i="0">
                <a:solidFill>
                  <a:srgbClr val="2E3F4C"/>
                </a:solidFill>
                <a:latin typeface="Malgun Gothic"/>
                <a:ea typeface="Malgun Gothic"/>
                <a:cs typeface="Malgun Gothic"/>
              </a:rPr>
              <a:t>끊지 않는다. 요산이 낮아지면 조직에 침착된 결정이 녹아 나오면서 일시적으로 발작이 증가하는 것은 예상되는 반응이다. 시작 시 저용량 콜키신이나 NSAID로 수개월간 예방하고, 요산을 6 mg/dL 미만으로 유지하며 용량을 점진적으로 올린다. 이미 복용 중이라면 급성 발작 중에도 중단하지 않고 발작 치료를 병행한다.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3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1247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REFERENCES   </a:t>
            </a:r>
            <a:r>
              <a:rPr sz="26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참고 문헌 (1/2)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B10-L07  ·  근육·골대사 질환과 결합조직</a:t>
            </a:r>
            <a:r>
              <a:rPr sz="1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     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280160"/>
            <a:ext cx="10881360" cy="502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800"/>
              </a:spcAft>
            </a:pPr>
            <a:r>
              <a:rPr sz="18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18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Mercuri E, Bönnemann CG, Muntoni F. Muscular dystrophies. Lancet 2019;394:2025–2038.</a:t>
            </a:r>
          </a:p>
          <a:p>
            <a:pPr>
              <a:spcAft>
                <a:spcPts val="800"/>
              </a:spcAft>
            </a:pPr>
            <a:r>
              <a:rPr sz="18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18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Raggatt LJ, Partridge NC. Cellular and molecular mechanisms of bone remodeling. J Biol Chem 2010;285:25103–25108.</a:t>
            </a:r>
          </a:p>
          <a:p>
            <a:pPr>
              <a:spcAft>
                <a:spcPts val="800"/>
              </a:spcAft>
            </a:pPr>
            <a:r>
              <a:rPr sz="18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18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Cosman F et al. Romosozumab treatment in postmenopausal women with osteoporosis. N Engl J Med 2016;375:1532–1543.</a:t>
            </a:r>
          </a:p>
          <a:p>
            <a:pPr>
              <a:spcAft>
                <a:spcPts val="800"/>
              </a:spcAft>
            </a:pPr>
            <a:r>
              <a:rPr sz="18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18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Dalbeth N, Gosling AL, Gaffo A, Abhishek A. Gout. Lancet 2021;397:1843–1855.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3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1247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REFERENCES   </a:t>
            </a:r>
            <a:r>
              <a:rPr sz="26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참고 문헌 (2/2)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B10-L07  ·  근육·골대사 질환과 결합조직</a:t>
            </a:r>
            <a:r>
              <a:rPr sz="1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     27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280160"/>
            <a:ext cx="10881360" cy="502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800"/>
              </a:spcAft>
            </a:pPr>
            <a:r>
              <a:rPr sz="22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22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Milewicz DM et al. Marfan syndrome. Nat Rev Dis Primers 2021;7:64.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