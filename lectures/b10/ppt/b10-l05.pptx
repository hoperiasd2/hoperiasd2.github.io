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pH로 산증/알칼리증 판단 → 2. PaCO₂·HCO₃⁻로 1차 장애 결정 → 3. 보상 예측식 확인(대사 산증: PaCO₂ ≈ 1.5×HCO₃ + 8 ± 2; 대사 알칼리증: PaCO₂ ↑ 0.7×ΔHCO₃; 급성 호흡 산증: HCO₃ ↑ 1/10 ΔPaCO₂) → 4. 불일치 시 혼합 장애 → 5. 음이온차(AG = Na − Cl − HCO₃, 정상 8–12), 알부민 보정(+2.5 per 1 g/dL 감소) → 6. 델타비(ΔAG/ΔHCO₃)로 동반 장애 탐색.</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만성 저삼투 상태에서 뇌세포는 유기 삼투질(미오이노시톨, 타우린, 글루타민 등)을 배출해 부피를 맞춘다. 혈청 나트륨을 빠르게 올리면 세포가 삼투질을 되찾는 속도보다 세포외액 삼투압이 먼저 높아져 수분이 빠져나가고 수초가 손상된다. 이것이 삼투성 탈수초 증후군이며, 24시간에 8 mmol/L 이내, 고위험군은 6 이내로 제한한다.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마그네슘이다. 세포 내 마그네슘은 ROMK 통로를 통한 칼륨 유출을 억제하는데, 마그네슘이 부족하면 이 억제가 풀려 집합관에서 칼륨이 계속 빠져나간다. 또한 저마그네슘은 PTH 분비도 방해해 저칼슘을 불응성으로 만든다. 따라서 마그네슘을 먼저 교정해야 칼륨과 칼슘 보충이 효과를 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메탄올 또는 에틸렌글리콜 중독을 의심한다. 모체 알코올이 삼투차를 만들고, 알코올 탈수소효소가 만든 포름산·글리콜산·옥살산이 음이온차 산증을 일으킨다. 치료는 포메피졸로 알코올 탈수소효소를 차단하고(에탄올이 대안) 혈액투석으로 모체 화합물과 유기산을 제거하며, 메탄올에는 폴산을 보조 투여한다.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저마그네슘혈증과 저칼슘뇨가 핵심이다. NCC 결함은 티아지드 투여와 같은 효과를 내어 원위곡세관의 칼슘 재흡수를 늘리고 TRPM6 발현을 줄여 마그네슘을 잃게 한다. 반대로 바터 증후군은 루프 이뇨제 유사 표현형으로 고칼슘뇨와 신석회화를 보이고 더 이른 나이에 심한 다뇨로 발현한다. 이뇨제 남용과 구토는 요 염소와 약물 선별 검사로 배제한다.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B10 기타질환학  ·  신장과 호흡</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신장질환과 수분·전해질·산염기 대사</a:t>
            </a:r>
          </a:p>
          <a:p>
            <a:r>
              <a:rPr sz="2000" b="0" i="0">
                <a:solidFill>
                  <a:srgbClr val="C2CDD6"/>
                </a:solidFill>
                <a:latin typeface="Malgun Gothic"/>
                <a:ea typeface="Malgun Gothic"/>
                <a:cs typeface="Malgun Gothic"/>
              </a:rPr>
              <a:t>Renal Disease and Water, Electrolyte and Acid-Base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B10-L05</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신세관 분절별 수송 단백과 그 장애로 생기는 질환을 연결한다.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수분 대사와 저·고나트륨혈증의 접근을 삼투 생리로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칼륨·칼슘·인·마그네슘 조절의 분자 기전을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산염기 장애의 단계적 해석과 음이온차·요 지표의 활용을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만성 신질환의 대사 합병증과 신보호 치료의 기전을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신세관 분절과 수송 단백</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수분 대사: 저·고나트륨혈증</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칼륨·칼슘·인·마그네슘</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산염기 장애의 해석</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만성 신질환의 대사와 신보호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신세관 분절과 수송 단백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세관 되먹임: 치밀반이 NKCC2를 통한 NaCl 전달량을 감지해 </a:t>
            </a:r>
            <a:r>
              <a:rPr sz="2000" b="1" i="0">
                <a:solidFill>
                  <a:srgbClr val="11202B"/>
                </a:solidFill>
                <a:latin typeface="Malgun Gothic"/>
                <a:ea typeface="Malgun Gothic"/>
                <a:cs typeface="Malgun Gothic"/>
              </a:rPr>
              <a:t>세관사구체 되먹임</a:t>
            </a:r>
            <a:r>
              <a:rPr sz="2000" b="0" i="0">
                <a:solidFill>
                  <a:srgbClr val="11202B"/>
                </a:solidFill>
                <a:latin typeface="Malgun Gothic"/>
                <a:ea typeface="Malgun Gothic"/>
                <a:cs typeface="Malgun Gothic"/>
              </a:rPr>
              <a:t>(아데노신 매개 세동맥 수축)과 레닌 분비를 조절한다. SGLT2 억제제가 근위 Na 재흡수를 줄여 치밀반 전달을 늘리고 사구체 내압을 낮추는 것이 신보호의 핵심 기전이다.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바터와 기텔만의 구분: 바터는 루프 이뇨제 유사(다뇨, 고칼슘뇨, 신석회화, 신생아·소아 발병), 기텔만은 티아지드 유사(</a:t>
            </a:r>
            <a:r>
              <a:rPr sz="2000" b="1" i="0">
                <a:solidFill>
                  <a:srgbClr val="11202B"/>
                </a:solidFill>
                <a:latin typeface="Malgun Gothic"/>
                <a:ea typeface="Malgun Gothic"/>
                <a:cs typeface="Malgun Gothic"/>
              </a:rPr>
              <a:t>저마그네슘·저칼슘뇨</a:t>
            </a:r>
            <a:r>
              <a:rPr sz="2000" b="0" i="0">
                <a:solidFill>
                  <a:srgbClr val="11202B"/>
                </a:solidFill>
                <a:latin typeface="Malgun Gothic"/>
                <a:ea typeface="Malgun Gothic"/>
                <a:cs typeface="Malgun Gothic"/>
              </a:rPr>
              <a:t>, 성인기 경한 발병). 둘 다 저칼륨성 대사 알칼리증 + 정상 혈압 + 레닌·알도스테론 상승.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신세관 분절과 수송 단백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분절</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주요 수송체</a:t>
                      </a:r>
                    </a:p>
                  </a:txBody>
                  <a:tcPr marL="73152" marR="73152">
                    <a:solidFill>
                      <a:srgbClr val="003C71"/>
                    </a:solidFill>
                  </a:tcPr>
                </a:tc>
                <a:tc>
                  <a:txBody>
                    <a:bodyPr/>
                    <a:lstStyle/>
                    <a:p>
                      <a:r>
                        <a:rPr sz="1500" b="1" i="0">
                          <a:solidFill>
                            <a:srgbClr val="FFFFFF"/>
                          </a:solidFill>
                          <a:latin typeface="Malgun Gothic"/>
                          <a:ea typeface="Malgun Gothic"/>
                          <a:cs typeface="Malgun Gothic"/>
                        </a:rPr>
                        <a:t>작용 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결함 질환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근위세관</a:t>
                      </a:r>
                    </a:p>
                  </a:txBody>
                  <a:tcPr marL="73152" marR="73152">
                    <a:solidFill>
                      <a:srgbClr val="FFFFFF"/>
                    </a:solidFill>
                  </a:tcPr>
                </a:tc>
                <a:tc>
                  <a:txBody>
                    <a:bodyPr/>
                    <a:lstStyle/>
                    <a:p>
                      <a:r>
                        <a:rPr sz="1500" b="0" i="0">
                          <a:solidFill>
                            <a:srgbClr val="11202B"/>
                          </a:solidFill>
                          <a:latin typeface="Malgun Gothic"/>
                          <a:ea typeface="Malgun Gothic"/>
                          <a:cs typeface="Malgun Gothic"/>
                        </a:rPr>
                        <a:t>NHE3, SGLT2, NaPi-IIa, 아미노산·유기산 수송체, 탄산탈수효소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아세타졸아미드, </a:t>
                      </a:r>
                      <a:r>
                        <a:rPr sz="1500" b="1" i="0">
                          <a:solidFill>
                            <a:srgbClr val="11202B"/>
                          </a:solidFill>
                          <a:latin typeface="Malgun Gothic"/>
                          <a:ea typeface="Malgun Gothic"/>
                          <a:cs typeface="Malgun Gothic"/>
                        </a:rPr>
                        <a:t>SGLT2 억제제</a:t>
                      </a:r>
                    </a:p>
                  </a:txBody>
                  <a:tcPr marL="73152" marR="73152">
                    <a:solidFill>
                      <a:srgbClr val="FFFFFF"/>
                    </a:solidFill>
                  </a:tcPr>
                </a:tc>
                <a:tc>
                  <a:txBody>
                    <a:bodyPr/>
                    <a:lstStyle/>
                    <a:p>
                      <a:r>
                        <a:rPr sz="1500" b="1" i="0">
                          <a:solidFill>
                            <a:srgbClr val="11202B"/>
                          </a:solidFill>
                          <a:latin typeface="Malgun Gothic"/>
                          <a:ea typeface="Malgun Gothic"/>
                          <a:cs typeface="Malgun Gothic"/>
                        </a:rPr>
                        <a:t>판코니 증후군</a:t>
                      </a:r>
                      <a:r>
                        <a:rPr sz="1500" b="0" i="0">
                          <a:solidFill>
                            <a:srgbClr val="11202B"/>
                          </a:solidFill>
                          <a:latin typeface="Malgun Gothic"/>
                          <a:ea typeface="Malgun Gothic"/>
                          <a:cs typeface="Malgun Gothic"/>
                        </a:rPr>
                        <a:t>(당·아미노산·인·중탄산 소실), 시스틴뇨, 덴트병</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헨레 상행 굵은 가지</a:t>
                      </a:r>
                    </a:p>
                  </a:txBody>
                  <a:tcPr marL="73152" marR="73152">
                    <a:solidFill>
                      <a:srgbClr val="ECF1F5"/>
                    </a:solidFill>
                  </a:tcPr>
                </a:tc>
                <a:tc>
                  <a:txBody>
                    <a:bodyPr/>
                    <a:lstStyle/>
                    <a:p>
                      <a:r>
                        <a:rPr sz="1500" b="1" i="0">
                          <a:solidFill>
                            <a:srgbClr val="11202B"/>
                          </a:solidFill>
                          <a:latin typeface="Malgun Gothic"/>
                          <a:ea typeface="Malgun Gothic"/>
                          <a:cs typeface="Malgun Gothic"/>
                        </a:rPr>
                        <a:t>NKCC2</a:t>
                      </a:r>
                      <a:r>
                        <a:rPr sz="1500" b="0" i="0">
                          <a:solidFill>
                            <a:srgbClr val="11202B"/>
                          </a:solidFill>
                          <a:latin typeface="Malgun Gothic"/>
                          <a:ea typeface="Malgun Gothic"/>
                          <a:cs typeface="Malgun Gothic"/>
                        </a:rPr>
                        <a:t>, ROMK, 클라우딘-16/19(Ca·Mg 재흡수)</a:t>
                      </a:r>
                    </a:p>
                  </a:txBody>
                  <a:tcPr marL="73152" marR="73152">
                    <a:solidFill>
                      <a:srgbClr val="ECF1F5"/>
                    </a:solidFill>
                  </a:tcPr>
                </a:tc>
                <a:tc>
                  <a:txBody>
                    <a:bodyPr/>
                    <a:lstStyle/>
                    <a:p>
                      <a:r>
                        <a:rPr sz="1500" b="1" i="0">
                          <a:solidFill>
                            <a:srgbClr val="11202B"/>
                          </a:solidFill>
                          <a:latin typeface="Malgun Gothic"/>
                          <a:ea typeface="Malgun Gothic"/>
                          <a:cs typeface="Malgun Gothic"/>
                        </a:rPr>
                        <a:t>루프 이뇨제</a:t>
                      </a:r>
                    </a:p>
                  </a:txBody>
                  <a:tcPr marL="73152" marR="73152">
                    <a:solidFill>
                      <a:srgbClr val="ECF1F5"/>
                    </a:solidFill>
                  </a:tcPr>
                </a:tc>
                <a:tc>
                  <a:txBody>
                    <a:bodyPr/>
                    <a:lstStyle/>
                    <a:p>
                      <a:r>
                        <a:rPr sz="1500" b="1" i="0">
                          <a:solidFill>
                            <a:srgbClr val="11202B"/>
                          </a:solidFill>
                          <a:latin typeface="Malgun Gothic"/>
                          <a:ea typeface="Malgun Gothic"/>
                          <a:cs typeface="Malgun Gothic"/>
                        </a:rPr>
                        <a:t>바터 증후군</a:t>
                      </a:r>
                      <a:r>
                        <a:rPr sz="1500" b="0" i="0">
                          <a:solidFill>
                            <a:srgbClr val="11202B"/>
                          </a:solidFill>
                          <a:latin typeface="Malgun Gothic"/>
                          <a:ea typeface="Malgun Gothic"/>
                          <a:cs typeface="Malgun Gothic"/>
                        </a:rPr>
                        <a:t>, 가족성 저마그네슘혈증</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원위곡세관</a:t>
                      </a:r>
                    </a:p>
                  </a:txBody>
                  <a:tcPr marL="73152" marR="73152">
                    <a:solidFill>
                      <a:srgbClr val="FFFFFF"/>
                    </a:solidFill>
                  </a:tcPr>
                </a:tc>
                <a:tc>
                  <a:txBody>
                    <a:bodyPr/>
                    <a:lstStyle/>
                    <a:p>
                      <a:r>
                        <a:rPr sz="1500" b="1" i="0">
                          <a:solidFill>
                            <a:srgbClr val="11202B"/>
                          </a:solidFill>
                          <a:latin typeface="Malgun Gothic"/>
                          <a:ea typeface="Malgun Gothic"/>
                          <a:cs typeface="Malgun Gothic"/>
                        </a:rPr>
                        <a:t>NCC</a:t>
                      </a:r>
                      <a:r>
                        <a:rPr sz="1500" b="0" i="0">
                          <a:solidFill>
                            <a:srgbClr val="11202B"/>
                          </a:solidFill>
                          <a:latin typeface="Malgun Gothic"/>
                          <a:ea typeface="Malgun Gothic"/>
                          <a:cs typeface="Malgun Gothic"/>
                        </a:rPr>
                        <a:t>, TRPM6</a:t>
                      </a:r>
                    </a:p>
                  </a:txBody>
                  <a:tcPr marL="73152" marR="73152">
                    <a:solidFill>
                      <a:srgbClr val="FFFFFF"/>
                    </a:solidFill>
                  </a:tcPr>
                </a:tc>
                <a:tc>
                  <a:txBody>
                    <a:bodyPr/>
                    <a:lstStyle/>
                    <a:p>
                      <a:r>
                        <a:rPr sz="1500" b="1" i="0">
                          <a:solidFill>
                            <a:srgbClr val="11202B"/>
                          </a:solidFill>
                          <a:latin typeface="Malgun Gothic"/>
                          <a:ea typeface="Malgun Gothic"/>
                          <a:cs typeface="Malgun Gothic"/>
                        </a:rPr>
                        <a:t>티아지드</a:t>
                      </a:r>
                    </a:p>
                  </a:txBody>
                  <a:tcPr marL="73152" marR="73152">
                    <a:solidFill>
                      <a:srgbClr val="FFFFFF"/>
                    </a:solidFill>
                  </a:tcPr>
                </a:tc>
                <a:tc>
                  <a:txBody>
                    <a:bodyPr/>
                    <a:lstStyle/>
                    <a:p>
                      <a:r>
                        <a:rPr sz="1500" b="1" i="0">
                          <a:solidFill>
                            <a:srgbClr val="11202B"/>
                          </a:solidFill>
                          <a:latin typeface="Malgun Gothic"/>
                          <a:ea typeface="Malgun Gothic"/>
                          <a:cs typeface="Malgun Gothic"/>
                        </a:rPr>
                        <a:t>기텔만 증후군</a:t>
                      </a:r>
                      <a:r>
                        <a:rPr sz="1500" b="0" i="0">
                          <a:solidFill>
                            <a:srgbClr val="11202B"/>
                          </a:solidFill>
                          <a:latin typeface="Malgun Gothic"/>
                          <a:ea typeface="Malgun Gothic"/>
                          <a:cs typeface="Malgun Gothic"/>
                        </a:rPr>
                        <a:t>, 가성저알도스테론증 II형(고든 — WNK/KLHL3)</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집합관 주세포</a:t>
                      </a:r>
                    </a:p>
                  </a:txBody>
                  <a:tcPr marL="73152" marR="73152">
                    <a:solidFill>
                      <a:srgbClr val="ECF1F5"/>
                    </a:solidFill>
                  </a:tcPr>
                </a:tc>
                <a:tc>
                  <a:txBody>
                    <a:bodyPr/>
                    <a:lstStyle/>
                    <a:p>
                      <a:r>
                        <a:rPr sz="1500" b="1" i="0">
                          <a:solidFill>
                            <a:srgbClr val="11202B"/>
                          </a:solidFill>
                          <a:latin typeface="Malgun Gothic"/>
                          <a:ea typeface="Malgun Gothic"/>
                          <a:cs typeface="Malgun Gothic"/>
                        </a:rPr>
                        <a:t>ENaC</a:t>
                      </a:r>
                      <a:r>
                        <a:rPr sz="1500" b="0" i="0">
                          <a:solidFill>
                            <a:srgbClr val="11202B"/>
                          </a:solidFill>
                          <a:latin typeface="Malgun Gothic"/>
                          <a:ea typeface="Malgun Gothic"/>
                          <a:cs typeface="Malgun Gothic"/>
                        </a:rPr>
                        <a:t>, ROMK, </a:t>
                      </a:r>
                      <a:r>
                        <a:rPr sz="1500" b="1" i="0">
                          <a:solidFill>
                            <a:srgbClr val="11202B"/>
                          </a:solidFill>
                          <a:latin typeface="Malgun Gothic"/>
                          <a:ea typeface="Malgun Gothic"/>
                          <a:cs typeface="Malgun Gothic"/>
                        </a:rPr>
                        <a:t>AQP2</a:t>
                      </a:r>
                      <a:r>
                        <a:rPr sz="1500" b="0" i="0">
                          <a:solidFill>
                            <a:srgbClr val="11202B"/>
                          </a:solidFill>
                          <a:latin typeface="Malgun Gothic"/>
                          <a:ea typeface="Malgun Gothic"/>
                          <a:cs typeface="Malgun Gothic"/>
                        </a:rPr>
                        <a:t>, 알도스테론 수용체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아밀로라이드, 스피로노락톤, </a:t>
                      </a:r>
                      <a:r>
                        <a:rPr sz="1500" b="1" i="0">
                          <a:solidFill>
                            <a:srgbClr val="11202B"/>
                          </a:solidFill>
                          <a:latin typeface="Malgun Gothic"/>
                          <a:ea typeface="Malgun Gothic"/>
                          <a:cs typeface="Malgun Gothic"/>
                        </a:rPr>
                        <a:t>토바프탄</a:t>
                      </a:r>
                    </a:p>
                  </a:txBody>
                  <a:tcPr marL="73152" marR="73152">
                    <a:solidFill>
                      <a:srgbClr val="ECF1F5"/>
                    </a:solidFill>
                  </a:tcPr>
                </a:tc>
                <a:tc>
                  <a:txBody>
                    <a:bodyPr/>
                    <a:lstStyle/>
                    <a:p>
                      <a:r>
                        <a:rPr sz="1500" b="0" i="0">
                          <a:solidFill>
                            <a:srgbClr val="11202B"/>
                          </a:solidFill>
                          <a:latin typeface="Malgun Gothic"/>
                          <a:ea typeface="Malgun Gothic"/>
                          <a:cs typeface="Malgun Gothic"/>
                        </a:rPr>
                        <a:t>리들 증후군(ENaC 기능 획득), 신성 요붕증(AVPR2·AQP2)</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집합관 간세포</a:t>
                      </a:r>
                    </a:p>
                  </a:txBody>
                  <a:tcPr marL="73152" marR="73152">
                    <a:solidFill>
                      <a:srgbClr val="FFFFFF"/>
                    </a:solidFill>
                  </a:tcPr>
                </a:tc>
                <a:tc>
                  <a:txBody>
                    <a:bodyPr/>
                    <a:lstStyle/>
                    <a:p>
                      <a:r>
                        <a:rPr sz="1500" b="0" i="0">
                          <a:solidFill>
                            <a:srgbClr val="11202B"/>
                          </a:solidFill>
                          <a:latin typeface="Malgun Gothic"/>
                          <a:ea typeface="Malgun Gothic"/>
                          <a:cs typeface="Malgun Gothic"/>
                        </a:rPr>
                        <a:t>H⁺-ATPase, AE1, 펜드린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1" i="0">
                          <a:solidFill>
                            <a:srgbClr val="11202B"/>
                          </a:solidFill>
                          <a:latin typeface="Malgun Gothic"/>
                          <a:ea typeface="Malgun Gothic"/>
                          <a:cs typeface="Malgun Gothic"/>
                        </a:rPr>
                        <a:t>1형(원위) 신세관 산증</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수분 대사: 저·고나트륨혈증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바소프레신: 삼투 자극(삼투압 ~280부터 선형) + 비삼투 자극(유효 순환량 감소, 구역, 통증, 수술) → V2 수용체 → cAMP → </a:t>
            </a:r>
            <a:r>
              <a:rPr sz="1800" b="1" i="0">
                <a:solidFill>
                  <a:srgbClr val="11202B"/>
                </a:solidFill>
                <a:latin typeface="Malgun Gothic"/>
                <a:ea typeface="Malgun Gothic"/>
                <a:cs typeface="Malgun Gothic"/>
              </a:rPr>
              <a:t>AQP2</a:t>
            </a:r>
            <a:r>
              <a:rPr sz="1800" b="0" i="0">
                <a:solidFill>
                  <a:srgbClr val="11202B"/>
                </a:solidFill>
                <a:latin typeface="Malgun Gothic"/>
                <a:ea typeface="Malgun Gothic"/>
                <a:cs typeface="Malgun Gothic"/>
              </a:rPr>
              <a:t> 정점막 이동.</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저나트륨혈증 접근</a:t>
            </a:r>
            <a:r>
              <a:rPr sz="1800" b="0" i="0">
                <a:solidFill>
                  <a:srgbClr val="11202B"/>
                </a:solidFill>
                <a:latin typeface="Malgun Gothic"/>
                <a:ea typeface="Malgun Gothic"/>
                <a:cs typeface="Malgun Gothic"/>
              </a:rPr>
              <a:t>: ① 혈청 삼투압(가성·전환성 배제 — 고혈당, 고단백, 만니톨), ② 체액량 평가, ③ </a:t>
            </a:r>
            <a:r>
              <a:rPr sz="1800" b="1" i="0">
                <a:solidFill>
                  <a:srgbClr val="11202B"/>
                </a:solidFill>
                <a:latin typeface="Malgun Gothic"/>
                <a:ea typeface="Malgun Gothic"/>
                <a:cs typeface="Malgun Gothic"/>
              </a:rPr>
              <a:t>요 삼투압</a:t>
            </a:r>
            <a:r>
              <a:rPr sz="1800" b="0" i="0">
                <a:solidFill>
                  <a:srgbClr val="11202B"/>
                </a:solidFill>
                <a:latin typeface="Malgun Gothic"/>
                <a:ea typeface="Malgun Gothic"/>
                <a:cs typeface="Malgun Gothic"/>
              </a:rPr>
              <a:t>(&lt;100 = 수분 과다 섭취·맥주 음주자, &gt;100 = AVP 작용 중), ④ </a:t>
            </a:r>
            <a:r>
              <a:rPr sz="1800" b="1" i="0">
                <a:solidFill>
                  <a:srgbClr val="11202B"/>
                </a:solidFill>
                <a:latin typeface="Malgun Gothic"/>
                <a:ea typeface="Malgun Gothic"/>
                <a:cs typeface="Malgun Gothic"/>
              </a:rPr>
              <a:t>요 나트륨</a:t>
            </a:r>
            <a:r>
              <a:rPr sz="1800" b="0" i="0">
                <a:solidFill>
                  <a:srgbClr val="11202B"/>
                </a:solidFill>
                <a:latin typeface="Malgun Gothic"/>
                <a:ea typeface="Malgun Gothic"/>
                <a:cs typeface="Malgun Gothic"/>
              </a:rPr>
              <a:t>(&lt;30 = 유효 순환량 감소·저혈량·심부전·간경변, &gt;30 = SIADH·이뇨제·부신 부족), ⑤ 요산·갑상선·코르티솔.</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SIADH 원인: 폐(소세포암, 폐렴), CNS(뇌졸중, 수술, 수막염), 약물(SSRI, 카르바마제핀, 사이클로포스파마이드, MDMA), 통증·구역. </a:t>
            </a:r>
            <a:r>
              <a:rPr sz="1800" b="1" i="0">
                <a:solidFill>
                  <a:srgbClr val="11202B"/>
                </a:solidFill>
                <a:latin typeface="Malgun Gothic"/>
                <a:ea typeface="Malgun Gothic"/>
                <a:cs typeface="Malgun Gothic"/>
              </a:rPr>
              <a:t>뇌성 염분 소모</a:t>
            </a:r>
            <a:r>
              <a:rPr sz="1800" b="0" i="0">
                <a:solidFill>
                  <a:srgbClr val="11202B"/>
                </a:solidFill>
                <a:latin typeface="Malgun Gothic"/>
                <a:ea typeface="Malgun Gothic"/>
                <a:cs typeface="Malgun Gothic"/>
              </a:rPr>
              <a:t>와의 구분은 체액량(CSW는 저혈량·다뇨) — 치료가 반대이므로 중요하다.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수분 대사: 저·고나트륨혈증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치료 원칙: 증상(발작·혼수)이 있으면 </a:t>
            </a:r>
            <a:r>
              <a:rPr sz="2000" b="1" i="0">
                <a:solidFill>
                  <a:srgbClr val="11202B"/>
                </a:solidFill>
                <a:latin typeface="Malgun Gothic"/>
                <a:ea typeface="Malgun Gothic"/>
                <a:cs typeface="Malgun Gothic"/>
              </a:rPr>
              <a:t>3% 생리식염수 볼루스</a:t>
            </a:r>
            <a:r>
              <a:rPr sz="2000" b="0" i="0">
                <a:solidFill>
                  <a:srgbClr val="11202B"/>
                </a:solidFill>
                <a:latin typeface="Malgun Gothic"/>
                <a:ea typeface="Malgun Gothic"/>
                <a:cs typeface="Malgun Gothic"/>
              </a:rPr>
              <a:t>로 Na를 4–6 mmol/L 빠르게 올려 뇌부종을 해결한다. 교정 속도는 24시간에 </a:t>
            </a:r>
            <a:r>
              <a:rPr sz="2000" b="1" i="0">
                <a:solidFill>
                  <a:srgbClr val="11202B"/>
                </a:solidFill>
                <a:latin typeface="Malgun Gothic"/>
                <a:ea typeface="Malgun Gothic"/>
                <a:cs typeface="Malgun Gothic"/>
              </a:rPr>
              <a:t>8 mmol/L 이내</a:t>
            </a:r>
            <a:r>
              <a:rPr sz="2000" b="0" i="0">
                <a:solidFill>
                  <a:srgbClr val="11202B"/>
                </a:solidFill>
                <a:latin typeface="Malgun Gothic"/>
                <a:ea typeface="Malgun Gothic"/>
                <a:cs typeface="Malgun Gothic"/>
              </a:rPr>
              <a:t>(위험군은 6 이내) — 초과 시 </a:t>
            </a:r>
            <a:r>
              <a:rPr sz="2000" b="1" i="0">
                <a:solidFill>
                  <a:srgbClr val="11202B"/>
                </a:solidFill>
                <a:latin typeface="Malgun Gothic"/>
                <a:ea typeface="Malgun Gothic"/>
                <a:cs typeface="Malgun Gothic"/>
              </a:rPr>
              <a:t>삼투성 탈수초 증후군</a:t>
            </a:r>
            <a:r>
              <a:rPr sz="2000" b="0" i="0">
                <a:solidFill>
                  <a:srgbClr val="11202B"/>
                </a:solidFill>
                <a:latin typeface="Malgun Gothic"/>
                <a:ea typeface="Malgun Gothic"/>
                <a:cs typeface="Malgun Gothic"/>
              </a:rPr>
              <a:t>(과교정으로 뇌세포의 삼투 적응이 깨짐; 만성·알코올·영양실조·저칼륨에서 위험). 과교정 시 포도당수액·데스모프레신으로 되돌린다.</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고나트륨혈증</a:t>
            </a:r>
            <a:r>
              <a:rPr sz="2000" b="0" i="0">
                <a:solidFill>
                  <a:srgbClr val="11202B"/>
                </a:solidFill>
                <a:latin typeface="Malgun Gothic"/>
                <a:ea typeface="Malgun Gothic"/>
                <a:cs typeface="Malgun Gothic"/>
              </a:rPr>
              <a:t>: 거의 항상 수분 소실 + 갈증·물 접근 제한(노인, 삽관, 영아). 요붕증(중추성 — 데스모프레신 반응; 신성 — 리튬·고칼슘·저칼륨·유전성). 자유수분 결핍을 계산해 </a:t>
            </a:r>
            <a:r>
              <a:rPr sz="2000" b="1" i="0">
                <a:solidFill>
                  <a:srgbClr val="11202B"/>
                </a:solidFill>
                <a:latin typeface="Malgun Gothic"/>
                <a:ea typeface="Malgun Gothic"/>
                <a:cs typeface="Malgun Gothic"/>
              </a:rPr>
              <a:t>48–72시간에 걸쳐</a:t>
            </a:r>
            <a:r>
              <a:rPr sz="2000" b="0" i="0">
                <a:solidFill>
                  <a:srgbClr val="11202B"/>
                </a:solidFill>
                <a:latin typeface="Malgun Gothic"/>
                <a:ea typeface="Malgun Gothic"/>
                <a:cs typeface="Malgun Gothic"/>
              </a:rPr>
              <a:t> 교정(급성은 더 빠르게 가능).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수분 대사: 저·고나트륨혈증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8</a:t>
            </a:r>
          </a:p>
        </p:txBody>
      </p:sp>
      <p:sp>
        <p:nvSpPr>
          <p:cNvPr id="7" name="Rectangle 6"/>
          <p:cNvSpPr/>
          <p:nvPr/>
        </p:nvSpPr>
        <p:spPr>
          <a:xfrm>
            <a:off x="640080" y="1325880"/>
            <a:ext cx="10881360" cy="15621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혈청 나트륨은 나트륨의 양이 아니라 </a:t>
            </a:r>
            <a:r>
              <a:rPr sz="2000" b="1" i="0">
                <a:solidFill>
                  <a:srgbClr val="11202B"/>
                </a:solidFill>
                <a:latin typeface="Malgun Gothic"/>
                <a:ea typeface="Malgun Gothic"/>
                <a:cs typeface="Malgun Gothic"/>
              </a:rPr>
              <a:t>물의 양</a:t>
            </a:r>
            <a:r>
              <a:rPr sz="2000" b="0" i="0">
                <a:solidFill>
                  <a:srgbClr val="11202B"/>
                </a:solidFill>
                <a:latin typeface="Malgun Gothic"/>
                <a:ea typeface="Malgun Gothic"/>
                <a:cs typeface="Malgun Gothic"/>
              </a:rPr>
              <a:t>을 반영한다. 나트륨 이상은 거의 언제나 물의 문제이고, 체액량 이상은 나트륨의 문제다.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칼륨·칼슘·인·마그네슘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칼륨 분포: 98%가 세포 내. 세포 내 이동 촉진 — 인슐린, β2 작용제, 알칼리증; 유출 — 산증, 세포 파괴, 고삼투압, 디곡신(펌프 억제).</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신장 배출은 집합관 주세포: 알도스테론 + </a:t>
            </a:r>
            <a:r>
              <a:rPr sz="2000" b="1" i="0">
                <a:solidFill>
                  <a:srgbClr val="11202B"/>
                </a:solidFill>
                <a:latin typeface="Malgun Gothic"/>
                <a:ea typeface="Malgun Gothic"/>
                <a:cs typeface="Malgun Gothic"/>
              </a:rPr>
              <a:t>원위 Na 전달</a:t>
            </a:r>
            <a:r>
              <a:rPr sz="2000" b="0" i="0">
                <a:solidFill>
                  <a:srgbClr val="11202B"/>
                </a:solidFill>
                <a:latin typeface="Malgun Gothic"/>
                <a:ea typeface="Malgun Gothic"/>
                <a:cs typeface="Malgun Gothic"/>
              </a:rPr>
              <a:t> + 요 유량이 모두 필요하다. 그래서 알도스테론만 높아도 Na 전달이 적으면 칼륨이 빠지지 않는다.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칼슘·인: PTH(인 배출 ↑, 칼슘 재흡수 ↑, 1α-수산화효소 ↑), </a:t>
            </a:r>
            <a:r>
              <a:rPr sz="2000" b="1" i="0">
                <a:solidFill>
                  <a:srgbClr val="11202B"/>
                </a:solidFill>
                <a:latin typeface="Malgun Gothic"/>
                <a:ea typeface="Malgun Gothic"/>
                <a:cs typeface="Malgun Gothic"/>
              </a:rPr>
              <a:t>1,25-비타민 D</a:t>
            </a:r>
            <a:r>
              <a:rPr sz="2000" b="0" i="0">
                <a:solidFill>
                  <a:srgbClr val="11202B"/>
                </a:solidFill>
                <a:latin typeface="Malgun Gothic"/>
                <a:ea typeface="Malgun Gothic"/>
                <a:cs typeface="Malgun Gothic"/>
              </a:rPr>
              <a:t>(장 흡수 ↑), </a:t>
            </a:r>
            <a:r>
              <a:rPr sz="2000" b="1" i="0">
                <a:solidFill>
                  <a:srgbClr val="11202B"/>
                </a:solidFill>
                <a:latin typeface="Malgun Gothic"/>
                <a:ea typeface="Malgun Gothic"/>
                <a:cs typeface="Malgun Gothic"/>
              </a:rPr>
              <a:t>FGF23-클로토</a:t>
            </a:r>
            <a:r>
              <a:rPr sz="2000" b="0" i="0">
                <a:solidFill>
                  <a:srgbClr val="11202B"/>
                </a:solidFill>
                <a:latin typeface="Malgun Gothic"/>
                <a:ea typeface="Malgun Gothic"/>
                <a:cs typeface="Malgun Gothic"/>
              </a:rPr>
              <a:t>(인 배출 ↑, 1,25-D ↓). 만성 신질환에서 FGF23이 가장 먼저 오르고, 이어 PTH 상승·1,25-D 저하가 따라온다.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칼륨·칼슘·인·마그네슘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마그네슘: 주로 헨레 상행 가지의 수동 수송(클라우딘-16/19)과 DCT의 TRPM6. PPI 장기 사용, 시스플라틴, 세툭시맙(EGFR 억제 → TRPM6 감소), 알코올, 설사에서 결핍. </a:t>
            </a:r>
            <a:r>
              <a:rPr sz="2200" b="1" i="0">
                <a:solidFill>
                  <a:srgbClr val="11202B"/>
                </a:solidFill>
                <a:latin typeface="Malgun Gothic"/>
                <a:ea typeface="Malgun Gothic"/>
                <a:cs typeface="Malgun Gothic"/>
              </a:rPr>
              <a:t>저마그네슘은 PTH 분비 장애와 ROMK 활성 변화로 저칼슘·저칼륨을 불응성으로 만든다</a:t>
            </a:r>
            <a:r>
              <a:rPr sz="2200" b="0" i="0">
                <a:solidFill>
                  <a:srgbClr val="11202B"/>
                </a:solidFill>
                <a:latin typeface="Malgun Gothic"/>
                <a:ea typeface="Malgun Gothic"/>
                <a:cs typeface="Malgun Gothic"/>
              </a:rPr>
              <a:t> — 교정 순서에서 마그네슘이 먼저다.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칼륨·칼슘·인·마그네슘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고칼륨혈증 치료</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시간</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칼슘 글루코네이트</a:t>
                      </a:r>
                    </a:p>
                  </a:txBody>
                  <a:tcPr marL="73152" marR="73152">
                    <a:solidFill>
                      <a:srgbClr val="FFFFFF"/>
                    </a:solidFill>
                  </a:tcPr>
                </a:tc>
                <a:tc>
                  <a:txBody>
                    <a:bodyPr/>
                    <a:lstStyle/>
                    <a:p>
                      <a:r>
                        <a:rPr sz="1500" b="0" i="0">
                          <a:solidFill>
                            <a:srgbClr val="11202B"/>
                          </a:solidFill>
                          <a:latin typeface="Malgun Gothic"/>
                          <a:ea typeface="Malgun Gothic"/>
                          <a:cs typeface="Malgun Gothic"/>
                        </a:rPr>
                        <a:t>심근 막전위 안정화(칼륨을 낮추지 않음)</a:t>
                      </a:r>
                    </a:p>
                  </a:txBody>
                  <a:tcPr marL="73152" marR="73152">
                    <a:solidFill>
                      <a:srgbClr val="FFFFFF"/>
                    </a:solidFill>
                  </a:tcPr>
                </a:tc>
                <a:tc>
                  <a:txBody>
                    <a:bodyPr/>
                    <a:lstStyle/>
                    <a:p>
                      <a:r>
                        <a:rPr sz="1500" b="0" i="0">
                          <a:solidFill>
                            <a:srgbClr val="11202B"/>
                          </a:solidFill>
                          <a:latin typeface="Malgun Gothic"/>
                          <a:ea typeface="Malgun Gothic"/>
                          <a:cs typeface="Malgun Gothic"/>
                        </a:rPr>
                        <a:t>즉시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인슐린 + 포도당</a:t>
                      </a:r>
                    </a:p>
                  </a:txBody>
                  <a:tcPr marL="73152" marR="73152">
                    <a:solidFill>
                      <a:srgbClr val="ECF1F5"/>
                    </a:solidFill>
                  </a:tcPr>
                </a:tc>
                <a:tc>
                  <a:txBody>
                    <a:bodyPr/>
                    <a:lstStyle/>
                    <a:p>
                      <a:r>
                        <a:rPr sz="1500" b="0" i="0">
                          <a:solidFill>
                            <a:srgbClr val="11202B"/>
                          </a:solidFill>
                          <a:latin typeface="Malgun Gothic"/>
                          <a:ea typeface="Malgun Gothic"/>
                          <a:cs typeface="Malgun Gothic"/>
                        </a:rPr>
                        <a:t>Na⁺/K⁺-ATPase 자극 → 세포 내 이동</a:t>
                      </a:r>
                    </a:p>
                  </a:txBody>
                  <a:tcPr marL="73152" marR="73152">
                    <a:solidFill>
                      <a:srgbClr val="ECF1F5"/>
                    </a:solidFill>
                  </a:tcPr>
                </a:tc>
                <a:tc>
                  <a:txBody>
                    <a:bodyPr/>
                    <a:lstStyle/>
                    <a:p>
                      <a:r>
                        <a:rPr sz="1500" b="0" i="0">
                          <a:solidFill>
                            <a:srgbClr val="11202B"/>
                          </a:solidFill>
                          <a:latin typeface="Malgun Gothic"/>
                          <a:ea typeface="Malgun Gothic"/>
                          <a:cs typeface="Malgun Gothic"/>
                        </a:rPr>
                        <a:t>15–30분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β2 작용제(살부타몰 고용량)</a:t>
                      </a:r>
                    </a:p>
                  </a:txBody>
                  <a:tcPr marL="73152" marR="73152">
                    <a:solidFill>
                      <a:srgbClr val="FFFFFF"/>
                    </a:solidFill>
                  </a:tcPr>
                </a:tc>
                <a:tc>
                  <a:txBody>
                    <a:bodyPr/>
                    <a:lstStyle/>
                    <a:p>
                      <a:r>
                        <a:rPr sz="1500" b="0" i="0">
                          <a:solidFill>
                            <a:srgbClr val="11202B"/>
                          </a:solidFill>
                          <a:latin typeface="Malgun Gothic"/>
                          <a:ea typeface="Malgun Gothic"/>
                          <a:cs typeface="Malgun Gothic"/>
                        </a:rPr>
                        <a:t>같은 기전, 보조</a:t>
                      </a:r>
                    </a:p>
                  </a:txBody>
                  <a:tcPr marL="73152" marR="73152">
                    <a:solidFill>
                      <a:srgbClr val="FFFFFF"/>
                    </a:solidFill>
                  </a:tcPr>
                </a:tc>
                <a:tc>
                  <a:txBody>
                    <a:bodyPr/>
                    <a:lstStyle/>
                    <a:p>
                      <a:r>
                        <a:rPr sz="1500" b="0" i="0">
                          <a:solidFill>
                            <a:srgbClr val="11202B"/>
                          </a:solidFill>
                          <a:latin typeface="Malgun Gothic"/>
                          <a:ea typeface="Malgun Gothic"/>
                          <a:cs typeface="Malgun Gothic"/>
                        </a:rPr>
                        <a:t>30분</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중탄산</a:t>
                      </a:r>
                    </a:p>
                  </a:txBody>
                  <a:tcPr marL="73152" marR="73152">
                    <a:solidFill>
                      <a:srgbClr val="ECF1F5"/>
                    </a:solidFill>
                  </a:tcPr>
                </a:tc>
                <a:tc>
                  <a:txBody>
                    <a:bodyPr/>
                    <a:lstStyle/>
                    <a:p>
                      <a:r>
                        <a:rPr sz="1500" b="0" i="0">
                          <a:solidFill>
                            <a:srgbClr val="11202B"/>
                          </a:solidFill>
                          <a:latin typeface="Malgun Gothic"/>
                          <a:ea typeface="Malgun Gothic"/>
                          <a:cs typeface="Malgun Gothic"/>
                        </a:rPr>
                        <a:t>산증 교정 시에만 유효</a:t>
                      </a:r>
                    </a:p>
                  </a:txBody>
                  <a:tcPr marL="73152" marR="73152">
                    <a:solidFill>
                      <a:srgbClr val="ECF1F5"/>
                    </a:solidFill>
                  </a:tcPr>
                </a:tc>
                <a:tc>
                  <a:txBody>
                    <a:bodyPr/>
                    <a:lstStyle/>
                    <a:p>
                      <a:r>
                        <a:rPr sz="1500" b="0" i="0">
                          <a:solidFill>
                            <a:srgbClr val="11202B"/>
                          </a:solidFill>
                          <a:latin typeface="Malgun Gothic"/>
                          <a:ea typeface="Malgun Gothic"/>
                          <a:cs typeface="Malgun Gothic"/>
                        </a:rPr>
                        <a:t>느림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루프 이뇨제, 신대체요법, 결합제(파티로머·지르코늄)</a:t>
                      </a:r>
                    </a:p>
                  </a:txBody>
                  <a:tcPr marL="73152" marR="73152">
                    <a:solidFill>
                      <a:srgbClr val="FFFFFF"/>
                    </a:solidFill>
                  </a:tcPr>
                </a:tc>
                <a:tc>
                  <a:txBody>
                    <a:bodyPr/>
                    <a:lstStyle/>
                    <a:p>
                      <a:r>
                        <a:rPr sz="1500" b="1" i="0">
                          <a:solidFill>
                            <a:srgbClr val="11202B"/>
                          </a:solidFill>
                          <a:latin typeface="Malgun Gothic"/>
                          <a:ea typeface="Malgun Gothic"/>
                          <a:cs typeface="Malgun Gothic"/>
                        </a:rPr>
                        <a:t>실제 제거</a:t>
                      </a:r>
                    </a:p>
                  </a:txBody>
                  <a:tcPr marL="73152" marR="73152">
                    <a:solidFill>
                      <a:srgbClr val="FFFFFF"/>
                    </a:solidFill>
                  </a:tcPr>
                </a:tc>
                <a:tc>
                  <a:txBody>
                    <a:bodyPr/>
                    <a:lstStyle/>
                    <a:p>
                      <a:r>
                        <a:rPr sz="1500" b="0" i="0">
                          <a:solidFill>
                            <a:srgbClr val="11202B"/>
                          </a:solidFill>
                          <a:latin typeface="Malgun Gothic"/>
                          <a:ea typeface="Malgun Gothic"/>
                          <a:cs typeface="Malgun Gothic"/>
                        </a:rPr>
                        <a:t>수시간~</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산염기 장애의 해석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요 음이온차</a:t>
            </a:r>
            <a:r>
              <a:rPr sz="2200" b="0" i="0">
                <a:solidFill>
                  <a:srgbClr val="11202B"/>
                </a:solidFill>
                <a:latin typeface="Malgun Gothic"/>
                <a:ea typeface="Malgun Gothic"/>
                <a:cs typeface="Malgun Gothic"/>
              </a:rPr>
              <a:t>(Na + K − Cl)로 신장 외 vs 신장 원인 구분: 음수 = 요 NH₄⁺ 배출 양호(설사), 양수 = 신장 산 배출 장애(RTA).</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에틸렌글리콜·메탄올: 삼투차와 음이온차 동시 상승 → </a:t>
            </a:r>
            <a:r>
              <a:rPr sz="2200" b="1" i="0">
                <a:solidFill>
                  <a:srgbClr val="11202B"/>
                </a:solidFill>
                <a:latin typeface="Malgun Gothic"/>
                <a:ea typeface="Malgun Gothic"/>
                <a:cs typeface="Malgun Gothic"/>
              </a:rPr>
              <a:t>포메피졸</a:t>
            </a:r>
            <a:r>
              <a:rPr sz="2200" b="0" i="0">
                <a:solidFill>
                  <a:srgbClr val="11202B"/>
                </a:solidFill>
                <a:latin typeface="Malgun Gothic"/>
                <a:ea typeface="Malgun Gothic"/>
                <a:cs typeface="Malgun Gothic"/>
              </a:rPr>
              <a:t>(알코올 탈수소효소 억제) + 혈액투석. 옥살산 칼슘 결정(에틸렌글리콜)과 시각 손상(메탄올 → 포름산)이 특징.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산염기 장애의 해석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증가 AG 대사 산증</a:t>
                      </a:r>
                    </a:p>
                  </a:txBody>
                  <a:tcPr marL="73152" marR="73152">
                    <a:solidFill>
                      <a:srgbClr val="003C71"/>
                    </a:solidFill>
                  </a:tcPr>
                </a:tc>
                <a:tc>
                  <a:txBody>
                    <a:bodyPr/>
                    <a:lstStyle/>
                    <a:p>
                      <a:r>
                        <a:rPr sz="1500" b="1" i="0">
                          <a:solidFill>
                            <a:srgbClr val="FFFFFF"/>
                          </a:solidFill>
                          <a:latin typeface="Malgun Gothic"/>
                          <a:ea typeface="Malgun Gothic"/>
                          <a:cs typeface="Malgun Gothic"/>
                        </a:rPr>
                        <a:t>정상 AG(고염소성) 대사 산증</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젖산(A형 저산소, B형 메트포르민·악성·티아민 결핍), 케톤(당뇨·알코올·금식), 요독, 독성 알코올(메탄올·에틸렌글리콜 — </a:t>
                      </a:r>
                      <a:r>
                        <a:rPr sz="1500" b="1" i="0">
                          <a:solidFill>
                            <a:srgbClr val="11202B"/>
                          </a:solidFill>
                          <a:latin typeface="Malgun Gothic"/>
                          <a:ea typeface="Malgun Gothic"/>
                          <a:cs typeface="Malgun Gothic"/>
                        </a:rPr>
                        <a:t>삼투차 ↑</a:t>
                      </a:r>
                      <a:r>
                        <a:rPr sz="1500" b="0" i="0">
                          <a:solidFill>
                            <a:srgbClr val="11202B"/>
                          </a:solidFill>
                          <a:latin typeface="Malgun Gothic"/>
                          <a:ea typeface="Malgun Gothic"/>
                          <a:cs typeface="Malgun Gothic"/>
                        </a:rPr>
                        <a:t>), 살리실산, 피로글루탐산(아세트아미노펜·영양실조)</a:t>
                      </a:r>
                    </a:p>
                  </a:txBody>
                  <a:tcPr marL="73152" marR="73152">
                    <a:solidFill>
                      <a:srgbClr val="FFFFFF"/>
                    </a:solidFill>
                  </a:tcPr>
                </a:tc>
                <a:tc>
                  <a:txBody>
                    <a:bodyPr/>
                    <a:lstStyle/>
                    <a:p>
                      <a:r>
                        <a:rPr sz="1500" b="0" i="0">
                          <a:solidFill>
                            <a:srgbClr val="11202B"/>
                          </a:solidFill>
                          <a:latin typeface="Malgun Gothic"/>
                          <a:ea typeface="Malgun Gothic"/>
                          <a:cs typeface="Malgun Gothic"/>
                        </a:rPr>
                        <a:t>설사, </a:t>
                      </a:r>
                      <a:r>
                        <a:rPr sz="1500" b="1" i="0">
                          <a:solidFill>
                            <a:srgbClr val="11202B"/>
                          </a:solidFill>
                          <a:latin typeface="Malgun Gothic"/>
                          <a:ea typeface="Malgun Gothic"/>
                          <a:cs typeface="Malgun Gothic"/>
                        </a:rPr>
                        <a:t>신세관 산증</a:t>
                      </a:r>
                      <a:r>
                        <a:rPr sz="1500" b="0" i="0">
                          <a:solidFill>
                            <a:srgbClr val="11202B"/>
                          </a:solidFill>
                          <a:latin typeface="Malgun Gothic"/>
                          <a:ea typeface="Malgun Gothic"/>
                          <a:cs typeface="Malgun Gothic"/>
                        </a:rPr>
                        <a:t>, 탄산탈수효소 억제제, 요관 전환, 생리식염수 대량 투여</a:t>
                      </a:r>
                    </a:p>
                  </a:txBody>
                  <a:tcPr marL="73152" marR="7315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산염기 장애의 해석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500" b="1" i="0">
                          <a:solidFill>
                            <a:srgbClr val="FFFFFF"/>
                          </a:solidFill>
                          <a:latin typeface="Malgun Gothic"/>
                          <a:ea typeface="Malgun Gothic"/>
                          <a:cs typeface="Malgun Gothic"/>
                        </a:rPr>
                        <a:t>RTA</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500" b="1" i="0">
                          <a:solidFill>
                            <a:srgbClr val="FFFFFF"/>
                          </a:solidFill>
                          <a:latin typeface="Malgun Gothic"/>
                          <a:ea typeface="Malgun Gothic"/>
                          <a:cs typeface="Malgun Gothic"/>
                        </a:rPr>
                        <a:t>요 pH</a:t>
                      </a:r>
                    </a:p>
                  </a:txBody>
                  <a:tcPr marL="73152" marR="73152">
                    <a:solidFill>
                      <a:srgbClr val="003C71"/>
                    </a:solidFill>
                  </a:tcPr>
                </a:tc>
                <a:tc>
                  <a:txBody>
                    <a:bodyPr/>
                    <a:lstStyle/>
                    <a:p>
                      <a:r>
                        <a:rPr sz="1500" b="1" i="0">
                          <a:solidFill>
                            <a:srgbClr val="FFFFFF"/>
                          </a:solidFill>
                          <a:latin typeface="Malgun Gothic"/>
                          <a:ea typeface="Malgun Gothic"/>
                          <a:cs typeface="Malgun Gothic"/>
                        </a:rPr>
                        <a:t>혈청 K</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1형(원위)</a:t>
                      </a:r>
                    </a:p>
                  </a:txBody>
                  <a:tcPr marL="73152" marR="73152">
                    <a:solidFill>
                      <a:srgbClr val="FFFFFF"/>
                    </a:solidFill>
                  </a:tcPr>
                </a:tc>
                <a:tc>
                  <a:txBody>
                    <a:bodyPr/>
                    <a:lstStyle/>
                    <a:p>
                      <a:r>
                        <a:rPr sz="1500" b="0" i="0">
                          <a:solidFill>
                            <a:srgbClr val="11202B"/>
                          </a:solidFill>
                          <a:latin typeface="Malgun Gothic"/>
                          <a:ea typeface="Malgun Gothic"/>
                          <a:cs typeface="Malgun Gothic"/>
                        </a:rPr>
                        <a:t>H⁺ 분비 실패</a:t>
                      </a:r>
                    </a:p>
                  </a:txBody>
                  <a:tcPr marL="73152" marR="73152">
                    <a:solidFill>
                      <a:srgbClr val="FFFFFF"/>
                    </a:solidFill>
                  </a:tcPr>
                </a:tc>
                <a:tc>
                  <a:txBody>
                    <a:bodyPr/>
                    <a:lstStyle/>
                    <a:p>
                      <a:r>
                        <a:rPr sz="1500" b="1" i="0">
                          <a:solidFill>
                            <a:srgbClr val="11202B"/>
                          </a:solidFill>
                          <a:latin typeface="Malgun Gothic"/>
                          <a:ea typeface="Malgun Gothic"/>
                          <a:cs typeface="Malgun Gothic"/>
                        </a:rPr>
                        <a:t>&gt;5.5</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신석회화·칼슘 결석, 쇼그렌·자가면역</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2형(근위)</a:t>
                      </a:r>
                    </a:p>
                  </a:txBody>
                  <a:tcPr marL="73152" marR="73152">
                    <a:solidFill>
                      <a:srgbClr val="ECF1F5"/>
                    </a:solidFill>
                  </a:tcPr>
                </a:tc>
                <a:tc>
                  <a:txBody>
                    <a:bodyPr/>
                    <a:lstStyle/>
                    <a:p>
                      <a:r>
                        <a:rPr sz="1500" b="0" i="0">
                          <a:solidFill>
                            <a:srgbClr val="11202B"/>
                          </a:solidFill>
                          <a:latin typeface="Malgun Gothic"/>
                          <a:ea typeface="Malgun Gothic"/>
                          <a:cs typeface="Malgun Gothic"/>
                        </a:rPr>
                        <a:t>HCO₃ 재흡수 실패</a:t>
                      </a:r>
                    </a:p>
                  </a:txBody>
                  <a:tcPr marL="73152" marR="73152">
                    <a:solidFill>
                      <a:srgbClr val="ECF1F5"/>
                    </a:solidFill>
                  </a:tcPr>
                </a:tc>
                <a:tc>
                  <a:txBody>
                    <a:bodyPr/>
                    <a:lstStyle/>
                    <a:p>
                      <a:r>
                        <a:rPr sz="1500" b="0" i="0">
                          <a:solidFill>
                            <a:srgbClr val="11202B"/>
                          </a:solidFill>
                          <a:latin typeface="Malgun Gothic"/>
                          <a:ea typeface="Malgun Gothic"/>
                          <a:cs typeface="Malgun Gothic"/>
                        </a:rPr>
                        <a:t>가변(초기 알칼리, 이후 &lt;5.5)</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판코니, 골연화, 아세타졸아미드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4형</a:t>
                      </a:r>
                    </a:p>
                  </a:txBody>
                  <a:tcPr marL="73152" marR="73152">
                    <a:solidFill>
                      <a:srgbClr val="FFFFFF"/>
                    </a:solidFill>
                  </a:tcPr>
                </a:tc>
                <a:tc>
                  <a:txBody>
                    <a:bodyPr/>
                    <a:lstStyle/>
                    <a:p>
                      <a:r>
                        <a:rPr sz="1500" b="0" i="0">
                          <a:solidFill>
                            <a:srgbClr val="11202B"/>
                          </a:solidFill>
                          <a:latin typeface="Malgun Gothic"/>
                          <a:ea typeface="Malgun Gothic"/>
                          <a:cs typeface="Malgun Gothic"/>
                        </a:rPr>
                        <a:t>알도스테론 저하·저항</a:t>
                      </a:r>
                    </a:p>
                  </a:txBody>
                  <a:tcPr marL="73152" marR="73152">
                    <a:solidFill>
                      <a:srgbClr val="FFFFFF"/>
                    </a:solidFill>
                  </a:tcPr>
                </a:tc>
                <a:tc>
                  <a:txBody>
                    <a:bodyPr/>
                    <a:lstStyle/>
                    <a:p>
                      <a:r>
                        <a:rPr sz="1500" b="0" i="0">
                          <a:solidFill>
                            <a:srgbClr val="11202B"/>
                          </a:solidFill>
                          <a:latin typeface="Malgun Gothic"/>
                          <a:ea typeface="Malgun Gothic"/>
                          <a:cs typeface="Malgun Gothic"/>
                        </a:rPr>
                        <a:t>&lt;5.5</a:t>
                      </a:r>
                    </a:p>
                  </a:txBody>
                  <a:tcPr marL="73152" marR="73152">
                    <a:solidFill>
                      <a:srgbClr val="FFFFFF"/>
                    </a:solidFill>
                  </a:tcPr>
                </a:tc>
                <a:tc>
                  <a:txBody>
                    <a:bodyPr/>
                    <a:lstStyle/>
                    <a:p>
                      <a:r>
                        <a:rPr sz="1500" b="1"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당뇨병성 신질환, ACEi/ARB, 헤파린, 칼시뉴린 억제제</a:t>
                      </a:r>
                    </a:p>
                  </a:txBody>
                  <a:tcPr marL="73152" marR="7315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만성 신질환의 대사와 신보호</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요독 증후군은 단일 독소가 아니라 수용성 소분자(요소·크레아티닌), 단백 결합 용질(인독실 황산, p-크레실 황산 — 투석으로 잘 제거되지 않음), 중분자(β2-마이크로글로불린, FGF23)의 축적이다.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합병증: 빈혈(EPO 부족 + 헵시딘 상승 → ESA, HIF-PH 억제제, 철), </a:t>
            </a:r>
            <a:r>
              <a:rPr sz="2000" b="1" i="0">
                <a:solidFill>
                  <a:srgbClr val="11202B"/>
                </a:solidFill>
                <a:latin typeface="Malgun Gothic"/>
                <a:ea typeface="Malgun Gothic"/>
                <a:cs typeface="Malgun Gothic"/>
              </a:rPr>
              <a:t>CKD-MBD</a:t>
            </a:r>
            <a:r>
              <a:rPr sz="2000" b="0" i="0">
                <a:solidFill>
                  <a:srgbClr val="11202B"/>
                </a:solidFill>
                <a:latin typeface="Malgun Gothic"/>
                <a:ea typeface="Malgun Gothic"/>
                <a:cs typeface="Malgun Gothic"/>
              </a:rPr>
              <a:t>(FGF23 ↑ → PTH ↑ → 섬유성 골염, 혈관 석회화), 대사 산증(근육 소모·골 완충·CKD 진행 가속 → 중탄산 보충), 고칼륨, 인슐린 저항과 영양 소모, 요독성 혈소판 기능 이상.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만성 신질환의 대사와 신보호</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신보호 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ACEi/ARB</a:t>
                      </a:r>
                    </a:p>
                  </a:txBody>
                  <a:tcPr marL="73152" marR="73152">
                    <a:solidFill>
                      <a:srgbClr val="FFFFFF"/>
                    </a:solidFill>
                  </a:tcPr>
                </a:tc>
                <a:tc>
                  <a:txBody>
                    <a:bodyPr/>
                    <a:lstStyle/>
                    <a:p>
                      <a:r>
                        <a:rPr sz="1500" b="0" i="0">
                          <a:solidFill>
                            <a:srgbClr val="11202B"/>
                          </a:solidFill>
                          <a:latin typeface="Malgun Gothic"/>
                          <a:ea typeface="Malgun Gothic"/>
                          <a:cs typeface="Malgun Gothic"/>
                        </a:rPr>
                        <a:t>사구체 내 유출 세동맥 확장 → 사구체내압·단백뇨 ↓</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SGLT2 억제제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세관사구체 되먹임 복원, 근위세관 대사 부하·저산소 완화, 요산·체중·혈압 ↓ (DAPA-CKD, EMPA-KIDNEY)</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피네레논</a:t>
                      </a:r>
                      <a:r>
                        <a:rPr sz="1500" b="0" i="0">
                          <a:solidFill>
                            <a:srgbClr val="11202B"/>
                          </a:solidFill>
                          <a:latin typeface="Malgun Gothic"/>
                          <a:ea typeface="Malgun Gothic"/>
                          <a:cs typeface="Malgun Gothic"/>
                        </a:rPr>
                        <a:t>(비스테로이드 MRA)</a:t>
                      </a:r>
                    </a:p>
                  </a:txBody>
                  <a:tcPr marL="73152" marR="73152">
                    <a:solidFill>
                      <a:srgbClr val="FFFFFF"/>
                    </a:solidFill>
                  </a:tcPr>
                </a:tc>
                <a:tc>
                  <a:txBody>
                    <a:bodyPr/>
                    <a:lstStyle/>
                    <a:p>
                      <a:r>
                        <a:rPr sz="1500" b="0" i="0">
                          <a:solidFill>
                            <a:srgbClr val="11202B"/>
                          </a:solidFill>
                          <a:latin typeface="Malgun Gothic"/>
                          <a:ea typeface="Malgun Gothic"/>
                          <a:cs typeface="Malgun Gothic"/>
                        </a:rPr>
                        <a:t>염증·섬유화 경로 차단(FIDELIO/FIGARO)</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GLP-1 수용체 작용제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체중·혈당·염증 — FLOW 시험에서 신사건 감소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중탄산, 단백 적정 섭취, 혈압·혈당 조절</a:t>
                      </a:r>
                    </a:p>
                  </a:txBody>
                  <a:tcPr marL="73152" marR="73152">
                    <a:solidFill>
                      <a:srgbClr val="FFFFFF"/>
                    </a:solidFill>
                  </a:tcPr>
                </a:tc>
                <a:tc>
                  <a:txBody>
                    <a:bodyPr/>
                    <a:lstStyle/>
                    <a:p>
                      <a:r>
                        <a:rPr sz="1500" b="0" i="0">
                          <a:solidFill>
                            <a:srgbClr val="11202B"/>
                          </a:solidFill>
                          <a:latin typeface="Malgun Gothic"/>
                          <a:ea typeface="Malgun Gothic"/>
                          <a:cs typeface="Malgun Gothic"/>
                        </a:rPr>
                        <a:t>대사적 부하 감소</a:t>
                      </a:r>
                    </a:p>
                  </a:txBody>
                  <a:tcPr marL="73152" marR="73152">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만성 신질환의 대사와 신보호</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17</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임상 상관: 당뇨병성 신질환 환자에게 ACEi 또는 ARB를 시작한 뒤 크레아티닌이 20–30% 이내로 오르고 안정되는 것은 혈역학적 기대 반응이며 약을 끊을 이유가 아니다. 반면 30% 초과 상승은 양측 신동맥 협착이나 유효 순환량 감소를 의심하게 한다. SGLT2 억제제 시작 직후에도 비슷한 가역적 eGFR 감소("dip")가 나타나며, 이는 사구체내압이 낮아진 증거로 장기 신기능 보존과 연결된다.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단백 결합 요독 용질의 장내 생성을 겨냥한 미생물군 조절과 흡착제가 CKD 진행 억제 전략으로 연구되고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알도스테론 합성효소 억제제와 엔도텔린 수용체 길항제(스파르센탄)가 단백뇨성 신질환의 새 축으로 부상하고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신장 단일세포 지도와 소변 유래 세포·엑소좀 분석이 비침습적 세관 손상 표현형 분류를 가능하게 하고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세관 분절별 수송 단백은 이뇨제의 표적이자 바터·기텔만·리들 같은 유전 질환의 원인이다.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혈청 나트륨은 물의 균형을 반영하므로 요 삼투압과 요 나트륨으로 저나트륨혈증을 감별한다.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저나트륨 교정은 24시간 8 mmol/L 이내로 제한해 삼투성 탈수초를 막는다.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산염기 해석은 1차 장애·보상·음이온차·델타비의 순서로 진행하고 요 음이온차가 RTA를 가린다.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SGLT2 억제제와 비스테로이드 MRA는 혈당과 무관한 기전으로 신장을 보호한다.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만성 저나트륨혈증(Na 110) 환자에서 교정 속도를 제한하는 생화학적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만성 저삼투 상태에서 뇌세포는 유기 삼투질(미오이노시톨, 타우린, 글루타민 등)을 배출해 부피를 맞춘다. 혈청 나트륨을 빠르게 올리면 세포가 삼투질을 되찾는 속도보다 세포외액 삼투압이 먼저 높아져 수분이 빠져나가고 수초가 손상된다. 이것이 삼투성 탈수초 증후군이며, 24시간에 8 mmol/L 이내, 고위험군은 6 이내로 제한한다.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저칼륨혈증이 칼륨 보충에 반응하지 않을 때 가장 먼저 확인할 전해질과 그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마그네슘이다. 세포 내 마그네슘은 ROMK 통로를 통한 칼륨 유출을 억제하는데, 마그네슘이 부족하면 이 억제가 풀려 집합관에서 칼륨이 계속 빠져나간다. 또한 저마그네슘은 PTH 분비도 방해해 저칼슘을 불응성으로 만든다. 따라서 마그네슘을 먼저 교정해야 칼륨과 칼슘 보충이 효과를 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음이온차와 삼투차가 동시에 증가한 대사 산증 환자에서 의심할 진단과 즉각 치료는?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메탄올 또는 에틸렌글리콜 중독을 의심한다. 모체 알코올이 삼투차를 만들고, 알코올 탈수소효소가 만든 포름산·글리콜산·옥살산이 음이온차 산증을 일으킨다. 치료는 포메피졸로 알코올 탈수소효소를 차단하고(에탄올이 대안) 혈액투석으로 모체 화합물과 유기산을 제거하며, 메탄올에는 폴산을 보조 투여한다.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저칼륨성 대사 알칼리증과 정상 혈압을 보이는 성인 환자에서 기텔만 증후군을 시사하는 소견은?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저마그네슘혈증과 저칼슘뇨가 핵심이다. NCC 결함은 티아지드 투여와 같은 효과를 내어 원위곡세관의 칼슘 재흡수를 늘리고 TRPM6 발현을 줄여 마그네슘을 잃게 한다. 반대로 바터 증후군은 루프 이뇨제 유사 표현형으로 고칼슘뇨와 신석회화를 보이고 더 이른 나이에 심한 다뇨로 발현한다. 이뇨제 남용과 구토는 요 염소와 약물 선별 검사로 배제한다.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Sterns RH. Disorders of plasma sodium — causes, consequences, and correction. N Engl J Med 2015;372:55–65.</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Palmer BF, Clegg DJ. Physiology and pathophysiology of potassium homeostasis. Adv Physiol Educ 2016;40:480–490.</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Seifter JL. Integration of acid-base and electrolyte disorders. N Engl J Med 2014;371:1821–1831.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B10-L05  ·  신장질환과 수분·전해질·산염기 대사</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Heerspink HJL et al. Dapagliflozin in patients with chronic kidney disease. N Engl J Med 2020;383:1436–1446.</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Bakris GL et al. Effect of finerenone on CKD outcomes in type 2 diabetes. N Engl J Med 2020;383:2219–2229.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