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권장되지 않는다. 간질환에서는 응고인자와 함께 단백 C·S·안티트롬빈 같은 항응고 단백도 감소해 전체적으로 재균형 상태가 되므로, INR은 출혈 위험을 예측하지 못한다. 혈장 투여는 용량 부담과 문맥압 상승을 일으키면서 교정 효과는 미미하다. 피브리노겐 수치, 혈소판 수, 점탄성 검사와 시술의 실제 출혈 위험을 종합해 판단한다.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2B형은 VWF가 GPIb에 비정상적으로 높은 친화도를 가져 혈소판과 과도하게 결합하고 다량체가 ADAMTS13에 쉽게 절단된다. 데스모프레신으로 내피에서 비정상 VWF를 더 방출시키면 혈소판 응집과 소모가 증가해 혈소판 수가 더 떨어질 수 있다. VWF 함유 농축제가 더 안전한 선택이다.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HIT를 강하게 의심하고 4T 점수를 계산한 뒤, 모든 형태의 헤파린(세척액·도관 포함)을 즉시 중단하고 아르가트로반 같은 비헤파린 항응고제를 치료 용량으로 시작한다. 항-PF4 항체와 기능 검사를 보내되 결과를 기다리지 않는다. 혈소판 수혈은 피하고, 와파린은 혈소판이 회복된 뒤 비헤파린 항응고제와 겹쳐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무작위 시험과 메타분석에서 특히 삼중 항체 양성이나 동맥 혈전 병력이 있는 환자에서 리바록사반 등 DOAC가 비타민 K 길항제보다 재발 혈전이 더 많았다. 따라서 목표 INR 2–3의 와파린이 표준이며, 루푸스 항응고인자가 INR 측정을 교란할 수 있어 색소원 인자 X 측정 등으로 보정이 필요할 수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혈액과 지혈</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지혈, 혈전과 응고의 분자생물학</a:t>
            </a:r>
          </a:p>
          <a:p>
            <a:r>
              <a:rPr sz="2000" b="0" i="0">
                <a:solidFill>
                  <a:srgbClr val="C2CDD6"/>
                </a:solidFill>
                <a:latin typeface="Malgun Gothic"/>
                <a:ea typeface="Malgun Gothic"/>
                <a:cs typeface="Malgun Gothic"/>
              </a:rPr>
              <a:t>Molecular Biology of Hemostasis and Thrombosis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B10-L04</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1차·2차 지혈의 분자 단계와 세포 기반 응고 모형을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항응고·섬유소 분해 체계와 그 결함이 일으키는 혈전 성향을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출혈성 질환의 진단 알고리즘을 검사 원리와 함께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항혈소판제·항응고제의 작용점과 역전 전략을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파종성 혈관내응고와 혈소판 미세혈관병을 구분한다.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1차 지혈: 혈소판</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2차 지혈: 세포 기반 응고 모형</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출혈성 질환의 진단</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항혈소판제·항응고제와 역전</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DIC와 혈소판 미세혈관병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1차 지혈: 혈소판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손상 → 내피하 </a:t>
            </a:r>
            <a:r>
              <a:rPr sz="1800" b="1" i="0">
                <a:solidFill>
                  <a:srgbClr val="11202B"/>
                </a:solidFill>
                <a:latin typeface="Malgun Gothic"/>
                <a:ea typeface="Malgun Gothic"/>
                <a:cs typeface="Malgun Gothic"/>
              </a:rPr>
              <a:t>콜라겐</a:t>
            </a:r>
            <a:r>
              <a:rPr sz="1800" b="0" i="0">
                <a:solidFill>
                  <a:srgbClr val="11202B"/>
                </a:solidFill>
                <a:latin typeface="Malgun Gothic"/>
                <a:ea typeface="Malgun Gothic"/>
                <a:cs typeface="Malgun Gothic"/>
              </a:rPr>
              <a:t>과 </a:t>
            </a:r>
            <a:r>
              <a:rPr sz="1800" b="1" i="0">
                <a:solidFill>
                  <a:srgbClr val="11202B"/>
                </a:solidFill>
                <a:latin typeface="Malgun Gothic"/>
                <a:ea typeface="Malgun Gothic"/>
                <a:cs typeface="Malgun Gothic"/>
              </a:rPr>
              <a:t>폰빌레브란트인자(VWF)</a:t>
            </a:r>
            <a:r>
              <a:rPr sz="1800" b="0" i="0">
                <a:solidFill>
                  <a:srgbClr val="11202B"/>
                </a:solidFill>
                <a:latin typeface="Malgun Gothic"/>
                <a:ea typeface="Malgun Gothic"/>
                <a:cs typeface="Malgun Gothic"/>
              </a:rPr>
              <a:t> 노출 → 혈소판 부착(GPIb-IX-V ↔ VWF; GPVI·α2β1 ↔ 콜라겐) → 활성화 → 모양 변화·과립 분비(ADP, 세로토닌, 트롬복산 A2) → </a:t>
            </a:r>
            <a:r>
              <a:rPr sz="1800" b="1" i="0">
                <a:solidFill>
                  <a:srgbClr val="11202B"/>
                </a:solidFill>
                <a:latin typeface="Malgun Gothic"/>
                <a:ea typeface="Malgun Gothic"/>
                <a:cs typeface="Malgun Gothic"/>
              </a:rPr>
              <a:t>GPIIb/IIIa(αIIbβ3)</a:t>
            </a:r>
            <a:r>
              <a:rPr sz="1800" b="0" i="0">
                <a:solidFill>
                  <a:srgbClr val="11202B"/>
                </a:solidFill>
                <a:latin typeface="Malgun Gothic"/>
                <a:ea typeface="Malgun Gothic"/>
                <a:cs typeface="Malgun Gothic"/>
              </a:rPr>
              <a:t> 활성화 → 피브리노겐 가교로 응집.</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신호 경로: GPVI-SYK-PLCγ2, ADP-P2Y12-Gi(cAMP ↓), TXA2-TP-Gq, 트롬빈-PAR1/4 → 세포질 Ca²⁺ ↑ → 과립 분비 + 인테그린 활성화 + 포스파티딜세린 외부 노출(응고 반응 표면 제공).</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VWF는 고분자 다량체일 때 기능이 강하며 </a:t>
            </a:r>
            <a:r>
              <a:rPr sz="1800" b="1" i="0">
                <a:solidFill>
                  <a:srgbClr val="11202B"/>
                </a:solidFill>
                <a:latin typeface="Malgun Gothic"/>
                <a:ea typeface="Malgun Gothic"/>
                <a:cs typeface="Malgun Gothic"/>
              </a:rPr>
              <a:t>ADAMTS13</a:t>
            </a:r>
            <a:r>
              <a:rPr sz="1800" b="0" i="0">
                <a:solidFill>
                  <a:srgbClr val="11202B"/>
                </a:solidFill>
                <a:latin typeface="Malgun Gothic"/>
                <a:ea typeface="Malgun Gothic"/>
                <a:cs typeface="Malgun Gothic"/>
              </a:rPr>
              <a:t>이 전단력 하에서 절단해 크기를 조절한다. 고전단 영역(협착된 동맥, 대동맥판막 협착, 인공 심장 보조장치)에서는 다량체가 과도히 소모되어 </a:t>
            </a:r>
            <a:r>
              <a:rPr sz="1800" b="1" i="0">
                <a:solidFill>
                  <a:srgbClr val="11202B"/>
                </a:solidFill>
                <a:latin typeface="Malgun Gothic"/>
                <a:ea typeface="Malgun Gothic"/>
                <a:cs typeface="Malgun Gothic"/>
              </a:rPr>
              <a:t>후천성 폰빌레브란트 증후군</a:t>
            </a:r>
            <a:r>
              <a:rPr sz="1800" b="0" i="0">
                <a:solidFill>
                  <a:srgbClr val="11202B"/>
                </a:solidFill>
                <a:latin typeface="Malgun Gothic"/>
                <a:ea typeface="Malgun Gothic"/>
                <a:cs typeface="Malgun Gothic"/>
              </a:rPr>
              <a:t>이 생긴다.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1차 지혈: 혈소판</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폰빌레브란트병 1형/3형</a:t>
                      </a:r>
                    </a:p>
                  </a:txBody>
                  <a:tcPr marL="73152" marR="73152">
                    <a:solidFill>
                      <a:srgbClr val="FFFFFF"/>
                    </a:solidFill>
                  </a:tcPr>
                </a:tc>
                <a:tc>
                  <a:txBody>
                    <a:bodyPr/>
                    <a:lstStyle/>
                    <a:p>
                      <a:r>
                        <a:rPr sz="1500" b="0" i="0">
                          <a:solidFill>
                            <a:srgbClr val="11202B"/>
                          </a:solidFill>
                          <a:latin typeface="Malgun Gothic"/>
                          <a:ea typeface="Malgun Gothic"/>
                          <a:cs typeface="Malgun Gothic"/>
                        </a:rPr>
                        <a:t>VWF 양적 감소/결손</a:t>
                      </a:r>
                    </a:p>
                  </a:txBody>
                  <a:tcPr marL="73152" marR="73152">
                    <a:solidFill>
                      <a:srgbClr val="FFFFFF"/>
                    </a:solidFill>
                  </a:tcPr>
                </a:tc>
                <a:tc>
                  <a:txBody>
                    <a:bodyPr/>
                    <a:lstStyle/>
                    <a:p>
                      <a:r>
                        <a:rPr sz="1500" b="0" i="0">
                          <a:solidFill>
                            <a:srgbClr val="11202B"/>
                          </a:solidFill>
                          <a:latin typeface="Malgun Gothic"/>
                          <a:ea typeface="Malgun Gothic"/>
                          <a:cs typeface="Malgun Gothic"/>
                        </a:rPr>
                        <a:t>점막 출혈, 데스모프레신(1형) 반응</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2A/2B/2M/2N형</a:t>
                      </a:r>
                    </a:p>
                  </a:txBody>
                  <a:tcPr marL="73152" marR="73152">
                    <a:solidFill>
                      <a:srgbClr val="ECF1F5"/>
                    </a:solidFill>
                  </a:tcPr>
                </a:tc>
                <a:tc>
                  <a:txBody>
                    <a:bodyPr/>
                    <a:lstStyle/>
                    <a:p>
                      <a:r>
                        <a:rPr sz="1500" b="0" i="0">
                          <a:solidFill>
                            <a:srgbClr val="11202B"/>
                          </a:solidFill>
                          <a:latin typeface="Malgun Gothic"/>
                          <a:ea typeface="Malgun Gothic"/>
                          <a:cs typeface="Malgun Gothic"/>
                        </a:rPr>
                        <a:t>질적 결함</a:t>
                      </a:r>
                    </a:p>
                  </a:txBody>
                  <a:tcPr marL="73152" marR="73152">
                    <a:solidFill>
                      <a:srgbClr val="ECF1F5"/>
                    </a:solidFill>
                  </a:tcPr>
                </a:tc>
                <a:tc>
                  <a:txBody>
                    <a:bodyPr/>
                    <a:lstStyle/>
                    <a:p>
                      <a:r>
                        <a:rPr sz="1500" b="0" i="0">
                          <a:solidFill>
                            <a:srgbClr val="11202B"/>
                          </a:solidFill>
                          <a:latin typeface="Malgun Gothic"/>
                          <a:ea typeface="Malgun Gothic"/>
                          <a:cs typeface="Malgun Gothic"/>
                        </a:rPr>
                        <a:t>2B는 GPIb 친화도 ↑ → 다량체 소모·혈소판 감소(데스모프레신 주의), 2N은 VIII 결합 결함 → 혈우병 유사</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베르나르-술리에</a:t>
                      </a:r>
                    </a:p>
                  </a:txBody>
                  <a:tcPr marL="73152" marR="73152">
                    <a:solidFill>
                      <a:srgbClr val="FFFFFF"/>
                    </a:solidFill>
                  </a:tcPr>
                </a:tc>
                <a:tc>
                  <a:txBody>
                    <a:bodyPr/>
                    <a:lstStyle/>
                    <a:p>
                      <a:r>
                        <a:rPr sz="1500" b="0" i="0">
                          <a:solidFill>
                            <a:srgbClr val="11202B"/>
                          </a:solidFill>
                          <a:latin typeface="Malgun Gothic"/>
                          <a:ea typeface="Malgun Gothic"/>
                          <a:cs typeface="Malgun Gothic"/>
                        </a:rPr>
                        <a:t>GPIb-IX-V</a:t>
                      </a:r>
                    </a:p>
                  </a:txBody>
                  <a:tcPr marL="73152" marR="73152">
                    <a:solidFill>
                      <a:srgbClr val="FFFFFF"/>
                    </a:solidFill>
                  </a:tcPr>
                </a:tc>
                <a:tc>
                  <a:txBody>
                    <a:bodyPr/>
                    <a:lstStyle/>
                    <a:p>
                      <a:r>
                        <a:rPr sz="1500" b="0" i="0">
                          <a:solidFill>
                            <a:srgbClr val="11202B"/>
                          </a:solidFill>
                          <a:latin typeface="Malgun Gothic"/>
                          <a:ea typeface="Malgun Gothic"/>
                          <a:cs typeface="Malgun Gothic"/>
                        </a:rPr>
                        <a:t>거대 혈소판, 심한 출혈</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글란츠만 혈소판무력증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αIIbβ3</a:t>
                      </a:r>
                    </a:p>
                  </a:txBody>
                  <a:tcPr marL="73152" marR="73152">
                    <a:solidFill>
                      <a:srgbClr val="ECF1F5"/>
                    </a:solidFill>
                  </a:tcPr>
                </a:tc>
                <a:tc>
                  <a:txBody>
                    <a:bodyPr/>
                    <a:lstStyle/>
                    <a:p>
                      <a:r>
                        <a:rPr sz="1500" b="0" i="0">
                          <a:solidFill>
                            <a:srgbClr val="11202B"/>
                          </a:solidFill>
                          <a:latin typeface="Malgun Gothic"/>
                          <a:ea typeface="Malgun Gothic"/>
                          <a:cs typeface="Malgun Gothic"/>
                        </a:rPr>
                        <a:t>응집 전혀 없음(리스토세틴 응집은 보존)</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저장풀 질환</a:t>
                      </a:r>
                    </a:p>
                  </a:txBody>
                  <a:tcPr marL="73152" marR="73152">
                    <a:solidFill>
                      <a:srgbClr val="FFFFFF"/>
                    </a:solidFill>
                  </a:tcPr>
                </a:tc>
                <a:tc>
                  <a:txBody>
                    <a:bodyPr/>
                    <a:lstStyle/>
                    <a:p>
                      <a:r>
                        <a:rPr sz="1500" b="0" i="0">
                          <a:solidFill>
                            <a:srgbClr val="11202B"/>
                          </a:solidFill>
                          <a:latin typeface="Malgun Gothic"/>
                          <a:ea typeface="Malgun Gothic"/>
                          <a:cs typeface="Malgun Gothic"/>
                        </a:rPr>
                        <a:t>밀집·α 과립</a:t>
                      </a:r>
                    </a:p>
                  </a:txBody>
                  <a:tcPr marL="73152" marR="73152">
                    <a:solidFill>
                      <a:srgbClr val="FFFFFF"/>
                    </a:solidFill>
                  </a:tcPr>
                </a:tc>
                <a:tc>
                  <a:txBody>
                    <a:bodyPr/>
                    <a:lstStyle/>
                    <a:p>
                      <a:r>
                        <a:rPr sz="1500" b="0" i="0">
                          <a:solidFill>
                            <a:srgbClr val="11202B"/>
                          </a:solidFill>
                          <a:latin typeface="Malgun Gothic"/>
                          <a:ea typeface="Malgun Gothic"/>
                          <a:cs typeface="Malgun Gothic"/>
                        </a:rPr>
                        <a:t>체디아크-히가시, 헤르만스키-푸들락</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2차 지혈: 세포 기반 응고 모형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비타민 K 의존 인자: </a:t>
            </a:r>
            <a:r>
              <a:rPr sz="1800" b="1" i="0">
                <a:solidFill>
                  <a:srgbClr val="11202B"/>
                </a:solidFill>
                <a:latin typeface="Malgun Gothic"/>
                <a:ea typeface="Malgun Gothic"/>
                <a:cs typeface="Malgun Gothic"/>
              </a:rPr>
              <a:t>II, VII, IX, X</a:t>
            </a:r>
            <a:r>
              <a:rPr sz="1800" b="0" i="0">
                <a:solidFill>
                  <a:srgbClr val="11202B"/>
                </a:solidFill>
                <a:latin typeface="Malgun Gothic"/>
                <a:ea typeface="Malgun Gothic"/>
                <a:cs typeface="Malgun Gothic"/>
              </a:rPr>
              <a:t> + 항응고 단백 </a:t>
            </a:r>
            <a:r>
              <a:rPr sz="1800" b="1" i="0">
                <a:solidFill>
                  <a:srgbClr val="11202B"/>
                </a:solidFill>
                <a:latin typeface="Malgun Gothic"/>
                <a:ea typeface="Malgun Gothic"/>
                <a:cs typeface="Malgun Gothic"/>
              </a:rPr>
              <a:t>C, S</a:t>
            </a:r>
            <a:r>
              <a:rPr sz="1800" b="0" i="0">
                <a:solidFill>
                  <a:srgbClr val="11202B"/>
                </a:solidFill>
                <a:latin typeface="Malgun Gothic"/>
                <a:ea typeface="Malgun Gothic"/>
                <a:cs typeface="Malgun Gothic"/>
              </a:rPr>
              <a:t>. γ-글루타밀 카르복실화효소가 Glu를 Gla로 바꿔 Ca²⁺ 매개 인지질 결합을 가능하게 하고, VKORC1이 비타민 K를 재생한다 — 와파린의 표적.</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트롬빈의 다면 작용: 피브리노겐 → 피브린, XIII 활성화(교차결합), V·VIII·XI 증폭, 혈소판 PAR 활성화, 그리고 </a:t>
            </a:r>
            <a:r>
              <a:rPr sz="1800" b="1" i="0">
                <a:solidFill>
                  <a:srgbClr val="11202B"/>
                </a:solidFill>
                <a:latin typeface="Malgun Gothic"/>
                <a:ea typeface="Malgun Gothic"/>
                <a:cs typeface="Malgun Gothic"/>
              </a:rPr>
              <a:t>트롬보모듈린과 결합하면 반대로 단백 C를 활성화</a:t>
            </a:r>
            <a:r>
              <a:rPr sz="1800" b="0" i="0">
                <a:solidFill>
                  <a:srgbClr val="11202B"/>
                </a:solidFill>
                <a:latin typeface="Malgun Gothic"/>
                <a:ea typeface="Malgun Gothic"/>
                <a:cs typeface="Malgun Gothic"/>
              </a:rPr>
              <a:t>하는 항응고 스위치, TAFI 활성화(섬유소 분해 억제), PAR1을 통한 염증·내피 작용.</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항응고 체계: </a:t>
            </a:r>
            <a:r>
              <a:rPr sz="1800" b="1" i="0">
                <a:solidFill>
                  <a:srgbClr val="11202B"/>
                </a:solidFill>
                <a:latin typeface="Malgun Gothic"/>
                <a:ea typeface="Malgun Gothic"/>
                <a:cs typeface="Malgun Gothic"/>
              </a:rPr>
              <a:t>안티트롬빈</a:t>
            </a:r>
            <a:r>
              <a:rPr sz="1800" b="0" i="0">
                <a:solidFill>
                  <a:srgbClr val="11202B"/>
                </a:solidFill>
                <a:latin typeface="Malgun Gothic"/>
                <a:ea typeface="Malgun Gothic"/>
                <a:cs typeface="Malgun Gothic"/>
              </a:rPr>
              <a:t>(헤파란황산·헤파린이 수천 배 가속, IIa·Xa 억제), </a:t>
            </a:r>
            <a:r>
              <a:rPr sz="1800" b="1" i="0">
                <a:solidFill>
                  <a:srgbClr val="11202B"/>
                </a:solidFill>
                <a:latin typeface="Malgun Gothic"/>
                <a:ea typeface="Malgun Gothic"/>
                <a:cs typeface="Malgun Gothic"/>
              </a:rPr>
              <a:t>단백 C/S</a:t>
            </a:r>
            <a:r>
              <a:rPr sz="1800" b="0" i="0">
                <a:solidFill>
                  <a:srgbClr val="11202B"/>
                </a:solidFill>
                <a:latin typeface="Malgun Gothic"/>
                <a:ea typeface="Malgun Gothic"/>
                <a:cs typeface="Malgun Gothic"/>
              </a:rPr>
              <a:t>(Va·VIIIa 분해; 내피 EPCR·트롬보모듈린 의존), </a:t>
            </a:r>
            <a:r>
              <a:rPr sz="1800" b="1" i="0">
                <a:solidFill>
                  <a:srgbClr val="11202B"/>
                </a:solidFill>
                <a:latin typeface="Malgun Gothic"/>
                <a:ea typeface="Malgun Gothic"/>
                <a:cs typeface="Malgun Gothic"/>
              </a:rPr>
              <a:t>TFPI</a:t>
            </a:r>
            <a:r>
              <a:rPr sz="1800" b="0" i="0">
                <a:solidFill>
                  <a:srgbClr val="11202B"/>
                </a:solidFill>
                <a:latin typeface="Malgun Gothic"/>
                <a:ea typeface="Malgun Gothic"/>
                <a:cs typeface="Malgun Gothic"/>
              </a:rPr>
              <a:t>(TF-VIIa-Xa 억제).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2차 지혈: 세포 기반 응고 모형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섬유소 분해: tPA·uPA → 플라스미노겐 → 플라스민 → 피브린 분해(</a:t>
            </a:r>
            <a:r>
              <a:rPr sz="2200" b="1" i="0">
                <a:solidFill>
                  <a:srgbClr val="11202B"/>
                </a:solidFill>
                <a:latin typeface="Malgun Gothic"/>
                <a:ea typeface="Malgun Gothic"/>
                <a:cs typeface="Malgun Gothic"/>
              </a:rPr>
              <a:t>D-이중체</a:t>
            </a:r>
            <a:r>
              <a:rPr sz="2200" b="0" i="0">
                <a:solidFill>
                  <a:srgbClr val="11202B"/>
                </a:solidFill>
                <a:latin typeface="Malgun Gothic"/>
                <a:ea typeface="Malgun Gothic"/>
                <a:cs typeface="Malgun Gothic"/>
              </a:rPr>
              <a:t>). 억제자: PAI-1, α2-안티플라스민, TAFI.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2차 지혈: 세포 기반 응고 모형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혈전 성향</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인자 V 라이덴</a:t>
                      </a:r>
                    </a:p>
                  </a:txBody>
                  <a:tcPr marL="73152" marR="73152">
                    <a:solidFill>
                      <a:srgbClr val="FFFFFF"/>
                    </a:solidFill>
                  </a:tcPr>
                </a:tc>
                <a:tc>
                  <a:txBody>
                    <a:bodyPr/>
                    <a:lstStyle/>
                    <a:p>
                      <a:r>
                        <a:rPr sz="1500" b="0" i="0">
                          <a:solidFill>
                            <a:srgbClr val="11202B"/>
                          </a:solidFill>
                          <a:latin typeface="Malgun Gothic"/>
                          <a:ea typeface="Malgun Gothic"/>
                          <a:cs typeface="Malgun Gothic"/>
                        </a:rPr>
                        <a:t>Arg506Gln → APC 저항</a:t>
                      </a:r>
                    </a:p>
                  </a:txBody>
                  <a:tcPr marL="73152" marR="73152">
                    <a:solidFill>
                      <a:srgbClr val="FFFFFF"/>
                    </a:solidFill>
                  </a:tcPr>
                </a:tc>
                <a:tc>
                  <a:txBody>
                    <a:bodyPr/>
                    <a:lstStyle/>
                    <a:p>
                      <a:r>
                        <a:rPr sz="1500" b="0" i="0">
                          <a:solidFill>
                            <a:srgbClr val="11202B"/>
                          </a:solidFill>
                          <a:latin typeface="Malgun Gothic"/>
                          <a:ea typeface="Malgun Gothic"/>
                          <a:cs typeface="Malgun Gothic"/>
                        </a:rPr>
                        <a:t>백인에서 가장 흔한 유전성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프로트롬빈 G20210A</a:t>
                      </a:r>
                    </a:p>
                  </a:txBody>
                  <a:tcPr marL="73152" marR="73152">
                    <a:solidFill>
                      <a:srgbClr val="ECF1F5"/>
                    </a:solidFill>
                  </a:tcPr>
                </a:tc>
                <a:tc>
                  <a:txBody>
                    <a:bodyPr/>
                    <a:lstStyle/>
                    <a:p>
                      <a:r>
                        <a:rPr sz="1500" b="0" i="0">
                          <a:solidFill>
                            <a:srgbClr val="11202B"/>
                          </a:solidFill>
                          <a:latin typeface="Malgun Gothic"/>
                          <a:ea typeface="Malgun Gothic"/>
                          <a:cs typeface="Malgun Gothic"/>
                        </a:rPr>
                        <a:t>프로트롬빈 농도 ↑</a:t>
                      </a:r>
                    </a:p>
                  </a:txBody>
                  <a:tcPr marL="73152" marR="73152">
                    <a:solidFill>
                      <a:srgbClr val="ECF1F5"/>
                    </a:solidFill>
                  </a:tcPr>
                </a:tc>
                <a:tc>
                  <a:txBody>
                    <a:bodyPr/>
                    <a:lstStyle/>
                    <a:p>
                      <a:r>
                        <a:rPr sz="1500" b="0" i="0">
                          <a:solidFill>
                            <a:srgbClr val="11202B"/>
                          </a:solidFill>
                          <a:latin typeface="Malgun Gothic"/>
                          <a:ea typeface="Malgun Gothic"/>
                          <a:cs typeface="Malgun Gothic"/>
                        </a:rPr>
                        <a:t>경도 위험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안티트롬빈 결핍</a:t>
                      </a:r>
                    </a:p>
                  </a:txBody>
                  <a:tcPr marL="73152" marR="73152">
                    <a:solidFill>
                      <a:srgbClr val="FFFFFF"/>
                    </a:solidFill>
                  </a:tcPr>
                </a:tc>
                <a:tc>
                  <a:txBody>
                    <a:bodyPr/>
                    <a:lstStyle/>
                    <a:p>
                      <a:r>
                        <a:rPr sz="1500" b="0" i="0">
                          <a:solidFill>
                            <a:srgbClr val="11202B"/>
                          </a:solidFill>
                          <a:latin typeface="Malgun Gothic"/>
                          <a:ea typeface="Malgun Gothic"/>
                          <a:cs typeface="Malgun Gothic"/>
                        </a:rPr>
                        <a:t>억제자 부족</a:t>
                      </a:r>
                    </a:p>
                  </a:txBody>
                  <a:tcPr marL="73152" marR="73152">
                    <a:solidFill>
                      <a:srgbClr val="FFFFFF"/>
                    </a:solidFill>
                  </a:tcPr>
                </a:tc>
                <a:tc>
                  <a:txBody>
                    <a:bodyPr/>
                    <a:lstStyle/>
                    <a:p>
                      <a:r>
                        <a:rPr sz="1500" b="0" i="0">
                          <a:solidFill>
                            <a:srgbClr val="11202B"/>
                          </a:solidFill>
                          <a:latin typeface="Malgun Gothic"/>
                          <a:ea typeface="Malgun Gothic"/>
                          <a:cs typeface="Malgun Gothic"/>
                        </a:rPr>
                        <a:t>헤파린 저항 양상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단백 C/S 결핍</a:t>
                      </a:r>
                    </a:p>
                  </a:txBody>
                  <a:tcPr marL="73152" marR="73152">
                    <a:solidFill>
                      <a:srgbClr val="ECF1F5"/>
                    </a:solidFill>
                  </a:tcPr>
                </a:tc>
                <a:tc>
                  <a:txBody>
                    <a:bodyPr/>
                    <a:lstStyle/>
                    <a:p>
                      <a:r>
                        <a:rPr sz="1500" b="0" i="0">
                          <a:solidFill>
                            <a:srgbClr val="11202B"/>
                          </a:solidFill>
                          <a:latin typeface="Malgun Gothic"/>
                          <a:ea typeface="Malgun Gothic"/>
                          <a:cs typeface="Malgun Gothic"/>
                        </a:rPr>
                        <a:t>Va·VIIIa 분해 실패</a:t>
                      </a:r>
                    </a:p>
                  </a:txBody>
                  <a:tcPr marL="73152" marR="73152">
                    <a:solidFill>
                      <a:srgbClr val="ECF1F5"/>
                    </a:solidFill>
                  </a:tcPr>
                </a:tc>
                <a:tc>
                  <a:txBody>
                    <a:bodyPr/>
                    <a:lstStyle/>
                    <a:p>
                      <a:r>
                        <a:rPr sz="1500" b="0" i="0">
                          <a:solidFill>
                            <a:srgbClr val="11202B"/>
                          </a:solidFill>
                          <a:latin typeface="Malgun Gothic"/>
                          <a:ea typeface="Malgun Gothic"/>
                          <a:cs typeface="Malgun Gothic"/>
                        </a:rPr>
                        <a:t>와파린 유발 피부 괴사 위험</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항인지질항체 증후군</a:t>
                      </a:r>
                    </a:p>
                  </a:txBody>
                  <a:tcPr marL="73152" marR="73152">
                    <a:solidFill>
                      <a:srgbClr val="FFFFFF"/>
                    </a:solidFill>
                  </a:tcPr>
                </a:tc>
                <a:tc>
                  <a:txBody>
                    <a:bodyPr/>
                    <a:lstStyle/>
                    <a:p>
                      <a:r>
                        <a:rPr sz="1500" b="0" i="0">
                          <a:solidFill>
                            <a:srgbClr val="11202B"/>
                          </a:solidFill>
                          <a:latin typeface="Malgun Gothic"/>
                          <a:ea typeface="Malgun Gothic"/>
                          <a:cs typeface="Malgun Gothic"/>
                        </a:rPr>
                        <a:t>β2-당단백I·루푸스 항응고인자</a:t>
                      </a:r>
                    </a:p>
                  </a:txBody>
                  <a:tcPr marL="73152" marR="73152">
                    <a:solidFill>
                      <a:srgbClr val="FFFFFF"/>
                    </a:solidFill>
                  </a:tcPr>
                </a:tc>
                <a:tc>
                  <a:txBody>
                    <a:bodyPr/>
                    <a:lstStyle/>
                    <a:p>
                      <a:r>
                        <a:rPr sz="1500" b="0" i="0">
                          <a:solidFill>
                            <a:srgbClr val="11202B"/>
                          </a:solidFill>
                          <a:latin typeface="Malgun Gothic"/>
                          <a:ea typeface="Malgun Gothic"/>
                          <a:cs typeface="Malgun Gothic"/>
                        </a:rPr>
                        <a:t>동·정맥 혈전 + 산과 합병증; </a:t>
                      </a:r>
                      <a:r>
                        <a:rPr sz="1500" b="1" i="0">
                          <a:solidFill>
                            <a:srgbClr val="11202B"/>
                          </a:solidFill>
                          <a:latin typeface="Malgun Gothic"/>
                          <a:ea typeface="Malgun Gothic"/>
                          <a:cs typeface="Malgun Gothic"/>
                        </a:rPr>
                        <a:t>와파린이 1차</a:t>
                      </a:r>
                      <a:r>
                        <a:rPr sz="1500" b="0" i="0">
                          <a:solidFill>
                            <a:srgbClr val="11202B"/>
                          </a:solidFill>
                          <a:latin typeface="Malgun Gothic"/>
                          <a:ea typeface="Malgun Gothic"/>
                          <a:cs typeface="Malgun Gothic"/>
                        </a:rPr>
                        <a:t>(DOAC 열등, 특히 삼중 양성)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고호모시스테인혈증</a:t>
                      </a:r>
                    </a:p>
                  </a:txBody>
                  <a:tcPr marL="73152" marR="73152">
                    <a:solidFill>
                      <a:srgbClr val="ECF1F5"/>
                    </a:solidFill>
                  </a:tcPr>
                </a:tc>
                <a:tc>
                  <a:txBody>
                    <a:bodyPr/>
                    <a:lstStyle/>
                    <a:p>
                      <a:r>
                        <a:rPr sz="1500" b="0" i="0">
                          <a:solidFill>
                            <a:srgbClr val="11202B"/>
                          </a:solidFill>
                          <a:latin typeface="Malgun Gothic"/>
                          <a:ea typeface="Malgun Gothic"/>
                          <a:cs typeface="Malgun Gothic"/>
                        </a:rPr>
                        <a:t>내피 손상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인과 관계 약함, 보충이 사건을 줄이지 못함</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PNH</a:t>
                      </a:r>
                    </a:p>
                  </a:txBody>
                  <a:tcPr marL="73152" marR="73152">
                    <a:solidFill>
                      <a:srgbClr val="FFFFFF"/>
                    </a:solidFill>
                  </a:tcPr>
                </a:tc>
                <a:tc>
                  <a:txBody>
                    <a:bodyPr/>
                    <a:lstStyle/>
                    <a:p>
                      <a:r>
                        <a:rPr sz="1500" b="0" i="0">
                          <a:solidFill>
                            <a:srgbClr val="11202B"/>
                          </a:solidFill>
                          <a:latin typeface="Malgun Gothic"/>
                          <a:ea typeface="Malgun Gothic"/>
                          <a:cs typeface="Malgun Gothic"/>
                        </a:rPr>
                        <a:t>PIGA 변이 → CD55/59 결손</a:t>
                      </a:r>
                    </a:p>
                  </a:txBody>
                  <a:tcPr marL="73152" marR="73152">
                    <a:solidFill>
                      <a:srgbClr val="FFFFFF"/>
                    </a:solidFill>
                  </a:tcPr>
                </a:tc>
                <a:tc>
                  <a:txBody>
                    <a:bodyPr/>
                    <a:lstStyle/>
                    <a:p>
                      <a:r>
                        <a:rPr sz="1500" b="0" i="0">
                          <a:solidFill>
                            <a:srgbClr val="11202B"/>
                          </a:solidFill>
                          <a:latin typeface="Malgun Gothic"/>
                          <a:ea typeface="Malgun Gothic"/>
                          <a:cs typeface="Malgun Gothic"/>
                        </a:rPr>
                        <a:t>보체 매개 용혈 + 특이 부위 혈전; 에쿨리주맙·라불리주맙·페그세타코플란</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JAK2 V617F 골수증식성 질환</a:t>
                      </a:r>
                    </a:p>
                  </a:txBody>
                  <a:tcPr marL="73152" marR="73152">
                    <a:solidFill>
                      <a:srgbClr val="ECF1F5"/>
                    </a:solidFill>
                  </a:tcPr>
                </a:tc>
                <a:tc>
                  <a:txBody>
                    <a:bodyPr/>
                    <a:lstStyle/>
                    <a:p>
                      <a:r>
                        <a:rPr sz="1500" b="0" i="0">
                          <a:solidFill>
                            <a:srgbClr val="11202B"/>
                          </a:solidFill>
                          <a:latin typeface="Malgun Gothic"/>
                          <a:ea typeface="Malgun Gothic"/>
                          <a:cs typeface="Malgun Gothic"/>
                        </a:rPr>
                        <a:t>혈소판·적혈구 증가, 백혈구 활성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내장 정맥 혈전의 중요 원인</a:t>
                      </a:r>
                    </a:p>
                  </a:txBody>
                  <a:tcPr marL="73152" marR="73152">
                    <a:solidFill>
                      <a:srgbClr val="ECF1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2차 지혈: 세포 기반 응고 모형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9</a:t>
            </a:r>
          </a:p>
        </p:txBody>
      </p:sp>
      <p:sp>
        <p:nvSpPr>
          <p:cNvPr id="7" name="Rectangle 6"/>
          <p:cNvSpPr/>
          <p:nvPr/>
        </p:nvSpPr>
        <p:spPr>
          <a:xfrm>
            <a:off x="640080" y="1325880"/>
            <a:ext cx="10881360" cy="22987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전통적 내인·외인 경로 구분은 검사 해석의 틀이지, 생체 내 사건의 순서가 아니다. 생체에서는 ① 개시(조직인자-VIIa가 소량 트롬빈 생성) → ② 증폭(트롬빈이 V·VIII·XI·혈소판을 활성화) → ③ 전파(활성 혈소판 표면의 텐아제·프로트롬비나아제 복합체가 트롬빈 폭발) 순으로 진행된다.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출혈성 질환의 진단</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혈우병 A/B</a:t>
            </a:r>
            <a:r>
              <a:rPr sz="1800" b="0" i="0">
                <a:solidFill>
                  <a:srgbClr val="11202B"/>
                </a:solidFill>
                <a:latin typeface="Malgun Gothic"/>
                <a:ea typeface="Malgun Gothic"/>
                <a:cs typeface="Malgun Gothic"/>
              </a:rPr>
              <a:t>: X-연관 VIII/IX 결핍. 관절·근육 출혈, 관절병. 치료는 인자 보충(연장 반감기 제품), </a:t>
            </a:r>
            <a:r>
              <a:rPr sz="1800" b="1" i="0">
                <a:solidFill>
                  <a:srgbClr val="11202B"/>
                </a:solidFill>
                <a:latin typeface="Malgun Gothic"/>
                <a:ea typeface="Malgun Gothic"/>
                <a:cs typeface="Malgun Gothic"/>
              </a:rPr>
              <a:t>에미시주맙</a:t>
            </a:r>
            <a:r>
              <a:rPr sz="1800" b="0" i="0">
                <a:solidFill>
                  <a:srgbClr val="11202B"/>
                </a:solidFill>
                <a:latin typeface="Malgun Gothic"/>
                <a:ea typeface="Malgun Gothic"/>
                <a:cs typeface="Malgun Gothic"/>
              </a:rPr>
              <a:t>(IXa와 X를 잇는 이중특이 항체 — 억제자 보유자에게도 유효), 유전자 치료(에트라나코진·발록토코진). 억제자 발생 시 면역 관용 유도, 우회 제제(FEIBA, 활성 VII).</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비타민 K 결핍: 신생아 출혈성 질환(예방 주사의 근거), 장기 항생제·흡수장애·담도 폐쇄.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간질환의 응고는 </a:t>
            </a:r>
            <a:r>
              <a:rPr sz="1800" b="1" i="0">
                <a:solidFill>
                  <a:srgbClr val="11202B"/>
                </a:solidFill>
                <a:latin typeface="Malgun Gothic"/>
                <a:ea typeface="Malgun Gothic"/>
                <a:cs typeface="Malgun Gothic"/>
              </a:rPr>
              <a:t>"자가 재균형"</a:t>
            </a:r>
            <a:r>
              <a:rPr sz="1800" b="0" i="0">
                <a:solidFill>
                  <a:srgbClr val="11202B"/>
                </a:solidFill>
                <a:latin typeface="Malgun Gothic"/>
                <a:ea typeface="Malgun Gothic"/>
                <a:cs typeface="Malgun Gothic"/>
              </a:rPr>
              <a:t>: 응고인자와 항응고 단백이 함께 감소해 INR 연장이 출혈 위험을 신뢰성 있게 예측하지 못하며, 실제로는 혈전(문맥혈전)도 흔하다 → 예방적 신선냉동혈장 투여는 권장되지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출혈성 질환의 진단</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검사</a:t>
                      </a:r>
                    </a:p>
                  </a:txBody>
                  <a:tcPr marL="73152" marR="73152">
                    <a:solidFill>
                      <a:srgbClr val="003C71"/>
                    </a:solidFill>
                  </a:tcPr>
                </a:tc>
                <a:tc>
                  <a:txBody>
                    <a:bodyPr/>
                    <a:lstStyle/>
                    <a:p>
                      <a:r>
                        <a:rPr sz="1500" b="1" i="0">
                          <a:solidFill>
                            <a:srgbClr val="FFFFFF"/>
                          </a:solidFill>
                          <a:latin typeface="Malgun Gothic"/>
                          <a:ea typeface="Malgun Gothic"/>
                          <a:cs typeface="Malgun Gothic"/>
                        </a:rPr>
                        <a:t>반영 경로</a:t>
                      </a:r>
                    </a:p>
                  </a:txBody>
                  <a:tcPr marL="73152" marR="73152">
                    <a:solidFill>
                      <a:srgbClr val="003C71"/>
                    </a:solidFill>
                  </a:tcPr>
                </a:tc>
                <a:tc>
                  <a:txBody>
                    <a:bodyPr/>
                    <a:lstStyle/>
                    <a:p>
                      <a:r>
                        <a:rPr sz="1500" b="1" i="0">
                          <a:solidFill>
                            <a:srgbClr val="FFFFFF"/>
                          </a:solidFill>
                          <a:latin typeface="Malgun Gothic"/>
                          <a:ea typeface="Malgun Gothic"/>
                          <a:cs typeface="Malgun Gothic"/>
                        </a:rPr>
                        <a:t>연장 시 해석</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PT/INR</a:t>
                      </a:r>
                    </a:p>
                  </a:txBody>
                  <a:tcPr marL="73152" marR="73152">
                    <a:solidFill>
                      <a:srgbClr val="FFFFFF"/>
                    </a:solidFill>
                  </a:tcPr>
                </a:tc>
                <a:tc>
                  <a:txBody>
                    <a:bodyPr/>
                    <a:lstStyle/>
                    <a:p>
                      <a:r>
                        <a:rPr sz="1500" b="0" i="0">
                          <a:solidFill>
                            <a:srgbClr val="11202B"/>
                          </a:solidFill>
                          <a:latin typeface="Malgun Gothic"/>
                          <a:ea typeface="Malgun Gothic"/>
                          <a:cs typeface="Malgun Gothic"/>
                        </a:rPr>
                        <a:t>TF-VIIa-X-V-II(외인·공통)</a:t>
                      </a:r>
                    </a:p>
                  </a:txBody>
                  <a:tcPr marL="73152" marR="73152">
                    <a:solidFill>
                      <a:srgbClr val="FFFFFF"/>
                    </a:solidFill>
                  </a:tcPr>
                </a:tc>
                <a:tc>
                  <a:txBody>
                    <a:bodyPr/>
                    <a:lstStyle/>
                    <a:p>
                      <a:r>
                        <a:rPr sz="1500" b="0" i="0">
                          <a:solidFill>
                            <a:srgbClr val="11202B"/>
                          </a:solidFill>
                          <a:latin typeface="Malgun Gothic"/>
                          <a:ea typeface="Malgun Gothic"/>
                          <a:cs typeface="Malgun Gothic"/>
                        </a:rPr>
                        <a:t>VII 결핍, 와파린, 비타민 K 결핍, 간질환 초기</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aPTT</a:t>
                      </a:r>
                    </a:p>
                  </a:txBody>
                  <a:tcPr marL="73152" marR="73152">
                    <a:solidFill>
                      <a:srgbClr val="ECF1F5"/>
                    </a:solidFill>
                  </a:tcPr>
                </a:tc>
                <a:tc>
                  <a:txBody>
                    <a:bodyPr/>
                    <a:lstStyle/>
                    <a:p>
                      <a:r>
                        <a:rPr sz="1500" b="0" i="0">
                          <a:solidFill>
                            <a:srgbClr val="11202B"/>
                          </a:solidFill>
                          <a:latin typeface="Malgun Gothic"/>
                          <a:ea typeface="Malgun Gothic"/>
                          <a:cs typeface="Malgun Gothic"/>
                        </a:rPr>
                        <a:t>XII-XI-IX-VIII-X-V-II</a:t>
                      </a:r>
                    </a:p>
                  </a:txBody>
                  <a:tcPr marL="73152" marR="73152">
                    <a:solidFill>
                      <a:srgbClr val="ECF1F5"/>
                    </a:solidFill>
                  </a:tcPr>
                </a:tc>
                <a:tc>
                  <a:txBody>
                    <a:bodyPr/>
                    <a:lstStyle/>
                    <a:p>
                      <a:r>
                        <a:rPr sz="1500" b="0" i="0">
                          <a:solidFill>
                            <a:srgbClr val="11202B"/>
                          </a:solidFill>
                          <a:latin typeface="Malgun Gothic"/>
                          <a:ea typeface="Malgun Gothic"/>
                          <a:cs typeface="Malgun Gothic"/>
                        </a:rPr>
                        <a:t>혈우병 A/B, XI 결핍, 헤파린, 루푸스 항응고인자, VWD 중증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둘 다 연장</a:t>
                      </a:r>
                    </a:p>
                  </a:txBody>
                  <a:tcPr marL="73152" marR="73152">
                    <a:solidFill>
                      <a:srgbClr val="FFFFFF"/>
                    </a:solidFill>
                  </a:tcPr>
                </a:tc>
                <a:tc>
                  <a:txBody>
                    <a:bodyPr/>
                    <a:lstStyle/>
                    <a:p>
                      <a:r>
                        <a:rPr sz="1500" b="0" i="0">
                          <a:solidFill>
                            <a:srgbClr val="11202B"/>
                          </a:solidFill>
                          <a:latin typeface="Malgun Gothic"/>
                          <a:ea typeface="Malgun Gothic"/>
                          <a:cs typeface="Malgun Gothic"/>
                        </a:rPr>
                        <a:t>공통 경로·다인자</a:t>
                      </a:r>
                    </a:p>
                  </a:txBody>
                  <a:tcPr marL="73152" marR="73152">
                    <a:solidFill>
                      <a:srgbClr val="FFFFFF"/>
                    </a:solidFill>
                  </a:tcPr>
                </a:tc>
                <a:tc>
                  <a:txBody>
                    <a:bodyPr/>
                    <a:lstStyle/>
                    <a:p>
                      <a:r>
                        <a:rPr sz="1500" b="0" i="0">
                          <a:solidFill>
                            <a:srgbClr val="11202B"/>
                          </a:solidFill>
                          <a:latin typeface="Malgun Gothic"/>
                          <a:ea typeface="Malgun Gothic"/>
                          <a:cs typeface="Malgun Gothic"/>
                        </a:rPr>
                        <a:t>DIC, 간부전, 대량 수혈, X·V·II·피브리노겐 결핍</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혼합 검사(1:1)</a:t>
                      </a:r>
                    </a:p>
                  </a:txBody>
                  <a:tcPr marL="73152" marR="73152">
                    <a:solidFill>
                      <a:srgbClr val="ECF1F5"/>
                    </a:solidFill>
                  </a:tcPr>
                </a:tc>
                <a:tc>
                  <a:txBody>
                    <a:bodyPr/>
                    <a:lstStyle/>
                    <a:p>
                      <a:r>
                        <a:rPr sz="1500" b="0" i="0">
                          <a:solidFill>
                            <a:srgbClr val="11202B"/>
                          </a:solidFill>
                          <a:latin typeface="Malgun Gothic"/>
                          <a:ea typeface="Malgun Gothic"/>
                          <a:cs typeface="Malgun Gothic"/>
                        </a:rPr>
                        <a:t>교정 여부</a:t>
                      </a:r>
                    </a:p>
                  </a:txBody>
                  <a:tcPr marL="73152" marR="73152">
                    <a:solidFill>
                      <a:srgbClr val="ECF1F5"/>
                    </a:solidFill>
                  </a:tcPr>
                </a:tc>
                <a:tc>
                  <a:txBody>
                    <a:bodyPr/>
                    <a:lstStyle/>
                    <a:p>
                      <a:r>
                        <a:rPr sz="1500" b="1" i="0">
                          <a:solidFill>
                            <a:srgbClr val="11202B"/>
                          </a:solidFill>
                          <a:latin typeface="Malgun Gothic"/>
                          <a:ea typeface="Malgun Gothic"/>
                          <a:cs typeface="Malgun Gothic"/>
                        </a:rPr>
                        <a:t>교정됨 = 인자 결핍</a:t>
                      </a:r>
                      <a:r>
                        <a:rPr sz="1500" b="0" i="0">
                          <a:solidFill>
                            <a:srgbClr val="11202B"/>
                          </a:solidFill>
                          <a:latin typeface="Malgun Gothic"/>
                          <a:ea typeface="Malgun Gothic"/>
                          <a:cs typeface="Malgun Gothic"/>
                        </a:rPr>
                        <a:t>, 교정 안 됨 = 억제자(후천성 혈우병, 루푸스 항응고인자)</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피브리노겐·D-이중체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소모·분해</a:t>
                      </a:r>
                    </a:p>
                  </a:txBody>
                  <a:tcPr marL="73152" marR="73152">
                    <a:solidFill>
                      <a:srgbClr val="FFFFFF"/>
                    </a:solidFill>
                  </a:tcPr>
                </a:tc>
                <a:tc>
                  <a:txBody>
                    <a:bodyPr/>
                    <a:lstStyle/>
                    <a:p>
                      <a:r>
                        <a:rPr sz="1500" b="0" i="0">
                          <a:solidFill>
                            <a:srgbClr val="11202B"/>
                          </a:solidFill>
                          <a:latin typeface="Malgun Gothic"/>
                          <a:ea typeface="Malgun Gothic"/>
                          <a:cs typeface="Malgun Gothic"/>
                        </a:rPr>
                        <a:t>DIC에서 피브리노겐 ↓ D-이중체 ↑↑</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혈소판 기능(PFA, 응집 검사), VWF 항원·활성(리스토세틴 보조인자), 다량체 분석</a:t>
                      </a:r>
                    </a:p>
                  </a:txBody>
                  <a:tcPr marL="73152" marR="73152">
                    <a:solidFill>
                      <a:srgbClr val="ECF1F5"/>
                    </a:solidFill>
                  </a:tcPr>
                </a:tc>
                <a:tc>
                  <a:txBody>
                    <a:bodyPr/>
                    <a:lstStyle/>
                    <a:p>
                      <a:r>
                        <a:rPr sz="1500" b="0" i="0">
                          <a:solidFill>
                            <a:srgbClr val="11202B"/>
                          </a:solidFill>
                          <a:latin typeface="Malgun Gothic"/>
                          <a:ea typeface="Malgun Gothic"/>
                          <a:cs typeface="Malgun Gothic"/>
                        </a:rPr>
                        <a:t>1차 지혈</a:t>
                      </a:r>
                    </a:p>
                  </a:txBody>
                  <a:tcPr marL="73152" marR="73152">
                    <a:solidFill>
                      <a:srgbClr val="ECF1F5"/>
                    </a:solidFill>
                  </a:tcPr>
                </a:tc>
                <a:tc>
                  <a:txBody>
                    <a:bodyPr/>
                    <a:lstStyle/>
                    <a:p>
                      <a:r>
                        <a:rPr sz="1500" b="0" i="0">
                          <a:solidFill>
                            <a:srgbClr val="11202B"/>
                          </a:solidFill>
                          <a:latin typeface="Malgun Gothic"/>
                          <a:ea typeface="Malgun Gothic"/>
                          <a:cs typeface="Malgun Gothic"/>
                        </a:rPr>
                        <a:t>VWD 아형 결정</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점탄성 검사(TEG/ROTEM)</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전체 응고 역학</a:t>
                      </a:r>
                    </a:p>
                  </a:txBody>
                  <a:tcPr marL="73152" marR="73152">
                    <a:solidFill>
                      <a:srgbClr val="FFFFFF"/>
                    </a:solidFill>
                  </a:tcPr>
                </a:tc>
                <a:tc>
                  <a:txBody>
                    <a:bodyPr/>
                    <a:lstStyle/>
                    <a:p>
                      <a:r>
                        <a:rPr sz="1500" b="0" i="0">
                          <a:solidFill>
                            <a:srgbClr val="11202B"/>
                          </a:solidFill>
                          <a:latin typeface="Malgun Gothic"/>
                          <a:ea typeface="Malgun Gothic"/>
                          <a:cs typeface="Malgun Gothic"/>
                        </a:rPr>
                        <a:t>외상·간이식·심장수술에서 성분 수혈 지침</a:t>
                      </a:r>
                    </a:p>
                  </a:txBody>
                  <a:tcPr marL="73152" marR="73152">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항혈소판제·항응고제와 역전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헤파린 유발 혈소판 감소증(HIT)</a:t>
            </a:r>
            <a:r>
              <a:rPr sz="2200" b="0" i="0">
                <a:solidFill>
                  <a:srgbClr val="11202B"/>
                </a:solidFill>
                <a:latin typeface="Malgun Gothic"/>
                <a:ea typeface="Malgun Gothic"/>
                <a:cs typeface="Malgun Gothic"/>
              </a:rPr>
              <a:t>: 헤파린-PF4 복합체에 대한 IgG가 FcγRIIa를 통해 혈소판을 활성화 → 혈소판 감소 + </a:t>
            </a:r>
            <a:r>
              <a:rPr sz="2200" b="1" i="0">
                <a:solidFill>
                  <a:srgbClr val="11202B"/>
                </a:solidFill>
                <a:latin typeface="Malgun Gothic"/>
                <a:ea typeface="Malgun Gothic"/>
                <a:cs typeface="Malgun Gothic"/>
              </a:rPr>
              <a:t>혈전</a:t>
            </a:r>
            <a:r>
              <a:rPr sz="2200" b="0" i="0">
                <a:solidFill>
                  <a:srgbClr val="11202B"/>
                </a:solidFill>
                <a:latin typeface="Malgun Gothic"/>
                <a:ea typeface="Malgun Gothic"/>
                <a:cs typeface="Malgun Gothic"/>
              </a:rPr>
              <a:t>. 4T 점수 → 면역 검사 → 세로토닌 방출 검사. 치료는 </a:t>
            </a:r>
            <a:r>
              <a:rPr sz="2200" b="1" i="0">
                <a:solidFill>
                  <a:srgbClr val="11202B"/>
                </a:solidFill>
                <a:latin typeface="Malgun Gothic"/>
                <a:ea typeface="Malgun Gothic"/>
                <a:cs typeface="Malgun Gothic"/>
              </a:rPr>
              <a:t>모든 헤파린 중단 + 비헤파린 항응고제</a:t>
            </a:r>
            <a:r>
              <a:rPr sz="2200" b="0" i="0">
                <a:solidFill>
                  <a:srgbClr val="11202B"/>
                </a:solidFill>
                <a:latin typeface="Malgun Gothic"/>
                <a:ea typeface="Malgun Gothic"/>
                <a:cs typeface="Malgun Gothic"/>
              </a:rPr>
              <a:t>(아르가트로반, 비발리루딘, 폰다파리눅스, DOAC); 혈소판 수혈과 단독 와파린 시작은 피한다.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항혈소판제·항응고제와 역전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특징·역전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아스피린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COX-1 비가역 아세틸화 → TXA2 ↓</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혈소판 수명 동안 지속; 역전 = 혈소판 수혈·데스모프레신</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클로피도그렐·프라수그렐·티카그렐러</a:t>
                      </a:r>
                    </a:p>
                  </a:txBody>
                  <a:tcPr marL="73152" marR="73152">
                    <a:solidFill>
                      <a:srgbClr val="ECF1F5"/>
                    </a:solidFill>
                  </a:tcPr>
                </a:tc>
                <a:tc>
                  <a:txBody>
                    <a:bodyPr/>
                    <a:lstStyle/>
                    <a:p>
                      <a:r>
                        <a:rPr sz="1500" b="0" i="0">
                          <a:solidFill>
                            <a:srgbClr val="11202B"/>
                          </a:solidFill>
                          <a:latin typeface="Malgun Gothic"/>
                          <a:ea typeface="Malgun Gothic"/>
                          <a:cs typeface="Malgun Gothic"/>
                        </a:rPr>
                        <a:t>P2Y12</a:t>
                      </a:r>
                    </a:p>
                  </a:txBody>
                  <a:tcPr marL="73152" marR="73152">
                    <a:solidFill>
                      <a:srgbClr val="ECF1F5"/>
                    </a:solidFill>
                  </a:tcPr>
                </a:tc>
                <a:tc>
                  <a:txBody>
                    <a:bodyPr/>
                    <a:lstStyle/>
                    <a:p>
                      <a:r>
                        <a:rPr sz="1500" b="0" i="0">
                          <a:solidFill>
                            <a:srgbClr val="11202B"/>
                          </a:solidFill>
                          <a:latin typeface="Malgun Gothic"/>
                          <a:ea typeface="Malgun Gothic"/>
                          <a:cs typeface="Malgun Gothic"/>
                        </a:rPr>
                        <a:t>클로피도그렐은 </a:t>
                      </a:r>
                      <a:r>
                        <a:rPr sz="1500" b="1" i="0">
                          <a:solidFill>
                            <a:srgbClr val="11202B"/>
                          </a:solidFill>
                          <a:latin typeface="Malgun Gothic"/>
                          <a:ea typeface="Malgun Gothic"/>
                          <a:cs typeface="Malgun Gothic"/>
                        </a:rPr>
                        <a:t>CYP2C19</a:t>
                      </a:r>
                      <a:r>
                        <a:rPr sz="1500" b="0" i="0">
                          <a:solidFill>
                            <a:srgbClr val="11202B"/>
                          </a:solidFill>
                          <a:latin typeface="Malgun Gothic"/>
                          <a:ea typeface="Malgun Gothic"/>
                          <a:cs typeface="Malgun Gothic"/>
                        </a:rPr>
                        <a:t> 전구약물 활성화 필요(저기능 대립유전자 → 효과 감소)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티로피반·엡티피바타이드</a:t>
                      </a:r>
                    </a:p>
                  </a:txBody>
                  <a:tcPr marL="73152" marR="73152">
                    <a:solidFill>
                      <a:srgbClr val="FFFFFF"/>
                    </a:solidFill>
                  </a:tcPr>
                </a:tc>
                <a:tc>
                  <a:txBody>
                    <a:bodyPr/>
                    <a:lstStyle/>
                    <a:p>
                      <a:r>
                        <a:rPr sz="1500" b="0" i="0">
                          <a:solidFill>
                            <a:srgbClr val="11202B"/>
                          </a:solidFill>
                          <a:latin typeface="Malgun Gothic"/>
                          <a:ea typeface="Malgun Gothic"/>
                          <a:cs typeface="Malgun Gothic"/>
                        </a:rPr>
                        <a:t>GPIIb/IIIa</a:t>
                      </a:r>
                    </a:p>
                  </a:txBody>
                  <a:tcPr marL="73152" marR="73152">
                    <a:solidFill>
                      <a:srgbClr val="FFFFFF"/>
                    </a:solidFill>
                  </a:tcPr>
                </a:tc>
                <a:tc>
                  <a:txBody>
                    <a:bodyPr/>
                    <a:lstStyle/>
                    <a:p>
                      <a:r>
                        <a:rPr sz="1500" b="0" i="0">
                          <a:solidFill>
                            <a:srgbClr val="11202B"/>
                          </a:solidFill>
                          <a:latin typeface="Malgun Gothic"/>
                          <a:ea typeface="Malgun Gothic"/>
                          <a:cs typeface="Malgun Gothic"/>
                        </a:rPr>
                        <a:t>가역, 혈소판 감소 가능</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헤파린(UFH)</a:t>
                      </a:r>
                    </a:p>
                  </a:txBody>
                  <a:tcPr marL="73152" marR="73152">
                    <a:solidFill>
                      <a:srgbClr val="ECF1F5"/>
                    </a:solidFill>
                  </a:tcPr>
                </a:tc>
                <a:tc>
                  <a:txBody>
                    <a:bodyPr/>
                    <a:lstStyle/>
                    <a:p>
                      <a:r>
                        <a:rPr sz="1500" b="0" i="0">
                          <a:solidFill>
                            <a:srgbClr val="11202B"/>
                          </a:solidFill>
                          <a:latin typeface="Malgun Gothic"/>
                          <a:ea typeface="Malgun Gothic"/>
                          <a:cs typeface="Malgun Gothic"/>
                        </a:rPr>
                        <a:t>안티트롬빈 가속(IIa=Xa)</a:t>
                      </a:r>
                    </a:p>
                  </a:txBody>
                  <a:tcPr marL="73152" marR="73152">
                    <a:solidFill>
                      <a:srgbClr val="ECF1F5"/>
                    </a:solidFill>
                  </a:tcPr>
                </a:tc>
                <a:tc>
                  <a:txBody>
                    <a:bodyPr/>
                    <a:lstStyle/>
                    <a:p>
                      <a:r>
                        <a:rPr sz="1500" b="0" i="0">
                          <a:solidFill>
                            <a:srgbClr val="11202B"/>
                          </a:solidFill>
                          <a:latin typeface="Malgun Gothic"/>
                          <a:ea typeface="Malgun Gothic"/>
                          <a:cs typeface="Malgun Gothic"/>
                        </a:rPr>
                        <a:t>aPTT·항-Xa 감시, </a:t>
                      </a:r>
                      <a:r>
                        <a:rPr sz="1500" b="1" i="0">
                          <a:solidFill>
                            <a:srgbClr val="11202B"/>
                          </a:solidFill>
                          <a:latin typeface="Malgun Gothic"/>
                          <a:ea typeface="Malgun Gothic"/>
                          <a:cs typeface="Malgun Gothic"/>
                        </a:rPr>
                        <a:t>프로타민</a:t>
                      </a:r>
                      <a:r>
                        <a:rPr sz="1500" b="0" i="0">
                          <a:solidFill>
                            <a:srgbClr val="11202B"/>
                          </a:solidFill>
                          <a:latin typeface="Malgun Gothic"/>
                          <a:ea typeface="Malgun Gothic"/>
                          <a:cs typeface="Malgun Gothic"/>
                        </a:rPr>
                        <a:t>으로 역전, </a:t>
                      </a:r>
                      <a:r>
                        <a:rPr sz="1500" b="1" i="0">
                          <a:solidFill>
                            <a:srgbClr val="11202B"/>
                          </a:solidFill>
                          <a:latin typeface="Malgun Gothic"/>
                          <a:ea typeface="Malgun Gothic"/>
                          <a:cs typeface="Malgun Gothic"/>
                        </a:rPr>
                        <a:t>HIT</a:t>
                      </a:r>
                      <a:r>
                        <a:rPr sz="1500" b="0" i="0">
                          <a:solidFill>
                            <a:srgbClr val="11202B"/>
                          </a:solidFill>
                          <a:latin typeface="Malgun Gothic"/>
                          <a:ea typeface="Malgun Gothic"/>
                          <a:cs typeface="Malgun Gothic"/>
                        </a:rPr>
                        <a:t> 위험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LMWH, 폰다파리눅스</a:t>
                      </a:r>
                    </a:p>
                  </a:txBody>
                  <a:tcPr marL="73152" marR="73152">
                    <a:solidFill>
                      <a:srgbClr val="FFFFFF"/>
                    </a:solidFill>
                  </a:tcPr>
                </a:tc>
                <a:tc>
                  <a:txBody>
                    <a:bodyPr/>
                    <a:lstStyle/>
                    <a:p>
                      <a:r>
                        <a:rPr sz="1500" b="0" i="0">
                          <a:solidFill>
                            <a:srgbClr val="11202B"/>
                          </a:solidFill>
                          <a:latin typeface="Malgun Gothic"/>
                          <a:ea typeface="Malgun Gothic"/>
                          <a:cs typeface="Malgun Gothic"/>
                        </a:rPr>
                        <a:t>주로 Xa</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신기능 의존, 프로타민 부분적/무효</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와파린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VKORC1</a:t>
                      </a:r>
                    </a:p>
                  </a:txBody>
                  <a:tcPr marL="73152" marR="73152">
                    <a:solidFill>
                      <a:srgbClr val="ECF1F5"/>
                    </a:solidFill>
                  </a:tcPr>
                </a:tc>
                <a:tc>
                  <a:txBody>
                    <a:bodyPr/>
                    <a:lstStyle/>
                    <a:p>
                      <a:r>
                        <a:rPr sz="1500" b="0" i="0">
                          <a:solidFill>
                            <a:srgbClr val="11202B"/>
                          </a:solidFill>
                          <a:latin typeface="Malgun Gothic"/>
                          <a:ea typeface="Malgun Gothic"/>
                          <a:cs typeface="Malgun Gothic"/>
                        </a:rPr>
                        <a:t>INR 감시, 비타민 K + </a:t>
                      </a:r>
                      <a:r>
                        <a:rPr sz="1500" b="1" i="0">
                          <a:solidFill>
                            <a:srgbClr val="11202B"/>
                          </a:solidFill>
                          <a:latin typeface="Malgun Gothic"/>
                          <a:ea typeface="Malgun Gothic"/>
                          <a:cs typeface="Malgun Gothic"/>
                        </a:rPr>
                        <a:t>4인자 PCC</a:t>
                      </a:r>
                      <a:r>
                        <a:rPr sz="1500" b="0" i="0">
                          <a:solidFill>
                            <a:srgbClr val="11202B"/>
                          </a:solidFill>
                          <a:latin typeface="Malgun Gothic"/>
                          <a:ea typeface="Malgun Gothic"/>
                          <a:cs typeface="Malgun Gothic"/>
                        </a:rPr>
                        <a:t>(출혈 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다비가트란</a:t>
                      </a:r>
                    </a:p>
                  </a:txBody>
                  <a:tcPr marL="73152" marR="73152">
                    <a:solidFill>
                      <a:srgbClr val="FFFFFF"/>
                    </a:solidFill>
                  </a:tcPr>
                </a:tc>
                <a:tc>
                  <a:txBody>
                    <a:bodyPr/>
                    <a:lstStyle/>
                    <a:p>
                      <a:r>
                        <a:rPr sz="1500" b="0" i="0">
                          <a:solidFill>
                            <a:srgbClr val="11202B"/>
                          </a:solidFill>
                          <a:latin typeface="Malgun Gothic"/>
                          <a:ea typeface="Malgun Gothic"/>
                          <a:cs typeface="Malgun Gothic"/>
                        </a:rPr>
                        <a:t>직접 IIa</a:t>
                      </a:r>
                    </a:p>
                  </a:txBody>
                  <a:tcPr marL="73152" marR="73152">
                    <a:solidFill>
                      <a:srgbClr val="FFFFFF"/>
                    </a:solidFill>
                  </a:tcPr>
                </a:tc>
                <a:tc>
                  <a:txBody>
                    <a:bodyPr/>
                    <a:lstStyle/>
                    <a:p>
                      <a:r>
                        <a:rPr sz="1500" b="1" i="0">
                          <a:solidFill>
                            <a:srgbClr val="11202B"/>
                          </a:solidFill>
                          <a:latin typeface="Malgun Gothic"/>
                          <a:ea typeface="Malgun Gothic"/>
                          <a:cs typeface="Malgun Gothic"/>
                        </a:rPr>
                        <a:t>이다루시주맙</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리바록사반·아픽사반·에독사반</a:t>
                      </a:r>
                    </a:p>
                  </a:txBody>
                  <a:tcPr marL="73152" marR="73152">
                    <a:solidFill>
                      <a:srgbClr val="ECF1F5"/>
                    </a:solidFill>
                  </a:tcPr>
                </a:tc>
                <a:tc>
                  <a:txBody>
                    <a:bodyPr/>
                    <a:lstStyle/>
                    <a:p>
                      <a:r>
                        <a:rPr sz="1500" b="0" i="0">
                          <a:solidFill>
                            <a:srgbClr val="11202B"/>
                          </a:solidFill>
                          <a:latin typeface="Malgun Gothic"/>
                          <a:ea typeface="Malgun Gothic"/>
                          <a:cs typeface="Malgun Gothic"/>
                        </a:rPr>
                        <a:t>직접 Xa</a:t>
                      </a:r>
                    </a:p>
                  </a:txBody>
                  <a:tcPr marL="73152" marR="73152">
                    <a:solidFill>
                      <a:srgbClr val="ECF1F5"/>
                    </a:solidFill>
                  </a:tcPr>
                </a:tc>
                <a:tc>
                  <a:txBody>
                    <a:bodyPr/>
                    <a:lstStyle/>
                    <a:p>
                      <a:r>
                        <a:rPr sz="1500" b="1" i="0">
                          <a:solidFill>
                            <a:srgbClr val="11202B"/>
                          </a:solidFill>
                          <a:latin typeface="Malgun Gothic"/>
                          <a:ea typeface="Malgun Gothic"/>
                          <a:cs typeface="Malgun Gothic"/>
                        </a:rPr>
                        <a:t>안덱사네트 알파</a:t>
                      </a:r>
                      <a:r>
                        <a:rPr sz="1500" b="0" i="0">
                          <a:solidFill>
                            <a:srgbClr val="11202B"/>
                          </a:solidFill>
                          <a:latin typeface="Malgun Gothic"/>
                          <a:ea typeface="Malgun Gothic"/>
                          <a:cs typeface="Malgun Gothic"/>
                        </a:rPr>
                        <a:t> 또는 PCC</a:t>
                      </a:r>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항혈소판제·항응고제와 역전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약물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특징·역전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알테플라아제·테넥테플라아제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플라스미노겐 활성화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뇌졸중·폐색전; 출혈 시 한랭침전물·트라넥삼산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트라넥삼산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플라스미노겐 라이신 결합 차단</a:t>
                      </a:r>
                    </a:p>
                  </a:txBody>
                  <a:tcPr marL="73152" marR="73152">
                    <a:solidFill>
                      <a:srgbClr val="ECF1F5"/>
                    </a:solidFill>
                  </a:tcPr>
                </a:tc>
                <a:tc>
                  <a:txBody>
                    <a:bodyPr/>
                    <a:lstStyle/>
                    <a:p>
                      <a:r>
                        <a:rPr sz="1500" b="0" i="0">
                          <a:solidFill>
                            <a:srgbClr val="11202B"/>
                          </a:solidFill>
                          <a:latin typeface="Malgun Gothic"/>
                          <a:ea typeface="Malgun Gothic"/>
                          <a:cs typeface="Malgun Gothic"/>
                        </a:rPr>
                        <a:t>외상(CRASH-2)·산후출혈(WOMAN)에서 조기 투여가 핵심</a:t>
                      </a:r>
                    </a:p>
                  </a:txBody>
                  <a:tcPr marL="73152" marR="73152">
                    <a:solidFill>
                      <a:srgbClr val="ECF1F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DIC와 혈소판 미세혈관병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DIC 보충 원칙: 출혈형에는 혈소판·신선냉동혈장·피브리노겐(한랭침전물) — 검사 수치만으로가 아니라 </a:t>
            </a:r>
            <a:r>
              <a:rPr sz="2200" b="1" i="0">
                <a:solidFill>
                  <a:srgbClr val="11202B"/>
                </a:solidFill>
                <a:latin typeface="Malgun Gothic"/>
                <a:ea typeface="Malgun Gothic"/>
                <a:cs typeface="Malgun Gothic"/>
              </a:rPr>
              <a:t>출혈 여부로 결정</a:t>
            </a:r>
            <a:r>
              <a:rPr sz="2200" b="0" i="0">
                <a:solidFill>
                  <a:srgbClr val="11202B"/>
                </a:solidFill>
                <a:latin typeface="Malgun Gothic"/>
                <a:ea typeface="Malgun Gothic"/>
                <a:cs typeface="Malgun Gothic"/>
              </a:rPr>
              <a:t>. 혈전형(장기 부전 우세)에는 치료 용량 헤파린 고려. 급성 전골수세포 백혈병의 DIC는 ATRA 조기 투여가 핵심.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DIC와 혈소판 미세혈관병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구분</a:t>
                      </a:r>
                    </a:p>
                  </a:txBody>
                  <a:tcPr marL="73152" marR="73152">
                    <a:solidFill>
                      <a:srgbClr val="003C71"/>
                    </a:solidFill>
                  </a:tcPr>
                </a:tc>
                <a:tc>
                  <a:txBody>
                    <a:bodyPr/>
                    <a:lstStyle/>
                    <a:p>
                      <a:r>
                        <a:rPr sz="1500" b="1" i="0">
                          <a:solidFill>
                            <a:srgbClr val="FFFFFF"/>
                          </a:solidFill>
                          <a:latin typeface="Malgun Gothic"/>
                          <a:ea typeface="Malgun Gothic"/>
                          <a:cs typeface="Malgun Gothic"/>
                        </a:rPr>
                        <a:t>DIC</a:t>
                      </a:r>
                    </a:p>
                  </a:txBody>
                  <a:tcPr marL="73152" marR="73152">
                    <a:solidFill>
                      <a:srgbClr val="003C71"/>
                    </a:solidFill>
                  </a:tcPr>
                </a:tc>
                <a:tc>
                  <a:txBody>
                    <a:bodyPr/>
                    <a:lstStyle/>
                    <a:p>
                      <a:r>
                        <a:rPr sz="1500" b="1" i="0">
                          <a:solidFill>
                            <a:srgbClr val="FFFFFF"/>
                          </a:solidFill>
                          <a:latin typeface="Malgun Gothic"/>
                          <a:ea typeface="Malgun Gothic"/>
                          <a:cs typeface="Malgun Gothic"/>
                        </a:rPr>
                        <a:t>TTP</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비정형 HUS</a:t>
                      </a:r>
                    </a:p>
                  </a:txBody>
                  <a:tcPr marL="73152" marR="73152">
                    <a:solidFill>
                      <a:srgbClr val="003C71"/>
                    </a:solidFill>
                  </a:tcPr>
                </a:tc>
                <a:tc>
                  <a:txBody>
                    <a:bodyPr/>
                    <a:lstStyle/>
                    <a:p>
                      <a:r>
                        <a:rPr sz="1500" b="1" i="0">
                          <a:solidFill>
                            <a:srgbClr val="FFFFFF"/>
                          </a:solidFill>
                          <a:latin typeface="Malgun Gothic"/>
                          <a:ea typeface="Malgun Gothic"/>
                          <a:cs typeface="Malgun Gothic"/>
                        </a:rPr>
                        <a:t>HIT</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기전</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전신 TF 노출 → 응고·섬유소분해 동시 활성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ADAMTS13 결핍(대부분 자가항체)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보체 조절 이상(CFH, CFI, MCP, C3)</a:t>
                      </a:r>
                    </a:p>
                  </a:txBody>
                  <a:tcPr marL="73152" marR="73152">
                    <a:solidFill>
                      <a:srgbClr val="FFFFFF"/>
                    </a:solidFill>
                  </a:tcPr>
                </a:tc>
                <a:tc>
                  <a:txBody>
                    <a:bodyPr/>
                    <a:lstStyle/>
                    <a:p>
                      <a:r>
                        <a:rPr sz="1500" b="0" i="0">
                          <a:solidFill>
                            <a:srgbClr val="11202B"/>
                          </a:solidFill>
                          <a:latin typeface="Malgun Gothic"/>
                          <a:ea typeface="Malgun Gothic"/>
                          <a:cs typeface="Malgun Gothic"/>
                        </a:rPr>
                        <a:t>항-PF4 항체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PT/aPTT</a:t>
                      </a:r>
                    </a:p>
                  </a:txBody>
                  <a:tcPr marL="73152" marR="73152">
                    <a:solidFill>
                      <a:srgbClr val="ECF1F5"/>
                    </a:solidFill>
                  </a:tcPr>
                </a:tc>
                <a:tc>
                  <a:txBody>
                    <a:bodyPr/>
                    <a:lstStyle/>
                    <a:p>
                      <a:r>
                        <a:rPr sz="1500" b="1" i="0">
                          <a:solidFill>
                            <a:srgbClr val="11202B"/>
                          </a:solidFill>
                          <a:latin typeface="Malgun Gothic"/>
                          <a:ea typeface="Malgun Gothic"/>
                          <a:cs typeface="Malgun Gothic"/>
                        </a:rPr>
                        <a:t>연장</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피브리노겐</a:t>
                      </a:r>
                    </a:p>
                  </a:txBody>
                  <a:tcPr marL="73152" marR="73152">
                    <a:solidFill>
                      <a:srgbClr val="FFFFFF"/>
                    </a:solidFill>
                  </a:tcPr>
                </a:tc>
                <a:tc>
                  <a:txBody>
                    <a:bodyPr/>
                    <a:lstStyle/>
                    <a:p>
                      <a:r>
                        <a:rPr sz="1500" b="1" i="0">
                          <a:solidFill>
                            <a:srgbClr val="11202B"/>
                          </a:solidFill>
                          <a:latin typeface="Malgun Gothic"/>
                          <a:ea typeface="Malgun Gothic"/>
                          <a:cs typeface="Malgun Gothic"/>
                        </a:rPr>
                        <a:t>감소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c>
                  <a:txBody>
                    <a:bodyPr/>
                    <a:lstStyle/>
                    <a:p>
                      <a:r>
                        <a:rPr sz="1500" b="0" i="0">
                          <a:solidFill>
                            <a:srgbClr val="11202B"/>
                          </a:solidFill>
                          <a:latin typeface="Malgun Gothic"/>
                          <a:ea typeface="Malgun Gothic"/>
                          <a:cs typeface="Malgun Gothic"/>
                        </a:rPr>
                        <a:t>정상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D-이중체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정상/경도</a:t>
                      </a:r>
                    </a:p>
                  </a:txBody>
                  <a:tcPr marL="73152" marR="73152">
                    <a:solidFill>
                      <a:srgbClr val="ECF1F5"/>
                    </a:solidFill>
                  </a:tcPr>
                </a:tc>
                <a:tc>
                  <a:txBody>
                    <a:bodyPr/>
                    <a:lstStyle/>
                    <a:p>
                      <a:r>
                        <a:rPr sz="1500" b="0" i="0">
                          <a:solidFill>
                            <a:srgbClr val="11202B"/>
                          </a:solidFill>
                          <a:latin typeface="Malgun Gothic"/>
                          <a:ea typeface="Malgun Gothic"/>
                          <a:cs typeface="Malgun Gothic"/>
                        </a:rPr>
                        <a:t>경도</a:t>
                      </a:r>
                    </a:p>
                  </a:txBody>
                  <a:tcPr marL="73152" marR="73152">
                    <a:solidFill>
                      <a:srgbClr val="ECF1F5"/>
                    </a:solidFill>
                  </a:tcPr>
                </a:tc>
                <a:tc>
                  <a:txBody>
                    <a:bodyPr/>
                    <a:lstStyle/>
                    <a:p>
                      <a:r>
                        <a:rPr sz="1500" b="0" i="0">
                          <a:solidFill>
                            <a:srgbClr val="11202B"/>
                          </a:solidFill>
                          <a:latin typeface="Malgun Gothic"/>
                          <a:ea typeface="Malgun Gothic"/>
                          <a:cs typeface="Malgun Gothic"/>
                        </a:rPr>
                        <a:t>↑</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핵심 치료</a:t>
                      </a:r>
                    </a:p>
                  </a:txBody>
                  <a:tcPr marL="73152" marR="73152">
                    <a:solidFill>
                      <a:srgbClr val="FFFFFF"/>
                    </a:solidFill>
                  </a:tcPr>
                </a:tc>
                <a:tc>
                  <a:txBody>
                    <a:bodyPr/>
                    <a:lstStyle/>
                    <a:p>
                      <a:r>
                        <a:rPr sz="1500" b="1" i="0">
                          <a:solidFill>
                            <a:srgbClr val="11202B"/>
                          </a:solidFill>
                          <a:latin typeface="Malgun Gothic"/>
                          <a:ea typeface="Malgun Gothic"/>
                          <a:cs typeface="Malgun Gothic"/>
                        </a:rPr>
                        <a:t>원인 치료</a:t>
                      </a:r>
                      <a:r>
                        <a:rPr sz="1500" b="0" i="0">
                          <a:solidFill>
                            <a:srgbClr val="11202B"/>
                          </a:solidFill>
                          <a:latin typeface="Malgun Gothic"/>
                          <a:ea typeface="Malgun Gothic"/>
                          <a:cs typeface="Malgun Gothic"/>
                        </a:rPr>
                        <a:t>(감염·산과·악성) + 성분 보충</a:t>
                      </a:r>
                    </a:p>
                  </a:txBody>
                  <a:tcPr marL="73152" marR="73152">
                    <a:solidFill>
                      <a:srgbClr val="FFFFFF"/>
                    </a:solidFill>
                  </a:tcPr>
                </a:tc>
                <a:tc>
                  <a:txBody>
                    <a:bodyPr/>
                    <a:lstStyle/>
                    <a:p>
                      <a:r>
                        <a:rPr sz="1500" b="1" i="0">
                          <a:solidFill>
                            <a:srgbClr val="11202B"/>
                          </a:solidFill>
                          <a:latin typeface="Malgun Gothic"/>
                          <a:ea typeface="Malgun Gothic"/>
                          <a:cs typeface="Malgun Gothic"/>
                        </a:rPr>
                        <a:t>혈장교환</a:t>
                      </a:r>
                      <a:r>
                        <a:rPr sz="1500" b="0" i="0">
                          <a:solidFill>
                            <a:srgbClr val="11202B"/>
                          </a:solidFill>
                          <a:latin typeface="Malgun Gothic"/>
                          <a:ea typeface="Malgun Gothic"/>
                          <a:cs typeface="Malgun Gothic"/>
                        </a:rPr>
                        <a:t> + 스테로이드 + 리툭시맙 + </a:t>
                      </a:r>
                      <a:r>
                        <a:rPr sz="1500" b="1" i="0">
                          <a:solidFill>
                            <a:srgbClr val="11202B"/>
                          </a:solidFill>
                          <a:latin typeface="Malgun Gothic"/>
                          <a:ea typeface="Malgun Gothic"/>
                          <a:cs typeface="Malgun Gothic"/>
                        </a:rPr>
                        <a:t>카플라시주맙</a:t>
                      </a:r>
                    </a:p>
                  </a:txBody>
                  <a:tcPr marL="73152" marR="73152">
                    <a:solidFill>
                      <a:srgbClr val="FFFFFF"/>
                    </a:solidFill>
                  </a:tcPr>
                </a:tc>
                <a:tc>
                  <a:txBody>
                    <a:bodyPr/>
                    <a:lstStyle/>
                    <a:p>
                      <a:r>
                        <a:rPr sz="1500" b="1" i="0">
                          <a:solidFill>
                            <a:srgbClr val="11202B"/>
                          </a:solidFill>
                          <a:latin typeface="Malgun Gothic"/>
                          <a:ea typeface="Malgun Gothic"/>
                          <a:cs typeface="Malgun Gothic"/>
                        </a:rPr>
                        <a:t>에쿨리주맙/라불리주맙</a:t>
                      </a:r>
                    </a:p>
                  </a:txBody>
                  <a:tcPr marL="73152" marR="73152">
                    <a:solidFill>
                      <a:srgbClr val="FFFFFF"/>
                    </a:solidFill>
                  </a:tcPr>
                </a:tc>
                <a:tc>
                  <a:txBody>
                    <a:bodyPr/>
                    <a:lstStyle/>
                    <a:p>
                      <a:r>
                        <a:rPr sz="1500" b="0" i="0">
                          <a:solidFill>
                            <a:srgbClr val="11202B"/>
                          </a:solidFill>
                          <a:latin typeface="Malgun Gothic"/>
                          <a:ea typeface="Malgun Gothic"/>
                          <a:cs typeface="Malgun Gothic"/>
                        </a:rPr>
                        <a:t>비헤파린 항응고</a:t>
                      </a:r>
                    </a:p>
                  </a:txBody>
                  <a:tcPr marL="73152" marR="7315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DIC와 혈소판 미세혈관병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17</a:t>
            </a:r>
          </a:p>
        </p:txBody>
      </p:sp>
      <p:sp>
        <p:nvSpPr>
          <p:cNvPr id="7" name="Rectangle 6"/>
          <p:cNvSpPr/>
          <p:nvPr/>
        </p:nvSpPr>
        <p:spPr>
          <a:xfrm>
            <a:off x="640080" y="1325880"/>
            <a:ext cx="10881360" cy="30353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혈소판 감소 + 미세혈관병성 용혈(파편적혈구, LDH ↑, 합토글로빈 ↓)은 응급 상황이다. PT/aPTT와 피브리노겐이 정상이면 소모성 응고보다 TTP나 비정형 HUS를 먼저 의심해야 하며, ADAMTS13 결과를 기다리는 동안 PLASMIC 점수가 높으면 </a:t>
            </a:r>
            <a:r>
              <a:rPr sz="2000" b="1" i="0">
                <a:solidFill>
                  <a:srgbClr val="11202B"/>
                </a:solidFill>
                <a:latin typeface="Malgun Gothic"/>
                <a:ea typeface="Malgun Gothic"/>
                <a:cs typeface="Malgun Gothic"/>
              </a:rPr>
              <a:t>즉시 혈장교환</a:t>
            </a:r>
            <a:r>
              <a:rPr sz="2000" b="0" i="0">
                <a:solidFill>
                  <a:srgbClr val="11202B"/>
                </a:solidFill>
                <a:latin typeface="Malgun Gothic"/>
                <a:ea typeface="Malgun Gothic"/>
                <a:cs typeface="Malgun Gothic"/>
              </a:rPr>
              <a:t>을 시작한다. 반대로 PT·aPTT 연장과 피브리노겐 감소가 함께 있으면 기저 원인(패혈증, 태반 조기박리, 악성종양)을 찾는 것이 치료의 본체다.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접촉 경로 인자 XI·XII를 표적하는 항응고제가 출혈 위험을 낮춘 항혈전 치료의 가능성을 임상 3상에서 시험하고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혈우병 유전자 치료가 장기 발현 지속성과 간 안전성 자료를 축적하며 보충 치료의 대안으로 자리잡아가고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보체 경로의 다단계 억제제(인자 B·D, C3 표적)가 PNH와 보체 매개 신질환에서 선택지를 넓히고 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1차 지혈은 VWF-GPIb 부착과 GPIIb/IIIa 응집, 2차 지혈은 개시-증폭-전파의 세포 기반 과정으로 진행된다.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트롬빈은 응고 촉진과 트롬보모듈린 결합 시 항응고라는 상반된 역할을 모두 수행한다.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혼합 검사로 인자 결핍과 억제자를 구분하는 것이 출혈성 질환 진단의 분기점이다.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HIT는 혈소판이 낮아도 혈전 질환이므로 모든 헤파린 중단과 비헤파린 항응고가 필요하다.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DIC는 PT·aPTT 연장과 피브리노겐 감소를 보이며 TTP·비정형 HUS는 이들이 정상인 것으로 구분된다.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간경변 환자의 INR이 2.0이다. 침습 시술 전 신선냉동혈장을 예방적으로 투여해야 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권장되지 않는다. 간질환에서는 응고인자와 함께 단백 C·S·안티트롬빈 같은 항응고 단백도 감소해 전체적으로 재균형 상태가 되므로, INR은 출혈 위험을 예측하지 못한다. 혈장 투여는 용량 부담과 문맥압 상승을 일으키면서 교정 효과는 미미하다. 피브리노겐 수치, 혈소판 수, 점탄성 검사와 시술의 실제 출혈 위험을 종합해 판단한다.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폰빌레브란트병 2B형에서 데스모프레신을 조심해야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2B형은 VWF가 GPIb에 비정상적으로 높은 친화도를 가져 혈소판과 과도하게 결합하고 다량체가 ADAMTS13에 쉽게 절단된다. 데스모프레신으로 내피에서 비정상 VWF를 더 방출시키면 혈소판 응집과 소모가 증가해 혈소판 수가 더 떨어질 수 있다. VWF 함유 농축제가 더 안전한 선택이다.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헤파린을 쓰던 환자의 혈소판이 150,000에서 60,000으로 떨어졌고 새 심부정맥혈전이 생겼다. 다음 조치는?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HIT를 강하게 의심하고 4T 점수를 계산한 뒤, 모든 형태의 헤파린(세척액·도관 포함)을 즉시 중단하고 아르가트로반 같은 비헤파린 항응고제를 치료 용량으로 시작한다. 항-PF4 항체와 기능 검사를 보내되 결과를 기다리지 않는다. 혈소판 수혈은 피하고, 와파린은 혈소판이 회복된 뒤 비헤파린 항응고제와 겹쳐 시작한다.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항인지질항체 증후군에서 DOAC보다 와파린을 선호하는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무작위 시험과 메타분석에서 특히 삼중 항체 양성이나 동맥 혈전 병력이 있는 환자에서 리바록사반 등 DOAC가 비타민 K 길항제보다 재발 혈전이 더 많았다. 따라서 목표 INR 2–3의 와파린이 표준이며, 루푸스 항응고인자가 INR 측정을 교란할 수 있어 색소원 인자 X 측정 등으로 보정이 필요할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Hoffman M, Monroe DM. A cell-based model of hemostasis. Thromb Haemost 2001;85:958–965.</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Peyvandi F, Garagiola I, Baronciani L. Role of von Willebrand factor in the haemostasis. Blood Transfus 2011;9:s3–s8.</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Arepally GM. Heparin-induced thrombocytopenia. Blood 2017;129:2864–2872.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Scully M et al. Caplacizumab treatment for acquired thrombotic thrombocytopenic purpura. N Engl J Med 2019;380:335–346.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B10-L04  ·  지혈, 혈전과 응고의 분자생물학</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Pengo V et al. Rivaroxaban vs warfarin in high-risk patients with antiphospholipid syndrome. Blood 2018;132:1365–1371.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