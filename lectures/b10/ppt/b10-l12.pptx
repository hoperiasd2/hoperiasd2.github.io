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notesMaster" Target="notesMasters/notesMaster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염증 시 IL-6가 간의 단백 합성 우선순위를 CRP·피브리노겐 같은 급성기 단백으로 바꾸어 알부민 합성을 줄이고, 동시에 혈관 투과성 증가로 알부민이 간질로 이동하며 수액 희석도 더해진다. 즉 알부민 저하는 염증과 분포 변화의 결과이지 단백 섭취 부족의 지표가 아니다. 영양 평가는 체중 추세, 근육량, 섭취량, 기능 평가로 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탄수화물 투여 전에 티아민을 투여하고 인·칼륨·마그네슘을 측정·교정한 뒤 저열량으로 천천히 시작한다. 당 공급으로 인슐린이 급증하면 인·칼륨·마그네슘이 세포 내로 이동해 심한 저인산혈증과 부정맥, 호흡근 약화를 일으키고, 티아민이 고갈된 상태에서 포도당 대사가 늘면 베르니케 뇌증이 촉발된다. 첫 수일간 전해질을 매일 추적한다.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목표 81–108 mg/dL의 엄격한 조절군이 180 이하 목표군보다 90일 사망률이 높고 중증 저혈당이 훨씬 많았다. 고혈당이 해롭다는 생화학적 추론이 타당해도, 뇌가 포도당에 절대적으로 의존하는 상황에서 저혈당의 위험이 더 크다는 것이다. 이후 표준은 140–180 mg/dL 목표와 혈당 변동 최소화가 되었다.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진정 최소화와 조기 거동·재활이다. 부동과 깊은 진정은 유비퀴틴-프로테아좀 경로를 통한 근단백 분해를 가속하고 신경근 흥분성 변화를 악화시킨다. 반대로 매일 진정 중단과 조기 운동은 인공호흡기 사용 기간과 섬망을 줄이고 퇴원 시 기능을 개선한다. 고혈당 회피와 불필요한 근이완제·스테로이드 제한도 함께 작용한다.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B10 기타질환학  ·  정신과 통합</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중환자 대사, 전신염증과 다장기 기능장애</a:t>
            </a:r>
          </a:p>
          <a:p>
            <a:r>
              <a:rPr sz="2000" b="0" i="0">
                <a:solidFill>
                  <a:srgbClr val="C2CDD6"/>
                </a:solidFill>
                <a:latin typeface="Malgun Gothic"/>
                <a:ea typeface="Malgun Gothic"/>
                <a:cs typeface="Malgun Gothic"/>
              </a:rPr>
              <a:t>Critical Illness Metabolism, Systemic Inflammation and Multiorgan Dysfunction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B10-L12</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중증 질환의 스트레스 대사 반응을 단계별로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패혈증의 분자 병태생리와 장기 기능장애의 기전을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중환자 영양 지원의 원리와 함정을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혈당·전해질·미량영양소 관리의 근거를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중환자 후 증후군과 회복기 대사를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스트레스 대사 반응</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패혈증과 장기 기능장애</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중환자 영양 지원</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혈당·전해질·미량영양소</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중환자 후 증후군과 회복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스트레스 대사 반응</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고전적 두 단계(Cuthbertson): </a:t>
            </a:r>
            <a:r>
              <a:rPr sz="2200" b="1" i="0">
                <a:solidFill>
                  <a:srgbClr val="11202B"/>
                </a:solidFill>
                <a:latin typeface="Malgun Gothic"/>
                <a:ea typeface="Malgun Gothic"/>
                <a:cs typeface="Malgun Gothic"/>
              </a:rPr>
              <a:t>쇠퇴기(ebb, 0–24시간)</a:t>
            </a:r>
            <a:r>
              <a:rPr sz="2200" b="0" i="0">
                <a:solidFill>
                  <a:srgbClr val="11202B"/>
                </a:solidFill>
                <a:latin typeface="Malgun Gothic"/>
                <a:ea typeface="Malgun Gothic"/>
                <a:cs typeface="Malgun Gothic"/>
              </a:rPr>
              <a:t> — 관류 저하, 대사율 감소; </a:t>
            </a:r>
            <a:r>
              <a:rPr sz="2200" b="1" i="0">
                <a:solidFill>
                  <a:srgbClr val="11202B"/>
                </a:solidFill>
                <a:latin typeface="Malgun Gothic"/>
                <a:ea typeface="Malgun Gothic"/>
                <a:cs typeface="Malgun Gothic"/>
              </a:rPr>
              <a:t>만조기(flow, 수일)</a:t>
            </a:r>
            <a:r>
              <a:rPr sz="2200" b="0" i="0">
                <a:solidFill>
                  <a:srgbClr val="11202B"/>
                </a:solidFill>
                <a:latin typeface="Malgun Gothic"/>
                <a:ea typeface="Malgun Gothic"/>
                <a:cs typeface="Malgun Gothic"/>
              </a:rPr>
              <a:t> — 이화 우세, 대사율·체온·산소 소비 증가, 이후 </a:t>
            </a:r>
            <a:r>
              <a:rPr sz="2200" b="1" i="0">
                <a:solidFill>
                  <a:srgbClr val="11202B"/>
                </a:solidFill>
                <a:latin typeface="Malgun Gothic"/>
                <a:ea typeface="Malgun Gothic"/>
                <a:cs typeface="Malgun Gothic"/>
              </a:rPr>
              <a:t>회복기(anabolic)</a:t>
            </a:r>
            <a:r>
              <a:rPr sz="2200" b="0" i="0">
                <a:solidFill>
                  <a:srgbClr val="11202B"/>
                </a:solidFill>
                <a:latin typeface="Malgun Gothic"/>
                <a:ea typeface="Malgun Gothic"/>
                <a:cs typeface="Malgun Gothic"/>
              </a:rPr>
              <a:t>.</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호르몬 환경: 카테콜아민·코르티솔·글루카곤 ↑, 인슐린 작용 저하(저항), 성장호르몬 ↑ 그러나 IGF-1 ↓(GH 저항), T3 저하(저T3 증후군 — 적응적 반응이므로 일상적 보충은 하지 않는다).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스트레스 대사 반응</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변화</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결과</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스트레스 고혈당</a:t>
                      </a:r>
                    </a:p>
                  </a:txBody>
                  <a:tcPr marL="73152" marR="73152">
                    <a:solidFill>
                      <a:srgbClr val="FFFFFF"/>
                    </a:solidFill>
                  </a:tcPr>
                </a:tc>
                <a:tc>
                  <a:txBody>
                    <a:bodyPr/>
                    <a:lstStyle/>
                    <a:p>
                      <a:r>
                        <a:rPr sz="1500" b="0" i="0">
                          <a:solidFill>
                            <a:srgbClr val="11202B"/>
                          </a:solidFill>
                          <a:latin typeface="Malgun Gothic"/>
                          <a:ea typeface="Malgun Gothic"/>
                          <a:cs typeface="Malgun Gothic"/>
                        </a:rPr>
                        <a:t>당신생 ↑(코르티솔·글루카곤), 말초 흡수 ↓(TNF·IL-6가 IRS-1 세린 인산화)</a:t>
                      </a:r>
                    </a:p>
                  </a:txBody>
                  <a:tcPr marL="73152" marR="73152">
                    <a:solidFill>
                      <a:srgbClr val="FFFFFF"/>
                    </a:solidFill>
                  </a:tcPr>
                </a:tc>
                <a:tc>
                  <a:txBody>
                    <a:bodyPr/>
                    <a:lstStyle/>
                    <a:p>
                      <a:r>
                        <a:rPr sz="1500" b="0" i="0">
                          <a:solidFill>
                            <a:srgbClr val="11202B"/>
                          </a:solidFill>
                          <a:latin typeface="Malgun Gothic"/>
                          <a:ea typeface="Malgun Gothic"/>
                          <a:cs typeface="Malgun Gothic"/>
                        </a:rPr>
                        <a:t>감염·산화 손상 위험, 그러나 과도한 교정도 해롭다</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단백 이화</a:t>
                      </a:r>
                    </a:p>
                  </a:txBody>
                  <a:tcPr marL="73152" marR="73152">
                    <a:solidFill>
                      <a:srgbClr val="ECF1F5"/>
                    </a:solidFill>
                  </a:tcPr>
                </a:tc>
                <a:tc>
                  <a:txBody>
                    <a:bodyPr/>
                    <a:lstStyle/>
                    <a:p>
                      <a:r>
                        <a:rPr sz="1500" b="0" i="0">
                          <a:solidFill>
                            <a:srgbClr val="11202B"/>
                          </a:solidFill>
                          <a:latin typeface="Malgun Gothic"/>
                          <a:ea typeface="Malgun Gothic"/>
                          <a:cs typeface="Malgun Gothic"/>
                        </a:rPr>
                        <a:t>유비퀴틴-프로테아좀(아트로진-1, MuRF1), 자가포식</a:t>
                      </a:r>
                    </a:p>
                  </a:txBody>
                  <a:tcPr marL="73152" marR="73152">
                    <a:solidFill>
                      <a:srgbClr val="ECF1F5"/>
                    </a:solidFill>
                  </a:tcPr>
                </a:tc>
                <a:tc>
                  <a:txBody>
                    <a:bodyPr/>
                    <a:lstStyle/>
                    <a:p>
                      <a:r>
                        <a:rPr sz="1500" b="0" i="0">
                          <a:solidFill>
                            <a:srgbClr val="11202B"/>
                          </a:solidFill>
                          <a:latin typeface="Malgun Gothic"/>
                          <a:ea typeface="Malgun Gothic"/>
                          <a:cs typeface="Malgun Gothic"/>
                        </a:rPr>
                        <a:t>근육 소실(일 1% 이상 가능), 급성기 단백 합성 위한 아미노산 공급</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지방 분해 ↑</a:t>
                      </a:r>
                    </a:p>
                  </a:txBody>
                  <a:tcPr marL="73152" marR="73152">
                    <a:solidFill>
                      <a:srgbClr val="FFFFFF"/>
                    </a:solidFill>
                  </a:tcPr>
                </a:tc>
                <a:tc>
                  <a:txBody>
                    <a:bodyPr/>
                    <a:lstStyle/>
                    <a:p>
                      <a:r>
                        <a:rPr sz="1500" b="0" i="0">
                          <a:solidFill>
                            <a:srgbClr val="11202B"/>
                          </a:solidFill>
                          <a:latin typeface="Malgun Gothic"/>
                          <a:ea typeface="Malgun Gothic"/>
                          <a:cs typeface="Malgun Gothic"/>
                        </a:rPr>
                        <a:t>카테콜아민·코르티솔</a:t>
                      </a:r>
                    </a:p>
                  </a:txBody>
                  <a:tcPr marL="73152" marR="73152">
                    <a:solidFill>
                      <a:srgbClr val="FFFFFF"/>
                    </a:solidFill>
                  </a:tcPr>
                </a:tc>
                <a:tc>
                  <a:txBody>
                    <a:bodyPr/>
                    <a:lstStyle/>
                    <a:p>
                      <a:r>
                        <a:rPr sz="1500" b="0" i="0">
                          <a:solidFill>
                            <a:srgbClr val="11202B"/>
                          </a:solidFill>
                          <a:latin typeface="Malgun Gothic"/>
                          <a:ea typeface="Malgun Gothic"/>
                          <a:cs typeface="Malgun Gothic"/>
                        </a:rPr>
                        <a:t>유리지방산 ↑, 케톤은 인슐린 때문에 상대적으로 억제</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급성기 반응</a:t>
                      </a:r>
                    </a:p>
                  </a:txBody>
                  <a:tcPr marL="73152" marR="73152">
                    <a:solidFill>
                      <a:srgbClr val="ECF1F5"/>
                    </a:solidFill>
                  </a:tcPr>
                </a:tc>
                <a:tc>
                  <a:txBody>
                    <a:bodyPr/>
                    <a:lstStyle/>
                    <a:p>
                      <a:r>
                        <a:rPr sz="1500" b="0" i="0">
                          <a:solidFill>
                            <a:srgbClr val="11202B"/>
                          </a:solidFill>
                          <a:latin typeface="Malgun Gothic"/>
                          <a:ea typeface="Malgun Gothic"/>
                          <a:cs typeface="Malgun Gothic"/>
                        </a:rPr>
                        <a:t>IL-6 → CRP·피브리노겐·헵시딘·페리틴 ↑, 알부민·트랜스페린 ↓</a:t>
                      </a:r>
                    </a:p>
                  </a:txBody>
                  <a:tcPr marL="73152" marR="73152">
                    <a:solidFill>
                      <a:srgbClr val="ECF1F5"/>
                    </a:solidFill>
                  </a:tcPr>
                </a:tc>
                <a:tc>
                  <a:txBody>
                    <a:bodyPr/>
                    <a:lstStyle/>
                    <a:p>
                      <a:r>
                        <a:rPr sz="1500" b="1" i="0">
                          <a:solidFill>
                            <a:srgbClr val="11202B"/>
                          </a:solidFill>
                          <a:latin typeface="Malgun Gothic"/>
                          <a:ea typeface="Malgun Gothic"/>
                          <a:cs typeface="Malgun Gothic"/>
                        </a:rPr>
                        <a:t>알부민은 영양 지표가 아니라 염증 지표</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미토콘드리아 기능 저하</a:t>
                      </a:r>
                    </a:p>
                  </a:txBody>
                  <a:tcPr marL="73152" marR="73152">
                    <a:solidFill>
                      <a:srgbClr val="FFFFFF"/>
                    </a:solidFill>
                  </a:tcPr>
                </a:tc>
                <a:tc>
                  <a:txBody>
                    <a:bodyPr/>
                    <a:lstStyle/>
                    <a:p>
                      <a:r>
                        <a:rPr sz="1500" b="0" i="0">
                          <a:solidFill>
                            <a:srgbClr val="11202B"/>
                          </a:solidFill>
                          <a:latin typeface="Malgun Gothic"/>
                          <a:ea typeface="Malgun Gothic"/>
                          <a:cs typeface="Malgun Gothic"/>
                        </a:rPr>
                        <a:t>NO·ROS, 생합성 저하</a:t>
                      </a:r>
                    </a:p>
                  </a:txBody>
                  <a:tcPr marL="73152" marR="73152">
                    <a:solidFill>
                      <a:srgbClr val="FFFFFF"/>
                    </a:solidFill>
                  </a:tcPr>
                </a:tc>
                <a:tc>
                  <a:txBody>
                    <a:bodyPr/>
                    <a:lstStyle/>
                    <a:p>
                      <a:r>
                        <a:rPr sz="1500" b="0" i="0">
                          <a:solidFill>
                            <a:srgbClr val="11202B"/>
                          </a:solidFill>
                          <a:latin typeface="Malgun Gothic"/>
                          <a:ea typeface="Malgun Gothic"/>
                          <a:cs typeface="Malgun Gothic"/>
                        </a:rPr>
                        <a:t>"세포 저산소증", 장기 기능 저하</a:t>
                      </a:r>
                    </a:p>
                  </a:txBody>
                  <a:tcPr marL="73152" marR="7315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스트레스 대사 반응</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6</a:t>
            </a:r>
          </a:p>
        </p:txBody>
      </p:sp>
      <p:sp>
        <p:nvSpPr>
          <p:cNvPr id="7" name="Rectangle 6"/>
          <p:cNvSpPr/>
          <p:nvPr/>
        </p:nvSpPr>
        <p:spPr>
          <a:xfrm>
            <a:off x="640080" y="1325880"/>
            <a:ext cx="10881360" cy="1562100"/>
          </a:xfrm>
          <a:prstGeom prst="rect">
            <a:avLst/>
          </a:prstGeom>
          <a:solidFill>
            <a:srgbClr val="FFF5D6"/>
          </a:solidFill>
          <a:ln>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9A6B00"/>
                </a:solidFill>
                <a:latin typeface="Malgun Gothic"/>
                <a:ea typeface="Malgun Gothic"/>
                <a:cs typeface="Malgun Gothic"/>
              </a:rPr>
              <a:t>핵심  </a:t>
            </a:r>
            <a:r>
              <a:rPr sz="2000" b="0" i="0">
                <a:solidFill>
                  <a:srgbClr val="11202B"/>
                </a:solidFill>
                <a:latin typeface="Malgun Gothic"/>
                <a:ea typeface="Malgun Gothic"/>
                <a:cs typeface="Malgun Gothic"/>
              </a:rPr>
              <a:t>중환자의 이화는 "영양 부족" 때문이 아니라 </a:t>
            </a:r>
            <a:r>
              <a:rPr sz="2000" b="1" i="0">
                <a:solidFill>
                  <a:srgbClr val="11202B"/>
                </a:solidFill>
                <a:latin typeface="Malgun Gothic"/>
                <a:ea typeface="Malgun Gothic"/>
                <a:cs typeface="Malgun Gothic"/>
              </a:rPr>
              <a:t>염증-호르몬 환경의 결과</a:t>
            </a:r>
            <a:r>
              <a:rPr sz="2000" b="0" i="0">
                <a:solidFill>
                  <a:srgbClr val="11202B"/>
                </a:solidFill>
                <a:latin typeface="Malgun Gothic"/>
                <a:ea typeface="Malgun Gothic"/>
                <a:cs typeface="Malgun Gothic"/>
              </a:rPr>
              <a:t>다. 그래서 초기에 열량·단백을 과다 공급해도 근육 소실을 막지 못하며, 오히려 자가포식 억제와 과영양 합병증을 만든다.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패혈증과 장기 기능장애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정의(Sepsis-3): 감염에 대한 </a:t>
            </a:r>
            <a:r>
              <a:rPr sz="2000" b="1" i="0">
                <a:solidFill>
                  <a:srgbClr val="11202B"/>
                </a:solidFill>
                <a:latin typeface="Malgun Gothic"/>
                <a:ea typeface="Malgun Gothic"/>
                <a:cs typeface="Malgun Gothic"/>
              </a:rPr>
              <a:t>조절되지 않는 숙주 반응으로 생긴 생명을 위협하는 장기 기능장애</a:t>
            </a:r>
            <a:r>
              <a:rPr sz="2000" b="0" i="0">
                <a:solidFill>
                  <a:srgbClr val="11202B"/>
                </a:solidFill>
                <a:latin typeface="Malgun Gothic"/>
                <a:ea typeface="Malgun Gothic"/>
                <a:cs typeface="Malgun Gothic"/>
              </a:rPr>
              <a:t>(SOFA 2점 이상 증가), 쇼크는 수액에 불응하는 저혈압 + 젖산 &gt;2 mmol/L로 승압제 필요.</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분자 캐스케이드: PAMP·DAMP(HMGB1, 미토콘드리아 DNA, 히스톤) → TLR·인플라마좀 → 사이토카인 폭풍과 동시에 </a:t>
            </a:r>
            <a:r>
              <a:rPr sz="2000" b="1" i="0">
                <a:solidFill>
                  <a:srgbClr val="11202B"/>
                </a:solidFill>
                <a:latin typeface="Malgun Gothic"/>
                <a:ea typeface="Malgun Gothic"/>
                <a:cs typeface="Malgun Gothic"/>
              </a:rPr>
              <a:t>면역 마비</a:t>
            </a:r>
            <a:r>
              <a:rPr sz="2000" b="0" i="0">
                <a:solidFill>
                  <a:srgbClr val="11202B"/>
                </a:solidFill>
                <a:latin typeface="Malgun Gothic"/>
                <a:ea typeface="Malgun Gothic"/>
                <a:cs typeface="Malgun Gothic"/>
              </a:rPr>
              <a:t>(T세포 아폽토시스, HLA-DR 감소, 과도한 PD-1) → 내피 손상(글리코칼릭스 탈락, 안지오포이에틴-2 ↑, 혈관 투과성 ↑) → 미세순환 이질성, 응고 활성과 항응고 결핍(DIC) → </a:t>
            </a:r>
            <a:r>
              <a:rPr sz="2000" b="1" i="0">
                <a:solidFill>
                  <a:srgbClr val="11202B"/>
                </a:solidFill>
                <a:latin typeface="Malgun Gothic"/>
                <a:ea typeface="Malgun Gothic"/>
                <a:cs typeface="Malgun Gothic"/>
              </a:rPr>
              <a:t>미토콘드리아 기능 저하</a:t>
            </a:r>
            <a:r>
              <a:rPr sz="2000" b="0" i="0">
                <a:solidFill>
                  <a:srgbClr val="11202B"/>
                </a:solidFill>
                <a:latin typeface="Malgun Gothic"/>
                <a:ea typeface="Malgun Gothic"/>
                <a:cs typeface="Malgun Gothic"/>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패혈증과 장기 기능장애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치료의 축: </a:t>
            </a:r>
            <a:r>
              <a:rPr sz="2000" b="1" i="0">
                <a:solidFill>
                  <a:srgbClr val="11202B"/>
                </a:solidFill>
                <a:latin typeface="Malgun Gothic"/>
                <a:ea typeface="Malgun Gothic"/>
                <a:cs typeface="Malgun Gothic"/>
              </a:rPr>
              <a:t>조기 적절한 항생제와 감염원 제거</a:t>
            </a:r>
            <a:r>
              <a:rPr sz="2000" b="0" i="0">
                <a:solidFill>
                  <a:srgbClr val="11202B"/>
                </a:solidFill>
                <a:latin typeface="Malgun Gothic"/>
                <a:ea typeface="Malgun Gothic"/>
                <a:cs typeface="Malgun Gothic"/>
              </a:rPr>
              <a:t>, 균형 결정질 수액(과다 수액은 해롭다), 승압제(노르에피네프린 1차, 바소프레신 추가, 필요 시 스테로이드), 폐 보호 환기, 신대체요법은 적응증 기반, 수혈 역치 7 g/dL. 대부분의 특정 분자 표적 치료(항-TNF, 항-내독소, 활성 단백 C)는 실패했다 — </a:t>
            </a:r>
            <a:r>
              <a:rPr sz="2000" b="1" i="0">
                <a:solidFill>
                  <a:srgbClr val="11202B"/>
                </a:solidFill>
                <a:latin typeface="Malgun Gothic"/>
                <a:ea typeface="Malgun Gothic"/>
                <a:cs typeface="Malgun Gothic"/>
              </a:rPr>
              <a:t>이질적 환자군의 문제</a:t>
            </a:r>
            <a:r>
              <a:rPr sz="2000" b="0" i="0">
                <a:solidFill>
                  <a:srgbClr val="11202B"/>
                </a:solidFill>
                <a:latin typeface="Malgun Gothic"/>
                <a:ea typeface="Malgun Gothic"/>
                <a:cs typeface="Malgun Gothic"/>
              </a:rPr>
              <a:t>로 이해되고 있으며 아형(표현형) 기반 설계로 옮겨가고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젖산 해석의 정교화: 저관류 외에도 β2 자극에 의한 해당과정 증가, 간 청소 저하, 티아민 결핍, 메트포르민이 기여한다. 젖산 자체보다 </a:t>
            </a:r>
            <a:r>
              <a:rPr sz="2000" b="1" i="0">
                <a:solidFill>
                  <a:srgbClr val="11202B"/>
                </a:solidFill>
                <a:latin typeface="Malgun Gothic"/>
                <a:ea typeface="Malgun Gothic"/>
                <a:cs typeface="Malgun Gothic"/>
              </a:rPr>
              <a:t>추세와 임상 소견의 결합</a:t>
            </a:r>
            <a:r>
              <a:rPr sz="2000" b="0" i="0">
                <a:solidFill>
                  <a:srgbClr val="11202B"/>
                </a:solidFill>
                <a:latin typeface="Malgun Gothic"/>
                <a:ea typeface="Malgun Gothic"/>
                <a:cs typeface="Malgun Gothic"/>
              </a:rPr>
              <a:t>이 중요하다.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패혈증과 장기 기능장애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장기</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순환</a:t>
                      </a:r>
                    </a:p>
                  </a:txBody>
                  <a:tcPr marL="73152" marR="73152">
                    <a:solidFill>
                      <a:srgbClr val="FFFFFF"/>
                    </a:solidFill>
                  </a:tcPr>
                </a:tc>
                <a:tc>
                  <a:txBody>
                    <a:bodyPr/>
                    <a:lstStyle/>
                    <a:p>
                      <a:r>
                        <a:rPr sz="1500" b="0" i="0">
                          <a:solidFill>
                            <a:srgbClr val="11202B"/>
                          </a:solidFill>
                          <a:latin typeface="Malgun Gothic"/>
                          <a:ea typeface="Malgun Gothic"/>
                          <a:cs typeface="Malgun Gothic"/>
                        </a:rPr>
                        <a:t>혈관 확장(NO·프로스타사이클린·ATP 민감 K⁺ 통로 개방), 카테콜아민 감수성 저하, 패혈증 심근 기능 저하(가역적)</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신장</a:t>
                      </a:r>
                    </a:p>
                  </a:txBody>
                  <a:tcPr marL="73152" marR="73152">
                    <a:solidFill>
                      <a:srgbClr val="ECF1F5"/>
                    </a:solidFill>
                  </a:tcPr>
                </a:tc>
                <a:tc>
                  <a:txBody>
                    <a:bodyPr/>
                    <a:lstStyle/>
                    <a:p>
                      <a:r>
                        <a:rPr sz="1500" b="0" i="0">
                          <a:solidFill>
                            <a:srgbClr val="11202B"/>
                          </a:solidFill>
                          <a:latin typeface="Malgun Gothic"/>
                          <a:ea typeface="Malgun Gothic"/>
                          <a:cs typeface="Malgun Gothic"/>
                        </a:rPr>
                        <a:t>염증·미세순환·세관 대사 적응(세포주기 정지) — 단순 저관류 모형만으로 설명되지 않는다</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폐</a:t>
                      </a:r>
                    </a:p>
                  </a:txBody>
                  <a:tcPr marL="73152" marR="73152">
                    <a:solidFill>
                      <a:srgbClr val="FFFFFF"/>
                    </a:solidFill>
                  </a:tcPr>
                </a:tc>
                <a:tc>
                  <a:txBody>
                    <a:bodyPr/>
                    <a:lstStyle/>
                    <a:p>
                      <a:r>
                        <a:rPr sz="1500" b="0" i="0">
                          <a:solidFill>
                            <a:srgbClr val="11202B"/>
                          </a:solidFill>
                          <a:latin typeface="Malgun Gothic"/>
                          <a:ea typeface="Malgun Gothic"/>
                          <a:cs typeface="Malgun Gothic"/>
                        </a:rPr>
                        <a:t>ARDS(B10 L06)</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간</a:t>
                      </a:r>
                    </a:p>
                  </a:txBody>
                  <a:tcPr marL="73152" marR="73152">
                    <a:solidFill>
                      <a:srgbClr val="ECF1F5"/>
                    </a:solidFill>
                  </a:tcPr>
                </a:tc>
                <a:tc>
                  <a:txBody>
                    <a:bodyPr/>
                    <a:lstStyle/>
                    <a:p>
                      <a:r>
                        <a:rPr sz="1500" b="0" i="0">
                          <a:solidFill>
                            <a:srgbClr val="11202B"/>
                          </a:solidFill>
                          <a:latin typeface="Malgun Gothic"/>
                          <a:ea typeface="Malgun Gothic"/>
                          <a:cs typeface="Malgun Gothic"/>
                        </a:rPr>
                        <a:t>담즙정체, 당신생 변화, 약물 대사 변동</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장</a:t>
                      </a:r>
                    </a:p>
                  </a:txBody>
                  <a:tcPr marL="73152" marR="73152">
                    <a:solidFill>
                      <a:srgbClr val="FFFFFF"/>
                    </a:solidFill>
                  </a:tcPr>
                </a:tc>
                <a:tc>
                  <a:txBody>
                    <a:bodyPr/>
                    <a:lstStyle/>
                    <a:p>
                      <a:r>
                        <a:rPr sz="1500" b="0" i="0">
                          <a:solidFill>
                            <a:srgbClr val="11202B"/>
                          </a:solidFill>
                          <a:latin typeface="Malgun Gothic"/>
                          <a:ea typeface="Malgun Gothic"/>
                          <a:cs typeface="Malgun Gothic"/>
                        </a:rPr>
                        <a:t>장벽 기능 저하, 미생물군 붕괴(병원체 우세)</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뇌</a:t>
                      </a:r>
                    </a:p>
                  </a:txBody>
                  <a:tcPr marL="73152" marR="73152">
                    <a:solidFill>
                      <a:srgbClr val="ECF1F5"/>
                    </a:solidFill>
                  </a:tcPr>
                </a:tc>
                <a:tc>
                  <a:txBody>
                    <a:bodyPr/>
                    <a:lstStyle/>
                    <a:p>
                      <a:r>
                        <a:rPr sz="1500" b="0" i="0">
                          <a:solidFill>
                            <a:srgbClr val="11202B"/>
                          </a:solidFill>
                          <a:latin typeface="Malgun Gothic"/>
                          <a:ea typeface="Malgun Gothic"/>
                          <a:cs typeface="Malgun Gothic"/>
                        </a:rPr>
                        <a:t>패혈증 관련 뇌병증 — 염증·내피·신경전달 이상, 섬망</a:t>
                      </a:r>
                    </a:p>
                  </a:txBody>
                  <a:tcPr marL="73152" marR="73152">
                    <a:solidFill>
                      <a:srgbClr val="ECF1F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중환자 영양 지원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경로: 가능하면 </a:t>
            </a:r>
            <a:r>
              <a:rPr sz="2000" b="1" i="0">
                <a:solidFill>
                  <a:srgbClr val="11202B"/>
                </a:solidFill>
                <a:latin typeface="Malgun Gothic"/>
                <a:ea typeface="Malgun Gothic"/>
                <a:cs typeface="Malgun Gothic"/>
              </a:rPr>
              <a:t>장관 영양</a:t>
            </a:r>
            <a:r>
              <a:rPr sz="2000" b="0" i="0">
                <a:solidFill>
                  <a:srgbClr val="11202B"/>
                </a:solidFill>
                <a:latin typeface="Malgun Gothic"/>
                <a:ea typeface="Malgun Gothic"/>
                <a:cs typeface="Malgun Gothic"/>
              </a:rPr>
              <a:t>(장벽·면역 유지) 24–48시간 내 시작. 금기는 쇼크 미안정, 장폐색·허혈. 정맥 영양은 장관이 불가능하거나 불충분할 때 — 초기 1주에 공격적 정맥영양을 추가하는 것은 </a:t>
            </a:r>
            <a:r>
              <a:rPr sz="2000" b="1" i="0">
                <a:solidFill>
                  <a:srgbClr val="11202B"/>
                </a:solidFill>
                <a:latin typeface="Malgun Gothic"/>
                <a:ea typeface="Malgun Gothic"/>
                <a:cs typeface="Malgun Gothic"/>
              </a:rPr>
              <a:t>이득이 없거나 해로웠다</a:t>
            </a:r>
            <a:r>
              <a:rPr sz="2000" b="0" i="0">
                <a:solidFill>
                  <a:srgbClr val="11202B"/>
                </a:solidFill>
                <a:latin typeface="Malgun Gothic"/>
                <a:ea typeface="Malgun Gothic"/>
                <a:cs typeface="Malgun Gothic"/>
              </a:rPr>
              <a:t>(EPaNIC).</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열량·단백: 급성기에는 측정 또는 추정 에너지의 </a:t>
            </a:r>
            <a:r>
              <a:rPr sz="2000" b="1" i="0">
                <a:solidFill>
                  <a:srgbClr val="11202B"/>
                </a:solidFill>
                <a:latin typeface="Malgun Gothic"/>
                <a:ea typeface="Malgun Gothic"/>
                <a:cs typeface="Malgun Gothic"/>
              </a:rPr>
              <a:t>일부만</a:t>
            </a:r>
            <a:r>
              <a:rPr sz="2000" b="0" i="0">
                <a:solidFill>
                  <a:srgbClr val="11202B"/>
                </a:solidFill>
                <a:latin typeface="Malgun Gothic"/>
                <a:ea typeface="Malgun Gothic"/>
                <a:cs typeface="Malgun Gothic"/>
              </a:rPr>
              <a:t>(약 70% 이하, 경우에 따라 더 적게) 공급하고 점진적으로 늘린다. 단백은 1.2–2.0 g/kg/일을 목표로 하나 초기 고용량의 이득은 최근 시험(EFFORT Protein)에서 확인되지 않았다 — </a:t>
            </a:r>
            <a:r>
              <a:rPr sz="2000" b="1" i="0">
                <a:solidFill>
                  <a:srgbClr val="11202B"/>
                </a:solidFill>
                <a:latin typeface="Malgun Gothic"/>
                <a:ea typeface="Malgun Gothic"/>
                <a:cs typeface="Malgun Gothic"/>
              </a:rPr>
              <a:t>단백을 많이 주면 근육이 보존된다는 단순한 가정은 성립하지 않는다.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중환자 영양 지원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재급식 증후군</a:t>
            </a:r>
            <a:r>
              <a:rPr sz="1800" b="0" i="0">
                <a:solidFill>
                  <a:srgbClr val="11202B"/>
                </a:solidFill>
                <a:latin typeface="Malgun Gothic"/>
                <a:ea typeface="Malgun Gothic"/>
                <a:cs typeface="Malgun Gothic"/>
              </a:rPr>
              <a:t>: 장기 금식·영양실조 상태에서 탄수화물을 공급하면 인슐린 급증으로 인·칼륨·마그네슘·티아민이 세포 내로 이동 → </a:t>
            </a:r>
            <a:r>
              <a:rPr sz="1800" b="1" i="0">
                <a:solidFill>
                  <a:srgbClr val="11202B"/>
                </a:solidFill>
                <a:latin typeface="Malgun Gothic"/>
                <a:ea typeface="Malgun Gothic"/>
                <a:cs typeface="Malgun Gothic"/>
              </a:rPr>
              <a:t>저인산혈증</a:t>
            </a:r>
            <a:r>
              <a:rPr sz="1800" b="0" i="0">
                <a:solidFill>
                  <a:srgbClr val="11202B"/>
                </a:solidFill>
                <a:latin typeface="Malgun Gothic"/>
                <a:ea typeface="Malgun Gothic"/>
                <a:cs typeface="Malgun Gothic"/>
              </a:rPr>
              <a:t>(ATP·2,3-BPG 생산 불가), 부정맥, 호흡근 약화, 심부전, 베르니케. 위험군(BMI 낮음, 10% 이상 체중 감소, 알코올, 10일 이상 섭취 부족, 신경성 식욕부진, 재수술)에서는 </a:t>
            </a:r>
            <a:r>
              <a:rPr sz="1800" b="1" i="0">
                <a:solidFill>
                  <a:srgbClr val="11202B"/>
                </a:solidFill>
                <a:latin typeface="Malgun Gothic"/>
                <a:ea typeface="Malgun Gothic"/>
                <a:cs typeface="Malgun Gothic"/>
              </a:rPr>
              <a:t>티아민 선투여 + 저열량으로 시작 + 전해질 교정과 감시</a:t>
            </a:r>
            <a:r>
              <a:rPr sz="1800" b="0" i="0">
                <a:solidFill>
                  <a:srgbClr val="11202B"/>
                </a:solidFill>
                <a:latin typeface="Malgun Gothic"/>
                <a:ea typeface="Malgun Gothic"/>
                <a:cs typeface="Malgun Gothic"/>
              </a:rPr>
              <a:t>가 필수다.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과영양의 해: 고혈당, 간 지방증과 담즙정체, 고CO₂(호흡 부담), 고트리글리세라이드(프로포폴의 지질 부하 포함), 자가포식 억제.</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특수 상황: 간부전(단백 제한은 권장되지 않음 — 분지쇄 아미노산 고려), 신대체요법(아미노산·수용성 비타민 손실 보충), 비만(저열량·고단백), 복부 개방(단백 손실), ECMO·지속 투석 중 약물·영양소 손실.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중환자 영양 지원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장관 영양 모니터링: 위 잔류량 단독 기준의 유용성은 제한적이며, 흡인 예방(상체 상승), 운동성 약물, 유문 후 급식을 상황에 맞춰 사용한다.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혈당·전해질·미량영양소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혈당</a:t>
            </a:r>
            <a:r>
              <a:rPr sz="1800" b="0" i="0">
                <a:solidFill>
                  <a:srgbClr val="11202B"/>
                </a:solidFill>
                <a:latin typeface="Malgun Gothic"/>
                <a:ea typeface="Malgun Gothic"/>
                <a:cs typeface="Malgun Gothic"/>
              </a:rPr>
              <a:t>: NICE-SUGAR 시험에서 목표 81–108 mg/dL의 엄격한 조절은 180 이하 목표에 비해 사망률이 더 높았고 중증 저혈당이 많았다 → 일반적 목표 </a:t>
            </a:r>
            <a:r>
              <a:rPr sz="1800" b="1" i="0">
                <a:solidFill>
                  <a:srgbClr val="11202B"/>
                </a:solidFill>
                <a:latin typeface="Malgun Gothic"/>
                <a:ea typeface="Malgun Gothic"/>
                <a:cs typeface="Malgun Gothic"/>
              </a:rPr>
              <a:t>140–180 mg/dL</a:t>
            </a:r>
            <a:r>
              <a:rPr sz="1800" b="0" i="0">
                <a:solidFill>
                  <a:srgbClr val="11202B"/>
                </a:solidFill>
                <a:latin typeface="Malgun Gothic"/>
                <a:ea typeface="Malgun Gothic"/>
                <a:cs typeface="Malgun Gothic"/>
              </a:rPr>
              <a:t>, 변동성과 저혈압 중 저혈당을 피하는 것이 핵심. 당뇨 환자는 개별화(만성 고혈당 적응).</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전해질: 인(호흡근·ATP), 마그네슘(부정맥·불응성 저칼륨), 칼슘(패혈증에서 흔한 이온화 저칼슘 — 일상적 교정의 이득은 불확실), 나트륨(교정 속도 — B10 L05), 칼륨.</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미량영양소·비타민: </a:t>
            </a:r>
            <a:r>
              <a:rPr sz="1800" b="1" i="0">
                <a:solidFill>
                  <a:srgbClr val="11202B"/>
                </a:solidFill>
                <a:latin typeface="Malgun Gothic"/>
                <a:ea typeface="Malgun Gothic"/>
                <a:cs typeface="Malgun Gothic"/>
              </a:rPr>
              <a:t>티아민</a:t>
            </a:r>
            <a:r>
              <a:rPr sz="1800" b="0" i="0">
                <a:solidFill>
                  <a:srgbClr val="11202B"/>
                </a:solidFill>
                <a:latin typeface="Malgun Gothic"/>
                <a:ea typeface="Malgun Gothic"/>
                <a:cs typeface="Malgun Gothic"/>
              </a:rPr>
              <a:t>(젖산 산증·베르니케 — 투여 임계값을 낮게 둔다), 비타민 D(결핍 흔함, 대량 보충의 사망률 이득은 입증되지 않음), 아연·셀레늄(장기 손실·창상), 비타민 C(패혈증에서 대규모 시험 결과 일관되지 않으며 LOVIT에서는 해로운 경향), 엽산·B12(장기 영양 지원).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혈당·전해질·미량영양소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산염기: 중환자에서 여러 장애가 겹치므로 음이온차·델타비 접근(B10 L05)과 함께 수액 조성(생리식염수 대량 → 고염소성 산증)을 고려한다.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혈당·전해질·미량영양소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흔한 함정</a:t>
                      </a:r>
                    </a:p>
                  </a:txBody>
                  <a:tcPr marL="73152" marR="73152">
                    <a:solidFill>
                      <a:srgbClr val="003C71"/>
                    </a:solidFill>
                  </a:tcPr>
                </a:tc>
                <a:tc>
                  <a:txBody>
                    <a:bodyPr/>
                    <a:lstStyle/>
                    <a:p>
                      <a:r>
                        <a:rPr sz="1500" b="1" i="0">
                          <a:solidFill>
                            <a:srgbClr val="FFFFFF"/>
                          </a:solidFill>
                          <a:latin typeface="Malgun Gothic"/>
                          <a:ea typeface="Malgun Gothic"/>
                          <a:cs typeface="Malgun Gothic"/>
                        </a:rPr>
                        <a:t>올바른 해석</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알부민 낮음 = 영양실조</a:t>
                      </a:r>
                    </a:p>
                  </a:txBody>
                  <a:tcPr marL="73152" marR="73152">
                    <a:solidFill>
                      <a:srgbClr val="FFFFFF"/>
                    </a:solidFill>
                  </a:tcPr>
                </a:tc>
                <a:tc>
                  <a:txBody>
                    <a:bodyPr/>
                    <a:lstStyle/>
                    <a:p>
                      <a:r>
                        <a:rPr sz="1500" b="0" i="0">
                          <a:solidFill>
                            <a:srgbClr val="11202B"/>
                          </a:solidFill>
                          <a:latin typeface="Malgun Gothic"/>
                          <a:ea typeface="Malgun Gothic"/>
                          <a:cs typeface="Malgun Gothic"/>
                        </a:rPr>
                        <a:t>염증과 분포 변화의 결과 — 영양 지표로 쓰지 않는다</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저T3 = 갑상선 치료 필요</a:t>
                      </a:r>
                    </a:p>
                  </a:txBody>
                  <a:tcPr marL="73152" marR="73152">
                    <a:solidFill>
                      <a:srgbClr val="ECF1F5"/>
                    </a:solidFill>
                  </a:tcPr>
                </a:tc>
                <a:tc>
                  <a:txBody>
                    <a:bodyPr/>
                    <a:lstStyle/>
                    <a:p>
                      <a:r>
                        <a:rPr sz="1500" b="0" i="0">
                          <a:solidFill>
                            <a:srgbClr val="11202B"/>
                          </a:solidFill>
                          <a:latin typeface="Malgun Gothic"/>
                          <a:ea typeface="Malgun Gothic"/>
                          <a:cs typeface="Malgun Gothic"/>
                        </a:rPr>
                        <a:t>적응 반응 — 일상적 호르몬 보충은 권장되지 않는다</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크레아티닌 정상 = 신기능 정상</a:t>
                      </a:r>
                    </a:p>
                  </a:txBody>
                  <a:tcPr marL="73152" marR="73152">
                    <a:solidFill>
                      <a:srgbClr val="FFFFFF"/>
                    </a:solidFill>
                  </a:tcPr>
                </a:tc>
                <a:tc>
                  <a:txBody>
                    <a:bodyPr/>
                    <a:lstStyle/>
                    <a:p>
                      <a:r>
                        <a:rPr sz="1500" b="0" i="0">
                          <a:solidFill>
                            <a:srgbClr val="11202B"/>
                          </a:solidFill>
                          <a:latin typeface="Malgun Gothic"/>
                          <a:ea typeface="Malgun Gothic"/>
                          <a:cs typeface="Malgun Gothic"/>
                        </a:rPr>
                        <a:t>근육 소실로 생성이 줄어 과대평가 — 요량·추세·시스타틴 C 고려</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CK 정상 = 근육 손상 없음</a:t>
                      </a:r>
                    </a:p>
                  </a:txBody>
                  <a:tcPr marL="73152" marR="73152">
                    <a:solidFill>
                      <a:srgbClr val="ECF1F5"/>
                    </a:solidFill>
                  </a:tcPr>
                </a:tc>
                <a:tc>
                  <a:txBody>
                    <a:bodyPr/>
                    <a:lstStyle/>
                    <a:p>
                      <a:r>
                        <a:rPr sz="1500" b="0" i="0">
                          <a:solidFill>
                            <a:srgbClr val="11202B"/>
                          </a:solidFill>
                          <a:latin typeface="Malgun Gothic"/>
                          <a:ea typeface="Malgun Gothic"/>
                          <a:cs typeface="Malgun Gothic"/>
                        </a:rPr>
                        <a:t>중환자 근병증은 CK 정상일 수 있다</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젖산 상승 = 저관류</a:t>
                      </a:r>
                    </a:p>
                  </a:txBody>
                  <a:tcPr marL="73152" marR="73152">
                    <a:solidFill>
                      <a:srgbClr val="FFFFFF"/>
                    </a:solidFill>
                  </a:tcPr>
                </a:tc>
                <a:tc>
                  <a:txBody>
                    <a:bodyPr/>
                    <a:lstStyle/>
                    <a:p>
                      <a:r>
                        <a:rPr sz="1500" b="0" i="0">
                          <a:solidFill>
                            <a:srgbClr val="11202B"/>
                          </a:solidFill>
                          <a:latin typeface="Malgun Gothic"/>
                          <a:ea typeface="Malgun Gothic"/>
                          <a:cs typeface="Malgun Gothic"/>
                        </a:rPr>
                        <a:t>다인성 — 추세와 임상 평가 결합</a:t>
                      </a:r>
                    </a:p>
                  </a:txBody>
                  <a:tcPr marL="73152" marR="73152">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중환자 후 증후군과 회복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중환자실 획득 약화(ICU-AW)</a:t>
            </a:r>
            <a:r>
              <a:rPr sz="2000" b="0" i="0">
                <a:solidFill>
                  <a:srgbClr val="11202B"/>
                </a:solidFill>
                <a:latin typeface="Malgun Gothic"/>
                <a:ea typeface="Malgun Gothic"/>
                <a:cs typeface="Malgun Gothic"/>
              </a:rPr>
              <a:t>: 중환자 다발신경병증 + 근병증. 기전은 염증, 부동, 미세순환·막 흥분성 변화, 단백 분해 활성, 고혈당·스테로이드·근이완제의 기여. 결과는 인공호흡기 이탈 지연과 장기 기능 저하 → </a:t>
            </a:r>
            <a:r>
              <a:rPr sz="2000" b="1" i="0">
                <a:solidFill>
                  <a:srgbClr val="11202B"/>
                </a:solidFill>
                <a:latin typeface="Malgun Gothic"/>
                <a:ea typeface="Malgun Gothic"/>
                <a:cs typeface="Malgun Gothic"/>
              </a:rPr>
              <a:t>조기 재활과 진정 최소화</a:t>
            </a:r>
            <a:r>
              <a:rPr sz="2000" b="0" i="0">
                <a:solidFill>
                  <a:srgbClr val="11202B"/>
                </a:solidFill>
                <a:latin typeface="Malgun Gothic"/>
                <a:ea typeface="Malgun Gothic"/>
                <a:cs typeface="Malgun Gothic"/>
              </a:rPr>
              <a:t>가 핵심 예방.</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섬망</a:t>
            </a:r>
            <a:r>
              <a:rPr sz="2000" b="0" i="0">
                <a:solidFill>
                  <a:srgbClr val="11202B"/>
                </a:solidFill>
                <a:latin typeface="Malgun Gothic"/>
                <a:ea typeface="Malgun Gothic"/>
                <a:cs typeface="Malgun Gothic"/>
              </a:rPr>
              <a:t>: 염증·혈액뇌장벽 투과·콜린성 결핍·수면 붕괴·약물. 예방은 다요소 비약물 묶음(지남력, 수면, 조기 거동, 감각 보조기구, 통증 조절, 벤조디아제핀 회피). 항정신병약물의 예방·치료 효과는 입증되지 않았으며 일상적 사용은 권장되지 않는다. </a:t>
            </a:r>
            <a:r>
              <a:rPr sz="2000" b="1" i="0">
                <a:solidFill>
                  <a:srgbClr val="11202B"/>
                </a:solidFill>
                <a:latin typeface="Malgun Gothic"/>
                <a:ea typeface="Malgun Gothic"/>
                <a:cs typeface="Malgun Gothic"/>
              </a:rPr>
              <a:t>ABCDEF 묶음</a:t>
            </a:r>
            <a:r>
              <a:rPr sz="2000" b="0" i="0">
                <a:solidFill>
                  <a:srgbClr val="11202B"/>
                </a:solidFill>
                <a:latin typeface="Malgun Gothic"/>
                <a:ea typeface="Malgun Gothic"/>
                <a:cs typeface="Malgun Gothic"/>
              </a:rPr>
              <a:t>이 표준 틀이다.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중환자 후 증후군과 회복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중환자 후 증후군(PICS)</a:t>
            </a:r>
            <a:r>
              <a:rPr sz="2000" b="0" i="0">
                <a:solidFill>
                  <a:srgbClr val="11202B"/>
                </a:solidFill>
                <a:latin typeface="Malgun Gothic"/>
                <a:ea typeface="Malgun Gothic"/>
                <a:cs typeface="Malgun Gothic"/>
              </a:rPr>
              <a:t>: 신체(근력·체력), 인지(기억·집행기능 — 장기 추적에서 경도 인지장애 수준), 정신(불안·우울·PTSD)의 지속 장애. 가족에게도 나타난다(PICS-F). 추적 클리닉, 중환자 일기, 단계적 재활, 영양·수면 회복, 약물 재검토(퇴원 시 불필요한 약 정리)가 개입 지점.</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회복기 대사: 동화 상태로 전환되며 단백·열량 요구가 실제로 높아지는 시기이므로, </a:t>
            </a:r>
            <a:r>
              <a:rPr sz="2000" b="1" i="0">
                <a:solidFill>
                  <a:srgbClr val="11202B"/>
                </a:solidFill>
                <a:latin typeface="Malgun Gothic"/>
                <a:ea typeface="Malgun Gothic"/>
                <a:cs typeface="Malgun Gothic"/>
              </a:rPr>
              <a:t>급성기보다 회복기에 영양 지원이 더 중요</a:t>
            </a:r>
            <a:r>
              <a:rPr sz="2000" b="0" i="0">
                <a:solidFill>
                  <a:srgbClr val="11202B"/>
                </a:solidFill>
                <a:latin typeface="Malgun Gothic"/>
                <a:ea typeface="Malgun Gothic"/>
                <a:cs typeface="Malgun Gothic"/>
              </a:rPr>
              <a:t>할 수 있다. 근력 운동과 단백 공급의 결합, 빈혈·비타민 결핍 교정, 재입원 예방이 목표다.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중환자 후 증후군과 회복</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18</a:t>
            </a:r>
          </a:p>
        </p:txBody>
      </p:sp>
      <p:sp>
        <p:nvSpPr>
          <p:cNvPr id="7" name="Rectangle 6"/>
          <p:cNvSpPr/>
          <p:nvPr/>
        </p:nvSpPr>
        <p:spPr>
          <a:xfrm>
            <a:off x="640080" y="1325880"/>
            <a:ext cx="10881360" cy="26670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임상 상관: 중환자 진료에서 "더 많이, 더 빨리, 더 엄격하게"가 반복적으로 틀렸다는 것이 지난 20년의 교훈이다. 엄격한 혈당 조절, 조기 공격적 정맥영양, 대량 수액, 조기 신대체요법, 고용량 비타민 요법은 모두 생리학적으로 매력적이었으나 무작위 시험에서 이득이 없거나 해로웠다. 생화학적 추론은 가설을 세우는 데 필수적이지만, 그 가설은 임상시험으로 검증되어야 한다 — 이 묶음 전체를 관통하는 원칙이다.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패혈증의 생물학적 아형(전사체·단백체 기반)에 따른 맞춤 면역조절 치료가 전향적으로 시험되고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미토콘드리아 기능 회복과 세포 대사 복원을 겨냥한 치료가 장기 기능장애의 근본 개입으로 탐색되고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중환자 후 증후군의 기전 연구와 구조화된 회복 프로그램이 생존 이후의 결과를 중심 지표로 끌어올리고 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중증 질환의 이화는 염증-호르몬 환경의 결과이므로 초기 과다 영양 공급으로 되돌릴 수 없다.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패혈증은 과염증과 면역 마비, 내피·미토콘드리아 손상이 동시에 일어나는 조절 실패 상태다.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재급식 증후군은 인슐린에 의한 인·칼륨·마그네슘·티아민의 세포 내 이동이며 티아민 선투여로 예방한다.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혈당 목표는 140–180 mg/dL이고 엄격한 조절은 저혈당으로 오히려 해롭다.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알부민·저T3·크레아티닌은 중환자에서 통상적 의미와 다르게 해석해야 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중환자에서 혈청 알부민이 낮은 것을 영양 상태의 지표로 쓸 수 없는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염증 시 IL-6가 간의 단백 합성 우선순위를 CRP·피브리노겐 같은 급성기 단백으로 바꾸어 알부민 합성을 줄이고, 동시에 혈관 투과성 증가로 알부민이 간질로 이동하며 수액 희석도 더해진다. 즉 알부민 저하는 염증과 분포 변화의 결과이지 단백 섭취 부족의 지표가 아니다. 영양 평가는 체중 추세, 근육량, 섭취량, 기능 평가로 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3주간 거의 먹지 못한 알코올 사용 환자에게 영양을 시작할 때 무엇을 먼저 하고 왜인가?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탄수화물 투여 전에 티아민을 투여하고 인·칼륨·마그네슘을 측정·교정한 뒤 저열량으로 천천히 시작한다. 당 공급으로 인슐린이 급증하면 인·칼륨·마그네슘이 세포 내로 이동해 심한 저인산혈증과 부정맥, 호흡근 약화를 일으키고, 티아민이 고갈된 상태에서 포도당 대사가 늘면 베르니케 뇌증이 촉발된다. 첫 수일간 전해질을 매일 추적한다.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NICE-SUGAR 시험 결과가 중환자 혈당 관리를 어떻게 바꾸었는가?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목표 81–108 mg/dL의 엄격한 조절군이 180 이하 목표군보다 90일 사망률이 높고 중증 저혈당이 훨씬 많았다. 고혈당이 해롭다는 생화학적 추론이 타당해도, 뇌가 포도당에 절대적으로 의존하는 상황에서 저혈당의 위험이 더 크다는 것이다. 이후 표준은 140–180 mg/dL 목표와 혈당 변동 최소화가 되었다.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중환자실 획득 약화를 예방하기 위한 가장 근거 있는 개입은 무엇이며 그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진정 최소화와 조기 거동·재활이다. 부동과 깊은 진정은 유비퀴틴-프로테아좀 경로를 통한 근단백 분해를 가속하고 신경근 흥분성 변화를 악화시킨다. 반대로 매일 진정 중단과 조기 운동은 인공호흡기 사용 기간과 섬망을 줄이고 퇴원 시 기능을 개선한다. 고혈당 회피와 불필요한 근이완제·스테로이드 제한도 함께 작용한다.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Singer M et al. The Third International Consensus Definitions for Sepsis and Septic Shock (Sepsis-3). JAMA 2016;315:801–810.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Casaer MP et al. Early versus late parenteral nutrition in critically ill adults (EPaNIC). N Engl J Med 2011;365:506–517.</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NICE-SUGAR Study Investigators. Intensive versus conventional glucose control in critically ill patients. N Engl J Med 2009;360:1283–1297.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B10-L12  ·  중환자 대사, 전신염증과 다장기 기능장애</a:t>
            </a:r>
            <a:r>
              <a:rPr sz="10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Puthucheary ZA et al. Acute skeletal muscle wasting in critical illness. JAMA 2013;310:1591–1600.</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Needham DM et al. Improving long-term outcomes after discharge from intensive care unit. Crit Care Med 2012;40:502–509.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