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필라그린 결손과 IL-4/IL-13에 의한 세라마이드·장벽 단백 감소로 각질층 지질 구조와 천연보습인자가 부족해지고 pH가 올라가 세린 단백분해효소가 활성화된다. 그 결과 알레르겐·미생물 투과가 늘어 2형 염증이 더 심해진다. 세라마이드·콜레스테롤·지방산을 보충하는 보습은 이 악순환의 상류를 교정하며, 신생아기 조기 보습이 발병 자체를 줄일 가능성도 연구되었다.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두 질환 모두 데스모글레인-1의 기능을 잃게 한다. 포도알균의 박리독소는 데스모글레인-1을 단백분해로 절단하고, 펨피구스 폴리아세우스는 같은 분자에 대한 자가항체가 접착을 방해한다. 데스모글레인-1은 표피 상층에 주로 분포하므로 두 질환 모두 과립층 수준의 표면 박리를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미숙아의 망막 혈관은 미완성 상태이며, 고농도 산소에 노출되면 HIF와 VEGF가 억제되어 혈관 성장이 멈추고 일부는 소실된다. 이후 산소 농도가 낮아지면 혈관 없는 망막이 상대적 저산소에 빠져 VEGF가 급격히 과잉 생산되고, 비정상 신생혈관과 섬유 증식, 망막 박리로 이어진다. 그래서 산소 포화도를 과하지도 부족하지도 않게 목표 범위로 유지하는 것이 예방의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미토콘드리아 12S rRNA의 m.1555A&gt;G 같은 변이는 아미노글리코사이드에 대한 극도의 감수성을 만들어, 정상 용량과 정상 혈중 농도에서도 비가역적 양측 감각신경성 난청을 일으킨다. 모계 유전이므로 한 사람의 병력이 모계 친족 전체의 위험을 뜻한다. 가능하면 다른 계열 항생제를 선택하고, 불가피하면 유전자 검사와 청력 감시를 계획한다.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B10 기타질환학  ·  근골격과 감각</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피부와 감각기관 질환의 분자 기전</a:t>
            </a:r>
          </a:p>
          <a:p>
            <a:r>
              <a:rPr sz="2000" b="0" i="0">
                <a:solidFill>
                  <a:srgbClr val="C2CDD6"/>
                </a:solidFill>
                <a:latin typeface="Malgun Gothic"/>
                <a:ea typeface="Malgun Gothic"/>
                <a:cs typeface="Malgun Gothic"/>
              </a:rPr>
              <a:t>Molecular Mechanisms of Skin, Eye and Ear Disease</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B10-L08</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피부 장벽의 생화학과 각질화·접착 장애 질환을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멜라닌 대사와 색소 질환, 광생물학을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망막의 에너지·시각 색소 대사와 주요 망막 질환을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안내압·수정체·각막의 생화학적 장애를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내이 기능과 난청·평형 장애의 분자 기전을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피부 장벽의 생화학</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멜라닌 대사와 광생물학</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망막의 대사와 망막 질환</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각막·수정체·안내압</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내이와 난청·평형</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피부 장벽의 생화학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각질층은 "벽돌과 모르타르": 벽돌 = 각질세포(케라틴 + </a:t>
            </a:r>
            <a:r>
              <a:rPr sz="2000" b="1" i="0">
                <a:solidFill>
                  <a:srgbClr val="11202B"/>
                </a:solidFill>
                <a:latin typeface="Malgun Gothic"/>
                <a:ea typeface="Malgun Gothic"/>
                <a:cs typeface="Malgun Gothic"/>
              </a:rPr>
              <a:t>필라그린</a:t>
            </a:r>
            <a:r>
              <a:rPr sz="2000" b="0" i="0">
                <a:solidFill>
                  <a:srgbClr val="11202B"/>
                </a:solidFill>
                <a:latin typeface="Malgun Gothic"/>
                <a:ea typeface="Malgun Gothic"/>
                <a:cs typeface="Malgun Gothic"/>
              </a:rPr>
              <a:t>으로 응집), 모르타르 = 세포간 지질층(</a:t>
            </a:r>
            <a:r>
              <a:rPr sz="2000" b="1" i="0">
                <a:solidFill>
                  <a:srgbClr val="11202B"/>
                </a:solidFill>
                <a:latin typeface="Malgun Gothic"/>
                <a:ea typeface="Malgun Gothic"/>
                <a:cs typeface="Malgun Gothic"/>
              </a:rPr>
              <a:t>세라마이드 ~50%</a:t>
            </a:r>
            <a:r>
              <a:rPr sz="2000" b="0" i="0">
                <a:solidFill>
                  <a:srgbClr val="11202B"/>
                </a:solidFill>
                <a:latin typeface="Malgun Gothic"/>
                <a:ea typeface="Malgun Gothic"/>
                <a:cs typeface="Malgun Gothic"/>
              </a:rPr>
              <a:t>, 콜레스테롤, 유리지방산). 층판체가 이 지질과 가공 효소를 분비한다.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천연보습인자: 필라그린 분해 산물(유로칸산, 피롤리돈 카복실산) — </a:t>
            </a:r>
            <a:r>
              <a:rPr sz="2000" b="1" i="0">
                <a:solidFill>
                  <a:srgbClr val="11202B"/>
                </a:solidFill>
                <a:latin typeface="Malgun Gothic"/>
                <a:ea typeface="Malgun Gothic"/>
                <a:cs typeface="Malgun Gothic"/>
              </a:rPr>
              <a:t>필라그린 결손이 건조·pH 상승·알레르겐 투과를 동시에 일으킨다</a:t>
            </a:r>
            <a:r>
              <a:rPr sz="2000" b="0" i="0">
                <a:solidFill>
                  <a:srgbClr val="11202B"/>
                </a:solidFill>
                <a:latin typeface="Malgun Gothic"/>
                <a:ea typeface="Malgun Gothic"/>
                <a:cs typeface="Malgun Gothic"/>
              </a:rPr>
              <a:t>.</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각질층 pH는 약산성(~5)이어서 세린 단백분해효소를 억제하고 항균 환경을 만든다. 비누·반복 세정이 pH를 올리면 단백분해효소가 활성화되어 코르네오데스모좀을 과도히 분해한다.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피부 장벽의 생화학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접착 구조와 질환: </a:t>
            </a:r>
            <a:r>
              <a:rPr sz="1800" b="1" i="0">
                <a:solidFill>
                  <a:srgbClr val="11202B"/>
                </a:solidFill>
                <a:latin typeface="Malgun Gothic"/>
                <a:ea typeface="Malgun Gothic"/>
                <a:cs typeface="Malgun Gothic"/>
              </a:rPr>
              <a:t>데스모좀</a:t>
            </a:r>
            <a:r>
              <a:rPr sz="1800" b="0" i="0">
                <a:solidFill>
                  <a:srgbClr val="11202B"/>
                </a:solidFill>
                <a:latin typeface="Malgun Gothic"/>
                <a:ea typeface="Malgun Gothic"/>
                <a:cs typeface="Malgun Gothic"/>
              </a:rPr>
              <a:t>(데스모글레인 1/3) → 수포성 질환 중 </a:t>
            </a:r>
            <a:r>
              <a:rPr sz="1800" b="1" i="0">
                <a:solidFill>
                  <a:srgbClr val="11202B"/>
                </a:solidFill>
                <a:latin typeface="Malgun Gothic"/>
                <a:ea typeface="Malgun Gothic"/>
                <a:cs typeface="Malgun Gothic"/>
              </a:rPr>
              <a:t>파열창 수포증</a:t>
            </a:r>
            <a:r>
              <a:rPr sz="1800" b="0" i="0">
                <a:solidFill>
                  <a:srgbClr val="11202B"/>
                </a:solidFill>
                <a:latin typeface="Malgun Gothic"/>
                <a:ea typeface="Malgun Gothic"/>
                <a:cs typeface="Malgun Gothic"/>
              </a:rPr>
              <a:t>과 자가면역 </a:t>
            </a:r>
            <a:r>
              <a:rPr sz="1800" b="1" i="0">
                <a:solidFill>
                  <a:srgbClr val="11202B"/>
                </a:solidFill>
                <a:latin typeface="Malgun Gothic"/>
                <a:ea typeface="Malgun Gothic"/>
                <a:cs typeface="Malgun Gothic"/>
              </a:rPr>
              <a:t>펨피구스</a:t>
            </a:r>
            <a:r>
              <a:rPr sz="1800" b="0" i="0">
                <a:solidFill>
                  <a:srgbClr val="11202B"/>
                </a:solidFill>
                <a:latin typeface="Malgun Gothic"/>
                <a:ea typeface="Malgun Gothic"/>
                <a:cs typeface="Malgun Gothic"/>
              </a:rPr>
              <a:t>(항-데스모글레인 — 표피 내 수포, 니콜스키 징후); </a:t>
            </a:r>
            <a:r>
              <a:rPr sz="1800" b="1" i="0">
                <a:solidFill>
                  <a:srgbClr val="11202B"/>
                </a:solidFill>
                <a:latin typeface="Malgun Gothic"/>
                <a:ea typeface="Malgun Gothic"/>
                <a:cs typeface="Malgun Gothic"/>
              </a:rPr>
              <a:t>헤미데스모좀·기저막</a:t>
            </a:r>
            <a:r>
              <a:rPr sz="1800" b="0" i="0">
                <a:solidFill>
                  <a:srgbClr val="11202B"/>
                </a:solidFill>
                <a:latin typeface="Malgun Gothic"/>
                <a:ea typeface="Malgun Gothic"/>
                <a:cs typeface="Malgun Gothic"/>
              </a:rPr>
              <a:t>(BP180/BP230, 라미닌-332, VII형 콜라겐) → </a:t>
            </a:r>
            <a:r>
              <a:rPr sz="1800" b="1" i="0">
                <a:solidFill>
                  <a:srgbClr val="11202B"/>
                </a:solidFill>
                <a:latin typeface="Malgun Gothic"/>
                <a:ea typeface="Malgun Gothic"/>
                <a:cs typeface="Malgun Gothic"/>
              </a:rPr>
              <a:t>수포성 펨피고이드</a:t>
            </a:r>
            <a:r>
              <a:rPr sz="1800" b="0" i="0">
                <a:solidFill>
                  <a:srgbClr val="11202B"/>
                </a:solidFill>
                <a:latin typeface="Malgun Gothic"/>
                <a:ea typeface="Malgun Gothic"/>
                <a:cs typeface="Malgun Gothic"/>
              </a:rPr>
              <a:t>(긴장성 수포, 고령, DPP-4 억제제 연관), </a:t>
            </a:r>
            <a:r>
              <a:rPr sz="1800" b="1" i="0">
                <a:solidFill>
                  <a:srgbClr val="11202B"/>
                </a:solidFill>
                <a:latin typeface="Malgun Gothic"/>
                <a:ea typeface="Malgun Gothic"/>
                <a:cs typeface="Malgun Gothic"/>
              </a:rPr>
              <a:t>상피박리증</a:t>
            </a:r>
            <a:r>
              <a:rPr sz="1800" b="0" i="0">
                <a:solidFill>
                  <a:srgbClr val="11202B"/>
                </a:solidFill>
                <a:latin typeface="Malgun Gothic"/>
                <a:ea typeface="Malgun Gothic"/>
                <a:cs typeface="Malgun Gothic"/>
              </a:rPr>
              <a:t>(유전성 — 단순형 케라틴5/14, 접합형 라미닌-332, 이형성형 </a:t>
            </a:r>
            <a:r>
              <a:rPr sz="1800" b="1" i="0">
                <a:solidFill>
                  <a:srgbClr val="11202B"/>
                </a:solidFill>
                <a:latin typeface="Malgun Gothic"/>
                <a:ea typeface="Malgun Gothic"/>
                <a:cs typeface="Malgun Gothic"/>
              </a:rPr>
              <a:t>COL7A1</a:t>
            </a:r>
            <a:r>
              <a:rPr sz="1800" b="0" i="0">
                <a:solidFill>
                  <a:srgbClr val="11202B"/>
                </a:solidFill>
                <a:latin typeface="Malgun Gothic"/>
                <a:ea typeface="Malgun Gothic"/>
                <a:cs typeface="Malgun Gothic"/>
              </a:rPr>
              <a:t>). 이형성형에는 유전자 치료 젤(베레미노진)과 세포 치료가 도입되었다.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포도알균 열상 피부 증후군은 외독소가 </a:t>
            </a:r>
            <a:r>
              <a:rPr sz="1800" b="1" i="0">
                <a:solidFill>
                  <a:srgbClr val="11202B"/>
                </a:solidFill>
                <a:latin typeface="Malgun Gothic"/>
                <a:ea typeface="Malgun Gothic"/>
                <a:cs typeface="Malgun Gothic"/>
              </a:rPr>
              <a:t>데스모글레인-1을 절단</a:t>
            </a:r>
            <a:r>
              <a:rPr sz="1800" b="0" i="0">
                <a:solidFill>
                  <a:srgbClr val="11202B"/>
                </a:solidFill>
                <a:latin typeface="Malgun Gothic"/>
                <a:ea typeface="Malgun Gothic"/>
                <a:cs typeface="Malgun Gothic"/>
              </a:rPr>
              <a:t>해 펨피구스 폴리아세우스와 같은 층에서 박리를 만든다 — 분자 표적이 같다.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피부 장벽의 생화학</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500" b="1" i="0">
                          <a:solidFill>
                            <a:srgbClr val="FFFFFF"/>
                          </a:solidFill>
                          <a:latin typeface="Malgun Gothic"/>
                          <a:ea typeface="Malgun Gothic"/>
                          <a:cs typeface="Malgun Gothic"/>
                        </a:rPr>
                        <a:t>결함</a:t>
                      </a:r>
                    </a:p>
                  </a:txBody>
                  <a:tcPr marL="73152" marR="73152">
                    <a:solidFill>
                      <a:srgbClr val="003C71"/>
                    </a:solidFill>
                  </a:tcPr>
                </a:tc>
                <a:tc>
                  <a:txBody>
                    <a:bodyPr/>
                    <a:lstStyle/>
                    <a:p>
                      <a:r>
                        <a:rPr sz="1500" b="1" i="0">
                          <a:solidFill>
                            <a:srgbClr val="FFFFFF"/>
                          </a:solidFill>
                          <a:latin typeface="Malgun Gothic"/>
                          <a:ea typeface="Malgun Gothic"/>
                          <a:cs typeface="Malgun Gothic"/>
                        </a:rPr>
                        <a:t>특징</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아토피피부염</a:t>
                      </a:r>
                    </a:p>
                  </a:txBody>
                  <a:tcPr marL="73152" marR="73152">
                    <a:solidFill>
                      <a:srgbClr val="FFFFFF"/>
                    </a:solidFill>
                  </a:tcPr>
                </a:tc>
                <a:tc>
                  <a:txBody>
                    <a:bodyPr/>
                    <a:lstStyle/>
                    <a:p>
                      <a:r>
                        <a:rPr sz="1500" b="0" i="0">
                          <a:solidFill>
                            <a:srgbClr val="11202B"/>
                          </a:solidFill>
                          <a:latin typeface="Malgun Gothic"/>
                          <a:ea typeface="Malgun Gothic"/>
                          <a:cs typeface="Malgun Gothic"/>
                        </a:rPr>
                        <a:t>FLG 결손 + 2형 염증(IL-4/13 → 장벽 단백·세라마이드 ↓)</a:t>
                      </a:r>
                    </a:p>
                  </a:txBody>
                  <a:tcPr marL="73152" marR="73152">
                    <a:solidFill>
                      <a:srgbClr val="FFFFFF"/>
                    </a:solidFill>
                  </a:tcPr>
                </a:tc>
                <a:tc>
                  <a:txBody>
                    <a:bodyPr/>
                    <a:lstStyle/>
                    <a:p>
                      <a:r>
                        <a:rPr sz="1500" b="0" i="0">
                          <a:solidFill>
                            <a:srgbClr val="11202B"/>
                          </a:solidFill>
                          <a:latin typeface="Malgun Gothic"/>
                          <a:ea typeface="Malgun Gothic"/>
                          <a:cs typeface="Malgun Gothic"/>
                        </a:rPr>
                        <a:t>장벽-염증 악순환; 보습 + 항염 + 두필루맙</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보통 비늘증</a:t>
                      </a:r>
                    </a:p>
                  </a:txBody>
                  <a:tcPr marL="73152" marR="73152">
                    <a:solidFill>
                      <a:srgbClr val="ECF1F5"/>
                    </a:solidFill>
                  </a:tcPr>
                </a:tc>
                <a:tc>
                  <a:txBody>
                    <a:bodyPr/>
                    <a:lstStyle/>
                    <a:p>
                      <a:r>
                        <a:rPr sz="1500" b="0" i="0">
                          <a:solidFill>
                            <a:srgbClr val="11202B"/>
                          </a:solidFill>
                          <a:latin typeface="Malgun Gothic"/>
                          <a:ea typeface="Malgun Gothic"/>
                          <a:cs typeface="Malgun Gothic"/>
                        </a:rPr>
                        <a:t>FLG</a:t>
                      </a:r>
                    </a:p>
                  </a:txBody>
                  <a:tcPr marL="73152" marR="73152">
                    <a:solidFill>
                      <a:srgbClr val="ECF1F5"/>
                    </a:solidFill>
                  </a:tcPr>
                </a:tc>
                <a:tc>
                  <a:txBody>
                    <a:bodyPr/>
                    <a:lstStyle/>
                    <a:p>
                      <a:r>
                        <a:rPr sz="1500" b="0" i="0">
                          <a:solidFill>
                            <a:srgbClr val="11202B"/>
                          </a:solidFill>
                          <a:latin typeface="Malgun Gothic"/>
                          <a:ea typeface="Malgun Gothic"/>
                          <a:cs typeface="Malgun Gothic"/>
                        </a:rPr>
                        <a:t>미세한 비늘, 아토피 동반</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X-연관 비늘증</a:t>
                      </a:r>
                    </a:p>
                  </a:txBody>
                  <a:tcPr marL="73152" marR="73152">
                    <a:solidFill>
                      <a:srgbClr val="FFFFFF"/>
                    </a:solidFill>
                  </a:tcPr>
                </a:tc>
                <a:tc>
                  <a:txBody>
                    <a:bodyPr/>
                    <a:lstStyle/>
                    <a:p>
                      <a:r>
                        <a:rPr sz="1500" b="0" i="0">
                          <a:solidFill>
                            <a:srgbClr val="11202B"/>
                          </a:solidFill>
                          <a:latin typeface="Malgun Gothic"/>
                          <a:ea typeface="Malgun Gothic"/>
                          <a:cs typeface="Malgun Gothic"/>
                        </a:rPr>
                        <a:t>스테로이드 설파타아제(STS)</a:t>
                      </a:r>
                    </a:p>
                  </a:txBody>
                  <a:tcPr marL="73152" marR="73152">
                    <a:solidFill>
                      <a:srgbClr val="FFFFFF"/>
                    </a:solidFill>
                  </a:tcPr>
                </a:tc>
                <a:tc>
                  <a:txBody>
                    <a:bodyPr/>
                    <a:lstStyle/>
                    <a:p>
                      <a:r>
                        <a:rPr sz="1500" b="0" i="0">
                          <a:solidFill>
                            <a:srgbClr val="11202B"/>
                          </a:solidFill>
                          <a:latin typeface="Malgun Gothic"/>
                          <a:ea typeface="Malgun Gothic"/>
                          <a:cs typeface="Malgun Gothic"/>
                        </a:rPr>
                        <a:t>콜레스테롤 설페이트 축적 → 각질 응집, 각막 혼탁, 산모 분만 지연</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할리퀸·판상 비늘증</a:t>
                      </a:r>
                    </a:p>
                  </a:txBody>
                  <a:tcPr marL="73152" marR="73152">
                    <a:solidFill>
                      <a:srgbClr val="ECF1F5"/>
                    </a:solidFill>
                  </a:tcPr>
                </a:tc>
                <a:tc>
                  <a:txBody>
                    <a:bodyPr/>
                    <a:lstStyle/>
                    <a:p>
                      <a:r>
                        <a:rPr sz="1500" b="0" i="0">
                          <a:solidFill>
                            <a:srgbClr val="11202B"/>
                          </a:solidFill>
                          <a:latin typeface="Malgun Gothic"/>
                          <a:ea typeface="Malgun Gothic"/>
                          <a:cs typeface="Malgun Gothic"/>
                        </a:rPr>
                        <a:t>ABCA12(지질 수송), TGM1(트랜스글루타미나아제-1)</a:t>
                      </a:r>
                    </a:p>
                  </a:txBody>
                  <a:tcPr marL="73152" marR="73152">
                    <a:solidFill>
                      <a:srgbClr val="ECF1F5"/>
                    </a:solidFill>
                  </a:tcPr>
                </a:tc>
                <a:tc>
                  <a:txBody>
                    <a:bodyPr/>
                    <a:lstStyle/>
                    <a:p>
                      <a:r>
                        <a:rPr sz="1500" b="0" i="0">
                          <a:solidFill>
                            <a:srgbClr val="11202B"/>
                          </a:solidFill>
                          <a:latin typeface="Malgun Gothic"/>
                          <a:ea typeface="Malgun Gothic"/>
                          <a:cs typeface="Malgun Gothic"/>
                        </a:rPr>
                        <a:t>중증 신생아 장벽 실패</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네덜톤 증후군</a:t>
                      </a:r>
                    </a:p>
                  </a:txBody>
                  <a:tcPr marL="73152" marR="73152">
                    <a:solidFill>
                      <a:srgbClr val="FFFFFF"/>
                    </a:solidFill>
                  </a:tcPr>
                </a:tc>
                <a:tc>
                  <a:txBody>
                    <a:bodyPr/>
                    <a:lstStyle/>
                    <a:p>
                      <a:r>
                        <a:rPr sz="1500" b="0" i="0">
                          <a:solidFill>
                            <a:srgbClr val="11202B"/>
                          </a:solidFill>
                          <a:latin typeface="Malgun Gothic"/>
                          <a:ea typeface="Malgun Gothic"/>
                          <a:cs typeface="Malgun Gothic"/>
                        </a:rPr>
                        <a:t>SPINK5(LEKTI — 단백분해효소 억제자)</a:t>
                      </a:r>
                    </a:p>
                  </a:txBody>
                  <a:tcPr marL="73152" marR="73152">
                    <a:solidFill>
                      <a:srgbClr val="FFFFFF"/>
                    </a:solidFill>
                  </a:tcPr>
                </a:tc>
                <a:tc>
                  <a:txBody>
                    <a:bodyPr/>
                    <a:lstStyle/>
                    <a:p>
                      <a:r>
                        <a:rPr sz="1500" b="0" i="0">
                          <a:solidFill>
                            <a:srgbClr val="11202B"/>
                          </a:solidFill>
                          <a:latin typeface="Malgun Gothic"/>
                          <a:ea typeface="Malgun Gothic"/>
                          <a:cs typeface="Malgun Gothic"/>
                        </a:rPr>
                        <a:t>단백분해효소 과활성 → 박리, 중증 알레르기</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건선</a:t>
                      </a:r>
                    </a:p>
                  </a:txBody>
                  <a:tcPr marL="73152" marR="73152">
                    <a:solidFill>
                      <a:srgbClr val="ECF1F5"/>
                    </a:solidFill>
                  </a:tcPr>
                </a:tc>
                <a:tc>
                  <a:txBody>
                    <a:bodyPr/>
                    <a:lstStyle/>
                    <a:p>
                      <a:r>
                        <a:rPr sz="1500" b="0" i="0">
                          <a:solidFill>
                            <a:srgbClr val="11202B"/>
                          </a:solidFill>
                          <a:latin typeface="Malgun Gothic"/>
                          <a:ea typeface="Malgun Gothic"/>
                          <a:cs typeface="Malgun Gothic"/>
                        </a:rPr>
                        <a:t>IL-23/IL-17, 과증식, HLA-C*06:02</a:t>
                      </a:r>
                    </a:p>
                  </a:txBody>
                  <a:tcPr marL="73152" marR="73152">
                    <a:solidFill>
                      <a:srgbClr val="ECF1F5"/>
                    </a:solidFill>
                  </a:tcPr>
                </a:tc>
                <a:tc>
                  <a:txBody>
                    <a:bodyPr/>
                    <a:lstStyle/>
                    <a:p>
                      <a:r>
                        <a:rPr sz="1500" b="0" i="0">
                          <a:solidFill>
                            <a:srgbClr val="11202B"/>
                          </a:solidFill>
                          <a:latin typeface="Malgun Gothic"/>
                          <a:ea typeface="Malgun Gothic"/>
                          <a:cs typeface="Malgun Gothic"/>
                        </a:rPr>
                        <a:t>IL-17·IL-23 차단제가 극적 효과</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수장족저 각화증·다윈형</a:t>
                      </a:r>
                    </a:p>
                  </a:txBody>
                  <a:tcPr marL="73152" marR="73152">
                    <a:solidFill>
                      <a:srgbClr val="FFFFFF"/>
                    </a:solidFill>
                  </a:tcPr>
                </a:tc>
                <a:tc>
                  <a:txBody>
                    <a:bodyPr/>
                    <a:lstStyle/>
                    <a:p>
                      <a:r>
                        <a:rPr sz="1500" b="0" i="0">
                          <a:solidFill>
                            <a:srgbClr val="11202B"/>
                          </a:solidFill>
                          <a:latin typeface="Malgun Gothic"/>
                          <a:ea typeface="Malgun Gothic"/>
                          <a:cs typeface="Malgun Gothic"/>
                        </a:rPr>
                        <a:t>케라틴 유전자</a:t>
                      </a:r>
                    </a:p>
                  </a:txBody>
                  <a:tcPr marL="73152" marR="73152">
                    <a:solidFill>
                      <a:srgbClr val="FFFFFF"/>
                    </a:solidFill>
                  </a:tcPr>
                </a:tc>
                <a:tc>
                  <a:txBody>
                    <a:bodyPr/>
                    <a:lstStyle/>
                    <a:p>
                      <a:r>
                        <a:rPr sz="1500" b="0" i="0">
                          <a:solidFill>
                            <a:srgbClr val="11202B"/>
                          </a:solidFill>
                          <a:latin typeface="Malgun Gothic"/>
                          <a:ea typeface="Malgun Gothic"/>
                          <a:cs typeface="Malgun Gothic"/>
                        </a:rPr>
                        <a:t>특정 케라틴 쌍의 발현 부위와 표현형 일치</a:t>
                      </a:r>
                    </a:p>
                  </a:txBody>
                  <a:tcPr marL="73152" marR="7315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멜라닌 대사와 광생물학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멜라닌 합성: 타이로신 → (</a:t>
            </a:r>
            <a:r>
              <a:rPr sz="1800" b="1" i="0">
                <a:solidFill>
                  <a:srgbClr val="11202B"/>
                </a:solidFill>
                <a:latin typeface="Malgun Gothic"/>
                <a:ea typeface="Malgun Gothic"/>
                <a:cs typeface="Malgun Gothic"/>
              </a:rPr>
              <a:t>타이로시나아제</a:t>
            </a:r>
            <a:r>
              <a:rPr sz="1800" b="0" i="0">
                <a:solidFill>
                  <a:srgbClr val="11202B"/>
                </a:solidFill>
                <a:latin typeface="Malgun Gothic"/>
                <a:ea typeface="Malgun Gothic"/>
                <a:cs typeface="Malgun Gothic"/>
              </a:rPr>
              <a:t>, 구리 의존) 도파 → 도파퀴논 → 유멜라닌(갈흑색) 또는 시스테인 결합 → 페오멜라닌(적황색). 멜라노좀이 케라틴세포로 전달된다.</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MC1R</a:t>
            </a:r>
            <a:r>
              <a:rPr sz="1800" b="0" i="0">
                <a:solidFill>
                  <a:srgbClr val="11202B"/>
                </a:solidFill>
                <a:latin typeface="Malgun Gothic"/>
                <a:ea typeface="Malgun Gothic"/>
                <a:cs typeface="Malgun Gothic"/>
              </a:rPr>
              <a:t>: α-MSH 자극 → cAMP → MITF → 유멜라닌 우위. MC1R 기능 저하 변이(적발·주상 피부)는 페오멜라닌 우위로 광보호가 약하고 </a:t>
            </a:r>
            <a:r>
              <a:rPr sz="1800" b="1" i="0">
                <a:solidFill>
                  <a:srgbClr val="11202B"/>
                </a:solidFill>
                <a:latin typeface="Malgun Gothic"/>
                <a:ea typeface="Malgun Gothic"/>
                <a:cs typeface="Malgun Gothic"/>
              </a:rPr>
              <a:t>흑색종 위험</a:t>
            </a:r>
            <a:r>
              <a:rPr sz="1800" b="0" i="0">
                <a:solidFill>
                  <a:srgbClr val="11202B"/>
                </a:solidFill>
                <a:latin typeface="Malgun Gothic"/>
                <a:ea typeface="Malgun Gothic"/>
                <a:cs typeface="Malgun Gothic"/>
              </a:rPr>
              <a:t>이 높다.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자외선 생화학: UVB(280–315 nm)는 DNA에 직접 흡수되어 </a:t>
            </a:r>
            <a:r>
              <a:rPr sz="1800" b="1" i="0">
                <a:solidFill>
                  <a:srgbClr val="11202B"/>
                </a:solidFill>
                <a:latin typeface="Malgun Gothic"/>
                <a:ea typeface="Malgun Gothic"/>
                <a:cs typeface="Malgun Gothic"/>
              </a:rPr>
              <a:t>사이클로부테인 피리미딘 이량체</a:t>
            </a:r>
            <a:r>
              <a:rPr sz="1800" b="0" i="0">
                <a:solidFill>
                  <a:srgbClr val="11202B"/>
                </a:solidFill>
                <a:latin typeface="Malgun Gothic"/>
                <a:ea typeface="Malgun Gothic"/>
                <a:cs typeface="Malgun Gothic"/>
              </a:rPr>
              <a:t>를 만든다(NER로 복구; XP 유전자 결함 → 색소성 건피증, 피부암 다발·신경 퇴행). UVA는 ROS를 통해 간접 손상과 광노화(MMP-1로 콜라겐 분해). 비타민 D 합성은 UVB가 7-디하이드로콜레스테롤을 전환.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멜라닌 대사와 광생물학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광민감성의 생화학: 포르피린증(B10 L03), 약물 광독성(독시사이클린, 보리코나졸, 하이드로클로로티아지드 — 피부암 위험), 펠라그라(나이아신 결핍 — 햇빛 노출 부위 피부염·설사·치매).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멜라닌 대사와 광생물학</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500" b="1" i="0">
                          <a:solidFill>
                            <a:srgbClr val="FFFFFF"/>
                          </a:solidFill>
                          <a:latin typeface="Malgun Gothic"/>
                          <a:ea typeface="Malgun Gothic"/>
                          <a:cs typeface="Malgun Gothic"/>
                        </a:rPr>
                        <a:t>결함</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백색증 1형</a:t>
                      </a:r>
                    </a:p>
                  </a:txBody>
                  <a:tcPr marL="73152" marR="73152">
                    <a:solidFill>
                      <a:srgbClr val="FFFFFF"/>
                    </a:solidFill>
                  </a:tcPr>
                </a:tc>
                <a:tc>
                  <a:txBody>
                    <a:bodyPr/>
                    <a:lstStyle/>
                    <a:p>
                      <a:r>
                        <a:rPr sz="1500" b="0" i="0">
                          <a:solidFill>
                            <a:srgbClr val="11202B"/>
                          </a:solidFill>
                          <a:latin typeface="Malgun Gothic"/>
                          <a:ea typeface="Malgun Gothic"/>
                          <a:cs typeface="Malgun Gothic"/>
                        </a:rPr>
                        <a:t>타이로시나아제(TYR)</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백색증 2형</a:t>
                      </a:r>
                    </a:p>
                  </a:txBody>
                  <a:tcPr marL="73152" marR="73152">
                    <a:solidFill>
                      <a:srgbClr val="ECF1F5"/>
                    </a:solidFill>
                  </a:tcPr>
                </a:tc>
                <a:tc>
                  <a:txBody>
                    <a:bodyPr/>
                    <a:lstStyle/>
                    <a:p>
                      <a:r>
                        <a:rPr sz="1500" b="0" i="0">
                          <a:solidFill>
                            <a:srgbClr val="11202B"/>
                          </a:solidFill>
                          <a:latin typeface="Malgun Gothic"/>
                          <a:ea typeface="Malgun Gothic"/>
                          <a:cs typeface="Malgun Gothic"/>
                        </a:rPr>
                        <a:t>OCA2(멜라노좀 pH)</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헤르만스키-푸들락 / 체디아크-히가시</a:t>
                      </a:r>
                    </a:p>
                  </a:txBody>
                  <a:tcPr marL="73152" marR="73152">
                    <a:solidFill>
                      <a:srgbClr val="FFFFFF"/>
                    </a:solidFill>
                  </a:tcPr>
                </a:tc>
                <a:tc>
                  <a:txBody>
                    <a:bodyPr/>
                    <a:lstStyle/>
                    <a:p>
                      <a:r>
                        <a:rPr sz="1500" b="0" i="0">
                          <a:solidFill>
                            <a:srgbClr val="11202B"/>
                          </a:solidFill>
                          <a:latin typeface="Malgun Gothic"/>
                          <a:ea typeface="Malgun Gothic"/>
                          <a:cs typeface="Malgun Gothic"/>
                        </a:rPr>
                        <a:t>소기관 생합성(HPS 유전자) / LYST — 출혈·면역 결함 동반</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백반증</a:t>
                      </a:r>
                    </a:p>
                  </a:txBody>
                  <a:tcPr marL="73152" marR="73152">
                    <a:solidFill>
                      <a:srgbClr val="ECF1F5"/>
                    </a:solidFill>
                  </a:tcPr>
                </a:tc>
                <a:tc>
                  <a:txBody>
                    <a:bodyPr/>
                    <a:lstStyle/>
                    <a:p>
                      <a:r>
                        <a:rPr sz="1500" b="0" i="0">
                          <a:solidFill>
                            <a:srgbClr val="11202B"/>
                          </a:solidFill>
                          <a:latin typeface="Malgun Gothic"/>
                          <a:ea typeface="Malgun Gothic"/>
                          <a:cs typeface="Malgun Gothic"/>
                        </a:rPr>
                        <a:t>멜라노사이트 자가면역(CD8, IFN-γ-CXCL10) — </a:t>
                      </a:r>
                      <a:r>
                        <a:rPr sz="1500" b="1" i="0">
                          <a:solidFill>
                            <a:srgbClr val="11202B"/>
                          </a:solidFill>
                          <a:latin typeface="Malgun Gothic"/>
                          <a:ea typeface="Malgun Gothic"/>
                          <a:cs typeface="Malgun Gothic"/>
                        </a:rPr>
                        <a:t>JAK 억제제</a:t>
                      </a:r>
                      <a:r>
                        <a:rPr sz="1500" b="0" i="0">
                          <a:solidFill>
                            <a:srgbClr val="11202B"/>
                          </a:solidFill>
                          <a:latin typeface="Malgun Gothic"/>
                          <a:ea typeface="Malgun Gothic"/>
                          <a:cs typeface="Malgun Gothic"/>
                        </a:rPr>
                        <a:t>(룩솔리티닙 크림)</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기미·염증 후 색소침착</a:t>
                      </a:r>
                    </a:p>
                  </a:txBody>
                  <a:tcPr marL="73152" marR="73152">
                    <a:solidFill>
                      <a:srgbClr val="FFFFFF"/>
                    </a:solidFill>
                  </a:tcPr>
                </a:tc>
                <a:tc>
                  <a:txBody>
                    <a:bodyPr/>
                    <a:lstStyle/>
                    <a:p>
                      <a:r>
                        <a:rPr sz="1500" b="0" i="0">
                          <a:solidFill>
                            <a:srgbClr val="11202B"/>
                          </a:solidFill>
                          <a:latin typeface="Malgun Gothic"/>
                          <a:ea typeface="Malgun Gothic"/>
                          <a:cs typeface="Malgun Gothic"/>
                        </a:rPr>
                        <a:t>멜라닌 생성·전달 증가</a:t>
                      </a:r>
                    </a:p>
                  </a:txBody>
                  <a:tcPr marL="73152" marR="7315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망막의 대사와 망막 질환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광전달: 11-cis-레티날 + 옵신 = 로돕신 → 광자 → 올-trans-레티날 → 트랜스듀신 → PDE6 → cGMP ↓ → CNG 통로 닫힘 → </a:t>
            </a:r>
            <a:r>
              <a:rPr sz="1800" b="1" i="0">
                <a:solidFill>
                  <a:srgbClr val="11202B"/>
                </a:solidFill>
                <a:latin typeface="Malgun Gothic"/>
                <a:ea typeface="Malgun Gothic"/>
                <a:cs typeface="Malgun Gothic"/>
              </a:rPr>
              <a:t>과분극</a:t>
            </a:r>
            <a:r>
              <a:rPr sz="1800" b="0" i="0">
                <a:solidFill>
                  <a:srgbClr val="11202B"/>
                </a:solidFill>
                <a:latin typeface="Malgun Gothic"/>
                <a:ea typeface="Malgun Gothic"/>
                <a:cs typeface="Malgun Gothic"/>
              </a:rPr>
              <a:t>(어두울 때 탈분극, 빛에서 과분극이라는 역설적 신호).</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시각 회로(visual cycle)</a:t>
            </a:r>
            <a:r>
              <a:rPr sz="1800" b="0" i="0">
                <a:solidFill>
                  <a:srgbClr val="11202B"/>
                </a:solidFill>
                <a:latin typeface="Malgun Gothic"/>
                <a:ea typeface="Malgun Gothic"/>
                <a:cs typeface="Malgun Gothic"/>
              </a:rPr>
              <a:t>: 올-trans-레티놀 → RPE에서 LRAT로 에스터화 → </a:t>
            </a:r>
            <a:r>
              <a:rPr sz="1800" b="1" i="0">
                <a:solidFill>
                  <a:srgbClr val="11202B"/>
                </a:solidFill>
                <a:latin typeface="Malgun Gothic"/>
                <a:ea typeface="Malgun Gothic"/>
                <a:cs typeface="Malgun Gothic"/>
              </a:rPr>
              <a:t>RPE65</a:t>
            </a:r>
            <a:r>
              <a:rPr sz="1800" b="0" i="0">
                <a:solidFill>
                  <a:srgbClr val="11202B"/>
                </a:solidFill>
                <a:latin typeface="Malgun Gothic"/>
                <a:ea typeface="Malgun Gothic"/>
                <a:cs typeface="Malgun Gothic"/>
              </a:rPr>
              <a:t>가 이성체화 → 11-cis-레티날 재공급. RPE65 양쪽 변이 실명에는 </a:t>
            </a:r>
            <a:r>
              <a:rPr sz="1800" b="1" i="0">
                <a:solidFill>
                  <a:srgbClr val="11202B"/>
                </a:solidFill>
                <a:latin typeface="Malgun Gothic"/>
                <a:ea typeface="Malgun Gothic"/>
                <a:cs typeface="Malgun Gothic"/>
              </a:rPr>
              <a:t>보레티진 네파보벡</a:t>
            </a:r>
            <a:r>
              <a:rPr sz="1800" b="0" i="0">
                <a:solidFill>
                  <a:srgbClr val="11202B"/>
                </a:solidFill>
                <a:latin typeface="Malgun Gothic"/>
                <a:ea typeface="Malgun Gothic"/>
                <a:cs typeface="Malgun Gothic"/>
              </a:rPr>
              <a:t>(AAV 유전자 치료)이 승인되었다.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망막은 체내 최고 수준의 산소·에너지 소비 조직이며 광수용체는 호기성 해당과정에 크게 의존한다 → 미토콘드리아·대사 취약성이 질환으로 이어진다.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비타민 A 결핍은 야맹증 → 각막건조·각막연화로 진행하는 세계적 실명 원인이며, 지방 흡수 장애·담도 질환에서도 발생한다.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망막의 대사와 망막 질환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3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3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300" b="1" i="0">
                          <a:solidFill>
                            <a:srgbClr val="FFFFFF"/>
                          </a:solidFill>
                          <a:latin typeface="Malgun Gothic"/>
                          <a:ea typeface="Malgun Gothic"/>
                          <a:cs typeface="Malgun Gothic"/>
                        </a:rPr>
                        <a:t>치료</a:t>
                      </a:r>
                    </a:p>
                  </a:txBody>
                  <a:tcPr marL="73152" marR="73152">
                    <a:solidFill>
                      <a:srgbClr val="003C71"/>
                    </a:solidFill>
                  </a:tcPr>
                </a:tc>
              </a:tr>
              <a:tr h="365760">
                <a:tc>
                  <a:txBody>
                    <a:bodyPr/>
                    <a:lstStyle/>
                    <a:p>
                      <a:r>
                        <a:rPr sz="1300" b="1" i="0">
                          <a:solidFill>
                            <a:srgbClr val="11202B"/>
                          </a:solidFill>
                          <a:latin typeface="Malgun Gothic"/>
                          <a:ea typeface="Malgun Gothic"/>
                          <a:cs typeface="Malgun Gothic"/>
                        </a:rPr>
                        <a:t>당뇨망막병증</a:t>
                      </a:r>
                    </a:p>
                  </a:txBody>
                  <a:tcPr marL="73152" marR="73152">
                    <a:solidFill>
                      <a:srgbClr val="FFFFFF"/>
                    </a:solidFill>
                  </a:tcPr>
                </a:tc>
                <a:tc>
                  <a:txBody>
                    <a:bodyPr/>
                    <a:lstStyle/>
                    <a:p>
                      <a:r>
                        <a:rPr sz="1300" b="0" i="0">
                          <a:solidFill>
                            <a:srgbClr val="11202B"/>
                          </a:solidFill>
                          <a:latin typeface="Malgun Gothic"/>
                          <a:ea typeface="Malgun Gothic"/>
                          <a:cs typeface="Malgun Gothic"/>
                        </a:rPr>
                        <a:t>고혈당 → 폴리올(알도스 환원효소), AGE, PKC, 헥소사민, ROS → 모세혈관 소실·VEGF ↑</a:t>
                      </a:r>
                    </a:p>
                  </a:txBody>
                  <a:tcPr marL="73152" marR="73152">
                    <a:solidFill>
                      <a:srgbClr val="FFFFFF"/>
                    </a:solidFill>
                  </a:tcPr>
                </a:tc>
                <a:tc>
                  <a:txBody>
                    <a:bodyPr/>
                    <a:lstStyle/>
                    <a:p>
                      <a:r>
                        <a:rPr sz="1300" b="0" i="0">
                          <a:solidFill>
                            <a:srgbClr val="11202B"/>
                          </a:solidFill>
                          <a:latin typeface="Malgun Gothic"/>
                          <a:ea typeface="Malgun Gothic"/>
                          <a:cs typeface="Malgun Gothic"/>
                        </a:rPr>
                        <a:t>혈당·혈압 관리, 항-VEGF, 레이저</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연령관련 거대변성</a:t>
                      </a:r>
                    </a:p>
                  </a:txBody>
                  <a:tcPr marL="73152" marR="73152">
                    <a:solidFill>
                      <a:srgbClr val="ECF1F5"/>
                    </a:solidFill>
                  </a:tcPr>
                </a:tc>
                <a:tc>
                  <a:txBody>
                    <a:bodyPr/>
                    <a:lstStyle/>
                    <a:p>
                      <a:r>
                        <a:rPr sz="1300" b="0" i="0">
                          <a:solidFill>
                            <a:srgbClr val="11202B"/>
                          </a:solidFill>
                          <a:latin typeface="Malgun Gothic"/>
                          <a:ea typeface="Malgun Gothic"/>
                          <a:cs typeface="Malgun Gothic"/>
                        </a:rPr>
                        <a:t>드루젠(지질·보체), </a:t>
                      </a:r>
                      <a:r>
                        <a:rPr sz="1300" b="1" i="0">
                          <a:solidFill>
                            <a:srgbClr val="11202B"/>
                          </a:solidFill>
                          <a:latin typeface="Malgun Gothic"/>
                          <a:ea typeface="Malgun Gothic"/>
                          <a:cs typeface="Malgun Gothic"/>
                        </a:rPr>
                        <a:t>보체 조절 이상(CFH Y402H, C3)</a:t>
                      </a:r>
                      <a:r>
                        <a:rPr sz="1300" b="0" i="0">
                          <a:solidFill>
                            <a:srgbClr val="11202B"/>
                          </a:solidFill>
                          <a:latin typeface="Malgun Gothic"/>
                          <a:ea typeface="Malgun Gothic"/>
                          <a:cs typeface="Malgun Gothic"/>
                        </a:rPr>
                        <a:t>, 산화 손상, 리포푸신</a:t>
                      </a:r>
                    </a:p>
                  </a:txBody>
                  <a:tcPr marL="73152" marR="73152">
                    <a:solidFill>
                      <a:srgbClr val="ECF1F5"/>
                    </a:solidFill>
                  </a:tcPr>
                </a:tc>
                <a:tc>
                  <a:txBody>
                    <a:bodyPr/>
                    <a:lstStyle/>
                    <a:p>
                      <a:r>
                        <a:rPr sz="1300" b="0" i="0">
                          <a:solidFill>
                            <a:srgbClr val="11202B"/>
                          </a:solidFill>
                          <a:latin typeface="Malgun Gothic"/>
                          <a:ea typeface="Malgun Gothic"/>
                          <a:cs typeface="Malgun Gothic"/>
                        </a:rPr>
                        <a:t>항-VEGF(신생혈관형), 지리적 위축에 </a:t>
                      </a:r>
                      <a:r>
                        <a:rPr sz="1300" b="1" i="0">
                          <a:solidFill>
                            <a:srgbClr val="11202B"/>
                          </a:solidFill>
                          <a:latin typeface="Malgun Gothic"/>
                          <a:ea typeface="Malgun Gothic"/>
                          <a:cs typeface="Malgun Gothic"/>
                        </a:rPr>
                        <a:t>보체 억제제</a:t>
                      </a:r>
                      <a:r>
                        <a:rPr sz="1300" b="0" i="0">
                          <a:solidFill>
                            <a:srgbClr val="11202B"/>
                          </a:solidFill>
                          <a:latin typeface="Malgun Gothic"/>
                          <a:ea typeface="Malgun Gothic"/>
                          <a:cs typeface="Malgun Gothic"/>
                        </a:rPr>
                        <a:t>(페그세타코플란·아바시캅타드), AREDS2 보충</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망막색소변성</a:t>
                      </a:r>
                    </a:p>
                  </a:txBody>
                  <a:tcPr marL="73152" marR="73152">
                    <a:solidFill>
                      <a:srgbClr val="FFFFFF"/>
                    </a:solidFill>
                  </a:tcPr>
                </a:tc>
                <a:tc>
                  <a:txBody>
                    <a:bodyPr/>
                    <a:lstStyle/>
                    <a:p>
                      <a:r>
                        <a:rPr sz="1300" b="0" i="0">
                          <a:solidFill>
                            <a:srgbClr val="11202B"/>
                          </a:solidFill>
                          <a:latin typeface="Malgun Gothic"/>
                          <a:ea typeface="Malgun Gothic"/>
                          <a:cs typeface="Malgun Gothic"/>
                        </a:rPr>
                        <a:t>100개 이상 유전자(로돕신, PDE6, USH2A 등)</a:t>
                      </a:r>
                    </a:p>
                  </a:txBody>
                  <a:tcPr marL="73152" marR="73152">
                    <a:solidFill>
                      <a:srgbClr val="FFFFFF"/>
                    </a:solidFill>
                  </a:tcPr>
                </a:tc>
                <a:tc>
                  <a:txBody>
                    <a:bodyPr/>
                    <a:lstStyle/>
                    <a:p>
                      <a:r>
                        <a:rPr sz="1300" b="0" i="0">
                          <a:solidFill>
                            <a:srgbClr val="11202B"/>
                          </a:solidFill>
                          <a:latin typeface="Malgun Gothic"/>
                          <a:ea typeface="Malgun Gothic"/>
                          <a:cs typeface="Malgun Gothic"/>
                        </a:rPr>
                        <a:t>유전자·세포 치료 연구, 인공망막</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스타르가르트병</a:t>
                      </a:r>
                    </a:p>
                  </a:txBody>
                  <a:tcPr marL="73152" marR="73152">
                    <a:solidFill>
                      <a:srgbClr val="ECF1F5"/>
                    </a:solidFill>
                  </a:tcPr>
                </a:tc>
                <a:tc>
                  <a:txBody>
                    <a:bodyPr/>
                    <a:lstStyle/>
                    <a:p>
                      <a:r>
                        <a:rPr sz="1300" b="0" i="0">
                          <a:solidFill>
                            <a:srgbClr val="11202B"/>
                          </a:solidFill>
                          <a:latin typeface="Malgun Gothic"/>
                          <a:ea typeface="Malgun Gothic"/>
                          <a:cs typeface="Malgun Gothic"/>
                        </a:rPr>
                        <a:t>ABCA4 → 비스레티노이드(A2E) 축적</a:t>
                      </a:r>
                    </a:p>
                  </a:txBody>
                  <a:tcPr marL="73152" marR="73152">
                    <a:solidFill>
                      <a:srgbClr val="ECF1F5"/>
                    </a:solidFill>
                  </a:tcPr>
                </a:tc>
                <a:tc>
                  <a:txBody>
                    <a:bodyPr/>
                    <a:lstStyle/>
                    <a:p>
                      <a:r>
                        <a:rPr sz="1300" b="0" i="0">
                          <a:solidFill>
                            <a:srgbClr val="11202B"/>
                          </a:solidFill>
                          <a:latin typeface="Malgun Gothic"/>
                          <a:ea typeface="Malgun Gothic"/>
                          <a:cs typeface="Malgun Gothic"/>
                        </a:rPr>
                        <a:t>비타민 A 유도체 회피, 치료 연구 중</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레베르 유전성 시신경병증</a:t>
                      </a:r>
                    </a:p>
                  </a:txBody>
                  <a:tcPr marL="73152" marR="73152">
                    <a:solidFill>
                      <a:srgbClr val="FFFFFF"/>
                    </a:solidFill>
                  </a:tcPr>
                </a:tc>
                <a:tc>
                  <a:txBody>
                    <a:bodyPr/>
                    <a:lstStyle/>
                    <a:p>
                      <a:r>
                        <a:rPr sz="1300" b="0" i="0">
                          <a:solidFill>
                            <a:srgbClr val="11202B"/>
                          </a:solidFill>
                          <a:latin typeface="Malgun Gothic"/>
                          <a:ea typeface="Malgun Gothic"/>
                          <a:cs typeface="Malgun Gothic"/>
                        </a:rPr>
                        <a:t>mtDNA 복합체 I(11778G&gt;A 등)</a:t>
                      </a:r>
                    </a:p>
                  </a:txBody>
                  <a:tcPr marL="73152" marR="73152">
                    <a:solidFill>
                      <a:srgbClr val="FFFFFF"/>
                    </a:solidFill>
                  </a:tcPr>
                </a:tc>
                <a:tc>
                  <a:txBody>
                    <a:bodyPr/>
                    <a:lstStyle/>
                    <a:p>
                      <a:r>
                        <a:rPr sz="1300" b="0" i="0">
                          <a:solidFill>
                            <a:srgbClr val="11202B"/>
                          </a:solidFill>
                          <a:latin typeface="Malgun Gothic"/>
                          <a:ea typeface="Malgun Gothic"/>
                          <a:cs typeface="Malgun Gothic"/>
                        </a:rPr>
                        <a:t>이데베논, 유전자 치료 연구</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미숙아망막병증</a:t>
                      </a:r>
                    </a:p>
                  </a:txBody>
                  <a:tcPr marL="73152" marR="73152">
                    <a:solidFill>
                      <a:srgbClr val="ECF1F5"/>
                    </a:solidFill>
                  </a:tcPr>
                </a:tc>
                <a:tc>
                  <a:txBody>
                    <a:bodyPr/>
                    <a:lstStyle/>
                    <a:p>
                      <a:r>
                        <a:rPr sz="1300" b="0" i="0">
                          <a:solidFill>
                            <a:srgbClr val="11202B"/>
                          </a:solidFill>
                          <a:latin typeface="Malgun Gothic"/>
                          <a:ea typeface="Malgun Gothic"/>
                          <a:cs typeface="Malgun Gothic"/>
                        </a:rPr>
                        <a:t>산소 노출 후 상대적 저산소 → VEGF 급등</a:t>
                      </a:r>
                    </a:p>
                  </a:txBody>
                  <a:tcPr marL="73152" marR="73152">
                    <a:solidFill>
                      <a:srgbClr val="ECF1F5"/>
                    </a:solidFill>
                  </a:tcPr>
                </a:tc>
                <a:tc>
                  <a:txBody>
                    <a:bodyPr/>
                    <a:lstStyle/>
                    <a:p>
                      <a:r>
                        <a:rPr sz="1300" b="0" i="0">
                          <a:solidFill>
                            <a:srgbClr val="11202B"/>
                          </a:solidFill>
                          <a:latin typeface="Malgun Gothic"/>
                          <a:ea typeface="Malgun Gothic"/>
                          <a:cs typeface="Malgun Gothic"/>
                        </a:rPr>
                        <a:t>산소 목표 관리, 항-VEGF·레이저</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망막혈관폐색·고혈압망막병증</a:t>
                      </a:r>
                    </a:p>
                  </a:txBody>
                  <a:tcPr marL="73152" marR="73152">
                    <a:solidFill>
                      <a:srgbClr val="FFFFFF"/>
                    </a:solidFill>
                  </a:tcPr>
                </a:tc>
                <a:tc>
                  <a:txBody>
                    <a:bodyPr/>
                    <a:lstStyle/>
                    <a:p>
                      <a:r>
                        <a:rPr sz="1300" b="0" i="0">
                          <a:solidFill>
                            <a:srgbClr val="11202B"/>
                          </a:solidFill>
                          <a:latin typeface="Malgun Gothic"/>
                          <a:ea typeface="Malgun Gothic"/>
                          <a:cs typeface="Malgun Gothic"/>
                        </a:rPr>
                        <a:t>혈역학·내피</a:t>
                      </a:r>
                    </a:p>
                  </a:txBody>
                  <a:tcPr marL="73152" marR="73152">
                    <a:solidFill>
                      <a:srgbClr val="FFFFFF"/>
                    </a:solidFill>
                  </a:tcPr>
                </a:tc>
                <a:tc>
                  <a:txBody>
                    <a:bodyPr/>
                    <a:lstStyle/>
                    <a:p>
                      <a:r>
                        <a:rPr sz="1300" b="0" i="0">
                          <a:solidFill>
                            <a:srgbClr val="11202B"/>
                          </a:solidFill>
                          <a:latin typeface="Malgun Gothic"/>
                          <a:ea typeface="Malgun Gothic"/>
                          <a:cs typeface="Malgun Gothic"/>
                        </a:rPr>
                        <a:t>전신 위험 관리</a:t>
                      </a:r>
                    </a:p>
                  </a:txBody>
                  <a:tcPr marL="73152" marR="73152">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각막·수정체·안내압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각막 투명성은 규칙적 콜라겐 배열 + </a:t>
            </a:r>
            <a:r>
              <a:rPr sz="1800" b="1" i="0">
                <a:solidFill>
                  <a:srgbClr val="11202B"/>
                </a:solidFill>
                <a:latin typeface="Malgun Gothic"/>
                <a:ea typeface="Malgun Gothic"/>
                <a:cs typeface="Malgun Gothic"/>
              </a:rPr>
              <a:t>내피의 Na⁺/K⁺-ATPase 펌프</a:t>
            </a:r>
            <a:r>
              <a:rPr sz="1800" b="0" i="0">
                <a:solidFill>
                  <a:srgbClr val="11202B"/>
                </a:solidFill>
                <a:latin typeface="Malgun Gothic"/>
                <a:ea typeface="Malgun Gothic"/>
                <a:cs typeface="Malgun Gothic"/>
              </a:rPr>
              <a:t>로 유지되는 상대적 탈수에 의존한다. 내피 세포가 감소하면(푹스 내피각막병증, 수술 손상) 부종·시력 저하 → 내피 이식.</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수정체: 세포 교체 없이 </a:t>
            </a:r>
            <a:r>
              <a:rPr sz="1800" b="1" i="0">
                <a:solidFill>
                  <a:srgbClr val="11202B"/>
                </a:solidFill>
                <a:latin typeface="Malgun Gothic"/>
                <a:ea typeface="Malgun Gothic"/>
                <a:cs typeface="Malgun Gothic"/>
              </a:rPr>
              <a:t>크리스탈린</a:t>
            </a:r>
            <a:r>
              <a:rPr sz="1800" b="0" i="0">
                <a:solidFill>
                  <a:srgbClr val="11202B"/>
                </a:solidFill>
                <a:latin typeface="Malgun Gothic"/>
                <a:ea typeface="Malgun Gothic"/>
                <a:cs typeface="Malgun Gothic"/>
              </a:rPr>
              <a:t>(α-크리스탈린은 샤페론)이 평생 유지. 백내장의 생화학 — 산화(글루타티온 고갈), 당화·소르비톨(당뇨), 자외선, 스테로이드, 칼슘 유입·단백 응집. 갈락토키나아제 결핍은 소아 백내장.</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안내압: 섬유주와 쉴렘관을 통한 유출 저항이 주 결정 요인. 녹내장 약물 — 프로스타글란딘 유사체(공막포도막 유출 ↑), β차단제·탄산탈수효소 억제제·α2 작용제(생성 ↓), </a:t>
            </a:r>
            <a:r>
              <a:rPr sz="1800" b="1" i="0">
                <a:solidFill>
                  <a:srgbClr val="11202B"/>
                </a:solidFill>
                <a:latin typeface="Malgun Gothic"/>
                <a:ea typeface="Malgun Gothic"/>
                <a:cs typeface="Malgun Gothic"/>
              </a:rPr>
              <a:t>Rho 키나아제 억제제·라타노프로스텐 부노드(NO 공여)</a:t>
            </a:r>
            <a:r>
              <a:rPr sz="1800" b="0" i="0">
                <a:solidFill>
                  <a:srgbClr val="11202B"/>
                </a:solidFill>
                <a:latin typeface="Malgun Gothic"/>
                <a:ea typeface="Malgun Gothic"/>
                <a:cs typeface="Malgun Gothic"/>
              </a:rPr>
              <a:t>(섬유주 유출 ↑). 녹내장은 결국 </a:t>
            </a:r>
            <a:r>
              <a:rPr sz="1800" b="1" i="0">
                <a:solidFill>
                  <a:srgbClr val="11202B"/>
                </a:solidFill>
                <a:latin typeface="Malgun Gothic"/>
                <a:ea typeface="Malgun Gothic"/>
                <a:cs typeface="Malgun Gothic"/>
              </a:rPr>
              <a:t>망막 신경절세포의 축삭 손상</a:t>
            </a:r>
            <a:r>
              <a:rPr sz="1800" b="0" i="0">
                <a:solidFill>
                  <a:srgbClr val="11202B"/>
                </a:solidFill>
                <a:latin typeface="Malgun Gothic"/>
                <a:ea typeface="Malgun Gothic"/>
                <a:cs typeface="Malgun Gothic"/>
              </a:rPr>
              <a:t>이며 안압은 조절 가능한 위험인자다.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각막·수정체·안내압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전신 약물과 눈: 하이드록시클로로퀸 망막독성(용량·체중 기준 선별), 에탐부톨 시신경병증, 아미오다론 각막 침착, 토피라메이트 급성 근시·폐쇄각, 비스포스포네이트 공막염.</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내이와 난청·평형</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와우: 기저막 진동 → 외유모세포의 </a:t>
            </a:r>
            <a:r>
              <a:rPr sz="1800" b="1" i="0">
                <a:solidFill>
                  <a:srgbClr val="11202B"/>
                </a:solidFill>
                <a:latin typeface="Malgun Gothic"/>
                <a:ea typeface="Malgun Gothic"/>
                <a:cs typeface="Malgun Gothic"/>
              </a:rPr>
              <a:t>프레스틴(SLC26A5)</a:t>
            </a:r>
            <a:r>
              <a:rPr sz="1800" b="0" i="0">
                <a:solidFill>
                  <a:srgbClr val="11202B"/>
                </a:solidFill>
                <a:latin typeface="Malgun Gothic"/>
                <a:ea typeface="Malgun Gothic"/>
                <a:cs typeface="Malgun Gothic"/>
              </a:rPr>
              <a:t>이 전압 의존 길이 변화로 신호를 증폭 → 내유모세포 섬모의 기계전기 변환 통로(</a:t>
            </a:r>
            <a:r>
              <a:rPr sz="1800" b="1" i="0">
                <a:solidFill>
                  <a:srgbClr val="11202B"/>
                </a:solidFill>
                <a:latin typeface="Malgun Gothic"/>
                <a:ea typeface="Malgun Gothic"/>
                <a:cs typeface="Malgun Gothic"/>
              </a:rPr>
              <a:t>TMC1</a:t>
            </a:r>
            <a:r>
              <a:rPr sz="1800" b="0" i="0">
                <a:solidFill>
                  <a:srgbClr val="11202B"/>
                </a:solidFill>
                <a:latin typeface="Malgun Gothic"/>
                <a:ea typeface="Malgun Gothic"/>
                <a:cs typeface="Malgun Gothic"/>
              </a:rPr>
              <a:t>, PCDH15·CDH23 팁링크) → K⁺ 유입. 와우 내림프의 높은 K⁺와 +80 mV 내림프 전위는 </a:t>
            </a:r>
            <a:r>
              <a:rPr sz="1800" b="1" i="0">
                <a:solidFill>
                  <a:srgbClr val="11202B"/>
                </a:solidFill>
                <a:latin typeface="Malgun Gothic"/>
                <a:ea typeface="Malgun Gothic"/>
                <a:cs typeface="Malgun Gothic"/>
              </a:rPr>
              <a:t>GJB2(코넥신 26)</a:t>
            </a:r>
            <a:r>
              <a:rPr sz="1800" b="0" i="0">
                <a:solidFill>
                  <a:srgbClr val="11202B"/>
                </a:solidFill>
                <a:latin typeface="Malgun Gothic"/>
                <a:ea typeface="Malgun Gothic"/>
                <a:cs typeface="Malgun Gothic"/>
              </a:rPr>
              <a:t> 등 K⁺ 재순환 경로가 유지한다.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재생이 되지 않는 포유류 유모세포의 한계가 인공와우의 근거이며, Atoh1·Notch 억제를 통한 유모세포 재생과 OTOF 유전자 치료(선천성 청각신경병)가 임상에 진입했다.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평형: 반고리관(각가속도) + 이석기관(선형·중력). </a:t>
            </a:r>
            <a:r>
              <a:rPr sz="1800" b="1" i="0">
                <a:solidFill>
                  <a:srgbClr val="11202B"/>
                </a:solidFill>
                <a:latin typeface="Malgun Gothic"/>
                <a:ea typeface="Malgun Gothic"/>
                <a:cs typeface="Malgun Gothic"/>
              </a:rPr>
              <a:t>양성 체위성 현훈</a:t>
            </a:r>
            <a:r>
              <a:rPr sz="1800" b="0" i="0">
                <a:solidFill>
                  <a:srgbClr val="11202B"/>
                </a:solidFill>
                <a:latin typeface="Malgun Gothic"/>
                <a:ea typeface="Malgun Gothic"/>
                <a:cs typeface="Malgun Gothic"/>
              </a:rPr>
              <a:t>은 이석 조각이 반고리관에 들어간 기계적 문제 → 이석 치환술이 치료. </a:t>
            </a:r>
            <a:r>
              <a:rPr sz="1800" b="1" i="0">
                <a:solidFill>
                  <a:srgbClr val="11202B"/>
                </a:solidFill>
                <a:latin typeface="Malgun Gothic"/>
                <a:ea typeface="Malgun Gothic"/>
                <a:cs typeface="Malgun Gothic"/>
              </a:rPr>
              <a:t>메니에르병</a:t>
            </a:r>
            <a:r>
              <a:rPr sz="1800" b="0" i="0">
                <a:solidFill>
                  <a:srgbClr val="11202B"/>
                </a:solidFill>
                <a:latin typeface="Malgun Gothic"/>
                <a:ea typeface="Malgun Gothic"/>
                <a:cs typeface="Malgun Gothic"/>
              </a:rPr>
              <a:t>은 내림프 수종(압력·이온 항상성 이상), </a:t>
            </a:r>
            <a:r>
              <a:rPr sz="1800" b="1" i="0">
                <a:solidFill>
                  <a:srgbClr val="11202B"/>
                </a:solidFill>
                <a:latin typeface="Malgun Gothic"/>
                <a:ea typeface="Malgun Gothic"/>
                <a:cs typeface="Malgun Gothic"/>
              </a:rPr>
              <a:t>전정편두통</a:t>
            </a:r>
            <a:r>
              <a:rPr sz="1800" b="0" i="0">
                <a:solidFill>
                  <a:srgbClr val="11202B"/>
                </a:solidFill>
                <a:latin typeface="Malgun Gothic"/>
                <a:ea typeface="Malgun Gothic"/>
                <a:cs typeface="Malgun Gothic"/>
              </a:rPr>
              <a:t>과의 중첩이 흔하다.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내이와 난청·평형</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15</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난청</a:t>
                      </a:r>
                    </a:p>
                  </a:txBody>
                  <a:tcPr marL="73152" marR="73152">
                    <a:solidFill>
                      <a:srgbClr val="003C71"/>
                    </a:solidFill>
                  </a:tcPr>
                </a:tc>
                <a:tc>
                  <a:txBody>
                    <a:bodyPr/>
                    <a:lstStyle/>
                    <a:p>
                      <a:r>
                        <a:rPr sz="1500" b="1" i="0">
                          <a:solidFill>
                            <a:srgbClr val="FFFFFF"/>
                          </a:solidFill>
                          <a:latin typeface="Malgun Gothic"/>
                          <a:ea typeface="Malgun Gothic"/>
                          <a:cs typeface="Malgun Gothic"/>
                        </a:rPr>
                        <a:t>유전자·기전</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비증후군성 상염색체 열성</a:t>
                      </a:r>
                    </a:p>
                  </a:txBody>
                  <a:tcPr marL="73152" marR="73152">
                    <a:solidFill>
                      <a:srgbClr val="FFFFFF"/>
                    </a:solidFill>
                  </a:tcPr>
                </a:tc>
                <a:tc>
                  <a:txBody>
                    <a:bodyPr/>
                    <a:lstStyle/>
                    <a:p>
                      <a:r>
                        <a:rPr sz="1500" b="1" i="0">
                          <a:solidFill>
                            <a:srgbClr val="11202B"/>
                          </a:solidFill>
                          <a:latin typeface="Malgun Gothic"/>
                          <a:ea typeface="Malgun Gothic"/>
                          <a:cs typeface="Malgun Gothic"/>
                        </a:rPr>
                        <a:t>GJB2</a:t>
                      </a:r>
                      <a:r>
                        <a:rPr sz="1500" b="0" i="0">
                          <a:solidFill>
                            <a:srgbClr val="11202B"/>
                          </a:solidFill>
                          <a:latin typeface="Malgun Gothic"/>
                          <a:ea typeface="Malgun Gothic"/>
                          <a:cs typeface="Malgun Gothic"/>
                        </a:rPr>
                        <a:t>(가장 흔함), SLC26A4(펜드레드 — 전정수관 확장·갑상선)</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증후군성</a:t>
                      </a:r>
                    </a:p>
                  </a:txBody>
                  <a:tcPr marL="73152" marR="73152">
                    <a:solidFill>
                      <a:srgbClr val="ECF1F5"/>
                    </a:solidFill>
                  </a:tcPr>
                </a:tc>
                <a:tc>
                  <a:txBody>
                    <a:bodyPr/>
                    <a:lstStyle/>
                    <a:p>
                      <a:r>
                        <a:rPr sz="1500" b="0" i="0">
                          <a:solidFill>
                            <a:srgbClr val="11202B"/>
                          </a:solidFill>
                          <a:latin typeface="Malgun Gothic"/>
                          <a:ea typeface="Malgun Gothic"/>
                          <a:cs typeface="Malgun Gothic"/>
                        </a:rPr>
                        <a:t>어셔(MYO7A, USH2A — 난청 + 망막색소변성), 알포트, 와르덴부르크, 제르벨-랑에-닐센(KCNQ1 — QT 연장)</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미토콘드리아</a:t>
                      </a:r>
                    </a:p>
                  </a:txBody>
                  <a:tcPr marL="73152" marR="73152">
                    <a:solidFill>
                      <a:srgbClr val="FFFFFF"/>
                    </a:solidFill>
                  </a:tcPr>
                </a:tc>
                <a:tc>
                  <a:txBody>
                    <a:bodyPr/>
                    <a:lstStyle/>
                    <a:p>
                      <a:r>
                        <a:rPr sz="1500" b="1" i="0">
                          <a:solidFill>
                            <a:srgbClr val="11202B"/>
                          </a:solidFill>
                          <a:latin typeface="Malgun Gothic"/>
                          <a:ea typeface="Malgun Gothic"/>
                          <a:cs typeface="Malgun Gothic"/>
                        </a:rPr>
                        <a:t>m.1555A&gt;G</a:t>
                      </a:r>
                      <a:r>
                        <a:rPr sz="1500" b="0" i="0">
                          <a:solidFill>
                            <a:srgbClr val="11202B"/>
                          </a:solidFill>
                          <a:latin typeface="Malgun Gothic"/>
                          <a:ea typeface="Malgun Gothic"/>
                          <a:cs typeface="Malgun Gothic"/>
                        </a:rPr>
                        <a:t> — </a:t>
                      </a:r>
                      <a:r>
                        <a:rPr sz="1500" b="1" i="0">
                          <a:solidFill>
                            <a:srgbClr val="11202B"/>
                          </a:solidFill>
                          <a:latin typeface="Malgun Gothic"/>
                          <a:ea typeface="Malgun Gothic"/>
                          <a:cs typeface="Malgun Gothic"/>
                        </a:rPr>
                        <a:t>아미노글리코사이드 극도 민감</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노인성·소음성</a:t>
                      </a:r>
                    </a:p>
                  </a:txBody>
                  <a:tcPr marL="73152" marR="73152">
                    <a:solidFill>
                      <a:srgbClr val="ECF1F5"/>
                    </a:solidFill>
                  </a:tcPr>
                </a:tc>
                <a:tc>
                  <a:txBody>
                    <a:bodyPr/>
                    <a:lstStyle/>
                    <a:p>
                      <a:r>
                        <a:rPr sz="1500" b="0" i="0">
                          <a:solidFill>
                            <a:srgbClr val="11202B"/>
                          </a:solidFill>
                          <a:latin typeface="Malgun Gothic"/>
                          <a:ea typeface="Malgun Gothic"/>
                          <a:cs typeface="Malgun Gothic"/>
                        </a:rPr>
                        <a:t>유모세포·시냅스 소실, 산화 스트레스, 재생 불가</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이독성</a:t>
                      </a:r>
                    </a:p>
                  </a:txBody>
                  <a:tcPr marL="73152" marR="73152">
                    <a:solidFill>
                      <a:srgbClr val="FFFFFF"/>
                    </a:solidFill>
                  </a:tcPr>
                </a:tc>
                <a:tc>
                  <a:txBody>
                    <a:bodyPr/>
                    <a:lstStyle/>
                    <a:p>
                      <a:r>
                        <a:rPr sz="1500" b="0" i="0">
                          <a:solidFill>
                            <a:srgbClr val="11202B"/>
                          </a:solidFill>
                          <a:latin typeface="Malgun Gothic"/>
                          <a:ea typeface="Malgun Gothic"/>
                          <a:cs typeface="Malgun Gothic"/>
                        </a:rPr>
                        <a:t>아미노글리코사이드(외유모세포 ROS), 시스플라틴, 루프 이뇨제(혈관조)</a:t>
                      </a:r>
                    </a:p>
                  </a:txBody>
                  <a:tcPr marL="73152" marR="73152">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내이와 난청·평형</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16</a:t>
            </a:r>
          </a:p>
        </p:txBody>
      </p:sp>
      <p:sp>
        <p:nvSpPr>
          <p:cNvPr id="7" name="Rectangle 6"/>
          <p:cNvSpPr/>
          <p:nvPr/>
        </p:nvSpPr>
        <p:spPr>
          <a:xfrm>
            <a:off x="640080" y="1325880"/>
            <a:ext cx="10881360" cy="26670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임상 상관: 아미노글리코사이드를 투여할 때 가족 중 "항생제 주사 후 청력을 잃은" 사람이 있는지 물어야 한다. 미토콘드리아 m.1555A&gt;G 보유자는 통상 용량·정상 혈중 농도에서도 비가역적 난청이 생길 수 있다. 모계 유전이므로 한 명의 병력이 가족 전체의 투약 금기를 의미한다. 같은 맥락에서 하이드록시클로로퀸·에탐부톨 사용 시 안과 선별 일정을 처방 시점에 함께 계획해야 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보체 표적 치료가 지리적 위축의 진행을 늦추는 첫 치료로 도입되면서 AMD의 보체 가설이 치료로 입증되었다.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망막·내이의 유전자 치료가 조직 접근성과 면역 격리라는 이점으로 유전자 의학의 선두 영역이 되었다.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피부에 국소 도포하는 유전자 치료 젤이 이형성형 상피박리증에서 승인되어 국소 유전자 전달의 선례를 만들었다.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피부 장벽은 세라마이드 지질층과 필라그린 유래 보습인자, 약산성 pH로 유지되며 필라그린 결손이 아토피의 축이다.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멜라닌 아형은 MC1R-cAMP-MITF 신호가 결정하고 UVB는 피리미딘 이량체를 직접 만든다.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시각 회로의 RPE65와 보체 조절 이상은 각각 유전자 치료와 보체 억제제의 표적이 되었다.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각막 투명성은 내피 펌프에 의한 탈수에, 수정체 투명성은 크리스탈린 유지에 의존한다.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코넥신 26 변이가 가장 흔한 유전성 난청이고 m.1555A&gt;G는 아미노글리코사이드 금기를 의미한다.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아토피피부염에서 보습제가 단순한 대증 치료가 아닌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필라그린 결손과 IL-4/IL-13에 의한 세라마이드·장벽 단백 감소로 각질층 지질 구조와 천연보습인자가 부족해지고 pH가 올라가 세린 단백분해효소가 활성화된다. 그 결과 알레르겐·미생물 투과가 늘어 2형 염증이 더 심해진다. 세라마이드·콜레스테롤·지방산을 보충하는 보습은 이 악순환의 상류를 교정하며, 신생아기 조기 보습이 발병 자체를 줄일 가능성도 연구되었다.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20</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포도알균 열상 피부 증후군과 펨피구스 폴리아세우스가 같은 피부 층에서 박리를 일으키는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두 질환 모두 데스모글레인-1의 기능을 잃게 한다. 포도알균의 박리독소는 데스모글레인-1을 단백분해로 절단하고, 펨피구스 폴리아세우스는 같은 분자에 대한 자가항체가 접착을 방해한다. 데스모글레인-1은 표피 상층에 주로 분포하므로 두 질환 모두 과립층 수준의 표면 박리를 보인다.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미숙아망막병증에서 산소 투여 전략이 중요한 이유를 VEGF 생물학으로 설명하라.</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미숙아의 망막 혈관은 미완성 상태이며, 고농도 산소에 노출되면 HIF와 VEGF가 억제되어 혈관 성장이 멈추고 일부는 소실된다. 이후 산소 농도가 낮아지면 혈관 없는 망막이 상대적 저산소에 빠져 VEGF가 급격히 과잉 생산되고, 비정상 신생혈관과 섬유 증식, 망막 박리로 이어진다. 그래서 산소 포화도를 과하지도 부족하지도 않게 목표 범위로 유지하는 것이 예방의 핵심이다.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가족 중 아미노글리코사이드 주사 후 청력을 잃은 사람이 있다는 병력이 왜 중요한가?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미토콘드리아 12S rRNA의 m.1555A&gt;G 같은 변이는 아미노글리코사이드에 대한 극도의 감수성을 만들어, 정상 용량과 정상 혈중 농도에서도 비가역적 양측 감각신경성 난청을 일으킨다. 모계 유전이므로 한 사람의 병력이 모계 친족 전체의 위험을 뜻한다. 가능하면 다른 계열 항생제를 선택하고, 불가피하면 유전자 검사와 청력 감시를 계획한다.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Elias PM. Structure and function of the stratum corneum extracellular matrix. J Invest Dermatol 2012;132:2131–2133.</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Weidinger S, Beck LA, Bieber T, Kabashima K, Irvine AD. Atopic dermatitis. Nat Rev Dis Primers 2018;4:1.</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Russell S et al. Voretigene neparvovec for RPE65-mediated inherited retinal dystrophy. Lancet 2017;390:849–860.</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Fleckenstein M et al. Age-related macular degeneration. Nat Rev Dis Primers 2021;7:31.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B10-L08  ·  피부와 감각기관 질환의 분자 기전</a:t>
            </a:r>
            <a:r>
              <a:rPr sz="10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Korver AMH et al. Congenital hearing loss. Nat Rev Dis Primers 2017;3:16094.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