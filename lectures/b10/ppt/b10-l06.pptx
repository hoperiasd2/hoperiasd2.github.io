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폐의 크기는 키와 성별로 결정되고 체지방량에 비례하지 않는다. 실제 체중을 쓰면 비만 환자에게 과도한 용적이 들어가 폐포 과팽창으로 용적손상과 생물학적 손상을 일으킨다. ARDSNet 시험은 예측체중 기준 6 mL/kg가 12 mL/kg보다 사망률을 낮춤을 보였다.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글루코코르티코이드 수용체가 염증 유전자를 끄려면 HDAC2를 모집해 히스톤 아세틸화를 제거해야 한다. COPD의 산화·질화 스트레스는 HDAC2를 불활성화하고 발현을 줄여 이 과정이 작동하지 않는다. 또한 COPD 염증은 호중구·CD8 T세포 중심으로 스테로이드 감수성이 낮다. 호산구가 높은 아형에서만 흡입 스테로이드의 악화 감소 효과가 뚜렷하다.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F508del은 단백이 잘못 접혀 소포체에서 분해되므로 세포막에 도달하는 CFTR 자체가 거의 없다. 이바카프토르는 막에 존재하는 통로의 개폐를 돕는 강화제이므로 단독으로는 작용 대상이 없다. 테자카프토르·엘렉사카프토르 같은 교정제가 접힘과 수송을 도와 막 발현을 늘린 뒤에야 강화제가 전도를 높일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PANTHER-IPF 시험에서 이 조합은 위약보다 사망과 입원이 유의하게 많아 조기 중단되었다. IPF는 일차적으로 염증 질환이 아니라 손상된 노화 상피가 주도하는 비정상 수복 과정이므로 면역억제가 이득 없이 감염과 독성만 늘린다. 표준 치료는 항섬유화제인 닌테다닙 또는 피르페니돈이다.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B10 기타질환학  ·  신장과 호흡</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3200" b="1" i="0">
                <a:solidFill>
                  <a:srgbClr val="FFFFFF"/>
                </a:solidFill>
                <a:latin typeface="Malgun Gothic"/>
                <a:ea typeface="Malgun Gothic"/>
                <a:cs typeface="Malgun Gothic"/>
              </a:rPr>
              <a:t>호흡기질환의 생화학: 계면활성제, 저산소와 섬유화</a:t>
            </a:r>
          </a:p>
          <a:p>
            <a:r>
              <a:rPr sz="2000" b="0" i="0">
                <a:solidFill>
                  <a:srgbClr val="C2CDD6"/>
                </a:solidFill>
                <a:latin typeface="Malgun Gothic"/>
                <a:ea typeface="Malgun Gothic"/>
                <a:cs typeface="Malgun Gothic"/>
              </a:rPr>
              <a:t>Biochemistry of Respiratory Disease: Surfactant, Hypoxia and Fibrosis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B10-L06</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폐 계면활성제의 조성·대사와 관련 질환을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기체 교환과 저산소 반응의 분자 기전을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기도 질환(천식·COPD·기관지확장증)의 분자 병태생리를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폐섬유화와 급성 폐손상의 세포·분자 경로를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낭성섬유증과 α1-항트립신 결핍의 교정 치료를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폐 계면활성제</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기체 교환과 저산소 반응</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기도 질환의 분자 병태생리</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폐섬유화와 급성 폐손상</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낭성섬유증과 α1-항트립신 결핍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폐 계면활성제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조성: 약 90% 지질(그 중 </a:t>
            </a:r>
            <a:r>
              <a:rPr sz="1800" b="1" i="0">
                <a:solidFill>
                  <a:srgbClr val="11202B"/>
                </a:solidFill>
                <a:latin typeface="Malgun Gothic"/>
                <a:ea typeface="Malgun Gothic"/>
                <a:cs typeface="Malgun Gothic"/>
              </a:rPr>
              <a:t>디팔미토일포스파티딜콜린(DPPC)</a:t>
            </a:r>
            <a:r>
              <a:rPr sz="1800" b="0" i="0">
                <a:solidFill>
                  <a:srgbClr val="11202B"/>
                </a:solidFill>
                <a:latin typeface="Malgun Gothic"/>
                <a:ea typeface="Malgun Gothic"/>
                <a:cs typeface="Malgun Gothic"/>
              </a:rPr>
              <a:t>이 표면 활성의 주역), 10% 단백질.</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라플라스 법칙(P = 2T/r)에 따라 작은 폐포가 더 큰 압력을 받아 찌그러지는데, 계면활성제가 표면장력을 </a:t>
            </a:r>
            <a:r>
              <a:rPr sz="1800" b="1" i="0">
                <a:solidFill>
                  <a:srgbClr val="11202B"/>
                </a:solidFill>
                <a:latin typeface="Malgun Gothic"/>
                <a:ea typeface="Malgun Gothic"/>
                <a:cs typeface="Malgun Gothic"/>
              </a:rPr>
              <a:t>면적 의존적으로</a:t>
            </a:r>
            <a:r>
              <a:rPr sz="1800" b="0" i="0">
                <a:solidFill>
                  <a:srgbClr val="11202B"/>
                </a:solidFill>
                <a:latin typeface="Malgun Gothic"/>
                <a:ea typeface="Malgun Gothic"/>
                <a:cs typeface="Malgun Gothic"/>
              </a:rPr>
              <a:t> 낮춰 이를 막는다(압축 시 더 강하게 작동).</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신생아 호흡곤란증후군: 조산으로 II형 폐포세포의 계면활성제 생산 부족 → 산전 스테로이드(생산 유도) + 외인성 계면활성제 투여 + CPAP. 레시틴/스핑고미엘린 비, 양수 층상체 수가 성숙도 지표.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폐 알베올라 단백증: 대식세포의 GM-CSF 신호 장애로 계면활성제를 청소하지 못해 폐포가 찬다. 자가면역형(항-GM-CSF 항체)은 전폐 세척 또는 </a:t>
            </a:r>
            <a:r>
              <a:rPr sz="1800" b="1" i="0">
                <a:solidFill>
                  <a:srgbClr val="11202B"/>
                </a:solidFill>
                <a:latin typeface="Malgun Gothic"/>
                <a:ea typeface="Malgun Gothic"/>
                <a:cs typeface="Malgun Gothic"/>
              </a:rPr>
              <a:t>흡입 GM-CSF</a:t>
            </a:r>
            <a:r>
              <a:rPr sz="1800" b="0" i="0">
                <a:solidFill>
                  <a:srgbClr val="11202B"/>
                </a:solidFill>
                <a:latin typeface="Malgun Gothic"/>
                <a:ea typeface="Malgun Gothic"/>
                <a:cs typeface="Malgun Gothic"/>
              </a:rPr>
              <a:t>, 유전형은 이식·유전자 치료가 연구된다.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폐 계면활성제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성격</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기능</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결함 질환</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SP-B</a:t>
                      </a:r>
                    </a:p>
                  </a:txBody>
                  <a:tcPr marL="73152" marR="73152">
                    <a:solidFill>
                      <a:srgbClr val="FFFFFF"/>
                    </a:solidFill>
                  </a:tcPr>
                </a:tc>
                <a:tc>
                  <a:txBody>
                    <a:bodyPr/>
                    <a:lstStyle/>
                    <a:p>
                      <a:r>
                        <a:rPr sz="1500" b="0" i="0">
                          <a:solidFill>
                            <a:srgbClr val="11202B"/>
                          </a:solidFill>
                          <a:latin typeface="Malgun Gothic"/>
                          <a:ea typeface="Malgun Gothic"/>
                          <a:cs typeface="Malgun Gothic"/>
                        </a:rPr>
                        <a:t>소수성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지질막 흡착·확산, 층상체 형성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SFTPB 결손 → 치명적 신생아 호흡부전</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SP-C</a:t>
                      </a:r>
                    </a:p>
                  </a:txBody>
                  <a:tcPr marL="73152" marR="73152">
                    <a:solidFill>
                      <a:srgbClr val="ECF1F5"/>
                    </a:solidFill>
                  </a:tcPr>
                </a:tc>
                <a:tc>
                  <a:txBody>
                    <a:bodyPr/>
                    <a:lstStyle/>
                    <a:p>
                      <a:r>
                        <a:rPr sz="1500" b="0" i="0">
                          <a:solidFill>
                            <a:srgbClr val="11202B"/>
                          </a:solidFill>
                          <a:latin typeface="Malgun Gothic"/>
                          <a:ea typeface="Malgun Gothic"/>
                          <a:cs typeface="Malgun Gothic"/>
                        </a:rPr>
                        <a:t>소수성</a:t>
                      </a:r>
                    </a:p>
                  </a:txBody>
                  <a:tcPr marL="73152" marR="73152">
                    <a:solidFill>
                      <a:srgbClr val="ECF1F5"/>
                    </a:solidFill>
                  </a:tcPr>
                </a:tc>
                <a:tc>
                  <a:txBody>
                    <a:bodyPr/>
                    <a:lstStyle/>
                    <a:p>
                      <a:r>
                        <a:rPr sz="1500" b="0" i="0">
                          <a:solidFill>
                            <a:srgbClr val="11202B"/>
                          </a:solidFill>
                          <a:latin typeface="Malgun Gothic"/>
                          <a:ea typeface="Malgun Gothic"/>
                          <a:cs typeface="Malgun Gothic"/>
                        </a:rPr>
                        <a:t>막 안정화</a:t>
                      </a:r>
                    </a:p>
                  </a:txBody>
                  <a:tcPr marL="73152" marR="73152">
                    <a:solidFill>
                      <a:srgbClr val="ECF1F5"/>
                    </a:solidFill>
                  </a:tcPr>
                </a:tc>
                <a:tc>
                  <a:txBody>
                    <a:bodyPr/>
                    <a:lstStyle/>
                    <a:p>
                      <a:r>
                        <a:rPr sz="1500" b="0" i="0">
                          <a:solidFill>
                            <a:srgbClr val="11202B"/>
                          </a:solidFill>
                          <a:latin typeface="Malgun Gothic"/>
                          <a:ea typeface="Malgun Gothic"/>
                          <a:cs typeface="Malgun Gothic"/>
                        </a:rPr>
                        <a:t>SFTPC 변이 → 소아·성인 간질성 폐질환(잘못 접힌 단백 스트레스)</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SP-A, SP-D</a:t>
                      </a:r>
                    </a:p>
                  </a:txBody>
                  <a:tcPr marL="73152" marR="73152">
                    <a:solidFill>
                      <a:srgbClr val="FFFFFF"/>
                    </a:solidFill>
                  </a:tcPr>
                </a:tc>
                <a:tc>
                  <a:txBody>
                    <a:bodyPr/>
                    <a:lstStyle/>
                    <a:p>
                      <a:r>
                        <a:rPr sz="1500" b="0" i="0">
                          <a:solidFill>
                            <a:srgbClr val="11202B"/>
                          </a:solidFill>
                          <a:latin typeface="Malgun Gothic"/>
                          <a:ea typeface="Malgun Gothic"/>
                          <a:cs typeface="Malgun Gothic"/>
                        </a:rPr>
                        <a:t>친수성 콜렉틴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선천 면역(옵소닌화), 항상성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감염 취약성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ABCA3</a:t>
                      </a:r>
                    </a:p>
                  </a:txBody>
                  <a:tcPr marL="73152" marR="73152">
                    <a:solidFill>
                      <a:srgbClr val="ECF1F5"/>
                    </a:solidFill>
                  </a:tcPr>
                </a:tc>
                <a:tc>
                  <a:txBody>
                    <a:bodyPr/>
                    <a:lstStyle/>
                    <a:p>
                      <a:r>
                        <a:rPr sz="1500" b="0" i="0">
                          <a:solidFill>
                            <a:srgbClr val="11202B"/>
                          </a:solidFill>
                          <a:latin typeface="Malgun Gothic"/>
                          <a:ea typeface="Malgun Gothic"/>
                          <a:cs typeface="Malgun Gothic"/>
                        </a:rPr>
                        <a:t>지질 수송체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층상체로 지질 적재</a:t>
                      </a:r>
                    </a:p>
                  </a:txBody>
                  <a:tcPr marL="73152" marR="73152">
                    <a:solidFill>
                      <a:srgbClr val="ECF1F5"/>
                    </a:solidFill>
                  </a:tcPr>
                </a:tc>
                <a:tc>
                  <a:txBody>
                    <a:bodyPr/>
                    <a:lstStyle/>
                    <a:p>
                      <a:r>
                        <a:rPr sz="1500" b="0" i="0">
                          <a:solidFill>
                            <a:srgbClr val="11202B"/>
                          </a:solidFill>
                          <a:latin typeface="Malgun Gothic"/>
                          <a:ea typeface="Malgun Gothic"/>
                          <a:cs typeface="Malgun Gothic"/>
                        </a:rPr>
                        <a:t>ABCA3 변이 → 신생아·소아 ILD</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GM-CSF 수용체(CSF2RA/B), GM-CSF 자가항체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대식세포 성숙</a:t>
                      </a:r>
                    </a:p>
                  </a:txBody>
                  <a:tcPr marL="73152" marR="73152">
                    <a:solidFill>
                      <a:srgbClr val="FFFFFF"/>
                    </a:solidFill>
                  </a:tcPr>
                </a:tc>
                <a:tc>
                  <a:txBody>
                    <a:bodyPr/>
                    <a:lstStyle/>
                    <a:p>
                      <a:r>
                        <a:rPr sz="1500" b="1" i="0">
                          <a:solidFill>
                            <a:srgbClr val="11202B"/>
                          </a:solidFill>
                          <a:latin typeface="Malgun Gothic"/>
                          <a:ea typeface="Malgun Gothic"/>
                          <a:cs typeface="Malgun Gothic"/>
                        </a:rPr>
                        <a:t>계면활성제 제거</a:t>
                      </a:r>
                    </a:p>
                  </a:txBody>
                  <a:tcPr marL="73152" marR="73152">
                    <a:solidFill>
                      <a:srgbClr val="FFFFFF"/>
                    </a:solidFill>
                  </a:tcPr>
                </a:tc>
                <a:tc>
                  <a:txBody>
                    <a:bodyPr/>
                    <a:lstStyle/>
                    <a:p>
                      <a:r>
                        <a:rPr sz="1500" b="1" i="0">
                          <a:solidFill>
                            <a:srgbClr val="11202B"/>
                          </a:solidFill>
                          <a:latin typeface="Malgun Gothic"/>
                          <a:ea typeface="Malgun Gothic"/>
                          <a:cs typeface="Malgun Gothic"/>
                        </a:rPr>
                        <a:t>폐 알베올라 단백증</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기체 교환과 저산소 반응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산소 운반 = Hb × 1.34 × SaO₂ + 0.003 × PaO₂. </a:t>
            </a:r>
            <a:r>
              <a:rPr sz="2000" b="1" i="0">
                <a:solidFill>
                  <a:srgbClr val="11202B"/>
                </a:solidFill>
                <a:latin typeface="Malgun Gothic"/>
                <a:ea typeface="Malgun Gothic"/>
                <a:cs typeface="Malgun Gothic"/>
              </a:rPr>
              <a:t>빈혈·CO 중독에서는 포화도가 정상이어도 함량이 낮다.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저산소증의 5가지 기전과 구분: ① </a:t>
            </a:r>
            <a:r>
              <a:rPr sz="2000" b="1" i="0">
                <a:solidFill>
                  <a:srgbClr val="11202B"/>
                </a:solidFill>
                <a:latin typeface="Malgun Gothic"/>
                <a:ea typeface="Malgun Gothic"/>
                <a:cs typeface="Malgun Gothic"/>
              </a:rPr>
              <a:t>환기-관류 불일치</a:t>
            </a:r>
            <a:r>
              <a:rPr sz="2000" b="0" i="0">
                <a:solidFill>
                  <a:srgbClr val="11202B"/>
                </a:solidFill>
                <a:latin typeface="Malgun Gothic"/>
                <a:ea typeface="Malgun Gothic"/>
                <a:cs typeface="Malgun Gothic"/>
              </a:rPr>
              <a:t>(가장 흔함 — 산소에 부분 반응), ② </a:t>
            </a:r>
            <a:r>
              <a:rPr sz="2000" b="1" i="0">
                <a:solidFill>
                  <a:srgbClr val="11202B"/>
                </a:solidFill>
                <a:latin typeface="Malgun Gothic"/>
                <a:ea typeface="Malgun Gothic"/>
                <a:cs typeface="Malgun Gothic"/>
              </a:rPr>
              <a:t>단락</a:t>
            </a:r>
            <a:r>
              <a:rPr sz="2000" b="0" i="0">
                <a:solidFill>
                  <a:srgbClr val="11202B"/>
                </a:solidFill>
                <a:latin typeface="Malgun Gothic"/>
                <a:ea typeface="Malgun Gothic"/>
                <a:cs typeface="Malgun Gothic"/>
              </a:rPr>
              <a:t>(산소에 거의 반응 없음 — 폐내 단락, ARDS, 간폐증후군), ③ </a:t>
            </a:r>
            <a:r>
              <a:rPr sz="2000" b="1" i="0">
                <a:solidFill>
                  <a:srgbClr val="11202B"/>
                </a:solidFill>
                <a:latin typeface="Malgun Gothic"/>
                <a:ea typeface="Malgun Gothic"/>
                <a:cs typeface="Malgun Gothic"/>
              </a:rPr>
              <a:t>저환기</a:t>
            </a:r>
            <a:r>
              <a:rPr sz="2000" b="0" i="0">
                <a:solidFill>
                  <a:srgbClr val="11202B"/>
                </a:solidFill>
                <a:latin typeface="Malgun Gothic"/>
                <a:ea typeface="Malgun Gothic"/>
                <a:cs typeface="Malgun Gothic"/>
              </a:rPr>
              <a:t>(PaCO₂ ↑, </a:t>
            </a:r>
            <a:r>
              <a:rPr sz="2000" b="1" i="0">
                <a:solidFill>
                  <a:srgbClr val="11202B"/>
                </a:solidFill>
                <a:latin typeface="Malgun Gothic"/>
                <a:ea typeface="Malgun Gothic"/>
                <a:cs typeface="Malgun Gothic"/>
              </a:rPr>
              <a:t>A-a 차 정상</a:t>
            </a:r>
            <a:r>
              <a:rPr sz="2000" b="0" i="0">
                <a:solidFill>
                  <a:srgbClr val="11202B"/>
                </a:solidFill>
                <a:latin typeface="Malgun Gothic"/>
                <a:ea typeface="Malgun Gothic"/>
                <a:cs typeface="Malgun Gothic"/>
              </a:rPr>
              <a:t>), ④ 확산 장애(운동 시 악화 — ILD), ⑤ 흡기 산소 저하(고지대).</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A-a 차 = [FiO₂ × (Patm − 47) − PaCO₂/0.8] − PaO₂; 나이 보정 = (나이/4) + 4.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기체 교환과 저산소 반응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HIF 경로</a:t>
            </a:r>
            <a:r>
              <a:rPr sz="1800" b="0" i="0">
                <a:solidFill>
                  <a:srgbClr val="11202B"/>
                </a:solidFill>
                <a:latin typeface="Malgun Gothic"/>
                <a:ea typeface="Malgun Gothic"/>
                <a:cs typeface="Malgun Gothic"/>
              </a:rPr>
              <a:t>: 정상 산소에서 프롤릴 수산화효소(PHD1-3, 산소·2-옥소글루타르산·Fe²⁺ 의존)가 HIF-1α를 수산화 → VHL이 유비퀴틴화 → 분해. 저산소에서는 HIF-1α가 안정화되어 EPO, VEGF, 해당과정 효소, PDK1, 글루코스 수송체를 유도한다.</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임상 응용: HIF-PH 억제제(록사두스타트 등)가 CKD 빈혈 치료제. VHL 질환·일부 신세포암은 HIF 지속 활성. 가족성 적혈구증(EPAS1, EGLN1, VHL)과 고지대 적응(티베트인 EPAS1)도 같은 축.</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급성 저산소성 폐혈관 수축</a:t>
            </a:r>
            <a:r>
              <a:rPr sz="1800" b="0" i="0">
                <a:solidFill>
                  <a:srgbClr val="11202B"/>
                </a:solidFill>
                <a:latin typeface="Malgun Gothic"/>
                <a:ea typeface="Malgun Gothic"/>
                <a:cs typeface="Malgun Gothic"/>
              </a:rPr>
              <a:t>은 전신 혈관과 반대 방향으로, 미토콘드리아 ROS·산화환원 변화가 K⁺ 통로를 억제해 폐동맥 평활근을 수축시켜 환기-관류를 맞춘다. 광범위 저산소(만성 폐질환, 고지대)에서는 이 반응이 전체에 작용해 </a:t>
            </a:r>
            <a:r>
              <a:rPr sz="1800" b="1" i="0">
                <a:solidFill>
                  <a:srgbClr val="11202B"/>
                </a:solidFill>
                <a:latin typeface="Malgun Gothic"/>
                <a:ea typeface="Malgun Gothic"/>
                <a:cs typeface="Malgun Gothic"/>
              </a:rPr>
              <a:t>폐고혈압</a:t>
            </a:r>
            <a:r>
              <a:rPr sz="1800" b="0" i="0">
                <a:solidFill>
                  <a:srgbClr val="11202B"/>
                </a:solidFill>
                <a:latin typeface="Malgun Gothic"/>
                <a:ea typeface="Malgun Gothic"/>
                <a:cs typeface="Malgun Gothic"/>
              </a:rPr>
              <a:t>을 만든다.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기체 교환과 저산소 반응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폐동맥고혈압(1군)</a:t>
            </a:r>
            <a:r>
              <a:rPr sz="2200" b="0" i="0">
                <a:solidFill>
                  <a:srgbClr val="11202B"/>
                </a:solidFill>
                <a:latin typeface="Malgun Gothic"/>
                <a:ea typeface="Malgun Gothic"/>
                <a:cs typeface="Malgun Gothic"/>
              </a:rPr>
              <a:t>: NO-cGMP ↓, 프로스타사이클린 ↓, 엔도텔린 ↑, BMPR2 변이. 치료는 세 경로 조합(포스포디에스터라아제-5 억제제·리오시구앗, 프로스타사이클린 유도체, 엔도텔린 길항제)과 BMP 신호를 복원하는 </a:t>
            </a:r>
            <a:r>
              <a:rPr sz="2200" b="1" i="0">
                <a:solidFill>
                  <a:srgbClr val="11202B"/>
                </a:solidFill>
                <a:latin typeface="Malgun Gothic"/>
                <a:ea typeface="Malgun Gothic"/>
                <a:cs typeface="Malgun Gothic"/>
              </a:rPr>
              <a:t>소타터셉트</a:t>
            </a:r>
            <a:r>
              <a:rPr sz="2200" b="0" i="0">
                <a:solidFill>
                  <a:srgbClr val="11202B"/>
                </a:solidFill>
                <a:latin typeface="Malgun Gothic"/>
                <a:ea typeface="Malgun Gothic"/>
                <a:cs typeface="Malgun Gothic"/>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기도 질환의 분자 병태생리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점액: MUC5AC(염증성, 과분비)와 MUC5B(항상성·방어). </a:t>
            </a:r>
            <a:r>
              <a:rPr sz="2000" b="1" i="0">
                <a:solidFill>
                  <a:srgbClr val="11202B"/>
                </a:solidFill>
                <a:latin typeface="Malgun Gothic"/>
                <a:ea typeface="Malgun Gothic"/>
                <a:cs typeface="Malgun Gothic"/>
              </a:rPr>
              <a:t>MUC5B 프로모터 변이(rs35705950)</a:t>
            </a:r>
            <a:r>
              <a:rPr sz="2000" b="0" i="0">
                <a:solidFill>
                  <a:srgbClr val="11202B"/>
                </a:solidFill>
                <a:latin typeface="Malgun Gothic"/>
                <a:ea typeface="Malgun Gothic"/>
                <a:cs typeface="Malgun Gothic"/>
              </a:rPr>
              <a:t>는 폐섬유화의 가장 강한 유전 위험인자지만, 역설적으로 진단 후 생존은 더 좋다.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스테로이드 작용: GR → 전사 억제(NF-κB 테더링) + HDAC2 모집으로 염증 유전자 아세틸화 제거. COPD의 산화 스트레스가 HDAC2를 불활성화해 스테로이드 저항을 만든다 — 테오필린 저용량이 HDAC2를 복원할 수 있다는 가설.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기도 질환의 분자 병태생리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핵심 경로</a:t>
                      </a:r>
                    </a:p>
                  </a:txBody>
                  <a:tcPr marL="73152" marR="73152">
                    <a:solidFill>
                      <a:srgbClr val="003C71"/>
                    </a:solidFill>
                  </a:tcPr>
                </a:tc>
                <a:tc>
                  <a:txBody>
                    <a:bodyPr/>
                    <a:lstStyle/>
                    <a:p>
                      <a:r>
                        <a:rPr sz="1300" b="1" i="0">
                          <a:solidFill>
                            <a:srgbClr val="FFFFFF"/>
                          </a:solidFill>
                          <a:latin typeface="Malgun Gothic"/>
                          <a:ea typeface="Malgun Gothic"/>
                          <a:cs typeface="Malgun Gothic"/>
                        </a:rPr>
                        <a:t>치료 함의</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2형 천식</a:t>
                      </a:r>
                    </a:p>
                  </a:txBody>
                  <a:tcPr marL="73152" marR="73152">
                    <a:solidFill>
                      <a:srgbClr val="FFFFFF"/>
                    </a:solidFill>
                  </a:tcPr>
                </a:tc>
                <a:tc>
                  <a:txBody>
                    <a:bodyPr/>
                    <a:lstStyle/>
                    <a:p>
                      <a:r>
                        <a:rPr sz="1300" b="0" i="0">
                          <a:solidFill>
                            <a:srgbClr val="11202B"/>
                          </a:solidFill>
                          <a:latin typeface="Malgun Gothic"/>
                          <a:ea typeface="Malgun Gothic"/>
                          <a:cs typeface="Malgun Gothic"/>
                        </a:rPr>
                        <a:t>IL-4/5/13, TSLP·IL-33, 호산구, IgE</a:t>
                      </a:r>
                    </a:p>
                  </a:txBody>
                  <a:tcPr marL="73152" marR="73152">
                    <a:solidFill>
                      <a:srgbClr val="FFFFFF"/>
                    </a:solidFill>
                  </a:tcPr>
                </a:tc>
                <a:tc>
                  <a:txBody>
                    <a:bodyPr/>
                    <a:lstStyle/>
                    <a:p>
                      <a:r>
                        <a:rPr sz="1300" b="0" i="0">
                          <a:solidFill>
                            <a:srgbClr val="11202B"/>
                          </a:solidFill>
                          <a:latin typeface="Malgun Gothic"/>
                          <a:ea typeface="Malgun Gothic"/>
                          <a:cs typeface="Malgun Gothic"/>
                        </a:rPr>
                        <a:t>스테로이드 반응 좋음, 생물학적 제제(B10 L02)</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비2형 천식</a:t>
                      </a:r>
                    </a:p>
                  </a:txBody>
                  <a:tcPr marL="73152" marR="73152">
                    <a:solidFill>
                      <a:srgbClr val="ECF1F5"/>
                    </a:solidFill>
                  </a:tcPr>
                </a:tc>
                <a:tc>
                  <a:txBody>
                    <a:bodyPr/>
                    <a:lstStyle/>
                    <a:p>
                      <a:r>
                        <a:rPr sz="1300" b="0" i="0">
                          <a:solidFill>
                            <a:srgbClr val="11202B"/>
                          </a:solidFill>
                          <a:latin typeface="Malgun Gothic"/>
                          <a:ea typeface="Malgun Gothic"/>
                          <a:cs typeface="Malgun Gothic"/>
                        </a:rPr>
                        <a:t>IL-17, 호중구, 비만, 신경성</a:t>
                      </a:r>
                    </a:p>
                  </a:txBody>
                  <a:tcPr marL="73152" marR="73152">
                    <a:solidFill>
                      <a:srgbClr val="ECF1F5"/>
                    </a:solidFill>
                  </a:tcPr>
                </a:tc>
                <a:tc>
                  <a:txBody>
                    <a:bodyPr/>
                    <a:lstStyle/>
                    <a:p>
                      <a:r>
                        <a:rPr sz="1300" b="0" i="0">
                          <a:solidFill>
                            <a:srgbClr val="11202B"/>
                          </a:solidFill>
                          <a:latin typeface="Malgun Gothic"/>
                          <a:ea typeface="Malgun Gothic"/>
                          <a:cs typeface="Malgun Gothic"/>
                        </a:rPr>
                        <a:t>스테로이드 반응 저하, 테제펠루맙·마크롤라이드</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아스피린 악화 호흡기질환</a:t>
                      </a:r>
                    </a:p>
                  </a:txBody>
                  <a:tcPr marL="73152" marR="73152">
                    <a:solidFill>
                      <a:srgbClr val="FFFFFF"/>
                    </a:solidFill>
                  </a:tcPr>
                </a:tc>
                <a:tc>
                  <a:txBody>
                    <a:bodyPr/>
                    <a:lstStyle/>
                    <a:p>
                      <a:r>
                        <a:rPr sz="1300" b="0" i="0">
                          <a:solidFill>
                            <a:srgbClr val="11202B"/>
                          </a:solidFill>
                          <a:latin typeface="Malgun Gothic"/>
                          <a:ea typeface="Malgun Gothic"/>
                          <a:cs typeface="Malgun Gothic"/>
                        </a:rPr>
                        <a:t>COX-1 억제 → 류코트리엔 과잉(LTC4 합성효소 ↑, PGE2 ↓)</a:t>
                      </a:r>
                    </a:p>
                  </a:txBody>
                  <a:tcPr marL="73152" marR="73152">
                    <a:solidFill>
                      <a:srgbClr val="FFFFFF"/>
                    </a:solidFill>
                  </a:tcPr>
                </a:tc>
                <a:tc>
                  <a:txBody>
                    <a:bodyPr/>
                    <a:lstStyle/>
                    <a:p>
                      <a:r>
                        <a:rPr sz="1300" b="0" i="0">
                          <a:solidFill>
                            <a:srgbClr val="11202B"/>
                          </a:solidFill>
                          <a:latin typeface="Malgun Gothic"/>
                          <a:ea typeface="Malgun Gothic"/>
                          <a:cs typeface="Malgun Gothic"/>
                        </a:rPr>
                        <a:t>류코트리엔 수용체 길항제·지류톤, 아스피린 탈감작</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COPD</a:t>
                      </a:r>
                    </a:p>
                  </a:txBody>
                  <a:tcPr marL="73152" marR="73152">
                    <a:solidFill>
                      <a:srgbClr val="ECF1F5"/>
                    </a:solidFill>
                  </a:tcPr>
                </a:tc>
                <a:tc>
                  <a:txBody>
                    <a:bodyPr/>
                    <a:lstStyle/>
                    <a:p>
                      <a:r>
                        <a:rPr sz="1300" b="0" i="0">
                          <a:solidFill>
                            <a:srgbClr val="11202B"/>
                          </a:solidFill>
                          <a:latin typeface="Malgun Gothic"/>
                          <a:ea typeface="Malgun Gothic"/>
                          <a:cs typeface="Malgun Gothic"/>
                        </a:rPr>
                        <a:t>호중구·대식세포 단백분해효소(호중구 엘라스타아제, MMP-9/12) vs 항단백분해효소 불균형, 산화 스트레스, HDAC2 감소</a:t>
                      </a:r>
                    </a:p>
                  </a:txBody>
                  <a:tcPr marL="73152" marR="73152">
                    <a:solidFill>
                      <a:srgbClr val="ECF1F5"/>
                    </a:solidFill>
                  </a:tcPr>
                </a:tc>
                <a:tc>
                  <a:txBody>
                    <a:bodyPr/>
                    <a:lstStyle/>
                    <a:p>
                      <a:r>
                        <a:rPr sz="1300" b="0" i="0">
                          <a:solidFill>
                            <a:srgbClr val="11202B"/>
                          </a:solidFill>
                          <a:latin typeface="Malgun Gothic"/>
                          <a:ea typeface="Malgun Gothic"/>
                          <a:cs typeface="Malgun Gothic"/>
                        </a:rPr>
                        <a:t>스테로이드 반응 제한(HDAC2 ↓), 기관확장제 중심, 호산구 높으면 ICS·두필루맙</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기관지확장증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점액 섬모 청소 장애 → 감염-염증 악순환(Cole 가설)</a:t>
                      </a:r>
                    </a:p>
                  </a:txBody>
                  <a:tcPr marL="73152" marR="73152">
                    <a:solidFill>
                      <a:srgbClr val="FFFFFF"/>
                    </a:solidFill>
                  </a:tcPr>
                </a:tc>
                <a:tc>
                  <a:txBody>
                    <a:bodyPr/>
                    <a:lstStyle/>
                    <a:p>
                      <a:r>
                        <a:rPr sz="1300" b="0" i="0">
                          <a:solidFill>
                            <a:srgbClr val="11202B"/>
                          </a:solidFill>
                          <a:latin typeface="Malgun Gothic"/>
                          <a:ea typeface="Malgun Gothic"/>
                          <a:cs typeface="Malgun Gothic"/>
                        </a:rPr>
                        <a:t>기도 청소, 항생제, 호중구 세린 단백분해효소 억제제 연구</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원발 섬모 운동 이상</a:t>
                      </a:r>
                    </a:p>
                  </a:txBody>
                  <a:tcPr marL="73152" marR="73152">
                    <a:solidFill>
                      <a:srgbClr val="ECF1F5"/>
                    </a:solidFill>
                  </a:tcPr>
                </a:tc>
                <a:tc>
                  <a:txBody>
                    <a:bodyPr/>
                    <a:lstStyle/>
                    <a:p>
                      <a:r>
                        <a:rPr sz="1300" b="0" i="0">
                          <a:solidFill>
                            <a:srgbClr val="11202B"/>
                          </a:solidFill>
                          <a:latin typeface="Malgun Gothic"/>
                          <a:ea typeface="Malgun Gothic"/>
                          <a:cs typeface="Malgun Gothic"/>
                        </a:rPr>
                        <a:t>DNAH5 등 축사 결함</a:t>
                      </a:r>
                    </a:p>
                  </a:txBody>
                  <a:tcPr marL="73152" marR="73152">
                    <a:solidFill>
                      <a:srgbClr val="ECF1F5"/>
                    </a:solidFill>
                  </a:tcPr>
                </a:tc>
                <a:tc>
                  <a:txBody>
                    <a:bodyPr/>
                    <a:lstStyle/>
                    <a:p>
                      <a:r>
                        <a:rPr sz="1300" b="0" i="0">
                          <a:solidFill>
                            <a:srgbClr val="11202B"/>
                          </a:solidFill>
                          <a:latin typeface="Malgun Gothic"/>
                          <a:ea typeface="Malgun Gothic"/>
                          <a:cs typeface="Malgun Gothic"/>
                        </a:rPr>
                        <a:t>상황내장(카르타게너), 불임</a:t>
                      </a:r>
                    </a:p>
                  </a:txBody>
                  <a:tcPr marL="73152" marR="73152">
                    <a:solidFill>
                      <a:srgbClr val="ECF1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폐섬유화와 급성 폐손상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특발성 폐섬유화(IPF)</a:t>
            </a:r>
            <a:r>
              <a:rPr sz="1800" b="0" i="0">
                <a:solidFill>
                  <a:srgbClr val="11202B"/>
                </a:solidFill>
                <a:latin typeface="Malgun Gothic"/>
                <a:ea typeface="Malgun Gothic"/>
                <a:cs typeface="Malgun Gothic"/>
              </a:rPr>
              <a:t>: 반복적 미세 손상 + </a:t>
            </a:r>
            <a:r>
              <a:rPr sz="1800" b="1" i="0">
                <a:solidFill>
                  <a:srgbClr val="11202B"/>
                </a:solidFill>
                <a:latin typeface="Malgun Gothic"/>
                <a:ea typeface="Malgun Gothic"/>
                <a:cs typeface="Malgun Gothic"/>
              </a:rPr>
              <a:t>노화된 폐포 II형 세포</a:t>
            </a:r>
            <a:r>
              <a:rPr sz="1800" b="0" i="0">
                <a:solidFill>
                  <a:srgbClr val="11202B"/>
                </a:solidFill>
                <a:latin typeface="Malgun Gothic"/>
                <a:ea typeface="Malgun Gothic"/>
                <a:cs typeface="Malgun Gothic"/>
              </a:rPr>
              <a:t>(짧은 텔로미어 — TERT·TERC·RTEL1 변이, 단백 접힘 스트레스 — SFTPC·SFTPA2) → 비정상 상피-중간엽 신호(TGF-β, WNT, YAP/TAZ) → 섬유아세포 병소·근섬유아세포 → 기질 축적과 기계적 강성 증가(양성 피드백).</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치료: </a:t>
            </a:r>
            <a:r>
              <a:rPr sz="1600" b="1" i="0">
                <a:solidFill>
                  <a:srgbClr val="2E3F4C"/>
                </a:solidFill>
                <a:latin typeface="Malgun Gothic"/>
                <a:ea typeface="Malgun Gothic"/>
                <a:cs typeface="Malgun Gothic"/>
              </a:rPr>
              <a:t>닌테다닙</a:t>
            </a:r>
            <a:r>
              <a:rPr sz="1600" b="0" i="0">
                <a:solidFill>
                  <a:srgbClr val="2E3F4C"/>
                </a:solidFill>
                <a:latin typeface="Malgun Gothic"/>
                <a:ea typeface="Malgun Gothic"/>
                <a:cs typeface="Malgun Gothic"/>
              </a:rPr>
              <a:t>(VEGFR·FGFR·PDGFR 억제), </a:t>
            </a:r>
            <a:r>
              <a:rPr sz="1600" b="1" i="0">
                <a:solidFill>
                  <a:srgbClr val="2E3F4C"/>
                </a:solidFill>
                <a:latin typeface="Malgun Gothic"/>
                <a:ea typeface="Malgun Gothic"/>
                <a:cs typeface="Malgun Gothic"/>
              </a:rPr>
              <a:t>피르페니돈</a:t>
            </a:r>
            <a:r>
              <a:rPr sz="1600" b="0" i="0">
                <a:solidFill>
                  <a:srgbClr val="2E3F4C"/>
                </a:solidFill>
                <a:latin typeface="Malgun Gothic"/>
                <a:ea typeface="Malgun Gothic"/>
                <a:cs typeface="Malgun Gothic"/>
              </a:rPr>
              <a:t>(TGF-β·콜라겐 합성 억제) — 진행 속도를 늦춘다. 진행성 섬유화 표현형(결합조직질환·과민성 폐렴·석면 등)에도 닌테다닙 적응. 산소·재활·이식·동반질환 관리가 함께 필요하다.</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급성 악화는 사망 원인의 큰 부분이며, 항산 억제·항응고·면역억제(PANTHER-IPF의 프레드니손+아자티오프린+NAC)는 </a:t>
            </a:r>
            <a:r>
              <a:rPr sz="1600" b="1" i="0">
                <a:solidFill>
                  <a:srgbClr val="2E3F4C"/>
                </a:solidFill>
                <a:latin typeface="Malgun Gothic"/>
                <a:ea typeface="Malgun Gothic"/>
                <a:cs typeface="Malgun Gothic"/>
              </a:rPr>
              <a:t>해롭다</a:t>
            </a:r>
            <a:r>
              <a:rPr sz="1600" b="0" i="0">
                <a:solidFill>
                  <a:srgbClr val="2E3F4C"/>
                </a:solidFill>
                <a:latin typeface="Malgun Gothic"/>
                <a:ea typeface="Malgun Gothic"/>
                <a:cs typeface="Malgun Gothic"/>
              </a:rPr>
              <a:t>는 것이 확인되었다.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폐섬유화와 급성 폐손상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ARDS</a:t>
            </a:r>
            <a:r>
              <a:rPr sz="1800" b="0" i="0">
                <a:solidFill>
                  <a:srgbClr val="11202B"/>
                </a:solidFill>
                <a:latin typeface="Malgun Gothic"/>
                <a:ea typeface="Malgun Gothic"/>
                <a:cs typeface="Malgun Gothic"/>
              </a:rPr>
              <a:t>: 직접·간접 손상 → 호중구·대식세포 유입, 상피·내피 장벽 붕괴(치밀이음부, 글리코칼릭스), 단백 풍부 부종, 계면활성제 기능 소실, 미세혈전, 이후 섬유화 단계. </a:t>
            </a:r>
            <a:r>
              <a:rPr sz="1800" b="1" i="0">
                <a:solidFill>
                  <a:srgbClr val="11202B"/>
                </a:solidFill>
                <a:latin typeface="Malgun Gothic"/>
                <a:ea typeface="Malgun Gothic"/>
                <a:cs typeface="Malgun Gothic"/>
              </a:rPr>
              <a:t>알베올라 수분 제거</a:t>
            </a:r>
            <a:r>
              <a:rPr sz="1800" b="0" i="0">
                <a:solidFill>
                  <a:srgbClr val="11202B"/>
                </a:solidFill>
                <a:latin typeface="Malgun Gothic"/>
                <a:ea typeface="Malgun Gothic"/>
                <a:cs typeface="Malgun Gothic"/>
              </a:rPr>
              <a:t>(ENaC·Na/K-ATPase)의 장애가 회복 지연과 연결된다.</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치료의 축은 </a:t>
            </a:r>
            <a:r>
              <a:rPr sz="1600" b="1" i="0">
                <a:solidFill>
                  <a:srgbClr val="2E3F4C"/>
                </a:solidFill>
                <a:latin typeface="Malgun Gothic"/>
                <a:ea typeface="Malgun Gothic"/>
                <a:cs typeface="Malgun Gothic"/>
              </a:rPr>
              <a:t>폐 보호 환기</a:t>
            </a:r>
            <a:r>
              <a:rPr sz="1600" b="0" i="0">
                <a:solidFill>
                  <a:srgbClr val="2E3F4C"/>
                </a:solidFill>
                <a:latin typeface="Malgun Gothic"/>
                <a:ea typeface="Malgun Gothic"/>
                <a:cs typeface="Malgun Gothic"/>
              </a:rPr>
              <a:t>(1회호흡량 6 mL/kg 예측체중, 고원압 &lt;30, 구동압 &lt;15), 보수적 수액, 복와위, 중등도 이상 중증에서 근이완, 필요시 ECMO; 특정 아형(고염증 표현형)에서 스테로이드.</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산소 독성과 인공호흡기 유발 손상(용적손상·무기폐손상·생물학적 손상)이 2차 손상을 만든다.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환기기 유발 횡격막 기능 이상, 중환자 근병증도 호흡 실패 회복을 좌우한다(B10 L12 연계).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낭성섬유증과 α1-항트립신 결핍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낭성섬유증</a:t>
            </a:r>
            <a:r>
              <a:rPr sz="1800" b="0" i="0">
                <a:solidFill>
                  <a:srgbClr val="11202B"/>
                </a:solidFill>
                <a:latin typeface="Malgun Gothic"/>
                <a:ea typeface="Malgun Gothic"/>
                <a:cs typeface="Malgun Gothic"/>
              </a:rPr>
              <a:t>: CFTR(ABC 수송체, cAMP-PKA 의존 Cl⁻/HCO₃⁻ 통로) 변이 → 기도 표면액 탈수와 </a:t>
            </a:r>
            <a:r>
              <a:rPr sz="1800" b="1" i="0">
                <a:solidFill>
                  <a:srgbClr val="11202B"/>
                </a:solidFill>
                <a:latin typeface="Malgun Gothic"/>
                <a:ea typeface="Malgun Gothic"/>
                <a:cs typeface="Malgun Gothic"/>
              </a:rPr>
              <a:t>중탄산 분비 저하</a:t>
            </a:r>
            <a:r>
              <a:rPr sz="1800" b="0" i="0">
                <a:solidFill>
                  <a:srgbClr val="11202B"/>
                </a:solidFill>
                <a:latin typeface="Malgun Gothic"/>
                <a:ea typeface="Malgun Gothic"/>
                <a:cs typeface="Malgun Gothic"/>
              </a:rPr>
              <a:t>로 점액 pH·점탄성 이상 → 청소 장애, 녹농균 만성 감염, 췌장 외분비 부족, 담도·장(태변 폐색), 남성 불임(선천성 양측 정관 결손), CF 관련 당뇨.</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엘렉사카프토르/테자카프토르/이바카프토르(ETI)</a:t>
            </a:r>
            <a:r>
              <a:rPr sz="1800" b="0" i="0">
                <a:solidFill>
                  <a:srgbClr val="11202B"/>
                </a:solidFill>
                <a:latin typeface="Malgun Gothic"/>
                <a:ea typeface="Malgun Gothic"/>
                <a:cs typeface="Malgun Gothic"/>
              </a:rPr>
              <a:t>가 F508del 1개 이상 보유 환자 대부분에서 FEV1, 악화, 영양, 땀 염소를 크게 개선 — 분자 진단에 따른 교정 치료의 모범 사례.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α1-항트립신 결핍</a:t>
            </a:r>
            <a:r>
              <a:rPr sz="1800" b="0" i="0">
                <a:solidFill>
                  <a:srgbClr val="11202B"/>
                </a:solidFill>
                <a:latin typeface="Malgun Gothic"/>
                <a:ea typeface="Malgun Gothic"/>
                <a:cs typeface="Malgun Gothic"/>
              </a:rPr>
              <a:t>: SERPINA1 </a:t>
            </a:r>
            <a:r>
              <a:rPr sz="1800" b="1" i="0">
                <a:solidFill>
                  <a:srgbClr val="11202B"/>
                </a:solidFill>
                <a:latin typeface="Malgun Gothic"/>
                <a:ea typeface="Malgun Gothic"/>
                <a:cs typeface="Malgun Gothic"/>
              </a:rPr>
              <a:t>Z 변이</a:t>
            </a:r>
            <a:r>
              <a:rPr sz="1800" b="0" i="0">
                <a:solidFill>
                  <a:srgbClr val="11202B"/>
                </a:solidFill>
                <a:latin typeface="Malgun Gothic"/>
                <a:ea typeface="Malgun Gothic"/>
                <a:cs typeface="Malgun Gothic"/>
              </a:rPr>
              <a:t>(Glu342Lys)가 간세포 내 중합체를 만들어 ① 분비 감소 → 폐 엘라스타아제 억제 실패 → </a:t>
            </a:r>
            <a:r>
              <a:rPr sz="1800" b="1" i="0">
                <a:solidFill>
                  <a:srgbClr val="11202B"/>
                </a:solidFill>
                <a:latin typeface="Malgun Gothic"/>
                <a:ea typeface="Malgun Gothic"/>
                <a:cs typeface="Malgun Gothic"/>
              </a:rPr>
              <a:t>범세엽성 하부 폐 기종</a:t>
            </a:r>
            <a:r>
              <a:rPr sz="1800" b="0" i="0">
                <a:solidFill>
                  <a:srgbClr val="11202B"/>
                </a:solidFill>
                <a:latin typeface="Malgun Gothic"/>
                <a:ea typeface="Malgun Gothic"/>
                <a:cs typeface="Malgun Gothic"/>
              </a:rPr>
              <a:t>(흡연이 가속), ② 간세포 내 축적 → 간 섬유화·간암. S 변이는 경증.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낭성섬유증과 α1-항트립신 결핍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치료: 금연, 정주 α1-항트립신 보충(증강 요법), 간 질환은 이식; 간에서 Z 단백 생산을 줄이는 </a:t>
            </a:r>
            <a:r>
              <a:rPr sz="2000" b="1" i="0">
                <a:solidFill>
                  <a:srgbClr val="2E3F4C"/>
                </a:solidFill>
                <a:latin typeface="Malgun Gothic"/>
                <a:ea typeface="Malgun Gothic"/>
                <a:cs typeface="Malgun Gothic"/>
              </a:rPr>
              <a:t>RNA 간섭(펠라시르센 등)</a:t>
            </a:r>
            <a:r>
              <a:rPr sz="2000" b="0" i="0">
                <a:solidFill>
                  <a:srgbClr val="2E3F4C"/>
                </a:solidFill>
                <a:latin typeface="Malgun Gothic"/>
                <a:ea typeface="Malgun Gothic"/>
                <a:cs typeface="Malgun Gothic"/>
              </a:rPr>
              <a:t>이 간 표현형을 겨냥해 시험 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낭성섬유증과 α1-항트립신 결핍</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변이 유형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c>
                  <a:txBody>
                    <a:bodyPr/>
                    <a:lstStyle/>
                    <a:p>
                      <a:r>
                        <a:rPr sz="1500" b="1" i="0">
                          <a:solidFill>
                            <a:srgbClr val="FFFFFF"/>
                          </a:solidFill>
                          <a:latin typeface="Malgun Gothic"/>
                          <a:ea typeface="Malgun Gothic"/>
                          <a:cs typeface="Malgun Gothic"/>
                        </a:rPr>
                        <a:t>교정 전략</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II형(접힘·수송 결함)</a:t>
                      </a:r>
                    </a:p>
                  </a:txBody>
                  <a:tcPr marL="73152" marR="73152">
                    <a:solidFill>
                      <a:srgbClr val="FFFFFF"/>
                    </a:solidFill>
                  </a:tcPr>
                </a:tc>
                <a:tc>
                  <a:txBody>
                    <a:bodyPr/>
                    <a:lstStyle/>
                    <a:p>
                      <a:r>
                        <a:rPr sz="1500" b="1" i="0">
                          <a:solidFill>
                            <a:srgbClr val="11202B"/>
                          </a:solidFill>
                          <a:latin typeface="Malgun Gothic"/>
                          <a:ea typeface="Malgun Gothic"/>
                          <a:cs typeface="Malgun Gothic"/>
                        </a:rPr>
                        <a:t>F508del</a:t>
                      </a:r>
                    </a:p>
                  </a:txBody>
                  <a:tcPr marL="73152" marR="73152">
                    <a:solidFill>
                      <a:srgbClr val="FFFFFF"/>
                    </a:solidFill>
                  </a:tcPr>
                </a:tc>
                <a:tc>
                  <a:txBody>
                    <a:bodyPr/>
                    <a:lstStyle/>
                    <a:p>
                      <a:r>
                        <a:rPr sz="1500" b="1" i="0">
                          <a:solidFill>
                            <a:srgbClr val="11202B"/>
                          </a:solidFill>
                          <a:latin typeface="Malgun Gothic"/>
                          <a:ea typeface="Malgun Gothic"/>
                          <a:cs typeface="Malgun Gothic"/>
                        </a:rPr>
                        <a:t>교정제(correctors)</a:t>
                      </a:r>
                      <a:r>
                        <a:rPr sz="1500" b="0" i="0">
                          <a:solidFill>
                            <a:srgbClr val="11202B"/>
                          </a:solidFill>
                          <a:latin typeface="Malgun Gothic"/>
                          <a:ea typeface="Malgun Gothic"/>
                          <a:cs typeface="Malgun Gothic"/>
                        </a:rPr>
                        <a:t> — 루마카프토르, 테자카프토르, 엘렉사카프토르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III형(개폐 결함)</a:t>
                      </a:r>
                    </a:p>
                  </a:txBody>
                  <a:tcPr marL="73152" marR="73152">
                    <a:solidFill>
                      <a:srgbClr val="ECF1F5"/>
                    </a:solidFill>
                  </a:tcPr>
                </a:tc>
                <a:tc>
                  <a:txBody>
                    <a:bodyPr/>
                    <a:lstStyle/>
                    <a:p>
                      <a:r>
                        <a:rPr sz="1500" b="0" i="0">
                          <a:solidFill>
                            <a:srgbClr val="11202B"/>
                          </a:solidFill>
                          <a:latin typeface="Malgun Gothic"/>
                          <a:ea typeface="Malgun Gothic"/>
                          <a:cs typeface="Malgun Gothic"/>
                        </a:rPr>
                        <a:t>G551D</a:t>
                      </a:r>
                    </a:p>
                  </a:txBody>
                  <a:tcPr marL="73152" marR="73152">
                    <a:solidFill>
                      <a:srgbClr val="ECF1F5"/>
                    </a:solidFill>
                  </a:tcPr>
                </a:tc>
                <a:tc>
                  <a:txBody>
                    <a:bodyPr/>
                    <a:lstStyle/>
                    <a:p>
                      <a:r>
                        <a:rPr sz="1500" b="1" i="0">
                          <a:solidFill>
                            <a:srgbClr val="11202B"/>
                          </a:solidFill>
                          <a:latin typeface="Malgun Gothic"/>
                          <a:ea typeface="Malgun Gothic"/>
                          <a:cs typeface="Malgun Gothic"/>
                        </a:rPr>
                        <a:t>강화제(potentiator)</a:t>
                      </a:r>
                      <a:r>
                        <a:rPr sz="1500" b="0" i="0">
                          <a:solidFill>
                            <a:srgbClr val="11202B"/>
                          </a:solidFill>
                          <a:latin typeface="Malgun Gothic"/>
                          <a:ea typeface="Malgun Gothic"/>
                          <a:cs typeface="Malgun Gothic"/>
                        </a:rPr>
                        <a:t> — 이바카프토르</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IV형(전도 감소)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R117H</a:t>
                      </a:r>
                    </a:p>
                  </a:txBody>
                  <a:tcPr marL="73152" marR="73152">
                    <a:solidFill>
                      <a:srgbClr val="FFFFFF"/>
                    </a:solidFill>
                  </a:tcPr>
                </a:tc>
                <a:tc>
                  <a:txBody>
                    <a:bodyPr/>
                    <a:lstStyle/>
                    <a:p>
                      <a:r>
                        <a:rPr sz="1500" b="0" i="0">
                          <a:solidFill>
                            <a:srgbClr val="11202B"/>
                          </a:solidFill>
                          <a:latin typeface="Malgun Gothic"/>
                          <a:ea typeface="Malgun Gothic"/>
                          <a:cs typeface="Malgun Gothic"/>
                        </a:rPr>
                        <a:t>강화제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I형(무발현: 무의미·틀이동)</a:t>
                      </a:r>
                    </a:p>
                  </a:txBody>
                  <a:tcPr marL="73152" marR="73152">
                    <a:solidFill>
                      <a:srgbClr val="ECF1F5"/>
                    </a:solidFill>
                  </a:tcPr>
                </a:tc>
                <a:tc>
                  <a:txBody>
                    <a:bodyPr/>
                    <a:lstStyle/>
                    <a:p>
                      <a:r>
                        <a:rPr sz="1500" b="0" i="0">
                          <a:solidFill>
                            <a:srgbClr val="11202B"/>
                          </a:solidFill>
                          <a:latin typeface="Malgun Gothic"/>
                          <a:ea typeface="Malgun Gothic"/>
                          <a:cs typeface="Malgun Gothic"/>
                        </a:rPr>
                        <a:t>G542X</a:t>
                      </a:r>
                    </a:p>
                  </a:txBody>
                  <a:tcPr marL="73152" marR="73152">
                    <a:solidFill>
                      <a:srgbClr val="ECF1F5"/>
                    </a:solidFill>
                  </a:tcPr>
                </a:tc>
                <a:tc>
                  <a:txBody>
                    <a:bodyPr/>
                    <a:lstStyle/>
                    <a:p>
                      <a:r>
                        <a:rPr sz="1500" b="0" i="0">
                          <a:solidFill>
                            <a:srgbClr val="11202B"/>
                          </a:solidFill>
                          <a:latin typeface="Malgun Gothic"/>
                          <a:ea typeface="Malgun Gothic"/>
                          <a:cs typeface="Malgun Gothic"/>
                        </a:rPr>
                        <a:t>현재 약물 효과 없음 — 리드스루·mRNA·유전자 치료 연구</a:t>
                      </a:r>
                    </a:p>
                  </a:txBody>
                  <a:tcPr marL="73152" marR="73152">
                    <a:solidFill>
                      <a:srgbClr val="ECF1F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낭성섬유증과 α1-항트립신 결핍</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16</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임상 상관: 40대에 하부 폐 우세 기종이 보이거나, 가족력이 있거나, 설명되지 않는 간효소 상승·간경변이 있으면 흡연 여부와 무관하게 α1-항트립신 수치와 표현형을 검사해야 한다. 같은 사고방식이 성인기에 발견되는 기관지확장증·불임·췌장염 조합에서 </a:t>
            </a:r>
            <a:r>
              <a:rPr sz="2000" b="1" i="0">
                <a:solidFill>
                  <a:srgbClr val="11202B"/>
                </a:solidFill>
                <a:latin typeface="Malgun Gothic"/>
                <a:ea typeface="Malgun Gothic"/>
                <a:cs typeface="Malgun Gothic"/>
              </a:rPr>
              <a:t>경증 CFTR 변이</a:t>
            </a:r>
            <a:r>
              <a:rPr sz="2000" b="0" i="0">
                <a:solidFill>
                  <a:srgbClr val="11202B"/>
                </a:solidFill>
                <a:latin typeface="Malgun Gothic"/>
                <a:ea typeface="Malgun Gothic"/>
                <a:cs typeface="Malgun Gothic"/>
              </a:rPr>
              <a:t>를 찾게 한다. 땀 염소 검사와 CFTR 유전형 분석은 성인 호흡기 진료에서도 유효한 도구다.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CFTR 무발현 변이를 겨냥한 mRNA 흡입 치료와 유전자 편집이 교정 치료의 마지막 공백을 메우려 시도되고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노화·텔로미어 생물학과 세포 노화 제거(세놀리틱)가 폐섬유화의 근본 기전 치료로 초기 임상에 진입했다.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ARDS의 생물학적 아형(고염증 대 저염증)에 따른 치료 반응 차이가 확인되어 표현형 기반 임상시험이 설계되고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DPPC와 SP-B·SP-C가 표면장력을 낮추며 관련 유전자 결함은 신생아·소아 간질성 폐질환을 일으킨다.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A-a 차와 산소 반응성으로 환기-관류 불일치, 단락, 저환기를 구분한다.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HIF-PHD-VHL 축이 저산소 적응의 중심이며 HIF-PH 억제제와 가족성 적혈구증이 그 임상적 반영이다.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IPF는 노화된 폐포 상피의 손상 반응이며 닌테다닙·피르페니돈이 진행을 늦추고 면역억제는 해롭다.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CFTR 변이 유형별 교정·강화제 조합과 α1-항트립신 증강 요법은 분자 진단 기반 치료의 모범이다.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폐 보호 환기에서 1회호흡량을 실제 체중이 아니라 예측체중으로 계산하는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폐의 크기는 키와 성별로 결정되고 체지방량에 비례하지 않는다. 실제 체중을 쓰면 비만 환자에게 과도한 용적이 들어가 폐포 과팽창으로 용적손상과 생물학적 손상을 일으킨다. ARDSNet 시험은 예측체중 기준 6 mL/kg가 12 mL/kg보다 사망률을 낮춤을 보였다.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COPD에서 흡입 스테로이드의 효과가 천식만큼 크지 않은 분자적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글루코코르티코이드 수용체가 염증 유전자를 끄려면 HDAC2를 모집해 히스톤 아세틸화를 제거해야 한다. COPD의 산화·질화 스트레스는 HDAC2를 불활성화하고 발현을 줄여 이 과정이 작동하지 않는다. 또한 COPD 염증은 호중구·CD8 T세포 중심으로 스테로이드 감수성이 낮다. 호산구가 높은 아형에서만 흡입 스테로이드의 악화 감소 효과가 뚜렷하다.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F508del 동형접합 환자에게 이바카프토르 단독이 아니라 교정제와 병용해야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F508del은 단백이 잘못 접혀 소포체에서 분해되므로 세포막에 도달하는 CFTR 자체가 거의 없다. 이바카프토르는 막에 존재하는 통로의 개폐를 돕는 강화제이므로 단독으로는 작용 대상이 없다. 테자카프토르·엘렉사카프토르 같은 교정제가 접힘과 수송을 도와 막 발현을 늘린 뒤에야 강화제가 전도를 높일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특발성 폐섬유화 환자에게 프레드니손·아자티오프린·N-아세틸시스테인 3제를 쓰지 않는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PANTHER-IPF 시험에서 이 조합은 위약보다 사망과 입원이 유의하게 많아 조기 중단되었다. IPF는 일차적으로 염증 질환이 아니라 손상된 노화 상피가 주도하는 비정상 수복 과정이므로 면역억제가 이득 없이 감염과 독성만 늘린다. 표준 치료는 항섬유화제인 닌테다닙 또는 피르페니돈이다.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Whitsett JA, Wert SE, Weaver TE. Diseases of pulmonary surfactant homeostasis. Annu Rev Pathol 2015;10:371–393.</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Semenza GL. Oxygen sensing, hypoxia-inducible factors, and disease pathophysiology. Annu Rev Pathol 2014;9:47–71.</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Lederer DJ, Martinez FJ. Idiopathic pulmonary fibrosis. N Engl J Med 2018;378:1811–1823.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B10-L06  ·  호흡기질환의 생화학: 계면활성제, 저산소와 섬유화</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Middleton PG et al. Elexacaftor-tezacaftor-ivacaftor for cystic fibrosis with a single Phe508del allele. N Engl J Med 2019;381:1809–1819.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Thompson BT, Chambers RC, Liu KD. Acute respiratory distress syndrome. N Engl J Med 2017;377:562–572.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