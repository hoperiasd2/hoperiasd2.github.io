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발병 6시간 이내의 비조영 CT는 민감도가 매우 높아 음성이면 SAH 가능성이 크게 낮아진다. 그러나 임상 의심이 높으면 CTA를 시행하거나, 발병 12시간 이후 요추천자로 황색변성과 적혈구 수의 비감소를 확인한다. 또한 경동맥 박리, 가역적 뇌혈관 수축 증후군, 정맥동 혈전증 등 다른 벼락 두통 원인도 평가한다.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니모디핀은 경구 투여 시 사망과 불량한 신경학적 결과를 줄이는 유일한 약물로, 혈관 조영상 연축 자체보다는 미세순환 보호·신경보호 효과로 설명된다. 21일간 4시간마다 투여하며 저혈압이 가장 흔한 부작용이므로 혈압을 모니터링하고 필요 시 용량을 나눠 투여한다.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두 질환의 치료가 정반대이기 때문이다. 뇌염분소실은 체액량이 감소한 상태로 염분과 수분을 보충해야 하고, 수분 제한을 하면 혈량 감소로 지연성 뇌허혈 위험이 커진다. SIADH는 체액량이 정상·증가한 상태로 수분 제한이 원칙이지만, SAH 환자에서는 혈량 감소를 피해야 하므로 고장성 식염수 등 신중한 접근이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비파열 AVM 환자에서 중재적 치료(수술·색전술·방사선수술)군의 뇌졸중·사망 위험이 내과적 관리군보다 높게 나타나, 무증상·비파열 AVM에 대한 예방적 중재는 일반적으로 권고되지 않게 되었다. 다만 추적 기간이 짧고 치료 방법이 혼합되었다는 비판이 있어, 개별 환자의 출혈 위험(동맥류 동반, 심부 정맥 배액 등)과 기대 수명을 고려한 다학제 결정이 필요하다.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B09 신경면역학과 신경외과  ·  혈관·외상 신경외과</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뇌동맥류, 지주막하출혈과 뇌혈관 수술</a:t>
            </a:r>
          </a:p>
          <a:p>
            <a:r>
              <a:rPr sz="2000" b="0" i="0">
                <a:solidFill>
                  <a:srgbClr val="C2CDD6"/>
                </a:solidFill>
                <a:latin typeface="Malgun Gothic"/>
                <a:ea typeface="Malgun Gothic"/>
                <a:cs typeface="Malgun Gothic"/>
              </a:rPr>
              <a:t>Cerebral Aneurysms, Subarachnoid Hemorrhage and Vascular Neurosurgery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B09-L07</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뇌동맥류의 역학·위험 인자·파열 위험 평가를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지주막하출혈의 진단(CT, 요추천자, CTA/DSA)과 초기 관리를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재출혈·수두증·지연성 뇌허혈의 기전과 예방·치료를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클립 결찰과 코일 색전술의 선택 기준을 비교한다.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뇌동정맥 기형·해면상 기형·경동맥 질환의 치료 원칙을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뇌동맥류</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지주막하출혈(SAH)</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클립 결찰과 코일 색전술</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뇌동정맥 기형·해면상 기형·경동맥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뇌동맥류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유병률 성인의 약 3%; 대부분 낭성(berry) 동맥류 — </a:t>
            </a:r>
            <a:r>
              <a:rPr sz="1800" b="1" i="0">
                <a:solidFill>
                  <a:srgbClr val="11202B"/>
                </a:solidFill>
                <a:latin typeface="Malgun Gothic"/>
                <a:ea typeface="Malgun Gothic"/>
                <a:cs typeface="Malgun Gothic"/>
              </a:rPr>
              <a:t>분지부</a:t>
            </a:r>
            <a:r>
              <a:rPr sz="1800" b="0" i="0">
                <a:solidFill>
                  <a:srgbClr val="11202B"/>
                </a:solidFill>
                <a:latin typeface="Malgun Gothic"/>
                <a:ea typeface="Malgun Gothic"/>
                <a:cs typeface="Malgun Gothic"/>
              </a:rPr>
              <a:t>(전교통동맥 30%, 후교통동맥 25%, 중대뇌동맥 분지 20%, 기저동맥 끝).</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기전: 혈류 전단응력·혈역학 스트레스 + 혈관벽 염증(대식세포·MMP)·내탄성판 소실 → 벽 재형성·파열.</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위험 인자: 흡연, 고혈압, 여성, 음주, 가족력(1차 친족 2명 이상 → 선별 고려), </a:t>
            </a:r>
            <a:r>
              <a:rPr sz="1800" b="1" i="0">
                <a:solidFill>
                  <a:srgbClr val="11202B"/>
                </a:solidFill>
                <a:latin typeface="Malgun Gothic"/>
                <a:ea typeface="Malgun Gothic"/>
                <a:cs typeface="Malgun Gothic"/>
              </a:rPr>
              <a:t>상염색체 우성 다낭신</a:t>
            </a:r>
            <a:r>
              <a:rPr sz="1800" b="0" i="0">
                <a:solidFill>
                  <a:srgbClr val="11202B"/>
                </a:solidFill>
                <a:latin typeface="Malgun Gothic"/>
                <a:ea typeface="Malgun Gothic"/>
                <a:cs typeface="Malgun Gothic"/>
              </a:rPr>
              <a:t>, 에흘러스-단로스 4형, 섬유근 이형성, 대동맥축착.</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파열 위험 평가</a:t>
            </a:r>
            <a:r>
              <a:rPr sz="1800" b="0" i="0">
                <a:solidFill>
                  <a:srgbClr val="11202B"/>
                </a:solidFill>
                <a:latin typeface="Malgun Gothic"/>
                <a:ea typeface="Malgun Gothic"/>
                <a:cs typeface="Malgun Gothic"/>
              </a:rPr>
              <a:t>: 크기(≥7 mm 증가), </a:t>
            </a:r>
            <a:r>
              <a:rPr sz="1800" b="1" i="0">
                <a:solidFill>
                  <a:srgbClr val="11202B"/>
                </a:solidFill>
                <a:latin typeface="Malgun Gothic"/>
                <a:ea typeface="Malgun Gothic"/>
                <a:cs typeface="Malgun Gothic"/>
              </a:rPr>
              <a:t>위치(후순환·후교통 &gt; 전순환)</a:t>
            </a:r>
            <a:r>
              <a:rPr sz="1800" b="0" i="0">
                <a:solidFill>
                  <a:srgbClr val="11202B"/>
                </a:solidFill>
                <a:latin typeface="Malgun Gothic"/>
                <a:ea typeface="Malgun Gothic"/>
                <a:cs typeface="Malgun Gothic"/>
              </a:rPr>
              <a:t>, 모양(불규칙·딸주머니), 성장, 과거 지주막하출혈 병력, 인구 집단(</a:t>
            </a:r>
            <a:r>
              <a:rPr sz="1800" b="1" i="0">
                <a:solidFill>
                  <a:srgbClr val="11202B"/>
                </a:solidFill>
                <a:latin typeface="Malgun Gothic"/>
                <a:ea typeface="Malgun Gothic"/>
                <a:cs typeface="Malgun Gothic"/>
              </a:rPr>
              <a:t>일본·핀란드에서 위험 높음</a:t>
            </a:r>
            <a:r>
              <a:rPr sz="1800" b="0" i="0">
                <a:solidFill>
                  <a:srgbClr val="11202B"/>
                </a:solidFill>
                <a:latin typeface="Malgun Gothic"/>
                <a:ea typeface="Malgun Gothic"/>
                <a:cs typeface="Malgun Gothic"/>
              </a:rPr>
              <a:t>) → PHASES·UIATS 점수 활용 + 환자 나이·동반질환·불안.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뇌동맥류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비파열 동맥류 관리: 금연·혈압 조절·관찰(MRA/CTA 추적) vs 치료(코일·클립·우회 스텐트) — 치료 합병증 위험(3–10%)과 비교.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지주막하출혈(SAH)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임상: </a:t>
            </a:r>
            <a:r>
              <a:rPr sz="2000" b="1" i="0">
                <a:solidFill>
                  <a:srgbClr val="11202B"/>
                </a:solidFill>
                <a:latin typeface="Malgun Gothic"/>
                <a:ea typeface="Malgun Gothic"/>
                <a:cs typeface="Malgun Gothic"/>
              </a:rPr>
              <a:t>벼락 두통</a:t>
            </a:r>
            <a:r>
              <a:rPr sz="2000" b="0" i="0">
                <a:solidFill>
                  <a:srgbClr val="11202B"/>
                </a:solidFill>
                <a:latin typeface="Malgun Gothic"/>
                <a:ea typeface="Malgun Gothic"/>
                <a:cs typeface="Malgun Gothic"/>
              </a:rPr>
              <a:t>(수 초 내 최고조, '인생 최악'), 구역·구토, 목 경직, 의식 저하, 경련, 안저 유리체하 출혈(테르손 증후군); 전조 출혈(sentinel bleed)이 수일–수주 전 있을 수 있음.</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진단:</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비조영 CT</a:t>
            </a:r>
            <a:r>
              <a:rPr sz="1800" b="0" i="0">
                <a:solidFill>
                  <a:srgbClr val="2E3F4C"/>
                </a:solidFill>
                <a:latin typeface="Malgun Gothic"/>
                <a:ea typeface="Malgun Gothic"/>
                <a:cs typeface="Malgun Gothic"/>
              </a:rPr>
              <a:t>: 6시간 이내 민감도 ~100%(고품질 장비·숙련 판독), 이후 감소.</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CT 음성이고 임상 의심이 높으면 </a:t>
            </a:r>
            <a:r>
              <a:rPr sz="1800" b="1" i="0">
                <a:solidFill>
                  <a:srgbClr val="2E3F4C"/>
                </a:solidFill>
                <a:latin typeface="Malgun Gothic"/>
                <a:ea typeface="Malgun Gothic"/>
                <a:cs typeface="Malgun Gothic"/>
              </a:rPr>
              <a:t>요추천자</a:t>
            </a:r>
            <a:r>
              <a:rPr sz="1800" b="0" i="0">
                <a:solidFill>
                  <a:srgbClr val="2E3F4C"/>
                </a:solidFill>
                <a:latin typeface="Malgun Gothic"/>
                <a:ea typeface="Malgun Gothic"/>
                <a:cs typeface="Malgun Gothic"/>
              </a:rPr>
              <a:t>(발병 12시간 이후 — </a:t>
            </a:r>
            <a:r>
              <a:rPr sz="1800" b="1" i="0">
                <a:solidFill>
                  <a:srgbClr val="2E3F4C"/>
                </a:solidFill>
                <a:latin typeface="Malgun Gothic"/>
                <a:ea typeface="Malgun Gothic"/>
                <a:cs typeface="Malgun Gothic"/>
              </a:rPr>
              <a:t>황색변성 xanthochromia</a:t>
            </a:r>
            <a:r>
              <a:rPr sz="1800" b="0" i="0">
                <a:solidFill>
                  <a:srgbClr val="2E3F4C"/>
                </a:solidFill>
                <a:latin typeface="Malgun Gothic"/>
                <a:ea typeface="Malgun Gothic"/>
                <a:cs typeface="Malgun Gothic"/>
              </a:rPr>
              <a:t>, 적혈구 수가 관 간 감소하지 않음) 또는 CTA.</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CTA/DSA</a:t>
            </a:r>
            <a:r>
              <a:rPr sz="1800" b="0" i="0">
                <a:solidFill>
                  <a:srgbClr val="2E3F4C"/>
                </a:solidFill>
                <a:latin typeface="Malgun Gothic"/>
                <a:ea typeface="Malgun Gothic"/>
                <a:cs typeface="Malgun Gothic"/>
              </a:rPr>
              <a:t>: 동맥류 확인; DSA 음성이면 반복(5–7%), 중뇌주위 비동맥류성 SAH는 예후 양호.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지주막하출혈(SAH)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중증도: Hunt-Hess, WFNS(의식·국소 징후), </a:t>
            </a:r>
            <a:r>
              <a:rPr sz="2200" b="1" i="0">
                <a:solidFill>
                  <a:srgbClr val="11202B"/>
                </a:solidFill>
                <a:latin typeface="Malgun Gothic"/>
                <a:ea typeface="Malgun Gothic"/>
                <a:cs typeface="Malgun Gothic"/>
              </a:rPr>
              <a:t>수정 피셔 척도</a:t>
            </a:r>
            <a:r>
              <a:rPr sz="2200" b="0" i="0">
                <a:solidFill>
                  <a:srgbClr val="11202B"/>
                </a:solidFill>
                <a:latin typeface="Malgun Gothic"/>
                <a:ea typeface="Malgun Gothic"/>
                <a:cs typeface="Malgun Gothic"/>
              </a:rPr>
              <a:t>(혈액량·뇌실내 출혈 — 혈관연축 위험 예측).</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합병증:</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DCI의 현대적 이해</a:t>
            </a:r>
            <a:r>
              <a:rPr sz="2200" b="0" i="0">
                <a:solidFill>
                  <a:srgbClr val="11202B"/>
                </a:solidFill>
                <a:latin typeface="Malgun Gothic"/>
                <a:ea typeface="Malgun Gothic"/>
                <a:cs typeface="Malgun Gothic"/>
              </a:rPr>
              <a:t>: 큰 혈관 연축만이 아니라 </a:t>
            </a:r>
            <a:r>
              <a:rPr sz="2200" b="1" i="0">
                <a:solidFill>
                  <a:srgbClr val="11202B"/>
                </a:solidFill>
                <a:latin typeface="Malgun Gothic"/>
                <a:ea typeface="Malgun Gothic"/>
                <a:cs typeface="Malgun Gothic"/>
              </a:rPr>
              <a:t>미세혈관 기능장애, 확산 탈분극, 미세혈전, 염증</a:t>
            </a:r>
            <a:r>
              <a:rPr sz="2200" b="0" i="0">
                <a:solidFill>
                  <a:srgbClr val="11202B"/>
                </a:solidFill>
                <a:latin typeface="Malgun Gothic"/>
                <a:ea typeface="Malgun Gothic"/>
                <a:cs typeface="Malgun Gothic"/>
              </a:rPr>
              <a:t>의 복합 — 연축이 없어도 DCI가 생기고 연축이 있어도 증상이 없을 수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예후: 전체 사망률 약 30–40%, 생존자의 상당수가 인지·기분·피로 후유증 → 재활·심리 지원.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지주막하출혈(SAH)</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합병증</a:t>
                      </a:r>
                    </a:p>
                  </a:txBody>
                  <a:tcPr marL="73152" marR="73152">
                    <a:solidFill>
                      <a:srgbClr val="003C71"/>
                    </a:solidFill>
                  </a:tcPr>
                </a:tc>
                <a:tc>
                  <a:txBody>
                    <a:bodyPr/>
                    <a:lstStyle/>
                    <a:p>
                      <a:r>
                        <a:rPr sz="1500" b="1" i="0">
                          <a:solidFill>
                            <a:srgbClr val="FFFFFF"/>
                          </a:solidFill>
                          <a:latin typeface="Malgun Gothic"/>
                          <a:ea typeface="Malgun Gothic"/>
                          <a:cs typeface="Malgun Gothic"/>
                        </a:rPr>
                        <a:t>시기</a:t>
                      </a:r>
                    </a:p>
                  </a:txBody>
                  <a:tcPr marL="73152" marR="73152">
                    <a:solidFill>
                      <a:srgbClr val="003C71"/>
                    </a:solidFill>
                  </a:tcPr>
                </a:tc>
                <a:tc>
                  <a:txBody>
                    <a:bodyPr/>
                    <a:lstStyle/>
                    <a:p>
                      <a:r>
                        <a:rPr sz="1500" b="1" i="0">
                          <a:solidFill>
                            <a:srgbClr val="FFFFFF"/>
                          </a:solidFill>
                          <a:latin typeface="Malgun Gothic"/>
                          <a:ea typeface="Malgun Gothic"/>
                          <a:cs typeface="Malgun Gothic"/>
                        </a:rPr>
                        <a:t>관리</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재출혈</a:t>
                      </a:r>
                    </a:p>
                  </a:txBody>
                  <a:tcPr marL="73152" marR="73152">
                    <a:solidFill>
                      <a:srgbClr val="FFFFFF"/>
                    </a:solidFill>
                  </a:tcPr>
                </a:tc>
                <a:tc>
                  <a:txBody>
                    <a:bodyPr/>
                    <a:lstStyle/>
                    <a:p>
                      <a:r>
                        <a:rPr sz="1500" b="0" i="0">
                          <a:solidFill>
                            <a:srgbClr val="11202B"/>
                          </a:solidFill>
                          <a:latin typeface="Malgun Gothic"/>
                          <a:ea typeface="Malgun Gothic"/>
                          <a:cs typeface="Malgun Gothic"/>
                        </a:rPr>
                        <a:t>첫 24시간 최대(특히 6시간 내)</a:t>
                      </a:r>
                    </a:p>
                  </a:txBody>
                  <a:tcPr marL="73152" marR="73152">
                    <a:solidFill>
                      <a:srgbClr val="FFFFFF"/>
                    </a:solidFill>
                  </a:tcPr>
                </a:tc>
                <a:tc>
                  <a:txBody>
                    <a:bodyPr/>
                    <a:lstStyle/>
                    <a:p>
                      <a:r>
                        <a:rPr sz="1500" b="1" i="0">
                          <a:solidFill>
                            <a:srgbClr val="11202B"/>
                          </a:solidFill>
                          <a:latin typeface="Malgun Gothic"/>
                          <a:ea typeface="Malgun Gothic"/>
                          <a:cs typeface="Malgun Gothic"/>
                        </a:rPr>
                        <a:t>조기 동맥류 폐색(72시간 이내)</a:t>
                      </a:r>
                      <a:r>
                        <a:rPr sz="1500" b="0" i="0">
                          <a:solidFill>
                            <a:srgbClr val="11202B"/>
                          </a:solidFill>
                          <a:latin typeface="Malgun Gothic"/>
                          <a:ea typeface="Malgun Gothic"/>
                          <a:cs typeface="Malgun Gothic"/>
                        </a:rPr>
                        <a:t>, 혈압 조절(수축기 &lt;140–160), 트라넥삼산은 단기만 고려(DISH 시험 — 전체 결과 개선 없음)</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급성 수두증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수 시간–수일</a:t>
                      </a:r>
                    </a:p>
                  </a:txBody>
                  <a:tcPr marL="73152" marR="73152">
                    <a:solidFill>
                      <a:srgbClr val="ECF1F5"/>
                    </a:solidFill>
                  </a:tcPr>
                </a:tc>
                <a:tc>
                  <a:txBody>
                    <a:bodyPr/>
                    <a:lstStyle/>
                    <a:p>
                      <a:r>
                        <a:rPr sz="1500" b="0" i="0">
                          <a:solidFill>
                            <a:srgbClr val="11202B"/>
                          </a:solidFill>
                          <a:latin typeface="Malgun Gothic"/>
                          <a:ea typeface="Malgun Gothic"/>
                          <a:cs typeface="Malgun Gothic"/>
                        </a:rPr>
                        <a:t>뇌실 외 배액</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지연성 뇌허혈(DCI)</a:t>
                      </a:r>
                    </a:p>
                  </a:txBody>
                  <a:tcPr marL="73152" marR="73152">
                    <a:solidFill>
                      <a:srgbClr val="FFFFFF"/>
                    </a:solidFill>
                  </a:tcPr>
                </a:tc>
                <a:tc>
                  <a:txBody>
                    <a:bodyPr/>
                    <a:lstStyle/>
                    <a:p>
                      <a:r>
                        <a:rPr sz="1500" b="1" i="0">
                          <a:solidFill>
                            <a:srgbClr val="11202B"/>
                          </a:solidFill>
                          <a:latin typeface="Malgun Gothic"/>
                          <a:ea typeface="Malgun Gothic"/>
                          <a:cs typeface="Malgun Gothic"/>
                        </a:rPr>
                        <a:t>4–14일</a:t>
                      </a:r>
                    </a:p>
                  </a:txBody>
                  <a:tcPr marL="73152" marR="73152">
                    <a:solidFill>
                      <a:srgbClr val="FFFFFF"/>
                    </a:solidFill>
                  </a:tcPr>
                </a:tc>
                <a:tc>
                  <a:txBody>
                    <a:bodyPr/>
                    <a:lstStyle/>
                    <a:p>
                      <a:r>
                        <a:rPr sz="1500" b="1" i="0">
                          <a:solidFill>
                            <a:srgbClr val="11202B"/>
                          </a:solidFill>
                          <a:latin typeface="Malgun Gothic"/>
                          <a:ea typeface="Malgun Gothic"/>
                          <a:cs typeface="Malgun Gothic"/>
                        </a:rPr>
                        <a:t>니모디핀 60 mg q4h 21일(경구 — 사망·불량 결과 감소, 혈관연축 자체보다 신경보호 효과)</a:t>
                      </a:r>
                      <a:r>
                        <a:rPr sz="1500" b="0" i="0">
                          <a:solidFill>
                            <a:srgbClr val="11202B"/>
                          </a:solidFill>
                          <a:latin typeface="Malgun Gothic"/>
                          <a:ea typeface="Malgun Gothic"/>
                          <a:cs typeface="Malgun Gothic"/>
                        </a:rPr>
                        <a:t>, 정상 혈량 유지, 증상 시 유도 고혈압, 혈관내 치료(동맥 내 혈관확장제·풍선 혈관성형)</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저나트륨혈증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수일</a:t>
                      </a:r>
                    </a:p>
                  </a:txBody>
                  <a:tcPr marL="73152" marR="73152">
                    <a:solidFill>
                      <a:srgbClr val="ECF1F5"/>
                    </a:solidFill>
                  </a:tcPr>
                </a:tc>
                <a:tc>
                  <a:txBody>
                    <a:bodyPr/>
                    <a:lstStyle/>
                    <a:p>
                      <a:r>
                        <a:rPr sz="1500" b="1" i="0">
                          <a:solidFill>
                            <a:srgbClr val="11202B"/>
                          </a:solidFill>
                          <a:latin typeface="Malgun Gothic"/>
                          <a:ea typeface="Malgun Gothic"/>
                          <a:cs typeface="Malgun Gothic"/>
                        </a:rPr>
                        <a:t>뇌염분소실 vs SIADH</a:t>
                      </a:r>
                      <a:r>
                        <a:rPr sz="1500" b="0" i="0">
                          <a:solidFill>
                            <a:srgbClr val="11202B"/>
                          </a:solidFill>
                          <a:latin typeface="Malgun Gothic"/>
                          <a:ea typeface="Malgun Gothic"/>
                          <a:cs typeface="Malgun Gothic"/>
                        </a:rPr>
                        <a:t> 감별(체액량) — 염분·수분 보충, 수분 제한 신중</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심장 이상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급성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신경성 심근병증(타코츠보 유사), 심전도 변화·트로포닌 상승</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경련, 감염, 혈전, 발열</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표준 관리(예방적 항경련제는 논란 — 단기만)</a:t>
                      </a:r>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클립 결찰과 코일 색전술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치료 결정은 신경외과·중재신경과 </a:t>
            </a:r>
            <a:r>
              <a:rPr sz="2200" b="1" i="0">
                <a:solidFill>
                  <a:srgbClr val="11202B"/>
                </a:solidFill>
                <a:latin typeface="Malgun Gothic"/>
                <a:ea typeface="Malgun Gothic"/>
                <a:cs typeface="Malgun Gothic"/>
              </a:rPr>
              <a:t>다학제 논의</a:t>
            </a:r>
            <a:r>
              <a:rPr sz="2200" b="0" i="0">
                <a:solidFill>
                  <a:srgbClr val="11202B"/>
                </a:solidFill>
                <a:latin typeface="Malgun Gothic"/>
                <a:ea typeface="Malgun Gothic"/>
                <a:cs typeface="Malgun Gothic"/>
              </a:rPr>
              <a:t>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클립 결찰과 코일 색전술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txBody>
                  <a:tcPr marL="73152" marR="73152">
                    <a:solidFill>
                      <a:srgbClr val="003C71"/>
                    </a:solidFill>
                  </a:tcPr>
                </a:tc>
                <a:tc>
                  <a:txBody>
                    <a:bodyPr/>
                    <a:lstStyle/>
                    <a:p>
                      <a:r>
                        <a:rPr sz="1500" b="1" i="0">
                          <a:solidFill>
                            <a:srgbClr val="FFFFFF"/>
                          </a:solidFill>
                          <a:latin typeface="Malgun Gothic"/>
                          <a:ea typeface="Malgun Gothic"/>
                          <a:cs typeface="Malgun Gothic"/>
                        </a:rPr>
                        <a:t>개두술 클립 결찰</a:t>
                      </a:r>
                    </a:p>
                  </a:txBody>
                  <a:tcPr marL="73152" marR="73152">
                    <a:solidFill>
                      <a:srgbClr val="003C71"/>
                    </a:solidFill>
                  </a:tcPr>
                </a:tc>
                <a:tc>
                  <a:txBody>
                    <a:bodyPr/>
                    <a:lstStyle/>
                    <a:p>
                      <a:r>
                        <a:rPr sz="1500" b="1" i="0">
                          <a:solidFill>
                            <a:srgbClr val="FFFFFF"/>
                          </a:solidFill>
                          <a:latin typeface="Malgun Gothic"/>
                          <a:ea typeface="Malgun Gothic"/>
                          <a:cs typeface="Malgun Gothic"/>
                        </a:rPr>
                        <a:t>혈관내 코일 색전술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접근</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수술적 노출 후 경부 클립</a:t>
                      </a:r>
                    </a:p>
                  </a:txBody>
                  <a:tcPr marL="73152" marR="73152">
                    <a:solidFill>
                      <a:srgbClr val="FFFFFF"/>
                    </a:solidFill>
                  </a:tcPr>
                </a:tc>
                <a:tc>
                  <a:txBody>
                    <a:bodyPr/>
                    <a:lstStyle/>
                    <a:p>
                      <a:r>
                        <a:rPr sz="1500" b="0" i="0">
                          <a:solidFill>
                            <a:srgbClr val="11202B"/>
                          </a:solidFill>
                          <a:latin typeface="Malgun Gothic"/>
                          <a:ea typeface="Malgun Gothic"/>
                          <a:cs typeface="Malgun Gothic"/>
                        </a:rPr>
                        <a:t>대퇴·요골 동맥 경유 카테터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근거</a:t>
                      </a:r>
                    </a:p>
                  </a:txBody>
                  <a:tcPr marL="73152" marR="73152">
                    <a:solidFill>
                      <a:srgbClr val="ECF1F5"/>
                    </a:solidFill>
                  </a:tcPr>
                </a:tc>
                <a:tc>
                  <a:txBody>
                    <a:bodyPr/>
                    <a:lstStyle/>
                    <a:p>
                      <a:r>
                        <a:rPr sz="1500" b="0" i="0">
                          <a:solidFill>
                            <a:srgbClr val="11202B"/>
                          </a:solidFill>
                          <a:latin typeface="Malgun Gothic"/>
                          <a:ea typeface="Malgun Gothic"/>
                          <a:cs typeface="Malgun Gothic"/>
                        </a:rPr>
                        <a:t>ISAT: </a:t>
                      </a:r>
                      <a:r>
                        <a:rPr sz="1500" b="1" i="0">
                          <a:solidFill>
                            <a:srgbClr val="11202B"/>
                          </a:solidFill>
                          <a:latin typeface="Malgun Gothic"/>
                          <a:ea typeface="Malgun Gothic"/>
                          <a:cs typeface="Malgun Gothic"/>
                        </a:rPr>
                        <a:t>코일군의 1년 사망·의존 위험이 유의하게 낮음</a:t>
                      </a:r>
                      <a:r>
                        <a:rPr sz="1500" b="0" i="0">
                          <a:solidFill>
                            <a:srgbClr val="11202B"/>
                          </a:solidFill>
                          <a:latin typeface="Malgun Gothic"/>
                          <a:ea typeface="Malgun Gothic"/>
                          <a:cs typeface="Malgun Gothic"/>
                        </a:rPr>
                        <a:t>(23.5% vs 30.9%); 장기 추적에서 재출혈은 코일에서 약간 많으나 생존 이득 유지</a:t>
                      </a:r>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선호 상황</a:t>
                      </a:r>
                    </a:p>
                  </a:txBody>
                  <a:tcPr marL="73152" marR="73152">
                    <a:solidFill>
                      <a:srgbClr val="FFFFFF"/>
                    </a:solidFill>
                  </a:tcPr>
                </a:tc>
                <a:tc>
                  <a:txBody>
                    <a:bodyPr/>
                    <a:lstStyle/>
                    <a:p>
                      <a:r>
                        <a:rPr sz="1500" b="0" i="0">
                          <a:solidFill>
                            <a:srgbClr val="11202B"/>
                          </a:solidFill>
                          <a:latin typeface="Malgun Gothic"/>
                          <a:ea typeface="Malgun Gothic"/>
                          <a:cs typeface="Malgun Gothic"/>
                        </a:rPr>
                        <a:t>넓은 경부·분지 침범, 큰 혈종 동반(동시 제거), 중대뇌동맥 동맥류, 젊은 환자</a:t>
                      </a:r>
                    </a:p>
                  </a:txBody>
                  <a:tcPr marL="73152" marR="73152">
                    <a:solidFill>
                      <a:srgbClr val="FFFFFF"/>
                    </a:solidFill>
                  </a:tcPr>
                </a:tc>
                <a:tc>
                  <a:txBody>
                    <a:bodyPr/>
                    <a:lstStyle/>
                    <a:p>
                      <a:r>
                        <a:rPr sz="1500" b="0" i="0">
                          <a:solidFill>
                            <a:srgbClr val="11202B"/>
                          </a:solidFill>
                          <a:latin typeface="Malgun Gothic"/>
                          <a:ea typeface="Malgun Gothic"/>
                          <a:cs typeface="Malgun Gothic"/>
                        </a:rPr>
                        <a:t>후순환(기저동맥 끝), 좁은 경부, 고령·동반질환, 수술 접근 어려운 위치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보조 기술</a:t>
                      </a:r>
                    </a:p>
                  </a:txBody>
                  <a:tcPr marL="73152" marR="73152">
                    <a:solidFill>
                      <a:srgbClr val="ECF1F5"/>
                    </a:solidFill>
                  </a:tcPr>
                </a:tc>
                <a:tc>
                  <a:txBody>
                    <a:bodyPr/>
                    <a:lstStyle/>
                    <a:p>
                      <a:r>
                        <a:rPr sz="1500" b="0" i="0">
                          <a:solidFill>
                            <a:srgbClr val="11202B"/>
                          </a:solidFill>
                          <a:latin typeface="Malgun Gothic"/>
                          <a:ea typeface="Malgun Gothic"/>
                          <a:cs typeface="Malgun Gothic"/>
                        </a:rPr>
                        <a:t>우회술(bypass), 임시 클립</a:t>
                      </a:r>
                    </a:p>
                  </a:txBody>
                  <a:tcPr marL="73152" marR="73152">
                    <a:solidFill>
                      <a:srgbClr val="ECF1F5"/>
                    </a:solidFill>
                  </a:tcPr>
                </a:tc>
                <a:tc>
                  <a:txBody>
                    <a:bodyPr/>
                    <a:lstStyle/>
                    <a:p>
                      <a:r>
                        <a:rPr sz="1500" b="0" i="0">
                          <a:solidFill>
                            <a:srgbClr val="11202B"/>
                          </a:solidFill>
                          <a:latin typeface="Malgun Gothic"/>
                          <a:ea typeface="Malgun Gothic"/>
                          <a:cs typeface="Malgun Gothic"/>
                        </a:rPr>
                        <a:t>스텐트 보조·풍선 보조, </a:t>
                      </a:r>
                      <a:r>
                        <a:rPr sz="1500" b="1" i="0">
                          <a:solidFill>
                            <a:srgbClr val="11202B"/>
                          </a:solidFill>
                          <a:latin typeface="Malgun Gothic"/>
                          <a:ea typeface="Malgun Gothic"/>
                          <a:cs typeface="Malgun Gothic"/>
                        </a:rPr>
                        <a:t>혈류 전환 스텐트</a:t>
                      </a:r>
                      <a:r>
                        <a:rPr sz="1500" b="0" i="0">
                          <a:solidFill>
                            <a:srgbClr val="11202B"/>
                          </a:solidFill>
                          <a:latin typeface="Malgun Gothic"/>
                          <a:ea typeface="Malgun Gothic"/>
                          <a:cs typeface="Malgun Gothic"/>
                        </a:rPr>
                        <a:t>(거대·방추형 — 항혈소판 필요), 코일 내 장치(WEB)</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추적</a:t>
                      </a:r>
                    </a:p>
                  </a:txBody>
                  <a:tcPr marL="73152" marR="73152">
                    <a:solidFill>
                      <a:srgbClr val="FFFFFF"/>
                    </a:solidFill>
                  </a:tcPr>
                </a:tc>
                <a:tc>
                  <a:txBody>
                    <a:bodyPr/>
                    <a:lstStyle/>
                    <a:p>
                      <a:r>
                        <a:rPr sz="1500" b="0" i="0">
                          <a:solidFill>
                            <a:srgbClr val="11202B"/>
                          </a:solidFill>
                          <a:latin typeface="Malgun Gothic"/>
                          <a:ea typeface="Malgun Gothic"/>
                          <a:cs typeface="Malgun Gothic"/>
                        </a:rPr>
                        <a:t>영상 추적 적음</a:t>
                      </a:r>
                    </a:p>
                  </a:txBody>
                  <a:tcPr marL="73152" marR="73152">
                    <a:solidFill>
                      <a:srgbClr val="FFFFFF"/>
                    </a:solidFill>
                  </a:tcPr>
                </a:tc>
                <a:tc>
                  <a:txBody>
                    <a:bodyPr/>
                    <a:lstStyle/>
                    <a:p>
                      <a:r>
                        <a:rPr sz="1500" b="0" i="0">
                          <a:solidFill>
                            <a:srgbClr val="11202B"/>
                          </a:solidFill>
                          <a:latin typeface="Malgun Gothic"/>
                          <a:ea typeface="Malgun Gothic"/>
                          <a:cs typeface="Malgun Gothic"/>
                        </a:rPr>
                        <a:t>재개통 가능 — MRA·DSA 추적 필요</a:t>
                      </a:r>
                    </a:p>
                  </a:txBody>
                  <a:tcPr marL="73152" marR="7315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뇌동정맥 기형·해면상 기형·경동맥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뇌동정맥 기형(AVM)</a:t>
            </a:r>
            <a:r>
              <a:rPr sz="2000" b="0" i="0">
                <a:solidFill>
                  <a:srgbClr val="11202B"/>
                </a:solidFill>
                <a:latin typeface="Malgun Gothic"/>
                <a:ea typeface="Malgun Gothic"/>
                <a:cs typeface="Malgun Gothic"/>
              </a:rPr>
              <a:t>: 모세혈관 없이 동맥-정맥 직접 연결(nidus) — 출혈(연 2–4%, 이전 출혈·심부 위치·심부 정맥 배액·동맥류 동반 시 증가), 경련, 두통.</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ARUBA 시험</a:t>
            </a:r>
            <a:r>
              <a:rPr sz="1800" b="0" i="0">
                <a:solidFill>
                  <a:srgbClr val="2E3F4C"/>
                </a:solidFill>
                <a:latin typeface="Malgun Gothic"/>
                <a:ea typeface="Malgun Gothic"/>
                <a:cs typeface="Malgun Gothic"/>
              </a:rPr>
              <a:t>: 비파열 AVM에서 </a:t>
            </a:r>
            <a:r>
              <a:rPr sz="1800" b="1" i="0">
                <a:solidFill>
                  <a:srgbClr val="2E3F4C"/>
                </a:solidFill>
                <a:latin typeface="Malgun Gothic"/>
                <a:ea typeface="Malgun Gothic"/>
                <a:cs typeface="Malgun Gothic"/>
              </a:rPr>
              <a:t>내과적 관리가 중재(수술·색전·방사선)보다 결과가 좋았다</a:t>
            </a:r>
            <a:r>
              <a:rPr sz="1800" b="0" i="0">
                <a:solidFill>
                  <a:srgbClr val="2E3F4C"/>
                </a:solidFill>
                <a:latin typeface="Malgun Gothic"/>
                <a:ea typeface="Malgun Gothic"/>
                <a:cs typeface="Malgun Gothic"/>
              </a:rPr>
              <a:t> → 비파열 AVM의 적극적 치료는 신중히(시험 설계 비판도 존재).</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치료: 미세수술 절제(Spetzler-Martin 등급), 색전술(보조), 정위 방사선수술(작은 병변, 효과까지 2–3년).</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유전성 출혈성 모세혈관확장증(ENG, ACVRL1) 동반 가능.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뇌동정맥 기형·해면상 기형·경동맥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해면상 기형</a:t>
            </a:r>
            <a:r>
              <a:rPr sz="1800" b="0" i="0">
                <a:solidFill>
                  <a:srgbClr val="11202B"/>
                </a:solidFill>
                <a:latin typeface="Malgun Gothic"/>
                <a:ea typeface="Malgun Gothic"/>
                <a:cs typeface="Malgun Gothic"/>
              </a:rPr>
              <a:t>: 저유량 — 반복 미세출혈·경련; MRI 'popcorn' 병변·GRE/SWI 민감; 가족성(CCM1/KRIT1, CCM2, PDCD10) — 다발 병변; 증상성·접근 가능 병변은 절제, 방사선은 제한적.</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경동맥 협착</a:t>
            </a:r>
            <a:r>
              <a:rPr sz="1800" b="0" i="0">
                <a:solidFill>
                  <a:srgbClr val="11202B"/>
                </a:solidFill>
                <a:latin typeface="Malgun Gothic"/>
                <a:ea typeface="Malgun Gothic"/>
                <a:cs typeface="Malgun Gothic"/>
              </a:rPr>
              <a:t>: 증상성 70–99%는 혈관내막절제술(CEA; 14일 이내 시행 이득 최대) 또는 스텐트(CAS — 젊은·수술 고위험); 무증상 협착은 최적 약물치료(고강도 스타틴·항혈소판·혈압·금연)와 비교해 이득이 줄어드는 추세(CREST-2 결과 대기).</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경동맥·추골동맥 박리</a:t>
            </a:r>
            <a:r>
              <a:rPr sz="1800" b="0" i="0">
                <a:solidFill>
                  <a:srgbClr val="11202B"/>
                </a:solidFill>
                <a:latin typeface="Malgun Gothic"/>
                <a:ea typeface="Malgun Gothic"/>
                <a:cs typeface="Malgun Gothic"/>
              </a:rPr>
              <a:t>: 젊은 뇌졸중의 흔한 원인, 통증·호르너·박동성 이명 → 항혈소판 또는 항응고(CADISS·TREAT-CAD — 대체로 동등).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뇌동정맥 기형·해면상 기형·경동맥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모야모야병(RNF213 — 동아시아): 진행성 내경동맥 말단 협착 + 측부 혈관 → 소아 허혈·성인 출혈 → </a:t>
            </a:r>
            <a:r>
              <a:rPr sz="2200" b="1" i="0">
                <a:solidFill>
                  <a:srgbClr val="11202B"/>
                </a:solidFill>
                <a:latin typeface="Malgun Gothic"/>
                <a:ea typeface="Malgun Gothic"/>
                <a:cs typeface="Malgun Gothic"/>
              </a:rPr>
              <a:t>우회 수술</a:t>
            </a:r>
            <a:r>
              <a:rPr sz="2200" b="0" i="0">
                <a:solidFill>
                  <a:srgbClr val="11202B"/>
                </a:solidFill>
                <a:latin typeface="Malgun Gothic"/>
                <a:ea typeface="Malgun Gothic"/>
                <a:cs typeface="Malgun Gothic"/>
              </a:rPr>
              <a:t>(직접 STA-MCA, 간접).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동맥류 벽 염증의 영상화(혈관벽 MRI 조영 증강)가 파열 위험 평가의 보조 지표로 연구되고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DCI의 다요인 기전에 근거해 확산 탈분극 감시, 미세혈전·염증 표적(클라즈센타주맙 — 결과 혼재) 치료가 탐색된다.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혈류 전환 스텐트와 코일 내 장치의 발전으로 과거 수술이 필요했던 복잡 동맥류의 혈관내 치료 범위가 넓어지고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뇌동맥류는 분지부에 생기며 크기·위치·모양·집단에 따라 파열 위험이 다르고 PHASES 등으로 평가한다.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SAH는 6시간 내 CT가 매우 민감하고 음성 시 요추천자 황색변성으로 확인하며, 조기 동맥류 폐색이 재출혈을 막는다.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지연성 뇌허혈은 4–14일에 발생하며 니모디핀이 결과를 개선하고 DCI는 연축 외 다요인 기전을 가진다.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ISAT 이후 적합한 동맥류는 코일 색전술이 선호되나 위치·형태·연령에 따라 클립 결찰이 유리할 수 있다.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비파열 AVM은 ARUBA 이후 보존적 관리가 우선 고려되며 해면상 기형·경동맥 질환·모야모야는 각각의 치료 원칙이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벼락 두통 환자의 발병 3시간 뒤 CT가 정상이었다. 다음 단계는?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발병 6시간 이내의 비조영 CT는 민감도가 매우 높아 음성이면 SAH 가능성이 크게 낮아진다. 그러나 임상 의심이 높으면 CTA를 시행하거나, 발병 12시간 이후 요추천자로 황색변성과 적혈구 수의 비감소를 확인한다. 또한 경동맥 박리, 가역적 뇌혈관 수축 증후군, 정맥동 혈전증 등 다른 벼락 두통 원인도 평가한다.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지주막하출혈 환자에게 니모디핀을 투여하는 이유와 흔한 부작용은?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니모디핀은 경구 투여 시 사망과 불량한 신경학적 결과를 줄이는 유일한 약물로, 혈관 조영상 연축 자체보다는 미세순환 보호·신경보호 효과로 설명된다. 21일간 4시간마다 투여하며 저혈압이 가장 흔한 부작용이므로 혈압을 모니터링하고 필요 시 용량을 나눠 투여한다.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SAH 후 저나트륨혈증에서 뇌염분소실과 SIADH를 구분해야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두 질환의 치료가 정반대이기 때문이다. 뇌염분소실은 체액량이 감소한 상태로 염분과 수분을 보충해야 하고, 수분 제한을 하면 혈량 감소로 지연성 뇌허혈 위험이 커진다. SIADH는 체액량이 정상·증가한 상태로 수분 제한이 원칙이지만, SAH 환자에서는 혈량 감소를 피해야 하므로 고장성 식염수 등 신중한 접근이 필요하다.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비파열 뇌동정맥 기형에서 ARUBA 시험 이후 치료 방침이 어떻게 바뀌었는가?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비파열 AVM 환자에서 중재적 치료(수술·색전술·방사선수술)군의 뇌졸중·사망 위험이 내과적 관리군보다 높게 나타나, 무증상·비파열 AVM에 대한 예방적 중재는 일반적으로 권고되지 않게 되었다. 다만 추적 기간이 짧고 치료 방법이 혼합되었다는 비판이 있어, 개별 환자의 출혈 위험(동맥류 동반, 심부 정맥 배액 등)과 기대 수명을 고려한 다학제 결정이 필요하다.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Connolly ES et al. Guidelines for the management of aneurysmal subarachnoid hemorrhage. Stroke 2012 / Hoh BL et al. 2023 Guideline. Stroke 2023;54:e314–e370.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Molyneux A et al. International Subarachnoid Aneurysm Trial (ISAT). Lancet 2002;360:1267–1274.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Macdonald RL. Delayed neurological deterioration after subarachnoid haemorrhage. Nat Rev Neurol 2014;10:44–58.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B09-L07  ·  뇌동맥류, 지주막하출혈과 뇌혈관 수술</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Mohr JP et al. Medical management with or without interventional therapy for unruptured brain AVMs (ARUBA). Lancet 2014;383:614–621.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Greving JP et al. Development of the PHASES score for prediction of risk of rupture of intracranial aneurysms. Lancet Neurol 2014;13:59–66.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