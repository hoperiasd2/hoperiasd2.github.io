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(1) 종양 돌연변이 부담이 낮아 인식 가능한 신생항원이 적다. (2) T세포 침윤이 적고 소진되어 있으며 골수에 격리되는 현상이 있다. (3) 종양 연관 대식세포·미세아교세포, 조절 T세포, TGF-β·IDO1·아데노신 등 강력한 면역 억제 환경이 존재하며, 부종 조절을 위한 스테로이드가 림프구 기능을 더 떨어뜨린다.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림프종 세포는 스테로이드에 매우 민감해 투여 후 수일 내 병변이 현저히 작아지거나 사라질 수 있다('사라지는 종양'). 그러면 생검 조직에서 진단이 불가능해져 치료가 지연된다. 따라서 가능하면 스테로이드 투여 전에 조직 진단을 먼저 시행한다.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조영 증강 부위 밖의 FLAIR 이상 영역에는 이미 침윤한 종양 세포가 존재하지만 이 부위의 혈액뇌장벽은 비교적 온전해 전신 투여 약물이 충분히 도달하지 않는다. 또한 수술로 모든 침윤 세포를 제거할 수 없고, 종양 세포가 신경세포·서로와 네트워크를 이루며 생존하기 때문이다.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5-아미노레불린산은 헴 합성 경로의 전구체로, 고등급 신경교종 세포는 페로킬라타아제 활성이 낮고 흡수가 많아 형광성 프로토포르피린 IX이 선택적으로 축적된다. 청색광 조사 시 종양 조직이 붉은 형광을 내므로 절제 범위를 실시간으로 넓혀 완전 절제율과 무진행 생존을 향상시킨다.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B09 신경면역학과 신경외과  ·  신경종양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뇌종양 개관과 종양 미세환경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Overview of Brain Tumors and the Tumor Microenvironment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B09-L02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B09-L02  ·  뇌종양 개관과 종양 미세환경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원발성 뇌종양의 분류와 역학, 임상 양상을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뇌종양의 면역 미세환경('차가운 종양')의 특징을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종양 연관 대식세포·미세아교세포의 역할을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혈액뇌장벽·혈액종양장벽이 치료에 미치는 영향을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영상 진단과 수술 원칙(최대 안전 절제)을 설명한다.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B09-L02  ·  뇌종양 개관과 종양 미세환경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분류와 역학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뇌종양 면역 미세환경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혈액뇌장벽과 혈액종양장벽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진단과 수술 원칙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분류와 역학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B09-L02  ·  뇌종양 개관과 종양 미세환경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원발성 중추신경계 종양 연간 발생률 약 20–25/10만(악성 약 7).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임상: 두통(야간·아침, 자세 변화),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새로 발생한 성인 경련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(저등급 종양에서 흔함), 국소 신경 결손, 인지·성격 변화, ICP 증상.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위험 인자: 유일하게 확립된 환경 요인은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전리방사선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; 유전 증후군(NF1/2, TSC, 리-프라우메니, 린치, VHL, 고린, 터콧, DICER1); 휴대전화 사용은 대규모 코호트에서 연관 없음.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분류와 역학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B09-L02  ·  뇌종양 개관과 종양 미세환경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종양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비고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신경교종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(성인 미만성 신경교종)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교모세포종(IDH 야생형), 별아교세포종·희소돌기아교세포종(IDH 변이) — B09 L05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수막종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가장 흔한 원발 두개내 종양(약 40%), 대부분 양성(WHO 1등급), 여성 2배, 수용체 — 프로게스테론; NF2, TRAF7, AKT1, SMO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뇌하수체 선종(현재 '뇌하수체 신경내분비종양')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기능성(프로락틴·GH·ACTH)·비기능성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신경초종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전정 신경초종 (B06 L10)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중추신경계 림프종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면역저하·고령 증가, 메토트렉세이트 기반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소아 종양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수모세포종(4개 분자 아군), 모양세포성 별아교세포종(BRAF 융합 — 치유 가능), 뇌실막종, 미만성 정중선 신경교종(H3 K27M), AT/RT(SMARCB1)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전이성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원발 뇌종양보다 훨씬 흔함(폐·유방·흑색종·신장·대장) — B09 L04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뇌종양 면역 미세환경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B09-L02  ·  뇌종양 개관과 종양 미세환경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중추신경계는 면역 특권적 환경(B08 L02) + 종양 자체의 면역 억제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'차가운(cold) 종양'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T세포 침윤이 적고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소진(exhaustion) 표현형, 골수에 T세포가 격리(S1P1 하향 — 'T세포 골수 포획').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종양 돌연변이 부담(TMB)이 낮음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(흑색종·폐암과 대조) → 신생항원 적음.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면역 억제 세포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종양 연관 대식세포·미세아교세포(TAM — 종양 질량의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30–50%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), 골수 유래 억제세포, 조절 T세포.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억제 분자: PD-L1, IDO1(트립토판 고갈 — B01 L11), TGF-β, IL-10, 아데노신(CD39/CD73),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2-HG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(IDH 변이 — T세포 억제, B04 L12), 저산소·젖산·낮은 pH(B04 L11).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뇌종양 면역 미세환경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B09-L02  ·  뇌종양 개관과 종양 미세환경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스테로이드(덱사메타손)가 림프구를 억제해 면역치료 효과를 떨어뜨린다 —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면역치료 시 스테로이드 최소화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TAM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교모세포종에서 미세아교세포 유래와 혈액 단핵구 유래가 공존(단일세포 분석으로 구분); 종양 촉진(혈관신생, 침윤, 면역 억제) 기능 우세 → CSF1R 억제(동물에서 효과, 사람 1상 제한적), CD47–SIRPα('먹지 마' 신호) 차단.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혈관: 비정상 신생혈관(VEGF 과다) → 누출·저산소·불균일 관류 → 약물 전달 불량, 면역세포 유입 장애; '혈관 정상화' 개념.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혈액뇌장벽과 혈액종양장벽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B09-L02  ·  뇌종양 개관과 종양 미세환경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종양 중심부는 장벽이 부분적으로 붕괴(조영 증강)되나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침윤성 가장자리는 장벽이 온전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해 약물이 도달하지 않는다 → 재발이 가장자리에서 일어나는 이유.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극복 전략: 집속 초음파 + 미세기포(일시적 개방), 대류 강화 전달(CED — 종양 내 직접 주입), 레이저 간질 열치료 후 일시적 투과성 증가, 지질 친화성 약물·소분자, 항체-약물 결합체, 세포 치료(T세포는 능동 이동), 유출 펌프 억제.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약물 선택에 영향: 테모졸로마이드(BBB 통과 양호), 베바시주맙(혈관 표적 — 부종 감소), 표적 약물의 CNS 침투성(예: ALK 억제제 로라티닙, EGFR 오시머티닙은 CNS 활성 우수).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진단과 수술 원칙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B09-L02  ·  뇌종양 개관과 종양 미세환경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영상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MRI(T1 조영 — 고등급 괴사성 고리 증강, FLAIR — 침윤·부종), 관류(상대적 뇌혈액량), MR 분광(콜린↑·NAA↓, 2-HG — IDH), 아미노산 PET(FET·메티오닌 — 종양 vs 치료 변화), 기능 MRI·트랙토그래피(수술 계획).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감별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농양(DWI 확산 제한), 탈수초 가성종양(불완전 고리 증강), 림프종(균질 증강·스테로이드에 '사라짐' — 생검 전 스테로이드 피함), 전이(다발·회백질-백질 경계), 혈관 기형.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수술 원칙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최대 안전 절제(maximal safe resection)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절제 정도가 생존과 상관(교모세포종·저등급 신경교종) — 조영 증강 부위를 넘어 FLAIR 이상까지 절제(초전절제)가 더 나은 생존과 연관.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진단과 수술 원칙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B09-L02  ·  뇌종양 개관과 종양 미세환경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2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보조 기술: </a:t>
            </a:r>
            <a:r>
              <a:rPr sz="20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5-ALA 형광 유도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(프로토포르피린 IX — 고등급 신경교종 절제율 향상), 수술 중 MRI·초음파, 신경항법, </a:t>
            </a:r>
            <a:r>
              <a:rPr sz="20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각성 수술 + 피질·피질하 자극 지도화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(언어·운동 보존), 체성감각·운동 유발전위 감시.</a:t>
            </a:r>
          </a:p>
          <a:p>
            <a:pPr lvl="1">
              <a:spcAft>
                <a:spcPts val="400"/>
              </a:spcAft>
            </a:pPr>
            <a:r>
              <a:rPr sz="2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생검: 심부·다발·수술 불가 위치 — 정위 생검(진단 수율 95% 이상).</a:t>
            </a:r>
          </a:p>
          <a:p>
            <a:pPr lvl="1">
              <a:spcAft>
                <a:spcPts val="400"/>
              </a:spcAft>
            </a:pPr>
            <a:r>
              <a:rPr sz="2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수술 후: 48–72시간 내 MRI(잔존 종양 평가), 조기 재활, 항경련·스테로이드 감량.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B09-L02  ·  뇌종양 개관과 종양 미세환경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단일세포·공간 전사체로 교모세포종의 세포 상태(신경 전구·희소돌기 전구·중간엽·성상세포 유사)와 미세환경 상호작용이 지도화되어, 치료 저항의 세포적 기반이 드러나고 있다.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종양-신경 상호작용('cancer neuroscience'): 신경세포가 교종 세포와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기능적 시냅스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를 형성해 성장을 촉진하고(Venkatesh 2019, Venkataramani 2019), 종양 세포는 종양 미세관(tumor microtube) 네트워크로 연결된다 → 항경련제·시냅스 표적 치료 재조명.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수술 중 신속 분자 진단(나노포어 메틸화 분류 — 40분 내)이 절제 범위·보조 치료 결정을 실시간으로 바꾸고 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B09-L02  ·  뇌종양 개관과 종양 미세환경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뇌종양은 신경교종·수막종·전이 등으로 나뉘며 성인의 새 발작과 진행성 국소 징후가 주요 임상 단서이다.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뇌종양 미세환경은 T세포 침윤이 적고 TAM이 풍부한 '차가운' 면역 환경이며 TMB가 낮다.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종양 연관 대식세포·미세아교세포는 종양 질량의 상당 부분을 차지하며 면역 억제와 침윤을 돕는다.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침윤성 가장자리의 온전한 혈액뇌장벽이 약물 전달의 핵심 장애이며 초음파·CED 등 극복 전략이 연구된다.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치료의 기본은 최대 안전 절제이며 5-ALA 형광, 각성 수술, 신경 감시가 이를 돕는다.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B09-L02  ·  뇌종양 개관과 종양 미세환경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교모세포종이 면역관문억제제에 잘 반응하지 않는 이유를 세 가지 들라.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(1) 종양 돌연변이 부담이 낮아 인식 가능한 신생항원이 적다. (2) T세포 침윤이 적고 소진되어 있으며 골수에 격리되는 현상이 있다. (3) 종양 연관 대식세포·미세아교세포, 조절 T세포, TGF-β·IDO1·아데노신 등 강력한 면역 억제 환경이 존재하며, 부종 조절을 위한 스테로이드가 림프구 기능을 더 떨어뜨린다.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B09-L02  ·  뇌종양 개관과 종양 미세환경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중추신경계 림프종이 의심될 때 생검 전에 스테로이드를 피해야 하는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림프종 세포는 스테로이드에 매우 민감해 투여 후 수일 내 병변이 현저히 작아지거나 사라질 수 있다('사라지는 종양'). 그러면 생검 조직에서 진단이 불가능해져 치료가 지연된다. 따라서 가능하면 스테로이드 투여 전에 조직 진단을 먼저 시행한다.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B09-L02  ·  뇌종양 개관과 종양 미세환경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교모세포종 재발이 주로 절제연 주변에서 일어나는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조영 증강 부위 밖의 FLAIR 이상 영역에는 이미 침윤한 종양 세포가 존재하지만 이 부위의 혈액뇌장벽은 비교적 온전해 전신 투여 약물이 충분히 도달하지 않는다. 또한 수술로 모든 침윤 세포를 제거할 수 없고, 종양 세포가 신경세포·서로와 네트워크를 이루며 생존하기 때문이다.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B09-L02  ·  뇌종양 개관과 종양 미세환경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5-ALA 형광 유도 수술의 원리는?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5-아미노레불린산은 헴 합성 경로의 전구체로, 고등급 신경교종 세포는 페로킬라타아제 활성이 낮고 흡수가 많아 형광성 프로토포르피린 IX이 선택적으로 축적된다. 청색광 조사 시 종양 조직이 붉은 형광을 내므로 절제 범위를 실시간으로 넓혀 완전 절제율과 무진행 생존을 향상시킨다.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B09-L02  ·  뇌종양 개관과 종양 미세환경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Louis DN et al. The 2021 WHO Classification of Tumors of the Central Nervous System. Neuro Oncol 2021;23:1231–1251.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Quail DF, Joyce JA. The microenvironmental landscape of brain tumors. Cancer Cell 2017;31:326–341.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Sampson JH et al. Brain immunology and immunotherapy in brain tumours. Nat Rev Cancer 2020;20:12–25.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B09-L02  ·  뇌종양 개관과 종양 미세환경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Stummer W et al. Fluorescence-guided surgery with 5-aminolevulinic acid for resection of malignant glioma. Lancet Oncol 2006;7:392–401.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Venkatesh HS et al. Electrical and synaptic integration of glioma into neural circuits. Nature 2019;573:539–545.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