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notesMaster" Target="notesMasters/notesMaster1.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다영역 비약물 개입이다. 재지남 자극, 수면-각성 리듬 유지, 조기 동원, 안경·보청기 등 감각 보조, 수분·영양, 통증 조절, 불필요한 약물(특히 벤조디아제핀·항콜린제)과 도뇨관 제거를 묶어 적용하면 발생률을 30–40% 줄인다. 예방적 항정신병약은 효과가 없고 부작용만 늘린다.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수술을 받는 노인은 이미 혈관·신경퇴행 병리와 인지 예비력 저하가 있는 경우가 많고, 수술·마취 방식을 무작위 배정한 연구에서도 장기 인지 결과 차이가 뚜렷하지 않았다. 수술과 급성 질환은 기존 취약성을 '드러내는' 계기로 작용할 가능성이 크며, 섬망 자체가 이후 인지 저하의 강력한 예측 인자이다.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장시간 금식은 인슐린 저항성과 이화 상태를 악화시키고 갈증·불편감을 늘린다. 수술 2–3시간 전까지 맑은 탄수화물 음료를 섭취하면 수술 후 인슐린 저항성과 단백 소모가 줄고 회복·재원 기간이 개선되며, 흡인 위험은 증가하지 않는 것으로 나타났다.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손상 후 피질 지도 재편과 시냅스 강화는 사용 의존적이며, 실제 수행하는 과제의 회로에서 LTP·수상돌기 가시 형성·축삭 발아가 일어난다. 동물 연구에서 의미 있는 재편에는 수백–수천 회의 반복이 필요했고, 인간 재활에서도 훈련량과 과제 관련성이 회복 정도를 좌우한다. 또한 사용하지 않으면 학습된 비사용으로 기능이 더 나빠진다.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B09 신경면역학과 신경외과  ·  수술과 면역</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수술 후 신경면역, 회복과 재활</a:t>
            </a:r>
          </a:p>
          <a:p>
            <a:r>
              <a:rPr sz="2000" b="0" i="0">
                <a:solidFill>
                  <a:srgbClr val="C2CDD6"/>
                </a:solidFill>
                <a:latin typeface="Malgun Gothic"/>
                <a:ea typeface="Malgun Gothic"/>
                <a:cs typeface="Malgun Gothic"/>
              </a:rPr>
              <a:t>Postoperative Neuroimmunology, Recovery and Rehabilitation</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B09-L12</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B09-L12  ·  수술 후 신경면역, 회복과 재활</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수술·마취가 유발하는 전신·중추 염증 반응을 설명한다.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수술 후 섬망과 신경인지 장애의 기전·예방·관리를 설명한다.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수술 스트레스 반응과 대사 변화, 강화 회복(ERAS) 원칙을 설명한다.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신경외과 환자의 재활 원리와 신경가소성 기반 접근을 설명한다.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장기 결과 평가와 완화·돌봄의 통합을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B09-L12  ·  수술 후 신경면역, 회복과 재활</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수술·마취와 신경염증</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수술 후 섬망과 인지 장애</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수술 스트레스 반응과 강화 회복</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재활과 신경가소성</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결과 평가와 돌봄 통합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수술·마취와 신경염증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B09-L12  ·  수술 후 신경면역, 회복과 재활</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조직 손상 → </a:t>
            </a:r>
            <a:r>
              <a:rPr sz="1800" b="1" i="0">
                <a:solidFill>
                  <a:srgbClr val="11202B"/>
                </a:solidFill>
                <a:latin typeface="Malgun Gothic"/>
                <a:ea typeface="Malgun Gothic"/>
                <a:cs typeface="Malgun Gothic"/>
              </a:rPr>
              <a:t>DAMP</a:t>
            </a:r>
            <a:r>
              <a:rPr sz="1800" b="0" i="0">
                <a:solidFill>
                  <a:srgbClr val="11202B"/>
                </a:solidFill>
                <a:latin typeface="Malgun Gothic"/>
                <a:ea typeface="Malgun Gothic"/>
                <a:cs typeface="Malgun Gothic"/>
              </a:rPr>
              <a:t>(HMGB1, mtDNA, ATP) → 선천면역 활성(TLR4, NLRP3) → IL-1β·IL-6·TNF 상승 → 혈액뇌장벽 투과성 증가·미세아교세포 활성 → 해마 신경가소성 저하(LTP 억제), 수면·행동 변화.</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미주신경 구심을 통한 신호 전달(염증 반사)과 체액 경로가 함께 작동.</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마취제의 영향: 흡입 마취제·프로포폴의 신경염증·가소성 효과는 모델 의존적이며 사람 임상에서 </a:t>
            </a:r>
            <a:r>
              <a:rPr sz="1800" b="1" i="0">
                <a:solidFill>
                  <a:srgbClr val="11202B"/>
                </a:solidFill>
                <a:latin typeface="Malgun Gothic"/>
                <a:ea typeface="Malgun Gothic"/>
                <a:cs typeface="Malgun Gothic"/>
              </a:rPr>
              <a:t>전신 마취와 부위 마취 간 섬망·인지 결과 차이는 대체로 작다</a:t>
            </a:r>
            <a:r>
              <a:rPr sz="1800" b="0" i="0">
                <a:solidFill>
                  <a:srgbClr val="11202B"/>
                </a:solidFill>
                <a:latin typeface="Malgun Gothic"/>
                <a:ea typeface="Malgun Gothic"/>
                <a:cs typeface="Malgun Gothic"/>
              </a:rPr>
              <a:t>(RAGA·REGAIN 등 시험).</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수술 자체(침습도·시간·출혈·수혈), 통증, 수면 분절, 부동, 약물(항콜린·벤조디아제핀·오피오이드)이 더 큰 기여 인자.</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수술·마취와 신경염증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B09-L12  ·  수술 후 신경면역, 회복과 재활</a:t>
            </a:r>
            <a:r>
              <a:rPr sz="10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신경외과 특이 요인: 두개내 조작·견인 손상, 뇌척수액 역학 변화, 스테로이드, 발작, 전해질 이상.</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수술 후 섬망과 인지 장애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B09-L12  ·  수술 후 신경면역, 회복과 재활</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수술 후 섬망(POD)</a:t>
            </a:r>
            <a:r>
              <a:rPr sz="2000" b="0" i="0">
                <a:solidFill>
                  <a:srgbClr val="11202B"/>
                </a:solidFill>
                <a:latin typeface="Malgun Gothic"/>
                <a:ea typeface="Malgun Gothic"/>
                <a:cs typeface="Malgun Gothic"/>
              </a:rPr>
              <a:t>: 수술 후 1–5일, 노인에서 발생률 10–50%(심장·고관절·신경외과에서 높음) — 주의력 저하와 변동하는 의식이 핵심(CAM-ICU·4AT로 선별).</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위험 인자: 고령, 기저 인지 저하·치매, 감각 장애, 다약제, 알코올, 중증도·응급 수술, 통증, 수면 장애, 중환자실.</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결과: 재원 연장, 합병증, 기능 저하, </a:t>
            </a:r>
            <a:r>
              <a:rPr sz="1800" b="1" i="0">
                <a:solidFill>
                  <a:srgbClr val="2E3F4C"/>
                </a:solidFill>
                <a:latin typeface="Malgun Gothic"/>
                <a:ea typeface="Malgun Gothic"/>
                <a:cs typeface="Malgun Gothic"/>
              </a:rPr>
              <a:t>장기 인지 저하·치매 위험 증가</a:t>
            </a:r>
            <a:r>
              <a:rPr sz="1800" b="0" i="0">
                <a:solidFill>
                  <a:srgbClr val="2E3F4C"/>
                </a:solidFill>
                <a:latin typeface="Malgun Gothic"/>
                <a:ea typeface="Malgun Gothic"/>
                <a:cs typeface="Malgun Gothic"/>
              </a:rPr>
              <a:t>, 사망률 증가.</a:t>
            </a:r>
          </a:p>
          <a:p>
            <a:pPr lvl="1">
              <a:spcAft>
                <a:spcPts val="400"/>
              </a:spcAft>
            </a:pPr>
            <a:r>
              <a:rPr sz="1800" b="0" i="0">
                <a:solidFill>
                  <a:srgbClr val="66788A"/>
                </a:solidFill>
                <a:latin typeface="Malgun Gothic"/>
                <a:ea typeface="Malgun Gothic"/>
                <a:cs typeface="Malgun Gothic"/>
              </a:rPr>
              <a:t>    – </a:t>
            </a:r>
            <a:r>
              <a:rPr sz="1800" b="1" i="0">
                <a:solidFill>
                  <a:srgbClr val="2E3F4C"/>
                </a:solidFill>
                <a:latin typeface="Malgun Gothic"/>
                <a:ea typeface="Malgun Gothic"/>
                <a:cs typeface="Malgun Gothic"/>
              </a:rPr>
              <a:t>예방(가장 효과적)</a:t>
            </a:r>
            <a:r>
              <a:rPr sz="1800" b="0" i="0">
                <a:solidFill>
                  <a:srgbClr val="2E3F4C"/>
                </a:solidFill>
                <a:latin typeface="Malgun Gothic"/>
                <a:ea typeface="Malgun Gothic"/>
                <a:cs typeface="Malgun Gothic"/>
              </a:rPr>
              <a:t>: 다영역 비약물 개입(HELP 프로그램 — 재지남, 조기 동원, 수면 위생, 감각 보조(안경·보청기), 수분·영양, 통증 조절, 불필요 약물·도뇨관 제거) → 발생 30–40% 감소.</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수술 후 섬망과 인지 장애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B09-L12  ·  수술 후 신경면역, 회복과 재활</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약물: </a:t>
            </a:r>
            <a:r>
              <a:rPr sz="1800" b="1" i="0">
                <a:solidFill>
                  <a:srgbClr val="2E3F4C"/>
                </a:solidFill>
                <a:latin typeface="Malgun Gothic"/>
                <a:ea typeface="Malgun Gothic"/>
                <a:cs typeface="Malgun Gothic"/>
              </a:rPr>
              <a:t>예방적 항정신병약은 권고되지 않음</a:t>
            </a:r>
            <a:r>
              <a:rPr sz="1800" b="0" i="0">
                <a:solidFill>
                  <a:srgbClr val="2E3F4C"/>
                </a:solidFill>
                <a:latin typeface="Malgun Gothic"/>
                <a:ea typeface="Malgun Gothic"/>
                <a:cs typeface="Malgun Gothic"/>
              </a:rPr>
              <a:t>(이득 없음·부작용); 덱스메데토미딘은 중환자에서 일부 이득; 심한 초조·위험 상황에서만 저용량 항정신병약 단기 사용; </a:t>
            </a:r>
            <a:r>
              <a:rPr sz="1800" b="1" i="0">
                <a:solidFill>
                  <a:srgbClr val="2E3F4C"/>
                </a:solidFill>
                <a:latin typeface="Malgun Gothic"/>
                <a:ea typeface="Malgun Gothic"/>
                <a:cs typeface="Malgun Gothic"/>
              </a:rPr>
              <a:t>벤조디아제핀은 섬망을 악화</a:t>
            </a:r>
            <a:r>
              <a:rPr sz="1800" b="0" i="0">
                <a:solidFill>
                  <a:srgbClr val="2E3F4C"/>
                </a:solidFill>
                <a:latin typeface="Malgun Gothic"/>
                <a:ea typeface="Malgun Gothic"/>
                <a:cs typeface="Malgun Gothic"/>
              </a:rPr>
              <a:t>(알코올 금단 제외).</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처방 검토: 항콜린 부담(Beers 기준 — B03 L10), 오피오이드 최소화(다중 모드 진통).</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수술 후 신경인지 장애(PND/POCD)</a:t>
            </a:r>
            <a:r>
              <a:rPr sz="2000" b="0" i="0">
                <a:solidFill>
                  <a:srgbClr val="11202B"/>
                </a:solidFill>
                <a:latin typeface="Malgun Gothic"/>
                <a:ea typeface="Malgun Gothic"/>
                <a:cs typeface="Malgun Gothic"/>
              </a:rPr>
              <a:t>: 수술 후 수주–수개월 지속되는 인지 저하 — 노화·기저 신경퇴행 병리의 '드러남'일 가능성이 크고, 수술 자체가 치매를 유발한다는 근거는 약하다; 기저 인지 선별과 회복기 평가 권장.</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수술 스트레스 반응과 강화 회복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B09-L12  ·  수술 후 신경면역, 회복과 재활</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스트레스 반응</a:t>
            </a:r>
            <a:r>
              <a:rPr sz="1800" b="0" i="0">
                <a:solidFill>
                  <a:srgbClr val="11202B"/>
                </a:solidFill>
                <a:latin typeface="Malgun Gothic"/>
                <a:ea typeface="Malgun Gothic"/>
                <a:cs typeface="Malgun Gothic"/>
              </a:rPr>
              <a:t>: 교감 활성(카테콜아민) + HPA 축(코르티솔) + 염증(IL-6) → 이화(단백 분해·고혈당·인슐린 저항성), 수분·염분 저류(ADH·알도스테론), 면역 억제(수술 후 감염 취약).</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결과: 근육 소모, 상처 치유 지연, 혈전, 감염.</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ERAS(강화 회복) 원칙</a:t>
            </a:r>
            <a:r>
              <a:rPr sz="1800" b="0" i="0">
                <a:solidFill>
                  <a:srgbClr val="11202B"/>
                </a:solidFill>
                <a:latin typeface="Malgun Gothic"/>
                <a:ea typeface="Malgun Gothic"/>
                <a:cs typeface="Malgun Gothic"/>
              </a:rPr>
              <a:t>: 수술 전 교육·금연·영양·빈혈 교정, </a:t>
            </a:r>
            <a:r>
              <a:rPr sz="1800" b="1" i="0">
                <a:solidFill>
                  <a:srgbClr val="11202B"/>
                </a:solidFill>
                <a:latin typeface="Malgun Gothic"/>
                <a:ea typeface="Malgun Gothic"/>
                <a:cs typeface="Malgun Gothic"/>
              </a:rPr>
              <a:t>장시간 금식 회피·탄수화물 음료</a:t>
            </a:r>
            <a:r>
              <a:rPr sz="1800" b="0" i="0">
                <a:solidFill>
                  <a:srgbClr val="11202B"/>
                </a:solidFill>
                <a:latin typeface="Malgun Gothic"/>
                <a:ea typeface="Malgun Gothic"/>
                <a:cs typeface="Malgun Gothic"/>
              </a:rPr>
              <a:t>, 최소 침습, 정상 체온·정상 혈량(목표 지향 수액), </a:t>
            </a:r>
            <a:r>
              <a:rPr sz="1800" b="1" i="0">
                <a:solidFill>
                  <a:srgbClr val="11202B"/>
                </a:solidFill>
                <a:latin typeface="Malgun Gothic"/>
                <a:ea typeface="Malgun Gothic"/>
                <a:cs typeface="Malgun Gothic"/>
              </a:rPr>
              <a:t>다중 모드 진통</a:t>
            </a:r>
            <a:r>
              <a:rPr sz="1800" b="0" i="0">
                <a:solidFill>
                  <a:srgbClr val="11202B"/>
                </a:solidFill>
                <a:latin typeface="Malgun Gothic"/>
                <a:ea typeface="Malgun Gothic"/>
                <a:cs typeface="Malgun Gothic"/>
              </a:rPr>
              <a:t>(오피오이드 절약 — 아세트아미노펜·NSAID·국소 마취·가바펜티노이드 선별), 구역 예방, 조기 경구 섭취·조기 동원, 도뇨관·배액관 조기 제거.</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신경외과 ERAS: 개두술·척추 수술에서 재원 단축·합병증 감소 근거 축적.</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수술 스트레스 반응과 강화 회복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B09-L12  ·  수술 후 신경면역, 회복과 재활</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대사 관리: 혈당 140–180, 스테로이드 유발 고혈당, 전해질(저나트륨 — B03 L07), 영양(조기 장관 영양), 단백 공급(1.2–1.5 g/kg — 노인·중환자).</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혈전 예방·수혈 역치·감염 번들(B09 L11).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재활과 신경가소성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B09-L12  ·  수술 후 신경면역, 회복과 재활</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원리: 손상 후 가소성은 </a:t>
            </a:r>
            <a:r>
              <a:rPr sz="1800" b="1" i="0">
                <a:solidFill>
                  <a:srgbClr val="11202B"/>
                </a:solidFill>
                <a:latin typeface="Malgun Gothic"/>
                <a:ea typeface="Malgun Gothic"/>
                <a:cs typeface="Malgun Gothic"/>
              </a:rPr>
              <a:t>시기 의존적</a:t>
            </a:r>
            <a:r>
              <a:rPr sz="1800" b="0" i="0">
                <a:solidFill>
                  <a:srgbClr val="11202B"/>
                </a:solidFill>
                <a:latin typeface="Malgun Gothic"/>
                <a:ea typeface="Malgun Gothic"/>
                <a:cs typeface="Malgun Gothic"/>
              </a:rPr>
              <a:t>(초기 수주의 '민감기' — 분자·구조 변화 활발) → 조기·충분한 강도의 과제 지향 훈련이 중요하나, 과도한 조기 부하(뇌졸중 24시간 내 고강도 동원 — AVERT)는 해로울 수 있어 균형이 필요하다.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핵심 요소: </a:t>
            </a:r>
            <a:r>
              <a:rPr sz="1800" b="1" i="0">
                <a:solidFill>
                  <a:srgbClr val="11202B"/>
                </a:solidFill>
                <a:latin typeface="Malgun Gothic"/>
                <a:ea typeface="Malgun Gothic"/>
                <a:cs typeface="Malgun Gothic"/>
              </a:rPr>
              <a:t>과제 특이성, 반복량(수백–수천 회), 강도, 난이도 점진, 환자 능동 참여, 피드백·보상</a:t>
            </a:r>
            <a:r>
              <a:rPr sz="1800" b="0" i="0">
                <a:solidFill>
                  <a:srgbClr val="11202B"/>
                </a:solidFill>
                <a:latin typeface="Malgun Gothic"/>
                <a:ea typeface="Malgun Gothic"/>
                <a:cs typeface="Malgun Gothic"/>
              </a:rPr>
              <a:t>; 학습 비사용(learned non-use) 방지(제약 유도 운동 치료).</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보조 기술: 기능적 전기자극, 로봇 보조, 가상현실·게임화, 거울 치료, 경두개 자기·직류 자극(보조적 근거), </a:t>
            </a:r>
            <a:r>
              <a:rPr sz="1800" b="1" i="0">
                <a:solidFill>
                  <a:srgbClr val="11202B"/>
                </a:solidFill>
                <a:latin typeface="Malgun Gothic"/>
                <a:ea typeface="Malgun Gothic"/>
                <a:cs typeface="Malgun Gothic"/>
              </a:rPr>
              <a:t>미주신경 자극 + 재활</a:t>
            </a:r>
            <a:r>
              <a:rPr sz="1800" b="0" i="0">
                <a:solidFill>
                  <a:srgbClr val="11202B"/>
                </a:solidFill>
                <a:latin typeface="Malgun Gothic"/>
                <a:ea typeface="Malgun Gothic"/>
                <a:cs typeface="Malgun Gothic"/>
              </a:rPr>
              <a:t>(뇌졸중 상지 — 승인), 뇌-컴퓨터 인터페이스·척수 자극(B07 L08).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재활과 신경가소성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B09-L12  ·  수술 후 신경면역, 회복과 재활</a:t>
            </a:r>
            <a:r>
              <a:rPr sz="10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영역별: 운동(보행·상지), 언어 치료(실어증 — 집중 치료가 효과), 삼킴(흡인성 폐렴 예방), 인지 재활(주의·기억 전략·보상 기법), 시야 결손 재활, 경직 관리(보툴리눔·바클로펜), 통증, 정서(우울·불안 — 회복의 주요 결정 인자), 직업·운전 복귀 평가.</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신경외과 환자 특수성: 두개 결손(헬멧·두개 성형 후 기능 개선 — 'syndrome of the trephined'), 발작 위험·약물, 션트 기능, 종양 환자의 병행 항암·방사선, 척수 손상 재활(방광·장·피부·자율).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결과 평가와 돌봄 통합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B09-L12  ·  수술 후 신경면역, 회복과 재활</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평가 도구: 수정 랭킨 척도(mRS), 글래스고 결과 척도 확장(GOSE), 바델 지수·FIM(기능), mJOA(척수), 삶의 질(EQ-5D, QOLIBRI), 인지(MoCA·상세 신경심리), 환자 보고 결과(PROM).</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환자 중심 결과</a:t>
            </a:r>
            <a:r>
              <a:rPr sz="1800" b="0" i="0">
                <a:solidFill>
                  <a:srgbClr val="11202B"/>
                </a:solidFill>
                <a:latin typeface="Malgun Gothic"/>
                <a:ea typeface="Malgun Gothic"/>
                <a:cs typeface="Malgun Gothic"/>
              </a:rPr>
              <a:t>: 생존뿐 아니라 '의미 있는 회복'(의사소통, 자립, 사회 참여)을 함께 평가 — 감압 개두술처럼 생존과 장애가 상충하는 결정에서 특히 중요(B09 L01).</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완화 의료의 조기 통합</a:t>
            </a:r>
            <a:r>
              <a:rPr sz="1800" b="0" i="0">
                <a:solidFill>
                  <a:srgbClr val="11202B"/>
                </a:solidFill>
                <a:latin typeface="Malgun Gothic"/>
                <a:ea typeface="Malgun Gothic"/>
                <a:cs typeface="Malgun Gothic"/>
              </a:rPr>
              <a:t>: 고등급 신경교종·중증 뇌졸중·진행성 신경질환에서 조기 완화 상담이 증상·삶의 질·돌봄자 부담을 개선하고 과도한 치료를 줄인다; 사전 돌봄 계획(의식 장애 가능성을 고려해 조기에).</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돌봄자 지원</a:t>
            </a:r>
            <a:r>
              <a:rPr sz="1800" b="0" i="0">
                <a:solidFill>
                  <a:srgbClr val="11202B"/>
                </a:solidFill>
                <a:latin typeface="Malgun Gothic"/>
                <a:ea typeface="Malgun Gothic"/>
                <a:cs typeface="Malgun Gothic"/>
              </a:rPr>
              <a:t>: 신경질환은 돌봄 부담이 매우 큼 — 교육, 심리 지원, 사회 자원 연계, 소진 평가.</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결과 평가와 돌봄 통합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B09-L12  ·  수술 후 신경면역, 회복과 재활</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장기 추적: 재발·수두증·내분비(B09 L08)·뇌전증·인지·기분, 재활 지속, 지역사회 복귀.</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B09-L12  ·  수술 후 신경면역, 회복과 재활</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수술 후 섬망의 예측 모델(전자의무기록·EEG 기반 뇌 취약성 지표)과 수술 전 '인지 예비력' 최적화(프리해빌리테이션)가 연구되고 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염증 반사(미주신경 자극)와 특수 전염증 해소 매개체를 이용해 수술 후 염증을 조절하려는 시도가 전임상·초기 임상에 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디지털 재활(원격·게임화·웨어러블)과 폐쇄회로 신경조절이 회복기 치료 강도를 높이는 방향으로 발전하고 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B09-L12  ·  수술 후 신경면역, 회복과 재활</a:t>
            </a:r>
            <a:r>
              <a:rPr sz="10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수술은 DAMP 매개 전신·중추 염증을 유발해 혈액뇌장벽과 해마 가소성에 영향을 준다.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수술 후 섬망은 흔하고 예후가 나쁘며, 다영역 비약물 개입이 가장 효과적이고 예방적 항정신병약은 권고되지 않는다.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수술 스트레스 반응은 이화·인슐린 저항성·면역 억제를 일으키며 ERAS 원칙이 이를 줄인다.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재활은 과제 특이적 고반복 훈련이 핵심이며 시기와 강도의 균형이 중요하다.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결과 평가는 생존을 넘어 기능·삶의 질을 포함하고 완화 의료와 돌봄자 지원을 통합해야 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B09-L12  ·  수술 후 신경면역, 회복과 재활</a:t>
            </a:r>
            <a:r>
              <a:rPr sz="1000" b="1" i="0">
                <a:solidFill>
                  <a:srgbClr val="003C71"/>
                </a:solidFill>
                <a:latin typeface="Malgun Gothic"/>
                <a:ea typeface="Malgun Gothic"/>
                <a:cs typeface="Malgun Gothic"/>
              </a:rPr>
              <a:t>     16</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고령 환자의 수술 후 섬망 예방에서 가장 근거가 강한 방법은?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다영역 비약물 개입이다. 재지남 자극, 수면-각성 리듬 유지, 조기 동원, 안경·보청기 등 감각 보조, 수분·영양, 통증 조절, 불필요한 약물(특히 벤조디아제핀·항콜린제)과 도뇨관 제거를 묶어 적용하면 발생률을 30–40% 줄인다. 예방적 항정신병약은 효과가 없고 부작용만 늘린다.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B09-L12  ·  수술 후 신경면역, 회복과 재활</a:t>
            </a:r>
            <a:r>
              <a:rPr sz="1000" b="1" i="0">
                <a:solidFill>
                  <a:srgbClr val="003C71"/>
                </a:solidFill>
                <a:latin typeface="Malgun Gothic"/>
                <a:ea typeface="Malgun Gothic"/>
                <a:cs typeface="Malgun Gothic"/>
              </a:rPr>
              <a:t>     17</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수술 후 인지 저하가 수술 자체로 치매를 일으킨다고 단정하기 어려운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수술을 받는 노인은 이미 혈관·신경퇴행 병리와 인지 예비력 저하가 있는 경우가 많고, 수술·마취 방식을 무작위 배정한 연구에서도 장기 인지 결과 차이가 뚜렷하지 않았다. 수술과 급성 질환은 기존 취약성을 '드러내는' 계기로 작용할 가능성이 크며, 섬망 자체가 이후 인지 저하의 강력한 예측 인자이다.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B09-L12  ·  수술 후 신경면역, 회복과 재활</a:t>
            </a:r>
            <a:r>
              <a:rPr sz="1000" b="1" i="0">
                <a:solidFill>
                  <a:srgbClr val="003C71"/>
                </a:solidFill>
                <a:latin typeface="Malgun Gothic"/>
                <a:ea typeface="Malgun Gothic"/>
                <a:cs typeface="Malgun Gothic"/>
              </a:rPr>
              <a:t>     18</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ERAS에서 수술 전 장시간 금식을 피하고 탄수화물 음료를 주는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장시간 금식은 인슐린 저항성과 이화 상태를 악화시키고 갈증·불편감을 늘린다. 수술 2–3시간 전까지 맑은 탄수화물 음료를 섭취하면 수술 후 인슐린 저항성과 단백 소모가 줄고 회복·재원 기간이 개선되며, 흡인 위험은 증가하지 않는 것으로 나타났다.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B09-L12  ·  수술 후 신경면역, 회복과 재활</a:t>
            </a:r>
            <a:r>
              <a:rPr sz="1000" b="1" i="0">
                <a:solidFill>
                  <a:srgbClr val="003C71"/>
                </a:solidFill>
                <a:latin typeface="Malgun Gothic"/>
                <a:ea typeface="Malgun Gothic"/>
                <a:cs typeface="Malgun Gothic"/>
              </a:rPr>
              <a:t>     19</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재활에서 '과제 특이적 고반복 훈련'이 강조되는 신경생물학적 근거는?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손상 후 피질 지도 재편과 시냅스 강화는 사용 의존적이며, 실제 수행하는 과제의 회로에서 LTP·수상돌기 가시 형성·축삭 발아가 일어난다. 동물 연구에서 의미 있는 재편에는 수백–수천 회의 반복이 필요했고, 인간 재활에서도 훈련량과 과제 관련성이 회복 정도를 좌우한다. 또한 사용하지 않으면 학습된 비사용으로 기능이 더 나빠진다.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B09-L12  ·  수술 후 신경면역, 회복과 재활</a:t>
            </a:r>
            <a:r>
              <a:rPr sz="10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Evered L et al. Recommendations for the nomenclature of cognitive change associated with anaesthesia and surgery. Anesthesiology 2018;129:872–879.</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Inouye SK, Westendorp RGJ, Saczynski JS. Delirium in elderly people. Lancet 2014;383:911–922.</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Hughes CG et al. American Society for Enhanced Recovery and Perioperative Quality Initiative joint consensus statement on postoperative delirium prevention. Anesth Analg 2020;130:1572–1590.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B09-L12  ·  수술 후 신경면역, 회복과 재활</a:t>
            </a:r>
            <a:r>
              <a:rPr sz="10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Stoffels AAF et al. / Hagan KB et al. Enhanced recovery after surgery for cranial and spine procedures: a review. J Neurosurg Anesthesiol 2016;28:394–400.</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Krakauer JW et al. Getting neurorehabilitation right: what can be learned from animal models? Neurorehabil Neural Repair 2012;26:923–931.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