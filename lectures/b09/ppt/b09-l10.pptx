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1상(비침습): 상세 발작 기술·반자동증, 장기 비디오-EEG 모니터링(발작 기록), 고해상도 뇌전증 전용 MRI(3T 프로토콜), 신경심리 검사, 정신과 평가. 2. 보조: FDG-PET(발작 간 저대사), 발작기 SPECT(SISCOM), MEG, 기능 MRI(언어·기억 편측화 — 와다 검사 대체 추세), 7T MRI·형태 분석(미세 피질 이형성 탐지 — AI 보조). 3. 2상(침습): 비침습 결과가 불일치하거나 MRI 음성일 때 — 입체뇌파(SEEG, 정위 심부 전극) 또는 경막하 격자; 발작 시작 영역과 기능 영역(피질 자극 지도화) 결정.</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레보도파에 대한 반응성이다. DBS는 레보도파가 개선하는 증상(서동·강직·진전·운동 변동)을 개선하지만, 레보도파에 반응하지 않는 증상(보행 동결의 일부, 자세 불안정, 인지 저하, 자율신경 증상)은 호전되지 않는다. 또한 치매·활동성 정신질환은 금기에 가깝고, 비전형 파킨슨증(MSA·PSP)은 효과가 없으므로 진단 재확인이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세 번째 이후 약물로 무발작에 도달할 확률은 5% 미만인 반면, 해마 경화를 동반한 측두엽 뇌전증에서 수술은 무작위 시험에서 1년 무발작률 약 60–70%로 약물 치료(0–8%)보다 압도적으로 우수하다. 수술이 늦어질수록 인지·심리사회적 손실과 SUDEP 위험이 누적되므로 조기 의뢰가 권고된다.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파킨슨병에서 베타 대역 국소장전위 진동은 증상 상태와 연동되므로, 이를 감지해 필요할 때만 자극하면 총 자극량을 줄여 구음장애·이상운동 같은 자극 관련 부작용과 배터리 소모를 줄이면서 증상 조절은 유지하거나 개선할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두개골 절개나 전극 삽입 없이 표적에 열응고 병변을 만들어 즉시 진전을 줄일 수 있고 감염·기기 합병증이 없다. 그러나 비가역적 병변이며 대개 한쪽만 시행하고(양측은 구음·보행 부작용 위험), 두개골 밀도 비율이 낮으면 충분한 온도에 도달하지 못해 적용이 제한된다. 조정 가능한 DBS와 달리 사후 조절이 불가능하다.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B09 신경면역학과 신경외과  ·  척추·기능 신경외과</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기능 신경외과: 심부뇌자극과 뇌전증 수술</a:t>
            </a:r>
          </a:p>
          <a:p>
            <a:r>
              <a:rPr sz="2000" b="0" i="0">
                <a:solidFill>
                  <a:srgbClr val="C2CDD6"/>
                </a:solidFill>
                <a:latin typeface="Malgun Gothic"/>
                <a:ea typeface="Malgun Gothic"/>
                <a:cs typeface="Malgun Gothic"/>
              </a:rPr>
              <a:t>Functional Neurosurgery: Deep Brain Stimulation and Epilepsy Surgery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B09-L10</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심부뇌자극의 기전 가설과 표적별 적응(PD, 진전, 근긴장이상)을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DBS의 환자 선택·합병증·프로그래밍 원칙을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약물 난치성 뇌전증의 정의와 수술 전 평가 과정을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절제 수술·이탈 수술·신경조절 치료의 적응과 결과를 비교한다.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집속 초음파 등 새로운 기능 신경외과 기법을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심부뇌자극(DBS)</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뇌전증 수술: 수술 전 평가</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수술 방법과 결과</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집속 초음파와 기타 기법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심부뇌자극(DBS)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기전(단일 설명 없음): 국소 억제(탈분극 차단), 축삭 활성화·역행 자극, 병적 진동(파킨슨병의 </a:t>
            </a:r>
            <a:r>
              <a:rPr sz="1800" b="1" i="0">
                <a:solidFill>
                  <a:srgbClr val="11202B"/>
                </a:solidFill>
                <a:latin typeface="Malgun Gothic"/>
                <a:ea typeface="Malgun Gothic"/>
                <a:cs typeface="Malgun Gothic"/>
              </a:rPr>
              <a:t>베타 진동 13–30 Hz</a:t>
            </a:r>
            <a:r>
              <a:rPr sz="1800" b="0" i="0">
                <a:solidFill>
                  <a:srgbClr val="11202B"/>
                </a:solidFill>
                <a:latin typeface="Malgun Gothic"/>
                <a:ea typeface="Malgun Gothic"/>
                <a:cs typeface="Malgun Gothic"/>
              </a:rPr>
              <a:t>) 교란, 네트워크 재조정, 신경가소성·신경 발생 — '정보 차단(informational lesion)' 모델.</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환자 선택(PD)</a:t>
            </a:r>
            <a:r>
              <a:rPr sz="1800" b="0" i="0">
                <a:solidFill>
                  <a:srgbClr val="11202B"/>
                </a:solidFill>
                <a:latin typeface="Malgun Gothic"/>
                <a:ea typeface="Malgun Gothic"/>
                <a:cs typeface="Malgun Gothic"/>
              </a:rPr>
              <a:t>: 레보도파 반응이 좋고, 운동 변동·이상운동증이 약물로 조절되지 않으며, 인지가 비교적 보존되고(치매는 금기), 활동성 정신질환이 없고, 기대가 현실적인 환자 — </a:t>
            </a:r>
            <a:r>
              <a:rPr sz="1800" b="1" i="0">
                <a:solidFill>
                  <a:srgbClr val="11202B"/>
                </a:solidFill>
                <a:latin typeface="Malgun Gothic"/>
                <a:ea typeface="Malgun Gothic"/>
                <a:cs typeface="Malgun Gothic"/>
              </a:rPr>
              <a:t>다학제 평가</a:t>
            </a:r>
            <a:r>
              <a:rPr sz="1800" b="0" i="0">
                <a:solidFill>
                  <a:srgbClr val="11202B"/>
                </a:solidFill>
                <a:latin typeface="Malgun Gothic"/>
                <a:ea typeface="Malgun Gothic"/>
                <a:cs typeface="Malgun Gothic"/>
              </a:rPr>
              <a:t>(신경과·신경외과·신경심리·정신과).</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시기: 과거에는 '최후 수단'이었으나 EARLYSTIM 시험에서 </a:t>
            </a:r>
            <a:r>
              <a:rPr sz="1800" b="1" i="0">
                <a:solidFill>
                  <a:srgbClr val="11202B"/>
                </a:solidFill>
                <a:latin typeface="Malgun Gothic"/>
                <a:ea typeface="Malgun Gothic"/>
                <a:cs typeface="Malgun Gothic"/>
              </a:rPr>
              <a:t>운동 합병증 초기(평균 이환 7.5년)</a:t>
            </a:r>
            <a:r>
              <a:rPr sz="1800" b="0" i="0">
                <a:solidFill>
                  <a:srgbClr val="11202B"/>
                </a:solidFill>
                <a:latin typeface="Malgun Gothic"/>
                <a:ea typeface="Malgun Gothic"/>
                <a:cs typeface="Malgun Gothic"/>
              </a:rPr>
              <a:t>에도 삶의 질 이득이 입증되었다.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심부뇌자극(DBS)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합병증: 수술(출혈 1–2%, 감염 3–5%, 기기 문제), 자극 관련(이상운동·감각이상·구음장애·복시·기분 변화·충동성 — 접점·전압 조정으로 가역), 인지(STN에서 언어 유창성 저하), 체중 증가.</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프로그래밍: 접점 선택(방향성 전극으로 자극 범위 조형), 진폭·주파수(130 Hz 전후)·펄스폭; </a:t>
            </a:r>
            <a:r>
              <a:rPr sz="2000" b="1" i="0">
                <a:solidFill>
                  <a:srgbClr val="11202B"/>
                </a:solidFill>
                <a:latin typeface="Malgun Gothic"/>
                <a:ea typeface="Malgun Gothic"/>
                <a:cs typeface="Malgun Gothic"/>
              </a:rPr>
              <a:t>적응형(폐쇄회로) DBS</a:t>
            </a:r>
            <a:r>
              <a:rPr sz="2000" b="0" i="0">
                <a:solidFill>
                  <a:srgbClr val="11202B"/>
                </a:solidFill>
                <a:latin typeface="Malgun Gothic"/>
                <a:ea typeface="Malgun Gothic"/>
                <a:cs typeface="Malgun Gothic"/>
              </a:rPr>
              <a:t>는 베타 진동 등 생체표지에 따라 자극을 조절(2025 상용화 시작).</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MRI 호환성·기기 관리, 배터리(충전식), 환자 교육.</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심부뇌자극(DBS)</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적응</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효과</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파킨슨병</a:t>
                      </a:r>
                    </a:p>
                  </a:txBody>
                  <a:tcPr marL="73152" marR="73152">
                    <a:solidFill>
                      <a:srgbClr val="FFFFFF"/>
                    </a:solidFill>
                  </a:tcPr>
                </a:tc>
                <a:tc>
                  <a:txBody>
                    <a:bodyPr/>
                    <a:lstStyle/>
                    <a:p>
                      <a:r>
                        <a:rPr sz="1500" b="1" i="0">
                          <a:solidFill>
                            <a:srgbClr val="11202B"/>
                          </a:solidFill>
                          <a:latin typeface="Malgun Gothic"/>
                          <a:ea typeface="Malgun Gothic"/>
                          <a:cs typeface="Malgun Gothic"/>
                        </a:rPr>
                        <a:t>시상하핵(STN)</a:t>
                      </a:r>
                      <a:r>
                        <a:rPr sz="1500" b="0" i="0">
                          <a:solidFill>
                            <a:srgbClr val="11202B"/>
                          </a:solidFill>
                          <a:latin typeface="Malgun Gothic"/>
                          <a:ea typeface="Malgun Gothic"/>
                          <a:cs typeface="Malgun Gothic"/>
                        </a:rPr>
                        <a:t>, 담창구 내절(GPi)</a:t>
                      </a:r>
                    </a:p>
                  </a:txBody>
                  <a:tcPr marL="73152" marR="73152">
                    <a:solidFill>
                      <a:srgbClr val="FFFFFF"/>
                    </a:solidFill>
                  </a:tcPr>
                </a:tc>
                <a:tc>
                  <a:txBody>
                    <a:bodyPr/>
                    <a:lstStyle/>
                    <a:p>
                      <a:r>
                        <a:rPr sz="1500" b="0" i="0">
                          <a:solidFill>
                            <a:srgbClr val="11202B"/>
                          </a:solidFill>
                          <a:latin typeface="Malgun Gothic"/>
                          <a:ea typeface="Malgun Gothic"/>
                          <a:cs typeface="Malgun Gothic"/>
                        </a:rPr>
                        <a:t>운동 변동·이상운동증·진전·강직 개선(레보도파 반응성 증상이 좋아짐; </a:t>
                      </a:r>
                      <a:r>
                        <a:rPr sz="1500" b="1" i="0">
                          <a:solidFill>
                            <a:srgbClr val="11202B"/>
                          </a:solidFill>
                          <a:latin typeface="Malgun Gothic"/>
                          <a:ea typeface="Malgun Gothic"/>
                          <a:cs typeface="Malgun Gothic"/>
                        </a:rPr>
                        <a:t>레보도파에 반응하지 않는 증상은 호전되지 않는다</a:t>
                      </a:r>
                      <a:r>
                        <a:rPr sz="1500" b="0" i="0">
                          <a:solidFill>
                            <a:srgbClr val="11202B"/>
                          </a:solidFill>
                          <a:latin typeface="Malgun Gothic"/>
                          <a:ea typeface="Malgun Gothic"/>
                          <a:cs typeface="Malgun Gothic"/>
                        </a:rPr>
                        <a:t> — 보행 동결·자세 불안정·인지 예외) — STN은 약물 감량 유리, GPi는 이상운동 직접 억제·인지·기분 부작용 적음</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본태성 진전</a:t>
                      </a:r>
                    </a:p>
                  </a:txBody>
                  <a:tcPr marL="73152" marR="73152">
                    <a:solidFill>
                      <a:srgbClr val="ECF1F5"/>
                    </a:solidFill>
                  </a:tcPr>
                </a:tc>
                <a:tc>
                  <a:txBody>
                    <a:bodyPr/>
                    <a:lstStyle/>
                    <a:p>
                      <a:r>
                        <a:rPr sz="1500" b="0" i="0">
                          <a:solidFill>
                            <a:srgbClr val="11202B"/>
                          </a:solidFill>
                          <a:latin typeface="Malgun Gothic"/>
                          <a:ea typeface="Malgun Gothic"/>
                          <a:cs typeface="Malgun Gothic"/>
                        </a:rPr>
                        <a:t>시상 </a:t>
                      </a:r>
                      <a:r>
                        <a:rPr sz="1500" b="1" i="0">
                          <a:solidFill>
                            <a:srgbClr val="11202B"/>
                          </a:solidFill>
                          <a:latin typeface="Malgun Gothic"/>
                          <a:ea typeface="Malgun Gothic"/>
                          <a:cs typeface="Malgun Gothic"/>
                        </a:rPr>
                        <a:t>Vim</a:t>
                      </a:r>
                      <a:r>
                        <a:rPr sz="1500" b="0" i="0">
                          <a:solidFill>
                            <a:srgbClr val="11202B"/>
                          </a:solidFill>
                          <a:latin typeface="Malgun Gothic"/>
                          <a:ea typeface="Malgun Gothic"/>
                          <a:cs typeface="Malgun Gothic"/>
                        </a:rPr>
                        <a:t>(복측중간핵)</a:t>
                      </a:r>
                    </a:p>
                  </a:txBody>
                  <a:tcPr marL="73152" marR="73152">
                    <a:solidFill>
                      <a:srgbClr val="ECF1F5"/>
                    </a:solidFill>
                  </a:tcPr>
                </a:tc>
                <a:tc>
                  <a:txBody>
                    <a:bodyPr/>
                    <a:lstStyle/>
                    <a:p>
                      <a:r>
                        <a:rPr sz="1500" b="0" i="0">
                          <a:solidFill>
                            <a:srgbClr val="11202B"/>
                          </a:solidFill>
                          <a:latin typeface="Malgun Gothic"/>
                          <a:ea typeface="Malgun Gothic"/>
                          <a:cs typeface="Malgun Gothic"/>
                        </a:rPr>
                        <a:t>진전 크게 감소; 습관화 가능</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근긴장이상</a:t>
                      </a:r>
                    </a:p>
                  </a:txBody>
                  <a:tcPr marL="73152" marR="73152">
                    <a:solidFill>
                      <a:srgbClr val="FFFFFF"/>
                    </a:solidFill>
                  </a:tcPr>
                </a:tc>
                <a:tc>
                  <a:txBody>
                    <a:bodyPr/>
                    <a:lstStyle/>
                    <a:p>
                      <a:r>
                        <a:rPr sz="1500" b="1" i="0">
                          <a:solidFill>
                            <a:srgbClr val="11202B"/>
                          </a:solidFill>
                          <a:latin typeface="Malgun Gothic"/>
                          <a:ea typeface="Malgun Gothic"/>
                          <a:cs typeface="Malgun Gothic"/>
                        </a:rPr>
                        <a:t>GPi</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전신·분절성(특히 DYT1) 반응 우수, 수주–수개월에 걸쳐 서서히 호전</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강박장애</a:t>
                      </a:r>
                    </a:p>
                  </a:txBody>
                  <a:tcPr marL="73152" marR="73152">
                    <a:solidFill>
                      <a:srgbClr val="ECF1F5"/>
                    </a:solidFill>
                  </a:tcPr>
                </a:tc>
                <a:tc>
                  <a:txBody>
                    <a:bodyPr/>
                    <a:lstStyle/>
                    <a:p>
                      <a:r>
                        <a:rPr sz="1500" b="0" i="0">
                          <a:solidFill>
                            <a:srgbClr val="11202B"/>
                          </a:solidFill>
                          <a:latin typeface="Malgun Gothic"/>
                          <a:ea typeface="Malgun Gothic"/>
                          <a:cs typeface="Malgun Gothic"/>
                        </a:rPr>
                        <a:t>전방 내포·복측 선조체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난치성에서 인도적 사용 승인</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뇌전증</a:t>
                      </a:r>
                    </a:p>
                  </a:txBody>
                  <a:tcPr marL="73152" marR="73152">
                    <a:solidFill>
                      <a:srgbClr val="FFFFFF"/>
                    </a:solidFill>
                  </a:tcPr>
                </a:tc>
                <a:tc>
                  <a:txBody>
                    <a:bodyPr/>
                    <a:lstStyle/>
                    <a:p>
                      <a:r>
                        <a:rPr sz="1500" b="1" i="0">
                          <a:solidFill>
                            <a:srgbClr val="11202B"/>
                          </a:solidFill>
                          <a:latin typeface="Malgun Gothic"/>
                          <a:ea typeface="Malgun Gothic"/>
                          <a:cs typeface="Malgun Gothic"/>
                        </a:rPr>
                        <a:t>시상 전핵(ANT)</a:t>
                      </a:r>
                      <a:r>
                        <a:rPr sz="1500" b="0" i="0">
                          <a:solidFill>
                            <a:srgbClr val="11202B"/>
                          </a:solidFill>
                          <a:latin typeface="Malgun Gothic"/>
                          <a:ea typeface="Malgun Gothic"/>
                          <a:cs typeface="Malgun Gothic"/>
                        </a:rPr>
                        <a:t>, </a:t>
                      </a:r>
                      <a:r>
                        <a:rPr sz="1500" b="1" i="0">
                          <a:solidFill>
                            <a:srgbClr val="11202B"/>
                          </a:solidFill>
                          <a:latin typeface="Malgun Gothic"/>
                          <a:ea typeface="Malgun Gothic"/>
                          <a:cs typeface="Malgun Gothic"/>
                        </a:rPr>
                        <a:t>중심정중핵</a:t>
                      </a:r>
                      <a:r>
                        <a:rPr sz="1500" b="0" i="0">
                          <a:solidFill>
                            <a:srgbClr val="11202B"/>
                          </a:solidFill>
                          <a:latin typeface="Malgun Gothic"/>
                          <a:ea typeface="Malgun Gothic"/>
                          <a:cs typeface="Malgun Gothic"/>
                        </a:rPr>
                        <a:t>, 반응성 신경자극(RNS)</a:t>
                      </a:r>
                    </a:p>
                  </a:txBody>
                  <a:tcPr marL="73152" marR="73152">
                    <a:solidFill>
                      <a:srgbClr val="FFFFFF"/>
                    </a:solidFill>
                  </a:tcPr>
                </a:tc>
                <a:tc>
                  <a:txBody>
                    <a:bodyPr/>
                    <a:lstStyle/>
                    <a:p>
                      <a:r>
                        <a:rPr sz="1500" b="0" i="0">
                          <a:solidFill>
                            <a:srgbClr val="11202B"/>
                          </a:solidFill>
                          <a:latin typeface="Malgun Gothic"/>
                          <a:ea typeface="Malgun Gothic"/>
                          <a:cs typeface="Malgun Gothic"/>
                        </a:rPr>
                        <a:t>발작 빈도 감소</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연구 단계</a:t>
                      </a:r>
                    </a:p>
                  </a:txBody>
                  <a:tcPr marL="73152" marR="73152">
                    <a:solidFill>
                      <a:srgbClr val="ECF1F5"/>
                    </a:solidFill>
                  </a:tcPr>
                </a:tc>
                <a:tc>
                  <a:txBody>
                    <a:bodyPr/>
                    <a:lstStyle/>
                    <a:p>
                      <a:r>
                        <a:rPr sz="1500" b="0" i="0">
                          <a:solidFill>
                            <a:srgbClr val="11202B"/>
                          </a:solidFill>
                          <a:latin typeface="Malgun Gothic"/>
                          <a:ea typeface="Malgun Gothic"/>
                          <a:cs typeface="Malgun Gothic"/>
                        </a:rPr>
                        <a:t>우울(피질하 백질·복측 선조체), 중독, 알츠하이머(뇌궁), 통증, 투렛</a:t>
                      </a:r>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뇌전증 수술: 수술 전 평가</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약물 난치성 뇌전증(ILAE 정의)</a:t>
            </a:r>
            <a:r>
              <a:rPr sz="2200" b="0" i="0">
                <a:solidFill>
                  <a:srgbClr val="11202B"/>
                </a:solidFill>
                <a:latin typeface="Malgun Gothic"/>
                <a:ea typeface="Malgun Gothic"/>
                <a:cs typeface="Malgun Gothic"/>
              </a:rPr>
              <a:t>: 적절히 선택·사용한 </a:t>
            </a:r>
            <a:r>
              <a:rPr sz="2200" b="1" i="0">
                <a:solidFill>
                  <a:srgbClr val="11202B"/>
                </a:solidFill>
                <a:latin typeface="Malgun Gothic"/>
                <a:ea typeface="Malgun Gothic"/>
                <a:cs typeface="Malgun Gothic"/>
              </a:rPr>
              <a:t>2가지 이상의 항경련제</a:t>
            </a:r>
            <a:r>
              <a:rPr sz="2200" b="0" i="0">
                <a:solidFill>
                  <a:srgbClr val="11202B"/>
                </a:solidFill>
                <a:latin typeface="Malgun Gothic"/>
                <a:ea typeface="Malgun Gothic"/>
                <a:cs typeface="Malgun Gothic"/>
              </a:rPr>
              <a:t>로 지속적 무발작에 실패 → 전체 뇌전증의 약 30%; 3번째 약물의 무발작 가능성은 5% 미만 → </a:t>
            </a:r>
            <a:r>
              <a:rPr sz="2200" b="1" i="0">
                <a:solidFill>
                  <a:srgbClr val="11202B"/>
                </a:solidFill>
                <a:latin typeface="Malgun Gothic"/>
                <a:ea typeface="Malgun Gothic"/>
                <a:cs typeface="Malgun Gothic"/>
              </a:rPr>
              <a:t>조기 수술 평가 의뢰</a:t>
            </a:r>
            <a:r>
              <a:rPr sz="2200" b="0" i="0">
                <a:solidFill>
                  <a:srgbClr val="11202B"/>
                </a:solidFill>
                <a:latin typeface="Malgun Gothic"/>
                <a:ea typeface="Malgun Gothic"/>
                <a:cs typeface="Malgun Gothic"/>
              </a:rPr>
              <a:t>(평균 의뢰 지연 약 20년 — 개선 과제).</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평가 단계:</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목표: </a:t>
            </a:r>
            <a:r>
              <a:rPr sz="2200" b="1" i="0">
                <a:solidFill>
                  <a:srgbClr val="11202B"/>
                </a:solidFill>
                <a:latin typeface="Malgun Gothic"/>
                <a:ea typeface="Malgun Gothic"/>
                <a:cs typeface="Malgun Gothic"/>
              </a:rPr>
              <a:t>발작 시작 영역</a:t>
            </a:r>
            <a:r>
              <a:rPr sz="2200" b="0" i="0">
                <a:solidFill>
                  <a:srgbClr val="11202B"/>
                </a:solidFill>
                <a:latin typeface="Malgun Gothic"/>
                <a:ea typeface="Malgun Gothic"/>
                <a:cs typeface="Malgun Gothic"/>
              </a:rPr>
              <a:t>과 </a:t>
            </a:r>
            <a:r>
              <a:rPr sz="2200" b="1" i="0">
                <a:solidFill>
                  <a:srgbClr val="11202B"/>
                </a:solidFill>
                <a:latin typeface="Malgun Gothic"/>
                <a:ea typeface="Malgun Gothic"/>
                <a:cs typeface="Malgun Gothic"/>
              </a:rPr>
              <a:t>기능 피질</a:t>
            </a:r>
            <a:r>
              <a:rPr sz="2200" b="0" i="0">
                <a:solidFill>
                  <a:srgbClr val="11202B"/>
                </a:solidFill>
                <a:latin typeface="Malgun Gothic"/>
                <a:ea typeface="Malgun Gothic"/>
                <a:cs typeface="Malgun Gothic"/>
              </a:rPr>
              <a:t>의 관계 규명 → 절제 가능성·위험 평가.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수술 방법과 결과</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성공 예측: 단일 병변 + 일치하는 전기임상 소견, 해마 경화, 짧은 이환 기간; MRI 음성은 결과가 다소 낮지만 SEEG로 충분히 가능.</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수술 후: 항경련제는 대개 유지하다 무발작 1–2년 후 감량 시도; 운전·직업·심리사회 적응 지원.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수술 방법과 결과</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수술</a:t>
                      </a:r>
                    </a:p>
                  </a:txBody>
                  <a:tcPr marL="73152" marR="73152">
                    <a:solidFill>
                      <a:srgbClr val="003C71"/>
                    </a:solidFill>
                  </a:tcPr>
                </a:tc>
                <a:tc>
                  <a:txBody>
                    <a:bodyPr/>
                    <a:lstStyle/>
                    <a:p>
                      <a:r>
                        <a:rPr sz="1300" b="1" i="0">
                          <a:solidFill>
                            <a:srgbClr val="FFFFFF"/>
                          </a:solidFill>
                          <a:latin typeface="Malgun Gothic"/>
                          <a:ea typeface="Malgun Gothic"/>
                          <a:cs typeface="Malgun Gothic"/>
                        </a:rPr>
                        <a:t>적응</a:t>
                      </a:r>
                    </a:p>
                  </a:txBody>
                  <a:tcPr marL="73152" marR="73152">
                    <a:solidFill>
                      <a:srgbClr val="003C71"/>
                    </a:solidFill>
                  </a:tcPr>
                </a:tc>
                <a:tc>
                  <a:txBody>
                    <a:bodyPr/>
                    <a:lstStyle/>
                    <a:p>
                      <a:r>
                        <a:rPr sz="1300" b="1" i="0">
                          <a:solidFill>
                            <a:srgbClr val="FFFFFF"/>
                          </a:solidFill>
                          <a:latin typeface="Malgun Gothic"/>
                          <a:ea typeface="Malgun Gothic"/>
                          <a:cs typeface="Malgun Gothic"/>
                        </a:rPr>
                        <a:t>결과</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전측두엽 절제술·선택적 편도해마절제술</a:t>
                      </a:r>
                    </a:p>
                  </a:txBody>
                  <a:tcPr marL="73152" marR="73152">
                    <a:solidFill>
                      <a:srgbClr val="FFFFFF"/>
                    </a:solidFill>
                  </a:tcPr>
                </a:tc>
                <a:tc>
                  <a:txBody>
                    <a:bodyPr/>
                    <a:lstStyle/>
                    <a:p>
                      <a:r>
                        <a:rPr sz="1300" b="1" i="0">
                          <a:solidFill>
                            <a:srgbClr val="11202B"/>
                          </a:solidFill>
                          <a:latin typeface="Malgun Gothic"/>
                          <a:ea typeface="Malgun Gothic"/>
                          <a:cs typeface="Malgun Gothic"/>
                        </a:rPr>
                        <a:t>내측 측두엽 뇌전증 + 해마 경화</a:t>
                      </a:r>
                    </a:p>
                  </a:txBody>
                  <a:tcPr marL="73152" marR="73152">
                    <a:solidFill>
                      <a:srgbClr val="FFFFFF"/>
                    </a:solidFill>
                  </a:tcPr>
                </a:tc>
                <a:tc>
                  <a:txBody>
                    <a:bodyPr/>
                    <a:lstStyle/>
                    <a:p>
                      <a:r>
                        <a:rPr sz="1300" b="0" i="0">
                          <a:solidFill>
                            <a:srgbClr val="11202B"/>
                          </a:solidFill>
                          <a:latin typeface="Malgun Gothic"/>
                          <a:ea typeface="Malgun Gothic"/>
                          <a:cs typeface="Malgun Gothic"/>
                        </a:rPr>
                        <a:t>가장 근거가 강함 — 무작위 시험에서 </a:t>
                      </a:r>
                      <a:r>
                        <a:rPr sz="1300" b="1" i="0">
                          <a:solidFill>
                            <a:srgbClr val="11202B"/>
                          </a:solidFill>
                          <a:latin typeface="Malgun Gothic"/>
                          <a:ea typeface="Malgun Gothic"/>
                          <a:cs typeface="Malgun Gothic"/>
                        </a:rPr>
                        <a:t>1년 무발작 58–73% vs 약물 치료 0–8%</a:t>
                      </a:r>
                      <a:r>
                        <a:rPr sz="1300" b="0" i="0">
                          <a:solidFill>
                            <a:srgbClr val="11202B"/>
                          </a:solidFill>
                          <a:latin typeface="Malgun Gothic"/>
                          <a:ea typeface="Malgun Gothic"/>
                          <a:cs typeface="Malgun Gothic"/>
                        </a:rPr>
                        <a:t>(Wiebe 2001, Engel 2012); 언어 기억 저하 위험(우세 반구)</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병변 절제술</a:t>
                      </a:r>
                    </a:p>
                  </a:txBody>
                  <a:tcPr marL="73152" marR="73152">
                    <a:solidFill>
                      <a:srgbClr val="ECF1F5"/>
                    </a:solidFill>
                  </a:tcPr>
                </a:tc>
                <a:tc>
                  <a:txBody>
                    <a:bodyPr/>
                    <a:lstStyle/>
                    <a:p>
                      <a:r>
                        <a:rPr sz="1300" b="0" i="0">
                          <a:solidFill>
                            <a:srgbClr val="11202B"/>
                          </a:solidFill>
                          <a:latin typeface="Malgun Gothic"/>
                          <a:ea typeface="Malgun Gothic"/>
                          <a:cs typeface="Malgun Gothic"/>
                        </a:rPr>
                        <a:t>국소 피질 이형성, 해면상 기형, 저등급 종양(DNET·신경절교종)</a:t>
                      </a:r>
                    </a:p>
                  </a:txBody>
                  <a:tcPr marL="73152" marR="73152">
                    <a:solidFill>
                      <a:srgbClr val="ECF1F5"/>
                    </a:solidFill>
                  </a:tcPr>
                </a:tc>
                <a:tc>
                  <a:txBody>
                    <a:bodyPr/>
                    <a:lstStyle/>
                    <a:p>
                      <a:r>
                        <a:rPr sz="1300" b="0" i="0">
                          <a:solidFill>
                            <a:srgbClr val="11202B"/>
                          </a:solidFill>
                          <a:latin typeface="Malgun Gothic"/>
                          <a:ea typeface="Malgun Gothic"/>
                          <a:cs typeface="Malgun Gothic"/>
                        </a:rPr>
                        <a:t>완전 절제 시 무발작률 높음</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반구 절제·이단술</a:t>
                      </a:r>
                    </a:p>
                  </a:txBody>
                  <a:tcPr marL="73152" marR="73152">
                    <a:solidFill>
                      <a:srgbClr val="FFFFFF"/>
                    </a:solidFill>
                  </a:tcPr>
                </a:tc>
                <a:tc>
                  <a:txBody>
                    <a:bodyPr/>
                    <a:lstStyle/>
                    <a:p>
                      <a:r>
                        <a:rPr sz="1300" b="0" i="0">
                          <a:solidFill>
                            <a:srgbClr val="11202B"/>
                          </a:solidFill>
                          <a:latin typeface="Malgun Gothic"/>
                          <a:ea typeface="Malgun Gothic"/>
                          <a:cs typeface="Malgun Gothic"/>
                        </a:rPr>
                        <a:t>광범위 일측 반구 병변(라스무센 뇌염, 반측거대뇌증, 스터지-웨버, 주산기 경색)</a:t>
                      </a:r>
                    </a:p>
                  </a:txBody>
                  <a:tcPr marL="73152" marR="73152">
                    <a:solidFill>
                      <a:srgbClr val="FFFFFF"/>
                    </a:solidFill>
                  </a:tcPr>
                </a:tc>
                <a:tc>
                  <a:txBody>
                    <a:bodyPr/>
                    <a:lstStyle/>
                    <a:p>
                      <a:r>
                        <a:rPr sz="1300" b="0" i="0">
                          <a:solidFill>
                            <a:srgbClr val="11202B"/>
                          </a:solidFill>
                          <a:latin typeface="Malgun Gothic"/>
                          <a:ea typeface="Malgun Gothic"/>
                          <a:cs typeface="Malgun Gothic"/>
                        </a:rPr>
                        <a:t>소아에서 무발작률 70–80%, 반대측 반신마비 감수</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뇌량 절단술</a:t>
                      </a:r>
                    </a:p>
                  </a:txBody>
                  <a:tcPr marL="73152" marR="73152">
                    <a:solidFill>
                      <a:srgbClr val="ECF1F5"/>
                    </a:solidFill>
                  </a:tcPr>
                </a:tc>
                <a:tc>
                  <a:txBody>
                    <a:bodyPr/>
                    <a:lstStyle/>
                    <a:p>
                      <a:r>
                        <a:rPr sz="1300" b="0" i="0">
                          <a:solidFill>
                            <a:srgbClr val="11202B"/>
                          </a:solidFill>
                          <a:latin typeface="Malgun Gothic"/>
                          <a:ea typeface="Malgun Gothic"/>
                          <a:cs typeface="Malgun Gothic"/>
                        </a:rPr>
                        <a:t>낙상 발작(tonic/atonic) 완화 — 고식적</a:t>
                      </a:r>
                    </a:p>
                  </a:txBody>
                  <a:tcPr marL="73152" marR="73152">
                    <a:solidFill>
                      <a:srgbClr val="ECF1F5"/>
                    </a:solidFill>
                  </a:tcPr>
                </a:tc>
                <a:tc>
                  <a:txBody>
                    <a:bodyPr/>
                    <a:lstStyle/>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레이저 간질 열치료(LITT)</a:t>
                      </a:r>
                    </a:p>
                  </a:txBody>
                  <a:tcPr marL="73152" marR="73152">
                    <a:solidFill>
                      <a:srgbClr val="FFFFFF"/>
                    </a:solidFill>
                  </a:tcPr>
                </a:tc>
                <a:tc>
                  <a:txBody>
                    <a:bodyPr/>
                    <a:lstStyle/>
                    <a:p>
                      <a:r>
                        <a:rPr sz="1300" b="0" i="0">
                          <a:solidFill>
                            <a:srgbClr val="11202B"/>
                          </a:solidFill>
                          <a:latin typeface="Malgun Gothic"/>
                          <a:ea typeface="Malgun Gothic"/>
                          <a:cs typeface="Malgun Gothic"/>
                        </a:rPr>
                        <a:t>해마·시상하부 과오종·심부 병변</a:t>
                      </a:r>
                    </a:p>
                  </a:txBody>
                  <a:tcPr marL="73152" marR="73152">
                    <a:solidFill>
                      <a:srgbClr val="FFFFFF"/>
                    </a:solidFill>
                  </a:tcPr>
                </a:tc>
                <a:tc>
                  <a:txBody>
                    <a:bodyPr/>
                    <a:lstStyle/>
                    <a:p>
                      <a:r>
                        <a:rPr sz="1300" b="0" i="0">
                          <a:solidFill>
                            <a:srgbClr val="11202B"/>
                          </a:solidFill>
                          <a:latin typeface="Malgun Gothic"/>
                          <a:ea typeface="Malgun Gothic"/>
                          <a:cs typeface="Malgun Gothic"/>
                        </a:rPr>
                        <a:t>최소 침습, 인지 보존 유리, 무발작률은 절제술보다 다소 낮음</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반응성 신경자극(RNS)</a:t>
                      </a:r>
                    </a:p>
                  </a:txBody>
                  <a:tcPr marL="73152" marR="73152">
                    <a:solidFill>
                      <a:srgbClr val="ECF1F5"/>
                    </a:solidFill>
                  </a:tcPr>
                </a:tc>
                <a:tc>
                  <a:txBody>
                    <a:bodyPr/>
                    <a:lstStyle/>
                    <a:p>
                      <a:r>
                        <a:rPr sz="1300" b="0" i="0">
                          <a:solidFill>
                            <a:srgbClr val="11202B"/>
                          </a:solidFill>
                          <a:latin typeface="Malgun Gothic"/>
                          <a:ea typeface="Malgun Gothic"/>
                          <a:cs typeface="Malgun Gothic"/>
                        </a:rPr>
                        <a:t>1–2개 발작 시작 영역(절제 불가·양측 측두)</a:t>
                      </a:r>
                    </a:p>
                  </a:txBody>
                  <a:tcPr marL="73152" marR="73152">
                    <a:solidFill>
                      <a:srgbClr val="ECF1F5"/>
                    </a:solidFill>
                  </a:tcPr>
                </a:tc>
                <a:tc>
                  <a:txBody>
                    <a:bodyPr/>
                    <a:lstStyle/>
                    <a:p>
                      <a:r>
                        <a:rPr sz="1300" b="0" i="0">
                          <a:solidFill>
                            <a:srgbClr val="11202B"/>
                          </a:solidFill>
                          <a:latin typeface="Malgun Gothic"/>
                          <a:ea typeface="Malgun Gothic"/>
                          <a:cs typeface="Malgun Gothic"/>
                        </a:rPr>
                        <a:t>발작 빈도 시간 경과에 따라 감소(장기 70%+), 뇌파 기록으로 진단 정보 제공</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미주신경 자극(VNS)</a:t>
                      </a:r>
                    </a:p>
                  </a:txBody>
                  <a:tcPr marL="73152" marR="73152">
                    <a:solidFill>
                      <a:srgbClr val="FFFFFF"/>
                    </a:solidFill>
                  </a:tcPr>
                </a:tc>
                <a:tc>
                  <a:txBody>
                    <a:bodyPr/>
                    <a:lstStyle/>
                    <a:p>
                      <a:r>
                        <a:rPr sz="1300" b="0" i="0">
                          <a:solidFill>
                            <a:srgbClr val="11202B"/>
                          </a:solidFill>
                          <a:latin typeface="Malgun Gothic"/>
                          <a:ea typeface="Malgun Gothic"/>
                          <a:cs typeface="Malgun Gothic"/>
                        </a:rPr>
                        <a:t>다초점·전신 — 고식적</a:t>
                      </a:r>
                    </a:p>
                  </a:txBody>
                  <a:tcPr marL="73152" marR="73152">
                    <a:solidFill>
                      <a:srgbClr val="FFFFFF"/>
                    </a:solidFill>
                  </a:tcPr>
                </a:tc>
                <a:tc>
                  <a:txBody>
                    <a:bodyPr/>
                    <a:lstStyle/>
                    <a:p>
                      <a:r>
                        <a:rPr sz="1300" b="0" i="0">
                          <a:solidFill>
                            <a:srgbClr val="11202B"/>
                          </a:solidFill>
                          <a:latin typeface="Malgun Gothic"/>
                          <a:ea typeface="Malgun Gothic"/>
                          <a:cs typeface="Malgun Gothic"/>
                        </a:rPr>
                        <a:t>약 50%에서 발작 50% 감소</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DBS(시상 전핵)</a:t>
                      </a:r>
                    </a:p>
                  </a:txBody>
                  <a:tcPr marL="73152" marR="73152">
                    <a:solidFill>
                      <a:srgbClr val="ECF1F5"/>
                    </a:solidFill>
                  </a:tcPr>
                </a:tc>
                <a:tc>
                  <a:txBody>
                    <a:bodyPr/>
                    <a:lstStyle/>
                    <a:p>
                      <a:r>
                        <a:rPr sz="1300" b="0" i="0">
                          <a:solidFill>
                            <a:srgbClr val="11202B"/>
                          </a:solidFill>
                          <a:latin typeface="Malgun Gothic"/>
                          <a:ea typeface="Malgun Gothic"/>
                          <a:cs typeface="Malgun Gothic"/>
                        </a:rPr>
                        <a:t>국소 뇌전증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SANTE 시험 — 장기 발작 감소</a:t>
                      </a:r>
                    </a:p>
                  </a:txBody>
                  <a:tcPr marL="73152" marR="73152">
                    <a:solidFill>
                      <a:srgbClr val="ECF1F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집속 초음파와 기타 기법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MR 유도 집속 초음파(MRgFUS)</a:t>
            </a:r>
            <a:r>
              <a:rPr sz="1800" b="0" i="0">
                <a:solidFill>
                  <a:srgbClr val="11202B"/>
                </a:solidFill>
                <a:latin typeface="Malgun Gothic"/>
                <a:ea typeface="Malgun Gothic"/>
                <a:cs typeface="Malgun Gothic"/>
              </a:rPr>
              <a:t>: 두개골을 통과한 초음파를 한 점에 모아 </a:t>
            </a:r>
            <a:r>
              <a:rPr sz="1800" b="1" i="0">
                <a:solidFill>
                  <a:srgbClr val="11202B"/>
                </a:solidFill>
                <a:latin typeface="Malgun Gothic"/>
                <a:ea typeface="Malgun Gothic"/>
                <a:cs typeface="Malgun Gothic"/>
              </a:rPr>
              <a:t>비절개 열응고 병변</a:t>
            </a:r>
            <a:r>
              <a:rPr sz="1800" b="0" i="0">
                <a:solidFill>
                  <a:srgbClr val="11202B"/>
                </a:solidFill>
                <a:latin typeface="Malgun Gothic"/>
                <a:ea typeface="Malgun Gothic"/>
                <a:cs typeface="Malgun Gothic"/>
              </a:rPr>
              <a:t> 생성 — 본태성 진전(Vim), 진전 우세 파킨슨병(Vim·창백핵시상로), 근긴장이상·통증 연구; 장점 — 절개·전극 없음, 즉시 효과 확인; 단점 — 대개 일측(양측 시 구음·보행 부작용), 비가역, 두개골 밀도 비율에 따라 적용 제한.</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저강도 집속 초음파: </a:t>
            </a:r>
            <a:r>
              <a:rPr sz="1600" b="1" i="0">
                <a:solidFill>
                  <a:srgbClr val="2E3F4C"/>
                </a:solidFill>
                <a:latin typeface="Malgun Gothic"/>
                <a:ea typeface="Malgun Gothic"/>
                <a:cs typeface="Malgun Gothic"/>
              </a:rPr>
              <a:t>혈액뇌장벽 일시 개방</a:t>
            </a:r>
            <a:r>
              <a:rPr sz="1600" b="0" i="0">
                <a:solidFill>
                  <a:srgbClr val="2E3F4C"/>
                </a:solidFill>
                <a:latin typeface="Malgun Gothic"/>
                <a:ea typeface="Malgun Gothic"/>
                <a:cs typeface="Malgun Gothic"/>
              </a:rPr>
              <a:t>(약물·항체 전달 — 알츠하이머·뇌종양 임상), 신경조절(비열적).</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정위 방사선수술: 감마나이프 시상절제술(고령·수술 불가), 시상하부 과오종, 삼차신경통.</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통증·경직: 척수 자극술(실패 요추 수술 증후군·CRPS·당뇨 신경병증), 척수강 내 바클로펜 펌프(중증 경직), 신경 차단·고주파 열응고(삼차신경통).</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집속 초음파와 기타 기법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뇌-컴퓨터 인터페이스: 사지마비 환자의 로봇·커서 제어, 발화 복원(B07 L10) — 임상시험 단계.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적응형(폐쇄회로) DBS가 베타 진동 기반으로 자극을 실시간 조절해 부작용을 줄이고 효과를 높이는 방향으로 상용화되고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네트워크 기반 표적 선정(병변 네트워크 지도화·연결성 기반 개인 맞춤 표적)이 기능 신경외과의 설계 원리를 바꾸고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뇌전증 수술에서 AI 기반 MRI 병변 탐지(MELD 프로젝트)와 SEEG 데이터의 자동 분석이 MRI 음성 환자의 수술 기회를 넓히고 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DBS는 병적 신경 진동을 교란해 작동하며 PD(STN·GPi), 본태성 진전(Vim), 근긴장이상(GPi)에서 확립되었다.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PD의 DBS는 레보도파 반응성 증상만 개선하므로 환자 선택과 현실적 기대 설정이 중요하다.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약물 2가지 실패 시 약물 난치성으로 보고 조기에 뇌전증 수술 평가를 의뢰해야 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내측 측두엽 뇌전증의 측두엽 절제술은 무작위 시험으로 입증된 가장 효과적인 수술이다.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LITT·RNS·VNS·DBS·MRgFUS 등 최소 침습·신경조절 기법이 선택지를 넓히고 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14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파킨슨병 환자에게 DBS를 권하기 전 반드시 확인해야 할 것은?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레보도파에 대한 반응성이다. DBS는 레보도파가 개선하는 증상(서동·강직·진전·운동 변동)을 개선하지만, 레보도파에 반응하지 않는 증상(보행 동결의 일부, 자세 불안정, 인지 저하, 자율신경 증상)은 호전되지 않는다. 또한 치매·활동성 정신질환은 금기에 가깝고, 비전형 파킨슨증(MSA·PSP)은 효과가 없으므로 진단 재확인이 필요하다.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15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두 가지 적절한 항경련제에 실패한 측두엽 뇌전증 환자를 곧바로 수술 평가에 의뢰해야 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세 번째 이후 약물로 무발작에 도달할 확률은 5% 미만인 반면, 해마 경화를 동반한 측두엽 뇌전증에서 수술은 무작위 시험에서 1년 무발작률 약 60–70%로 약물 치료(0–8%)보다 압도적으로 우수하다. 수술이 늦어질수록 인지·심리사회적 손실과 SUDEP 위험이 누적되므로 조기 의뢰가 권고된다.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적응형(폐쇄회로) 심부뇌자극이 기존 지속 자극보다 유리할 수 있는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파킨슨병에서 베타 대역 국소장전위 진동은 증상 상태와 연동되므로, 이를 감지해 필요할 때만 자극하면 총 자극량을 줄여 구음장애·이상운동 같은 자극 관련 부작용과 배터리 소모를 줄이면서 증상 조절은 유지하거나 개선할 수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MR 유도 집속 초음파 시상절제술의 장단점은?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두개골 절개나 전극 삽입 없이 표적에 열응고 병변을 만들어 즉시 진전을 줄일 수 있고 감염·기기 합병증이 없다. 그러나 비가역적 병변이며 대개 한쪽만 시행하고(양측은 구음·보행 부작용 위험), 두개골 밀도 비율이 낮으면 충분한 온도에 도달하지 못해 적용이 제한된다. 조정 가능한 DBS와 달리 사후 조절이 불가능하다.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Lozano AM et al. Deep brain stimulation: current challenges and future directions. Nat Rev Neurol 2019;15:148–160.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Schuepbach WMM et al. Neurostimulation for Parkinson's disease with early motor complications (EARLYSTIM). N Engl J Med 2013;368:610–622.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Kwan P et al. Definition of drug resistant epilepsy: consensus proposal by the ILAE. Epilepsia 2010;51:1069–1077.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B09-L10  ·  기능 신경외과: 심부뇌자극과 뇌전증 수술</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Wiebe S et al. A randomized, controlled trial of surgery for temporal-lobe epilepsy. N Engl J Med 2001;345:311–318.</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Elias WJ et al. A randomized trial of focused ultrasound thalamotomy for essential tremor. N Engl J Med 2016;375:730–739.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