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오시머티닙 같은 CNS 침투성이 우수한 3세대 EGFR 억제제로 두개내 병변의 높은 반응률을 기대할 수 있어, 무증상이거나 경미한 다발 병변에서는 즉각적인 전뇌방사선을 피하고 전신 표적 치료를 먼저 시도할 수 있다. 증상성 큰 병변이나 약물 실패 시 수술·정위 방사선수술을 추가한다.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해마 치아이랑의 신경 전구세포가 방사선에 민감해 기억 저하의 주요 원인이 되므로, 해마 주변 선량을 낮추면 인지 저하를 줄일 수 있다. 메만틴은 NMDA 수용체를 조절해 방사선 유발 흥분독성과 혈관 손상을 완화한다. NRG-CC001 시험에서 두 가지 병용이 인지 기능 악화를 유의하게 감소시켰다.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프로락틴종은 도파민 D2 수용체를 발현해 카베르골린 등 도파민 작용제에 매우 잘 반응하며, 대부분에서 프로락틴 정상화와 현저한 종양 축소(시야 회복 포함)를 얻을 수 있다. 수술은 약물 불내성·저항, 뇌하수체 졸중, 시야 급속 악화, 낭성 병변 등에 제한적으로 시행한다.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심슨 등급은 종양뿐 아니라 부착 경막과 침범된 뼈까지 얼마나 제거했는지를 나타내며, 완전 절제(1등급)일수록 재발률이 낮다. 수막종은 경막 부착부에서 재발하므로 절제 범위가 예후에 직접 영향을 준다. 다만 두개저·정맥동 침범 등 위치에 따라 기능 보존을 위해 의도적 아전절제 후 방사선을 선택하기도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신경종양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뇌전이, 수막종과 기타 두개내 종양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Brain Metastases, Meningiomas and Other Intracranial Tumors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뇌전이의 역학·기전(전이 미세환경)과 치료 전략을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정위 방사선수술과 전뇌방사선의 적응과 인지 보호 전략을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수막종의 분자 분류·등급과 치료를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뇌하수체 종양과 두개저 종양의 수술 접근을 개관한다.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연수막 전이와 중추신경계 림프종을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뇌하수체·두개저 종양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연수막 전이와 중추신경계 림프종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성인 두개내 종양의 가장 흔한 원인(원발 뇌종양의 약 10배); 암 환자의 10–30%에서 발생; 원발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폐(40–50%)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유방(15–20%), 흑색종(높은 뇌 친화성), 신장, 대장.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분포: 회백질-백질 경계, 혈관 분포 비례(소뇌·대뇌 반구), 다발성이 흔함.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전이 기전: 혈행성 파종 → 혈액뇌장벽 통과(종양 세포가 주피세포·내피 상호작용 변화 — 'cancer cell–astrocyte 간극 연접' 통한 생존 신호), 성상세포와의 상호작용(화학요법 저항), 뇌 특이 대사 적응(B04 L11).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결정 요인: 원발 종양 유형·분자 표지, 전이 개수·크기·위치, 전신 질환 조절 상태, 수행 상태, 증상.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예후 도구: GPA(graded prognostic assessment, 원발·분자 아형별).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뇌전이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단일·큰 병변(&gt;3 cm), 증상성 종괴 효과, 조직 진단 필요, 후두와 폐쇄성 수두증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정위 방사선수술(SRS)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1–4개(실제로는 10개 이상에서도 사용 증가), 작은 병변 — 국소 제어율 높고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 보존 우수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전뇌방사선(WBRT)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다발·연수막·소세포폐암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해마 회피 + 메만틴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으로 인지 저하 완화(NRG-CC001)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전신 표적·면역치료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CNS 침투 약물: 오시머티닙(EGFR), 로라티닙·알렉티닙(ALK), 투카티닙·트라스투주맙 데룩스테칸(HER2), BRAF/MEK 억제제,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면역관문억제제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(흑색종 — 이필리무맙+니볼루맙으로 두개내 반응률 50% 이상) → 일부 환자에서 방사선 연기 가능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스테로이드·항경련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 완화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수막종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거미막 모자세포 기원; 여성 2배(프로게스테론 수용체), 방사선 노출·NF2가 위험.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등급(WHO 2021): 1등급(80–85%),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2등급(비정형 — 유사분열 4–19/10 HPF, 뇌 침윤)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3등급(역형성). 등급과 무관하게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CDKN2A/B 동형 결실은 3등급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TERT 프로모터 변이도 3등급.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분류(위치와 상관):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NF2/22q 소실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(대뇌 반구·후두와), TRAF7+KLF4(분비형), TRAF7+AKT1 E17K(두개저 전방), SMO(후각구 — 헤지호그), POLR2A(결절), PIK3CA; 메틸화 기반 분류가 재발 예측에 우수.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수막종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무증상 소형은 관찰(영상 추적), 증상성·성장성은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절제(심슨 등급 — 경막·침범 뼈 제거 정도가 재발과 상관)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잔존·고등급은 방사선(분할 또는 SRS), 재발·불응 시 전신 치료는 효과 제한(수니티닙·베바시주맙 — 제한적); AKT1·SMO 변이 표적 치료 시험 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특수 상황: 시신경초 수막종(방사선), 임신 중 성장(호르몬), 사이프로테론 아세테이트 등 고용량 프로게스틴 노출 후 다발 수막종(약물 중단 시 축소).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뇌하수체·두개저 종양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뇌하수체 신경내분비종양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기능성(프로락틴종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 치료는 수술이 아니라 도파민 작용제 카베르골린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말단비대증 — GH, 쿠싱병 — ACTH)과 비기능성(종괴 효과: 양이측 반맹·두통·뇌하수체 기능저하).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뇌하수체 졸중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급성 두통·시야 장애·안근마비·부신 위기 → 응급 스테로이드 + 수술 고려.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수술: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내시경 경비강 경접형동 접근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합병증(CSF 누출, 요붕증, 저나트륨혈증, 수막염).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거대 프로락틴종의 훅 효과 주의(B03 L09).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두개저 종양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척삭종(척삭 잔존 — 브라큐리), 연골육종, 사구체 종양(부신경절종 — SDHx, B04 L12), 상피양 낭종, 삼차신경초종 → 접근법(경비강 내시경, 외측 접근), 뇌신경 보존·감시.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뇌하수체·두개저 종양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송과체 부위: 생식세포종(방사선·항암 민감, 종양표지자 β-hCG·AFP), 송과체모세포종, 파리노 증후군(B07 L06).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뇌실 내: 상의세포종, 맥락얼기 유두종, 중추신경세포종, 콜로이드 낭종(급성 수두증·급사).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연수막 전이와 중추신경계 림프종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연수막 전이(암종성 수막염)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유방·폐·흑색종·혈액암 — 다발성 신경 증상(뇌신경 마비, 신경근병증, 두통, 인지), 영상(연수막·신경근 증강),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세포학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(반복 요추천자 시 민감도 상승), CSF 순환 장애.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전신 치료(CNS 침투 약물), 척수강 내 화학요법(메토트렉세이트·시타라빈·리포좀), 방사선(증상 부위), VP 션트(증상 완화) — 예후 불량하나 분자 표적 치료로 개선 사례 증가.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원발 중추신경계 림프종(PCNSL)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대부분 미만성 거대 B세포 — 뇌실 주위 균질 증강 병변, 포도막 침범 가능; 면역저하(HIV, 이식)에서 EBV 연관.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진단: 스테로이드 전 생검, 안과 검사, CSF 유세포·클론성, HIV 검사; 전신 병기 검사.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연수막 전이와 중추신경계 림프종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고용량 메토트렉세이트 기반 복합요법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(± 리툭시맙·시타라빈) → 공고(자가조혈모세포이식 또는 감량 전뇌방사선); 노인에서 신경독성 주의; 재발 시 이브루티닙·레날리도마이드·CAR-T.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전이성 경막·두개골 병변, 척수 압박(응급 — B09 L09).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분자 표적·면역 치료의 CNS 활성이 높아지면서, 일부 뇌전이 환자에서 방사선을 연기하고 전신 치료로 조절하는 전략이 표준에 편입되고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cfDNA 분석이 연수막 전이의 진단·반응 평가에서 세포학을 보완하는 도구로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수막종의 메틸화·유전체 기반 위험 분류가 WHO 등급보다 재발을 더 잘 예측해, 치료 강도 결정에 통합되고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뇌전이는 가장 흔한 두개내 종양이며 치료는 개수·크기·원발 분자 표지·전신 상태에 따라 수술·SRS·전신 치료로 결정한다.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전뇌방사선은 해마 회피와 메만틴으로 인지 저하를 줄이며, SRS가 인지 보존에 유리하다.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수막종은 위치와 상관된 분자 아형을 가지며 절제 정도(심슨 등급)와 분자 표지가 재발을 예측한다.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프로락틴종은 수술이 아닌 도파민 작용제가 1차 치료이며 뇌하수체 졸중은 응급 스테로이드가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연수막 전이는 반복 CSF 세포학으로 진단하고, PCNSL은 스테로이드 전 생검과 고용량 메토트렉세이트가 핵심이다.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폐선암 환자의 다발성 뇌전이에서 EGFR 변이가 확인되었다. 치료 전략이 어떻게 달라지는가?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오시머티닙 같은 CNS 침투성이 우수한 3세대 EGFR 억제제로 두개내 병변의 높은 반응률을 기대할 수 있어, 무증상이거나 경미한 다발 병변에서는 즉각적인 전뇌방사선을 피하고 전신 표적 치료를 먼저 시도할 수 있다. 증상성 큰 병변이나 약물 실패 시 수술·정위 방사선수술을 추가한다.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전뇌방사선에서 해마 회피와 메만틴을 병용하는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해마 치아이랑의 신경 전구세포가 방사선에 민감해 기억 저하의 주요 원인이 되므로, 해마 주변 선량을 낮추면 인지 저하를 줄일 수 있다. 메만틴은 NMDA 수용체를 조절해 방사선 유발 흥분독성과 혈관 손상을 완화한다. NRG-CC001 시험에서 두 가지 병용이 인지 기능 악화를 유의하게 감소시켰다.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 프로락틴종 환자에게 수술보다 약물 치료를 먼저 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프로락틴종은 도파민 D2 수용체를 발현해 카베르골린 등 도파민 작용제에 매우 잘 반응하며, 대부분에서 프로락틴 정상화와 현저한 종양 축소(시야 회복 포함)를 얻을 수 있다. 수술은 약물 불내성·저항, 뇌하수체 졸중, 시야 급속 악화, 낭성 병변 등에 제한적으로 시행한다.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수막종에서 심슨 등급이 중요한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심슨 등급은 종양뿐 아니라 부착 경막과 침범된 뼈까지 얼마나 제거했는지를 나타내며, 완전 절제(1등급)일수록 재발률이 낮다. 수막종은 경막 부착부에서 재발하므로 절제 범위가 예후에 직접 영향을 준다. 다만 두개저·정맥동 침범 등 위치에 따라 기능 보존을 위해 의도적 아전절제 후 방사선을 선택하기도 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Vogelbaum MA et al. Treatment for brain metastases: ASCO-SNO-ASTRO guideline. J Clin Oncol 2022;40:492–516.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Brown PD et al. Hippocampal avoidance during whole-brain radiotherapy plus memantine (NRG-CC001). J Clin Oncol 2020;38:1019–1029.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Goldbrunner R et al. EANO guideline on the diagnosis and management of meningiomas. Neuro Oncol 2021;23:1821–1834.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B09-L04  ·  뇌전이, 수막종과 기타 두개내 종양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Melmed S et al. Diagnosis and treatment of hyperprolactinemia: Endocrine Society guideline. J Clin Endocrinol Metab 2011;96:273–288.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Grommes C, DeAngelis LM. Primary CNS lymphoma. J Clin Oncol 2017;35:2410–2418.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