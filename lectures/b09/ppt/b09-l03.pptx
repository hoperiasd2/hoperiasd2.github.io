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메틸화가 있으면 MGMT 복구 효소가 적어 테모졸로마이드 효과가 크므로, 수행 상태가 좋지 않아 병용 치료가 부담스러운 고령 환자에게 테모졸로마이드 단독 또는 단축 방사선 병용을 선택할 근거가 된다. 비메틸화 환자에서는 테모졸로마이드 이득이 작아 단축 방사선 위주를 고려한다.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가성 진행일 수 있기 때문이다. 치료로 인한 염증과 혈관 투과성 증가로 일시적으로 병변이 커 보이며, 특히 MGMT 메틸화 환자에서 흔하고 예후는 오히려 좋다. 관류 MRI·아미노산 PET이나 4–12주 후 추적 영상으로 감별하며, 성급한 치료 변경은 효과적인 치료를 중단시킬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변이 IDH가 만드는 2-HG가 종양 형성에 기여하므로 이를 억제해 종양 진행을 늦춘다. INDIGO 시험에서 무진행 생존을 크게 연장해, 젊은 환자에서 인지 저하 등 장기 후유증이 큰 방사선·화학요법의 시작 시점을 미룰 수 있게 되었다. 이는 종양대사물질 표적 치료의 첫 임상 성공 사례 중 하나이다.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신경교종 환자는 조직인자 발현·부동·수술로 정맥혈전 위험이 매우 높다(20–30%). 뇌종양 환자에서 항응고 치료는 두개내 출혈 위험을 다소 높이지만, 대체로 이득이 위험을 상회해 금기가 아니며 최근에는 DOAC도 사용된다. 다만 최근 출혈·혈소판 감소·수술 직후에는 신중히 판단한다.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B09 신경면역학과 신경외과  ·  신경종양</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교모세포종과 신경교종의 치료</a:t>
            </a:r>
          </a:p>
          <a:p>
            <a:r>
              <a:rPr sz="2000" b="0" i="0">
                <a:solidFill>
                  <a:srgbClr val="C2CDD6"/>
                </a:solidFill>
                <a:latin typeface="Malgun Gothic"/>
                <a:ea typeface="Malgun Gothic"/>
                <a:cs typeface="Malgun Gothic"/>
              </a:rPr>
              <a:t>Glioblastoma and the Treatment of Gliomas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B09-L03</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교모세포종의 표준 치료(수술-방사선-테모졸로마이드)와 근거를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MGMT 메틸화와 IDH 변이의 예측·예후 의미를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저등급 신경교종의 치료 전략과 보라시데닙의 의미를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재발 치료와 가성 진행·치료 반응 평가(RANO)를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종양 치료장(TTFields) 등 새로운 접근과 지지 치료를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교모세포종의 표준 치료</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분자 표지의 임상 활용</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저등급 신경교종</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재발과 반응 평가</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지지 치료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교모세포종의 표준 치료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Stupp 요법</a:t>
            </a:r>
            <a:r>
              <a:rPr sz="1800" b="0" i="0">
                <a:solidFill>
                  <a:srgbClr val="11202B"/>
                </a:solidFill>
                <a:latin typeface="Malgun Gothic"/>
                <a:ea typeface="Malgun Gothic"/>
                <a:cs typeface="Malgun Gothic"/>
              </a:rPr>
              <a:t>(2005): 최대 안전 절제 → </a:t>
            </a:r>
            <a:r>
              <a:rPr sz="1800" b="1" i="0">
                <a:solidFill>
                  <a:srgbClr val="11202B"/>
                </a:solidFill>
                <a:latin typeface="Malgun Gothic"/>
                <a:ea typeface="Malgun Gothic"/>
                <a:cs typeface="Malgun Gothic"/>
              </a:rPr>
              <a:t>방사선(60 Gy/30분할) + 동시 테모졸로마이드(75 mg/m²/일)</a:t>
            </a:r>
            <a:r>
              <a:rPr sz="1800" b="0" i="0">
                <a:solidFill>
                  <a:srgbClr val="11202B"/>
                </a:solidFill>
                <a:latin typeface="Malgun Gothic"/>
                <a:ea typeface="Malgun Gothic"/>
                <a:cs typeface="Malgun Gothic"/>
              </a:rPr>
              <a:t> → 보조 테모졸로마이드 6주기(150–200 mg/m², 5/28일) → 중앙 생존 14.6개월, 2년 생존 27%(방사선 단독 대비 개선).</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고령·수행 상태 저하: 단축 방사선(40 Gy/15분할) + 테모졸로마이드(Perry 2017), MGMT 메틸화 시 테모졸로마이드 단독 고려.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종양 치료장(TTFields, Optune)</a:t>
            </a:r>
            <a:r>
              <a:rPr sz="1800" b="0" i="0">
                <a:solidFill>
                  <a:srgbClr val="11202B"/>
                </a:solidFill>
                <a:latin typeface="Malgun Gothic"/>
                <a:ea typeface="Malgun Gothic"/>
                <a:cs typeface="Malgun Gothic"/>
              </a:rPr>
              <a:t>: 두피 전극으로 저강도 교류 전기장(200 kHz) → 유사분열 방추 교란 → Stupp 요법에 추가 시 중앙 생존 20.9개월(EF-14) — 하루 18시간 이상 착용 순응도가 관건.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교모세포종의 표준 치료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예후 인자: 나이, 수행 상태(KPS), 절제 정도, </a:t>
            </a:r>
            <a:r>
              <a:rPr sz="2000" b="1" i="0">
                <a:solidFill>
                  <a:srgbClr val="11202B"/>
                </a:solidFill>
                <a:latin typeface="Malgun Gothic"/>
                <a:ea typeface="Malgun Gothic"/>
                <a:cs typeface="Malgun Gothic"/>
              </a:rPr>
              <a:t>MGMT 프로모터 메틸화</a:t>
            </a:r>
            <a:r>
              <a:rPr sz="2000" b="0" i="0">
                <a:solidFill>
                  <a:srgbClr val="11202B"/>
                </a:solidFill>
                <a:latin typeface="Malgun Gothic"/>
                <a:ea typeface="Malgun Gothic"/>
                <a:cs typeface="Malgun Gothic"/>
              </a:rPr>
              <a:t>, IDH 상태(2021 분류에서 IDH 변이는 더 이상 교모세포종이 아님), 분자 아형.</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테모졸로마이드</a:t>
            </a:r>
            <a:r>
              <a:rPr sz="2000" b="0" i="0">
                <a:solidFill>
                  <a:srgbClr val="11202B"/>
                </a:solidFill>
                <a:latin typeface="Malgun Gothic"/>
                <a:ea typeface="Malgun Gothic"/>
                <a:cs typeface="Malgun Gothic"/>
              </a:rPr>
              <a:t>: 경구 알킬화제 — O⁶-메틸구아닌 생성 → </a:t>
            </a:r>
            <a:r>
              <a:rPr sz="2000" b="1" i="0">
                <a:solidFill>
                  <a:srgbClr val="11202B"/>
                </a:solidFill>
                <a:latin typeface="Malgun Gothic"/>
                <a:ea typeface="Malgun Gothic"/>
                <a:cs typeface="Malgun Gothic"/>
              </a:rPr>
              <a:t>MGMT</a:t>
            </a:r>
            <a:r>
              <a:rPr sz="2000" b="0" i="0">
                <a:solidFill>
                  <a:srgbClr val="11202B"/>
                </a:solidFill>
                <a:latin typeface="Malgun Gothic"/>
                <a:ea typeface="Malgun Gothic"/>
                <a:cs typeface="Malgun Gothic"/>
              </a:rPr>
              <a:t>가 복구하면 효과 감소(B02 L04); 불일치 수선 정상일 때 세포사 유도 → 치료 중 MMR 결손 획득이 과돌연변이 재발의 기전.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부작용: 골수억제(혈소판), 림프구 감소 → </a:t>
            </a:r>
            <a:r>
              <a:rPr sz="2000" b="1" i="0">
                <a:solidFill>
                  <a:srgbClr val="11202B"/>
                </a:solidFill>
                <a:latin typeface="Malgun Gothic"/>
                <a:ea typeface="Malgun Gothic"/>
                <a:cs typeface="Malgun Gothic"/>
              </a:rPr>
              <a:t>PJP 예방</a:t>
            </a:r>
            <a:r>
              <a:rPr sz="2000" b="0" i="0">
                <a:solidFill>
                  <a:srgbClr val="11202B"/>
                </a:solidFill>
                <a:latin typeface="Malgun Gothic"/>
                <a:ea typeface="Malgun Gothic"/>
                <a:cs typeface="Malgun Gothic"/>
              </a:rPr>
              <a:t>(스테로이드 병용 시), 오심, 피로; 장기적으로 2차 종양.</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분자 표지의 임상 활용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300" b="1" i="0">
                          <a:solidFill>
                            <a:srgbClr val="FFFFFF"/>
                          </a:solidFill>
                          <a:latin typeface="Malgun Gothic"/>
                          <a:ea typeface="Malgun Gothic"/>
                          <a:cs typeface="Malgun Gothic"/>
                        </a:rPr>
                        <a:t>표지</a:t>
                      </a:r>
                    </a:p>
                  </a:txBody>
                  <a:tcPr marL="73152" marR="73152">
                    <a:solidFill>
                      <a:srgbClr val="003C71"/>
                    </a:solidFill>
                  </a:tcPr>
                </a:tc>
                <a:tc>
                  <a:txBody>
                    <a:bodyPr/>
                    <a:lstStyle/>
                    <a:p>
                      <a:r>
                        <a:rPr sz="1300" b="1" i="0">
                          <a:solidFill>
                            <a:srgbClr val="FFFFFF"/>
                          </a:solidFill>
                          <a:latin typeface="Malgun Gothic"/>
                          <a:ea typeface="Malgun Gothic"/>
                          <a:cs typeface="Malgun Gothic"/>
                        </a:rPr>
                        <a:t>의미</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MGMT 프로모터 메틸화</a:t>
                      </a:r>
                    </a:p>
                  </a:txBody>
                  <a:tcPr marL="73152" marR="73152">
                    <a:solidFill>
                      <a:srgbClr val="FFFFFF"/>
                    </a:solidFill>
                  </a:tcPr>
                </a:tc>
                <a:tc>
                  <a:txBody>
                    <a:bodyPr/>
                    <a:lstStyle/>
                    <a:p>
                      <a:r>
                        <a:rPr sz="1300" b="0" i="0">
                          <a:solidFill>
                            <a:srgbClr val="11202B"/>
                          </a:solidFill>
                          <a:latin typeface="Malgun Gothic"/>
                          <a:ea typeface="Malgun Gothic"/>
                          <a:cs typeface="Malgun Gothic"/>
                        </a:rPr>
                        <a:t>MGMT 발현 침묵 → 테모졸로마이드 반응·생존 개선(예측 + 예후); 고령 환자 치료 선택의 핵심</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IDH1/2 변이</a:t>
                      </a:r>
                    </a:p>
                  </a:txBody>
                  <a:tcPr marL="73152" marR="73152">
                    <a:solidFill>
                      <a:srgbClr val="ECF1F5"/>
                    </a:solidFill>
                  </a:tcPr>
                </a:tc>
                <a:tc>
                  <a:txBody>
                    <a:bodyPr/>
                    <a:lstStyle/>
                    <a:p>
                      <a:r>
                        <a:rPr sz="1300" b="0" i="0">
                          <a:solidFill>
                            <a:srgbClr val="11202B"/>
                          </a:solidFill>
                          <a:latin typeface="Malgun Gothic"/>
                          <a:ea typeface="Malgun Gothic"/>
                          <a:cs typeface="Malgun Gothic"/>
                        </a:rPr>
                        <a:t>더 나은 예후, 저등급·이차성 교모세포종 — 2021 WHO에서 별도 질환군; 보라시데닙 표적 (B04 L12)</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1p/19q 공동결실</a:t>
                      </a:r>
                    </a:p>
                  </a:txBody>
                  <a:tcPr marL="73152" marR="73152">
                    <a:solidFill>
                      <a:srgbClr val="FFFFFF"/>
                    </a:solidFill>
                  </a:tcPr>
                </a:tc>
                <a:tc>
                  <a:txBody>
                    <a:bodyPr/>
                    <a:lstStyle/>
                    <a:p>
                      <a:r>
                        <a:rPr sz="1300" b="0" i="0">
                          <a:solidFill>
                            <a:srgbClr val="11202B"/>
                          </a:solidFill>
                          <a:latin typeface="Malgun Gothic"/>
                          <a:ea typeface="Malgun Gothic"/>
                          <a:cs typeface="Malgun Gothic"/>
                        </a:rPr>
                        <a:t>희소돌기아교세포종 정의 — PCV 화학요법 반응 우수, 장기 생존</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TERT 프로모터 변이, </a:t>
                      </a:r>
                      <a:r>
                        <a:rPr sz="1300" b="1" i="0">
                          <a:solidFill>
                            <a:srgbClr val="11202B"/>
                          </a:solidFill>
                          <a:latin typeface="Malgun Gothic"/>
                          <a:ea typeface="Malgun Gothic"/>
                          <a:cs typeface="Malgun Gothic"/>
                        </a:rPr>
                        <a:t>EGFR 증폭</a:t>
                      </a:r>
                      <a:r>
                        <a:rPr sz="1300" b="0" i="0">
                          <a:solidFill>
                            <a:srgbClr val="11202B"/>
                          </a:solidFill>
                          <a:latin typeface="Malgun Gothic"/>
                          <a:ea typeface="Malgun Gothic"/>
                          <a:cs typeface="Malgun Gothic"/>
                        </a:rPr>
                        <a:t>, </a:t>
                      </a:r>
                      <a:r>
                        <a:rPr sz="1300" b="1" i="0">
                          <a:solidFill>
                            <a:srgbClr val="11202B"/>
                          </a:solidFill>
                          <a:latin typeface="Malgun Gothic"/>
                          <a:ea typeface="Malgun Gothic"/>
                          <a:cs typeface="Malgun Gothic"/>
                        </a:rPr>
                        <a:t>+7/−10</a:t>
                      </a:r>
                    </a:p>
                  </a:txBody>
                  <a:tcPr marL="73152" marR="73152">
                    <a:solidFill>
                      <a:srgbClr val="ECF1F5"/>
                    </a:solidFill>
                  </a:tcPr>
                </a:tc>
                <a:tc>
                  <a:txBody>
                    <a:bodyPr/>
                    <a:lstStyle/>
                    <a:p>
                      <a:r>
                        <a:rPr sz="1300" b="0" i="0">
                          <a:solidFill>
                            <a:srgbClr val="11202B"/>
                          </a:solidFill>
                          <a:latin typeface="Malgun Gothic"/>
                          <a:ea typeface="Malgun Gothic"/>
                          <a:cs typeface="Malgun Gothic"/>
                        </a:rPr>
                        <a:t>IDH 야생형 저등급 형태라도 </a:t>
                      </a:r>
                      <a:r>
                        <a:rPr sz="1300" b="1" i="0">
                          <a:solidFill>
                            <a:srgbClr val="11202B"/>
                          </a:solidFill>
                          <a:latin typeface="Malgun Gothic"/>
                          <a:ea typeface="Malgun Gothic"/>
                          <a:cs typeface="Malgun Gothic"/>
                        </a:rPr>
                        <a:t>교모세포종으로 분류</a:t>
                      </a:r>
                      <a:r>
                        <a:rPr sz="1300" b="0" i="0">
                          <a:solidFill>
                            <a:srgbClr val="11202B"/>
                          </a:solidFill>
                          <a:latin typeface="Malgun Gothic"/>
                          <a:ea typeface="Malgun Gothic"/>
                          <a:cs typeface="Malgun Gothic"/>
                        </a:rPr>
                        <a:t>(분자 교모세포종)</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ATRX 소실, TP53 변이</a:t>
                      </a:r>
                    </a:p>
                  </a:txBody>
                  <a:tcPr marL="73152" marR="73152">
                    <a:solidFill>
                      <a:srgbClr val="FFFFFF"/>
                    </a:solidFill>
                  </a:tcPr>
                </a:tc>
                <a:tc>
                  <a:txBody>
                    <a:bodyPr/>
                    <a:lstStyle/>
                    <a:p>
                      <a:r>
                        <a:rPr sz="1300" b="0" i="0">
                          <a:solidFill>
                            <a:srgbClr val="11202B"/>
                          </a:solidFill>
                          <a:latin typeface="Malgun Gothic"/>
                          <a:ea typeface="Malgun Gothic"/>
                          <a:cs typeface="Malgun Gothic"/>
                        </a:rPr>
                        <a:t>별아교세포종</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H3 K27M</a:t>
                      </a:r>
                    </a:p>
                  </a:txBody>
                  <a:tcPr marL="73152" marR="73152">
                    <a:solidFill>
                      <a:srgbClr val="ECF1F5"/>
                    </a:solidFill>
                  </a:tcPr>
                </a:tc>
                <a:tc>
                  <a:txBody>
                    <a:bodyPr/>
                    <a:lstStyle/>
                    <a:p>
                      <a:r>
                        <a:rPr sz="1300" b="0" i="0">
                          <a:solidFill>
                            <a:srgbClr val="11202B"/>
                          </a:solidFill>
                          <a:latin typeface="Malgun Gothic"/>
                          <a:ea typeface="Malgun Gothic"/>
                          <a:cs typeface="Malgun Gothic"/>
                        </a:rPr>
                        <a:t>미만성 정중선 신경교종(소아·젊은 성인, 예후 불량) — ONC201 도르다비프론</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BRAF V600E / KIAA1549-BRAF 융합</a:t>
                      </a:r>
                    </a:p>
                  </a:txBody>
                  <a:tcPr marL="73152" marR="73152">
                    <a:solidFill>
                      <a:srgbClr val="FFFFFF"/>
                    </a:solidFill>
                  </a:tcPr>
                </a:tc>
                <a:tc>
                  <a:txBody>
                    <a:bodyPr/>
                    <a:lstStyle/>
                    <a:p>
                      <a:r>
                        <a:rPr sz="1300" b="0" i="0">
                          <a:solidFill>
                            <a:srgbClr val="11202B"/>
                          </a:solidFill>
                          <a:latin typeface="Malgun Gothic"/>
                          <a:ea typeface="Malgun Gothic"/>
                          <a:cs typeface="Malgun Gothic"/>
                        </a:rPr>
                        <a:t>소아 저등급 신경교종 — 다브라페닙+트라메티닙, 셀루메티닙</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CDKN2A/B 동형 결실</a:t>
                      </a:r>
                    </a:p>
                  </a:txBody>
                  <a:tcPr marL="73152" marR="73152">
                    <a:solidFill>
                      <a:srgbClr val="ECF1F5"/>
                    </a:solidFill>
                  </a:tcPr>
                </a:tc>
                <a:tc>
                  <a:txBody>
                    <a:bodyPr/>
                    <a:lstStyle/>
                    <a:p>
                      <a:r>
                        <a:rPr sz="1300" b="0" i="0">
                          <a:solidFill>
                            <a:srgbClr val="11202B"/>
                          </a:solidFill>
                          <a:latin typeface="Malgun Gothic"/>
                          <a:ea typeface="Malgun Gothic"/>
                          <a:cs typeface="Malgun Gothic"/>
                        </a:rPr>
                        <a:t>IDH 변이 별아교세포종에서도 4등급으로 격상</a:t>
                      </a:r>
                    </a:p>
                  </a:txBody>
                  <a:tcPr marL="73152" marR="73152">
                    <a:solidFill>
                      <a:srgbClr val="ECF1F5"/>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분자 표지의 임상 활용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7</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표지</a:t>
                      </a:r>
                    </a:p>
                  </a:txBody>
                  <a:tcPr marL="73152" marR="73152">
                    <a:solidFill>
                      <a:srgbClr val="003C71"/>
                    </a:solidFill>
                  </a:tcPr>
                </a:tc>
                <a:tc>
                  <a:txBody>
                    <a:bodyPr/>
                    <a:lstStyle/>
                    <a:p>
                      <a:r>
                        <a:rPr sz="1500" b="1" i="0">
                          <a:solidFill>
                            <a:srgbClr val="FFFFFF"/>
                          </a:solidFill>
                          <a:latin typeface="Malgun Gothic"/>
                          <a:ea typeface="Malgun Gothic"/>
                          <a:cs typeface="Malgun Gothic"/>
                        </a:rPr>
                        <a:t>의미</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MMR 결손·과돌연변이</a:t>
                      </a:r>
                    </a:p>
                  </a:txBody>
                  <a:tcPr marL="73152" marR="73152">
                    <a:solidFill>
                      <a:srgbClr val="FFFFFF"/>
                    </a:solidFill>
                  </a:tcPr>
                </a:tc>
                <a:tc>
                  <a:txBody>
                    <a:bodyPr/>
                    <a:lstStyle/>
                    <a:p>
                      <a:r>
                        <a:rPr sz="1500" b="0" i="0">
                          <a:solidFill>
                            <a:srgbClr val="11202B"/>
                          </a:solidFill>
                          <a:latin typeface="Malgun Gothic"/>
                          <a:ea typeface="Malgun Gothic"/>
                          <a:cs typeface="Malgun Gothic"/>
                        </a:rPr>
                        <a:t>면역치료 가능성(드묾)</a:t>
                      </a:r>
                    </a:p>
                  </a:txBody>
                  <a:tcPr marL="73152" marR="73152">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저등급 신경교종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성인 미만성 저등급 신경교종(WHO 2등급, IDH 변이): 젊은 성인, 흔히 </a:t>
            </a:r>
            <a:r>
              <a:rPr sz="1800" b="1" i="0">
                <a:solidFill>
                  <a:srgbClr val="11202B"/>
                </a:solidFill>
                <a:latin typeface="Malgun Gothic"/>
                <a:ea typeface="Malgun Gothic"/>
                <a:cs typeface="Malgun Gothic"/>
              </a:rPr>
              <a:t>경련으로 발견</a:t>
            </a:r>
            <a:r>
              <a:rPr sz="1800" b="0" i="0">
                <a:solidFill>
                  <a:srgbClr val="11202B"/>
                </a:solidFill>
                <a:latin typeface="Malgun Gothic"/>
                <a:ea typeface="Malgun Gothic"/>
                <a:cs typeface="Malgun Gothic"/>
              </a:rPr>
              <a:t>, 수년에 걸쳐 진행하고 결국 고등급으로 전환.</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치료:</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최대 안전 절제</a:t>
            </a:r>
            <a:r>
              <a:rPr sz="1600" b="0" i="0">
                <a:solidFill>
                  <a:srgbClr val="2E3F4C"/>
                </a:solidFill>
                <a:latin typeface="Malgun Gothic"/>
                <a:ea typeface="Malgun Gothic"/>
                <a:cs typeface="Malgun Gothic"/>
              </a:rPr>
              <a:t>가 생존을 개선(각성 수술로 기능 보존).</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고위험(40세 초과, 아전절제): </a:t>
            </a:r>
            <a:r>
              <a:rPr sz="1600" b="1" i="0">
                <a:solidFill>
                  <a:srgbClr val="2E3F4C"/>
                </a:solidFill>
                <a:latin typeface="Malgun Gothic"/>
                <a:ea typeface="Malgun Gothic"/>
                <a:cs typeface="Malgun Gothic"/>
              </a:rPr>
              <a:t>방사선 + PCV</a:t>
            </a:r>
            <a:r>
              <a:rPr sz="1600" b="0" i="0">
                <a:solidFill>
                  <a:srgbClr val="2E3F4C"/>
                </a:solidFill>
                <a:latin typeface="Malgun Gothic"/>
                <a:ea typeface="Malgun Gothic"/>
                <a:cs typeface="Malgun Gothic"/>
              </a:rPr>
              <a:t>(프로카바진·로무스틴·빈크리스틴) — RTOG 9802에서 중앙 생존 7.8 → 13.3년으로 크게 개선; 독성(골수·불임·2차 종양)이 커 테모졸로마이드 대체 여부는 연구 중.</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보라시데닙</a:t>
            </a:r>
            <a:r>
              <a:rPr sz="1600" b="0" i="0">
                <a:solidFill>
                  <a:srgbClr val="2E3F4C"/>
                </a:solidFill>
                <a:latin typeface="Malgun Gothic"/>
                <a:ea typeface="Malgun Gothic"/>
                <a:cs typeface="Malgun Gothic"/>
              </a:rPr>
              <a:t>(IDH1/2 억제제): INDIGO 시험에서 수술 후 잔존 2등급 IDH 변이 신경교종의 무진행 생존을 27.7개월로 연장(위약 11.1) → </a:t>
            </a:r>
            <a:r>
              <a:rPr sz="1600" b="1" i="0">
                <a:solidFill>
                  <a:srgbClr val="2E3F4C"/>
                </a:solidFill>
                <a:latin typeface="Malgun Gothic"/>
                <a:ea typeface="Malgun Gothic"/>
                <a:cs typeface="Malgun Gothic"/>
              </a:rPr>
              <a:t>방사선·화학요법 시작을 늦출 수 있는 첫 표적 치료</a:t>
            </a:r>
            <a:r>
              <a:rPr sz="1600" b="0" i="0">
                <a:solidFill>
                  <a:srgbClr val="2E3F4C"/>
                </a:solidFill>
                <a:latin typeface="Malgun Gothic"/>
                <a:ea typeface="Malgun Gothic"/>
                <a:cs typeface="Malgun Gothic"/>
              </a:rPr>
              <a:t>(2024 승인) (B04 L12).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저등급 신경교종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저위험군은 관찰 + 정기 MRI.</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삶의 질: 인지·경련 관리, 운전·직업 상담, 방사선의 장기 인지 영향(해마 보호 방사선·메만틴).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재발과 반응 평가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가성 진행(pseudoprogression)</a:t>
            </a:r>
            <a:r>
              <a:rPr sz="1800" b="0" i="0">
                <a:solidFill>
                  <a:srgbClr val="11202B"/>
                </a:solidFill>
                <a:latin typeface="Malgun Gothic"/>
                <a:ea typeface="Malgun Gothic"/>
                <a:cs typeface="Malgun Gothic"/>
              </a:rPr>
              <a:t>: 방사선-테모졸로마이드 직후 3개월 이내 조영 증강 증가 — 실제 진행이 아니라 치료 반응(염증·투과성); MGMT 메틸화 환자에서 흔함 → 조기에 치료를 바꾸지 않도록 주의.</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가성 반응(pseudoresponse)</a:t>
            </a:r>
            <a:r>
              <a:rPr sz="1800" b="0" i="0">
                <a:solidFill>
                  <a:srgbClr val="11202B"/>
                </a:solidFill>
                <a:latin typeface="Malgun Gothic"/>
                <a:ea typeface="Malgun Gothic"/>
                <a:cs typeface="Malgun Gothic"/>
              </a:rPr>
              <a:t>: 베바시주맙 투여 후 조영 증강이 급감하지만 실제 종양은 침윤 진행 — FLAIR 평가 필요.</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방사선 괴사</a:t>
            </a:r>
            <a:r>
              <a:rPr sz="1800" b="0" i="0">
                <a:solidFill>
                  <a:srgbClr val="11202B"/>
                </a:solidFill>
                <a:latin typeface="Malgun Gothic"/>
                <a:ea typeface="Malgun Gothic"/>
                <a:cs typeface="Malgun Gothic"/>
              </a:rPr>
              <a:t>: 수개월–수년 후, 조영 증강·부종 — 관류 MRI(저관류), 아미노산 PET, 생검으로 감별; 치료는 스테로이드·베바시주맙·고압산소·레이저 열치료.</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RANO 기준</a:t>
            </a:r>
            <a:r>
              <a:rPr sz="1800" b="0" i="0">
                <a:solidFill>
                  <a:srgbClr val="11202B"/>
                </a:solidFill>
                <a:latin typeface="Malgun Gothic"/>
                <a:ea typeface="Malgun Gothic"/>
                <a:cs typeface="Malgun Gothic"/>
              </a:rPr>
              <a:t>: 조영 증강 + FLAIR + 스테로이드 용량 + 신경학적 상태 통합 평가(면역치료용 iRANO는 6개월 내 진행 확인 요구).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재발과 반응 평가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재발 치료: 재수술(선택), 재방사선, 로무스틴(유럽 표준적 선택), 베바시주맙(부종·증상 완화 — 생존 연장은 입증 안 됨), TTFields, 임상시험 등록을 적극 권장.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지지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경련</a:t>
            </a:r>
            <a:r>
              <a:rPr sz="2000" b="0" i="0">
                <a:solidFill>
                  <a:srgbClr val="11202B"/>
                </a:solidFill>
                <a:latin typeface="Malgun Gothic"/>
                <a:ea typeface="Malgun Gothic"/>
                <a:cs typeface="Malgun Gothic"/>
              </a:rPr>
              <a:t>: 발생 시 레비티라세탐(효소 유도 적음) 등; 예방적 투여는 권고되지 않음(수술 주위 단기 제외).</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부종</a:t>
            </a:r>
            <a:r>
              <a:rPr sz="2000" b="0" i="0">
                <a:solidFill>
                  <a:srgbClr val="11202B"/>
                </a:solidFill>
                <a:latin typeface="Malgun Gothic"/>
                <a:ea typeface="Malgun Gothic"/>
                <a:cs typeface="Malgun Gothic"/>
              </a:rPr>
              <a:t>: 덱사메타손 최소 유효 용량, 베바시주맙 대안.</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정맥혈전</a:t>
            </a:r>
            <a:r>
              <a:rPr sz="2000" b="0" i="0">
                <a:solidFill>
                  <a:srgbClr val="11202B"/>
                </a:solidFill>
                <a:latin typeface="Malgun Gothic"/>
                <a:ea typeface="Malgun Gothic"/>
                <a:cs typeface="Malgun Gothic"/>
              </a:rPr>
              <a:t>: 신경교종 환자에서 매우 높음(20–30%) — 항응고는 뇌출혈 위험에도 불구하고 일반적으로 안전(DOAC 사용 증가).</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피로·인지·기분, 재활, 완화 의료의 조기 통합(생존·삶의 질 개선 근거), 돌봄자 지원, 사전 돌봄 계획.</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영양·스테로이드 유발 고혈당, 근병증, PJP 예방.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IDH 억제제의 성공은 저등급 신경교종을 '장기 관리 가능한 만성 질환'으로 바꿀 가능성을 열었고, 더 조기 사용·병용(방사선 감량)이 연구되고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교모세포종의 세포 상태 가소성과 신경-종양 시냅스를 겨냥한 치료(항경련제 페람파넬, 깁스 접합부 차단)가 전임상·초기 임상에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종양 유래 cfDNA(CSF)와 수술 중 메틸화 분류가 진단·반응 평가의 비침습·신속 도구로 발전하고 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교모세포종 표준 치료는 최대 안전 절제 + 방사선 + 테모졸로마이드이며 TTFields가 생존을 추가로 개선한다.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MGMT 메틸화는 테모졸로마이드 반응을 예측하고 IDH 변이·1p/19q 공동결실은 더 나은 예후와 치료 선택을 결정한다.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저등급 신경교종은 최대 절제 후 고위험군에 방사선+PCV를 쓰며 보라시데닙이 치료 시작을 늦출 수 있다.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가성 진행·가성 반응·방사선 괴사를 구분해야 하며 RANO 기준으로 평가한다.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경련·부종·혈전·피로 관리와 완화 의료의 조기 통합이 삶의 질을 좌우한다.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15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고령의 교모세포종 환자에서 MGMT 프로모터 메틸화 검사가 치료 결정에 어떻게 쓰이는가?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메틸화가 있으면 MGMT 복구 효소가 적어 테모졸로마이드 효과가 크므로, 수행 상태가 좋지 않아 병용 치료가 부담스러운 고령 환자에게 테모졸로마이드 단독 또는 단축 방사선 병용을 선택할 근거가 된다. 비메틸화 환자에서는 테모졸로마이드 이득이 작아 단축 방사선 위주를 고려한다.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방사선-테모졸로마이드 치료 종료 1개월 후 MRI에서 조영 증강이 커졌다. 바로 치료 실패로 판단하면 안 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가성 진행일 수 있기 때문이다. 치료로 인한 염증과 혈관 투과성 증가로 일시적으로 병변이 커 보이며, 특히 MGMT 메틸화 환자에서 흔하고 예후는 오히려 좋다. 관류 MRI·아미노산 PET이나 4–12주 후 추적 영상으로 감별하며, 성급한 치료 변경은 효과적인 치료를 중단시킬 수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IDH 변이 저등급 신경교종에서 보라시데닙이 갖는 임상적 의미는?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변이 IDH가 만드는 2-HG가 종양 형성에 기여하므로 이를 억제해 종양 진행을 늦춘다. INDIGO 시험에서 무진행 생존을 크게 연장해, 젊은 환자에서 인지 저하 등 장기 후유증이 큰 방사선·화학요법의 시작 시점을 미룰 수 있게 되었다. 이는 종양대사물질 표적 치료의 첫 임상 성공 사례 중 하나이다.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신경교종 환자에게 정맥혈전증 예방·치료 시 고려할 점은?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신경교종 환자는 조직인자 발현·부동·수술로 정맥혈전 위험이 매우 높다(20–30%). 뇌종양 환자에서 항응고 치료는 두개내 출혈 위험을 다소 높이지만, 대체로 이득이 위험을 상회해 금기가 아니며 최근에는 DOAC도 사용된다. 다만 최근 출혈·혈소판 감소·수술 직후에는 신중히 판단한다.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Stupp R et al. Radiotherapy plus concomitant and adjuvant temozolomide for glioblastoma. N Engl J Med 2005;352:987–996.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Stupp R et al. Effect of tumor-treating fields plus maintenance temozolomide vs maintenance temozolomide alone on survival (EF-14). JAMA 2017;318:2306–2316.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Buckner JC et al. Radiation plus procarbazine, CCNU, and vincristine in low-grade glioma. N Engl J Med 2016;374:1344–1355.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B09-L03  ·  교모세포종과 신경교종의 치료</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Mellinghoff IK et al. Vorasidenib in IDH1- or IDH2-mutant low-grade glioma (INDIGO). N Engl J Med 2023;389:589–601.</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Wen PY et al. RANO 2.0: update to the response assessment in neuro-oncology criteria. J Clin Oncol 2023;41:5187–5199.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