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notesMaster" Target="notesMasters/notesMaster1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종양 주변 부종은 VEGF 등에 의한 혈액뇌장벽 붕괴로 생기는 혈관성 부종이어서 스테로이드가 장벽을 안정화해 효과가 크다. 반면 외상성 뇌손상의 부종은 주로 세포독성이며, 대규모 CRASH 시험에서 고용량 스테로이드가 사망률을 오히려 증가시켜 금기가 되었다.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먼로-켈리 원리에 따라 초기에는 CSF가 척수강으로 이동하고 정맥혈이 밀려나면서 압력 상승이 완충된다. 이 보상 여력이 고갈되면 작은 부피 증가에도 압력이 급등하는 지수적 구간에 들어선다. 플라토 파의 출현은 이 상태를 시사한다.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만니톨은 삼투 이뇨를 유발해 혈관 내 용적을 줄이므로 저혈압·신독성(특히 삼투 간격 &gt;20)과 반동 부종 위험이 있다. 고장성 식염수는 혈관 내에 남아 용적을 유지하면서 삼투압을 올리므로 저혈압 환자에 유리하지만, 급격한 나트륨 상승과 중심 정맥 투여 필요, 고염소성 산증에 주의한다.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해설: 두개내 종괴로 인해 천막상·하 압력 차이가 있는 상태에서 척수강 압력을 낮추면 압력 기울기가 커져 구상돌기나 소뇌편도 탈출이 유발될 수 있다. 따라서 먼저 영상(CT/MRI)으로 종괴와 수두증을 배제한 뒤 시행한다.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3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7315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B09 신경면역학과 신경외과  ·  신경외과 기초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698480" cy="201168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두개내압, 뇌부종과 수술 생리</a:t>
            </a:r>
          </a:p>
          <a:p>
            <a:r>
              <a:rPr sz="20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Intracranial Pressure, Cerebral Edema and Surgical Physiology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106984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B09-L01</a:t>
            </a:r>
          </a:p>
          <a:p>
            <a:r>
              <a:rPr sz="1400" b="0" i="0">
                <a:solidFill>
                  <a:srgbClr val="C2CDD6"/>
                </a:solidFill>
                <a:latin typeface="Malgun Gothic"/>
                <a:ea typeface="Malgun Gothic"/>
                <a:cs typeface="Malgun Gothic"/>
              </a:rPr>
              <a:t>의학생화학 · 의학분자생물학 · 신경과학 강의록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GOALS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먼로-켈리 원리와 두개내 압력-부피 관계를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뇌부종의 종류(세포독성, 혈관성, 간질성, 삼투성)와 분자 기전을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두개내압 상승의 임상 징후와 탈출 증후군을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내과적·수술적 ICP 치료의 단계와 근거를 설명한다.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 전후 관리(항경련제, 스테로이드, 응고, 체위)의 원칙을 설명한다.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OUTLINE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강의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두개내압의 생리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뇌부종의 종류와 기전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두개내압 상승과 탈출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ICP 치료의 단계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 전후 관리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두개내압의 생리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먼로-켈리 원리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두개강은 고정 부피 — 뇌 실질(약 80%), 혈액(10%), CSF(10%). 한 성분이 늘면 다른 성분(먼저 CSF, 다음 정맥혈)이 밀려나 보상하고, 보상 한계를 넘으면 ICP가 지수적으로 상승한다(압력-부피 곡선).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정상 ICP: 성인 5–15 mmHg(소아 3–7, 영아 1.5–6).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뇌관류압(CPP) = 평균동맥압 − ICP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목표 60–70 mmHg(TBI); CPP가 낮으면 허혈, 지나치게 높으면 부종·ARDS 위험.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자동조절(B07 L12)이 손상되면 CBF가 혈압에 수동적으로 따라가므로 혈압 변동이 그대로 뇌에 전달된다.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플라토 파(Lundberg A파)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ICP가 20–30분간 50 mmHg 이상 급등 — 보상 여력 고갈의 신호.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01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두개내압의 생리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모니터링: 뇌실 카테터(측정 + CSF 배액 — 표준), 실질 내 센서, 비침습 지표(시신경초 직경, 경두개 도플러 박동지수) — 보조적.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뇌부종의 종류와 기전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VEGF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가 종양 주변 혈관성 부종의 핵심 매개체 → 베바시주맙이 부종·스테로이드 요구를 줄인다.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SUR1-TRPM4 통로 상향은 허혈·외상 후 세포독성·혈관성 부종 모두에 관여 →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글리벤클라마이드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임상시험(CHARM 등).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02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뇌부종의 종류와 기전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848"/>
                <a:gridCol w="2212848"/>
                <a:gridCol w="2212848"/>
                <a:gridCol w="2212848"/>
                <a:gridCol w="2212848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종류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혈액뇌장벽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영상·임상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치료 반응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세포독성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ATP 고갈 → Na⁺/K⁺-ATPase 실패 → 세포 내 Na⁺·물 유입(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SUR1-TRPM4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, AQP4)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초기 보존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DWI 확산 제한 — 허혈, 저산소, 저나트륨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삼투 치료 효과 제한적(세포 내 부종), 원인 교정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혈관성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치밀이음부 붕괴(VEGF, MMP-9, 브라디키닌) → 혈장 단백·물 유출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붕괴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T2/FLAIR 백질 손가락 모양, 조영 증강 — 종양, 농양, 염증, PRES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스테로이드가 매우 효과적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(종양 주변), 삼투 치료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간질성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뇌실 내압 상승 → 상의막 통한 CSF 이동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뇌실 주위 음영 — 수두증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배액·션트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삼투성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혈장 삼투압 급감 → 물 유입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저나트륨혈증, 투석 불균형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나트륨 교정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두개내압 상승과 탈출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증상·징후: 두통(아침·기침 시 악화), 구토, 의식 저하, 유두부종,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쿠싱 반응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(고혈압·서맥·불규칙 호흡), 외전신경 마비(거짓 국소 징후), 소아에서 대천문 팽륜·일몰 현상.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요추천자 금기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국소 신경 징후, 유두부종, 의식 저하, 면역 저하 등에서는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영상 먼저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 — 후두와 종괴에서 요추천자는 소뇌편도 탈출을 유발할 수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03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두개내압 상승과 탈출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탈출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소견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구상돌기(천막경유)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측두엽 내측 → 중뇌 압박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동측 동공 산대(III), 반대측 반신마비;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커노한 절흔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시 동측 반신마비(위양성)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중심성(하행)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양측 반구 팽창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점진적 의식 저하, 중간 위치 동공, 체인-스톡스 → 과호흡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대뇌겸 하부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대상회가 대뇌겸 아래로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ACA 압박 → 하지 마비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소뇌편도(대공)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후두와 압박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 경직, 서맥,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호흡 정지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 — 급사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상행 천막경유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후두와 종괴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ICP 치료의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과환기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즉각적이나 혈관 수축으로 허혈 위험 → 탈출 임박 시 일시적 구조 수단으로만(B05 L07).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스테로이드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종양·농양 주변 혈관성 부종에 매우 효과적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(덱사메타손), </a:t>
            </a:r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외상성 뇌손상에는 금기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(CRASH 시험 — 사망 증가), 뇌졸중에는 무효.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수술적 감압: 혈종 제거, 종양 절제, 뇌실 배액, 후두와 감압, 두개절제술.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04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ICP 치료의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80160"/>
          <a:ext cx="1106424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8080"/>
                <a:gridCol w="3688080"/>
                <a:gridCol w="3688080"/>
              </a:tblGrid>
              <a:tr h="365760"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단계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근거·주의</a:t>
                      </a:r>
                    </a:p>
                  </a:txBody>
                  <a:tcPr marL="73152" marR="73152">
                    <a:solidFill>
                      <a:srgbClr val="003C7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머리 30° 거상, 목 중립(정맥 환류), 통증·불안·발열 조절, 저나트륨 교정, 발작 조절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진정·진통(프로포폴·펜타닐), 정상 탄산(PaCO₂ 35–45), 뇌실 배액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고장성 식염수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(3% 지속 또는 23.4% 볼루스 — 혈관 내 유지, 리바운드 적음) 또는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만니톨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(0.25–1 g/kg; 삼투 이뇨 — 혈량 감소·신독성 주의, 삼투 간격 추적)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고장성 식염수가 선호되는 추세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신경근 차단, 저체온(35–36 °C, 치료적 저체온은 TBI에서 근거 부족), </a:t>
                      </a:r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바르비투르산 혼수</a:t>
                      </a:r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(대사 억제 — 저혈압·면역억제)</a:t>
                      </a:r>
                    </a:p>
                  </a:txBody>
                  <a:tcPr marL="73152" marR="73152">
                    <a:solidFill>
                      <a:srgbClr val="ECF1F5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73152" marR="73152">
                    <a:solidFill>
                      <a:srgbClr val="ECF1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감압 개두술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 i="0">
                          <a:solidFill>
                            <a:srgbClr val="11202B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악성 MCA 경색(&lt;60세, 48시간 내 — 사망 감소, 중증 장애 생존 증가), TBI(RESCUEicp — 사망 감소·장애 증가) → 가족과의 가치 중심 상담 필수</a:t>
                      </a:r>
                    </a:p>
                  </a:txBody>
                  <a:tcPr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수술 전후 관리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항경련제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천막상부 개두술·외상에서 7일 예방(레비티라세탐 선호 — 상호작용 적음); 장기 예방은 권고되지 않음(뇌전증 발생 예방 효과 없음).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스테로이드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종양 부종(덱사메타손 4–16 mg/일; 최소 유효 용량·단기), 부작용(고혈당, 근병증, 감염, 정신 증상, 위궤양·PJP 예방 고려).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응고·혈전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신경외과 환자는 정맥혈전 위험이 높음 — 간헐 공기압박 즉시, 약물 예방은 수술 후 24–48시간(출혈 위험 평가 후); 항혈전제 복용 환자의 중단·역전(안드엑사넷·이다루시주맙·PCC) 계획.</a:t>
            </a:r>
          </a:p>
          <a:p>
            <a:pPr>
              <a:spcAft>
                <a:spcPts val="800"/>
              </a:spcAft>
            </a:pPr>
            <a:r>
              <a:rPr sz="18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수액·전해질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: 등장액(생리식염수) 기본, </a:t>
            </a:r>
            <a:r>
              <a:rPr sz="18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저장성 수액 금지</a:t>
            </a:r>
            <a:r>
              <a:rPr sz="18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; 저나트륨혈증(SIADH vs 뇌염분소실 — 체액량으로 감별; 후자는 염분·수분 보충) 적극 교정.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05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수술 전후 관리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감염 예방(B09 L11), 영양(조기 장관 영양), 혈당 140–180, 체온 정상 유지, 조기 동원·재활.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마취 고려: 흡입 마취제는 뇌혈관 확장(ICP↑ 가능), 프로포폴·바르비투르산은 대사·CBF 감소; 숙시닐콜린은 고칼륨 주의(B07 L02).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FRONTIER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연구 최전선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다중 모달 신경중환자 감시(ICP, PbtO₂, 미세투석, 연속 EEG)와 자동조절 지표(PRx)에 기반한 '개인별 최적 CPP' 설정이 연구되고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SUR1-TRPM4 억제(글리벤클라마이드), AQP4 조절, 림프 배출 촉진 등 부종의 분자 표적 치료가 임상시험 단계에 있다.</a:t>
            </a:r>
          </a:p>
          <a:p>
            <a:pPr>
              <a:spcAft>
                <a:spcPts val="800"/>
              </a:spcAft>
            </a:pPr>
            <a:r>
              <a:rPr sz="22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2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감압 개두술의 이득은 '생존'과 '장애 수준'의 상충을 포함하므로, 환자 가치에 기반한 공유 의사결정 도구가 개발되고 있다.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SUMMARY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1.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먼로-켈리 원리에 따라 보상 한계를 넘으면 ICP가 지수적으로 상승하며 CPP = MAP − ICP를 60–70으로 유지한다.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2.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세포독성 부종은 확산 제한(허혈), 혈관성 부종은 장벽 붕괴(종양·염증)이며 스테로이드는 후자에만 효과적이다.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3.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구상돌기·중심성·대공 탈출은 각각 특징적 징후를 보이며 후두와 종괴에서 요추천자는 금기이다.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4.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ICP 치료는 체위·진정·정상 탄산 → 고장성 식염수·만니톨 → 바르비투르산·감압 개두술로 단계화된다.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5.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수술 전후에는 단기 항경련 예방, 적절한 스테로이드, 혈전 예방, 등장성 수액, 혈당·체온 관리가 중요하다.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뇌종양 환자의 부종에는 덱사메타손이 극적으로 효과적인데 외상성 뇌손상에는 사용하지 않는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종양 주변 부종은 VEGF 등에 의한 혈액뇌장벽 붕괴로 생기는 혈관성 부종이어서 스테로이드가 장벽을 안정화해 효과가 크다. 반면 외상성 뇌손상의 부종은 주로 세포독성이며, 대규모 CRASH 시험에서 고용량 스테로이드가 사망률을 오히려 증가시켜 금기가 되었다.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두개내압이 서서히 증가하다가 어느 시점부터 급격히 치솟는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먼로-켈리 원리에 따라 초기에는 CSF가 척수강으로 이동하고 정맥혈이 밀려나면서 압력 상승이 완충된다. 이 보상 여력이 고갈되면 작은 부피 증가에도 압력이 급등하는 지수적 구간에 들어선다. 플라토 파의 출현은 이 상태를 시사한다.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만니톨과 고장성 식염수의 차이와 각각의 주의점은?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만니톨은 삼투 이뇨를 유발해 혈관 내 용적을 줄이므로 저혈압·신독성(특히 삼투 간격 &gt;20)과 반동 부종 위험이 있다. 고장성 식염수는 혈관 내에 남아 용적을 유지하면서 삼투압을 올리므로 저혈압 환자에 유리하지만, 급격한 나트륨 상승과 중심 정맥 투여 필요, 고염소성 산증에 주의한다.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QUIZ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자가 평가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유두부종과 국소 신경 징후가 있는 환자에게 요추천자를 먼저 하면 안 되는 이유는?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749039"/>
            <a:ext cx="10881360" cy="2514600"/>
          </a:xfrm>
          <a:prstGeom prst="rect">
            <a:avLst/>
          </a:prstGeom>
          <a:solidFill>
            <a:srgbClr val="FFFFFF"/>
          </a:solidFill>
          <a:ln>
            <a:solidFill>
              <a:srgbClr val="C2C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/>
          <a:lstStyle/>
          <a:p>
            <a:pPr algn="l"/>
            <a:r>
              <a:rPr sz="16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해설  </a:t>
            </a:r>
            <a:r>
              <a:rPr sz="1600" b="0" i="0">
                <a:solidFill>
                  <a:srgbClr val="2E3F4C"/>
                </a:solidFill>
                <a:latin typeface="Malgun Gothic"/>
                <a:ea typeface="Malgun Gothic"/>
                <a:cs typeface="Malgun Gothic"/>
              </a:rPr>
              <a:t>두개내 종괴로 인해 천막상·하 압력 차이가 있는 상태에서 척수강 압력을 낮추면 압력 기울기가 커져 구상돌기나 소뇌편도 탈출이 유발될 수 있다. 따라서 먼저 영상(CT/MRI)으로 종괴와 수두증을 배제한 뒤 시행한다.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(1/2)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Greenberg MS. Handbook of Neurosurgery, 10th ed. Thieme, 2023.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Carney N et al. Guidelines for the management of severe traumatic brain injury, 4th edition. Neurosurgery 2017;80:6–15.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Stokum JA, Gerzanich V, Simard JM. Molecular pathophysiology of cerebral edema. J Cereb Blood Flow Metab 2016;36:513–538.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003C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"/>
            <a:ext cx="1124712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1" i="0">
                <a:solidFill>
                  <a:srgbClr val="F2B705"/>
                </a:solidFill>
                <a:latin typeface="Malgun Gothic"/>
                <a:ea typeface="Malgun Gothic"/>
                <a:cs typeface="Malgun Gothic"/>
              </a:rPr>
              <a:t>REFERENCES   </a:t>
            </a:r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참고 문헌 (2/2)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000" b="0" i="0">
                <a:solidFill>
                  <a:srgbClr val="66788A"/>
                </a:solidFill>
                <a:latin typeface="Malgun Gothic"/>
                <a:ea typeface="Malgun Gothic"/>
                <a:cs typeface="Malgun Gothic"/>
              </a:rPr>
              <a:t>B09-L01  ·  두개내압, 뇌부종과 수술 생리</a:t>
            </a:r>
            <a:r>
              <a:rPr sz="1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     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88136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Hutchinson PJ et al. Trial of decompressive craniectomy for traumatic intracranial hypertension (RESCUEicp). N Engl J Med 2016;375:1119–1130.</a:t>
            </a:r>
          </a:p>
          <a:p>
            <a:pPr>
              <a:spcAft>
                <a:spcPts val="800"/>
              </a:spcAft>
            </a:pPr>
            <a:r>
              <a:rPr sz="2000" b="1" i="0">
                <a:solidFill>
                  <a:srgbClr val="003C71"/>
                </a:solidFill>
                <a:latin typeface="Malgun Gothic"/>
                <a:ea typeface="Malgun Gothic"/>
                <a:cs typeface="Malgun Gothic"/>
              </a:rPr>
              <a:t>▪ </a:t>
            </a:r>
            <a:r>
              <a:rPr sz="2000" b="0" i="0">
                <a:solidFill>
                  <a:srgbClr val="11202B"/>
                </a:solidFill>
                <a:latin typeface="Malgun Gothic"/>
                <a:ea typeface="Malgun Gothic"/>
                <a:cs typeface="Malgun Gothic"/>
              </a:rPr>
              <a:t>Cook AM et al. Guidelines for the acute treatment of cerebral edema in neurocritical care patients. Neurocrit Care 2020;32:647–666.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