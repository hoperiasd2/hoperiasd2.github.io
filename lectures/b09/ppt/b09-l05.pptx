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2021 WHO 기준에 따라 조직학과 무관하게 '별아교세포종, IDH 변이, CNS WHO 4등급'으로 분류된다. 예후가 훨씬 나쁘므로 관찰이나 최소 치료가 아니라 방사선·화학요법 등 적극적 치료와 긴밀한 추적이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IDH1 R132H 항체는 가장 흔한 변이만 검출하며, 비정형 IDH1 변이나 IDH2 변이는 음성으로 나온다. 젊은 환자에서는 IDH 변이 가능성이 높아 시퀀싱으로 확인해야 하며, 결과에 따라 예후와 보라시데닙 같은 치료 선택이 완전히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메틸화 패턴은 종양이 기원한 세포 유형과 분화 상태를 반영하는 안정적 각인이어서, 관찰자 간 변이가 큰 형태학적 판정보다 재현성이 높다. 또한 수만 개 CpG의 패턴을 종합하므로 형태가 비슷한 종양들을 구분하고, 동시에 복제수 변이와 MGMT 상태 정보까지 제공한다.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통합 진단에는 조직학뿐 아니라 면역조직화학, 1p/19q·CDKN2A/B 같은 복제수 분석, 시퀀싱, 메틸화 검사가 필요하고, 이후 치료 표적 발굴과 임상시험 등록에도 조직이 쓰인다. 조직이 부족하면 재생검이 필요하거나 분자 정보를 얻지 못해 치료 선택지가 줄어든다.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B09 신경면역학과 신경외과  ·  신경종양</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뇌종양의 분자 진단과 WHO 분류</a:t>
            </a:r>
          </a:p>
          <a:p>
            <a:r>
              <a:rPr sz="2000" b="0" i="0">
                <a:solidFill>
                  <a:srgbClr val="C2CDD6"/>
                </a:solidFill>
                <a:latin typeface="Malgun Gothic"/>
                <a:ea typeface="Malgun Gothic"/>
                <a:cs typeface="Malgun Gothic"/>
              </a:rPr>
              <a:t>Molecular Diagnosis and WHO Classification of CNS Tumors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B09-L05</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2021 WHO 중추신경계 종양 분류의 통합 진단 원칙을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성인·소아 신경교종의 분자 정의와 등급 결정 요소를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DNA 메틸화 분류의 원리와 임상 영향을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주요 분자 검사(면역조직화학, FISH, 시퀀싱, 메틸화)의 용도를 비교한다.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분자 진단이 치료·임상시험 참여에 미치는 영향을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2021 WHO 분류의 원칙</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신경교종의 분자 정의</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DNA 메틸화 기반 분류</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검사 방법의 선택</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분자 진단의 임상 영향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2021 WHO 분류의 원칙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통합 진단(layered diagnosis)</a:t>
            </a:r>
            <a:r>
              <a:rPr sz="2000" b="0" i="0">
                <a:solidFill>
                  <a:srgbClr val="11202B"/>
                </a:solidFill>
                <a:latin typeface="Malgun Gothic"/>
                <a:ea typeface="Malgun Gothic"/>
                <a:cs typeface="Malgun Gothic"/>
              </a:rPr>
              <a:t>: ① 통합 진단명 ② 조직학적 분류 ③ WHO 등급 ④ 분자 정보 — 조직학과 분자 정보가 충돌하면 </a:t>
            </a:r>
            <a:r>
              <a:rPr sz="2000" b="1" i="0">
                <a:solidFill>
                  <a:srgbClr val="11202B"/>
                </a:solidFill>
                <a:latin typeface="Malgun Gothic"/>
                <a:ea typeface="Malgun Gothic"/>
                <a:cs typeface="Malgun Gothic"/>
              </a:rPr>
              <a:t>분자 정보가 우선</a:t>
            </a:r>
            <a:r>
              <a:rPr sz="2000" b="0" i="0">
                <a:solidFill>
                  <a:srgbClr val="11202B"/>
                </a:solidFill>
                <a:latin typeface="Malgun Gothic"/>
                <a:ea typeface="Malgun Gothic"/>
                <a:cs typeface="Malgun Gothic"/>
              </a:rPr>
              <a:t>하는 경우가 많다.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주요 변화:</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성인형 미만성 신경교종을 </a:t>
            </a:r>
            <a:r>
              <a:rPr sz="1800" b="1" i="0">
                <a:solidFill>
                  <a:srgbClr val="2E3F4C"/>
                </a:solidFill>
                <a:latin typeface="Malgun Gothic"/>
                <a:ea typeface="Malgun Gothic"/>
                <a:cs typeface="Malgun Gothic"/>
              </a:rPr>
              <a:t>3가지</a:t>
            </a:r>
            <a:r>
              <a:rPr sz="1800" b="0" i="0">
                <a:solidFill>
                  <a:srgbClr val="2E3F4C"/>
                </a:solidFill>
                <a:latin typeface="Malgun Gothic"/>
                <a:ea typeface="Malgun Gothic"/>
                <a:cs typeface="Malgun Gothic"/>
              </a:rPr>
              <a:t>로 단순화: </a:t>
            </a:r>
            <a:r>
              <a:rPr sz="1800" b="1" i="0">
                <a:solidFill>
                  <a:srgbClr val="2E3F4C"/>
                </a:solidFill>
                <a:latin typeface="Malgun Gothic"/>
                <a:ea typeface="Malgun Gothic"/>
                <a:cs typeface="Malgun Gothic"/>
              </a:rPr>
              <a:t>별아교세포종(IDH 변이)</a:t>
            </a:r>
            <a:r>
              <a:rPr sz="1800" b="0" i="0">
                <a:solidFill>
                  <a:srgbClr val="2E3F4C"/>
                </a:solidFill>
                <a:latin typeface="Malgun Gothic"/>
                <a:ea typeface="Malgun Gothic"/>
                <a:cs typeface="Malgun Gothic"/>
              </a:rPr>
              <a:t>, </a:t>
            </a:r>
            <a:r>
              <a:rPr sz="1800" b="1" i="0">
                <a:solidFill>
                  <a:srgbClr val="2E3F4C"/>
                </a:solidFill>
                <a:latin typeface="Malgun Gothic"/>
                <a:ea typeface="Malgun Gothic"/>
                <a:cs typeface="Malgun Gothic"/>
              </a:rPr>
              <a:t>희소돌기아교세포종(IDH 변이 + 1p/19q 공동결실)</a:t>
            </a:r>
            <a:r>
              <a:rPr sz="1800" b="0" i="0">
                <a:solidFill>
                  <a:srgbClr val="2E3F4C"/>
                </a:solidFill>
                <a:latin typeface="Malgun Gothic"/>
                <a:ea typeface="Malgun Gothic"/>
                <a:cs typeface="Malgun Gothic"/>
              </a:rPr>
              <a:t>, </a:t>
            </a:r>
            <a:r>
              <a:rPr sz="1800" b="1" i="0">
                <a:solidFill>
                  <a:srgbClr val="2E3F4C"/>
                </a:solidFill>
                <a:latin typeface="Malgun Gothic"/>
                <a:ea typeface="Malgun Gothic"/>
                <a:cs typeface="Malgun Gothic"/>
              </a:rPr>
              <a:t>교모세포종(IDH 야생형)</a:t>
            </a:r>
            <a:r>
              <a:rPr sz="1800" b="0" i="0">
                <a:solidFill>
                  <a:srgbClr val="2E3F4C"/>
                </a:solidFill>
                <a:latin typeface="Malgun Gothic"/>
                <a:ea typeface="Malgun Gothic"/>
                <a:cs typeface="Malgun Gothic"/>
              </a:rPr>
              <a:t>.</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'이차성 교모세포종'이라는 용어 폐기 → IDH 변이 별아교세포종 </a:t>
            </a:r>
            <a:r>
              <a:rPr sz="1800" b="1" i="0">
                <a:solidFill>
                  <a:srgbClr val="2E3F4C"/>
                </a:solidFill>
                <a:latin typeface="Malgun Gothic"/>
                <a:ea typeface="Malgun Gothic"/>
                <a:cs typeface="Malgun Gothic"/>
              </a:rPr>
              <a:t>4등급</a:t>
            </a:r>
            <a:r>
              <a:rPr sz="1800" b="0" i="0">
                <a:solidFill>
                  <a:srgbClr val="2E3F4C"/>
                </a:solidFill>
                <a:latin typeface="Malgun Gothic"/>
                <a:ea typeface="Malgun Gothic"/>
                <a:cs typeface="Malgun Gothic"/>
              </a:rPr>
              <a:t>.</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등급을 종양 '유형 내'에서 매기고 아라비아 숫자 사용(WHO 1–4등급).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2021 WHO 분류의 원칙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분자 표지로 등급 상향</a:t>
            </a:r>
            <a:r>
              <a:rPr sz="1800" b="0" i="0">
                <a:solidFill>
                  <a:srgbClr val="2E3F4C"/>
                </a:solidFill>
                <a:latin typeface="Malgun Gothic"/>
                <a:ea typeface="Malgun Gothic"/>
                <a:cs typeface="Malgun Gothic"/>
              </a:rPr>
              <a:t>: IDH 변이 별아교세포종에서 </a:t>
            </a:r>
            <a:r>
              <a:rPr sz="1800" b="1" i="0">
                <a:solidFill>
                  <a:srgbClr val="2E3F4C"/>
                </a:solidFill>
                <a:latin typeface="Malgun Gothic"/>
                <a:ea typeface="Malgun Gothic"/>
                <a:cs typeface="Malgun Gothic"/>
              </a:rPr>
              <a:t>CDKN2A/B 동형 결실 → 4등급</a:t>
            </a:r>
            <a:r>
              <a:rPr sz="1800" b="0" i="0">
                <a:solidFill>
                  <a:srgbClr val="2E3F4C"/>
                </a:solidFill>
                <a:latin typeface="Malgun Gothic"/>
                <a:ea typeface="Malgun Gothic"/>
                <a:cs typeface="Malgun Gothic"/>
              </a:rPr>
              <a:t>; IDH 야생형 저등급 형태라도 </a:t>
            </a:r>
            <a:r>
              <a:rPr sz="1800" b="1" i="0">
                <a:solidFill>
                  <a:srgbClr val="2E3F4C"/>
                </a:solidFill>
                <a:latin typeface="Malgun Gothic"/>
                <a:ea typeface="Malgun Gothic"/>
                <a:cs typeface="Malgun Gothic"/>
              </a:rPr>
              <a:t>TERT 프로모터 변이, EGFR 증폭, +7/−10 중 하나 → 교모세포종(4등급)</a:t>
            </a:r>
            <a:r>
              <a:rPr sz="1800" b="0" i="0">
                <a:solidFill>
                  <a:srgbClr val="2E3F4C"/>
                </a:solidFill>
                <a:latin typeface="Malgun Gothic"/>
                <a:ea typeface="Malgun Gothic"/>
                <a:cs typeface="Malgun Gothic"/>
              </a:rPr>
              <a:t>.</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소아형 신경교종을 성인형과 분리(저등급/고등급), 새로운 종양 유형(미만성 반구 신경교종 H3 G34 변이, 미만성 정중선 신경교종 H3 K27 변경 등) 도입.</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메틸화 프로파일이 일부 종양의 </a:t>
            </a:r>
            <a:r>
              <a:rPr sz="1800" b="1" i="0">
                <a:solidFill>
                  <a:srgbClr val="2E3F4C"/>
                </a:solidFill>
                <a:latin typeface="Malgun Gothic"/>
                <a:ea typeface="Malgun Gothic"/>
                <a:cs typeface="Malgun Gothic"/>
              </a:rPr>
              <a:t>정의적 기준</a:t>
            </a:r>
            <a:r>
              <a:rPr sz="1800" b="0" i="0">
                <a:solidFill>
                  <a:srgbClr val="2E3F4C"/>
                </a:solidFill>
                <a:latin typeface="Malgun Gothic"/>
                <a:ea typeface="Malgun Gothic"/>
                <a:cs typeface="Malgun Gothic"/>
              </a:rPr>
              <a:t>으로 포함.</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진단명 표기 예: "Astrocytoma, IDH-mutant, CNS WHO grade 4 (with CDKN2A/B homozygous deletion)".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신경교종의 분자 정의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IDH 변이 검출: </a:t>
            </a:r>
            <a:r>
              <a:rPr sz="2200" b="1" i="0">
                <a:solidFill>
                  <a:srgbClr val="11202B"/>
                </a:solidFill>
                <a:latin typeface="Malgun Gothic"/>
                <a:ea typeface="Malgun Gothic"/>
                <a:cs typeface="Malgun Gothic"/>
              </a:rPr>
              <a:t>IDH1 R132H 면역조직화학</a:t>
            </a:r>
            <a:r>
              <a:rPr sz="2200" b="0" i="0">
                <a:solidFill>
                  <a:srgbClr val="11202B"/>
                </a:solidFill>
                <a:latin typeface="Malgun Gothic"/>
                <a:ea typeface="Malgun Gothic"/>
                <a:cs typeface="Malgun Gothic"/>
              </a:rPr>
              <a:t>(가장 흔한 변이) → 음성이고 55세 미만·비전형이면 시퀀싱으로 비정형 IDH1/2 변이 확인.</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1p/19q: FISH, 마이크로어레이, 시퀀싱 기반(전체 팔 공동결실이어야 함 — 부분 결실은 해당 없음).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신경교종의 분자 정의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종양</a:t>
                      </a:r>
                    </a:p>
                  </a:txBody>
                  <a:tcPr marL="73152" marR="73152">
                    <a:solidFill>
                      <a:srgbClr val="003C71"/>
                    </a:solidFill>
                  </a:tcPr>
                </a:tc>
                <a:tc>
                  <a:txBody>
                    <a:bodyPr/>
                    <a:lstStyle/>
                    <a:p>
                      <a:r>
                        <a:rPr sz="1300" b="1" i="0">
                          <a:solidFill>
                            <a:srgbClr val="FFFFFF"/>
                          </a:solidFill>
                          <a:latin typeface="Malgun Gothic"/>
                          <a:ea typeface="Malgun Gothic"/>
                          <a:cs typeface="Malgun Gothic"/>
                        </a:rPr>
                        <a:t>필수 분자</a:t>
                      </a:r>
                    </a:p>
                  </a:txBody>
                  <a:tcPr marL="73152" marR="73152">
                    <a:solidFill>
                      <a:srgbClr val="003C71"/>
                    </a:solidFill>
                  </a:tcPr>
                </a:tc>
                <a:tc>
                  <a:txBody>
                    <a:bodyPr/>
                    <a:lstStyle/>
                    <a:p>
                      <a:r>
                        <a:rPr sz="1300" b="1" i="0">
                          <a:solidFill>
                            <a:srgbClr val="FFFFFF"/>
                          </a:solidFill>
                          <a:latin typeface="Malgun Gothic"/>
                          <a:ea typeface="Malgun Gothic"/>
                          <a:cs typeface="Malgun Gothic"/>
                        </a:rPr>
                        <a:t>부가 소견</a:t>
                      </a:r>
                    </a:p>
                  </a:txBody>
                  <a:tcPr marL="73152" marR="73152">
                    <a:solidFill>
                      <a:srgbClr val="003C71"/>
                    </a:solidFill>
                  </a:tcPr>
                </a:tc>
                <a:tc>
                  <a:txBody>
                    <a:bodyPr/>
                    <a:lstStyle/>
                    <a:p>
                      <a:r>
                        <a:rPr sz="1300" b="1" i="0">
                          <a:solidFill>
                            <a:srgbClr val="FFFFFF"/>
                          </a:solidFill>
                          <a:latin typeface="Malgun Gothic"/>
                          <a:ea typeface="Malgun Gothic"/>
                          <a:cs typeface="Malgun Gothic"/>
                        </a:rPr>
                        <a:t>임상</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별아교세포종, IDH 변이</a:t>
                      </a:r>
                      <a:r>
                        <a:rPr sz="1300" b="0" i="0">
                          <a:solidFill>
                            <a:srgbClr val="11202B"/>
                          </a:solidFill>
                          <a:latin typeface="Malgun Gothic"/>
                          <a:ea typeface="Malgun Gothic"/>
                          <a:cs typeface="Malgun Gothic"/>
                        </a:rPr>
                        <a:t> (2–4등급)</a:t>
                      </a:r>
                    </a:p>
                  </a:txBody>
                  <a:tcPr marL="73152" marR="73152">
                    <a:solidFill>
                      <a:srgbClr val="FFFFFF"/>
                    </a:solidFill>
                  </a:tcPr>
                </a:tc>
                <a:tc>
                  <a:txBody>
                    <a:bodyPr/>
                    <a:lstStyle/>
                    <a:p>
                      <a:r>
                        <a:rPr sz="1300" b="0" i="0">
                          <a:solidFill>
                            <a:srgbClr val="11202B"/>
                          </a:solidFill>
                          <a:latin typeface="Malgun Gothic"/>
                          <a:ea typeface="Malgun Gothic"/>
                          <a:cs typeface="Malgun Gothic"/>
                        </a:rPr>
                        <a:t>IDH1/2 변이, 1p/19q 비결실</a:t>
                      </a:r>
                    </a:p>
                  </a:txBody>
                  <a:tcPr marL="73152" marR="73152">
                    <a:solidFill>
                      <a:srgbClr val="FFFFFF"/>
                    </a:solidFill>
                  </a:tcPr>
                </a:tc>
                <a:tc>
                  <a:txBody>
                    <a:bodyPr/>
                    <a:lstStyle/>
                    <a:p>
                      <a:r>
                        <a:rPr sz="1300" b="0" i="0">
                          <a:solidFill>
                            <a:srgbClr val="11202B"/>
                          </a:solidFill>
                          <a:latin typeface="Malgun Gothic"/>
                          <a:ea typeface="Malgun Gothic"/>
                          <a:cs typeface="Malgun Gothic"/>
                        </a:rPr>
                        <a:t>ATRX 소실, TP53 변이</a:t>
                      </a:r>
                    </a:p>
                  </a:txBody>
                  <a:tcPr marL="73152" marR="73152">
                    <a:solidFill>
                      <a:srgbClr val="FFFFFF"/>
                    </a:solidFill>
                  </a:tcPr>
                </a:tc>
                <a:tc>
                  <a:txBody>
                    <a:bodyPr/>
                    <a:lstStyle/>
                    <a:p>
                      <a:r>
                        <a:rPr sz="1300" b="0" i="0">
                          <a:solidFill>
                            <a:srgbClr val="11202B"/>
                          </a:solidFill>
                          <a:latin typeface="Malgun Gothic"/>
                          <a:ea typeface="Malgun Gothic"/>
                          <a:cs typeface="Malgun Gothic"/>
                        </a:rPr>
                        <a:t>젊은 성인, 예후 중간; 보라시데닙(2등급)</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희소돌기아교세포종, IDH 변이·1p/19q 공동결실</a:t>
                      </a:r>
                      <a:r>
                        <a:rPr sz="1300" b="0" i="0">
                          <a:solidFill>
                            <a:srgbClr val="11202B"/>
                          </a:solidFill>
                          <a:latin typeface="Malgun Gothic"/>
                          <a:ea typeface="Malgun Gothic"/>
                          <a:cs typeface="Malgun Gothic"/>
                        </a:rPr>
                        <a:t> (2–3등급)</a:t>
                      </a:r>
                    </a:p>
                  </a:txBody>
                  <a:tcPr marL="73152" marR="73152">
                    <a:solidFill>
                      <a:srgbClr val="ECF1F5"/>
                    </a:solidFill>
                  </a:tcPr>
                </a:tc>
                <a:tc>
                  <a:txBody>
                    <a:bodyPr/>
                    <a:lstStyle/>
                    <a:p>
                      <a:r>
                        <a:rPr sz="1300" b="0" i="0">
                          <a:solidFill>
                            <a:srgbClr val="11202B"/>
                          </a:solidFill>
                          <a:latin typeface="Malgun Gothic"/>
                          <a:ea typeface="Malgun Gothic"/>
                          <a:cs typeface="Malgun Gothic"/>
                        </a:rPr>
                        <a:t>IDH 변이 + </a:t>
                      </a:r>
                      <a:r>
                        <a:rPr sz="1300" b="1" i="0">
                          <a:solidFill>
                            <a:srgbClr val="11202B"/>
                          </a:solidFill>
                          <a:latin typeface="Malgun Gothic"/>
                          <a:ea typeface="Malgun Gothic"/>
                          <a:cs typeface="Malgun Gothic"/>
                        </a:rPr>
                        <a:t>1p/19q 공동결실</a:t>
                      </a:r>
                    </a:p>
                  </a:txBody>
                  <a:tcPr marL="73152" marR="73152">
                    <a:solidFill>
                      <a:srgbClr val="ECF1F5"/>
                    </a:solidFill>
                  </a:tcPr>
                </a:tc>
                <a:tc>
                  <a:txBody>
                    <a:bodyPr/>
                    <a:lstStyle/>
                    <a:p>
                      <a:r>
                        <a:rPr sz="1300" b="0" i="0">
                          <a:solidFill>
                            <a:srgbClr val="11202B"/>
                          </a:solidFill>
                          <a:latin typeface="Malgun Gothic"/>
                          <a:ea typeface="Malgun Gothic"/>
                          <a:cs typeface="Malgun Gothic"/>
                        </a:rPr>
                        <a:t>TERT 프로모터 변이, CIC·FUBP1</a:t>
                      </a:r>
                    </a:p>
                  </a:txBody>
                  <a:tcPr marL="73152" marR="73152">
                    <a:solidFill>
                      <a:srgbClr val="ECF1F5"/>
                    </a:solidFill>
                  </a:tcPr>
                </a:tc>
                <a:tc>
                  <a:txBody>
                    <a:bodyPr/>
                    <a:lstStyle/>
                    <a:p>
                      <a:r>
                        <a:rPr sz="1300" b="0" i="0">
                          <a:solidFill>
                            <a:srgbClr val="11202B"/>
                          </a:solidFill>
                          <a:latin typeface="Malgun Gothic"/>
                          <a:ea typeface="Malgun Gothic"/>
                          <a:cs typeface="Malgun Gothic"/>
                        </a:rPr>
                        <a:t>가장 좋은 예후, PCV 반응</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교모세포종, IDH 야생형</a:t>
                      </a:r>
                      <a:r>
                        <a:rPr sz="1300" b="0" i="0">
                          <a:solidFill>
                            <a:srgbClr val="11202B"/>
                          </a:solidFill>
                          <a:latin typeface="Malgun Gothic"/>
                          <a:ea typeface="Malgun Gothic"/>
                          <a:cs typeface="Malgun Gothic"/>
                        </a:rPr>
                        <a:t> (4등급)</a:t>
                      </a:r>
                    </a:p>
                  </a:txBody>
                  <a:tcPr marL="73152" marR="73152">
                    <a:solidFill>
                      <a:srgbClr val="FFFFFF"/>
                    </a:solidFill>
                  </a:tcPr>
                </a:tc>
                <a:tc>
                  <a:txBody>
                    <a:bodyPr/>
                    <a:lstStyle/>
                    <a:p>
                      <a:r>
                        <a:rPr sz="1300" b="0" i="0">
                          <a:solidFill>
                            <a:srgbClr val="11202B"/>
                          </a:solidFill>
                          <a:latin typeface="Malgun Gothic"/>
                          <a:ea typeface="Malgun Gothic"/>
                          <a:cs typeface="Malgun Gothic"/>
                        </a:rPr>
                        <a:t>IDH 야생형 + (미세혈관 증식/괴사 </a:t>
                      </a:r>
                      <a:r>
                        <a:rPr sz="1300" b="1" i="0">
                          <a:solidFill>
                            <a:srgbClr val="11202B"/>
                          </a:solidFill>
                          <a:latin typeface="Malgun Gothic"/>
                          <a:ea typeface="Malgun Gothic"/>
                          <a:cs typeface="Malgun Gothic"/>
                        </a:rPr>
                        <a:t>또는</a:t>
                      </a:r>
                      <a:r>
                        <a:rPr sz="1300" b="0" i="0">
                          <a:solidFill>
                            <a:srgbClr val="11202B"/>
                          </a:solidFill>
                          <a:latin typeface="Malgun Gothic"/>
                          <a:ea typeface="Malgun Gothic"/>
                          <a:cs typeface="Malgun Gothic"/>
                        </a:rPr>
                        <a:t> TERT·EGFR 증폭·+7/−10)</a:t>
                      </a:r>
                    </a:p>
                  </a:txBody>
                  <a:tcPr marL="73152" marR="73152">
                    <a:solidFill>
                      <a:srgbClr val="FFFFFF"/>
                    </a:solidFill>
                  </a:tcPr>
                </a:tc>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고령, 예후 불량</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미만성 정중선 신경교종, H3 K27 변경</a:t>
                      </a:r>
                      <a:r>
                        <a:rPr sz="1300" b="0" i="0">
                          <a:solidFill>
                            <a:srgbClr val="11202B"/>
                          </a:solidFill>
                          <a:latin typeface="Malgun Gothic"/>
                          <a:ea typeface="Malgun Gothic"/>
                          <a:cs typeface="Malgun Gothic"/>
                        </a:rPr>
                        <a:t> (4등급)</a:t>
                      </a:r>
                    </a:p>
                  </a:txBody>
                  <a:tcPr marL="73152" marR="73152">
                    <a:solidFill>
                      <a:srgbClr val="ECF1F5"/>
                    </a:solidFill>
                  </a:tcPr>
                </a:tc>
                <a:tc>
                  <a:txBody>
                    <a:bodyPr/>
                    <a:lstStyle/>
                    <a:p>
                      <a:r>
                        <a:rPr sz="1300" b="0" i="0">
                          <a:solidFill>
                            <a:srgbClr val="11202B"/>
                          </a:solidFill>
                          <a:latin typeface="Malgun Gothic"/>
                          <a:ea typeface="Malgun Gothic"/>
                          <a:cs typeface="Malgun Gothic"/>
                        </a:rPr>
                        <a:t>H3 K27M 변이 또는 EZHIP 과발현</a:t>
                      </a:r>
                    </a:p>
                  </a:txBody>
                  <a:tcPr marL="73152" marR="73152">
                    <a:solidFill>
                      <a:srgbClr val="ECF1F5"/>
                    </a:solidFill>
                  </a:tcPr>
                </a:tc>
                <a:tc>
                  <a:txBody>
                    <a:bodyPr/>
                    <a:lstStyle/>
                    <a:p>
                      <a:r>
                        <a:rPr sz="1300" b="0" i="0">
                          <a:solidFill>
                            <a:srgbClr val="11202B"/>
                          </a:solidFill>
                          <a:latin typeface="Malgun Gothic"/>
                          <a:ea typeface="Malgun Gothic"/>
                          <a:cs typeface="Malgun Gothic"/>
                        </a:rPr>
                        <a:t>시상·뇌교·척수</a:t>
                      </a:r>
                    </a:p>
                  </a:txBody>
                  <a:tcPr marL="73152" marR="73152">
                    <a:solidFill>
                      <a:srgbClr val="ECF1F5"/>
                    </a:solidFill>
                  </a:tcPr>
                </a:tc>
                <a:tc>
                  <a:txBody>
                    <a:bodyPr/>
                    <a:lstStyle/>
                    <a:p>
                      <a:r>
                        <a:rPr sz="1300" b="0" i="0">
                          <a:solidFill>
                            <a:srgbClr val="11202B"/>
                          </a:solidFill>
                          <a:latin typeface="Malgun Gothic"/>
                          <a:ea typeface="Malgun Gothic"/>
                          <a:cs typeface="Malgun Gothic"/>
                        </a:rPr>
                        <a:t>소아·젊은 성인, 예후 매우 불량</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미만성 반구 신경교종, H3 G34 변이 (4등급)</a:t>
                      </a:r>
                    </a:p>
                  </a:txBody>
                  <a:tcPr marL="73152" marR="73152">
                    <a:solidFill>
                      <a:srgbClr val="FFFFFF"/>
                    </a:solidFill>
                  </a:tcPr>
                </a:tc>
                <a:tc>
                  <a:txBody>
                    <a:bodyPr/>
                    <a:lstStyle/>
                    <a:p>
                      <a:r>
                        <a:rPr sz="1300" b="0" i="0">
                          <a:solidFill>
                            <a:srgbClr val="11202B"/>
                          </a:solidFill>
                          <a:latin typeface="Malgun Gothic"/>
                          <a:ea typeface="Malgun Gothic"/>
                          <a:cs typeface="Malgun Gothic"/>
                        </a:rPr>
                        <a:t>H3F3A G34R/V</a:t>
                      </a:r>
                    </a:p>
                  </a:txBody>
                  <a:tcPr marL="73152" marR="73152">
                    <a:solidFill>
                      <a:srgbClr val="FFFFFF"/>
                    </a:solidFill>
                  </a:tcPr>
                </a:tc>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청소년·젊은 성인</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소아형 저등급 신경교종</a:t>
                      </a:r>
                    </a:p>
                  </a:txBody>
                  <a:tcPr marL="73152" marR="73152">
                    <a:solidFill>
                      <a:srgbClr val="ECF1F5"/>
                    </a:solidFill>
                  </a:tcPr>
                </a:tc>
                <a:tc>
                  <a:txBody>
                    <a:bodyPr/>
                    <a:lstStyle/>
                    <a:p>
                      <a:r>
                        <a:rPr sz="1300" b="0" i="0">
                          <a:solidFill>
                            <a:srgbClr val="11202B"/>
                          </a:solidFill>
                          <a:latin typeface="Malgun Gothic"/>
                          <a:ea typeface="Malgun Gothic"/>
                          <a:cs typeface="Malgun Gothic"/>
                        </a:rPr>
                        <a:t>BRAF V600E, KIAA1549-BRAF 융합, FGFR1, NF1</a:t>
                      </a:r>
                    </a:p>
                  </a:txBody>
                  <a:tcPr marL="73152" marR="73152">
                    <a:solidFill>
                      <a:srgbClr val="ECF1F5"/>
                    </a:solidFill>
                  </a:tcPr>
                </a:tc>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표적 치료(다브라페닙+트라메티닙, 셀루메티닙) 반응</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상의세포종</a:t>
                      </a:r>
                    </a:p>
                  </a:txBody>
                  <a:tcPr marL="73152" marR="73152">
                    <a:solidFill>
                      <a:srgbClr val="FFFFFF"/>
                    </a:solidFill>
                  </a:tcPr>
                </a:tc>
                <a:tc>
                  <a:txBody>
                    <a:bodyPr/>
                    <a:lstStyle/>
                    <a:p>
                      <a:r>
                        <a:rPr sz="1300" b="0" i="0">
                          <a:solidFill>
                            <a:srgbClr val="11202B"/>
                          </a:solidFill>
                          <a:latin typeface="Malgun Gothic"/>
                          <a:ea typeface="Malgun Gothic"/>
                          <a:cs typeface="Malgun Gothic"/>
                        </a:rPr>
                        <a:t>부위·분자: 천막상부 </a:t>
                      </a:r>
                      <a:r>
                        <a:rPr sz="1300" b="1" i="0">
                          <a:solidFill>
                            <a:srgbClr val="11202B"/>
                          </a:solidFill>
                          <a:latin typeface="Malgun Gothic"/>
                          <a:ea typeface="Malgun Gothic"/>
                          <a:cs typeface="Malgun Gothic"/>
                        </a:rPr>
                        <a:t>ZFTA(C11orf95) 융합</a:t>
                      </a:r>
                      <a:r>
                        <a:rPr sz="1300" b="0" i="0">
                          <a:solidFill>
                            <a:srgbClr val="11202B"/>
                          </a:solidFill>
                          <a:latin typeface="Malgun Gothic"/>
                          <a:ea typeface="Malgun Gothic"/>
                          <a:cs typeface="Malgun Gothic"/>
                        </a:rPr>
                        <a:t>·YAP1, 후두와 </a:t>
                      </a:r>
                      <a:r>
                        <a:rPr sz="1300" b="1" i="0">
                          <a:solidFill>
                            <a:srgbClr val="11202B"/>
                          </a:solidFill>
                          <a:latin typeface="Malgun Gothic"/>
                          <a:ea typeface="Malgun Gothic"/>
                          <a:cs typeface="Malgun Gothic"/>
                        </a:rPr>
                        <a:t>PFA(H3K27me3 소실)</a:t>
                      </a:r>
                      <a:r>
                        <a:rPr sz="1300" b="0" i="0">
                          <a:solidFill>
                            <a:srgbClr val="11202B"/>
                          </a:solidFill>
                          <a:latin typeface="Malgun Gothic"/>
                          <a:ea typeface="Malgun Gothic"/>
                          <a:cs typeface="Malgun Gothic"/>
                        </a:rPr>
                        <a:t>·PFB, 척수 MYCN 증폭</a:t>
                      </a:r>
                    </a:p>
                  </a:txBody>
                  <a:tcPr marL="73152" marR="73152">
                    <a:solidFill>
                      <a:srgbClr val="FFFFFF"/>
                    </a:solidFill>
                  </a:tcPr>
                </a:tc>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분자 아형이 예후 결정</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수모세포종</a:t>
                      </a:r>
                    </a:p>
                  </a:txBody>
                  <a:tcPr marL="73152" marR="73152">
                    <a:solidFill>
                      <a:srgbClr val="ECF1F5"/>
                    </a:solidFill>
                  </a:tcPr>
                </a:tc>
                <a:tc>
                  <a:txBody>
                    <a:bodyPr/>
                    <a:lstStyle/>
                    <a:p>
                      <a:r>
                        <a:rPr sz="1300" b="1" i="0">
                          <a:solidFill>
                            <a:srgbClr val="11202B"/>
                          </a:solidFill>
                          <a:latin typeface="Malgun Gothic"/>
                          <a:ea typeface="Malgun Gothic"/>
                          <a:cs typeface="Malgun Gothic"/>
                        </a:rPr>
                        <a:t>WNT</a:t>
                      </a:r>
                      <a:r>
                        <a:rPr sz="1300" b="0" i="0">
                          <a:solidFill>
                            <a:srgbClr val="11202B"/>
                          </a:solidFill>
                          <a:latin typeface="Malgun Gothic"/>
                          <a:ea typeface="Malgun Gothic"/>
                          <a:cs typeface="Malgun Gothic"/>
                        </a:rPr>
                        <a:t>(예후 매우 좋음), </a:t>
                      </a:r>
                      <a:r>
                        <a:rPr sz="1300" b="1" i="0">
                          <a:solidFill>
                            <a:srgbClr val="11202B"/>
                          </a:solidFill>
                          <a:latin typeface="Malgun Gothic"/>
                          <a:ea typeface="Malgun Gothic"/>
                          <a:cs typeface="Malgun Gothic"/>
                        </a:rPr>
                        <a:t>SHH</a:t>
                      </a:r>
                      <a:r>
                        <a:rPr sz="1300" b="0" i="0">
                          <a:solidFill>
                            <a:srgbClr val="11202B"/>
                          </a:solidFill>
                          <a:latin typeface="Malgun Gothic"/>
                          <a:ea typeface="Malgun Gothic"/>
                          <a:cs typeface="Malgun Gothic"/>
                        </a:rPr>
                        <a:t>(TP53 상태에 따라 다름), </a:t>
                      </a:r>
                      <a:r>
                        <a:rPr sz="1300" b="1" i="0">
                          <a:solidFill>
                            <a:srgbClr val="11202B"/>
                          </a:solidFill>
                          <a:latin typeface="Malgun Gothic"/>
                          <a:ea typeface="Malgun Gothic"/>
                          <a:cs typeface="Malgun Gothic"/>
                        </a:rPr>
                        <a:t>그룹 3</a:t>
                      </a:r>
                      <a:r>
                        <a:rPr sz="1300" b="0" i="0">
                          <a:solidFill>
                            <a:srgbClr val="11202B"/>
                          </a:solidFill>
                          <a:latin typeface="Malgun Gothic"/>
                          <a:ea typeface="Malgun Gothic"/>
                          <a:cs typeface="Malgun Gothic"/>
                        </a:rPr>
                        <a:t>(MYC — 불량), </a:t>
                      </a:r>
                      <a:r>
                        <a:rPr sz="1300" b="1" i="0">
                          <a:solidFill>
                            <a:srgbClr val="11202B"/>
                          </a:solidFill>
                          <a:latin typeface="Malgun Gothic"/>
                          <a:ea typeface="Malgun Gothic"/>
                          <a:cs typeface="Malgun Gothic"/>
                        </a:rPr>
                        <a:t>그룹 4</a:t>
                      </a:r>
                    </a:p>
                  </a:txBody>
                  <a:tcPr marL="73152" marR="73152">
                    <a:solidFill>
                      <a:srgbClr val="ECF1F5"/>
                    </a:solidFill>
                  </a:tcPr>
                </a:tc>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치료 강도 조절에 사용</a:t>
                      </a:r>
                    </a:p>
                  </a:txBody>
                  <a:tcPr marL="73152" marR="73152">
                    <a:solidFill>
                      <a:srgbClr val="ECF1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DNA 메틸화 기반 분류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원리: 종양의 </a:t>
            </a:r>
            <a:r>
              <a:rPr sz="1800" b="1" i="0">
                <a:solidFill>
                  <a:srgbClr val="11202B"/>
                </a:solidFill>
                <a:latin typeface="Malgun Gothic"/>
                <a:ea typeface="Malgun Gothic"/>
                <a:cs typeface="Malgun Gothic"/>
              </a:rPr>
              <a:t>세포 기원과 분화 상태가 메틸화 패턴에 각인</a:t>
            </a:r>
            <a:r>
              <a:rPr sz="1800" b="0" i="0">
                <a:solidFill>
                  <a:srgbClr val="11202B"/>
                </a:solidFill>
                <a:latin typeface="Malgun Gothic"/>
                <a:ea typeface="Malgun Gothic"/>
                <a:cs typeface="Malgun Gothic"/>
              </a:rPr>
              <a:t> → 전장 메틸화 어레이(850K) 데이터로 기계학습 분류기가 종양 유형을 예측(독일 DKFZ 분류기, 100종 이상 클래스).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영향: 대규모 검증 연구에서 기존 조직학적 진단의 </a:t>
            </a:r>
            <a:r>
              <a:rPr sz="1800" b="1" i="0">
                <a:solidFill>
                  <a:srgbClr val="11202B"/>
                </a:solidFill>
                <a:latin typeface="Malgun Gothic"/>
                <a:ea typeface="Malgun Gothic"/>
                <a:cs typeface="Malgun Gothic"/>
              </a:rPr>
              <a:t>약 12–15%가 변경</a:t>
            </a:r>
            <a:r>
              <a:rPr sz="1800" b="0" i="0">
                <a:solidFill>
                  <a:srgbClr val="11202B"/>
                </a:solidFill>
                <a:latin typeface="Malgun Gothic"/>
                <a:ea typeface="Malgun Gothic"/>
                <a:cs typeface="Malgun Gothic"/>
              </a:rPr>
              <a:t>되었고 상당수에서 치료 방침이 바뀌었다(Capper et al., Nature 2018).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활용: 진단이 모호한 종양, 소아 종양, 희귀 종양, 역형성 변화 판정, 상의세포종·수모세포종 아형, 생검량이 적은 경우; 복제수 변이(CNV) 프로파일도 동시에 산출(EGFR 증폭, CDKN2A/B 결실, 1p/19q 등).</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수술 중 신속 메틸화 분류</a:t>
            </a:r>
            <a:r>
              <a:rPr sz="1800" b="0" i="0">
                <a:solidFill>
                  <a:srgbClr val="11202B"/>
                </a:solidFill>
                <a:latin typeface="Malgun Gothic"/>
                <a:ea typeface="Malgun Gothic"/>
                <a:cs typeface="Malgun Gothic"/>
              </a:rPr>
              <a:t>: 나노포어 시퀀싱 + 실시간 분류(Sturgeon 등 신경망) — 40–90분 내 결과 → 절제 범위·추가 시술 결정에 반영.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DNA 메틸화 기반 분류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한계: 비용, 조직·종양 세포 비율, 분류기 신뢰도 점수 해석, 새로운 클래스의 임상 의미 미확립.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검사 방법의 선택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실무 흐름: 조직 확보 → 신속 동결 절편(진단 확정·충분량 확인) → 조직학 + 면역조직화학 → 필요 시 패널/메틸화 → 통합 진단 보고 → 분자종양위원회(B02 L10).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검사 방법의 선택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방법</a:t>
                      </a:r>
                    </a:p>
                  </a:txBody>
                  <a:tcPr marL="73152" marR="73152">
                    <a:solidFill>
                      <a:srgbClr val="003C71"/>
                    </a:solidFill>
                  </a:tcPr>
                </a:tc>
                <a:tc>
                  <a:txBody>
                    <a:bodyPr/>
                    <a:lstStyle/>
                    <a:p>
                      <a:r>
                        <a:rPr sz="1500" b="1" i="0">
                          <a:solidFill>
                            <a:srgbClr val="FFFFFF"/>
                          </a:solidFill>
                          <a:latin typeface="Malgun Gothic"/>
                          <a:ea typeface="Malgun Gothic"/>
                          <a:cs typeface="Malgun Gothic"/>
                        </a:rPr>
                        <a:t>용도</a:t>
                      </a:r>
                    </a:p>
                  </a:txBody>
                  <a:tcPr marL="73152" marR="73152">
                    <a:solidFill>
                      <a:srgbClr val="003C71"/>
                    </a:solidFill>
                  </a:tcPr>
                </a:tc>
                <a:tc>
                  <a:txBody>
                    <a:bodyPr/>
                    <a:lstStyle/>
                    <a:p>
                      <a:r>
                        <a:rPr sz="1500" b="1" i="0">
                          <a:solidFill>
                            <a:srgbClr val="FFFFFF"/>
                          </a:solidFill>
                          <a:latin typeface="Malgun Gothic"/>
                          <a:ea typeface="Malgun Gothic"/>
                          <a:cs typeface="Malgun Gothic"/>
                        </a:rPr>
                        <a:t>장단점</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면역조직화학</a:t>
                      </a:r>
                    </a:p>
                  </a:txBody>
                  <a:tcPr marL="73152" marR="73152">
                    <a:solidFill>
                      <a:srgbClr val="FFFFFF"/>
                    </a:solidFill>
                  </a:tcPr>
                </a:tc>
                <a:tc>
                  <a:txBody>
                    <a:bodyPr/>
                    <a:lstStyle/>
                    <a:p>
                      <a:r>
                        <a:rPr sz="1500" b="0" i="0">
                          <a:solidFill>
                            <a:srgbClr val="11202B"/>
                          </a:solidFill>
                          <a:latin typeface="Malgun Gothic"/>
                          <a:ea typeface="Malgun Gothic"/>
                          <a:cs typeface="Malgun Gothic"/>
                        </a:rPr>
                        <a:t>IDH1 R132H, ATRX, p53, H3 K27M, H3K27me3 소실, BRAF V600E, INI1(SMARCB1), 신경내분비·계통 표지</a:t>
                      </a:r>
                    </a:p>
                  </a:txBody>
                  <a:tcPr marL="73152" marR="73152">
                    <a:solidFill>
                      <a:srgbClr val="FFFFFF"/>
                    </a:solidFill>
                  </a:tcPr>
                </a:tc>
                <a:tc>
                  <a:txBody>
                    <a:bodyPr/>
                    <a:lstStyle/>
                    <a:p>
                      <a:r>
                        <a:rPr sz="1500" b="0" i="0">
                          <a:solidFill>
                            <a:srgbClr val="11202B"/>
                          </a:solidFill>
                          <a:latin typeface="Malgun Gothic"/>
                          <a:ea typeface="Malgun Gothic"/>
                          <a:cs typeface="Malgun Gothic"/>
                        </a:rPr>
                        <a:t>빠르고 저렴; 변이 특이 항체만 가능</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FISH</a:t>
                      </a:r>
                    </a:p>
                  </a:txBody>
                  <a:tcPr marL="73152" marR="73152">
                    <a:solidFill>
                      <a:srgbClr val="ECF1F5"/>
                    </a:solidFill>
                  </a:tcPr>
                </a:tc>
                <a:tc>
                  <a:txBody>
                    <a:bodyPr/>
                    <a:lstStyle/>
                    <a:p>
                      <a:r>
                        <a:rPr sz="1500" b="0" i="0">
                          <a:solidFill>
                            <a:srgbClr val="11202B"/>
                          </a:solidFill>
                          <a:latin typeface="Malgun Gothic"/>
                          <a:ea typeface="Malgun Gothic"/>
                          <a:cs typeface="Malgun Gothic"/>
                        </a:rPr>
                        <a:t>1p/19q, EGFR 증폭, MYC/MYCN, ZFTA 융합</a:t>
                      </a:r>
                    </a:p>
                  </a:txBody>
                  <a:tcPr marL="73152" marR="73152">
                    <a:solidFill>
                      <a:srgbClr val="ECF1F5"/>
                    </a:solidFill>
                  </a:tcPr>
                </a:tc>
                <a:tc>
                  <a:txBody>
                    <a:bodyPr/>
                    <a:lstStyle/>
                    <a:p>
                      <a:r>
                        <a:rPr sz="1500" b="0" i="0">
                          <a:solidFill>
                            <a:srgbClr val="11202B"/>
                          </a:solidFill>
                          <a:latin typeface="Malgun Gothic"/>
                          <a:ea typeface="Malgun Gothic"/>
                          <a:cs typeface="Malgun Gothic"/>
                        </a:rPr>
                        <a:t>표적 한정</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표적 패널 시퀀싱(NGS)</a:t>
                      </a:r>
                    </a:p>
                  </a:txBody>
                  <a:tcPr marL="73152" marR="73152">
                    <a:solidFill>
                      <a:srgbClr val="FFFFFF"/>
                    </a:solidFill>
                  </a:tcPr>
                </a:tc>
                <a:tc>
                  <a:txBody>
                    <a:bodyPr/>
                    <a:lstStyle/>
                    <a:p>
                      <a:r>
                        <a:rPr sz="1500" b="0" i="0">
                          <a:solidFill>
                            <a:srgbClr val="11202B"/>
                          </a:solidFill>
                          <a:latin typeface="Malgun Gothic"/>
                          <a:ea typeface="Malgun Gothic"/>
                          <a:cs typeface="Malgun Gothic"/>
                        </a:rPr>
                        <a:t>IDH·TERT·H3·BRAF·FGFR·NF1·PTEN 등 + CNV</a:t>
                      </a:r>
                    </a:p>
                  </a:txBody>
                  <a:tcPr marL="73152" marR="73152">
                    <a:solidFill>
                      <a:srgbClr val="FFFFFF"/>
                    </a:solidFill>
                  </a:tcPr>
                </a:tc>
                <a:tc>
                  <a:txBody>
                    <a:bodyPr/>
                    <a:lstStyle/>
                    <a:p>
                      <a:r>
                        <a:rPr sz="1500" b="0" i="0">
                          <a:solidFill>
                            <a:srgbClr val="11202B"/>
                          </a:solidFill>
                          <a:latin typeface="Malgun Gothic"/>
                          <a:ea typeface="Malgun Gothic"/>
                          <a:cs typeface="Malgun Gothic"/>
                        </a:rPr>
                        <a:t>포괄적, 치료 표적 발굴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RNA 시퀀싱·융합 패널</a:t>
                      </a:r>
                    </a:p>
                  </a:txBody>
                  <a:tcPr marL="73152" marR="73152">
                    <a:solidFill>
                      <a:srgbClr val="ECF1F5"/>
                    </a:solidFill>
                  </a:tcPr>
                </a:tc>
                <a:tc>
                  <a:txBody>
                    <a:bodyPr/>
                    <a:lstStyle/>
                    <a:p>
                      <a:r>
                        <a:rPr sz="1500" b="0" i="0">
                          <a:solidFill>
                            <a:srgbClr val="11202B"/>
                          </a:solidFill>
                          <a:latin typeface="Malgun Gothic"/>
                          <a:ea typeface="Malgun Gothic"/>
                          <a:cs typeface="Malgun Gothic"/>
                        </a:rPr>
                        <a:t>ZFTA, BRAF, NTRK, ROS1, FGFR 융합</a:t>
                      </a:r>
                    </a:p>
                  </a:txBody>
                  <a:tcPr marL="73152" marR="73152">
                    <a:solidFill>
                      <a:srgbClr val="ECF1F5"/>
                    </a:solidFill>
                  </a:tcPr>
                </a:tc>
                <a:tc>
                  <a:txBody>
                    <a:bodyPr/>
                    <a:lstStyle/>
                    <a:p>
                      <a:r>
                        <a:rPr sz="1500" b="0" i="0">
                          <a:solidFill>
                            <a:srgbClr val="11202B"/>
                          </a:solidFill>
                          <a:latin typeface="Malgun Gothic"/>
                          <a:ea typeface="Malgun Gothic"/>
                          <a:cs typeface="Malgun Gothic"/>
                        </a:rPr>
                        <a:t>융합 검출에 필수</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메틸화 어레이</a:t>
                      </a:r>
                    </a:p>
                  </a:txBody>
                  <a:tcPr marL="73152" marR="73152">
                    <a:solidFill>
                      <a:srgbClr val="FFFFFF"/>
                    </a:solidFill>
                  </a:tcPr>
                </a:tc>
                <a:tc>
                  <a:txBody>
                    <a:bodyPr/>
                    <a:lstStyle/>
                    <a:p>
                      <a:r>
                        <a:rPr sz="1500" b="0" i="0">
                          <a:solidFill>
                            <a:srgbClr val="11202B"/>
                          </a:solidFill>
                          <a:latin typeface="Malgun Gothic"/>
                          <a:ea typeface="Malgun Gothic"/>
                          <a:cs typeface="Malgun Gothic"/>
                        </a:rPr>
                        <a:t>분류 + CNV + MGMT 상태</a:t>
                      </a:r>
                    </a:p>
                  </a:txBody>
                  <a:tcPr marL="73152" marR="73152">
                    <a:solidFill>
                      <a:srgbClr val="FFFFFF"/>
                    </a:solidFill>
                  </a:tcPr>
                </a:tc>
                <a:tc>
                  <a:txBody>
                    <a:bodyPr/>
                    <a:lstStyle/>
                    <a:p>
                      <a:r>
                        <a:rPr sz="1500" b="0" i="0">
                          <a:solidFill>
                            <a:srgbClr val="11202B"/>
                          </a:solidFill>
                          <a:latin typeface="Malgun Gothic"/>
                          <a:ea typeface="Malgun Gothic"/>
                          <a:cs typeface="Malgun Gothic"/>
                        </a:rPr>
                        <a:t>표준화·분류 강력</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MGMT 메틸화 특이 PCR·파이로시퀀싱</a:t>
                      </a:r>
                    </a:p>
                  </a:txBody>
                  <a:tcPr marL="73152" marR="73152">
                    <a:solidFill>
                      <a:srgbClr val="ECF1F5"/>
                    </a:solidFill>
                  </a:tcPr>
                </a:tc>
                <a:tc>
                  <a:txBody>
                    <a:bodyPr/>
                    <a:lstStyle/>
                    <a:p>
                      <a:r>
                        <a:rPr sz="1500" b="0" i="0">
                          <a:solidFill>
                            <a:srgbClr val="11202B"/>
                          </a:solidFill>
                          <a:latin typeface="Malgun Gothic"/>
                          <a:ea typeface="Malgun Gothic"/>
                          <a:cs typeface="Malgun Gothic"/>
                        </a:rPr>
                        <a:t>치료 예측</a:t>
                      </a:r>
                    </a:p>
                  </a:txBody>
                  <a:tcPr marL="73152" marR="73152">
                    <a:solidFill>
                      <a:srgbClr val="ECF1F5"/>
                    </a:solidFill>
                  </a:tcPr>
                </a:tc>
                <a:tc>
                  <a:txBody>
                    <a:bodyPr/>
                    <a:lstStyle/>
                    <a:p>
                      <a:r>
                        <a:rPr sz="1500" b="0" i="0">
                          <a:solidFill>
                            <a:srgbClr val="11202B"/>
                          </a:solidFill>
                          <a:latin typeface="Malgun Gothic"/>
                          <a:ea typeface="Malgun Gothic"/>
                          <a:cs typeface="Malgun Gothic"/>
                        </a:rPr>
                        <a:t>역치 해석 주의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액체생검(CSF cfDNA)</a:t>
                      </a:r>
                    </a:p>
                  </a:txBody>
                  <a:tcPr marL="73152" marR="73152">
                    <a:solidFill>
                      <a:srgbClr val="FFFFFF"/>
                    </a:solidFill>
                  </a:tcPr>
                </a:tc>
                <a:tc>
                  <a:txBody>
                    <a:bodyPr/>
                    <a:lstStyle/>
                    <a:p>
                      <a:r>
                        <a:rPr sz="1500" b="0" i="0">
                          <a:solidFill>
                            <a:srgbClr val="11202B"/>
                          </a:solidFill>
                          <a:latin typeface="Malgun Gothic"/>
                          <a:ea typeface="Malgun Gothic"/>
                          <a:cs typeface="Malgun Gothic"/>
                        </a:rPr>
                        <a:t>수술 불가·연수막 질환, 추적</a:t>
                      </a:r>
                    </a:p>
                  </a:txBody>
                  <a:tcPr marL="73152" marR="73152">
                    <a:solidFill>
                      <a:srgbClr val="FFFFFF"/>
                    </a:solidFill>
                  </a:tcPr>
                </a:tc>
                <a:tc>
                  <a:txBody>
                    <a:bodyPr/>
                    <a:lstStyle/>
                    <a:p>
                      <a:r>
                        <a:rPr sz="1500" b="0" i="0">
                          <a:solidFill>
                            <a:srgbClr val="11202B"/>
                          </a:solidFill>
                          <a:latin typeface="Malgun Gothic"/>
                          <a:ea typeface="Malgun Gothic"/>
                          <a:cs typeface="Malgun Gothic"/>
                        </a:rPr>
                        <a:t>민감도 제한, 연구 단계</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분자 진단의 임상 영향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치료 결정</a:t>
            </a:r>
            <a:r>
              <a:rPr sz="1800" b="0" i="0">
                <a:solidFill>
                  <a:srgbClr val="11202B"/>
                </a:solidFill>
                <a:latin typeface="Malgun Gothic"/>
                <a:ea typeface="Malgun Gothic"/>
                <a:cs typeface="Malgun Gothic"/>
              </a:rPr>
              <a:t>: MGMT(테모졸로마이드), IDH(보라시데닙·이보시데닙), 1p/19q(PCV), BRAF V600E(다브라페닙+트라메티닙), NTRK·ROS1 융합(라로트렉티닙·엔트렉티닙 — 조직 불문), H3 K27M(ONC201), EGFR·FGFR 시험, MMR 결손·과돌연변이(면역치료 시도).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예후 설명</a:t>
            </a:r>
            <a:r>
              <a:rPr sz="1800" b="0" i="0">
                <a:solidFill>
                  <a:srgbClr val="11202B"/>
                </a:solidFill>
                <a:latin typeface="Malgun Gothic"/>
                <a:ea typeface="Malgun Gothic"/>
                <a:cs typeface="Malgun Gothic"/>
              </a:rPr>
              <a:t>: 같은 조직학이라도 분자 아형에 따라 생존이 수년 차이(희소돌기아교세포종 vs 교모세포종).</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치료 강도 조절</a:t>
            </a:r>
            <a:r>
              <a:rPr sz="1800" b="0" i="0">
                <a:solidFill>
                  <a:srgbClr val="11202B"/>
                </a:solidFill>
                <a:latin typeface="Malgun Gothic"/>
                <a:ea typeface="Malgun Gothic"/>
                <a:cs typeface="Malgun Gothic"/>
              </a:rPr>
              <a:t>: 수모세포종 WNT 아형의 치료 감량 시험, 상의세포종 아형별 방사선 결정.</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임상시험 등록</a:t>
            </a:r>
            <a:r>
              <a:rPr sz="1800" b="0" i="0">
                <a:solidFill>
                  <a:srgbClr val="11202B"/>
                </a:solidFill>
                <a:latin typeface="Malgun Gothic"/>
                <a:ea typeface="Malgun Gothic"/>
                <a:cs typeface="Malgun Gothic"/>
              </a:rPr>
              <a:t>: 거의 모든 신경종양 시험이 분자 기준을 요구 → 진단 시점의 충분한 조직·분자 검사가 치료 기회를 좌우.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분자 진단의 임상 영향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유전 상담</a:t>
            </a:r>
            <a:r>
              <a:rPr sz="2200" b="0" i="0">
                <a:solidFill>
                  <a:srgbClr val="11202B"/>
                </a:solidFill>
                <a:latin typeface="Malgun Gothic"/>
                <a:ea typeface="Malgun Gothic"/>
                <a:cs typeface="Malgun Gothic"/>
              </a:rPr>
              <a:t>: 생식세포 변이 시사 소견(리-프라우메니 — SHH 수모세포종 TP53, DICER1, 린치, NF1/2, 고린, 폰 히펠-린다우) → 가족 검사.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메틸화·AI 기반 신속 수술 중 진단이 '진단 → 수술 전략 변경'을 실시간으로 연결하는 사례가 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CSF 액체생검(종양 유래 cfDNA·메틸화)이 반복 생검 없이 분자 진단·치료 반응 추적을 가능하게 할 가능성이 연구된다.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공간 전사체·단일세포 데이터가 '분류'를 넘어 치료 저항의 세포 상태까지 반영하는 차세대 진단으로 논의된다.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2021 WHO 분류는 조직학과 분자 정보를 통합하며 성인 미만성 신경교종을 IDH·1p/19q로 세 가지로 정의한다.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CDKN2A/B 결실, TERT·EGFR·+7/−10 같은 분자 표지가 조직학과 무관하게 등급을 결정한다.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DNA 메틸화 분류는 종양 기원을 반영해 진단의 10% 이상을 바꾸고 수술 중 신속 적용까지 발전했다.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면역조직화학·FISH·NGS·RNA 융합·메틸화를 단계적으로 활용해 통합 진단을 완성한다.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분자 진단은 약물 선택, 예후 설명, 치료 강도 조절, 임상시험 참여, 유전 상담을 모두 바꾼다.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조직학적으로 2등급 별아교세포종처럼 보이는 종양에서 CDKN2A/B 동형 결실이 발견되면 진단과 치료가 어떻게 달라지는가?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2021 WHO 기준에 따라 조직학과 무관하게 '별아교세포종, IDH 변이, CNS WHO 4등급'으로 분류된다. 예후가 훨씬 나쁘므로 관찰이나 최소 치료가 아니라 방사선·화학요법 등 적극적 치료와 긴밀한 추적이 필요하다.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55세 미만 환자의 미만성 신경교종에서 IDH1 R132H 면역염색이 음성일 때 추가 검사가 필요한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IDH1 R132H 항체는 가장 흔한 변이만 검출하며, 비정형 IDH1 변이나 IDH2 변이는 음성으로 나온다. 젊은 환자에서는 IDH 변이 가능성이 높아 시퀀싱으로 확인해야 하며, 결과에 따라 예후와 보라시데닙 같은 치료 선택이 완전히 달라진다.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DNA 메틸화 분류가 조직학적 진단보다 신뢰도가 높을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메틸화 패턴은 종양이 기원한 세포 유형과 분화 상태를 반영하는 안정적 각인이어서, 관찰자 간 변이가 큰 형태학적 판정보다 재현성이 높다. 또한 수만 개 CpG의 패턴을 종합하므로 형태가 비슷한 종양들을 구분하고, 동시에 복제수 변이와 MGMT 상태 정보까지 제공한다.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신경교종 조직 검사를 계획할 때 '충분한 조직 확보'가 왜 중요한가?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통합 진단에는 조직학뿐 아니라 면역조직화학, 1p/19q·CDKN2A/B 같은 복제수 분석, 시퀀싱, 메틸화 검사가 필요하고, 이후 치료 표적 발굴과 임상시험 등록에도 조직이 쓰인다. 조직이 부족하면 재생검이 필요하거나 분자 정보를 얻지 못해 치료 선택지가 줄어든다.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Louis DN et al. The 2021 WHO Classification of Tumors of the Central Nervous System: a summary. Neuro Oncol 2021;23:1231–1251.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Capper D et al. DNA methylation-based classification of central nervous system tumours. Nature 2018;555:469–474.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Brat DJ et al. cIMPACT-NOW update 3 and 5: grading of IDH-mutant and IDH-wildtype diffuse gliomas. Acta Neuropathol 2018/2020.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B09-L05  ·  뇌종양의 분자 진단과 WHO 분류</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Vermeulen C et al. Ultra-fast deep-learned CNS tumour classification during surgery. Nature 2023;622:842–849.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Weller M et al. EANO guidelines on the diagnosis and treatment of diffuse gliomas of adulthood. Nat Rev Clin Oncol 2021;18:170–186.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