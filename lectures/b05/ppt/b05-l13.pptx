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소아 대뇌형 X-ALD를 의심해 혈장 VLCFA(C26:0, C26/C22 비)를 측정하고 ABCD1 유전자 검사로 확진하며 부신 기능(ACTH·코르티솔)을 평가한다. Loes 점수와 신경학적 기능 점수가 낮은 초기라면 동종 HSCT 또는 렌티 유전자 치료로 진행을 멈출 수 있지만, 진행된 경우 이식의 이득이 적고 위험이 크다. 형제·외가 남성의 선별도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ARSA 가성결핍 대립유전자 여부이다. 가성결핍은 인구의 1–2%에서 효소 활성이 정상의 10–20%로 낮지만 설파타이드 분해는 충분해 무증상이다. 소변 설파타이드 증가 여부와 ARSA 유전자형(병원성 변이 vs 가성결핍 다형성)을 확인해야 하며, 소변 설파타이드가 정상이면 MLD가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영아형 크라베병은 사이코신 독성으로 생후 수개월 내 올리고덴드로사이트가 급속히 소실되며, 공여 HSC가 뇌에 미세아교세포로 정착해 GALC를 공급하기까지 수개월이 걸린다. 증상 발현 전에 이식해야 축적과 탈수초가 진행되기 전에 효소 공급이 가능하므로, 신생아 선별로 조기 진단해 생후 2–4주 내 이식할 때만 생존·인지 이득이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카나반병. ASPA 결손으로 올리고덴드로사이트가 신경세포 유래 N-아세틸아스파르트산을 아세트산(수초 지질 합성 원료)과 아스파르트산으로 분해하지 못해 NAA가 축적된다. 그 결과 수초 형성 결함과 해면상 변성·삼투성 부종이 생긴다. 소변 NAA 증가로 확진한다.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유전대사 신경질환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백질이영양증: X-ALD, MLD, 크라베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Leukodystrophies: X-ALD, MLD and Krabbe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B05-L13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수초의 지질 조성과 올리고덴드로사이트의 대사적 특성을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X-연관 부신백질이영양증(X-ALD)의 VLCFA 대사 결함, 표현형 스펙트럼, 감시와 치료를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이염성 백질이영양증(MLD)과 크라베병의 효소 결함·독성 대사물·치료 시간 창을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백질이영양증(알렉산더, 카나반, PMD, VWM)의 분자 기전을 비교한다.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백질이영양증의 MRI 패턴 인식과 신생아 선별·유전자 치료의 의미를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수초의 생화학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X-연관 부신백질이영양증(X-ALD)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이염성 백질이영양증(MLD)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크라베병(구상세포 백질이영양증)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백질이영양증과 MRI 패턴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수초의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수초: 건조 중량의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 70–80%가 지질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(일반 막은 ~50%) — 콜레스테롤(~40%), 갈락토세레브로사이드(GalC)·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설파타이드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(당지질 ~20–30%),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플라스말로겐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에탄올아민 인지질, 초장쇄 지방산(C24–C26) 함유 스핑고지질.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단백: 프로테올리피드 단백(PLP; CNS 주단백), 수초 염기성 단백(MBP), MOG, MAG; 말초는 P0, PMP22.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올리고덴드로사이트 하나가 최대 50개 축삭 분절을 감싸며 막대한 지질 합성 부담 → 콜레스테롤 국소 합성(SREBP2), 퍼옥시좀 기능 필수, 높은 철 요구, 산화 스트레스 취약.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축삭 대사 지원: 수초 아래 축삭에 MCT1로 젖산·피루브산 공급(B05 L04).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수초의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수초는 전도 속도(도약 전도)뿐 아니라 축삭 생존·에너지 유지에 필요 → 탈수초는 축삭 손실로 이어진다.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X-연관 부신백질이영양증(X-ALD)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ABCD1(Xq28): 퍼옥시좀 막 ABC 수송체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VLCFA-CoA의 퍼옥시좀 유입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담당 → 결손 시 퍼옥시좀 β-산화 실패 → 혈장·조직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C26:0, C24:0/C22:0, C26:0/C22:0 비 상승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ELOVL1에 의한 VLCFA 신장 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가장 흔한 퍼옥시좀 질환(약 1/15,000–17,000),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변이로도 표현형이 극히 다양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(유전형-표현형 상관 없음 → 수정인자·환경·'2차 타격').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대뇌형의 염증: VLCFA 축적 → 미세아교세포·내피 기능 장애 → 염증성 탈수초(T세포·대식세포)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Loes 점수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MRI 중증도 정량.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X-연관 부신백질이영양증(X-ALD)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진단된 남아(신생아 선별 포함)는 3–12세 사이 6–12개월마다 뇌 MRI(조영) → 대뇌형 초기(Loes 점수 낮음, 신경학적 증상 경미) 발견 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동종 HSCT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질병 진행 정지(공여 미세아교세포 유래 대식세포). 진행 후 이식은 효과 낮고 위험.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엘리발도진 오토템셀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(Skysona; 렌티 ABCD1 자가 HSC; 2022 승인): 적합 공여자 없는 초기 cALD — 2년 무증상 생존 ~90%; 단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 악성종양(MDS) 발생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(삽입 돌연변이 — MECOM) → 사용 제한·장기 추적.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부신 부전: 하이드로코르티손 대체(정기 ACTH·코르티솔 검사).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로렌조 오일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(글리세롤 트라이올레산:트라이에루크산 4:1 — ELOVL 경쟁으로 VLCFA 합성↓): 혈장 VLCFA는 낮추나 대뇌형 진행을 막는다는 근거 불충분.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X-연관 부신백질이영양증(X-ALD)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연구: 레리글리타존(PPARγ 작용 — 성인 cALD 진행 감소 신호), 레조글리타존, VLCFA 신장 억제(ELOVL1).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2016년 미국 신생아 선별(C26:0-리소PC) 도입 → 증상 전 진단 증가.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X-연관 부신백질이영양증(X-ALD)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표현형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소아 대뇌형(cALD)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남아 4–10세, 행동·학업 저하·ADHD 유사 → 시각·청각 처리 장애 → 급속 퇴행·식물 상태; MRI 두정-후두 백질 대칭 병변 +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조영 증강 전연(염증성 BBB 붕괴)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부신척수신경병증(AMN)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남성(20–30대), 진행성 경직성 하지마비·감각 실조·괄약근 장애 — 척수 축삭병증(비염증성); 일부 대뇌형으로 전환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부신 기능부전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남성 환자의 ~80%(소아기부터 가능, 신경 증상보다 선행 가능) → 남아 원인 불명 애디슨병에서 VLCFA 검사 필수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여성 보인자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60세까지 ~80%가 척수병증(AMN 유사, 경증·늦은 발병); 대뇌형·부신 부전 드묾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이염성 백질이영양증(MLD)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ARSA(아릴설파타아제 A; 드물게 활성 단백 사포신 B PSAP) 결손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설파타이드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축적(중추·말초 수초, 담낭, 신장) → 수초 불안정·올리고덴드로사이트·슈반세포 사멸; 리소설파타이드 독성.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병리: 크레실 바이올렛 등 염색에서 갈색으로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이염성(metachromatic)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과립.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ARSA 효소 활성(백혈구)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가성결핍 대립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(인구 1–2%; 효소 10–20%이나 무증상) 감별 위해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소변 설파타이드 증가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·유전자 검사 필수; 신경전도 탈수초 소견, MRI 뇌실 주위 '호랑이 줄무늬'(호랑이 반점) 백질.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이염성 백질이영양증(MLD)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아티다르사진 오토템셀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(Libmeldy/Lenmeldy; 렌티 ARSA 과발현 자가 HSC; EU 2020, FDA 2024):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후기 영아형·조기 소아형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또는 증상 초기 조기 소아형 → 운동·인지 기능 보존(자연 경과 대비 극적). 공여 HSC가 초생리적 ARSA를 분비하는 미세아교세포로 정착.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동종 HSCT: 후기 소아·성인형 증상 전·초기에 일부 효과.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선별 연구(설파타이드·ARSA 2단계) 진행.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이염성 백질이영양증(MLD)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후기 영아형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&lt;30개월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보행 장애·근긴장저하→경직, 말초신경병증(반사 소실), 급속 진행, 수년 내 사망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조기 소아형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30개월–6세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후기 소아형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7–16세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행동·학업 저하 → 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&gt;16세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정신증·인지 저하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(조현병·치매 오진), 늦은 운동 증상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크라베병(구상세포 백질이영양증)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GALC(갈락토세레브로시다아제) 결손 → 갈락토세레브로사이드 분해 실패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사이코신(갈락토실스핑고신)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축적 — 매우 독성 높은 리소지질 → 올리고덴드로사이트·슈반세포 자멸('사이코신 가설') → 빠른 탈수초; 거대 다핵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구상세포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(축적 대식세포).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영아형(약 85%): 생후 6개월 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과민성·과다 울음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수유 곤란, 원인 불명 발열, 근긴장 증가·후궁반장, 시신경 위축(실명), 말초신경병증 → 2세 전 사망. 후기형(청소년·성인 — 경직성 하지마비, 시력 저하).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GALC 효소(가성결핍 대립 흔함),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혈중 사이코신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(신생아 선별 2차 지표 — 영아형 예측력 높음), 유전자, CSF 단백↑, MRI(소뇌 치상핵·내측 피막·뇌실 주위 백질), 신경전도.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크라베병(구상세포 백질이영양증)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증상 발현 전(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생후 30일 이내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이상적으로 2주 이내)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제대혈 HSCT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생존·인지 개선(그러나 말초신경병증·운동 장애 진행 남음) → 증상 후 이식은 효과 없음. 그래서 신생아 선별(미국 뉴욕 2006년 시작, RUSP 2024 추가)이 결정적.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연구: AAV 유전자 치료 + HSCT 병용(FBX-101), 기질 감소(세라마이드 갈락토실전이효소 억제).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기타 백질이영양증과 MRI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MRI 패턴 접근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(van der Knaap): 저수초화(수초 형성 결함 — PMD) vs 탈수초·파괴(형성 후 손상 — ALD, MLD) / 분포(전두 — 알렉산더; 두정후두 — ALD; 뇌실 주위 호랑이 줄무늬 — MLD; 피질하 U섬유 침범 — 카나반·L-2-하이드록시글루타르산뇨증) / 조영 증강(ALD 전연, 알렉산더) / MRS(NAA↑ — 카나반, 젖산 — 미토콘드리아).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기타 백질이영양증과 MRI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유전자·기전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알렉산더병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GFAP 우성 기능획득(대부분 신생 변이) — 성상세포 중간 섬유 응집(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로젠탈 섬유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영아형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대두증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·발달 지연·경련, MRI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전두엽 우세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백질·뇌실 주위 테두리; 성인형 연수 위축(구음·연하·자율 장애). ASO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질가네르센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(ION373; GFAP 저하, 2025 3상 긍정 발표)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카나반병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ASPA(아스파르토아실라아제)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N-아세틸아스파르트산(NAA) 축적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대두증, 근긴장저하→경직, 실명; MRS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NAA 피크 현저 증가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(유일한 NAA 증가 질환), 소변 NAA↑; AAV 유전자치료 시험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펠리체우스-메르츠바허(PMD)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PLP1 (X연관; 중복이 가장 흔함 — 용량 민감)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안진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(영아 첫 증상), 운동 지연, 저수초화 — MRI 백질 T2 고신호(수초 형성 부족)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백질 소실 백질뇌병증(VWM)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EIF2B1–5 — ISR 과활성 (B02 L09)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감염·경미한 두부 외상·공포 후 급격 악화, 백질이 CSF처럼 '녹음'(FLAIR 저신호); 난소 기능부전(난소백질이영양증)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알퍼스, 미토콘드리아 백질병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DARS2(LBSL — 뇌간·척수 침범 + 백질 젖산↑), EARS2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MRS 백질 젖산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뇌건황색종증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CYP27A1 → 콜레스탄올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소뇌 치상핵 병변, 건황색종 — CDCA로 치료 가능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아이카르디-구티에레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TREX1, RNASEH2, SAMHD1, ADAR1, IFIH1 → 인터페론병증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기저핵 석회화, CSF 인터페론 α↑ → JAK 억제제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CADASIL·CARASIL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NOTCH3, HTRA1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혈관성 백질병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백질이영양증 HSC 유전자 치료의 장기 결과(MLD 10년+)와 삽입 돌연변이 위험(cALD) 비교가 벡터 설계(자가 불활성화 렌티, 프로모터 선택)에 반영되고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올리고덴드로사이트 전구세포 이식, 미세아교세포 대체(CSF1R 억제 후 HSC 이식으로 뇌 미세아교세포 교체 효율 향상 — 동물), AAV-올리고덴드로사이트 지향 캡시드가 개발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성인 백질이영양증(성인형 MLD, AMN, 성인 알렉산더, CSF1R 관련 ALSP)의 진단이 유전체 검사로 크게 늘어 '성인 정신증·치매 + 백질 병변'의 감별에서 중요해졌다.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수초는 콜레스테롤·갈락토세레브로사이드·설파타이드·플라스말로겐·VLCFA 스핑고지질이 풍부해 지질 대사 결함에 취약하다.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X-ALD는 ABCD1 결손으로 VLCFA가 축적되며 소아 대뇌형(염증성 탈수초)·AMN·부신 부전·여성 척수병증 스펙트럼을 보이고, MRI 감시 후 초기 HSCT/유전자치료가 표준이다.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MLD는 ARSA 결손으로 설파타이드가, 크라베는 GALC 결손으로 독성 사이코신이 축적되며 증상 전 HSC 유전자치료(MLD)·생후 30일 내 HSCT(크라베)가 결과를 바꾼다.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알렉산더(GFAP 응집), 카나반(NAA 축적), PMD(PLP1), VWM(eIF2B), AGS(인터페론) 등은 서로 다른 분자 기전을 가진다.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MRI 패턴(저수초화 vs 탈수초, 분포, 조영, MRS)이 감별 진단의 출발점이며 신생아 선별이 치료 시간 창을 확보한다.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7세 남아가 최근 학업 저하와 주의력 결핍, 시각 처리 장애를 보이고 MRI에서 두정-후두 백질 대칭 병변과 조영 증강 전연이 있다. 진단 검사와 치료 결정 요소는?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소아 대뇌형 X-ALD를 의심해 혈장 VLCFA(C26:0, C26/C22 비)를 측정하고 ABCD1 유전자 검사로 확진하며 부신 기능(ACTH·코르티솔)을 평가한다. Loes 점수와 신경학적 기능 점수가 낮은 초기라면 동종 HSCT 또는 렌티 유전자 치료로 진행을 멈출 수 있지만, 진행된 경우 이식의 이득이 적고 위험이 크다. 형제·외가 남성의 선별도 필요하다.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ARSA 효소 활성이 낮게 나온 무증상 성인에서 MLD를 진단하기 전 확인해야 할 것은?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ARSA 가성결핍 대립유전자 여부이다. 가성결핍은 인구의 1–2%에서 효소 활성이 정상의 10–20%로 낮지만 설파타이드 분해는 충분해 무증상이다. 소변 설파타이드 증가 여부와 ARSA 유전자형(병원성 변이 vs 가성결핍 다형성)을 확인해야 하며, 소변 설파타이드가 정상이면 MLD가 아니다.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크라베병에서 HSCT를 생후 30일 이내에 시행해야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영아형 크라베병은 사이코신 독성으로 생후 수개월 내 올리고덴드로사이트가 급속히 소실되며, 공여 HSC가 뇌에 미세아교세포로 정착해 GALC를 공급하기까지 수개월이 걸린다. 증상 발현 전에 이식해야 축적과 탈수초가 진행되기 전에 효소 공급이 가능하므로, 신생아 선별로 조기 진단해 생후 2–4주 내 이식할 때만 생존·인지 이득이 크다.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MRS에서 NAA 피크가 현저히 증가한 대두증 영아의 진단과 생화학적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카나반병. ASPA 결손으로 올리고덴드로사이트가 신경세포 유래 N-아세틸아스파르트산을 아세트산(수초 지질 합성 원료)과 아스파르트산으로 분해하지 못해 NAA가 축적된다. 그 결과 수초 형성 결함과 해면상 변성·삼투성 부종이 생긴다. 소변 NAA 증가로 확진한다.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Engelen M et al. X-linked adrenoleukodystrophy: clinical, metabolic, genetic and pathophysiological aspects. Orphanet J Rare Dis 2012;7:51.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Eichler F et al. Hematopoietic stem-cell gene therapy for cerebral adrenoleukodystrophy. N Engl J Med 2017;377:1630–1638.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Fumagalli F et al. Lentiviral haematopoietic stem-cell gene therapy for early-onset metachromatic leukodystrophy. Lancet 2022;399:372–383.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B05-L13  ·  백질이영양증: X-ALD, MLD, 크라베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Escolar ML et al. Transplantation of umbilical-cord blood in babies with infantile Krabbe's disease. N Engl J Med 2005;352:2069–2081.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van der Knaap MS, Bugiani M. Leukodystrophies: a proposed classification system based on pathological changes and pathogenetic mechanisms. Acta Neuropathol 2017;134:351–382.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