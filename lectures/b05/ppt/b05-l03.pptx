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남성 생식세포(정자 형성)에서는 CAG 반복이 크게 확장되는 경향이 있어 아버지의 46 반복이 아들에서 60–80 이상으로 늘어났을 가능성이 크다(안티시페이션). 반복 수가 길수록 발병이 이르고 표현형이 무도증보다 경직·운동 감소·경련이 두드러진 소아형(웨스트팔 변이형)이 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3-NP는 숙신산 탈수소효소(복합체 II)를 비가역적으로 억제하는 미토콘드리아 독소로, 전신 투여에도 선조체가 선택적으로 손상되어 HD 유사 무도증과 병리를 재현한다. 이는 에너지 대사 결함만으로도 선조체 선택적 퇴행이 일어날 수 있음을 보여 HD의 대사·흥분독성 가설을 뒷받침한다.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대규모 GWAS에서 발병 연령 수정인자로 DNA 불일치 수선 유전자(MSH3, FAN1 등)가 발견되었고, MSH3는 CAG 반복 루프를 인식해 체세포 확장을 촉진한다. MSH3 기능 저하 변이 보유자는 발병이 늦다. 선조체 신경세포에서 반복이 역치 이상으로 확장되어야 독성이 나타난다는 모델에 따르면 MSH3 억제로 확장을 늦추면 발병을 지연할 수 있다. MSH3 결손은 MSH6 기능이 보존되어 암 위험 증가가 작다.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VMAT2 억제제는 도파민뿐 아니라 세로토닌·노르에피네프린의 소포 저장도 감소시켜 우울증과 자살 사고를 악화시킬 수 있다(HD는 기저 자살 위험이 높음). 또한 파킨슨증·진정·QT 연장(CYP2D6 저대사자·억제제 병용 시 용량 조정)을 확인한다.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B05 신경질환과 대사학  ·  신경퇴행</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헌팅턴병과 에너지 대사</a:t>
            </a:r>
          </a:p>
          <a:p>
            <a:r>
              <a:rPr sz="2000" b="0" i="0">
                <a:solidFill>
                  <a:srgbClr val="C2CDD6"/>
                </a:solidFill>
                <a:latin typeface="Malgun Gothic"/>
                <a:ea typeface="Malgun Gothic"/>
                <a:cs typeface="Malgun Gothic"/>
              </a:rPr>
              <a:t>Huntington's Disease and Energy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B05-L03</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헌팅턴병(HD)의 유전(CAG 확장, 침투도, 안티시페이션)과 체세포 불안정성을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돌연변이 헌팅틴의 독성 기전(전사 이상, 단백 응집, 축삭 수송)을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HD의 전신·뇌 에너지 대사 결함(체중 감소, 미토콘드리아, PGC-1α, 3-NP 모델)을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선조체 중형 가시 신경세포의 선택적 취약성(흥분독성, BDNF)을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증상 치료와 헌팅틴 저하·체세포 확장 억제 치료의 현황을 평가한다.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유전학</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돌연변이 헌팅틴의 독성</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에너지 대사 결함</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선조체 선택적 취약성</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치료 현황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유전학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HTT(4p16.3) 엑손 1의 CAG 반복: 정상 ≤26, 중간 27–35(본인 무증상, 자녀 확장 가능), </a:t>
            </a:r>
            <a:r>
              <a:rPr sz="1800" b="1" i="0">
                <a:solidFill>
                  <a:srgbClr val="11202B"/>
                </a:solidFill>
                <a:latin typeface="Malgun Gothic"/>
                <a:ea typeface="Malgun Gothic"/>
                <a:cs typeface="Malgun Gothic"/>
              </a:rPr>
              <a:t>불완전 침투 36–39</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완전 침투 ≥40</a:t>
            </a:r>
            <a:r>
              <a:rPr sz="1800" b="0" i="0">
                <a:solidFill>
                  <a:srgbClr val="11202B"/>
                </a:solidFill>
                <a:latin typeface="Malgun Gothic"/>
                <a:ea typeface="Malgun Gothic"/>
                <a:cs typeface="Malgun Gothic"/>
              </a:rPr>
              <a:t>. 유병률 서구 약 10/10만, 동아시아 약 1/10만 이하.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상염색체 우성, </a:t>
            </a:r>
            <a:r>
              <a:rPr sz="1800" b="1" i="0">
                <a:solidFill>
                  <a:srgbClr val="11202B"/>
                </a:solidFill>
                <a:latin typeface="Malgun Gothic"/>
                <a:ea typeface="Malgun Gothic"/>
                <a:cs typeface="Malgun Gothic"/>
              </a:rPr>
              <a:t>반복 수가 길수록 발병 연령이 이르다</a:t>
            </a:r>
            <a:r>
              <a:rPr sz="1800" b="0" i="0">
                <a:solidFill>
                  <a:srgbClr val="11202B"/>
                </a:solidFill>
                <a:latin typeface="Malgun Gothic"/>
                <a:ea typeface="Malgun Gothic"/>
                <a:cs typeface="Malgun Gothic"/>
              </a:rPr>
              <a:t>(발병 연령 변이의 ~50–60% 설명). 60 이상이면 소아형(웨스트팔 변이형 — 경직·경련·인지 저하).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안티시페이션</a:t>
            </a:r>
            <a:r>
              <a:rPr sz="1800" b="0" i="0">
                <a:solidFill>
                  <a:srgbClr val="11202B"/>
                </a:solidFill>
                <a:latin typeface="Malgun Gothic"/>
                <a:ea typeface="Malgun Gothic"/>
                <a:cs typeface="Malgun Gothic"/>
              </a:rPr>
              <a:t>: 정자 형성 중 확장 경향 → </a:t>
            </a:r>
            <a:r>
              <a:rPr sz="1800" b="1" i="0">
                <a:solidFill>
                  <a:srgbClr val="11202B"/>
                </a:solidFill>
                <a:latin typeface="Malgun Gothic"/>
                <a:ea typeface="Malgun Gothic"/>
                <a:cs typeface="Malgun Gothic"/>
              </a:rPr>
              <a:t>부계 전달 시 더 큰 확장</a:t>
            </a:r>
            <a:r>
              <a:rPr sz="1800" b="0" i="0">
                <a:solidFill>
                  <a:srgbClr val="11202B"/>
                </a:solidFill>
                <a:latin typeface="Malgun Gothic"/>
                <a:ea typeface="Malgun Gothic"/>
                <a:cs typeface="Malgun Gothic"/>
              </a:rPr>
              <a:t>(소아형의 대부분이 부계).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체세포 확장</a:t>
            </a:r>
            <a:r>
              <a:rPr sz="1800" b="0" i="0">
                <a:solidFill>
                  <a:srgbClr val="11202B"/>
                </a:solidFill>
                <a:latin typeface="Malgun Gothic"/>
                <a:ea typeface="Malgun Gothic"/>
                <a:cs typeface="Malgun Gothic"/>
              </a:rPr>
              <a:t>: 선조체 신경세포에서 CAG가 생애 동안 수백까지 확장 → 일정 역치(약 150 CAG) 초과 시 독성 발현이라는 2단계 모델(Handsaker et al., Cell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유전학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발병 연령 수정 유전자(GeM-HD GWAS): DNA 불일치 수선 </a:t>
            </a:r>
            <a:r>
              <a:rPr sz="2200" b="1" i="0">
                <a:solidFill>
                  <a:srgbClr val="11202B"/>
                </a:solidFill>
                <a:latin typeface="Malgun Gothic"/>
                <a:ea typeface="Malgun Gothic"/>
                <a:cs typeface="Malgun Gothic"/>
              </a:rPr>
              <a:t>MSH3</a:t>
            </a:r>
            <a:r>
              <a:rPr sz="2200" b="0" i="0">
                <a:solidFill>
                  <a:srgbClr val="11202B"/>
                </a:solidFill>
                <a:latin typeface="Malgun Gothic"/>
                <a:ea typeface="Malgun Gothic"/>
                <a:cs typeface="Malgun Gothic"/>
              </a:rPr>
              <a:t>, </a:t>
            </a:r>
            <a:r>
              <a:rPr sz="2200" b="1" i="0">
                <a:solidFill>
                  <a:srgbClr val="11202B"/>
                </a:solidFill>
                <a:latin typeface="Malgun Gothic"/>
                <a:ea typeface="Malgun Gothic"/>
                <a:cs typeface="Malgun Gothic"/>
              </a:rPr>
              <a:t>FAN1</a:t>
            </a:r>
            <a:r>
              <a:rPr sz="2200" b="0" i="0">
                <a:solidFill>
                  <a:srgbClr val="11202B"/>
                </a:solidFill>
                <a:latin typeface="Malgun Gothic"/>
                <a:ea typeface="Malgun Gothic"/>
                <a:cs typeface="Malgun Gothic"/>
              </a:rPr>
              <a:t>(보호 — 반복 안정화), MLH1, PMS1/2, LIG1 → 체세포 확장이 발병을 결정함을 시사. 반복 내 </a:t>
            </a:r>
            <a:r>
              <a:rPr sz="2200" b="1" i="0">
                <a:solidFill>
                  <a:srgbClr val="11202B"/>
                </a:solidFill>
                <a:latin typeface="Malgun Gothic"/>
                <a:ea typeface="Malgun Gothic"/>
                <a:cs typeface="Malgun Gothic"/>
              </a:rPr>
              <a:t>CAA 중단</a:t>
            </a:r>
            <a:r>
              <a:rPr sz="2200" b="0" i="0">
                <a:solidFill>
                  <a:srgbClr val="11202B"/>
                </a:solidFill>
                <a:latin typeface="Malgun Gothic"/>
                <a:ea typeface="Malgun Gothic"/>
                <a:cs typeface="Malgun Gothic"/>
              </a:rPr>
              <a:t>의 소실은 같은 길이에서도 더 이른 발병.</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예측 검사: 엄격한 상담 프로토콜(검사 전 상담·심리 평가·결과 동반자), 미성년자 예측 검사 지양, 착상 전 유전 진단(배제 검사 포함).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돌연변이 헌팅틴의 독성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헌팅틴(HTT; 348 kDa)은 소포·축삭 수송 스캐폴드, 전사 조절(REST/NRSF 격리 → BDNF 전사 허용), 자가포식 수용체 기능을 가진다.</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폴리글루타민(polyQ) 확장</a:t>
            </a:r>
            <a:r>
              <a:rPr sz="2000" b="0" i="0">
                <a:solidFill>
                  <a:srgbClr val="11202B"/>
                </a:solidFill>
                <a:latin typeface="Malgun Gothic"/>
                <a:ea typeface="Malgun Gothic"/>
                <a:cs typeface="Malgun Gothic"/>
              </a:rPr>
              <a:t>:</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N말단 단편(엑손 1 단편 — 비정상 스플라이싱 *HTT1a*로도 생성) → β-시트 응집 → 핵·축삭 봉입체(유비퀴틴 양성).</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전사 이상: CBP·Sp1·TAF4 격리, </a:t>
            </a:r>
            <a:r>
              <a:rPr sz="1800" b="1" i="0">
                <a:solidFill>
                  <a:srgbClr val="2E3F4C"/>
                </a:solidFill>
                <a:latin typeface="Malgun Gothic"/>
                <a:ea typeface="Malgun Gothic"/>
                <a:cs typeface="Malgun Gothic"/>
              </a:rPr>
              <a:t>REST 핵 이동 → BDNF 전사↓</a:t>
            </a:r>
            <a:r>
              <a:rPr sz="1800" b="0" i="0">
                <a:solidFill>
                  <a:srgbClr val="2E3F4C"/>
                </a:solidFill>
                <a:latin typeface="Malgun Gothic"/>
                <a:ea typeface="Malgun Gothic"/>
                <a:cs typeface="Malgun Gothic"/>
              </a:rPr>
              <a:t>, PGC-1α 억제.</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축삭 수송 장애(BDNF 소포 운반 감소 → 피질에서 선조체로의 BDNF 공급↓).</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자가포식 화물 인식 결함('빈 자가포식소체'), 프로테아솜 부담.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돌연변이 헌팅틴의 독성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시냅스 이상: NMDA 수용체(시냅스 외 GluN2B) 신호 증가.</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반복 RNA 독성과 RAN 번역(비AUG 번역에 의한 폴리-Ala, 폴리-Ser 등)도 기여.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에너지 대사 결함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전신 대사</a:t>
            </a:r>
            <a:r>
              <a:rPr sz="1800" b="0" i="0">
                <a:solidFill>
                  <a:srgbClr val="11202B"/>
                </a:solidFill>
                <a:latin typeface="Malgun Gothic"/>
                <a:ea typeface="Malgun Gothic"/>
                <a:cs typeface="Malgun Gothic"/>
              </a:rPr>
              <a:t>: 증상 이전부터 </a:t>
            </a:r>
            <a:r>
              <a:rPr sz="1800" b="1" i="0">
                <a:solidFill>
                  <a:srgbClr val="11202B"/>
                </a:solidFill>
                <a:latin typeface="Malgun Gothic"/>
                <a:ea typeface="Malgun Gothic"/>
                <a:cs typeface="Malgun Gothic"/>
              </a:rPr>
              <a:t>체중 감소</a:t>
            </a:r>
            <a:r>
              <a:rPr sz="1800" b="0" i="0">
                <a:solidFill>
                  <a:srgbClr val="11202B"/>
                </a:solidFill>
                <a:latin typeface="Malgun Gothic"/>
                <a:ea typeface="Malgun Gothic"/>
                <a:cs typeface="Malgun Gothic"/>
              </a:rPr>
              <a:t>와 근육 소모 — 과다운동만으로 설명되지 않는 과대사 상태; 높은 BMI 보인자가 진행이 느림. 고칼로리 식이 권장.</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뇌 대사</a:t>
            </a:r>
            <a:r>
              <a:rPr sz="1800" b="0" i="0">
                <a:solidFill>
                  <a:srgbClr val="11202B"/>
                </a:solidFill>
                <a:latin typeface="Malgun Gothic"/>
                <a:ea typeface="Malgun Gothic"/>
                <a:cs typeface="Malgun Gothic"/>
              </a:rPr>
              <a:t>: FDG-PET에서 </a:t>
            </a:r>
            <a:r>
              <a:rPr sz="1800" b="1" i="0">
                <a:solidFill>
                  <a:srgbClr val="11202B"/>
                </a:solidFill>
                <a:latin typeface="Malgun Gothic"/>
                <a:ea typeface="Malgun Gothic"/>
                <a:cs typeface="Malgun Gothic"/>
              </a:rPr>
              <a:t>선조체 포도당 저대사가 증상 수년 전부터</a:t>
            </a:r>
            <a:r>
              <a:rPr sz="1800" b="0" i="0">
                <a:solidFill>
                  <a:srgbClr val="11202B"/>
                </a:solidFill>
                <a:latin typeface="Malgun Gothic"/>
                <a:ea typeface="Malgun Gothic"/>
                <a:cs typeface="Malgun Gothic"/>
              </a:rPr>
              <a:t>(전구 지표), MR 분광 선조체·피질 젖산↑, ³¹P-MRS PCr/Pi 반응 저하.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미토콘드리아</a:t>
            </a:r>
            <a:r>
              <a:rPr sz="1800" b="0" i="0">
                <a:solidFill>
                  <a:srgbClr val="11202B"/>
                </a:solidFill>
                <a:latin typeface="Malgun Gothic"/>
                <a:ea typeface="Malgun Gothic"/>
                <a:cs typeface="Malgun Gothic"/>
              </a:rPr>
              <a:t>: 사후 선조체 복합체 II/III 활성 저하, 돌연변이 HTT가 미토콘드리아 외막에 결합(Ca²⁺ 처리 저하, TIM23 유입 장애, Drp1 과활성 → 분열 증가).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PGC-1α 억제</a:t>
            </a:r>
            <a:r>
              <a:rPr sz="1800" b="0" i="0">
                <a:solidFill>
                  <a:srgbClr val="11202B"/>
                </a:solidFill>
                <a:latin typeface="Malgun Gothic"/>
                <a:ea typeface="Malgun Gothic"/>
                <a:cs typeface="Malgun Gothic"/>
              </a:rPr>
              <a:t>(전사 억제) → 미토콘드리아 생합성·항산화 유전자↓, 갈색지방 열생성 결함(HD 생쥐 저체온), 수초 유전자 감소.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에너지 대사 결함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3-나이트로프로피온산(3-NP)</a:t>
            </a:r>
            <a:r>
              <a:rPr sz="2000" b="0" i="0">
                <a:solidFill>
                  <a:srgbClr val="11202B"/>
                </a:solidFill>
                <a:latin typeface="Malgun Gothic"/>
                <a:ea typeface="Malgun Gothic"/>
                <a:cs typeface="Malgun Gothic"/>
              </a:rPr>
              <a:t>: 곰팡이 독소(오염 사탕수수) — 숙신산 탈수소효소(복합체 II) 비가역 억제 → 사람·동물에서 </a:t>
            </a:r>
            <a:r>
              <a:rPr sz="2000" b="1" i="0">
                <a:solidFill>
                  <a:srgbClr val="11202B"/>
                </a:solidFill>
                <a:latin typeface="Malgun Gothic"/>
                <a:ea typeface="Malgun Gothic"/>
                <a:cs typeface="Malgun Gothic"/>
              </a:rPr>
              <a:t>선조체 선택적 손상</a:t>
            </a:r>
            <a:r>
              <a:rPr sz="2000" b="0" i="0">
                <a:solidFill>
                  <a:srgbClr val="11202B"/>
                </a:solidFill>
                <a:latin typeface="Malgun Gothic"/>
                <a:ea typeface="Malgun Gothic"/>
                <a:cs typeface="Malgun Gothic"/>
              </a:rPr>
              <a:t>과 무도증 유사 증상 → HD 대사 가설의 고전 모델. 말론산도 유사.</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크레아틴/포스포크레아틴</a:t>
            </a:r>
            <a:r>
              <a:rPr sz="2000" b="0" i="0">
                <a:solidFill>
                  <a:srgbClr val="11202B"/>
                </a:solidFill>
                <a:latin typeface="Malgun Gothic"/>
                <a:ea typeface="Malgun Gothic"/>
                <a:cs typeface="Malgun Gothic"/>
              </a:rPr>
              <a:t> 감소 → 크레아틴 보충(CREST-E 3상) 무효.</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콜레스테롤</a:t>
            </a:r>
            <a:r>
              <a:rPr sz="2000" b="0" i="0">
                <a:solidFill>
                  <a:srgbClr val="11202B"/>
                </a:solidFill>
                <a:latin typeface="Malgun Gothic"/>
                <a:ea typeface="Malgun Gothic"/>
                <a:cs typeface="Malgun Gothic"/>
              </a:rPr>
              <a:t>: 돌연변이 HTT가 SREBP 활성 억제 → 뇌 콜레스테롤 합성·24S-OHC 감소 → 시냅스 기능 저하(CYP46A1 AAV 증강 동물 연구).</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키뉴레닌 경로</a:t>
            </a:r>
            <a:r>
              <a:rPr sz="2000" b="0" i="0">
                <a:solidFill>
                  <a:srgbClr val="11202B"/>
                </a:solidFill>
                <a:latin typeface="Malgun Gothic"/>
                <a:ea typeface="Malgun Gothic"/>
                <a:cs typeface="Malgun Gothic"/>
              </a:rPr>
              <a:t>: 퀴놀린산(NMDA 작용제)↑·키뉴레닌산↓ → 흥분독성 (B01 L11).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선조체 선택적 취약성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간접 경로(D2, 엔케팔린) 중형 가시 신경세포(MSN)</a:t>
            </a:r>
            <a:r>
              <a:rPr sz="2000" b="0" i="0">
                <a:solidFill>
                  <a:srgbClr val="11202B"/>
                </a:solidFill>
                <a:latin typeface="Malgun Gothic"/>
                <a:ea typeface="Malgun Gothic"/>
                <a:cs typeface="Malgun Gothic"/>
              </a:rPr>
              <a:t>가 먼저 소실 → 운동 억제 실패 → </a:t>
            </a:r>
            <a:r>
              <a:rPr sz="2000" b="1" i="0">
                <a:solidFill>
                  <a:srgbClr val="11202B"/>
                </a:solidFill>
                <a:latin typeface="Malgun Gothic"/>
                <a:ea typeface="Malgun Gothic"/>
                <a:cs typeface="Malgun Gothic"/>
              </a:rPr>
              <a:t>무도증</a:t>
            </a:r>
            <a:r>
              <a:rPr sz="2000" b="0" i="0">
                <a:solidFill>
                  <a:srgbClr val="11202B"/>
                </a:solidFill>
                <a:latin typeface="Malgun Gothic"/>
                <a:ea typeface="Malgun Gothic"/>
                <a:cs typeface="Malgun Gothic"/>
              </a:rPr>
              <a:t>(초기); 이후 직접 경로(D1, 물질 P) 소실 → 운동 감소·경직(후기). 꼬리핵 위축(MRI 측뇌실 전각의 '상자 모양' 확대).</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취약성 요인: 피질-선조체 글루탐산 입력 의존 + 시냅스 외 NMDA 신호(흥분독성), 피질 BDNF 의존, 높은 에너지 요구, </a:t>
            </a:r>
            <a:r>
              <a:rPr sz="2000" b="1" i="0">
                <a:solidFill>
                  <a:srgbClr val="11202B"/>
                </a:solidFill>
                <a:latin typeface="Malgun Gothic"/>
                <a:ea typeface="Malgun Gothic"/>
                <a:cs typeface="Malgun Gothic"/>
              </a:rPr>
              <a:t>mHTT 체세포 확장이 MSN에서 특히 큼</a:t>
            </a:r>
            <a:r>
              <a:rPr sz="2000" b="0" i="0">
                <a:solidFill>
                  <a:srgbClr val="11202B"/>
                </a:solidFill>
                <a:latin typeface="Malgun Gothic"/>
                <a:ea typeface="Malgun Gothic"/>
                <a:cs typeface="Malgun Gothic"/>
              </a:rPr>
              <a:t>(MSH3 고발현), 선조체 특이 단백(Rhes — SUMO화로 mHTT 독성 증가).</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피질(5·6층 피질-선조체 투사 신경세포)·시상하부(오렉신 감소 → 수면 장애·체중 감소) 침범.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선조체 선택적 취약성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임상 3징: 운동(무도증, 근긴장이상, 단속운동 지연, 구음·연하 장애), </a:t>
            </a:r>
            <a:r>
              <a:rPr sz="2200" b="1" i="0">
                <a:solidFill>
                  <a:srgbClr val="11202B"/>
                </a:solidFill>
                <a:latin typeface="Malgun Gothic"/>
                <a:ea typeface="Malgun Gothic"/>
                <a:cs typeface="Malgun Gothic"/>
              </a:rPr>
              <a:t>인지</a:t>
            </a:r>
            <a:r>
              <a:rPr sz="2200" b="0" i="0">
                <a:solidFill>
                  <a:srgbClr val="11202B"/>
                </a:solidFill>
                <a:latin typeface="Malgun Gothic"/>
                <a:ea typeface="Malgun Gothic"/>
                <a:cs typeface="Malgun Gothic"/>
              </a:rPr>
              <a:t>(집행 기능 — 운동보다 선행 가능), </a:t>
            </a:r>
            <a:r>
              <a:rPr sz="2200" b="1" i="0">
                <a:solidFill>
                  <a:srgbClr val="11202B"/>
                </a:solidFill>
                <a:latin typeface="Malgun Gothic"/>
                <a:ea typeface="Malgun Gothic"/>
                <a:cs typeface="Malgun Gothic"/>
              </a:rPr>
              <a:t>정신</a:t>
            </a:r>
            <a:r>
              <a:rPr sz="2200" b="0" i="0">
                <a:solidFill>
                  <a:srgbClr val="11202B"/>
                </a:solidFill>
                <a:latin typeface="Malgun Gothic"/>
                <a:ea typeface="Malgun Gothic"/>
                <a:cs typeface="Malgun Gothic"/>
              </a:rPr>
              <a:t>(우울·자살 위험 높음, 무감동, 강박, 과민).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치료 현황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바이오마커: CSF </a:t>
            </a:r>
            <a:r>
              <a:rPr sz="2200" b="1" i="0">
                <a:solidFill>
                  <a:srgbClr val="11202B"/>
                </a:solidFill>
                <a:latin typeface="Malgun Gothic"/>
                <a:ea typeface="Malgun Gothic"/>
                <a:cs typeface="Malgun Gothic"/>
              </a:rPr>
              <a:t>신경미세섬유 경쇄(NfL)</a:t>
            </a:r>
            <a:r>
              <a:rPr sz="2200" b="0" i="0">
                <a:solidFill>
                  <a:srgbClr val="11202B"/>
                </a:solidFill>
                <a:latin typeface="Malgun Gothic"/>
                <a:ea typeface="Malgun Gothic"/>
                <a:cs typeface="Malgun Gothic"/>
              </a:rPr>
              <a:t>(증상 전 증가 — HD 통합 병기 HD-ISS), CSF mHTT(단일 분자 계수 분석; HTT 저하 약물 표적 관여 지표), MRI 꼬리핵 부피.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치료 현황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영역</a:t>
                      </a:r>
                    </a:p>
                  </a:txBody>
                  <a:tcPr marL="73152" marR="73152">
                    <a:solidFill>
                      <a:srgbClr val="003C71"/>
                    </a:solidFill>
                  </a:tcPr>
                </a:tc>
                <a:tc>
                  <a:txBody>
                    <a:bodyPr/>
                    <a:lstStyle/>
                    <a:p>
                      <a:r>
                        <a:rPr sz="1300" b="1" i="0">
                          <a:solidFill>
                            <a:srgbClr val="FFFFFF"/>
                          </a:solidFill>
                          <a:latin typeface="Malgun Gothic"/>
                          <a:ea typeface="Malgun Gothic"/>
                          <a:cs typeface="Malgun Gothic"/>
                        </a:rPr>
                        <a:t>치료</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기전·근거</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무도증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테트라베나진, </a:t>
                      </a:r>
                      <a:r>
                        <a:rPr sz="1300" b="1" i="0">
                          <a:solidFill>
                            <a:srgbClr val="11202B"/>
                          </a:solidFill>
                          <a:latin typeface="Malgun Gothic"/>
                          <a:ea typeface="Malgun Gothic"/>
                          <a:cs typeface="Malgun Gothic"/>
                        </a:rPr>
                        <a:t>듀테트라베나진, 발베나진</a:t>
                      </a:r>
                    </a:p>
                  </a:txBody>
                  <a:tcPr marL="73152" marR="73152">
                    <a:solidFill>
                      <a:srgbClr val="FFFFFF"/>
                    </a:solidFill>
                  </a:tcPr>
                </a:tc>
                <a:tc>
                  <a:txBody>
                    <a:bodyPr/>
                    <a:lstStyle/>
                    <a:p>
                      <a:r>
                        <a:rPr sz="1300" b="0" i="0">
                          <a:solidFill>
                            <a:srgbClr val="11202B"/>
                          </a:solidFill>
                          <a:latin typeface="Malgun Gothic"/>
                          <a:ea typeface="Malgun Gothic"/>
                          <a:cs typeface="Malgun Gothic"/>
                        </a:rPr>
                        <a:t>VMAT2 억제 → 시냅스 전 도파민 고갈 (우울·자살 경고)</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항정신병약</a:t>
                      </a:r>
                    </a:p>
                  </a:txBody>
                  <a:tcPr marL="73152" marR="73152">
                    <a:solidFill>
                      <a:srgbClr val="ECF1F5"/>
                    </a:solidFill>
                  </a:tcPr>
                </a:tc>
                <a:tc>
                  <a:txBody>
                    <a:bodyPr/>
                    <a:lstStyle/>
                    <a:p>
                      <a:r>
                        <a:rPr sz="1300" b="0" i="0">
                          <a:solidFill>
                            <a:srgbClr val="11202B"/>
                          </a:solidFill>
                          <a:latin typeface="Malgun Gothic"/>
                          <a:ea typeface="Malgun Gothic"/>
                          <a:cs typeface="Malgun Gothic"/>
                        </a:rPr>
                        <a:t>D2 차단</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정신증상</a:t>
                      </a:r>
                    </a:p>
                  </a:txBody>
                  <a:tcPr marL="73152" marR="73152">
                    <a:solidFill>
                      <a:srgbClr val="FFFFFF"/>
                    </a:solidFill>
                  </a:tcPr>
                </a:tc>
                <a:tc>
                  <a:txBody>
                    <a:bodyPr/>
                    <a:lstStyle/>
                    <a:p>
                      <a:r>
                        <a:rPr sz="1300" b="0" i="0">
                          <a:solidFill>
                            <a:srgbClr val="11202B"/>
                          </a:solidFill>
                          <a:latin typeface="Malgun Gothic"/>
                          <a:ea typeface="Malgun Gothic"/>
                          <a:cs typeface="Malgun Gothic"/>
                        </a:rPr>
                        <a:t>SSRI, 항정신병약</a:t>
                      </a:r>
                    </a:p>
                  </a:txBody>
                  <a:tcPr marL="73152" marR="73152">
                    <a:solidFill>
                      <a:srgbClr val="FFFFFF"/>
                    </a:solidFill>
                  </a:tcPr>
                </a:tc>
                <a:tc>
                  <a:txBody>
                    <a:bodyPr/>
                    <a:lstStyle/>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영양</a:t>
                      </a:r>
                    </a:p>
                  </a:txBody>
                  <a:tcPr marL="73152" marR="73152">
                    <a:solidFill>
                      <a:srgbClr val="ECF1F5"/>
                    </a:solidFill>
                  </a:tcPr>
                </a:tc>
                <a:tc>
                  <a:txBody>
                    <a:bodyPr/>
                    <a:lstStyle/>
                    <a:p>
                      <a:r>
                        <a:rPr sz="1300" b="0" i="0">
                          <a:solidFill>
                            <a:srgbClr val="11202B"/>
                          </a:solidFill>
                          <a:latin typeface="Malgun Gothic"/>
                          <a:ea typeface="Malgun Gothic"/>
                          <a:cs typeface="Malgun Gothic"/>
                        </a:rPr>
                        <a:t>고칼로리, 연하 평가</a:t>
                      </a:r>
                    </a:p>
                  </a:txBody>
                  <a:tcPr marL="73152" marR="73152">
                    <a:solidFill>
                      <a:srgbClr val="ECF1F5"/>
                    </a:solidFill>
                  </a:tcPr>
                </a:tc>
                <a:tc>
                  <a:txBody>
                    <a:bodyPr/>
                    <a:lstStyle/>
                    <a:p>
                      <a:r>
                        <a:rPr sz="1300" b="0" i="0">
                          <a:solidFill>
                            <a:srgbClr val="11202B"/>
                          </a:solidFill>
                          <a:latin typeface="Malgun Gothic"/>
                          <a:ea typeface="Malgun Gothic"/>
                          <a:cs typeface="Malgun Gothic"/>
                        </a:rPr>
                        <a:t>과대사·체중 감소</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헌팅틴 저하(HTT lowering)</a:t>
                      </a:r>
                    </a:p>
                  </a:txBody>
                  <a:tcPr marL="73152" marR="73152">
                    <a:solidFill>
                      <a:srgbClr val="FFFFFF"/>
                    </a:solidFill>
                  </a:tcPr>
                </a:tc>
                <a:tc>
                  <a:txBody>
                    <a:bodyPr/>
                    <a:lstStyle/>
                    <a:p>
                      <a:r>
                        <a:rPr sz="1300" b="0" i="0">
                          <a:solidFill>
                            <a:srgbClr val="11202B"/>
                          </a:solidFill>
                          <a:latin typeface="Malgun Gothic"/>
                          <a:ea typeface="Malgun Gothic"/>
                          <a:cs typeface="Malgun Gothic"/>
                        </a:rPr>
                        <a:t>토미네르센(비선택 ASO, 척수강)</a:t>
                      </a:r>
                    </a:p>
                  </a:txBody>
                  <a:tcPr marL="73152" marR="73152">
                    <a:solidFill>
                      <a:srgbClr val="FFFFFF"/>
                    </a:solidFill>
                  </a:tcPr>
                </a:tc>
                <a:tc>
                  <a:txBody>
                    <a:bodyPr/>
                    <a:lstStyle/>
                    <a:p>
                      <a:r>
                        <a:rPr sz="1300" b="0" i="0">
                          <a:solidFill>
                            <a:srgbClr val="11202B"/>
                          </a:solidFill>
                          <a:latin typeface="Malgun Gothic"/>
                          <a:ea typeface="Malgun Gothic"/>
                          <a:cs typeface="Malgun Gothic"/>
                        </a:rPr>
                        <a:t>3상 GENERATION-HD1 중단(2021; 고용량 악화) → 젊고 경증 군 재시험(GENERATION HD2)</a:t>
                      </a:r>
                    </a:p>
                  </a:txBody>
                  <a:tcPr marL="73152" marR="73152">
                    <a:solidFill>
                      <a:srgbClr val="FFFFFF"/>
                    </a:solidFill>
                  </a:tcPr>
                </a:tc>
              </a:tr>
              <a:tr h="365760">
                <a:tc>
                  <a:txBody>
                    <a:bodyPr/>
                    <a:lstStyle/>
                    <a:p/>
                  </a:txBody>
                  <a:tcPr marL="73152" marR="73152">
                    <a:solidFill>
                      <a:srgbClr val="ECF1F5"/>
                    </a:solidFill>
                  </a:tcPr>
                </a:tc>
                <a:tc>
                  <a:txBody>
                    <a:bodyPr/>
                    <a:lstStyle/>
                    <a:p>
                      <a:r>
                        <a:rPr sz="1300" b="1" i="0">
                          <a:solidFill>
                            <a:srgbClr val="11202B"/>
                          </a:solidFill>
                          <a:latin typeface="Malgun Gothic"/>
                          <a:ea typeface="Malgun Gothic"/>
                          <a:cs typeface="Malgun Gothic"/>
                        </a:rPr>
                        <a:t>AMT-130</a:t>
                      </a:r>
                      <a:r>
                        <a:rPr sz="1300" b="0" i="0">
                          <a:solidFill>
                            <a:srgbClr val="11202B"/>
                          </a:solidFill>
                          <a:latin typeface="Malgun Gothic"/>
                          <a:ea typeface="Malgun Gothic"/>
                          <a:cs typeface="Malgun Gothic"/>
                        </a:rPr>
                        <a:t>(AAV5-miRNA, 선조체 직접 주입)</a:t>
                      </a:r>
                    </a:p>
                  </a:txBody>
                  <a:tcPr marL="73152" marR="73152">
                    <a:solidFill>
                      <a:srgbClr val="ECF1F5"/>
                    </a:solidFill>
                  </a:tcPr>
                </a:tc>
                <a:tc>
                  <a:txBody>
                    <a:bodyPr/>
                    <a:lstStyle/>
                    <a:p>
                      <a:r>
                        <a:rPr sz="1300" b="0" i="0">
                          <a:solidFill>
                            <a:srgbClr val="11202B"/>
                          </a:solidFill>
                          <a:latin typeface="Malgun Gothic"/>
                          <a:ea typeface="Malgun Gothic"/>
                          <a:cs typeface="Malgun Gothic"/>
                        </a:rPr>
                        <a:t>2025 3년 고용량군 cUHDRS 진행 75% 감소 보고(외부 대조) — 가속 승인 신청 논의</a:t>
                      </a:r>
                    </a:p>
                  </a:txBody>
                  <a:tcPr marL="73152" marR="73152">
                    <a:solidFill>
                      <a:srgbClr val="ECF1F5"/>
                    </a:solidFill>
                  </a:tcPr>
                </a:tc>
              </a:tr>
              <a:tr h="365760">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대립 선택 ASO(SNP 표적 — 중단 사례), 경구 스플라이싱 조절제(</a:t>
                      </a:r>
                      <a:r>
                        <a:rPr sz="1300" b="1" i="0">
                          <a:solidFill>
                            <a:srgbClr val="11202B"/>
                          </a:solidFill>
                          <a:latin typeface="Malgun Gothic"/>
                          <a:ea typeface="Malgun Gothic"/>
                          <a:cs typeface="Malgun Gothic"/>
                        </a:rPr>
                        <a:t>PTC518 보타플람</a:t>
                      </a:r>
                      <a:r>
                        <a:rPr sz="1300" b="0" i="0">
                          <a:solidFill>
                            <a:srgbClr val="11202B"/>
                          </a:solidFill>
                          <a:latin typeface="Malgun Gothic"/>
                          <a:ea typeface="Malgun Gothic"/>
                          <a:cs typeface="Malgun Gothic"/>
                        </a:rPr>
                        <a:t> 2상 — 혈중 HTT 감소)</a:t>
                      </a:r>
                    </a:p>
                  </a:txBody>
                  <a:tcPr marL="73152" marR="73152">
                    <a:solidFill>
                      <a:srgbClr val="FFFFFF"/>
                    </a:solidFill>
                  </a:tcPr>
                </a:tc>
                <a:tc>
                  <a:txBody>
                    <a:bodyPr/>
                    <a:lstStyle/>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체세포 확장 억제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MSH3 ASO/siRNA, FAN1 증강, PMS1 표적</a:t>
                      </a:r>
                    </a:p>
                  </a:txBody>
                  <a:tcPr marL="73152" marR="73152">
                    <a:solidFill>
                      <a:srgbClr val="ECF1F5"/>
                    </a:solidFill>
                  </a:tcPr>
                </a:tc>
                <a:tc>
                  <a:txBody>
                    <a:bodyPr/>
                    <a:lstStyle/>
                    <a:p>
                      <a:r>
                        <a:rPr sz="1300" b="0" i="0">
                          <a:solidFill>
                            <a:srgbClr val="11202B"/>
                          </a:solidFill>
                          <a:latin typeface="Malgun Gothic"/>
                          <a:ea typeface="Malgun Gothic"/>
                          <a:cs typeface="Malgun Gothic"/>
                        </a:rPr>
                        <a:t>전임상~1상 — 유전 수정인자에서 출발</a:t>
                      </a:r>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치료 현황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영역</a:t>
                      </a:r>
                    </a:p>
                  </a:txBody>
                  <a:tcPr marL="73152" marR="73152">
                    <a:solidFill>
                      <a:srgbClr val="003C71"/>
                    </a:solidFill>
                  </a:tcPr>
                </a:tc>
                <a:tc>
                  <a:txBody>
                    <a:bodyPr/>
                    <a:lstStyle/>
                    <a:p>
                      <a:r>
                        <a:rPr sz="1500" b="1" i="0">
                          <a:solidFill>
                            <a:srgbClr val="FFFFFF"/>
                          </a:solidFill>
                          <a:latin typeface="Malgun Gothic"/>
                          <a:ea typeface="Malgun Gothic"/>
                          <a:cs typeface="Malgun Gothic"/>
                        </a:rPr>
                        <a:t>치료</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기전·근거</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대사</a:t>
                      </a:r>
                    </a:p>
                  </a:txBody>
                  <a:tcPr marL="73152" marR="73152">
                    <a:solidFill>
                      <a:srgbClr val="FFFFFF"/>
                    </a:solidFill>
                  </a:tcPr>
                </a:tc>
                <a:tc>
                  <a:txBody>
                    <a:bodyPr/>
                    <a:lstStyle/>
                    <a:p>
                      <a:r>
                        <a:rPr sz="1500" b="0" i="0">
                          <a:solidFill>
                            <a:srgbClr val="11202B"/>
                          </a:solidFill>
                          <a:latin typeface="Malgun Gothic"/>
                          <a:ea typeface="Malgun Gothic"/>
                          <a:cs typeface="Malgun Gothic"/>
                        </a:rPr>
                        <a:t>크레아틴, CoQ10(2CARE), 트리헵타노인</a:t>
                      </a:r>
                    </a:p>
                  </a:txBody>
                  <a:tcPr marL="73152" marR="73152">
                    <a:solidFill>
                      <a:srgbClr val="FFFFFF"/>
                    </a:solidFill>
                  </a:tcPr>
                </a:tc>
                <a:tc>
                  <a:txBody>
                    <a:bodyPr/>
                    <a:lstStyle/>
                    <a:p>
                      <a:r>
                        <a:rPr sz="1500" b="0" i="0">
                          <a:solidFill>
                            <a:srgbClr val="11202B"/>
                          </a:solidFill>
                          <a:latin typeface="Malgun Gothic"/>
                          <a:ea typeface="Malgun Gothic"/>
                          <a:cs typeface="Malgun Gothic"/>
                        </a:rPr>
                        <a:t>음성 또는 미미</a:t>
                      </a:r>
                    </a:p>
                  </a:txBody>
                  <a:tcPr marL="73152" marR="7315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체세포 CAG 확장이 '시계'이고 역치 이후 빠르게 신경세포 독성이 발현된다는 2단계 모델은, 증상 전 수십 년 동안 확장을 억제하는 것이 가장 유망한 전략임을 시사한다.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단일세포·단일핵 RNA-seq에서 HD 선조체 MSN 유형별 전사 이상과 CAG 길이(장판독 단일세포)의 상관이 측정되기 시작했다.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HD-ISS(2022)로 증상 전 생물학적 병기를 정의해 전구기 환자 대상 질환 수정 시험이 가능해졌다.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HD는 HTT CAG ≥40 확장의 상염색체 우성 질환으로 부계 안티시페이션과 선조체 체세포 확장이 발병 연령을 좌우한다.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돌연변이 헌팅틴은 응집, 전사 이상(REST–BDNF, PGC-1α), 축삭 수송·자가포식 결함으로 독성을 나타낸다.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체중 감소·선조체 포도당 저대사·미토콘드리아 복합체 II/III 결함·3-NP 모델이 에너지 대사 가설을 지지한다.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간접 경로 MSN의 선택적 소실이 무도증을, 피질·시상하부 침범이 인지·정신·수면 증상을 만든다.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VMAT2 억제제가 증상 치료이며, 헌팅틴 저하(AMT-130 등)와 MSH3 표적 체세포 확장 억제가 질환 수정의 최전선이다.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아버지에게서 HTT 46 CAG를 물려받은 아들이 10대에 경직·경련·인지 저하로 발병했다. 기전을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남성 생식세포(정자 형성)에서는 CAG 반복이 크게 확장되는 경향이 있어 아버지의 46 반복이 아들에서 60–80 이상으로 늘어났을 가능성이 크다(안티시페이션). 반복 수가 길수록 발병이 이르고 표현형이 무도증보다 경직·운동 감소·경련이 두드러진 소아형(웨스트팔 변이형)이 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3-나이트로프로피온산 중독이 HD 연구에 중요한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3-NP는 숙신산 탈수소효소(복합체 II)를 비가역적으로 억제하는 미토콘드리아 독소로, 전신 투여에도 선조체가 선택적으로 손상되어 HD 유사 무도증과 병리를 재현한다. 이는 에너지 대사 결함만으로도 선조체 선택적 퇴행이 일어날 수 있음을 보여 HD의 대사·흥분독성 가설을 뒷받침한다.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MSH3를 표적으로 하는 치료가 HD에서 합리적인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대규모 GWAS에서 발병 연령 수정인자로 DNA 불일치 수선 유전자(MSH3, FAN1 등)가 발견되었고, MSH3는 CAG 반복 루프를 인식해 체세포 확장을 촉진한다. MSH3 기능 저하 변이 보유자는 발병이 늦다. 선조체 신경세포에서 반복이 역치 이상으로 확장되어야 독성이 나타난다는 모델에 따르면 MSH3 억제로 확장을 늦추면 발병을 지연할 수 있다. MSH3 결손은 MSH6 기능이 보존되어 암 위험 증가가 작다.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HD 무도증 치료에 VMAT2 억제제를 쓸 때 반드시 모니터링해야 할 것은?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VMAT2 억제제는 도파민뿐 아니라 세로토닌·노르에피네프린의 소포 저장도 감소시켜 우울증과 자살 사고를 악화시킬 수 있다(HD는 기저 자살 위험이 높음). 또한 파킨슨증·진정·QT 연장(CYP2D6 저대사자·억제제 병용 시 용량 조정)을 확인한다.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Tabrizi SJ et al. Huntington disease: new insights into molecular pathogenesis and therapeutic opportunities. Nat Rev Neurol 2020;16:529–546.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Genetic Modifiers of Huntington's Disease (GeM-HD) Consortium. CAG repeat not polyglutamine length determines timing of Huntington's disease onset. Cell 2019;178:887–900.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Handsaker RE et al. Long somatic DNA-repeat expansion drives neurodegeneration in Huntington's disease. Cell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B05-L03  ·  헌팅턴병과 에너지 대사</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Tabrizi SJ et al. A biological classification of Huntington's disease: the Integrated Staging System. Lancet Neurol 2022;21:632–644.</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Browne SE, Beal MF. The energetics of Huntington's disease. Neurochem Res 2004;29:531–546.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