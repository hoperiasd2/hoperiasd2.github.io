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니만-피크병 C형을 의심한다. 혈장 옥시스테롤(콜레스탄트리올), 리소스핑고미엘린-509, 담즙산 유사체 같은 생체표지자를 측정한 뒤 NPC1/NPC2 유전자 검사로 확진한다. 확진 시 미글루스타트, 아릭리모클로몰 또는 레바세틸류신 치료와 다학제 지지 치료를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재조합 글루코세레브로시다아제는 거대 단백으로 혈액뇌장벽을 통과하지 못해 뇌 신경세포·미세아교세포의 글루코실세라마이드·글루코실스핑고신 축적을 줄이지 못한다. ERT는 간비장비대·혈구감소·뼈 증상은 개선하지만 신경 증상에는 BBB 통과 소분자(SRT, 샤페론)나 유전자 치료가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TPP1 효소는 정맥 투여 시 혈액뇌장벽을 통과하지 못하므로 뇌실 내 장치(오마야 저장소)로 CSF에 직접 투여해 뇌 신경세포가 M6P 수용체로 흡수하게 한다. 이미 소실된 신경세포는 회복되지 않으므로, 증상이 나타나기 전 진단된 형제에게 조기 투여하면 운동·언어 기능 저하를 훨씬 효과적으로 늦출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1970년대부터 지역사회 기반의 보인자 선별검사(헥소스아미니다아제 A 효소 활성, 이후 유전자 검사)와 유전 상담, 산전 진단·착상 전 진단·결혼 상대 선별 프로그램(Dor Yeshorim 등)을 도입해 보인자 부부의 이환아 출생을 예방했기 때문이다. 공중보건 유전학의 대표적 성공 사례이다.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유전대사 신경질환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리소좀 축적 신경질환: 고셔, 니만-피크 C, 테이-삭스, 신경 세로이드 리포푸신증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Neurological Lysosomal Storage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B05-L12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리소좀 기능 장애가 신경세포·미세아교세포·수초를 손상하는 기전을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신경형 고셔병(2·3형)과 GBA1–파킨슨 연관을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니만-피크 C형의 콜레스테롤 수송 결함과 신경 증상, 치료(미글루스타트, 아릭리모클로몰, 레바세틸류신)를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GM1·GM2 강글리오시드증과 신경 세로이드 리포푸신증(CLN)의 임상·진단·치료를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혈액뇌장벽을 넘는 치료 전략(뇌실 내 ERT, BBB 셔틀, 유전자 치료)을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신경계 리소좀 기능 장애의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신경형 고셔병과 GBA1–파킨슨 연관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니만-피크병 C형(NPC)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GM1·GM2 강글리오시드증과 신경 세로이드 리포푸신증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혈액뇌장벽을 넘는 치료 전략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리소좀 기능 장애의 기전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신경세포는 분열하지 않아 축적물이 희석되지 않고, 축삭·시냅스 말단의 자가포식·엔도솜 경로가 길고 복잡 → 리소좀 결함에 극도로 취약.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기전: 자가포식 플럭스 차단(LC3-II·p62 축적), 손상 미토콘드리아 축적, 리소좀 Ca²⁺ 신호 이상(TRPML1), 시냅스 소포 재순환 장애, 축삭 팽대(meganeurite) — 이소성 수상돌기 형성(GM2), 2차 강글리오사이드·콜레스테롤 축적.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미세아교세포 활성화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축적물 탐식 실패 → 지속 염증(TNF, IL-1β) → 신경세포 사멸 가속; 미세아교세포를 교체하는 HSCT의 효과 근거.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 손상: 스핑고지질(갈락토세레브로사이드·설파타이드) 분해 결함 → 백질이영양증(B05 L13).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리소좀 기능 장애의 기전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독성 리소-지질: 글루코실스핑고신(고셔), 사이코신(크라베), 리소-Gb3 — 세포독성·염증.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신경형 고셔병과 GBA1–파킨슨 연관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고셔 1형(비신경형; B03 L05) vs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(급성 신경형: 생후 수개월 — 뇌간 침범, 안구운동 장애, 후궁반장, 연하곤란, 2세 전 사망) vs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(아급성 신경형: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수평 단속운동 개시 장애(안구운동 실행증)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특징, 근간대 뇌전증, 인지 저하 다양; L444P 동형접합 흔함 — 노르보텐형).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ERT(이미글루세라제 등)는 내장·혈액 증상은 개선하나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BBB를 통과하지 못해 신경 증상 무효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3형에 고용량 ERT + (뇌 투과 SRT 벤글루스타트 시험 — LEAP2MONO 음성), 암브록솔 고용량(샤페론; 소규모 개선 보고), 유전자 치료 연구.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GBA1–파킨슨병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고셔 환자·보인자 모두 PD 위험 증가(B05 L02) — 중증 변이(L444P, 84GG)일수록 위험·인지 저하 큼; 레비소체 치매 위험도 증가.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신경형 고셔병과 GBA1–파킨슨 연관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 내 글루코실스핑고신이 신경세포·미세아교세포 독성, 보체(C5a) 활성 → 신경염증.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니만-피크병 C형(NPC)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NPC1(95%) 또는 NPC2 결손: 후기 엔도솜·리소좀에서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비에스터화 콜레스테롤 유출 실패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(NPC2가 콜레스테롤을 받아 NPC1에 전달 → 리소좀 막 통과) → 콜레스테롤·스핑고지질(GM2, GM3, 스핑고신)·스핑고미엘린 축적; 리소좀 Ca²⁺ 저하(스핑고신이 TRPML1 억제).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스펙트럼(발병 연령별):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신생아: 담즙정체 황달·간비장비대(일과성 또는 간부전), 태아수종.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소아·청소년: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수직 핵상 주시마비(VSGP; 가장 특징적 — 하방 주시 먼저)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웃음 유발 탈력발작(gelastic cataplexy)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소뇌 운동실조, 구음·연하장애, 근긴장이상, 학습 저하, 경련.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성인: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정신증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(조현병 유사 — 초기 진단 놓치기 쉬움), 인지 저하, 운동실조, 근긴장이상.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니만-피크병 C형(NPC)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비장비대가 신경 증상 수년 전에 있을 수 있음(무증상 비장비대 병력 확인).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혈장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옥시스테롤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(콜레스탄-3β,5α,6β-트리올),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리소스핑고미엘린-509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담즙산 유사체(TCG, N-팔미토일-O-포스포콜린세린 PPCS) → NPC1/2 유전자 검사 (과거 섬유모세포 필리핀 염색).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니만-피크병 C형(NPC)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미글루스타트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글루코실세라마이드 합성효소 억제(SRT; BBB 통과)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유럽 승인; 연하·안구운동 안정화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아릭리모클로몰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HSP70 증폭 → 리소좀 기능·NPC1 접힘 지원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 FDA 승인(미글루스타트 병용)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레바세틸류신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(N-아세틸-L-류신)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리소좀·에너지 대사 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 FDA 승인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2-하이드록시프로필-β-사이클로덱스트린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 콜레스테롤 동원(척수강 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2/3상 혼재, 청력 손실 부작용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NPC2(분비 단백)에는 효과 기대, NPC1(막 단백)에는 제한적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AAV9-NPC1 전임상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GM1·GM2 강글리오시드증과 신경 세로이드 리포푸신증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GM2 강글리오시드증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테이-삭스(HEXA), 샌드호프(HEXB; 내장 침범 동반), AB 변이형(GM2A — 활성 단백).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영아형: 3–6개월 정상 발달 후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과장된 놀람 반응(청각 과민)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근긴장저하 → 경직, 시력 소실,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체리붉은반점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대두증(축적), 경련, 2–4세 사망.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후기 발병형(청소년·성인 GM2): 근위부 근위약·하위 운동신경세포 질환(ALS 유사), 소뇌 위축, 정신증 — 잔여 효소 활성.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아슈케나지 유대인 보인자 선별로 발생률 90% 이상 감소(공중보건 성공 사례).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지지 요법; 미글루스타트(후기형 제한적), AAV 유전자 치료(HEXA + HEXB — 1상), 기질 감소 약물 시험.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GM1·GM2 강글리오시드증과 신경 세로이드 리포푸신증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GM1 강글리오시드증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(GLB1 β-갈락토시다아제): 영아형 — 거친 얼굴, 간비장비대, 이골증, 체리붉은반점(50%), 신경퇴행; 성인형 — 근긴장이상. 같은 효소 결손의 다른 표현형: 모르키오 B(MPS IVB; 골격 위주). AAV9-GLB1 척수강 내 1/2상.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 세로이드 리포푸신증(NCL; 바텐병)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소아 신경퇴행의 가장 흔한 원인 군; 자가형광 리포색소 축적(전자현미경 — 지문 모양, 곡선 모양, 과립 오스미움친화 침착물).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효소(PPT1·TPP1 건조혈반), 유전자 검사, 망막 검사, 뇌파(CLN2 — 저빈도 광자극에 대한 광돌발 반응), 림프구 공포.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GM1·GM2 강글리오시드증과 신경 세로이드 리포푸신증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PPT1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퇴행·시력 소실·근간대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TPP1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후기 영아(2–4세)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 지연 후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난치성 발작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·퇴행·실명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세를리포나아제 알파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(뇌실 내 2주마다 ERT, 2017 승인) — 운동·언어 기능 저하 지연; 증상 전 형제 치료 시 효과 최대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학령기(5–7세)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시력 소실(첫 증상)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행동·인지 퇴행 → 파킨슨증·발작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CLN5–8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후기 영아 변이형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CLN7 맞춤 ASO(밀라센)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성인형 CLN(쿠프스병)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DNAJC5, CTSF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치매·운동장애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혈액뇌장벽을 넘는 치료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 내/척수강 내 투여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세를리포나아제(CLN2), 누시너센(SMA), 사이클로덱스트린(NPC)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BBB 셔틀 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트랜스페린 수용체 항체 융합(파비나페르스프 알파 — MPS II, 일본), TfR 결합 '수송 차량' 효소(DNL310 — 3상), 인슐린 수용체 항체 융합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BBB 통과 소분자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미글루스타트, 벤글루스타트(시험), 아릭리모클로몰, 샤페론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조혈모세포이식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공여 미세아교세포 대체 — MPS I(헐러), 크라베·MLD 증상 전, 알파-만노시도시스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HSC 유전자 치료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과발현 미세아교세포(MLD — 아티다르사진; MPS I·IIIA 시험)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AAV 뇌 직접·척수강 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AAV9/AAVrh10 — GM1, GM2, CLN3, CLN5, 파킨슨 GBA1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미세아교세포 표적(CSF1R 억제 — 미세아교세포 '리셋' 후 재채움)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혈액뇌장벽을 넘는 치료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신경형 리소좀 질환은 진단 시 이미 비가역 신경 손실이 진행된 경우가 많다. 그래서 증상 전 진단(신생아 선별, 형제 검사)과 '치료 시간 창' 안의 개입이 결과를 결정한다.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GBA1 매개 파킨슨병에서 GCase 활성제·AAV 유전자 치료가 리소좀 축적질환과 흔한 신경퇴행질환의 공통 치료 전략을 시험하고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단일세포·공간 전사체로 NPC·NCL 생쥐와 환자 뇌의 퍼킨예 세포 선택적 소실과 미세아교세포 상태가 지도화되어 표적 세포 우선순위를 정하고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맞춤형 ASO(밀라센 이후 수십 건의 N-of-1 시도)와 체계적 규제 프레임워크가 희귀 신경 LSD 치료의 새로운 경로가 되고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비분열 신경세포와 미세아교세포는 리소좀·자가포식 결함에 취약하며 독성 리소-지질과 염증이 손상을 증폭한다.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신경형 고셔(2·3형)는 ERT가 신경 증상을 막지 못하며 GBA1 변이는 파킨슨병 위험을 높인다.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NPC는 콜레스테롤 유출 결함으로 수직 핵상 주시마비·탈력발작·운동실조·정신증을 보이며 미글루스타트·아릭리모클로몰·레바세틸류신이 치료제이다.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GM2·GM1 강글리오시드증은 체리붉은반점과 퇴행을, NCL은 시력 소실·발작·퇴행을 보이며 CLN2는 뇌실 내 ERT로 치료한다.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뇌실 내 투여, BBB 셔틀 효소, HSCT, HSC/AAV 유전자 치료가 혈액뇌장벽을 넘는 전략이며 증상 전 개입이 핵심이다.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15세 청소년이 학업 저하, 웃을 때 갑자기 힘이 빠지는 증상, 아래쪽을 보지 못하는 안구운동 장애를 보이며 어릴 때 비장비대 병력이 있다. 진단 검사는?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니만-피크병 C형을 의심한다. 혈장 옥시스테롤(콜레스탄트리올), 리소스핑고미엘린-509, 담즙산 유사체 같은 생체표지자를 측정한 뒤 NPC1/NPC2 유전자 검사로 확진한다. 확진 시 미글루스타트, 아릭리모클로몰 또는 레바세틸류신 치료와 다학제 지지 치료를 시작한다.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고셔병 3형 환자에게 고용량 효소대체요법을 해도 안구운동 실행증과 근간대 발작이 진행하는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재조합 글루코세레브로시다아제는 거대 단백으로 혈액뇌장벽을 통과하지 못해 뇌 신경세포·미세아교세포의 글루코실세라마이드·글루코실스핑고신 축적을 줄이지 못한다. ERT는 간비장비대·혈구감소·뼈 증상은 개선하지만 신경 증상에는 BBB 통과 소분자(SRT, 샤페론)나 유전자 치료가 필요하다.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CLN2 질환에서 세를리포나아제 알파를 뇌실 내로 투여하는 이유와 증상 전 형제 치료의 의미는?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TPP1 효소는 정맥 투여 시 혈액뇌장벽을 통과하지 못하므로 뇌실 내 장치(오마야 저장소)로 CSF에 직접 투여해 뇌 신경세포가 M6P 수용체로 흡수하게 한다. 이미 소실된 신경세포는 회복되지 않으므로, 증상이 나타나기 전 진단된 형제에게 조기 투여하면 운동·언어 기능 저하를 훨씬 효과적으로 늦출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테이-삭스병 발생률이 아슈케나지 유대인 집단에서 크게 감소한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1970년대부터 지역사회 기반의 보인자 선별검사(헥소스아미니다아제 A 효소 활성, 이후 유전자 검사)와 유전 상담, 산전 진단·착상 전 진단·결혼 상대 선별 프로그램(Dor Yeshorim 등)을 도입해 보인자 부부의 이환아 출생을 예방했기 때문이다. 공중보건 유전학의 대표적 성공 사례이다.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Platt FM et al. Lysosomal storage diseases. Nat Rev Dis Primers 2018;4:27.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Geberhiwot T et al. Consensus clinical management guidelines for Niemann-Pick disease type C. Orphanet J Rare Dis 2018;13:50.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Schulz A et al. Study of intraventricular cerliponase alfa for CLN2 disease. N Engl J Med 2018;378:1898–1907.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B05-L12  ·  리소좀 축적 신경질환: 고셔, 니만-피크 C, 테이-삭스, 신경 세로이드 리포푸신증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Mazzulli JR et al. Gaucher disease glucocerebrosidase and α-synuclein form a bidirectional pathogenic loop in synucleinopathies. Cell 2011;146:37–52.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Mengel E et al. Efficacy and safety of arimoclomol in Niemann-Pick disease type C. J Inherit Metab Dis 2021;44:1463–1480.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