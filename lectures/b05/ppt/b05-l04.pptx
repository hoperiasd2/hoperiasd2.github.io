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ALS에서는 과대사·섭취 감소로 체중이 줄며, 체중 감소율과 낮은 BMI가 짧은 생존과 강하게 연관된다. 고칼로리(특히 고탄수화물) 영양 보충이 빠른 진행 군에서 생존 이득 신호를 보였으므로, 연하 평가 후 조기 위루술과 고칼로리 공급으로 체중을 유지하는 것이 표준 관리의 일부이다.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SOD1-ALS에서 CSF SOD1 단백(표적 관여)과 혈장 NfL(신경 손상 지표)을 유의하게 감소시켰고, NfL 감소가 임상 결과를 예측할 가능성이 높은 대리 지표로 인정되었다. 또한 조기 투여군의 장기 공개 연장에서 기능 저하 완화 경향이 관찰되어 가속 승인을 받았다.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정상적으로 ADAR2가 GluA2 mRNA의 Q/R 부위를 편집해 아르기닌을 넣으면 AMPA 수용체가 Ca²⁺를 통과시키지 않는다. ALS 운동신경세포에서 ADAR2가 감소해 편집되지 않은 GluA2(Q)가 늘면 Ca²⁺ 투과성 AMPA 수용체가 증가하고, 칼슘 완충 단백이 적은 운동신경세포에 Ca²⁺ 과부하·미토콘드리아 손상·흥분독성 사멸이 일어난다.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TDP-43이 핵에서 빠지면 억제하던 잠재 엑손이 STMN2, UNC13A, HDGFL2 등에 포함되어 비정상 전사체와 펩타이드가 생긴다. 이 잠재 엑손 산물을 CSF·혈액에서 검출해 TDP-43 기능 소실을 증상 전에 확인할 수 있고, STMN2 잠재 엑손을 막는 ASO나 TDP-43 독성 수정인자(ATXN2) 저하 ASO로 치료를 시도한다.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B05 신경질환과 대사학  ·  신경퇴행</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근위축성 측삭경화증과 대사</a:t>
            </a:r>
          </a:p>
          <a:p>
            <a:r>
              <a:rPr sz="2000" b="0" i="0">
                <a:solidFill>
                  <a:srgbClr val="C2CDD6"/>
                </a:solidFill>
                <a:latin typeface="Malgun Gothic"/>
                <a:ea typeface="Malgun Gothic"/>
                <a:cs typeface="Malgun Gothic"/>
              </a:rPr>
              <a:t>Amyotrophic Lateral Sclerosis and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B05-L04</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ALS의 임상(상·하위 운동신경세포)과 유전학(SOD1, C9orf72, TARDBP, FUS)을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ALS의 전신 과대사·체중 감소·지질 대사 변화와 예후의 관계를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운동신경세포의 대사적 취약성(축삭 길이, 흥분독성, 미토콘드리아, 올리고덴드로사이트 젖산 지원)을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리루졸·에다라본·토퍼센·영양 개입의 기전과 근거를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ALS 바이오마커(NfL)와 대사 표적 연구를 평가한다.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ALS의 임상과 유전</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전신 과대사와 체중</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운동신경세포의 대사적 취약성</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치료와 근거</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바이오마커와 대사 표적 연구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ALS의 임상과 유전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상위(피질척수) + 하위(뇌간·척수) 운동신경세포 퇴행 → 진행성 근력 약화, 근위축, 섬유속성 연축, 경직·과반사, 연수 증상(구음·연하), 호흡부전; 진단 후 중앙 생존 3–5년. 약 15%는 </a:t>
            </a:r>
            <a:r>
              <a:rPr sz="2000" b="1" i="0">
                <a:solidFill>
                  <a:srgbClr val="11202B"/>
                </a:solidFill>
                <a:latin typeface="Malgun Gothic"/>
                <a:ea typeface="Malgun Gothic"/>
                <a:cs typeface="Malgun Gothic"/>
              </a:rPr>
              <a:t>전두측두치매(FTD)</a:t>
            </a:r>
            <a:r>
              <a:rPr sz="2000" b="0" i="0">
                <a:solidFill>
                  <a:srgbClr val="11202B"/>
                </a:solidFill>
                <a:latin typeface="Malgun Gothic"/>
                <a:ea typeface="Malgun Gothic"/>
                <a:cs typeface="Malgun Gothic"/>
              </a:rPr>
              <a:t> 동반(ALS–FTD 스펙트럼).</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가족성 ~10%, 산발성 ~90%(그러나 산발성의 ~10%도 유전 변이).</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산발성 ALS의 약 97%에서 </a:t>
            </a:r>
            <a:r>
              <a:rPr sz="2000" b="1" i="0">
                <a:solidFill>
                  <a:srgbClr val="11202B"/>
                </a:solidFill>
                <a:latin typeface="Malgun Gothic"/>
                <a:ea typeface="Malgun Gothic"/>
                <a:cs typeface="Malgun Gothic"/>
              </a:rPr>
              <a:t>TDP-43 병리</a:t>
            </a:r>
            <a:r>
              <a:rPr sz="2000" b="0" i="0">
                <a:solidFill>
                  <a:srgbClr val="11202B"/>
                </a:solidFill>
                <a:latin typeface="Malgun Gothic"/>
                <a:ea typeface="Malgun Gothic"/>
                <a:cs typeface="Malgun Gothic"/>
              </a:rPr>
              <a:t>(SOD1·FUS 형 제외) → 공통 하류 경로; UNC13A 위험 변이가 잠재 엑손 포함을 증가시킨다(B06 L06).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ALS의 임상과 유전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유전자</a:t>
                      </a:r>
                    </a:p>
                  </a:txBody>
                  <a:tcPr marL="73152" marR="73152">
                    <a:solidFill>
                      <a:srgbClr val="003C71"/>
                    </a:solidFill>
                  </a:tcPr>
                </a:tc>
                <a:tc>
                  <a:txBody>
                    <a:bodyPr/>
                    <a:lstStyle/>
                    <a:p>
                      <a:r>
                        <a:rPr sz="1500" b="1" i="0">
                          <a:solidFill>
                            <a:srgbClr val="FFFFFF"/>
                          </a:solidFill>
                          <a:latin typeface="Malgun Gothic"/>
                          <a:ea typeface="Malgun Gothic"/>
                          <a:cs typeface="Malgun Gothic"/>
                        </a:rPr>
                        <a:t>빈도(가족성)</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C9orf72</a:t>
                      </a:r>
                      <a:r>
                        <a:rPr sz="1500" b="0" i="0">
                          <a:solidFill>
                            <a:srgbClr val="11202B"/>
                          </a:solidFill>
                          <a:latin typeface="Malgun Gothic"/>
                          <a:ea typeface="Malgun Gothic"/>
                          <a:cs typeface="Malgun Gothic"/>
                        </a:rPr>
                        <a:t> GGGGCC 확장</a:t>
                      </a:r>
                    </a:p>
                  </a:txBody>
                  <a:tcPr marL="73152" marR="73152">
                    <a:solidFill>
                      <a:srgbClr val="FFFFFF"/>
                    </a:solidFill>
                  </a:tcPr>
                </a:tc>
                <a:tc>
                  <a:txBody>
                    <a:bodyPr/>
                    <a:lstStyle/>
                    <a:p>
                      <a:r>
                        <a:rPr sz="1500" b="0" i="0">
                          <a:solidFill>
                            <a:srgbClr val="11202B"/>
                          </a:solidFill>
                          <a:latin typeface="Malgun Gothic"/>
                          <a:ea typeface="Malgun Gothic"/>
                          <a:cs typeface="Malgun Gothic"/>
                        </a:rPr>
                        <a:t>유럽 ~40%(동아시아 드묾)</a:t>
                      </a:r>
                    </a:p>
                  </a:txBody>
                  <a:tcPr marL="73152" marR="73152">
                    <a:solidFill>
                      <a:srgbClr val="FFFFFF"/>
                    </a:solidFill>
                  </a:tcPr>
                </a:tc>
                <a:tc>
                  <a:txBody>
                    <a:bodyPr/>
                    <a:lstStyle/>
                    <a:p>
                      <a:r>
                        <a:rPr sz="1500" b="0" i="0">
                          <a:solidFill>
                            <a:srgbClr val="11202B"/>
                          </a:solidFill>
                          <a:latin typeface="Malgun Gothic"/>
                          <a:ea typeface="Malgun Gothic"/>
                          <a:cs typeface="Malgun Gothic"/>
                        </a:rPr>
                        <a:t>기능소실(자가포식·엔도솜) + RNA 병소 + </a:t>
                      </a:r>
                      <a:r>
                        <a:rPr sz="1500" b="1" i="0">
                          <a:solidFill>
                            <a:srgbClr val="11202B"/>
                          </a:solidFill>
                          <a:latin typeface="Malgun Gothic"/>
                          <a:ea typeface="Malgun Gothic"/>
                          <a:cs typeface="Malgun Gothic"/>
                        </a:rPr>
                        <a:t>RAN 번역 이중펩타이드</a:t>
                      </a:r>
                      <a:r>
                        <a:rPr sz="1500" b="0" i="0">
                          <a:solidFill>
                            <a:srgbClr val="11202B"/>
                          </a:solidFill>
                          <a:latin typeface="Malgun Gothic"/>
                          <a:ea typeface="Malgun Gothic"/>
                          <a:cs typeface="Malgun Gothic"/>
                        </a:rPr>
                        <a:t>(poly-GA, -GR, -PR — 핵소체·핵공 독성)</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SOD1</a:t>
                      </a:r>
                    </a:p>
                  </a:txBody>
                  <a:tcPr marL="73152" marR="73152">
                    <a:solidFill>
                      <a:srgbClr val="ECF1F5"/>
                    </a:solidFill>
                  </a:tcPr>
                </a:tc>
                <a:tc>
                  <a:txBody>
                    <a:bodyPr/>
                    <a:lstStyle/>
                    <a:p>
                      <a:r>
                        <a:rPr sz="1500" b="0" i="0">
                          <a:solidFill>
                            <a:srgbClr val="11202B"/>
                          </a:solidFill>
                          <a:latin typeface="Malgun Gothic"/>
                          <a:ea typeface="Malgun Gothic"/>
                          <a:cs typeface="Malgun Gothic"/>
                        </a:rPr>
                        <a:t>12–20% (동아시아 상대적으로 많음)</a:t>
                      </a:r>
                    </a:p>
                  </a:txBody>
                  <a:tcPr marL="73152" marR="73152">
                    <a:solidFill>
                      <a:srgbClr val="ECF1F5"/>
                    </a:solidFill>
                  </a:tcPr>
                </a:tc>
                <a:tc>
                  <a:txBody>
                    <a:bodyPr/>
                    <a:lstStyle/>
                    <a:p>
                      <a:r>
                        <a:rPr sz="1500" b="0" i="0">
                          <a:solidFill>
                            <a:srgbClr val="11202B"/>
                          </a:solidFill>
                          <a:latin typeface="Malgun Gothic"/>
                          <a:ea typeface="Malgun Gothic"/>
                          <a:cs typeface="Malgun Gothic"/>
                        </a:rPr>
                        <a:t>잘못 접힌 SOD1의 독성 기능획득(효소 활성 소실이 원인 아님)</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TARDBP</a:t>
                      </a:r>
                      <a:r>
                        <a:rPr sz="1500" b="0" i="0">
                          <a:solidFill>
                            <a:srgbClr val="11202B"/>
                          </a:solidFill>
                          <a:latin typeface="Malgun Gothic"/>
                          <a:ea typeface="Malgun Gothic"/>
                          <a:cs typeface="Malgun Gothic"/>
                        </a:rPr>
                        <a:t>(TDP-43)</a:t>
                      </a:r>
                    </a:p>
                  </a:txBody>
                  <a:tcPr marL="73152" marR="73152">
                    <a:solidFill>
                      <a:srgbClr val="FFFFFF"/>
                    </a:solidFill>
                  </a:tcPr>
                </a:tc>
                <a:tc>
                  <a:txBody>
                    <a:bodyPr/>
                    <a:lstStyle/>
                    <a:p>
                      <a:r>
                        <a:rPr sz="1500" b="0" i="0">
                          <a:solidFill>
                            <a:srgbClr val="11202B"/>
                          </a:solidFill>
                          <a:latin typeface="Malgun Gothic"/>
                          <a:ea typeface="Malgun Gothic"/>
                          <a:cs typeface="Malgun Gothic"/>
                        </a:rPr>
                        <a:t>~4%</a:t>
                      </a:r>
                    </a:p>
                  </a:txBody>
                  <a:tcPr marL="73152" marR="73152">
                    <a:solidFill>
                      <a:srgbClr val="FFFFFF"/>
                    </a:solidFill>
                  </a:tcPr>
                </a:tc>
                <a:tc>
                  <a:txBody>
                    <a:bodyPr/>
                    <a:lstStyle/>
                    <a:p>
                      <a:r>
                        <a:rPr sz="1500" b="0" i="0">
                          <a:solidFill>
                            <a:srgbClr val="11202B"/>
                          </a:solidFill>
                          <a:latin typeface="Malgun Gothic"/>
                          <a:ea typeface="Malgun Gothic"/>
                          <a:cs typeface="Malgun Gothic"/>
                        </a:rPr>
                        <a:t>핵 TDP-43 소실 + 세포질 응집 → 스플라이싱 이상(STMN2·UNC13A 잠재 엑손)</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FUS</a:t>
                      </a:r>
                    </a:p>
                  </a:txBody>
                  <a:tcPr marL="73152" marR="73152">
                    <a:solidFill>
                      <a:srgbClr val="ECF1F5"/>
                    </a:solidFill>
                  </a:tcPr>
                </a:tc>
                <a:tc>
                  <a:txBody>
                    <a:bodyPr/>
                    <a:lstStyle/>
                    <a:p>
                      <a:r>
                        <a:rPr sz="1500" b="0" i="0">
                          <a:solidFill>
                            <a:srgbClr val="11202B"/>
                          </a:solidFill>
                          <a:latin typeface="Malgun Gothic"/>
                          <a:ea typeface="Malgun Gothic"/>
                          <a:cs typeface="Malgun Gothic"/>
                        </a:rPr>
                        <a:t>~4% (젊은 발병 공격형)</a:t>
                      </a:r>
                    </a:p>
                  </a:txBody>
                  <a:tcPr marL="73152" marR="73152">
                    <a:solidFill>
                      <a:srgbClr val="ECF1F5"/>
                    </a:solidFill>
                  </a:tcPr>
                </a:tc>
                <a:tc>
                  <a:txBody>
                    <a:bodyPr/>
                    <a:lstStyle/>
                    <a:p>
                      <a:r>
                        <a:rPr sz="1500" b="0" i="0">
                          <a:solidFill>
                            <a:srgbClr val="11202B"/>
                          </a:solidFill>
                          <a:latin typeface="Malgun Gothic"/>
                          <a:ea typeface="Malgun Gothic"/>
                          <a:cs typeface="Malgun Gothic"/>
                        </a:rPr>
                        <a:t>상분리 이상 → 응집</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기타</a:t>
                      </a:r>
                    </a:p>
                  </a:txBody>
                  <a:tcPr marL="73152" marR="73152">
                    <a:solidFill>
                      <a:srgbClr val="FFFFFF"/>
                    </a:solidFill>
                  </a:tcPr>
                </a:tc>
                <a:tc>
                  <a:txBody>
                    <a:bodyPr/>
                    <a:lstStyle/>
                    <a:p>
                      <a:r>
                        <a:rPr sz="1500" b="0" i="0">
                          <a:solidFill>
                            <a:srgbClr val="11202B"/>
                          </a:solidFill>
                          <a:latin typeface="Malgun Gothic"/>
                          <a:ea typeface="Malgun Gothic"/>
                          <a:cs typeface="Malgun Gothic"/>
                        </a:rPr>
                        <a:t>TBK1, OPTN, SQSTM1, VCP, NEK1, KIF5A</a:t>
                      </a:r>
                    </a:p>
                  </a:txBody>
                  <a:tcPr marL="73152" marR="73152">
                    <a:solidFill>
                      <a:srgbClr val="FFFFFF"/>
                    </a:solidFill>
                  </a:tcPr>
                </a:tc>
                <a:tc>
                  <a:txBody>
                    <a:bodyPr/>
                    <a:lstStyle/>
                    <a:p>
                      <a:r>
                        <a:rPr sz="1500" b="0" i="0">
                          <a:solidFill>
                            <a:srgbClr val="11202B"/>
                          </a:solidFill>
                          <a:latin typeface="Malgun Gothic"/>
                          <a:ea typeface="Malgun Gothic"/>
                          <a:cs typeface="Malgun Gothic"/>
                        </a:rPr>
                        <a:t>자가포식·축삭 수송</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전신 과대사와 체중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ALS 환자의 약 50%가 </a:t>
            </a:r>
            <a:r>
              <a:rPr sz="1800" b="1" i="0">
                <a:solidFill>
                  <a:srgbClr val="11202B"/>
                </a:solidFill>
                <a:latin typeface="Malgun Gothic"/>
                <a:ea typeface="Malgun Gothic"/>
                <a:cs typeface="Malgun Gothic"/>
              </a:rPr>
              <a:t>과대사</a:t>
            </a:r>
            <a:r>
              <a:rPr sz="1800" b="0" i="0">
                <a:solidFill>
                  <a:srgbClr val="11202B"/>
                </a:solidFill>
                <a:latin typeface="Malgun Gothic"/>
                <a:ea typeface="Malgun Gothic"/>
                <a:cs typeface="Malgun Gothic"/>
              </a:rPr>
              <a:t>(측정 REE &gt; 예측 110%) — 근육 소실에도 에너지 소비가 높음; 과대사 환자는 생존이 짧다.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진단 전부터 </a:t>
            </a:r>
            <a:r>
              <a:rPr sz="1800" b="1" i="0">
                <a:solidFill>
                  <a:srgbClr val="11202B"/>
                </a:solidFill>
                <a:latin typeface="Malgun Gothic"/>
                <a:ea typeface="Malgun Gothic"/>
                <a:cs typeface="Malgun Gothic"/>
              </a:rPr>
              <a:t>체중 감소</a:t>
            </a:r>
            <a:r>
              <a:rPr sz="1800" b="0" i="0">
                <a:solidFill>
                  <a:srgbClr val="11202B"/>
                </a:solidFill>
                <a:latin typeface="Malgun Gothic"/>
                <a:ea typeface="Malgun Gothic"/>
                <a:cs typeface="Malgun Gothic"/>
              </a:rPr>
              <a:t>와 BMI 감소; 진단 시 체중 감소율·낮은 BMI는 나쁜 예후 인자. 반대로 발병 전 </a:t>
            </a:r>
            <a:r>
              <a:rPr sz="1800" b="1" i="0">
                <a:solidFill>
                  <a:srgbClr val="11202B"/>
                </a:solidFill>
                <a:latin typeface="Malgun Gothic"/>
                <a:ea typeface="Malgun Gothic"/>
                <a:cs typeface="Malgun Gothic"/>
              </a:rPr>
              <a:t>높은 BMI·고지혈증·2형 당뇨는 ALS 위험 감소·생존 연장</a:t>
            </a:r>
            <a:r>
              <a:rPr sz="1800" b="0" i="0">
                <a:solidFill>
                  <a:srgbClr val="11202B"/>
                </a:solidFill>
                <a:latin typeface="Malgun Gothic"/>
                <a:ea typeface="Malgun Gothic"/>
                <a:cs typeface="Malgun Gothic"/>
              </a:rPr>
              <a:t>과 연관('대사 역설'; 멘델 무작위분석에서 LDL·apoB 높을수록 ALS 위험↑라는 상반 결과도 있어 해석 주의).</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기전 가설: 근육의 미토콘드리아 탈공역·지방산 의존 증가(포도당 이용 저하), 시상하부 섭식 회로 침범(외측 시상하부 위축, 멜라노코르틴 이상), 교감 활성, 연하곤란으로 인한 섭취 감소, 호흡 근육 일 증가.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전신 과대사와 체중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근육 대사 전환: 해당형 → 산화형 섬유, 지방산 β-산화 의존(PDK4↑) — 근육이 '능동적 대사 참여자'라는 '죽어가는 역행(dying-back)' 가설(신경근 접합부 탈신경이 운동신경 세포체 소실보다 선행).</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영양 개입</a:t>
            </a:r>
            <a:r>
              <a:rPr sz="2200" b="0" i="0">
                <a:solidFill>
                  <a:srgbClr val="11202B"/>
                </a:solidFill>
                <a:latin typeface="Malgun Gothic"/>
                <a:ea typeface="Malgun Gothic"/>
                <a:cs typeface="Malgun Gothic"/>
              </a:rPr>
              <a:t>: 고칼로리 고탄수화물 경관식(2상 LIPCAL-ALS 등 — 빠른 진행 아군에서 생존 이득 신호), 조기 위루술(PEG; FVC &gt;50% 시), 체중 감소 10% 이상 시 적극 개입.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운동신경세포의 대사적 취약성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거대 세포체·1 m에 이르는 축삭 → 축삭 수송·이온 기울기 에너지 부담; 신경근 접합부 유지.</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흥분독성</a:t>
            </a:r>
            <a:r>
              <a:rPr sz="1800" b="0" i="0">
                <a:solidFill>
                  <a:srgbClr val="11202B"/>
                </a:solidFill>
                <a:latin typeface="Malgun Gothic"/>
                <a:ea typeface="Malgun Gothic"/>
                <a:cs typeface="Malgun Gothic"/>
              </a:rPr>
              <a:t>: 성상세포 글루탐산 수송체 </a:t>
            </a:r>
            <a:r>
              <a:rPr sz="1800" b="1" i="0">
                <a:solidFill>
                  <a:srgbClr val="11202B"/>
                </a:solidFill>
                <a:latin typeface="Malgun Gothic"/>
                <a:ea typeface="Malgun Gothic"/>
                <a:cs typeface="Malgun Gothic"/>
              </a:rPr>
              <a:t>EAAT2(GLT-1)</a:t>
            </a:r>
            <a:r>
              <a:rPr sz="1800" b="0" i="0">
                <a:solidFill>
                  <a:srgbClr val="11202B"/>
                </a:solidFill>
                <a:latin typeface="Malgun Gothic"/>
                <a:ea typeface="Malgun Gothic"/>
                <a:cs typeface="Malgun Gothic"/>
              </a:rPr>
              <a:t> 감소(ALS 운동 피질·척수), 운동신경세포의 </a:t>
            </a:r>
            <a:r>
              <a:rPr sz="1800" b="1" i="0">
                <a:solidFill>
                  <a:srgbClr val="11202B"/>
                </a:solidFill>
                <a:latin typeface="Malgun Gothic"/>
                <a:ea typeface="Malgun Gothic"/>
                <a:cs typeface="Malgun Gothic"/>
              </a:rPr>
              <a:t>AMPA 수용체 GluA2 Q/R 편집 저하</a:t>
            </a:r>
            <a:r>
              <a:rPr sz="1800" b="0" i="0">
                <a:solidFill>
                  <a:srgbClr val="11202B"/>
                </a:solidFill>
                <a:latin typeface="Malgun Gothic"/>
                <a:ea typeface="Malgun Gothic"/>
                <a:cs typeface="Malgun Gothic"/>
              </a:rPr>
              <a:t>(ADAR2 감소 → Ca²⁺ 투과성 AMPA; B02 L08), 낮은 Ca²⁺ 완충 단백(파르브알부민·칼빈딘 — 안구운동 신경세포는 높아 보존됨).</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미토콘드리아: SOD1 변이 단백이 미토콘드리아 외막(VDAC1)에 결합, Ca²⁺ 완충 저하, 축삭 미토콘드리아 수송 감소, MAM(ER–미토 접촉) 손상(VAPB, SIGMAR1).</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올리고덴드로사이트 대사 지원</a:t>
            </a:r>
            <a:r>
              <a:rPr sz="1800" b="0" i="0">
                <a:solidFill>
                  <a:srgbClr val="11202B"/>
                </a:solidFill>
                <a:latin typeface="Malgun Gothic"/>
                <a:ea typeface="Malgun Gothic"/>
                <a:cs typeface="Malgun Gothic"/>
              </a:rPr>
              <a:t>: 축삭에 MCT1로 젖산 공급(Lee et al., Nature 2012) → ALS에서 MCT1 감소 → 축삭 에너지 고갈.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운동신경세포의 대사적 취약성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성상세포·미세아교세포 비세포자율 독성(SOD1 변이 성상세포가 정상 운동신경세포를 죽임), 신경염증(B08 L06).</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지질: 콜레스테롤 에스터·세라마이드·스핑고지질 변화, 척수 지질 과산화(페로토시스 표지 GPX4↓).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치료와 근거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C9orf72</a:t>
            </a:r>
            <a:r>
              <a:rPr sz="2200" b="0" i="0">
                <a:solidFill>
                  <a:srgbClr val="11202B"/>
                </a:solidFill>
                <a:latin typeface="Malgun Gothic"/>
                <a:ea typeface="Malgun Gothic"/>
                <a:cs typeface="Malgun Gothic"/>
              </a:rPr>
              <a:t> 표적 ASO(BIIB078 — 실패, 센스 가닥 표적 재설계), TDP-43 스플라이싱 회복(STMN2 ASO — 1상), FUS ASO(</a:t>
            </a:r>
            <a:r>
              <a:rPr sz="2200" b="1" i="0">
                <a:solidFill>
                  <a:srgbClr val="11202B"/>
                </a:solidFill>
                <a:latin typeface="Malgun Gothic"/>
                <a:ea typeface="Malgun Gothic"/>
                <a:cs typeface="Malgun Gothic"/>
              </a:rPr>
              <a:t>울레페르센</a:t>
            </a:r>
            <a:r>
              <a:rPr sz="2200" b="0" i="0">
                <a:solidFill>
                  <a:srgbClr val="11202B"/>
                </a:solidFill>
                <a:latin typeface="Malgun Gothic"/>
                <a:ea typeface="Malgun Gothic"/>
                <a:cs typeface="Malgun Gothic"/>
              </a:rPr>
              <a:t> — 맞춤 ASO에서 시작, 3상), ATXN2 저하(TDP-43 독성 수정인자 — ASO).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치료와 근거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치료</a:t>
                      </a:r>
                    </a:p>
                  </a:txBody>
                  <a:tcPr marL="73152" marR="73152">
                    <a:solidFill>
                      <a:srgbClr val="003C71"/>
                    </a:solidFill>
                  </a:tcPr>
                </a:tc>
                <a:tc>
                  <a:txBody>
                    <a:bodyPr/>
                    <a:lstStyle/>
                    <a:p>
                      <a:r>
                        <a:rPr sz="13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300" b="1" i="0">
                          <a:solidFill>
                            <a:srgbClr val="FFFFFF"/>
                          </a:solidFill>
                          <a:latin typeface="Malgun Gothic"/>
                          <a:ea typeface="Malgun Gothic"/>
                          <a:cs typeface="Malgun Gothic"/>
                        </a:rPr>
                        <a:t>근거</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리루졸</a:t>
                      </a:r>
                    </a:p>
                  </a:txBody>
                  <a:tcPr marL="73152" marR="73152">
                    <a:solidFill>
                      <a:srgbClr val="FFFFFF"/>
                    </a:solidFill>
                  </a:tcPr>
                </a:tc>
                <a:tc>
                  <a:txBody>
                    <a:bodyPr/>
                    <a:lstStyle/>
                    <a:p>
                      <a:r>
                        <a:rPr sz="1300" b="0" i="0">
                          <a:solidFill>
                            <a:srgbClr val="11202B"/>
                          </a:solidFill>
                          <a:latin typeface="Malgun Gothic"/>
                          <a:ea typeface="Malgun Gothic"/>
                          <a:cs typeface="Malgun Gothic"/>
                        </a:rPr>
                        <a:t>글루탐산 방출 억제(Na⁺ 통로), 흥분독성 감소</a:t>
                      </a:r>
                    </a:p>
                  </a:txBody>
                  <a:tcPr marL="73152" marR="73152">
                    <a:solidFill>
                      <a:srgbClr val="FFFFFF"/>
                    </a:solidFill>
                  </a:tcPr>
                </a:tc>
                <a:tc>
                  <a:txBody>
                    <a:bodyPr/>
                    <a:lstStyle/>
                    <a:p>
                      <a:r>
                        <a:rPr sz="1300" b="0" i="0">
                          <a:solidFill>
                            <a:srgbClr val="11202B"/>
                          </a:solidFill>
                          <a:latin typeface="Malgun Gothic"/>
                          <a:ea typeface="Malgun Gothic"/>
                          <a:cs typeface="Malgun Gothic"/>
                        </a:rPr>
                        <a:t>생존 2–3개월 연장(1994–96 RCT), 실제 진료 자료 더 길 가능성</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에다라본</a:t>
                      </a:r>
                    </a:p>
                  </a:txBody>
                  <a:tcPr marL="73152" marR="73152">
                    <a:solidFill>
                      <a:srgbClr val="ECF1F5"/>
                    </a:solidFill>
                  </a:tcPr>
                </a:tc>
                <a:tc>
                  <a:txBody>
                    <a:bodyPr/>
                    <a:lstStyle/>
                    <a:p>
                      <a:r>
                        <a:rPr sz="1300" b="0" i="0">
                          <a:solidFill>
                            <a:srgbClr val="11202B"/>
                          </a:solidFill>
                          <a:latin typeface="Malgun Gothic"/>
                          <a:ea typeface="Malgun Gothic"/>
                          <a:cs typeface="Malgun Gothic"/>
                        </a:rPr>
                        <a:t>자유 라디칼 소거(정맥, 경구 현탁)</a:t>
                      </a:r>
                    </a:p>
                  </a:txBody>
                  <a:tcPr marL="73152" marR="73152">
                    <a:solidFill>
                      <a:srgbClr val="ECF1F5"/>
                    </a:solidFill>
                  </a:tcPr>
                </a:tc>
                <a:tc>
                  <a:txBody>
                    <a:bodyPr/>
                    <a:lstStyle/>
                    <a:p>
                      <a:r>
                        <a:rPr sz="1300" b="0" i="0">
                          <a:solidFill>
                            <a:srgbClr val="11202B"/>
                          </a:solidFill>
                          <a:latin typeface="Malgun Gothic"/>
                          <a:ea typeface="Malgun Gothic"/>
                          <a:cs typeface="Malgun Gothic"/>
                        </a:rPr>
                        <a:t>특정 조기·빠른 진행 군 ALSFRS-R 감소 완화(MCI186-19); 유럽 승인 거부, 경구 2차 연구 혼재</a:t>
                      </a:r>
                    </a:p>
                  </a:txBody>
                  <a:tcPr marL="73152" marR="73152">
                    <a:solidFill>
                      <a:srgbClr val="ECF1F5"/>
                    </a:solidFill>
                  </a:tcPr>
                </a:tc>
              </a:tr>
              <a:tr h="365760">
                <a:tc>
                  <a:txBody>
                    <a:bodyPr/>
                    <a:lstStyle/>
                    <a:p>
                      <a:r>
                        <a:rPr sz="1300" b="1" i="0">
                          <a:solidFill>
                            <a:srgbClr val="11202B"/>
                          </a:solidFill>
                          <a:latin typeface="Malgun Gothic"/>
                          <a:ea typeface="Malgun Gothic"/>
                          <a:cs typeface="Malgun Gothic"/>
                        </a:rPr>
                        <a:t>토퍼센</a:t>
                      </a:r>
                    </a:p>
                  </a:txBody>
                  <a:tcPr marL="73152" marR="73152">
                    <a:solidFill>
                      <a:srgbClr val="FFFFFF"/>
                    </a:solidFill>
                  </a:tcPr>
                </a:tc>
                <a:tc>
                  <a:txBody>
                    <a:bodyPr/>
                    <a:lstStyle/>
                    <a:p>
                      <a:r>
                        <a:rPr sz="1300" b="0" i="0">
                          <a:solidFill>
                            <a:srgbClr val="11202B"/>
                          </a:solidFill>
                          <a:latin typeface="Malgun Gothic"/>
                          <a:ea typeface="Malgun Gothic"/>
                          <a:cs typeface="Malgun Gothic"/>
                        </a:rPr>
                        <a:t>SOD1 mRNA 분해 ASO(척수강 내)</a:t>
                      </a:r>
                    </a:p>
                  </a:txBody>
                  <a:tcPr marL="73152" marR="73152">
                    <a:solidFill>
                      <a:srgbClr val="FFFFFF"/>
                    </a:solidFill>
                  </a:tcPr>
                </a:tc>
                <a:tc>
                  <a:txBody>
                    <a:bodyPr/>
                    <a:lstStyle/>
                    <a:p>
                      <a:r>
                        <a:rPr sz="1300" b="0" i="0">
                          <a:solidFill>
                            <a:srgbClr val="11202B"/>
                          </a:solidFill>
                          <a:latin typeface="Malgun Gothic"/>
                          <a:ea typeface="Malgun Gothic"/>
                          <a:cs typeface="Malgun Gothic"/>
                        </a:rPr>
                        <a:t>VALOR: 1차 결과 미달이나 </a:t>
                      </a:r>
                      <a:r>
                        <a:rPr sz="1300" b="1" i="0">
                          <a:solidFill>
                            <a:srgbClr val="11202B"/>
                          </a:solidFill>
                          <a:latin typeface="Malgun Gothic"/>
                          <a:ea typeface="Malgun Gothic"/>
                          <a:cs typeface="Malgun Gothic"/>
                        </a:rPr>
                        <a:t>CSF SOD1·혈장 NfL 감소</a:t>
                      </a:r>
                      <a:r>
                        <a:rPr sz="1300" b="0" i="0">
                          <a:solidFill>
                            <a:srgbClr val="11202B"/>
                          </a:solidFill>
                          <a:latin typeface="Malgun Gothic"/>
                          <a:ea typeface="Malgun Gothic"/>
                          <a:cs typeface="Malgun Gothic"/>
                        </a:rPr>
                        <a:t>, 장기 연장에서 기능 안정 → 2023 FDA 가속 승인(SOD1-ALS); 증상 전 SOD1 보인자 시험(ATLAS — NfL 상승 시 투여)</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AMX0035(페닐부티르산 + 타우루소디올)</a:t>
                      </a:r>
                    </a:p>
                  </a:txBody>
                  <a:tcPr marL="73152" marR="73152">
                    <a:solidFill>
                      <a:srgbClr val="ECF1F5"/>
                    </a:solidFill>
                  </a:tcPr>
                </a:tc>
                <a:tc>
                  <a:txBody>
                    <a:bodyPr/>
                    <a:lstStyle/>
                    <a:p>
                      <a:r>
                        <a:rPr sz="1300" b="0" i="0">
                          <a:solidFill>
                            <a:srgbClr val="11202B"/>
                          </a:solidFill>
                          <a:latin typeface="Malgun Gothic"/>
                          <a:ea typeface="Malgun Gothic"/>
                          <a:cs typeface="Malgun Gothic"/>
                        </a:rPr>
                        <a:t>ER 스트레스·미토콘드리아</a:t>
                      </a:r>
                    </a:p>
                  </a:txBody>
                  <a:tcPr marL="73152" marR="73152">
                    <a:solidFill>
                      <a:srgbClr val="ECF1F5"/>
                    </a:solidFill>
                  </a:tcPr>
                </a:tc>
                <a:tc>
                  <a:txBody>
                    <a:bodyPr/>
                    <a:lstStyle/>
                    <a:p>
                      <a:r>
                        <a:rPr sz="1300" b="0" i="0">
                          <a:solidFill>
                            <a:srgbClr val="11202B"/>
                          </a:solidFill>
                          <a:latin typeface="Malgun Gothic"/>
                          <a:ea typeface="Malgun Gothic"/>
                          <a:cs typeface="Malgun Gothic"/>
                        </a:rPr>
                        <a:t>2상 긍정 → 3상(PHOENIX) 음성 → </a:t>
                      </a:r>
                      <a:r>
                        <a:rPr sz="1300" b="1" i="0">
                          <a:solidFill>
                            <a:srgbClr val="11202B"/>
                          </a:solidFill>
                          <a:latin typeface="Malgun Gothic"/>
                          <a:ea typeface="Malgun Gothic"/>
                          <a:cs typeface="Malgun Gothic"/>
                        </a:rPr>
                        <a:t>2024 시장 철수</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영양·호흡 지원</a:t>
                      </a:r>
                    </a:p>
                  </a:txBody>
                  <a:tcPr marL="73152" marR="73152">
                    <a:solidFill>
                      <a:srgbClr val="FFFFFF"/>
                    </a:solidFill>
                  </a:tcPr>
                </a:tc>
                <a:tc>
                  <a:txBody>
                    <a:bodyPr/>
                    <a:lstStyle/>
                    <a:p>
                      <a:r>
                        <a:rPr sz="1300" b="0" i="0">
                          <a:solidFill>
                            <a:srgbClr val="11202B"/>
                          </a:solidFill>
                          <a:latin typeface="Malgun Gothic"/>
                          <a:ea typeface="Malgun Gothic"/>
                          <a:cs typeface="Malgun Gothic"/>
                        </a:rPr>
                        <a:t>PEG, 비침습 환기(NIV — 생존·삶의 질 개선)</a:t>
                      </a:r>
                    </a:p>
                  </a:txBody>
                  <a:tcPr marL="73152" marR="73152">
                    <a:solidFill>
                      <a:srgbClr val="FFFFFF"/>
                    </a:solidFill>
                  </a:tcPr>
                </a:tc>
                <a:tc>
                  <a:txBody>
                    <a:bodyPr/>
                    <a:lstStyle/>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다학제 클리닉</a:t>
                      </a:r>
                    </a:p>
                  </a:txBody>
                  <a:tcPr marL="73152" marR="73152">
                    <a:solidFill>
                      <a:srgbClr val="ECF1F5"/>
                    </a:solidFill>
                  </a:tcPr>
                </a:tc>
                <a:tc>
                  <a:txBody>
                    <a:bodyPr/>
                    <a:lstStyle/>
                    <a:p/>
                  </a:txBody>
                  <a:tcPr marL="73152" marR="73152">
                    <a:solidFill>
                      <a:srgbClr val="ECF1F5"/>
                    </a:solidFill>
                  </a:tcPr>
                </a:tc>
                <a:tc>
                  <a:txBody>
                    <a:bodyPr/>
                    <a:lstStyle/>
                    <a:p>
                      <a:r>
                        <a:rPr sz="1300" b="0" i="0">
                          <a:solidFill>
                            <a:srgbClr val="11202B"/>
                          </a:solidFill>
                          <a:latin typeface="Malgun Gothic"/>
                          <a:ea typeface="Malgun Gothic"/>
                          <a:cs typeface="Malgun Gothic"/>
                        </a:rPr>
                        <a:t>생존 개선</a:t>
                      </a:r>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바이오마커와 대사 표적 연구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신경미세섬유 경쇄(NfL)</a:t>
            </a:r>
            <a:r>
              <a:rPr sz="1800" b="0" i="0">
                <a:solidFill>
                  <a:srgbClr val="11202B"/>
                </a:solidFill>
                <a:latin typeface="Malgun Gothic"/>
                <a:ea typeface="Malgun Gothic"/>
                <a:cs typeface="Malgun Gothic"/>
              </a:rPr>
              <a:t>: 혈청·CSF 상승(진행 속도와 상관), SOD1 보인자에서 발병 6–12개월 전 상승 → 증상 전 치료 개시 지표(ATLAS 설계). pNfH도 사용.</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TDP-43 병리의 생체 검출: STMN2 잠재 엑손 산물, 잠재 엑손 펩타이드(HDGFL2 — CSF에서 증상 전 검출, Irwin et al., Nat Med 2024).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대사 바이오마커: 혈청 크레아티닌(근육량; 예후), 지질, 젖산/피루브산, 근육 MR.</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대사 표적 연구: 고칼로리 식이, 피오글리타존(음성), 케톤생성식이(동물), 트라이헵타노인(보충반응; 동물 긍정), 고용량 메틸코발라민(</a:t>
            </a:r>
            <a:r>
              <a:rPr sz="1800" b="1" i="0">
                <a:solidFill>
                  <a:srgbClr val="11202B"/>
                </a:solidFill>
                <a:latin typeface="Malgun Gothic"/>
                <a:ea typeface="Malgun Gothic"/>
                <a:cs typeface="Malgun Gothic"/>
              </a:rPr>
              <a:t>일본 JETALS — 조기 환자 기능 저하 완화, 일본 2024 승인</a:t>
            </a:r>
            <a:r>
              <a:rPr sz="1800" b="0" i="0">
                <a:solidFill>
                  <a:srgbClr val="11202B"/>
                </a:solidFill>
                <a:latin typeface="Malgun Gothic"/>
                <a:ea typeface="Malgun Gothic"/>
                <a:cs typeface="Malgun Gothic"/>
              </a:rPr>
              <a:t>), NAD⁺ 전구체 + 프테로스틸벤(2상 신호), CNM-Au8(나노결정 금 — 산화환원 촉매, 2/3상).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TDP-43 기능 소실로 생기는 잠재 엑손 펩타이드가 산발성 ALS·FTD의 혈액·CSF 진단 및 치료 반응 표지로 개발되고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플랫폼 시험(HEALEY ALS Platform)으로 여러 후보(질루코플란·베르디퍼스타트 — 음성, CNM-Au8, 프리도피딘, 트레할로스, DNL343)를 동시에 효율적으로 평가하고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장판독 시퀀싱으로 C9orf72 반복 길이와 메틸화를 개인별로 측정해 표현형(ALS vs FTD) 결정 요인을 탐색한다.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1. </a:t>
            </a:r>
            <a:r>
              <a:rPr sz="1800" b="0" i="0">
                <a:solidFill>
                  <a:srgbClr val="11202B"/>
                </a:solidFill>
                <a:latin typeface="Malgun Gothic"/>
                <a:ea typeface="Malgun Gothic"/>
                <a:cs typeface="Malgun Gothic"/>
              </a:rPr>
              <a:t>ALS는 상·하위 운동신경세포 퇴행 질환이며 C9orf72·SOD1·TARDBP·FUS가 주요 유전자이고 대부분 TDP-43 병리를 공유한다.</a:t>
            </a:r>
          </a:p>
          <a:p>
            <a:pPr>
              <a:spcAft>
                <a:spcPts val="800"/>
              </a:spcAft>
            </a:pPr>
            <a:r>
              <a:rPr sz="1800" b="1" i="0">
                <a:solidFill>
                  <a:srgbClr val="003C71"/>
                </a:solidFill>
                <a:latin typeface="Malgun Gothic"/>
                <a:ea typeface="Malgun Gothic"/>
                <a:cs typeface="Malgun Gothic"/>
              </a:rPr>
              <a:t>2. </a:t>
            </a:r>
            <a:r>
              <a:rPr sz="1800" b="0" i="0">
                <a:solidFill>
                  <a:srgbClr val="11202B"/>
                </a:solidFill>
                <a:latin typeface="Malgun Gothic"/>
                <a:ea typeface="Malgun Gothic"/>
                <a:cs typeface="Malgun Gothic"/>
              </a:rPr>
              <a:t>과대사·체중 감소는 나쁜 예후 인자이고 발병 전 높은 BMI·지질은 보호와 연관되는 '대사 역설'이 있다.</a:t>
            </a:r>
          </a:p>
          <a:p>
            <a:pPr>
              <a:spcAft>
                <a:spcPts val="800"/>
              </a:spcAft>
            </a:pPr>
            <a:r>
              <a:rPr sz="1800" b="1" i="0">
                <a:solidFill>
                  <a:srgbClr val="003C71"/>
                </a:solidFill>
                <a:latin typeface="Malgun Gothic"/>
                <a:ea typeface="Malgun Gothic"/>
                <a:cs typeface="Malgun Gothic"/>
              </a:rPr>
              <a:t>3. </a:t>
            </a:r>
            <a:r>
              <a:rPr sz="1800" b="0" i="0">
                <a:solidFill>
                  <a:srgbClr val="11202B"/>
                </a:solidFill>
                <a:latin typeface="Malgun Gothic"/>
                <a:ea typeface="Malgun Gothic"/>
                <a:cs typeface="Malgun Gothic"/>
              </a:rPr>
              <a:t>거대 축삭, 흥분독성(EAAT2↓, GluA2 편집↓), 미토콘드리아·MAM 결함, 올리고덴드로사이트 젖산 지원 소실이 대사적 취약성을 만든다.</a:t>
            </a:r>
          </a:p>
          <a:p>
            <a:pPr>
              <a:spcAft>
                <a:spcPts val="800"/>
              </a:spcAft>
            </a:pPr>
            <a:r>
              <a:rPr sz="1800" b="1" i="0">
                <a:solidFill>
                  <a:srgbClr val="003C71"/>
                </a:solidFill>
                <a:latin typeface="Malgun Gothic"/>
                <a:ea typeface="Malgun Gothic"/>
                <a:cs typeface="Malgun Gothic"/>
              </a:rPr>
              <a:t>4. </a:t>
            </a:r>
            <a:r>
              <a:rPr sz="1800" b="0" i="0">
                <a:solidFill>
                  <a:srgbClr val="11202B"/>
                </a:solidFill>
                <a:latin typeface="Malgun Gothic"/>
                <a:ea typeface="Malgun Gothic"/>
                <a:cs typeface="Malgun Gothic"/>
              </a:rPr>
              <a:t>리루졸·에다라본·토퍼센(SOD1)·영양·NIV가 현재 치료이며 고칼로리 영양이 일부 환자에서 이득 신호를 보인다.</a:t>
            </a:r>
          </a:p>
          <a:p>
            <a:pPr>
              <a:spcAft>
                <a:spcPts val="800"/>
              </a:spcAft>
            </a:pPr>
            <a:r>
              <a:rPr sz="1800" b="1" i="0">
                <a:solidFill>
                  <a:srgbClr val="003C71"/>
                </a:solidFill>
                <a:latin typeface="Malgun Gothic"/>
                <a:ea typeface="Malgun Gothic"/>
                <a:cs typeface="Malgun Gothic"/>
              </a:rPr>
              <a:t>5. </a:t>
            </a:r>
            <a:r>
              <a:rPr sz="1800" b="0" i="0">
                <a:solidFill>
                  <a:srgbClr val="11202B"/>
                </a:solidFill>
                <a:latin typeface="Malgun Gothic"/>
                <a:ea typeface="Malgun Gothic"/>
                <a:cs typeface="Malgun Gothic"/>
              </a:rPr>
              <a:t>NfL과 TDP-43 잠재 엑손 산물이 증상 전 진단·치료 반응 바이오마커로 발전하고 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15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ALS 환자의 영양 관리에서 체중을 유지하거나 늘리려 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ALS에서는 과대사·섭취 감소로 체중이 줄며, 체중 감소율과 낮은 BMI가 짧은 생존과 강하게 연관된다. 고칼로리(특히 고탄수화물) 영양 보충이 빠른 진행 군에서 생존 이득 신호를 보였으므로, 연하 평가 후 조기 위루술과 고칼로리 공급으로 체중을 유지하는 것이 표준 관리의 일부이다.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토퍼센이 1차 결과를 충족하지 못했는데도 승인된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SOD1-ALS에서 CSF SOD1 단백(표적 관여)과 혈장 NfL(신경 손상 지표)을 유의하게 감소시켰고, NfL 감소가 임상 결과를 예측할 가능성이 높은 대리 지표로 인정되었다. 또한 조기 투여군의 장기 공개 연장에서 기능 저하 완화 경향이 관찰되어 가속 승인을 받았다.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ALS에서 AMPA 수용체 GluA2 Q/R 편집 저하가 운동신경세포 사멸에 기여하는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정상적으로 ADAR2가 GluA2 mRNA의 Q/R 부위를 편집해 아르기닌을 넣으면 AMPA 수용체가 Ca²⁺를 통과시키지 않는다. ALS 운동신경세포에서 ADAR2가 감소해 편집되지 않은 GluA2(Q)가 늘면 Ca²⁺ 투과성 AMPA 수용체가 증가하고, 칼슘 완충 단백이 적은 운동신경세포에 Ca²⁺ 과부하·미토콘드리아 손상·흥분독성 사멸이 일어난다.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산발성 ALS 환자 대부분에서 TDP-43 병리가 나타나는데 이를 표적으로 하는 바이오마커·치료 전략은?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TDP-43이 핵에서 빠지면 억제하던 잠재 엑손이 STMN2, UNC13A, HDGFL2 등에 포함되어 비정상 전사체와 펩타이드가 생긴다. 이 잠재 엑손 산물을 CSF·혈액에서 검출해 TDP-43 기능 소실을 증상 전에 확인할 수 있고, STMN2 잠재 엑손을 막는 ASO나 TDP-43 독성 수정인자(ATXN2) 저하 ASO로 치료를 시도한다.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Feldman EL et al. Amyotrophic lateral sclerosis. Lancet 2022;400:1363–1380.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Dupuis L et al. Energy metabolism in amyotrophic lateral sclerosis. Lancet Neurol 2011;10:75–82.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Miller TM et al. Trial of antisense oligonucleotide tofersen for SOD1 ALS. N Engl J Med 2022;387:1099–1110.</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Ludolph AC et al. Effect of high-caloric nutrition on survival in amyotrophic lateral sclerosis (LIPCAL-ALS). Ann Neurol 2020;87:206–216.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B05-L04  ·  근위축성 측삭경화증과 대사</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Irwin KE et al. A fluid biomarker reveals loss of TDP-43 splicing repression in presymptomatic ALS–FTD. Nat Med 2024;30:382–393.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