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진단 즉시 원인 치료가 가능해 '놓치면 안 되는' 대사 원인들(van Karnebeek 목록):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GLUT1 결핍 증후군(SLC2A1). CSF/혈당 비가 0.36으로 낮고(정상 &gt;0.6), 혈액뇌장벽 포도당 수송 저하로 뇌 에너지가 부족해 공복·운동 시 증상이 악화된다. 케톤체는 MCT로 뇌에 들어가 대체 연료가 되므로 케톤생성식이가 1차 치료이며 조기 시작할수록 신경발달 결과가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지방산 산화장애·카르니틴 수송 결함·피루브산 카복실화효소 결핍·포르피린증 환자는 고지방 식이에서 케톤을 만들거나 이용하지 못하고 독성 대사물이 쌓이거나 대사 위기(저혈당·횡문근융해·심근병증)가 생길 수 있어 금기이므로 사전 선별이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발프로산 유발 고암모니아혈증 뇌병증. 발프로산 대사물이 요소회로 첫 단계(NAGS·CPS1)를 억제하고 카르니틴을 고갈시켜 미토콘드리아 기능을 떨어뜨린다. 혈중 암모니아를 측정하고 발프로산을 중단·감량하며 L-카르니틴을 투여한다. 요소회로 이상(특히 OTC 보인자) 가능성도 평가한다.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지속적 발작 활동으로 시냅스의 GABA_A 수용체(γ2 소단위 함유)가 세포내섭취되어 표면 수가 줄고, 동시에 NMDA·AMPA 수용체는 표면으로 이동해 흥분이 강화된다. 벤조디아제핀의 결합 부위인 시냅스 GABA_A 수용체가 줄어 효과가 감소하므로, 조기(5분 내) 충분한 용량 투여와 NMDA 길항(케타민) 등 다른 기전 약물의 조기 병용이 고려된다.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B05 신경질환과 대사학  ·  발작·급성 뇌손상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뇌전증과 대사: 케톤생성식이와 치료 가능한 대사성 뇌전증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Epilepsy and Metabolism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B05-L05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발작의 대사적 비용과 발작 중·후 뇌 에너지 변화를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흥분/억제 균형의 생화학(글루탐산, GABA, 아데노신)과 항경련제 표적을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 가능한 대사성 뇌전증(GLUT1 결핍, 피리독신 의존, 세린·크레아틴 결핍 등)을 감별한다.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케톤생성식이의 처방·작용 기전·부작용을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항경련제의 대사 부작용(발프로산 고암모니아·간독성, 효소 유도)을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발작의 대사적 비용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흥분/억제 균형의 생화학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 가능한 대사성 뇌전증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케톤생성식이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항경련제의 대사 부작용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발작의 대사적 비용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발작 중 신경 발화가 수 배 증가 → ATP 소비·포도당·산소 요구 급증 → 국소 혈류 증가(발작 중 SPECT 고관류, 발작 간 FDG-PET 저대사 — 뇌전증 병소 국소화).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뇌전증지속상태(SE)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30분 이상(실용적으로 5분) 지속 → 공급-수요 불일치 → 젖산 축적, ATP 고갈, Ca²⁺ 과부하, 흥분독성 신경세포 사멸(해마 CA1·CA3·문); 수용체 재배치 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시냅스 GABA_A 수용체 내재화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(벤조디아제핀 내성 증가) + NMDA 수용체 표면 증가 → 시간이 지날수록 치료 저항.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 원칙: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5분 내 벤조디아제핀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(로라제팜 정주, 미다졸람 근주/비강) → 2차(레비티라세탐, 포스페니토인, 발프로산 — ESETT: 동등) → 난치성 SE 마취제;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포도당·티아민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투여, 저나트륨·저칼슘·저마그네슘 확인.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발작의 대사적 비용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발작 후 대사 회복: 발작 후 억제기(postictal) — 아데노신 증가(내인성 항경련 신호), 저관류.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SUDEP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(뇌전증 돌연사): 전신 강직간대 발작 후 호흡·심장 억제, 뇌간 세로토닌·아데노신 기능 이상 가설.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흥분/억제 균형의 생화학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글루탐산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글루타민 → (글루타미나아제) 글루탐산 → VGLUT 소포 → 방출 → AMPA·NMDA·카이네이트·mGluR → EAAT1/2 재흡수 → 성상세포 글루타민 합성(B05 L01).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GABA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글루탐산 → (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GAD65/67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PLP) GABA → VGAT 소포 → GABA_A(Cl⁻ 통로)·GABA_B(GPCR) → GAT1 재흡수 → (GABA-T, PLP) 숙신산 세미알데하이드 → (SSADH) 숙신산(GABA 분로).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SSADH 결핍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(ALDH5A1): γ-하이드록시부티르산(GHB) 축적 → 발달지연·경련·근긴장저하.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GABA-T 결핍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드묾, 영아 뇌병증.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흥분/억제 균형의 생화학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신생아·발달 초기에는 NKCC1 우세로 세포 내 Cl⁻이 높아 GABA가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탈분극성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(흥분성) → KCC2 성숙과 함께 억제성으로 전환 → 신생아 발작에 페노바르비탈 반응이 낮은 이유 중 하나(부메타니드 NKCC1 억제 시험은 음성).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아데노신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ATP 분해 산물 → A1 수용체(시냅스 전 억제) — 내인성 항경련;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아데노신 키나아제(ADK)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과발현(반응성 성상세포)이 아데노신을 줄여 뇌전증 발생에 기여 → 케톤생성식이의 아데노신 증가 기전.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흥분/억제 균형의 생화학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항경련제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 표적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페니토인, 카르바마제핀, 라모트리진, 라코사마이드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전압개폐 Na⁺ 통로(불활성 상태 안정화)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에토숙시미드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T형 Ca²⁺ 통로(시상 — 결신 발작)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가바펜틴, 프레가발린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α2δ 소단위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벤조디아제핀, 페노바르비탈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GABA_A (개방 빈도 / 개방 시간)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비가바트린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GABA-T 비가역 억제 (영아연축·TSC; 시야 결손)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티아가빈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GAT1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레비티라세탐, 브리바라세탐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SV2A(시냅스 소포)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페람파넬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AMPA 길항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흥분/억제 균형의 생화학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항경련제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 표적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발프로산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다중(Na⁺, T형 Ca²⁺, GABA↑, HDAC)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토피라메이트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다중 + 탄산탈수효소 억제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세노바메이트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지속 Na⁺ 전류 + GABA_A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펜플루라민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세로토닌 방출·σ1 (드라베, 레녹스-가스토)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칸나비디올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다중(GPR55, TRPV1, 아데노신)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간락솔론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신경스테로이드 GABA_A 양성 조절 (CDKL5)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치료 가능한 대사성 뇌전증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영아 발작의 1차 대사 검사 묶음: 혈당·젖산·암모니아·혈장 아미노산·아실카르니틴·소변 유기산·CSF(포도당·젖산·아미노산·신경전달물질), 그리고 유전체 검사(영아 뇌전증 진단율 30–50%).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치료 가능한 대사성 뇌전증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유전자/기전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단서·진단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GLUT1 결핍 증후군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SLC2A1 (BBB 포도당 수송↓)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영아 발작, 소두증, 발작성 운동장애(운동 유발), 공복·아침 악화;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CSF 포도당/혈당 비 &lt;0.4–0.5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CSF 젖산 낮음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케톤생성식이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(뇌 대체 연료) — 1차 치료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피리독신 의존 뇌전증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ALDH7A1 (P6C 축적 → PLP 불활성)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신생아 난치성 발작, α-AASA·P6C↑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피리독신 + 리신 제한·아르기닌 보충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PNPO 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PLP 합성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신생아 발작, 피리독신 무반응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PLP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폴린산 반응성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(ALDH7A1 같은 질환)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폴린산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비오티니다아제 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피부염·탈모·청력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비오틴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세린 합성 결핍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PHGDH 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소두증, 혈장·CSF 세린↓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L-세린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크레아틴 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GAMT, AGAT, SLC6A8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지적장애, MRS 크레아틴 피크 소실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크레아틴(GAMT·AGAT), 오르니틴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몰리브덴 보조인자 A형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MOCS1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신생아 발작, 소변 아황산↑, 요산↓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포스데노프테린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치료 가능한 대사성 뇌전증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유전자/기전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단서·진단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고인슐린혈증·저혈당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저혈당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 치료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비케톤성 고글리신혈증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GCS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CSF/혈장 글리신 비↑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벤조산 + 덱스트로메토르판 (부분)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뇌건황색종증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CYP27A1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CDCA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망간 수송 결함, 갑상선 이상, 저마그네슘(TRPM6)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미토콘드리아 POLG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후두엽 발작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발프로산 금기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케톤생성식이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처방: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고전적 KD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4:1(지방 : 단백질+탄수화물 질량비; 열량의 ~90% 지방), MCT 식이(중쇄지방 — 더 강한 케톤 생성, 탄수화물 허용↑), 변형 앳킨스 식이(MAD; 탄수화물 10–20 g/일), 저혈당지수 치료(LGIT).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효과: 약물 난치성 소아 뇌전증에서 약 절반이 발작 50% 이상 감소, 10–15% 무발작(Neal et al., Lancet Neurol 2008 RCT).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1차 적응증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GLUT1 결핍, PDH 결핍. 효과 좋은 증후군: 영아연축, 드라베, 도오세, TSC, 레트, CDKL5, FIRES(급성기).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금기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지방산 산화장애·카르니틴 수송 결함·피루브산 카복실화효소 결핍·포르피린증(케톤 생성·이용 불가) → 시작 전 아실카르니틴·소변 유기산 선별.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작용 기전(다중):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케톤생성식이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케톤체(βHB, 아세토아세트산) → 뇌 대체 연료·ATP 증가.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K_ATP 통로 개방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(해당 감소 시 국소 ATP 감소) → 과흥분 억제.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아데노신↑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(ADK 감소) → A1 수용체.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아세토아세트산이 VGLUT 억제(Cl⁻ 경쟁) → 글루탐산 방출↓.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GABA 합성↑(아스파르트산 → 글루탐산 → GABA 흐름 변화).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다중불포화지방산(PPARα, 통로 조절), 데칸산(C10; AMPA 직접 억제 — MCT 식이), 미토콘드리아 생합성, 항염(βHB → NLRP3 억제),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장내 미생물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(Akkermansia·Parabacteroides → 해마 GABA/글루탐산 비 상승, Olson et al., Cell 2018).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케톤생성식이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부작용: 저혈당·산증(시작 시), 변비, 고지혈증,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신결석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(산성 소변·저구연산뇨 → 구연산칼륨), 성장 지연, 골밀도 저하, 셀레늄·카르니틴 결핍, 토피라메이트·아세타졸라마이드 병용 시 산증 악화.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항경련제의 대사 부작용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발프로산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고암모니아혈증(정상 간기능에서도) — 발프로일-CoA의 NAGS/CPS1 억제, 카르니틴 고갈 → 무기력·뇌병증 → 카르니틴 보충; UCD 보인자 위험.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간독성: 2세 미만·다약제·대사질환(POLG — 치명적), ω-산화 독성 대사물(4-en-VPA).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체중 증가·인슐린 저항성, PCOS 유사, 혈소판 감소, 췌장염,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기형 유발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(신경관 결손 1–2%, 자녀 IQ 저하·자폐 위험) → 가임 여성 처방 제한(PREVENT).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효소 유도제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(카르바마제핀, 페니토인, 페노바르비탈, 프리미돈): CYP3A4·UGT 유도 → 경구피임약·와파린·항암제 효과 감소,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비타민 D 대사 증가(골연화증)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엽산 감소, LDL↑.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항경련제의 대사 부작용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카르바마제핀·옥스카르바제핀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SIADH 유사 저나트륨혈증, HLA-B*15:02 SJS/TEN(B03 L10).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토피라메이트·조니사마이드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탄산탈수효소 억제 → 대사산증, 신결석, 저발한·고열(소아), 체중 감소.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비가바트린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망막 독성(GABA 축적 — 타우린 결핍 연관 가설) → 시야 감시.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라모트리진: 임신 중 청소율 증가(B03 L10), 발프로산 병용 시 농도 2배(UGT 억제).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페니토인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0차 동역학(B03 L10), 잇몸 비대, 다모증, 소뇌 위축, 태아 히단토인 증후군.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정밀 뇌전증 치료: SCN1A 드라베 증후군의 ASO(조레베네르센 — 생산적 스플라이싱 증가 'TANGO', 3상), SCN2A·KCNQ2·STXBP1 표적 ASO와 유전자 치료(B06 L07).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 대사 영상(과분극 ¹³C, 중수소 대사 영상)으로 뇌전증 병소의 해당·산화 이상을 지도화하려는 연구가 진행 중이다.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케톤 에스터·데칸산 단독 제제(K.Vita) 등 '식이 없는 케톤 치료'와 장내 미생물 기반 항경련 전략이 개발 중이다.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발작은 막대한 에너지를 소비하며 지속상태에서는 수용체 재배치로 벤조디아제핀 저항성이 생긴다.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글루탐산–GABA–아데노신 균형과 Na⁺·Ca²⁺ 통로·SV2A·GABA 경로가 항경련제의 표적이다.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GLUT1 결핍, 피리독신·PLP 의존, 세린·크레아틴 결핍, 몰리브덴 보조인자 결핍 등은 원인 치료가 가능한 대사성 뇌전증이다.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케톤생성식이는 GLUT1·PDH 결핍의 1차 치료이며 K_ATP·아데노신·VGLUT·미생물 등 다중 기전으로 작용하고 FAOD에는 금기이다.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발프로산(고암모니아·간독성·기형), 효소 유도제(골·약물 상호작용), 토피라메이트(산증·결석) 등 대사 부작용을 감시한다.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아침 공복 시 악화되는 발작과 운동 후 발작성 이상운동을 보이는 아동의 CSF 포도당 32 mg/dL, 동시 혈당 90 mg/dL. 진단과 1차 치료는?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GLUT1 결핍 증후군(SLC2A1). CSF/혈당 비가 0.36으로 낮고(정상 &gt;0.6), 혈액뇌장벽 포도당 수송 저하로 뇌 에너지가 부족해 공복·운동 시 증상이 악화된다. 케톤체는 MCT로 뇌에 들어가 대체 연료가 되므로 케톤생성식이가 1차 치료이며 조기 시작할수록 신경발달 결과가 좋다.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케톤생성식이 시작 전 혈장 아실카르니틴과 소변 유기산을 확인하는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지방산 산화장애·카르니틴 수송 결함·피루브산 카복실화효소 결핍·포르피린증 환자는 고지방 식이에서 케톤을 만들거나 이용하지 못하고 독성 대사물이 쌓이거나 대사 위기(저혈당·횡문근융해·심근병증)가 생길 수 있어 금기이므로 사전 선별이 필요하다.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발프로산 복용 중 간기능이 정상인데 무기력과 혼동이 생긴 환자의 원인과 처치는?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발프로산 유발 고암모니아혈증 뇌병증. 발프로산 대사물이 요소회로 첫 단계(NAGS·CPS1)를 억제하고 카르니틴을 고갈시켜 미토콘드리아 기능을 떨어뜨린다. 혈중 암모니아를 측정하고 발프로산을 중단·감량하며 L-카르니틴을 투여한다. 요소회로 이상(특히 OTC 보인자) 가능성도 평가한다.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뇌전증지속상태가 길어질수록 벤조디아제핀이 잘 듣지 않는 분자적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지속적 발작 활동으로 시냅스의 GABA_A 수용체(γ2 소단위 함유)가 세포내섭취되어 표면 수가 줄고, 동시에 NMDA·AMPA 수용체는 표면으로 이동해 흥분이 강화된다. 벤조디아제핀의 결합 부위인 시냅스 GABA_A 수용체가 줄어 효과가 감소하므로, 조기(5분 내) 충분한 용량 투여와 NMDA 길항(케타민) 등 다른 기전 약물의 조기 병용이 고려된다.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Thijs RD et al. Epilepsy in adults. Lancet 2019;393:689–701.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Kossoff EH et al. Optimal clinical management of children receiving dietary therapies for epilepsy: updated recommendations. Epilepsia Open 2018;3:175–192.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Rho JM, Boison D. The metabolic basis of epilepsy. Nat Rev Neurol 2022;18:333–347.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Olson CA et al. The gut microbiota mediates the anti-seizure effects of the ketogenic diet. Cell 2018;173:1728–1741.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B05-L05  ·  뇌전증과 대사: 케톤생성식이와 치료 가능한 대사성 뇌전증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van Karnebeek CDM et al. The treatable intellectual disability APP www.treatable-id.org: a digital tool to enhance diagnosis &amp; care for rare diseases. Orphanet J Rare Dis 2012;7:47.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