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인터페론-α가 IDO1을 유도해 트립토판을 키뉴레닌 경로로 돌리므로 세로토닌 합성 원료가 줄고, 미세아교세포에서 퀴놀린산(NMDA 작용제)이 증가해 글루탐산 신경독성과 신경가소성 저하가 생긴다. 염증성 사이토카인은 HPA 축과 기저핵 도파민 기능도 변화시켜 무쾌감·피로를 유발한다.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올란자핀·클로자핀은 체중 증가와 별개로 간 인슐린 저항성·글루카곤 분비 증가, M3 수용체 차단을 통한 β세포 인슐린 분비 저하를 일으켜 수일 내에 고혈당을 유발할 수 있다. 드물게 β세포 기능이 취약한 환자에서 DKA까지 진행한다. 약물 중단·전환과 인슐린 치료가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케타민은 GABA 개재뉴런의 NMDA 수용체를 차단해 피라미드 신경세포를 탈억제하고 일시적 글루탐산 방출 증가를 일으켜 AMPA 수용체를 활성화한다. 이는 BDNF 방출과 TrkB–mTORC1 신호로 전전두 시냅스 단백 합성과 수상돌기 가시 형성을 빠르게 유도해 스트레스로 위축된 회로를 회복시킨다. 휴지기 NMDA 신호 차단으로 eEF2 탈인산화를 통한 BDNF 번역 증가도 제시된다.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조현병의 대사 이상이 항정신병약 부작용만으로 설명되지 않으며, 공통 유전 요인, 산전·주산기 역경, HPA 축 과활성·만성 스트레스, 생활 요인이 뇌와 말초 대사에 함께 작용함을 시사한다. 따라서 치료 시작 전부터 대사 지표를 측정하고 예방적 관리가 필요하며, 대사 경로가 정신질환 병태생리의 일부일 가능성도 연구 대상이다.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B05 신경질환과 대사학  ·  정신질환과 대사</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정신질환의 대사 가설: 우울증과 조현병</a:t>
            </a:r>
          </a:p>
          <a:p>
            <a:r>
              <a:rPr sz="2000" b="0" i="0">
                <a:solidFill>
                  <a:srgbClr val="C2CDD6"/>
                </a:solidFill>
                <a:latin typeface="Malgun Gothic"/>
                <a:ea typeface="Malgun Gothic"/>
                <a:cs typeface="Malgun Gothic"/>
              </a:rPr>
              <a:t>Metabolic Perspectives on Depression and Schizophrenia</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B05-L15</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우울증의 모노아민 가설의 한계와 염증·트립토판-키뉴레닌·HPA 축 가설을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우울증과 인슐린 저항성·비만·미토콘드리아 기능의 양방향 관계를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조현병의 도파민·글루탐산(NMDA 저기능) 가설과 뇌 에너지·산화환원 이상을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항정신병약물의 대사 부작용 기전과 관리, 정신질환 환자의 심혈관대사 위험을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대사 표적 정신의학(케타민, 케톤, 메트포르민, GLP-1 RA, 미생물)의 근거를 평가한다.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우울증: 모노아민을 넘어서</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우울증과 대사의 양방향 관계</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조현병의 신경화학과 대사</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항정신병약의 대사 부작용과 심혈관대사 관리</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대사 표적 정신의학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우울증: 모노아민을 넘어서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모노아민 가설</a:t>
            </a:r>
            <a:r>
              <a:rPr sz="1800" b="0" i="0">
                <a:solidFill>
                  <a:srgbClr val="11202B"/>
                </a:solidFill>
                <a:latin typeface="Malgun Gothic"/>
                <a:ea typeface="Malgun Gothic"/>
                <a:cs typeface="Malgun Gothic"/>
              </a:rPr>
              <a:t>: 레세르핀(VMAT 억제)의 우울 유발, MAOI·삼환계의 항우울 효과 → 세로토닌·노르에피네프린 결핍 가설. 한계: SSRI는 수 시간 내 시냅스 세로토닌을 올리지만 효과는 2–6주 후, 약 1/3은 무반응; 2022 우산 리뷰는 세로토닌 결핍의 직접 증거가 약하다고 결론(Moncrieff — 논쟁).</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신경가소성 가설</a:t>
            </a:r>
            <a:r>
              <a:rPr sz="1800" b="0" i="0">
                <a:solidFill>
                  <a:srgbClr val="11202B"/>
                </a:solidFill>
                <a:latin typeface="Malgun Gothic"/>
                <a:ea typeface="Malgun Gothic"/>
                <a:cs typeface="Malgun Gothic"/>
              </a:rPr>
              <a:t>: 만성 스트레스 → 해마·전전두 수상돌기 위축·시냅스 소실, </a:t>
            </a:r>
            <a:r>
              <a:rPr sz="1800" b="1" i="0">
                <a:solidFill>
                  <a:srgbClr val="11202B"/>
                </a:solidFill>
                <a:latin typeface="Malgun Gothic"/>
                <a:ea typeface="Malgun Gothic"/>
                <a:cs typeface="Malgun Gothic"/>
              </a:rPr>
              <a:t>BDNF</a:t>
            </a:r>
            <a:r>
              <a:rPr sz="1800" b="0" i="0">
                <a:solidFill>
                  <a:srgbClr val="11202B"/>
                </a:solidFill>
                <a:latin typeface="Malgun Gothic"/>
                <a:ea typeface="Malgun Gothic"/>
                <a:cs typeface="Malgun Gothic"/>
              </a:rPr>
              <a:t> 감소 → 항우울제의 공통 하류 효과가 TrkB–BDNF 신호·시냅스 회복(SSRI가 TrkB에 직접 결합한다는 보고).</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HPA 축 과활성</a:t>
            </a:r>
            <a:r>
              <a:rPr sz="1800" b="0" i="0">
                <a:solidFill>
                  <a:srgbClr val="11202B"/>
                </a:solidFill>
                <a:latin typeface="Malgun Gothic"/>
                <a:ea typeface="Malgun Gothic"/>
                <a:cs typeface="Malgun Gothic"/>
              </a:rPr>
              <a:t>: 코르티솔 상승·덱사메타손 억제 실패(멜랑콜리아형), CRH↑ → 해마 GR 하향·위축; FKBP5 다형성 × 아동기 학대 상호작용(후성유전 탈메틸화).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우울증: 모노아민을 넘어서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600" b="1" i="0">
                <a:solidFill>
                  <a:srgbClr val="003C71"/>
                </a:solidFill>
                <a:latin typeface="Malgun Gothic"/>
                <a:ea typeface="Malgun Gothic"/>
                <a:cs typeface="Malgun Gothic"/>
              </a:rPr>
              <a:t>▪ </a:t>
            </a:r>
            <a:r>
              <a:rPr sz="1600" b="1" i="0">
                <a:solidFill>
                  <a:srgbClr val="11202B"/>
                </a:solidFill>
                <a:latin typeface="Malgun Gothic"/>
                <a:ea typeface="Malgun Gothic"/>
                <a:cs typeface="Malgun Gothic"/>
              </a:rPr>
              <a:t>염증 가설</a:t>
            </a:r>
            <a:r>
              <a:rPr sz="1600" b="0" i="0">
                <a:solidFill>
                  <a:srgbClr val="11202B"/>
                </a:solidFill>
                <a:latin typeface="Malgun Gothic"/>
                <a:ea typeface="Malgun Gothic"/>
                <a:cs typeface="Malgun Gothic"/>
              </a:rPr>
              <a:t>: 우울증 환자 일부(약 1/4–1/3)에서 CRP·IL-6·TNF↑; 인터페론-α 치료 환자의 30–50%가 우울 발생; 염증 → IDO 유도 → 트립토판 → </a:t>
            </a:r>
            <a:r>
              <a:rPr sz="1600" b="1" i="0">
                <a:solidFill>
                  <a:srgbClr val="11202B"/>
                </a:solidFill>
                <a:latin typeface="Malgun Gothic"/>
                <a:ea typeface="Malgun Gothic"/>
                <a:cs typeface="Malgun Gothic"/>
              </a:rPr>
              <a:t>키뉴레닌</a:t>
            </a:r>
            <a:r>
              <a:rPr sz="1600" b="0" i="0">
                <a:solidFill>
                  <a:srgbClr val="11202B"/>
                </a:solidFill>
                <a:latin typeface="Malgun Gothic"/>
                <a:ea typeface="Malgun Gothic"/>
                <a:cs typeface="Malgun Gothic"/>
              </a:rPr>
              <a:t>(세로토닌 원료 감소) → 미세아교세포 </a:t>
            </a:r>
            <a:r>
              <a:rPr sz="1600" b="1" i="0">
                <a:solidFill>
                  <a:srgbClr val="11202B"/>
                </a:solidFill>
                <a:latin typeface="Malgun Gothic"/>
                <a:ea typeface="Malgun Gothic"/>
                <a:cs typeface="Malgun Gothic"/>
              </a:rPr>
              <a:t>퀴놀린산</a:t>
            </a:r>
            <a:r>
              <a:rPr sz="1600" b="0" i="0">
                <a:solidFill>
                  <a:srgbClr val="11202B"/>
                </a:solidFill>
                <a:latin typeface="Malgun Gothic"/>
                <a:ea typeface="Malgun Gothic"/>
                <a:cs typeface="Malgun Gothic"/>
              </a:rPr>
              <a:t>(NMDA 작용제)↑ vs 성상세포 키뉴레닌산(보호)↓ → 글루탐산 흥분독성·신경가소성 저하(B01 L11). 항염증 치료(인플릭시맙)는 </a:t>
            </a:r>
            <a:r>
              <a:rPr sz="1600" b="1" i="0">
                <a:solidFill>
                  <a:srgbClr val="11202B"/>
                </a:solidFill>
                <a:latin typeface="Malgun Gothic"/>
                <a:ea typeface="Malgun Gothic"/>
                <a:cs typeface="Malgun Gothic"/>
              </a:rPr>
              <a:t>CRP 높은 하위군</a:t>
            </a:r>
            <a:r>
              <a:rPr sz="1600" b="0" i="0">
                <a:solidFill>
                  <a:srgbClr val="11202B"/>
                </a:solidFill>
                <a:latin typeface="Malgun Gothic"/>
                <a:ea typeface="Malgun Gothic"/>
                <a:cs typeface="Malgun Gothic"/>
              </a:rPr>
              <a:t>에서만 효과 → 염증형 우울 아형.</a:t>
            </a:r>
          </a:p>
          <a:p>
            <a:pPr>
              <a:spcAft>
                <a:spcPts val="800"/>
              </a:spcAft>
            </a:pPr>
            <a:r>
              <a:rPr sz="1600" b="1" i="0">
                <a:solidFill>
                  <a:srgbClr val="003C71"/>
                </a:solidFill>
                <a:latin typeface="Malgun Gothic"/>
                <a:ea typeface="Malgun Gothic"/>
                <a:cs typeface="Malgun Gothic"/>
              </a:rPr>
              <a:t>▪ </a:t>
            </a:r>
            <a:r>
              <a:rPr sz="1600" b="1" i="0">
                <a:solidFill>
                  <a:srgbClr val="11202B"/>
                </a:solidFill>
                <a:latin typeface="Malgun Gothic"/>
                <a:ea typeface="Malgun Gothic"/>
                <a:cs typeface="Malgun Gothic"/>
              </a:rPr>
              <a:t>글루탐산 가설</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케타민</a:t>
            </a:r>
            <a:r>
              <a:rPr sz="1600" b="0" i="0">
                <a:solidFill>
                  <a:srgbClr val="11202B"/>
                </a:solidFill>
                <a:latin typeface="Malgun Gothic"/>
                <a:ea typeface="Malgun Gothic"/>
                <a:cs typeface="Malgun Gothic"/>
              </a:rPr>
              <a:t>(NMDA 길항) 단회 투여 수 시간 내 항우울(치료 저항성), 에스케타민 비강 승인(2019) — 기전: GABA 개재뉴런 억제 해제 → 글루탐산 폭발 → AMPA 활성 → BDNF·mTORC1 → 시냅스 신생; 대사물 하이드록시노르케타민의 역할, 오피오이드 수용체 관여 논쟁. </a:t>
            </a:r>
            <a:r>
              <a:rPr sz="1600" b="1" i="0">
                <a:solidFill>
                  <a:srgbClr val="11202B"/>
                </a:solidFill>
                <a:latin typeface="Malgun Gothic"/>
                <a:ea typeface="Malgun Gothic"/>
                <a:cs typeface="Malgun Gothic"/>
              </a:rPr>
              <a:t>브렉사놀론·주라놀론</a:t>
            </a:r>
            <a:r>
              <a:rPr sz="1600" b="0" i="0">
                <a:solidFill>
                  <a:srgbClr val="11202B"/>
                </a:solidFill>
                <a:latin typeface="Malgun Gothic"/>
                <a:ea typeface="Malgun Gothic"/>
                <a:cs typeface="Malgun Gothic"/>
              </a:rPr>
              <a:t>(GABA_A 신경스테로이드) — 산후 우울증.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우울증과 대사의 양방향 관계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역학: 우울증 → 2형 당뇨 위험 ~1.4–1.6배, 비만 → 우울 위험 ~1.5배(양방향, 메타분석). 우울을 동반한 당뇨는 혈당 조절·합병증·사망 악화.</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기전 연결고리: HPA 축 과활성(코르티솔 → 내장지방·인슐린 저항성), 교감 과활성, 염증, 수면·활동·식이 변화, 항우울제 대사 부작용(미르타자핀·파록세틴 체중 증가).</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비정형(대사형) 우울</a:t>
            </a:r>
            <a:r>
              <a:rPr sz="2000" b="0" i="0">
                <a:solidFill>
                  <a:srgbClr val="11202B"/>
                </a:solidFill>
                <a:latin typeface="Malgun Gothic"/>
                <a:ea typeface="Malgun Gothic"/>
                <a:cs typeface="Malgun Gothic"/>
              </a:rPr>
              <a:t>: 과식·과수면·체중 증가·납 마비감 → BMI·CRP·렙틴·TG 상승과 연관(대사·염증 아형; 멘델 무작위분석에서 고BMI → 우울 인과 지지).</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뇌 인슐린 저항성</a:t>
            </a:r>
            <a:r>
              <a:rPr sz="2000" b="0" i="0">
                <a:solidFill>
                  <a:srgbClr val="11202B"/>
                </a:solidFill>
                <a:latin typeface="Malgun Gothic"/>
                <a:ea typeface="Malgun Gothic"/>
                <a:cs typeface="Malgun Gothic"/>
              </a:rPr>
              <a:t>: 인슐린은 도파민 보상 회로·해마 가소성 조절 → 저항성 → 무쾌감증.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우울증과 대사의 양방향 관계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미토콘드리아</a:t>
            </a:r>
            <a:r>
              <a:rPr sz="1800" b="0" i="0">
                <a:solidFill>
                  <a:srgbClr val="11202B"/>
                </a:solidFill>
                <a:latin typeface="Malgun Gothic"/>
                <a:ea typeface="Malgun Gothic"/>
                <a:cs typeface="Malgun Gothic"/>
              </a:rPr>
              <a:t>: 만성 스트레스 → 미토콘드리아 기능·mtDNA 복제수 변화(혈액), 미토콘드리아 에너지 공급이 스트레스 반응의 '할당'을 결정한다는 가설(Picard). 미토콘드리아 질환 환자에서 우울·불안 유병률 높음.</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장내 미생물</a:t>
            </a:r>
            <a:r>
              <a:rPr sz="1800" b="0" i="0">
                <a:solidFill>
                  <a:srgbClr val="11202B"/>
                </a:solidFill>
                <a:latin typeface="Malgun Gothic"/>
                <a:ea typeface="Malgun Gothic"/>
                <a:cs typeface="Malgun Gothic"/>
              </a:rPr>
              <a:t>: 우울증에서 부티르산 생성균(Faecalibacterium, Coprococcus) 감소(Valles-Colomer et al., Nat Microbiol 2019), 무균 쥐에 우울증 환자 미생물 이식 시 우울 유사 행동 전달.</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영양</a:t>
            </a:r>
            <a:r>
              <a:rPr sz="1800" b="0" i="0">
                <a:solidFill>
                  <a:srgbClr val="11202B"/>
                </a:solidFill>
                <a:latin typeface="Malgun Gothic"/>
                <a:ea typeface="Malgun Gothic"/>
                <a:cs typeface="Malgun Gothic"/>
              </a:rPr>
              <a:t>: 지중해식 개입(SMILES RCT — 우울 관해율↑), 오메가-3(EPA 우세 제제 소폭 효과), 엽산·B12(메틸화 — L-메틸폴레이트 보조), 비타민 D(대규모 RCT VITAL-DEP 예방 효과 없음).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우울증과 대사의 양방향 관계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운동</a:t>
            </a:r>
            <a:r>
              <a:rPr sz="2200" b="0" i="0">
                <a:solidFill>
                  <a:srgbClr val="11202B"/>
                </a:solidFill>
                <a:latin typeface="Malgun Gothic"/>
                <a:ea typeface="Malgun Gothic"/>
                <a:cs typeface="Malgun Gothic"/>
              </a:rPr>
              <a:t>: 메타분석에서 항우울제·심리치료와 비슷한 효과 크기(걷기·요가·근력, Noetel et al., BMJ 2024).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조현병의 신경화학과 대사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도파민 가설</a:t>
            </a:r>
            <a:r>
              <a:rPr sz="1800" b="0" i="0">
                <a:solidFill>
                  <a:srgbClr val="11202B"/>
                </a:solidFill>
                <a:latin typeface="Malgun Gothic"/>
                <a:ea typeface="Malgun Gothic"/>
                <a:cs typeface="Malgun Gothic"/>
              </a:rPr>
              <a:t>: 선조체(연합 선조체) 시냅스 전 도파민 합성·방출 능력 증가(¹⁸F-DOPA PET 재현성 높음) → 양성 증상; 전전두 도파민 저하 → 인지·음성 증상. 모든 승인 항정신병약은 D2 차단(예외: 2024 승인 </a:t>
            </a:r>
            <a:r>
              <a:rPr sz="1800" b="1" i="0">
                <a:solidFill>
                  <a:srgbClr val="11202B"/>
                </a:solidFill>
                <a:latin typeface="Malgun Gothic"/>
                <a:ea typeface="Malgun Gothic"/>
                <a:cs typeface="Malgun Gothic"/>
              </a:rPr>
              <a:t>잔오멜린-트로스피움</a:t>
            </a:r>
            <a:r>
              <a:rPr sz="1800" b="0" i="0">
                <a:solidFill>
                  <a:srgbClr val="11202B"/>
                </a:solidFill>
                <a:latin typeface="Malgun Gothic"/>
                <a:ea typeface="Malgun Gothic"/>
                <a:cs typeface="Malgun Gothic"/>
              </a:rPr>
              <a:t> — M1/M4 무스카린 작용제, D2 비의존).</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글루탐산(NMDA 저기능) 가설</a:t>
            </a:r>
            <a:r>
              <a:rPr sz="1800" b="0" i="0">
                <a:solidFill>
                  <a:srgbClr val="11202B"/>
                </a:solidFill>
                <a:latin typeface="Malgun Gothic"/>
                <a:ea typeface="Malgun Gothic"/>
                <a:cs typeface="Malgun Gothic"/>
              </a:rPr>
              <a:t>: 펜사이클리딘·케타민이 양성·음성·인지 증상 모두 재현, </a:t>
            </a:r>
            <a:r>
              <a:rPr sz="1800" b="1" i="0">
                <a:solidFill>
                  <a:srgbClr val="11202B"/>
                </a:solidFill>
                <a:latin typeface="Malgun Gothic"/>
                <a:ea typeface="Malgun Gothic"/>
                <a:cs typeface="Malgun Gothic"/>
              </a:rPr>
              <a:t>항-NMDA 수용체 뇌염</a:t>
            </a:r>
            <a:r>
              <a:rPr sz="1800" b="0" i="0">
                <a:solidFill>
                  <a:srgbClr val="11202B"/>
                </a:solidFill>
                <a:latin typeface="Malgun Gothic"/>
                <a:ea typeface="Malgun Gothic"/>
                <a:cs typeface="Malgun Gothic"/>
              </a:rPr>
              <a:t>(B08 L10)이 조현병 유사 정신증 → PV⁺ GABA 개재뉴런의 NMDA 저기능 → 탈억제 → 피질 피라미드 과활성·감마 진동 이상 → 하류 도파민 조절 이상. NMDA 보조작용제(글리신, D-세린, GlyT1 억제제 이클레퍼틴 — 3상 음성) 시도.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조현병의 신경화학과 대사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유전학</a:t>
            </a:r>
            <a:r>
              <a:rPr sz="1800" b="0" i="0">
                <a:solidFill>
                  <a:srgbClr val="11202B"/>
                </a:solidFill>
                <a:latin typeface="Malgun Gothic"/>
                <a:ea typeface="Malgun Gothic"/>
                <a:cs typeface="Malgun Gothic"/>
              </a:rPr>
              <a:t>: 다유전자(PGC GWAS 287 좌위 — 시냅스 유전자 DRD2, GRIN2A, 보체 C4A — 시냅스 가지치기 과잉 가설, Sekar et al., Nature 2016), 희귀 CNV(22q11.2 결실 — 위험 ~25%; SETD1A LoF) (B06 L11).</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뇌 에너지·산화환원 이상</a:t>
            </a:r>
            <a:r>
              <a:rPr sz="1800" b="0" i="0">
                <a:solidFill>
                  <a:srgbClr val="11202B"/>
                </a:solidFill>
                <a:latin typeface="Malgun Gothic"/>
                <a:ea typeface="Malgun Gothic"/>
                <a:cs typeface="Malgun Gothic"/>
              </a:rPr>
              <a:t>:</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MRS에서 전전두 </a:t>
            </a:r>
            <a:r>
              <a:rPr sz="1600" b="1" i="0">
                <a:solidFill>
                  <a:srgbClr val="2E3F4C"/>
                </a:solidFill>
                <a:latin typeface="Malgun Gothic"/>
                <a:ea typeface="Malgun Gothic"/>
                <a:cs typeface="Malgun Gothic"/>
              </a:rPr>
              <a:t>글루타티온 감소</a:t>
            </a:r>
            <a:r>
              <a:rPr sz="1600" b="0" i="0">
                <a:solidFill>
                  <a:srgbClr val="2E3F4C"/>
                </a:solidFill>
                <a:latin typeface="Malgun Gothic"/>
                <a:ea typeface="Malgun Gothic"/>
                <a:cs typeface="Malgun Gothic"/>
              </a:rPr>
              <a:t>, 젖산 증가, PCr 변화; 첫 발병 환자 혈액 산화 스트레스 표지.</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PV 개재뉴런은 빠른 발화로 에너지·미토콘드리아 요구가 높고 산화 스트레스에 취약 → 주변신경망(PNN) 손상 → 개재뉴런 기능 저하(Do &amp; Cuénod).</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N-아세틸시스테인(GSH 전구체) 보조요법 — 소규모 시험 혼재.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조현병의 신경화학과 대사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치료 전 대사 이상</a:t>
            </a:r>
            <a:r>
              <a:rPr sz="2200" b="0" i="0">
                <a:solidFill>
                  <a:srgbClr val="11202B"/>
                </a:solidFill>
                <a:latin typeface="Malgun Gothic"/>
                <a:ea typeface="Malgun Gothic"/>
                <a:cs typeface="Malgun Gothic"/>
              </a:rPr>
              <a:t>: 약물 노출 전 첫 발병 환자에서도 공복혈당·인슐린 저항성·내당능 장애 증가(Pillinger et al., JAMA Psychiatry 2017) → 공통 유전·발달·스트레스 요인 시사.</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엽산·호모시스테인</a:t>
            </a:r>
            <a:r>
              <a:rPr sz="2200" b="0" i="0">
                <a:solidFill>
                  <a:srgbClr val="11202B"/>
                </a:solidFill>
                <a:latin typeface="Malgun Gothic"/>
                <a:ea typeface="Malgun Gothic"/>
                <a:cs typeface="Malgun Gothic"/>
              </a:rPr>
              <a:t>, 비타민 D, 키뉴레닌산(조현병에서는 CSF 키뉴레닌산 </a:t>
            </a:r>
            <a:r>
              <a:rPr sz="2200" b="1" i="0">
                <a:solidFill>
                  <a:srgbClr val="11202B"/>
                </a:solidFill>
                <a:latin typeface="Malgun Gothic"/>
                <a:ea typeface="Malgun Gothic"/>
                <a:cs typeface="Malgun Gothic"/>
              </a:rPr>
              <a:t>증가</a:t>
            </a:r>
            <a:r>
              <a:rPr sz="2200" b="0" i="0">
                <a:solidFill>
                  <a:srgbClr val="11202B"/>
                </a:solidFill>
                <a:latin typeface="Malgun Gothic"/>
                <a:ea typeface="Malgun Gothic"/>
                <a:cs typeface="Malgun Gothic"/>
              </a:rPr>
              <a:t> — NMDA·α7 nAChR 차단 → 인지 장애 가설; 우울과 반대 방향).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항정신병약의 대사 부작용과 심혈관대사 관리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중증 정신질환자의 기대수명은 일반인보다 </a:t>
            </a:r>
            <a:r>
              <a:rPr sz="1800" b="1" i="0">
                <a:solidFill>
                  <a:srgbClr val="11202B"/>
                </a:solidFill>
                <a:latin typeface="Malgun Gothic"/>
                <a:ea typeface="Malgun Gothic"/>
                <a:cs typeface="Malgun Gothic"/>
              </a:rPr>
              <a:t>10–20년 짧으며</a:t>
            </a:r>
            <a:r>
              <a:rPr sz="1800" b="0" i="0">
                <a:solidFill>
                  <a:srgbClr val="11202B"/>
                </a:solidFill>
                <a:latin typeface="Malgun Gothic"/>
                <a:ea typeface="Malgun Gothic"/>
                <a:cs typeface="Malgun Gothic"/>
              </a:rPr>
              <a:t> 주된 사인은 </a:t>
            </a:r>
            <a:r>
              <a:rPr sz="1800" b="1" i="0">
                <a:solidFill>
                  <a:srgbClr val="11202B"/>
                </a:solidFill>
                <a:latin typeface="Malgun Gothic"/>
                <a:ea typeface="Malgun Gothic"/>
                <a:cs typeface="Malgun Gothic"/>
              </a:rPr>
              <a:t>심혈관질환</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기전:</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H1 차단</a:t>
            </a:r>
            <a:r>
              <a:rPr sz="1600" b="0" i="0">
                <a:solidFill>
                  <a:srgbClr val="2E3F4C"/>
                </a:solidFill>
                <a:latin typeface="Malgun Gothic"/>
                <a:ea typeface="Malgun Gothic"/>
                <a:cs typeface="Malgun Gothic"/>
              </a:rPr>
              <a:t>(시상하부 AMPK 활성 → 식욕↑), </a:t>
            </a:r>
            <a:r>
              <a:rPr sz="1600" b="1" i="0">
                <a:solidFill>
                  <a:srgbClr val="2E3F4C"/>
                </a:solidFill>
                <a:latin typeface="Malgun Gothic"/>
                <a:ea typeface="Malgun Gothic"/>
                <a:cs typeface="Malgun Gothic"/>
              </a:rPr>
              <a:t>5-HT2C 차단</a:t>
            </a:r>
            <a:r>
              <a:rPr sz="1600" b="0" i="0">
                <a:solidFill>
                  <a:srgbClr val="2E3F4C"/>
                </a:solidFill>
                <a:latin typeface="Malgun Gothic"/>
                <a:ea typeface="Malgun Gothic"/>
                <a:cs typeface="Malgun Gothic"/>
              </a:rPr>
              <a:t>(POMC 신경세포 억제 해제 → 과식; HTR2C 다형성이 체중 증가 예측), M3 차단(β세포 인슐린 분비↓), D2 차단(보상·프로락틴↑).</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체중과 무관한 직접 효과</a:t>
            </a:r>
            <a:r>
              <a:rPr sz="1600" b="0" i="0">
                <a:solidFill>
                  <a:srgbClr val="2E3F4C"/>
                </a:solidFill>
                <a:latin typeface="Malgun Gothic"/>
                <a:ea typeface="Malgun Gothic"/>
                <a:cs typeface="Malgun Gothic"/>
              </a:rPr>
              <a:t>: 올란자핀·클로자핀 단회 투여만으로 간 인슐린 저항성·글루카곤↑ — 수일 내 고혈당, 드물게 </a:t>
            </a:r>
            <a:r>
              <a:rPr sz="1600" b="1" i="0">
                <a:solidFill>
                  <a:srgbClr val="2E3F4C"/>
                </a:solidFill>
                <a:latin typeface="Malgun Gothic"/>
                <a:ea typeface="Malgun Gothic"/>
                <a:cs typeface="Malgun Gothic"/>
              </a:rPr>
              <a:t>DKA</a:t>
            </a:r>
            <a:r>
              <a:rPr sz="1600" b="0" i="0">
                <a:solidFill>
                  <a:srgbClr val="2E3F4C"/>
                </a:solidFill>
                <a:latin typeface="Malgun Gothic"/>
                <a:ea typeface="Malgun Gothic"/>
                <a:cs typeface="Malgun Gothic"/>
              </a:rPr>
              <a:t>(체중 증가 전).</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고중성지방혈증(간 SREBP 활성), 렙틴 저항성.</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모니터링(ADA/APA 합의): 기저·4·8·12주 체중, 3개월 혈당·지질, 이후 연 1회; 혈압·허리둘레.</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항정신병약의 대사 부작용과 심혈관대사 관리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관리: 저위험 약물 전환, 생활습관(구조화 프로그램), </a:t>
            </a:r>
            <a:r>
              <a:rPr sz="2000" b="1" i="0">
                <a:solidFill>
                  <a:srgbClr val="11202B"/>
                </a:solidFill>
                <a:latin typeface="Malgun Gothic"/>
                <a:ea typeface="Malgun Gothic"/>
                <a:cs typeface="Malgun Gothic"/>
              </a:rPr>
              <a:t>메트포르민 병용</a:t>
            </a:r>
            <a:r>
              <a:rPr sz="2000" b="0" i="0">
                <a:solidFill>
                  <a:srgbClr val="11202B"/>
                </a:solidFill>
                <a:latin typeface="Malgun Gothic"/>
                <a:ea typeface="Malgun Gothic"/>
                <a:cs typeface="Malgun Gothic"/>
              </a:rPr>
              <a:t>(항정신병약 유발 체중 증가 예방·감소 — 근거 비교적 강함), </a:t>
            </a:r>
            <a:r>
              <a:rPr sz="2000" b="1" i="0">
                <a:solidFill>
                  <a:srgbClr val="11202B"/>
                </a:solidFill>
                <a:latin typeface="Malgun Gothic"/>
                <a:ea typeface="Malgun Gothic"/>
                <a:cs typeface="Malgun Gothic"/>
              </a:rPr>
              <a:t>GLP-1 RA</a:t>
            </a:r>
            <a:r>
              <a:rPr sz="2000" b="0" i="0">
                <a:solidFill>
                  <a:srgbClr val="11202B"/>
                </a:solidFill>
                <a:latin typeface="Malgun Gothic"/>
                <a:ea typeface="Malgun Gothic"/>
                <a:cs typeface="Malgun Gothic"/>
              </a:rPr>
              <a:t>(엑세나타이드·리라글루타이드·세마글루타이드 — 클로자핀·올란자핀 환자 체중 감소 RCT 긍정), 토피라메이트; </a:t>
            </a:r>
            <a:r>
              <a:rPr sz="2000" b="1" i="0">
                <a:solidFill>
                  <a:srgbClr val="11202B"/>
                </a:solidFill>
                <a:latin typeface="Malgun Gothic"/>
                <a:ea typeface="Malgun Gothic"/>
                <a:cs typeface="Malgun Gothic"/>
              </a:rPr>
              <a:t>올란자핀/사미도르판</a:t>
            </a:r>
            <a:r>
              <a:rPr sz="2000" b="0" i="0">
                <a:solidFill>
                  <a:srgbClr val="11202B"/>
                </a:solidFill>
                <a:latin typeface="Malgun Gothic"/>
                <a:ea typeface="Malgun Gothic"/>
                <a:cs typeface="Malgun Gothic"/>
              </a:rPr>
              <a:t>(오피오이드 길항 병용 — 체중 증가 완화, 2021 승인).</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기타 대사 관련 부작용: 고프로락틴혈증(골다공증·생식 기능), QT 연장, 클로자핀 무과립구증·심근염·변비(장 폐쇄 — 치명), 리튬(갑상선기능저하, 신성 요붕증, 부갑상선항진), 발프로산(PCOS·체중).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항정신병약의 대사 부작용과 심혈관대사 관리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체중·대사 위험</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클로자핀, 올란자핀</a:t>
                      </a:r>
                    </a:p>
                  </a:txBody>
                  <a:tcPr marL="73152" marR="73152">
                    <a:solidFill>
                      <a:srgbClr val="FFFFFF"/>
                    </a:solidFill>
                  </a:tcPr>
                </a:tc>
                <a:tc>
                  <a:txBody>
                    <a:bodyPr/>
                    <a:lstStyle/>
                    <a:p>
                      <a:r>
                        <a:rPr sz="1500" b="0" i="0">
                          <a:solidFill>
                            <a:srgbClr val="11202B"/>
                          </a:solidFill>
                          <a:latin typeface="Malgun Gothic"/>
                          <a:ea typeface="Malgun Gothic"/>
                          <a:cs typeface="Malgun Gothic"/>
                        </a:rPr>
                        <a:t>매우 높음</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쿠에티아핀, 리스페리돈, 팔리페리돈</a:t>
                      </a:r>
                    </a:p>
                  </a:txBody>
                  <a:tcPr marL="73152" marR="73152">
                    <a:solidFill>
                      <a:srgbClr val="ECF1F5"/>
                    </a:solidFill>
                  </a:tcPr>
                </a:tc>
                <a:tc>
                  <a:txBody>
                    <a:bodyPr/>
                    <a:lstStyle/>
                    <a:p>
                      <a:r>
                        <a:rPr sz="1500" b="0" i="0">
                          <a:solidFill>
                            <a:srgbClr val="11202B"/>
                          </a:solidFill>
                          <a:latin typeface="Malgun Gothic"/>
                          <a:ea typeface="Malgun Gothic"/>
                          <a:cs typeface="Malgun Gothic"/>
                        </a:rPr>
                        <a:t>중등도</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아리피프라졸, 루라시돈, 지프라시돈, 카리프라진, 브렉스피프라졸</a:t>
                      </a:r>
                    </a:p>
                  </a:txBody>
                  <a:tcPr marL="73152" marR="73152">
                    <a:solidFill>
                      <a:srgbClr val="FFFFFF"/>
                    </a:solidFill>
                  </a:tcPr>
                </a:tc>
                <a:tc>
                  <a:txBody>
                    <a:bodyPr/>
                    <a:lstStyle/>
                    <a:p>
                      <a:r>
                        <a:rPr sz="1500" b="0" i="0">
                          <a:solidFill>
                            <a:srgbClr val="11202B"/>
                          </a:solidFill>
                          <a:latin typeface="Malgun Gothic"/>
                          <a:ea typeface="Malgun Gothic"/>
                          <a:cs typeface="Malgun Gothic"/>
                        </a:rPr>
                        <a:t>낮음</a:t>
                      </a:r>
                    </a:p>
                  </a:txBody>
                  <a:tcPr marL="73152" marR="7315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대사 표적 정신의학</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정밀 정신의학의 방향: 염증·대사·미토콘드리아 생체표지로 아형을 나누고 맞춤 치료를 선택하는 '생물형(biotype)' 접근.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대사 표적 정신의학</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개입</a:t>
                      </a:r>
                    </a:p>
                  </a:txBody>
                  <a:tcPr marL="73152" marR="73152">
                    <a:solidFill>
                      <a:srgbClr val="003C71"/>
                    </a:solidFill>
                  </a:tcPr>
                </a:tc>
                <a:tc>
                  <a:txBody>
                    <a:bodyPr/>
                    <a:lstStyle/>
                    <a:p>
                      <a:r>
                        <a:rPr sz="1500" b="1" i="0">
                          <a:solidFill>
                            <a:srgbClr val="FFFFFF"/>
                          </a:solidFill>
                          <a:latin typeface="Malgun Gothic"/>
                          <a:ea typeface="Malgun Gothic"/>
                          <a:cs typeface="Malgun Gothic"/>
                        </a:rPr>
                        <a:t>근거</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케타민·에스케타민</a:t>
                      </a:r>
                    </a:p>
                  </a:txBody>
                  <a:tcPr marL="73152" marR="73152">
                    <a:solidFill>
                      <a:srgbClr val="FFFFFF"/>
                    </a:solidFill>
                  </a:tcPr>
                </a:tc>
                <a:tc>
                  <a:txBody>
                    <a:bodyPr/>
                    <a:lstStyle/>
                    <a:p>
                      <a:r>
                        <a:rPr sz="1500" b="0" i="0">
                          <a:solidFill>
                            <a:srgbClr val="11202B"/>
                          </a:solidFill>
                          <a:latin typeface="Malgun Gothic"/>
                          <a:ea typeface="Malgun Gothic"/>
                          <a:cs typeface="Malgun Gothic"/>
                        </a:rPr>
                        <a:t>치료 저항 우울 — 빠른 효과(승인)</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케톤생성식이</a:t>
                      </a:r>
                    </a:p>
                  </a:txBody>
                  <a:tcPr marL="73152" marR="73152">
                    <a:solidFill>
                      <a:srgbClr val="ECF1F5"/>
                    </a:solidFill>
                  </a:tcPr>
                </a:tc>
                <a:tc>
                  <a:txBody>
                    <a:bodyPr/>
                    <a:lstStyle/>
                    <a:p>
                      <a:r>
                        <a:rPr sz="1500" b="0" i="0">
                          <a:solidFill>
                            <a:srgbClr val="11202B"/>
                          </a:solidFill>
                          <a:latin typeface="Malgun Gothic"/>
                          <a:ea typeface="Malgun Gothic"/>
                          <a:cs typeface="Malgun Gothic"/>
                        </a:rPr>
                        <a:t>소규모 개방 연구에서 중증 정신질환(조현병·양극성) 증상·대사 개선 보고(Sethi et al., Psychiatry Res 2024); 기전 가설: 뇌 에너지 보충·GABA/글루탐산·염증 — RCT 진행 중</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GLP-1 RA</a:t>
                      </a:r>
                    </a:p>
                  </a:txBody>
                  <a:tcPr marL="73152" marR="73152">
                    <a:solidFill>
                      <a:srgbClr val="FFFFFF"/>
                    </a:solidFill>
                  </a:tcPr>
                </a:tc>
                <a:tc>
                  <a:txBody>
                    <a:bodyPr/>
                    <a:lstStyle/>
                    <a:p>
                      <a:r>
                        <a:rPr sz="1500" b="0" i="0">
                          <a:solidFill>
                            <a:srgbClr val="11202B"/>
                          </a:solidFill>
                          <a:latin typeface="Malgun Gothic"/>
                          <a:ea typeface="Malgun Gothic"/>
                          <a:cs typeface="Malgun Gothic"/>
                        </a:rPr>
                        <a:t>관찰 연구에서 우울·자살 위험 증가 신호 없음(규제 검토); 알코올 사용장애·니코틴 갈망 감소 RCT 신호</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메트포르민</a:t>
                      </a:r>
                    </a:p>
                  </a:txBody>
                  <a:tcPr marL="73152" marR="73152">
                    <a:solidFill>
                      <a:srgbClr val="ECF1F5"/>
                    </a:solidFill>
                  </a:tcPr>
                </a:tc>
                <a:tc>
                  <a:txBody>
                    <a:bodyPr/>
                    <a:lstStyle/>
                    <a:p>
                      <a:r>
                        <a:rPr sz="1500" b="0" i="0">
                          <a:solidFill>
                            <a:srgbClr val="11202B"/>
                          </a:solidFill>
                          <a:latin typeface="Malgun Gothic"/>
                          <a:ea typeface="Malgun Gothic"/>
                          <a:cs typeface="Malgun Gothic"/>
                        </a:rPr>
                        <a:t>항정신병약 대사 부작용 관리; 우울 보조 소규모</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항염증(셀레콕시브, 인플릭시맙, 미노사이클린)</a:t>
                      </a:r>
                    </a:p>
                  </a:txBody>
                  <a:tcPr marL="73152" marR="73152">
                    <a:solidFill>
                      <a:srgbClr val="FFFFFF"/>
                    </a:solidFill>
                  </a:tcPr>
                </a:tc>
                <a:tc>
                  <a:txBody>
                    <a:bodyPr/>
                    <a:lstStyle/>
                    <a:p>
                      <a:r>
                        <a:rPr sz="1500" b="0" i="0">
                          <a:solidFill>
                            <a:srgbClr val="11202B"/>
                          </a:solidFill>
                          <a:latin typeface="Malgun Gothic"/>
                          <a:ea typeface="Malgun Gothic"/>
                          <a:cs typeface="Malgun Gothic"/>
                        </a:rPr>
                        <a:t>염증 하위군 한정·혼재</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오메가-3, L-메틸폴레이트, NAC</a:t>
                      </a:r>
                    </a:p>
                  </a:txBody>
                  <a:tcPr marL="73152" marR="73152">
                    <a:solidFill>
                      <a:srgbClr val="ECF1F5"/>
                    </a:solidFill>
                  </a:tcPr>
                </a:tc>
                <a:tc>
                  <a:txBody>
                    <a:bodyPr/>
                    <a:lstStyle/>
                    <a:p>
                      <a:r>
                        <a:rPr sz="1500" b="0" i="0">
                          <a:solidFill>
                            <a:srgbClr val="11202B"/>
                          </a:solidFill>
                          <a:latin typeface="Malgun Gothic"/>
                          <a:ea typeface="Malgun Gothic"/>
                          <a:cs typeface="Malgun Gothic"/>
                        </a:rPr>
                        <a:t>보조·혼재</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운동·식이</a:t>
                      </a:r>
                    </a:p>
                  </a:txBody>
                  <a:tcPr marL="73152" marR="73152">
                    <a:solidFill>
                      <a:srgbClr val="FFFFFF"/>
                    </a:solidFill>
                  </a:tcPr>
                </a:tc>
                <a:tc>
                  <a:txBody>
                    <a:bodyPr/>
                    <a:lstStyle/>
                    <a:p>
                      <a:r>
                        <a:rPr sz="1500" b="0" i="0">
                          <a:solidFill>
                            <a:srgbClr val="11202B"/>
                          </a:solidFill>
                          <a:latin typeface="Malgun Gothic"/>
                          <a:ea typeface="Malgun Gothic"/>
                          <a:cs typeface="Malgun Gothic"/>
                        </a:rPr>
                        <a:t>강력하고 안전한 보조</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리튬</a:t>
                      </a:r>
                    </a:p>
                  </a:txBody>
                  <a:tcPr marL="73152" marR="73152">
                    <a:solidFill>
                      <a:srgbClr val="ECF1F5"/>
                    </a:solidFill>
                  </a:tcPr>
                </a:tc>
                <a:tc>
                  <a:txBody>
                    <a:bodyPr/>
                    <a:lstStyle/>
                    <a:p>
                      <a:r>
                        <a:rPr sz="1500" b="0" i="0">
                          <a:solidFill>
                            <a:srgbClr val="11202B"/>
                          </a:solidFill>
                          <a:latin typeface="Malgun Gothic"/>
                          <a:ea typeface="Malgun Gothic"/>
                          <a:cs typeface="Malgun Gothic"/>
                        </a:rPr>
                        <a:t>양극성 기분 안정·자살 예방 — 기전: GSK3 억제, 이노시톨 고갈(IMPase 억제), 신경영양</a:t>
                      </a:r>
                    </a:p>
                  </a:txBody>
                  <a:tcPr marL="73152" marR="73152">
                    <a:solidFill>
                      <a:srgbClr val="ECF1F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대규모 정신질환 GWAS(PGC)와 단일세포 뇌 아틀라스 결합으로 위험 유전자가 특정 세포(피질 흥분성 신경세포, PV 개재뉴런, 미세아교세포) 기능에 수렴함이 밝혀지고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사이키델릭(실로시빈 — 5-HT2A 작용, 신경가소성 촉진; 치료 저항 우울 2상 긍정)과 TrkB 직접 결합 가설이 '가소성 유도제' 계열을 형성하고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장–뇌 축의 인과성(무균 동물·미생물 이식), 미토콘드리아 정신의학(혈액 미토콘드리아 기능과 스트레스 반응)이 새 연구 영역으로 부상했다.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1. </a:t>
            </a:r>
            <a:r>
              <a:rPr sz="1800" b="0" i="0">
                <a:solidFill>
                  <a:srgbClr val="11202B"/>
                </a:solidFill>
                <a:latin typeface="Malgun Gothic"/>
                <a:ea typeface="Malgun Gothic"/>
                <a:cs typeface="Malgun Gothic"/>
              </a:rPr>
              <a:t>우울증은 모노아민 결핍만으로 설명되지 않으며 신경가소성(BDNF), HPA 축, 염증–키뉴레닌, 글루탐산(케타민) 기전이 통합적으로 작용한다.</a:t>
            </a:r>
          </a:p>
          <a:p>
            <a:pPr>
              <a:spcAft>
                <a:spcPts val="800"/>
              </a:spcAft>
            </a:pPr>
            <a:r>
              <a:rPr sz="1800" b="1" i="0">
                <a:solidFill>
                  <a:srgbClr val="003C71"/>
                </a:solidFill>
                <a:latin typeface="Malgun Gothic"/>
                <a:ea typeface="Malgun Gothic"/>
                <a:cs typeface="Malgun Gothic"/>
              </a:rPr>
              <a:t>2. </a:t>
            </a:r>
            <a:r>
              <a:rPr sz="1800" b="0" i="0">
                <a:solidFill>
                  <a:srgbClr val="11202B"/>
                </a:solidFill>
                <a:latin typeface="Malgun Gothic"/>
                <a:ea typeface="Malgun Gothic"/>
                <a:cs typeface="Malgun Gothic"/>
              </a:rPr>
              <a:t>우울과 비만·2형 당뇨는 HPA·염증·행동·약물을 매개로 양방향으로 연결되며 비정형 우울은 대사·염증 아형과 연관된다.</a:t>
            </a:r>
          </a:p>
          <a:p>
            <a:pPr>
              <a:spcAft>
                <a:spcPts val="800"/>
              </a:spcAft>
            </a:pPr>
            <a:r>
              <a:rPr sz="1800" b="1" i="0">
                <a:solidFill>
                  <a:srgbClr val="003C71"/>
                </a:solidFill>
                <a:latin typeface="Malgun Gothic"/>
                <a:ea typeface="Malgun Gothic"/>
                <a:cs typeface="Malgun Gothic"/>
              </a:rPr>
              <a:t>3. </a:t>
            </a:r>
            <a:r>
              <a:rPr sz="1800" b="0" i="0">
                <a:solidFill>
                  <a:srgbClr val="11202B"/>
                </a:solidFill>
                <a:latin typeface="Malgun Gothic"/>
                <a:ea typeface="Malgun Gothic"/>
                <a:cs typeface="Malgun Gothic"/>
              </a:rPr>
              <a:t>조현병은 선조체 도파민 과다, NMDA 저기능(PV 개재뉴런), 산화환원·에너지 이상, 치료 전 인슐린 저항성을 보인다.</a:t>
            </a:r>
          </a:p>
          <a:p>
            <a:pPr>
              <a:spcAft>
                <a:spcPts val="800"/>
              </a:spcAft>
            </a:pPr>
            <a:r>
              <a:rPr sz="1800" b="1" i="0">
                <a:solidFill>
                  <a:srgbClr val="003C71"/>
                </a:solidFill>
                <a:latin typeface="Malgun Gothic"/>
                <a:ea typeface="Malgun Gothic"/>
                <a:cs typeface="Malgun Gothic"/>
              </a:rPr>
              <a:t>4. </a:t>
            </a:r>
            <a:r>
              <a:rPr sz="1800" b="0" i="0">
                <a:solidFill>
                  <a:srgbClr val="11202B"/>
                </a:solidFill>
                <a:latin typeface="Malgun Gothic"/>
                <a:ea typeface="Malgun Gothic"/>
                <a:cs typeface="Malgun Gothic"/>
              </a:rPr>
              <a:t>항정신병약(특히 클로자핀·올란자핀)은 H1·5-HT2C·M3 차단과 직접 간 효과로 대사 부작용을 일으키며 정기 감시와 메트포르민·GLP-1 RA로 관리한다.</a:t>
            </a:r>
          </a:p>
          <a:p>
            <a:pPr>
              <a:spcAft>
                <a:spcPts val="800"/>
              </a:spcAft>
            </a:pPr>
            <a:r>
              <a:rPr sz="1800" b="1" i="0">
                <a:solidFill>
                  <a:srgbClr val="003C71"/>
                </a:solidFill>
                <a:latin typeface="Malgun Gothic"/>
                <a:ea typeface="Malgun Gothic"/>
                <a:cs typeface="Malgun Gothic"/>
              </a:rPr>
              <a:t>5. </a:t>
            </a:r>
            <a:r>
              <a:rPr sz="1800" b="0" i="0">
                <a:solidFill>
                  <a:srgbClr val="11202B"/>
                </a:solidFill>
                <a:latin typeface="Malgun Gothic"/>
                <a:ea typeface="Malgun Gothic"/>
                <a:cs typeface="Malgun Gothic"/>
              </a:rPr>
              <a:t>케타민, 케톤생성식이, 항염증, 운동 등 대사·가소성 표적 정신의학이 확장 중이며 생체표지 기반 아형화가 과제이다.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인터페론-α 치료를 받는 C형 간염 환자에게 우울증이 자주 생기는 생화학적 기전은?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인터페론-α가 IDO1을 유도해 트립토판을 키뉴레닌 경로로 돌리므로 세로토닌 합성 원료가 줄고, 미세아교세포에서 퀴놀린산(NMDA 작용제)이 증가해 글루탐산 신경독성과 신경가소성 저하가 생긴다. 염증성 사이토카인은 HPA 축과 기저핵 도파민 기능도 변화시켜 무쾌감·피로를 유발한다.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올란자핀 시작 2주 만에 체중 변화 없이 고혈당·DKA가 생긴 환자의 기전은?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올란자핀·클로자핀은 체중 증가와 별개로 간 인슐린 저항성·글루카곤 분비 증가, M3 수용체 차단을 통한 β세포 인슐린 분비 저하를 일으켜 수일 내에 고혈당을 유발할 수 있다. 드물게 β세포 기능이 취약한 환자에서 DKA까지 진행한다. 약물 중단·전환과 인슐린 치료가 필요하다.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케타민이 기존 항우울제와 달리 수 시간 내 항우울 효과를 내는 기전 가설은?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케타민은 GABA 개재뉴런의 NMDA 수용체를 차단해 피라미드 신경세포를 탈억제하고 일시적 글루탐산 방출 증가를 일으켜 AMPA 수용체를 활성화한다. 이는 BDNF 방출과 TrkB–mTORC1 신호로 전전두 시냅스 단백 합성과 수상돌기 가시 형성을 빠르게 유도해 스트레스로 위축된 회로를 회복시킨다. 휴지기 NMDA 신호 차단으로 eEF2 탈인산화를 통한 BDNF 번역 증가도 제시된다.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조현병 첫 발병·약물 미투여 환자에서도 인슐린 저항성이 증가해 있다는 사실의 의미는?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조현병의 대사 이상이 항정신병약 부작용만으로 설명되지 않으며, 공통 유전 요인, 산전·주산기 역경, HPA 축 과활성·만성 스트레스, 생활 요인이 뇌와 말초 대사에 함께 작용함을 시사한다. 따라서 치료 시작 전부터 대사 지표를 측정하고 예방적 관리가 필요하며, 대사 경로가 정신질환 병태생리의 일부일 가능성도 연구 대상이다.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Miller AH, Raison CL. The role of inflammation in depression: from evolutionary imperative to modern treatment target. Nat Rev Immunol 2016;16:22–34.</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Krystal JH et al. Ketamine: a paradigm shift for depression research and treatment. Neuron 2019;101:774–778.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Howes OD, Kapur S. The dopamine hypothesis of schizophrenia: version III — the final common pathway. Schizophr Bull 2009;35:549–562.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B05-L15  ·  정신질환의 대사 가설: 우울증과 조현병</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Pillinger T et al. Impaired glucose homeostasis in first-episode schizophrenia: a systematic review and meta-analysis. JAMA Psychiatry 2017;74:261–269.</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Correll CU et al. Prevalence, incidence and mortality from cardiovascular disease in patients with pooled and specific severe mental illness. World Psychiatry 2017;16:163–180.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