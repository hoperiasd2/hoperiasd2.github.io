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안면신경핵의 상부(이마·눈 주위 담당)는 양측 대뇌 반구에서 피질연수로 입력을 받지만, 하부(입 주위)는 반대측 반구에서만 입력을 받는다. 따라서 일측 피질·피질하 병변에서는 반대측 하부 안면만 마비되고 이마는 보존된다. 말초 안면신경 병변(벨 마비)은 핵 이후이므로 같은 쪽 얼굴 전체가 마비된다.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소뇌 출력은 상소뇌각에서 교차해 반대측 시상·운동피질로 간 뒤, 그 피질에서 나온 피질척수로가 추체에서 다시 교차해 원래 소뇌와 같은 쪽 신체를 지배한다. 두 번 교차하므로 결과적으로 병변과 동측에 실조가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반대측 시상하핵(또는 선조체) 기능 이상에 의한 편측무도증·반무도증이다. 시상하핵은 간접 경로에서 GPi를 흥분시켜 운동을 억제하는데, 이 억제가 사라지면 시상이 과도하게 탈억제되어 큰 진폭의 불수의 운동이 나타난다. MRI T1에서 반대측 선조체 고신호가 특징적이며 혈당 교정으로 호전된다.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로멜버그 검사가 핵심이다. 감각성(후삭) 실조는 시각으로 보상하므로 눈을 뜨면 비교적 안정되다가 눈을 감으면 크게 흔들린다(양성). 소뇌성 실조는 눈을 떠도 이미 불안정하고 눈을 감아도 뚜렷이 악화되지 않는다. 감각성은 진동·위치 감각 소실과 발을 내리찍는 보행, 소뇌성은 안진·구음장애·측정이상을 동반한다.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B07 신경생리학과 신경해부학 기초  ·  운동 체계</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운동 체계: 피질척수로, 기저핵, 소뇌</a:t>
            </a:r>
          </a:p>
          <a:p>
            <a:r>
              <a:rPr sz="2000" b="0" i="0">
                <a:solidFill>
                  <a:srgbClr val="C2CDD6"/>
                </a:solidFill>
                <a:latin typeface="Malgun Gothic"/>
                <a:ea typeface="Malgun Gothic"/>
                <a:cs typeface="Malgun Gothic"/>
              </a:rPr>
              <a:t>Motor Systems: Corticospinal Tract, Basal Ganglia and Cerebellum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B07-L08</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상위·하위 운동신경세포 징후를 구분하고 병변을 국소화한다.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피질척수로의 주행과 운동 피질의 조직을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기저핵 회로(직접·간접·초직접 경로)와 운동장애의 기전을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소뇌의 구획·회로와 소뇌 증후군을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보행과 자세 조절의 신경 기전을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상위·하위 운동신경세포</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피질척수로와 운동 피질</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기저핵</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소뇌</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보행과 자세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상위·하위 운동신경세포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ALS는 두 징후가 공존하는 대표 질환(B05 L04); 경직성 하지마비는 UMN만.</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경직(spasticity, 속도 의존 — UMN) vs 강직(rigidity, 속도 무관·톱니바퀴 — 기저핵) vs 파라토니아(전두엽) 구분.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상위·하위 운동신경세포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c>
                  <a:txBody>
                    <a:bodyPr/>
                    <a:lstStyle/>
                    <a:p>
                      <a:r>
                        <a:rPr sz="1500" b="1" i="0">
                          <a:solidFill>
                            <a:srgbClr val="FFFFFF"/>
                          </a:solidFill>
                          <a:latin typeface="Malgun Gothic"/>
                          <a:ea typeface="Malgun Gothic"/>
                          <a:cs typeface="Malgun Gothic"/>
                        </a:rPr>
                        <a:t>상위 운동신경세포(UMN)</a:t>
                      </a:r>
                    </a:p>
                  </a:txBody>
                  <a:tcPr marL="73152" marR="73152">
                    <a:solidFill>
                      <a:srgbClr val="003C71"/>
                    </a:solidFill>
                  </a:tcPr>
                </a:tc>
                <a:tc>
                  <a:txBody>
                    <a:bodyPr/>
                    <a:lstStyle/>
                    <a:p>
                      <a:r>
                        <a:rPr sz="1500" b="1" i="0">
                          <a:solidFill>
                            <a:srgbClr val="FFFFFF"/>
                          </a:solidFill>
                          <a:latin typeface="Malgun Gothic"/>
                          <a:ea typeface="Malgun Gothic"/>
                          <a:cs typeface="Malgun Gothic"/>
                        </a:rPr>
                        <a:t>하위 운동신경세포(LMN)</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근력저하</a:t>
                      </a:r>
                    </a:p>
                  </a:txBody>
                  <a:tcPr marL="73152" marR="73152">
                    <a:solidFill>
                      <a:srgbClr val="FFFFFF"/>
                    </a:solidFill>
                  </a:tcPr>
                </a:tc>
                <a:tc>
                  <a:txBody>
                    <a:bodyPr/>
                    <a:lstStyle/>
                    <a:p>
                      <a:r>
                        <a:rPr sz="1500" b="0" i="0">
                          <a:solidFill>
                            <a:srgbClr val="11202B"/>
                          </a:solidFill>
                          <a:latin typeface="Malgun Gothic"/>
                          <a:ea typeface="Malgun Gothic"/>
                          <a:cs typeface="Malgun Gothic"/>
                        </a:rPr>
                        <a:t>추체 분포(상지 신전근·하지 굴근 약화)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분절·신경 분포</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긴장도</a:t>
                      </a:r>
                    </a:p>
                  </a:txBody>
                  <a:tcPr marL="73152" marR="73152">
                    <a:solidFill>
                      <a:srgbClr val="ECF1F5"/>
                    </a:solidFill>
                  </a:tcPr>
                </a:tc>
                <a:tc>
                  <a:txBody>
                    <a:bodyPr/>
                    <a:lstStyle/>
                    <a:p>
                      <a:r>
                        <a:rPr sz="1500" b="1" i="0">
                          <a:solidFill>
                            <a:srgbClr val="11202B"/>
                          </a:solidFill>
                          <a:latin typeface="Malgun Gothic"/>
                          <a:ea typeface="Malgun Gothic"/>
                          <a:cs typeface="Malgun Gothic"/>
                        </a:rPr>
                        <a:t>경직</a:t>
                      </a:r>
                      <a:r>
                        <a:rPr sz="1500" b="0" i="0">
                          <a:solidFill>
                            <a:srgbClr val="11202B"/>
                          </a:solidFill>
                          <a:latin typeface="Malgun Gothic"/>
                          <a:ea typeface="Malgun Gothic"/>
                          <a:cs typeface="Malgun Gothic"/>
                        </a:rPr>
                        <a:t>(속도 의존, 접칼 현상)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반사</a:t>
                      </a:r>
                    </a:p>
                  </a:txBody>
                  <a:tcPr marL="73152" marR="73152">
                    <a:solidFill>
                      <a:srgbClr val="FFFFFF"/>
                    </a:solidFill>
                  </a:tcPr>
                </a:tc>
                <a:tc>
                  <a:txBody>
                    <a:bodyPr/>
                    <a:lstStyle/>
                    <a:p>
                      <a:r>
                        <a:rPr sz="1500" b="0" i="0">
                          <a:solidFill>
                            <a:srgbClr val="11202B"/>
                          </a:solidFill>
                          <a:latin typeface="Malgun Gothic"/>
                          <a:ea typeface="Malgun Gothic"/>
                          <a:cs typeface="Malgun Gothic"/>
                        </a:rPr>
                        <a:t>항진, 간대</a:t>
                      </a:r>
                    </a:p>
                  </a:txBody>
                  <a:tcPr marL="73152" marR="73152">
                    <a:solidFill>
                      <a:srgbClr val="FFFFFF"/>
                    </a:solidFill>
                  </a:tcPr>
                </a:tc>
                <a:tc>
                  <a:txBody>
                    <a:bodyPr/>
                    <a:lstStyle/>
                    <a:p>
                      <a:r>
                        <a:rPr sz="1500" b="0" i="0">
                          <a:solidFill>
                            <a:srgbClr val="11202B"/>
                          </a:solidFill>
                          <a:latin typeface="Malgun Gothic"/>
                          <a:ea typeface="Malgun Gothic"/>
                          <a:cs typeface="Malgun Gothic"/>
                        </a:rPr>
                        <a:t>감소·소실</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바빈스키</a:t>
                      </a:r>
                    </a:p>
                  </a:txBody>
                  <a:tcPr marL="73152" marR="73152">
                    <a:solidFill>
                      <a:srgbClr val="ECF1F5"/>
                    </a:solidFill>
                  </a:tcPr>
                </a:tc>
                <a:tc>
                  <a:txBody>
                    <a:bodyPr/>
                    <a:lstStyle/>
                    <a:p>
                      <a:r>
                        <a:rPr sz="1500" b="1" i="0">
                          <a:solidFill>
                            <a:srgbClr val="11202B"/>
                          </a:solidFill>
                          <a:latin typeface="Malgun Gothic"/>
                          <a:ea typeface="Malgun Gothic"/>
                          <a:cs typeface="Malgun Gothic"/>
                        </a:rPr>
                        <a:t>양성</a:t>
                      </a:r>
                      <a:r>
                        <a:rPr sz="1500" b="0" i="0">
                          <a:solidFill>
                            <a:srgbClr val="11202B"/>
                          </a:solidFill>
                          <a:latin typeface="Malgun Gothic"/>
                          <a:ea typeface="Malgun Gothic"/>
                          <a:cs typeface="Malgun Gothic"/>
                        </a:rPr>
                        <a:t>(신전 족저 반응)</a:t>
                      </a:r>
                    </a:p>
                  </a:txBody>
                  <a:tcPr marL="73152" marR="73152">
                    <a:solidFill>
                      <a:srgbClr val="ECF1F5"/>
                    </a:solidFill>
                  </a:tcPr>
                </a:tc>
                <a:tc>
                  <a:txBody>
                    <a:bodyPr/>
                    <a:lstStyle/>
                    <a:p>
                      <a:r>
                        <a:rPr sz="1500" b="0" i="0">
                          <a:solidFill>
                            <a:srgbClr val="11202B"/>
                          </a:solidFill>
                          <a:latin typeface="Malgun Gothic"/>
                          <a:ea typeface="Malgun Gothic"/>
                          <a:cs typeface="Malgun Gothic"/>
                        </a:rPr>
                        <a:t>음성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위축</a:t>
                      </a:r>
                    </a:p>
                  </a:txBody>
                  <a:tcPr marL="73152" marR="73152">
                    <a:solidFill>
                      <a:srgbClr val="FFFFFF"/>
                    </a:solidFill>
                  </a:tcPr>
                </a:tc>
                <a:tc>
                  <a:txBody>
                    <a:bodyPr/>
                    <a:lstStyle/>
                    <a:p>
                      <a:r>
                        <a:rPr sz="1500" b="0" i="0">
                          <a:solidFill>
                            <a:srgbClr val="11202B"/>
                          </a:solidFill>
                          <a:latin typeface="Malgun Gothic"/>
                          <a:ea typeface="Malgun Gothic"/>
                          <a:cs typeface="Malgun Gothic"/>
                        </a:rPr>
                        <a:t>늦게·경미(폐용)</a:t>
                      </a:r>
                    </a:p>
                  </a:txBody>
                  <a:tcPr marL="73152" marR="73152">
                    <a:solidFill>
                      <a:srgbClr val="FFFFFF"/>
                    </a:solidFill>
                  </a:tcPr>
                </a:tc>
                <a:tc>
                  <a:txBody>
                    <a:bodyPr/>
                    <a:lstStyle/>
                    <a:p>
                      <a:r>
                        <a:rPr sz="1500" b="1" i="0">
                          <a:solidFill>
                            <a:srgbClr val="11202B"/>
                          </a:solidFill>
                          <a:latin typeface="Malgun Gothic"/>
                          <a:ea typeface="Malgun Gothic"/>
                          <a:cs typeface="Malgun Gothic"/>
                        </a:rPr>
                        <a:t>뚜렷</a:t>
                      </a:r>
                      <a:r>
                        <a:rPr sz="1500" b="0" i="0">
                          <a:solidFill>
                            <a:srgbClr val="11202B"/>
                          </a:solidFill>
                          <a:latin typeface="Malgun Gothic"/>
                          <a:ea typeface="Malgun Gothic"/>
                          <a:cs typeface="Malgun Gothic"/>
                        </a:rPr>
                        <a:t>, 조기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근육다발수축</a:t>
                      </a:r>
                    </a:p>
                  </a:txBody>
                  <a:tcPr marL="73152" marR="73152">
                    <a:solidFill>
                      <a:srgbClr val="ECF1F5"/>
                    </a:solidFill>
                  </a:tcPr>
                </a:tc>
                <a:tc>
                  <a:txBody>
                    <a:bodyPr/>
                    <a:lstStyle/>
                    <a:p>
                      <a:r>
                        <a:rPr sz="1500" b="0" i="0">
                          <a:solidFill>
                            <a:srgbClr val="11202B"/>
                          </a:solidFill>
                          <a:latin typeface="Malgun Gothic"/>
                          <a:ea typeface="Malgun Gothic"/>
                          <a:cs typeface="Malgun Gothic"/>
                        </a:rPr>
                        <a:t>없음</a:t>
                      </a:r>
                    </a:p>
                  </a:txBody>
                  <a:tcPr marL="73152" marR="73152">
                    <a:solidFill>
                      <a:srgbClr val="ECF1F5"/>
                    </a:solidFill>
                  </a:tcPr>
                </a:tc>
                <a:tc>
                  <a:txBody>
                    <a:bodyPr/>
                    <a:lstStyle/>
                    <a:p>
                      <a:r>
                        <a:rPr sz="1500" b="1" i="0">
                          <a:solidFill>
                            <a:srgbClr val="11202B"/>
                          </a:solidFill>
                          <a:latin typeface="Malgun Gothic"/>
                          <a:ea typeface="Malgun Gothic"/>
                          <a:cs typeface="Malgun Gothic"/>
                        </a:rPr>
                        <a:t>있음</a:t>
                      </a:r>
                      <a:r>
                        <a:rPr sz="1500" b="0" i="0">
                          <a:solidFill>
                            <a:srgbClr val="11202B"/>
                          </a:solidFill>
                          <a:latin typeface="Malgun Gothic"/>
                          <a:ea typeface="Malgun Gothic"/>
                          <a:cs typeface="Malgun Gothic"/>
                        </a:rPr>
                        <a:t>(EMG 섬유자발수축)</a:t>
                      </a:r>
                    </a:p>
                  </a:txBody>
                  <a:tcPr marL="73152" marR="73152">
                    <a:solidFill>
                      <a:srgbClr val="ECF1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피질척수로와 운동 피질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일차 운동피질(M1, 중심전회 4번 영역)</a:t>
            </a:r>
            <a:r>
              <a:rPr sz="2000" b="0" i="0">
                <a:solidFill>
                  <a:srgbClr val="11202B"/>
                </a:solidFill>
                <a:latin typeface="Malgun Gothic"/>
                <a:ea typeface="Malgun Gothic"/>
                <a:cs typeface="Malgun Gothic"/>
              </a:rPr>
              <a:t>: 베츠 세포(5층) 포함; 체성 소인(운동 호문쿨루스 — 손·얼굴 확대); 자극 시 단순 움직임.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보조운동영역(SMA — 연속 동작·내적 생성 운동, 자극 시 복잡 동작), 전운동영역(PMA — 감각 유도 운동), 전두안구영역.</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피질척수로</a:t>
            </a:r>
            <a:r>
              <a:rPr sz="2000" b="0" i="0">
                <a:solidFill>
                  <a:srgbClr val="11202B"/>
                </a:solidFill>
                <a:latin typeface="Malgun Gothic"/>
                <a:ea typeface="Malgun Gothic"/>
                <a:cs typeface="Malgun Gothic"/>
              </a:rPr>
              <a:t>: M1·전운동·SMA·두정엽(약 40%는 M1 외) → 방사관 → </a:t>
            </a:r>
            <a:r>
              <a:rPr sz="2000" b="1" i="0">
                <a:solidFill>
                  <a:srgbClr val="11202B"/>
                </a:solidFill>
                <a:latin typeface="Malgun Gothic"/>
                <a:ea typeface="Malgun Gothic"/>
                <a:cs typeface="Malgun Gothic"/>
              </a:rPr>
              <a:t>내포 후각</a:t>
            </a:r>
            <a:r>
              <a:rPr sz="2000" b="0" i="0">
                <a:solidFill>
                  <a:srgbClr val="11202B"/>
                </a:solidFill>
                <a:latin typeface="Malgun Gothic"/>
                <a:ea typeface="Malgun Gothic"/>
                <a:cs typeface="Malgun Gothic"/>
              </a:rPr>
              <a:t> → 중뇌 대뇌각 → 교뇌 기저부 → 연수 추체 → </a:t>
            </a:r>
            <a:r>
              <a:rPr sz="2000" b="1" i="0">
                <a:solidFill>
                  <a:srgbClr val="11202B"/>
                </a:solidFill>
                <a:latin typeface="Malgun Gothic"/>
                <a:ea typeface="Malgun Gothic"/>
                <a:cs typeface="Malgun Gothic"/>
              </a:rPr>
              <a:t>추체 교차(약 85–90%)</a:t>
            </a:r>
            <a:r>
              <a:rPr sz="2000" b="0" i="0">
                <a:solidFill>
                  <a:srgbClr val="11202B"/>
                </a:solidFill>
                <a:latin typeface="Malgun Gothic"/>
                <a:ea typeface="Malgun Gothic"/>
                <a:cs typeface="Malgun Gothic"/>
              </a:rPr>
              <a:t> → 외측 피질척수로(원위 사지 — 손가락 독립 운동) / 비교차 10–15% → 전 피질척수로(체간·근위부, 양측 지배 → 체간은 일측 병변에 보존).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피질척수로와 운동 피질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피질연수로</a:t>
            </a:r>
            <a:r>
              <a:rPr sz="1800" b="0" i="0">
                <a:solidFill>
                  <a:srgbClr val="11202B"/>
                </a:solidFill>
                <a:latin typeface="Malgun Gothic"/>
                <a:ea typeface="Malgun Gothic"/>
                <a:cs typeface="Malgun Gothic"/>
              </a:rPr>
              <a:t>: 뇌신경 운동핵 — 대부분 양측 지배(그래서 일측 병변에 보존)이나 </a:t>
            </a:r>
            <a:r>
              <a:rPr sz="1800" b="1" i="0">
                <a:solidFill>
                  <a:srgbClr val="11202B"/>
                </a:solidFill>
                <a:latin typeface="Malgun Gothic"/>
                <a:ea typeface="Malgun Gothic"/>
                <a:cs typeface="Malgun Gothic"/>
              </a:rPr>
              <a:t>하부 안면(반대측 단독 지배)</a:t>
            </a:r>
            <a:r>
              <a:rPr sz="1800" b="0" i="0">
                <a:solidFill>
                  <a:srgbClr val="11202B"/>
                </a:solidFill>
                <a:latin typeface="Malgun Gothic"/>
                <a:ea typeface="Malgun Gothic"/>
                <a:cs typeface="Malgun Gothic"/>
              </a:rPr>
              <a:t>과 </a:t>
            </a:r>
            <a:r>
              <a:rPr sz="1800" b="1" i="0">
                <a:solidFill>
                  <a:srgbClr val="11202B"/>
                </a:solidFill>
                <a:latin typeface="Malgun Gothic"/>
                <a:ea typeface="Malgun Gothic"/>
                <a:cs typeface="Malgun Gothic"/>
              </a:rPr>
              <a:t>설하신경</a:t>
            </a:r>
            <a:r>
              <a:rPr sz="1800" b="0" i="0">
                <a:solidFill>
                  <a:srgbClr val="11202B"/>
                </a:solidFill>
                <a:latin typeface="Malgun Gothic"/>
                <a:ea typeface="Malgun Gothic"/>
                <a:cs typeface="Malgun Gothic"/>
              </a:rPr>
              <a:t>은 예외 → 중추성 안면마비는 이마 보존, 말초성(벨 마비)은 이마 포함.</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병변 수준별 특징: 피질(국소·손 우세, 피질 징후 동반), 내포(얼굴·팔·다리 균등한 순수 운동 반신마비 — 열공), 뇌간(</a:t>
            </a:r>
            <a:r>
              <a:rPr sz="1800" b="1" i="0">
                <a:solidFill>
                  <a:srgbClr val="11202B"/>
                </a:solidFill>
                <a:latin typeface="Malgun Gothic"/>
                <a:ea typeface="Malgun Gothic"/>
                <a:cs typeface="Malgun Gothic"/>
              </a:rPr>
              <a:t>교차 증후군</a:t>
            </a:r>
            <a:r>
              <a:rPr sz="1800" b="0" i="0">
                <a:solidFill>
                  <a:srgbClr val="11202B"/>
                </a:solidFill>
                <a:latin typeface="Malgun Gothic"/>
                <a:ea typeface="Malgun Gothic"/>
                <a:cs typeface="Malgun Gothic"/>
              </a:rPr>
              <a:t> — 동측 뇌신경 + 반대측 반신마비), 척수(수준 이하, 감각 수준·방광).</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기타 하행로: 적핵척수로(굴근 촉진 — 제피질 경직), 전정척수로(신전근 — 제뇌 경직), 망상척수로(자세·보행 개시), 시개척수로.</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제피질 경직</a:t>
            </a:r>
            <a:r>
              <a:rPr sz="1600" b="0" i="0">
                <a:solidFill>
                  <a:srgbClr val="2E3F4C"/>
                </a:solidFill>
                <a:latin typeface="Malgun Gothic"/>
                <a:ea typeface="Malgun Gothic"/>
                <a:cs typeface="Malgun Gothic"/>
              </a:rPr>
              <a:t>(상지 굴곡·하지 신전) = 적핵 위 병변; </a:t>
            </a:r>
            <a:r>
              <a:rPr sz="1600" b="1" i="0">
                <a:solidFill>
                  <a:srgbClr val="2E3F4C"/>
                </a:solidFill>
                <a:latin typeface="Malgun Gothic"/>
                <a:ea typeface="Malgun Gothic"/>
                <a:cs typeface="Malgun Gothic"/>
              </a:rPr>
              <a:t>제뇌 경직</a:t>
            </a:r>
            <a:r>
              <a:rPr sz="1600" b="0" i="0">
                <a:solidFill>
                  <a:srgbClr val="2E3F4C"/>
                </a:solidFill>
                <a:latin typeface="Malgun Gothic"/>
                <a:ea typeface="Malgun Gothic"/>
                <a:cs typeface="Malgun Gothic"/>
              </a:rPr>
              <a:t>(사지 모두 신전) = 적핵 아래 뇌간 병변 → 더 나쁜 예후.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기저핵</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구성: 선조체(미상핵 + 피각), 담창구(내·외절), 시상하핵(STN), 흑질(치밀부 SNc — 도파민, 망상부 SNr — 출력).</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회로</a:t>
            </a:r>
            <a:r>
              <a:rPr sz="2000" b="0" i="0">
                <a:solidFill>
                  <a:srgbClr val="11202B"/>
                </a:solidFill>
                <a:latin typeface="Malgun Gothic"/>
                <a:ea typeface="Malgun Gothic"/>
                <a:cs typeface="Malgun Gothic"/>
              </a:rPr>
              <a:t>: 피질 → 선조체 → (경로) → 담창구 내절/SNr(</a:t>
            </a:r>
            <a:r>
              <a:rPr sz="2000" b="1" i="0">
                <a:solidFill>
                  <a:srgbClr val="11202B"/>
                </a:solidFill>
                <a:latin typeface="Malgun Gothic"/>
                <a:ea typeface="Malgun Gothic"/>
                <a:cs typeface="Malgun Gothic"/>
              </a:rPr>
              <a:t>억제성 출력</a:t>
            </a:r>
            <a:r>
              <a:rPr sz="2000" b="0" i="0">
                <a:solidFill>
                  <a:srgbClr val="11202B"/>
                </a:solidFill>
                <a:latin typeface="Malgun Gothic"/>
                <a:ea typeface="Malgun Gothic"/>
                <a:cs typeface="Malgun Gothic"/>
              </a:rPr>
              <a:t>) → 시상(VA/VL) → 피질 → 운동.</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도파민은 직접 경로를 켜고 간접 경로를 끄므로 </a:t>
            </a:r>
            <a:r>
              <a:rPr sz="2000" b="1" i="0">
                <a:solidFill>
                  <a:srgbClr val="11202B"/>
                </a:solidFill>
                <a:latin typeface="Malgun Gothic"/>
                <a:ea typeface="Malgun Gothic"/>
                <a:cs typeface="Malgun Gothic"/>
              </a:rPr>
              <a:t>순효과는 운동 촉진</a:t>
            </a:r>
            <a:r>
              <a:rPr sz="2000" b="0" i="0">
                <a:solidFill>
                  <a:srgbClr val="11202B"/>
                </a:solidFill>
                <a:latin typeface="Malgun Gothic"/>
                <a:ea typeface="Malgun Gothic"/>
                <a:cs typeface="Malgun Gothic"/>
              </a:rPr>
              <a:t>.</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기저핵은 운동 외에도 연합(인지·습관 학습 — 배외측 선조체)·변연(보상·동기 — 측좌핵) 병렬 회로를 가진다 → 강박, 중독, 무감동.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기저핵</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경로</a:t>
                      </a:r>
                    </a:p>
                  </a:txBody>
                  <a:tcPr marL="73152" marR="73152">
                    <a:solidFill>
                      <a:srgbClr val="003C71"/>
                    </a:solidFill>
                  </a:tcPr>
                </a:tc>
                <a:tc>
                  <a:txBody>
                    <a:bodyPr/>
                    <a:lstStyle/>
                    <a:p>
                      <a:r>
                        <a:rPr sz="1500" b="1" i="0">
                          <a:solidFill>
                            <a:srgbClr val="FFFFFF"/>
                          </a:solidFill>
                          <a:latin typeface="Malgun Gothic"/>
                          <a:ea typeface="Malgun Gothic"/>
                          <a:cs typeface="Malgun Gothic"/>
                        </a:rPr>
                        <a:t>연결</a:t>
                      </a:r>
                    </a:p>
                  </a:txBody>
                  <a:tcPr marL="73152" marR="73152">
                    <a:solidFill>
                      <a:srgbClr val="003C71"/>
                    </a:solidFill>
                  </a:tcPr>
                </a:tc>
                <a:tc>
                  <a:txBody>
                    <a:bodyPr/>
                    <a:lstStyle/>
                    <a:p>
                      <a:r>
                        <a:rPr sz="1500" b="1" i="0">
                          <a:solidFill>
                            <a:srgbClr val="FFFFFF"/>
                          </a:solidFill>
                          <a:latin typeface="Malgun Gothic"/>
                          <a:ea typeface="Malgun Gothic"/>
                          <a:cs typeface="Malgun Gothic"/>
                        </a:rPr>
                        <a:t>도파민 효과</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기능</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직접</a:t>
                      </a:r>
                    </a:p>
                  </a:txBody>
                  <a:tcPr marL="73152" marR="73152">
                    <a:solidFill>
                      <a:srgbClr val="FFFFFF"/>
                    </a:solidFill>
                  </a:tcPr>
                </a:tc>
                <a:tc>
                  <a:txBody>
                    <a:bodyPr/>
                    <a:lstStyle/>
                    <a:p>
                      <a:r>
                        <a:rPr sz="1500" b="0" i="0">
                          <a:solidFill>
                            <a:srgbClr val="11202B"/>
                          </a:solidFill>
                          <a:latin typeface="Malgun Gothic"/>
                          <a:ea typeface="Malgun Gothic"/>
                          <a:cs typeface="Malgun Gothic"/>
                        </a:rPr>
                        <a:t>선조체(D1, 물질 P) → GPi/SNr 억제 → 시상 탈억제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D1 </a:t>
                      </a:r>
                      <a:r>
                        <a:rPr sz="1500" b="1" i="0">
                          <a:solidFill>
                            <a:srgbClr val="11202B"/>
                          </a:solidFill>
                          <a:latin typeface="Malgun Gothic"/>
                          <a:ea typeface="Malgun Gothic"/>
                          <a:cs typeface="Malgun Gothic"/>
                        </a:rPr>
                        <a:t>촉진</a:t>
                      </a:r>
                    </a:p>
                  </a:txBody>
                  <a:tcPr marL="73152" marR="73152">
                    <a:solidFill>
                      <a:srgbClr val="FFFFFF"/>
                    </a:solidFill>
                  </a:tcPr>
                </a:tc>
                <a:tc>
                  <a:txBody>
                    <a:bodyPr/>
                    <a:lstStyle/>
                    <a:p>
                      <a:r>
                        <a:rPr sz="1500" b="0" i="0">
                          <a:solidFill>
                            <a:srgbClr val="11202B"/>
                          </a:solidFill>
                          <a:latin typeface="Malgun Gothic"/>
                          <a:ea typeface="Malgun Gothic"/>
                          <a:cs typeface="Malgun Gothic"/>
                        </a:rPr>
                        <a:t>원하는 운동 </a:t>
                      </a:r>
                      <a:r>
                        <a:rPr sz="1500" b="1" i="0">
                          <a:solidFill>
                            <a:srgbClr val="11202B"/>
                          </a:solidFill>
                          <a:latin typeface="Malgun Gothic"/>
                          <a:ea typeface="Malgun Gothic"/>
                          <a:cs typeface="Malgun Gothic"/>
                        </a:rPr>
                        <a:t>촉진</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간접</a:t>
                      </a:r>
                    </a:p>
                  </a:txBody>
                  <a:tcPr marL="73152" marR="73152">
                    <a:solidFill>
                      <a:srgbClr val="ECF1F5"/>
                    </a:solidFill>
                  </a:tcPr>
                </a:tc>
                <a:tc>
                  <a:txBody>
                    <a:bodyPr/>
                    <a:lstStyle/>
                    <a:p>
                      <a:r>
                        <a:rPr sz="1500" b="0" i="0">
                          <a:solidFill>
                            <a:srgbClr val="11202B"/>
                          </a:solidFill>
                          <a:latin typeface="Malgun Gothic"/>
                          <a:ea typeface="Malgun Gothic"/>
                          <a:cs typeface="Malgun Gothic"/>
                        </a:rPr>
                        <a:t>선조체(D2, 엔케팔린) → GPe → STN → GPi/SNr 활성 → 시상 억제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D2 </a:t>
                      </a:r>
                      <a:r>
                        <a:rPr sz="1500" b="1" i="0">
                          <a:solidFill>
                            <a:srgbClr val="11202B"/>
                          </a:solidFill>
                          <a:latin typeface="Malgun Gothic"/>
                          <a:ea typeface="Malgun Gothic"/>
                          <a:cs typeface="Malgun Gothic"/>
                        </a:rPr>
                        <a:t>억제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원치 않는 운동 </a:t>
                      </a:r>
                      <a:r>
                        <a:rPr sz="1500" b="1" i="0">
                          <a:solidFill>
                            <a:srgbClr val="11202B"/>
                          </a:solidFill>
                          <a:latin typeface="Malgun Gothic"/>
                          <a:ea typeface="Malgun Gothic"/>
                          <a:cs typeface="Malgun Gothic"/>
                        </a:rPr>
                        <a:t>억제</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초직접</a:t>
                      </a:r>
                    </a:p>
                  </a:txBody>
                  <a:tcPr marL="73152" marR="73152">
                    <a:solidFill>
                      <a:srgbClr val="FFFFFF"/>
                    </a:solidFill>
                  </a:tcPr>
                </a:tc>
                <a:tc>
                  <a:txBody>
                    <a:bodyPr/>
                    <a:lstStyle/>
                    <a:p>
                      <a:r>
                        <a:rPr sz="1500" b="0" i="0">
                          <a:solidFill>
                            <a:srgbClr val="11202B"/>
                          </a:solidFill>
                          <a:latin typeface="Malgun Gothic"/>
                          <a:ea typeface="Malgun Gothic"/>
                          <a:cs typeface="Malgun Gothic"/>
                        </a:rPr>
                        <a:t>피질 → STN → GPi/SNr</a:t>
                      </a:r>
                    </a:p>
                  </a:txBody>
                  <a:tcPr marL="73152" marR="73152">
                    <a:solidFill>
                      <a:srgbClr val="FFFFFF"/>
                    </a:solidFill>
                  </a:tcPr>
                </a:tc>
                <a:tc>
                  <a:txBody>
                    <a:bodyPr/>
                    <a:lstStyle/>
                    <a:p/>
                  </a:txBody>
                  <a:tcPr marL="73152" marR="73152">
                    <a:solidFill>
                      <a:srgbClr val="FFFFFF"/>
                    </a:solidFill>
                  </a:tcPr>
                </a:tc>
                <a:tc>
                  <a:txBody>
                    <a:bodyPr/>
                    <a:lstStyle/>
                    <a:p>
                      <a:r>
                        <a:rPr sz="1500" b="0" i="0">
                          <a:solidFill>
                            <a:srgbClr val="11202B"/>
                          </a:solidFill>
                          <a:latin typeface="Malgun Gothic"/>
                          <a:ea typeface="Malgun Gothic"/>
                          <a:cs typeface="Malgun Gothic"/>
                        </a:rPr>
                        <a:t>빠른 전반 정지(정지 신호)</a:t>
                      </a:r>
                    </a:p>
                  </a:txBody>
                  <a:tcPr marL="73152" marR="7315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기저핵</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10</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증상</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파킨슨병</a:t>
                      </a:r>
                    </a:p>
                  </a:txBody>
                  <a:tcPr marL="73152" marR="73152">
                    <a:solidFill>
                      <a:srgbClr val="FFFFFF"/>
                    </a:solidFill>
                  </a:tcPr>
                </a:tc>
                <a:tc>
                  <a:txBody>
                    <a:bodyPr/>
                    <a:lstStyle/>
                    <a:p>
                      <a:r>
                        <a:rPr sz="1500" b="0" i="0">
                          <a:solidFill>
                            <a:srgbClr val="11202B"/>
                          </a:solidFill>
                          <a:latin typeface="Malgun Gothic"/>
                          <a:ea typeface="Malgun Gothic"/>
                          <a:cs typeface="Malgun Gothic"/>
                        </a:rPr>
                        <a:t>SNc 도파민 소실 → 직접↓·간접↑ → GPi 과활성 → 시상 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서동·강직·안정 시 진전·자세 불안정 → 레보도파, </a:t>
                      </a:r>
                      <a:r>
                        <a:rPr sz="1500" b="1" i="0">
                          <a:solidFill>
                            <a:srgbClr val="11202B"/>
                          </a:solidFill>
                          <a:latin typeface="Malgun Gothic"/>
                          <a:ea typeface="Malgun Gothic"/>
                          <a:cs typeface="Malgun Gothic"/>
                        </a:rPr>
                        <a:t>STN/GPi 심부뇌자극(DBS)</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헌팅턴병</a:t>
                      </a:r>
                    </a:p>
                  </a:txBody>
                  <a:tcPr marL="73152" marR="73152">
                    <a:solidFill>
                      <a:srgbClr val="ECF1F5"/>
                    </a:solidFill>
                  </a:tcPr>
                </a:tc>
                <a:tc>
                  <a:txBody>
                    <a:bodyPr/>
                    <a:lstStyle/>
                    <a:p>
                      <a:r>
                        <a:rPr sz="1500" b="0" i="0">
                          <a:solidFill>
                            <a:srgbClr val="11202B"/>
                          </a:solidFill>
                          <a:latin typeface="Malgun Gothic"/>
                          <a:ea typeface="Malgun Gothic"/>
                          <a:cs typeface="Malgun Gothic"/>
                        </a:rPr>
                        <a:t>간접 경로 D2 MSN 먼저 소실 → 탈억제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무도증 (B05 L03)</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편측 무도증-반무도증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STN 병변(열공·비케톤성 고혈당)</a:t>
                      </a:r>
                    </a:p>
                  </a:txBody>
                  <a:tcPr marL="73152" marR="73152">
                    <a:solidFill>
                      <a:srgbClr val="FFFFFF"/>
                    </a:solidFill>
                  </a:tcPr>
                </a:tc>
                <a:tc>
                  <a:txBody>
                    <a:bodyPr/>
                    <a:lstStyle/>
                    <a:p>
                      <a:r>
                        <a:rPr sz="1500" b="0" i="0">
                          <a:solidFill>
                            <a:srgbClr val="11202B"/>
                          </a:solidFill>
                          <a:latin typeface="Malgun Gothic"/>
                          <a:ea typeface="Malgun Gothic"/>
                          <a:cs typeface="Malgun Gothic"/>
                        </a:rPr>
                        <a:t>거친 던지는 운동</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근긴장이상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감각운동 통합·가소성 이상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지속 수축·이상 자세 → 보툴리눔 독소, GPi DBS</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지연성 운동이상증</a:t>
                      </a:r>
                    </a:p>
                  </a:txBody>
                  <a:tcPr marL="73152" marR="73152">
                    <a:solidFill>
                      <a:srgbClr val="FFFFFF"/>
                    </a:solidFill>
                  </a:tcPr>
                </a:tc>
                <a:tc>
                  <a:txBody>
                    <a:bodyPr/>
                    <a:lstStyle/>
                    <a:p>
                      <a:r>
                        <a:rPr sz="1500" b="0" i="0">
                          <a:solidFill>
                            <a:srgbClr val="11202B"/>
                          </a:solidFill>
                          <a:latin typeface="Malgun Gothic"/>
                          <a:ea typeface="Malgun Gothic"/>
                          <a:cs typeface="Malgun Gothic"/>
                        </a:rPr>
                        <a:t>만성 D2 차단 → 과민</a:t>
                      </a:r>
                    </a:p>
                  </a:txBody>
                  <a:tcPr marL="73152" marR="73152">
                    <a:solidFill>
                      <a:srgbClr val="FFFFFF"/>
                    </a:solidFill>
                  </a:tcPr>
                </a:tc>
                <a:tc>
                  <a:txBody>
                    <a:bodyPr/>
                    <a:lstStyle/>
                    <a:p>
                      <a:r>
                        <a:rPr sz="1500" b="0" i="0">
                          <a:solidFill>
                            <a:srgbClr val="11202B"/>
                          </a:solidFill>
                          <a:latin typeface="Malgun Gothic"/>
                          <a:ea typeface="Malgun Gothic"/>
                          <a:cs typeface="Malgun Gothic"/>
                        </a:rPr>
                        <a:t>구강-안면 상동 운동 → VMAT2 억제제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윌슨병, 핵황달, 저산소 손상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기저핵 선택 손상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혼합 운동장애</a:t>
                      </a:r>
                    </a:p>
                  </a:txBody>
                  <a:tcPr marL="73152" marR="73152">
                    <a:solidFill>
                      <a:srgbClr val="ECF1F5"/>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소뇌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구획과 기능:</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회로: 이끼 섬유(뇌교핵·척수) → 과립세포 → 평행섬유 → </a:t>
            </a:r>
            <a:r>
              <a:rPr sz="1800" b="1" i="0">
                <a:solidFill>
                  <a:srgbClr val="11202B"/>
                </a:solidFill>
                <a:latin typeface="Malgun Gothic"/>
                <a:ea typeface="Malgun Gothic"/>
                <a:cs typeface="Malgun Gothic"/>
              </a:rPr>
              <a:t>퍼킨예 세포</a:t>
            </a:r>
            <a:r>
              <a:rPr sz="1800" b="0" i="0">
                <a:solidFill>
                  <a:srgbClr val="11202B"/>
                </a:solidFill>
                <a:latin typeface="Malgun Gothic"/>
                <a:ea typeface="Malgun Gothic"/>
                <a:cs typeface="Malgun Gothic"/>
              </a:rPr>
              <a:t>(유일한 출력, </a:t>
            </a:r>
            <a:r>
              <a:rPr sz="1800" b="1" i="0">
                <a:solidFill>
                  <a:srgbClr val="11202B"/>
                </a:solidFill>
                <a:latin typeface="Malgun Gothic"/>
                <a:ea typeface="Malgun Gothic"/>
                <a:cs typeface="Malgun Gothic"/>
              </a:rPr>
              <a:t>억제성 GABA</a:t>
            </a:r>
            <a:r>
              <a:rPr sz="1800" b="0" i="0">
                <a:solidFill>
                  <a:srgbClr val="11202B"/>
                </a:solidFill>
                <a:latin typeface="Malgun Gothic"/>
                <a:ea typeface="Malgun Gothic"/>
                <a:cs typeface="Malgun Gothic"/>
              </a:rPr>
              <a:t>) → 심부 소뇌핵(치상·중간위·실정) → 시상·적핵; </a:t>
            </a:r>
            <a:r>
              <a:rPr sz="1800" b="1" i="0">
                <a:solidFill>
                  <a:srgbClr val="11202B"/>
                </a:solidFill>
                <a:latin typeface="Malgun Gothic"/>
                <a:ea typeface="Malgun Gothic"/>
                <a:cs typeface="Malgun Gothic"/>
              </a:rPr>
              <a:t>등정 섬유</a:t>
            </a:r>
            <a:r>
              <a:rPr sz="1800" b="0" i="0">
                <a:solidFill>
                  <a:srgbClr val="11202B"/>
                </a:solidFill>
                <a:latin typeface="Malgun Gothic"/>
                <a:ea typeface="Malgun Gothic"/>
                <a:cs typeface="Malgun Gothic"/>
              </a:rPr>
              <a:t>(하올리브) → 퍼킨예 복합 스파이크 → </a:t>
            </a:r>
            <a:r>
              <a:rPr sz="1800" b="1" i="0">
                <a:solidFill>
                  <a:srgbClr val="11202B"/>
                </a:solidFill>
                <a:latin typeface="Malgun Gothic"/>
                <a:ea typeface="Malgun Gothic"/>
                <a:cs typeface="Malgun Gothic"/>
              </a:rPr>
              <a:t>오차 신호</a:t>
            </a:r>
            <a:r>
              <a:rPr sz="1800" b="0" i="0">
                <a:solidFill>
                  <a:srgbClr val="11202B"/>
                </a:solidFill>
                <a:latin typeface="Malgun Gothic"/>
                <a:ea typeface="Malgun Gothic"/>
                <a:cs typeface="Malgun Gothic"/>
              </a:rPr>
              <a:t> → 평행섬유 시냅스 LTD → 운동 학습.</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동측성</a:t>
            </a:r>
            <a:r>
              <a:rPr sz="1800" b="0" i="0">
                <a:solidFill>
                  <a:srgbClr val="11202B"/>
                </a:solidFill>
                <a:latin typeface="Malgun Gothic"/>
                <a:ea typeface="Malgun Gothic"/>
                <a:cs typeface="Malgun Gothic"/>
              </a:rPr>
              <a:t>: 소뇌 출력이 교차(상소뇌각) → 시상 → 피질 → 다시 교차(피질척수로) → 이중 교차 → </a:t>
            </a:r>
            <a:r>
              <a:rPr sz="1800" b="1" i="0">
                <a:solidFill>
                  <a:srgbClr val="11202B"/>
                </a:solidFill>
                <a:latin typeface="Malgun Gothic"/>
                <a:ea typeface="Malgun Gothic"/>
                <a:cs typeface="Malgun Gothic"/>
              </a:rPr>
              <a:t>병변과 같은 쪽</a:t>
            </a:r>
            <a:r>
              <a:rPr sz="1800" b="0" i="0">
                <a:solidFill>
                  <a:srgbClr val="11202B"/>
                </a:solidFill>
                <a:latin typeface="Malgun Gothic"/>
                <a:ea typeface="Malgun Gothic"/>
                <a:cs typeface="Malgun Gothic"/>
              </a:rPr>
              <a:t> 증상.</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임상 징후: 운동실조, 안진, 구음장애(스캐닝), 저긴장, 측정이상·과도조정, 반동 현상, 길항운동반복불능, 의도 진전, </a:t>
            </a:r>
            <a:r>
              <a:rPr sz="1800" b="1" i="0">
                <a:solidFill>
                  <a:srgbClr val="11202B"/>
                </a:solidFill>
                <a:latin typeface="Malgun Gothic"/>
                <a:ea typeface="Malgun Gothic"/>
                <a:cs typeface="Malgun Gothic"/>
              </a:rPr>
              <a:t>로멜버그 음성</a:t>
            </a:r>
            <a:r>
              <a:rPr sz="1800" b="0" i="0">
                <a:solidFill>
                  <a:srgbClr val="11202B"/>
                </a:solidFill>
                <a:latin typeface="Malgun Gothic"/>
                <a:ea typeface="Malgun Gothic"/>
                <a:cs typeface="Malgun Gothic"/>
              </a:rPr>
              <a:t>(감각성 실조와 감별 — 소뇌 실조는 눈 감아도 크게 악화되지 않음).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소뇌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원인: 뇌졸중(상소뇌동맥·후하소뇌동맥), 알코올, 종양(수모세포종·전이), 유전성(SCA·FRDA — B06 L02), 다발성 경화증, 부신생물(항-Yo, 항-Hu), 저산소, 약물(페니토인), 비타민 E·B1 결핍, 갑상선기능저하, 셀리악.</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소뇌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구획</a:t>
                      </a:r>
                    </a:p>
                  </a:txBody>
                  <a:tcPr marL="73152" marR="73152">
                    <a:solidFill>
                      <a:srgbClr val="003C71"/>
                    </a:solidFill>
                  </a:tcPr>
                </a:tc>
                <a:tc>
                  <a:txBody>
                    <a:bodyPr/>
                    <a:lstStyle/>
                    <a:p>
                      <a:r>
                        <a:rPr sz="1500" b="1" i="0">
                          <a:solidFill>
                            <a:srgbClr val="FFFFFF"/>
                          </a:solidFill>
                          <a:latin typeface="Malgun Gothic"/>
                          <a:ea typeface="Malgun Gothic"/>
                          <a:cs typeface="Malgun Gothic"/>
                        </a:rPr>
                        <a:t>입력·출력</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기능</a:t>
                      </a:r>
                    </a:p>
                  </a:txBody>
                  <a:tcPr marL="73152" marR="73152">
                    <a:solidFill>
                      <a:srgbClr val="003C71"/>
                    </a:solidFill>
                  </a:tcPr>
                </a:tc>
                <a:tc>
                  <a:txBody>
                    <a:bodyPr/>
                    <a:lstStyle/>
                    <a:p>
                      <a:r>
                        <a:rPr sz="1500" b="1" i="0">
                          <a:solidFill>
                            <a:srgbClr val="FFFFFF"/>
                          </a:solidFill>
                          <a:latin typeface="Malgun Gothic"/>
                          <a:ea typeface="Malgun Gothic"/>
                          <a:cs typeface="Malgun Gothic"/>
                        </a:rPr>
                        <a:t>병변</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전정소뇌</a:t>
                      </a:r>
                      <a:r>
                        <a:rPr sz="1500" b="0" i="0">
                          <a:solidFill>
                            <a:srgbClr val="11202B"/>
                          </a:solidFill>
                          <a:latin typeface="Malgun Gothic"/>
                          <a:ea typeface="Malgun Gothic"/>
                          <a:cs typeface="Malgun Gothic"/>
                        </a:rPr>
                        <a:t>(타래결절엽)</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전정</a:t>
                      </a:r>
                    </a:p>
                  </a:txBody>
                  <a:tcPr marL="73152" marR="73152">
                    <a:solidFill>
                      <a:srgbClr val="FFFFFF"/>
                    </a:solidFill>
                  </a:tcPr>
                </a:tc>
                <a:tc>
                  <a:txBody>
                    <a:bodyPr/>
                    <a:lstStyle/>
                    <a:p>
                      <a:r>
                        <a:rPr sz="1500" b="0" i="0">
                          <a:solidFill>
                            <a:srgbClr val="11202B"/>
                          </a:solidFill>
                          <a:latin typeface="Malgun Gothic"/>
                          <a:ea typeface="Malgun Gothic"/>
                          <a:cs typeface="Malgun Gothic"/>
                        </a:rPr>
                        <a:t>균형·안구운동</a:t>
                      </a:r>
                    </a:p>
                  </a:txBody>
                  <a:tcPr marL="73152" marR="73152">
                    <a:solidFill>
                      <a:srgbClr val="FFFFFF"/>
                    </a:solidFill>
                  </a:tcPr>
                </a:tc>
                <a:tc>
                  <a:txBody>
                    <a:bodyPr/>
                    <a:lstStyle/>
                    <a:p>
                      <a:r>
                        <a:rPr sz="1500" b="0" i="0">
                          <a:solidFill>
                            <a:srgbClr val="11202B"/>
                          </a:solidFill>
                          <a:latin typeface="Malgun Gothic"/>
                          <a:ea typeface="Malgun Gothic"/>
                          <a:cs typeface="Malgun Gothic"/>
                        </a:rPr>
                        <a:t>체간 실조, 안진, 주시 장애</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척수소뇌</a:t>
                      </a:r>
                      <a:r>
                        <a:rPr sz="1500" b="0" i="0">
                          <a:solidFill>
                            <a:srgbClr val="11202B"/>
                          </a:solidFill>
                          <a:latin typeface="Malgun Gothic"/>
                          <a:ea typeface="Malgun Gothic"/>
                          <a:cs typeface="Malgun Gothic"/>
                        </a:rPr>
                        <a:t>(벌레엽·중간부)</a:t>
                      </a:r>
                    </a:p>
                  </a:txBody>
                  <a:tcPr marL="73152" marR="73152">
                    <a:solidFill>
                      <a:srgbClr val="ECF1F5"/>
                    </a:solidFill>
                  </a:tcPr>
                </a:tc>
                <a:tc>
                  <a:txBody>
                    <a:bodyPr/>
                    <a:lstStyle/>
                    <a:p>
                      <a:r>
                        <a:rPr sz="1500" b="0" i="0">
                          <a:solidFill>
                            <a:srgbClr val="11202B"/>
                          </a:solidFill>
                          <a:latin typeface="Malgun Gothic"/>
                          <a:ea typeface="Malgun Gothic"/>
                          <a:cs typeface="Malgun Gothic"/>
                        </a:rPr>
                        <a:t>척수(고유감각)</a:t>
                      </a:r>
                    </a:p>
                  </a:txBody>
                  <a:tcPr marL="73152" marR="73152">
                    <a:solidFill>
                      <a:srgbClr val="ECF1F5"/>
                    </a:solidFill>
                  </a:tcPr>
                </a:tc>
                <a:tc>
                  <a:txBody>
                    <a:bodyPr/>
                    <a:lstStyle/>
                    <a:p>
                      <a:r>
                        <a:rPr sz="1500" b="0" i="0">
                          <a:solidFill>
                            <a:srgbClr val="11202B"/>
                          </a:solidFill>
                          <a:latin typeface="Malgun Gothic"/>
                          <a:ea typeface="Malgun Gothic"/>
                          <a:cs typeface="Malgun Gothic"/>
                        </a:rPr>
                        <a:t>보행·체간·근긴장</a:t>
                      </a:r>
                    </a:p>
                  </a:txBody>
                  <a:tcPr marL="73152" marR="73152">
                    <a:solidFill>
                      <a:srgbClr val="ECF1F5"/>
                    </a:solidFill>
                  </a:tcPr>
                </a:tc>
                <a:tc>
                  <a:txBody>
                    <a:bodyPr/>
                    <a:lstStyle/>
                    <a:p>
                      <a:r>
                        <a:rPr sz="1500" b="1" i="0">
                          <a:solidFill>
                            <a:srgbClr val="11202B"/>
                          </a:solidFill>
                          <a:latin typeface="Malgun Gothic"/>
                          <a:ea typeface="Malgun Gothic"/>
                          <a:cs typeface="Malgun Gothic"/>
                        </a:rPr>
                        <a:t>보행 실조</a:t>
                      </a:r>
                      <a:r>
                        <a:rPr sz="1500" b="0" i="0">
                          <a:solidFill>
                            <a:srgbClr val="11202B"/>
                          </a:solidFill>
                          <a:latin typeface="Malgun Gothic"/>
                          <a:ea typeface="Malgun Gothic"/>
                          <a:cs typeface="Malgun Gothic"/>
                        </a:rPr>
                        <a:t>(알코올성 — 전엽 벌레엽)</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대뇌소뇌</a:t>
                      </a:r>
                      <a:r>
                        <a:rPr sz="1500" b="0" i="0">
                          <a:solidFill>
                            <a:srgbClr val="11202B"/>
                          </a:solidFill>
                          <a:latin typeface="Malgun Gothic"/>
                          <a:ea typeface="Malgun Gothic"/>
                          <a:cs typeface="Malgun Gothic"/>
                        </a:rPr>
                        <a:t>(외측 반구)</a:t>
                      </a:r>
                    </a:p>
                  </a:txBody>
                  <a:tcPr marL="73152" marR="73152">
                    <a:solidFill>
                      <a:srgbClr val="FFFFFF"/>
                    </a:solidFill>
                  </a:tcPr>
                </a:tc>
                <a:tc>
                  <a:txBody>
                    <a:bodyPr/>
                    <a:lstStyle/>
                    <a:p>
                      <a:r>
                        <a:rPr sz="1500" b="0" i="0">
                          <a:solidFill>
                            <a:srgbClr val="11202B"/>
                          </a:solidFill>
                          <a:latin typeface="Malgun Gothic"/>
                          <a:ea typeface="Malgun Gothic"/>
                          <a:cs typeface="Malgun Gothic"/>
                        </a:rPr>
                        <a:t>피질 → 뇌교핵</a:t>
                      </a:r>
                    </a:p>
                  </a:txBody>
                  <a:tcPr marL="73152" marR="73152">
                    <a:solidFill>
                      <a:srgbClr val="FFFFFF"/>
                    </a:solidFill>
                  </a:tcPr>
                </a:tc>
                <a:tc>
                  <a:txBody>
                    <a:bodyPr/>
                    <a:lstStyle/>
                    <a:p>
                      <a:r>
                        <a:rPr sz="1500" b="0" i="0">
                          <a:solidFill>
                            <a:srgbClr val="11202B"/>
                          </a:solidFill>
                          <a:latin typeface="Malgun Gothic"/>
                          <a:ea typeface="Malgun Gothic"/>
                          <a:cs typeface="Malgun Gothic"/>
                        </a:rPr>
                        <a:t>사지 숙련 운동 계획·타이밍</a:t>
                      </a:r>
                    </a:p>
                  </a:txBody>
                  <a:tcPr marL="73152" marR="73152">
                    <a:solidFill>
                      <a:srgbClr val="FFFFFF"/>
                    </a:solidFill>
                  </a:tcPr>
                </a:tc>
                <a:tc>
                  <a:txBody>
                    <a:bodyPr/>
                    <a:lstStyle/>
                    <a:p>
                      <a:r>
                        <a:rPr sz="1500" b="0" i="0">
                          <a:solidFill>
                            <a:srgbClr val="11202B"/>
                          </a:solidFill>
                          <a:latin typeface="Malgun Gothic"/>
                          <a:ea typeface="Malgun Gothic"/>
                          <a:cs typeface="Malgun Gothic"/>
                        </a:rPr>
                        <a:t>사지 실조, 측정이상, 의도 진전, 길항운동반복불능</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인지·정서 소뇌(후엽)</a:t>
                      </a:r>
                    </a:p>
                  </a:txBody>
                  <a:tcPr marL="73152" marR="73152">
                    <a:solidFill>
                      <a:srgbClr val="ECF1F5"/>
                    </a:solidFill>
                  </a:tcPr>
                </a:tc>
                <a:tc>
                  <a:txBody>
                    <a:bodyPr/>
                    <a:lstStyle/>
                    <a:p>
                      <a:r>
                        <a:rPr sz="1500" b="0" i="0">
                          <a:solidFill>
                            <a:srgbClr val="11202B"/>
                          </a:solidFill>
                          <a:latin typeface="Malgun Gothic"/>
                          <a:ea typeface="Malgun Gothic"/>
                          <a:cs typeface="Malgun Gothic"/>
                        </a:rPr>
                        <a:t>전전두·변연</a:t>
                      </a:r>
                    </a:p>
                  </a:txBody>
                  <a:tcPr marL="73152" marR="73152">
                    <a:solidFill>
                      <a:srgbClr val="ECF1F5"/>
                    </a:solidFill>
                  </a:tcPr>
                </a:tc>
                <a:tc>
                  <a:txBody>
                    <a:bodyPr/>
                    <a:lstStyle/>
                    <a:p>
                      <a:r>
                        <a:rPr sz="1500" b="0" i="0">
                          <a:solidFill>
                            <a:srgbClr val="11202B"/>
                          </a:solidFill>
                          <a:latin typeface="Malgun Gothic"/>
                          <a:ea typeface="Malgun Gothic"/>
                          <a:cs typeface="Malgun Gothic"/>
                        </a:rPr>
                        <a:t>집행·정서</a:t>
                      </a:r>
                    </a:p>
                  </a:txBody>
                  <a:tcPr marL="73152" marR="73152">
                    <a:solidFill>
                      <a:srgbClr val="ECF1F5"/>
                    </a:solidFill>
                  </a:tcPr>
                </a:tc>
                <a:tc>
                  <a:txBody>
                    <a:bodyPr/>
                    <a:lstStyle/>
                    <a:p>
                      <a:r>
                        <a:rPr sz="1500" b="0" i="0">
                          <a:solidFill>
                            <a:srgbClr val="11202B"/>
                          </a:solidFill>
                          <a:latin typeface="Malgun Gothic"/>
                          <a:ea typeface="Malgun Gothic"/>
                          <a:cs typeface="Malgun Gothic"/>
                        </a:rPr>
                        <a:t>소뇌 인지정서 증후군</a:t>
                      </a:r>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보행과 자세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척수의 </a:t>
            </a:r>
            <a:r>
              <a:rPr sz="1800" b="1" i="0">
                <a:solidFill>
                  <a:srgbClr val="11202B"/>
                </a:solidFill>
                <a:latin typeface="Malgun Gothic"/>
                <a:ea typeface="Malgun Gothic"/>
                <a:cs typeface="Malgun Gothic"/>
              </a:rPr>
              <a:t>중추 패턴 발생기(CPG)</a:t>
            </a:r>
            <a:r>
              <a:rPr sz="1800" b="0" i="0">
                <a:solidFill>
                  <a:srgbClr val="11202B"/>
                </a:solidFill>
                <a:latin typeface="Malgun Gothic"/>
                <a:ea typeface="Malgun Gothic"/>
                <a:cs typeface="Malgun Gothic"/>
              </a:rPr>
              <a:t>: 기본 리듬 생성(동물에서 명확, 사람은 척수 자극 연구로 간접 근거) → 중뇌 보행 영역·망상척수로가 개시·조절 → 소뇌가 타이밍, 기저핵이 자동화, 피질이 적응 보행(장애물·이중 과제).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보행 장애 유형: 경직성(가위 보행 — UMN), 실조성(넓은 보폭·불규칙 — 소뇌), 감각성 실조(발 내리찍기·로멜버그 양성 — 후삭), 파킨슨(종종걸음·동결·전방 돌진), 실행증(자석 보행 — 정상압 수두증·전두엽), 근병증(오리 보행 — 근위부 약화), 족하수(계단 보행 — 말초신경), 보행 실조-실조성 운동(전두엽), 기능성 보행 장애.</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낙상 평가</a:t>
            </a:r>
            <a:r>
              <a:rPr sz="1800" b="0" i="0">
                <a:solidFill>
                  <a:srgbClr val="11202B"/>
                </a:solidFill>
                <a:latin typeface="Malgun Gothic"/>
                <a:ea typeface="Malgun Gothic"/>
                <a:cs typeface="Malgun Gothic"/>
              </a:rPr>
              <a:t>: 자세 반사(당기기 검사), 기립성 저혈압, 시력, 전정, 말초신경, 약물, 환경 — 다요인 개입이 효과적.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보행과 자세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정상압 수두증 3징: 보행 장애(가장 먼저·가장 잘 반응) + 요실금 + 인지 저하 → 요추 배액 검사 → 션트.</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적응형(폐쇄회로) 심부뇌자극이 베타 진동 등 생체표지에 따라 자극을 조절해 파킨슨병 증상 조절과 부작용을 개선하고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척수 경막외 전기자극과 뇌-척수 인터페이스가 척수 손상 환자의 보행을 부분적으로 회복시켰다(디지털 브리지 연구).</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소뇌의 비운동 기능(인지·정서·사회)이 재조명되면서 소뇌 자극이 조현병·우울·실조 재활에 시험되고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UMN 병변은 경직·반사 항진·바빈스키 양성, LMN 병변은 위축·근육다발수축·반사 소실을 보인다.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피질척수로는 연수 추체에서 대부분 교차하며, 피질연수로의 양측 지배 때문에 중추성 안면마비는 이마를 보존한다.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기저핵 직접 경로는 운동을 촉진하고 간접 경로는 억제하며 도파민 소실은 파킨슨증, 간접 경로 손상은 무도증을 만든다.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소뇌는 동측 증상을 일으키며 퍼킨예 세포 LTD를 통한 오차 기반 운동 학습을 담당한다.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보행은 척수 CPG, 뇌간, 소뇌, 기저핵, 피질이 함께 조절하며 보행 양상이 병변 부위를 시사한다.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중추성 안면마비에서 이마 주름이 보존되는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안면신경핵의 상부(이마·눈 주위 담당)는 양측 대뇌 반구에서 피질연수로 입력을 받지만, 하부(입 주위)는 반대측 반구에서만 입력을 받는다. 따라서 일측 피질·피질하 병변에서는 반대측 하부 안면만 마비되고 이마는 보존된다. 말초 안면신경 병변(벨 마비)은 핵 이후이므로 같은 쪽 얼굴 전체가 마비된다.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소뇌 병변이 반대측이 아니라 같은 쪽 증상을 일으키는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소뇌 출력은 상소뇌각에서 교차해 반대측 시상·운동피질로 간 뒤, 그 피질에서 나온 피질척수로가 추체에서 다시 교차해 원래 소뇌와 같은 쪽 신체를 지배한다. 두 번 교차하므로 결과적으로 병변과 동측에 실조가 나타난다.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비케톤성 고혈당 환자에서 갑작스러운 편측 거친 던지는 듯한 불수의 운동이 생겼다. 기전과 영상 소견은?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반대측 시상하핵(또는 선조체) 기능 이상에 의한 편측무도증·반무도증이다. 시상하핵은 간접 경로에서 GPi를 흥분시켜 운동을 억제하는데, 이 억제가 사라지면 시상이 과도하게 탈억제되어 큰 진폭의 불수의 운동이 나타난다. MRI T1에서 반대측 선조체 고신호가 특징적이며 혈당 교정으로 호전된다.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감각성 실조와 소뇌성 실조를 침상에서 감별하는 방법은?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로멜버그 검사가 핵심이다. 감각성(후삭) 실조는 시각으로 보상하므로 눈을 뜨면 비교적 안정되다가 눈을 감으면 크게 흔들린다(양성). 소뇌성 실조는 눈을 떠도 이미 불안정하고 눈을 감아도 뚜렷이 악화되지 않는다. 감각성은 진동·위치 감각 소실과 발을 내리찍는 보행, 소뇌성은 안진·구음장애·측정이상을 동반한다.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Kandel ER et al. Principles of Neural Science, 6th ed. Ch. 30–38.</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Blumenfeld H. Neuroanatomy through Clinical Cases, 3rd ed. Sinauer, 2021.</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Nambu A. Somatotopic organization of the primate basal ganglia. Front Neuroanat 2011;5:26.</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Manto M et al. Consensus paper: roles of the cerebellum in motor control. Cerebellum 2012;11:457–487.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B07-L08  ·  운동 체계: 피질척수로, 기저핵, 소뇌</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Lorach H et al. Walking naturally after spinal cord injury using a brain–spine interface. Nature 2023;618:126–133.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