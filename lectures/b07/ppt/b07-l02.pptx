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활동전위가 축삭 종말 도달 → 전압개폐 Ca²⁺ 통로(P/Q형 Cav2.1, N형 Cav2.2) 개방. 2. 국소 Ca²⁺ 급상승(마이크로도메인) → 시냅토태그민(Ca²⁺ 센서)이 SNARE 복합체(시냅토브레빈–신택신–SNAP-25) 융합을 촉발(B02 L01) → 소포 내용물 세포외 유출. 3. 신경전달물질이 시냅스 틈(20–40 nm)을 확산 → 후시냅스 수용체 결합. 4. 종결: 재흡수(수송체 — SERT, DAT, NET, EAAT, GAT), 효소 분해(아세틸콜린에스테라아제), 확산. 5. 소포 재순환(클라트린 매개·키스앤런), 재충전(소포 수송체 VGLUT, VGAT, VMAT — 양성자 기울기 이용).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활성화에 두 조건이 동시에 필요하기 때문이다. 전시냅스에서 글루탐산이 방출되고(리간드), 동시에 후시냅스 막이 충분히 탈분극되어야(전압) 공극을 막던 Mg²⁺이 빠져나가 Ca²⁺이 들어온다. 즉 전·후 시냅스 활동이 함께 일어날 때만 신호를 전달해 연합 학습의 분자적 기초가 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전시냅스 P/Q형 Ca²⁺ 통로에 대한 항체로 자극당 Ca²⁺ 유입과 소포 방출이 줄어 기저 CMAP이 낮다. 고빈도 자극(또는 10초 최대 수의 수축)을 하면 종말에 Ca²⁺이 축적되어 방출 확률이 높아지므로 CMAP 진폭이 증가한다(증가 반응). 반면 중증 근무력증은 후시냅스 문제로 저빈도에서 감소 반응을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초기 LTP(1–2시간)는 기존 단백질의 변형(CaMKII 자가인산화, AMPA 수용체 인산화·막 삽입)만으로 일어나며 단백질 합성 억제제에 영향을 받지 않는다. 후기 LTP(수 시간–수일)는 CREB 의존 전사와 국소·세포체 단백 합성, 시냅스 구조 변화가 필요해 단백 합성 억제제로 차단된다.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탈신경되거나 장기간 부동 상태인 근육은 접합부 외 영역에까지 미성숙 니코틴성 ACh 수용체를 과발현한다. 탈분극성 차단제인 숙시닐콜린이 이들 수용체를 광범위하게 열면 근육 전체에서 다량의 K⁺이 세포 밖으로 유출되어 급격한 고칼륨혈증과 심정지가 생길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B07 신경생리학과 신경해부학 기초  ·  세포 신경생리</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시냅스 전달과 가소성</a:t>
            </a:r>
          </a:p>
          <a:p>
            <a:r>
              <a:rPr sz="2000" b="0" i="0">
                <a:solidFill>
                  <a:srgbClr val="C2CDD6"/>
                </a:solidFill>
                <a:latin typeface="Malgun Gothic"/>
                <a:ea typeface="Malgun Gothic"/>
                <a:cs typeface="Malgun Gothic"/>
              </a:rPr>
              <a:t>Synaptic Transmission and Plasticity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B07-L02</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화학 시냅스의 단계(Ca²⁺ 유입, 소포 융합, 수용체 결합, 종결)를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흥분성·억제성 시냅스 후 전위와 신경세포의 통합(공간·시간 합산)을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이온성·대사성 수용체의 차이와 주요 수용체 계열을 비교한다.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단기·장기 가소성(LTP, LTD)의 분자 기전과 기억의 세포 기초를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시냅스 질환과 약물(신경근 차단제, 항경련제, 항우울제)의 작용점을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화학 시냅스의 단계</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시냅스 후 전위와 통합</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수용체 계열</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가소성: LTP와 LTD</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시냅스 질환과 약물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화학 시냅스의 단계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양자 방출</a:t>
            </a:r>
            <a:r>
              <a:rPr sz="2200" b="0" i="0">
                <a:solidFill>
                  <a:srgbClr val="11202B"/>
                </a:solidFill>
                <a:latin typeface="Malgun Gothic"/>
                <a:ea typeface="Malgun Gothic"/>
                <a:cs typeface="Malgun Gothic"/>
              </a:rPr>
              <a:t>: 소포 1개 = 1 양자 → 미세종판전위(MEPP); 신경근 접합부는 안전 계수가 커서 정상적으로 항상 역치를 넘는다.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전기 시냅스(간극 연접, 코넥신): 빠르고 양방향 — 개재뉴런 동기화, 망막, 심장.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시냅스 후 전위와 통합</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EPSP</a:t>
            </a:r>
            <a:r>
              <a:rPr sz="1800" b="0" i="0">
                <a:solidFill>
                  <a:srgbClr val="11202B"/>
                </a:solidFill>
                <a:latin typeface="Malgun Gothic"/>
                <a:ea typeface="Malgun Gothic"/>
                <a:cs typeface="Malgun Gothic"/>
              </a:rPr>
              <a:t>: Na⁺·Ca²⁺ 유입(AMPA, NMDA, 니코틴성) → 탈분극. </a:t>
            </a:r>
            <a:r>
              <a:rPr sz="1800" b="1" i="0">
                <a:solidFill>
                  <a:srgbClr val="11202B"/>
                </a:solidFill>
                <a:latin typeface="Malgun Gothic"/>
                <a:ea typeface="Malgun Gothic"/>
                <a:cs typeface="Malgun Gothic"/>
              </a:rPr>
              <a:t>IPSP</a:t>
            </a:r>
            <a:r>
              <a:rPr sz="1800" b="0" i="0">
                <a:solidFill>
                  <a:srgbClr val="11202B"/>
                </a:solidFill>
                <a:latin typeface="Malgun Gothic"/>
                <a:ea typeface="Malgun Gothic"/>
                <a:cs typeface="Malgun Gothic"/>
              </a:rPr>
              <a:t>: Cl⁻ 유입(GABA_A, 글리신) 또는 K⁺ 유출(GABA_B) → 과분극·분로(shunting).</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단일 EPSP는 대개 0.1–1 mV → </a:t>
            </a:r>
            <a:r>
              <a:rPr sz="1800" b="1" i="0">
                <a:solidFill>
                  <a:srgbClr val="11202B"/>
                </a:solidFill>
                <a:latin typeface="Malgun Gothic"/>
                <a:ea typeface="Malgun Gothic"/>
                <a:cs typeface="Malgun Gothic"/>
              </a:rPr>
              <a:t>합산</a:t>
            </a:r>
            <a:r>
              <a:rPr sz="1800" b="0" i="0">
                <a:solidFill>
                  <a:srgbClr val="11202B"/>
                </a:solidFill>
                <a:latin typeface="Malgun Gothic"/>
                <a:ea typeface="Malgun Gothic"/>
                <a:cs typeface="Malgun Gothic"/>
              </a:rPr>
              <a:t>이 필요: 공간 합산(여러 시냅스 동시), 시간 합산(같은 시냅스 연속).</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통합은 </a:t>
            </a:r>
            <a:r>
              <a:rPr sz="1800" b="1" i="0">
                <a:solidFill>
                  <a:srgbClr val="11202B"/>
                </a:solidFill>
                <a:latin typeface="Malgun Gothic"/>
                <a:ea typeface="Malgun Gothic"/>
                <a:cs typeface="Malgun Gothic"/>
              </a:rPr>
              <a:t>축삭 둔덕</a:t>
            </a:r>
            <a:r>
              <a:rPr sz="1800" b="0" i="0">
                <a:solidFill>
                  <a:srgbClr val="11202B"/>
                </a:solidFill>
                <a:latin typeface="Malgun Gothic"/>
                <a:ea typeface="Malgun Gothic"/>
                <a:cs typeface="Malgun Gothic"/>
              </a:rPr>
              <a:t>(Na⁺ 통로 밀도 최고)에서 일어나 역치를 넘으면 발화.</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수상돌기는 수동적이지 않다: 수상돌기 Na⁺·Ca²⁺·NMDA 스파이크, 분지별 국소 연산.</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억제의 위치 효과: 세포체·축삭 초기분절 억제(PV 개재뉴런 — 출력 차단), 수상돌기 억제(SST 개재뉴런 — 입력 선택).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수용체 계열</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NMDA 수용체</a:t>
            </a:r>
            <a:r>
              <a:rPr sz="2200" b="0" i="0">
                <a:solidFill>
                  <a:srgbClr val="11202B"/>
                </a:solidFill>
                <a:latin typeface="Malgun Gothic"/>
                <a:ea typeface="Malgun Gothic"/>
                <a:cs typeface="Malgun Gothic"/>
              </a:rPr>
              <a:t>: 탈분극(Mg²⁺ 제거) + 글루탐산 + 공동작용제 동시 필요 → Ca²⁺ 유입 → 가소성의 분자 스위치; 과활성은 흥분독성(B05 L06).</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GABA_A 조절 부위: 벤조디아제핀(개방 빈도↑), 바르비투르산(개방 시간↑), 신경스테로이드, 알코올, 프로포폴, 일부 마취제.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수용체 계열</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7</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유형</a:t>
                      </a:r>
                    </a:p>
                  </a:txBody>
                  <a:tcPr marL="73152" marR="73152">
                    <a:solidFill>
                      <a:srgbClr val="003C71"/>
                    </a:solidFill>
                  </a:tcPr>
                </a:tc>
                <a:tc>
                  <a:txBody>
                    <a:bodyPr/>
                    <a:lstStyle/>
                    <a:p>
                      <a:r>
                        <a:rPr sz="1500" b="1" i="0">
                          <a:solidFill>
                            <a:srgbClr val="FFFFFF"/>
                          </a:solidFill>
                          <a:latin typeface="Malgun Gothic"/>
                          <a:ea typeface="Malgun Gothic"/>
                          <a:cs typeface="Malgun Gothic"/>
                        </a:rPr>
                        <a:t>수용체</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이온성</a:t>
                      </a:r>
                      <a:r>
                        <a:rPr sz="1500" b="0" i="0">
                          <a:solidFill>
                            <a:srgbClr val="11202B"/>
                          </a:solidFill>
                          <a:latin typeface="Malgun Gothic"/>
                          <a:ea typeface="Malgun Gothic"/>
                          <a:cs typeface="Malgun Gothic"/>
                        </a:rPr>
                        <a:t>(빠름, ms)</a:t>
                      </a:r>
                    </a:p>
                  </a:txBody>
                  <a:tcPr marL="73152" marR="73152">
                    <a:solidFill>
                      <a:srgbClr val="FFFFFF"/>
                    </a:solidFill>
                  </a:tcPr>
                </a:tc>
                <a:tc>
                  <a:txBody>
                    <a:bodyPr/>
                    <a:lstStyle/>
                    <a:p>
                      <a:r>
                        <a:rPr sz="1500" b="0" i="0">
                          <a:solidFill>
                            <a:srgbClr val="11202B"/>
                          </a:solidFill>
                          <a:latin typeface="Malgun Gothic"/>
                          <a:ea typeface="Malgun Gothic"/>
                          <a:cs typeface="Malgun Gothic"/>
                        </a:rPr>
                        <a:t>니코틴성 ACh(양이온), </a:t>
                      </a:r>
                      <a:r>
                        <a:rPr sz="1500" b="1" i="0">
                          <a:solidFill>
                            <a:srgbClr val="11202B"/>
                          </a:solidFill>
                          <a:latin typeface="Malgun Gothic"/>
                          <a:ea typeface="Malgun Gothic"/>
                          <a:cs typeface="Malgun Gothic"/>
                        </a:rPr>
                        <a:t>AMPA</a:t>
                      </a:r>
                      <a:r>
                        <a:rPr sz="1500" b="0" i="0">
                          <a:solidFill>
                            <a:srgbClr val="11202B"/>
                          </a:solidFill>
                          <a:latin typeface="Malgun Gothic"/>
                          <a:ea typeface="Malgun Gothic"/>
                          <a:cs typeface="Malgun Gothic"/>
                        </a:rPr>
                        <a:t>(Na⁺/K⁺), </a:t>
                      </a:r>
                      <a:r>
                        <a:rPr sz="1500" b="1" i="0">
                          <a:solidFill>
                            <a:srgbClr val="11202B"/>
                          </a:solidFill>
                          <a:latin typeface="Malgun Gothic"/>
                          <a:ea typeface="Malgun Gothic"/>
                          <a:cs typeface="Malgun Gothic"/>
                        </a:rPr>
                        <a:t>NMDA</a:t>
                      </a:r>
                      <a:r>
                        <a:rPr sz="1500" b="0" i="0">
                          <a:solidFill>
                            <a:srgbClr val="11202B"/>
                          </a:solidFill>
                          <a:latin typeface="Malgun Gothic"/>
                          <a:ea typeface="Malgun Gothic"/>
                          <a:cs typeface="Malgun Gothic"/>
                        </a:rPr>
                        <a:t>(Na⁺/K⁺/</a:t>
                      </a:r>
                      <a:r>
                        <a:rPr sz="1500" b="1" i="0">
                          <a:solidFill>
                            <a:srgbClr val="11202B"/>
                          </a:solidFill>
                          <a:latin typeface="Malgun Gothic"/>
                          <a:ea typeface="Malgun Gothic"/>
                          <a:cs typeface="Malgun Gothic"/>
                        </a:rPr>
                        <a:t>Ca²⁺</a:t>
                      </a:r>
                      <a:r>
                        <a:rPr sz="1500" b="0" i="0">
                          <a:solidFill>
                            <a:srgbClr val="11202B"/>
                          </a:solidFill>
                          <a:latin typeface="Malgun Gothic"/>
                          <a:ea typeface="Malgun Gothic"/>
                          <a:cs typeface="Malgun Gothic"/>
                        </a:rPr>
                        <a:t>; Mg²⁺ 전압 차단 + 글리신/D-세린 공동작용제 필요 — '동시성 검출기'), 카이네이트, GABA_A·글리신(Cl⁻), 5-HT3, P2X</a:t>
                      </a:r>
                    </a:p>
                  </a:txBody>
                  <a:tcPr marL="73152" marR="73152">
                    <a:solidFill>
                      <a:srgbClr val="FFFFFF"/>
                    </a:solidFill>
                  </a:tcPr>
                </a:tc>
                <a:tc>
                  <a:txBody>
                    <a:bodyPr/>
                    <a:lstStyle/>
                    <a:p>
                      <a:r>
                        <a:rPr sz="1500" b="0" i="0">
                          <a:solidFill>
                            <a:srgbClr val="11202B"/>
                          </a:solidFill>
                          <a:latin typeface="Malgun Gothic"/>
                          <a:ea typeface="Malgun Gothic"/>
                          <a:cs typeface="Malgun Gothic"/>
                        </a:rPr>
                        <a:t>직접 통로</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대사성</a:t>
                      </a:r>
                      <a:r>
                        <a:rPr sz="1500" b="0" i="0">
                          <a:solidFill>
                            <a:srgbClr val="11202B"/>
                          </a:solidFill>
                          <a:latin typeface="Malgun Gothic"/>
                          <a:ea typeface="Malgun Gothic"/>
                          <a:cs typeface="Malgun Gothic"/>
                        </a:rPr>
                        <a:t>(느림, 초–분)</a:t>
                      </a:r>
                    </a:p>
                  </a:txBody>
                  <a:tcPr marL="73152" marR="73152">
                    <a:solidFill>
                      <a:srgbClr val="ECF1F5"/>
                    </a:solidFill>
                  </a:tcPr>
                </a:tc>
                <a:tc>
                  <a:txBody>
                    <a:bodyPr/>
                    <a:lstStyle/>
                    <a:p>
                      <a:r>
                        <a:rPr sz="1500" b="0" i="0">
                          <a:solidFill>
                            <a:srgbClr val="11202B"/>
                          </a:solidFill>
                          <a:latin typeface="Malgun Gothic"/>
                          <a:ea typeface="Malgun Gothic"/>
                          <a:cs typeface="Malgun Gothic"/>
                        </a:rPr>
                        <a:t>무스카린성 M1–M5, GABA_B, mGluR1–8, 도파민 D1–D5, 아드레날린성, 오피오이드, 5-HT(3 제외), 카나비노이드 CB1</a:t>
                      </a:r>
                    </a:p>
                  </a:txBody>
                  <a:tcPr marL="73152" marR="73152">
                    <a:solidFill>
                      <a:srgbClr val="ECF1F5"/>
                    </a:solidFill>
                  </a:tcPr>
                </a:tc>
                <a:tc>
                  <a:txBody>
                    <a:bodyPr/>
                    <a:lstStyle/>
                    <a:p>
                      <a:r>
                        <a:rPr sz="1500" b="0" i="0">
                          <a:solidFill>
                            <a:srgbClr val="11202B"/>
                          </a:solidFill>
                          <a:latin typeface="Malgun Gothic"/>
                          <a:ea typeface="Malgun Gothic"/>
                          <a:cs typeface="Malgun Gothic"/>
                        </a:rPr>
                        <a:t>GPCR — 2차 전령·통로 조절·유전자 발현</a:t>
                      </a:r>
                    </a:p>
                  </a:txBody>
                  <a:tcPr marL="73152" marR="73152">
                    <a:solidFill>
                      <a:srgbClr val="ECF1F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가소성: LTP와 LTD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단기 가소성</a:t>
            </a:r>
            <a:r>
              <a:rPr sz="2000" b="0" i="0">
                <a:solidFill>
                  <a:srgbClr val="11202B"/>
                </a:solidFill>
                <a:latin typeface="Malgun Gothic"/>
                <a:ea typeface="Malgun Gothic"/>
                <a:cs typeface="Malgun Gothic"/>
              </a:rPr>
              <a:t>: 쌍펄스 촉진(잔여 Ca²⁺), 강직 후 강화, 고갈(소포 소진), 적응.</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장기 강화(LTP)</a:t>
            </a:r>
            <a:r>
              <a:rPr sz="2000" b="0" i="0">
                <a:solidFill>
                  <a:srgbClr val="11202B"/>
                </a:solidFill>
                <a:latin typeface="Malgun Gothic"/>
                <a:ea typeface="Malgun Gothic"/>
                <a:cs typeface="Malgun Gothic"/>
              </a:rPr>
              <a:t> — 해마 CA1 모델:</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유도: 고빈도 자극 → AMPA로 탈분극 → NMDA의 Mg²⁺ 차단 해제 → Ca²⁺ 유입 → </a:t>
            </a:r>
            <a:r>
              <a:rPr sz="1800" b="1" i="0">
                <a:solidFill>
                  <a:srgbClr val="2E3F4C"/>
                </a:solidFill>
                <a:latin typeface="Malgun Gothic"/>
                <a:ea typeface="Malgun Gothic"/>
                <a:cs typeface="Malgun Gothic"/>
              </a:rPr>
              <a:t>CaMKII</a:t>
            </a:r>
            <a:r>
              <a:rPr sz="1800" b="0" i="0">
                <a:solidFill>
                  <a:srgbClr val="2E3F4C"/>
                </a:solidFill>
                <a:latin typeface="Malgun Gothic"/>
                <a:ea typeface="Malgun Gothic"/>
                <a:cs typeface="Malgun Gothic"/>
              </a:rPr>
              <a:t> 자가인산화 활성 → AMPA 수용체 인산화·막 삽입 → 시냅스 강도 증가.</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유지·발현: 가시 확대(액틴 재구성), 장기 단계는 </a:t>
            </a:r>
            <a:r>
              <a:rPr sz="1800" b="1" i="0">
                <a:solidFill>
                  <a:srgbClr val="2E3F4C"/>
                </a:solidFill>
                <a:latin typeface="Malgun Gothic"/>
                <a:ea typeface="Malgun Gothic"/>
                <a:cs typeface="Malgun Gothic"/>
              </a:rPr>
              <a:t>단백 합성</a:t>
            </a:r>
            <a:r>
              <a:rPr sz="1800" b="0" i="0">
                <a:solidFill>
                  <a:srgbClr val="2E3F4C"/>
                </a:solidFill>
                <a:latin typeface="Malgun Gothic"/>
                <a:ea typeface="Malgun Gothic"/>
                <a:cs typeface="Malgun Gothic"/>
              </a:rPr>
              <a:t>(mTOR·국소 번역)과 </a:t>
            </a:r>
            <a:r>
              <a:rPr sz="1800" b="1" i="0">
                <a:solidFill>
                  <a:srgbClr val="2E3F4C"/>
                </a:solidFill>
                <a:latin typeface="Malgun Gothic"/>
                <a:ea typeface="Malgun Gothic"/>
                <a:cs typeface="Malgun Gothic"/>
              </a:rPr>
              <a:t>전사</a:t>
            </a:r>
            <a:r>
              <a:rPr sz="1800" b="0" i="0">
                <a:solidFill>
                  <a:srgbClr val="2E3F4C"/>
                </a:solidFill>
                <a:latin typeface="Malgun Gothic"/>
                <a:ea typeface="Malgun Gothic"/>
                <a:cs typeface="Malgun Gothic"/>
              </a:rPr>
              <a:t>(CREB → BDNF, Arc) 필요.</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특성: 협동성, 연합성, 입력 특이성 → </a:t>
            </a:r>
            <a:r>
              <a:rPr sz="1800" b="1" i="0">
                <a:solidFill>
                  <a:srgbClr val="2E3F4C"/>
                </a:solidFill>
                <a:latin typeface="Malgun Gothic"/>
                <a:ea typeface="Malgun Gothic"/>
                <a:cs typeface="Malgun Gothic"/>
              </a:rPr>
              <a:t>헵 법칙</a:t>
            </a:r>
            <a:r>
              <a:rPr sz="1800" b="0" i="0">
                <a:solidFill>
                  <a:srgbClr val="2E3F4C"/>
                </a:solidFill>
                <a:latin typeface="Malgun Gothic"/>
                <a:ea typeface="Malgun Gothic"/>
                <a:cs typeface="Malgun Gothic"/>
              </a:rPr>
              <a:t>("함께 발화하면 함께 연결된다")의 세포적 구현.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가소성: LTP와 LTD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장기 억압(LTD)</a:t>
            </a:r>
            <a:r>
              <a:rPr sz="2000" b="0" i="0">
                <a:solidFill>
                  <a:srgbClr val="11202B"/>
                </a:solidFill>
                <a:latin typeface="Malgun Gothic"/>
                <a:ea typeface="Malgun Gothic"/>
                <a:cs typeface="Malgun Gothic"/>
              </a:rPr>
              <a:t>: 저빈도 자극 → 낮고 지속적인 Ca²⁺ → 포스파타아제(칼시뉴린, PP1) 우세 → AMPA 수용체 내재화; 소뇌 평행섬유-퍼킨예 LTD(mGluR1 의존)는 운동 학습의 기초.</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항상성 가소성</a:t>
            </a:r>
            <a:r>
              <a:rPr sz="2000" b="0" i="0">
                <a:solidFill>
                  <a:srgbClr val="11202B"/>
                </a:solidFill>
                <a:latin typeface="Malgun Gothic"/>
                <a:ea typeface="Malgun Gothic"/>
                <a:cs typeface="Malgun Gothic"/>
              </a:rPr>
              <a:t>: 전체 활동이 높아지면 시냅스 강도를 일괄 하향(시냅스 스케일링) — 회로 안정 유지.</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구조적 가소성</a:t>
            </a:r>
            <a:r>
              <a:rPr sz="2000" b="0" i="0">
                <a:solidFill>
                  <a:srgbClr val="11202B"/>
                </a:solidFill>
                <a:latin typeface="Malgun Gothic"/>
                <a:ea typeface="Malgun Gothic"/>
                <a:cs typeface="Malgun Gothic"/>
              </a:rPr>
              <a:t>: 가시 생성·소멸, 성인 신경생성(치아이랑 — 인간에서의 규모는 논쟁), 경험 의존 지도 재편.</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기억과의 연결: 엔그램 세포(학습 시 활성화된 세포 집단)를 광유전학으로 재활성화하면 기억이 회상된다는 실험적 증거.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시냅스 질환과 약물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300" b="1" i="0">
                          <a:solidFill>
                            <a:srgbClr val="FFFFFF"/>
                          </a:solidFill>
                          <a:latin typeface="Malgun Gothic"/>
                          <a:ea typeface="Malgun Gothic"/>
                          <a:cs typeface="Malgun Gothic"/>
                        </a:rPr>
                        <a:t>질환·약물</a:t>
                      </a:r>
                    </a:p>
                  </a:txBody>
                  <a:tcPr marL="73152" marR="73152">
                    <a:solidFill>
                      <a:srgbClr val="003C71"/>
                    </a:solidFill>
                  </a:tcPr>
                </a:tc>
                <a:tc>
                  <a:txBody>
                    <a:bodyPr/>
                    <a:lstStyle/>
                    <a:p>
                      <a:r>
                        <a:rPr sz="1300" b="1" i="0">
                          <a:solidFill>
                            <a:srgbClr val="FFFFFF"/>
                          </a:solidFill>
                          <a:latin typeface="Malgun Gothic"/>
                          <a:ea typeface="Malgun Gothic"/>
                          <a:cs typeface="Malgun Gothic"/>
                        </a:rPr>
                        <a:t>작용점</a:t>
                      </a:r>
                    </a:p>
                  </a:txBody>
                  <a:tcPr marL="73152" marR="73152">
                    <a:solidFill>
                      <a:srgbClr val="003C71"/>
                    </a:solidFill>
                  </a:tcPr>
                </a:tc>
              </a:tr>
              <a:tr h="365760">
                <a:tc>
                  <a:txBody>
                    <a:bodyPr/>
                    <a:lstStyle/>
                    <a:p>
                      <a:r>
                        <a:rPr sz="1300" b="0" i="0">
                          <a:solidFill>
                            <a:srgbClr val="11202B"/>
                          </a:solidFill>
                          <a:latin typeface="Malgun Gothic"/>
                          <a:ea typeface="Malgun Gothic"/>
                          <a:cs typeface="Malgun Gothic"/>
                        </a:rPr>
                        <a:t>중증 근무력증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후시냅스 니코틴성 ACh 수용체(또는 MuSK) 자가항체 → 안전 계수 감소 (B08 L05)</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램버트-이튼 증후군</a:t>
                      </a:r>
                    </a:p>
                  </a:txBody>
                  <a:tcPr marL="73152" marR="73152">
                    <a:solidFill>
                      <a:srgbClr val="ECF1F5"/>
                    </a:solidFill>
                  </a:tcPr>
                </a:tc>
                <a:tc>
                  <a:txBody>
                    <a:bodyPr/>
                    <a:lstStyle/>
                    <a:p>
                      <a:r>
                        <a:rPr sz="1300" b="0" i="0">
                          <a:solidFill>
                            <a:srgbClr val="11202B"/>
                          </a:solidFill>
                          <a:latin typeface="Malgun Gothic"/>
                          <a:ea typeface="Malgun Gothic"/>
                          <a:cs typeface="Malgun Gothic"/>
                        </a:rPr>
                        <a:t>전시냅스 </a:t>
                      </a:r>
                      <a:r>
                        <a:rPr sz="1300" b="1" i="0">
                          <a:solidFill>
                            <a:srgbClr val="11202B"/>
                          </a:solidFill>
                          <a:latin typeface="Malgun Gothic"/>
                          <a:ea typeface="Malgun Gothic"/>
                          <a:cs typeface="Malgun Gothic"/>
                        </a:rPr>
                        <a:t>P/Q형 Ca²⁺ 통로</a:t>
                      </a:r>
                      <a:r>
                        <a:rPr sz="1300" b="0" i="0">
                          <a:solidFill>
                            <a:srgbClr val="11202B"/>
                          </a:solidFill>
                          <a:latin typeface="Malgun Gothic"/>
                          <a:ea typeface="Malgun Gothic"/>
                          <a:cs typeface="Malgun Gothic"/>
                        </a:rPr>
                        <a:t> 항체 → 방출 감소(고빈도 자극 시 호전)</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보툴리누스·파상풍</a:t>
                      </a:r>
                    </a:p>
                  </a:txBody>
                  <a:tcPr marL="73152" marR="73152">
                    <a:solidFill>
                      <a:srgbClr val="FFFFFF"/>
                    </a:solidFill>
                  </a:tcPr>
                </a:tc>
                <a:tc>
                  <a:txBody>
                    <a:bodyPr/>
                    <a:lstStyle/>
                    <a:p>
                      <a:r>
                        <a:rPr sz="1300" b="0" i="0">
                          <a:solidFill>
                            <a:srgbClr val="11202B"/>
                          </a:solidFill>
                          <a:latin typeface="Malgun Gothic"/>
                          <a:ea typeface="Malgun Gothic"/>
                          <a:cs typeface="Malgun Gothic"/>
                        </a:rPr>
                        <a:t>SNARE 절단 (B02 L01)</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신경근 차단제</a:t>
                      </a:r>
                    </a:p>
                  </a:txBody>
                  <a:tcPr marL="73152" marR="73152">
                    <a:solidFill>
                      <a:srgbClr val="ECF1F5"/>
                    </a:solidFill>
                  </a:tcPr>
                </a:tc>
                <a:tc>
                  <a:txBody>
                    <a:bodyPr/>
                    <a:lstStyle/>
                    <a:p>
                      <a:r>
                        <a:rPr sz="1300" b="0" i="0">
                          <a:solidFill>
                            <a:srgbClr val="11202B"/>
                          </a:solidFill>
                          <a:latin typeface="Malgun Gothic"/>
                          <a:ea typeface="Malgun Gothic"/>
                          <a:cs typeface="Malgun Gothic"/>
                        </a:rPr>
                        <a:t>비탈분극(로쿠로니움 — 경쟁적; 수가마덱스로 역전), 탈분극(숙시닐콜린 — 지속 탈분극; 고칼륨·악성고열 주의)</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콜린에스테라아제 억제제</a:t>
                      </a:r>
                    </a:p>
                  </a:txBody>
                  <a:tcPr marL="73152" marR="73152">
                    <a:solidFill>
                      <a:srgbClr val="FFFFFF"/>
                    </a:solidFill>
                  </a:tcPr>
                </a:tc>
                <a:tc>
                  <a:txBody>
                    <a:bodyPr/>
                    <a:lstStyle/>
                    <a:p>
                      <a:r>
                        <a:rPr sz="1300" b="0" i="0">
                          <a:solidFill>
                            <a:srgbClr val="11202B"/>
                          </a:solidFill>
                          <a:latin typeface="Malgun Gothic"/>
                          <a:ea typeface="Malgun Gothic"/>
                          <a:cs typeface="Malgun Gothic"/>
                        </a:rPr>
                        <a:t>피리도스티그민(근무력증), 유기인제 중독(무스카린·니코틴 증상 → 아트로핀 + 프랄리독심)</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항경련제</a:t>
                      </a:r>
                    </a:p>
                  </a:txBody>
                  <a:tcPr marL="73152" marR="73152">
                    <a:solidFill>
                      <a:srgbClr val="ECF1F5"/>
                    </a:solidFill>
                  </a:tcPr>
                </a:tc>
                <a:tc>
                  <a:txBody>
                    <a:bodyPr/>
                    <a:lstStyle/>
                    <a:p>
                      <a:r>
                        <a:rPr sz="1300" b="0" i="0">
                          <a:solidFill>
                            <a:srgbClr val="11202B"/>
                          </a:solidFill>
                          <a:latin typeface="Malgun Gothic"/>
                          <a:ea typeface="Malgun Gothic"/>
                          <a:cs typeface="Malgun Gothic"/>
                        </a:rPr>
                        <a:t>Na⁺·Ca²⁺ 통로, SV2A, GABA 강화, AMPA 길항 (B05 L05)</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항우울제</a:t>
                      </a:r>
                    </a:p>
                  </a:txBody>
                  <a:tcPr marL="73152" marR="73152">
                    <a:solidFill>
                      <a:srgbClr val="FFFFFF"/>
                    </a:solidFill>
                  </a:tcPr>
                </a:tc>
                <a:tc>
                  <a:txBody>
                    <a:bodyPr/>
                    <a:lstStyle/>
                    <a:p>
                      <a:r>
                        <a:rPr sz="1300" b="0" i="0">
                          <a:solidFill>
                            <a:srgbClr val="11202B"/>
                          </a:solidFill>
                          <a:latin typeface="Malgun Gothic"/>
                          <a:ea typeface="Malgun Gothic"/>
                          <a:cs typeface="Malgun Gothic"/>
                        </a:rPr>
                        <a:t>재흡수 수송체(SERT/NET), 수용체, NMDA(케타민) (B05 L15)</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알츠하이머</a:t>
                      </a:r>
                    </a:p>
                  </a:txBody>
                  <a:tcPr marL="73152" marR="73152">
                    <a:solidFill>
                      <a:srgbClr val="ECF1F5"/>
                    </a:solidFill>
                  </a:tcPr>
                </a:tc>
                <a:tc>
                  <a:txBody>
                    <a:bodyPr/>
                    <a:lstStyle/>
                    <a:p>
                      <a:r>
                        <a:rPr sz="1300" b="0" i="0">
                          <a:solidFill>
                            <a:srgbClr val="11202B"/>
                          </a:solidFill>
                          <a:latin typeface="Malgun Gothic"/>
                          <a:ea typeface="Malgun Gothic"/>
                          <a:cs typeface="Malgun Gothic"/>
                        </a:rPr>
                        <a:t>콜린에스테라아제 억제제, 메만틴(NMDA 저친화 차단)</a:t>
                      </a:r>
                    </a:p>
                  </a:txBody>
                  <a:tcPr marL="73152" marR="73152">
                    <a:solidFill>
                      <a:srgbClr val="ECF1F5"/>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시냅스 질환과 약물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질환·약물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작용점</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자폐·ID</a:t>
                      </a:r>
                    </a:p>
                  </a:txBody>
                  <a:tcPr marL="73152" marR="73152">
                    <a:solidFill>
                      <a:srgbClr val="FFFFFF"/>
                    </a:solidFill>
                  </a:tcPr>
                </a:tc>
                <a:tc>
                  <a:txBody>
                    <a:bodyPr/>
                    <a:lstStyle/>
                    <a:p>
                      <a:r>
                        <a:rPr sz="1500" b="0" i="0">
                          <a:solidFill>
                            <a:srgbClr val="11202B"/>
                          </a:solidFill>
                          <a:latin typeface="Malgun Gothic"/>
                          <a:ea typeface="Malgun Gothic"/>
                          <a:cs typeface="Malgun Gothic"/>
                        </a:rPr>
                        <a:t>시냅스 스캐폴드·접착 단백 (B06 L08)</a:t>
                      </a:r>
                    </a:p>
                  </a:txBody>
                  <a:tcPr marL="73152" marR="7315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크라이오-EM으로 AMPA·NMDA·GABA_A 수용체와 SNARE 기계의 구조가 밝혀져 아형 선택 약물 설계가 가능해졌다.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광유전학·화학유전학과 엔그램 표지 기술이 기억의 저장·인출·수정(공포 기억 소거)을 세포 수준에서 조작하는 연구를 가능하게 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시냅스 PET 추적자(SV2A 결합 ¹¹C-UCB-J)로 살아 있는 사람의 시냅스 밀도를 측정해 우울증·알츠하이머·조현병에서 시냅스 소실을 정량하고 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화학 시냅스는 Ca²⁺ 유입 → 시냅토태그민·SNARE 융합 → 수용체 결합 → 재흡수·분해의 순서로 작동한다.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신경세포는 EPSP와 IPSP를 공간·시간적으로 합산해 축삭 둔덕에서 발화를 결정한다.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이온성 수용체는 빠른 전달을, 대사성 수용체는 느린 조절을 담당하며 NMDA 수용체는 동시성 검출기로 가소성을 매개한다.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LTP는 NMDA–Ca²⁺–CaMKII–AMPA 삽입, LTD는 포스파타아제–AMPA 내재화로 일어나며 헵 법칙을 구현한다.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근무력증·램버트-이튼·보툴리누스와 마취·항경련·항우울 약물은 모두 시냅스의 특정 단계를 표적한다.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14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NMDA 수용체가 '동시성 검출기'로 불리는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활성화에 두 조건이 동시에 필요하기 때문이다. 전시냅스에서 글루탐산이 방출되고(리간드), 동시에 후시냅스 막이 충분히 탈분극되어야(전압) 공극을 막던 Mg²⁺이 빠져나가 Ca²⁺이 들어온다. 즉 전·후 시냅스 활동이 함께 일어날 때만 신호를 전달해 연합 학습의 분자적 기초가 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15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램버트-이튼 근무력 증후군에서 반복 신경 자극 시 고빈도에서 반응이 증가하는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전시냅스 P/Q형 Ca²⁺ 통로에 대한 항체로 자극당 Ca²⁺ 유입과 소포 방출이 줄어 기저 CMAP이 낮다. 고빈도 자극(또는 10초 최대 수의 수축)을 하면 종말에 Ca²⁺이 축적되어 방출 확률이 높아지므로 CMAP 진폭이 증가한다(증가 반응). 반면 중증 근무력증은 후시냅스 문제로 저빈도에서 감소 반응을 보인다.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해마 LTP의 초기 단계와 후기 단계는 어떻게 구분되는가?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초기 LTP(1–2시간)는 기존 단백질의 변형(CaMKII 자가인산화, AMPA 수용체 인산화·막 삽입)만으로 일어나며 단백질 합성 억제제에 영향을 받지 않는다. 후기 LTP(수 시간–수일)는 CREB 의존 전사와 국소·세포체 단백 합성, 시냅스 구조 변화가 필요해 단백 합성 억제제로 차단된다.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숙시닐콜린을 투여받은 화상 또는 척수 손상 환자에게 치명적 고칼륨혈증이 생길 수 있는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탈신경되거나 장기간 부동 상태인 근육은 접합부 외 영역에까지 미성숙 니코틴성 ACh 수용체를 과발현한다. 탈분극성 차단제인 숙시닐콜린이 이들 수용체를 광범위하게 열면 근육 전체에서 다량의 K⁺이 세포 밖으로 유출되어 급격한 고칼륨혈증과 심정지가 생길 수 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Kandel ER et al. Principles of Neural Science, 6th ed. Ch. 12–16, 53–54.</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Südhof TC. Neurotransmitter release: the last millisecond in the life of a synaptic vesicle. Neuron 2013;80:675–690.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Nicoll RA. A brief history of long-term potentiation. Neuron 2017;93:281–290.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Hyman SE, Malenka RC, Nestler EJ. Molecular Neuropharmacology, 4th ed. 2020.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B07-L02  ·  시냅스 전달과 가소성</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Finnema SJ et al. Imaging synaptic density in the living human brain. Sci Transl Med 2016;8:348ra96.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