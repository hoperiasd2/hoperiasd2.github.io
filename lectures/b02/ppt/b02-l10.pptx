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염색체 마이크로어레이(CMA) 또는 엑솜/유전체 검사(가능하면 부모 포함 트리오)를 1차로 시행한다(ACMG 2021은 ES/GS를 1·2차 검사로 권고). 음성이면 유전체 검사로 확대, 표현형 재평가, RNA-seq·메틸화 검사, 1–3년 후 데이터 재분석을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ctDNA 음성은 '변이 없음'이 아니라 종양 DNA 방출량이 적어 검출 한계 이하일 수 있다(위음성). 판독 지표(다른 종양 변이·ctDNA 분율)를 확인하고, 가능하면 조직 재생검을 시행해야 한다. 반대로 양성은 신뢰도가 높아 치료 결정에 사용할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HLA-B*58:01 보유자는 알로퓨리놀(옥시퓨리놀)에 대한 T세포 매개 중증 피부이상반응(SJS/TEN, DRESS) 위험이 수십~수백 배 높고, 이 대립유전자 빈도가 한국인 등 동아시아 집단에서 높기 때문이다(특히 신기능 저하 시 위험 증가). 양성이면 페북소스타트 등 대체 약물을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VAF 약 50%는 생식세포 변이 가능성을 시사하므로 유전상담 후 정상 조직(혈액·타액) 생식세포 검사로 확인한다. 생식세포 변이이면 환자의 다른 암 위험 관리와 가족 연쇄 검사가 필요하며, 체세포·생식세포 모두 PARP 억제제 적응 판단에 사용될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오믹스의학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유전체학과 NGS의 임상 활용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Clinical Genomics and Next-Generation Sequencing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B02-L10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생어 시퀀싱, 단판독 NGS(합성에 의한 시퀀싱), 장판독(PacBio, Nanopore)의 원리와 장단점을 비교한다.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NGS 분석 파이프라인(정렬, 변이 호출, 주석, 필터링)과 품질 지표를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패널·엑솜·유전체 검사의 선택 기준과 희귀질환 진단 전략을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 유전체 검사(체세포 변이, TMB, MSI, 융합)와 액체생검(ctDNA)의 임상 활용을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약물유전체, 산전·신생아 유전체 검사와 윤리·법적 쟁점을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시퀀싱 기술의 발전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NGS 분석 파이프라인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패널, 엑솜, 유전체의 선택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 유전체학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액체생검과 cfDNA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약물유전체와 개인 유전체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윤리·법·사회적 쟁점(ELSI)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시퀀싱 기술의 발전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비용: 인간 게놈 프로젝트(약 30억 달러, 13년) → 현재 전장 유전체 약 200–600달러, 수 일.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신속 전장 유전체(rWGS)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신생아 중환자실에서 7–8시간 내 진단 보고(기네스 기록), 진단율 30–40%, 1/4 이상에서 치료 변경.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시퀀싱 기술의 발전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판독 길이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 / 약점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생어(1977)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다이데옥시 사슬 종결, 모세관 전기영동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700–1000 bp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높음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확진 표준 / 저처리량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Illumina SBS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가역적 종결자 형광, 브리지 증폭 클러스터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2×150 bp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&gt;99.9% (Q30)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저비용 대용량 / 반복·구조변이·위유전자 약함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PacBio HiFi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단일분자 실시간(ZMW), 원형 합의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15–25 kb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&gt;99.9%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구조변이·위상(phasing)·메틸화 / 비용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Oxford Nanopore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나노포어 통과 이온 전류 변화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 kb ~ &gt;1 Mb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~99% (최신 화학)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초장판독, 실시간, 휴대, 직접 RNA·메틸화 / 동종중합체 오류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이온 반도체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H⁺ 방출 pH 감지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200–400 bp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빠름 / 동종중합체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NGS 분석 파이프라인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라이브러리 준비: DNA 절편화 → 어댑터 결찰(인덱스 바코드) → (표적 포획: 혼성화 프로브 또는 앰플리콘) → 증폭.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1차 분석: 염기 호출(FASTQ; Phred 품질 Q = −10 log₁₀ P).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2차 분석: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참조 정렬(BWA-MEM, minimap2 → BAM; GRCh38 또는 T2T-CHM13)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중복 제거, 염기 품질 재보정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변이 호출(GATK HaplotypeCaller, DeepVariant → VCF): SNV/indel, CNV(판독 깊이), SV(분할 판독·쌍 이상), 반복 확장(ExpansionHunter), 미토콘드리아.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NGS 분석 파이프라인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3차 분석: 주석(유전자, 영향, gnomAD 빈도, ClinVar, 예측 점수) → 필터링(빈도 &lt;1% 열성 / &lt;0.01% 우성, 유전 양식, 표현형 HPO 기반 우선순위 — Exomiser) → ACMG 분류 → 보고.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품질 지표: 평균 깊이(엑솜 100×, 유전체 30×), 표적 커버리지(≥20× 비율 &gt;95%), 정렬률, 오염·성별 확인.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트리오 분석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(환자 + 부모): de novo 변이 확인, 위상 판정(복합 이형접합 trans 확인), 진단율 향상.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NGS 분석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 확인: 고품질 NGS 변이는 생어 확인이 필수가 아니라는 연구가 많아졌으나, 낮은 품질·위유전자 영역·구조변이는 직교 방법(생어, MLPA, 장판독)으로 확인한다. 위유전자가 있는 PMS2, CYP21A2(선천성 부신과형성), SMN1, GBA1, *PKD1*은 단판독 NGS의 대표적 사각지대이다.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패널, 엑솜, 유전체의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ACMG(2021): 선천기형·발달지연·지적장애 환자에게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ES/GS를 1차 또는 2차 검사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권고.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재분석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1–3년 후 동일 데이터 재해석 시 진단율 10–15% 추가(새 유전자·지식).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진단의 가치: 예후·재발 위험 상담, 맞춤 치료(대사질환, 뇌전증 약물 선택), 불필요 검사 중단('진단 오디세이' 종결; B10 L11).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패널, 엑솜, 유전체의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진단율(희귀질환)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패널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수십~수백 유전자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질환군별 10–50%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깊은 커버리지, 해석 용이, 저비용, 2차 발견 적음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유전자·표현형 확장 놓침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염색체 마이크로어레이(CMA)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유전체 CNV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발달지연·다발기형 15–20%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검사(ACMG)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균형 전위·SNV 불가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엑솜(ES)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 부호화 ~1–2%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25–40% (트리오 높음)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재분석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비부호화·구조변이·반복 약함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유전체(GS)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30–60%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CNV·SV·반복·미토·심부 인트론 동시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비용, 데이터 양, VUS 증가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RNA-seq 보조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발현·스플라이싱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+7–35%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기능적 근거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 접근성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패널, 엑솜, 유전체의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한국은 2017년 이후 희귀질환 유전자 패널·엑솜 검사가 건강보험 급여화되었고, '희귀질환 진단지원사업'과 국가 유전체 사업(국가바이오빅데이터)이 진행 중이다. 검사 전후 유전상담이 필수이며 「생명윤리법」상 동의 절차를 지켜야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 유전체학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체세포 vs 생식세포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종양-정상 쌍 분석으로 체세포 변이 구분. 종양만 검사하면 생식세포 변이(BRCA, 린치)가 함께 발견될 수 있어 상담 필요(종양 검사의 약 10% 내외에서 병원성 생식세포 변이).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포괄적 유전체 프로파일링(CGP)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수백 유전자 패널 → 표적 가능 변이(EGFR, ALK, BRAF, KRAS G12C, HER2, NTRK, RET, MET 엑손14, FGFR, IDH1/2, PIK3CA, BRCA),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TMB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(종양 돌연변이 부담 ≥10 mut/Mb → 펨브롤리주맙 조직 불문 승인),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MSI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HRD, 융합(RNA 기반 검출이 더 민감).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분자종양위원회(MTB)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변이 해석 등급(AMP/ASCO/CAP Tier I–IV, ESMO ESCAT)으로 치료 권고.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 유전체학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진화: 클론·하위클론 구조, 치료 압력 하 선택(EGFR T790M/C797S, ESR1 변이), 클론성 조혈(CHIP) 오염 주의.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대표 진단 분자 표지: 신경교종(IDH, 1p/19q 공동결실, H3 K27M, CDKN2A/B, MGMT) — 2021 WHO CNS 분류는 분자 진단을 통합했다(B09 L05).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액체생검과 cfDNA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cfDNA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주로 조혈세포 자멸 유래, 약 167 bp(뉴클레오솜 보호). 종양 유래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ctDNA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총 cfDNA의 0.01%~수십 %.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활용: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진단 시 조직 부족 시 변이 확인(EGFR 등).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미세잔존질환(MRD)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수술 후 종양 특이 변이 추적(종양 정보 기반 맞춤 패널) → 재발 예측이 영상보다 수개월 앞섬; DYNAMIC 시험(2기 대장암)에서 ctDNA 기반으로 보조항암 사용을 줄여도 결과 동등.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내성 모니터링, 치료 반응 평가.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다중암 조기진단(MCED)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cfDNA 메틸화 패턴 + 조직 기원 예측(Galleri). 위양성·과잉진단·사망률 이득 미확정(NHS-Galleri 시험 결과 대기).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액체생검과 cfDNA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비침습 산전검사(NIPT)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태반 cfDNA (B02 L06).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이식 신장 공여자 유래 cfDNA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거부 반응 감시.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기술: 디지털 PCR, 오류 보정 NGS(UMI 분자 바코드), 단편체학(fragmentomics; 길이·말단 모티프 패턴).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약물유전체와 개인 유전체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선제적 약물유전체(preemptive PGx) 패널은 PREPARE 시험(유럽)에서 부작용을 30% 줄였다.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개인 소비자 직접(DTC) 유전자 검사: 한국은 허용 항목이 제한되어 있으며, 질환 위험 해석의 오용·개인정보 문제가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약물유전체와 개인 유전체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HLA-B*15:02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카르바마제핀, 페니토인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SJS/TEN (동남아·한족)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투여 전 검사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HLA-B*58:01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알로퓨리놀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SJS/TEN (한국·한족·태국)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투여 전 검사 권고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HLA-B*57:01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아바카비르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과민반응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투여 전 필수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CYP2C19 기능소실(*2, *3; 동아시아 ~15% 저대사자)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클로피도그렐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활성화 저하 → 스텐트 혈전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티카그렐러·프라수그렐 대체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CYP2D6 (초고속/저대사)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코데인, 트라마돌, 타목시펜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모르핀 과다(소아 사망) / 효과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 약물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CYP2C9 + VKORC1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와파린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요구 차이(아시아인 VKORC1 -1639A 빈도 높아 저용량)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유전형 기반 용량 알고리즘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TPMT, NUDT15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티오퓨린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골수억제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감량(B01 L12)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DPYD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5-FU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치명적 독성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감량·대체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약물유전체와 개인 유전체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UGT1A1*28/*6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이리노테칸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호중구감소·설사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SLCO1B1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심바스타틴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스타틴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라스부리카아제, 프리마퀸, 다프손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금기/검사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윤리·법·사회적 쟁점(ELSI)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사전 동의: 검사 목적, 가능한 결과(양성·음성·VUS·2차 발견), 가족에 대한 함의, 데이터 보관·공유.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 검사: 성인 발병·치료 불가 질환(헌팅턴 등)의 예측 검사는 원칙적으로 성인이 될 때까지 유보.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차별 금지(미국 GINA; 한국 「생명윤리법」 제46조 유전정보에 의한 차별 금지) — 생명·장기요양 보험의 공백.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가족 통보 의무와 비밀유지의 충돌.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데이터 공유와 재식별 위험, 집단 간 참조 데이터 불균형(유럽계 편중)으로 인한 VUS 비율 격차.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장판독 기반 '원스톱' 임상 유전체(SV·반복·메틸화·위상 동시)가 상용화 단계이며, 나노포어 초고속 분석으로 수술 중 뇌종양 메틸화 분류(Sturgeon 신경망; 40분 내)가 가능해졌다(Vermeulen et al., Nature 2023).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집단 유전체 선별(예: 미국 Geisinger MyCode, 호주 DNA Screen)로 CDC Tier 1 질환(BRCA, 린치, FH) 보인자를 찾아 예방하는 '유전체 공중보건'이 확대되고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언어모델·AI가 표현형 기반 변이 우선순위와 문헌 근거 수집을 자동화하고 있으나 검증·책임 문제가 남아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단판독 NGS는 저비용·고정확, 장판독은 구조변이·반복·위상·메틸화에 강하다.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분석은 정렬 → 변이 호출 → 주석 → 표현형 기반 필터 → ACMG 분류의 단계로 진행된다.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희귀질환은 CMA·엑솜·유전체(트리오), 재분석, RNA-seq 보조로 진단율을 높인다.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 유전체 검사는 표적 변이·TMB·MSI·HRD·융합을 평가하고, ctDNA는 MRD·내성·조기진단에 쓰인다.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HLA·CYP·TPMT/NUDT15·DPYD 약물유전체와 ELSI는 유전체 의학 실무의 필수 요소이다.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발달지연과 다발기형이 있는 아동에서 가장 먼저 권고되는 유전 검사 전략은? 그리고 결과가 음성이면?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염색체 마이크로어레이(CMA) 또는 엑솜/유전체 검사(가능하면 부모 포함 트리오)를 1차로 시행한다(ACMG 2021은 ES/GS를 1·2차 검사로 권고). 음성이면 유전체 검사로 확대, 표현형 재평가, RNA-seq·메틸화 검사, 1–3년 후 데이터 재분석을 고려한다.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폐선암 환자의 조직이 부족해 혈장 ctDNA 검사를 했더니 EGFR 변이가 음성이었다.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ctDNA 음성은 '변이 없음'이 아니라 종양 DNA 방출량이 적어 검출 한계 이하일 수 있다(위음성). 판독 지표(다른 종양 변이·ctDNA 분율)를 확인하고, 가능하면 조직 재생검을 시행해야 한다. 반대로 양성은 신뢰도가 높아 치료 결정에 사용할 수 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한국인 환자에게 알로퓨리놀을 처음 투여하기 전에 HLA-B*58:01 검사를 권고하는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HLA-B*58:01 보유자는 알로퓨리놀(옥시퓨리놀)에 대한 T세포 매개 중증 피부이상반응(SJS/TEN, DRESS) 위험이 수십~수백 배 높고, 이 대립유전자 빈도가 한국인 등 동아시아 집단에서 높기 때문이다(특히 신기능 저하 시 위험 증가). 양성이면 페북소스타트 등 대체 약물을 사용한다.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단독 NGS에서 BRCA2 병원성 변이(VAF 약 50%)가 검출되었다. 추가로 해야 할 일은?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VAF 약 50%는 생식세포 변이 가능성을 시사하므로 유전상담 후 정상 조직(혈액·타액) 생식세포 검사로 확인한다. 생식세포 변이이면 환자의 다른 암 위험 관리와 가족 연쇄 검사가 필요하며, 체세포·생식세포 모두 PARP 억제제 적응 판단에 사용될 수 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Shendure J et al. DNA sequencing at 40: past, present and future. Nature 2017;550:345–353.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Manickam K et al. Exome and genome sequencing for pediatric patients with congenital anomalies or intellectual disability: ACMG guideline. Genet Med 2021;23:2029–2037.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Wenger AM et al. Accurate circular consensus long-read sequencing improves variant detection. Nat Biotechnol 2019;37:1155–1162.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B02-L10  ·  유전체학과 NGS의 임상 활용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Tie J et al. Circulating tumor DNA analysis guiding adjuvant therapy in stage II colon cancer (DYNAMIC). N Engl J Med 2022;386:2261–2272.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Swen JJ et al. A 12-gene pharmacogenetic panel to prevent adverse drug reactions (PREPARE). Lancet 2023;401:347–356.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