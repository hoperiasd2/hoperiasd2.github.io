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환자 조혈모세포의 BCL11A 적혈구 특이 인핸서를 CRISPR로 파괴하면 적혈구 계열에서만 BCL11A(γ-글로빈 억제 전사인자) 발현이 감소해 태아 혈색소(HbF, α₂γ₂) 생산이 재활성화된다. HbF는 겸상화를 억제하므로 증상이 사라진다. 인핸서를 표적하므로 다른 세포의 BCL11A 기능은 보존된다.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VHL은 수산화된 HIF-α를 유비퀴틴화해 분해하는 E3 리가아제의 기질 인식 소단위이다. VHL이 소실되면 정상 산소에서도 HIF-α(특히 HIF-2α)가 축적되어 VEGF(혈관 신생), GLUT1·해당 효소, EPO(적혈구증가)를 전사한다. HIF-2α 억제제 벨주티판이 치료제이다.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레날리도마이드는 CRL4CRBN E3 리가아제의 기질 수용체 세레블론에 결합해 '분자 접착제'로 작용하여 원래 기질이 아닌 전사인자 IKZF1(Ikaros)·IKZF3(Aiolos)를 유비퀴틴화·분해시킨다. 골수종 세포는 이 인자들에 의존(IRF4–MYC 축)하므로 사멸하며, T세포에서는 IL-2 증가로 면역 활성 효과도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α-아마니틴은 장에서 흡수된 뒤 문맥을 통해 간에 고농도로 도달하고, 간세포막의 OATP1B3 수송체로 능동 흡수되며, 담즙으로 배설된 후 재흡수되는 장간순환으로 간 노출이 반복된다. RNA Pol II가 억제되면 mRNA 생성이 멈춰 단백질 합성이 많은 간세포가 괴사한다.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RNA와 단백질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전사와 전사 조절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Transcription and Its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B02-L07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RNA 중합효소 I·II·III의 역할과 RNA Pol II 전사 주기(개시–정지–신장–종결)를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프로모터·인핸서·사일런서·절연체와 일반 전사인자(TFIID 등), 매개체(Mediator)의 기능을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전사인자의 DNA 결합 도메인과 조합적 조절, 초인핸서를 이해한다.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조절 이상 질환(전사인자병증, 전사 중독 암)과 약물을 연결한다.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억제 약물·독소(α-아마니틴, 액티노마이신 D, 리팜핀)의 표적을 구분한다.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RNA 중합효소와 전사 단위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프로모터와 전사 개시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인핸서와 원거리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전사인자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 의존 전사와 세포 반응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조절 이상과 표적치료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RNA 중합효소와 전사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전사는 주형(안티센스) 가닥을 3'→5'로 읽어 RNA를 5'→3'으로 합성하며 프라이머가 필요 없다. 오류율은 DNA 복제보다 높다(~10⁻⁴–10⁻⁵).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액티노마이신 D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DNA에 삽입해 모든 중합효소를 막는다(윌름스 종양·융모막암 치료).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RNA 중합효소와 전사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억제제 감수성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 Pol 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45S pre-rRNA (28S, 18S, 5.8S)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핵소체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α-아마니틴 저항; CX-5461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 Pol II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mRNA, 대부분 lncRNA, miRNA 전구체, snRNA 대부분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α-아마니틴 고감수성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(독버섯 Amanita)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RNA Pol III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tRNA, 5S rRNA, U6 snRNA, 7SL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고농도 α-아마니틴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POLRMT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mtDNA 전사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소단위(파지 유사)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세균 RNA 중합효소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RNA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(β 소단위), 피닥소마이신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RNA 중합효소와 전사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독버섯(Amanita phalloides) 중독은 섭취 6–12시간 후 콜레라 유사 설사, 일시적 호전 후 2–4일째 전격성 간부전을 일으킨다. α-아마니틴이 OATP1B3로 간세포에 흡수되어 RNA Pol II를 억제하기 때문이며, 실리비닌(OATP 흡수 차단), N-아세틸시스테인, 간이식이 치료이다.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프로모터와 전사 개시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핵심 프로모터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TATA 상자(-25~-30; 일부 유전자), 개시자(Inr), 하류 프로모터 요소(DPE). 인간 유전자 다수는 TATA 없는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CpG 섬 프로모터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(양방향 전사 흔함).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전개시 복합체(PIC)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조립: TFIID(TBP + TAF) → TFIIA, TFIIB → Pol II + TFIIF → TFIIE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TFIIH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(XPB 헬리케이스가 DNA 개방; CDK7이 Pol II CTD Ser5 인산화).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Pol II CTD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(YSPTSPS 52회 반복)의 인산화 '코드': Ser5-P(개시, 캡 형성 효소 소집) → Ser2-P(신장, 스플라이싱·3' 가공 인자 소집; CDK9/P-TEFb, CDK12).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프로모터와 전사 개시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프로모터 근위 정지(pausing)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개시 후 +20~+60에서 NELF·DSIF가 Pol II를 멈춤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P-TEFb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(CDK9–사이클린 T1)가 NELF·DSIF·CTD Ser2 인산화 → 생산적 신장. HIV Tat는 TAR RNA에 결합해 P-TEFb를 소집해 바이러스 전사를 증폭한다.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종결: 폴리A 신호(AAUAAA) 절단 후 XRN2 '어뢰' 모델로 Pol II 해리.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프로모터와 전사 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CDK7/9/12 억제제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MYC 등 짧은 반감기 종양유전자 전사에 의존하는 암에서 연구되며, CDK12 결손 전립선암은 DNA 수선 유전자 발현이 떨어져 PARP 억제제·면역치료 감수성이 다르다.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인핸서와 원거리 조절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인핸서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위치·방향에 무관하게 수 kb–1 Mb 떨어진 곳에서 전사를 증가시키는 조절 서열. 전사인자 결합 부위 집합. 표지: H3K27ac, H3K4me1, 개방 크로마틴(ATAC-seq), p300, 양방향 eRNA 전사.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인핸서–프로모터 접촉은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Mediator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30개 소단위)와 코헤신 고리로 이루어지며 TAD 안에서 제한된다(B02 L05).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사일런서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억제 인자 결합.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절연체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(CTCF): 인핸서 차단·이질염색질 확산 방지.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초인핸서(super-enhancer)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 정체성 유전자 주변의 큰 인핸서 군집으로 Mediator·BRD4가 고농도로 모여 응축체(condensate)를 형성. 암에서 종양유전자(MYC)를 구동하며 BET·CDK7 억제에 특히 민감하다.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인핸서 변이와 질환: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인핸서와 원거리 조절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선천적 실명/무홍채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등에서 PAX6 원거리 인핸서 결실.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SHH ZRS 인핸서(약 1 Mb 상류, LMBR1 인트론) 점변이 → 전축성 다지증.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성인 젖당 분해효소 지속증: LCT 상류 MCM6 인트론 인핸서 변이(-13910C&gt;T; 유럽 기원).</a:t>
            </a:r>
          </a:p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BCL11A 적혈구 특이 인핸서(+58) → 겸상적혈구병 유전자 편집 치료 표적(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엑사-셀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인핸서와 원거리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질병 GWAS 변이의 약 90%가 비부호화 영역에 있으며 상당수가 세포 유형 특이적 인핸서에 위치한다. 따라서 '변이 → 인핸서 → 표적 유전자 → 세포 유형'을 연결하는 것이 복합 질환 기전 연구의 핵심 과제이다.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전사인자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DNA 결합 도메인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(DBD) + 활성/억제 도메인(공동활성자 p300/CBP, Mediator, 공동억제자 NCoR/SMRT–HDAC 소집).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조합적 조절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수천 개 유전자를 약 1,600개 전사인자가 조합으로 제어. 개척 인자(pioneer factor; FOXA, SOX2, PU.1)는 닫힌 크로마틴에 먼저 결합해 문을 연다.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유도만능줄기세포(iPSC)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OCT4, SOX2, KLF4, MYC(야마나카 인자)로 체세포를 다능성으로 재프로그래밍(2012 노벨상) — 환자 유래 iPSC 신경세포로 질병 모델링·약물 탐색(B06).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전사인자 반수부족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많은 발생 증후군이 전사인자 한 대립 소실로 생긴다(용량 민감성).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전사인자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DBD 계열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호메오도메인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HOX, PAX, PDX1, NKX2-5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합지증(HOXD13), MODY4(PDX1), 선천심질환(NKX2-5)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아연 손가락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핵수용체, CTCF, WT1, ZNF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윌름스 종양(WT1), 안드로겐 무감응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나선-고리-나선(bHLH)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MYC, MYOD, NEUROD, HIF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버킷림프종 t(8;14) MYC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류신 지퍼(bZIP)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AP-1(FOS/JUN), CREB, C/EBP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포크헤드(FOX)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FOXP3, FOXO, FOXP2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IPEX(FOXP3), 언어장애(FOXP2)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T-박스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TBX5, TBX1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홀트-오람, 22q11.2 표현형(TBX1)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HMG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SOX9, SRY, TCF/LEF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굽은사지이형성증(SOX9), 성 발달 차이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ETS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ERG, FLI1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전립선암 TMPRSS2–ERG, 유잉육종 EWSR1–FLI1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전사인자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DBD 계열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p53 계열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TP53, TP63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리-프라우메니, 외배엽이형성증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 의존 전사와 세포 반응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신호가 전사인자를 활성화하는 방식: 인산화(CREB–PKA, STAT–JAK), 억제자 분해(NF-κB–IκB, β-카테닌), 리간드 결합(핵수용체), 절단(Notch, SREBP, ATF6), 핵 이동(NFAT–칼시뉴린, TFEB).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저산소 반응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정상 산소에서 HIF-α는 PHD가 수산화 → VHL E3 리가아제가 유비퀴틴화 → 분해. 저산소·VHL 결손 시 HIF-α 안정 → EPO, VEGF, GLUT1, 해당 효소 전사.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폰 히펠-린다우병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망막·소뇌 혈관모세포종, 투명세포 신세포암, 갈색세포종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벨주티판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(HIF-2α 억제제, 2021 승인).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HIF-PH 억제제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(록사두스타트, 다프로두스타트): 만성콩팥병 빈혈 치료(내인성 EPO 증가).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 의존 전사와 세포 반응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열충격 반응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(HSF1 → HSP70/90),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항산화 반응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(KEAP1–NRF2 → ARE: NQO1, GCLC; 다이메틸 푸마레이트·오마벨록솔렌(프리드라이히 운동실조) 표적),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일주기 시계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(CLOCK–BMAL1 → PER/CRY 음성 되먹임).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 의존 전사와 세포 반응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KEAP1–NRF2 경로: 정상에서 KEAP1이 NRF2를 분해하지만 친전자성 스트레스가 KEAP1 시스테인을 변형하면 NRF2가 안정화된다. 폐암의 KEAP1 변이는 NRF2 상시 활성으로 항암제·방사선 저항성과 면역관문억제제 불응을 일으킨다.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 조절 이상과 표적치료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중독(transcriptional addiction)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MYC 과발현 암은 전반적 전사 증폭에 의존 → BET 억제제, CDK7/9 억제제.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융합 전사인자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PML–RARA(APL; ATRA + 비소 삼산화물이 PML–RARα 분해 → 완치율 &gt;90%), EWSR1–FLI1(유잉육종), PAX3/7–FOXO1(포상 횡문근육종), ETV6–RUNX1(소아 ALL).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핵수용체 표적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타목시펜·아로마타제 억제제(ER), 엔잘루타마이드·아비라테론(AR 신호), 글루코코르티코이드(GR; 림프구 자멸).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전사 조절 이상과 표적치료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단백질 분해 유도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레날리도마이드·포말리도마이드(분자 접착제)가 세레블론(CRBN) E3 리가아제의 기질 특이성을 바꿔 전사인자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IKZF1/3(Ikaros/Aiolos)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분해 → 다발골수종; 5q- MDS에서는 CK1α 분해. 탈리도마이드 기형의 기전은 SALL4 분해로 밝혀졌다.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전사인자 직접 표적의 어려움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평평한 결합면·내재적 무질서로 '약물화 불가'로 여겨졌으나 PROTAC·분자 접착제·안티센스로 극복 중(STAT3 분해제, 안드로겐 수용체 PROTAC 바베데갈루타마이드).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응축체(transcriptional condensate) 모델: 전사인자의 내재적 무질서 영역(IDR)과 Mediator가 상분리로 고농도 허브를 만든다는 가설이 활발히 검증 중이며, 일부 약물이 응축체에 선택적으로 분배된다.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단일세포·단일분자 영상에서 전사는 '버스트(burst)'로 일어나며, 인핸서가 버스트 빈도를, 프로모터가 버스트 크기를 조절한다는 모델이 제시되었다.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병렬 리포터 분석(MPRA)과 CRISPR 간섭(CRISPRi) 타일링으로 수만 개 비부호화 변이의 조절 효과를 직접 측정해 GWAS 원인 변이를 찾는다.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AI 서열 모델(Enformer, AlphaGenome 2025)이 DNA 서열만으로 세포 유형별 발현·크로마틴 상태를 예측해 비부호화 변이 해석을 돕는다.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Pol I(rRNA), Pol II(mRNA; α-아마니틴), Pol III(tRNA, 5S)는 서로 다른 RNA를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Pol II 전사는 PIC 조립 → TFIIH 개방 → 프로모터 근위 정지 → P-TEFb 해제 → 신장 → 종결의 주기를 따르며 CTD 인산화가 단계를 조정한다.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인핸서는 Mediator·코헤신 고리를 통해 원거리에서 작용하며, 질환 GWAS 변이 다수가 인핸서에 위치한다.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전사인자는 DBD 계열별로 발생 증후군과 암 융합 단백질을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HIF–VHL, NRF2–KEAP1, 핵수용체, IMiD에 의한 IKZF 분해 등이 전사 조절 표적치료의 예이다.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겸상적혈구병에 대한 유전자 편집 치료(엑사감글로진 오토템셀)가 HBB 변이 자체를 고치지 않고도 효과적인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환자 조혈모세포의 BCL11A 적혈구 특이 인핸서를 CRISPR로 파괴하면 적혈구 계열에서만 BCL11A(γ-글로빈 억제 전사인자) 발현이 감소해 태아 혈색소(HbF, α₂γ₂) 생산이 재활성화된다. HbF는 겸상화를 억제하므로 증상이 사라진다. 인핸서를 표적하므로 다른 세포의 BCL11A 기능은 보존된다.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폰 히펠-린다우병 환자에서 투명세포 신세포암과 적혈구증가증이 생기는 공통 분자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VHL은 수산화된 HIF-α를 유비퀴틴화해 분해하는 E3 리가아제의 기질 인식 소단위이다. VHL이 소실되면 정상 산소에서도 HIF-α(특히 HIF-2α)가 축적되어 VEGF(혈관 신생), GLUT1·해당 효소, EPO(적혈구증가)를 전사한다. HIF-2α 억제제 벨주티판이 치료제이다.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레날리도마이드가 다발골수종을 치료하는 분자 기전을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레날리도마이드는 CRL4CRBN E3 리가아제의 기질 수용체 세레블론에 결합해 '분자 접착제'로 작용하여 원래 기질이 아닌 전사인자 IKZF1(Ikaros)·IKZF3(Aiolos)를 유비퀴틴화·분해시킨다. 골수종 세포는 이 인자들에 의존(IRF4–MYC 축)하므로 사멸하며, T세포에서는 IL-2 증가로 면역 활성 효과도 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α-아마니틴 중독에서 간이 가장 심하게 손상되는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α-아마니틴은 장에서 흡수된 뒤 문맥을 통해 간에 고농도로 도달하고, 간세포막의 OATP1B3 수송체로 능동 흡수되며, 담즙으로 배설된 후 재흡수되는 장간순환으로 간 노출이 반복된다. RNA Pol II가 억제되면 mRNA 생성이 멈춰 단백질 합성이 많은 간세포가 괴사한다.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Cramer P. Organization and regulation of gene transcription. Nature 2019;573:45–54.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Lambert SA et al. The human transcription factors. Cell 2018;172:650–665.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Bradner JE, Hnisz D, Young RA. Transcriptional addiction in cancer. Cell 2017;168:629–643.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Frangoul H et al. CRISPR-Cas9 gene editing for sickle cell disease and β-thalassemia. N Engl J Med 2021;384:252–260.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B02-L07  ·  전사와 전사 조절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Krönke J et al. Lenalidomide causes selective degradation of IKZF1 and IKZF3 in multiple myeloma cells. Science 2014;343:301–305.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