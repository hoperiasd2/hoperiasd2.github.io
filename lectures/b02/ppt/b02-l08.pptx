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엑손 50 결실은 읽기틀을 이동시켜 조기 종결 코돈을 만들어 디스트로핀이 거의 생성되지 않는다(뒤시엔형). 엑손 51을 추가로 건너뛰면 엑손 49와 52가 연결되며 읽기틀이 회복되어, 중간이 짧지만 N말단과 C말단 결합 도메인을 가진 부분 기능 디스트로핀(베커형 유사)이 생성된다.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DMPK 3'UTR의 확장된 CUG 반복 RNA가 핵 내 병소를 형성해 스플라이싱 조절 단백질 MBNL1을 격리하고 CELF1은 증가시킨다. 그 결과 여러 pre-mRNA가 태아형 스플라이싱으로 돌아가 CLCN1(근육 Cl⁻ 통로) 기능이 떨어져 근긴장증이, INSR 엑손 11 제외(저신호 IR-A 이소형)로 인슐린 저항성이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삼가 GalNAc 리간드가 간세포에 고밀도로 발현되는 아시알로당단백질 수용체(ASGPR)에 결합해 빠르게 세포내섭취되고, 화학적으로 안정화된 siRNA가 엔도솜에서 서서히 빠져나와 AGO2에 장기간 적재되므로 연 1–2회 피하주사로도 표적 mRNA를 지속적으로 낮출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앞쪽 엑손의 조기 종결 코돈은 하류에 엑손 연결 복합체가 남아 NMD로 mRNA가 분해되어 단백질이 거의 없는 기능소실(종종 반수부족)이 된다. 마지막 엑손(또는 마지막 연결 50–55 nt 이내)의 PTC는 NMD를 피해 절단 단백질이 생성되어 우성음성 또는 기능획득 효과로 다른(흔히 더 중증인) 표현형을 만들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B02 의학분자생물학  ·  RNA와 단백질</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RNA 가공, 비부호화 RNA와 RNA 치료제</a:t>
            </a:r>
          </a:p>
          <a:p>
            <a:r>
              <a:rPr sz="2000" b="0" i="0">
                <a:solidFill>
                  <a:srgbClr val="C2CDD6"/>
                </a:solidFill>
                <a:latin typeface="Malgun Gothic"/>
                <a:ea typeface="Malgun Gothic"/>
                <a:cs typeface="Malgun Gothic"/>
              </a:rPr>
              <a:t>RNA Processing, Non-coding RNA and RNA Therapeutics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B02-L08</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5' 캡, 스플라이싱(스플라이세오솜, 대체 스플라이싱), 3' 폴리아데닐화, RNA 편집의 기전을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mRNA 수출·안정성·NMD와 RNA 수식(m6A)을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miRNA·siRNA·piRNA·lncRNA·circRNA의 생합성과 기능을 비교한다.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스플라이싱 이상 질환과 RNA 매개 질환(반복 확장 RNA 독성)을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ASO·siRNA·mRNA 백신·스플라이싱 조절제 등 RNA 치료 플랫폼의 원리와 승인 약물을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mRNA 가공의 3단계</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스플라이싱의 기전</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스플라이싱과 질환</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RNA 편집, 수식, 수출과 분해</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비부호화 RNA</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RNA 치료제 플랫폼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mRNA 가공의 3단계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5' 캡</a:t>
            </a:r>
            <a:r>
              <a:rPr sz="1800" b="0" i="0">
                <a:solidFill>
                  <a:srgbClr val="11202B"/>
                </a:solidFill>
                <a:latin typeface="Malgun Gothic"/>
                <a:ea typeface="Malgun Gothic"/>
                <a:cs typeface="Malgun Gothic"/>
              </a:rPr>
              <a:t>: 전사 초기(20–30 nt) 7-메틸구아노신이 5'–5' 삼인산 결합으로 부착(캡 형성효소: RNA 삼인산가수분해효소, 구아닐릴전이효소, N7 메틸전이효소). 기능: 분해 방지, 스플라이싱, 핵 수출, 번역 개시(eIF4E 결합). 인간 mRNA는 첫 뉴클레오타이드 2'-O 메틸화(cap1) — '자기' 표지로 RIG-I/IFIT 회피.</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스플라이싱</a:t>
            </a:r>
            <a:r>
              <a:rPr sz="1800" b="0" i="0">
                <a:solidFill>
                  <a:srgbClr val="11202B"/>
                </a:solidFill>
                <a:latin typeface="Malgun Gothic"/>
                <a:ea typeface="Malgun Gothic"/>
                <a:cs typeface="Malgun Gothic"/>
              </a:rPr>
              <a:t>: 인트론 제거(인간 유전자 평균 약 8–9개 엑손, 인트론이 pre-mRNA의 ~90%).</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3' 말단 가공</a:t>
            </a:r>
            <a:r>
              <a:rPr sz="1800" b="0" i="0">
                <a:solidFill>
                  <a:srgbClr val="11202B"/>
                </a:solidFill>
                <a:latin typeface="Malgun Gothic"/>
                <a:ea typeface="Malgun Gothic"/>
                <a:cs typeface="Malgun Gothic"/>
              </a:rPr>
              <a:t>: AAUAAA 신호 + 하류 GU 풍부 요소 → CPSF·CstF가 절단 → 폴리A 중합효소가 약 200 nt 폴리A 꼬리 → PABP 결합(안정성, 번역).</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대체 폴리아데닐화(APA)</a:t>
            </a:r>
            <a:r>
              <a:rPr sz="1600" b="0" i="0">
                <a:solidFill>
                  <a:srgbClr val="2E3F4C"/>
                </a:solidFill>
                <a:latin typeface="Malgun Gothic"/>
                <a:ea typeface="Malgun Gothic"/>
                <a:cs typeface="Malgun Gothic"/>
              </a:rPr>
              <a:t>: 증식 세포·암에서 짧은 3'UTR(miRNA 결합 부위 회피) 선택.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mRNA 가공의 3단계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히스톤 mRNA는 폴리A 대신 줄기-고리 구조.</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가공은 전사와 </a:t>
            </a:r>
            <a:r>
              <a:rPr sz="2200" b="1" i="0">
                <a:solidFill>
                  <a:srgbClr val="11202B"/>
                </a:solidFill>
                <a:latin typeface="Malgun Gothic"/>
                <a:ea typeface="Malgun Gothic"/>
                <a:cs typeface="Malgun Gothic"/>
              </a:rPr>
              <a:t>공전사적</a:t>
            </a:r>
            <a:r>
              <a:rPr sz="2200" b="0" i="0">
                <a:solidFill>
                  <a:srgbClr val="11202B"/>
                </a:solidFill>
                <a:latin typeface="Malgun Gothic"/>
                <a:ea typeface="Malgun Gothic"/>
                <a:cs typeface="Malgun Gothic"/>
              </a:rPr>
              <a:t>으로 일어나며 Pol II CTD가 가공 인자를 실어 나른다.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스플라이싱의 기전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서열 신호: 5' 스플라이스 부위(GU), 분지점(A; 3' 부위 18–40 nt 상류), 폴리피리미딘 서열, 3' 스플라이스 부위(AG) — 'GU-AG 법칙'.</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스플라이세오솜</a:t>
            </a:r>
            <a:r>
              <a:rPr sz="1800" b="0" i="0">
                <a:solidFill>
                  <a:srgbClr val="11202B"/>
                </a:solidFill>
                <a:latin typeface="Malgun Gothic"/>
                <a:ea typeface="Malgun Gothic"/>
                <a:cs typeface="Malgun Gothic"/>
              </a:rPr>
              <a:t>: snRNP U1, U2, U4/U6, U5(snRNA + Sm 단백질) + 약 150개 단백질.</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U1이 5' 부위, U2AF가 폴리피리미딘·3' AG, U2가 분지점에 결합 → U4/U6·U5 삼중 snRNP 합류 → 재배열(U6가 촉매 RNA) → 두 번의 에스터 교환반응 → </a:t>
            </a:r>
            <a:r>
              <a:rPr sz="1600" b="1" i="0">
                <a:solidFill>
                  <a:srgbClr val="2E3F4C"/>
                </a:solidFill>
                <a:latin typeface="Malgun Gothic"/>
                <a:ea typeface="Malgun Gothic"/>
                <a:cs typeface="Malgun Gothic"/>
              </a:rPr>
              <a:t>올가미(lariat)</a:t>
            </a:r>
            <a:r>
              <a:rPr sz="1600" b="0" i="0">
                <a:solidFill>
                  <a:srgbClr val="2E3F4C"/>
                </a:solidFill>
                <a:latin typeface="Malgun Gothic"/>
                <a:ea typeface="Malgun Gothic"/>
                <a:cs typeface="Malgun Gothic"/>
              </a:rPr>
              <a:t> 인트론 방출, 엑손 연결.</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엑손 연결 복합체(EJC)가 연결 부위 20–24 nt 상류에 남아 이후 NMD·번역에 영향.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스플라이싱의 기전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대체 스플라이싱</a:t>
            </a:r>
            <a:r>
              <a:rPr sz="2000" b="0" i="0">
                <a:solidFill>
                  <a:srgbClr val="11202B"/>
                </a:solidFill>
                <a:latin typeface="Malgun Gothic"/>
                <a:ea typeface="Malgun Gothic"/>
                <a:cs typeface="Malgun Gothic"/>
              </a:rPr>
              <a:t>: 인간 다중 엑손 유전자의 &gt;95%가 대체 스플라이싱; 엑손 건너뛰기, 대체 5'/3' 부위, 상호 배타 엑손, 인트론 보유. SR 단백질(엑손 인핸서 ESE 결합; 촉진)과 hnRNP(사일런서; 억제)의 균형, 조직 특이 인자(NOVA, RBFOX, PTBP1, MBNL, CELF).</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예: DSCAM(초파리 3만 8천 이소형), 칼시토닌/CGRP(CALCA), 막결합/분비형 IgM, Bcl-x(L 항자멸 vs S 친자멸).</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소수 스플라이세오솜</a:t>
            </a:r>
            <a:r>
              <a:rPr sz="2000" b="0" i="0">
                <a:solidFill>
                  <a:srgbClr val="11202B"/>
                </a:solidFill>
                <a:latin typeface="Malgun Gothic"/>
                <a:ea typeface="Malgun Gothic"/>
                <a:cs typeface="Malgun Gothic"/>
              </a:rPr>
              <a:t>(U11/U12; AU-AC 인트론 &lt;0.5%): RNU4ATAC 변이 → 소두증 원발성 왜소증 1형(MOPD1).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스플라이싱의 기전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8</a:t>
            </a:r>
          </a:p>
        </p:txBody>
      </p:sp>
      <p:sp>
        <p:nvSpPr>
          <p:cNvPr id="7" name="Rectangle 6"/>
          <p:cNvSpPr/>
          <p:nvPr/>
        </p:nvSpPr>
        <p:spPr>
          <a:xfrm>
            <a:off x="640080" y="1325880"/>
            <a:ext cx="10881360" cy="15621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1" i="0">
                <a:solidFill>
                  <a:srgbClr val="11202B"/>
                </a:solidFill>
                <a:latin typeface="Malgun Gothic"/>
                <a:ea typeface="Malgun Gothic"/>
                <a:cs typeface="Malgun Gothic"/>
              </a:rPr>
              <a:t>자가항체</a:t>
            </a:r>
            <a:r>
              <a:rPr sz="2000" b="0" i="0">
                <a:solidFill>
                  <a:srgbClr val="11202B"/>
                </a:solidFill>
                <a:latin typeface="Malgun Gothic"/>
                <a:ea typeface="Malgun Gothic"/>
                <a:cs typeface="Malgun Gothic"/>
              </a:rPr>
              <a:t>: 항-Sm 항체(snRNP 코어 단백질)는 전신홍반루푸스에 매우 특이적이고, 항-U1 RNP 항체는 혼합결합조직병의 진단 기준이다. 스플라이싱 기계가 자가면역의 표적이 되는 대표 사례이다.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스플라이싱과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인간 병원성 점변이의 약 15–30%가 스플라이싱에 영향을 준다(정준 부위 ±1,2 외에도 심부 인트론 변이, 엑손 내 동의 변이의 ESE 파괴).</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스플라이싱 인자 변이 MDS에서 SF3B1 변이는 상대적으로 양호한 예후이며 </a:t>
            </a:r>
            <a:r>
              <a:rPr sz="2200" b="1" i="0">
                <a:solidFill>
                  <a:srgbClr val="11202B"/>
                </a:solidFill>
                <a:latin typeface="Malgun Gothic"/>
                <a:ea typeface="Malgun Gothic"/>
                <a:cs typeface="Malgun Gothic"/>
              </a:rPr>
              <a:t>루스파테르셉트</a:t>
            </a:r>
            <a:r>
              <a:rPr sz="2200" b="0" i="0">
                <a:solidFill>
                  <a:srgbClr val="11202B"/>
                </a:solidFill>
                <a:latin typeface="Malgun Gothic"/>
                <a:ea typeface="Malgun Gothic"/>
                <a:cs typeface="Malgun Gothic"/>
              </a:rPr>
              <a:t>(TGF-β 계열 리간드 트랩)가 빈혈 개선에 효과적이다.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스플라이싱과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기전</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β-지중해빈혈</a:t>
                      </a:r>
                    </a:p>
                  </a:txBody>
                  <a:tcPr marL="73152" marR="73152">
                    <a:solidFill>
                      <a:srgbClr val="FFFFFF"/>
                    </a:solidFill>
                  </a:tcPr>
                </a:tc>
                <a:tc>
                  <a:txBody>
                    <a:bodyPr/>
                    <a:lstStyle/>
                    <a:p>
                      <a:r>
                        <a:rPr sz="1300" b="0" i="0">
                          <a:solidFill>
                            <a:srgbClr val="11202B"/>
                          </a:solidFill>
                          <a:latin typeface="Malgun Gothic"/>
                          <a:ea typeface="Malgun Gothic"/>
                          <a:cs typeface="Malgun Gothic"/>
                        </a:rPr>
                        <a:t>HBB 인트론 1 G&gt;A(IVS1-110) → 잠재 3' 부위 활성화</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척수성 근위축증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SMN2 엑손 7 C&gt;T(c.840) → ESE 파괴/ISS 생성 → 엑손 7 건너뛰기</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가족성 자율신경이상증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ELP1 인트론 20 +6T&gt;C → 엑손 20 건너뛰기(신경 특이)</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근긴장성 이영양증 1형(DM1)</a:t>
                      </a:r>
                    </a:p>
                  </a:txBody>
                  <a:tcPr marL="73152" marR="73152">
                    <a:solidFill>
                      <a:srgbClr val="ECF1F5"/>
                    </a:solidFill>
                  </a:tcPr>
                </a:tc>
                <a:tc>
                  <a:txBody>
                    <a:bodyPr/>
                    <a:lstStyle/>
                    <a:p>
                      <a:r>
                        <a:rPr sz="1300" b="0" i="0">
                          <a:solidFill>
                            <a:srgbClr val="11202B"/>
                          </a:solidFill>
                          <a:latin typeface="Malgun Gothic"/>
                          <a:ea typeface="Malgun Gothic"/>
                          <a:cs typeface="Malgun Gothic"/>
                        </a:rPr>
                        <a:t>DMPK 3'UTR CUG 확장 RNA가 </a:t>
                      </a:r>
                      <a:r>
                        <a:rPr sz="1300" b="1" i="0">
                          <a:solidFill>
                            <a:srgbClr val="11202B"/>
                          </a:solidFill>
                          <a:latin typeface="Malgun Gothic"/>
                          <a:ea typeface="Malgun Gothic"/>
                          <a:cs typeface="Malgun Gothic"/>
                        </a:rPr>
                        <a:t>MBNL1 격리</a:t>
                      </a:r>
                      <a:r>
                        <a:rPr sz="1300" b="0" i="0">
                          <a:solidFill>
                            <a:srgbClr val="11202B"/>
                          </a:solidFill>
                          <a:latin typeface="Malgun Gothic"/>
                          <a:ea typeface="Malgun Gothic"/>
                          <a:cs typeface="Malgun Gothic"/>
                        </a:rPr>
                        <a:t> → 태아형 스플라이싱(CLCN1 → 근긴장, INSR → 인슐린 저항, SCN5A → 부정맥)</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C9orf72 ALS/FTD</a:t>
                      </a:r>
                    </a:p>
                  </a:txBody>
                  <a:tcPr marL="73152" marR="73152">
                    <a:solidFill>
                      <a:srgbClr val="FFFFFF"/>
                    </a:solidFill>
                  </a:tcPr>
                </a:tc>
                <a:tc>
                  <a:txBody>
                    <a:bodyPr/>
                    <a:lstStyle/>
                    <a:p>
                      <a:r>
                        <a:rPr sz="1300" b="0" i="0">
                          <a:solidFill>
                            <a:srgbClr val="11202B"/>
                          </a:solidFill>
                          <a:latin typeface="Malgun Gothic"/>
                          <a:ea typeface="Malgun Gothic"/>
                          <a:cs typeface="Malgun Gothic"/>
                        </a:rPr>
                        <a:t>GGGGCC 반복 RNA 병소 + RAN 번역 이중펩타이드(B06 L06)</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레버 선천성 흑암시 10</a:t>
                      </a:r>
                    </a:p>
                  </a:txBody>
                  <a:tcPr marL="73152" marR="73152">
                    <a:solidFill>
                      <a:srgbClr val="ECF1F5"/>
                    </a:solidFill>
                  </a:tcPr>
                </a:tc>
                <a:tc>
                  <a:txBody>
                    <a:bodyPr/>
                    <a:lstStyle/>
                    <a:p>
                      <a:r>
                        <a:rPr sz="1300" b="0" i="0">
                          <a:solidFill>
                            <a:srgbClr val="11202B"/>
                          </a:solidFill>
                          <a:latin typeface="Malgun Gothic"/>
                          <a:ea typeface="Malgun Gothic"/>
                          <a:cs typeface="Malgun Gothic"/>
                        </a:rPr>
                        <a:t>CEP290 심부 인트론 c.2991+1655A&gt;G → 잠재 엑손 삽입</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골수형성이상증후군</a:t>
                      </a:r>
                    </a:p>
                  </a:txBody>
                  <a:tcPr marL="73152" marR="73152">
                    <a:solidFill>
                      <a:srgbClr val="FFFFFF"/>
                    </a:solidFill>
                  </a:tcPr>
                </a:tc>
                <a:tc>
                  <a:txBody>
                    <a:bodyPr/>
                    <a:lstStyle/>
                    <a:p>
                      <a:r>
                        <a:rPr sz="1300" b="0" i="0">
                          <a:solidFill>
                            <a:srgbClr val="11202B"/>
                          </a:solidFill>
                          <a:latin typeface="Malgun Gothic"/>
                          <a:ea typeface="Malgun Gothic"/>
                          <a:cs typeface="Malgun Gothic"/>
                        </a:rPr>
                        <a:t>체세포 SF3B1(고리철모구 동반), SRSF2, U2AF1 변이 → 잘못된 3' 부위 선택</a:t>
                      </a:r>
                    </a:p>
                  </a:txBody>
                  <a:tcPr marL="73152" marR="7315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스플라이싱과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11</a:t>
            </a:r>
          </a:p>
        </p:txBody>
      </p:sp>
      <p:sp>
        <p:nvSpPr>
          <p:cNvPr id="7" name="Rectangle 6"/>
          <p:cNvSpPr/>
          <p:nvPr/>
        </p:nvSpPr>
        <p:spPr>
          <a:xfrm>
            <a:off x="640080" y="1325880"/>
            <a:ext cx="10881360" cy="19304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진단 팁: 엑솜/유전체 검사에서 스플라이싱 영향이 의심되는 VUS는 </a:t>
            </a:r>
            <a:r>
              <a:rPr sz="2000" b="1" i="0">
                <a:solidFill>
                  <a:srgbClr val="11202B"/>
                </a:solidFill>
                <a:latin typeface="Malgun Gothic"/>
                <a:ea typeface="Malgun Gothic"/>
                <a:cs typeface="Malgun Gothic"/>
              </a:rPr>
              <a:t>환자 RNA 시퀀싱</a:t>
            </a:r>
            <a:r>
              <a:rPr sz="2000" b="0" i="0">
                <a:solidFill>
                  <a:srgbClr val="11202B"/>
                </a:solidFill>
                <a:latin typeface="Malgun Gothic"/>
                <a:ea typeface="Malgun Gothic"/>
                <a:cs typeface="Malgun Gothic"/>
              </a:rPr>
              <a:t>(혈액·섬유모세포·근육)이나 미니유전자 분석으로 확인한다. 미진단 희귀질환에서 RNA-seq 추가 시 진단율이 7–35% 증가한다.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RNA 편집, 수식, 수출과 분해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RNA 편집</a:t>
            </a:r>
            <a:r>
              <a:rPr sz="1800" b="0" i="0">
                <a:solidFill>
                  <a:srgbClr val="11202B"/>
                </a:solidFill>
                <a:latin typeface="Malgun Gothic"/>
                <a:ea typeface="Malgun Gothic"/>
                <a:cs typeface="Malgun Gothic"/>
              </a:rPr>
              <a:t>:</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A→I 편집</a:t>
            </a:r>
            <a:r>
              <a:rPr sz="1600" b="0" i="0">
                <a:solidFill>
                  <a:srgbClr val="2E3F4C"/>
                </a:solidFill>
                <a:latin typeface="Malgun Gothic"/>
                <a:ea typeface="Malgun Gothic"/>
                <a:cs typeface="Malgun Gothic"/>
              </a:rPr>
              <a:t>(ADAR1/2; 이노신은 G로 판독): 글루탐산 수용체 GRIA2 Q/R 부위(ADAR2; 편집 시 Ca²⁺ 불투과 — ALS 운동신경에서 편집 저하 보고), ADAR1은 자기 dsRNA를 편집해 MDA5 인식 회피(ADAR1 결손 → 아이카르디-구티에레 증후군).</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C→U 편집</a:t>
            </a:r>
            <a:r>
              <a:rPr sz="1600" b="0" i="0">
                <a:solidFill>
                  <a:srgbClr val="2E3F4C"/>
                </a:solidFill>
                <a:latin typeface="Malgun Gothic"/>
                <a:ea typeface="Malgun Gothic"/>
                <a:cs typeface="Malgun Gothic"/>
              </a:rPr>
              <a:t>: APOBEC-1이 APOB mRNA를 편집해 장에서 ApoB-48 생성(B01 L07).</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RNA 수식(에피트랜스크립톰)</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m6A</a:t>
            </a:r>
            <a:r>
              <a:rPr sz="1800" b="0" i="0">
                <a:solidFill>
                  <a:srgbClr val="11202B"/>
                </a:solidFill>
                <a:latin typeface="Malgun Gothic"/>
                <a:ea typeface="Malgun Gothic"/>
                <a:cs typeface="Malgun Gothic"/>
              </a:rPr>
              <a:t>(METTL3/14 쓰기, FTO·ALKBH5 지우기, YTHDF/YTHDC 읽기) → mRNA 안정성·번역·스플라이싱 조절; 슈도우리딘(Ψ), m5C, m1A. FTO*는 비만 GWAS 좌위로 유명(실제 원인은 주변 *IRX3/5 조절이라는 증거).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RNA 편집, 수식, 수출과 분해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핵 수출</a:t>
            </a:r>
            <a:r>
              <a:rPr sz="1800" b="0" i="0">
                <a:solidFill>
                  <a:srgbClr val="11202B"/>
                </a:solidFill>
                <a:latin typeface="Malgun Gothic"/>
                <a:ea typeface="Malgun Gothic"/>
                <a:cs typeface="Malgun Gothic"/>
              </a:rPr>
              <a:t>: TREX 복합체 + NXF1–NXT1.</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mRNA 분해</a:t>
            </a:r>
            <a:r>
              <a:rPr sz="1800" b="0" i="0">
                <a:solidFill>
                  <a:srgbClr val="11202B"/>
                </a:solidFill>
                <a:latin typeface="Malgun Gothic"/>
                <a:ea typeface="Malgun Gothic"/>
                <a:cs typeface="Malgun Gothic"/>
              </a:rPr>
              <a:t>: 폴리A 단축(CCR4–NOT) → 탈캡(DCP2) → 5'→3'(XRN1) 또는 3'→5'(엑소좀). AU 풍부 요소(ARE; 사이토카인 mRNA)는 빠른 분해(TTP, 조절자 HuR 안정화).</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넌센스 매개 분해(NMD)</a:t>
            </a:r>
            <a:r>
              <a:rPr sz="1800" b="0" i="0">
                <a:solidFill>
                  <a:srgbClr val="11202B"/>
                </a:solidFill>
                <a:latin typeface="Malgun Gothic"/>
                <a:ea typeface="Malgun Gothic"/>
                <a:cs typeface="Malgun Gothic"/>
              </a:rPr>
              <a:t>: 마지막 엑손-엑손 연결 50–55 nt 이상 상류의 조기 종결 코돈(PTC) → UPF1–SMG 복합체 → mRNA 분해. 절단 단백질의 우성음성 효과를 막는 감시 기능.</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마지막 엑손의 PTC는 NMD를 피해 절단 단백을 만든다 → 같은 유전자에서 위치에 따라 표현형이 다름(예: SOX10 — 말단 PTC는 신경 침범이 더 심한 PCWH).</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번역 판독 약물(아탈루렌; 근거 논란) 효과를 NMD가 제한한다.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비부호화 RNA</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miRNA와 질환: DGCR8(22q11.2 결실 영역), </a:t>
            </a:r>
            <a:r>
              <a:rPr sz="1800" b="1" i="0">
                <a:solidFill>
                  <a:srgbClr val="11202B"/>
                </a:solidFill>
                <a:latin typeface="Malgun Gothic"/>
                <a:ea typeface="Malgun Gothic"/>
                <a:cs typeface="Malgun Gothic"/>
              </a:rPr>
              <a:t>miR-17~92</a:t>
            </a:r>
            <a:r>
              <a:rPr sz="1800" b="0" i="0">
                <a:solidFill>
                  <a:srgbClr val="11202B"/>
                </a:solidFill>
                <a:latin typeface="Malgun Gothic"/>
                <a:ea typeface="Malgun Gothic"/>
                <a:cs typeface="Malgun Gothic"/>
              </a:rPr>
              <a:t>(MIR17HG) 결실 → 파인골드 증후군 2형, 증폭 → 림프종; miR-15a/16-1 결실(13q14) → CLL(BCL-2 증가); miR-122는 간에서 </a:t>
            </a:r>
            <a:r>
              <a:rPr sz="1800" b="1" i="0">
                <a:solidFill>
                  <a:srgbClr val="11202B"/>
                </a:solidFill>
                <a:latin typeface="Malgun Gothic"/>
                <a:ea typeface="Malgun Gothic"/>
                <a:cs typeface="Malgun Gothic"/>
              </a:rPr>
              <a:t>HCV 복제에 필수</a:t>
            </a:r>
            <a:r>
              <a:rPr sz="1800" b="0" i="0">
                <a:solidFill>
                  <a:srgbClr val="11202B"/>
                </a:solidFill>
                <a:latin typeface="Malgun Gothic"/>
                <a:ea typeface="Malgun Gothic"/>
                <a:cs typeface="Malgun Gothic"/>
              </a:rPr>
              <a:t>(antimiR 미라비르센 개념 증명); miR-96 씨앗 변이 → 난청.</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세포외 RNA·액체생검</a:t>
            </a:r>
            <a:r>
              <a:rPr sz="1800" b="0" i="0">
                <a:solidFill>
                  <a:srgbClr val="11202B"/>
                </a:solidFill>
                <a:latin typeface="Malgun Gothic"/>
                <a:ea typeface="Malgun Gothic"/>
                <a:cs typeface="Malgun Gothic"/>
              </a:rPr>
              <a:t>: 혈중 miRNA(엑소좀 포함)는 안정적이어서 바이오마커로 연구되나 재현성 확보가 과제.</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DICER1 증후군</a:t>
            </a:r>
            <a:r>
              <a:rPr sz="1800" b="0" i="0">
                <a:solidFill>
                  <a:srgbClr val="11202B"/>
                </a:solidFill>
                <a:latin typeface="Malgun Gothic"/>
                <a:ea typeface="Malgun Gothic"/>
                <a:cs typeface="Malgun Gothic"/>
              </a:rPr>
              <a:t>: 흉막폐아세포종, 다결절성 갑상선종, 난소 세르톨리-라이디히 종양 — 생식세포 LoF + 체세포 RNase IIIb 핫스팟 '2-타격'.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비부호화 RNA</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종류</a:t>
                      </a:r>
                    </a:p>
                  </a:txBody>
                  <a:tcPr marL="73152" marR="73152">
                    <a:solidFill>
                      <a:srgbClr val="003C71"/>
                    </a:solidFill>
                  </a:tcPr>
                </a:tc>
                <a:tc>
                  <a:txBody>
                    <a:bodyPr/>
                    <a:lstStyle/>
                    <a:p>
                      <a:r>
                        <a:rPr sz="1300" b="1" i="0">
                          <a:solidFill>
                            <a:srgbClr val="FFFFFF"/>
                          </a:solidFill>
                          <a:latin typeface="Malgun Gothic"/>
                          <a:ea typeface="Malgun Gothic"/>
                          <a:cs typeface="Malgun Gothic"/>
                        </a:rPr>
                        <a:t>크기</a:t>
                      </a:r>
                    </a:p>
                  </a:txBody>
                  <a:tcPr marL="73152" marR="73152">
                    <a:solidFill>
                      <a:srgbClr val="003C71"/>
                    </a:solidFill>
                  </a:tcPr>
                </a:tc>
                <a:tc>
                  <a:txBody>
                    <a:bodyPr/>
                    <a:lstStyle/>
                    <a:p>
                      <a:r>
                        <a:rPr sz="1300" b="1" i="0">
                          <a:solidFill>
                            <a:srgbClr val="FFFFFF"/>
                          </a:solidFill>
                          <a:latin typeface="Malgun Gothic"/>
                          <a:ea typeface="Malgun Gothic"/>
                          <a:cs typeface="Malgun Gothic"/>
                        </a:rPr>
                        <a:t>생합성</a:t>
                      </a:r>
                    </a:p>
                  </a:txBody>
                  <a:tcPr marL="73152" marR="73152">
                    <a:solidFill>
                      <a:srgbClr val="003C71"/>
                    </a:solidFill>
                  </a:tcPr>
                </a:tc>
                <a:tc>
                  <a:txBody>
                    <a:bodyPr/>
                    <a:lstStyle/>
                    <a:p>
                      <a:r>
                        <a:rPr sz="1300" b="1" i="0">
                          <a:solidFill>
                            <a:srgbClr val="FFFFFF"/>
                          </a:solidFill>
                          <a:latin typeface="Malgun Gothic"/>
                          <a:ea typeface="Malgun Gothic"/>
                          <a:cs typeface="Malgun Gothic"/>
                        </a:rPr>
                        <a:t>기능</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miRNA</a:t>
                      </a:r>
                    </a:p>
                  </a:txBody>
                  <a:tcPr marL="73152" marR="73152">
                    <a:solidFill>
                      <a:srgbClr val="FFFFFF"/>
                    </a:solidFill>
                  </a:tcPr>
                </a:tc>
                <a:tc>
                  <a:txBody>
                    <a:bodyPr/>
                    <a:lstStyle/>
                    <a:p>
                      <a:r>
                        <a:rPr sz="1300" b="0" i="0">
                          <a:solidFill>
                            <a:srgbClr val="11202B"/>
                          </a:solidFill>
                          <a:latin typeface="Malgun Gothic"/>
                          <a:ea typeface="Malgun Gothic"/>
                          <a:cs typeface="Malgun Gothic"/>
                        </a:rPr>
                        <a:t>~22 nt</a:t>
                      </a:r>
                    </a:p>
                  </a:txBody>
                  <a:tcPr marL="73152" marR="73152">
                    <a:solidFill>
                      <a:srgbClr val="FFFFFF"/>
                    </a:solidFill>
                  </a:tcPr>
                </a:tc>
                <a:tc>
                  <a:txBody>
                    <a:bodyPr/>
                    <a:lstStyle/>
                    <a:p>
                      <a:r>
                        <a:rPr sz="1300" b="0" i="0">
                          <a:solidFill>
                            <a:srgbClr val="11202B"/>
                          </a:solidFill>
                          <a:latin typeface="Malgun Gothic"/>
                          <a:ea typeface="Malgun Gothic"/>
                          <a:cs typeface="Malgun Gothic"/>
                        </a:rPr>
                        <a:t>pri-miRNA → DROSHA–DGCR8(핵) → pre-miRNA → 엑스포틴-5 → </a:t>
                      </a:r>
                      <a:r>
                        <a:rPr sz="1300" b="1" i="0">
                          <a:solidFill>
                            <a:srgbClr val="11202B"/>
                          </a:solidFill>
                          <a:latin typeface="Malgun Gothic"/>
                          <a:ea typeface="Malgun Gothic"/>
                          <a:cs typeface="Malgun Gothic"/>
                        </a:rPr>
                        <a:t>DICER</a:t>
                      </a:r>
                      <a:r>
                        <a:rPr sz="1300" b="0" i="0">
                          <a:solidFill>
                            <a:srgbClr val="11202B"/>
                          </a:solidFill>
                          <a:latin typeface="Malgun Gothic"/>
                          <a:ea typeface="Malgun Gothic"/>
                          <a:cs typeface="Malgun Gothic"/>
                        </a:rPr>
                        <a:t> → AGO2 RISC</a:t>
                      </a:r>
                    </a:p>
                  </a:txBody>
                  <a:tcPr marL="73152" marR="73152">
                    <a:solidFill>
                      <a:srgbClr val="FFFFFF"/>
                    </a:solidFill>
                  </a:tcPr>
                </a:tc>
                <a:tc>
                  <a:txBody>
                    <a:bodyPr/>
                    <a:lstStyle/>
                    <a:p>
                      <a:r>
                        <a:rPr sz="1300" b="0" i="0">
                          <a:solidFill>
                            <a:srgbClr val="11202B"/>
                          </a:solidFill>
                          <a:latin typeface="Malgun Gothic"/>
                          <a:ea typeface="Malgun Gothic"/>
                          <a:cs typeface="Malgun Gothic"/>
                        </a:rPr>
                        <a:t>3'UTR 부분 상보(씨앗 2–8번) → 번역 억제·mRNA 탈안정; 한 miRNA가 수백 표적</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siRNA</a:t>
                      </a:r>
                    </a:p>
                  </a:txBody>
                  <a:tcPr marL="73152" marR="73152">
                    <a:solidFill>
                      <a:srgbClr val="ECF1F5"/>
                    </a:solidFill>
                  </a:tcPr>
                </a:tc>
                <a:tc>
                  <a:txBody>
                    <a:bodyPr/>
                    <a:lstStyle/>
                    <a:p>
                      <a:r>
                        <a:rPr sz="1300" b="0" i="0">
                          <a:solidFill>
                            <a:srgbClr val="11202B"/>
                          </a:solidFill>
                          <a:latin typeface="Malgun Gothic"/>
                          <a:ea typeface="Malgun Gothic"/>
                          <a:cs typeface="Malgun Gothic"/>
                        </a:rPr>
                        <a:t>21–23 nt</a:t>
                      </a:r>
                    </a:p>
                  </a:txBody>
                  <a:tcPr marL="73152" marR="73152">
                    <a:solidFill>
                      <a:srgbClr val="ECF1F5"/>
                    </a:solidFill>
                  </a:tcPr>
                </a:tc>
                <a:tc>
                  <a:txBody>
                    <a:bodyPr/>
                    <a:lstStyle/>
                    <a:p>
                      <a:r>
                        <a:rPr sz="1300" b="0" i="0">
                          <a:solidFill>
                            <a:srgbClr val="11202B"/>
                          </a:solidFill>
                          <a:latin typeface="Malgun Gothic"/>
                          <a:ea typeface="Malgun Gothic"/>
                          <a:cs typeface="Malgun Gothic"/>
                        </a:rPr>
                        <a:t>외인성/인공 dsRNA → DICER → AGO2</a:t>
                      </a:r>
                    </a:p>
                  </a:txBody>
                  <a:tcPr marL="73152" marR="73152">
                    <a:solidFill>
                      <a:srgbClr val="ECF1F5"/>
                    </a:solidFill>
                  </a:tcPr>
                </a:tc>
                <a:tc>
                  <a:txBody>
                    <a:bodyPr/>
                    <a:lstStyle/>
                    <a:p>
                      <a:r>
                        <a:rPr sz="1300" b="0" i="0">
                          <a:solidFill>
                            <a:srgbClr val="11202B"/>
                          </a:solidFill>
                          <a:latin typeface="Malgun Gothic"/>
                          <a:ea typeface="Malgun Gothic"/>
                          <a:cs typeface="Malgun Gothic"/>
                        </a:rPr>
                        <a:t>완전 상보 표적 절단(slicer) — RNAi 치료제 원리</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piRNA</a:t>
                      </a:r>
                    </a:p>
                  </a:txBody>
                  <a:tcPr marL="73152" marR="73152">
                    <a:solidFill>
                      <a:srgbClr val="FFFFFF"/>
                    </a:solidFill>
                  </a:tcPr>
                </a:tc>
                <a:tc>
                  <a:txBody>
                    <a:bodyPr/>
                    <a:lstStyle/>
                    <a:p>
                      <a:r>
                        <a:rPr sz="1300" b="0" i="0">
                          <a:solidFill>
                            <a:srgbClr val="11202B"/>
                          </a:solidFill>
                          <a:latin typeface="Malgun Gothic"/>
                          <a:ea typeface="Malgun Gothic"/>
                          <a:cs typeface="Malgun Gothic"/>
                        </a:rPr>
                        <a:t>24–31 nt</a:t>
                      </a:r>
                    </a:p>
                  </a:txBody>
                  <a:tcPr marL="73152" marR="73152">
                    <a:solidFill>
                      <a:srgbClr val="FFFFFF"/>
                    </a:solidFill>
                  </a:tcPr>
                </a:tc>
                <a:tc>
                  <a:txBody>
                    <a:bodyPr/>
                    <a:lstStyle/>
                    <a:p>
                      <a:r>
                        <a:rPr sz="1300" b="0" i="0">
                          <a:solidFill>
                            <a:srgbClr val="11202B"/>
                          </a:solidFill>
                          <a:latin typeface="Malgun Gothic"/>
                          <a:ea typeface="Malgun Gothic"/>
                          <a:cs typeface="Malgun Gothic"/>
                        </a:rPr>
                        <a:t>DICER 비의존, PIWI</a:t>
                      </a:r>
                    </a:p>
                  </a:txBody>
                  <a:tcPr marL="73152" marR="73152">
                    <a:solidFill>
                      <a:srgbClr val="FFFFFF"/>
                    </a:solidFill>
                  </a:tcPr>
                </a:tc>
                <a:tc>
                  <a:txBody>
                    <a:bodyPr/>
                    <a:lstStyle/>
                    <a:p>
                      <a:r>
                        <a:rPr sz="1300" b="0" i="0">
                          <a:solidFill>
                            <a:srgbClr val="11202B"/>
                          </a:solidFill>
                          <a:latin typeface="Malgun Gothic"/>
                          <a:ea typeface="Malgun Gothic"/>
                          <a:cs typeface="Malgun Gothic"/>
                        </a:rPr>
                        <a:t>생식세포 전위인자 침묵</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lncRNA</a:t>
                      </a:r>
                    </a:p>
                  </a:txBody>
                  <a:tcPr marL="73152" marR="73152">
                    <a:solidFill>
                      <a:srgbClr val="ECF1F5"/>
                    </a:solidFill>
                  </a:tcPr>
                </a:tc>
                <a:tc>
                  <a:txBody>
                    <a:bodyPr/>
                    <a:lstStyle/>
                    <a:p>
                      <a:r>
                        <a:rPr sz="1300" b="0" i="0">
                          <a:solidFill>
                            <a:srgbClr val="11202B"/>
                          </a:solidFill>
                          <a:latin typeface="Malgun Gothic"/>
                          <a:ea typeface="Malgun Gothic"/>
                          <a:cs typeface="Malgun Gothic"/>
                        </a:rPr>
                        <a:t>&gt;200 nt</a:t>
                      </a:r>
                    </a:p>
                  </a:txBody>
                  <a:tcPr marL="73152" marR="73152">
                    <a:solidFill>
                      <a:srgbClr val="ECF1F5"/>
                    </a:solidFill>
                  </a:tcPr>
                </a:tc>
                <a:tc>
                  <a:txBody>
                    <a:bodyPr/>
                    <a:lstStyle/>
                    <a:p>
                      <a:r>
                        <a:rPr sz="1300" b="0" i="0">
                          <a:solidFill>
                            <a:srgbClr val="11202B"/>
                          </a:solidFill>
                          <a:latin typeface="Malgun Gothic"/>
                          <a:ea typeface="Malgun Gothic"/>
                          <a:cs typeface="Malgun Gothic"/>
                        </a:rPr>
                        <a:t>Pol II</a:t>
                      </a:r>
                    </a:p>
                  </a:txBody>
                  <a:tcPr marL="73152" marR="73152">
                    <a:solidFill>
                      <a:srgbClr val="ECF1F5"/>
                    </a:solidFill>
                  </a:tcPr>
                </a:tc>
                <a:tc>
                  <a:txBody>
                    <a:bodyPr/>
                    <a:lstStyle/>
                    <a:p>
                      <a:r>
                        <a:rPr sz="1300" b="0" i="0">
                          <a:solidFill>
                            <a:srgbClr val="11202B"/>
                          </a:solidFill>
                          <a:latin typeface="Malgun Gothic"/>
                          <a:ea typeface="Malgun Gothic"/>
                          <a:cs typeface="Malgun Gothic"/>
                        </a:rPr>
                        <a:t>XIST(X 불활성), HOTAIR, MALAT1, NEAT1(파라스페클), 인핸서 RNA</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circRNA</a:t>
                      </a:r>
                    </a:p>
                  </a:txBody>
                  <a:tcPr marL="73152" marR="73152">
                    <a:solidFill>
                      <a:srgbClr val="FFFFFF"/>
                    </a:solidFill>
                  </a:tcPr>
                </a:tc>
                <a:tc>
                  <a:txBody>
                    <a:bodyPr/>
                    <a:lstStyle/>
                    <a:p>
                      <a:r>
                        <a:rPr sz="1300" b="0" i="0">
                          <a:solidFill>
                            <a:srgbClr val="11202B"/>
                          </a:solidFill>
                          <a:latin typeface="Malgun Gothic"/>
                          <a:ea typeface="Malgun Gothic"/>
                          <a:cs typeface="Malgun Gothic"/>
                        </a:rPr>
                        <a:t>다양</a:t>
                      </a:r>
                    </a:p>
                  </a:txBody>
                  <a:tcPr marL="73152" marR="73152">
                    <a:solidFill>
                      <a:srgbClr val="FFFFFF"/>
                    </a:solidFill>
                  </a:tcPr>
                </a:tc>
                <a:tc>
                  <a:txBody>
                    <a:bodyPr/>
                    <a:lstStyle/>
                    <a:p>
                      <a:r>
                        <a:rPr sz="1300" b="0" i="0">
                          <a:solidFill>
                            <a:srgbClr val="11202B"/>
                          </a:solidFill>
                          <a:latin typeface="Malgun Gothic"/>
                          <a:ea typeface="Malgun Gothic"/>
                          <a:cs typeface="Malgun Gothic"/>
                        </a:rPr>
                        <a:t>역스플라이싱</a:t>
                      </a:r>
                    </a:p>
                  </a:txBody>
                  <a:tcPr marL="73152" marR="73152">
                    <a:solidFill>
                      <a:srgbClr val="FFFFFF"/>
                    </a:solidFill>
                  </a:tcPr>
                </a:tc>
                <a:tc>
                  <a:txBody>
                    <a:bodyPr/>
                    <a:lstStyle/>
                    <a:p>
                      <a:r>
                        <a:rPr sz="1300" b="0" i="0">
                          <a:solidFill>
                            <a:srgbClr val="11202B"/>
                          </a:solidFill>
                          <a:latin typeface="Malgun Gothic"/>
                          <a:ea typeface="Malgun Gothic"/>
                          <a:cs typeface="Malgun Gothic"/>
                        </a:rPr>
                        <a:t>miRNA 스펀지(CDR1as), 일부 번역</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snoRNA</a:t>
                      </a:r>
                    </a:p>
                  </a:txBody>
                  <a:tcPr marL="73152" marR="73152">
                    <a:solidFill>
                      <a:srgbClr val="ECF1F5"/>
                    </a:solidFill>
                  </a:tcPr>
                </a:tc>
                <a:tc>
                  <a:txBody>
                    <a:bodyPr/>
                    <a:lstStyle/>
                    <a:p>
                      <a:r>
                        <a:rPr sz="1300" b="0" i="0">
                          <a:solidFill>
                            <a:srgbClr val="11202B"/>
                          </a:solidFill>
                          <a:latin typeface="Malgun Gothic"/>
                          <a:ea typeface="Malgun Gothic"/>
                          <a:cs typeface="Malgun Gothic"/>
                        </a:rPr>
                        <a:t>60–300 nt</a:t>
                      </a:r>
                    </a:p>
                  </a:txBody>
                  <a:tcPr marL="73152" marR="73152">
                    <a:solidFill>
                      <a:srgbClr val="ECF1F5"/>
                    </a:solidFill>
                  </a:tcPr>
                </a:tc>
                <a:tc>
                  <a:txBody>
                    <a:bodyPr/>
                    <a:lstStyle/>
                    <a:p>
                      <a:r>
                        <a:rPr sz="1300" b="0" i="0">
                          <a:solidFill>
                            <a:srgbClr val="11202B"/>
                          </a:solidFill>
                          <a:latin typeface="Malgun Gothic"/>
                          <a:ea typeface="Malgun Gothic"/>
                          <a:cs typeface="Malgun Gothic"/>
                        </a:rPr>
                        <a:t>인트론 유래</a:t>
                      </a:r>
                    </a:p>
                  </a:txBody>
                  <a:tcPr marL="73152" marR="73152">
                    <a:solidFill>
                      <a:srgbClr val="ECF1F5"/>
                    </a:solidFill>
                  </a:tcPr>
                </a:tc>
                <a:tc>
                  <a:txBody>
                    <a:bodyPr/>
                    <a:lstStyle/>
                    <a:p>
                      <a:r>
                        <a:rPr sz="1300" b="0" i="0">
                          <a:solidFill>
                            <a:srgbClr val="11202B"/>
                          </a:solidFill>
                          <a:latin typeface="Malgun Gothic"/>
                          <a:ea typeface="Malgun Gothic"/>
                          <a:cs typeface="Malgun Gothic"/>
                        </a:rPr>
                        <a:t>rRNA 2'-O-메틸화(C/D 상자), 슈도우리딘화(H/ACA) — SNORD116 프라더-윌리</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tRNA 단편, Y RNA, vault RNA</a:t>
                      </a:r>
                    </a:p>
                  </a:txBody>
                  <a:tcPr marL="73152" marR="73152">
                    <a:solidFill>
                      <a:srgbClr val="FFFFFF"/>
                    </a:solidFill>
                  </a:tcPr>
                </a:tc>
                <a:tc>
                  <a:txBody>
                    <a:bodyPr/>
                    <a:lstStyle/>
                    <a:p/>
                  </a:txBody>
                  <a:tcPr marL="73152" marR="73152">
                    <a:solidFill>
                      <a:srgbClr val="FFFFFF"/>
                    </a:solidFill>
                  </a:tcPr>
                </a:tc>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스트레스 반응, 세포외소포</a:t>
                      </a:r>
                    </a:p>
                  </a:txBody>
                  <a:tcPr marL="73152" marR="73152">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RNA 치료제 플랫폼</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화학 변형: 포스포로티오에이트 골격(뉴클레이스 저항·단백 결합), 2'-O-메톡시에틸(MOE)·2'-F·LNA(친화도), 모르폴리노(PMO; 전하 없음).</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전달 장벽: 중추신경은 </a:t>
            </a:r>
            <a:r>
              <a:rPr sz="2200" b="1" i="0">
                <a:solidFill>
                  <a:srgbClr val="11202B"/>
                </a:solidFill>
                <a:latin typeface="Malgun Gothic"/>
                <a:ea typeface="Malgun Gothic"/>
                <a:cs typeface="Malgun Gothic"/>
              </a:rPr>
              <a:t>척수강 내 투여</a:t>
            </a:r>
            <a:r>
              <a:rPr sz="2200" b="0" i="0">
                <a:solidFill>
                  <a:srgbClr val="11202B"/>
                </a:solidFill>
                <a:latin typeface="Malgun Gothic"/>
                <a:ea typeface="Malgun Gothic"/>
                <a:cs typeface="Malgun Gothic"/>
              </a:rPr>
              <a:t>(누시너센, 토퍼센), 간은 GalNAc·LNP로 효율적, 근육·기타 장기는 항체·펩타이드 결합 연구 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RNA 치료제 플랫폼</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17</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100" b="1" i="0">
                          <a:solidFill>
                            <a:srgbClr val="FFFFFF"/>
                          </a:solidFill>
                          <a:latin typeface="Malgun Gothic"/>
                          <a:ea typeface="Malgun Gothic"/>
                          <a:cs typeface="Malgun Gothic"/>
                        </a:rPr>
                        <a:t>플랫폼</a:t>
                      </a:r>
                    </a:p>
                  </a:txBody>
                  <a:tcPr marL="73152" marR="73152">
                    <a:solidFill>
                      <a:srgbClr val="003C71"/>
                    </a:solidFill>
                  </a:tcPr>
                </a:tc>
                <a:tc>
                  <a:txBody>
                    <a:bodyPr/>
                    <a:lstStyle/>
                    <a:p>
                      <a:r>
                        <a:rPr sz="11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100" b="1" i="0">
                          <a:solidFill>
                            <a:srgbClr val="FFFFFF"/>
                          </a:solidFill>
                          <a:latin typeface="Malgun Gothic"/>
                          <a:ea typeface="Malgun Gothic"/>
                          <a:cs typeface="Malgun Gothic"/>
                        </a:rPr>
                        <a:t>승인 약물(예)</a:t>
                      </a:r>
                    </a:p>
                  </a:txBody>
                  <a:tcPr marL="73152" marR="73152">
                    <a:solidFill>
                      <a:srgbClr val="003C71"/>
                    </a:solidFill>
                  </a:tcPr>
                </a:tc>
              </a:tr>
              <a:tr h="365760">
                <a:tc>
                  <a:txBody>
                    <a:bodyPr/>
                    <a:lstStyle/>
                    <a:p>
                      <a:r>
                        <a:rPr sz="1100" b="1" i="0">
                          <a:solidFill>
                            <a:srgbClr val="11202B"/>
                          </a:solidFill>
                          <a:latin typeface="Malgun Gothic"/>
                          <a:ea typeface="Malgun Gothic"/>
                          <a:cs typeface="Malgun Gothic"/>
                        </a:rPr>
                        <a:t>스플라이싱 전환 ASO</a:t>
                      </a:r>
                    </a:p>
                  </a:txBody>
                  <a:tcPr marL="73152" marR="73152">
                    <a:solidFill>
                      <a:srgbClr val="FFFFFF"/>
                    </a:solidFill>
                  </a:tcPr>
                </a:tc>
                <a:tc>
                  <a:txBody>
                    <a:bodyPr/>
                    <a:lstStyle/>
                    <a:p>
                      <a:r>
                        <a:rPr sz="1100" b="0" i="0">
                          <a:solidFill>
                            <a:srgbClr val="11202B"/>
                          </a:solidFill>
                          <a:latin typeface="Malgun Gothic"/>
                          <a:ea typeface="Malgun Gothic"/>
                          <a:cs typeface="Malgun Gothic"/>
                        </a:rPr>
                        <a:t>pre-mRNA 결합으로 스플라이싱 인자 접근 차단 → 엑손 포함/건너뛰기</a:t>
                      </a:r>
                    </a:p>
                  </a:txBody>
                  <a:tcPr marL="73152" marR="73152">
                    <a:solidFill>
                      <a:srgbClr val="FFFFFF"/>
                    </a:solidFill>
                  </a:tcPr>
                </a:tc>
                <a:tc>
                  <a:txBody>
                    <a:bodyPr/>
                    <a:lstStyle/>
                    <a:p>
                      <a:r>
                        <a:rPr sz="1100" b="0" i="0">
                          <a:solidFill>
                            <a:srgbClr val="11202B"/>
                          </a:solidFill>
                          <a:latin typeface="Malgun Gothic"/>
                          <a:ea typeface="Malgun Gothic"/>
                          <a:cs typeface="Malgun Gothic"/>
                        </a:rPr>
                        <a:t>누시너센(SMA; SMN2 ISS-N1 차단 → 엑손 7 포함), 에테플리르센·골로디르센·빌톨라르센(DMD 엑손 51/53 건너뛰기 → 읽기틀 회복, 베커형화), </a:t>
                      </a:r>
                      <a:r>
                        <a:rPr sz="1100" b="1" i="0">
                          <a:solidFill>
                            <a:srgbClr val="11202B"/>
                          </a:solidFill>
                          <a:latin typeface="Malgun Gothic"/>
                          <a:ea typeface="Malgun Gothic"/>
                          <a:cs typeface="Malgun Gothic"/>
                        </a:rPr>
                        <a:t>밀라센</a:t>
                      </a:r>
                      <a:r>
                        <a:rPr sz="1100" b="0" i="0">
                          <a:solidFill>
                            <a:srgbClr val="11202B"/>
                          </a:solidFill>
                          <a:latin typeface="Malgun Gothic"/>
                          <a:ea typeface="Malgun Gothic"/>
                          <a:cs typeface="Malgun Gothic"/>
                        </a:rPr>
                        <a:t>(단일 환자 맞춤 ASO, CLN7)</a:t>
                      </a:r>
                    </a:p>
                  </a:txBody>
                  <a:tcPr marL="73152" marR="73152">
                    <a:solidFill>
                      <a:srgbClr val="FFFFFF"/>
                    </a:solidFill>
                  </a:tcPr>
                </a:tc>
              </a:tr>
              <a:tr h="365760">
                <a:tc>
                  <a:txBody>
                    <a:bodyPr/>
                    <a:lstStyle/>
                    <a:p>
                      <a:r>
                        <a:rPr sz="1100" b="1" i="0">
                          <a:solidFill>
                            <a:srgbClr val="11202B"/>
                          </a:solidFill>
                          <a:latin typeface="Malgun Gothic"/>
                          <a:ea typeface="Malgun Gothic"/>
                          <a:cs typeface="Malgun Gothic"/>
                        </a:rPr>
                        <a:t>RNase H 분해 ASO</a:t>
                      </a:r>
                      <a:r>
                        <a:rPr sz="1100" b="0" i="0">
                          <a:solidFill>
                            <a:srgbClr val="11202B"/>
                          </a:solidFill>
                          <a:latin typeface="Malgun Gothic"/>
                          <a:ea typeface="Malgun Gothic"/>
                          <a:cs typeface="Malgun Gothic"/>
                        </a:rPr>
                        <a:t>(gapmer)</a:t>
                      </a:r>
                    </a:p>
                  </a:txBody>
                  <a:tcPr marL="73152" marR="73152">
                    <a:solidFill>
                      <a:srgbClr val="ECF1F5"/>
                    </a:solidFill>
                  </a:tcPr>
                </a:tc>
                <a:tc>
                  <a:txBody>
                    <a:bodyPr/>
                    <a:lstStyle/>
                    <a:p>
                      <a:r>
                        <a:rPr sz="1100" b="0" i="0">
                          <a:solidFill>
                            <a:srgbClr val="11202B"/>
                          </a:solidFill>
                          <a:latin typeface="Malgun Gothic"/>
                          <a:ea typeface="Malgun Gothic"/>
                          <a:cs typeface="Malgun Gothic"/>
                        </a:rPr>
                        <a:t>DNA 중심부–RNA 이중체를 RNase H1이 절단</a:t>
                      </a:r>
                    </a:p>
                  </a:txBody>
                  <a:tcPr marL="73152" marR="73152">
                    <a:solidFill>
                      <a:srgbClr val="ECF1F5"/>
                    </a:solidFill>
                  </a:tcPr>
                </a:tc>
                <a:tc>
                  <a:txBody>
                    <a:bodyPr/>
                    <a:lstStyle/>
                    <a:p>
                      <a:r>
                        <a:rPr sz="1100" b="0" i="0">
                          <a:solidFill>
                            <a:srgbClr val="11202B"/>
                          </a:solidFill>
                          <a:latin typeface="Malgun Gothic"/>
                          <a:ea typeface="Malgun Gothic"/>
                          <a:cs typeface="Malgun Gothic"/>
                        </a:rPr>
                        <a:t>이노테르센(hATTR), </a:t>
                      </a:r>
                      <a:r>
                        <a:rPr sz="1100" b="1" i="0">
                          <a:solidFill>
                            <a:srgbClr val="11202B"/>
                          </a:solidFill>
                          <a:latin typeface="Malgun Gothic"/>
                          <a:ea typeface="Malgun Gothic"/>
                          <a:cs typeface="Malgun Gothic"/>
                        </a:rPr>
                        <a:t>토퍼센</a:t>
                      </a:r>
                      <a:r>
                        <a:rPr sz="1100" b="0" i="0">
                          <a:solidFill>
                            <a:srgbClr val="11202B"/>
                          </a:solidFill>
                          <a:latin typeface="Malgun Gothic"/>
                          <a:ea typeface="Malgun Gothic"/>
                          <a:cs typeface="Malgun Gothic"/>
                        </a:rPr>
                        <a:t>(SOD1-ALS, 2023), 올레자르센(apoC-III), 에플론테르센(TTR)</a:t>
                      </a:r>
                    </a:p>
                  </a:txBody>
                  <a:tcPr marL="73152" marR="73152">
                    <a:solidFill>
                      <a:srgbClr val="ECF1F5"/>
                    </a:solidFill>
                  </a:tcPr>
                </a:tc>
              </a:tr>
              <a:tr h="365760">
                <a:tc>
                  <a:txBody>
                    <a:bodyPr/>
                    <a:lstStyle/>
                    <a:p>
                      <a:r>
                        <a:rPr sz="1100" b="1" i="0">
                          <a:solidFill>
                            <a:srgbClr val="11202B"/>
                          </a:solidFill>
                          <a:latin typeface="Malgun Gothic"/>
                          <a:ea typeface="Malgun Gothic"/>
                          <a:cs typeface="Malgun Gothic"/>
                        </a:rPr>
                        <a:t>siRNA</a:t>
                      </a:r>
                      <a:r>
                        <a:rPr sz="1100" b="0" i="0">
                          <a:solidFill>
                            <a:srgbClr val="11202B"/>
                          </a:solidFill>
                          <a:latin typeface="Malgun Gothic"/>
                          <a:ea typeface="Malgun Gothic"/>
                          <a:cs typeface="Malgun Gothic"/>
                        </a:rPr>
                        <a:t>(GalNAc 결합 간 표적)</a:t>
                      </a:r>
                    </a:p>
                  </a:txBody>
                  <a:tcPr marL="73152" marR="73152">
                    <a:solidFill>
                      <a:srgbClr val="FFFFFF"/>
                    </a:solidFill>
                  </a:tcPr>
                </a:tc>
                <a:tc>
                  <a:txBody>
                    <a:bodyPr/>
                    <a:lstStyle/>
                    <a:p>
                      <a:r>
                        <a:rPr sz="1100" b="0" i="0">
                          <a:solidFill>
                            <a:srgbClr val="11202B"/>
                          </a:solidFill>
                          <a:latin typeface="Malgun Gothic"/>
                          <a:ea typeface="Malgun Gothic"/>
                          <a:cs typeface="Malgun Gothic"/>
                        </a:rPr>
                        <a:t>AGO2 매개 mRNA 절단; ASGPR 수용체로 간세포 흡수</a:t>
                      </a:r>
                    </a:p>
                  </a:txBody>
                  <a:tcPr marL="73152" marR="73152">
                    <a:solidFill>
                      <a:srgbClr val="FFFFFF"/>
                    </a:solidFill>
                  </a:tcPr>
                </a:tc>
                <a:tc>
                  <a:txBody>
                    <a:bodyPr/>
                    <a:lstStyle/>
                    <a:p>
                      <a:r>
                        <a:rPr sz="1100" b="0" i="0">
                          <a:solidFill>
                            <a:srgbClr val="11202B"/>
                          </a:solidFill>
                          <a:latin typeface="Malgun Gothic"/>
                          <a:ea typeface="Malgun Gothic"/>
                          <a:cs typeface="Malgun Gothic"/>
                        </a:rPr>
                        <a:t>파티시란(LNP, hATTR 최초 2018), 기보시란(AIP), 루마시란(PH1), 인클리시란(PCSK9), 부트리시란(TTR), 네도시란(PH), 피투시란(항트롬빈; 혈우병)</a:t>
                      </a:r>
                    </a:p>
                  </a:txBody>
                  <a:tcPr marL="73152" marR="73152">
                    <a:solidFill>
                      <a:srgbClr val="FFFFFF"/>
                    </a:solidFill>
                  </a:tcPr>
                </a:tc>
              </a:tr>
              <a:tr h="365760">
                <a:tc>
                  <a:txBody>
                    <a:bodyPr/>
                    <a:lstStyle/>
                    <a:p>
                      <a:r>
                        <a:rPr sz="1100" b="1" i="0">
                          <a:solidFill>
                            <a:srgbClr val="11202B"/>
                          </a:solidFill>
                          <a:latin typeface="Malgun Gothic"/>
                          <a:ea typeface="Malgun Gothic"/>
                          <a:cs typeface="Malgun Gothic"/>
                        </a:rPr>
                        <a:t>mRNA-LNP</a:t>
                      </a:r>
                    </a:p>
                  </a:txBody>
                  <a:tcPr marL="73152" marR="73152">
                    <a:solidFill>
                      <a:srgbClr val="ECF1F5"/>
                    </a:solidFill>
                  </a:tcPr>
                </a:tc>
                <a:tc>
                  <a:txBody>
                    <a:bodyPr/>
                    <a:lstStyle/>
                    <a:p>
                      <a:r>
                        <a:rPr sz="1100" b="0" i="0">
                          <a:solidFill>
                            <a:srgbClr val="11202B"/>
                          </a:solidFill>
                          <a:latin typeface="Malgun Gothic"/>
                          <a:ea typeface="Malgun Gothic"/>
                          <a:cs typeface="Malgun Gothic"/>
                        </a:rPr>
                        <a:t>체내 단백질 발현</a:t>
                      </a:r>
                    </a:p>
                  </a:txBody>
                  <a:tcPr marL="73152" marR="73152">
                    <a:solidFill>
                      <a:srgbClr val="ECF1F5"/>
                    </a:solidFill>
                  </a:tcPr>
                </a:tc>
                <a:tc>
                  <a:txBody>
                    <a:bodyPr/>
                    <a:lstStyle/>
                    <a:p>
                      <a:r>
                        <a:rPr sz="1100" b="0" i="0">
                          <a:solidFill>
                            <a:srgbClr val="11202B"/>
                          </a:solidFill>
                          <a:latin typeface="Malgun Gothic"/>
                          <a:ea typeface="Malgun Gothic"/>
                          <a:cs typeface="Malgun Gothic"/>
                        </a:rPr>
                        <a:t>COVID-19 백신(BNT162b2, mRNA-1273; </a:t>
                      </a:r>
                      <a:r>
                        <a:rPr sz="1100" b="1" i="0">
                          <a:solidFill>
                            <a:srgbClr val="11202B"/>
                          </a:solidFill>
                          <a:latin typeface="Malgun Gothic"/>
                          <a:ea typeface="Malgun Gothic"/>
                          <a:cs typeface="Malgun Gothic"/>
                        </a:rPr>
                        <a:t>N1-메틸슈도우리딘</a:t>
                      </a:r>
                      <a:r>
                        <a:rPr sz="1100" b="0" i="0">
                          <a:solidFill>
                            <a:srgbClr val="11202B"/>
                          </a:solidFill>
                          <a:latin typeface="Malgun Gothic"/>
                          <a:ea typeface="Malgun Gothic"/>
                          <a:cs typeface="Malgun Gothic"/>
                        </a:rPr>
                        <a:t>으로 선천면역 회피 — 2023 노벨상), RSV 백신, 개인 맞춤 신생항원 암백신(흑색종 3상)</a:t>
                      </a:r>
                    </a:p>
                  </a:txBody>
                  <a:tcPr marL="73152" marR="73152">
                    <a:solidFill>
                      <a:srgbClr val="ECF1F5"/>
                    </a:solidFill>
                  </a:tcPr>
                </a:tc>
              </a:tr>
              <a:tr h="365760">
                <a:tc>
                  <a:txBody>
                    <a:bodyPr/>
                    <a:lstStyle/>
                    <a:p>
                      <a:r>
                        <a:rPr sz="1100" b="1" i="0">
                          <a:solidFill>
                            <a:srgbClr val="11202B"/>
                          </a:solidFill>
                          <a:latin typeface="Malgun Gothic"/>
                          <a:ea typeface="Malgun Gothic"/>
                          <a:cs typeface="Malgun Gothic"/>
                        </a:rPr>
                        <a:t>소분자 스플라이싱 조절제</a:t>
                      </a:r>
                    </a:p>
                  </a:txBody>
                  <a:tcPr marL="73152" marR="73152">
                    <a:solidFill>
                      <a:srgbClr val="FFFFFF"/>
                    </a:solidFill>
                  </a:tcPr>
                </a:tc>
                <a:tc>
                  <a:txBody>
                    <a:bodyPr/>
                    <a:lstStyle/>
                    <a:p>
                      <a:r>
                        <a:rPr sz="1100" b="0" i="0">
                          <a:solidFill>
                            <a:srgbClr val="11202B"/>
                          </a:solidFill>
                          <a:latin typeface="Malgun Gothic"/>
                          <a:ea typeface="Malgun Gothic"/>
                          <a:cs typeface="Malgun Gothic"/>
                        </a:rPr>
                        <a:t>U1 snRNP–5' 부위 결합 안정화</a:t>
                      </a:r>
                    </a:p>
                  </a:txBody>
                  <a:tcPr marL="73152" marR="73152">
                    <a:solidFill>
                      <a:srgbClr val="FFFFFF"/>
                    </a:solidFill>
                  </a:tcPr>
                </a:tc>
                <a:tc>
                  <a:txBody>
                    <a:bodyPr/>
                    <a:lstStyle/>
                    <a:p>
                      <a:r>
                        <a:rPr sz="1100" b="1" i="0">
                          <a:solidFill>
                            <a:srgbClr val="11202B"/>
                          </a:solidFill>
                          <a:latin typeface="Malgun Gothic"/>
                          <a:ea typeface="Malgun Gothic"/>
                          <a:cs typeface="Malgun Gothic"/>
                        </a:rPr>
                        <a:t>리스디플람</a:t>
                      </a:r>
                      <a:r>
                        <a:rPr sz="1100" b="0" i="0">
                          <a:solidFill>
                            <a:srgbClr val="11202B"/>
                          </a:solidFill>
                          <a:latin typeface="Malgun Gothic"/>
                          <a:ea typeface="Malgun Gothic"/>
                          <a:cs typeface="Malgun Gothic"/>
                        </a:rPr>
                        <a:t>(경구 SMA), 브라나플람(헌팅틴 엑손 → 중단)</a:t>
                      </a:r>
                    </a:p>
                  </a:txBody>
                  <a:tcPr marL="73152" marR="73152">
                    <a:solidFill>
                      <a:srgbClr val="FFFFFF"/>
                    </a:solidFill>
                  </a:tcPr>
                </a:tc>
              </a:tr>
              <a:tr h="365760">
                <a:tc>
                  <a:txBody>
                    <a:bodyPr/>
                    <a:lstStyle/>
                    <a:p>
                      <a:r>
                        <a:rPr sz="1100" b="1" i="0">
                          <a:solidFill>
                            <a:srgbClr val="11202B"/>
                          </a:solidFill>
                          <a:latin typeface="Malgun Gothic"/>
                          <a:ea typeface="Malgun Gothic"/>
                          <a:cs typeface="Malgun Gothic"/>
                        </a:rPr>
                        <a:t>압타머</a:t>
                      </a:r>
                    </a:p>
                  </a:txBody>
                  <a:tcPr marL="73152" marR="73152">
                    <a:solidFill>
                      <a:srgbClr val="ECF1F5"/>
                    </a:solidFill>
                  </a:tcPr>
                </a:tc>
                <a:tc>
                  <a:txBody>
                    <a:bodyPr/>
                    <a:lstStyle/>
                    <a:p>
                      <a:r>
                        <a:rPr sz="1100" b="0" i="0">
                          <a:solidFill>
                            <a:srgbClr val="11202B"/>
                          </a:solidFill>
                          <a:latin typeface="Malgun Gothic"/>
                          <a:ea typeface="Malgun Gothic"/>
                          <a:cs typeface="Malgun Gothic"/>
                        </a:rPr>
                        <a:t>고차구조 RNA가 단백질 결합</a:t>
                      </a:r>
                    </a:p>
                  </a:txBody>
                  <a:tcPr marL="73152" marR="73152">
                    <a:solidFill>
                      <a:srgbClr val="ECF1F5"/>
                    </a:solidFill>
                  </a:tcPr>
                </a:tc>
                <a:tc>
                  <a:txBody>
                    <a:bodyPr/>
                    <a:lstStyle/>
                    <a:p>
                      <a:r>
                        <a:rPr sz="1100" b="0" i="0">
                          <a:solidFill>
                            <a:srgbClr val="11202B"/>
                          </a:solidFill>
                          <a:latin typeface="Malgun Gothic"/>
                          <a:ea typeface="Malgun Gothic"/>
                          <a:cs typeface="Malgun Gothic"/>
                        </a:rPr>
                        <a:t>페갑타닙(VEGF), 아바시캅타드 페골(C5; 지도형 위축)</a:t>
                      </a:r>
                    </a:p>
                  </a:txBody>
                  <a:tcPr marL="73152" marR="73152">
                    <a:solidFill>
                      <a:srgbClr val="ECF1F5"/>
                    </a:solidFill>
                  </a:tcPr>
                </a:tc>
              </a:tr>
              <a:tr h="365760">
                <a:tc>
                  <a:txBody>
                    <a:bodyPr/>
                    <a:lstStyle/>
                    <a:p>
                      <a:r>
                        <a:rPr sz="1100" b="1" i="0">
                          <a:solidFill>
                            <a:srgbClr val="11202B"/>
                          </a:solidFill>
                          <a:latin typeface="Malgun Gothic"/>
                          <a:ea typeface="Malgun Gothic"/>
                          <a:cs typeface="Malgun Gothic"/>
                        </a:rPr>
                        <a:t>RNA 편집 유도</a:t>
                      </a:r>
                    </a:p>
                  </a:txBody>
                  <a:tcPr marL="73152" marR="73152">
                    <a:solidFill>
                      <a:srgbClr val="FFFFFF"/>
                    </a:solidFill>
                  </a:tcPr>
                </a:tc>
                <a:tc>
                  <a:txBody>
                    <a:bodyPr/>
                    <a:lstStyle/>
                    <a:p>
                      <a:r>
                        <a:rPr sz="1100" b="0" i="0">
                          <a:solidFill>
                            <a:srgbClr val="11202B"/>
                          </a:solidFill>
                          <a:latin typeface="Malgun Gothic"/>
                          <a:ea typeface="Malgun Gothic"/>
                          <a:cs typeface="Malgun Gothic"/>
                        </a:rPr>
                        <a:t>내인 ADAR 소집 가이드 RNA → A→I 교정</a:t>
                      </a:r>
                    </a:p>
                  </a:txBody>
                  <a:tcPr marL="73152" marR="73152">
                    <a:solidFill>
                      <a:srgbClr val="FFFFFF"/>
                    </a:solidFill>
                  </a:tcPr>
                </a:tc>
                <a:tc>
                  <a:txBody>
                    <a:bodyPr/>
                    <a:lstStyle/>
                    <a:p>
                      <a:r>
                        <a:rPr sz="1100" b="0" i="0">
                          <a:solidFill>
                            <a:srgbClr val="11202B"/>
                          </a:solidFill>
                          <a:latin typeface="Malgun Gothic"/>
                          <a:ea typeface="Malgun Gothic"/>
                          <a:cs typeface="Malgun Gothic"/>
                        </a:rPr>
                        <a:t>AIMer·RESTORE (α1-항트립신 Z 변이 교정 1상, 2024)</a:t>
                      </a:r>
                    </a:p>
                  </a:txBody>
                  <a:tcPr marL="73152" marR="73152">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RNA 치료제 플랫폼</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18</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1" i="0">
                <a:solidFill>
                  <a:srgbClr val="11202B"/>
                </a:solidFill>
                <a:latin typeface="Malgun Gothic"/>
                <a:ea typeface="Malgun Gothic"/>
                <a:cs typeface="Malgun Gothic"/>
              </a:rPr>
              <a:t>N-of-1 ASO</a:t>
            </a:r>
            <a:r>
              <a:rPr sz="2000" b="0" i="0">
                <a:solidFill>
                  <a:srgbClr val="11202B"/>
                </a:solidFill>
                <a:latin typeface="Malgun Gothic"/>
                <a:ea typeface="Malgun Gothic"/>
                <a:cs typeface="Malgun Gothic"/>
              </a:rPr>
              <a:t>: 밀라센(2019, 바텐병 소아 1명의 MFSD8 심부 인트론 레트로트랜스포존 삽입을 위한 맞춤 ASO)과 아티펙투스(ATXN 등) 사례는 진단부터 약물 투여까지 1년 내에 가능함을 보여주었고, 희귀변이 맞춤 치료의 규제·윤리 체계(n-Lorem 재단, FDA 개별 IND 지침)를 촉발했다.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원위치 RNA 편집(ADAR 소집), tRNA 기반 넌센스 억제 치료(억제 tRNA), 원형 mRNA(circRNA 발현 연장), 자가증폭 mRNA(saRNA; 일본 2023 승인 COVID 백신)가 차세대 RNA 의약품으로 개발 중이다.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헌팅턴병의 HTT 저하 전략(토미네르센 ASO 3상 중단 후 용량 재설계, AMT-130 AAV-miRNA 2025 3년 데이터에서 진행 지연 보고)이 신경퇴행 RNA 치료의 시험대이다.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단일세포 장판독 RNA-seq로 세포 유형별 이소형 다양성이 보이기 시작했고, 신경세포 특이 미세엑손(3–27 nt; SRRM4 의존)의 자폐 관련 탈조절이 밝혀졌다.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1. </a:t>
            </a:r>
            <a:r>
              <a:rPr sz="1800" b="0" i="0">
                <a:solidFill>
                  <a:srgbClr val="11202B"/>
                </a:solidFill>
                <a:latin typeface="Malgun Gothic"/>
                <a:ea typeface="Malgun Gothic"/>
                <a:cs typeface="Malgun Gothic"/>
              </a:rPr>
              <a:t>pre-mRNA는 5' 캡, 스플라이싱(GU-AG, 스플라이세오솜, 올가미), 3' 폴리아데닐화로 성숙하며 공전사적으로 일어난다.</a:t>
            </a:r>
          </a:p>
          <a:p>
            <a:pPr>
              <a:spcAft>
                <a:spcPts val="800"/>
              </a:spcAft>
            </a:pPr>
            <a:r>
              <a:rPr sz="1800" b="1" i="0">
                <a:solidFill>
                  <a:srgbClr val="003C71"/>
                </a:solidFill>
                <a:latin typeface="Malgun Gothic"/>
                <a:ea typeface="Malgun Gothic"/>
                <a:cs typeface="Malgun Gothic"/>
              </a:rPr>
              <a:t>2. </a:t>
            </a:r>
            <a:r>
              <a:rPr sz="1800" b="0" i="0">
                <a:solidFill>
                  <a:srgbClr val="11202B"/>
                </a:solidFill>
                <a:latin typeface="Malgun Gothic"/>
                <a:ea typeface="Malgun Gothic"/>
                <a:cs typeface="Malgun Gothic"/>
              </a:rPr>
              <a:t>대체 스플라이싱은 단백질 다양성을 만들고, 스플라이싱 변이는 SMA·β-지중해빈혈·DM1(MBNL 격리)·MDS의 원인이다.</a:t>
            </a:r>
          </a:p>
          <a:p>
            <a:pPr>
              <a:spcAft>
                <a:spcPts val="800"/>
              </a:spcAft>
            </a:pPr>
            <a:r>
              <a:rPr sz="1800" b="1" i="0">
                <a:solidFill>
                  <a:srgbClr val="003C71"/>
                </a:solidFill>
                <a:latin typeface="Malgun Gothic"/>
                <a:ea typeface="Malgun Gothic"/>
                <a:cs typeface="Malgun Gothic"/>
              </a:rPr>
              <a:t>3. </a:t>
            </a:r>
            <a:r>
              <a:rPr sz="1800" b="0" i="0">
                <a:solidFill>
                  <a:srgbClr val="11202B"/>
                </a:solidFill>
                <a:latin typeface="Malgun Gothic"/>
                <a:ea typeface="Malgun Gothic"/>
                <a:cs typeface="Malgun Gothic"/>
              </a:rPr>
              <a:t>RNA 편집(ADAR, APOBEC), m6A 수식, NMD는 전사 후 유전자 발현과 질환 표현형을 조절한다.</a:t>
            </a:r>
          </a:p>
          <a:p>
            <a:pPr>
              <a:spcAft>
                <a:spcPts val="800"/>
              </a:spcAft>
            </a:pPr>
            <a:r>
              <a:rPr sz="1800" b="1" i="0">
                <a:solidFill>
                  <a:srgbClr val="003C71"/>
                </a:solidFill>
                <a:latin typeface="Malgun Gothic"/>
                <a:ea typeface="Malgun Gothic"/>
                <a:cs typeface="Malgun Gothic"/>
              </a:rPr>
              <a:t>4. </a:t>
            </a:r>
            <a:r>
              <a:rPr sz="1800" b="0" i="0">
                <a:solidFill>
                  <a:srgbClr val="11202B"/>
                </a:solidFill>
                <a:latin typeface="Malgun Gothic"/>
                <a:ea typeface="Malgun Gothic"/>
                <a:cs typeface="Malgun Gothic"/>
              </a:rPr>
              <a:t>miRNA(부분 상보, 번역 억제)와 siRNA(완전 상보, 절단), lncRNA(XIST)는 서로 다른 조절 기능을 가진다.</a:t>
            </a:r>
          </a:p>
          <a:p>
            <a:pPr>
              <a:spcAft>
                <a:spcPts val="800"/>
              </a:spcAft>
            </a:pPr>
            <a:r>
              <a:rPr sz="1800" b="1" i="0">
                <a:solidFill>
                  <a:srgbClr val="003C71"/>
                </a:solidFill>
                <a:latin typeface="Malgun Gothic"/>
                <a:ea typeface="Malgun Gothic"/>
                <a:cs typeface="Malgun Gothic"/>
              </a:rPr>
              <a:t>5. </a:t>
            </a:r>
            <a:r>
              <a:rPr sz="1800" b="0" i="0">
                <a:solidFill>
                  <a:srgbClr val="11202B"/>
                </a:solidFill>
                <a:latin typeface="Malgun Gothic"/>
                <a:ea typeface="Malgun Gothic"/>
                <a:cs typeface="Malgun Gothic"/>
              </a:rPr>
              <a:t>ASO(스플라이싱 전환·RNase H), GalNAc-siRNA, mRNA-LNP, 경구 스플라이싱 조절제가 RNA 치료의 주류 플랫폼이다.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DMD 환자 중 엑손 50이 결실된 경우 엑손 51 건너뛰기 ASO가 효과를 보이는 원리는?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엑손 50 결실은 읽기틀을 이동시켜 조기 종결 코돈을 만들어 디스트로핀이 거의 생성되지 않는다(뒤시엔형). 엑손 51을 추가로 건너뛰면 엑손 49와 52가 연결되며 읽기틀이 회복되어, 중간이 짧지만 N말단과 C말단 결합 도메인을 가진 부분 기능 디스트로핀(베커형 유사)이 생성된다.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근긴장성 이영양증 1형에서 근긴장증과 인슐린 저항성이 함께 나타나는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DMPK 3'UTR의 확장된 CUG 반복 RNA가 핵 내 병소를 형성해 스플라이싱 조절 단백질 MBNL1을 격리하고 CELF1은 증가시킨다. 그 결과 여러 pre-mRNA가 태아형 스플라이싱으로 돌아가 CLCN1(근육 Cl⁻ 통로) 기능이 떨어져 근긴장증이, INSR 엑손 11 제외(저신호 IR-A 이소형)로 인슐린 저항성이 생긴다.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GalNAc-siRNA가 간 질환 표적에 특히 효율적인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삼가 GalNAc 리간드가 간세포에 고밀도로 발현되는 아시알로당단백질 수용체(ASGPR)에 결합해 빠르게 세포내섭취되고, 화학적으로 안정화된 siRNA가 엔도솜에서 서서히 빠져나와 AGO2에 장기간 적재되므로 연 1–2회 피하주사로도 표적 mRNA를 지속적으로 낮출 수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넌센스 변이가 유전자의 마지막 엑손에 있을 때와 앞쪽 엑손에 있을 때 표현형이 다를 수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앞쪽 엑손의 조기 종결 코돈은 하류에 엑손 연결 복합체가 남아 NMD로 mRNA가 분해되어 단백질이 거의 없는 기능소실(종종 반수부족)이 된다. 마지막 엑손(또는 마지막 연결 50–55 nt 이내)의 PTC는 NMD를 피해 절단 단백질이 생성되어 우성음성 또는 기능획득 효과로 다른(흔히 더 중증인) 표현형을 만들 수 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Wilkinson ME, Charenton C, Nagai K. RNA splicing by the spliceosome. Annu Rev Biochem 2020;89:359–388.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Bartel DP. Metazoan microRNAs. Cell 2018;173:20–51.</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Crooke ST et al. Antisense technology: an overview and prospectus. Nat Rev Drug Discov 2021;20:427–453.</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Kim J et al. Patient-customized oligonucleotide therapy for a rare genetic disease. N Engl J Med 2019;381:1644–1652.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B02-L08  ·  RNA 가공, 비부호화 RNA와 RNA 치료제</a:t>
            </a:r>
            <a:r>
              <a:rPr sz="10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Karikó K et al. Suppression of RNA recognition by Toll-like receptors: the impact of nucleoside modification. Immunity 2005;23:165–175.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