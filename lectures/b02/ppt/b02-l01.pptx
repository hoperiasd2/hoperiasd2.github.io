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혈청에서는 매우 높고 섬유모세포 내에서는 낮다. GNPTAB 결손으로 M6P 표지가 생성되지 않아 TGN에서 M6P 수용체에 의해 리소좀으로 분류되지 못하고 기본 분비 경로로 세포 밖으로 나가기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F508del은 단백질이 잘못 접혀 ER 품질관리에 의해 분해되므로 세포막 도달량이 적고(2급), 막에 도달하더라도 개폐 기능이 떨어진다. 교정제(엘렉사카프토르, 테자카프토르)는 접힘을 도와 막 이동을 늘리고, 강화제(이바카프토르)는 통로의 개방 확률을 높인다.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보툴리눔 독소는 말초 신경근 접합부의 운동신경 말단에서 ACh 방출을 막아 이완성 마비를 일으킨다. 파상풍 독소는 운동신경으로 역행 수송되어 척수의 억제성 개재뉴런(Renshaw 세포 등)에 작용해 글리신·GABA 방출을 막으므로 운동신경 탈억제로 강직성 마비(개구불능, 후궁반장)가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퍼옥시좀 형성(PEX) 결손으로 퍼옥시좀이 없거나 기능하지 못한다. 초장쇄 지방산의 β-산화가 퍼옥시좀에서만 일어나므로 VLCFA가 축적되고, 플라스말로겐 합성의 초기 단계(DHAPAT, ADHAPS)가 퍼옥시좀에서 일어나므로 플라스말로겐이 결핍된다.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세포생물학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막 수송, 세포소기관과 단백질 분류</a:t>
            </a:r>
          </a:p>
          <a:p>
            <a:r>
              <a:rPr sz="2000" b="0" i="0">
                <a:solidFill>
                  <a:srgbClr val="C2CDD6"/>
                </a:solidFill>
                <a:latin typeface="Malgun Gothic"/>
                <a:ea typeface="Malgun Gothic"/>
                <a:cs typeface="Malgun Gothic"/>
              </a:rPr>
              <a:t>Membrane Transport, Organelles and Protein Sorting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B02-L01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생체막의 구조(지질 이중층, 막단백질, 지질 뗏목)와 유동 모자이크 모델을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수동수송·통로·운반체·1차/2차 능동수송을 구분하고 대표 질환(낭성섬유증 등)과 연결한다.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분비 경로(ER → 골지 → 막/리소좀)와 신호서열에 의한 단백질 표적화를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소포 수송(COPII, COPI, 클라트린)과 SNARE 매개 융합, 세포내섭취를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리소좀·퍼옥시좀·미토콘드리아 단백질 유입과 관련 질환(I-세포병, 젤웨거 증후군)을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생체막의 구조</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막 수송의 원리</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분비 경로: 소포체에서 골지까지</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소포 수송과 막 융합</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리소좀과 만노스-6-인산 경로</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미토콘드리아·퍼옥시좀·핵으로의 수송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생체막의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지질 이중층: 인지질(양친매성), 콜레스테롤(유동성 완충), 스핑고지질. 두께 약 5 nm. 소수성 핵이 이온·극성 분자의 투과를 막는다.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막단백질: 내재성(막관통 α-나선, β-배럴), 주변성, 지질 고정(GPI 앵커, 프레닐화, 팔미토일화).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지질 뗏목(lipid raft)</a:t>
            </a:r>
            <a:r>
              <a:rPr sz="2000" b="0" i="0">
                <a:solidFill>
                  <a:srgbClr val="11202B"/>
                </a:solidFill>
                <a:latin typeface="Malgun Gothic"/>
                <a:ea typeface="Malgun Gothic"/>
                <a:cs typeface="Malgun Gothic"/>
              </a:rPr>
              <a:t>: 콜레스테롤·스핑고지질이 풍부한 미세영역으로 신호 단백질(GPI 단백질, 일부 수용체)을 집결.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막 비대칭: PS·PE는 내엽, PC·스핑고미엘린·당지질은 외엽 (B01 L08).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당질층(glycocalyx): 세포 인식, 혈액형 항원(ABO), 내피 장벽.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생체막의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5</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발작성 야간 혈색소뇨증(PNH)</a:t>
            </a:r>
            <a:r>
              <a:rPr sz="2000" b="0" i="0">
                <a:solidFill>
                  <a:srgbClr val="11202B"/>
                </a:solidFill>
                <a:latin typeface="Malgun Gothic"/>
                <a:ea typeface="Malgun Gothic"/>
                <a:cs typeface="Malgun Gothic"/>
              </a:rPr>
              <a:t>은 조혈모세포의 PIGA 체세포 변이로 GPI 앵커를 만들지 못해 보체 조절 단백질 CD55(DAF)·CD59(MIRL)가 적혈구에 없어 보체 매개 용혈, 혈전증, 골수부전이 생긴다. C5 억제제(에쿨리주맙, 라불리주맙)와 C3 억제제(페그세타코플란), B인자 억제제(이프타코판)가 치료제이다. 유세포 분석에서 FLAER 결합 소실로 진단한다.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막 수송의 원리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Na⁺/K⁺-ATPase는 휴지기 ATP 소비의 약 20–40%(뇌에서 더 높음)를 차지하며 막전위·세포 부피·2차 수송의 기울기를 유지한다.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수송 동역학: 운반체는 포화(Vmax, Km)와 특이성을 보이지만, 통로는 초당 10⁶–10⁸ 이온을 통과시켜 훨씬 빠르다.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막 수송의 원리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방식</a:t>
                      </a:r>
                    </a:p>
                  </a:txBody>
                  <a:tcPr marL="73152" marR="73152">
                    <a:solidFill>
                      <a:srgbClr val="003C71"/>
                    </a:solidFill>
                  </a:tcPr>
                </a:tc>
                <a:tc>
                  <a:txBody>
                    <a:bodyPr/>
                    <a:lstStyle/>
                    <a:p>
                      <a:r>
                        <a:rPr sz="1500" b="1" i="0">
                          <a:solidFill>
                            <a:srgbClr val="FFFFFF"/>
                          </a:solidFill>
                          <a:latin typeface="Malgun Gothic"/>
                          <a:ea typeface="Malgun Gothic"/>
                          <a:cs typeface="Malgun Gothic"/>
                        </a:rPr>
                        <a:t>에너지</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c>
                  <a:txBody>
                    <a:bodyPr/>
                    <a:lstStyle/>
                    <a:p>
                      <a:r>
                        <a:rPr sz="1500" b="1" i="0">
                          <a:solidFill>
                            <a:srgbClr val="FFFFFF"/>
                          </a:solidFill>
                          <a:latin typeface="Malgun Gothic"/>
                          <a:ea typeface="Malgun Gothic"/>
                          <a:cs typeface="Malgun Gothic"/>
                        </a:rPr>
                        <a:t>관련 질환·약물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단순 확산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없음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O₂, CO₂, 스테로이드, 마취제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통로(channel)</a:t>
                      </a:r>
                    </a:p>
                  </a:txBody>
                  <a:tcPr marL="73152" marR="73152">
                    <a:solidFill>
                      <a:srgbClr val="ECF1F5"/>
                    </a:solidFill>
                  </a:tcPr>
                </a:tc>
                <a:tc>
                  <a:txBody>
                    <a:bodyPr/>
                    <a:lstStyle/>
                    <a:p>
                      <a:r>
                        <a:rPr sz="1500" b="0" i="0">
                          <a:solidFill>
                            <a:srgbClr val="11202B"/>
                          </a:solidFill>
                          <a:latin typeface="Malgun Gothic"/>
                          <a:ea typeface="Malgun Gothic"/>
                          <a:cs typeface="Malgun Gothic"/>
                        </a:rPr>
                        <a:t>없음, 전기화학 기울기</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전압개폐 Na⁺/K⁺/Ca²⁺ 통로, 아쿠아포린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채널병증(B06 L09), 신성 요붕증(AQP2)</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촉진확산 운반체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없음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GLUT, 요소 수송체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GLUT1 결핍</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1차 능동수송(P형 ATPase)</a:t>
                      </a:r>
                    </a:p>
                  </a:txBody>
                  <a:tcPr marL="73152" marR="73152">
                    <a:solidFill>
                      <a:srgbClr val="ECF1F5"/>
                    </a:solidFill>
                  </a:tcPr>
                </a:tc>
                <a:tc>
                  <a:txBody>
                    <a:bodyPr/>
                    <a:lstStyle/>
                    <a:p>
                      <a:r>
                        <a:rPr sz="1500" b="0" i="0">
                          <a:solidFill>
                            <a:srgbClr val="11202B"/>
                          </a:solidFill>
                          <a:latin typeface="Malgun Gothic"/>
                          <a:ea typeface="Malgun Gothic"/>
                          <a:cs typeface="Malgun Gothic"/>
                        </a:rPr>
                        <a:t>ATP</a:t>
                      </a:r>
                    </a:p>
                  </a:txBody>
                  <a:tcPr marL="73152" marR="73152">
                    <a:solidFill>
                      <a:srgbClr val="ECF1F5"/>
                    </a:solidFill>
                  </a:tcPr>
                </a:tc>
                <a:tc>
                  <a:txBody>
                    <a:bodyPr/>
                    <a:lstStyle/>
                    <a:p>
                      <a:r>
                        <a:rPr sz="1500" b="0" i="0">
                          <a:solidFill>
                            <a:srgbClr val="11202B"/>
                          </a:solidFill>
                          <a:latin typeface="Malgun Gothic"/>
                          <a:ea typeface="Malgun Gothic"/>
                          <a:cs typeface="Malgun Gothic"/>
                        </a:rPr>
                        <a:t>Na⁺/K⁺-ATPase(3Na⁺ 밖, 2K⁺ 안), SERCA, H⁺/K⁺-ATPase</a:t>
                      </a:r>
                    </a:p>
                  </a:txBody>
                  <a:tcPr marL="73152" marR="73152">
                    <a:solidFill>
                      <a:srgbClr val="ECF1F5"/>
                    </a:solidFill>
                  </a:tcPr>
                </a:tc>
                <a:tc>
                  <a:txBody>
                    <a:bodyPr/>
                    <a:lstStyle/>
                    <a:p>
                      <a:r>
                        <a:rPr sz="1500" b="0" i="0">
                          <a:solidFill>
                            <a:srgbClr val="11202B"/>
                          </a:solidFill>
                          <a:latin typeface="Malgun Gothic"/>
                          <a:ea typeface="Malgun Gothic"/>
                          <a:cs typeface="Malgun Gothic"/>
                        </a:rPr>
                        <a:t>디곡신(Na⁺/K⁺ 억제), PPI(위 양성자펌프)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ABC 수송체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ATP</a:t>
                      </a:r>
                    </a:p>
                  </a:txBody>
                  <a:tcPr marL="73152" marR="73152">
                    <a:solidFill>
                      <a:srgbClr val="FFFFFF"/>
                    </a:solidFill>
                  </a:tcPr>
                </a:tc>
                <a:tc>
                  <a:txBody>
                    <a:bodyPr/>
                    <a:lstStyle/>
                    <a:p>
                      <a:r>
                        <a:rPr sz="1500" b="0" i="0">
                          <a:solidFill>
                            <a:srgbClr val="11202B"/>
                          </a:solidFill>
                          <a:latin typeface="Malgun Gothic"/>
                          <a:ea typeface="Malgun Gothic"/>
                          <a:cs typeface="Malgun Gothic"/>
                        </a:rPr>
                        <a:t>CFTR(통로형), MDR1(P-gp), ABCA1, ABCD1</a:t>
                      </a:r>
                    </a:p>
                  </a:txBody>
                  <a:tcPr marL="73152" marR="73152">
                    <a:solidFill>
                      <a:srgbClr val="FFFFFF"/>
                    </a:solidFill>
                  </a:tcPr>
                </a:tc>
                <a:tc>
                  <a:txBody>
                    <a:bodyPr/>
                    <a:lstStyle/>
                    <a:p>
                      <a:r>
                        <a:rPr sz="1500" b="0" i="0">
                          <a:solidFill>
                            <a:srgbClr val="11202B"/>
                          </a:solidFill>
                          <a:latin typeface="Malgun Gothic"/>
                          <a:ea typeface="Malgun Gothic"/>
                          <a:cs typeface="Malgun Gothic"/>
                        </a:rPr>
                        <a:t>낭성섬유증, 다약제내성, 탄지에르병, X-ALD</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2차 능동수송</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이온 기울기</a:t>
                      </a:r>
                    </a:p>
                  </a:txBody>
                  <a:tcPr marL="73152" marR="73152">
                    <a:solidFill>
                      <a:srgbClr val="ECF1F5"/>
                    </a:solidFill>
                  </a:tcPr>
                </a:tc>
                <a:tc>
                  <a:txBody>
                    <a:bodyPr/>
                    <a:lstStyle/>
                    <a:p>
                      <a:r>
                        <a:rPr sz="1500" b="0" i="0">
                          <a:solidFill>
                            <a:srgbClr val="11202B"/>
                          </a:solidFill>
                          <a:latin typeface="Malgun Gothic"/>
                          <a:ea typeface="Malgun Gothic"/>
                          <a:cs typeface="Malgun Gothic"/>
                        </a:rPr>
                        <a:t>SGLT, NKCC2, NCC, Na⁺/Ca²⁺ 교환체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루프·티아자이드 이뇨제, 바터·지텔만 증후군</a:t>
                      </a:r>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막 수송의 원리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8</a:t>
            </a:r>
          </a:p>
        </p:txBody>
      </p:sp>
      <p:sp>
        <p:nvSpPr>
          <p:cNvPr id="7" name="Rectangle 6"/>
          <p:cNvSpPr/>
          <p:nvPr/>
        </p:nvSpPr>
        <p:spPr>
          <a:xfrm>
            <a:off x="640080" y="1325880"/>
            <a:ext cx="10881360" cy="277749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800" b="1" i="0">
                <a:solidFill>
                  <a:srgbClr val="003C71"/>
                </a:solidFill>
                <a:latin typeface="Malgun Gothic"/>
                <a:ea typeface="Malgun Gothic"/>
                <a:cs typeface="Malgun Gothic"/>
              </a:rPr>
              <a:t>임상 연계  </a:t>
            </a:r>
            <a:r>
              <a:rPr sz="1800" b="1" i="0">
                <a:solidFill>
                  <a:srgbClr val="11202B"/>
                </a:solidFill>
                <a:latin typeface="Malgun Gothic"/>
                <a:ea typeface="Malgun Gothic"/>
                <a:cs typeface="Malgun Gothic"/>
              </a:rPr>
              <a:t>낭성섬유증(CF)</a:t>
            </a:r>
            <a:r>
              <a:rPr sz="1800" b="0" i="0">
                <a:solidFill>
                  <a:srgbClr val="11202B"/>
                </a:solidFill>
                <a:latin typeface="Malgun Gothic"/>
                <a:ea typeface="Malgun Gothic"/>
                <a:cs typeface="Malgun Gothic"/>
              </a:rPr>
              <a:t>: CFTR 변이로 Cl⁻·HCO₃⁻ 분비가 실패해 기도 점액이 탈수·끈적해지고 췌장관 폐쇄·남성 불임(정관 결손)·태변장폐쇄증이 생긴다. 땀 Cl⁻ ≥ 60 mmol/L로 진단한다. 가장 흔한 F508del은 접힘 결함(2급)으로 ER에서 분해되며, </a:t>
            </a:r>
            <a:r>
              <a:rPr sz="1800" b="1" i="0">
                <a:solidFill>
                  <a:srgbClr val="11202B"/>
                </a:solidFill>
                <a:latin typeface="Malgun Gothic"/>
                <a:ea typeface="Malgun Gothic"/>
                <a:cs typeface="Malgun Gothic"/>
              </a:rPr>
              <a:t>조절제</a:t>
            </a:r>
            <a:r>
              <a:rPr sz="1800" b="0" i="0">
                <a:solidFill>
                  <a:srgbClr val="11202B"/>
                </a:solidFill>
                <a:latin typeface="Malgun Gothic"/>
                <a:ea typeface="Malgun Gothic"/>
                <a:cs typeface="Malgun Gothic"/>
              </a:rPr>
              <a:t>(교정제 엘렉사카프토르·테자카프토르 + 강화제 이바카프토르; 2024 바나카프토르-테자카프토르-듀티바카프토르)가 약 90% 환자의 폐기능과 생존을 바꾸었다. 변이 '급'에 따라 다른 약물이 필요하다는 점은 정밀의학의 대표 예이다.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분비 경로: 소포체에서 골지까지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신호인식입자(SRP)</a:t>
            </a:r>
            <a:r>
              <a:rPr sz="1800" b="0" i="0">
                <a:solidFill>
                  <a:srgbClr val="11202B"/>
                </a:solidFill>
                <a:latin typeface="Malgun Gothic"/>
                <a:ea typeface="Malgun Gothic"/>
                <a:cs typeface="Malgun Gothic"/>
              </a:rPr>
              <a:t>가 N말단 소수성 신호서열을 인식 → 리보솜-mRNA를 ER 막 SRP 수용체로 → </a:t>
            </a:r>
            <a:r>
              <a:rPr sz="1800" b="1" i="0">
                <a:solidFill>
                  <a:srgbClr val="11202B"/>
                </a:solidFill>
                <a:latin typeface="Malgun Gothic"/>
                <a:ea typeface="Malgun Gothic"/>
                <a:cs typeface="Malgun Gothic"/>
              </a:rPr>
              <a:t>Sec61 전위통로</a:t>
            </a:r>
            <a:r>
              <a:rPr sz="1800" b="0" i="0">
                <a:solidFill>
                  <a:srgbClr val="11202B"/>
                </a:solidFill>
                <a:latin typeface="Malgun Gothic"/>
                <a:ea typeface="Malgun Gothic"/>
                <a:cs typeface="Malgun Gothic"/>
              </a:rPr>
              <a:t>로 공번역 전위 → 신호 펩티다아제 절단.</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ER 내강: 이황화결합(PDI), </a:t>
            </a:r>
            <a:r>
              <a:rPr sz="1800" b="1" i="0">
                <a:solidFill>
                  <a:srgbClr val="11202B"/>
                </a:solidFill>
                <a:latin typeface="Malgun Gothic"/>
                <a:ea typeface="Malgun Gothic"/>
                <a:cs typeface="Malgun Gothic"/>
              </a:rPr>
              <a:t>N-연결 당화</a:t>
            </a:r>
            <a:r>
              <a:rPr sz="1800" b="0" i="0">
                <a:solidFill>
                  <a:srgbClr val="11202B"/>
                </a:solidFill>
                <a:latin typeface="Malgun Gothic"/>
                <a:ea typeface="Malgun Gothic"/>
                <a:cs typeface="Malgun Gothic"/>
              </a:rPr>
              <a:t>(Asn-X-Ser/Thr; 돌리콜 올리고당 블록 전달), 샤페론(BiP, 칼넥신·칼레티큘린 주기)으로 품질 관리.</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잘못 접힌 단백질 → </a:t>
            </a:r>
            <a:r>
              <a:rPr sz="1800" b="1" i="0">
                <a:solidFill>
                  <a:srgbClr val="11202B"/>
                </a:solidFill>
                <a:latin typeface="Malgun Gothic"/>
                <a:ea typeface="Malgun Gothic"/>
                <a:cs typeface="Malgun Gothic"/>
              </a:rPr>
              <a:t>ERAD</a:t>
            </a:r>
            <a:r>
              <a:rPr sz="1800" b="0" i="0">
                <a:solidFill>
                  <a:srgbClr val="11202B"/>
                </a:solidFill>
                <a:latin typeface="Malgun Gothic"/>
                <a:ea typeface="Malgun Gothic"/>
                <a:cs typeface="Malgun Gothic"/>
              </a:rPr>
              <a:t>(역전위 → 유비퀴틴화 → 프로테아솜) 또는 </a:t>
            </a:r>
            <a:r>
              <a:rPr sz="1800" b="1" i="0">
                <a:solidFill>
                  <a:srgbClr val="11202B"/>
                </a:solidFill>
                <a:latin typeface="Malgun Gothic"/>
                <a:ea typeface="Malgun Gothic"/>
                <a:cs typeface="Malgun Gothic"/>
              </a:rPr>
              <a:t>UPR</a:t>
            </a:r>
            <a:r>
              <a:rPr sz="1800" b="0" i="0">
                <a:solidFill>
                  <a:srgbClr val="11202B"/>
                </a:solidFill>
                <a:latin typeface="Malgun Gothic"/>
                <a:ea typeface="Malgun Gothic"/>
                <a:cs typeface="Malgun Gothic"/>
              </a:rPr>
              <a:t>(IRE1–XBP1, PERK–eIF2α–ATF4–CHOP, ATF6). 지속 UPR은 세포사로 이어진다(β세포 손실, 신경퇴행).</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COPII</a:t>
            </a:r>
            <a:r>
              <a:rPr sz="1800" b="0" i="0">
                <a:solidFill>
                  <a:srgbClr val="11202B"/>
                </a:solidFill>
                <a:latin typeface="Malgun Gothic"/>
                <a:ea typeface="Malgun Gothic"/>
                <a:cs typeface="Malgun Gothic"/>
              </a:rPr>
              <a:t> 소포로 ER → ERGIC → 골지(cis → medial → trans). 골지에서 당 다듬기·O-연결 당화·황산화·단백분해 가공(프로호르몬 전환효소; 프로인슐린 → 인슐린 + C-펩타이드).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분비 경로: 소포체에서 골지까지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COPI</a:t>
            </a:r>
            <a:r>
              <a:rPr sz="2200" b="0" i="0">
                <a:solidFill>
                  <a:srgbClr val="11202B"/>
                </a:solidFill>
                <a:latin typeface="Malgun Gothic"/>
                <a:ea typeface="Malgun Gothic"/>
                <a:cs typeface="Malgun Gothic"/>
              </a:rPr>
              <a:t>: 골지 → ER 역행 수송(KDEL 수용체로 ER 상주 단백질 회수).</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trans-골지망(TGN)에서 분류: 구성 분비, 조절 분비(분비과립), 리소좀(M6P), 극성 상피 정단/기저측.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분비 경로: 소포체에서 골지까지</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11</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α1-항트립신 결핍</a:t>
            </a:r>
            <a:r>
              <a:rPr sz="2000" b="0" i="0">
                <a:solidFill>
                  <a:srgbClr val="11202B"/>
                </a:solidFill>
                <a:latin typeface="Malgun Gothic"/>
                <a:ea typeface="Malgun Gothic"/>
                <a:cs typeface="Malgun Gothic"/>
              </a:rPr>
              <a:t>의 Z 변이(Glu342Lys)는 ER에서 중합체를 형성해 간세포에 축적(PAS 양성 디아스타제 저항 소체 → 간경변)되고, 혈중 결핍으로 폐 호중구 엘라스테이스가 억제되지 못해 범소엽성 폐기종이 생긴다. 이는 '기능 획득 독성(간)'과 '기능 소실(폐)'이 동시에 일어나는 단백질 접힘 질환이며, 간 표적 siRNA(파지시란)가 Z 단백 생산을 줄이는 치료로 개발 중이다.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소포 수송과 막 융합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피복단백: </a:t>
            </a:r>
            <a:r>
              <a:rPr sz="2000" b="1" i="0">
                <a:solidFill>
                  <a:srgbClr val="11202B"/>
                </a:solidFill>
                <a:latin typeface="Malgun Gothic"/>
                <a:ea typeface="Malgun Gothic"/>
                <a:cs typeface="Malgun Gothic"/>
              </a:rPr>
              <a:t>COPII</a:t>
            </a:r>
            <a:r>
              <a:rPr sz="2000" b="0" i="0">
                <a:solidFill>
                  <a:srgbClr val="11202B"/>
                </a:solidFill>
                <a:latin typeface="Malgun Gothic"/>
                <a:ea typeface="Malgun Gothic"/>
                <a:cs typeface="Malgun Gothic"/>
              </a:rPr>
              <a:t>(ER → 골지; Sar1), </a:t>
            </a:r>
            <a:r>
              <a:rPr sz="2000" b="1" i="0">
                <a:solidFill>
                  <a:srgbClr val="11202B"/>
                </a:solidFill>
                <a:latin typeface="Malgun Gothic"/>
                <a:ea typeface="Malgun Gothic"/>
                <a:cs typeface="Malgun Gothic"/>
              </a:rPr>
              <a:t>COPI</a:t>
            </a:r>
            <a:r>
              <a:rPr sz="2000" b="0" i="0">
                <a:solidFill>
                  <a:srgbClr val="11202B"/>
                </a:solidFill>
                <a:latin typeface="Malgun Gothic"/>
                <a:ea typeface="Malgun Gothic"/>
                <a:cs typeface="Malgun Gothic"/>
              </a:rPr>
              <a:t>(골지 내/역행; ARF1), </a:t>
            </a:r>
            <a:r>
              <a:rPr sz="2000" b="1" i="0">
                <a:solidFill>
                  <a:srgbClr val="11202B"/>
                </a:solidFill>
                <a:latin typeface="Malgun Gothic"/>
                <a:ea typeface="Malgun Gothic"/>
                <a:cs typeface="Malgun Gothic"/>
              </a:rPr>
              <a:t>클라트린</a:t>
            </a:r>
            <a:r>
              <a:rPr sz="2000" b="0" i="0">
                <a:solidFill>
                  <a:srgbClr val="11202B"/>
                </a:solidFill>
                <a:latin typeface="Malgun Gothic"/>
                <a:ea typeface="Malgun Gothic"/>
                <a:cs typeface="Malgun Gothic"/>
              </a:rPr>
              <a:t>(형질막·TGN → 엔도솜; AP2·AP1 어댑터, 다이나민이 목을 끊음).</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표적화: Rab GTP분해효소(소기관 정체성), 결합 인자(tethering).</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SNARE</a:t>
            </a:r>
            <a:r>
              <a:rPr sz="2000" b="0" i="0">
                <a:solidFill>
                  <a:srgbClr val="11202B"/>
                </a:solidFill>
                <a:latin typeface="Malgun Gothic"/>
                <a:ea typeface="Malgun Gothic"/>
                <a:cs typeface="Malgun Gothic"/>
              </a:rPr>
              <a:t>: 소포 v-SNARE(시냅토브레빈/VAMP)와 표적막 t-SNARE(신택신, SNAP-25)가 4중 나선 다발을 형성해 막을 융합. NSF·α-SNAP이 ATP로 복합체를 해체해 재사용.</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신경 전달물질 방출: 시냅토태그민(Ca²⁺ 센서)이 SNARE 매개 융합을 촉발(B07 L03).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소포 수송과 막 융합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세포내섭취(endocytosis)</a:t>
            </a:r>
            <a:r>
              <a:rPr sz="2200" b="0" i="0">
                <a:solidFill>
                  <a:srgbClr val="11202B"/>
                </a:solidFill>
                <a:latin typeface="Malgun Gothic"/>
                <a:ea typeface="Malgun Gothic"/>
                <a:cs typeface="Malgun Gothic"/>
              </a:rPr>
              <a:t>: 클라트린 의존(LDL 수용체, 트랜스페린 수용체), 카베올라, 거대음세포작용, 식세포작용. 엔도솜 성숙(Rab5 → Rab7)과 산성화로 리간드 분리·수용체 재순환.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소포 수송과 막 융합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독소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절단 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보툴리눔 독소 A, E, C</a:t>
                      </a:r>
                    </a:p>
                  </a:txBody>
                  <a:tcPr marL="73152" marR="73152">
                    <a:solidFill>
                      <a:srgbClr val="FFFFFF"/>
                    </a:solidFill>
                  </a:tcPr>
                </a:tc>
                <a:tc>
                  <a:txBody>
                    <a:bodyPr/>
                    <a:lstStyle/>
                    <a:p>
                      <a:r>
                        <a:rPr sz="1500" b="0" i="0">
                          <a:solidFill>
                            <a:srgbClr val="11202B"/>
                          </a:solidFill>
                          <a:latin typeface="Malgun Gothic"/>
                          <a:ea typeface="Malgun Gothic"/>
                          <a:cs typeface="Malgun Gothic"/>
                        </a:rPr>
                        <a:t>SNAP-25 (C는 신택신도)</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신경근 접합부 ACh 방출 차단 → 이완성 마비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보툴리눔 독소 B, D, F, G</a:t>
                      </a:r>
                    </a:p>
                  </a:txBody>
                  <a:tcPr marL="73152" marR="73152">
                    <a:solidFill>
                      <a:srgbClr val="ECF1F5"/>
                    </a:solidFill>
                  </a:tcPr>
                </a:tc>
                <a:tc>
                  <a:txBody>
                    <a:bodyPr/>
                    <a:lstStyle/>
                    <a:p>
                      <a:r>
                        <a:rPr sz="1500" b="0" i="0">
                          <a:solidFill>
                            <a:srgbClr val="11202B"/>
                          </a:solidFill>
                          <a:latin typeface="Malgun Gothic"/>
                          <a:ea typeface="Malgun Gothic"/>
                          <a:cs typeface="Malgun Gothic"/>
                        </a:rPr>
                        <a:t>시냅토브레빈</a:t>
                      </a:r>
                    </a:p>
                  </a:txBody>
                  <a:tcPr marL="73152" marR="73152">
                    <a:solidFill>
                      <a:srgbClr val="ECF1F5"/>
                    </a:solidFill>
                  </a:tcPr>
                </a:tc>
                <a:tc>
                  <a:txBody>
                    <a:bodyPr/>
                    <a:lstStyle/>
                    <a:p>
                      <a:r>
                        <a:rPr sz="1500" b="0" i="0">
                          <a:solidFill>
                            <a:srgbClr val="11202B"/>
                          </a:solidFill>
                          <a:latin typeface="Malgun Gothic"/>
                          <a:ea typeface="Malgun Gothic"/>
                          <a:cs typeface="Malgun Gothic"/>
                        </a:rPr>
                        <a:t>동일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파상풍 독소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시냅토브레빈 (척수 억제성 신경세포; 역행 수송)</a:t>
                      </a:r>
                    </a:p>
                  </a:txBody>
                  <a:tcPr marL="73152" marR="73152">
                    <a:solidFill>
                      <a:srgbClr val="FFFFFF"/>
                    </a:solidFill>
                  </a:tcPr>
                </a:tc>
                <a:tc>
                  <a:txBody>
                    <a:bodyPr/>
                    <a:lstStyle/>
                    <a:p>
                      <a:r>
                        <a:rPr sz="1500" b="0" i="0">
                          <a:solidFill>
                            <a:srgbClr val="11202B"/>
                          </a:solidFill>
                          <a:latin typeface="Malgun Gothic"/>
                          <a:ea typeface="Malgun Gothic"/>
                          <a:cs typeface="Malgun Gothic"/>
                        </a:rPr>
                        <a:t>글리신·GABA 방출 차단 → 강직성 마비</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소포 수송과 막 융합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보툴리눔 독소의 SNARE 절단 기전은 근긴장이상, 경직, 만성 편두통, 다한증, 방광 과활동 치료에 활용된다. 영아 보툴리누스증은 꿀 섭취 후 장내 포자 발아로 생기며 '처진 아기(floppy baby)'로 나타난다.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리소좀과 만노스-6-인산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리소좀 가수분해효소는 골지(cis)에서 </a:t>
            </a:r>
            <a:r>
              <a:rPr sz="2000" b="1" i="0">
                <a:solidFill>
                  <a:srgbClr val="11202B"/>
                </a:solidFill>
                <a:latin typeface="Malgun Gothic"/>
                <a:ea typeface="Malgun Gothic"/>
                <a:cs typeface="Malgun Gothic"/>
              </a:rPr>
              <a:t>GlcNAc-1-인산전이효소(GNPTAB)</a:t>
            </a:r>
            <a:r>
              <a:rPr sz="2000" b="0" i="0">
                <a:solidFill>
                  <a:srgbClr val="11202B"/>
                </a:solidFill>
                <a:latin typeface="Malgun Gothic"/>
                <a:ea typeface="Malgun Gothic"/>
                <a:cs typeface="Malgun Gothic"/>
              </a:rPr>
              <a:t>가 만노스를 표지 → 탈피복효소가 노출된 </a:t>
            </a:r>
            <a:r>
              <a:rPr sz="2000" b="1" i="0">
                <a:solidFill>
                  <a:srgbClr val="11202B"/>
                </a:solidFill>
                <a:latin typeface="Malgun Gothic"/>
                <a:ea typeface="Malgun Gothic"/>
                <a:cs typeface="Malgun Gothic"/>
              </a:rPr>
              <a:t>M6P</a:t>
            </a:r>
            <a:r>
              <a:rPr sz="2000" b="0" i="0">
                <a:solidFill>
                  <a:srgbClr val="11202B"/>
                </a:solidFill>
                <a:latin typeface="Malgun Gothic"/>
                <a:ea typeface="Malgun Gothic"/>
                <a:cs typeface="Malgun Gothic"/>
              </a:rPr>
              <a:t> 생성 → TGN의 M6P 수용체가 인식 → 후기 엔도솜 → 산성 pH에서 분리.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리소좀 막: v-ATPase(pH 4.5–5), LAMP1/2(보호 당단백), NPC1/NPC2(콜레스테롤 유출), 영양 감지(mTORC1이 리소좀 표면에서 Rag GTPase·Rheb로 활성화).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TFEB</a:t>
            </a:r>
            <a:r>
              <a:rPr sz="2000" b="0" i="0">
                <a:solidFill>
                  <a:srgbClr val="11202B"/>
                </a:solidFill>
                <a:latin typeface="Malgun Gothic"/>
                <a:ea typeface="Malgun Gothic"/>
                <a:cs typeface="Malgun Gothic"/>
              </a:rPr>
              <a:t>: 영양 결핍 시 mTORC1 억제 → 탈인산화 → 핵 이동 → 리소좀·자가포식 유전자(CLEAR 네트워크) 발현.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리소좀과 만노스-6-인산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17</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I-세포병(뮤코리피드증 II)</a:t>
            </a:r>
            <a:r>
              <a:rPr sz="2000" b="0" i="0">
                <a:solidFill>
                  <a:srgbClr val="11202B"/>
                </a:solidFill>
                <a:latin typeface="Malgun Gothic"/>
                <a:ea typeface="Malgun Gothic"/>
                <a:cs typeface="Malgun Gothic"/>
              </a:rPr>
              <a:t>은 GNPTAB 결손으로 M6P 표지가 없어 리소좀 효소가 세포 밖으로 분비된다. 혈중 리소좀 효소는 매우 높지만 세포 안에는 결핍되어 섬유모세포에 봉입체(inclusion)가 쌓이고, 거친 얼굴, 잇몸 증식, 골이형성, 관절 경직, 10세 이전 사망을 보인다. 효소대체요법 제제가 세포에 흡수되는 원리(M6P 수용체)도 같은 경로를 이용한다.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미토콘드리아·퍼옥시좀·핵으로의 수송</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a:t>
            </a:r>
            <a:r>
              <a:rPr sz="1800" b="0" i="0">
                <a:solidFill>
                  <a:srgbClr val="11202B"/>
                </a:solidFill>
                <a:latin typeface="Malgun Gothic"/>
                <a:ea typeface="Malgun Gothic"/>
                <a:cs typeface="Malgun Gothic"/>
              </a:rPr>
              <a:t>: 단백질의 99%가 핵 유전자 산물. N말단 양전하 양친매성 나선(MTS) → </a:t>
            </a:r>
            <a:r>
              <a:rPr sz="1800" b="1" i="0">
                <a:solidFill>
                  <a:srgbClr val="11202B"/>
                </a:solidFill>
                <a:latin typeface="Malgun Gothic"/>
                <a:ea typeface="Malgun Gothic"/>
                <a:cs typeface="Malgun Gothic"/>
              </a:rPr>
              <a:t>TOM</a:t>
            </a:r>
            <a:r>
              <a:rPr sz="1800" b="0" i="0">
                <a:solidFill>
                  <a:srgbClr val="11202B"/>
                </a:solidFill>
                <a:latin typeface="Malgun Gothic"/>
                <a:ea typeface="Malgun Gothic"/>
                <a:cs typeface="Malgun Gothic"/>
              </a:rPr>
              <a:t>(외막) → </a:t>
            </a:r>
            <a:r>
              <a:rPr sz="1800" b="1" i="0">
                <a:solidFill>
                  <a:srgbClr val="11202B"/>
                </a:solidFill>
                <a:latin typeface="Malgun Gothic"/>
                <a:ea typeface="Malgun Gothic"/>
                <a:cs typeface="Malgun Gothic"/>
              </a:rPr>
              <a:t>TIM23</a:t>
            </a:r>
            <a:r>
              <a:rPr sz="1800" b="0" i="0">
                <a:solidFill>
                  <a:srgbClr val="11202B"/>
                </a:solidFill>
                <a:latin typeface="Malgun Gothic"/>
                <a:ea typeface="Malgun Gothic"/>
                <a:cs typeface="Malgun Gothic"/>
              </a:rPr>
              <a:t>(내막, 막전위 의존) → 기질 MPP 절단, mtHsp70. 내막 운반체는 TIM22, 외막 β-배럴은 SAM.</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퍼옥시좀</a:t>
            </a:r>
            <a:r>
              <a:rPr sz="1800" b="0" i="0">
                <a:solidFill>
                  <a:srgbClr val="11202B"/>
                </a:solidFill>
                <a:latin typeface="Malgun Gothic"/>
                <a:ea typeface="Malgun Gothic"/>
                <a:cs typeface="Malgun Gothic"/>
              </a:rPr>
              <a:t>: C말단 </a:t>
            </a:r>
            <a:r>
              <a:rPr sz="1800" b="1" i="0">
                <a:solidFill>
                  <a:srgbClr val="11202B"/>
                </a:solidFill>
                <a:latin typeface="Malgun Gothic"/>
                <a:ea typeface="Malgun Gothic"/>
                <a:cs typeface="Malgun Gothic"/>
              </a:rPr>
              <a:t>PTS1(-SKL)</a:t>
            </a:r>
            <a:r>
              <a:rPr sz="1800" b="0" i="0">
                <a:solidFill>
                  <a:srgbClr val="11202B"/>
                </a:solidFill>
                <a:latin typeface="Malgun Gothic"/>
                <a:ea typeface="Malgun Gothic"/>
                <a:cs typeface="Malgun Gothic"/>
              </a:rPr>
              <a:t> 또는 N말단 PTS2 → 세포질 수용체 PEX5/PEX7 → 접힌 상태 그대로 유입. 기능: 초장쇄 지방산 β-산화, 플라스말로겐·담즙산 합성, 파이탄산 α-산화, H₂O₂ 분해(카탈라아제).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핵</a:t>
            </a:r>
            <a:r>
              <a:rPr sz="1800" b="0" i="0">
                <a:solidFill>
                  <a:srgbClr val="11202B"/>
                </a:solidFill>
                <a:latin typeface="Malgun Gothic"/>
                <a:ea typeface="Malgun Gothic"/>
                <a:cs typeface="Malgun Gothic"/>
              </a:rPr>
              <a:t>: 핵공복합체(NPC; ~30종 뉴클레오포린)를 통한 </a:t>
            </a:r>
            <a:r>
              <a:rPr sz="1800" b="1" i="0">
                <a:solidFill>
                  <a:srgbClr val="11202B"/>
                </a:solidFill>
                <a:latin typeface="Malgun Gothic"/>
                <a:ea typeface="Malgun Gothic"/>
                <a:cs typeface="Malgun Gothic"/>
              </a:rPr>
              <a:t>핵위치신호(NLS; 염기성 아미노산)</a:t>
            </a:r>
            <a:r>
              <a:rPr sz="1800" b="0" i="0">
                <a:solidFill>
                  <a:srgbClr val="11202B"/>
                </a:solidFill>
                <a:latin typeface="Malgun Gothic"/>
                <a:ea typeface="Malgun Gothic"/>
                <a:cs typeface="Malgun Gothic"/>
              </a:rPr>
              <a:t> – 임포틴, </a:t>
            </a:r>
            <a:r>
              <a:rPr sz="1800" b="1" i="0">
                <a:solidFill>
                  <a:srgbClr val="11202B"/>
                </a:solidFill>
                <a:latin typeface="Malgun Gothic"/>
                <a:ea typeface="Malgun Gothic"/>
                <a:cs typeface="Malgun Gothic"/>
              </a:rPr>
              <a:t>Ran-GTP 기울기</a:t>
            </a:r>
            <a:r>
              <a:rPr sz="1800" b="0" i="0">
                <a:solidFill>
                  <a:srgbClr val="11202B"/>
                </a:solidFill>
                <a:latin typeface="Malgun Gothic"/>
                <a:ea typeface="Malgun Gothic"/>
                <a:cs typeface="Malgun Gothic"/>
              </a:rPr>
              <a:t>(핵 내 RanGEF = RCC1, 세포질 RanGAP)로 방향성. 핵외수출신호(NES) – 엑스포틴(CRM1; 셀리넥서 표적).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미토콘드리아·퍼옥시좀·핵으로의 수송</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결손</a:t>
                      </a:r>
                    </a:p>
                  </a:txBody>
                  <a:tcPr marL="73152" marR="73152">
                    <a:solidFill>
                      <a:srgbClr val="003C71"/>
                    </a:solidFill>
                  </a:tcPr>
                </a:tc>
                <a:tc>
                  <a:txBody>
                    <a:bodyPr/>
                    <a:lstStyle/>
                    <a:p>
                      <a:r>
                        <a:rPr sz="1500" b="1" i="0">
                          <a:solidFill>
                            <a:srgbClr val="FFFFFF"/>
                          </a:solidFill>
                          <a:latin typeface="Malgun Gothic"/>
                          <a:ea typeface="Malgun Gothic"/>
                          <a:cs typeface="Malgun Gothic"/>
                        </a:rPr>
                        <a:t>소견</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젤웨거 스펙트럼 장애</a:t>
                      </a:r>
                    </a:p>
                  </a:txBody>
                  <a:tcPr marL="73152" marR="73152">
                    <a:solidFill>
                      <a:srgbClr val="FFFFFF"/>
                    </a:solidFill>
                  </a:tcPr>
                </a:tc>
                <a:tc>
                  <a:txBody>
                    <a:bodyPr/>
                    <a:lstStyle/>
                    <a:p>
                      <a:r>
                        <a:rPr sz="1500" b="0" i="0">
                          <a:solidFill>
                            <a:srgbClr val="11202B"/>
                          </a:solidFill>
                          <a:latin typeface="Malgun Gothic"/>
                          <a:ea typeface="Malgun Gothic"/>
                          <a:cs typeface="Malgun Gothic"/>
                        </a:rPr>
                        <a:t>PEX 유전자(퍼옥시좀 형성)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근긴장저하, 큰 대천문·이마, 간비대, 신장 낭종, 경련; 혈장 VLCFA·파이탄산↑, 플라스말로겐↓</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X-연관 부신백질이영양증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ABCD1(VLCFA 퍼옥시좀 유입)</a:t>
                      </a:r>
                    </a:p>
                  </a:txBody>
                  <a:tcPr marL="73152" marR="73152">
                    <a:solidFill>
                      <a:srgbClr val="ECF1F5"/>
                    </a:solidFill>
                  </a:tcPr>
                </a:tc>
                <a:tc>
                  <a:txBody>
                    <a:bodyPr/>
                    <a:lstStyle/>
                    <a:p>
                      <a:r>
                        <a:rPr sz="1500" b="0" i="0">
                          <a:solidFill>
                            <a:srgbClr val="11202B"/>
                          </a:solidFill>
                          <a:latin typeface="Malgun Gothic"/>
                          <a:ea typeface="Malgun Gothic"/>
                          <a:cs typeface="Malgun Gothic"/>
                        </a:rPr>
                        <a:t>VLCFA 축적 → 대뇌 탈수초, 부신 기능저하 (B05 L13)</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레프섬병</a:t>
                      </a:r>
                    </a:p>
                  </a:txBody>
                  <a:tcPr marL="73152" marR="73152">
                    <a:solidFill>
                      <a:srgbClr val="FFFFFF"/>
                    </a:solidFill>
                  </a:tcPr>
                </a:tc>
                <a:tc>
                  <a:txBody>
                    <a:bodyPr/>
                    <a:lstStyle/>
                    <a:p>
                      <a:r>
                        <a:rPr sz="1500" b="0" i="0">
                          <a:solidFill>
                            <a:srgbClr val="11202B"/>
                          </a:solidFill>
                          <a:latin typeface="Malgun Gothic"/>
                          <a:ea typeface="Malgun Gothic"/>
                          <a:cs typeface="Malgun Gothic"/>
                        </a:rPr>
                        <a:t>PHYH</a:t>
                      </a:r>
                    </a:p>
                  </a:txBody>
                  <a:tcPr marL="73152" marR="73152">
                    <a:solidFill>
                      <a:srgbClr val="FFFFFF"/>
                    </a:solidFill>
                  </a:tcPr>
                </a:tc>
                <a:tc>
                  <a:txBody>
                    <a:bodyPr/>
                    <a:lstStyle/>
                    <a:p>
                      <a:r>
                        <a:rPr sz="1500" b="0" i="0">
                          <a:solidFill>
                            <a:srgbClr val="11202B"/>
                          </a:solidFill>
                          <a:latin typeface="Malgun Gothic"/>
                          <a:ea typeface="Malgun Gothic"/>
                          <a:cs typeface="Malgun Gothic"/>
                        </a:rPr>
                        <a:t>파이탄산 축적: 망막색소변성, 신경병증, 어린선; 엽록소 식이 제한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허친슨-길포드 조로증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LMNA (프로게린: 파네실화 유지)</a:t>
                      </a:r>
                    </a:p>
                  </a:txBody>
                  <a:tcPr marL="73152" marR="73152">
                    <a:solidFill>
                      <a:srgbClr val="ECF1F5"/>
                    </a:solidFill>
                  </a:tcPr>
                </a:tc>
                <a:tc>
                  <a:txBody>
                    <a:bodyPr/>
                    <a:lstStyle/>
                    <a:p>
                      <a:r>
                        <a:rPr sz="1500" b="0" i="0">
                          <a:solidFill>
                            <a:srgbClr val="11202B"/>
                          </a:solidFill>
                          <a:latin typeface="Malgun Gothic"/>
                          <a:ea typeface="Malgun Gothic"/>
                          <a:cs typeface="Malgun Gothic"/>
                        </a:rPr>
                        <a:t>핵막 변형, 조기 노화 → 로나파르닙(파네실전이효소 억제)</a:t>
                      </a:r>
                    </a:p>
                  </a:txBody>
                  <a:tcPr marL="73152" marR="73152">
                    <a:solidFill>
                      <a:srgbClr val="ECF1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상분리(liquid–liquid phase separation)로 형성되는 '막 없는 소기관'(스트레스 과립, 핵소체, P-소체)이 ALS·FTD에서 TDP-43·FUS 응집의 출발점이라는 가설이 확립되어 가고 있다(B06 L06).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소기관 접촉 부위(ER–미토콘드리아 MAM, ER–리소좀)의 지질·Ca²⁺ 교환이 대사·신경퇴행에 핵심이라는 사실이 밝혀졌다.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크라이오 전자단층촬영(cryo-ET)으로 세포 내 원위치에서 수송 기계(NPC, COPII 격자)의 구조가 분자 해상도로 보이기 시작했다.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표적 단백질 분해 기술(PROTAC, 분자 접착제, LYTAC/AUTAC)이 프로테아솜·리소좀·자가포식 경로를 '납치'하여 막단백질·세포외 단백질까지 제거한다.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막은 지질 이중층과 단백질의 유동 모자이크이며 GPI 앵커 결손(PNH)처럼 막 구성의 결손이 질환을 만든다.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수송은 확산·통로·운반체·능동수송으로 나뉘며 CFTR, Na⁺/K⁺-ATPase, NKCC2 등은 질환과 약물의 핵심 표적이다.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분비 단백질은 SRP–Sec61로 ER에 들어가 품질관리(ERAD/UPR)를 거쳐 골지에서 분류된다.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SNARE가 막 융합을 매개하며 보툴리눔·파상풍 독소가 이를 절단한다.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리소좀 효소는 M6P, 미토콘드리아는 TOM/TIM, 퍼옥시좀은 PTS1/PEX, 핵은 NLS–Ran 체계로 표적화된다.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I-세포병 환자의 혈청과 배양 섬유모세포에서 리소좀 효소 활성은 각각 어떻게 나타나는가?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혈청에서는 매우 높고 섬유모세포 내에서는 낮다. GNPTAB 결손으로 M6P 표지가 생성되지 않아 TGN에서 M6P 수용체에 의해 리소좀으로 분류되지 못하고 기본 분비 경로로 세포 밖으로 나가기 때문이다.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CFTR F508del 변이에 교정제와 강화제를 함께 쓰는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F508del은 단백질이 잘못 접혀 ER 품질관리에 의해 분해되므로 세포막 도달량이 적고(2급), 막에 도달하더라도 개폐 기능이 떨어진다. 교정제(엘렉사카프토르, 테자카프토르)는 접힘을 도와 막 이동을 늘리고, 강화제(이바카프토르)는 통로의 개방 확률을 높인다.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보툴리눔 독소와 파상풍 독소는 같은 표적(시냅토브레빈)을 절단할 수 있는데 임상 양상이 반대인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보툴리눔 독소는 말초 신경근 접합부의 운동신경 말단에서 ACh 방출을 막아 이완성 마비를 일으킨다. 파상풍 독소는 운동신경으로 역행 수송되어 척수의 억제성 개재뉴런(Renshaw 세포 등)에 작용해 글리신·GABA 방출을 막으므로 운동신경 탈억제로 강직성 마비(개구불능, 후궁반장)가 생긴다.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젤웨거 증후군에서 혈장 VLCFA는 증가하고 적혈구 플라스말로겐은 감소하는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퍼옥시좀 형성(PEX) 결손으로 퍼옥시좀이 없거나 기능하지 못한다. 초장쇄 지방산의 β-산화가 퍼옥시좀에서만 일어나므로 VLCFA가 축적되고, 플라스말로겐 합성의 초기 단계(DHAPAT, ADHAPS)가 퍼옥시좀에서 일어나므로 플라스말로겐이 결핍된다.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Alberts B et al. Molecular Biology of the Cell, 7th ed. Norton, 2022. Ch. 10–13.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Lodish H et al. Molecular Cell Biology, 9th ed. 2021.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Bell SC et al. The future of cystic fibrosis care: a global perspective. Lancet Respir Med 2020;8:65–124.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Schekman R, Rothman JE, Südhof TC — Nobel Lectures 2013: vesicle traffic.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B02-L01  ·  막 수송, 세포소기관과 단백질 분류</a:t>
            </a:r>
            <a:r>
              <a:rPr sz="10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Banani SF et al. Biomolecular condensates: organizers of cellular biochemistry. Nat Rev Mol Cell Biol 2017;18:285–298.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