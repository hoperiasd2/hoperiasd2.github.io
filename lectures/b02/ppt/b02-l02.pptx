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GPCR은 7회 막관통 수용체로 인간 유전체에 약 800개가 있으며 승인 약물의 약 1/3이 표적한다. 리간드 결합 → 이종삼량체 G단백질(Gα·Gβγ)의 Gα GDP → GTP 교환 → Gα–GTP와 Gβγ가 분리되어 효과기를 조절.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콜레라 독소는 Gαs를 ADP-리보실화해 내재 GTP 가수분해 활성을 없애 Gαs가 지속적으로 활성(GTP 결합) 상태에 머물게 한다. 백일해 독소는 Gαi를 ADP-리보실화해 수용체와의 결합(GDP–GTP 교환)을 막아 Gαi가 불활성 상태에 갇히므로 아데닐산 고리화효소에 대한 억제가 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KRAS는 EGFR의 하류에 있으므로, KRAS가 GTP 결합형으로 지속 활성화되어 있으면 상류 EGFR을 차단해도 MAPK 신호가 계속 전달된다. 따라서 RAS 야생형(및 BRAF 야생형) 확인 후 항EGFR 치료를 선택한다.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TSC1/TSC2 복합체는 Rheb의 GAP으로서 mTORC1을 억제한다. TSC 결손 시 Rheb–GTP가 증가해 mTORC1이 지속 활성화되어 세포 성장·증식이 증가한다. 에베롤리무스는 FKBP12와 결합해 mTORC1을 억제하므로 과성장이 억제된다.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V617F는 JAK2의 자기억제 유사키나아제(JH2) 도메인 변이로 키나아제가 리간드 없이 활성화되어 EPO 수용체–STAT5 신호가 지속된다. 그 결과 혈청 EPO는 낮은데도 적혈구가 증가한다. 진성적혈구증가증의 약 95%에서 발견되어 2차성 적혈구증가증과의 감별에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B02 의학분자생물학  ·  세포생물학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세포 신호전달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Cell Signaling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B02-L02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신호전달의 일반 원리(리간드, 수용체, 증폭, 종결, 교차대화)를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G단백질연결수용체(GPCR)와 cAMP·IP₃/DAG/Ca²⁺ 2차 전령, 세균 독소·약물 작용을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수용체 티로신 키나아제(RTK)의 Ras–MAPK, PI3K–AKT–mTOR 경로와 암 표적치료를 연결한다.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JAK–STAT, TGF-β–SMAD, Wnt, Notch, Hedgehog, NF-κB 경로의 핵심과 질환을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핵수용체와 가스 신호(NO)의 작용 원리를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신호전달의 일반 원리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G단백질연결수용체(GPCR)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수용체 티로신 키나아제와 Ras–MAPK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PI3K–AKT–mTOR와 인슐린 신호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JAK–STAT, TGF-β, Wnt, Notch, Hedgehog, NF-κB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Ca²⁺ 신호, 핵수용체, 가스 신호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신호전달의 일반 원리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신호 양식: 내분비, 측분비, 자가분비, 접촉의존(주변분비), 시냅스.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수용체 위치: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세포막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(친수성 리간드: 펩타이드, 카테콜아민) vs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(소수성: 스테로이드, 갑상선호르몬, 레티노산, 비타민 D).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막 수용체 4대 계열: 이온통로형, GPCR, 효소연결(RTK, 세린/트레오닌 키나아제, 사이토카인 수용체–JAK), 기타(Notch, Wnt Frizzled).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증폭: 1개 수용체 → 다수 G단백 → 다수 cAMP → 키나아제 연쇄.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종결·탈감작: GTP 가수분해(GTPase 내재·GAP), 포스파타아제, PDE,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GRK 인산화 + β-아레스틴 결합 → 내재화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수용체 하향조절.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신호전달의 일반 원리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결과: 빠른 반응(효소·통로 변화, 초–분) vs 느린 반응(유전자 발현, 시간).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G단백질연결수용체(GPCR)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편향 작용제(biased agonism)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같은 수용체에서 G단백 경로와 β-아레스틴 경로를 선택적으로 활성화(예: 올리세리딘 μ-오피오이드).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G단백질연결수용체(GPCR)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전령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수용체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아데닐산 고리화효소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cAMP ↑ → PKA, EPAC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β₁/β₂, D₁, H₂, V₂, 글루카곤, TSH, ACTH, PTH, GLP-1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Gi/o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아데닐산 고리화효소 ↓; Gβγ → GIRK 개방, Ca²⁺ 통로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cAMP 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α₂, M₂, D₂, μ-오피오이드, CB1, GABA_B, 5-HT1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Gq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포스포리파아제 Cβ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IP₃ → ER Ca²⁺ 방출, DAG → PKC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α₁, M₁/M₃, H₁, V₁, AT₁, 5-HT2, 칼슘감지수용체(CaSR)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G12/13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RhoGEF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Rho–ROCK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트롬빈 수용체(PAR)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Gt (트랜스듀신)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cGMP PDE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cGMP 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로돕신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세균 독소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콜레라 독소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Gαs ADP-리보실화 → GTP 가수분해 불가(지속 활성)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장세포 cAMP↑ → CFTR Cl⁻ 분비 → 쌀뜨물 설사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백일해 독소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Gαi ADP-리보실화 → 수용체와 결합 불가(불활성)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cAMP↑, 림프구증가, 인슐린 분비↑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G단백질연결수용체(GPCR)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전령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수용체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탄저균 부종인자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자체가 아데닐산 고리화효소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cAMP↑, 부종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대장균 열불안정 독소(LT)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Gαs (콜레라 유사)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여행자 설사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G단백질연결수용체(GPCR)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맥큔-올브라이트 증후군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GNAS 체세포 활성 변이(Gαs R201) 모자이크 → 다골성 섬유성 이형성, 밀크커피 반점(해안선 경계), 성조숙증·갑상선항진·성장호르몬 과잉. 생식세포 GNAS 기능소실은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알브라이트 유전성 골이영양증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(가성부갑상선기능저하증 1a; PTH 저항성, 짧은 4·5번째 중수골)으로 각인(모계 유전 시 호르몬 저항)과 연결된다.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수용체 티로신 키나아제와 Ras–MAPK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리간드(EGF, PDGF, FGF, VEGF, 인슐린, NGF) → 수용체 이량체화 → 상호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자가인산화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인산화 티로신이 SH2/PTB 도메인 단백질 결합 부위가 됨.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Ras–MAPK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Grb2(SH2)–SOS(GEF)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Ras-GDP → Ras-GTP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RAF → MEK → ERK → 핵 전사인자(Elk-1, c-Fos, c-Myc) → 증식·분화. Ras GAP(NF1의 뉴로피브로민)이 GTP 가수분해를 촉진해 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종양유전자 변이: KRAS G12C/G12D/G12V(췌장암 &gt;90%, 대장암 40%, 폐선암 30%), BRAF V600E(흑색종 50%, 갑상선 유두암, 털세포백혈병), EGFR 엑손19 결실·L858R(동아시아 비흡연 폐선암), HER2 증폭(유방암 15–20%), ALK·ROS1·RET·NTRK 융합.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수용체 티로신 키나아제와 Ras–MAPK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라소병증(RASopathy)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생식세포 Ras–MAPK 활성 변이 → 누난 증후군(PTPN11, SOS1, RAF1), 심장-안면-피부 증후군, 코스텔로(HRAS), 신경섬유종증 1형(NF1). 공통적으로 저신장, 심장 결함(폐동맥판 협착, 비대 심근병증), 특징적 얼굴. MEK 억제제 셀루메티닙이 NF1 총상 신경섬유종에 승인되었다.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수용체 티로신 키나아제와 Ras–MAPK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오시머티닙 (3세대)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EGFR 감작 + T790M 내성 변이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트라스투주맙, 트라스투주맙 데룩스테칸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HER2 (항체·항체-약물접합체)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다브라페닙 + 트라메티닙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BRAF V600E + MEK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소토라십, 아다그라십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KRAS G12C (불활성 GDP 결합형 공유결합)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알렉티닙, 로라티닙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라로트렉티닙, 엔트렉티닙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NTRK 융합 (조직 불문 승인)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이마티닙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BCR-ABL, KIT, PDGFRA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PI3K–AKT–mTOR와 인슐린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RTK/IRS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PI3K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PIP₂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PIP₃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PDK1·mTORC2가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AKT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인산화·활성 → 생존(BAD·FOXO 억제), 포도당 흡수(AS160 → GLUT4), 글리코겐 합성(GSK3 억제), 단백질 합성(TSC2 억제 → Rheb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mTORC1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S6K, 4E-BP1).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PTEN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(지질 포스파타아제)이 PIP₃ → PIP₂로 되돌려 경로를 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mTORC1은 성장인자(AKT–TSC), 아미노산(Rag GTPase; 류신 센서 Sestrin2, 아르기닌 센서 CASTOR1), 에너지(AMPK → TSC2·Raptor 인산화)를 통합하는 '성장 스위치'.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PI3K–AKT–mTOR와 인슐린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소견·치료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결절성 경화증(TSC)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TSC1/TSC2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mTORC1 과활성: 피질결절, 영아연축, 심장 횡문근종, 신장 혈관근지방종, 림프관평활근종증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에베롤리무스·시롤리무스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PTEN 과오종 종양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PTEN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카우든 증후군: 대두증, 유방·갑상선·자궁내막암 위험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PIK3CA 관련 과성장(PROS)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체세포 PIK3CA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비대칭 과성장, 혈관 기형 → 알펠리십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유방암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PIK3CA 변이(~40% HR⁺)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알펠리십, 이나볼리십, 카피바설팁(AKT)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PI3K–AKT–mTOR와 인슐린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mTOR 억제제(라파마이신 유사체)는 이식 거부 억제·약물 용출 스텐트·TSC 치료에 쓰이며, 모델 생물에서 수명 연장 효과가 가장 재현성 높게 확인된 약물이다(B04 L10).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JAK–STAT, TGF-β, Wnt, Notch, Hedgehog, NF-κB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질환·약물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JAK–STAT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사이토카인 수용체 → JAK 상호 인산화 → STAT 인산화·이량체 → 핵; SOCS 음성 되먹임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JAK2 V617F: 진성적혈구증가증(~95%), 본태성 혈소판증가증·골수섬유증 → 룩솔리티닙; JAK 억제제(토파시티닙, 바리시티닙, 우파다시티닙): 류마티스관절염·아토피·원형탈모; JAK3/IL2RG 결손 SCID; STAT3 기능소실 고IgE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TGF-β–SMAD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TGF-β → II형 수용체가 I형(ALK5) 인산화 → R-SMAD(2/3) + SMAD4 → 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종양 억제·후기 EMT·전이, 섬유화; 마르판(FBN1; TGF-β 과활성)·로이스-디츠(TGFBR1/2); BMP 경로 ACVR1 R206H 진행성 골화성 섬유이형성증(FOP; 팔로바로텐), BMPR2 유전성 폐동맥고혈압(소타터셉트: 액티빈 신호 균형)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Wnt/β-카테닌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Wnt 없음: 파괴복합체(APC·Axin·GSK3·CK1)가 β-카테닌 인산화 → 분해 / Wnt → Frizzled·LRP5/6 → β-카테닌 안정 → 핵 TCF/LEF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APC 결손: 가족성 선종성 용종증·산발 대장암 80%; CTNNB1 활성: 간모세포종; LRP5 기능소실 골다공증-가성신경교종, 기능획득 고골량; 스클레로스틴 항체 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로모소주맙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Notch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리간드(Delta/Jagged) 접촉 → ADAM·</a:t>
                      </a:r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γ-세크레타아제</a:t>
                      </a:r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절단 → NICD 핵 이동 → CSL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T-ALL(NOTCH1 활성 &gt;50%), 알라질 증후군(JAG1), CADASIL(NOTCH3); γ-세크레타아제 억제제 니로가세스타트(데스모이드 종양)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Hedgehog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SHH → PTCH1 억제 해제 → SMO 활성 → GLI 전사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전전뇌증(SHH), 고린 증후군(PTCH1; 기저세포암·수모세포종), SMO 억제제 비스모데깁·소니데깁; 콜레스테롤 의존(SLO 증후군, B01 L07)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NF-κB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자극(TNF, IL-1, TLR) → IKK → IκB 인산화·분해 → p65/p50 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염증의 주조절자; 글루코코르티코이드가 억제; IKBKG(NEMO) 결손 색소실조증·면역결핍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JAK–STAT, TGF-β, Wnt, Notch, Hedgehog, NF-κB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경로가 발생(형태 형성), 줄기세포 유지, 암에서 반복 등장한다. 생식세포 변이는 발생 증후군, 체세포 변이는 암을 일으키는 '동일 경로–다른 질환' 패턴을 기억하라.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Ca²⁺ 신호, 핵수용체, 가스 신호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Ca²⁺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세포질 ~100 nM vs 세포외 ~1–2 mM (10,000배). 유입(전압개폐 통로, 저장소작동 Ca²⁺ 유입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STIM1–ORAI1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방출(IP₃R, RyR), 제거(PMCA, SERCA, NCX). 센서: 칼모듈린 → CaMKII, 칼시뉴린(→ NFAT 탈인산화 → T세포 활성; 사이클로스포린·타크롤리무스 표적).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핵수용체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(리간드 의존 전사인자; 48종):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I형(스테로이드: GR, MR, AR, ER, PR): 세포질에서 HSP90과 결합 → 리간드 결합 후 이량체 → 핵 → 호르몬 반응 요소(HRE).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II형(TR, RAR, VDR, PPAR, LXR, FXR):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RXR과 이형이량체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로 DNA에 상주, 리간드가 공동억제자 → 공동활성자 전환.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Ca²⁺ 신호, 핵수용체, 가스 신호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약물: 타목시펜(SERM), 엔잘루타마이드(AR), 미페프리스톤, 피오글리타존(PPARγ), 오베티콜산(FXR), 전-트랜스 레티노산(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APL의 PML-RARα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분화 유도).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산화질소(NO)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세포막 자유 확산 → 가용성 구아닐산 고리화효소의 헴에 결합 → cGMP → PKG → 평활근 이완. 리오시구앗(sGC 자극제) 폐고혈압, 베리시구앗 심부전.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Ca²⁺ 신호, 핵수용체, 가스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안드로겐 무감응 증후군(AR 기능소실, X연관): 46,XY이지만 완전형은 여성 외부생식기, 맹관 질, 자궁 없음(AMH 정상 작용), 사춘기 유방 발달(테스토스테론의 방향족화), 겨드랑이·음모 결여, 잠복고환(생식세포종양 위험).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GPCR의 크라이오-EM 구조 폭증으로 구조 기반 약물 설계와 '알로스테릭 조절제'가 확대되었다. GLP-1 수용체 작용제(세마글루타이드)와 GIP/GLP-1(티르제파타이드), GIP/GLP-1/글루카곤 삼중 작용제(레타트루타이드)는 비만·당뇨·심혈관·신장·MASH·수면무호흡 치료를 재편하고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KRAS '불가능한 표적'의 극복: G12C 이후 G12D 억제제(MRTX1133), 범-RAS(ON) 억제제(다라삭시닙/RMC-6236)가 임상에 진입했다.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공간·단일세포 인산화체학과 광유전학적 신호 조작으로 '신호의 동역학(진동·펄스)'이 정보를 부호화한다는 개념(ERK 펄스 빈도 → 증식 결정)이 정립되었다.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신호전달은 수용체 활성 → 증폭 → 효과기 → 종결(탈감작)의 원리를 따른다.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GPCR은 Gs(cAMP↑), Gi(cAMP↓), Gq(IP₃/DAG/Ca²⁺)로 나뉘고 콜레라·백일해 독소가 각각 Gs·Gi를 변형한다.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RTK–Ras–MAPK와 PI3K–AKT–mTOR는 증식·생존의 두 축이며 대표적 종양유전자 표적이다(EGFR, BRAF, KRAS, PIK3CA).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JAK–STAT, TGF-β, Wnt, Notch, Hedgehog, NF-κB는 발생 증후군과 암, 염증의 공통 경로이다.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핵수용체는 리간드 의존 전사인자이며 Ca²⁺–칼시뉴린–NFAT은 면역억제제의 표적이다.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콜레라 독소와 백일해 독소는 모두 cAMP를 증가시킨다. 각각의 분자 기전 차이를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콜레라 독소는 Gαs를 ADP-리보실화해 내재 GTP 가수분해 활성을 없애 Gαs가 지속적으로 활성(GTP 결합) 상태에 머물게 한다. 백일해 독소는 Gαi를 ADP-리보실화해 수용체와의 결합(GDP–GTP 교환)을 막아 Gαi가 불활성 상태에 갇히므로 아데닐산 고리화효소에 대한 억제가 사라진다.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KRAS 활성 변이 대장암에서 항EGFR 항체(세툭시맙)가 효과가 없는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KRAS는 EGFR의 하류에 있으므로, KRAS가 GTP 결합형으로 지속 활성화되어 있으면 상류 EGFR을 차단해도 MAPK 신호가 계속 전달된다. 따라서 RAS 야생형(및 BRAF 야생형) 확인 후 항EGFR 치료를 선택한다.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결절성 경화증 환자에서 에베롤리무스가 혈관근지방종·뇌실막하 거대세포 성상세포종을 줄이는 원리는?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TSC1/TSC2 복합체는 Rheb의 GAP으로서 mTORC1을 억제한다. TSC 결손 시 Rheb–GTP가 증가해 mTORC1이 지속 활성화되어 세포 성장·증식이 증가한다. 에베롤리무스는 FKBP12와 결합해 mTORC1을 억제하므로 과성장이 억제된다.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진성적혈구증가증의 JAK2 V617F 변이가 에리트로포이에틴 없이도 적혈구 생성을 증가시키는 기전과 진단적 의의는?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V617F는 JAK2의 자기억제 유사키나아제(JH2) 도메인 변이로 키나아제가 리간드 없이 활성화되어 EPO 수용체–STAT5 신호가 지속된다. 그 결과 혈청 EPO는 낮은데도 적혈구가 증가한다. 진성적혈구증가증의 약 95%에서 발견되어 2차성 적혈구증가증과의 감별에 핵심이다.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Alberts B et al. Molecular Biology of the Cell, 7th ed. Ch. 15.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Hauser AS et al. Trends in GPCR drug discovery: new agents, targets and indications. Nat Rev Drug Discov 2017;16:829–842.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Hanahan D. Hallmarks of cancer: new dimensions. Cancer Discov 2022;12:31–46.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Liu GY, Sabatini DM. mTOR at the nexus of nutrition, growth, ageing and disease. Nat Rev Mol Cell Biol 2020;21:183–203.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B02-L02  ·  세포 신호전달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Punekar SR et al. The current state of the art and future trends in RAS-targeted cancer therapies. Nat Rev Clin Oncol 2022;19:637–655.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