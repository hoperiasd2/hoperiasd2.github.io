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히스톤 꼬리의 공유결합 변형은 크로마틴 구조를 직접 바꾸거나 '판독자(reader)' 단백질을 불러 모은다(쓰기–지우기–읽기 체계).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 영역은 각인되어 있어 부모 기원에 따라 발현 유전자가 다르다. 부계 염색체 결실이면 부계에서만 발현되는 SNORD116 등이 없어 프라더-윌리 증후군이, 모계 염색체 결실이면 신경세포에서 모계에서만 발현되는 *UBE3A*가 없어 안젤만 증후군이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11p15.5 각인 이상(IGF2 과발현, CDKN1C 저발현)으로 세포 과증식이 일어나 윌름스 종양과 간모세포종 위험이 증가하기 때문이다. 위험은 분자 아형에 따라 다르며(IC1 과메틸화·부계 UPD에서 높음) 보통 7–8세까지 3개월마다 초음파, 4세까지 AFP를 측정한다.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아자시티딘은 DNA에 끼어들어 DNMT1을 공유결합으로 포획·분해하므로 복제가 반복되면서 DNA 메틸화가 희석된다. 그 결과 과메틸화로 침묵되었던 종양억제·분화 유전자가 재발현되고, 내인성 레트로바이러스 전사체가 이중가닥 RNA로 인식되어 인터페론 반응(바이러스 모방)이 유도된다.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TAD 경계가 사라지면 한 도메인의 인핸서가 이웃 도메인의 유전자와 비정상적으로 상호작용해 이소성 발현이 일어난다. 예로 EPHA4 영역 결실·역위로 사지 인핸서가 PAX3·WNT6*를 활성화해 단지증·다지증 등 사지 기형이 생기며, *IDH 변이 신경교종에서 CTCF 결합부위 과메틸화로 경계가 무너져 *PDGFRA*가 활성화된다.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분자유전학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유전체 구조, 크로마틴과 후성유전학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Genome Organization, Chromatin and Epigenetics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B02-L05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유전체의 구성(유전자, 반복서열, 비부호화 영역)과 3차원 구조(TAD, 구획)를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뉴클레오솜, 히스톤 변형, 크로마틴 재구성 복합체의 기능을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메틸화(DNMT, TET)와 CpG 섬, 유전체 각인, X 불활성화를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질환(각인 질환, Rett, ICF, 크로마틴병증)과 암의 후성유전 변화를 연결한다.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약물(DNMT 억제제, HDAC 억제제, EZH2 억제제)의 원리를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유전체의 구성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크로마틴의 계층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히스톤 변형과 크로마틴 '언어'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메틸화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유전체 각인과 X 불활성화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 후성유전학과 후성유전 약물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인간 유전체의 구성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반수체 약 31억 bp, 단백질 부호화 유전자 약 19,000–20,000개(엑솜 1–2%), 비부호화 RNA 유전자 수만 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반복서열이 약 50%: LINE(L1 ~17%; 자율 전위 가능), SINE(Alu ~10%), LTR 레트로트랜스포존(내인성 레트로바이러스 ~8%), DNA 트랜스포존, 위성 DNA(동원체 α-위성), 분절 중복.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2022년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T2T(텔로미어-투-텔로미어) 컨소시엄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최초의 완전한 무간극 인간 유전체(CHM13)를 완성해 동원체·rDNA·말단동원체 단완을 포함한 약 2억 bp를 추가했고, 2023년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범유전체(pangenome)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참조(47명)가 발표되었다.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인간 유전체의 구성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유전체: 16,569 bp, 37 유전자(13 단백질, 22 tRNA, 2 rRNA), 모계 유전, 다수 복사(이형세포질성) (B02 L06, B03 L06).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개인 간 차이: SNV 약 400만–500만, 구조 변이(SV) 약 2–3만(염기 수로는 SNV보다 많음).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인간 유전체의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분절 중복 사이의 비대립 상동재조합(NAHR)은 반복적 미세결실·중복을 만든다: 22q11.2 결실(디조지/구개심장안면 증후군; 1/4000, 조현병 위험 ~25%), 7q11.23 윌리엄스 증후군(ELN 포함; 대동맥판상부 협착, 사교적 성격, 고칼슘혈증), 17p12 중복(CMT1A), 15q11–q13(각인 영역).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크로마틴의 계층 구조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뉴클레오솜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히스톤 팔량체(H2A, H2B, H3, H4 ×2)에 DNA 147 bp가 1.65회 감김 + 링커 DNA(H1). '실 위의 구슬' 10 nm 섬유.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진정염색질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(느슨, 전사 활성) vs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이질염색질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구성적(동원체·텔로미어; H3K9me3–HP1) / 조건적(발생 단계별 억제; H3K27me3–Polycomb).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3차원 유전체 구조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(Hi-C 기술):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 구획(활성)과 B 구획(불활성, 핵 주변부 라미나 연관 도메인 LAD).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위상연관 도메인(TAD)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약 0.1–1 Mb 단위로 경계에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CTCF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(수렴 방향 결합)와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코헤신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고리 압출(loop extrusion)로 형성. 인핸서–프로모터 상호작용을 도메인 내부로 제한한다.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크로마틴의 계층 구조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TAD 경계 파괴 → 인핸서가 엉뚱한 유전자를 활성화(enhancer hijacking/adoption): EPHA4 근처 결실에 의한 지 기형(단지증·다지증), 교모세포종의 PDGFRA 활성화(IDH 변이 → CTCF 결합부위 과메틸화).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크로마틴의 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코헤신병증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(NIPBL 60%, SMC1A, SMC3, RAD21, HDAC8): 코넬리아 드랑게 증후군 — 일자눈썹(synophrys), 긴 인중, 저성장, 상지 결손, 지적장애. 원인은 자매염색분체 응집 결함보다는 유전자 발현 조절(고리 형성) 이상이다.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히스톤 변형과 크로마틴 '언어'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이가(bivalent) 도메인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배아줄기세포 발생 유전자 프로모터에 H3K4me3 + H3K27me3 동시 → 분화 시 한쪽으로 결정.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크로마틴 재구성 복합체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(ATP 의존): SWI/SNF(BAF; ARID1A, SMARCA4, SMARCB1), ISWI, CHD, INO80 — 뉴클레오솜 이동·제거·교환.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히스톤 변형과 크로마틴 '언어'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쓰기 / 지우기 / 읽기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아세틸화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H3K27ac, H3K9ac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활성(전하 중화, 개방) — H3K27ac는 활성 인핸서 표지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HAT(p300/CBP) / HDAC, 서투인 / 브로모도메인(BRD4)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H3K4me3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프로모터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MLL(KMT2) / KDM5 / PHD 손가락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H3K4me1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인핸서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준비(primed)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MLL3/4(KMT2C/D)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H3K36me3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몸통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신장, 잠재적 전사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SETD2 / KDM4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H3K27me3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조절 유전자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PRC2(EZH2)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KDM6(UTX, JMJD3) / PRC1 크로모도메인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H3K9me3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이질염색질, 반복서열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SUV39H1, SETDB1 / KDM4 / HP1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H2AK119ub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PRC1(RING1B) / BAP1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인산화 H3S10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유사분열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오로라 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히스톤 변형과 크로마틴 '언어'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크로마틴병증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루빈스타인-테이비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CREBBP, EP300 (HAT)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넓은 엄지·엄지발가락, 지적장애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가부키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KMT2D, KDM6A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 안검열, 하안검 외반, 태아 손가락 패드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코핀-시리스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ARID1B 등 BAF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5번째 손발가락 손발톱 형성부전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소토스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NSD1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과성장, 대두증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위버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EZH2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과성장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히스톤 변형과 크로마틴 '언어'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암에서 크로마틴 조절 유전자 변이는 매우 흔하다: 비정형 기형/횡문근양 종양(AT/RT; SMARCB1 소실 — 단일 변이로 발생하는 거의 유일한 소아암), 투명세포 난소암(ARID1A ~50%), 소아 고등급 신경교종(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H3 K27M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변이가 PRC2를 억제; 미만성 정중선 신경교종 → 2024 ONC201 도르다비프론 가속승인), H3.3 G34R/V(반구 신경교종).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DNA 메틸화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포유류에서 주로 CpG의 시토신 5번 위치(5mC). 유전체 CpG의 약 70–80%가 메틸화되어 있으나, 프로모터의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CpG 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60%의 유전자)은 대개 비메틸화 상태다.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DNMT3A/3B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de novo 메틸화(발생, 각인 설정; DNMT3L 보조).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DNMT1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유지 메틸화(복제 후 반메틸화 DNA를 UHRF1이 인식해 DNMT1 소집).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TET1–3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5mC → 5hmC → 5fC → 5caC (산화적 탈메틸화; α-KG·Fe²⁺·비타민 C 의존) → TDG–BER로 제거. 신경세포에 5hmC가 특히 풍부하다.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판독: MBD 단백질(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MeCP2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MBD1–4) → HDAC·억제 복합체 소집.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DNA 메틸화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기능: 전사 억제(CpG 섬 메틸화), 반복서열·전위인자 침묵, 각인, X 불활성화, 조직 특이 유전자 조절.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발생 중 재프로그래밍: 수정 직후 전체 탈메틸화(부계 능동, 모계 수동) → 착상 무렵 재메틸화; 원시생식세포에서 각인까지 지워진 뒤 성별에 따라 재설정.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DNA 메틸화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레트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 (X연관, 거의 여아)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6–18개월 정상 발달 후 퇴행, 손 씻기 상동행동, 후천 소두증, 호흡 이상; 남아는 중증 신생아 뇌병증. 2023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트로피네타이드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(IGF-1 유사) 승인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 중복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 중복 (남아)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지적장애, 반복 감염 — '용량 민감성'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ICF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DNMT3B, ZBTB24 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면역결핍, 동원체 불안정, 얼굴 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테이튼-브라운-라흐만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DNMT3A 생식세포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과성장, 지적장애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클론성 조혈(CHIP)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체세포 DNMT3A, TET2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노인 혈액 클론 확장; 혈액암·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심혈관질환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위험↑ (B04 L09)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유전체 각인과 X 불활성화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유전체 각인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일부 유전자(약 100–200개)는 부모 기원에 따라 한쪽 대립유전자만 발현. 각인조절영역(ICR)의 부모 특이 메틸화가 제어. 주로 태반·태아 성장·신경 발달·대사 관련.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메틸화 특이 MLPA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또는 메틸화 분석이 결실·UPD·각인 결함을 모두 선별 → 이후 기전 구분(재발 위험 상담에 중요).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 불활성화(XCI)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여성 세포에서 한 X가 XIST lncRNA로 덮여 불활성(바 소체; H3K27me3, macroH2A, DNA 메틸화). 초기 배아에서 무작위·클론성으로 결정 → 여성은 X연관 유전자 모자이크. 약 15–25%의 유전자는 불활성화를 피한다(escape).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왜곡된 XCI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는 X연관 질환 여성 보인자의 증상 발현 정도를 결정(OTC 결핍, 뒤시엔 근이영양증 보인자).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유전체 각인과 X 불활성화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프라더-윌리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15q11–q13 부계 발현(SNRPN, SNORD116)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부계 결실(~70%), 모계 단친이염색체(UPD ~25%), 각인 결함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근긴장저하·수유곤란 → 과식·비만, 저신장, 생식선 기능저하, 아몬드 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안젤만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15q11–q13 모계 발현(UBE3A; 신경세포)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모계 결실(~70%), 부계 UPD, UBE3A 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지적장애, 무언어, 웃음 발작·'행복한 꼭두각시', 경련, 운동실조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베크위드-비데만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11p15.5 (IGF2 부계, H19/CDKN1C 모계)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IC2 모계 메틸화 소실(~50%), 부계 UPD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과성장, 거대설, 제대탈장, 신생아 저혈당,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윌름스종양·간모세포종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소아기 초음파·AFP 감시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실버-러셀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11p15.5 IC1 저메틸화, 7번 모계 UPD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자궁내 성장지연, 상대적 대두, 비대칭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유전체 각인과 X 불활성화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안젤만 증후군에서 부계 *UBE3A*는 신경세포에서 안티센스 전사체 *UBE3A-ATS*에 의해 침묵되어 있다. 이 안티센스 전사체를 표적하는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ASO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(GTX-102, 이오니스 ION582)로 부계 *UBE3A*를 '깨우는' 치료가 임상 단계에 있다 — 각인을 치료에 활용하는 사례이다.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 후성유전학과 후성유전 약물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암의 메틸화 패턴: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전체적 저메틸화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(유전체 불안정, 전위인자 활성) +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국소 CpG 섬 과메틸화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(종양억제유전자 침묵: MLH1, CDKN2A, BRCA1, VHL, MGMT). CIMP(CpG 섬 메틸화 표현형) 대장암.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대사–후성 연결: IDH1/2 변이 → 2-HG가 TET·KDM 억제 → 과메틸화 표현형(신경교종, AML) (B04 L12). SDH·FH 결손 → 숙신산·푸마르산 축적 → 같은 효소 억제.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시계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특정 CpG 수백 개의 메틸화 수준으로 생물학적 나이를 추정(Horvath, GrimAge, DunedinPACE) (B04 L09). 혈장 cfDNA 메틸화 패턴은 다중암 조기진단(MCED) 검사의 기반이다(B02 L10).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 후성유전학과 후성유전 약물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적응증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아자시티딘, 데시타빈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DNMT 포획·분해(저메틸화)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골수형성이상증후군, AML(+ 베네토클락스)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보리노스타트, 로미뎁신, 파노비노스타트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HDAC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 T세포 림프종, 다발골수종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타제메토스타트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EZH2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상피양 육종(SMARCB1 소실), 여포성 림프종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이보시데닙, 엔아시데닙, 보라시데닙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변이 IDH1/2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AML, 담관암,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저등급 신경교종(보라시데닙, 2024)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레부메닙, 지프토메닙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메닌–KMT2A 상호작용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KMT2A 재배열·NPM1 AML (2024)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BET 억제제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BRD4 브로모도메인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임상시험(골수섬유증 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다중오믹스(scATAC + scRNA, scDNA 메틸화)로 세포 유형별 조절 지도가 만들어지고, 뇌 세포 유형별 인핸서 지도가 신경정신질환 GWAS 변이 해석에 쓰인다(B06 L11).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편집(dCas9–DNMT3A/KRAB, dCas9–TET1, CRISPRoff/CRISPRon)은 DNA 서열을 바꾸지 않고 유전자를 장기적으로 끄거나 켠다. PCSK9 후성 침묵(단회 투여, 영장류에서 1년 이상 지속), 프라더-윌리 모계 대립유전자 재활성화 연구가 진행 중이다.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세대 간 후성유전 유전(transgenerational inheritance)은 식물·선충에서는 뚜렷하나 포유류에서는 생식세포 재프로그래밍 때문에 제한적이며, 정자 소형 RNA(tsRNA)를 매개로 한 부계 대사 형질 전달이 논쟁 중이다(B04 L02).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유전체는 약 2만 개 단백질 유전자와 50%의 반복서열로 이루어지며 T2T·범유전체 참조가 완성되었다.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크로마틴은 뉴클레오솜 → TAD(CTCF–코헤신 고리) → 구획의 계층 구조를 가지며 TAD 파괴는 발생 이상과 암을 일으킨다.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히스톤 변형(H3K27ac·H3K4me3 활성, H3K27me3·H3K9me3 억제)은 쓰기–지우기–읽기 단백질로 조절된다.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메틸화는 DNMT가 쓰고 TET가 지우며 MeCP2가 읽는다. 각인(프라더-윌리/안젤만, BWS)과 X 불활성화를 결정한다.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암은 전체 저메틸화 + CpG 섬 과메틸화를 보이며, DNMT·HDAC·EZH2·IDH·메닌 억제제가 후성유전 치료제이다.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15q11–q13 결실이 같은데 어떤 아이는 프라더-윌리, 어떤 아이는 안젤만 증후군을 보이는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영역은 각인되어 있어 부모 기원에 따라 발현 유전자가 다르다. 부계 염색체 결실이면 부계에서만 발현되는 SNORD116 등이 없어 프라더-윌리 증후군이, 모계 염색체 결실이면 신경세포에서 모계에서만 발현되는 *UBE3A*가 없어 안젤만 증후군이 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베크위드-비데만 증후군 환아에게 소아기 동안 정기 복부 초음파와 혈청 AFP 측정을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11p15.5 각인 이상(IGF2 과발현, CDKN1C 저발현)으로 세포 과증식이 일어나 윌름스 종양과 간모세포종 위험이 증가하기 때문이다. 위험은 분자 아형에 따라 다르며(IC1 과메틸화·부계 UPD에서 높음) 보통 7–8세까지 3개월마다 초음파, 4세까지 AFP를 측정한다.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아자시티딘 같은 저메틸화제가 골수형성이상증후군에서 효과를 보이는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아자시티딘은 DNA에 끼어들어 DNMT1을 공유결합으로 포획·분해하므로 복제가 반복되면서 DNA 메틸화가 희석된다. 그 결과 과메틸화로 침묵되었던 종양억제·분화 유전자가 재발현되고, 내인성 레트로바이러스 전사체가 이중가닥 RNA로 인식되어 인터페론 반응(바이러스 모방)이 유도된다.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TAD 경계를 이루는 CTCF 결합 부위가 결실되면 어떻게 질환이 생길 수 있는가? 예를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TAD 경계가 사라지면 한 도메인의 인핸서가 이웃 도메인의 유전자와 비정상적으로 상호작용해 이소성 발현이 일어난다. 예로 EPHA4 영역 결실·역위로 사지 인핸서가 PAX3·WNT6*를 활성화해 단지증·다지증 등 사지 기형이 생기며, *IDH 변이 신경교종에서 CTCF 결합부위 과메틸화로 경계가 무너져 *PDGFRA*가 활성화된다.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Allis CD, Jenuwein T. The molecular hallmarks of epigenetic control. Nat Rev Genet 2016;17:487–500.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Nurk S et al. The complete sequence of a human genome. Science 2022;376:44–53.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Dekker J, Mirny L. The 3D genome as moderator of chromosomal communication. Cell 2016;164:1110–1121.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B02-L05  ·  유전체 구조, 크로마틴과 후성유전학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Lupiáñez DG et al. Disruptions of topological chromatin domains cause pathogenic rewiring of gene-enhancer interactions. Cell 2015;161:1012–1025.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Monk D et al. Genomic imprinting disorders: lessons on how genome, epigenome and environment interact. Nat Rev Genet 2019;20:235–248.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