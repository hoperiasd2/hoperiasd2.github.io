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미토콘드리아 리보솜은 세균 리보솜과 진화적으로 유사해 리네졸리드가 미토콘드리아 번역(23S 유사 rRNA)을 억제한다. 그 결과 mtDNA 부호화 호흡사슬 소단위 합성이 줄어 산화적 인산화 장애로 신경세포 손상과 젖산산증이 생긴다. 같은 기전으로 골수억제도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비타민 C는 프롤릴·리실 수산화효소가 Fe²⁺를 환원 상태로 유지하는 데 필요하다. 결핍 시 하이드록시프롤린이 부족해 콜라겐 삼중나선이 체온에서 불안정해 분비·조립이 실패하고, 하이드록시리신 부족으로 교차결합이 약해진다. 혈관벽 기저막·결합조직이 약해 모낭 주위·잇몸·골막하 출혈이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골수종 세포는 대량의 면역글로불린을 합성해 ER에 잘못 접힌 단백질 부담이 크며, ERAD를 통한 프로테아솜 분해에 크게 의존한다. 프로테아솜이 억제되면 잘못 접힌 단백질이 축적되어 지속적 UPR(PERK–CHOP)로 자멸사가 유도되고, IκB 분해 차단으로 NF-κB 생존 신호도 감소한다.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ATF4 mRNA의 5'UTR에는 상류 ORF(uORF1, uORF2)가 있다. 정상 시 리보솜은 uORF1 번역 후 빠르게 eIF2–GTP–Met-tRNA를 재적재해 억제성 uORF2에서 재개시하므로 ATF4 ORF를 지나친다. eIF2α 인산화로 삼중체가 부족하면 재적재가 지연되어 uORF2를 건너뛰고 ATF4 시작 코돈에서 재개시하게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RNA와 단백질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번역, 단백질 접힘·변형·분해</a:t>
            </a:r>
          </a:p>
          <a:p>
            <a:r>
              <a:rPr sz="2000" b="0" i="0">
                <a:solidFill>
                  <a:srgbClr val="C2CDD6"/>
                </a:solidFill>
                <a:latin typeface="Malgun Gothic"/>
                <a:ea typeface="Malgun Gothic"/>
                <a:cs typeface="Malgun Gothic"/>
              </a:rPr>
              <a:t>Translation, Protein Folding, Modification and Degradation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B02-L09</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 부호, tRNA 아미노아실화, 리보솜 구조와 번역 개시·신장·종결의 기전을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번역 조절(eIF2α 인산화, mTORC1–4E-BP)과 통합 스트레스 반응을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항생제의 리보솜 표적과 리보솜병증을 연결한다.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단백질 접힘(샤페론), 번역후 변형(인산화, 당화, 유비퀴틴화 등), 콜라겐 합성을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유비퀴틴-프로테아솜계와 단백질 응집 질환(아밀로이드증, 신경퇴행)을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 부호와 tRNA</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리보솜과 번역 과정</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번역 조절과 통합 스트레스 반응</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항생제와 리보솜병증</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단백질 접힘과 번역후 변형</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콜라겐: 번역후 변형의 교과서</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단백질 분해와 응집 질환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 부호와 tRNA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64개 코돈(61 감지 + 3 종결 UAA·UAG·UGA)이 20개 아미노산을 지정. 특성: 삼중, 겹치지 않음, 쉼표 없음, </a:t>
            </a:r>
            <a:r>
              <a:rPr sz="1800" b="1" i="0">
                <a:solidFill>
                  <a:srgbClr val="11202B"/>
                </a:solidFill>
                <a:latin typeface="Malgun Gothic"/>
                <a:ea typeface="Malgun Gothic"/>
                <a:cs typeface="Malgun Gothic"/>
              </a:rPr>
              <a:t>축퇴성</a:t>
            </a:r>
            <a:r>
              <a:rPr sz="1800" b="0" i="0">
                <a:solidFill>
                  <a:srgbClr val="11202B"/>
                </a:solidFill>
                <a:latin typeface="Malgun Gothic"/>
                <a:ea typeface="Malgun Gothic"/>
                <a:cs typeface="Malgun Gothic"/>
              </a:rPr>
              <a:t>(대부분 3번째 위치 다양 → '동요(wobble)' 쌍), 거의 보편적(미토콘드리아 예외: UGA = Trp, AUA = Met, AGA/AGG = 종결).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개시 코돈 AUG(Met; 세균은 fMet). 21·22번째 아미노산: </a:t>
            </a:r>
            <a:r>
              <a:rPr sz="1800" b="1" i="0">
                <a:solidFill>
                  <a:srgbClr val="11202B"/>
                </a:solidFill>
                <a:latin typeface="Malgun Gothic"/>
                <a:ea typeface="Malgun Gothic"/>
                <a:cs typeface="Malgun Gothic"/>
              </a:rPr>
              <a:t>셀레노시스테인</a:t>
            </a:r>
            <a:r>
              <a:rPr sz="1800" b="0" i="0">
                <a:solidFill>
                  <a:srgbClr val="11202B"/>
                </a:solidFill>
                <a:latin typeface="Malgun Gothic"/>
                <a:ea typeface="Malgun Gothic"/>
                <a:cs typeface="Malgun Gothic"/>
              </a:rPr>
              <a:t>(UGA + SECIS 요소; 글루타티온 과산화효소, 갑상선 탈요오드효소, 티오레독신 환원효소), 피롤리신(고세균).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아미노아실-tRNA 합성효소(aaRS)</a:t>
            </a:r>
            <a:r>
              <a:rPr sz="1800" b="0" i="0">
                <a:solidFill>
                  <a:srgbClr val="11202B"/>
                </a:solidFill>
                <a:latin typeface="Malgun Gothic"/>
                <a:ea typeface="Malgun Gothic"/>
                <a:cs typeface="Malgun Gothic"/>
              </a:rPr>
              <a:t>: 아미노산 + ATP → 아미노아실-AMP → tRNA 3'-CCA에 결합. 20종, 교정 기능으로 정확도 10⁻⁴.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 부호와 tRNA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aaRS 변이: CMT 2형(GARS1, YARS1, AARS1 — 축삭 신경병증), 미토콘드리아 aaRS(DARS2 → LBSL 백질병증, RARS2 → 소뇌교 형성부전).</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자가항체: 항-Jo-1(히스티딜-tRNA 합성효소) → 항합성효소 증후군(근염, 간질성 폐질환, 기계공 손, 레이노).</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항생제 무피로신(Ile-tRNA 합성효소), 항진균 타바보롤(Leu-RS).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리보솜과 번역 과정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진핵 80S 리보솜 = 40S(18S rRNA) + 60S(28S, 5.8S, 5S rRNA). 세균 70S = 30S(16S) + 50S(23S, 5S). </a:t>
            </a:r>
            <a:r>
              <a:rPr sz="1800" b="1" i="0">
                <a:solidFill>
                  <a:srgbClr val="11202B"/>
                </a:solidFill>
                <a:latin typeface="Malgun Gothic"/>
                <a:ea typeface="Malgun Gothic"/>
                <a:cs typeface="Malgun Gothic"/>
              </a:rPr>
              <a:t>펩티딜 전이효소는 23S/28S rRNA(리보자임)</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세 자리: A(아미노아실), P(펩티딜), E(출구).</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개시</a:t>
            </a:r>
            <a:r>
              <a:rPr sz="1800" b="0" i="0">
                <a:solidFill>
                  <a:srgbClr val="11202B"/>
                </a:solidFill>
                <a:latin typeface="Malgun Gothic"/>
                <a:ea typeface="Malgun Gothic"/>
                <a:cs typeface="Malgun Gothic"/>
              </a:rPr>
              <a:t>(진핵, 캡 의존): eIF2–GTP–Met-tRNAi 삼중체 + 40S + eIF1/1A/3 = 43S → eIF4F(</a:t>
            </a:r>
            <a:r>
              <a:rPr sz="1800" b="1" i="0">
                <a:solidFill>
                  <a:srgbClr val="11202B"/>
                </a:solidFill>
                <a:latin typeface="Malgun Gothic"/>
                <a:ea typeface="Malgun Gothic"/>
                <a:cs typeface="Malgun Gothic"/>
              </a:rPr>
              <a:t>eIF4E</a:t>
            </a:r>
            <a:r>
              <a:rPr sz="1800" b="0" i="0">
                <a:solidFill>
                  <a:srgbClr val="11202B"/>
                </a:solidFill>
                <a:latin typeface="Malgun Gothic"/>
                <a:ea typeface="Malgun Gothic"/>
                <a:cs typeface="Malgun Gothic"/>
              </a:rPr>
              <a:t> 캡 결합, eIF4G 골격, eIF4A 헬리케이스)가 캡에 장착 → 5'UTR 스캐닝 → Kozak 문맥(gccRccAUGG) AUG 인식 → eIF2 GTP 가수분해·방출(eIF2B가 GDP→GTP 재생) → eIF5B로 60S 결합 → 80S.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리보솜과 번역 과정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대체: </a:t>
            </a:r>
            <a:r>
              <a:rPr sz="1600" b="1" i="0">
                <a:solidFill>
                  <a:srgbClr val="2E3F4C"/>
                </a:solidFill>
                <a:latin typeface="Malgun Gothic"/>
                <a:ea typeface="Malgun Gothic"/>
                <a:cs typeface="Malgun Gothic"/>
              </a:rPr>
              <a:t>IRES</a:t>
            </a:r>
            <a:r>
              <a:rPr sz="1600" b="0" i="0">
                <a:solidFill>
                  <a:srgbClr val="2E3F4C"/>
                </a:solidFill>
                <a:latin typeface="Malgun Gothic"/>
                <a:ea typeface="Malgun Gothic"/>
                <a:cs typeface="Malgun Gothic"/>
              </a:rPr>
              <a:t>(내부 리보솜 진입; HCV, 폴리오바이러스, 스트레스 시 일부 세포 mRNA), uORF(ATF4 재개시 조절).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신장</a:t>
            </a:r>
            <a:r>
              <a:rPr sz="1800" b="0" i="0">
                <a:solidFill>
                  <a:srgbClr val="11202B"/>
                </a:solidFill>
                <a:latin typeface="Malgun Gothic"/>
                <a:ea typeface="Malgun Gothic"/>
                <a:cs typeface="Malgun Gothic"/>
              </a:rPr>
              <a:t>: eEF1A–GTP가 아미노아실-tRNA를 A자리로 → 코돈–안티코돈 확인 → 펩타이드 결합 형성 → eEF2–GTP 전위. 초당 약 5–6 아미노산(세균 ~20).</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종결</a:t>
            </a:r>
            <a:r>
              <a:rPr sz="1800" b="0" i="0">
                <a:solidFill>
                  <a:srgbClr val="11202B"/>
                </a:solidFill>
                <a:latin typeface="Malgun Gothic"/>
                <a:ea typeface="Malgun Gothic"/>
                <a:cs typeface="Malgun Gothic"/>
              </a:rPr>
              <a:t>: eRF1(3개 종결 코돈 모두 인식; tRNA 모방) + eRF3–GTP → 펩타이드 가수분해 방출 → ABCE1 리보솜 재순환.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폴리솜</a:t>
            </a:r>
            <a:r>
              <a:rPr sz="1800" b="0" i="0">
                <a:solidFill>
                  <a:srgbClr val="11202B"/>
                </a:solidFill>
                <a:latin typeface="Malgun Gothic"/>
                <a:ea typeface="Malgun Gothic"/>
                <a:cs typeface="Malgun Gothic"/>
              </a:rPr>
              <a:t>: 하나의 mRNA에 여러 리보솜. 막 결합(분비·막단백, SRP) vs 유리 리보솜(세포질·핵·미토콘드리아 단백).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리보솜 품질관리: 정지·충돌한 리보솜 → ZNF598 유비퀴틴화 → RQC(Listerin)로 미완성 사슬 분해.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eIF2α 인산화</a:t>
            </a:r>
            <a:r>
              <a:rPr sz="2000" b="0" i="0">
                <a:solidFill>
                  <a:srgbClr val="11202B"/>
                </a:solidFill>
                <a:latin typeface="Malgun Gothic"/>
                <a:ea typeface="Malgun Gothic"/>
                <a:cs typeface="Malgun Gothic"/>
              </a:rPr>
              <a:t>(Ser51) → eIF2B를 격리 → 전반적 번역 감소 + ATF4·CHOP(uORF 함유 mRNA) 번역 증가 = </a:t>
            </a:r>
            <a:r>
              <a:rPr sz="2000" b="1" i="0">
                <a:solidFill>
                  <a:srgbClr val="11202B"/>
                </a:solidFill>
                <a:latin typeface="Malgun Gothic"/>
                <a:ea typeface="Malgun Gothic"/>
                <a:cs typeface="Malgun Gothic"/>
              </a:rPr>
              <a:t>통합 스트레스 반응(ISR)</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mTORC1</a:t>
            </a:r>
            <a:r>
              <a:rPr sz="2000" b="0" i="0">
                <a:solidFill>
                  <a:srgbClr val="11202B"/>
                </a:solidFill>
                <a:latin typeface="Malgun Gothic"/>
                <a:ea typeface="Malgun Gothic"/>
                <a:cs typeface="Malgun Gothic"/>
              </a:rPr>
              <a:t> → 4E-BP1 인산화 → eIF4E 해방 → 캡 의존 번역 증가; S6K → 리보솜 단백 S6. 특히 5'TOP mRNA(리보솜 단백) 번역을 강하게 조절.</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철 조절: </a:t>
            </a:r>
            <a:r>
              <a:rPr sz="2000" b="1" i="0">
                <a:solidFill>
                  <a:srgbClr val="11202B"/>
                </a:solidFill>
                <a:latin typeface="Malgun Gothic"/>
                <a:ea typeface="Malgun Gothic"/>
                <a:cs typeface="Malgun Gothic"/>
              </a:rPr>
              <a:t>IRP–IRE 체계</a:t>
            </a:r>
            <a:r>
              <a:rPr sz="2000" b="0" i="0">
                <a:solidFill>
                  <a:srgbClr val="11202B"/>
                </a:solidFill>
                <a:latin typeface="Malgun Gothic"/>
                <a:ea typeface="Malgun Gothic"/>
                <a:cs typeface="Malgun Gothic"/>
              </a:rPr>
              <a:t> — 철 결핍 시 IRP가 페리틴 mRNA 5'IRE에 결합(번역 억제)하고 트랜스페린 수용체 mRNA 3'IRE에 결합(안정화). 유전성 고페리틴혈증-백내장 증후군(페리틴 L 5'IRE 변이).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키나아제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자극</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PERK</a:t>
                      </a:r>
                    </a:p>
                  </a:txBody>
                  <a:tcPr marL="73152" marR="73152">
                    <a:solidFill>
                      <a:srgbClr val="FFFFFF"/>
                    </a:solidFill>
                  </a:tcPr>
                </a:tc>
                <a:tc>
                  <a:txBody>
                    <a:bodyPr/>
                    <a:lstStyle/>
                    <a:p>
                      <a:r>
                        <a:rPr sz="1500" b="0" i="0">
                          <a:solidFill>
                            <a:srgbClr val="11202B"/>
                          </a:solidFill>
                          <a:latin typeface="Malgun Gothic"/>
                          <a:ea typeface="Malgun Gothic"/>
                          <a:cs typeface="Malgun Gothic"/>
                        </a:rPr>
                        <a:t>ER 스트레스(UPR)</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PKR</a:t>
                      </a:r>
                    </a:p>
                  </a:txBody>
                  <a:tcPr marL="73152" marR="73152">
                    <a:solidFill>
                      <a:srgbClr val="ECF1F5"/>
                    </a:solidFill>
                  </a:tcPr>
                </a:tc>
                <a:tc>
                  <a:txBody>
                    <a:bodyPr/>
                    <a:lstStyle/>
                    <a:p>
                      <a:r>
                        <a:rPr sz="1500" b="0" i="0">
                          <a:solidFill>
                            <a:srgbClr val="11202B"/>
                          </a:solidFill>
                          <a:latin typeface="Malgun Gothic"/>
                          <a:ea typeface="Malgun Gothic"/>
                          <a:cs typeface="Malgun Gothic"/>
                        </a:rPr>
                        <a:t>바이러스 dsRNA (인터페론 유도)</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GCN2</a:t>
                      </a:r>
                    </a:p>
                  </a:txBody>
                  <a:tcPr marL="73152" marR="73152">
                    <a:solidFill>
                      <a:srgbClr val="FFFFFF"/>
                    </a:solidFill>
                  </a:tcPr>
                </a:tc>
                <a:tc>
                  <a:txBody>
                    <a:bodyPr/>
                    <a:lstStyle/>
                    <a:p>
                      <a:r>
                        <a:rPr sz="1500" b="0" i="0">
                          <a:solidFill>
                            <a:srgbClr val="11202B"/>
                          </a:solidFill>
                          <a:latin typeface="Malgun Gothic"/>
                          <a:ea typeface="Malgun Gothic"/>
                          <a:cs typeface="Malgun Gothic"/>
                        </a:rPr>
                        <a:t>아미노산 결핍(비적재 tRNA)</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HRI</a:t>
                      </a:r>
                    </a:p>
                  </a:txBody>
                  <a:tcPr marL="73152" marR="73152">
                    <a:solidFill>
                      <a:srgbClr val="ECF1F5"/>
                    </a:solidFill>
                  </a:tcPr>
                </a:tc>
                <a:tc>
                  <a:txBody>
                    <a:bodyPr/>
                    <a:lstStyle/>
                    <a:p>
                      <a:r>
                        <a:rPr sz="1500" b="0" i="0">
                          <a:solidFill>
                            <a:srgbClr val="11202B"/>
                          </a:solidFill>
                          <a:latin typeface="Malgun Gothic"/>
                          <a:ea typeface="Malgun Gothic"/>
                          <a:cs typeface="Malgun Gothic"/>
                        </a:rPr>
                        <a:t>헴 결핍(적혈구 전구세포에서 글로빈–헴 균형), 미토콘드리아 스트레스(OMA1–DELE1)</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10</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백질 소실 백질뇌병증(VWM)</a:t>
            </a:r>
            <a:r>
              <a:rPr sz="2000" b="0" i="0">
                <a:solidFill>
                  <a:srgbClr val="11202B"/>
                </a:solidFill>
                <a:latin typeface="Malgun Gothic"/>
                <a:ea typeface="Malgun Gothic"/>
                <a:cs typeface="Malgun Gothic"/>
              </a:rPr>
              <a:t>: eIF2B 5개 소단위(EIF2B1–5) 변이로 ISR이 과활성 → 감염·경미한 두부 외상 후 급격한 신경학적 악화, MRI에서 백질이 CSF처럼 '녹아' 보임. ISR 억제제 </a:t>
            </a:r>
            <a:r>
              <a:rPr sz="2000" b="1" i="0">
                <a:solidFill>
                  <a:srgbClr val="11202B"/>
                </a:solidFill>
                <a:latin typeface="Malgun Gothic"/>
                <a:ea typeface="Malgun Gothic"/>
                <a:cs typeface="Malgun Gothic"/>
              </a:rPr>
              <a:t>ISRIB</a:t>
            </a:r>
            <a:r>
              <a:rPr sz="2000" b="0" i="0">
                <a:solidFill>
                  <a:srgbClr val="11202B"/>
                </a:solidFill>
                <a:latin typeface="Malgun Gothic"/>
                <a:ea typeface="Malgun Gothic"/>
                <a:cs typeface="Malgun Gothic"/>
              </a:rPr>
              <a:t> 유사체(eIF2B 활성화제 DNL343 등)가 VWM·ALS에서 시험되고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리보솜병증</a:t>
            </a:r>
            <a:r>
              <a:rPr sz="2000" b="0" i="0">
                <a:solidFill>
                  <a:srgbClr val="11202B"/>
                </a:solidFill>
                <a:latin typeface="Malgun Gothic"/>
                <a:ea typeface="Malgun Gothic"/>
                <a:cs typeface="Malgun Gothic"/>
              </a:rPr>
              <a:t>: 다이아몬드-블랙팬 빈혈(RPS19 등 리보솜 단백 반수부족 → 적혈구 무형성, 엄지 기형; p53 활성화), 슈바크만-다이아몬드(SBDS; 췌장 외분비 부전·호중구감소), 5q- MDS(RPS14 결실), 연골-모발 저형성(RMRP), 트리처 콜린스(TCOF1; Pol I 전사).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리보솜병증의 역설: 보편적 기계 결함인데 특정 조직(적혈구 전구세포, 두개안면)만 침범 → 리보솜 수에 민감한 mRNA(GATA1 등), 리보솜 스트레스–p53 축으로 설명.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항생제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아미노글리코사이드(겐타마이신 등)</a:t>
                      </a:r>
                    </a:p>
                  </a:txBody>
                  <a:tcPr marL="73152" marR="73152">
                    <a:solidFill>
                      <a:srgbClr val="FFFFFF"/>
                    </a:solidFill>
                  </a:tcPr>
                </a:tc>
                <a:tc>
                  <a:txBody>
                    <a:bodyPr/>
                    <a:lstStyle/>
                    <a:p>
                      <a:r>
                        <a:rPr sz="1500" b="0" i="0">
                          <a:solidFill>
                            <a:srgbClr val="11202B"/>
                          </a:solidFill>
                          <a:latin typeface="Malgun Gothic"/>
                          <a:ea typeface="Malgun Gothic"/>
                          <a:cs typeface="Malgun Gothic"/>
                        </a:rPr>
                        <a:t>30S</a:t>
                      </a:r>
                    </a:p>
                  </a:txBody>
                  <a:tcPr marL="73152" marR="73152">
                    <a:solidFill>
                      <a:srgbClr val="FFFFFF"/>
                    </a:solidFill>
                  </a:tcPr>
                </a:tc>
                <a:tc>
                  <a:txBody>
                    <a:bodyPr/>
                    <a:lstStyle/>
                    <a:p>
                      <a:r>
                        <a:rPr sz="1500" b="0" i="0">
                          <a:solidFill>
                            <a:srgbClr val="11202B"/>
                          </a:solidFill>
                          <a:latin typeface="Malgun Gothic"/>
                          <a:ea typeface="Malgun Gothic"/>
                          <a:cs typeface="Malgun Gothic"/>
                        </a:rPr>
                        <a:t>오독 유발, 개시 복합체 방해</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신독성·이독성(미토콘드리아 MT-RNR1 m.1555A&gt;G에서 극심)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테트라사이클린, 티게사이클린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30S</a:t>
                      </a:r>
                    </a:p>
                  </a:txBody>
                  <a:tcPr marL="73152" marR="73152">
                    <a:solidFill>
                      <a:srgbClr val="ECF1F5"/>
                    </a:solidFill>
                  </a:tcPr>
                </a:tc>
                <a:tc>
                  <a:txBody>
                    <a:bodyPr/>
                    <a:lstStyle/>
                    <a:p>
                      <a:r>
                        <a:rPr sz="1500" b="0" i="0">
                          <a:solidFill>
                            <a:srgbClr val="11202B"/>
                          </a:solidFill>
                          <a:latin typeface="Malgun Gothic"/>
                          <a:ea typeface="Malgun Gothic"/>
                          <a:cs typeface="Malgun Gothic"/>
                        </a:rPr>
                        <a:t>아미노아실-tRNA A자리 결합 차단</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소아 치아 착색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마크로라이드(에리스로마이신, 아지스로마이신)</a:t>
                      </a:r>
                    </a:p>
                  </a:txBody>
                  <a:tcPr marL="73152" marR="73152">
                    <a:solidFill>
                      <a:srgbClr val="FFFFFF"/>
                    </a:solidFill>
                  </a:tcPr>
                </a:tc>
                <a:tc>
                  <a:txBody>
                    <a:bodyPr/>
                    <a:lstStyle/>
                    <a:p>
                      <a:r>
                        <a:rPr sz="1500" b="0" i="0">
                          <a:solidFill>
                            <a:srgbClr val="11202B"/>
                          </a:solidFill>
                          <a:latin typeface="Malgun Gothic"/>
                          <a:ea typeface="Malgun Gothic"/>
                          <a:cs typeface="Malgun Gothic"/>
                        </a:rPr>
                        <a:t>50S 23S rRNA 출구 터널</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전위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QT 연장; erm 메틸화 내성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클린다마이신</a:t>
                      </a:r>
                    </a:p>
                  </a:txBody>
                  <a:tcPr marL="73152" marR="73152">
                    <a:solidFill>
                      <a:srgbClr val="ECF1F5"/>
                    </a:solidFill>
                  </a:tcPr>
                </a:tc>
                <a:tc>
                  <a:txBody>
                    <a:bodyPr/>
                    <a:lstStyle/>
                    <a:p>
                      <a:r>
                        <a:rPr sz="1500" b="0" i="0">
                          <a:solidFill>
                            <a:srgbClr val="11202B"/>
                          </a:solidFill>
                          <a:latin typeface="Malgun Gothic"/>
                          <a:ea typeface="Malgun Gothic"/>
                          <a:cs typeface="Malgun Gothic"/>
                        </a:rPr>
                        <a:t>50S</a:t>
                      </a:r>
                    </a:p>
                  </a:txBody>
                  <a:tcPr marL="73152" marR="73152">
                    <a:solidFill>
                      <a:srgbClr val="ECF1F5"/>
                    </a:solidFill>
                  </a:tcPr>
                </a:tc>
                <a:tc>
                  <a:txBody>
                    <a:bodyPr/>
                    <a:lstStyle/>
                    <a:p>
                      <a:r>
                        <a:rPr sz="1500" b="0" i="0">
                          <a:solidFill>
                            <a:srgbClr val="11202B"/>
                          </a:solidFill>
                          <a:latin typeface="Malgun Gothic"/>
                          <a:ea typeface="Malgun Gothic"/>
                          <a:cs typeface="Malgun Gothic"/>
                        </a:rPr>
                        <a:t>펩티딜 전이 방해</a:t>
                      </a:r>
                    </a:p>
                  </a:txBody>
                  <a:tcPr marL="73152" marR="73152">
                    <a:solidFill>
                      <a:srgbClr val="ECF1F5"/>
                    </a:solidFill>
                  </a:tcPr>
                </a:tc>
                <a:tc>
                  <a:txBody>
                    <a:bodyPr/>
                    <a:lstStyle/>
                    <a:p>
                      <a:r>
                        <a:rPr sz="1500" b="0" i="0">
                          <a:solidFill>
                            <a:srgbClr val="11202B"/>
                          </a:solidFill>
                          <a:latin typeface="Malgun Gothic"/>
                          <a:ea typeface="Malgun Gothic"/>
                          <a:cs typeface="Malgun Gothic"/>
                        </a:rPr>
                        <a:t>C. difficile 장염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클로람페니콜</a:t>
                      </a:r>
                    </a:p>
                  </a:txBody>
                  <a:tcPr marL="73152" marR="73152">
                    <a:solidFill>
                      <a:srgbClr val="FFFFFF"/>
                    </a:solidFill>
                  </a:tcPr>
                </a:tc>
                <a:tc>
                  <a:txBody>
                    <a:bodyPr/>
                    <a:lstStyle/>
                    <a:p>
                      <a:r>
                        <a:rPr sz="1500" b="0" i="0">
                          <a:solidFill>
                            <a:srgbClr val="11202B"/>
                          </a:solidFill>
                          <a:latin typeface="Malgun Gothic"/>
                          <a:ea typeface="Malgun Gothic"/>
                          <a:cs typeface="Malgun Gothic"/>
                        </a:rPr>
                        <a:t>50S</a:t>
                      </a:r>
                    </a:p>
                  </a:txBody>
                  <a:tcPr marL="73152" marR="73152">
                    <a:solidFill>
                      <a:srgbClr val="FFFFFF"/>
                    </a:solidFill>
                  </a:tcPr>
                </a:tc>
                <a:tc>
                  <a:txBody>
                    <a:bodyPr/>
                    <a:lstStyle/>
                    <a:p>
                      <a:r>
                        <a:rPr sz="1500" b="0" i="0">
                          <a:solidFill>
                            <a:srgbClr val="11202B"/>
                          </a:solidFill>
                          <a:latin typeface="Malgun Gothic"/>
                          <a:ea typeface="Malgun Gothic"/>
                          <a:cs typeface="Malgun Gothic"/>
                        </a:rPr>
                        <a:t>펩티딜 전이효소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재생불량성 빈혈, 회색아기 증후군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리네졸리드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50S 23S</a:t>
                      </a:r>
                    </a:p>
                  </a:txBody>
                  <a:tcPr marL="73152" marR="73152">
                    <a:solidFill>
                      <a:srgbClr val="ECF1F5"/>
                    </a:solidFill>
                  </a:tcPr>
                </a:tc>
                <a:tc>
                  <a:txBody>
                    <a:bodyPr/>
                    <a:lstStyle/>
                    <a:p>
                      <a:r>
                        <a:rPr sz="1500" b="0" i="0">
                          <a:solidFill>
                            <a:srgbClr val="11202B"/>
                          </a:solidFill>
                          <a:latin typeface="Malgun Gothic"/>
                          <a:ea typeface="Malgun Gothic"/>
                          <a:cs typeface="Malgun Gothic"/>
                        </a:rPr>
                        <a:t>개시 복합체 형성 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골수억제·시신경병증(미토콘드리아 번역 억제), 세로토닌 증후군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퓨시드산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EF-G</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전위 후 방출 차단</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디프테리아 독소, 녹농균 외독소 A</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진핵 eEF2</a:t>
                      </a:r>
                    </a:p>
                  </a:txBody>
                  <a:tcPr marL="73152" marR="73152">
                    <a:solidFill>
                      <a:srgbClr val="ECF1F5"/>
                    </a:solidFill>
                  </a:tcPr>
                </a:tc>
                <a:tc>
                  <a:txBody>
                    <a:bodyPr/>
                    <a:lstStyle/>
                    <a:p>
                      <a:r>
                        <a:rPr sz="1500" b="0" i="0">
                          <a:solidFill>
                            <a:srgbClr val="11202B"/>
                          </a:solidFill>
                          <a:latin typeface="Malgun Gothic"/>
                          <a:ea typeface="Malgun Gothic"/>
                          <a:cs typeface="Malgun Gothic"/>
                        </a:rPr>
                        <a:t>디프타마이드 ADP-리보실화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독소 하나가 세포를 죽임</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항생제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리신, 시가독소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진핵 28S rRNA</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사르신-리신 고리 탈퓨린화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용혈요독증후군(STEC O157:H7)</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사이클로헥시미드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진핵 60S E자리</a:t>
                      </a:r>
                    </a:p>
                  </a:txBody>
                  <a:tcPr marL="73152" marR="73152">
                    <a:solidFill>
                      <a:srgbClr val="ECF1F5"/>
                    </a:solidFill>
                  </a:tcPr>
                </a:tc>
                <a:tc>
                  <a:txBody>
                    <a:bodyPr/>
                    <a:lstStyle/>
                    <a:p>
                      <a:r>
                        <a:rPr sz="1500" b="0" i="0">
                          <a:solidFill>
                            <a:srgbClr val="11202B"/>
                          </a:solidFill>
                          <a:latin typeface="Malgun Gothic"/>
                          <a:ea typeface="Malgun Gothic"/>
                          <a:cs typeface="Malgun Gothic"/>
                        </a:rPr>
                        <a:t>연구 도구</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아미노산 서열이 3차 구조를 결정(안핀센)하지만 세포 내 혼잡 환경에서는 </a:t>
            </a:r>
            <a:r>
              <a:rPr sz="2200" b="1" i="0">
                <a:solidFill>
                  <a:srgbClr val="11202B"/>
                </a:solidFill>
                <a:latin typeface="Malgun Gothic"/>
                <a:ea typeface="Malgun Gothic"/>
                <a:cs typeface="Malgun Gothic"/>
              </a:rPr>
              <a:t>샤페론</a:t>
            </a:r>
            <a:r>
              <a:rPr sz="2200" b="0" i="0">
                <a:solidFill>
                  <a:srgbClr val="11202B"/>
                </a:solidFill>
                <a:latin typeface="Malgun Gothic"/>
                <a:ea typeface="Malgun Gothic"/>
                <a:cs typeface="Malgun Gothic"/>
              </a:rPr>
              <a:t>이 필요: HSP70(새 사슬 결합, ATP 주기), HSP90(신호 단백질 '고객': 키나아제, 스테로이드 수용체 — HSP90 억제제), 샤페로닌 TRiC/CCT, ER의 BiP·칼넥신.</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AlphaFold2</a:t>
            </a:r>
            <a:r>
              <a:rPr sz="2200" b="0" i="0">
                <a:solidFill>
                  <a:srgbClr val="11202B"/>
                </a:solidFill>
                <a:latin typeface="Malgun Gothic"/>
                <a:ea typeface="Malgun Gothic"/>
                <a:cs typeface="Malgun Gothic"/>
              </a:rPr>
              <a:t>(2021, 2024 노벨화학상)는 거의 모든 단백질 구조를 예측해 구조 생물학을 바꾸었다.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번역후 변형</a:t>
                      </a:r>
                    </a:p>
                  </a:txBody>
                  <a:tcPr marL="73152" marR="73152">
                    <a:solidFill>
                      <a:srgbClr val="003C71"/>
                    </a:solidFill>
                  </a:tcPr>
                </a:tc>
                <a:tc>
                  <a:txBody>
                    <a:bodyPr/>
                    <a:lstStyle/>
                    <a:p>
                      <a:r>
                        <a:rPr sz="1300" b="1" i="0">
                          <a:solidFill>
                            <a:srgbClr val="FFFFFF"/>
                          </a:solidFill>
                          <a:latin typeface="Malgun Gothic"/>
                          <a:ea typeface="Malgun Gothic"/>
                          <a:cs typeface="Malgun Gothic"/>
                        </a:rPr>
                        <a:t>효소</a:t>
                      </a:r>
                    </a:p>
                  </a:txBody>
                  <a:tcPr marL="73152" marR="73152">
                    <a:solidFill>
                      <a:srgbClr val="003C71"/>
                    </a:solidFill>
                  </a:tcPr>
                </a:tc>
                <a:tc>
                  <a:txBody>
                    <a:bodyPr/>
                    <a:lstStyle/>
                    <a:p>
                      <a:r>
                        <a:rPr sz="1300" b="1" i="0">
                          <a:solidFill>
                            <a:srgbClr val="FFFFFF"/>
                          </a:solidFill>
                          <a:latin typeface="Malgun Gothic"/>
                          <a:ea typeface="Malgun Gothic"/>
                          <a:cs typeface="Malgun Gothic"/>
                        </a:rPr>
                        <a:t>의의·질환</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인산화 (Ser/Thr/Tyr)</a:t>
                      </a:r>
                    </a:p>
                  </a:txBody>
                  <a:tcPr marL="73152" marR="73152">
                    <a:solidFill>
                      <a:srgbClr val="FFFFFF"/>
                    </a:solidFill>
                  </a:tcPr>
                </a:tc>
                <a:tc>
                  <a:txBody>
                    <a:bodyPr/>
                    <a:lstStyle/>
                    <a:p>
                      <a:r>
                        <a:rPr sz="1300" b="0" i="0">
                          <a:solidFill>
                            <a:srgbClr val="11202B"/>
                          </a:solidFill>
                          <a:latin typeface="Malgun Gothic"/>
                          <a:ea typeface="Malgun Gothic"/>
                          <a:cs typeface="Malgun Gothic"/>
                        </a:rPr>
                        <a:t>키나아제(~520종)/포스파타아제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신호전달; 키나아제 억제제 &gt;80종 승인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N-연결 당화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OST (ER) → 골지 다듬기</a:t>
                      </a:r>
                    </a:p>
                  </a:txBody>
                  <a:tcPr marL="73152" marR="73152">
                    <a:solidFill>
                      <a:srgbClr val="ECF1F5"/>
                    </a:solidFill>
                  </a:tcPr>
                </a:tc>
                <a:tc>
                  <a:txBody>
                    <a:bodyPr/>
                    <a:lstStyle/>
                    <a:p>
                      <a:r>
                        <a:rPr sz="1300" b="0" i="0">
                          <a:solidFill>
                            <a:srgbClr val="11202B"/>
                          </a:solidFill>
                          <a:latin typeface="Malgun Gothic"/>
                          <a:ea typeface="Malgun Gothic"/>
                          <a:cs typeface="Malgun Gothic"/>
                        </a:rPr>
                        <a:t>선천성 당화장애(CDG; PMM2-CDG 가장 흔함: 역유두, 지방 패드, 소뇌 형성부전); 트랜스페린 등전점 분석 선별</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O-연결 당화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골지 GALNT, O-GlcNAc(세포질; OGT)</a:t>
                      </a:r>
                    </a:p>
                  </a:txBody>
                  <a:tcPr marL="73152" marR="73152">
                    <a:solidFill>
                      <a:srgbClr val="FFFFFF"/>
                    </a:solidFill>
                  </a:tcPr>
                </a:tc>
                <a:tc>
                  <a:txBody>
                    <a:bodyPr/>
                    <a:lstStyle/>
                    <a:p>
                      <a:r>
                        <a:rPr sz="1300" b="0" i="0">
                          <a:solidFill>
                            <a:srgbClr val="11202B"/>
                          </a:solidFill>
                          <a:latin typeface="Malgun Gothic"/>
                          <a:ea typeface="Malgun Gothic"/>
                          <a:cs typeface="Malgun Gothic"/>
                        </a:rPr>
                        <a:t>뮤신; O-GlcNAc는 영양 감지</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수산화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프롤릴·리실 수산화효소(비타민 C)</a:t>
                      </a:r>
                    </a:p>
                  </a:txBody>
                  <a:tcPr marL="73152" marR="73152">
                    <a:solidFill>
                      <a:srgbClr val="ECF1F5"/>
                    </a:solidFill>
                  </a:tcPr>
                </a:tc>
                <a:tc>
                  <a:txBody>
                    <a:bodyPr/>
                    <a:lstStyle/>
                    <a:p>
                      <a:r>
                        <a:rPr sz="1300" b="1" i="0">
                          <a:solidFill>
                            <a:srgbClr val="11202B"/>
                          </a:solidFill>
                          <a:latin typeface="Malgun Gothic"/>
                          <a:ea typeface="Malgun Gothic"/>
                          <a:cs typeface="Malgun Gothic"/>
                        </a:rPr>
                        <a:t>콜라겐</a:t>
                      </a:r>
                      <a:r>
                        <a:rPr sz="1300" b="0" i="0">
                          <a:solidFill>
                            <a:srgbClr val="11202B"/>
                          </a:solidFill>
                          <a:latin typeface="Malgun Gothic"/>
                          <a:ea typeface="Malgun Gothic"/>
                          <a:cs typeface="Malgun Gothic"/>
                        </a:rPr>
                        <a:t>, HIF</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γ-카복실화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γ-글루타밀 카복실화효소(</a:t>
                      </a:r>
                      <a:r>
                        <a:rPr sz="1300" b="1" i="0">
                          <a:solidFill>
                            <a:srgbClr val="11202B"/>
                          </a:solidFill>
                          <a:latin typeface="Malgun Gothic"/>
                          <a:ea typeface="Malgun Gothic"/>
                          <a:cs typeface="Malgun Gothic"/>
                        </a:rPr>
                        <a:t>비타민 K</a:t>
                      </a:r>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응고인자 II, VII, IX, X, 단백 C/S; 와파린이 VKOR 억제</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지질화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프레닐·팔미토일·미리스토일·GPI</a:t>
                      </a:r>
                    </a:p>
                  </a:txBody>
                  <a:tcPr marL="73152" marR="73152">
                    <a:solidFill>
                      <a:srgbClr val="ECF1F5"/>
                    </a:solidFill>
                  </a:tcPr>
                </a:tc>
                <a:tc>
                  <a:txBody>
                    <a:bodyPr/>
                    <a:lstStyle/>
                    <a:p>
                      <a:r>
                        <a:rPr sz="1300" b="0" i="0">
                          <a:solidFill>
                            <a:srgbClr val="11202B"/>
                          </a:solidFill>
                          <a:latin typeface="Malgun Gothic"/>
                          <a:ea typeface="Malgun Gothic"/>
                          <a:cs typeface="Malgun Gothic"/>
                        </a:rPr>
                        <a:t>Ras 막 결합, PNH</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아세틸화·메틸화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HAT/HDAC, PRMT</a:t>
                      </a:r>
                    </a:p>
                  </a:txBody>
                  <a:tcPr marL="73152" marR="73152">
                    <a:solidFill>
                      <a:srgbClr val="FFFFFF"/>
                    </a:solidFill>
                  </a:tcPr>
                </a:tc>
                <a:tc>
                  <a:txBody>
                    <a:bodyPr/>
                    <a:lstStyle/>
                    <a:p>
                      <a:r>
                        <a:rPr sz="1300" b="0" i="0">
                          <a:solidFill>
                            <a:srgbClr val="11202B"/>
                          </a:solidFill>
                          <a:latin typeface="Malgun Gothic"/>
                          <a:ea typeface="Malgun Gothic"/>
                          <a:cs typeface="Malgun Gothic"/>
                        </a:rPr>
                        <a:t>히스톤·비히스톤 조절</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유비퀴틴/SUMO화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E1–E2–E3</a:t>
                      </a:r>
                    </a:p>
                  </a:txBody>
                  <a:tcPr marL="73152" marR="73152">
                    <a:solidFill>
                      <a:srgbClr val="ECF1F5"/>
                    </a:solidFill>
                  </a:tcPr>
                </a:tc>
                <a:tc>
                  <a:txBody>
                    <a:bodyPr/>
                    <a:lstStyle/>
                    <a:p>
                      <a:r>
                        <a:rPr sz="1300" b="0" i="0">
                          <a:solidFill>
                            <a:srgbClr val="11202B"/>
                          </a:solidFill>
                          <a:latin typeface="Malgun Gothic"/>
                          <a:ea typeface="Malgun Gothic"/>
                          <a:cs typeface="Malgun Gothic"/>
                        </a:rPr>
                        <a:t>분해·신호·DNA 수선</a:t>
                      </a:r>
                    </a:p>
                  </a:txBody>
                  <a:tcPr marL="73152" marR="73152">
                    <a:solidFill>
                      <a:srgbClr val="EC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번역후 변형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효소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의의·질환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단백분해 가공</a:t>
                      </a:r>
                    </a:p>
                  </a:txBody>
                  <a:tcPr marL="73152" marR="73152">
                    <a:solidFill>
                      <a:srgbClr val="FFFFFF"/>
                    </a:solidFill>
                  </a:tcPr>
                </a:tc>
                <a:tc>
                  <a:txBody>
                    <a:bodyPr/>
                    <a:lstStyle/>
                    <a:p>
                      <a:r>
                        <a:rPr sz="1500" b="0" i="0">
                          <a:solidFill>
                            <a:srgbClr val="11202B"/>
                          </a:solidFill>
                          <a:latin typeface="Malgun Gothic"/>
                          <a:ea typeface="Malgun Gothic"/>
                          <a:cs typeface="Malgun Gothic"/>
                        </a:rPr>
                        <a:t>프로호르몬 전환효소, 퓨린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인슐린, POMC → ACTH·α-MSH·β-엔도르핀; PCSK1 결핍 비만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이황화 결합</a:t>
                      </a:r>
                    </a:p>
                  </a:txBody>
                  <a:tcPr marL="73152" marR="73152">
                    <a:solidFill>
                      <a:srgbClr val="ECF1F5"/>
                    </a:solidFill>
                  </a:tcPr>
                </a:tc>
                <a:tc>
                  <a:txBody>
                    <a:bodyPr/>
                    <a:lstStyle/>
                    <a:p>
                      <a:r>
                        <a:rPr sz="1500" b="0" i="0">
                          <a:solidFill>
                            <a:srgbClr val="11202B"/>
                          </a:solidFill>
                          <a:latin typeface="Malgun Gothic"/>
                          <a:ea typeface="Malgun Gothic"/>
                          <a:cs typeface="Malgun Gothic"/>
                        </a:rPr>
                        <a:t>PDI, ERO1</a:t>
                      </a:r>
                    </a:p>
                  </a:txBody>
                  <a:tcPr marL="73152" marR="73152">
                    <a:solidFill>
                      <a:srgbClr val="ECF1F5"/>
                    </a:solidFill>
                  </a:tcPr>
                </a:tc>
                <a:tc>
                  <a:txBody>
                    <a:bodyPr/>
                    <a:lstStyle/>
                    <a:p>
                      <a:r>
                        <a:rPr sz="1500" b="0" i="0">
                          <a:solidFill>
                            <a:srgbClr val="11202B"/>
                          </a:solidFill>
                          <a:latin typeface="Malgun Gothic"/>
                          <a:ea typeface="Malgun Gothic"/>
                          <a:cs typeface="Malgun Gothic"/>
                        </a:rPr>
                        <a:t>분비 단백 안정성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시트룰린화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PAD</a:t>
                      </a:r>
                    </a:p>
                  </a:txBody>
                  <a:tcPr marL="73152" marR="73152">
                    <a:solidFill>
                      <a:srgbClr val="FFFFFF"/>
                    </a:solidFill>
                  </a:tcPr>
                </a:tc>
                <a:tc>
                  <a:txBody>
                    <a:bodyPr/>
                    <a:lstStyle/>
                    <a:p>
                      <a:r>
                        <a:rPr sz="1500" b="0" i="0">
                          <a:solidFill>
                            <a:srgbClr val="11202B"/>
                          </a:solidFill>
                          <a:latin typeface="Malgun Gothic"/>
                          <a:ea typeface="Malgun Gothic"/>
                          <a:cs typeface="Malgun Gothic"/>
                        </a:rPr>
                        <a:t>류마티스관절염 </a:t>
                      </a:r>
                      <a:r>
                        <a:rPr sz="1500" b="1" i="0">
                          <a:solidFill>
                            <a:srgbClr val="11202B"/>
                          </a:solidFill>
                          <a:latin typeface="Malgun Gothic"/>
                          <a:ea typeface="Malgun Gothic"/>
                          <a:cs typeface="Malgun Gothic"/>
                        </a:rPr>
                        <a:t>항-CCP 항체</a:t>
                      </a:r>
                      <a:r>
                        <a:rPr sz="1500" b="0" i="0">
                          <a:solidFill>
                            <a:srgbClr val="11202B"/>
                          </a:solidFill>
                          <a:latin typeface="Malgun Gothic"/>
                          <a:ea typeface="Malgun Gothic"/>
                          <a:cs typeface="Malgun Gothic"/>
                        </a:rPr>
                        <a:t>, NETosis</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아세틸화(N말단), ADP-리보실화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NAT, PARP</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1차 구조: (Gly–X–Y)ₙ 반복, X = 주로 프롤린, Y = 하이드록시프롤린. 3번째마다 글리신(삼중나선 중앙 공간).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세포 내: 프레프로콜라겐 → ER에서 </a:t>
            </a:r>
            <a:r>
              <a:rPr sz="2000" b="1" i="0">
                <a:solidFill>
                  <a:srgbClr val="11202B"/>
                </a:solidFill>
                <a:latin typeface="Malgun Gothic"/>
                <a:ea typeface="Malgun Gothic"/>
                <a:cs typeface="Malgun Gothic"/>
              </a:rPr>
              <a:t>프롤린·리신 수산화</a:t>
            </a:r>
            <a:r>
              <a:rPr sz="2000" b="0" i="0">
                <a:solidFill>
                  <a:srgbClr val="11202B"/>
                </a:solidFill>
                <a:latin typeface="Malgun Gothic"/>
                <a:ea typeface="Malgun Gothic"/>
                <a:cs typeface="Malgun Gothic"/>
              </a:rPr>
              <a:t>(비타민 C, Fe²⁺, α-KG, O₂) → 하이드록시리신 당화 → C-프로펩타이드 이황화결합으로 정렬 → 삼중나선(지퍼처럼 C→N) → 분비.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세포 밖: 프로콜라겐 N·C 펩티다아제(ADAMTS2, BMP1)가 말단 절단 → 트로포콜라겐 자기조립 → </a:t>
            </a:r>
            <a:r>
              <a:rPr sz="2000" b="1" i="0">
                <a:solidFill>
                  <a:srgbClr val="11202B"/>
                </a:solidFill>
                <a:latin typeface="Malgun Gothic"/>
                <a:ea typeface="Malgun Gothic"/>
                <a:cs typeface="Malgun Gothic"/>
              </a:rPr>
              <a:t>리실 산화효소(구리 의존)</a:t>
            </a:r>
            <a:r>
              <a:rPr sz="2000" b="0" i="0">
                <a:solidFill>
                  <a:srgbClr val="11202B"/>
                </a:solidFill>
                <a:latin typeface="Malgun Gothic"/>
                <a:ea typeface="Malgun Gothic"/>
                <a:cs typeface="Malgun Gothic"/>
              </a:rPr>
              <a:t>가 교차결합 → 미세섬유.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비타민 C 결핍(수산화↓)</a:t>
                      </a:r>
                    </a:p>
                  </a:txBody>
                  <a:tcPr marL="73152" marR="73152">
                    <a:solidFill>
                      <a:srgbClr val="FFFFFF"/>
                    </a:solidFill>
                  </a:tcPr>
                </a:tc>
                <a:tc>
                  <a:txBody>
                    <a:bodyPr/>
                    <a:lstStyle/>
                    <a:p>
                      <a:r>
                        <a:rPr sz="1500" b="1" i="0">
                          <a:solidFill>
                            <a:srgbClr val="11202B"/>
                          </a:solidFill>
                          <a:latin typeface="Malgun Gothic"/>
                          <a:ea typeface="Malgun Gothic"/>
                          <a:cs typeface="Malgun Gothic"/>
                        </a:rPr>
                        <a:t>괴혈병</a:t>
                      </a:r>
                      <a:r>
                        <a:rPr sz="1500" b="0" i="0">
                          <a:solidFill>
                            <a:srgbClr val="11202B"/>
                          </a:solidFill>
                          <a:latin typeface="Malgun Gothic"/>
                          <a:ea typeface="Malgun Gothic"/>
                          <a:cs typeface="Malgun Gothic"/>
                        </a:rPr>
                        <a:t>: 모낭 주위 출혈, 코르크스크류 모발, 잇몸 출혈, 상처 치유 지연, 골막하 출혈</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COL1A1/2</a:t>
                      </a:r>
                    </a:p>
                  </a:txBody>
                  <a:tcPr marL="73152" marR="73152">
                    <a:solidFill>
                      <a:srgbClr val="ECF1F5"/>
                    </a:solidFill>
                  </a:tcPr>
                </a:tc>
                <a:tc>
                  <a:txBody>
                    <a:bodyPr/>
                    <a:lstStyle/>
                    <a:p>
                      <a:r>
                        <a:rPr sz="1500" b="0" i="0">
                          <a:solidFill>
                            <a:srgbClr val="11202B"/>
                          </a:solidFill>
                          <a:latin typeface="Malgun Gothic"/>
                          <a:ea typeface="Malgun Gothic"/>
                          <a:cs typeface="Malgun Gothic"/>
                        </a:rPr>
                        <a:t>골형성부전증(파란 공막, 다발 골절, 난청, 치아형성부전)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COL3A1</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혈관형 엘러스-단로스(동맥·장·자궁 파열)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COL5A1/2</a:t>
                      </a:r>
                    </a:p>
                  </a:txBody>
                  <a:tcPr marL="73152" marR="73152">
                    <a:solidFill>
                      <a:srgbClr val="ECF1F5"/>
                    </a:solidFill>
                  </a:tcPr>
                </a:tc>
                <a:tc>
                  <a:txBody>
                    <a:bodyPr/>
                    <a:lstStyle/>
                    <a:p>
                      <a:r>
                        <a:rPr sz="1500" b="0" i="0">
                          <a:solidFill>
                            <a:srgbClr val="11202B"/>
                          </a:solidFill>
                          <a:latin typeface="Malgun Gothic"/>
                          <a:ea typeface="Malgun Gothic"/>
                          <a:cs typeface="Malgun Gothic"/>
                        </a:rPr>
                        <a:t>고전형 EDS(피부 과신전, 위축성 흉터)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ADAMTS2</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피부취약형 EDS</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구리 수송(ATP7A) → 리실 산화효소↓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멘케스병(꼬인 모발, 신경퇴행, 동맥 뒤틀림)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COL4A3/4/5</a:t>
                      </a:r>
                    </a:p>
                  </a:txBody>
                  <a:tcPr marL="73152" marR="73152">
                    <a:solidFill>
                      <a:srgbClr val="FFFFFF"/>
                    </a:solidFill>
                  </a:tcPr>
                </a:tc>
                <a:tc>
                  <a:txBody>
                    <a:bodyPr/>
                    <a:lstStyle/>
                    <a:p>
                      <a:r>
                        <a:rPr sz="1500" b="0" i="0">
                          <a:solidFill>
                            <a:srgbClr val="11202B"/>
                          </a:solidFill>
                          <a:latin typeface="Malgun Gothic"/>
                          <a:ea typeface="Malgun Gothic"/>
                          <a:cs typeface="Malgun Gothic"/>
                        </a:rPr>
                        <a:t>알포트 증후군(혈뇨, 감각신경 난청, 전방 원추수정체)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COL7A1</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이영양성 수포성 표피박리증 → </a:t>
                      </a:r>
                      <a:r>
                        <a:rPr sz="1500" b="1" i="0">
                          <a:solidFill>
                            <a:srgbClr val="11202B"/>
                          </a:solidFill>
                          <a:latin typeface="Malgun Gothic"/>
                          <a:ea typeface="Malgun Gothic"/>
                          <a:cs typeface="Malgun Gothic"/>
                        </a:rPr>
                        <a:t>베레마겐 게페르파벡</a:t>
                      </a:r>
                      <a:r>
                        <a:rPr sz="1500" b="0" i="0">
                          <a:solidFill>
                            <a:srgbClr val="11202B"/>
                          </a:solidFill>
                          <a:latin typeface="Malgun Gothic"/>
                          <a:ea typeface="Malgun Gothic"/>
                          <a:cs typeface="Malgun Gothic"/>
                        </a:rPr>
                        <a:t>(국소 HSV-1 유전자치료, 2023)</a:t>
                      </a:r>
                    </a:p>
                  </a:txBody>
                  <a:tcPr marL="73152" marR="73152">
                    <a:solidFill>
                      <a:srgbClr val="ECF1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리실 산화효소 억제(라티리즘)</a:t>
                      </a:r>
                    </a:p>
                  </a:txBody>
                  <a:tcPr marL="73152" marR="73152">
                    <a:solidFill>
                      <a:srgbClr val="FFFFFF"/>
                    </a:solidFill>
                  </a:tcPr>
                </a:tc>
                <a:tc>
                  <a:txBody>
                    <a:bodyPr/>
                    <a:lstStyle/>
                    <a:p>
                      <a:r>
                        <a:rPr sz="1500" b="0" i="0">
                          <a:solidFill>
                            <a:srgbClr val="11202B"/>
                          </a:solidFill>
                          <a:latin typeface="Malgun Gothic"/>
                          <a:ea typeface="Malgun Gothic"/>
                          <a:cs typeface="Malgun Gothic"/>
                        </a:rPr>
                        <a:t>골·혈관 이상</a:t>
                      </a:r>
                    </a:p>
                  </a:txBody>
                  <a:tcPr marL="73152" marR="7315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유비퀴틴-프로테아솜계(UPS)</a:t>
            </a:r>
            <a:r>
              <a:rPr sz="1800" b="0" i="0">
                <a:solidFill>
                  <a:srgbClr val="11202B"/>
                </a:solidFill>
                <a:latin typeface="Malgun Gothic"/>
                <a:ea typeface="Malgun Gothic"/>
                <a:cs typeface="Malgun Gothic"/>
              </a:rPr>
              <a:t>: E1(활성; ATP) → E2(약 40종; 결합) → </a:t>
            </a:r>
            <a:r>
              <a:rPr sz="1800" b="1" i="0">
                <a:solidFill>
                  <a:srgbClr val="11202B"/>
                </a:solidFill>
                <a:latin typeface="Malgun Gothic"/>
                <a:ea typeface="Malgun Gothic"/>
                <a:cs typeface="Malgun Gothic"/>
              </a:rPr>
              <a:t>E3</a:t>
            </a:r>
            <a:r>
              <a:rPr sz="1800" b="0" i="0">
                <a:solidFill>
                  <a:srgbClr val="11202B"/>
                </a:solidFill>
                <a:latin typeface="Malgun Gothic"/>
                <a:ea typeface="Malgun Gothic"/>
                <a:cs typeface="Malgun Gothic"/>
              </a:rPr>
              <a:t>(약 600종; 기질 특이성: RING, HECT, RBR) → 다중 유비퀴틴 사슬(</a:t>
            </a:r>
            <a:r>
              <a:rPr sz="1800" b="1" i="0">
                <a:solidFill>
                  <a:srgbClr val="11202B"/>
                </a:solidFill>
                <a:latin typeface="Malgun Gothic"/>
                <a:ea typeface="Malgun Gothic"/>
                <a:cs typeface="Malgun Gothic"/>
              </a:rPr>
              <a:t>K48 → 프로테아솜 분해</a:t>
            </a:r>
            <a:r>
              <a:rPr sz="1800" b="0" i="0">
                <a:solidFill>
                  <a:srgbClr val="11202B"/>
                </a:solidFill>
                <a:latin typeface="Malgun Gothic"/>
                <a:ea typeface="Malgun Gothic"/>
                <a:cs typeface="Malgun Gothic"/>
              </a:rPr>
              <a:t>, K63 → 신호·DNA 수선·자가포식, M1 선형 → NF-κB) → </a:t>
            </a:r>
            <a:r>
              <a:rPr sz="1800" b="1" i="0">
                <a:solidFill>
                  <a:srgbClr val="11202B"/>
                </a:solidFill>
                <a:latin typeface="Malgun Gothic"/>
                <a:ea typeface="Malgun Gothic"/>
                <a:cs typeface="Malgun Gothic"/>
              </a:rPr>
              <a:t>26S 프로테아솜</a:t>
            </a:r>
            <a:r>
              <a:rPr sz="1800" b="0" i="0">
                <a:solidFill>
                  <a:srgbClr val="11202B"/>
                </a:solidFill>
                <a:latin typeface="Malgun Gothic"/>
                <a:ea typeface="Malgun Gothic"/>
                <a:cs typeface="Malgun Gothic"/>
              </a:rPr>
              <a:t>(19S 조절 + 20S 촉매 β1 카스페이스 유사, β2 트립신 유사, β5 키모트립신 유사) → 탈유비퀴틴효소(DUB)가 유비퀴틴 재활용.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프로테아솜 억제제(</a:t>
            </a:r>
            <a:r>
              <a:rPr sz="1800" b="1" i="0">
                <a:solidFill>
                  <a:srgbClr val="11202B"/>
                </a:solidFill>
                <a:latin typeface="Malgun Gothic"/>
                <a:ea typeface="Malgun Gothic"/>
                <a:cs typeface="Malgun Gothic"/>
              </a:rPr>
              <a:t>보르테조밉</a:t>
            </a:r>
            <a:r>
              <a:rPr sz="1800" b="0" i="0">
                <a:solidFill>
                  <a:srgbClr val="11202B"/>
                </a:solidFill>
                <a:latin typeface="Malgun Gothic"/>
                <a:ea typeface="Malgun Gothic"/>
                <a:cs typeface="Malgun Gothic"/>
              </a:rPr>
              <a:t>, 카르필조밉, 익사조밉): 형질세포는 면역글로불린 대량 합성으로 UPR 부담이 커 특히 민감 → 다발골수종·AL 아밀로이드증.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면역프로테아솜</a:t>
            </a:r>
            <a:r>
              <a:rPr sz="1800" b="0" i="0">
                <a:solidFill>
                  <a:srgbClr val="11202B"/>
                </a:solidFill>
                <a:latin typeface="Malgun Gothic"/>
                <a:ea typeface="Malgun Gothic"/>
                <a:cs typeface="Malgun Gothic"/>
              </a:rPr>
              <a:t>(β1i, β2i, β5i): MHC I 항원 펩타이드 생성; 결손 → 프로테아솜 연관 자가염증증후군(PRAAS/CANDLE).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E3 연관 질환: 안젤만(UBE3A), 조기발병 PD(PRKN), VHL, MDM2–p53, 리들 증후군(ENaC의 NEDD4L 결합 부위 결손 → 고혈압).</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단백질 응집·아밀로이드</a:t>
            </a:r>
            <a:r>
              <a:rPr sz="2200" b="0" i="0">
                <a:solidFill>
                  <a:srgbClr val="11202B"/>
                </a:solidFill>
                <a:latin typeface="Malgun Gothic"/>
                <a:ea typeface="Malgun Gothic"/>
                <a:cs typeface="Malgun Gothic"/>
              </a:rPr>
              <a:t>: 교차 β-시트 섬유, 콩고레드 염색 편광에서 사과녹색 복굴절.</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단백질 항상성(proteostasis) 네트워크(샤페론·UPS·자가포식)의 노화에 따른 쇠퇴가 신경퇴행의 공통 기반으로 여겨진다(B04 L09).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아밀로이드증/응집병</a:t>
                      </a:r>
                    </a:p>
                  </a:txBody>
                  <a:tcPr marL="73152" marR="73152">
                    <a:solidFill>
                      <a:srgbClr val="003C71"/>
                    </a:solidFill>
                  </a:tcPr>
                </a:tc>
                <a:tc>
                  <a:txBody>
                    <a:bodyPr/>
                    <a:lstStyle/>
                    <a:p>
                      <a:r>
                        <a:rPr sz="1500" b="1" i="0">
                          <a:solidFill>
                            <a:srgbClr val="FFFFFF"/>
                          </a:solidFill>
                          <a:latin typeface="Malgun Gothic"/>
                          <a:ea typeface="Malgun Gothic"/>
                          <a:cs typeface="Malgun Gothic"/>
                        </a:rPr>
                        <a:t>전구 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AL</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면역글로불린 경쇄</a:t>
                      </a:r>
                    </a:p>
                  </a:txBody>
                  <a:tcPr marL="73152" marR="73152">
                    <a:solidFill>
                      <a:srgbClr val="FFFFFF"/>
                    </a:solidFill>
                  </a:tcPr>
                </a:tc>
                <a:tc>
                  <a:txBody>
                    <a:bodyPr/>
                    <a:lstStyle/>
                    <a:p>
                      <a:r>
                        <a:rPr sz="1500" b="0" i="0">
                          <a:solidFill>
                            <a:srgbClr val="11202B"/>
                          </a:solidFill>
                          <a:latin typeface="Malgun Gothic"/>
                          <a:ea typeface="Malgun Gothic"/>
                          <a:cs typeface="Malgun Gothic"/>
                        </a:rPr>
                        <a:t>심장·신장·신경; 다라투무맙 + CyBorD</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ATTR (유전성 V30M, V122I / 야생형 노인성)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트랜스티레틴</a:t>
                      </a:r>
                    </a:p>
                  </a:txBody>
                  <a:tcPr marL="73152" marR="73152">
                    <a:solidFill>
                      <a:srgbClr val="ECF1F5"/>
                    </a:solidFill>
                  </a:tcPr>
                </a:tc>
                <a:tc>
                  <a:txBody>
                    <a:bodyPr/>
                    <a:lstStyle/>
                    <a:p>
                      <a:r>
                        <a:rPr sz="1500" b="0" i="0">
                          <a:solidFill>
                            <a:srgbClr val="11202B"/>
                          </a:solidFill>
                          <a:latin typeface="Malgun Gothic"/>
                          <a:ea typeface="Malgun Gothic"/>
                          <a:cs typeface="Malgun Gothic"/>
                        </a:rPr>
                        <a:t>심근병증·다발신경병증; 안정제 타파미디스·아코라미디스, 침묵제(파티시란, 부트리시란, 에플론테르센), </a:t>
                      </a:r>
                      <a:r>
                        <a:rPr sz="1500" b="1" i="0">
                          <a:solidFill>
                            <a:srgbClr val="11202B"/>
                          </a:solidFill>
                          <a:latin typeface="Malgun Gothic"/>
                          <a:ea typeface="Malgun Gothic"/>
                          <a:cs typeface="Malgun Gothic"/>
                        </a:rPr>
                        <a:t>NTLA-2001 체내 CRISPR 편집</a:t>
                      </a:r>
                      <a:r>
                        <a:rPr sz="1500" b="0" i="0">
                          <a:solidFill>
                            <a:srgbClr val="11202B"/>
                          </a:solidFill>
                          <a:latin typeface="Malgun Gothic"/>
                          <a:ea typeface="Malgun Gothic"/>
                          <a:cs typeface="Malgun Gothic"/>
                        </a:rPr>
                        <a:t>(혈청 TTR 90% 감소)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AA</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혈청 아밀로이드 A</a:t>
                      </a:r>
                    </a:p>
                  </a:txBody>
                  <a:tcPr marL="73152" marR="73152">
                    <a:solidFill>
                      <a:srgbClr val="FFFFFF"/>
                    </a:solidFill>
                  </a:tcPr>
                </a:tc>
                <a:tc>
                  <a:txBody>
                    <a:bodyPr/>
                    <a:lstStyle/>
                    <a:p>
                      <a:r>
                        <a:rPr sz="1500" b="0" i="0">
                          <a:solidFill>
                            <a:srgbClr val="11202B"/>
                          </a:solidFill>
                          <a:latin typeface="Malgun Gothic"/>
                          <a:ea typeface="Malgun Gothic"/>
                          <a:cs typeface="Malgun Gothic"/>
                        </a:rPr>
                        <a:t>만성 염증(FMF, RA) — 콜히친(FMF)</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Aβ2M</a:t>
                      </a:r>
                    </a:p>
                  </a:txBody>
                  <a:tcPr marL="73152" marR="73152">
                    <a:solidFill>
                      <a:srgbClr val="ECF1F5"/>
                    </a:solidFill>
                  </a:tcPr>
                </a:tc>
                <a:tc>
                  <a:txBody>
                    <a:bodyPr/>
                    <a:lstStyle/>
                    <a:p>
                      <a:r>
                        <a:rPr sz="1500" b="0" i="0">
                          <a:solidFill>
                            <a:srgbClr val="11202B"/>
                          </a:solidFill>
                          <a:latin typeface="Malgun Gothic"/>
                          <a:ea typeface="Malgun Gothic"/>
                          <a:cs typeface="Malgun Gothic"/>
                        </a:rPr>
                        <a:t>β2-마이크로글로불린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장기 투석, 수근관 증후군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알츠하이머</a:t>
                      </a:r>
                    </a:p>
                  </a:txBody>
                  <a:tcPr marL="73152" marR="73152">
                    <a:solidFill>
                      <a:srgbClr val="FFFFFF"/>
                    </a:solidFill>
                  </a:tcPr>
                </a:tc>
                <a:tc>
                  <a:txBody>
                    <a:bodyPr/>
                    <a:lstStyle/>
                    <a:p>
                      <a:r>
                        <a:rPr sz="1500" b="0" i="0">
                          <a:solidFill>
                            <a:srgbClr val="11202B"/>
                          </a:solidFill>
                          <a:latin typeface="Malgun Gothic"/>
                          <a:ea typeface="Malgun Gothic"/>
                          <a:cs typeface="Malgun Gothic"/>
                        </a:rPr>
                        <a:t>Aβ, 타우</a:t>
                      </a:r>
                    </a:p>
                  </a:txBody>
                  <a:tcPr marL="73152" marR="73152">
                    <a:solidFill>
                      <a:srgbClr val="FFFFFF"/>
                    </a:solidFill>
                  </a:tcPr>
                </a:tc>
                <a:tc>
                  <a:txBody>
                    <a:bodyPr/>
                    <a:lstStyle/>
                    <a:p>
                      <a:r>
                        <a:rPr sz="1500" b="0" i="0">
                          <a:solidFill>
                            <a:srgbClr val="11202B"/>
                          </a:solidFill>
                          <a:latin typeface="Malgun Gothic"/>
                          <a:ea typeface="Malgun Gothic"/>
                          <a:cs typeface="Malgun Gothic"/>
                        </a:rPr>
                        <a:t>레카네맙·도나네맙(B08 L07)</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파킨슨·DLB</a:t>
                      </a:r>
                    </a:p>
                  </a:txBody>
                  <a:tcPr marL="73152" marR="73152">
                    <a:solidFill>
                      <a:srgbClr val="ECF1F5"/>
                    </a:solidFill>
                  </a:tcPr>
                </a:tc>
                <a:tc>
                  <a:txBody>
                    <a:bodyPr/>
                    <a:lstStyle/>
                    <a:p>
                      <a:r>
                        <a:rPr sz="1500" b="0" i="0">
                          <a:solidFill>
                            <a:srgbClr val="11202B"/>
                          </a:solidFill>
                          <a:latin typeface="Malgun Gothic"/>
                          <a:ea typeface="Malgun Gothic"/>
                          <a:cs typeface="Malgun Gothic"/>
                        </a:rPr>
                        <a:t>α-시누클레인</a:t>
                      </a:r>
                    </a:p>
                  </a:txBody>
                  <a:tcPr marL="73152" marR="73152">
                    <a:solidFill>
                      <a:srgbClr val="ECF1F5"/>
                    </a:solidFill>
                  </a:tcPr>
                </a:tc>
                <a:tc>
                  <a:txBody>
                    <a:bodyPr/>
                    <a:lstStyle/>
                    <a:p>
                      <a:r>
                        <a:rPr sz="1500" b="0" i="0">
                          <a:solidFill>
                            <a:srgbClr val="11202B"/>
                          </a:solidFill>
                          <a:latin typeface="Malgun Gothic"/>
                          <a:ea typeface="Malgun Gothic"/>
                          <a:cs typeface="Malgun Gothic"/>
                        </a:rPr>
                        <a:t>레비 소체(B08 L08)</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프리온</a:t>
                      </a:r>
                    </a:p>
                  </a:txBody>
                  <a:tcPr marL="73152" marR="73152">
                    <a:solidFill>
                      <a:srgbClr val="FFFFFF"/>
                    </a:solidFill>
                  </a:tcPr>
                </a:tc>
                <a:tc>
                  <a:txBody>
                    <a:bodyPr/>
                    <a:lstStyle/>
                    <a:p>
                      <a:r>
                        <a:rPr sz="1500" b="0" i="0">
                          <a:solidFill>
                            <a:srgbClr val="11202B"/>
                          </a:solidFill>
                          <a:latin typeface="Malgun Gothic"/>
                          <a:ea typeface="Malgun Gothic"/>
                          <a:cs typeface="Malgun Gothic"/>
                        </a:rPr>
                        <a:t>PrPSc</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전염성 형태 주형(B08 L10)</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헌팅턴 등 polyQ</a:t>
                      </a:r>
                    </a:p>
                  </a:txBody>
                  <a:tcPr marL="73152" marR="73152">
                    <a:solidFill>
                      <a:srgbClr val="ECF1F5"/>
                    </a:solidFill>
                  </a:tcPr>
                </a:tc>
                <a:tc>
                  <a:txBody>
                    <a:bodyPr/>
                    <a:lstStyle/>
                    <a:p>
                      <a:r>
                        <a:rPr sz="1500" b="0" i="0">
                          <a:solidFill>
                            <a:srgbClr val="11202B"/>
                          </a:solidFill>
                          <a:latin typeface="Malgun Gothic"/>
                          <a:ea typeface="Malgun Gothic"/>
                          <a:cs typeface="Malgun Gothic"/>
                        </a:rPr>
                        <a:t>확장 polyQ 단백</a:t>
                      </a:r>
                    </a:p>
                  </a:txBody>
                  <a:tcPr marL="73152" marR="73152">
                    <a:solidFill>
                      <a:srgbClr val="ECF1F5"/>
                    </a:solidFill>
                  </a:tcPr>
                </a:tc>
                <a:tc>
                  <a:txBody>
                    <a:bodyPr/>
                    <a:lstStyle/>
                    <a:p>
                      <a:r>
                        <a:rPr sz="1500" b="0" i="0">
                          <a:solidFill>
                            <a:srgbClr val="11202B"/>
                          </a:solidFill>
                          <a:latin typeface="Malgun Gothic"/>
                          <a:ea typeface="Malgun Gothic"/>
                          <a:cs typeface="Malgun Gothic"/>
                        </a:rPr>
                        <a:t>핵 봉입체(B06 L02)</a:t>
                      </a:r>
                    </a:p>
                  </a:txBody>
                  <a:tcPr marL="73152" marR="73152">
                    <a:solidFill>
                      <a:srgbClr val="ECF1F5"/>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표적 단백질 분해(TPD): PROTAC(이기능; 표적 리간드–링커–E3 리간드)와 분자 접착제가 3상에 진입(베페데갈루타마이드 ER PROTAC). 'undruggable' 전사인자·스캐폴드 단백질 제거와 E3 리가아제 레퍼토리 확장이 과제이다.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리보솜 프로파일링(Ribo-seq)으로 비정준 번역(uORF, lncRNA 내 소형 ORF, 마이크로단백질)이 대규모로 발견되었고, 일부는 암 특이 신생항원으로 면역치료 표적이 된다.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크라이오-EM으로 환자 뇌의 타우·α-시누클레인·TDP-43 섬유 구조가 질환별로 다르다는 것이 밝혀져(타우 '접힘' 분류: AD, CTE, Pick, CBD, PSP), 구조 기반 진단 PET 리간드와 치료 항체 설계에 쓰인다(Scheres, Goedert 그룹).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유전 부호는 축퇴적이고 거의 보편적이며, aaRS가 정확도를 보장하고 그 결함은 신경병증·자가면역과 연결된다.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진핵 번역은 eIF4F 캡 의존 스캐닝 개시, eEF1A/eEF2 신장, eRF1/3 종결로 진행된다.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eIF2α 인산화(ISR: PERK, PKR, GCN2, HRI)와 mTORC1–4E-BP가 번역의 주요 조절점이다.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항생제는 세균 리보솜 30S/50S를 선택적으로 표적하지만 미토콘드리아 독성을 보일 수 있고, 리보솜병증은 조직 특이적 표현형을 보인다.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번역후 변형(인산화, 당화, γ-카복실화, 콜라겐 수산화)과 UPS·아밀로이드는 다수 질환과 약물의 기초이다.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리네졸리드를 장기간(4주 이상) 투여한 환자에서 시신경병증, 말초신경병증, 젖산산증이 생길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미토콘드리아 리보솜은 세균 리보솜과 진화적으로 유사해 리네졸리드가 미토콘드리아 번역(23S 유사 rRNA)을 억제한다. 그 결과 mtDNA 부호화 호흡사슬 소단위 합성이 줄어 산화적 인산화 장애로 신경세포 손상과 젖산산증이 생긴다. 같은 기전으로 골수억제도 나타난다.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괴혈병에서 출혈과 상처 치유 지연이 생기는 생화학적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비타민 C는 프롤릴·리실 수산화효소가 Fe²⁺를 환원 상태로 유지하는 데 필요하다. 결핍 시 하이드록시프롤린이 부족해 콜라겐 삼중나선이 체온에서 불안정해 분비·조립이 실패하고, 하이드록시리신 부족으로 교차결합이 약해진다. 혈관벽 기저막·결합조직이 약해 모낭 주위·잇몸·골막하 출혈이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보르테조밉이 다발골수종에 특히 효과적인 이유를 단백질 항상성 관점에서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골수종 세포는 대량의 면역글로불린을 합성해 ER에 잘못 접힌 단백질 부담이 크며, ERAD를 통한 프로테아솜 분해에 크게 의존한다. 프로테아솜이 억제되면 잘못 접힌 단백질이 축적되어 지속적 UPR(PERK–CHOP)로 자멸사가 유도되고, IκB 분해 차단으로 NF-κB 생존 신호도 감소한다.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통합 스트레스 반응에서 eIF2α 인산화가 전반적 번역은 줄이면서 ATF4 번역은 늘리는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ATF4 mRNA의 5'UTR에는 상류 ORF(uORF1, uORF2)가 있다. 정상 시 리보솜은 uORF1 번역 후 빠르게 eIF2–GTP–Met-tRNA를 재적재해 억제성 uORF2에서 재개시하므로 ATF4 ORF를 지나친다. eIF2α 인산화로 삼중체가 부족하면 재적재가 지연되어 uORF2를 건너뛰고 ATF4 시작 코돈에서 재개시하게 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Hinnebusch AG, Ivanov IP, Sonenberg N. Translational control by 5′-untranslated regions of eukaryotic mRNAs. Science 2016;352:1413–1416.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Costa-Mattioli M, Walter P. The integrated stress response: from mechanism to disease. Science 2020;368:eaat5314.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Hipp MS, Kasturi P, Hartl FU. The proteostasis network and its decline in ageing. Nat Rev Mol Cell Biol 2019;20:421–435.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Jumper J et al. Highly accurate protein structure prediction with AlphaFold. Nature 2021;596:583–589.</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Gillmore JD et al. CRISPR-Cas9 in vivo gene editing for transthyretin amyloidosis. N Engl J Med 2021;385:493–502.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