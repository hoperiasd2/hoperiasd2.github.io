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어머니의 생식선 모자이크가 가장 가능성이 높다(난자 일부에만 변이). 혈액 검사 음성이라도 다음 아들의 이환 위험은 생식선 모자이크 비율에 따라 수 %~수십 %이므로, 다음 임신 시 산전 진단(융모막 검사) 또는 착상 전 유전 검사를 제안한다.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q² = 1/10,000 → q = 1/100, 보인자 빈도 2pq ≈ 2 × 1/100 = 1/50. 환자의 비이환 형제는 정상 동형(1/4)과 보인자(2/4) 중 하나이므로 보인자일 확률은 2/3이다.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1형 콜라겐은 α1 사슬 2개와 α2 사슬 1개로 된 삼중나선이다. null 대립유전자는 NMD로 사슬 생산이 절반으로 줄어 정상 콜라겐이 적게 생기는 경증(1형 OI)이 된다. 글리신 미스센스 변이 사슬은 삼중나선에 섞여 들어가 대부분의 콜라겐 분자를 비정상으로 만드는 우성음성 효과로 중증(2–4형)이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NIPT는 선별검사이며 cfDNA가 태반에서 유래하므로 태반 국한 모자이크 등으로 위양성이 가능하다. 융모막 검사보다는 양수천자(태아 세포)로 핵형 또는 마이크로어레이 확진 검사를 시행하고, 정밀 초음파를 함께 시행한 뒤 확진 결과에 근거해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B02 의학분자생물학  ·  분자유전학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변이와 유전 양식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Genetic Variation and Patterns of 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B02-L06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변이의 종류(SNV, indel, CNV, 구조변이, 반복확장)와 기능적 결과(기능소실, 우성음성, 기능획득)를 구분한다.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멘델 유전(상염색체 우성·열성, X연관)과 가계도 해석, 재발 위험 계산을 수행한다.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침투도·표현도·다면발현·유전적 이질성·안티시페이션·모자이크를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비멘델 유전(미토콘드리아, 각인, UPD, 이배체 수 이상)을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ACMG 변이 분류와 하디-바인베르크 평형, 다인자 유전(유전율, 다유전자 점수)을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변이의 종류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변이의 기능적 결과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멘델 유전 양식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멘델 유전을 복잡하게 하는 요인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비멘델 유전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 해석과 다인자 유전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변이의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생식세포 변이 vs 체세포 변이; 신생(de novo) 변이는 세대당 약 60–70개, 부친 나이에 따라 증가(연간 약 1–2개 추가) — 연골무형성증(FGFR3 G380R)·아페르 증후군 등 '부친 연령 효과'.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명명법(HGVS): c.(부호화 DNA), p.(단백질), g.(유전체) — 예: HBB c.20A&gt;T p.(Glu7Val) (겸상적혈구; 전통 표기 Glu6Val).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변이의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단일염기 변이(SNV)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bp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미스센스, 넌센스, 동의, 스플라이스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시퀀싱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삽입/결실(indel)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&lt;50 bp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틀이동(CFTR F508del은 틀 내 3 bp 결실)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시퀀싱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복제수 변이(CNV)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kb–Mb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22q11.2 결실, 16p11.2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염색체 마이크로어레이, 엑솜/유전체 CNV 분석, MLPA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구조변이(SV)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&gt;50 bp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역위(혈우병 A의 F8 인트론 22 역위 ~45%), 전위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장판독 시퀀싱, 핵형, 광학 매핑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확장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수십~수천 반복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CAG(헌팅턴), CGG(FMR1), GAA(FXN), GGGGCC(C9orf72)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프라이밍 PCR, 서던, 장판독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이수성/배수성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염색체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21번 삼염색체, 터너(45,X)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핵형, NIPT, 마이크로어레이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변이의 기능적 결과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기능소실(LoF)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넌센스(→ NMD로 mRNA 분해), 틀이동, 스플라이스 부위, 대규모 결실. 대부분 열성(반수충분), 일부 우성(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반수부족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haploinsufficiency: PAX6 무홍채증, TBX5 홀트-오람, SCN1A 드라베).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우성음성(dominant-negative)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변이 단백질이 정상 단백질과 복합체를 이뤄 기능을 망침 — 골형성부전증(COL1A1/2 미스센스: 삼중나선에 비정상 사슬 → 중증; 반면 null 대립은 경증 1형), 마르판, TP53 미스센스.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기능획득(GoF)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활성 증가·새 기능 — FGFR3(연골무형성증), KRAS, SCN9A(홍색사지통증), 헌팅틴 polyQ(독성 기능획득).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변이의 기능적 결과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 효과와 질환의 비대칭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같은 유전자의 LoF와 GoF가 다른 질환 — SCN9A LoF는 선천성 무통각증, GoF는 홍색사지통증·발작성 극통; RET GoF는 MEN2, LoF는 히르슈스프룽병; PCSK9 GoF는 FH, LoF는 저LDL과 심혈관 보호.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변이의 기능적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표현형이 여러 유전자에서 생기는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유전자좌 이질성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(망막색소변성 &gt;80 유전자, 비증후군성 난청)과, 같은 유전자의 다른 변이가 다른 질환을 만드는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대립 이질성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(LMNA: 근이영양증, 확장성 심근병증, 지방이영양증, 조로증)을 구분하라.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멘델 유전 양식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가계도에서 남성 환자의 아들이 이환되면 X연관 배제(남→남 전달).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하디-바인베르크 평형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p² + 2pq + q² = 1. 열성 질환 발생률 q²에서 보인자 빈도 ≈ 2q. 예: CF 발생률 1/2500 (서유럽) → q = 1/50 → 보인자 ≈ 1/25.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조건부 확률(베이즈) 계산: 이환되지 않은 형제가 보인자일 확률 = 2/3 (AR 가족의 비이환 형제).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멘델 유전 양식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가계도 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위험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상염색체 우성(AD)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세대 연속, 남녀 동일, 남→남 전달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환자 자녀 50%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헌팅턴, NF1, 마르판, FH, ADPKD, BRCA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상염색체 열성(AR)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형제 간 발생, 부모는 보인자, 근친혼 증가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보인자 부부 25% (환자 25%, 보인자 50%)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CF, 겸상적혈구, PKU, SMA, 대부분 대사이상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X연관 열성(XLR)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남성 위주, 모계 보인자 경유,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남→남 전달 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보인자 모친의 아들 50% 이환, 딸 50% 보인자; 환자 부친의 딸 100% 보인자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혈우병 A/B, DMD, G6PD, 파브리, OTC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X연관 우성(XLD)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이환 남성의 딸 모두 이환, 아들 정상; 여성 환자 2배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X연관 저인산혈증 구루병(PHEX), 알포트(COL4A5), 레트·색소실조증(남아 치사)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Y연관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부→아들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SRY, 무정자증 AZF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멘델 유전 양식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보인자 선별검사(확대 보인자 검사)는 임신 전 부부가 같은 열성 질환의 보인자인지 확인한다. 한국인에서 빈도가 상대적으로 높은 열성 질환으로 윌슨병(ATP7B R778L), 비증후군성 난청(GJB2 c.235delC, SLC26A4), 시트린 결핍(SLC25A13), 척수성 근위축증 등이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멘델 유전을 복잡하게 하는 요인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불완전 침투도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변이 보유자 중 표현형이 나타나는 비율 &lt; 100% (BRCA1 유방암 ~70%, 망막모세포종 RB1 ~90%, HFE C282Y 동형접합 혈색소증 남성 임상 발현 ~28%).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가변 표현도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같은 변이라도 증상 정도가 다름 (NF1, 결절성 경화증, 22q11.2).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다면발현(pleiotropy)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한 유전자가 여러 장기 침범 (마르판: 수정체·대동맥·골격).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안티시페이션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세대가 내려갈수록 발병 연령↓·중증도↑ — 반복 확장 질환. 헌팅턴은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전달 시, 근긴장성 이영양증 1형(선천형)과 취약 X는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전달 시 확장 경향 (B06 L02).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멘델 유전을 복잡하게 하는 요인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모자이크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체세포 모자이크(분절성 NF1, 맥큔-올브라이트, 프로테우스 AKT1) vs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생식선 모자이크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(부모 모두 정상인데 형제 둘 이상 이환 — DMD, 골형성부전증; 재발 위험 수 % 상담 필요).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표현모사(phenocopy)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환경 요인이 유전 질환 유사 표현형 (탈리도마이드 해표지증).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이중 유전자(digenic)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수정인자(modifier)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헌팅턴 발병 연령의 FAN1·MSH3, 겸상적혈구 중증도의 BCL11A(HbF 수준), SMA 중증도의 SMN2 복제 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멘델 유전을 복잡하게 하는 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SMA는 SMN1 양대립 결실로 생기지만 거의 동일한 SMN2(엑손 7 스플라이싱 결함, 기능 단백 ~10%) 복제 수가 많을수록 경증이다. 누시너센(ASO)은 SMN2 엑손 7 포함을 늘리고, 리스디플람은 경구 스플라이싱 조절제, 오나셈노진 아베파르보벡은 SMN1 AAV9 유전자 치료로, 신생아 선별 후 증상 전 치료가 결과를 극적으로 바꾼다(B06 L04).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비멘델 유전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유전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모계 전달, 이환 남성은 자녀에게 전달하지 않음.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이형세포질성(heteroplasmy)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비율과 조직별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역치 효과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중증도를 결정; 난자 형성 중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병목 효과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자녀 간 비율 차이가 커서 재발 위험 예측이 어렵다.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예: MELAS(m.3243A&gt;G MT-TL1), MERRF(m.8344A&gt;G), 레버 유전성 시신경병증(LHON; m.11778G&gt;A MT-ND4, 젊은 남성, 이데베논·유전자치료), NARP/Leigh(m.8993T&gt;G), 아미노글리코사이드 유발 난청(m.1555A&gt;G MT-RNR1 → 신생아 중환자 투여 전 선별 권고).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핵 유전자의 미토콘드리아 질환(POLG, TWNK: 다중 mtDNA 결실; 발프로산 간부전 위험)은 멘델 유전.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비멘델 유전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단친이염색체(UPD)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한 쌍의 염색체를 한쪽 부모에서만 물려받음 — 각인 질환(15, 11, 7, 14번) 또는 열성 질환의 동형접합 발현(이소UPD; 한 부모만 보인자인데 CF 발생).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염색체 이상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21번 삼염색체(다운증후군): 약 95% 감수분열 비분리(모친 연령 연관, 주로 모계 감수 I), 4% 로버트슨 전위(부모 균형 보인자 → 재발 위험↑), 1% 모자이크.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18번(에드워즈: 겹친 손가락, 흔들의자 발), 13번(파타우: 전전뇌증, 구순구개열, 다지증).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성염색체: 터너(45,X; 저신장, 생식선 형성부전, 대동맥축착·이엽성 대동맥판, 림프부종), 클라인펠터(47,XXY; 소고환, 무정자증, 여성형 유방, 큰 키).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비멘델 유전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비침습 산전검사(NIPT)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모체 혈장 내 태반 유래 cfDNA(~10%)를 시퀀싱해 이수성 선별. 위양성 원인: 태반 국한 모자이크, 모체 종양·모자이크, 소실된 쌍생아.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변이 해석과 다인자 유전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ACMG/AMP 변이 분류 5단계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병원성(P), 병원성 추정(LP), 의미불명(VUS), 양성 추정(LB), 양성(B).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근거: 집단 빈도(gnomAD; 질환 유병률보다 높으면 양성 근거), 계산 예측(REVEL, CADD, SpliceAI, AlphaMissense), 기능 연구, 가족 분리, de novo 확인, 표현형 일치.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VUS는 임상 결정에 쓰지 않으며 재분류될 수 있다(대부분 양성 쪽으로).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2차 발견(incidental/secondary findings)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ACMG SF v3.2 목록 81개 유전자(BRCA, 린치, FH, 심근병증, 악성고열 등) 결과 반환 권고.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변이 해석과 다인자 유전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다인자(복합) 형질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다수 유전 변이 + 환경. 쌍생아 연구로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유전율(h²)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추정(키 ~0.8, 2형 당뇨 ~0.3–0.7, 조현병 ~0.8, 알츠하이머 ~0.6–0.8).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전장 유전체 연관 분석(GWAS)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흔한 변이 수십만~수백만 개와 형질 연관(유의 수준 p &lt; 5×10⁻⁸). 대부분 비부호화 조절 영역 변이로 효과 크기 작음(OR 1.1–1.3). 미세 매핑·eQTL·인핸서 지도로 원인 유전자 추정.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다유전자 위험 점수(PRS)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수천~수백만 변이 효과 가중합. 관상동맥질환 상위 8% PRS는 단일유전자 FH와 비슷한 위험(3배). 유럽계 데이터 편중으로 다른 집단에서 예측력 저하 — 형평성 문제.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변이 해석과 다인자 유전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결측 유전율(missing heritability)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희귀 변이, 구조변이, 유전자–환경 상호작용, 쌍생아 연구 과대추정 등이 원인으로 제시된다.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대규모 바이오뱅크(영국 UK Biobank 50만 명 전장 유전체, 미국 All of Us, 한국인 유전체 사업 KoGES·국가바이오빅데이터)가 희귀 변이 부담 검정과 PRS를 다양한 집단으로 확장하고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AlphaMissense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(2023)는 7,100만 개 가능한 미스센스 변이의 병원성을 예측해 VUS 해석에 보조 근거로 쓰이며, 포화 돌연변이 유발(MAVE; deep mutational scanning)이 BRCA1 등 유전자의 모든 가능한 변이 기능을 실험적으로 측정한다.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장판독 시퀀싱(PacBio HiFi, ONT)으로 반복 확장·구조변이·위유전자 영역(SMN1/2, PMS2, CYP21A2, GBA1)을 한 번에 해석하고 메틸화까지 읽는 '원스톱 유전체 진단'이 가능해지고 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변이는 SNV·indel·CNV·SV·반복확장·이수성으로 나뉘며 기능소실(반수부족 포함)·우성음성·기능획득의 결과를 낳는다.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AD는 세대 연속·50%, AR은 형제 발생·25%, XLR은 남성 위주·남→남 전달 없음이 특징이다.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불완전 침투도·가변 표현도·안티시페이션·모자이크·수정인자가 멘델 비율을 흐린다.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질환은 모계 유전·이형세포질성·역치 효과를, UPD는 각인 질환이나 열성 동형접합을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ACMG 5단계 분류로 변이를 해석하며 복합 형질은 GWAS·PRS로 연구한다.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부모 모두 정상이고 가족력이 없는데 두 아들이 뒤시엔 근이영양증으로 진단되었다. 어머니 혈액에서 DMD 변이가 검출되지 않았다. 설명과 다음 임신 상담 내용은?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어머니의 생식선 모자이크가 가장 가능성이 높다(난자 일부에만 변이). 혈액 검사 음성이라도 다음 아들의 이환 위험은 생식선 모자이크 비율에 따라 수 %~수십 %이므로, 다음 임신 시 산전 진단(융모막 검사) 또는 착상 전 유전 검사를 제안한다.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어떤 열성 질환의 발생률이 1/10,000이다. 보인자 빈도는? 이 질환 환자의 비이환 형제가 보인자일 확률은?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q² = 1/10,000 → q = 1/100, 보인자 빈도 2pq ≈ 2 × 1/100 = 1/50. 환자의 비이환 형제는 정상 동형(1/4)과 보인자(2/4) 중 하나이므로 보인자일 확률은 2/3이다.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COL1A1 미스센스 변이(글리신 치환)가 null(넌센스) 변이보다 골형성부전증을 더 중증으로 만드는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1형 콜라겐은 α1 사슬 2개와 α2 사슬 1개로 된 삼중나선이다. null 대립유전자는 NMD로 사슬 생산이 절반으로 줄어 정상 콜라겐이 적게 생기는 경증(1형 OI)이 된다. 글리신 미스센스 변이 사슬은 삼중나선에 섞여 들어가 대부분의 콜라겐 분자를 비정상으로 만드는 우성음성 효과로 중증(2–4형)이 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37세 산모의 NIPT 결과가 18번 삼염색체 고위험으로 나왔다. 다음 단계와 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NIPT는 선별검사이며 cfDNA가 태반에서 유래하므로 태반 국한 모자이크 등으로 위양성이 가능하다. 융모막 검사보다는 양수천자(태아 세포)로 핵형 또는 마이크로어레이 확진 검사를 시행하고, 정밀 초음파를 함께 시행한 뒤 확진 결과에 근거해 결정한다.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Nussbaum RL, McInnes RR, Willard HF. Thompson &amp; Thompson Genetics and Genomics in Medicine, 9th ed. Elsevier, 2023.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Richards S et al. Standards and guidelines for the interpretation of sequence variants (ACMG/AMP). Genet Med 2015;17:405–424.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Karczewski KJ et al. The mutational constraint spectrum quantified from variation in 141,456 humans. Nature 2020;581:434–443.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B02-L06  ·  유전 변이와 유전 양식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Cheng J et al. Accurate proteome-wide missense variant effect prediction with AlphaMissense. Science 2023;381:eadg7492.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Khera AV et al. Genome-wide polygenic scores for common diseases identify individuals with risk equivalent to monogenic mutations. Nat Genet 2018;50:1219–1224.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