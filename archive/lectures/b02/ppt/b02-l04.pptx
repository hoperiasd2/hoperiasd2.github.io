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매일 세포당 수만 건의 DNA 손상이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MLH1 프로모터 과메틸화 검사를 한다(대장암이면 BRAF V600E도). 산발성 MMR 결손의 대부분은 후성유전적 MLH1 침묵이므로 메틸화가 있으면 산발성일 가능성이 높다. 메틸화가 없으면 린치 증후군 감별을 위해 생식세포 MLH1(및 PMS2) 검사를 시행한다. PMS2는 MLH1이 없으면 불안정해 함께 소실된다.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XP는 전체 유전체 NER이 결손되어 UV 손상이 유전체 전반에 남아 돌연변이로 고정되므로 피부암이 급증한다. 코케인 증후군은 전사 연계 NER만 결손되어 전사 중인 유전자의 손상이 RNA 중합효소를 멈추게 해 세포가 자멸사로 제거되므로(돌연변이 축적보다 세포 손실), 광과민·신경퇴행·조로는 생기지만 피부암은 증가하지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BRCA1 복귀(reversion) 2차 변이로 읽기틀이 회복되어 HR 기능이 돌아온다. (2) 53BP1–RIF1–셸딘 경로 소실로 DSB 말단 절제가 BRCA1 없이도 가능해져 HR이 부분적으로 회복된다. 그 외 PARP1 변이로 포획이 감소하거나 P-gp 과발현으로 약물이 유출된다.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테모졸로마이드는 O⁶-메틸구아닌을 만들어 세포독성을 일으키는데, MGMT가 이 메틸을 직접 제거하면 효과가 사라진다. 프로모터 메틸화로 MGMT 발현이 침묵되면 손상이 남아 MMR 의존 세포사가 유발되므로 치료 반응과 생존이 좋다.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분자유전학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DNA 복제와 DNA 수선</a:t>
            </a:r>
          </a:p>
          <a:p>
            <a:r>
              <a:rPr sz="2000" b="0" i="0">
                <a:solidFill>
                  <a:srgbClr val="C2CDD6"/>
                </a:solidFill>
                <a:latin typeface="Malgun Gothic"/>
                <a:ea typeface="Malgun Gothic"/>
                <a:cs typeface="Malgun Gothic"/>
              </a:rPr>
              <a:t>DNA Replication and Repair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반보존적 복제의 분자 기계(헬리케이스, 프라이메이스, 중합효소 α·δ·ε, PCNA, 리가아제)를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복제 개시 인허가(ORC–MCM)와 재복제 방지, 텔로미어·텔로머레이스를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DNA 손상의 종류와 6대 수선 경로(직접 역전, BER, NER, MMR, HR, NHEJ)를 비교한다.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수선 결함 증후군과 유전성 암(린치, BRCA, 색소성 건피증)을 연결한다.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PARP 억제제의 합성치사, 면역관문억제제와 MSI-H의 관계를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복제의 기본 원리</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복제 개시와 텔로미어</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DNA 손상의 종류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단일가닥 손상 수선: 직접 역전, BER, NER</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불일치 수선(MMR)과 린치 증후군</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이중가닥 절단 수선: HR과 NHEJ</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합성치사와 DNA 손상 반응 표적치료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복제의 기본 원리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반보존적 복제</a:t>
            </a:r>
            <a:r>
              <a:rPr sz="2000" b="0" i="0">
                <a:solidFill>
                  <a:srgbClr val="11202B"/>
                </a:solidFill>
                <a:latin typeface="Malgun Gothic"/>
                <a:ea typeface="Malgun Gothic"/>
                <a:cs typeface="Malgun Gothic"/>
              </a:rPr>
              <a:t>(Meselson–Stahl): 각 딸 이중나선은 부모 가닥 하나와 새 가닥 하나.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DNA 중합효소는 5'→3' 방향으로만 합성하며 3'-OH 프라이머가 필요 → </a:t>
            </a:r>
            <a:r>
              <a:rPr sz="2000" b="1" i="0">
                <a:solidFill>
                  <a:srgbClr val="11202B"/>
                </a:solidFill>
                <a:latin typeface="Malgun Gothic"/>
                <a:ea typeface="Malgun Gothic"/>
                <a:cs typeface="Malgun Gothic"/>
              </a:rPr>
              <a:t>선도가닥</a:t>
            </a:r>
            <a:r>
              <a:rPr sz="2000" b="0" i="0">
                <a:solidFill>
                  <a:srgbClr val="11202B"/>
                </a:solidFill>
                <a:latin typeface="Malgun Gothic"/>
                <a:ea typeface="Malgun Gothic"/>
                <a:cs typeface="Malgun Gothic"/>
              </a:rPr>
              <a:t>(연속)과 </a:t>
            </a:r>
            <a:r>
              <a:rPr sz="2000" b="1" i="0">
                <a:solidFill>
                  <a:srgbClr val="11202B"/>
                </a:solidFill>
                <a:latin typeface="Malgun Gothic"/>
                <a:ea typeface="Malgun Gothic"/>
                <a:cs typeface="Malgun Gothic"/>
              </a:rPr>
              <a:t>지연가닥</a:t>
            </a:r>
            <a:r>
              <a:rPr sz="2000" b="0" i="0">
                <a:solidFill>
                  <a:srgbClr val="11202B"/>
                </a:solidFill>
                <a:latin typeface="Malgun Gothic"/>
                <a:ea typeface="Malgun Gothic"/>
                <a:cs typeface="Malgun Gothic"/>
              </a:rPr>
              <a:t>(오카자키 절편, 진핵 100–200 nt).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진핵 복제 기계:</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CMG 헬리케이스</a:t>
            </a:r>
            <a:r>
              <a:rPr sz="1800" b="0" i="0">
                <a:solidFill>
                  <a:srgbClr val="2E3F4C"/>
                </a:solidFill>
                <a:latin typeface="Malgun Gothic"/>
                <a:ea typeface="Malgun Gothic"/>
                <a:cs typeface="Malgun Gothic"/>
              </a:rPr>
              <a:t>(Cdc45–MCM2-7–GINS): 3'→5' 방향으로 선도가닥 위에서 이중나선을 푼다.</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RPA</a:t>
            </a:r>
            <a:r>
              <a:rPr sz="1800" b="0" i="0">
                <a:solidFill>
                  <a:srgbClr val="2E3F4C"/>
                </a:solidFill>
                <a:latin typeface="Malgun Gothic"/>
                <a:ea typeface="Malgun Gothic"/>
                <a:cs typeface="Malgun Gothic"/>
              </a:rPr>
              <a:t>: 단일가닥 보호. </a:t>
            </a:r>
            <a:r>
              <a:rPr sz="1800" b="1" i="0">
                <a:solidFill>
                  <a:srgbClr val="2E3F4C"/>
                </a:solidFill>
                <a:latin typeface="Malgun Gothic"/>
                <a:ea typeface="Malgun Gothic"/>
                <a:cs typeface="Malgun Gothic"/>
              </a:rPr>
              <a:t>토포아이소머레이스 I/II</a:t>
            </a:r>
            <a:r>
              <a:rPr sz="1800" b="0" i="0">
                <a:solidFill>
                  <a:srgbClr val="2E3F4C"/>
                </a:solidFill>
                <a:latin typeface="Malgun Gothic"/>
                <a:ea typeface="Malgun Gothic"/>
                <a:cs typeface="Malgun Gothic"/>
              </a:rPr>
              <a:t>: 앞쪽 초나선 해소.</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Pol α–프라이메이스</a:t>
            </a:r>
            <a:r>
              <a:rPr sz="1800" b="0" i="0">
                <a:solidFill>
                  <a:srgbClr val="2E3F4C"/>
                </a:solidFill>
                <a:latin typeface="Malgun Gothic"/>
                <a:ea typeface="Malgun Gothic"/>
                <a:cs typeface="Malgun Gothic"/>
              </a:rPr>
              <a:t>: RNA–DNA 프라이머.</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Pol ε</a:t>
            </a:r>
            <a:r>
              <a:rPr sz="1800" b="0" i="0">
                <a:solidFill>
                  <a:srgbClr val="2E3F4C"/>
                </a:solidFill>
                <a:latin typeface="Malgun Gothic"/>
                <a:ea typeface="Malgun Gothic"/>
                <a:cs typeface="Malgun Gothic"/>
              </a:rPr>
              <a:t>(선도가닥), </a:t>
            </a:r>
            <a:r>
              <a:rPr sz="1800" b="1" i="0">
                <a:solidFill>
                  <a:srgbClr val="2E3F4C"/>
                </a:solidFill>
                <a:latin typeface="Malgun Gothic"/>
                <a:ea typeface="Malgun Gothic"/>
                <a:cs typeface="Malgun Gothic"/>
              </a:rPr>
              <a:t>Pol δ</a:t>
            </a:r>
            <a:r>
              <a:rPr sz="1800" b="0" i="0">
                <a:solidFill>
                  <a:srgbClr val="2E3F4C"/>
                </a:solidFill>
                <a:latin typeface="Malgun Gothic"/>
                <a:ea typeface="Malgun Gothic"/>
                <a:cs typeface="Malgun Gothic"/>
              </a:rPr>
              <a:t>(지연가닥): 고정확도, 3'→5' 교정(엑소뉴클레이스).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복제의 기본 원리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1" i="0">
                <a:solidFill>
                  <a:srgbClr val="2E3F4C"/>
                </a:solidFill>
                <a:latin typeface="Malgun Gothic"/>
                <a:ea typeface="Malgun Gothic"/>
                <a:cs typeface="Malgun Gothic"/>
              </a:rPr>
              <a:t>PCNA</a:t>
            </a:r>
            <a:r>
              <a:rPr sz="2000" b="0" i="0">
                <a:solidFill>
                  <a:srgbClr val="2E3F4C"/>
                </a:solidFill>
                <a:latin typeface="Malgun Gothic"/>
                <a:ea typeface="Malgun Gothic"/>
                <a:cs typeface="Malgun Gothic"/>
              </a:rPr>
              <a:t>(슬라이딩 클램프; RFC가 장착): 지속성(processivity) 증가, 수선 단백질의 플랫폼.</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FEN1·RNase H2: 프라이머 제거, </a:t>
            </a:r>
            <a:r>
              <a:rPr sz="2000" b="1" i="0">
                <a:solidFill>
                  <a:srgbClr val="2E3F4C"/>
                </a:solidFill>
                <a:latin typeface="Malgun Gothic"/>
                <a:ea typeface="Malgun Gothic"/>
                <a:cs typeface="Malgun Gothic"/>
              </a:rPr>
              <a:t>DNA 리가아제 I</a:t>
            </a:r>
            <a:r>
              <a:rPr sz="2000" b="0" i="0">
                <a:solidFill>
                  <a:srgbClr val="2E3F4C"/>
                </a:solidFill>
                <a:latin typeface="Malgun Gothic"/>
                <a:ea typeface="Malgun Gothic"/>
                <a:cs typeface="Malgun Gothic"/>
              </a:rPr>
              <a:t>: 절편 연결.</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정확도: 염기쌍 선택(10⁻⁴–10⁻⁵) × 교정(10⁻²) × 불일치 수선(10⁻²–10⁻³) ≈ </a:t>
            </a:r>
            <a:r>
              <a:rPr sz="2200" b="1" i="0">
                <a:solidFill>
                  <a:srgbClr val="11202B"/>
                </a:solidFill>
                <a:latin typeface="Malgun Gothic"/>
                <a:ea typeface="Malgun Gothic"/>
                <a:cs typeface="Malgun Gothic"/>
              </a:rPr>
              <a:t>10⁻⁹–10⁻¹⁰/염기/분열</a:t>
            </a:r>
            <a:r>
              <a:rPr sz="2200" b="0" i="0">
                <a:solidFill>
                  <a:srgbClr val="11202B"/>
                </a:solidFill>
                <a:latin typeface="Malgun Gothic"/>
                <a:ea typeface="Malgun Gothic"/>
                <a:cs typeface="Malgun Gothic"/>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복제의 기본 원리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6</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토포아이소머레이스는 항암·항균 약물의 주요 표적이다: 이리노테칸·토포테칸(Top I), 에토포사이드·독소루비신(Top II; 이차성 백혈병 KMT2A 전위), 플루오로퀴놀론(세균 DNA 자이레이스·Top IV). 이들은 효소–DNA 절단 복합체를 '고정'해 DNA 절단을 만든다.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복제 개시와 텔로미어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인허가(licensing)</a:t>
            </a:r>
            <a:r>
              <a:rPr sz="1800" b="0" i="0">
                <a:solidFill>
                  <a:srgbClr val="11202B"/>
                </a:solidFill>
                <a:latin typeface="Malgun Gothic"/>
                <a:ea typeface="Malgun Gothic"/>
                <a:cs typeface="Malgun Gothic"/>
              </a:rPr>
              <a:t>: G1기에 ORC → Cdc6·Cdt1 → MCM 이중 육량체 장착(불활성). S기에 CDK·DDK(Cdc7–Dbf4)가 활성화 → CMG 형성 → 발화.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재복제 방지</a:t>
            </a:r>
            <a:r>
              <a:rPr sz="1800" b="0" i="0">
                <a:solidFill>
                  <a:srgbClr val="11202B"/>
                </a:solidFill>
                <a:latin typeface="Malgun Gothic"/>
                <a:ea typeface="Malgun Gothic"/>
                <a:cs typeface="Malgun Gothic"/>
              </a:rPr>
              <a:t>: S기 이후 CDK 활성이 Cdc6·Cdt1을 분해·억제하고 </a:t>
            </a:r>
            <a:r>
              <a:rPr sz="1800" b="1" i="0">
                <a:solidFill>
                  <a:srgbClr val="11202B"/>
                </a:solidFill>
                <a:latin typeface="Malgun Gothic"/>
                <a:ea typeface="Malgun Gothic"/>
                <a:cs typeface="Malgun Gothic"/>
              </a:rPr>
              <a:t>제미닌</a:t>
            </a:r>
            <a:r>
              <a:rPr sz="1800" b="0" i="0">
                <a:solidFill>
                  <a:srgbClr val="11202B"/>
                </a:solidFill>
                <a:latin typeface="Malgun Gothic"/>
                <a:ea typeface="Malgun Gothic"/>
                <a:cs typeface="Malgun Gothic"/>
              </a:rPr>
              <a:t>이 Cdt1을 격리 → 주기당 한 번만 복제. 실패 시 유전체 불안정.</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인간 유전체에는 약 3–5만 개의 복제 기점이 있고, S기 동안 시간 순서대로 발화(초기 복제: 활성 유전정보 영역, 후기: 이질염색질).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말단 복제 문제</a:t>
            </a:r>
            <a:r>
              <a:rPr sz="1800" b="0" i="0">
                <a:solidFill>
                  <a:srgbClr val="11202B"/>
                </a:solidFill>
                <a:latin typeface="Malgun Gothic"/>
                <a:ea typeface="Malgun Gothic"/>
                <a:cs typeface="Malgun Gothic"/>
              </a:rPr>
              <a:t>: 지연가닥 마지막 프라이머 자리는 채워지지 않아 분열마다 50–200 bp 단축.</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텔로미어</a:t>
            </a:r>
            <a:r>
              <a:rPr sz="1800" b="0" i="0">
                <a:solidFill>
                  <a:srgbClr val="11202B"/>
                </a:solidFill>
                <a:latin typeface="Malgun Gothic"/>
                <a:ea typeface="Malgun Gothic"/>
                <a:cs typeface="Malgun Gothic"/>
              </a:rPr>
              <a:t>: TTAGGG 반복(인간 5–15 kb) + </a:t>
            </a:r>
            <a:r>
              <a:rPr sz="1800" b="1" i="0">
                <a:solidFill>
                  <a:srgbClr val="11202B"/>
                </a:solidFill>
                <a:latin typeface="Malgun Gothic"/>
                <a:ea typeface="Malgun Gothic"/>
                <a:cs typeface="Malgun Gothic"/>
              </a:rPr>
              <a:t>셸터린</a:t>
            </a:r>
            <a:r>
              <a:rPr sz="1800" b="0" i="0">
                <a:solidFill>
                  <a:srgbClr val="11202B"/>
                </a:solidFill>
                <a:latin typeface="Malgun Gothic"/>
                <a:ea typeface="Malgun Gothic"/>
                <a:cs typeface="Malgun Gothic"/>
              </a:rPr>
              <a:t>(TRF1, TRF2, POT1…)이 말단을 DSB로 인식되지 않게 T-루프로 보호.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복제 개시와 텔로미어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텔로머레이스</a:t>
            </a:r>
            <a:r>
              <a:rPr sz="2200" b="0" i="0">
                <a:solidFill>
                  <a:srgbClr val="11202B"/>
                </a:solidFill>
                <a:latin typeface="Malgun Gothic"/>
                <a:ea typeface="Malgun Gothic"/>
                <a:cs typeface="Malgun Gothic"/>
              </a:rPr>
              <a:t>: TERT(역전사효소) + TERC(RNA 주형). 생식세포·줄기세포·암세포(약 85–90%; TERT 프로모터 변이: 교모세포종, 흑색종, 방광암)에서 활성. 나머지 암은 ALT(재조합 기반; ATRX/DAXX 결손).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복제 개시와 텔로미어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9</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텔로미어 생물학 장애</a:t>
            </a:r>
            <a:r>
              <a:rPr sz="2000" b="0" i="0">
                <a:solidFill>
                  <a:srgbClr val="11202B"/>
                </a:solidFill>
                <a:latin typeface="Malgun Gothic"/>
                <a:ea typeface="Malgun Gothic"/>
                <a:cs typeface="Malgun Gothic"/>
              </a:rPr>
              <a:t>(선천성 각화부전증 DKC1, TERT, TERC, TINF2): 손톱 이영양, 망상 색소침착, 구강 백반증의 3징 + 골수부전, 폐섬유증, 간질환. 짧은 텔로미어는 성인 특발성 폐섬유증의 위험인자이며, 유세포-FISH 텔로미어 길이 측정으로 선별한다. 안티시페이션(세대마다 텔로미어가 짧아져 더 일찍 발병) 현상이 나타난다.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DNA 손상의 종류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방사선 피폭 생물학적 선량 평가(세포유전학적 선량측정)는 이중중심 염색체 빈도를 이용한다.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DNA 손상의 종류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손상</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원인</a:t>
                      </a:r>
                    </a:p>
                  </a:txBody>
                  <a:tcPr marL="73152" marR="73152">
                    <a:solidFill>
                      <a:srgbClr val="003C71"/>
                    </a:solidFill>
                  </a:tcPr>
                </a:tc>
                <a:tc>
                  <a:txBody>
                    <a:bodyPr/>
                    <a:lstStyle/>
                    <a:p>
                      <a:r>
                        <a:rPr sz="1500" b="1" i="0">
                          <a:solidFill>
                            <a:srgbClr val="FFFFFF"/>
                          </a:solidFill>
                          <a:latin typeface="Malgun Gothic"/>
                          <a:ea typeface="Malgun Gothic"/>
                          <a:cs typeface="Malgun Gothic"/>
                        </a:rPr>
                        <a:t>수선 경로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탈퓨린화(AP 자리)</a:t>
                      </a:r>
                    </a:p>
                  </a:txBody>
                  <a:tcPr marL="73152" marR="73152">
                    <a:solidFill>
                      <a:srgbClr val="FFFFFF"/>
                    </a:solidFill>
                  </a:tcPr>
                </a:tc>
                <a:tc>
                  <a:txBody>
                    <a:bodyPr/>
                    <a:lstStyle/>
                    <a:p>
                      <a:r>
                        <a:rPr sz="1500" b="0" i="0">
                          <a:solidFill>
                            <a:srgbClr val="11202B"/>
                          </a:solidFill>
                          <a:latin typeface="Malgun Gothic"/>
                          <a:ea typeface="Malgun Gothic"/>
                          <a:cs typeface="Malgun Gothic"/>
                        </a:rPr>
                        <a:t>자발적 가수분해(세포당 하루 ~10,000)</a:t>
                      </a:r>
                    </a:p>
                  </a:txBody>
                  <a:tcPr marL="73152" marR="73152">
                    <a:solidFill>
                      <a:srgbClr val="FFFFFF"/>
                    </a:solidFill>
                  </a:tcPr>
                </a:tc>
                <a:tc>
                  <a:txBody>
                    <a:bodyPr/>
                    <a:lstStyle/>
                    <a:p>
                      <a:r>
                        <a:rPr sz="1500" b="0" i="0">
                          <a:solidFill>
                            <a:srgbClr val="11202B"/>
                          </a:solidFill>
                          <a:latin typeface="Malgun Gothic"/>
                          <a:ea typeface="Malgun Gothic"/>
                          <a:cs typeface="Malgun Gothic"/>
                        </a:rPr>
                        <a:t>BER</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시토신 탈아미노화 → 우라실</a:t>
                      </a:r>
                    </a:p>
                  </a:txBody>
                  <a:tcPr marL="73152" marR="73152">
                    <a:solidFill>
                      <a:srgbClr val="ECF1F5"/>
                    </a:solidFill>
                  </a:tcPr>
                </a:tc>
                <a:tc>
                  <a:txBody>
                    <a:bodyPr/>
                    <a:lstStyle/>
                    <a:p>
                      <a:r>
                        <a:rPr sz="1500" b="0" i="0">
                          <a:solidFill>
                            <a:srgbClr val="11202B"/>
                          </a:solidFill>
                          <a:latin typeface="Malgun Gothic"/>
                          <a:ea typeface="Malgun Gothic"/>
                          <a:cs typeface="Malgun Gothic"/>
                        </a:rPr>
                        <a:t>자발적, APOBEC</a:t>
                      </a:r>
                    </a:p>
                  </a:txBody>
                  <a:tcPr marL="73152" marR="73152">
                    <a:solidFill>
                      <a:srgbClr val="ECF1F5"/>
                    </a:solidFill>
                  </a:tcPr>
                </a:tc>
                <a:tc>
                  <a:txBody>
                    <a:bodyPr/>
                    <a:lstStyle/>
                    <a:p>
                      <a:r>
                        <a:rPr sz="1500" b="0" i="0">
                          <a:solidFill>
                            <a:srgbClr val="11202B"/>
                          </a:solidFill>
                          <a:latin typeface="Malgun Gothic"/>
                          <a:ea typeface="Malgun Gothic"/>
                          <a:cs typeface="Malgun Gothic"/>
                        </a:rPr>
                        <a:t>BER (UNG)</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5-메틸시토신 탈아미노 → 티민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자발적 (CpG 돌연변이 핫스팟)</a:t>
                      </a:r>
                    </a:p>
                  </a:txBody>
                  <a:tcPr marL="73152" marR="73152">
                    <a:solidFill>
                      <a:srgbClr val="FFFFFF"/>
                    </a:solidFill>
                  </a:tcPr>
                </a:tc>
                <a:tc>
                  <a:txBody>
                    <a:bodyPr/>
                    <a:lstStyle/>
                    <a:p>
                      <a:r>
                        <a:rPr sz="1500" b="0" i="0">
                          <a:solidFill>
                            <a:srgbClr val="11202B"/>
                          </a:solidFill>
                          <a:latin typeface="Malgun Gothic"/>
                          <a:ea typeface="Malgun Gothic"/>
                          <a:cs typeface="Malgun Gothic"/>
                        </a:rPr>
                        <a:t>BER (TDG, MBD4)</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산화 손상 8-oxoG</a:t>
                      </a:r>
                    </a:p>
                  </a:txBody>
                  <a:tcPr marL="73152" marR="73152">
                    <a:solidFill>
                      <a:srgbClr val="ECF1F5"/>
                    </a:solidFill>
                  </a:tcPr>
                </a:tc>
                <a:tc>
                  <a:txBody>
                    <a:bodyPr/>
                    <a:lstStyle/>
                    <a:p>
                      <a:r>
                        <a:rPr sz="1500" b="0" i="0">
                          <a:solidFill>
                            <a:srgbClr val="11202B"/>
                          </a:solidFill>
                          <a:latin typeface="Malgun Gothic"/>
                          <a:ea typeface="Malgun Gothic"/>
                          <a:cs typeface="Malgun Gothic"/>
                        </a:rPr>
                        <a:t>활성산소 → G:C→T:A 전환</a:t>
                      </a:r>
                    </a:p>
                  </a:txBody>
                  <a:tcPr marL="73152" marR="73152">
                    <a:solidFill>
                      <a:srgbClr val="ECF1F5"/>
                    </a:solidFill>
                  </a:tcPr>
                </a:tc>
                <a:tc>
                  <a:txBody>
                    <a:bodyPr/>
                    <a:lstStyle/>
                    <a:p>
                      <a:r>
                        <a:rPr sz="1500" b="0" i="0">
                          <a:solidFill>
                            <a:srgbClr val="11202B"/>
                          </a:solidFill>
                          <a:latin typeface="Malgun Gothic"/>
                          <a:ea typeface="Malgun Gothic"/>
                          <a:cs typeface="Malgun Gothic"/>
                        </a:rPr>
                        <a:t>BER (OGG1, MUTYH)</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알킬화 O⁶-메틸구아닌</a:t>
                      </a:r>
                    </a:p>
                  </a:txBody>
                  <a:tcPr marL="73152" marR="73152">
                    <a:solidFill>
                      <a:srgbClr val="FFFFFF"/>
                    </a:solidFill>
                  </a:tcPr>
                </a:tc>
                <a:tc>
                  <a:txBody>
                    <a:bodyPr/>
                    <a:lstStyle/>
                    <a:p>
                      <a:r>
                        <a:rPr sz="1500" b="0" i="0">
                          <a:solidFill>
                            <a:srgbClr val="11202B"/>
                          </a:solidFill>
                          <a:latin typeface="Malgun Gothic"/>
                          <a:ea typeface="Malgun Gothic"/>
                          <a:cs typeface="Malgun Gothic"/>
                        </a:rPr>
                        <a:t>테모졸로마이드, 니트로소아민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직접 역전(MGMT)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피리미딘 이량체, 6-4 광산물</a:t>
                      </a:r>
                    </a:p>
                  </a:txBody>
                  <a:tcPr marL="73152" marR="73152">
                    <a:solidFill>
                      <a:srgbClr val="ECF1F5"/>
                    </a:solidFill>
                  </a:tcPr>
                </a:tc>
                <a:tc>
                  <a:txBody>
                    <a:bodyPr/>
                    <a:lstStyle/>
                    <a:p>
                      <a:r>
                        <a:rPr sz="1500" b="0" i="0">
                          <a:solidFill>
                            <a:srgbClr val="11202B"/>
                          </a:solidFill>
                          <a:latin typeface="Malgun Gothic"/>
                          <a:ea typeface="Malgun Gothic"/>
                          <a:cs typeface="Malgun Gothic"/>
                        </a:rPr>
                        <a:t>UV-B</a:t>
                      </a:r>
                    </a:p>
                  </a:txBody>
                  <a:tcPr marL="73152" marR="73152">
                    <a:solidFill>
                      <a:srgbClr val="ECF1F5"/>
                    </a:solidFill>
                  </a:tcPr>
                </a:tc>
                <a:tc>
                  <a:txBody>
                    <a:bodyPr/>
                    <a:lstStyle/>
                    <a:p>
                      <a:r>
                        <a:rPr sz="1500" b="0" i="0">
                          <a:solidFill>
                            <a:srgbClr val="11202B"/>
                          </a:solidFill>
                          <a:latin typeface="Malgun Gothic"/>
                          <a:ea typeface="Malgun Gothic"/>
                          <a:cs typeface="Malgun Gothic"/>
                        </a:rPr>
                        <a:t>NER</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부피 큰 부가물</a:t>
                      </a:r>
                    </a:p>
                  </a:txBody>
                  <a:tcPr marL="73152" marR="73152">
                    <a:solidFill>
                      <a:srgbClr val="FFFFFF"/>
                    </a:solidFill>
                  </a:tcPr>
                </a:tc>
                <a:tc>
                  <a:txBody>
                    <a:bodyPr/>
                    <a:lstStyle/>
                    <a:p>
                      <a:r>
                        <a:rPr sz="1500" b="0" i="0">
                          <a:solidFill>
                            <a:srgbClr val="11202B"/>
                          </a:solidFill>
                          <a:latin typeface="Malgun Gothic"/>
                          <a:ea typeface="Malgun Gothic"/>
                          <a:cs typeface="Malgun Gothic"/>
                        </a:rPr>
                        <a:t>벤조피렌(흡연), 아플라톡신(TP53 R249S 간암), 시스플라틴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NER (+ ICL 수선)</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염기 불일치·삽입/결실 루프</a:t>
                      </a:r>
                    </a:p>
                  </a:txBody>
                  <a:tcPr marL="73152" marR="73152">
                    <a:solidFill>
                      <a:srgbClr val="ECF1F5"/>
                    </a:solidFill>
                  </a:tcPr>
                </a:tc>
                <a:tc>
                  <a:txBody>
                    <a:bodyPr/>
                    <a:lstStyle/>
                    <a:p>
                      <a:r>
                        <a:rPr sz="1500" b="0" i="0">
                          <a:solidFill>
                            <a:srgbClr val="11202B"/>
                          </a:solidFill>
                          <a:latin typeface="Malgun Gothic"/>
                          <a:ea typeface="Malgun Gothic"/>
                          <a:cs typeface="Malgun Gothic"/>
                        </a:rPr>
                        <a:t>복제 오류</a:t>
                      </a:r>
                    </a:p>
                  </a:txBody>
                  <a:tcPr marL="73152" marR="73152">
                    <a:solidFill>
                      <a:srgbClr val="ECF1F5"/>
                    </a:solidFill>
                  </a:tcPr>
                </a:tc>
                <a:tc>
                  <a:txBody>
                    <a:bodyPr/>
                    <a:lstStyle/>
                    <a:p>
                      <a:r>
                        <a:rPr sz="1500" b="0" i="0">
                          <a:solidFill>
                            <a:srgbClr val="11202B"/>
                          </a:solidFill>
                          <a:latin typeface="Malgun Gothic"/>
                          <a:ea typeface="Malgun Gothic"/>
                          <a:cs typeface="Malgun Gothic"/>
                        </a:rPr>
                        <a:t>MMR</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DNA 손상의 종류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손상</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원인</a:t>
                      </a:r>
                    </a:p>
                  </a:txBody>
                  <a:tcPr marL="73152" marR="73152">
                    <a:solidFill>
                      <a:srgbClr val="003C71"/>
                    </a:solidFill>
                  </a:tcPr>
                </a:tc>
                <a:tc>
                  <a:txBody>
                    <a:bodyPr/>
                    <a:lstStyle/>
                    <a:p>
                      <a:r>
                        <a:rPr sz="1500" b="1" i="0">
                          <a:solidFill>
                            <a:srgbClr val="FFFFFF"/>
                          </a:solidFill>
                          <a:latin typeface="Malgun Gothic"/>
                          <a:ea typeface="Malgun Gothic"/>
                          <a:cs typeface="Malgun Gothic"/>
                        </a:rPr>
                        <a:t>수선 경로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가닥간 교차결합(ICL)</a:t>
                      </a:r>
                    </a:p>
                  </a:txBody>
                  <a:tcPr marL="73152" marR="73152">
                    <a:solidFill>
                      <a:srgbClr val="FFFFFF"/>
                    </a:solidFill>
                  </a:tcPr>
                </a:tc>
                <a:tc>
                  <a:txBody>
                    <a:bodyPr/>
                    <a:lstStyle/>
                    <a:p>
                      <a:r>
                        <a:rPr sz="1500" b="0" i="0">
                          <a:solidFill>
                            <a:srgbClr val="11202B"/>
                          </a:solidFill>
                          <a:latin typeface="Malgun Gothic"/>
                          <a:ea typeface="Malgun Gothic"/>
                          <a:cs typeface="Malgun Gothic"/>
                        </a:rPr>
                        <a:t>시스플라틴, 미토마이신 C, 알데하이드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판코니빈혈 경로 + HR</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이중가닥 절단(DSB)</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전리방사선, 복제 분기점 붕괴, Top II 독</a:t>
                      </a:r>
                    </a:p>
                  </a:txBody>
                  <a:tcPr marL="73152" marR="73152">
                    <a:solidFill>
                      <a:srgbClr val="ECF1F5"/>
                    </a:solidFill>
                  </a:tcPr>
                </a:tc>
                <a:tc>
                  <a:txBody>
                    <a:bodyPr/>
                    <a:lstStyle/>
                    <a:p>
                      <a:r>
                        <a:rPr sz="1500" b="0" i="0">
                          <a:solidFill>
                            <a:srgbClr val="11202B"/>
                          </a:solidFill>
                          <a:latin typeface="Malgun Gothic"/>
                          <a:ea typeface="Malgun Gothic"/>
                          <a:cs typeface="Malgun Gothic"/>
                        </a:rPr>
                        <a:t>HR, NHEJ</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단일가닥 손상 수선: 직접 역전, BER, NER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직접 역전</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MGMT</a:t>
            </a:r>
            <a:r>
              <a:rPr sz="1800" b="0" i="0">
                <a:solidFill>
                  <a:srgbClr val="11202B"/>
                </a:solidFill>
                <a:latin typeface="Malgun Gothic"/>
                <a:ea typeface="Malgun Gothic"/>
                <a:cs typeface="Malgun Gothic"/>
              </a:rPr>
              <a:t>가 O⁶-메틸구아닌의 메틸을 자기 시스테인으로 옮기고 소모된다(자살 효소). ALKBH 계열은 산화적 탈메틸.</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교모세포종에서 MGMT 프로모터 메틸화(발현 저하) → 테모졸로마이드 반응성↑, 생존↑ (예측 바이오마커).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염기절제수선(BER)</a:t>
            </a:r>
            <a:r>
              <a:rPr sz="1800" b="0" i="0">
                <a:solidFill>
                  <a:srgbClr val="11202B"/>
                </a:solidFill>
                <a:latin typeface="Malgun Gothic"/>
                <a:ea typeface="Malgun Gothic"/>
                <a:cs typeface="Malgun Gothic"/>
              </a:rPr>
              <a:t>: DNA 글리코실레이스가 손상 염기 제거 → AP 자리 → APE1 절단 → Pol β 채움(단일 뉴클레오타이드) → XRCC1–리가아제 III. PARP1이 단일가닥 절단을 감지해 PAR 사슬로 수선 단백질 소집.</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MUTYH 관련 용종증(MAP; 상염색체 </a:t>
            </a:r>
            <a:r>
              <a:rPr sz="1600" b="1" i="0">
                <a:solidFill>
                  <a:srgbClr val="2E3F4C"/>
                </a:solidFill>
                <a:latin typeface="Malgun Gothic"/>
                <a:ea typeface="Malgun Gothic"/>
                <a:cs typeface="Malgun Gothic"/>
              </a:rPr>
              <a:t>열성</a:t>
            </a:r>
            <a:r>
              <a:rPr sz="1600" b="0" i="0">
                <a:solidFill>
                  <a:srgbClr val="2E3F4C"/>
                </a:solidFill>
                <a:latin typeface="Malgun Gothic"/>
                <a:ea typeface="Malgun Gothic"/>
                <a:cs typeface="Malgun Gothic"/>
              </a:rPr>
              <a:t>): 8-oxoG 맞은편 A를 제거하지 못해 G:C→T:A 체세포 변이 축적 → 대장 선종 수십~수백 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단일가닥 손상 수선: 직접 역전, BER, NER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뉴클레오타이드절제수선(NER)</a:t>
            </a:r>
            <a:r>
              <a:rPr sz="2200" b="0" i="0">
                <a:solidFill>
                  <a:srgbClr val="11202B"/>
                </a:solidFill>
                <a:latin typeface="Malgun Gothic"/>
                <a:ea typeface="Malgun Gothic"/>
                <a:cs typeface="Malgun Gothic"/>
              </a:rPr>
              <a:t>: 이중나선 왜곡 인식 → TFIIH(XPB·XPD 헬리케이스)가 풀고 → XPG(3')·XPF–ERCC1(5')이 24–32 nt 절제 → Pol δ/ε 채움.</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전체 유전체 NER(GG-NER; XPC가 인식) vs 전사 연계 NER(TC-NER; 정지된 RNA Pol II를 CSA·CSB가 인식).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단일가닥 손상 수선: 직접 역전, BER, NER</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결손</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색소성 건피증(XP)</a:t>
                      </a:r>
                    </a:p>
                  </a:txBody>
                  <a:tcPr marL="73152" marR="73152">
                    <a:solidFill>
                      <a:srgbClr val="FFFFFF"/>
                    </a:solidFill>
                  </a:tcPr>
                </a:tc>
                <a:tc>
                  <a:txBody>
                    <a:bodyPr/>
                    <a:lstStyle/>
                    <a:p>
                      <a:r>
                        <a:rPr sz="1500" b="0" i="0">
                          <a:solidFill>
                            <a:srgbClr val="11202B"/>
                          </a:solidFill>
                          <a:latin typeface="Malgun Gothic"/>
                          <a:ea typeface="Malgun Gothic"/>
                          <a:cs typeface="Malgun Gothic"/>
                        </a:rPr>
                        <a:t>GG-NER/전체 NER (XPA–XPG), XPV(Pol η 손상우회)</a:t>
                      </a:r>
                    </a:p>
                  </a:txBody>
                  <a:tcPr marL="73152" marR="73152">
                    <a:solidFill>
                      <a:srgbClr val="FFFFFF"/>
                    </a:solidFill>
                  </a:tcPr>
                </a:tc>
                <a:tc>
                  <a:txBody>
                    <a:bodyPr/>
                    <a:lstStyle/>
                    <a:p>
                      <a:r>
                        <a:rPr sz="1500" b="0" i="0">
                          <a:solidFill>
                            <a:srgbClr val="11202B"/>
                          </a:solidFill>
                          <a:latin typeface="Malgun Gothic"/>
                          <a:ea typeface="Malgun Gothic"/>
                          <a:cs typeface="Malgun Gothic"/>
                        </a:rPr>
                        <a:t>극심한 광과민, 주근깨, 피부암 위험 1000–10,000배(20세 전 발병), 일부 신경퇴행</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코케인 증후군</a:t>
                      </a:r>
                    </a:p>
                  </a:txBody>
                  <a:tcPr marL="73152" marR="73152">
                    <a:solidFill>
                      <a:srgbClr val="ECF1F5"/>
                    </a:solidFill>
                  </a:tcPr>
                </a:tc>
                <a:tc>
                  <a:txBody>
                    <a:bodyPr/>
                    <a:lstStyle/>
                    <a:p>
                      <a:r>
                        <a:rPr sz="1500" b="0" i="0">
                          <a:solidFill>
                            <a:srgbClr val="11202B"/>
                          </a:solidFill>
                          <a:latin typeface="Malgun Gothic"/>
                          <a:ea typeface="Malgun Gothic"/>
                          <a:cs typeface="Malgun Gothic"/>
                        </a:rPr>
                        <a:t>TC-NER (CSA, CSB)</a:t>
                      </a:r>
                    </a:p>
                  </a:txBody>
                  <a:tcPr marL="73152" marR="73152">
                    <a:solidFill>
                      <a:srgbClr val="ECF1F5"/>
                    </a:solidFill>
                  </a:tcPr>
                </a:tc>
                <a:tc>
                  <a:txBody>
                    <a:bodyPr/>
                    <a:lstStyle/>
                    <a:p>
                      <a:r>
                        <a:rPr sz="1500" b="0" i="0">
                          <a:solidFill>
                            <a:srgbClr val="11202B"/>
                          </a:solidFill>
                          <a:latin typeface="Malgun Gothic"/>
                          <a:ea typeface="Malgun Gothic"/>
                          <a:cs typeface="Malgun Gothic"/>
                        </a:rPr>
                        <a:t>광과민이지만 </a:t>
                      </a:r>
                      <a:r>
                        <a:rPr sz="1500" b="1" i="0">
                          <a:solidFill>
                            <a:srgbClr val="11202B"/>
                          </a:solidFill>
                          <a:latin typeface="Malgun Gothic"/>
                          <a:ea typeface="Malgun Gothic"/>
                          <a:cs typeface="Malgun Gothic"/>
                        </a:rPr>
                        <a:t>피부암 증가 없음</a:t>
                      </a:r>
                      <a:r>
                        <a:rPr sz="1500" b="0" i="0">
                          <a:solidFill>
                            <a:srgbClr val="11202B"/>
                          </a:solidFill>
                          <a:latin typeface="Malgun Gothic"/>
                          <a:ea typeface="Malgun Gothic"/>
                          <a:cs typeface="Malgun Gothic"/>
                        </a:rPr>
                        <a:t>, 저성장, 조로, 탈수초·석회화, 우묵한 눈</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삼유모이영양증(TTD)</a:t>
                      </a:r>
                    </a:p>
                  </a:txBody>
                  <a:tcPr marL="73152" marR="73152">
                    <a:solidFill>
                      <a:srgbClr val="FFFFFF"/>
                    </a:solidFill>
                  </a:tcPr>
                </a:tc>
                <a:tc>
                  <a:txBody>
                    <a:bodyPr/>
                    <a:lstStyle/>
                    <a:p>
                      <a:r>
                        <a:rPr sz="1500" b="0" i="0">
                          <a:solidFill>
                            <a:srgbClr val="11202B"/>
                          </a:solidFill>
                          <a:latin typeface="Malgun Gothic"/>
                          <a:ea typeface="Malgun Gothic"/>
                          <a:cs typeface="Malgun Gothic"/>
                        </a:rPr>
                        <a:t>XPD 등</a:t>
                      </a:r>
                    </a:p>
                  </a:txBody>
                  <a:tcPr marL="73152" marR="73152">
                    <a:solidFill>
                      <a:srgbClr val="FFFFFF"/>
                    </a:solidFill>
                  </a:tcPr>
                </a:tc>
                <a:tc>
                  <a:txBody>
                    <a:bodyPr/>
                    <a:lstStyle/>
                    <a:p>
                      <a:r>
                        <a:rPr sz="1500" b="0" i="0">
                          <a:solidFill>
                            <a:srgbClr val="11202B"/>
                          </a:solidFill>
                          <a:latin typeface="Malgun Gothic"/>
                          <a:ea typeface="Malgun Gothic"/>
                          <a:cs typeface="Malgun Gothic"/>
                        </a:rPr>
                        <a:t>황 결핍 부서지는 머리카락(편광에서 호랑이 꼬리 무늬)</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불일치 수선(MMR)과 린치 증후군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복제 직후 MutSα(</a:t>
            </a:r>
            <a:r>
              <a:rPr sz="1800" b="1" i="0">
                <a:solidFill>
                  <a:srgbClr val="11202B"/>
                </a:solidFill>
                <a:latin typeface="Malgun Gothic"/>
                <a:ea typeface="Malgun Gothic"/>
                <a:cs typeface="Malgun Gothic"/>
              </a:rPr>
              <a:t>MSH2–MSH6</a:t>
            </a:r>
            <a:r>
              <a:rPr sz="1800" b="0" i="0">
                <a:solidFill>
                  <a:srgbClr val="11202B"/>
                </a:solidFill>
                <a:latin typeface="Malgun Gothic"/>
                <a:ea typeface="Malgun Gothic"/>
                <a:cs typeface="Malgun Gothic"/>
              </a:rPr>
              <a:t>; 단일 불일치·작은 루프) 또는 MutSβ(MSH2–MSH3; 큰 루프)가 오류 인식 → MutLα(</a:t>
            </a:r>
            <a:r>
              <a:rPr sz="1800" b="1" i="0">
                <a:solidFill>
                  <a:srgbClr val="11202B"/>
                </a:solidFill>
                <a:latin typeface="Malgun Gothic"/>
                <a:ea typeface="Malgun Gothic"/>
                <a:cs typeface="Malgun Gothic"/>
              </a:rPr>
              <a:t>MLH1–PMS2</a:t>
            </a:r>
            <a:r>
              <a:rPr sz="1800" b="0" i="0">
                <a:solidFill>
                  <a:srgbClr val="11202B"/>
                </a:solidFill>
                <a:latin typeface="Malgun Gothic"/>
                <a:ea typeface="Malgun Gothic"/>
                <a:cs typeface="Malgun Gothic"/>
              </a:rPr>
              <a:t>)가 새 가닥(절단 틈·PCNA 방향성으로 식별)을 절단 → EXO1 제거 → 재합성.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MMR 결손 → 반복 서열(미세위성)에서 삽입·결실 축적 = </a:t>
            </a:r>
            <a:r>
              <a:rPr sz="1800" b="1" i="0">
                <a:solidFill>
                  <a:srgbClr val="11202B"/>
                </a:solidFill>
                <a:latin typeface="Malgun Gothic"/>
                <a:ea typeface="Malgun Gothic"/>
                <a:cs typeface="Malgun Gothic"/>
              </a:rPr>
              <a:t>미세위성 불안정성(MSI-H)</a:t>
            </a:r>
            <a:r>
              <a:rPr sz="1800" b="0" i="0">
                <a:solidFill>
                  <a:srgbClr val="11202B"/>
                </a:solidFill>
                <a:latin typeface="Malgun Gothic"/>
                <a:ea typeface="Malgun Gothic"/>
                <a:cs typeface="Malgun Gothic"/>
              </a:rPr>
              <a:t> → TGFBR2, BAX 등 반복 서열 유전자 틀이동 변이.</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린치 증후군</a:t>
            </a:r>
            <a:r>
              <a:rPr sz="1800" b="0" i="0">
                <a:solidFill>
                  <a:srgbClr val="11202B"/>
                </a:solidFill>
                <a:latin typeface="Malgun Gothic"/>
                <a:ea typeface="Malgun Gothic"/>
                <a:cs typeface="Malgun Gothic"/>
              </a:rPr>
              <a:t>(유전성 비용종증 대장암, 상염색체 우성, 약 1/300): MLH1, MSH2(또는 EPCAM 3' 결실로 인한 MSH2 침묵), MSH6, PMS2 생식세포 변이.</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대장암(우측, 젊은 나이), 자궁내막암(여성에서 첫 암인 경우 흔함), 난소, 위, 소장, 요관, 피지선 종양(Muir–Torre).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불일치 수선(MMR)과 린치 증후군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진단 흐름: 모든 대장암·자궁내막암에서 </a:t>
            </a:r>
            <a:r>
              <a:rPr sz="1800" b="1" i="0">
                <a:solidFill>
                  <a:srgbClr val="2E3F4C"/>
                </a:solidFill>
                <a:latin typeface="Malgun Gothic"/>
                <a:ea typeface="Malgun Gothic"/>
                <a:cs typeface="Malgun Gothic"/>
              </a:rPr>
              <a:t>MMR 단백 면역염색(4종) 또는 MSI 검사</a:t>
            </a:r>
            <a:r>
              <a:rPr sz="1800" b="0" i="0">
                <a:solidFill>
                  <a:srgbClr val="2E3F4C"/>
                </a:solidFill>
                <a:latin typeface="Malgun Gothic"/>
                <a:ea typeface="Malgun Gothic"/>
                <a:cs typeface="Malgun Gothic"/>
              </a:rPr>
              <a:t> → MLH1 소실 시 BRAF V600E·MLH1 프로모터 메틸화 확인(있으면 산발성) → 없으면 생식세포 검사.</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감시: 20–25세부터 1–2년마다 대장내시경, 위험 감소 자궁·난소 절제 고려, 아스피린(CAPP2: 대장암 감소).</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체질적 MMR 결핍(CMMRD)</a:t>
            </a:r>
            <a:r>
              <a:rPr sz="2000" b="0" i="0">
                <a:solidFill>
                  <a:srgbClr val="11202B"/>
                </a:solidFill>
                <a:latin typeface="Malgun Gothic"/>
                <a:ea typeface="Malgun Gothic"/>
                <a:cs typeface="Malgun Gothic"/>
              </a:rPr>
              <a:t>: 양대립 생식세포 결함 → 소아기 뇌종양·림프종·대장암, 밀크커피 반점.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불일치 수선(MMR)과 린치 증후군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18</a:t>
            </a:r>
          </a:p>
        </p:txBody>
      </p:sp>
      <p:sp>
        <p:nvSpPr>
          <p:cNvPr id="7" name="Rectangle 6"/>
          <p:cNvSpPr/>
          <p:nvPr/>
        </p:nvSpPr>
        <p:spPr>
          <a:xfrm>
            <a:off x="640080" y="1325880"/>
            <a:ext cx="10881360" cy="22987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MSI-H/dMMR 종양은 신생항원(틀이동 펩타이드)이 매우 많아 </a:t>
            </a:r>
            <a:r>
              <a:rPr sz="2000" b="1" i="0">
                <a:solidFill>
                  <a:srgbClr val="11202B"/>
                </a:solidFill>
                <a:latin typeface="Malgun Gothic"/>
                <a:ea typeface="Malgun Gothic"/>
                <a:cs typeface="Malgun Gothic"/>
              </a:rPr>
              <a:t>PD-1 억제제</a:t>
            </a:r>
            <a:r>
              <a:rPr sz="2000" b="0" i="0">
                <a:solidFill>
                  <a:srgbClr val="11202B"/>
                </a:solidFill>
                <a:latin typeface="Malgun Gothic"/>
                <a:ea typeface="Malgun Gothic"/>
                <a:cs typeface="Malgun Gothic"/>
              </a:rPr>
              <a:t>에 탁월하게 반응한다. 펨브롤리주맙은 2017년 조직 불문(tumor-agnostic) 최초 승인을 받았고, 국소진행 dMMR 직장암에서 도스타를리맙 단독으로 완전 관해율 100%(소규모, Cercek et al., NEJM 2022)가 보고되었다.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이중가닥 절단 수선: HR과 NHEJ</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대체 경로: 미세상동 매개 말단연결(MMEJ; </a:t>
            </a:r>
            <a:r>
              <a:rPr sz="2000" b="1" i="0">
                <a:solidFill>
                  <a:srgbClr val="11202B"/>
                </a:solidFill>
                <a:latin typeface="Malgun Gothic"/>
                <a:ea typeface="Malgun Gothic"/>
                <a:cs typeface="Malgun Gothic"/>
              </a:rPr>
              <a:t>Pol θ</a:t>
            </a:r>
            <a:r>
              <a:rPr sz="2000" b="0" i="0">
                <a:solidFill>
                  <a:srgbClr val="11202B"/>
                </a:solidFill>
                <a:latin typeface="Malgun Gothic"/>
                <a:ea typeface="Malgun Gothic"/>
                <a:cs typeface="Malgun Gothic"/>
              </a:rPr>
              <a:t>), 단일가닥 어닐링(SSA; RAD52).</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판코니 빈혈</a:t>
            </a:r>
            <a:r>
              <a:rPr sz="2000" b="0" i="0">
                <a:solidFill>
                  <a:srgbClr val="11202B"/>
                </a:solidFill>
                <a:latin typeface="Malgun Gothic"/>
                <a:ea typeface="Malgun Gothic"/>
                <a:cs typeface="Malgun Gothic"/>
              </a:rPr>
              <a:t>(FANCA~FANCW, 22개 이상): ICL 수선 실패 → 선천기형(엄지·요골 이상, 밀크커피 반점), 진행성 골수부전, AML·두경부 편평세포암; 미토마이신 C/DEB 염색체 파손 검사로 진단. FANCD1 = BRCA2, FANCN = PALB2.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NHEJ 결손: DCLRE1C(Artemis), LIG4, PRKDC → 방사선 민감 SCID.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이중가닥 절단 수선: HR과 NHEJ</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특성</a:t>
                      </a:r>
                    </a:p>
                  </a:txBody>
                  <a:tcPr marL="73152" marR="73152">
                    <a:solidFill>
                      <a:srgbClr val="003C71"/>
                    </a:solidFill>
                  </a:tcPr>
                </a:tc>
                <a:tc>
                  <a:txBody>
                    <a:bodyPr/>
                    <a:lstStyle/>
                    <a:p>
                      <a:r>
                        <a:rPr sz="1500" b="1" i="0">
                          <a:solidFill>
                            <a:srgbClr val="FFFFFF"/>
                          </a:solidFill>
                          <a:latin typeface="Malgun Gothic"/>
                          <a:ea typeface="Malgun Gothic"/>
                          <a:cs typeface="Malgun Gothic"/>
                        </a:rPr>
                        <a:t>상동재조합(HR)</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비상동말단연결(NHEJ)</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시기</a:t>
                      </a:r>
                    </a:p>
                  </a:txBody>
                  <a:tcPr marL="73152" marR="73152">
                    <a:solidFill>
                      <a:srgbClr val="FFFFFF"/>
                    </a:solidFill>
                  </a:tcPr>
                </a:tc>
                <a:tc>
                  <a:txBody>
                    <a:bodyPr/>
                    <a:lstStyle/>
                    <a:p>
                      <a:r>
                        <a:rPr sz="1500" b="0" i="0">
                          <a:solidFill>
                            <a:srgbClr val="11202B"/>
                          </a:solidFill>
                          <a:latin typeface="Malgun Gothic"/>
                          <a:ea typeface="Malgun Gothic"/>
                          <a:cs typeface="Malgun Gothic"/>
                        </a:rPr>
                        <a:t>S/G2 (자매염색분체 주형)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 주기, 특히 G1</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정확도</a:t>
                      </a:r>
                    </a:p>
                  </a:txBody>
                  <a:tcPr marL="73152" marR="73152">
                    <a:solidFill>
                      <a:srgbClr val="ECF1F5"/>
                    </a:solidFill>
                  </a:tcPr>
                </a:tc>
                <a:tc>
                  <a:txBody>
                    <a:bodyPr/>
                    <a:lstStyle/>
                    <a:p>
                      <a:r>
                        <a:rPr sz="1500" b="0" i="0">
                          <a:solidFill>
                            <a:srgbClr val="11202B"/>
                          </a:solidFill>
                          <a:latin typeface="Malgun Gothic"/>
                          <a:ea typeface="Malgun Gothic"/>
                          <a:cs typeface="Malgun Gothic"/>
                        </a:rPr>
                        <a:t>높음(오류 없음)</a:t>
                      </a:r>
                    </a:p>
                  </a:txBody>
                  <a:tcPr marL="73152" marR="73152">
                    <a:solidFill>
                      <a:srgbClr val="ECF1F5"/>
                    </a:solidFill>
                  </a:tcPr>
                </a:tc>
                <a:tc>
                  <a:txBody>
                    <a:bodyPr/>
                    <a:lstStyle/>
                    <a:p>
                      <a:r>
                        <a:rPr sz="1500" b="0" i="0">
                          <a:solidFill>
                            <a:srgbClr val="11202B"/>
                          </a:solidFill>
                          <a:latin typeface="Malgun Gothic"/>
                          <a:ea typeface="Malgun Gothic"/>
                          <a:cs typeface="Malgun Gothic"/>
                        </a:rPr>
                        <a:t>오류 유발(작은 삽입·결실)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핵심 단백질</a:t>
                      </a:r>
                    </a:p>
                  </a:txBody>
                  <a:tcPr marL="73152" marR="73152">
                    <a:solidFill>
                      <a:srgbClr val="FFFFFF"/>
                    </a:solidFill>
                  </a:tcPr>
                </a:tc>
                <a:tc>
                  <a:txBody>
                    <a:bodyPr/>
                    <a:lstStyle/>
                    <a:p>
                      <a:r>
                        <a:rPr sz="1500" b="0" i="0">
                          <a:solidFill>
                            <a:srgbClr val="11202B"/>
                          </a:solidFill>
                          <a:latin typeface="Malgun Gothic"/>
                          <a:ea typeface="Malgun Gothic"/>
                          <a:cs typeface="Malgun Gothic"/>
                        </a:rPr>
                        <a:t>MRN(MRE11–RAD50–NBS1), CtIP 절제 → RPA → </a:t>
                      </a:r>
                      <a:r>
                        <a:rPr sz="1500" b="1" i="0">
                          <a:solidFill>
                            <a:srgbClr val="11202B"/>
                          </a:solidFill>
                          <a:latin typeface="Malgun Gothic"/>
                          <a:ea typeface="Malgun Gothic"/>
                          <a:cs typeface="Malgun Gothic"/>
                        </a:rPr>
                        <a:t>BRCA2가 RAD51 장착</a:t>
                      </a:r>
                      <a:r>
                        <a:rPr sz="1500" b="0" i="0">
                          <a:solidFill>
                            <a:srgbClr val="11202B"/>
                          </a:solidFill>
                          <a:latin typeface="Malgun Gothic"/>
                          <a:ea typeface="Malgun Gothic"/>
                          <a:cs typeface="Malgun Gothic"/>
                        </a:rPr>
                        <a:t>, BRCA1–PALB2, RAD51 미세섬유가 상동 가닥 침입(D-루프)</a:t>
                      </a:r>
                    </a:p>
                  </a:txBody>
                  <a:tcPr marL="73152" marR="73152">
                    <a:solidFill>
                      <a:srgbClr val="FFFFFF"/>
                    </a:solidFill>
                  </a:tcPr>
                </a:tc>
                <a:tc>
                  <a:txBody>
                    <a:bodyPr/>
                    <a:lstStyle/>
                    <a:p>
                      <a:r>
                        <a:rPr sz="1500" b="1" i="0">
                          <a:solidFill>
                            <a:srgbClr val="11202B"/>
                          </a:solidFill>
                          <a:latin typeface="Malgun Gothic"/>
                          <a:ea typeface="Malgun Gothic"/>
                          <a:cs typeface="Malgun Gothic"/>
                        </a:rPr>
                        <a:t>Ku70/80</a:t>
                      </a:r>
                      <a:r>
                        <a:rPr sz="1500" b="0" i="0">
                          <a:solidFill>
                            <a:srgbClr val="11202B"/>
                          </a:solidFill>
                          <a:latin typeface="Malgun Gothic"/>
                          <a:ea typeface="Malgun Gothic"/>
                          <a:cs typeface="Malgun Gothic"/>
                        </a:rPr>
                        <a:t> → DNA-PKcs → Artemis → XRCC4–리가아제 IV–XLF</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선택 조절</a:t>
                      </a:r>
                    </a:p>
                  </a:txBody>
                  <a:tcPr marL="73152" marR="73152">
                    <a:solidFill>
                      <a:srgbClr val="ECF1F5"/>
                    </a:solidFill>
                  </a:tcPr>
                </a:tc>
                <a:tc>
                  <a:txBody>
                    <a:bodyPr/>
                    <a:lstStyle/>
                    <a:p>
                      <a:r>
                        <a:rPr sz="1500" b="0" i="0">
                          <a:solidFill>
                            <a:srgbClr val="11202B"/>
                          </a:solidFill>
                          <a:latin typeface="Malgun Gothic"/>
                          <a:ea typeface="Malgun Gothic"/>
                          <a:cs typeface="Malgun Gothic"/>
                        </a:rPr>
                        <a:t>BRCA1이 절제 촉진</a:t>
                      </a:r>
                    </a:p>
                  </a:txBody>
                  <a:tcPr marL="73152" marR="73152">
                    <a:solidFill>
                      <a:srgbClr val="ECF1F5"/>
                    </a:solidFill>
                  </a:tcPr>
                </a:tc>
                <a:tc>
                  <a:txBody>
                    <a:bodyPr/>
                    <a:lstStyle/>
                    <a:p>
                      <a:r>
                        <a:rPr sz="1500" b="0" i="0">
                          <a:solidFill>
                            <a:srgbClr val="11202B"/>
                          </a:solidFill>
                          <a:latin typeface="Malgun Gothic"/>
                          <a:ea typeface="Malgun Gothic"/>
                          <a:cs typeface="Malgun Gothic"/>
                        </a:rPr>
                        <a:t>53BP1–RIF1–셸딘이 절제 억제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생리적 이용</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감수분열 교차(SPO11)</a:t>
                      </a:r>
                    </a:p>
                  </a:txBody>
                  <a:tcPr marL="73152" marR="73152">
                    <a:solidFill>
                      <a:srgbClr val="FFFFFF"/>
                    </a:solidFill>
                  </a:tcPr>
                </a:tc>
                <a:tc>
                  <a:txBody>
                    <a:bodyPr/>
                    <a:lstStyle/>
                    <a:p>
                      <a:r>
                        <a:rPr sz="1500" b="1" i="0">
                          <a:solidFill>
                            <a:srgbClr val="11202B"/>
                          </a:solidFill>
                          <a:latin typeface="Malgun Gothic"/>
                          <a:ea typeface="Malgun Gothic"/>
                          <a:cs typeface="Malgun Gothic"/>
                        </a:rPr>
                        <a:t>V(D)J 재조합</a:t>
                      </a:r>
                      <a:r>
                        <a:rPr sz="1500" b="0" i="0">
                          <a:solidFill>
                            <a:srgbClr val="11202B"/>
                          </a:solidFill>
                          <a:latin typeface="Malgun Gothic"/>
                          <a:ea typeface="Malgun Gothic"/>
                          <a:cs typeface="Malgun Gothic"/>
                        </a:rPr>
                        <a:t>, 클래스 전환</a:t>
                      </a:r>
                    </a:p>
                  </a:txBody>
                  <a:tcPr marL="73152" marR="7315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이중가닥 절단 수선: HR과 NHEJ</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21</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유전성 유방·난소암 증후군</a:t>
            </a:r>
            <a:r>
              <a:rPr sz="2000" b="0" i="0">
                <a:solidFill>
                  <a:srgbClr val="11202B"/>
                </a:solidFill>
                <a:latin typeface="Malgun Gothic"/>
                <a:ea typeface="Malgun Gothic"/>
                <a:cs typeface="Malgun Gothic"/>
              </a:rPr>
              <a:t>: BRCA1(유방 평생 위험 55–72%, 난소 39–44%; 삼중음성 우세), BRCA2(유방 45–69%, 난소 11–17%; 남성 유방암·전립선암·췌장암 증가). 위험 감소 난관난소절제술(BRCA1 35–40세, BRCA2 40–45세), MRI 감시, 유방절제술 선택. 한국인 BRCA 보인자에서 시조 변이(BRCA2 c.7480C&gt;T 등)가 보고되어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합성치사와 DNA 손상 반응 표적치료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합성치사(synthetic lethality)</a:t>
            </a:r>
            <a:r>
              <a:rPr sz="1800" b="0" i="0">
                <a:solidFill>
                  <a:srgbClr val="11202B"/>
                </a:solidFill>
                <a:latin typeface="Malgun Gothic"/>
                <a:ea typeface="Malgun Gothic"/>
                <a:cs typeface="Malgun Gothic"/>
              </a:rPr>
              <a:t>: 두 유전자 중 하나만 결손되면 생존하지만 둘 다 결손되면 죽는 관계.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PARP 억제제</a:t>
            </a:r>
            <a:r>
              <a:rPr sz="1800" b="0" i="0">
                <a:solidFill>
                  <a:srgbClr val="11202B"/>
                </a:solidFill>
                <a:latin typeface="Malgun Gothic"/>
                <a:ea typeface="Malgun Gothic"/>
                <a:cs typeface="Malgun Gothic"/>
              </a:rPr>
              <a:t>(올라파립, 니라파립, 루카파립, 탈라조파립): PARP1을 DNA 위에 '포획(trapping)' → 복제 시 단일가닥 절단이 DSB로 전환 → HR 결손(BRCA1/2, PALB2, RAD51C/D 등) 세포에서 수선 불가 → 세포사.</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적응증: BRCA 변이 또는 HRD 양성 난소암 유지요법, 유방암(OlympiA 보조요법), 전립선암, 췌장암.</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내성: BRCA 복귀 변이(reversion; 읽기틀 회복), 53BP1/셸딘 소실(절제 회복), 약물 유출.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HRD 점수</a:t>
            </a:r>
            <a:r>
              <a:rPr sz="1800" b="0" i="0">
                <a:solidFill>
                  <a:srgbClr val="11202B"/>
                </a:solidFill>
                <a:latin typeface="Malgun Gothic"/>
                <a:ea typeface="Malgun Gothic"/>
                <a:cs typeface="Malgun Gothic"/>
              </a:rPr>
              <a:t>: 유전체 흉터(LOH, 텔로미어 대립 불균형, 대규모 전이) 기반.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합성치사와 DNA 손상 반응 표적치료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신규 표적: ATR 억제제(카미세르팁), WEE1 억제제(아다보세르팁), </a:t>
            </a:r>
            <a:r>
              <a:rPr sz="2200" b="1" i="0">
                <a:solidFill>
                  <a:srgbClr val="11202B"/>
                </a:solidFill>
                <a:latin typeface="Malgun Gothic"/>
                <a:ea typeface="Malgun Gothic"/>
                <a:cs typeface="Malgun Gothic"/>
              </a:rPr>
              <a:t>Pol θ 억제제</a:t>
            </a:r>
            <a:r>
              <a:rPr sz="2200" b="0" i="0">
                <a:solidFill>
                  <a:srgbClr val="11202B"/>
                </a:solidFill>
                <a:latin typeface="Malgun Gothic"/>
                <a:ea typeface="Malgun Gothic"/>
                <a:cs typeface="Malgun Gothic"/>
              </a:rPr>
              <a:t>(노보비오신 재창출; BRCA 결손과 합성치사), DNA-PK 억제제.</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방사선·백금·알킬화제는 결국 DNA 손상을 이용하며, 수선 능력이 치료 반응을 결정한다(예: ERCC1 발현과 백금 반응성).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600" b="1" i="0">
                <a:solidFill>
                  <a:srgbClr val="003C71"/>
                </a:solidFill>
                <a:latin typeface="Malgun Gothic"/>
                <a:ea typeface="Malgun Gothic"/>
                <a:cs typeface="Malgun Gothic"/>
              </a:rPr>
              <a:t>▪ </a:t>
            </a:r>
            <a:r>
              <a:rPr sz="1600" b="0" i="0">
                <a:solidFill>
                  <a:srgbClr val="11202B"/>
                </a:solidFill>
                <a:latin typeface="Malgun Gothic"/>
                <a:ea typeface="Malgun Gothic"/>
                <a:cs typeface="Malgun Gothic"/>
              </a:rPr>
              <a:t>정상 조직의 체세포 돌연변이 지도: 건강한 식도·피부·대장·뇌 신경세포도 나이에 따라 수천 개의 변이를 축적하며(NOTCH1·TP53 클론 확장), 변이 신호(mutational signature; SBS1 노화, SBS4 흡연, SBS7 UV, SBS6/15 MMR, SBS3 HRD)가 원인 과정을 추적한다(Alexandrov et al., Nature 2020).</a:t>
            </a:r>
          </a:p>
          <a:p>
            <a:pPr>
              <a:spcAft>
                <a:spcPts val="800"/>
              </a:spcAft>
            </a:pPr>
            <a:r>
              <a:rPr sz="1600" b="1" i="0">
                <a:solidFill>
                  <a:srgbClr val="003C71"/>
                </a:solidFill>
                <a:latin typeface="Malgun Gothic"/>
                <a:ea typeface="Malgun Gothic"/>
                <a:cs typeface="Malgun Gothic"/>
              </a:rPr>
              <a:t>▪ </a:t>
            </a:r>
            <a:r>
              <a:rPr sz="1600" b="0" i="0">
                <a:solidFill>
                  <a:srgbClr val="11202B"/>
                </a:solidFill>
                <a:latin typeface="Malgun Gothic"/>
                <a:ea typeface="Malgun Gothic"/>
                <a:cs typeface="Malgun Gothic"/>
              </a:rPr>
              <a:t>신경세포는 분열하지 않지만 전사 연계 손상과 산화 손상이 축적되며, 체세포 변이와 DNA 수선 결함이 신경퇴행(헌팅턴병 진행 속도의 수정인자 FAN1, MSH3)에 관여한다(B06 L02). MSH3 억제가 CAG 반복 확장을 늦추는 치료로 연구되고 있다.</a:t>
            </a:r>
          </a:p>
          <a:p>
            <a:pPr>
              <a:spcAft>
                <a:spcPts val="800"/>
              </a:spcAft>
            </a:pPr>
            <a:r>
              <a:rPr sz="1600" b="1" i="0">
                <a:solidFill>
                  <a:srgbClr val="003C71"/>
                </a:solidFill>
                <a:latin typeface="Malgun Gothic"/>
                <a:ea typeface="Malgun Gothic"/>
                <a:cs typeface="Malgun Gothic"/>
              </a:rPr>
              <a:t>▪ </a:t>
            </a:r>
            <a:r>
              <a:rPr sz="1600" b="0" i="0">
                <a:solidFill>
                  <a:srgbClr val="11202B"/>
                </a:solidFill>
                <a:latin typeface="Malgun Gothic"/>
                <a:ea typeface="Malgun Gothic"/>
                <a:cs typeface="Malgun Gothic"/>
              </a:rPr>
              <a:t>유전자 편집의 안전성(Cas9 DSB → 대규모 결실·염색체 파쇄)이 HR/NHEJ 생물학과 직결되어, DSB 없는 염기·프라임 편집이 발전했다(B02 L12).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복제는 CMG 헬리케이스, Pol ε(선도)·δ(지연), PCNA, 리가아제가 수행하며 인허가 체계가 주기당 1회 복제를 보장한다.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텔로머레이스는 말단 복제 문제를 해결하며 결손은 텔로미어 생물학 장애, 재활성은 암의 불멸화를 일으킨다.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BER(작은 염기 손상), NER(부피 큰 부가물·UV), MMR(복제 오류), HR·NHEJ(DSB)가 서로 다른 손상을 수선한다.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XP(NER), 린치(MMR), BRCA/판코니(HR), 모세혈관확장성 운동실조증(ATM)은 수선 결함 질환이다.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PARP 억제제는 HR 결손과 합성치사를, MSI-H는 PD-1 억제제 반응성을 예측한다.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42세 여성의 자궁내막암에서 MLH1과 PMS2 면역염색이 소실되었다. 다음 검사 단계와 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MLH1 프로모터 과메틸화 검사를 한다(대장암이면 BRAF V600E도). 산발성 MMR 결손의 대부분은 후성유전적 MLH1 침묵이므로 메틸화가 있으면 산발성일 가능성이 높다. 메틸화가 없으면 린치 증후군 감별을 위해 생식세포 MLH1(및 PMS2) 검사를 시행한다. PMS2는 MLH1이 없으면 불안정해 함께 소실된다.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색소성 건피증과 코케인 증후군은 모두 광과민을 보이지만 피부암 위험이 다르다. 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XP는 전체 유전체 NER이 결손되어 UV 손상이 유전체 전반에 남아 돌연변이로 고정되므로 피부암이 급증한다. 코케인 증후군은 전사 연계 NER만 결손되어 전사 중인 유전자의 손상이 RNA 중합효소를 멈추게 해 세포가 자멸사로 제거되므로(돌연변이 축적보다 세포 손실), 광과민·신경퇴행·조로는 생기지만 피부암은 증가하지 않는다.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BRCA1 결손 난소암 환자가 PARP 억제제 치료 중 내성이 생겼다. 가능한 분자 기전 두 가지를 제시하라.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BRCA1 복귀(reversion) 2차 변이로 읽기틀이 회복되어 HR 기능이 돌아온다. (2) 53BP1–RIF1–셸딘 경로 소실로 DSB 말단 절제가 BRCA1 없이도 가능해져 HR이 부분적으로 회복된다. 그 외 PARP1 변이로 포획이 감소하거나 P-gp 과발현으로 약물이 유출된다.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교모세포종 환자에서 MGMT 프로모터 메틸화가 좋은 예후 인자인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테모졸로마이드는 O⁶-메틸구아닌을 만들어 세포독성을 일으키는데, MGMT가 이 메틸을 직접 제거하면 효과가 사라진다. 프로모터 메틸화로 MGMT 발현이 침묵되면 손상이 남아 MMR 의존 세포사가 유발되므로 치료 반응과 생존이 좋다.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Jackson SP, Bartek J. The DNA-damage response in human biology and disease. Nature 2009;461:1071–1078.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Lord CJ, Ashworth A. PARP inhibitors: synthetic lethality in the clinic. Science 2017;355:1152–1158.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Alexandrov LB et al. The repertoire of mutational signatures in human cancer. Nature 2020;578:94–101.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Lynch HT et al. Milestones of Lynch syndrome: 1895–2015. Nat Rev Cancer 2015;15:181–194.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B02-L04  ·  DNA 복제와 DNA 수선</a:t>
            </a:r>
            <a:r>
              <a:rPr sz="10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Cercek A et al. PD-1 blockade in mismatch repair-deficient, locally advanced rectal cancer. N Engl J Med 2022;386:2363–2376.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