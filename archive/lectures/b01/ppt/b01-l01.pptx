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포도당은 극성 분자로 세포막을 자유롭게 통과하지 못하므로 두 계열의 수송체가 필요하다. GLUT(SLC2A)는 농도 기울기를 따라 이동시키는 촉진확산 수송체이고, SGLT(SLC5A)는 Na⁺ 기울기를 이용한 2차 능동수송체로 장관과 신세뇨관에서 기울기를 거슬러 포도당을 흡수한다.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해당과정(glycolysis)은 세포질에서 포도당 1분자를 피루브산 2분자로 분해하며, 산소 유무와 무관하게 진행된다. 앞 5단계는 ATP 2분자를 '투자'하여 6탄당을 두 개의 3탄당 인산으로 쪼갠다.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개의 비가역 효소(HK/GK, PFK-1, PK)가 조절점이다. 근육에서는 ATP 수요(에너지 전하)에 반응하고, 간에서는 혈당과 인슐린/글루카곤에 반응한다는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개의 비가역 효소(HK/GK, PFK-1, PK)가 조절점이다. 근육에서는 ATP 수요(에너지 전하)에 반응하고, 간에서는 혈당과 인슐린/글루카곤에 반응한다는 점이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피루브산은 산소·조직·대사 상태에 따라 네 가지 경로로 간다: (1) 피루브산 탈수소효소(PDH)에 의해 아세틸-CoA, (2) 젖산탈수소효소(LDH)에 의해 젖산, (3) 피루브산 카복실화효소(PC)에 의해 옥살로아세트산, (4) ALT에 의해 알라닌.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적혈구는 미토콘드리아가 없어 ATP를 전적으로 해당과정에 의존한다. 동시에 라포포트-루버링(Rapoport–Luebering) 분로를 통해 1,3-BPG의 일부를 2,3-BPG로 전환한다.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글루카곤 → cAMP → PKA가 PFK-2/FBPase-2를 인산화하여 F2,6BP 농도를 낮추므로 PFK-1 활성이 떨어진다. (2) PKA가 간형 피루브산 키나아제를 인산화해 불활성화한다. 그 결과 PEP와 F6P가 포도당신생합성 방향으로 흐른다. 장기적으로 GK·L-PK 유전자 발현도 감소한다.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PK 결핍에서는 상류 중간산물이 쌓여 2,3-BPG가 증가하므로 헤모글로빈의 산소 친화도가 낮아져 조직 산소 공급이 개선되어 같은 헤모글로빈 수치에서도 증상이 가볍다. HK 결핍에서는 2,3-BPG가 감소해 산소 해리곡선이 좌측 이동하므로 증상이 더 심하다.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B2형(약물성) 젖산산증이다. 메트포르민은 미토콘드리아 복합체 I과 미토콘드리아 글리세롤인산 탈수소효소를 억제해 세포질 NADH/NAD⁺ 비를 올리고 간의 젖산 이용(포도당신생)을 억제한다. 신부전으로 약물 배설이 줄어 축적되면 위험이 커진다.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혈구(특히 백혈구·적혈구)의 해당과정이 검체 내 포도당을 소비했기 때문이다. 빠른 원심분리, 냉장, 또는 플루오린화나트륨(에놀라아제 억제)·시트르산 완충(즉시 해당 억제) 튜브를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당대사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 수송과 해당과정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Glucose Transport and Glycolysis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GLUT·SGLT 수송체의 동역학(Km)·조직 분포·호르몬 조절을 설명하고 임상 약물(SGLT2 억제제)과 연결한다.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 10단계를 투자기·회수기로 나누고 ATP·NADH 수지를 계산한다.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헥소키나아제/글루코키나아제, PFK-1, 피루브산 키나아제의 알로스테릭·호르몬 조절을 설명한다.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혐기성 조건의 젖산 생성과 NAD⁺ 재생의 의미를 이해하고 젖산산증의 원인을 분류한다.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적혈구 해당과정과 2,3-BPG 분로, 피루브산 키나아제 결핍증의 병태생리를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수송: 확산형 GLUT와 공동수송형 SGLT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 1: 투자기(1–5단계)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 2: 회수기(6–10단계)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해당과정의 조절: 에너지 상태와 호르몬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피루브산의 운명과 젖산 대사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적혈구의 해당과정과 2,3-BPG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해당과정의 의학적 확장: 암, 면역, 진단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 수송: 확산형 GLUT와 공동수송형 SGLT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GLUT4는 평상시 세포 내 소포에 저장되며, 인슐린 또는 근수축(AMPK 경로)에 의해 세포막으로 이동한다. 운동이 인슐린 저항성 환자에서도 포도당 흡수를 증가시키는 이유다.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간·β세포의 GLUT2는 Km이 높아 포도당 유입 속도가 혈당에 거의 비례하므로 '혈당 센서'로 작동한다.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 내로 들어온 포도당은 즉시 인산화(포도당-6-인산, G6P)되어 음전하를 띠고 수송체를 통해 빠져나가지 못한다(trapping).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 수송: 확산형 GLUT와 공동수송형 SGLT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수송체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조직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Km(포도당)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적혈구, 혈액뇌장벽, 태반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~1 mM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 흡수; 결핍 시 GLUT1 결핍 증후군(뇌전증, 저뇨당 CSF)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간, 췌장 β세포, 장·신장 기저측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~15–20 mM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 Km·고용량 → 혈당 감지, 양방향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~1 mM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고친화성, 저혈당에서도 뇌 공급 유지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GLUT4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골격근, 심근, 지방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~5 mM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 의존 막 이동(PI3K–AKT–AS160)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GLUT5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소장, 정자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 특이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과당 흡수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SGLT1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소장 솔가장자리, 신장 S3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고친화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2Na⁺:1포도당, 경구수액요법의 기전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SGLT2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신장 근위세뇨관 S1–S2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저친화·고용량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여과 포도당의 ~90% 재흡수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포도당 수송: 확산형 GLUT와 공동수송형 SGLT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22987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SGLT2 억제제(엠파글리플로진, 다파글리플로진)는 요당 배설을 늘려 혈당을 낮출 뿐 아니라 심부전·만성콩팥병 진행을 늦춘다. 부작용으로 정상혈당 당뇨병성 케톤산증(euglycemic DKA)과 생식기 감염이 있다. 경구수액(ORS)은 SGLT1의 Na⁺–포도당 공동수송을 이용해 콜레라 설사에서 수분을 흡수시킨다.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 1: 투자기(1–5단계)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① 헥소키나아제(HK)/글루코키나아제(GK): 포도당 → G6P, ATP 소모, 비가역(조절점 1).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② 포스포글루코스 이성질화효소: G6P ⇌ 과당-6-인산(F6P).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③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포스포과당키나아제-1(PFK-1)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F6P → 과당-1,6-이인산(F1,6BP), ATP 소모, 비가역. 해당과정의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속도결정 단계(committed step)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④ 알돌라아제: F1,6BP → 다이하이드록시아세톤인산(DHAP) + 글리세르알데하이드-3-인산(GAP).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⑤ 삼탄당인산 이성질화효소(TPI): DHAP ⇌ GAP. 결과적으로 GAP 2분자.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DHAP는 글리세롤-3-인산으로 환원되어 지질 합성의 골격이 되기도 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 1: 투자기(1–5단계)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특성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헥소키나아제 I–III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글루코키나아제(HK IV)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대부분 조직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간, 췌장 β세포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Km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낮음(&lt;0.1 mM)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높음(~8 mM, S자형 동역학)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G6P 되먹임 억제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있음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생성물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인슐린으로 유도, GKRP에 의해 핵에 격리(F6P↑ 시), 과당-1-인산이 해리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저혈당에서도 포도당 확보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식후 고혈당 시에만 간이 포도당을 흡수·저장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 1: 투자기(1–5단계)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글루코키나아제(GCK) 이형접합 기능소실 변이는 MODY2를 일으켜 공복혈당이 경도로 상승(5.5–8 mmol/L)하지만 합병증이 거의 없어 보통 치료가 필요 없다. 반대로 기능획득 변이는 선천성 고인슐린혈증을 일으킨다.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 2: 회수기(6–10단계)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⑥ GAP 탈수소효소(GAPDH): GAP + NAD⁺ + Pi → 1,3-비스포스포글리세르산(1,3-BPG) + NADH. 해당과정 유일의 산화 단계이며 무기인산이 고에너지 아실인산 결합으로 들어간다.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⑦ 포스포글리세르산 키나아제: 1,3-BPG + ADP → 3-포스포글리세르산 + ATP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기질 수준 인산화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⑧ 포스포글리세르산 뮤타아제: 3-PG → 2-PG.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⑨ 에놀라아제: 2-PG → 포스포에놀피루브산(PEP) + H₂O. 플루오린화물(채혈관 NaF)이 억제하여 검체의 해당을 막는다.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⑩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피루브산 키나아제(PK)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PEP + ADP → 피루브산 + ATP, 비가역(조절점 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 2: 회수기(6–10단계)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45161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순수지: 포도당 1 → 피루브산 2 + ATP 2 + NADH 2 (투자 2 ATP, 회수 4 ATP). NADH는 산소가 있으면 셔틀을 통해 미토콘드리아로 전달된다.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1465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비소(arsenate)는 1,3-BPG 형성 단계에서 인산과 경쟁해 불안정한 1-아세노-3-포스포글리세르산을 만들고 자발적으로 가수분해되므로, 해당과정은 진행되지만 ⑦단계의 ATP 생성이 사라진다(탈공역). 아비산염(arsenite)은 리포산을 차단해 피루브산 탈수소효소를 억제한다.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해당과정의 조절: 에너지 상태와 호르몬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PFK-1 활성화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AMP, ADP,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과당-2,6-이인산(F2,6BP)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 억제: ATP(알로스테릭 부위), 시트르산, H⁺.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F2,6BP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는 이중기능효소 PFK-2/FBPase-2가 만든다. 간에서 글루카곤 → cAMP → PKA가 이 효소를 인산화하면 키나아제 활성은 꺼지고 포스파타아제 활성이 켜져 F2,6BP가 감소 → 해당과정↓, 포도당신생합성↑.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심근 이소형은 PKA 인산화 시 오히려 키나아제가 활성화되어 아드레날린 자극에서 해당을 증가시킨다(조직별 이소형의 의미).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피루브산 키나아제(간형 L-PK)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F1,6BP가 앞먹임 활성화, ATP·알라닌이 억제. 글루카곤-PKA 인산화로 불활성화되어 공복 시 PEP가 포도당신생으로 흐른다. 근육형 M-PK는 PKA 조절을 받지 않는다.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해당과정의 조절: 에너지 상태와 호르몬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전사 조절: 인슐린·탄수화물이 SREBP-1c와 ChREBP를 통해 GK, L-PK, 지방산 합성효소 유전자를 유도한다.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해당과정의 조절: 에너지 상태와 호르몬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F2,6BP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해당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포도당신생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식후(인슐린↑)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공복(글루카곤↑)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근육 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(근육은 AMP·Ca²⁺에 반응)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피루브산의 운명과 젖산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 생성의 본질은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NAD⁺ 재생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이다. GAPDH 단계가 지속되려면 NADH를 다시 산화해야 하며, 미토콘드리아가 없는 적혈구나 저산소 근육은 LDH로 이를 해결한다.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코리 회로: 근육·적혈구의 젖산 → 간의 포도당신생 → 다시 포도당 공급. 비용은 간에서 ATP 6, 이득은 말초에서 ATP 2이므로 에너지 '대출'이다.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젖산은 노폐물이 아니라 심장·뇌·산화적 근섬유가 소비하는 연료이기도 하다(lactate shuttle; MCT1/MCT4 수송체).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피루브산의 운명과 젖산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젖산산증 분류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A형 (조직 저산소)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공급 부족 → 산화적 인산화↓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쇼크, 패혈증, 심정지, 심한 빈혈, CO 중독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B1형 (기저질환)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 제거↓ 또는 생산↑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간부전, 악성종양(Warburg), 당뇨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B2형 (약물·독소)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미토콘드리아 억제, NADH/NAD⁺↑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메트포르민(특히 신부전), 시안화물, 에탄올, 린졸리드, 프로포폴 주입 증후군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B3형 (선천대사이상)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PDH 결핍, 피루브산 카복실화효소 결핍, 미토콘드리아병, G6Pase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영아기 젖산산증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피루브산의 운명과 젖산 대사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혈중 젖산/피루브산(L/P) 비율은 세포질 NADH/NAD⁺ 상태를 반영한다. 호흡사슬 결함·저산소증에서는 L/P 비가 높고(&gt;25), PDH 결핍에서는 정상(&lt;20)이다. 이 차이는 선천성 젖산산증의 감별 진단에 쓰인다.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적혈구의 해당과정과 2,3-BPG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2,3-BPG는 탈산소 헤모글로빈의 β사슬 사이 중앙 공동에 결합해 T상태를 안정화 → 산소 친화도↓(해리곡선 우측 이동) → 조직 산소 공급↑.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고지대 적응, 만성 빈혈, 만성 폐질환에서 2,3-BPG가 증가한다. 태아 혈색소(HbF, α₂γ₂)는 2,3-BPG 결합이 약해 모체 혈액에서 산소를 끌어온다.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보관 혈액은 2,3-BPG가 고갈되어 수혈 직후 산소 전달 효율이 일시적으로 낮다.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적혈구의 해당과정과 2,3-BPG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 결핍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2,3-BPG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산소 해리곡선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피루브산 키나아제 결핍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 고갈 → 막 이온펌프 실패 → 용혈성 빈혈(극상적혈구)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증가(상류 축적)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우측 이동 → 빈혈 대비 증상 경함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헥소키나아제 결핍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용혈성 빈혈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좌측 이동 → 증상 심함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적혈구의 해당과정과 2,3-BPG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9304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피루브산 키나아제 결핍증은 G6PD 결핍 다음으로 흔한 적혈구 효소병(상염색체 열성, PKLR)이다. 2022년 PK 알로스테릭 활성제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미타피바트(mitapivat)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승인되어 대사 효소 활성화를 통한 최초의 표적치료 사례가 되었다.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해당과정의 의학적 확장: 암, 면역, 진단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Warburg 효과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암세포는 산소가 충분해도 해당과정·젖산 생성을 크게 증가시킨다. 증식에 필요한 탄소 골격(오탄당, 세린, 글리세롤), NADPH 생산, 미세환경 산성화가 이점으로 거론된다. PKM2 이소형(이량체로서 저활성)이 상류 중간산물 축적을 돕는다.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FDG-PET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¹⁸F-플루오로데옥시글루코스는 GLUT로 유입되어 HK로 인산화되지만 다음 단계로 진행하지 못해 세포에 갇힌다. 종양·염증·뇌 활동의 포도당 흡수를 영상화한다.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면역대사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활성화된 T세포·M1 대식세포는 해당과정을 급격히 증가시키며, 이는 사이토카인 생성과 직결된다(GAPDH가 IFN-γ mRNA에 결합해 번역을 억제하다가 해당이 활발하면 풀어준다).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해당과정의 의학적 확장: 암, 면역, 진단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검체 처리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채혈 후 혈구가 시간당 5–7%의 포도당을 소비하므로 지연 분석 시 위저혈당이 생긴다. 플루오린화나트륨 튜브는 에놀라아제를 억제하지만 효과 발현에 1–2시간이 걸린다.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 효소의 '부업(moonlighting)': GAPDH의 핵 이동과 세포사 신호, HK2의 미토콘드리아 VDAC 결합에 의한 세포자멸사 억제, PKM2의 전사 공동활성자 기능이 활발히 연구된다.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단일세포 대사체학과 동위원소 추적(¹³C-포도당 플럭스 분석)으로 생체 내 종양이 배양세포와 달리 젖산을 연료로 TCA 회로에 공급한다는 사실이 밝혀졌다(Hui et al., Nature 2017).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뇌에서 성상세포-신경세포 젖산 셔틀(ANLS) 가설과 신경세포의 직접 포도당 산화 가설이 경쟁 중이며, 2광자 NADH 영상과 유전자 부호화 젖산 센서가 쟁점을 검증하고 있다.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PK 활성제(mitapivat, etavopivat)는 지중해빈혈·겸상적혈구병으로 적응증이 확장되고 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포도당 수송은 조직별 GLUT/SGLT의 Km과 조절 방식이 결정한다(GLUT2 = 센서, GLUT4 = 인슐린 의존, SGLT2 = 신장 재흡수 → 약물 표적).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해당과정의 순수지는 2 ATP + 2 NADH이며, 조절점은 HK/GK, PFK-1(F2,6BP), PK이다.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간의 해당과정은 글루카곤–cAMP–PKA 축이 F2,6BP와 L-PK를 통해 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젖산 생성은 NAD⁺ 재생 수단이며, 젖산산증은 A형(저산소)과 B형(비저산소)으로 나눈다.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적혈구에서는 2,3-BPG가 산소 해리를 조절하며, PK 결핍은 용혈성 빈혈의 중요한 원인이다.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공복 중 간에서 글루카곤이 해당과정을 억제하는 분자 기전을 두 가지 이상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글루카곤 → cAMP → PKA가 PFK-2/FBPase-2를 인산화하여 F2,6BP 농도를 낮추므로 PFK-1 활성이 떨어진다. (2) PKA가 간형 피루브산 키나아제를 인산화해 불활성화한다. 그 결과 PEP와 F6P가 포도당신생합성 방향으로 흐른다. 장기적으로 GK·L-PK 유전자 발현도 감소한다.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헥소키나아제 결핍과 피루브산 키나아제 결핍은 모두 용혈성 빈혈을 일으키지만 피로감 등 임상 증상의 정도가 다르다. 그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PK 결핍에서는 상류 중간산물이 쌓여 2,3-BPG가 증가하므로 헤모글로빈의 산소 친화도가 낮아져 조직 산소 공급이 개선되어 같은 헤모글로빈 수치에서도 증상이 가볍다. HK 결핍에서는 2,3-BPG가 감소해 산소 해리곡선이 좌측 이동하므로 증상이 더 심하다.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메트포르민을 복용하는 만성콩팥병 환자에게 젖산산증이 발생하였다. 젖산산증 분류와 기전을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B2형(약물성) 젖산산증이다. 메트포르민은 미토콘드리아 복합체 I과 미토콘드리아 글리세롤인산 탈수소효소를 억제해 세포질 NADH/NAD⁺ 비를 올리고 간의 젖산 이용(포도당신생)을 억제한다. 신부전으로 약물 배설이 줄어 축적되면 위험이 커진다.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채혈 후 혈청 분리 없이 4시간 실온에 방치된 검체에서 혈당이 낮게 측정되었다. 원인과 예방법은?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혈구(특히 백혈구·적혈구)의 해당과정이 검체 내 포도당을 소비했기 때문이다. 빠른 원심분리, 냉장, 또는 플루오린화나트륨(에놀라아제 억제)·시트르산 완충(즉시 해당 억제) 튜브를 사용한다.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Rodwell VW et al. Harper's Illustrated Biochemistry, 32nd ed. McGraw Hill, 2023. Ch. 17–18.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Nelson DL, Cox MM. Lehninger Principles of Biochemistry, 8th ed. 2021. Ch. 14.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Mueckler M, Thorens B. The SLC2 (GLUT) family of membrane transporters. Mol Aspects Med 2013;34:121–138.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Hui S et al. Glucose feeds the TCA cycle via circulating lactate. Nature 2017;551:115–118.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B01-L01  ·  포도당 수송과 해당과정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Grace RF, Barcellini W. Management of pyruvate kinase deficiency in children and adults. Blood 2020;136:1241–1249.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Kraut JA, Madias NE. Lactic acidosis. N Engl J Med 2014;371:2309–2319.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