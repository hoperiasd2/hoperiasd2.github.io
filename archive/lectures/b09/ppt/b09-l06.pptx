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덱사메타손 같은 글루코코르티코이드는 T세포 증식·기능과 사이토카인 생산을 억제하고 림프구 수를 줄여 면역치료의 효과를 크게 떨어뜨린다. 실제 임상 연구에서 기저 스테로이드 사용량이 많을수록 면역관문억제제 반응과 생존이 나빴다. 따라서 가능한 한 낮은 용량을 쓰고 베바시주맙 등 대체 수단을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항원 소실 때문이다. EGFRvIII은 종양 내에서도 일부 세포에만 발현되는 이질적 항원이어서, 치료로 양성 세포가 제거되면 음성 클론이 남아 재발한다. 또한 치료 후 면역 억제 환경이 강화되었다. 이 경험은 다중 표적 CAR와 항원 소실을 고려한 설계의 필요성을 보여주었다.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종양이 체내에 있는 상태에서 약물을 투여하면 종양 항원이 충분히 존재해 T세포가 활성화될 기회가 생기고, 이후 절제 조직에서 면역 반응(T세포 클론 확장, 인터페론 신호)을 직접 확인할 수 있다. 소규모 무작위 연구에서 수술 전 투여군의 생존이 더 좋았으며, 이는 약물의 작용 여부를 조직으로 검증하는 설계의 가치를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CRS는 전신 IL-6 과다가 핵심이어서 IL-6 수용체 항체인 토실리주맙이 효과적이다. 반면 ICANS는 혈액뇌장벽 투과성 증가와 중추 내 IL-1·IL-6, 내피 활성이 관여하는데 토실리주맙은 중추로 충분히 들어가지 못하고 오히려 혈중 IL-6를 높일 수 있어, 스테로이드가 1차 치료이며 아나킨라(IL-1 차단) 등이 연구된다.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B09 신경면역학과 신경외과  ·  신경종양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뇌종양 면역치료와 세포 치료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Immunotherapy and Cell Therapy for Brain Tumors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B09-L06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면역관문억제제가 교모세포종에서 실패한 이유를 분석한다.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CAR-T 세포 치료의 원리와 뇌종양 적용(표적, 투여 경로, 결과)을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백신·수지상세포·종양용해 바이러스 치료의 현황을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면역치료 관련 독성(CRS, ICANS, 가성 진행)과 관리 원칙을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뇌종양 면역치료의 설계 원칙과 바이오마커를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면역관문억제제의 경험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CAR-T와 세포 치료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백신·바이러스·기타 면역 접근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독성과 반응 평가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면역관문억제제의 경험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근거: 흑색종·폐암에서 극적 효과, 뇌전이에서도 반응 → 교모세포종 기대.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결과: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재발 교모세포종(CheckMate 143 — 니볼루맙 vs 베바시주맙), 신규 진단(CheckMate 498/548) 모두 1차 결과 실패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실패 요인(B09 L02):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낮은 TMB와 신생항원 부족, T세포 침윤 부족·소진.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강력한 억제 미세환경(TAM, Treg, TGF-β, IDO1, 아데노신).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스테로이드 사용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(부종 조절 — 림프구 기능 억제).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장벽과 전달, 림프 배출 경로 손상.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면역관문억제제의 경험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T세포의 골수 격리(S1P1 하향).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예외와 신호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과돌연변이 종양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(배선 MMR 결손 — CMMRD, 린치; 테모졸로마이드 후 과돌연변이 일부)에서 반응 사례.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수술 전(neoadjuvant) 투여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재발 교모세포종에서 수술 전 펨브롤리주맙이 종양 내 T세포 활성·인터페론 반응을 늘리고 생존을 개선한 소규모 무작위 연구(Cloughesy 2019) → '언제 주는가'가 중요.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뇌전이(흑색종·폐암)는 전신 종양 면역이 작동해 반응률이 높다.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교훈: 뇌종양에서는 관문 차단 단독보다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항원 공급(백신·바이러스) + 억제 해제 + 전달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조합이 필요하다.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CAR-T와 세포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원리: 환자 T세포에 종양 항원을 인식하는 키메라 수용체(scFv–공자극–CD3ζ)를 도입 → MHC 비의존적 종양 살해(B02 L12).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투여 경로: 정맥(전신) vs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종양강·뇌실 내(국소)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국소 투여가 종양 접근성과 전신 독성 면에서 유리.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과제: 항원 이질성·소실, T세포 지속성·소진, 면역 억제 환경, 제조 시간·비용, 독성.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세포 치료: 종양 침윤 림프구(TIL), NK·CAR-NK(동종 이용 가능), 유전자 변형 대식세포(CAR-M), γδ T세포.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CAR-T와 세포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특징·결과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EGFRvIII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교모세포종 특이 변이 — 1상에서 항원 소실(antigen escape)과 면역 억제 증가로 효과 제한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IL13Rα2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국소(종양강 내·뇌실 내) 투여로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 관해 사례 보고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(City of Hope, NEJM 2016) — 반복 뇌실 내 투여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HER2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소아 뇌종양·수모세포종 — 뇌실 내 투여 안전성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GD2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미만성 정중선 신경교종(H3 K27M)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2024 Nature: 정맥 + 뇌실 내 투여로 상당수 환자에서 신경학적·영상 호전; 종양 염증 연관 신경독성(TIAN) 관리 필요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B7-H3, EphA2, CD133, 다중 표적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이질성 극복을 위한 다중·'탠덤' CAR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백신·바이러스·기타 면역 접근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설계 원칙: ① 항원을 공급하고(백신·바이러스로 '뜨겁게'), ② 억제를 풀고(관문·TAM·TGF-β), ③ 전달을 확보하며(국소 투여·초음파), ④ 스테로이드를 최소화하고, ⑤ 수술 전 투여로 조직에서 면역 반응을 직접 확인한다.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백신·바이러스·기타 면역 접근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펩타이드 백신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리린토리모제네 리도르플라스미드(EGFRvIII 'rindopepimut') — 3상 실패(항원 소실);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IDH1 R132H 펩타이드 백신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(NOA-16 — 면역 반응·안전성 입증, 가성 진행 흔함)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수지상세포 백신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DCVax-L(자가 종양 용해물) — 외부 대조 기반 생존 이득 보고(2023, 설계 논란)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맞춤 신생항원 백신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mRNA·펩타이드 — 1상에서 T세포 반응 유도(Keskin 2019); 흑색종 성공을 뇌종양으로 확장 시도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종양용해 바이러스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DNX-2401(타스아데노투렙, 아데노바이러스), 일본 승인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테세르파투레브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(G47Δ, 3세대 HSV-1) — 재발 교모세포종 1년 생존율 개선; PVSRIPO(폴리오-리노바이러스 키메라) — 일부 장기 생존자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사이토카인·국소 면역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IL-12(조절형 유전자치료), 종양 내 전달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TAM 표적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CSF1R 억제, CD47–SIRPα 차단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이중특이 항체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EGFRvIII×CD3 등 T세포 유인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독성과 반응 평가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사이토카인 방출 증후군(CRS)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발열·저혈압·저산소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토실리주맙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(IL-6R) ± 스테로이드; CAR-T 전신 투여에서 흔함.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면역효과세포 관련 신경독성(ICANS)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혼동·실어·진전·경련·뇌부종 — 혈액뇌장벽 투과성 증가·내피 활성·IL-1/IL-6 매개 → ICE 점수 평가, 스테로이드가 1차(ICANS에서는 토실리주맙이 CNS에 도달하지 않아 제한적), 아나킨라 연구.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염증 연관 신경독성(TIAN)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뇌종양 CAR-T에서 종양 부위 염증·부종에 의한 국소 신경 증상 — 위치에 따라 생명을 위협(뇌간) → 뇌실 배액·고장성 치료·스테로이드.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면역관문억제제 신경독성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뇌하수체염·중증 근무력증·근염·뇌염·신경병증(B08 L06).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독성과 반응 평가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반응 평가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면역치료에서는 초기 병변 증가(가성 진행·염증 침윤)가 흔함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iRANO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(6개월 이내 진행 소견은 3개월 후 확인 필요, 신경학적 악화 없을 때) 적용; 조직·CSF 기반 평가 보조.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GD2 CAR-T의 미만성 정중선 신경교종 결과는 '치료 불가'로 여겨진 소아 뇌간 종양에서 처음으로 의미 있는 임상 반응을 보여 세포 치료의 돌파구로 평가된다.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전(window-of-opportunity) 시험 설계가 뇌종양 면역치료의 표준 개발 전략으로 자리 잡고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집속 초음파로 혈액뇌장벽을 열어 항체·CAR-T·백신 전달을 높이는 시도가 임상 단계에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면역관문억제제는 낮은 TMB, T세포 부족·소진, 강한 억제 환경, 스테로이드 때문에 교모세포종에서 실패했다.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CAR-T는 국소(뇌실·종양강) 투여로 가능성을 보였으며 GD2 표적이 미만성 정중선 신경교종에서 임상 반응을 입증했다.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백신·종양용해 바이러스는 항원을 공급해 '차가운' 종양을 뜨겁게 만드는 전략이며 일부 장기 생존 사례가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CRS·ICANS·TIAN 등 면역치료 독성은 발생 기전이 다르므로 각각에 맞는 관리가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면역치료 반응 평가에는 가성 진행을 고려한 iRANO 기준을 적용한다.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뇌종양 면역치료 중 스테로이드 사용을 최소화하려는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덱사메타손 같은 글루코코르티코이드는 T세포 증식·기능과 사이토카인 생산을 억제하고 림프구 수를 줄여 면역치료의 효과를 크게 떨어뜨린다. 실제 임상 연구에서 기저 스테로이드 사용량이 많을수록 면역관문억제제 반응과 생존이 나빴다. 따라서 가능한 한 낮은 용량을 쓰고 베바시주맙 등 대체 수단을 고려한다.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EGFRvIII 표적 CAR-T·백신 치료가 기대만큼 효과를 내지 못한 주된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항원 소실 때문이다. EGFRvIII은 종양 내에서도 일부 세포에만 발현되는 이질적 항원이어서, 치료로 양성 세포가 제거되면 음성 클론이 남아 재발한다. 또한 치료 후 면역 억제 환경이 강화되었다. 이 경험은 다중 표적 CAR와 항원 소실을 고려한 설계의 필요성을 보여주었다.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교모세포종에서 수술 전 면역관문억제제를 투여하는 설계의 장점은?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종양이 체내에 있는 상태에서 약물을 투여하면 종양 항원이 충분히 존재해 T세포가 활성화될 기회가 생기고, 이후 절제 조직에서 면역 반응(T세포 클론 확장, 인터페론 신호)을 직접 확인할 수 있다. 소규모 무작위 연구에서 수술 전 투여군의 생존이 더 좋았으며, 이는 약물의 작용 여부를 조직으로 검증하는 설계의 가치를 보여준다.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CAR-T 치료 후 발생한 ICANS와 CRS의 치료가 다른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CRS는 전신 IL-6 과다가 핵심이어서 IL-6 수용체 항체인 토실리주맙이 효과적이다. 반면 ICANS는 혈액뇌장벽 투과성 증가와 중추 내 IL-1·IL-6, 내피 활성이 관여하는데 토실리주맙은 중추로 충분히 들어가지 못하고 오히려 혈중 IL-6를 높일 수 있어, 스테로이드가 1차 치료이며 아나킨라(IL-1 차단) 등이 연구된다.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Reardon DA et al. Effect of nivolumab vs bevacizumab in patients with recurrent glioblastoma (CheckMate 143). JAMA Oncol 2020;6:1003–1010.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Cloughesy TF et al. Neoadjuvant anti-PD-1 immunotherapy promotes a survival benefit in recurrent glioblastoma. Nat Med 2019;25:477–486.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Brown CE et al. Regression of glioblastoma after chimeric antigen receptor T-cell therapy. N Engl J Med 2016;375:2561–2569.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B09-L06  ·  뇌종양 면역치료와 세포 치료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Monje M et al. Intravenous and intracranial GD2-CAR T cells for H3K27M+ diffuse midline gliomas. Nature 2025;637:708–715.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Todo T et al. Intratumoral oncolytic herpes virus G47Δ for residual or recurrent glioblastoma: a phase 2 trial. Nat Med 2022;28:1630–1639.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