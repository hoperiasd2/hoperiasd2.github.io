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코데인 자체는 진통 효과가 약한 전구약물로 CYP2D6가 모르핀으로 전환해야 작용한다. 초고속 대사자는 같은 용량에서 모르핀 생성이 과도해 호흡 억제와 사망까지 일어날 수 있고, 수유부가 복용하면 모유를 통해 영아에게 전달된다. 반대로 저기능자는 진통 효과가 거의 없다. 이 양방향 위험 때문에 소아와 수유부에게는 코데인을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만성 에탄올이 CYP2E1을 유도해 NAPQI 생성 비율이 커지는 동시에, 영양 불량과 금식으로 글루타티온 저장이 감소하고 글루쿠론산·황산 결합 능력도 떨어진다. 그 결과 통상 용량에서도 중화되지 않은 NAPQI가 중심엽 간세포 단백과 공유 결합해 괴사를 일으킨다. 이런 환자에서는 용량 상한을 낮추고 N-아세틸시스테인 투여 기준을 보수적으로 적용한다.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리팜핀은 PXR을 통해 CYP3A4와 P-당단백을 강력히 유도해 타크로리무스·사이클로스포린·시롤리무스 농도를 급격히 떨어뜨리고 거부반응을 일으킨다. 농도를 자주 측정하며 용량을 크게 올려야 하고, 가능하면 리파부틴 같은 대체 약물을 고려한다. 또한 리팜핀 중단 후 유도 효과가 사라지며 농도가 급등하므로 중단 시점에도 같은 강도로 감시해야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디하이드로피리미딘 탈수소효소(DPYD) 결핍이다. 이 효소가 플루오로우라실의 80% 이상을 분해하므로 활성이 낮으면 노출이 급증해 치명적 독성이 생긴다. 투여 전 DPYD 주요 변이 유전형 검사나 우라실 농도 측정으로 선별해 용량을 감량하거나 대체 약물을 선택하며, 중증 독성 발생 시에는 우리딜 트리아세테이트를 해독제로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B10 기타질환학  ·  약물과 독성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약물대사, 약물유전체학과 약물유해반응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Drug Metabolism, Pharmacogenomics and Adverse Drug Reactions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B10-L09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1상·2상 약물대사와 수송체의 역할을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CYP 효소의 기질·억제·유도와 임상 상호작용을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약물유전체학 지표를 임상 의사결정과 연결한다.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유해반응을 기전별로 분류하고 특이반응의 면역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간·신장 기능과 특수 인구에서의 투여 조정 원리를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1상·2상 대사와 수송체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 효소와 상호작용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약물유전체학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유해반응의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 기능과 특수 인구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1상·2상 대사와 수송체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(기능화): 주로 CYP450(산화), 그 외 플라빈 함유 모노옥시게나아제, 알코올·알데하이드 탈수소효소, 에스터라아제, 잔틴 산화효소. 결과물이 더 반응성인 경우가 많아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독성 대사물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여기서 생긴다.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(결합): UGT(글루쿠론산), SULT(황산), GST(글루타티온), NAT(아세틸), TPMT·COMT·TMPT(메틸), 아미노산 결합 → 수용성 증가, 배출 용이.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(수송): 유출 — P-당단백(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ABCB1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BCRP(ABCG2), MRP; 유입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OATP1B1(SLCO1B1)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OCT, OAT. 수송체가 조직 노출을 결정하므로 상호작용의 큰 부분을 차지한다.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1상·2상 대사와 수송체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초회 통과 효과와 생체이용률: 장 CYP3A4 + P-당단백 + 간 대사. 자몽주스가 장 CYP3A4를 비가역 억제해 일부 약물(펠로디핀, 일부 스타틴, 타크로리무스)의 농도를 크게 올린다.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1상·2상 대사와 수송체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수송체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의미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P-당단백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디곡신·DOAC 농도 변화(베라파밀·아미오다론·리팜핀), 혈액뇌장벽 배출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OATP1B1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스타틴 간 유입 — SLCO1B1 기능 저하 변이에서 심바스타틴 근육병 위험 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BCRP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로수바스타틴, 메토트렉세이트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OCT2·MATE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메트포르민 신배출 — 시메티딘·돌루테그라비르 상호작용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담즙산 수송체(BSEP)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 유발 담즙정체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CYP 효소와 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전구약물의 역설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2D6 저기능자는 코데인·트라마돌 진통 효과가 없고 타목시펜 효과가 떨어지는 반면,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초고속 대사자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코데인에서 모르핀이 과도 생성되어 호흡 억제가 생긴다(모유 수유 중 영아 사망 보고 → 소아·수유부 코데인 금기).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유도의 시간 척도: 억제는 수일 내(기전 의존 억제는 효소 재합성까지), 유도는 전사 증가와 효소 축적으로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1–2주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걸리고 중단 후 서서히 소실 → 리팜핀 중단 후 면역억제제·항응고제 농도가 급등할 수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함의 예: 아졸 + 타크로리무스(농도 급등 → 신독성), 클라리스로마이신 + 심바스타틴(횡문근분해), 리팜핀 + 경구피임약(실패), 리팜핀 + 리네졸리드·DOAC(효과 상실), 리토나비르 "부스팅"의 의도적 활용.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CYP 효소와 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기질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유도제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3A4/5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(약물의 ~50%)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타크로리무스, 사이클로스포린, 스타틴(심바·로바), DOAC, 대부분 항암제, 미다졸람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아졸(케토·보리·이트라), 마크롤라이드(클라리·에리),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리토나비르/코비시스타트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자몽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카르바마제핀, 페니토인, 세인트존스워트, 에파비렌즈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2D6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(유전다형성 큼)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코데인·트라마돌(활성화), 타목시펜(활성화), 메토프롤롤, 아리피프라졸, 아토목세틴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플루옥세틴·파록세틴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부프로피온, 퀴니딘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유도 거의 없음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2C19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클로피도그렐(활성화), PPI, 보리코나졸, 시탈로프람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오메프라졸, 플루복사민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2C9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와파린 S-이성체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페니토인, NSAID, 글리메피리드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플루코나졸, 아미오다론, 메트로니다졸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1A2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테오필린, 클로자핀, 올란자핀, 카페인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시프로플록사신, 플루복사민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흡연(다환방향족)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숯불구이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2E1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아세트아미노펜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에탄올, 할로탄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알코올, 금식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게놈 외 결정 요인도 크다: 연령, 임신, 간·신 기능, 체성분, 염증(IL-6가 CYP3A4·2C19를 억제 → 급성기에 약물 농도 변동), 미생물군(디곡신 불활성화, 레보도파 대사), 동반 약물.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결정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HLA-B*57:01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아바카비르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투여 전 검사 필수 — 양성이면 금기(과민 증후군)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HLA-B*15:02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카르바마제핀(아시아인)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SJS/TEN — 선별 후 회피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HLA-B*58:01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알로푸리놀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피부 유해반응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HLA-A*31:01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카르바마제핀(유럽인)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DRESS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TPMT, NUDT15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아자티오프린·6-MP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저활성 → 심한 골수억제, 용량 대폭 감량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DPYD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플루오로우라실·카페시타빈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 → 치명적 독성, 투여 전 검사 권고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UGT1A1*28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이리노테칸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호중구감소·설사 위험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CYP2C19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클로피도그렐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저기능 → 프라수그렐·티카그렐러로 전환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결정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CYP2C9 + VKORC1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와파린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용량 예측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CYP2D6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코데인·타목시펜·일부 정신과 약물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표현형에 따른 선택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SLCO1B1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심바스타틴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근육병 위험 — 다른 스타틴 선택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프리마퀸·답손·라스부리카제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용혈 위험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RYR1/CACNA1S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휘발성 마취제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악성 고열증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MT-RNR1 m.1555A&gt;G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아미노글리코사이드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난청 위험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 매개 피부 반응의 기전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약물 또는 대사물이 HLA 분자의 결합 홈에 끼어들어 자기 펩타이드 제시를 바꾸거나(아바카비르-HLA-B*57:01의 "변경된 자기 레퍼토리") 직접 TCR과 상호작용 → 약물 특이 CD8 T세포 활성 → 그랜자임·그래뉼리신 매개 표피 괴사(TEN). 치료는 즉시 중단, 화상 수준 지지 요법, 사이클로스포린·TNF 억제제·IVIG(근거는 제한적).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DRESS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2–8주 지연, 발열·발진·호산구·장기 침범(간·신·심), HHV-6 재활성화 동반. 중단 후에도 악화할 수 있어 장기 스테로이드 감량이 필요하고 갑상선 기능을 추적한다.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유발 간손상(DILI)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내재형(용량 의존)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아세트아미노펜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특이형 — 아목시실린-클라불란산, 이소니아지드, 보조식품(아나볼릭 스테로이드, 녹차 추출물). R 비(ALT/ULN ÷ ALP/ULN)로 간세포형·담즙정체형 구분,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하이의 법칙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(ALT 상승 + 빌리루빈 상승 + 다른 원인 배제)은 중증 위험 신호.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아세트아미노펜의 생화학: 대부분 글루쿠론산·황산 결합, 소량이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CYP2E1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로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NAPQI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생성 → 글루타티온이 중화. 과용·만성 알코올(CYP2E1 유도)·금식·영양실조(글루타티온 고갈)에서 NAPQI가 간세포 단백을 공유 결합 → 중심엽 괴사. 치료는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N-아세틸시스테인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(글루타티온 전구체 + NAPQI 직접 결합) — 조기 투여가 결정적이며 럼액-매튜 노모그램으로 판단한다.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중요 기전: QT 연장(hERG 통로 차단 — 전해질·서맥·CYP 억제가 가중), 세로토닌 증후군(과반사·근경직·고열·동공 확대), 신경이완제 악성 증후군(D2 차단 — 경직·서반사), 약물 유발 루푸스(하이드랄라진·프로카인아마이드 — 느린 아세틸화자), 횡문근분해(스타틴 조합).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— 용량 의존·예측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약리 작용의 연장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항응고제 출혈, 인슐린 저혈당, β차단제 서맥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— 특이반응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면역·대사적 특이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SJS/TEN, DRESS, 아나필락시스, 특이성 간손상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— 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노출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아미오다론 폐·갑상선, 스테로이드 골소실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— 지연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잠복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발암, 기형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 — 중단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스테로이드 부신 억제, β차단제 반동, 데노수맙 반동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상관: 다약제 복용 노인에서 새로 생긴 혼돈, 낙상, 저나트륨, 신기능 악화는 "새 질병"보다 먼저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의심해야 한다. 처방 연쇄(한 약의 부작용을 다른 약으로 치료)를 끊는 것이 치료일 수 있고, 항콜린 부담 합산과 Beers·STOPP 기준 검토가 구체적 도구다. 반대로 어떤 약을 뺄 때는 중단 반응(E형)을 예상해 단계적으로 줄인다.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장기 기능과 특수 인구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신기능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수용성·신배출 약물(아미노글리코사이드, 반코마이신, DOAC, 메트포르민, 가바펜틴, 디곡신, 리튬) 용량 조정. eGFR 추정식의 한계(근육량, 급성 변화) — 급성 신손상에서는 추정이 과대평가될 수 있다. 투석 제거 여부(분자량·단백 결합·분포용적)를 고려해 투석 후 보충.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간기능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1상 대사가 2상보다 먼저 영향을 받고, 알부민 감소로 유리 분율이 증가하며(페니토인·와파린), 문맥 단락으로 초회 통과가 줄어 생체이용률이 커진다. 차일드-퓨 등급에 따라 감량하고, 간부전에서 진정제·NSAID·아세트아미노펜 고용량을 피한다.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장기 기능과 특수 인구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임신·수유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분포용적·신혈류 증가(라모트리진·리튬 용량 증가 필요), 태반 통과, 기형유발 시기(기관 형성기). 금기 예: ACEi/ARB(2·3분기 신독성), 발프로산(신경관 결손·인지), 이소트레티노인, 와파린(1분기), 테트라사이클린. 수유 중에는 M/P 비와 영아 상대 용량으로 판단한다.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소아·노인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신생아는 UGT·CYP 미성숙(클로람페니콜 회색 증후군, 빌리루빈 경쟁), 소아는 체중 기준이지만 일부 효소 활성이 성인보다 높다. 노인은 체지방·수분 변화, 신기능 저하, 약력학적 민감도 증가(벤조디아제핀, 항콜린제).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치료적 약물 농도 감시(TDM)가 필요한 약: 반코마이신(AUC 기반), 아미노글리코사이드, 디곡신, 리튬, 페니토인(알부민 보정), 테오필린, 면역억제제, 일부 항암제·항생제.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선제적 범유전체 약물유전형 검사(한 번 검사하고 평생 활용)가 유해반응을 줄인다는 전향적 결과가 보고되며 전자의무기록 연동이 확산되고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 오가노이드와 다장기 미세생리 시스템이 특이성 약물 간손상의 예측 모델로 개발되고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염증과 미생물군에 따른 약물 대사 변동을 반영한 동적 용량 결정이 중환자·항암 영역에서 연구되고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 대사는 반응성 중간체를 만들고 2상 결합이 이를 해독하므로 균형이 깨질 때 독성이 발생한다.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CYP3A4와 2D6, 그리고 OATP1B1·P-당단백 수송체가 임상 상호작용의 대부분을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HLA 대립유전자 선별과 TPMT·NUDT15·DPYD 검사는 투여 전 필수적인 안전 조치다.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아세트아미노펜 독성은 CYP2E1 유래 NAPQI와 글루타티온 고갈의 문제이며 조기 N-아세틸시스테인이 해답이다.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다약제 노인의 새 증상은 질병보다 약물과 처방 연쇄를 먼저 의심해야 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CYP2D6 초고속 대사자에게 코데인이 위험한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코데인 자체는 진통 효과가 약한 전구약물로 CYP2D6가 모르핀으로 전환해야 작용한다. 초고속 대사자는 같은 용량에서 모르핀 생성이 과도해 호흡 억제와 사망까지 일어날 수 있고, 수유부가 복용하면 모유를 통해 영아에게 전달된다. 반대로 저기능자는 진통 효과가 거의 없다. 이 양방향 위험 때문에 소아와 수유부에게는 코데인을 쓰지 않는다.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알코올 사용자가 치료 용량의 아세트아미노펜에도 간독성을 보일 수 있는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만성 에탄올이 CYP2E1을 유도해 NAPQI 생성 비율이 커지는 동시에, 영양 불량과 금식으로 글루타티온 저장이 감소하고 글루쿠론산·황산 결합 능력도 떨어진다. 그 결과 통상 용량에서도 중화되지 않은 NAPQI가 중심엽 간세포 단백과 공유 결합해 괴사를 일으킨다. 이런 환자에서는 용량 상한을 낮추고 N-아세틸시스테인 투여 기준을 보수적으로 적용한다.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결핵 치료를 위해 리팜핀을 시작한 신장이식 환자에서 무엇을 어떻게 조정해야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리팜핀은 PXR을 통해 CYP3A4와 P-당단백을 강력히 유도해 타크로리무스·사이클로스포린·시롤리무스 농도를 급격히 떨어뜨리고 거부반응을 일으킨다. 농도를 자주 측정하며 용량을 크게 올려야 하고, 가능하면 리파부틴 같은 대체 약물을 고려한다. 또한 리팜핀 중단 후 유도 효과가 사라지며 농도가 급등하므로 중단 시점에도 같은 강도로 감시해야 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플루오로우라실 투여 후 심한 점막염과 골수억제가 생겼다. 의심할 유전적 원인과 예방법은?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디하이드로피리미딘 탈수소효소(DPYD) 결핍이다. 이 효소가 플루오로우라실의 80% 이상을 분해하므로 활성이 낮으면 노출이 급증해 치명적 독성이 생긴다. 투여 전 DPYD 주요 변이 유전형 검사나 우라실 농도 측정으로 선별해 용량을 감량하거나 대체 약물을 선택하며, 중증 독성 발생 시에는 우리딜 트리아세테이트를 해독제로 사용한다.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Zanger UM, Schwab M. Cytochrome P450 enzymes in drug metabolism. Pharmacol Ther 2013;138:103–141.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Relling MV, Evans WE. Pharmacogenomics in the clinic. Nature 2015;526:343–350.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Pirmohamed M et al. Adverse drug reactions as cause of admission to hospital. BMJ 2004;329:15–19.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Larson AM et al. Acetaminophen-induced acute liver failure. Hepatology 2005;42:1364–1372.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Swen JJ et al. A 12-gene pharmacogenetic panel to prevent adverse drug reactions (PREPARE). Lancet 2023;401:347–356.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