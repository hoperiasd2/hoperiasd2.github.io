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초기에는 라페핵의 5-HT1A 자가수용체가 활성화되어 세로토닌 뉴런의 발화를 줄이므로 투사 영역의 전달 증가가 제한된다. 수주에 걸쳐 자가수용체가 둔감화되면서 전달이 실제로 늘고, 동시에 BDNF-TrkB와 mTORC1 경로를 통한 시냅스 리모델링과 해마 신경생성이 일어난다. 임상 반응은 이 적응적 가소성 변화의 시간 척도를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중뇌변연 경로 차단은 양성 증상을 개선하는 치료 효과를 낸다. 중뇌피질 경로 차단은 음성·인지 증상을 악화시킬 수 있다. 흑색질-선조체 차단은 급성 추체외로 증상과 장기적으로 지연성 운동이상을 일으킨다. 결절누두 차단은 프로락틴 억제를 풀어 유즙분비, 성기능 장애, 골밀도 감소를 유발한다.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담배 연기의 다환방향족탄화수소가 CYP1A2를 유도하므로 금연하면 유도가 사라져 클로자핀 농도가 크게 상승한다. 진정, 기립성 저혈압, 발작, 침흘림, 변비 악화가 나타날 수 있다. 금연 시점에 용량을 줄이고 혈중 농도와 임상 증상을 추적하며, 니코틴 대체 요법 자체는 CYP1A2에 영향을 주지 않는다는 점을 함께 고려한다.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무과립세포증 위험 때문에 절대호중구수를 정해진 일정으로 반복 측정해야 한다. 그 외 초기 수주의 심근염(흉통·발열·빈맥·트로포닌·CRP), 발작 위험(용량 의존), 심한 변비와 마비성 장폐색, 기립성 저혈압, 체중·혈당·지질 변화를 감시한다. 이런 부담에도 클로자핀을 쓰는 이유는 치료 저항성에서 유일하게 우월한 효과와 자살 위험 감소가 입증되었기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B10 기타질환학  ·  정신과 통합</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정신질환의 신경생화학과 정신약물학</a:t>
            </a:r>
          </a:p>
          <a:p>
            <a:r>
              <a:rPr sz="2000" b="0" i="0">
                <a:solidFill>
                  <a:srgbClr val="C2CDD6"/>
                </a:solidFill>
                <a:latin typeface="Malgun Gothic"/>
                <a:ea typeface="Malgun Gothic"/>
                <a:cs typeface="Malgun Gothic"/>
              </a:rPr>
              <a:t>Neurochemistry of Psychiatric Disease and Psychopharmacology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B10-L11</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주요 신경전달물질 체계와 정신질환의 연관을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우울·불안의 모노아민·가소성·염증 가설을 통합적으로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정신분열증의 도파민·글루타메이트 모형과 항정신병약물의 약리를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양극성장애·중독의 분자 기전과 약물 작용을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정신약물의 대사·부작용·감시를 임상적으로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신경전달물질 체계의 지도</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우울·불안: 모노아민을 넘어서</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정신분열증: 도파민과 글루타메이트</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양극성장애와 중독</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정신약물의 대사와 감시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신경전달물질 체계의 지도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정신질환은 단일 전달물질의 "결핍"이 아니라 </a:t>
            </a:r>
            <a:r>
              <a:rPr sz="2000" b="1" i="0">
                <a:solidFill>
                  <a:srgbClr val="11202B"/>
                </a:solidFill>
                <a:latin typeface="Malgun Gothic"/>
                <a:ea typeface="Malgun Gothic"/>
                <a:cs typeface="Malgun Gothic"/>
              </a:rPr>
              <a:t>회로 수준의 기능 이상</a:t>
            </a:r>
            <a:r>
              <a:rPr sz="2000" b="0" i="0">
                <a:solidFill>
                  <a:srgbClr val="11202B"/>
                </a:solidFill>
                <a:latin typeface="Malgun Gothic"/>
                <a:ea typeface="Malgun Gothic"/>
                <a:cs typeface="Malgun Gothic"/>
              </a:rPr>
              <a:t>이다. 전전두 피질-선조체-시상 회로(집행·강박), 편도-해마-전전두(공포·기억), 보상 회로(동기·중독), 디폴트 모드 네트워크(반추)가 핵심 축이다.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유전 구조: 대부분 </a:t>
            </a:r>
            <a:r>
              <a:rPr sz="2000" b="1" i="0">
                <a:solidFill>
                  <a:srgbClr val="11202B"/>
                </a:solidFill>
                <a:latin typeface="Malgun Gothic"/>
                <a:ea typeface="Malgun Gothic"/>
                <a:cs typeface="Malgun Gothic"/>
              </a:rPr>
              <a:t>고도 다유전자성</a:t>
            </a:r>
            <a:r>
              <a:rPr sz="2000" b="0" i="0">
                <a:solidFill>
                  <a:srgbClr val="11202B"/>
                </a:solidFill>
                <a:latin typeface="Malgun Gothic"/>
                <a:ea typeface="Malgun Gothic"/>
                <a:cs typeface="Malgun Gothic"/>
              </a:rPr>
              <a:t>이며 정신분열증·양극성·우울증 사이에 유전적 상관이 크다. 드문 큰 효과 변이(22q11.2 결실, SETD1A)와 보체 C4 복제수(시냅스 가지치기)가 기전 단서를 제공했다.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신경전달물질 체계의 지도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300" b="1" i="0">
                          <a:solidFill>
                            <a:srgbClr val="FFFFFF"/>
                          </a:solidFill>
                          <a:latin typeface="Malgun Gothic"/>
                          <a:ea typeface="Malgun Gothic"/>
                          <a:cs typeface="Malgun Gothic"/>
                        </a:rPr>
                        <a:t>체계</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기원 핵</a:t>
                      </a:r>
                    </a:p>
                  </a:txBody>
                  <a:tcPr marL="73152" marR="73152">
                    <a:solidFill>
                      <a:srgbClr val="003C71"/>
                    </a:solidFill>
                  </a:tcPr>
                </a:tc>
                <a:tc>
                  <a:txBody>
                    <a:bodyPr/>
                    <a:lstStyle/>
                    <a:p>
                      <a:r>
                        <a:rPr sz="1300" b="1" i="0">
                          <a:solidFill>
                            <a:srgbClr val="FFFFFF"/>
                          </a:solidFill>
                          <a:latin typeface="Malgun Gothic"/>
                          <a:ea typeface="Malgun Gothic"/>
                          <a:cs typeface="Malgun Gothic"/>
                        </a:rPr>
                        <a:t>주 수용체</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기능</a:t>
                      </a:r>
                    </a:p>
                  </a:txBody>
                  <a:tcPr marL="73152" marR="73152">
                    <a:solidFill>
                      <a:srgbClr val="003C71"/>
                    </a:solidFill>
                  </a:tcPr>
                </a:tc>
                <a:tc>
                  <a:txBody>
                    <a:bodyPr/>
                    <a:lstStyle/>
                    <a:p>
                      <a:r>
                        <a:rPr sz="1300" b="1" i="0">
                          <a:solidFill>
                            <a:srgbClr val="FFFFFF"/>
                          </a:solidFill>
                          <a:latin typeface="Malgun Gothic"/>
                          <a:ea typeface="Malgun Gothic"/>
                          <a:cs typeface="Malgun Gothic"/>
                        </a:rPr>
                        <a:t>관련 질환</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세로토닌</a:t>
                      </a:r>
                    </a:p>
                  </a:txBody>
                  <a:tcPr marL="73152" marR="73152">
                    <a:solidFill>
                      <a:srgbClr val="FFFFFF"/>
                    </a:solidFill>
                  </a:tcPr>
                </a:tc>
                <a:tc>
                  <a:txBody>
                    <a:bodyPr/>
                    <a:lstStyle/>
                    <a:p>
                      <a:r>
                        <a:rPr sz="1300" b="0" i="0">
                          <a:solidFill>
                            <a:srgbClr val="11202B"/>
                          </a:solidFill>
                          <a:latin typeface="Malgun Gothic"/>
                          <a:ea typeface="Malgun Gothic"/>
                          <a:cs typeface="Malgun Gothic"/>
                        </a:rPr>
                        <a:t>등쪽 라페</a:t>
                      </a:r>
                    </a:p>
                  </a:txBody>
                  <a:tcPr marL="73152" marR="73152">
                    <a:solidFill>
                      <a:srgbClr val="FFFFFF"/>
                    </a:solidFill>
                  </a:tcPr>
                </a:tc>
                <a:tc>
                  <a:txBody>
                    <a:bodyPr/>
                    <a:lstStyle/>
                    <a:p>
                      <a:r>
                        <a:rPr sz="1300" b="0" i="0">
                          <a:solidFill>
                            <a:srgbClr val="11202B"/>
                          </a:solidFill>
                          <a:latin typeface="Malgun Gothic"/>
                          <a:ea typeface="Malgun Gothic"/>
                          <a:cs typeface="Malgun Gothic"/>
                        </a:rPr>
                        <a:t>5-HT1A(자가수용체), 2A(환각·항정신병), 2C, 3(구역), 7</a:t>
                      </a:r>
                    </a:p>
                  </a:txBody>
                  <a:tcPr marL="73152" marR="73152">
                    <a:solidFill>
                      <a:srgbClr val="FFFFFF"/>
                    </a:solidFill>
                  </a:tcPr>
                </a:tc>
                <a:tc>
                  <a:txBody>
                    <a:bodyPr/>
                    <a:lstStyle/>
                    <a:p>
                      <a:r>
                        <a:rPr sz="1300" b="0" i="0">
                          <a:solidFill>
                            <a:srgbClr val="11202B"/>
                          </a:solidFill>
                          <a:latin typeface="Malgun Gothic"/>
                          <a:ea typeface="Malgun Gothic"/>
                          <a:cs typeface="Malgun Gothic"/>
                        </a:rPr>
                        <a:t>기분, 충동, 수면, 식욕</a:t>
                      </a:r>
                    </a:p>
                  </a:txBody>
                  <a:tcPr marL="73152" marR="73152">
                    <a:solidFill>
                      <a:srgbClr val="FFFFFF"/>
                    </a:solidFill>
                  </a:tcPr>
                </a:tc>
                <a:tc>
                  <a:txBody>
                    <a:bodyPr/>
                    <a:lstStyle/>
                    <a:p>
                      <a:r>
                        <a:rPr sz="1300" b="0" i="0">
                          <a:solidFill>
                            <a:srgbClr val="11202B"/>
                          </a:solidFill>
                          <a:latin typeface="Malgun Gothic"/>
                          <a:ea typeface="Malgun Gothic"/>
                          <a:cs typeface="Malgun Gothic"/>
                        </a:rPr>
                        <a:t>우울, 불안, 강박</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노르에피네프린</a:t>
                      </a:r>
                    </a:p>
                  </a:txBody>
                  <a:tcPr marL="73152" marR="73152">
                    <a:solidFill>
                      <a:srgbClr val="ECF1F5"/>
                    </a:solidFill>
                  </a:tcPr>
                </a:tc>
                <a:tc>
                  <a:txBody>
                    <a:bodyPr/>
                    <a:lstStyle/>
                    <a:p>
                      <a:r>
                        <a:rPr sz="1300" b="0" i="0">
                          <a:solidFill>
                            <a:srgbClr val="11202B"/>
                          </a:solidFill>
                          <a:latin typeface="Malgun Gothic"/>
                          <a:ea typeface="Malgun Gothic"/>
                          <a:cs typeface="Malgun Gothic"/>
                        </a:rPr>
                        <a:t>청반</a:t>
                      </a:r>
                    </a:p>
                  </a:txBody>
                  <a:tcPr marL="73152" marR="73152">
                    <a:solidFill>
                      <a:srgbClr val="ECF1F5"/>
                    </a:solidFill>
                  </a:tcPr>
                </a:tc>
                <a:tc>
                  <a:txBody>
                    <a:bodyPr/>
                    <a:lstStyle/>
                    <a:p>
                      <a:r>
                        <a:rPr sz="1300" b="0" i="0">
                          <a:solidFill>
                            <a:srgbClr val="11202B"/>
                          </a:solidFill>
                          <a:latin typeface="Malgun Gothic"/>
                          <a:ea typeface="Malgun Gothic"/>
                          <a:cs typeface="Malgun Gothic"/>
                        </a:rPr>
                        <a:t>α1, α2(자가수용체), β</a:t>
                      </a:r>
                    </a:p>
                  </a:txBody>
                  <a:tcPr marL="73152" marR="73152">
                    <a:solidFill>
                      <a:srgbClr val="ECF1F5"/>
                    </a:solidFill>
                  </a:tcPr>
                </a:tc>
                <a:tc>
                  <a:txBody>
                    <a:bodyPr/>
                    <a:lstStyle/>
                    <a:p>
                      <a:r>
                        <a:rPr sz="1300" b="0" i="0">
                          <a:solidFill>
                            <a:srgbClr val="11202B"/>
                          </a:solidFill>
                          <a:latin typeface="Malgun Gothic"/>
                          <a:ea typeface="Malgun Gothic"/>
                          <a:cs typeface="Malgun Gothic"/>
                        </a:rPr>
                        <a:t>각성, 주의, 스트레스</a:t>
                      </a:r>
                    </a:p>
                  </a:txBody>
                  <a:tcPr marL="73152" marR="73152">
                    <a:solidFill>
                      <a:srgbClr val="ECF1F5"/>
                    </a:solidFill>
                  </a:tcPr>
                </a:tc>
                <a:tc>
                  <a:txBody>
                    <a:bodyPr/>
                    <a:lstStyle/>
                    <a:p>
                      <a:r>
                        <a:rPr sz="1300" b="0" i="0">
                          <a:solidFill>
                            <a:srgbClr val="11202B"/>
                          </a:solidFill>
                          <a:latin typeface="Malgun Gothic"/>
                          <a:ea typeface="Malgun Gothic"/>
                          <a:cs typeface="Malgun Gothic"/>
                        </a:rPr>
                        <a:t>우울, PTSD, ADHD</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도파민</a:t>
                      </a:r>
                    </a:p>
                  </a:txBody>
                  <a:tcPr marL="73152" marR="73152">
                    <a:solidFill>
                      <a:srgbClr val="FFFFFF"/>
                    </a:solidFill>
                  </a:tcPr>
                </a:tc>
                <a:tc>
                  <a:txBody>
                    <a:bodyPr/>
                    <a:lstStyle/>
                    <a:p>
                      <a:r>
                        <a:rPr sz="1300" b="1" i="0">
                          <a:solidFill>
                            <a:srgbClr val="11202B"/>
                          </a:solidFill>
                          <a:latin typeface="Malgun Gothic"/>
                          <a:ea typeface="Malgun Gothic"/>
                          <a:cs typeface="Malgun Gothic"/>
                        </a:rPr>
                        <a:t>VTA</a:t>
                      </a:r>
                      <a:r>
                        <a:rPr sz="1300" b="0" i="0">
                          <a:solidFill>
                            <a:srgbClr val="11202B"/>
                          </a:solidFill>
                          <a:latin typeface="Malgun Gothic"/>
                          <a:ea typeface="Malgun Gothic"/>
                          <a:cs typeface="Malgun Gothic"/>
                        </a:rPr>
                        <a:t>(중뇌피질·중뇌변연), 흑색질(운동), 시상하부(결절누두)</a:t>
                      </a:r>
                    </a:p>
                  </a:txBody>
                  <a:tcPr marL="73152" marR="73152">
                    <a:solidFill>
                      <a:srgbClr val="FFFFFF"/>
                    </a:solidFill>
                  </a:tcPr>
                </a:tc>
                <a:tc>
                  <a:txBody>
                    <a:bodyPr/>
                    <a:lstStyle/>
                    <a:p>
                      <a:r>
                        <a:rPr sz="1300" b="0" i="0">
                          <a:solidFill>
                            <a:srgbClr val="11202B"/>
                          </a:solidFill>
                          <a:latin typeface="Malgun Gothic"/>
                          <a:ea typeface="Malgun Gothic"/>
                          <a:cs typeface="Malgun Gothic"/>
                        </a:rPr>
                        <a:t>D1 유사(D1, D5), D2 유사(D2–D4)</a:t>
                      </a:r>
                    </a:p>
                  </a:txBody>
                  <a:tcPr marL="73152" marR="73152">
                    <a:solidFill>
                      <a:srgbClr val="FFFFFF"/>
                    </a:solidFill>
                  </a:tcPr>
                </a:tc>
                <a:tc>
                  <a:txBody>
                    <a:bodyPr/>
                    <a:lstStyle/>
                    <a:p>
                      <a:r>
                        <a:rPr sz="1300" b="0" i="0">
                          <a:solidFill>
                            <a:srgbClr val="11202B"/>
                          </a:solidFill>
                          <a:latin typeface="Malgun Gothic"/>
                          <a:ea typeface="Malgun Gothic"/>
                          <a:cs typeface="Malgun Gothic"/>
                        </a:rPr>
                        <a:t>보상·동기, 운동, 프로락틴 억제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정신분열, 중독, 파킨슨</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글루타메이트</a:t>
                      </a:r>
                    </a:p>
                  </a:txBody>
                  <a:tcPr marL="73152" marR="73152">
                    <a:solidFill>
                      <a:srgbClr val="ECF1F5"/>
                    </a:solidFill>
                  </a:tcPr>
                </a:tc>
                <a:tc>
                  <a:txBody>
                    <a:bodyPr/>
                    <a:lstStyle/>
                    <a:p>
                      <a:r>
                        <a:rPr sz="1300" b="0" i="0">
                          <a:solidFill>
                            <a:srgbClr val="11202B"/>
                          </a:solidFill>
                          <a:latin typeface="Malgun Gothic"/>
                          <a:ea typeface="Malgun Gothic"/>
                          <a:cs typeface="Malgun Gothic"/>
                        </a:rPr>
                        <a:t>전역</a:t>
                      </a:r>
                    </a:p>
                  </a:txBody>
                  <a:tcPr marL="73152" marR="73152">
                    <a:solidFill>
                      <a:srgbClr val="ECF1F5"/>
                    </a:solidFill>
                  </a:tcPr>
                </a:tc>
                <a:tc>
                  <a:txBody>
                    <a:bodyPr/>
                    <a:lstStyle/>
                    <a:p>
                      <a:r>
                        <a:rPr sz="1300" b="0" i="0">
                          <a:solidFill>
                            <a:srgbClr val="11202B"/>
                          </a:solidFill>
                          <a:latin typeface="Malgun Gothic"/>
                          <a:ea typeface="Malgun Gothic"/>
                          <a:cs typeface="Malgun Gothic"/>
                        </a:rPr>
                        <a:t>AMPA, NMDA, 카이네이트, mGluR</a:t>
                      </a:r>
                    </a:p>
                  </a:txBody>
                  <a:tcPr marL="73152" marR="73152">
                    <a:solidFill>
                      <a:srgbClr val="ECF1F5"/>
                    </a:solidFill>
                  </a:tcPr>
                </a:tc>
                <a:tc>
                  <a:txBody>
                    <a:bodyPr/>
                    <a:lstStyle/>
                    <a:p>
                      <a:r>
                        <a:rPr sz="1300" b="0" i="0">
                          <a:solidFill>
                            <a:srgbClr val="11202B"/>
                          </a:solidFill>
                          <a:latin typeface="Malgun Gothic"/>
                          <a:ea typeface="Malgun Gothic"/>
                          <a:cs typeface="Malgun Gothic"/>
                        </a:rPr>
                        <a:t>흥분, 가소성</a:t>
                      </a:r>
                    </a:p>
                  </a:txBody>
                  <a:tcPr marL="73152" marR="73152">
                    <a:solidFill>
                      <a:srgbClr val="ECF1F5"/>
                    </a:solidFill>
                  </a:tcPr>
                </a:tc>
                <a:tc>
                  <a:txBody>
                    <a:bodyPr/>
                    <a:lstStyle/>
                    <a:p>
                      <a:r>
                        <a:rPr sz="1300" b="0" i="0">
                          <a:solidFill>
                            <a:srgbClr val="11202B"/>
                          </a:solidFill>
                          <a:latin typeface="Malgun Gothic"/>
                          <a:ea typeface="Malgun Gothic"/>
                          <a:cs typeface="Malgun Gothic"/>
                        </a:rPr>
                        <a:t>정신분열, 우울, 뇌전증</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GABA</a:t>
                      </a:r>
                    </a:p>
                  </a:txBody>
                  <a:tcPr marL="73152" marR="73152">
                    <a:solidFill>
                      <a:srgbClr val="FFFFFF"/>
                    </a:solidFill>
                  </a:tcPr>
                </a:tc>
                <a:tc>
                  <a:txBody>
                    <a:bodyPr/>
                    <a:lstStyle/>
                    <a:p>
                      <a:r>
                        <a:rPr sz="1300" b="0" i="0">
                          <a:solidFill>
                            <a:srgbClr val="11202B"/>
                          </a:solidFill>
                          <a:latin typeface="Malgun Gothic"/>
                          <a:ea typeface="Malgun Gothic"/>
                          <a:cs typeface="Malgun Gothic"/>
                        </a:rPr>
                        <a:t>국소 중간뉴런</a:t>
                      </a:r>
                    </a:p>
                  </a:txBody>
                  <a:tcPr marL="73152" marR="73152">
                    <a:solidFill>
                      <a:srgbClr val="FFFFFF"/>
                    </a:solidFill>
                  </a:tcPr>
                </a:tc>
                <a:tc>
                  <a:txBody>
                    <a:bodyPr/>
                    <a:lstStyle/>
                    <a:p>
                      <a:r>
                        <a:rPr sz="1300" b="0" i="0">
                          <a:solidFill>
                            <a:srgbClr val="11202B"/>
                          </a:solidFill>
                          <a:latin typeface="Malgun Gothic"/>
                          <a:ea typeface="Malgun Gothic"/>
                          <a:cs typeface="Malgun Gothic"/>
                        </a:rPr>
                        <a:t>GABA-A(이온), GABA-B(G단백)</a:t>
                      </a:r>
                    </a:p>
                  </a:txBody>
                  <a:tcPr marL="73152" marR="73152">
                    <a:solidFill>
                      <a:srgbClr val="FFFFFF"/>
                    </a:solidFill>
                  </a:tcPr>
                </a:tc>
                <a:tc>
                  <a:txBody>
                    <a:bodyPr/>
                    <a:lstStyle/>
                    <a:p>
                      <a:r>
                        <a:rPr sz="1300" b="0" i="0">
                          <a:solidFill>
                            <a:srgbClr val="11202B"/>
                          </a:solidFill>
                          <a:latin typeface="Malgun Gothic"/>
                          <a:ea typeface="Malgun Gothic"/>
                          <a:cs typeface="Malgun Gothic"/>
                        </a:rPr>
                        <a:t>억제, 진정</a:t>
                      </a:r>
                    </a:p>
                  </a:txBody>
                  <a:tcPr marL="73152" marR="73152">
                    <a:solidFill>
                      <a:srgbClr val="FFFFFF"/>
                    </a:solidFill>
                  </a:tcPr>
                </a:tc>
                <a:tc>
                  <a:txBody>
                    <a:bodyPr/>
                    <a:lstStyle/>
                    <a:p>
                      <a:r>
                        <a:rPr sz="1300" b="0" i="0">
                          <a:solidFill>
                            <a:srgbClr val="11202B"/>
                          </a:solidFill>
                          <a:latin typeface="Malgun Gothic"/>
                          <a:ea typeface="Malgun Gothic"/>
                          <a:cs typeface="Malgun Gothic"/>
                        </a:rPr>
                        <a:t>불안, 뇌전증, 산후우울</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아세틸콜린</a:t>
                      </a:r>
                    </a:p>
                  </a:txBody>
                  <a:tcPr marL="73152" marR="73152">
                    <a:solidFill>
                      <a:srgbClr val="ECF1F5"/>
                    </a:solidFill>
                  </a:tcPr>
                </a:tc>
                <a:tc>
                  <a:txBody>
                    <a:bodyPr/>
                    <a:lstStyle/>
                    <a:p>
                      <a:r>
                        <a:rPr sz="1300" b="0" i="0">
                          <a:solidFill>
                            <a:srgbClr val="11202B"/>
                          </a:solidFill>
                          <a:latin typeface="Malgun Gothic"/>
                          <a:ea typeface="Malgun Gothic"/>
                          <a:cs typeface="Malgun Gothic"/>
                        </a:rPr>
                        <a:t>기저전뇌, 각뒤핵</a:t>
                      </a:r>
                    </a:p>
                  </a:txBody>
                  <a:tcPr marL="73152" marR="73152">
                    <a:solidFill>
                      <a:srgbClr val="ECF1F5"/>
                    </a:solidFill>
                  </a:tcPr>
                </a:tc>
                <a:tc>
                  <a:txBody>
                    <a:bodyPr/>
                    <a:lstStyle/>
                    <a:p>
                      <a:r>
                        <a:rPr sz="1300" b="0" i="0">
                          <a:solidFill>
                            <a:srgbClr val="11202B"/>
                          </a:solidFill>
                          <a:latin typeface="Malgun Gothic"/>
                          <a:ea typeface="Malgun Gothic"/>
                          <a:cs typeface="Malgun Gothic"/>
                        </a:rPr>
                        <a:t>니코틴성, 무스카린성</a:t>
                      </a:r>
                    </a:p>
                  </a:txBody>
                  <a:tcPr marL="73152" marR="73152">
                    <a:solidFill>
                      <a:srgbClr val="ECF1F5"/>
                    </a:solidFill>
                  </a:tcPr>
                </a:tc>
                <a:tc>
                  <a:txBody>
                    <a:bodyPr/>
                    <a:lstStyle/>
                    <a:p>
                      <a:r>
                        <a:rPr sz="1300" b="0" i="0">
                          <a:solidFill>
                            <a:srgbClr val="11202B"/>
                          </a:solidFill>
                          <a:latin typeface="Malgun Gothic"/>
                          <a:ea typeface="Malgun Gothic"/>
                          <a:cs typeface="Malgun Gothic"/>
                        </a:rPr>
                        <a:t>주의·기억, 각성</a:t>
                      </a:r>
                    </a:p>
                  </a:txBody>
                  <a:tcPr marL="73152" marR="73152">
                    <a:solidFill>
                      <a:srgbClr val="ECF1F5"/>
                    </a:solidFill>
                  </a:tcPr>
                </a:tc>
                <a:tc>
                  <a:txBody>
                    <a:bodyPr/>
                    <a:lstStyle/>
                    <a:p>
                      <a:r>
                        <a:rPr sz="1300" b="0" i="0">
                          <a:solidFill>
                            <a:srgbClr val="11202B"/>
                          </a:solidFill>
                          <a:latin typeface="Malgun Gothic"/>
                          <a:ea typeface="Malgun Gothic"/>
                          <a:cs typeface="Malgun Gothic"/>
                        </a:rPr>
                        <a:t>알츠하이머, 섬망</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신경펩타이드</a:t>
                      </a:r>
                    </a:p>
                  </a:txBody>
                  <a:tcPr marL="73152" marR="73152">
                    <a:solidFill>
                      <a:srgbClr val="FFFFFF"/>
                    </a:solidFill>
                  </a:tcPr>
                </a:tc>
                <a:tc>
                  <a:txBody>
                    <a:bodyPr/>
                    <a:lstStyle/>
                    <a:p>
                      <a:r>
                        <a:rPr sz="1300" b="0" i="0">
                          <a:solidFill>
                            <a:srgbClr val="11202B"/>
                          </a:solidFill>
                          <a:latin typeface="Malgun Gothic"/>
                          <a:ea typeface="Malgun Gothic"/>
                          <a:cs typeface="Malgun Gothic"/>
                        </a:rPr>
                        <a:t>분산</a:t>
                      </a:r>
                    </a:p>
                  </a:txBody>
                  <a:tcPr marL="73152" marR="73152">
                    <a:solidFill>
                      <a:srgbClr val="FFFFFF"/>
                    </a:solidFill>
                  </a:tcPr>
                </a:tc>
                <a:tc>
                  <a:txBody>
                    <a:bodyPr/>
                    <a:lstStyle/>
                    <a:p>
                      <a:r>
                        <a:rPr sz="1300" b="0" i="0">
                          <a:solidFill>
                            <a:srgbClr val="11202B"/>
                          </a:solidFill>
                          <a:latin typeface="Malgun Gothic"/>
                          <a:ea typeface="Malgun Gothic"/>
                          <a:cs typeface="Malgun Gothic"/>
                        </a:rPr>
                        <a:t>오렉신, CRH, 옥시토신, NPY, 서브스탠스 P</a:t>
                      </a:r>
                    </a:p>
                  </a:txBody>
                  <a:tcPr marL="73152" marR="73152">
                    <a:solidFill>
                      <a:srgbClr val="FFFFFF"/>
                    </a:solidFill>
                  </a:tcPr>
                </a:tc>
                <a:tc>
                  <a:txBody>
                    <a:bodyPr/>
                    <a:lstStyle/>
                    <a:p>
                      <a:r>
                        <a:rPr sz="1300" b="0" i="0">
                          <a:solidFill>
                            <a:srgbClr val="11202B"/>
                          </a:solidFill>
                          <a:latin typeface="Malgun Gothic"/>
                          <a:ea typeface="Malgun Gothic"/>
                          <a:cs typeface="Malgun Gothic"/>
                        </a:rPr>
                        <a:t>수면·스트레스·사회성</a:t>
                      </a:r>
                    </a:p>
                  </a:txBody>
                  <a:tcPr marL="73152" marR="73152">
                    <a:solidFill>
                      <a:srgbClr val="FFFFFF"/>
                    </a:solidFill>
                  </a:tcPr>
                </a:tc>
                <a:tc>
                  <a:txBody>
                    <a:bodyPr/>
                    <a:lstStyle/>
                    <a:p>
                      <a:r>
                        <a:rPr sz="1300" b="0" i="0">
                          <a:solidFill>
                            <a:srgbClr val="11202B"/>
                          </a:solidFill>
                          <a:latin typeface="Malgun Gothic"/>
                          <a:ea typeface="Malgun Gothic"/>
                          <a:cs typeface="Malgun Gothic"/>
                        </a:rPr>
                        <a:t>불면, PTSD</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우울·불안: 모노아민을 넘어서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고전적 모노아민 가설의 한계: SSRI는 수시간 내 시냅스 세로토닌을 올리지만 효과는 2–6주 뒤 나타난다 → </a:t>
            </a:r>
            <a:r>
              <a:rPr sz="1800" b="1" i="0">
                <a:solidFill>
                  <a:srgbClr val="11202B"/>
                </a:solidFill>
                <a:latin typeface="Malgun Gothic"/>
                <a:ea typeface="Malgun Gothic"/>
                <a:cs typeface="Malgun Gothic"/>
              </a:rPr>
              <a:t>적응적 변화</a:t>
            </a:r>
            <a:r>
              <a:rPr sz="1800" b="0" i="0">
                <a:solidFill>
                  <a:srgbClr val="11202B"/>
                </a:solidFill>
                <a:latin typeface="Malgun Gothic"/>
                <a:ea typeface="Malgun Gothic"/>
                <a:cs typeface="Malgun Gothic"/>
              </a:rPr>
              <a:t>(5-HT1A 자가수용체 둔감화, BDNF-TrkB 상향, 해마 신경생성, 시냅스 리모델링)가 실제 치료 기전에 가깝다.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가소성 가설</a:t>
            </a:r>
            <a:r>
              <a:rPr sz="1800" b="0" i="0">
                <a:solidFill>
                  <a:srgbClr val="11202B"/>
                </a:solidFill>
                <a:latin typeface="Malgun Gothic"/>
                <a:ea typeface="Malgun Gothic"/>
                <a:cs typeface="Malgun Gothic"/>
              </a:rPr>
              <a:t>: 스트레스·코르티솔이 해마 BDNF와 수상돌기 분지를 줄이고 편도는 오히려 강화 → 항우울 치료가 BDNF-TrkB-mTORC1 경로를 통해 시냅스를 회복시킨다. </a:t>
            </a:r>
            <a:r>
              <a:rPr sz="1800" b="1" i="0">
                <a:solidFill>
                  <a:srgbClr val="11202B"/>
                </a:solidFill>
                <a:latin typeface="Malgun Gothic"/>
                <a:ea typeface="Malgun Gothic"/>
                <a:cs typeface="Malgun Gothic"/>
              </a:rPr>
              <a:t>케타민</a:t>
            </a:r>
            <a:r>
              <a:rPr sz="1800" b="0" i="0">
                <a:solidFill>
                  <a:srgbClr val="11202B"/>
                </a:solidFill>
                <a:latin typeface="Malgun Gothic"/>
                <a:ea typeface="Malgun Gothic"/>
                <a:cs typeface="Malgun Gothic"/>
              </a:rPr>
              <a:t>이 수시간 내 효과를 내는 것이 이 모형의 가장 강력한 근거다(NMDA 차단 → 탈억제·AMPA 활성 → mTORC1 → 시냅스 단백 합성; 대사물 하이드록시노르케타민의 역할도 제안됨).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우울·불안: 모노아민을 넘어서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염증·대사 가설</a:t>
            </a:r>
            <a:r>
              <a:rPr sz="1800" b="0" i="0">
                <a:solidFill>
                  <a:srgbClr val="11202B"/>
                </a:solidFill>
                <a:latin typeface="Malgun Gothic"/>
                <a:ea typeface="Malgun Gothic"/>
                <a:cs typeface="Malgun Gothic"/>
              </a:rPr>
              <a:t>: 일부 우울증 환자에서 CRP·IL-6 상승, </a:t>
            </a:r>
            <a:r>
              <a:rPr sz="1800" b="1" i="0">
                <a:solidFill>
                  <a:srgbClr val="11202B"/>
                </a:solidFill>
                <a:latin typeface="Malgun Gothic"/>
                <a:ea typeface="Malgun Gothic"/>
                <a:cs typeface="Malgun Gothic"/>
              </a:rPr>
              <a:t>키누레닌 경로</a:t>
            </a:r>
            <a:r>
              <a:rPr sz="1800" b="0" i="0">
                <a:solidFill>
                  <a:srgbClr val="11202B"/>
                </a:solidFill>
                <a:latin typeface="Malgun Gothic"/>
                <a:ea typeface="Malgun Gothic"/>
                <a:cs typeface="Malgun Gothic"/>
              </a:rPr>
              <a:t> 전환(트립토판이 세로토닌 대신 키누레닌으로 — IDO 활성화; 퀴놀린산은 NMDA 작용성 신경독성, 키누렌산은 길항성) → 항염 치료가 고염증 아형에서 효과 가능성.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HPA 축: CRH-ACTH-코르티솔의 음성 피드백 둔화, 글루코코르티코이드 수용체 저항. 조기 역경이 후성유전학적 각인(NR3C1 메틸화)을 남긴다.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불안장애: 편도 과활성과 전전두 조절 저하. SSRI/SNRI가 1차, 벤조디아제핀은 단기·제한적(의존·인지·낙상), 프레가발린·부스피론·인지행동치료. PTSD에서는 프라조신(야간 악몽), 노출 기반 치료의 재강화 기전이 핵심.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우울·불안: 모노아민을 넘어서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약물군</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 포인트</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SSRI</a:t>
                      </a:r>
                    </a:p>
                  </a:txBody>
                  <a:tcPr marL="73152" marR="73152">
                    <a:solidFill>
                      <a:srgbClr val="FFFFFF"/>
                    </a:solidFill>
                  </a:tcPr>
                </a:tc>
                <a:tc>
                  <a:txBody>
                    <a:bodyPr/>
                    <a:lstStyle/>
                    <a:p>
                      <a:r>
                        <a:rPr sz="1500" b="0" i="0">
                          <a:solidFill>
                            <a:srgbClr val="11202B"/>
                          </a:solidFill>
                          <a:latin typeface="Malgun Gothic"/>
                          <a:ea typeface="Malgun Gothic"/>
                          <a:cs typeface="Malgun Gothic"/>
                        </a:rPr>
                        <a:t>SERT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1차 선택, 성기능·위장관·초기 불안 증가, 중단 증후군(파록세틴)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SNRI</a:t>
                      </a:r>
                    </a:p>
                  </a:txBody>
                  <a:tcPr marL="73152" marR="73152">
                    <a:solidFill>
                      <a:srgbClr val="ECF1F5"/>
                    </a:solidFill>
                  </a:tcPr>
                </a:tc>
                <a:tc>
                  <a:txBody>
                    <a:bodyPr/>
                    <a:lstStyle/>
                    <a:p>
                      <a:r>
                        <a:rPr sz="1500" b="0" i="0">
                          <a:solidFill>
                            <a:srgbClr val="11202B"/>
                          </a:solidFill>
                          <a:latin typeface="Malgun Gothic"/>
                          <a:ea typeface="Malgun Gothic"/>
                          <a:cs typeface="Malgun Gothic"/>
                        </a:rPr>
                        <a:t>SERT + NET</a:t>
                      </a:r>
                    </a:p>
                  </a:txBody>
                  <a:tcPr marL="73152" marR="73152">
                    <a:solidFill>
                      <a:srgbClr val="ECF1F5"/>
                    </a:solidFill>
                  </a:tcPr>
                </a:tc>
                <a:tc>
                  <a:txBody>
                    <a:bodyPr/>
                    <a:lstStyle/>
                    <a:p>
                      <a:r>
                        <a:rPr sz="1500" b="0" i="0">
                          <a:solidFill>
                            <a:srgbClr val="11202B"/>
                          </a:solidFill>
                          <a:latin typeface="Malgun Gothic"/>
                          <a:ea typeface="Malgun Gothic"/>
                          <a:cs typeface="Malgun Gothic"/>
                        </a:rPr>
                        <a:t>통증 동반 우울, 고용량에서 혈압</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부프로피온</a:t>
                      </a:r>
                    </a:p>
                  </a:txBody>
                  <a:tcPr marL="73152" marR="73152">
                    <a:solidFill>
                      <a:srgbClr val="FFFFFF"/>
                    </a:solidFill>
                  </a:tcPr>
                </a:tc>
                <a:tc>
                  <a:txBody>
                    <a:bodyPr/>
                    <a:lstStyle/>
                    <a:p>
                      <a:r>
                        <a:rPr sz="1500" b="0" i="0">
                          <a:solidFill>
                            <a:srgbClr val="11202B"/>
                          </a:solidFill>
                          <a:latin typeface="Malgun Gothic"/>
                          <a:ea typeface="Malgun Gothic"/>
                          <a:cs typeface="Malgun Gothic"/>
                        </a:rPr>
                        <a:t>NDRI</a:t>
                      </a:r>
                    </a:p>
                  </a:txBody>
                  <a:tcPr marL="73152" marR="73152">
                    <a:solidFill>
                      <a:srgbClr val="FFFFFF"/>
                    </a:solidFill>
                  </a:tcPr>
                </a:tc>
                <a:tc>
                  <a:txBody>
                    <a:bodyPr/>
                    <a:lstStyle/>
                    <a:p>
                      <a:r>
                        <a:rPr sz="1500" b="0" i="0">
                          <a:solidFill>
                            <a:srgbClr val="11202B"/>
                          </a:solidFill>
                          <a:latin typeface="Malgun Gothic"/>
                          <a:ea typeface="Malgun Gothic"/>
                          <a:cs typeface="Malgun Gothic"/>
                        </a:rPr>
                        <a:t>성기능 부작용 적음, 발작 역치 ↓(섭식장애·금단 금기), 금연 보조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미르타자핀</a:t>
                      </a:r>
                    </a:p>
                  </a:txBody>
                  <a:tcPr marL="73152" marR="73152">
                    <a:solidFill>
                      <a:srgbClr val="ECF1F5"/>
                    </a:solidFill>
                  </a:tcPr>
                </a:tc>
                <a:tc>
                  <a:txBody>
                    <a:bodyPr/>
                    <a:lstStyle/>
                    <a:p>
                      <a:r>
                        <a:rPr sz="1500" b="0" i="0">
                          <a:solidFill>
                            <a:srgbClr val="11202B"/>
                          </a:solidFill>
                          <a:latin typeface="Malgun Gothic"/>
                          <a:ea typeface="Malgun Gothic"/>
                          <a:cs typeface="Malgun Gothic"/>
                        </a:rPr>
                        <a:t>α2 길항 + 5-HT2/3 차단</a:t>
                      </a:r>
                    </a:p>
                  </a:txBody>
                  <a:tcPr marL="73152" marR="73152">
                    <a:solidFill>
                      <a:srgbClr val="ECF1F5"/>
                    </a:solidFill>
                  </a:tcPr>
                </a:tc>
                <a:tc>
                  <a:txBody>
                    <a:bodyPr/>
                    <a:lstStyle/>
                    <a:p>
                      <a:r>
                        <a:rPr sz="1500" b="0" i="0">
                          <a:solidFill>
                            <a:srgbClr val="11202B"/>
                          </a:solidFill>
                          <a:latin typeface="Malgun Gothic"/>
                          <a:ea typeface="Malgun Gothic"/>
                          <a:cs typeface="Malgun Gothic"/>
                        </a:rPr>
                        <a:t>식욕·수면 개선</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보티옥세틴·빌라조돈</a:t>
                      </a:r>
                    </a:p>
                  </a:txBody>
                  <a:tcPr marL="73152" marR="73152">
                    <a:solidFill>
                      <a:srgbClr val="FFFFFF"/>
                    </a:solidFill>
                  </a:tcPr>
                </a:tc>
                <a:tc>
                  <a:txBody>
                    <a:bodyPr/>
                    <a:lstStyle/>
                    <a:p>
                      <a:r>
                        <a:rPr sz="1500" b="0" i="0">
                          <a:solidFill>
                            <a:srgbClr val="11202B"/>
                          </a:solidFill>
                          <a:latin typeface="Malgun Gothic"/>
                          <a:ea typeface="Malgun Gothic"/>
                          <a:cs typeface="Malgun Gothic"/>
                        </a:rPr>
                        <a:t>다중 5-HT 작용</a:t>
                      </a:r>
                    </a:p>
                  </a:txBody>
                  <a:tcPr marL="73152" marR="73152">
                    <a:solidFill>
                      <a:srgbClr val="FFFFFF"/>
                    </a:solidFill>
                  </a:tcPr>
                </a:tc>
                <a:tc>
                  <a:txBody>
                    <a:bodyPr/>
                    <a:lstStyle/>
                    <a:p>
                      <a:r>
                        <a:rPr sz="1500" b="0" i="0">
                          <a:solidFill>
                            <a:srgbClr val="11202B"/>
                          </a:solidFill>
                          <a:latin typeface="Malgun Gothic"/>
                          <a:ea typeface="Malgun Gothic"/>
                          <a:cs typeface="Malgun Gothic"/>
                        </a:rPr>
                        <a:t>인지 측면 주장</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TCA</a:t>
                      </a:r>
                    </a:p>
                  </a:txBody>
                  <a:tcPr marL="73152" marR="73152">
                    <a:solidFill>
                      <a:srgbClr val="ECF1F5"/>
                    </a:solidFill>
                  </a:tcPr>
                </a:tc>
                <a:tc>
                  <a:txBody>
                    <a:bodyPr/>
                    <a:lstStyle/>
                    <a:p>
                      <a:r>
                        <a:rPr sz="1500" b="0" i="0">
                          <a:solidFill>
                            <a:srgbClr val="11202B"/>
                          </a:solidFill>
                          <a:latin typeface="Malgun Gothic"/>
                          <a:ea typeface="Malgun Gothic"/>
                          <a:cs typeface="Malgun Gothic"/>
                        </a:rPr>
                        <a:t>다중 — 무스카린·H1·α1·Na 통로</a:t>
                      </a:r>
                    </a:p>
                  </a:txBody>
                  <a:tcPr marL="73152" marR="73152">
                    <a:solidFill>
                      <a:srgbClr val="ECF1F5"/>
                    </a:solidFill>
                  </a:tcPr>
                </a:tc>
                <a:tc>
                  <a:txBody>
                    <a:bodyPr/>
                    <a:lstStyle/>
                    <a:p>
                      <a:r>
                        <a:rPr sz="1500" b="0" i="0">
                          <a:solidFill>
                            <a:srgbClr val="11202B"/>
                          </a:solidFill>
                          <a:latin typeface="Malgun Gothic"/>
                          <a:ea typeface="Malgun Gothic"/>
                          <a:cs typeface="Malgun Gothic"/>
                        </a:rPr>
                        <a:t>과용 치명적(QRS 확장)</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MAOI</a:t>
                      </a:r>
                    </a:p>
                  </a:txBody>
                  <a:tcPr marL="73152" marR="73152">
                    <a:solidFill>
                      <a:srgbClr val="FFFFFF"/>
                    </a:solidFill>
                  </a:tcPr>
                </a:tc>
                <a:tc>
                  <a:txBody>
                    <a:bodyPr/>
                    <a:lstStyle/>
                    <a:p>
                      <a:r>
                        <a:rPr sz="1500" b="0" i="0">
                          <a:solidFill>
                            <a:srgbClr val="11202B"/>
                          </a:solidFill>
                          <a:latin typeface="Malgun Gothic"/>
                          <a:ea typeface="Malgun Gothic"/>
                          <a:cs typeface="Malgun Gothic"/>
                        </a:rPr>
                        <a:t>MAO-A/B 억제</a:t>
                      </a:r>
                    </a:p>
                  </a:txBody>
                  <a:tcPr marL="73152" marR="73152">
                    <a:solidFill>
                      <a:srgbClr val="FFFFFF"/>
                    </a:solidFill>
                  </a:tcPr>
                </a:tc>
                <a:tc>
                  <a:txBody>
                    <a:bodyPr/>
                    <a:lstStyle/>
                    <a:p>
                      <a:r>
                        <a:rPr sz="1500" b="1" i="0">
                          <a:solidFill>
                            <a:srgbClr val="11202B"/>
                          </a:solidFill>
                          <a:latin typeface="Malgun Gothic"/>
                          <a:ea typeface="Malgun Gothic"/>
                          <a:cs typeface="Malgun Gothic"/>
                        </a:rPr>
                        <a:t>티라민 위기</a:t>
                      </a:r>
                      <a:r>
                        <a:rPr sz="1500" b="0" i="0">
                          <a:solidFill>
                            <a:srgbClr val="11202B"/>
                          </a:solidFill>
                          <a:latin typeface="Malgun Gothic"/>
                          <a:ea typeface="Malgun Gothic"/>
                          <a:cs typeface="Malgun Gothic"/>
                        </a:rPr>
                        <a:t>, 세로토닌 증후군 — 식이·약물 제한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케타민·에스케타민</a:t>
                      </a:r>
                    </a:p>
                  </a:txBody>
                  <a:tcPr marL="73152" marR="73152">
                    <a:solidFill>
                      <a:srgbClr val="ECF1F5"/>
                    </a:solidFill>
                  </a:tcPr>
                </a:tc>
                <a:tc>
                  <a:txBody>
                    <a:bodyPr/>
                    <a:lstStyle/>
                    <a:p>
                      <a:r>
                        <a:rPr sz="1500" b="0" i="0">
                          <a:solidFill>
                            <a:srgbClr val="11202B"/>
                          </a:solidFill>
                          <a:latin typeface="Malgun Gothic"/>
                          <a:ea typeface="Malgun Gothic"/>
                          <a:cs typeface="Malgun Gothic"/>
                        </a:rPr>
                        <a:t>NMDA</a:t>
                      </a:r>
                    </a:p>
                  </a:txBody>
                  <a:tcPr marL="73152" marR="73152">
                    <a:solidFill>
                      <a:srgbClr val="ECF1F5"/>
                    </a:solidFill>
                  </a:tcPr>
                </a:tc>
                <a:tc>
                  <a:txBody>
                    <a:bodyPr/>
                    <a:lstStyle/>
                    <a:p>
                      <a:r>
                        <a:rPr sz="1500" b="0" i="0">
                          <a:solidFill>
                            <a:srgbClr val="11202B"/>
                          </a:solidFill>
                          <a:latin typeface="Malgun Gothic"/>
                          <a:ea typeface="Malgun Gothic"/>
                          <a:cs typeface="Malgun Gothic"/>
                        </a:rPr>
                        <a:t>치료 저항·자살 사고에 신속 효과, 해리·혈압·남용 관리</a:t>
                      </a:r>
                    </a:p>
                  </a:txBody>
                  <a:tcPr marL="73152" marR="73152">
                    <a:solidFill>
                      <a:srgbClr val="ECF1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우울·불안: 모노아민을 넘어서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약물군</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 포인트</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브렉사놀론·주라놀론</a:t>
                      </a:r>
                    </a:p>
                  </a:txBody>
                  <a:tcPr marL="73152" marR="73152">
                    <a:solidFill>
                      <a:srgbClr val="FFFFFF"/>
                    </a:solidFill>
                  </a:tcPr>
                </a:tc>
                <a:tc>
                  <a:txBody>
                    <a:bodyPr/>
                    <a:lstStyle/>
                    <a:p>
                      <a:r>
                        <a:rPr sz="1500" b="0" i="0">
                          <a:solidFill>
                            <a:srgbClr val="11202B"/>
                          </a:solidFill>
                          <a:latin typeface="Malgun Gothic"/>
                          <a:ea typeface="Malgun Gothic"/>
                          <a:cs typeface="Malgun Gothic"/>
                        </a:rPr>
                        <a:t>GABA-A 양성 조절(알로프레그나놀론)</a:t>
                      </a:r>
                    </a:p>
                  </a:txBody>
                  <a:tcPr marL="73152" marR="73152">
                    <a:solidFill>
                      <a:srgbClr val="FFFFFF"/>
                    </a:solidFill>
                  </a:tcPr>
                </a:tc>
                <a:tc>
                  <a:txBody>
                    <a:bodyPr/>
                    <a:lstStyle/>
                    <a:p>
                      <a:r>
                        <a:rPr sz="1500" b="1" i="0">
                          <a:solidFill>
                            <a:srgbClr val="11202B"/>
                          </a:solidFill>
                          <a:latin typeface="Malgun Gothic"/>
                          <a:ea typeface="Malgun Gothic"/>
                          <a:cs typeface="Malgun Gothic"/>
                        </a:rPr>
                        <a:t>산후우울증</a:t>
                      </a:r>
                      <a:r>
                        <a:rPr sz="1500" b="0" i="0">
                          <a:solidFill>
                            <a:srgbClr val="11202B"/>
                          </a:solidFill>
                          <a:latin typeface="Malgun Gothic"/>
                          <a:ea typeface="Malgun Gothic"/>
                          <a:cs typeface="Malgun Gothic"/>
                        </a:rPr>
                        <a:t> — 호르몬-신경스테로이드 축의 치료적 구현</a:t>
                      </a:r>
                    </a:p>
                  </a:txBody>
                  <a:tcPr marL="73152" marR="7315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정신분열증: 도파민과 글루타메이트</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600" b="1" i="0">
                <a:solidFill>
                  <a:srgbClr val="003C71"/>
                </a:solidFill>
                <a:latin typeface="Malgun Gothic"/>
                <a:ea typeface="Malgun Gothic"/>
                <a:cs typeface="Malgun Gothic"/>
              </a:rPr>
              <a:t>▪ </a:t>
            </a:r>
            <a:r>
              <a:rPr sz="1600" b="1" i="0">
                <a:solidFill>
                  <a:srgbClr val="11202B"/>
                </a:solidFill>
                <a:latin typeface="Malgun Gothic"/>
                <a:ea typeface="Malgun Gothic"/>
                <a:cs typeface="Malgun Gothic"/>
              </a:rPr>
              <a:t>도파민 가설</a:t>
            </a:r>
            <a:r>
              <a:rPr sz="1600" b="0" i="0">
                <a:solidFill>
                  <a:srgbClr val="11202B"/>
                </a:solidFill>
                <a:latin typeface="Malgun Gothic"/>
                <a:ea typeface="Malgun Gothic"/>
                <a:cs typeface="Malgun Gothic"/>
              </a:rPr>
              <a:t>의 근거와 수정: 모든 효과적 항정신병약물은 </a:t>
            </a:r>
            <a:r>
              <a:rPr sz="1600" b="1" i="0">
                <a:solidFill>
                  <a:srgbClr val="11202B"/>
                </a:solidFill>
                <a:latin typeface="Malgun Gothic"/>
                <a:ea typeface="Malgun Gothic"/>
                <a:cs typeface="Malgun Gothic"/>
              </a:rPr>
              <a:t>D2 수용체 차단</a:t>
            </a:r>
            <a:r>
              <a:rPr sz="1600" b="0" i="0">
                <a:solidFill>
                  <a:srgbClr val="11202B"/>
                </a:solidFill>
                <a:latin typeface="Malgun Gothic"/>
                <a:ea typeface="Malgun Gothic"/>
                <a:cs typeface="Malgun Gothic"/>
              </a:rPr>
              <a:t>(또는 부분 작용) 작용을 가지며, 암페타민은 정신증을 유발한다. 영상 연구는 1차 이상이 선조체(특히 연합 선조체) </a:t>
            </a:r>
            <a:r>
              <a:rPr sz="1600" b="1" i="0">
                <a:solidFill>
                  <a:srgbClr val="11202B"/>
                </a:solidFill>
                <a:latin typeface="Malgun Gothic"/>
                <a:ea typeface="Malgun Gothic"/>
                <a:cs typeface="Malgun Gothic"/>
              </a:rPr>
              <a:t>도파민 합성능 증가</a:t>
            </a:r>
            <a:r>
              <a:rPr sz="1600" b="0" i="0">
                <a:solidFill>
                  <a:srgbClr val="11202B"/>
                </a:solidFill>
                <a:latin typeface="Malgun Gothic"/>
                <a:ea typeface="Malgun Gothic"/>
                <a:cs typeface="Malgun Gothic"/>
              </a:rPr>
              <a:t>에 있음을 보여, 수용체 자체보다 전시냅스 조절이 중심이라는 모형으로 이동했다.</a:t>
            </a:r>
          </a:p>
          <a:p>
            <a:pPr>
              <a:spcAft>
                <a:spcPts val="800"/>
              </a:spcAft>
            </a:pPr>
            <a:r>
              <a:rPr sz="1600" b="1" i="0">
                <a:solidFill>
                  <a:srgbClr val="003C71"/>
                </a:solidFill>
                <a:latin typeface="Malgun Gothic"/>
                <a:ea typeface="Malgun Gothic"/>
                <a:cs typeface="Malgun Gothic"/>
              </a:rPr>
              <a:t>▪ </a:t>
            </a:r>
            <a:r>
              <a:rPr sz="1600" b="1" i="0">
                <a:solidFill>
                  <a:srgbClr val="11202B"/>
                </a:solidFill>
                <a:latin typeface="Malgun Gothic"/>
                <a:ea typeface="Malgun Gothic"/>
                <a:cs typeface="Malgun Gothic"/>
              </a:rPr>
              <a:t>글루타메이트 가설</a:t>
            </a:r>
            <a:r>
              <a:rPr sz="1600" b="0" i="0">
                <a:solidFill>
                  <a:srgbClr val="11202B"/>
                </a:solidFill>
                <a:latin typeface="Malgun Gothic"/>
                <a:ea typeface="Malgun Gothic"/>
                <a:cs typeface="Malgun Gothic"/>
              </a:rPr>
              <a:t>: NMDA 길항제(케타민, 펜사이클리딘)가 양성·음성·인지 증상을 모두 재현한다 → GABA성 중간뉴런(파발부민)의 NMDA 수용체 기능 저하 → 피라미드 뉴런 탈억제와 감마 진동 이상 → 하류 도파민 조절 이상. 신경발달·시냅스 가지치기 과잉(보체 C4) 가설과 연결된다.</a:t>
            </a:r>
          </a:p>
          <a:p>
            <a:pPr>
              <a:spcAft>
                <a:spcPts val="800"/>
              </a:spcAft>
            </a:pPr>
            <a:r>
              <a:rPr sz="1600" b="1" i="0">
                <a:solidFill>
                  <a:srgbClr val="003C71"/>
                </a:solidFill>
                <a:latin typeface="Malgun Gothic"/>
                <a:ea typeface="Malgun Gothic"/>
                <a:cs typeface="Malgun Gothic"/>
              </a:rPr>
              <a:t>▪ </a:t>
            </a:r>
            <a:r>
              <a:rPr sz="1600" b="0" i="0">
                <a:solidFill>
                  <a:srgbClr val="11202B"/>
                </a:solidFill>
                <a:latin typeface="Malgun Gothic"/>
                <a:ea typeface="Malgun Gothic"/>
                <a:cs typeface="Malgun Gothic"/>
              </a:rPr>
              <a:t>긴급 상황: </a:t>
            </a:r>
            <a:r>
              <a:rPr sz="1600" b="1" i="0">
                <a:solidFill>
                  <a:srgbClr val="11202B"/>
                </a:solidFill>
                <a:latin typeface="Malgun Gothic"/>
                <a:ea typeface="Malgun Gothic"/>
                <a:cs typeface="Malgun Gothic"/>
              </a:rPr>
              <a:t>신경이완제 악성 증후군</a:t>
            </a:r>
            <a:r>
              <a:rPr sz="1600" b="0" i="0">
                <a:solidFill>
                  <a:srgbClr val="11202B"/>
                </a:solidFill>
                <a:latin typeface="Malgun Gothic"/>
                <a:ea typeface="Malgun Gothic"/>
                <a:cs typeface="Malgun Gothic"/>
              </a:rPr>
              <a:t>(고열·납관 경직·CK 상승·자율신경 불안정 — 원인 약 중단, 냉각, 단트롤렌·브로모크립틴)과 세로토닌 증후군(클로누스·과반사 — 사이프로헵타딘)의 구분이 중요하다.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정신분열증: 도파민과 글루타메이트</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경로</a:t>
                      </a:r>
                    </a:p>
                  </a:txBody>
                  <a:tcPr marL="73152" marR="73152">
                    <a:solidFill>
                      <a:srgbClr val="003C71"/>
                    </a:solidFill>
                  </a:tcPr>
                </a:tc>
                <a:tc>
                  <a:txBody>
                    <a:bodyPr/>
                    <a:lstStyle/>
                    <a:p>
                      <a:r>
                        <a:rPr sz="1500" b="1" i="0">
                          <a:solidFill>
                            <a:srgbClr val="FFFFFF"/>
                          </a:solidFill>
                          <a:latin typeface="Malgun Gothic"/>
                          <a:ea typeface="Malgun Gothic"/>
                          <a:cs typeface="Malgun Gothic"/>
                        </a:rPr>
                        <a:t>차단의 결과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중뇌변연</a:t>
                      </a:r>
                    </a:p>
                  </a:txBody>
                  <a:tcPr marL="73152" marR="73152">
                    <a:solidFill>
                      <a:srgbClr val="FFFFFF"/>
                    </a:solidFill>
                  </a:tcPr>
                </a:tc>
                <a:tc>
                  <a:txBody>
                    <a:bodyPr/>
                    <a:lstStyle/>
                    <a:p>
                      <a:r>
                        <a:rPr sz="1500" b="0" i="0">
                          <a:solidFill>
                            <a:srgbClr val="11202B"/>
                          </a:solidFill>
                          <a:latin typeface="Malgun Gothic"/>
                          <a:ea typeface="Malgun Gothic"/>
                          <a:cs typeface="Malgun Gothic"/>
                        </a:rPr>
                        <a:t>양성 증상 개선(치료 효과)</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중뇌피질</a:t>
                      </a:r>
                    </a:p>
                  </a:txBody>
                  <a:tcPr marL="73152" marR="73152">
                    <a:solidFill>
                      <a:srgbClr val="ECF1F5"/>
                    </a:solidFill>
                  </a:tcPr>
                </a:tc>
                <a:tc>
                  <a:txBody>
                    <a:bodyPr/>
                    <a:lstStyle/>
                    <a:p>
                      <a:r>
                        <a:rPr sz="1500" b="0" i="0">
                          <a:solidFill>
                            <a:srgbClr val="11202B"/>
                          </a:solidFill>
                          <a:latin typeface="Malgun Gothic"/>
                          <a:ea typeface="Malgun Gothic"/>
                          <a:cs typeface="Malgun Gothic"/>
                        </a:rPr>
                        <a:t>음성·인지 증상 악화 가능</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흑색질-선조체</a:t>
                      </a:r>
                    </a:p>
                  </a:txBody>
                  <a:tcPr marL="73152" marR="73152">
                    <a:solidFill>
                      <a:srgbClr val="FFFFFF"/>
                    </a:solidFill>
                  </a:tcPr>
                </a:tc>
                <a:tc>
                  <a:txBody>
                    <a:bodyPr/>
                    <a:lstStyle/>
                    <a:p>
                      <a:r>
                        <a:rPr sz="1500" b="1" i="0">
                          <a:solidFill>
                            <a:srgbClr val="11202B"/>
                          </a:solidFill>
                          <a:latin typeface="Malgun Gothic"/>
                          <a:ea typeface="Malgun Gothic"/>
                          <a:cs typeface="Malgun Gothic"/>
                        </a:rPr>
                        <a:t>추체외로 증상</a:t>
                      </a:r>
                      <a:r>
                        <a:rPr sz="1500" b="0" i="0">
                          <a:solidFill>
                            <a:srgbClr val="11202B"/>
                          </a:solidFill>
                          <a:latin typeface="Malgun Gothic"/>
                          <a:ea typeface="Malgun Gothic"/>
                          <a:cs typeface="Malgun Gothic"/>
                        </a:rPr>
                        <a:t>, 지연성 운동이상</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결절누두</a:t>
                      </a:r>
                    </a:p>
                  </a:txBody>
                  <a:tcPr marL="73152" marR="73152">
                    <a:solidFill>
                      <a:srgbClr val="ECF1F5"/>
                    </a:solidFill>
                  </a:tcPr>
                </a:tc>
                <a:tc>
                  <a:txBody>
                    <a:bodyPr/>
                    <a:lstStyle/>
                    <a:p>
                      <a:r>
                        <a:rPr sz="1500" b="0" i="0">
                          <a:solidFill>
                            <a:srgbClr val="11202B"/>
                          </a:solidFill>
                          <a:latin typeface="Malgun Gothic"/>
                          <a:ea typeface="Malgun Gothic"/>
                          <a:cs typeface="Malgun Gothic"/>
                        </a:rPr>
                        <a:t>프로락틴 상승(유즙분비·성기능·골소실)</a:t>
                      </a:r>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정신분열증: 도파민과 글루타메이트</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특성</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1세대(할로페리돌, 클로르프로마진)</a:t>
                      </a:r>
                    </a:p>
                  </a:txBody>
                  <a:tcPr marL="73152" marR="73152">
                    <a:solidFill>
                      <a:srgbClr val="FFFFFF"/>
                    </a:solidFill>
                  </a:tcPr>
                </a:tc>
                <a:tc>
                  <a:txBody>
                    <a:bodyPr/>
                    <a:lstStyle/>
                    <a:p>
                      <a:r>
                        <a:rPr sz="1500" b="0" i="0">
                          <a:solidFill>
                            <a:srgbClr val="11202B"/>
                          </a:solidFill>
                          <a:latin typeface="Malgun Gothic"/>
                          <a:ea typeface="Malgun Gothic"/>
                          <a:cs typeface="Malgun Gothic"/>
                        </a:rPr>
                        <a:t>강한 D2 차단 — EPS·지연성 운동이상 위험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2세대(리스페리돈, 올란자핀, 쿠에티아핀, 지프라시돈)</a:t>
                      </a:r>
                    </a:p>
                  </a:txBody>
                  <a:tcPr marL="73152" marR="73152">
                    <a:solidFill>
                      <a:srgbClr val="ECF1F5"/>
                    </a:solidFill>
                  </a:tcPr>
                </a:tc>
                <a:tc>
                  <a:txBody>
                    <a:bodyPr/>
                    <a:lstStyle/>
                    <a:p>
                      <a:r>
                        <a:rPr sz="1500" b="0" i="0">
                          <a:solidFill>
                            <a:srgbClr val="11202B"/>
                          </a:solidFill>
                          <a:latin typeface="Malgun Gothic"/>
                          <a:ea typeface="Malgun Gothic"/>
                          <a:cs typeface="Malgun Gothic"/>
                        </a:rPr>
                        <a:t>D2 + 5-HT2A 차단 — EPS 적지만 </a:t>
                      </a:r>
                      <a:r>
                        <a:rPr sz="1500" b="1" i="0">
                          <a:solidFill>
                            <a:srgbClr val="11202B"/>
                          </a:solidFill>
                          <a:latin typeface="Malgun Gothic"/>
                          <a:ea typeface="Malgun Gothic"/>
                          <a:cs typeface="Malgun Gothic"/>
                        </a:rPr>
                        <a:t>대사 부작용</a:t>
                      </a:r>
                      <a:r>
                        <a:rPr sz="1500" b="0" i="0">
                          <a:solidFill>
                            <a:srgbClr val="11202B"/>
                          </a:solidFill>
                          <a:latin typeface="Malgun Gothic"/>
                          <a:ea typeface="Malgun Gothic"/>
                          <a:cs typeface="Malgun Gothic"/>
                        </a:rPr>
                        <a:t>(올란자핀·클로자핀 최대)</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부분 작용제(아리피프라졸, 브렉스피프라졸, 카리프라진)</a:t>
                      </a:r>
                    </a:p>
                  </a:txBody>
                  <a:tcPr marL="73152" marR="73152">
                    <a:solidFill>
                      <a:srgbClr val="FFFFFF"/>
                    </a:solidFill>
                  </a:tcPr>
                </a:tc>
                <a:tc>
                  <a:txBody>
                    <a:bodyPr/>
                    <a:lstStyle/>
                    <a:p>
                      <a:r>
                        <a:rPr sz="1500" b="0" i="0">
                          <a:solidFill>
                            <a:srgbClr val="11202B"/>
                          </a:solidFill>
                          <a:latin typeface="Malgun Gothic"/>
                          <a:ea typeface="Malgun Gothic"/>
                          <a:cs typeface="Malgun Gothic"/>
                        </a:rPr>
                        <a:t>D2 부분 작용 — 프로락틴·대사 부담 상대적으로 적음, 좌불안석</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클로자핀</a:t>
                      </a:r>
                    </a:p>
                  </a:txBody>
                  <a:tcPr marL="73152" marR="73152">
                    <a:solidFill>
                      <a:srgbClr val="ECF1F5"/>
                    </a:solidFill>
                  </a:tcPr>
                </a:tc>
                <a:tc>
                  <a:txBody>
                    <a:bodyPr/>
                    <a:lstStyle/>
                    <a:p>
                      <a:r>
                        <a:rPr sz="1500" b="0" i="0">
                          <a:solidFill>
                            <a:srgbClr val="11202B"/>
                          </a:solidFill>
                          <a:latin typeface="Malgun Gothic"/>
                          <a:ea typeface="Malgun Gothic"/>
                          <a:cs typeface="Malgun Gothic"/>
                        </a:rPr>
                        <a:t>치료 저항성에서 유일하게 우월, 자살 감소 — </a:t>
                      </a:r>
                      <a:r>
                        <a:rPr sz="1500" b="1" i="0">
                          <a:solidFill>
                            <a:srgbClr val="11202B"/>
                          </a:solidFill>
                          <a:latin typeface="Malgun Gothic"/>
                          <a:ea typeface="Malgun Gothic"/>
                          <a:cs typeface="Malgun Gothic"/>
                        </a:rPr>
                        <a:t>무과립세포증</a:t>
                      </a:r>
                      <a:r>
                        <a:rPr sz="1500" b="0" i="0">
                          <a:solidFill>
                            <a:srgbClr val="11202B"/>
                          </a:solidFill>
                          <a:latin typeface="Malgun Gothic"/>
                          <a:ea typeface="Malgun Gothic"/>
                          <a:cs typeface="Malgun Gothic"/>
                        </a:rPr>
                        <a:t>(정기 혈액 감시), 심근염, 변비·장폐색, 발작, 침흘림</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무스카린 작용제(자노멜린-트로스피움)</a:t>
                      </a:r>
                    </a:p>
                  </a:txBody>
                  <a:tcPr marL="73152" marR="73152">
                    <a:solidFill>
                      <a:srgbClr val="FFFFFF"/>
                    </a:solidFill>
                  </a:tcPr>
                </a:tc>
                <a:tc>
                  <a:txBody>
                    <a:bodyPr/>
                    <a:lstStyle/>
                    <a:p>
                      <a:r>
                        <a:rPr sz="1500" b="0" i="0">
                          <a:solidFill>
                            <a:srgbClr val="11202B"/>
                          </a:solidFill>
                          <a:latin typeface="Malgun Gothic"/>
                          <a:ea typeface="Malgun Gothic"/>
                          <a:cs typeface="Malgun Gothic"/>
                        </a:rPr>
                        <a:t>D2 비의존 새 기전 — M1/M4 작용으로 도파민 간접 조절, 말초 부작용은 트로스피움으로 차단</a:t>
                      </a:r>
                    </a:p>
                  </a:txBody>
                  <a:tcP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양극성장애와 중독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리튬</a:t>
            </a:r>
            <a:r>
              <a:rPr sz="1800" b="0" i="0">
                <a:solidFill>
                  <a:srgbClr val="11202B"/>
                </a:solidFill>
                <a:latin typeface="Malgun Gothic"/>
                <a:ea typeface="Malgun Gothic"/>
                <a:cs typeface="Malgun Gothic"/>
              </a:rPr>
              <a:t>: 기전은 다중 — 이노시톨 모노포스파타아제 억제(이노시톨 고갈), </a:t>
            </a:r>
            <a:r>
              <a:rPr sz="1800" b="1" i="0">
                <a:solidFill>
                  <a:srgbClr val="11202B"/>
                </a:solidFill>
                <a:latin typeface="Malgun Gothic"/>
                <a:ea typeface="Malgun Gothic"/>
                <a:cs typeface="Malgun Gothic"/>
              </a:rPr>
              <a:t>GSK-3β 억제</a:t>
            </a:r>
            <a:r>
              <a:rPr sz="1800" b="0" i="0">
                <a:solidFill>
                  <a:srgbClr val="11202B"/>
                </a:solidFill>
                <a:latin typeface="Malgun Gothic"/>
                <a:ea typeface="Malgun Gothic"/>
                <a:cs typeface="Malgun Gothic"/>
              </a:rPr>
              <a:t>(WNT·세포 보호), 신경보호·BDNF, 자가포식 조절. 자살 감소 효과가 입증된 소수의 약물. 치료 범위가 좁아 </a:t>
            </a:r>
            <a:r>
              <a:rPr sz="1800" b="1" i="0">
                <a:solidFill>
                  <a:srgbClr val="11202B"/>
                </a:solidFill>
                <a:latin typeface="Malgun Gothic"/>
                <a:ea typeface="Malgun Gothic"/>
                <a:cs typeface="Malgun Gothic"/>
              </a:rPr>
              <a:t>농도 감시</a:t>
            </a:r>
            <a:r>
              <a:rPr sz="1800" b="0" i="0">
                <a:solidFill>
                  <a:srgbClr val="11202B"/>
                </a:solidFill>
                <a:latin typeface="Malgun Gothic"/>
                <a:ea typeface="Malgun Gothic"/>
                <a:cs typeface="Malgun Gothic"/>
              </a:rPr>
              <a:t>가 필수이며, 신장(요농축 장애·요붕증·만성 신질환), 갑상선·부갑상선, 체중, 임신 중 심장 기형(에브스타인) 고려. </a:t>
            </a:r>
            <a:r>
              <a:rPr sz="1800" b="1" i="0">
                <a:solidFill>
                  <a:srgbClr val="11202B"/>
                </a:solidFill>
                <a:latin typeface="Malgun Gothic"/>
                <a:ea typeface="Malgun Gothic"/>
                <a:cs typeface="Malgun Gothic"/>
              </a:rPr>
              <a:t>NSAID·티아지드·ACEi·탈수</a:t>
            </a:r>
            <a:r>
              <a:rPr sz="1800" b="0" i="0">
                <a:solidFill>
                  <a:srgbClr val="11202B"/>
                </a:solidFill>
                <a:latin typeface="Malgun Gothic"/>
                <a:ea typeface="Malgun Gothic"/>
                <a:cs typeface="Malgun Gothic"/>
              </a:rPr>
              <a:t>가 농도를 올린다.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발프로산(HDAC 억제, GABA ↑ — 가임기 여성에서 신경관 결손·인지 영향으로 회피), 라모트리진(우울 삽화 예방, 발진·SJS — 서서히 증량), 카르바마제핀(자가 유도·상호작용), 2세대 항정신병약물(쿠에티아핀, 루라시돈, 카리프라진).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양극성장애와 중독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중독의 신경생물학</a:t>
            </a:r>
            <a:r>
              <a:rPr sz="2000" b="0" i="0">
                <a:solidFill>
                  <a:srgbClr val="11202B"/>
                </a:solidFill>
                <a:latin typeface="Malgun Gothic"/>
                <a:ea typeface="Malgun Gothic"/>
                <a:cs typeface="Malgun Gothic"/>
              </a:rPr>
              <a:t>: 급성 보상(VTA → 중격측좌핵 도파민) → 반복 노출로 </a:t>
            </a:r>
            <a:r>
              <a:rPr sz="2000" b="1" i="0">
                <a:solidFill>
                  <a:srgbClr val="11202B"/>
                </a:solidFill>
                <a:latin typeface="Malgun Gothic"/>
                <a:ea typeface="Malgun Gothic"/>
                <a:cs typeface="Malgun Gothic"/>
              </a:rPr>
              <a:t>보상 역치 상승</a:t>
            </a:r>
            <a:r>
              <a:rPr sz="2000" b="0" i="0">
                <a:solidFill>
                  <a:srgbClr val="11202B"/>
                </a:solidFill>
                <a:latin typeface="Malgun Gothic"/>
                <a:ea typeface="Malgun Gothic"/>
                <a:cs typeface="Malgun Gothic"/>
              </a:rPr>
              <a:t>(쾌감 감소)과 유인 민감화 → 습관 회로(배측 선조체)로 이동 → 금단·부정 감정 상태(CRH, 노르에피네프린, 다이놀핀) → 전전두 조절 기능 저하. 즉 "의지의 문제"가 아니라 회로 질환이다.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금단의 생화학적 대칭성: 알코올 금단의 과흥분(NMDA 상향 + GABA-A 하향), 오피오이드 금단의 청반 노르에피네프린 폭발(클로니딘·록소니딘이 완화), 벤조디아제핀 금단의 발작 위험.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양극성장애와 중독</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물질</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 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치료</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오피오이드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μ 수용체</a:t>
                      </a:r>
                    </a:p>
                  </a:txBody>
                  <a:tcPr marL="73152" marR="73152">
                    <a:solidFill>
                      <a:srgbClr val="FFFFFF"/>
                    </a:solidFill>
                  </a:tcPr>
                </a:tc>
                <a:tc>
                  <a:txBody>
                    <a:bodyPr/>
                    <a:lstStyle/>
                    <a:p>
                      <a:r>
                        <a:rPr sz="1500" b="1" i="0">
                          <a:solidFill>
                            <a:srgbClr val="11202B"/>
                          </a:solidFill>
                          <a:latin typeface="Malgun Gothic"/>
                          <a:ea typeface="Malgun Gothic"/>
                          <a:cs typeface="Malgun Gothic"/>
                        </a:rPr>
                        <a:t>메타돈·부프레노르핀</a:t>
                      </a:r>
                      <a:r>
                        <a:rPr sz="1500" b="0" i="0">
                          <a:solidFill>
                            <a:srgbClr val="11202B"/>
                          </a:solidFill>
                          <a:latin typeface="Malgun Gothic"/>
                          <a:ea typeface="Malgun Gothic"/>
                          <a:cs typeface="Malgun Gothic"/>
                        </a:rPr>
                        <a:t>(사망률 감소), 날트렉손, 날록손 보급</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알코올</a:t>
                      </a:r>
                    </a:p>
                  </a:txBody>
                  <a:tcPr marL="73152" marR="73152">
                    <a:solidFill>
                      <a:srgbClr val="ECF1F5"/>
                    </a:solidFill>
                  </a:tcPr>
                </a:tc>
                <a:tc>
                  <a:txBody>
                    <a:bodyPr/>
                    <a:lstStyle/>
                    <a:p>
                      <a:r>
                        <a:rPr sz="1500" b="0" i="0">
                          <a:solidFill>
                            <a:srgbClr val="11202B"/>
                          </a:solidFill>
                          <a:latin typeface="Malgun Gothic"/>
                          <a:ea typeface="Malgun Gothic"/>
                          <a:cs typeface="Malgun Gothic"/>
                        </a:rPr>
                        <a:t>GABA-A ↑, NMDA ↓(만성 시 보상적 역전 → 금단 흥분)</a:t>
                      </a:r>
                    </a:p>
                  </a:txBody>
                  <a:tcPr marL="73152" marR="73152">
                    <a:solidFill>
                      <a:srgbClr val="ECF1F5"/>
                    </a:solidFill>
                  </a:tcPr>
                </a:tc>
                <a:tc>
                  <a:txBody>
                    <a:bodyPr/>
                    <a:lstStyle/>
                    <a:p>
                      <a:r>
                        <a:rPr sz="1500" b="0" i="0">
                          <a:solidFill>
                            <a:srgbClr val="11202B"/>
                          </a:solidFill>
                          <a:latin typeface="Malgun Gothic"/>
                          <a:ea typeface="Malgun Gothic"/>
                          <a:cs typeface="Malgun Gothic"/>
                        </a:rPr>
                        <a:t>날트렉손, 아캄프로세이트, 디설피람; 금단은 벤조디아제핀 + </a:t>
                      </a:r>
                      <a:r>
                        <a:rPr sz="1500" b="1" i="0">
                          <a:solidFill>
                            <a:srgbClr val="11202B"/>
                          </a:solidFill>
                          <a:latin typeface="Malgun Gothic"/>
                          <a:ea typeface="Malgun Gothic"/>
                          <a:cs typeface="Malgun Gothic"/>
                        </a:rPr>
                        <a:t>티아민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니코틴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α4β2 니코틴성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바레니클린(부분 작용), 부프로피온, 니코틴 대체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코카인·암페타민</a:t>
                      </a:r>
                    </a:p>
                  </a:txBody>
                  <a:tcPr marL="73152" marR="73152">
                    <a:solidFill>
                      <a:srgbClr val="ECF1F5"/>
                    </a:solidFill>
                  </a:tcPr>
                </a:tc>
                <a:tc>
                  <a:txBody>
                    <a:bodyPr/>
                    <a:lstStyle/>
                    <a:p>
                      <a:r>
                        <a:rPr sz="1500" b="0" i="0">
                          <a:solidFill>
                            <a:srgbClr val="11202B"/>
                          </a:solidFill>
                          <a:latin typeface="Malgun Gothic"/>
                          <a:ea typeface="Malgun Gothic"/>
                          <a:cs typeface="Malgun Gothic"/>
                        </a:rPr>
                        <a:t>DAT·VMAT</a:t>
                      </a:r>
                    </a:p>
                  </a:txBody>
                  <a:tcPr marL="73152" marR="73152">
                    <a:solidFill>
                      <a:srgbClr val="ECF1F5"/>
                    </a:solidFill>
                  </a:tcPr>
                </a:tc>
                <a:tc>
                  <a:txBody>
                    <a:bodyPr/>
                    <a:lstStyle/>
                    <a:p>
                      <a:r>
                        <a:rPr sz="1500" b="0" i="0">
                          <a:solidFill>
                            <a:srgbClr val="11202B"/>
                          </a:solidFill>
                          <a:latin typeface="Malgun Gothic"/>
                          <a:ea typeface="Malgun Gothic"/>
                          <a:cs typeface="Malgun Gothic"/>
                        </a:rPr>
                        <a:t>승인 약물 없음 — 수반성 관리 등 행동 치료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대마</a:t>
                      </a:r>
                    </a:p>
                  </a:txBody>
                  <a:tcPr marL="73152" marR="73152">
                    <a:solidFill>
                      <a:srgbClr val="FFFFFF"/>
                    </a:solidFill>
                  </a:tcPr>
                </a:tc>
                <a:tc>
                  <a:txBody>
                    <a:bodyPr/>
                    <a:lstStyle/>
                    <a:p>
                      <a:r>
                        <a:rPr sz="1500" b="0" i="0">
                          <a:solidFill>
                            <a:srgbClr val="11202B"/>
                          </a:solidFill>
                          <a:latin typeface="Malgun Gothic"/>
                          <a:ea typeface="Malgun Gothic"/>
                          <a:cs typeface="Malgun Gothic"/>
                        </a:rPr>
                        <a:t>CB1</a:t>
                      </a:r>
                    </a:p>
                  </a:txBody>
                  <a:tcPr marL="73152" marR="73152">
                    <a:solidFill>
                      <a:srgbClr val="FFFFFF"/>
                    </a:solidFill>
                  </a:tcPr>
                </a:tc>
                <a:tc>
                  <a:txBody>
                    <a:bodyPr/>
                    <a:lstStyle/>
                    <a:p>
                      <a:r>
                        <a:rPr sz="1500" b="0" i="0">
                          <a:solidFill>
                            <a:srgbClr val="11202B"/>
                          </a:solidFill>
                          <a:latin typeface="Malgun Gothic"/>
                          <a:ea typeface="Malgun Gothic"/>
                          <a:cs typeface="Malgun Gothic"/>
                        </a:rPr>
                        <a:t>행동 치료, 청소년 노출과 정신증 위험</a:t>
                      </a:r>
                    </a:p>
                  </a:txBody>
                  <a:tcPr marL="73152" marR="7315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정신약물의 대사와 감시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CYP 연관(B10 L09): 2D6(아리피프라졸, 리스페리돈, 아토목세틴, 벤라팍신), 1A2(</a:t>
            </a:r>
            <a:r>
              <a:rPr sz="2000" b="1" i="0">
                <a:solidFill>
                  <a:srgbClr val="11202B"/>
                </a:solidFill>
                <a:latin typeface="Malgun Gothic"/>
                <a:ea typeface="Malgun Gothic"/>
                <a:cs typeface="Malgun Gothic"/>
              </a:rPr>
              <a:t>클로자핀·올란자핀 — 흡연이 유도하므로 금연 시 농도 급등</a:t>
            </a:r>
            <a:r>
              <a:rPr sz="2000" b="0" i="0">
                <a:solidFill>
                  <a:srgbClr val="11202B"/>
                </a:solidFill>
                <a:latin typeface="Malgun Gothic"/>
                <a:ea typeface="Malgun Gothic"/>
                <a:cs typeface="Malgun Gothic"/>
              </a:rPr>
              <a:t>), 3A4(쿠에티아핀, 일부), 2C19(시탈로프람 — QT 때문에 용량 상한).</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감시 항목: 대사(체중·허리·혈당·지질 — 2세대 시작 시 기저치와 추적), QTc(지프라시돈·시탈로프람·메타돈·할로페리돈 정주), 프로락틴(리스페리돈·아미설프리드), 리튬·발프로산·카르바마제핀 농도, 클로자핀 절대호중구수, 추체외로 증상 평가(AIMS).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정신약물의 대사와 감시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중요한 상호작용·위험: 세로토닌성 약물 + MAOI·리네졸리드·메틸렌블루(세로토닌 증후군), SSRI + NSAID·항응고제(출혈), SSRI와 저나트륨(SIADH, 특히 노인), 항정신병약물과 치매 환자 사망 위험 증가(행동 증상에 1차 약물이 아니다), 임신 중 위험-이득 평가(치료되지 않은 질환의 위험도 함께 고려).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정신약물의 대사와 감시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18</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임상 상관: 조현병 환자의 평균 수명 단축은 주로 </a:t>
            </a:r>
            <a:r>
              <a:rPr sz="2000" b="1" i="0">
                <a:solidFill>
                  <a:srgbClr val="11202B"/>
                </a:solidFill>
                <a:latin typeface="Malgun Gothic"/>
                <a:ea typeface="Malgun Gothic"/>
                <a:cs typeface="Malgun Gothic"/>
              </a:rPr>
              <a:t>심혈관 대사 질환</a:t>
            </a:r>
            <a:r>
              <a:rPr sz="2000" b="0" i="0">
                <a:solidFill>
                  <a:srgbClr val="11202B"/>
                </a:solidFill>
                <a:latin typeface="Malgun Gothic"/>
                <a:ea typeface="Malgun Gothic"/>
                <a:cs typeface="Malgun Gothic"/>
              </a:rPr>
              <a:t>에 의한 것이다. 2세대 항정신병약물의 체중·지질·혈당 영향, 흡연율, 신체 질환 진료 접근성 저하가 겹친다. 따라서 정신과적 안정만이 치료 목표가 아니라, 기저 대사 지표 측정과 추적, 메트포르민 병용 고려, 금연 지원, 1차 의료 연계가 정신과 치료의 일부여야 한다 — 생화학과 정신의학이 임상에서 만나는 지점이다.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신속 작용 항우울제(케타민, 신경스테로이드, 환각제 보조 치료)가 "수주 지연"이라는 전제를 바꾸며 시냅스 가소성 기반 치료 개념을 확립하고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D2 비의존 기전(무스카린 M1/M4 작용제)이 60년 만의 항정신병 약리 전환으로 평가되고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염증·대사 아형에 따른 계층화 치료와 다유전자 위험 점수·디지털 표현형의 임상 활용이 시험되고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정신질환은 단일 전달물질 결핍이 아니라 회로와 가소성의 장애이며 다유전자 위험 구조를 갖는다.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항우울제의 지연된 효과는 자가수용체 둔감화와 BDNF-mTORC1 가소성 변화로 설명되고 케타민이 이를 입증한다.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정신분열증은 선조체 도파민 합성 증가와 NMDA 기능 저하가 결합된 모형으로 이해되며 클로자핀이 저항성의 표준이다.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리튬은 GSK-3β 억제 등 다중 기전을 가지며 좁은 치료 범위로 농도와 신·갑상선 감시가 필수다.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중독은 보상 역치 상승과 전전두 조절 저하의 회로 질환이며 오피오이드에서는 약물 치료가 사망률을 줄인다.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SSRI가 시냅스 세로토닌을 즉시 올리는데도 임상 효과가 2–6주 뒤 나타나는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초기에는 라페핵의 5-HT1A 자가수용체가 활성화되어 세로토닌 뉴런의 발화를 줄이므로 투사 영역의 전달 증가가 제한된다. 수주에 걸쳐 자가수용체가 둔감화되면서 전달이 실제로 늘고, 동시에 BDNF-TrkB와 mTORC1 경로를 통한 시냅스 리모델링과 해마 신경생성이 일어난다. 임상 반응은 이 적응적 가소성 변화의 시간 척도를 따른다.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항정신병약물이 D2를 차단할 때 네 가지 도파민 경로에서 각각 어떤 결과가 생기는가?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중뇌변연 경로 차단은 양성 증상을 개선하는 치료 효과를 낸다. 중뇌피질 경로 차단은 음성·인지 증상을 악화시킬 수 있다. 흑색질-선조체 차단은 급성 추체외로 증상과 장기적으로 지연성 운동이상을 일으킨다. 결절누두 차단은 프로락틴 억제를 풀어 유즙분비, 성기능 장애, 골밀도 감소를 유발한다.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클로자핀을 복용하던 환자가 금연했다. 무엇을 예상하고 어떻게 대응하는가?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담배 연기의 다환방향족탄화수소가 CYP1A2를 유도하므로 금연하면 유도가 사라져 클로자핀 농도가 크게 상승한다. 진정, 기립성 저혈압, 발작, 침흘림, 변비 악화가 나타날 수 있다. 금연 시점에 용량을 줄이고 혈중 농도와 임상 증상을 추적하며, 니코틴 대체 요법 자체는 CYP1A2에 영향을 주지 않는다는 점을 함께 고려한다.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치료 저항성 조현병에서 클로자핀을 쓰기 위해 감수해야 하는 감시 항목과 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무과립세포증 위험 때문에 절대호중구수를 정해진 일정으로 반복 측정해야 한다. 그 외 초기 수주의 심근염(흉통·발열·빈맥·트로포닌·CRP), 발작 위험(용량 의존), 심한 변비와 마비성 장폐색, 기립성 저혈압, 체중·혈당·지질 변화를 감시한다. 이런 부담에도 클로자핀을 쓰는 이유는 치료 저항성에서 유일하게 우월한 효과와 자살 위험 감소가 입증되었기 때문이다.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Krystal JH, Abdallah CG et al. Ketamine: a paradigm shift for depression research and treatment. Neuron 2019;101:774–778.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Duman RS, Aghajanian GK, Sanacora G, Krystal JH. Synaptic plasticity and depression. Nat Med 2016;22:238–249.</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Howes OD, Kapur S. The dopamine hypothesis of schizophrenia: version III. Schizophr Bull 2009;35:549–562.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B10-L11  ·  정신질환의 신경생화학과 정신약물학</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Kaar SJ et al. Antipsychotics: mechanisms underlying clinical response and side-effects. Neuropharmacology 2020;172:107704.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Koob GF, Volkow ND. Neurobiology of addiction: a neurocircuitry analysis. Lancet Psychiatry 2016;3:760–773.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