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notesMaster" Target="notesMasters/notesMaster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시안화물 중독이다. 시토크롬 c 산화효소가 차단되어 조직이 산소를 추출하지 못하므로 정맥혈 산소포화도가 높고 혐기성 대사로 젖산이 급증한다. 하이드록소코발라민을 즉시 투여하고 고농도 산소를 공급한다. 일산화탄소가 동반될 가능성이 높아 메트헤모글로빈을 만드는 아질산염은 산소 운반을 더 악화시킬 수 있으므로 피하고, 티오황산나트륨은 병용할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유기인계는 아세틸콜린에스터라아제를 인산화해 억제하는데, 시간이 지나면 알킬기가 떨어지며 결합이 비가역적으로 안정화된다(노화). 프랄리독심은 노화되지 않은 효소에서 인산기를 떼어 활성을 복원하므로 노화가 진행되기 전에 투여해야 효과가 있다. 아트로핀은 무스카린 증상을 조절하지만 근섬유다발수축과 호흡근 약화 같은 니코틴 증상은 막지 못하므로 두 약을 함께 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환자의 자발적 과환기는 대사 산증에 대한 필수적 보상이다. 진정·마비로 환기가 줄면 pH가 급격히 떨어지고, 산성 환경에서 비이온형 살리실산이 늘어 중추신경계로 더 많이 들어가 발작과 사망 위험이 커진다. 중탄산으로 혈액과 요를 알칼리화해 이온 포획을 유도하고, 중증에서는 조기에 혈액투석을 고려한다.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해설: 킬레이션은 혈중 농도를 일시적으로 낮추지만 골에 축적된 납이 재동원되어 다시 오르며, 필수 금속 소모와 신독성 위험이 있다. 무작위 시험에서 경도 상승 소아의 인지 결과를 개선하지 못했다. 따라서 노출원 조사와 제거, 주거 환경 개선, 영양(철·칼슘) 보충, 발달 추적이 핵심 개입이고 킬레이션은 높은 농도나 증상이 있을 때로 제한된다.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3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800" b="1" i="0">
                <a:solidFill>
                  <a:srgbClr val="F2B705"/>
                </a:solidFill>
                <a:latin typeface="Malgun Gothic"/>
                <a:ea typeface="Malgun Gothic"/>
                <a:cs typeface="Malgun Gothic"/>
              </a:rPr>
              <a:t>B10 기타질환학  ·  약물과 독성</a:t>
            </a:r>
          </a:p>
        </p:txBody>
      </p:sp>
      <p:sp>
        <p:nvSpPr>
          <p:cNvPr id="5" name="TextBox 4"/>
          <p:cNvSpPr txBox="1"/>
          <p:nvPr/>
        </p:nvSpPr>
        <p:spPr>
          <a:xfrm>
            <a:off x="731520" y="1645920"/>
            <a:ext cx="10698480" cy="2011680"/>
          </a:xfrm>
          <a:prstGeom prst="rect">
            <a:avLst/>
          </a:prstGeom>
          <a:noFill/>
        </p:spPr>
        <p:txBody>
          <a:bodyPr wrap="square" anchor="b">
            <a:spAutoFit/>
          </a:bodyPr>
          <a:lstStyle/>
          <a:p>
            <a:r>
              <a:rPr sz="4000" b="1" i="0">
                <a:solidFill>
                  <a:srgbClr val="FFFFFF"/>
                </a:solidFill>
                <a:latin typeface="Malgun Gothic"/>
                <a:ea typeface="Malgun Gothic"/>
                <a:cs typeface="Malgun Gothic"/>
              </a:rPr>
              <a:t>중독과 환경독성의 생화학</a:t>
            </a:r>
          </a:p>
          <a:p>
            <a:r>
              <a:rPr sz="2000" b="0" i="0">
                <a:solidFill>
                  <a:srgbClr val="C2CDD6"/>
                </a:solidFill>
                <a:latin typeface="Malgun Gothic"/>
                <a:ea typeface="Malgun Gothic"/>
                <a:cs typeface="Malgun Gothic"/>
              </a:rPr>
              <a:t>Biochemistry of Poisoning and Environmental Toxicology</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600" b="1" i="0">
                <a:solidFill>
                  <a:srgbClr val="FFFFFF"/>
                </a:solidFill>
                <a:latin typeface="Malgun Gothic"/>
                <a:ea typeface="Malgun Gothic"/>
                <a:cs typeface="Malgun Gothic"/>
              </a:rPr>
              <a:t>B10-L10</a:t>
            </a:r>
          </a:p>
          <a:p>
            <a:r>
              <a:rPr sz="1400" b="0" i="0">
                <a:solidFill>
                  <a:srgbClr val="C2CDD6"/>
                </a:solidFill>
                <a:latin typeface="Malgun Gothic"/>
                <a:ea typeface="Malgun Gothic"/>
                <a:cs typeface="Malgun Gothic"/>
              </a:rPr>
              <a:t>의학생화학 · 의학분자생물학 · 신경과학 강의록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GOALS   </a:t>
            </a:r>
            <a:r>
              <a:rPr sz="2600" b="1" i="0">
                <a:solidFill>
                  <a:srgbClr val="FFFFFF"/>
                </a:solidFill>
                <a:latin typeface="Malgun Gothic"/>
                <a:ea typeface="Malgun Gothic"/>
                <a:cs typeface="Malgun Gothic"/>
              </a:rPr>
              <a:t>학습 목표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독성 기전을 분자 표적별로 분류한다.</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세포 호흡과 산화적 인산화를 차단하는 독성물질을 설명한다.</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중금속 독성의 생화학과 킬레이션 원리를 설명한다.</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주요 중독의 해독제와 그 작용 기전을 설명한다.</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환경·직업 노출의 생체 지표와 평가 원리를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OUTLINE   </a:t>
            </a:r>
            <a:r>
              <a:rPr sz="26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1. </a:t>
            </a:r>
            <a:r>
              <a:rPr sz="2200" b="0" i="0">
                <a:solidFill>
                  <a:srgbClr val="11202B"/>
                </a:solidFill>
                <a:latin typeface="Malgun Gothic"/>
                <a:ea typeface="Malgun Gothic"/>
                <a:cs typeface="Malgun Gothic"/>
              </a:rPr>
              <a:t>독성 기전의 분자 분류</a:t>
            </a:r>
          </a:p>
          <a:p>
            <a:pPr>
              <a:spcAft>
                <a:spcPts val="800"/>
              </a:spcAft>
            </a:pPr>
            <a:r>
              <a:rPr sz="2200" b="1" i="0">
                <a:solidFill>
                  <a:srgbClr val="003C71"/>
                </a:solidFill>
                <a:latin typeface="Malgun Gothic"/>
                <a:ea typeface="Malgun Gothic"/>
                <a:cs typeface="Malgun Gothic"/>
              </a:rPr>
              <a:t>2. </a:t>
            </a:r>
            <a:r>
              <a:rPr sz="2200" b="0" i="0">
                <a:solidFill>
                  <a:srgbClr val="11202B"/>
                </a:solidFill>
                <a:latin typeface="Malgun Gothic"/>
                <a:ea typeface="Malgun Gothic"/>
                <a:cs typeface="Malgun Gothic"/>
              </a:rPr>
              <a:t>세포 호흡 차단 독성</a:t>
            </a:r>
          </a:p>
          <a:p>
            <a:pPr>
              <a:spcAft>
                <a:spcPts val="800"/>
              </a:spcAft>
            </a:pPr>
            <a:r>
              <a:rPr sz="2200" b="1" i="0">
                <a:solidFill>
                  <a:srgbClr val="003C71"/>
                </a:solidFill>
                <a:latin typeface="Malgun Gothic"/>
                <a:ea typeface="Malgun Gothic"/>
                <a:cs typeface="Malgun Gothic"/>
              </a:rPr>
              <a:t>3. </a:t>
            </a:r>
            <a:r>
              <a:rPr sz="2200" b="0" i="0">
                <a:solidFill>
                  <a:srgbClr val="11202B"/>
                </a:solidFill>
                <a:latin typeface="Malgun Gothic"/>
                <a:ea typeface="Malgun Gothic"/>
                <a:cs typeface="Malgun Gothic"/>
              </a:rPr>
              <a:t>중금속과 킬레이션</a:t>
            </a:r>
          </a:p>
          <a:p>
            <a:pPr>
              <a:spcAft>
                <a:spcPts val="800"/>
              </a:spcAft>
            </a:pPr>
            <a:r>
              <a:rPr sz="2200" b="1" i="0">
                <a:solidFill>
                  <a:srgbClr val="003C71"/>
                </a:solidFill>
                <a:latin typeface="Malgun Gothic"/>
                <a:ea typeface="Malgun Gothic"/>
                <a:cs typeface="Malgun Gothic"/>
              </a:rPr>
              <a:t>4. </a:t>
            </a:r>
            <a:r>
              <a:rPr sz="2200" b="0" i="0">
                <a:solidFill>
                  <a:srgbClr val="11202B"/>
                </a:solidFill>
                <a:latin typeface="Malgun Gothic"/>
                <a:ea typeface="Malgun Gothic"/>
                <a:cs typeface="Malgun Gothic"/>
              </a:rPr>
              <a:t>주요 해독제와 기전</a:t>
            </a:r>
          </a:p>
          <a:p>
            <a:pPr>
              <a:spcAft>
                <a:spcPts val="800"/>
              </a:spcAft>
            </a:pPr>
            <a:r>
              <a:rPr sz="2200" b="1" i="0">
                <a:solidFill>
                  <a:srgbClr val="003C71"/>
                </a:solidFill>
                <a:latin typeface="Malgun Gothic"/>
                <a:ea typeface="Malgun Gothic"/>
                <a:cs typeface="Malgun Gothic"/>
              </a:rPr>
              <a:t>5. </a:t>
            </a:r>
            <a:r>
              <a:rPr sz="2200" b="0" i="0">
                <a:solidFill>
                  <a:srgbClr val="11202B"/>
                </a:solidFill>
                <a:latin typeface="Malgun Gothic"/>
                <a:ea typeface="Malgun Gothic"/>
                <a:cs typeface="Malgun Gothic"/>
              </a:rPr>
              <a:t>환경·직업 독성과 생체 지표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독성 기전의 분자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독성동태학: 흡수(위장관, 흡입, 피부), 분포(지질 용해도·단백 결합), 대사(활성화 vs 해독), 배출. </a:t>
            </a:r>
            <a:r>
              <a:rPr sz="2000" b="1" i="0">
                <a:solidFill>
                  <a:srgbClr val="11202B"/>
                </a:solidFill>
                <a:latin typeface="Malgun Gothic"/>
                <a:ea typeface="Malgun Gothic"/>
                <a:cs typeface="Malgun Gothic"/>
              </a:rPr>
              <a:t>치명적 합성(lethal synthesis)</a:t>
            </a:r>
            <a:r>
              <a:rPr sz="2000" b="0" i="0">
                <a:solidFill>
                  <a:srgbClr val="11202B"/>
                </a:solidFill>
                <a:latin typeface="Malgun Gothic"/>
                <a:ea typeface="Malgun Gothic"/>
                <a:cs typeface="Malgun Gothic"/>
              </a:rPr>
              <a:t> — 메탄올·에틸렌글리콜·플루오로아세테이트처럼 대사에 의해 독성이 생기는 경우 대사 차단이 치료가 된다.</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접근의 틀: 기도·호흡·순환 안정화 → </a:t>
            </a:r>
            <a:r>
              <a:rPr sz="2000" b="1" i="0">
                <a:solidFill>
                  <a:srgbClr val="11202B"/>
                </a:solidFill>
                <a:latin typeface="Malgun Gothic"/>
                <a:ea typeface="Malgun Gothic"/>
                <a:cs typeface="Malgun Gothic"/>
              </a:rPr>
              <a:t>독성 증후군(toxidrome)</a:t>
            </a:r>
            <a:r>
              <a:rPr sz="2000" b="0" i="0">
                <a:solidFill>
                  <a:srgbClr val="11202B"/>
                </a:solidFill>
                <a:latin typeface="Malgun Gothic"/>
                <a:ea typeface="Malgun Gothic"/>
                <a:cs typeface="Malgun Gothic"/>
              </a:rPr>
              <a:t> 인식 → 제거(활성탄, 상황에 따른 위세척·전장 세척) → 해독제 → 증강 배출(알칼리뇨, 투석) → 지지 치료.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독성 기전의 분자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300" b="1" i="0">
                          <a:solidFill>
                            <a:srgbClr val="FFFFFF"/>
                          </a:solidFill>
                          <a:latin typeface="Malgun Gothic"/>
                          <a:ea typeface="Malgun Gothic"/>
                          <a:cs typeface="Malgun Gothic"/>
                        </a:rPr>
                        <a:t>기전</a:t>
                      </a:r>
                    </a:p>
                  </a:txBody>
                  <a:tcPr marL="73152" marR="73152">
                    <a:solidFill>
                      <a:srgbClr val="003C71"/>
                    </a:solidFill>
                  </a:tcPr>
                </a:tc>
                <a:tc>
                  <a:txBody>
                    <a:bodyPr/>
                    <a:lstStyle/>
                    <a:p>
                      <a:r>
                        <a:rPr sz="1300" b="1" i="0">
                          <a:solidFill>
                            <a:srgbClr val="FFFFFF"/>
                          </a:solidFill>
                          <a:latin typeface="Malgun Gothic"/>
                          <a:ea typeface="Malgun Gothic"/>
                          <a:cs typeface="Malgun Gothic"/>
                        </a:rPr>
                        <a:t>예</a:t>
                      </a:r>
                    </a:p>
                  </a:txBody>
                  <a:tcPr marL="73152" marR="73152">
                    <a:solidFill>
                      <a:srgbClr val="003C71"/>
                    </a:solidFill>
                  </a:tcPr>
                </a:tc>
                <a:tc>
                  <a:txBody>
                    <a:bodyPr/>
                    <a:lstStyle/>
                    <a:p>
                      <a:r>
                        <a:rPr sz="1300" b="1" i="0">
                          <a:solidFill>
                            <a:srgbClr val="FFFFFF"/>
                          </a:solidFill>
                          <a:latin typeface="Malgun Gothic"/>
                          <a:ea typeface="Malgun Gothic"/>
                          <a:cs typeface="Malgun Gothic"/>
                        </a:rPr>
                        <a:t>결과</a:t>
                      </a:r>
                    </a:p>
                  </a:txBody>
                  <a:tcPr marL="73152" marR="73152">
                    <a:solidFill>
                      <a:srgbClr val="003C71"/>
                    </a:solidFill>
                  </a:tcPr>
                </a:tc>
              </a:tr>
              <a:tr h="365760">
                <a:tc>
                  <a:txBody>
                    <a:bodyPr/>
                    <a:lstStyle/>
                    <a:p>
                      <a:r>
                        <a:rPr sz="1300" b="0" i="0">
                          <a:solidFill>
                            <a:srgbClr val="11202B"/>
                          </a:solidFill>
                          <a:latin typeface="Malgun Gothic"/>
                          <a:ea typeface="Malgun Gothic"/>
                          <a:cs typeface="Malgun Gothic"/>
                        </a:rPr>
                        <a:t>효소 활성 부위 결합</a:t>
                      </a:r>
                    </a:p>
                  </a:txBody>
                  <a:tcPr marL="73152" marR="73152">
                    <a:solidFill>
                      <a:srgbClr val="FFFFFF"/>
                    </a:solidFill>
                  </a:tcPr>
                </a:tc>
                <a:tc>
                  <a:txBody>
                    <a:bodyPr/>
                    <a:lstStyle/>
                    <a:p>
                      <a:r>
                        <a:rPr sz="1300" b="0" i="0">
                          <a:solidFill>
                            <a:srgbClr val="11202B"/>
                          </a:solidFill>
                          <a:latin typeface="Malgun Gothic"/>
                          <a:ea typeface="Malgun Gothic"/>
                          <a:cs typeface="Malgun Gothic"/>
                        </a:rPr>
                        <a:t>유기인계(아세틸콜린에스터라아제), 시안화물(시토크롬 c 산화효소), 일산화탄소(헴)</a:t>
                      </a:r>
                    </a:p>
                  </a:txBody>
                  <a:tcPr marL="73152" marR="73152">
                    <a:solidFill>
                      <a:srgbClr val="FFFFFF"/>
                    </a:solidFill>
                  </a:tcPr>
                </a:tc>
                <a:tc>
                  <a:txBody>
                    <a:bodyPr/>
                    <a:lstStyle/>
                    <a:p>
                      <a:r>
                        <a:rPr sz="1300" b="0" i="0">
                          <a:solidFill>
                            <a:srgbClr val="11202B"/>
                          </a:solidFill>
                          <a:latin typeface="Malgun Gothic"/>
                          <a:ea typeface="Malgun Gothic"/>
                          <a:cs typeface="Malgun Gothic"/>
                        </a:rPr>
                        <a:t>급성 기능 마비</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수용체·통로 작용</a:t>
                      </a:r>
                    </a:p>
                  </a:txBody>
                  <a:tcPr marL="73152" marR="73152">
                    <a:solidFill>
                      <a:srgbClr val="ECF1F5"/>
                    </a:solidFill>
                  </a:tcPr>
                </a:tc>
                <a:tc>
                  <a:txBody>
                    <a:bodyPr/>
                    <a:lstStyle/>
                    <a:p>
                      <a:r>
                        <a:rPr sz="1300" b="0" i="0">
                          <a:solidFill>
                            <a:srgbClr val="11202B"/>
                          </a:solidFill>
                          <a:latin typeface="Malgun Gothic"/>
                          <a:ea typeface="Malgun Gothic"/>
                          <a:cs typeface="Malgun Gothic"/>
                        </a:rPr>
                        <a:t>오피오이드(μ), 벤조디아제핀(GABA-A), 테트로도톡신(Na⁺ 통로), 아코니틴</a:t>
                      </a:r>
                    </a:p>
                  </a:txBody>
                  <a:tcPr marL="73152" marR="73152">
                    <a:solidFill>
                      <a:srgbClr val="ECF1F5"/>
                    </a:solidFill>
                  </a:tcPr>
                </a:tc>
                <a:tc>
                  <a:txBody>
                    <a:bodyPr/>
                    <a:lstStyle/>
                    <a:p>
                      <a:r>
                        <a:rPr sz="1300" b="0" i="0">
                          <a:solidFill>
                            <a:srgbClr val="11202B"/>
                          </a:solidFill>
                          <a:latin typeface="Malgun Gothic"/>
                          <a:ea typeface="Malgun Gothic"/>
                          <a:cs typeface="Malgun Gothic"/>
                        </a:rPr>
                        <a:t>신경·심장 독성</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반응성 대사물의 공유 결합</a:t>
                      </a:r>
                    </a:p>
                  </a:txBody>
                  <a:tcPr marL="73152" marR="73152">
                    <a:solidFill>
                      <a:srgbClr val="FFFFFF"/>
                    </a:solidFill>
                  </a:tcPr>
                </a:tc>
                <a:tc>
                  <a:txBody>
                    <a:bodyPr/>
                    <a:lstStyle/>
                    <a:p>
                      <a:r>
                        <a:rPr sz="1300" b="0" i="0">
                          <a:solidFill>
                            <a:srgbClr val="11202B"/>
                          </a:solidFill>
                          <a:latin typeface="Malgun Gothic"/>
                          <a:ea typeface="Malgun Gothic"/>
                          <a:cs typeface="Malgun Gothic"/>
                        </a:rPr>
                        <a:t>아세트아미노펜(NAPQI), 사염화탄소, 아플라톡신 B1(DNA 부가물)</a:t>
                      </a:r>
                    </a:p>
                  </a:txBody>
                  <a:tcPr marL="73152" marR="73152">
                    <a:solidFill>
                      <a:srgbClr val="FFFFFF"/>
                    </a:solidFill>
                  </a:tcPr>
                </a:tc>
                <a:tc>
                  <a:txBody>
                    <a:bodyPr/>
                    <a:lstStyle/>
                    <a:p>
                      <a:r>
                        <a:rPr sz="1300" b="0" i="0">
                          <a:solidFill>
                            <a:srgbClr val="11202B"/>
                          </a:solidFill>
                          <a:latin typeface="Malgun Gothic"/>
                          <a:ea typeface="Malgun Gothic"/>
                          <a:cs typeface="Malgun Gothic"/>
                        </a:rPr>
                        <a:t>조직 괴사, 발암</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산화 스트레스·지질 과산화</a:t>
                      </a:r>
                    </a:p>
                  </a:txBody>
                  <a:tcPr marL="73152" marR="73152">
                    <a:solidFill>
                      <a:srgbClr val="ECF1F5"/>
                    </a:solidFill>
                  </a:tcPr>
                </a:tc>
                <a:tc>
                  <a:txBody>
                    <a:bodyPr/>
                    <a:lstStyle/>
                    <a:p>
                      <a:r>
                        <a:rPr sz="1300" b="0" i="0">
                          <a:solidFill>
                            <a:srgbClr val="11202B"/>
                          </a:solidFill>
                          <a:latin typeface="Malgun Gothic"/>
                          <a:ea typeface="Malgun Gothic"/>
                          <a:cs typeface="Malgun Gothic"/>
                        </a:rPr>
                        <a:t>파라쿼트(산화환원 순환), 철 과용, 독소루비신</a:t>
                      </a:r>
                    </a:p>
                  </a:txBody>
                  <a:tcPr marL="73152" marR="73152">
                    <a:solidFill>
                      <a:srgbClr val="ECF1F5"/>
                    </a:solidFill>
                  </a:tcPr>
                </a:tc>
                <a:tc>
                  <a:txBody>
                    <a:bodyPr/>
                    <a:lstStyle/>
                    <a:p>
                      <a:r>
                        <a:rPr sz="1300" b="0" i="0">
                          <a:solidFill>
                            <a:srgbClr val="11202B"/>
                          </a:solidFill>
                          <a:latin typeface="Malgun Gothic"/>
                          <a:ea typeface="Malgun Gothic"/>
                          <a:cs typeface="Malgun Gothic"/>
                        </a:rPr>
                        <a:t>막·미토콘드리아 손상</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단백 합성 차단</a:t>
                      </a:r>
                    </a:p>
                  </a:txBody>
                  <a:tcPr marL="73152" marR="73152">
                    <a:solidFill>
                      <a:srgbClr val="FFFFFF"/>
                    </a:solidFill>
                  </a:tcPr>
                </a:tc>
                <a:tc>
                  <a:txBody>
                    <a:bodyPr/>
                    <a:lstStyle/>
                    <a:p>
                      <a:r>
                        <a:rPr sz="1300" b="0" i="0">
                          <a:solidFill>
                            <a:srgbClr val="11202B"/>
                          </a:solidFill>
                          <a:latin typeface="Malgun Gothic"/>
                          <a:ea typeface="Malgun Gothic"/>
                          <a:cs typeface="Malgun Gothic"/>
                        </a:rPr>
                        <a:t>리신, 디프테리아 독소(EF-2 ADP-리보실화), 아마톡신(RNA 중합효소 II)</a:t>
                      </a:r>
                    </a:p>
                  </a:txBody>
                  <a:tcPr marL="73152" marR="73152">
                    <a:solidFill>
                      <a:srgbClr val="FFFFFF"/>
                    </a:solidFill>
                  </a:tcPr>
                </a:tc>
                <a:tc>
                  <a:txBody>
                    <a:bodyPr/>
                    <a:lstStyle/>
                    <a:p>
                      <a:r>
                        <a:rPr sz="1300" b="0" i="0">
                          <a:solidFill>
                            <a:srgbClr val="11202B"/>
                          </a:solidFill>
                          <a:latin typeface="Malgun Gothic"/>
                          <a:ea typeface="Malgun Gothic"/>
                          <a:cs typeface="Malgun Gothic"/>
                        </a:rPr>
                        <a:t>세포 사멸, 지연성 간부전</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세포골격·미세관</a:t>
                      </a:r>
                    </a:p>
                  </a:txBody>
                  <a:tcPr marL="73152" marR="73152">
                    <a:solidFill>
                      <a:srgbClr val="ECF1F5"/>
                    </a:solidFill>
                  </a:tcPr>
                </a:tc>
                <a:tc>
                  <a:txBody>
                    <a:bodyPr/>
                    <a:lstStyle/>
                    <a:p>
                      <a:r>
                        <a:rPr sz="1300" b="0" i="0">
                          <a:solidFill>
                            <a:srgbClr val="11202B"/>
                          </a:solidFill>
                          <a:latin typeface="Malgun Gothic"/>
                          <a:ea typeface="Malgun Gothic"/>
                          <a:cs typeface="Malgun Gothic"/>
                        </a:rPr>
                        <a:t>콜키신 과용, 빈카 알칼로이드</a:t>
                      </a:r>
                    </a:p>
                  </a:txBody>
                  <a:tcPr marL="73152" marR="73152">
                    <a:solidFill>
                      <a:srgbClr val="ECF1F5"/>
                    </a:solidFill>
                  </a:tcPr>
                </a:tc>
                <a:tc>
                  <a:txBody>
                    <a:bodyPr/>
                    <a:lstStyle/>
                    <a:p>
                      <a:r>
                        <a:rPr sz="1300" b="0" i="0">
                          <a:solidFill>
                            <a:srgbClr val="11202B"/>
                          </a:solidFill>
                          <a:latin typeface="Malgun Gothic"/>
                          <a:ea typeface="Malgun Gothic"/>
                          <a:cs typeface="Malgun Gothic"/>
                        </a:rPr>
                        <a:t>다장기 실패</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치환·모방</a:t>
                      </a:r>
                    </a:p>
                  </a:txBody>
                  <a:tcPr marL="73152" marR="73152">
                    <a:solidFill>
                      <a:srgbClr val="FFFFFF"/>
                    </a:solidFill>
                  </a:tcPr>
                </a:tc>
                <a:tc>
                  <a:txBody>
                    <a:bodyPr/>
                    <a:lstStyle/>
                    <a:p>
                      <a:r>
                        <a:rPr sz="1300" b="0" i="0">
                          <a:solidFill>
                            <a:srgbClr val="11202B"/>
                          </a:solidFill>
                          <a:latin typeface="Malgun Gothic"/>
                          <a:ea typeface="Malgun Gothic"/>
                          <a:cs typeface="Malgun Gothic"/>
                        </a:rPr>
                        <a:t>메토트렉세이트(엽산), 와파린계 쥐약(비타민 K), 플루오로아세테이트(아코니타아제)</a:t>
                      </a:r>
                    </a:p>
                  </a:txBody>
                  <a:tcPr marL="73152" marR="73152">
                    <a:solidFill>
                      <a:srgbClr val="FFFFFF"/>
                    </a:solidFill>
                  </a:tcPr>
                </a:tc>
                <a:tc>
                  <a:txBody>
                    <a:bodyPr/>
                    <a:lstStyle/>
                    <a:p>
                      <a:r>
                        <a:rPr sz="1300" b="0" i="0">
                          <a:solidFill>
                            <a:srgbClr val="11202B"/>
                          </a:solidFill>
                          <a:latin typeface="Malgun Gothic"/>
                          <a:ea typeface="Malgun Gothic"/>
                          <a:cs typeface="Malgun Gothic"/>
                        </a:rPr>
                        <a:t>경로 봉쇄</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침전·결정</a:t>
                      </a:r>
                    </a:p>
                  </a:txBody>
                  <a:tcPr marL="73152" marR="73152">
                    <a:solidFill>
                      <a:srgbClr val="ECF1F5"/>
                    </a:solidFill>
                  </a:tcPr>
                </a:tc>
                <a:tc>
                  <a:txBody>
                    <a:bodyPr/>
                    <a:lstStyle/>
                    <a:p>
                      <a:r>
                        <a:rPr sz="1300" b="0" i="0">
                          <a:solidFill>
                            <a:srgbClr val="11202B"/>
                          </a:solidFill>
                          <a:latin typeface="Malgun Gothic"/>
                          <a:ea typeface="Malgun Gothic"/>
                          <a:cs typeface="Malgun Gothic"/>
                        </a:rPr>
                        <a:t>에틸렌글리콜(옥살산칼슘), 요산(종양용해)</a:t>
                      </a:r>
                    </a:p>
                  </a:txBody>
                  <a:tcPr marL="73152" marR="73152">
                    <a:solidFill>
                      <a:srgbClr val="ECF1F5"/>
                    </a:solidFill>
                  </a:tcPr>
                </a:tc>
                <a:tc>
                  <a:txBody>
                    <a:bodyPr/>
                    <a:lstStyle/>
                    <a:p>
                      <a:r>
                        <a:rPr sz="1300" b="0" i="0">
                          <a:solidFill>
                            <a:srgbClr val="11202B"/>
                          </a:solidFill>
                          <a:latin typeface="Malgun Gothic"/>
                          <a:ea typeface="Malgun Gothic"/>
                          <a:cs typeface="Malgun Gothic"/>
                        </a:rPr>
                        <a:t>신손상</a:t>
                      </a:r>
                    </a:p>
                  </a:txBody>
                  <a:tcPr marL="73152" marR="73152">
                    <a:solidFill>
                      <a:srgbClr val="ECF1F5"/>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01   </a:t>
            </a:r>
            <a:r>
              <a:rPr sz="2600" b="1" i="0">
                <a:solidFill>
                  <a:srgbClr val="FFFFFF"/>
                </a:solidFill>
                <a:latin typeface="Malgun Gothic"/>
                <a:ea typeface="Malgun Gothic"/>
                <a:cs typeface="Malgun Gothic"/>
              </a:rPr>
              <a:t>독성 기전의 분자 분류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독성 증후군</a:t>
                      </a:r>
                    </a:p>
                  </a:txBody>
                  <a:tcPr marL="73152" marR="73152">
                    <a:solidFill>
                      <a:srgbClr val="003C71"/>
                    </a:solidFill>
                  </a:tcPr>
                </a:tc>
                <a:tc>
                  <a:txBody>
                    <a:bodyPr/>
                    <a:lstStyle/>
                    <a:p>
                      <a:r>
                        <a:rPr sz="1500" b="1" i="0">
                          <a:solidFill>
                            <a:srgbClr val="FFFFFF"/>
                          </a:solidFill>
                          <a:latin typeface="Malgun Gothic"/>
                          <a:ea typeface="Malgun Gothic"/>
                          <a:cs typeface="Malgun Gothic"/>
                        </a:rPr>
                        <a:t>특징</a:t>
                      </a:r>
                    </a:p>
                  </a:txBody>
                  <a:tcPr marL="73152" marR="73152">
                    <a:solidFill>
                      <a:srgbClr val="003C71"/>
                    </a:solidFill>
                  </a:tcPr>
                </a:tc>
                <a:tc>
                  <a:txBody>
                    <a:bodyPr/>
                    <a:lstStyle/>
                    <a:p>
                      <a:r>
                        <a:rPr sz="1500" b="1" i="0">
                          <a:solidFill>
                            <a:srgbClr val="FFFFFF"/>
                          </a:solidFill>
                          <a:latin typeface="Malgun Gothic"/>
                          <a:ea typeface="Malgun Gothic"/>
                          <a:cs typeface="Malgun Gothic"/>
                        </a:rPr>
                        <a:t>대표</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항콜린성</a:t>
                      </a:r>
                    </a:p>
                  </a:txBody>
                  <a:tcPr marL="73152" marR="73152">
                    <a:solidFill>
                      <a:srgbClr val="FFFFFF"/>
                    </a:solidFill>
                  </a:tcPr>
                </a:tc>
                <a:tc>
                  <a:txBody>
                    <a:bodyPr/>
                    <a:lstStyle/>
                    <a:p>
                      <a:r>
                        <a:rPr sz="1500" b="0" i="0">
                          <a:solidFill>
                            <a:srgbClr val="11202B"/>
                          </a:solidFill>
                          <a:latin typeface="Malgun Gothic"/>
                          <a:ea typeface="Malgun Gothic"/>
                          <a:cs typeface="Malgun Gothic"/>
                        </a:rPr>
                        <a:t>고열·건조·홍조·산동·요정체·착란</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항히스타민, TCA, 아트로핀</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콜린성</a:t>
                      </a:r>
                    </a:p>
                  </a:txBody>
                  <a:tcPr marL="73152" marR="73152">
                    <a:solidFill>
                      <a:srgbClr val="ECF1F5"/>
                    </a:solidFill>
                  </a:tcPr>
                </a:tc>
                <a:tc>
                  <a:txBody>
                    <a:bodyPr/>
                    <a:lstStyle/>
                    <a:p>
                      <a:r>
                        <a:rPr sz="1500" b="0" i="0">
                          <a:solidFill>
                            <a:srgbClr val="11202B"/>
                          </a:solidFill>
                          <a:latin typeface="Malgun Gothic"/>
                          <a:ea typeface="Malgun Gothic"/>
                          <a:cs typeface="Malgun Gothic"/>
                        </a:rPr>
                        <a:t>DUMBBELS(침·눈물·설사), 서맥, 기관분비 과다, 근섬유다발수축</a:t>
                      </a:r>
                    </a:p>
                  </a:txBody>
                  <a:tcPr marL="73152" marR="73152">
                    <a:solidFill>
                      <a:srgbClr val="ECF1F5"/>
                    </a:solidFill>
                  </a:tcPr>
                </a:tc>
                <a:tc>
                  <a:txBody>
                    <a:bodyPr/>
                    <a:lstStyle/>
                    <a:p>
                      <a:r>
                        <a:rPr sz="1500" b="0" i="0">
                          <a:solidFill>
                            <a:srgbClr val="11202B"/>
                          </a:solidFill>
                          <a:latin typeface="Malgun Gothic"/>
                          <a:ea typeface="Malgun Gothic"/>
                          <a:cs typeface="Malgun Gothic"/>
                        </a:rPr>
                        <a:t>유기인계, 카바메이트</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교감신경 흥분</a:t>
                      </a:r>
                    </a:p>
                  </a:txBody>
                  <a:tcPr marL="73152" marR="73152">
                    <a:solidFill>
                      <a:srgbClr val="FFFFFF"/>
                    </a:solidFill>
                  </a:tcPr>
                </a:tc>
                <a:tc>
                  <a:txBody>
                    <a:bodyPr/>
                    <a:lstStyle/>
                    <a:p>
                      <a:r>
                        <a:rPr sz="1500" b="0" i="0">
                          <a:solidFill>
                            <a:srgbClr val="11202B"/>
                          </a:solidFill>
                          <a:latin typeface="Malgun Gothic"/>
                          <a:ea typeface="Malgun Gothic"/>
                          <a:cs typeface="Malgun Gothic"/>
                        </a:rPr>
                        <a:t>고혈압·빈맥·발한·산동</a:t>
                      </a:r>
                    </a:p>
                  </a:txBody>
                  <a:tcPr marL="73152" marR="73152">
                    <a:solidFill>
                      <a:srgbClr val="FFFFFF"/>
                    </a:solidFill>
                  </a:tcPr>
                </a:tc>
                <a:tc>
                  <a:txBody>
                    <a:bodyPr/>
                    <a:lstStyle/>
                    <a:p>
                      <a:r>
                        <a:rPr sz="1500" b="0" i="0">
                          <a:solidFill>
                            <a:srgbClr val="11202B"/>
                          </a:solidFill>
                          <a:latin typeface="Malgun Gothic"/>
                          <a:ea typeface="Malgun Gothic"/>
                          <a:cs typeface="Malgun Gothic"/>
                        </a:rPr>
                        <a:t>코카인, 암페타민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오피오이드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호흡 억제·동공 축소·의식 저하</a:t>
                      </a:r>
                    </a:p>
                  </a:txBody>
                  <a:tcPr marL="73152" marR="73152">
                    <a:solidFill>
                      <a:srgbClr val="ECF1F5"/>
                    </a:solidFill>
                  </a:tcPr>
                </a:tc>
                <a:tc>
                  <a:txBody>
                    <a:bodyPr/>
                    <a:lstStyle/>
                    <a:p>
                      <a:r>
                        <a:rPr sz="1500" b="0" i="0">
                          <a:solidFill>
                            <a:srgbClr val="11202B"/>
                          </a:solidFill>
                          <a:latin typeface="Malgun Gothic"/>
                          <a:ea typeface="Malgun Gothic"/>
                          <a:cs typeface="Malgun Gothic"/>
                        </a:rPr>
                        <a:t>오피오이드</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진정-수면</a:t>
                      </a:r>
                    </a:p>
                  </a:txBody>
                  <a:tcPr marL="73152" marR="73152">
                    <a:solidFill>
                      <a:srgbClr val="FFFFFF"/>
                    </a:solidFill>
                  </a:tcPr>
                </a:tc>
                <a:tc>
                  <a:txBody>
                    <a:bodyPr/>
                    <a:lstStyle/>
                    <a:p>
                      <a:r>
                        <a:rPr sz="1500" b="0" i="0">
                          <a:solidFill>
                            <a:srgbClr val="11202B"/>
                          </a:solidFill>
                          <a:latin typeface="Malgun Gothic"/>
                          <a:ea typeface="Malgun Gothic"/>
                          <a:cs typeface="Malgun Gothic"/>
                        </a:rPr>
                        <a:t>의식 저하, 활력 징후 비교적 보존</a:t>
                      </a:r>
                    </a:p>
                  </a:txBody>
                  <a:tcPr marL="73152" marR="73152">
                    <a:solidFill>
                      <a:srgbClr val="FFFFFF"/>
                    </a:solidFill>
                  </a:tcPr>
                </a:tc>
                <a:tc>
                  <a:txBody>
                    <a:bodyPr/>
                    <a:lstStyle/>
                    <a:p>
                      <a:r>
                        <a:rPr sz="1500" b="0" i="0">
                          <a:solidFill>
                            <a:srgbClr val="11202B"/>
                          </a:solidFill>
                          <a:latin typeface="Malgun Gothic"/>
                          <a:ea typeface="Malgun Gothic"/>
                          <a:cs typeface="Malgun Gothic"/>
                        </a:rPr>
                        <a:t>벤조디아제핀, 알코올</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세로토닌</a:t>
                      </a:r>
                    </a:p>
                  </a:txBody>
                  <a:tcPr marL="73152" marR="73152">
                    <a:solidFill>
                      <a:srgbClr val="ECF1F5"/>
                    </a:solidFill>
                  </a:tcPr>
                </a:tc>
                <a:tc>
                  <a:txBody>
                    <a:bodyPr/>
                    <a:lstStyle/>
                    <a:p>
                      <a:r>
                        <a:rPr sz="1500" b="0" i="0">
                          <a:solidFill>
                            <a:srgbClr val="11202B"/>
                          </a:solidFill>
                          <a:latin typeface="Malgun Gothic"/>
                          <a:ea typeface="Malgun Gothic"/>
                          <a:cs typeface="Malgun Gothic"/>
                        </a:rPr>
                        <a:t>과반사·클로누스·하지 우세 경직·고열</a:t>
                      </a:r>
                    </a:p>
                  </a:txBody>
                  <a:tcPr marL="73152" marR="73152">
                    <a:solidFill>
                      <a:srgbClr val="ECF1F5"/>
                    </a:solidFill>
                  </a:tcPr>
                </a:tc>
                <a:tc>
                  <a:txBody>
                    <a:bodyPr/>
                    <a:lstStyle/>
                    <a:p>
                      <a:r>
                        <a:rPr sz="1500" b="0" i="0">
                          <a:solidFill>
                            <a:srgbClr val="11202B"/>
                          </a:solidFill>
                          <a:latin typeface="Malgun Gothic"/>
                          <a:ea typeface="Malgun Gothic"/>
                          <a:cs typeface="Malgun Gothic"/>
                        </a:rPr>
                        <a:t>SSRI 조합, 리네졸리드 + 세로토닌성 약물</a:t>
                      </a:r>
                    </a:p>
                  </a:txBody>
                  <a:tcPr marL="73152" marR="73152">
                    <a:solidFill>
                      <a:srgbClr val="ECF1F5"/>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세포 호흡 차단 독성 (1/3)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시안화물</a:t>
            </a:r>
            <a:r>
              <a:rPr sz="1800" b="0" i="0">
                <a:solidFill>
                  <a:srgbClr val="11202B"/>
                </a:solidFill>
                <a:latin typeface="Malgun Gothic"/>
                <a:ea typeface="Malgun Gothic"/>
                <a:cs typeface="Malgun Gothic"/>
              </a:rPr>
              <a:t>: 시토크롬 c 산화효소(복합체 IV)의 Fe³⁺에 결합 → 전자전달 정지 → 세포가 산소를 쓰지 못하는 </a:t>
            </a:r>
            <a:r>
              <a:rPr sz="1800" b="1" i="0">
                <a:solidFill>
                  <a:srgbClr val="11202B"/>
                </a:solidFill>
                <a:latin typeface="Malgun Gothic"/>
                <a:ea typeface="Malgun Gothic"/>
                <a:cs typeface="Malgun Gothic"/>
              </a:rPr>
              <a:t>"세포 수준 질식"</a:t>
            </a:r>
            <a:r>
              <a:rPr sz="1800" b="0" i="0">
                <a:solidFill>
                  <a:srgbClr val="11202B"/>
                </a:solidFill>
                <a:latin typeface="Malgun Gothic"/>
                <a:ea typeface="Malgun Gothic"/>
                <a:cs typeface="Malgun Gothic"/>
              </a:rPr>
              <a:t> → 젖산 산증 급증, 정맥혈 산소 포화도 상승(조직이 산소를 소모하지 못함), 동맥-정맥 산소차 감소.</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노출: 화재 연기(폴리우레탄·실크 연소), 공업(도금·제련), 니트로프루사이드 장기 고용량, 아미그달린.</a:t>
            </a:r>
          </a:p>
          <a:p>
            <a:pPr lvl="1">
              <a:spcAft>
                <a:spcPts val="400"/>
              </a:spcAft>
            </a:pPr>
            <a:r>
              <a:rPr sz="1600" b="0" i="0">
                <a:solidFill>
                  <a:srgbClr val="66788A"/>
                </a:solidFill>
                <a:latin typeface="Malgun Gothic"/>
                <a:ea typeface="Malgun Gothic"/>
                <a:cs typeface="Malgun Gothic"/>
              </a:rPr>
              <a:t>    – </a:t>
            </a:r>
            <a:r>
              <a:rPr sz="1600" b="0" i="0">
                <a:solidFill>
                  <a:srgbClr val="2E3F4C"/>
                </a:solidFill>
                <a:latin typeface="Malgun Gothic"/>
                <a:ea typeface="Malgun Gothic"/>
                <a:cs typeface="Malgun Gothic"/>
              </a:rPr>
              <a:t>해독: </a:t>
            </a:r>
            <a:r>
              <a:rPr sz="1600" b="1" i="0">
                <a:solidFill>
                  <a:srgbClr val="2E3F4C"/>
                </a:solidFill>
                <a:latin typeface="Malgun Gothic"/>
                <a:ea typeface="Malgun Gothic"/>
                <a:cs typeface="Malgun Gothic"/>
              </a:rPr>
              <a:t>하이드록소코발라민</a:t>
            </a:r>
            <a:r>
              <a:rPr sz="1600" b="0" i="0">
                <a:solidFill>
                  <a:srgbClr val="2E3F4C"/>
                </a:solidFill>
                <a:latin typeface="Malgun Gothic"/>
                <a:ea typeface="Malgun Gothic"/>
                <a:cs typeface="Malgun Gothic"/>
              </a:rPr>
              <a:t>(시안을 직접 결합 → 시아노코발라민; 피부·요 적색 변화, 혈압 상승 — 화재 피해자에게 안전), 또는 아질산나트륨(메트헤모글로빈 생성 → 시안 포획) + </a:t>
            </a:r>
            <a:r>
              <a:rPr sz="1600" b="1" i="0">
                <a:solidFill>
                  <a:srgbClr val="2E3F4C"/>
                </a:solidFill>
                <a:latin typeface="Malgun Gothic"/>
                <a:ea typeface="Malgun Gothic"/>
                <a:cs typeface="Malgun Gothic"/>
              </a:rPr>
              <a:t>티오황산나트륨</a:t>
            </a:r>
            <a:r>
              <a:rPr sz="1600" b="0" i="0">
                <a:solidFill>
                  <a:srgbClr val="2E3F4C"/>
                </a:solidFill>
                <a:latin typeface="Malgun Gothic"/>
                <a:ea typeface="Malgun Gothic"/>
                <a:cs typeface="Malgun Gothic"/>
              </a:rPr>
              <a:t>(로다네아제의 황 공여체 → 티오시아네이트로 배출). 화재 연기 흡입에서는 CO 동반 가능성 때문에 아질산염 사용에 주의한다.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세포 호흡 차단 독성 (2/3)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황화수소</a:t>
            </a:r>
            <a:r>
              <a:rPr sz="1800" b="0" i="0">
                <a:solidFill>
                  <a:srgbClr val="11202B"/>
                </a:solidFill>
                <a:latin typeface="Malgun Gothic"/>
                <a:ea typeface="Malgun Gothic"/>
                <a:cs typeface="Malgun Gothic"/>
              </a:rPr>
              <a:t>: 같은 복합체 IV 억제 + 점막 자극. "썩은 달걀" 냄새지만 고농도에서 후각이 마비된다(즉시 의식 상실 — 분뇨·하수 밀폐 공간 사고). 치료는 즉시 대피·고농도 산소, 아질산나트륨 고려.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일산화탄소</a:t>
            </a:r>
            <a:r>
              <a:rPr sz="1800" b="0" i="0">
                <a:solidFill>
                  <a:srgbClr val="11202B"/>
                </a:solidFill>
                <a:latin typeface="Malgun Gothic"/>
                <a:ea typeface="Malgun Gothic"/>
                <a:cs typeface="Malgun Gothic"/>
              </a:rPr>
              <a:t>: 헴 결합 + 좌측 이동(B10 L03) + 미토콘드리아 복합체 IV 억제 + 염증·지질 과산화 → 지연성 신경학적 후유증(기저핵·백질). 치료 고농도 산소, 고압산소는 의식 소실·임신·심한 산증 등에서 고려.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메트헤모글로빈 생성 물질</a:t>
            </a:r>
            <a:r>
              <a:rPr sz="1800" b="0" i="0">
                <a:solidFill>
                  <a:srgbClr val="11202B"/>
                </a:solidFill>
                <a:latin typeface="Malgun Gothic"/>
                <a:ea typeface="Malgun Gothic"/>
                <a:cs typeface="Malgun Gothic"/>
              </a:rPr>
              <a:t>: 아질산염(우물물·가공육), 답손, 벤조카인, 니트로벤젠, 프릴로카인. 특징적 </a:t>
            </a:r>
            <a:r>
              <a:rPr sz="1800" b="1" i="0">
                <a:solidFill>
                  <a:srgbClr val="11202B"/>
                </a:solidFill>
                <a:latin typeface="Malgun Gothic"/>
                <a:ea typeface="Malgun Gothic"/>
                <a:cs typeface="Malgun Gothic"/>
              </a:rPr>
              <a:t>초콜릿 갈색 혈액</a:t>
            </a:r>
            <a:r>
              <a:rPr sz="1800" b="0" i="0">
                <a:solidFill>
                  <a:srgbClr val="11202B"/>
                </a:solidFill>
                <a:latin typeface="Malgun Gothic"/>
                <a:ea typeface="Malgun Gothic"/>
                <a:cs typeface="Malgun Gothic"/>
              </a:rPr>
              <a:t>, 산소 불응성 청색증 → 메틸렌블루(NADPH 메트헤모글로빈 환원효소 경로 이용; </a:t>
            </a:r>
            <a:r>
              <a:rPr sz="1800" b="1" i="0">
                <a:solidFill>
                  <a:srgbClr val="11202B"/>
                </a:solidFill>
                <a:latin typeface="Malgun Gothic"/>
                <a:ea typeface="Malgun Gothic"/>
                <a:cs typeface="Malgun Gothic"/>
              </a:rPr>
              <a:t>G6PD 결핍에서는 용혈 위험 — 교환 수혈·고압산소 고려</a:t>
            </a:r>
            <a:r>
              <a:rPr sz="1800" b="0" i="0">
                <a:solidFill>
                  <a:srgbClr val="11202B"/>
                </a:solidFill>
                <a:latin typeface="Malgun Gothic"/>
                <a:ea typeface="Malgun Gothic"/>
                <a:cs typeface="Malgun Gothic"/>
              </a:rPr>
              <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02   </a:t>
            </a:r>
            <a:r>
              <a:rPr sz="2600" b="1" i="0">
                <a:solidFill>
                  <a:srgbClr val="FFFFFF"/>
                </a:solidFill>
                <a:latin typeface="Malgun Gothic"/>
                <a:ea typeface="Malgun Gothic"/>
                <a:cs typeface="Malgun Gothic"/>
              </a:rPr>
              <a:t>세포 호흡 차단 독성 (3/3)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1" i="0">
                <a:solidFill>
                  <a:srgbClr val="11202B"/>
                </a:solidFill>
                <a:latin typeface="Malgun Gothic"/>
                <a:ea typeface="Malgun Gothic"/>
                <a:cs typeface="Malgun Gothic"/>
              </a:rPr>
              <a:t>파라쿼트</a:t>
            </a:r>
            <a:r>
              <a:rPr sz="2200" b="0" i="0">
                <a:solidFill>
                  <a:srgbClr val="11202B"/>
                </a:solidFill>
                <a:latin typeface="Malgun Gothic"/>
                <a:ea typeface="Malgun Gothic"/>
                <a:cs typeface="Malgun Gothic"/>
              </a:rPr>
              <a:t>: 폐 상피세포가 폴리아민 수송체로 농축 → NADPH 소모형 산화환원 순환 → 폐섬유화로 지연 사망. 산소 투여가 오히려 해로울 수 있다(산소 의존적 ROS 생성).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중금속과 킬레이션</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킬레이션의 원칙: 혈중 농도 + 증상 + 노출 지속성을 함께 본다. 무증상 경도 상승에서는 </a:t>
            </a:r>
            <a:r>
              <a:rPr sz="2200" b="1" i="0">
                <a:solidFill>
                  <a:srgbClr val="11202B"/>
                </a:solidFill>
                <a:latin typeface="Malgun Gothic"/>
                <a:ea typeface="Malgun Gothic"/>
                <a:cs typeface="Malgun Gothic"/>
              </a:rPr>
              <a:t>노출 제거가 치료</a:t>
            </a:r>
            <a:r>
              <a:rPr sz="2200" b="0" i="0">
                <a:solidFill>
                  <a:srgbClr val="11202B"/>
                </a:solidFill>
                <a:latin typeface="Malgun Gothic"/>
                <a:ea typeface="Malgun Gothic"/>
                <a:cs typeface="Malgun Gothic"/>
              </a:rPr>
              <a:t>이며, 킬레이션 자체가 필수 금속(아연·구리) 소모와 신독성, 그리고 조직에서 뇌로의 재분포를 일으킬 수 있다. 소아 납 노출은 혈중 농도 기준에 따라 환경 조사·주거 개선이 핵심 개입이다.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납의 생화학적 지표: 적혈구 </a:t>
            </a:r>
            <a:r>
              <a:rPr sz="2200" b="1" i="0">
                <a:solidFill>
                  <a:srgbClr val="11202B"/>
                </a:solidFill>
                <a:latin typeface="Malgun Gothic"/>
                <a:ea typeface="Malgun Gothic"/>
                <a:cs typeface="Malgun Gothic"/>
              </a:rPr>
              <a:t>아연 프로토포르피린</a:t>
            </a:r>
            <a:r>
              <a:rPr sz="2200" b="0" i="0">
                <a:solidFill>
                  <a:srgbClr val="11202B"/>
                </a:solidFill>
                <a:latin typeface="Malgun Gothic"/>
                <a:ea typeface="Malgun Gothic"/>
                <a:cs typeface="Malgun Gothic"/>
              </a:rPr>
              <a:t>과 요 ALA 상승(헴 합성 차단의 직접 증거).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중금속과 킬레이션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11</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300" b="1" i="0">
                          <a:solidFill>
                            <a:srgbClr val="FFFFFF"/>
                          </a:solidFill>
                          <a:latin typeface="Malgun Gothic"/>
                          <a:ea typeface="Malgun Gothic"/>
                          <a:cs typeface="Malgun Gothic"/>
                        </a:rPr>
                        <a:t>금속</a:t>
                      </a:r>
                    </a:p>
                  </a:txBody>
                  <a:tcPr marL="73152" marR="73152">
                    <a:solidFill>
                      <a:srgbClr val="003C71"/>
                    </a:solidFill>
                  </a:tcPr>
                </a:tc>
                <a:tc>
                  <a:txBody>
                    <a:bodyPr/>
                    <a:lstStyle/>
                    <a:p>
                      <a:r>
                        <a:rPr sz="1300" b="1" i="0">
                          <a:solidFill>
                            <a:srgbClr val="FFFFFF"/>
                          </a:solidFill>
                          <a:latin typeface="Malgun Gothic"/>
                          <a:ea typeface="Malgun Gothic"/>
                          <a:cs typeface="Malgun Gothic"/>
                        </a:rPr>
                        <a:t>분자 표적</a:t>
                      </a:r>
                    </a:p>
                  </a:txBody>
                  <a:tcPr marL="73152" marR="73152">
                    <a:solidFill>
                      <a:srgbClr val="003C71"/>
                    </a:solidFill>
                  </a:tcPr>
                </a:tc>
                <a:tc>
                  <a:txBody>
                    <a:bodyPr/>
                    <a:lstStyle/>
                    <a:p>
                      <a:r>
                        <a:rPr sz="1300" b="1" i="0">
                          <a:solidFill>
                            <a:srgbClr val="FFFFFF"/>
                          </a:solidFill>
                          <a:latin typeface="Malgun Gothic"/>
                          <a:ea typeface="Malgun Gothic"/>
                          <a:cs typeface="Malgun Gothic"/>
                        </a:rPr>
                        <a:t>임상</a:t>
                      </a:r>
                    </a:p>
                  </a:txBody>
                  <a:tcPr marL="73152" marR="73152">
                    <a:solidFill>
                      <a:srgbClr val="003C71"/>
                    </a:solidFill>
                  </a:tcPr>
                </a:tc>
                <a:tc>
                  <a:txBody>
                    <a:bodyPr/>
                    <a:lstStyle/>
                    <a:p>
                      <a:r>
                        <a:rPr sz="1300" b="1" i="0">
                          <a:solidFill>
                            <a:srgbClr val="FFFFFF"/>
                          </a:solidFill>
                          <a:latin typeface="Malgun Gothic"/>
                          <a:ea typeface="Malgun Gothic"/>
                          <a:cs typeface="Malgun Gothic"/>
                        </a:rPr>
                        <a:t>킬레이트</a:t>
                      </a:r>
                    </a:p>
                  </a:txBody>
                  <a:tcPr marL="73152" marR="73152">
                    <a:solidFill>
                      <a:srgbClr val="003C71"/>
                    </a:solidFill>
                  </a:tcPr>
                </a:tc>
              </a:tr>
              <a:tr h="365760">
                <a:tc>
                  <a:txBody>
                    <a:bodyPr/>
                    <a:lstStyle/>
                    <a:p>
                      <a:r>
                        <a:rPr sz="1300" b="1" i="0">
                          <a:solidFill>
                            <a:srgbClr val="11202B"/>
                          </a:solidFill>
                          <a:latin typeface="Malgun Gothic"/>
                          <a:ea typeface="Malgun Gothic"/>
                          <a:cs typeface="Malgun Gothic"/>
                        </a:rPr>
                        <a:t>납</a:t>
                      </a:r>
                    </a:p>
                  </a:txBody>
                  <a:tcPr marL="73152" marR="73152">
                    <a:solidFill>
                      <a:srgbClr val="FFFFFF"/>
                    </a:solidFill>
                  </a:tcPr>
                </a:tc>
                <a:tc>
                  <a:txBody>
                    <a:bodyPr/>
                    <a:lstStyle/>
                    <a:p>
                      <a:r>
                        <a:rPr sz="1300" b="0" i="0">
                          <a:solidFill>
                            <a:srgbClr val="11202B"/>
                          </a:solidFill>
                          <a:latin typeface="Malgun Gothic"/>
                          <a:ea typeface="Malgun Gothic"/>
                          <a:cs typeface="Malgun Gothic"/>
                        </a:rPr>
                        <a:t>ALA 탈수효소·ferrochelatase(헴 합성), 칼슘 모방(NMDA·PKC)</a:t>
                      </a:r>
                    </a:p>
                  </a:txBody>
                  <a:tcPr marL="73152" marR="73152">
                    <a:solidFill>
                      <a:srgbClr val="FFFFFF"/>
                    </a:solidFill>
                  </a:tcPr>
                </a:tc>
                <a:tc>
                  <a:txBody>
                    <a:bodyPr/>
                    <a:lstStyle/>
                    <a:p>
                      <a:r>
                        <a:rPr sz="1300" b="0" i="0">
                          <a:solidFill>
                            <a:srgbClr val="11202B"/>
                          </a:solidFill>
                          <a:latin typeface="Malgun Gothic"/>
                          <a:ea typeface="Malgun Gothic"/>
                          <a:cs typeface="Malgun Gothic"/>
                        </a:rPr>
                        <a:t>소아 인지·행동, 빈혈(염기성 반점), 복통, 신장, 치은 납선</a:t>
                      </a:r>
                    </a:p>
                  </a:txBody>
                  <a:tcPr marL="73152" marR="73152">
                    <a:solidFill>
                      <a:srgbClr val="FFFFFF"/>
                    </a:solidFill>
                  </a:tcPr>
                </a:tc>
                <a:tc>
                  <a:txBody>
                    <a:bodyPr/>
                    <a:lstStyle/>
                    <a:p>
                      <a:r>
                        <a:rPr sz="1300" b="0" i="0">
                          <a:solidFill>
                            <a:srgbClr val="11202B"/>
                          </a:solidFill>
                          <a:latin typeface="Malgun Gothic"/>
                          <a:ea typeface="Malgun Gothic"/>
                          <a:cs typeface="Malgun Gothic"/>
                        </a:rPr>
                        <a:t>숙시머(경구), </a:t>
                      </a:r>
                      <a:r>
                        <a:rPr sz="1300" b="1" i="0">
                          <a:solidFill>
                            <a:srgbClr val="11202B"/>
                          </a:solidFill>
                          <a:latin typeface="Malgun Gothic"/>
                          <a:ea typeface="Malgun Gothic"/>
                          <a:cs typeface="Malgun Gothic"/>
                        </a:rPr>
                        <a:t>CaNa₂EDTA + 디메르카프롤</a:t>
                      </a:r>
                      <a:r>
                        <a:rPr sz="1300" b="0" i="0">
                          <a:solidFill>
                            <a:srgbClr val="11202B"/>
                          </a:solidFill>
                          <a:latin typeface="Malgun Gothic"/>
                          <a:ea typeface="Malgun Gothic"/>
                          <a:cs typeface="Malgun Gothic"/>
                        </a:rPr>
                        <a:t>(뇌증)</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수은</a:t>
                      </a:r>
                      <a:r>
                        <a:rPr sz="1300" b="0" i="0">
                          <a:solidFill>
                            <a:srgbClr val="11202B"/>
                          </a:solidFill>
                          <a:latin typeface="Malgun Gothic"/>
                          <a:ea typeface="Malgun Gothic"/>
                          <a:cs typeface="Malgun Gothic"/>
                        </a:rPr>
                        <a:t> — 무기</a:t>
                      </a:r>
                    </a:p>
                  </a:txBody>
                  <a:tcPr marL="73152" marR="73152">
                    <a:solidFill>
                      <a:srgbClr val="ECF1F5"/>
                    </a:solidFill>
                  </a:tcPr>
                </a:tc>
                <a:tc>
                  <a:txBody>
                    <a:bodyPr/>
                    <a:lstStyle/>
                    <a:p>
                      <a:r>
                        <a:rPr sz="1300" b="0" i="0">
                          <a:solidFill>
                            <a:srgbClr val="11202B"/>
                          </a:solidFill>
                          <a:latin typeface="Malgun Gothic"/>
                          <a:ea typeface="Malgun Gothic"/>
                          <a:cs typeface="Malgun Gothic"/>
                        </a:rPr>
                        <a:t>신세관 설프하이드릴</a:t>
                      </a:r>
                    </a:p>
                  </a:txBody>
                  <a:tcPr marL="73152" marR="73152">
                    <a:solidFill>
                      <a:srgbClr val="ECF1F5"/>
                    </a:solidFill>
                  </a:tcPr>
                </a:tc>
                <a:tc>
                  <a:txBody>
                    <a:bodyPr/>
                    <a:lstStyle/>
                    <a:p>
                      <a:r>
                        <a:rPr sz="1300" b="0" i="0">
                          <a:solidFill>
                            <a:srgbClr val="11202B"/>
                          </a:solidFill>
                          <a:latin typeface="Malgun Gothic"/>
                          <a:ea typeface="Malgun Gothic"/>
                          <a:cs typeface="Malgun Gothic"/>
                        </a:rPr>
                        <a:t>급성 신부전, 위장관 부식</a:t>
                      </a:r>
                    </a:p>
                  </a:txBody>
                  <a:tcPr marL="73152" marR="73152">
                    <a:solidFill>
                      <a:srgbClr val="ECF1F5"/>
                    </a:solidFill>
                  </a:tcPr>
                </a:tc>
                <a:tc>
                  <a:txBody>
                    <a:bodyPr/>
                    <a:lstStyle/>
                    <a:p>
                      <a:r>
                        <a:rPr sz="1300" b="0" i="0">
                          <a:solidFill>
                            <a:srgbClr val="11202B"/>
                          </a:solidFill>
                          <a:latin typeface="Malgun Gothic"/>
                          <a:ea typeface="Malgun Gothic"/>
                          <a:cs typeface="Malgun Gothic"/>
                        </a:rPr>
                        <a:t>숙시머, DMPS</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수은 — 메틸(유기)</a:t>
                      </a:r>
                    </a:p>
                  </a:txBody>
                  <a:tcPr marL="73152" marR="73152">
                    <a:solidFill>
                      <a:srgbClr val="FFFFFF"/>
                    </a:solidFill>
                  </a:tcPr>
                </a:tc>
                <a:tc>
                  <a:txBody>
                    <a:bodyPr/>
                    <a:lstStyle/>
                    <a:p>
                      <a:r>
                        <a:rPr sz="1300" b="0" i="0">
                          <a:solidFill>
                            <a:srgbClr val="11202B"/>
                          </a:solidFill>
                          <a:latin typeface="Malgun Gothic"/>
                          <a:ea typeface="Malgun Gothic"/>
                          <a:cs typeface="Malgun Gothic"/>
                        </a:rPr>
                        <a:t>중추신경·태아 뇌</a:t>
                      </a:r>
                    </a:p>
                  </a:txBody>
                  <a:tcPr marL="73152" marR="73152">
                    <a:solidFill>
                      <a:srgbClr val="FFFFFF"/>
                    </a:solidFill>
                  </a:tcPr>
                </a:tc>
                <a:tc>
                  <a:txBody>
                    <a:bodyPr/>
                    <a:lstStyle/>
                    <a:p>
                      <a:r>
                        <a:rPr sz="1300" b="0" i="0">
                          <a:solidFill>
                            <a:srgbClr val="11202B"/>
                          </a:solidFill>
                          <a:latin typeface="Malgun Gothic"/>
                          <a:ea typeface="Malgun Gothic"/>
                          <a:cs typeface="Malgun Gothic"/>
                        </a:rPr>
                        <a:t>미나마타병, 감각·보행·시야 장애; 태아 가장 취약</a:t>
                      </a:r>
                    </a:p>
                  </a:txBody>
                  <a:tcPr marL="73152" marR="73152">
                    <a:solidFill>
                      <a:srgbClr val="FFFFFF"/>
                    </a:solidFill>
                  </a:tcPr>
                </a:tc>
                <a:tc>
                  <a:txBody>
                    <a:bodyPr/>
                    <a:lstStyle/>
                    <a:p>
                      <a:r>
                        <a:rPr sz="1300" b="0" i="0">
                          <a:solidFill>
                            <a:srgbClr val="11202B"/>
                          </a:solidFill>
                          <a:latin typeface="Malgun Gothic"/>
                          <a:ea typeface="Malgun Gothic"/>
                          <a:cs typeface="Malgun Gothic"/>
                        </a:rPr>
                        <a:t>킬레이션 효과 제한 — 노출 차단</a:t>
                      </a:r>
                    </a:p>
                  </a:txBody>
                  <a:tcPr marL="73152" marR="73152">
                    <a:solidFill>
                      <a:srgbClr val="FFFFFF"/>
                    </a:solidFill>
                  </a:tcPr>
                </a:tc>
              </a:tr>
              <a:tr h="365760">
                <a:tc>
                  <a:txBody>
                    <a:bodyPr/>
                    <a:lstStyle/>
                    <a:p>
                      <a:r>
                        <a:rPr sz="1300" b="1" i="0">
                          <a:solidFill>
                            <a:srgbClr val="11202B"/>
                          </a:solidFill>
                          <a:latin typeface="Malgun Gothic"/>
                          <a:ea typeface="Malgun Gothic"/>
                          <a:cs typeface="Malgun Gothic"/>
                        </a:rPr>
                        <a:t>비소</a:t>
                      </a:r>
                    </a:p>
                  </a:txBody>
                  <a:tcPr marL="73152" marR="73152">
                    <a:solidFill>
                      <a:srgbClr val="ECF1F5"/>
                    </a:solidFill>
                  </a:tcPr>
                </a:tc>
                <a:tc>
                  <a:txBody>
                    <a:bodyPr/>
                    <a:lstStyle/>
                    <a:p>
                      <a:r>
                        <a:rPr sz="1300" b="0" i="0">
                          <a:solidFill>
                            <a:srgbClr val="11202B"/>
                          </a:solidFill>
                          <a:latin typeface="Malgun Gothic"/>
                          <a:ea typeface="Malgun Gothic"/>
                          <a:cs typeface="Malgun Gothic"/>
                        </a:rPr>
                        <a:t>피루브산 탈수소효소 리포산, ATP 유사체 치환</a:t>
                      </a:r>
                    </a:p>
                  </a:txBody>
                  <a:tcPr marL="73152" marR="73152">
                    <a:solidFill>
                      <a:srgbClr val="ECF1F5"/>
                    </a:solidFill>
                  </a:tcPr>
                </a:tc>
                <a:tc>
                  <a:txBody>
                    <a:bodyPr/>
                    <a:lstStyle/>
                    <a:p>
                      <a:r>
                        <a:rPr sz="1300" b="0" i="0">
                          <a:solidFill>
                            <a:srgbClr val="11202B"/>
                          </a:solidFill>
                          <a:latin typeface="Malgun Gothic"/>
                          <a:ea typeface="Malgun Gothic"/>
                          <a:cs typeface="Malgun Gothic"/>
                        </a:rPr>
                        <a:t>급성 — 위장관·QT 연장·쇼크; 만성 — 과각화·보웬병·말초신경병·피부·폐·방광암</a:t>
                      </a:r>
                    </a:p>
                  </a:txBody>
                  <a:tcPr marL="73152" marR="73152">
                    <a:solidFill>
                      <a:srgbClr val="ECF1F5"/>
                    </a:solidFill>
                  </a:tcPr>
                </a:tc>
                <a:tc>
                  <a:txBody>
                    <a:bodyPr/>
                    <a:lstStyle/>
                    <a:p>
                      <a:r>
                        <a:rPr sz="1300" b="0" i="0">
                          <a:solidFill>
                            <a:srgbClr val="11202B"/>
                          </a:solidFill>
                          <a:latin typeface="Malgun Gothic"/>
                          <a:ea typeface="Malgun Gothic"/>
                          <a:cs typeface="Malgun Gothic"/>
                        </a:rPr>
                        <a:t>디메르카프롤, 숙시머</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카드뮴</a:t>
                      </a:r>
                    </a:p>
                  </a:txBody>
                  <a:tcPr marL="73152" marR="73152">
                    <a:solidFill>
                      <a:srgbClr val="FFFFFF"/>
                    </a:solidFill>
                  </a:tcPr>
                </a:tc>
                <a:tc>
                  <a:txBody>
                    <a:bodyPr/>
                    <a:lstStyle/>
                    <a:p>
                      <a:r>
                        <a:rPr sz="1300" b="0" i="0">
                          <a:solidFill>
                            <a:srgbClr val="11202B"/>
                          </a:solidFill>
                          <a:latin typeface="Malgun Gothic"/>
                          <a:ea typeface="Malgun Gothic"/>
                          <a:cs typeface="Malgun Gothic"/>
                        </a:rPr>
                        <a:t>신세관(β2-마이크로글로불린뇨), 골</a:t>
                      </a:r>
                    </a:p>
                  </a:txBody>
                  <a:tcPr marL="73152" marR="73152">
                    <a:solidFill>
                      <a:srgbClr val="FFFFFF"/>
                    </a:solidFill>
                  </a:tcPr>
                </a:tc>
                <a:tc>
                  <a:txBody>
                    <a:bodyPr/>
                    <a:lstStyle/>
                    <a:p>
                      <a:r>
                        <a:rPr sz="1300" b="0" i="0">
                          <a:solidFill>
                            <a:srgbClr val="11202B"/>
                          </a:solidFill>
                          <a:latin typeface="Malgun Gothic"/>
                          <a:ea typeface="Malgun Gothic"/>
                          <a:cs typeface="Malgun Gothic"/>
                        </a:rPr>
                        <a:t>이타이이타이병, 골연화</a:t>
                      </a:r>
                    </a:p>
                  </a:txBody>
                  <a:tcPr marL="73152" marR="73152">
                    <a:solidFill>
                      <a:srgbClr val="FFFFFF"/>
                    </a:solidFill>
                  </a:tcPr>
                </a:tc>
                <a:tc>
                  <a:txBody>
                    <a:bodyPr/>
                    <a:lstStyle/>
                    <a:p>
                      <a:r>
                        <a:rPr sz="1300" b="0" i="0">
                          <a:solidFill>
                            <a:srgbClr val="11202B"/>
                          </a:solidFill>
                          <a:latin typeface="Malgun Gothic"/>
                          <a:ea typeface="Malgun Gothic"/>
                          <a:cs typeface="Malgun Gothic"/>
                        </a:rPr>
                        <a:t>효과적 킬레이트 없음</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구리</a:t>
                      </a:r>
                    </a:p>
                  </a:txBody>
                  <a:tcPr marL="73152" marR="73152">
                    <a:solidFill>
                      <a:srgbClr val="ECF1F5"/>
                    </a:solidFill>
                  </a:tcPr>
                </a:tc>
                <a:tc>
                  <a:txBody>
                    <a:bodyPr/>
                    <a:lstStyle/>
                    <a:p>
                      <a:r>
                        <a:rPr sz="1300" b="0" i="0">
                          <a:solidFill>
                            <a:srgbClr val="11202B"/>
                          </a:solidFill>
                          <a:latin typeface="Malgun Gothic"/>
                          <a:ea typeface="Malgun Gothic"/>
                          <a:cs typeface="Malgun Gothic"/>
                        </a:rPr>
                        <a:t>과잉 — 산화 손상</a:t>
                      </a:r>
                    </a:p>
                  </a:txBody>
                  <a:tcPr marL="73152" marR="73152">
                    <a:solidFill>
                      <a:srgbClr val="ECF1F5"/>
                    </a:solidFill>
                  </a:tcPr>
                </a:tc>
                <a:tc>
                  <a:txBody>
                    <a:bodyPr/>
                    <a:lstStyle/>
                    <a:p>
                      <a:r>
                        <a:rPr sz="1300" b="1" i="0">
                          <a:solidFill>
                            <a:srgbClr val="11202B"/>
                          </a:solidFill>
                          <a:latin typeface="Malgun Gothic"/>
                          <a:ea typeface="Malgun Gothic"/>
                          <a:cs typeface="Malgun Gothic"/>
                        </a:rPr>
                        <a:t>윌슨병</a:t>
                      </a:r>
                      <a:r>
                        <a:rPr sz="1300" b="0" i="0">
                          <a:solidFill>
                            <a:srgbClr val="11202B"/>
                          </a:solidFill>
                          <a:latin typeface="Malgun Gothic"/>
                          <a:ea typeface="Malgun Gothic"/>
                          <a:cs typeface="Malgun Gothic"/>
                        </a:rPr>
                        <a:t>(B03 연계), 급성 용혈</a:t>
                      </a:r>
                    </a:p>
                  </a:txBody>
                  <a:tcPr marL="73152" marR="73152">
                    <a:solidFill>
                      <a:srgbClr val="ECF1F5"/>
                    </a:solidFill>
                  </a:tcPr>
                </a:tc>
                <a:tc>
                  <a:txBody>
                    <a:bodyPr/>
                    <a:lstStyle/>
                    <a:p>
                      <a:r>
                        <a:rPr sz="1300" b="0" i="0">
                          <a:solidFill>
                            <a:srgbClr val="11202B"/>
                          </a:solidFill>
                          <a:latin typeface="Malgun Gothic"/>
                          <a:ea typeface="Malgun Gothic"/>
                          <a:cs typeface="Malgun Gothic"/>
                        </a:rPr>
                        <a:t>페니실라민, 트리엔틴, 아연</a:t>
                      </a:r>
                    </a:p>
                  </a:txBody>
                  <a:tcPr marL="73152" marR="73152">
                    <a:solidFill>
                      <a:srgbClr val="ECF1F5"/>
                    </a:solidFill>
                  </a:tcPr>
                </a:tc>
              </a:tr>
              <a:tr h="365760">
                <a:tc>
                  <a:txBody>
                    <a:bodyPr/>
                    <a:lstStyle/>
                    <a:p>
                      <a:r>
                        <a:rPr sz="1300" b="0" i="0">
                          <a:solidFill>
                            <a:srgbClr val="11202B"/>
                          </a:solidFill>
                          <a:latin typeface="Malgun Gothic"/>
                          <a:ea typeface="Malgun Gothic"/>
                          <a:cs typeface="Malgun Gothic"/>
                        </a:rPr>
                        <a:t>철</a:t>
                      </a:r>
                    </a:p>
                  </a:txBody>
                  <a:tcPr marL="73152" marR="73152">
                    <a:solidFill>
                      <a:srgbClr val="FFFFFF"/>
                    </a:solidFill>
                  </a:tcPr>
                </a:tc>
                <a:tc>
                  <a:txBody>
                    <a:bodyPr/>
                    <a:lstStyle/>
                    <a:p>
                      <a:r>
                        <a:rPr sz="1300" b="0" i="0">
                          <a:solidFill>
                            <a:srgbClr val="11202B"/>
                          </a:solidFill>
                          <a:latin typeface="Malgun Gothic"/>
                          <a:ea typeface="Malgun Gothic"/>
                          <a:cs typeface="Malgun Gothic"/>
                        </a:rPr>
                        <a:t>자유 라디칼, 미토콘드리아</a:t>
                      </a:r>
                    </a:p>
                  </a:txBody>
                  <a:tcPr marL="73152" marR="73152">
                    <a:solidFill>
                      <a:srgbClr val="FFFFFF"/>
                    </a:solidFill>
                  </a:tcPr>
                </a:tc>
                <a:tc>
                  <a:txBody>
                    <a:bodyPr/>
                    <a:lstStyle/>
                    <a:p>
                      <a:r>
                        <a:rPr sz="1300" b="0" i="0">
                          <a:solidFill>
                            <a:srgbClr val="11202B"/>
                          </a:solidFill>
                          <a:latin typeface="Malgun Gothic"/>
                          <a:ea typeface="Malgun Gothic"/>
                          <a:cs typeface="Malgun Gothic"/>
                        </a:rPr>
                        <a:t>소아 과용 — 5단계 경과, 위장관 출혈 후 쇼크·간부전</a:t>
                      </a:r>
                    </a:p>
                  </a:txBody>
                  <a:tcPr marL="73152" marR="73152">
                    <a:solidFill>
                      <a:srgbClr val="FFFFFF"/>
                    </a:solidFill>
                  </a:tcPr>
                </a:tc>
                <a:tc>
                  <a:txBody>
                    <a:bodyPr/>
                    <a:lstStyle/>
                    <a:p>
                      <a:r>
                        <a:rPr sz="1300" b="1" i="0">
                          <a:solidFill>
                            <a:srgbClr val="11202B"/>
                          </a:solidFill>
                          <a:latin typeface="Malgun Gothic"/>
                          <a:ea typeface="Malgun Gothic"/>
                          <a:cs typeface="Malgun Gothic"/>
                        </a:rPr>
                        <a:t>데페록사민</a:t>
                      </a:r>
                    </a:p>
                  </a:txBody>
                  <a:tcPr marL="73152" marR="73152">
                    <a:solidFill>
                      <a:srgbClr val="FFFFFF"/>
                    </a:solidFill>
                  </a:tcPr>
                </a:tc>
              </a:tr>
              <a:tr h="365760">
                <a:tc>
                  <a:txBody>
                    <a:bodyPr/>
                    <a:lstStyle/>
                    <a:p>
                      <a:r>
                        <a:rPr sz="1300" b="0" i="0">
                          <a:solidFill>
                            <a:srgbClr val="11202B"/>
                          </a:solidFill>
                          <a:latin typeface="Malgun Gothic"/>
                          <a:ea typeface="Malgun Gothic"/>
                          <a:cs typeface="Malgun Gothic"/>
                        </a:rPr>
                        <a:t>탈륨</a:t>
                      </a:r>
                    </a:p>
                  </a:txBody>
                  <a:tcPr marL="73152" marR="73152">
                    <a:solidFill>
                      <a:srgbClr val="ECF1F5"/>
                    </a:solidFill>
                  </a:tcPr>
                </a:tc>
                <a:tc>
                  <a:txBody>
                    <a:bodyPr/>
                    <a:lstStyle/>
                    <a:p>
                      <a:r>
                        <a:rPr sz="1300" b="0" i="0">
                          <a:solidFill>
                            <a:srgbClr val="11202B"/>
                          </a:solidFill>
                          <a:latin typeface="Malgun Gothic"/>
                          <a:ea typeface="Malgun Gothic"/>
                          <a:cs typeface="Malgun Gothic"/>
                        </a:rPr>
                        <a:t>K⁺ 모방, 리보플라빈·리포산 간섭</a:t>
                      </a:r>
                    </a:p>
                  </a:txBody>
                  <a:tcPr marL="73152" marR="73152">
                    <a:solidFill>
                      <a:srgbClr val="ECF1F5"/>
                    </a:solidFill>
                  </a:tcPr>
                </a:tc>
                <a:tc>
                  <a:txBody>
                    <a:bodyPr/>
                    <a:lstStyle/>
                    <a:p>
                      <a:r>
                        <a:rPr sz="1300" b="0" i="0">
                          <a:solidFill>
                            <a:srgbClr val="11202B"/>
                          </a:solidFill>
                          <a:latin typeface="Malgun Gothic"/>
                          <a:ea typeface="Malgun Gothic"/>
                          <a:cs typeface="Malgun Gothic"/>
                        </a:rPr>
                        <a:t>통증성 신경병 + </a:t>
                      </a:r>
                      <a:r>
                        <a:rPr sz="1300" b="1" i="0">
                          <a:solidFill>
                            <a:srgbClr val="11202B"/>
                          </a:solidFill>
                          <a:latin typeface="Malgun Gothic"/>
                          <a:ea typeface="Malgun Gothic"/>
                          <a:cs typeface="Malgun Gothic"/>
                        </a:rPr>
                        <a:t>탈모</a:t>
                      </a:r>
                    </a:p>
                  </a:txBody>
                  <a:tcPr marL="73152" marR="73152">
                    <a:solidFill>
                      <a:srgbClr val="ECF1F5"/>
                    </a:solidFill>
                  </a:tcPr>
                </a:tc>
                <a:tc>
                  <a:txBody>
                    <a:bodyPr/>
                    <a:lstStyle/>
                    <a:p>
                      <a:r>
                        <a:rPr sz="1300" b="0" i="0">
                          <a:solidFill>
                            <a:srgbClr val="11202B"/>
                          </a:solidFill>
                          <a:latin typeface="Malgun Gothic"/>
                          <a:ea typeface="Malgun Gothic"/>
                          <a:cs typeface="Malgun Gothic"/>
                        </a:rPr>
                        <a:t>프러시안 블루</a:t>
                      </a:r>
                    </a:p>
                  </a:txBody>
                  <a:tcPr marL="73152" marR="73152">
                    <a:solidFill>
                      <a:srgbClr val="ECF1F5"/>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03   </a:t>
            </a:r>
            <a:r>
              <a:rPr sz="2600" b="1" i="0">
                <a:solidFill>
                  <a:srgbClr val="FFFFFF"/>
                </a:solidFill>
                <a:latin typeface="Malgun Gothic"/>
                <a:ea typeface="Malgun Gothic"/>
                <a:cs typeface="Malgun Gothic"/>
              </a:rPr>
              <a:t>중금속과 킬레이션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12</a:t>
            </a:r>
          </a:p>
        </p:txBody>
      </p:sp>
      <p:graphicFrame>
        <p:nvGraphicFramePr>
          <p:cNvPr id="7" name="Table 6"/>
          <p:cNvGraphicFramePr>
            <a:graphicFrameLocks noGrp="1"/>
          </p:cNvGraphicFramePr>
          <p:nvPr/>
        </p:nvGraphicFramePr>
        <p:xfrm>
          <a:off x="548640" y="1280160"/>
          <a:ext cx="11064240" cy="7315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500" b="1" i="0">
                          <a:solidFill>
                            <a:srgbClr val="FFFFFF"/>
                          </a:solidFill>
                          <a:latin typeface="Malgun Gothic"/>
                          <a:ea typeface="Malgun Gothic"/>
                          <a:cs typeface="Malgun Gothic"/>
                        </a:rPr>
                        <a:t>금속</a:t>
                      </a:r>
                    </a:p>
                  </a:txBody>
                  <a:tcPr marL="73152" marR="73152">
                    <a:solidFill>
                      <a:srgbClr val="003C71"/>
                    </a:solidFill>
                  </a:tcPr>
                </a:tc>
                <a:tc>
                  <a:txBody>
                    <a:bodyPr/>
                    <a:lstStyle/>
                    <a:p>
                      <a:r>
                        <a:rPr sz="1500" b="1" i="0">
                          <a:solidFill>
                            <a:srgbClr val="FFFFFF"/>
                          </a:solidFill>
                          <a:latin typeface="Malgun Gothic"/>
                          <a:ea typeface="Malgun Gothic"/>
                          <a:cs typeface="Malgun Gothic"/>
                        </a:rPr>
                        <a:t>분자 표적</a:t>
                      </a:r>
                    </a:p>
                  </a:txBody>
                  <a:tcPr marL="73152" marR="73152">
                    <a:solidFill>
                      <a:srgbClr val="003C71"/>
                    </a:solidFill>
                  </a:tcPr>
                </a:tc>
                <a:tc>
                  <a:txBody>
                    <a:bodyPr/>
                    <a:lstStyle/>
                    <a:p>
                      <a:r>
                        <a:rPr sz="1500" b="1" i="0">
                          <a:solidFill>
                            <a:srgbClr val="FFFFFF"/>
                          </a:solidFill>
                          <a:latin typeface="Malgun Gothic"/>
                          <a:ea typeface="Malgun Gothic"/>
                          <a:cs typeface="Malgun Gothic"/>
                        </a:rPr>
                        <a:t>임상</a:t>
                      </a:r>
                    </a:p>
                  </a:txBody>
                  <a:tcPr marL="73152" marR="73152">
                    <a:solidFill>
                      <a:srgbClr val="003C71"/>
                    </a:solidFill>
                  </a:tcPr>
                </a:tc>
                <a:tc>
                  <a:txBody>
                    <a:bodyPr/>
                    <a:lstStyle/>
                    <a:p>
                      <a:r>
                        <a:rPr sz="1500" b="1" i="0">
                          <a:solidFill>
                            <a:srgbClr val="FFFFFF"/>
                          </a:solidFill>
                          <a:latin typeface="Malgun Gothic"/>
                          <a:ea typeface="Malgun Gothic"/>
                          <a:cs typeface="Malgun Gothic"/>
                        </a:rPr>
                        <a:t>킬레이트</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망간</a:t>
                      </a:r>
                    </a:p>
                  </a:txBody>
                  <a:tcPr marL="73152" marR="73152">
                    <a:solidFill>
                      <a:srgbClr val="FFFFFF"/>
                    </a:solidFill>
                  </a:tcPr>
                </a:tc>
                <a:tc>
                  <a:txBody>
                    <a:bodyPr/>
                    <a:lstStyle/>
                    <a:p>
                      <a:r>
                        <a:rPr sz="1500" b="0" i="0">
                          <a:solidFill>
                            <a:srgbClr val="11202B"/>
                          </a:solidFill>
                          <a:latin typeface="Malgun Gothic"/>
                          <a:ea typeface="Malgun Gothic"/>
                          <a:cs typeface="Malgun Gothic"/>
                        </a:rPr>
                        <a:t>기저핵 축적</a:t>
                      </a:r>
                    </a:p>
                  </a:txBody>
                  <a:tcPr marL="73152" marR="73152">
                    <a:solidFill>
                      <a:srgbClr val="FFFFFF"/>
                    </a:solidFill>
                  </a:tcPr>
                </a:tc>
                <a:tc>
                  <a:txBody>
                    <a:bodyPr/>
                    <a:lstStyle/>
                    <a:p>
                      <a:r>
                        <a:rPr sz="1500" b="0" i="0">
                          <a:solidFill>
                            <a:srgbClr val="11202B"/>
                          </a:solidFill>
                          <a:latin typeface="Malgun Gothic"/>
                          <a:ea typeface="Malgun Gothic"/>
                          <a:cs typeface="Malgun Gothic"/>
                        </a:rPr>
                        <a:t>파킨슨 유사(용접공, 간부전, 총정맥영양)</a:t>
                      </a:r>
                    </a:p>
                  </a:txBody>
                  <a:tcPr marL="73152" marR="73152">
                    <a:solidFill>
                      <a:srgbClr val="FFFFFF"/>
                    </a:solidFill>
                  </a:tcPr>
                </a:tc>
                <a:tc>
                  <a:txBody>
                    <a:bodyPr/>
                    <a:lstStyle/>
                    <a:p>
                      <a:r>
                        <a:rPr sz="1500" b="0" i="0">
                          <a:solidFill>
                            <a:srgbClr val="11202B"/>
                          </a:solidFill>
                          <a:latin typeface="Malgun Gothic"/>
                          <a:ea typeface="Malgun Gothic"/>
                          <a:cs typeface="Malgun Gothic"/>
                        </a:rPr>
                        <a:t>노출 차단</a:t>
                      </a:r>
                    </a:p>
                  </a:txBody>
                  <a:tcPr marL="73152" marR="73152">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주요 해독제와 기전</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살리실산 중독</a:t>
            </a:r>
            <a:r>
              <a:rPr sz="1800" b="0" i="0">
                <a:solidFill>
                  <a:srgbClr val="11202B"/>
                </a:solidFill>
                <a:latin typeface="Malgun Gothic"/>
                <a:ea typeface="Malgun Gothic"/>
                <a:cs typeface="Malgun Gothic"/>
              </a:rPr>
              <a:t>의 특징적 생화학: 호흡 중추 직접 자극(호흡 알칼리증) + 산화적 인산화 짝풀림·대사 산증 → </a:t>
            </a:r>
            <a:r>
              <a:rPr sz="1800" b="1" i="0">
                <a:solidFill>
                  <a:srgbClr val="11202B"/>
                </a:solidFill>
                <a:latin typeface="Malgun Gothic"/>
                <a:ea typeface="Malgun Gothic"/>
                <a:cs typeface="Malgun Gothic"/>
              </a:rPr>
              <a:t>혼합 장애</a:t>
            </a:r>
            <a:r>
              <a:rPr sz="1800" b="0" i="0">
                <a:solidFill>
                  <a:srgbClr val="11202B"/>
                </a:solidFill>
                <a:latin typeface="Malgun Gothic"/>
                <a:ea typeface="Malgun Gothic"/>
                <a:cs typeface="Malgun Gothic"/>
              </a:rPr>
              <a:t>. 산증이 심해지면 비이온형이 늘어 중추 침투가 증가하므로 </a:t>
            </a:r>
            <a:r>
              <a:rPr sz="1800" b="1" i="0">
                <a:solidFill>
                  <a:srgbClr val="11202B"/>
                </a:solidFill>
                <a:latin typeface="Malgun Gothic"/>
                <a:ea typeface="Malgun Gothic"/>
                <a:cs typeface="Malgun Gothic"/>
              </a:rPr>
              <a:t>절대 산증을 방치하지 않는다</a:t>
            </a:r>
            <a:r>
              <a:rPr sz="1800" b="0" i="0">
                <a:solidFill>
                  <a:srgbClr val="11202B"/>
                </a:solidFill>
                <a:latin typeface="Malgun Gothic"/>
                <a:ea typeface="Malgun Gothic"/>
                <a:cs typeface="Malgun Gothic"/>
              </a:rPr>
              <a:t>. 저혈당 없이도 중추 포도당 결핍이 생길 수 있어 포도당을 공급한다. 삽관과 과도한 저환기는 급격한 악화를 부른다.</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알코올 금단·영양</a:t>
            </a:r>
            <a:r>
              <a:rPr sz="1800" b="0" i="0">
                <a:solidFill>
                  <a:srgbClr val="11202B"/>
                </a:solidFill>
                <a:latin typeface="Malgun Gothic"/>
                <a:ea typeface="Malgun Gothic"/>
                <a:cs typeface="Malgun Gothic"/>
              </a:rPr>
              <a:t>: 모든 중독·알코올 환자에게 </a:t>
            </a:r>
            <a:r>
              <a:rPr sz="1800" b="1" i="0">
                <a:solidFill>
                  <a:srgbClr val="11202B"/>
                </a:solidFill>
                <a:latin typeface="Malgun Gothic"/>
                <a:ea typeface="Malgun Gothic"/>
                <a:cs typeface="Malgun Gothic"/>
              </a:rPr>
              <a:t>티아민을 포도당 전후로</a:t>
            </a:r>
            <a:r>
              <a:rPr sz="1800" b="0" i="0">
                <a:solidFill>
                  <a:srgbClr val="11202B"/>
                </a:solidFill>
                <a:latin typeface="Malgun Gothic"/>
                <a:ea typeface="Malgun Gothic"/>
                <a:cs typeface="Malgun Gothic"/>
              </a:rPr>
              <a:t> 투여(베르니케 예방, B05 연계).</a:t>
            </a:r>
          </a:p>
          <a:p>
            <a:pPr>
              <a:spcAft>
                <a:spcPts val="800"/>
              </a:spcAft>
            </a:pPr>
            <a:r>
              <a:rPr sz="1800" b="1" i="0">
                <a:solidFill>
                  <a:srgbClr val="003C71"/>
                </a:solidFill>
                <a:latin typeface="Malgun Gothic"/>
                <a:ea typeface="Malgun Gothic"/>
                <a:cs typeface="Malgun Gothic"/>
              </a:rPr>
              <a:t>▪ </a:t>
            </a:r>
            <a:r>
              <a:rPr sz="1800" b="1" i="0">
                <a:solidFill>
                  <a:srgbClr val="11202B"/>
                </a:solidFill>
                <a:latin typeface="Malgun Gothic"/>
                <a:ea typeface="Malgun Gothic"/>
                <a:cs typeface="Malgun Gothic"/>
              </a:rPr>
              <a:t>아마톡신(독우산광대버섯)</a:t>
            </a:r>
            <a:r>
              <a:rPr sz="1800" b="0" i="0">
                <a:solidFill>
                  <a:srgbClr val="11202B"/>
                </a:solidFill>
                <a:latin typeface="Malgun Gothic"/>
                <a:ea typeface="Malgun Gothic"/>
                <a:cs typeface="Malgun Gothic"/>
              </a:rPr>
              <a:t>: RNA 중합효소 II 억제 → 6–24시간 잠복 후 위장관 증상 → 일시적 호전 → 2–4일에 간부전. 실리비닌·N-아세틸시스테인·페니실린 G가 사용되나 근거는 제한적이며 간이식 평가가 핵심이다.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주요 해독제와 기전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독성</a:t>
                      </a:r>
                    </a:p>
                  </a:txBody>
                  <a:tcPr marL="73152" marR="73152">
                    <a:solidFill>
                      <a:srgbClr val="003C71"/>
                    </a:solidFill>
                  </a:tcPr>
                </a:tc>
                <a:tc>
                  <a:txBody>
                    <a:bodyPr/>
                    <a:lstStyle/>
                    <a:p>
                      <a:r>
                        <a:rPr sz="1500" b="1" i="0">
                          <a:solidFill>
                            <a:srgbClr val="FFFFFF"/>
                          </a:solidFill>
                          <a:latin typeface="Malgun Gothic"/>
                          <a:ea typeface="Malgun Gothic"/>
                          <a:cs typeface="Malgun Gothic"/>
                        </a:rPr>
                        <a:t>해독제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아세트아미노펜</a:t>
                      </a:r>
                    </a:p>
                  </a:txBody>
                  <a:tcPr marL="73152" marR="73152">
                    <a:solidFill>
                      <a:srgbClr val="FFFFFF"/>
                    </a:solidFill>
                  </a:tcPr>
                </a:tc>
                <a:tc>
                  <a:txBody>
                    <a:bodyPr/>
                    <a:lstStyle/>
                    <a:p>
                      <a:r>
                        <a:rPr sz="1500" b="1" i="0">
                          <a:solidFill>
                            <a:srgbClr val="11202B"/>
                          </a:solidFill>
                          <a:latin typeface="Malgun Gothic"/>
                          <a:ea typeface="Malgun Gothic"/>
                          <a:cs typeface="Malgun Gothic"/>
                        </a:rPr>
                        <a:t>N-아세틸시스테인</a:t>
                      </a:r>
                    </a:p>
                  </a:txBody>
                  <a:tcPr marL="73152" marR="73152">
                    <a:solidFill>
                      <a:srgbClr val="FFFFFF"/>
                    </a:solidFill>
                  </a:tcPr>
                </a:tc>
                <a:tc>
                  <a:txBody>
                    <a:bodyPr/>
                    <a:lstStyle/>
                    <a:p>
                      <a:r>
                        <a:rPr sz="1500" b="0" i="0">
                          <a:solidFill>
                            <a:srgbClr val="11202B"/>
                          </a:solidFill>
                          <a:latin typeface="Malgun Gothic"/>
                          <a:ea typeface="Malgun Gothic"/>
                          <a:cs typeface="Malgun Gothic"/>
                        </a:rPr>
                        <a:t>글루타티온 전구체, NAPQI 결합</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오피오이드</a:t>
                      </a:r>
                    </a:p>
                  </a:txBody>
                  <a:tcPr marL="73152" marR="73152">
                    <a:solidFill>
                      <a:srgbClr val="ECF1F5"/>
                    </a:solidFill>
                  </a:tcPr>
                </a:tc>
                <a:tc>
                  <a:txBody>
                    <a:bodyPr/>
                    <a:lstStyle/>
                    <a:p>
                      <a:r>
                        <a:rPr sz="1500" b="0" i="0">
                          <a:solidFill>
                            <a:srgbClr val="11202B"/>
                          </a:solidFill>
                          <a:latin typeface="Malgun Gothic"/>
                          <a:ea typeface="Malgun Gothic"/>
                          <a:cs typeface="Malgun Gothic"/>
                        </a:rPr>
                        <a:t>날록손</a:t>
                      </a:r>
                    </a:p>
                  </a:txBody>
                  <a:tcPr marL="73152" marR="73152">
                    <a:solidFill>
                      <a:srgbClr val="ECF1F5"/>
                    </a:solidFill>
                  </a:tcPr>
                </a:tc>
                <a:tc>
                  <a:txBody>
                    <a:bodyPr/>
                    <a:lstStyle/>
                    <a:p>
                      <a:r>
                        <a:rPr sz="1500" b="0" i="0">
                          <a:solidFill>
                            <a:srgbClr val="11202B"/>
                          </a:solidFill>
                          <a:latin typeface="Malgun Gothic"/>
                          <a:ea typeface="Malgun Gothic"/>
                          <a:cs typeface="Malgun Gothic"/>
                        </a:rPr>
                        <a:t>μ 수용체 경쟁 길항(반감기 짧음 — 재투여·주입)</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벤조디아제핀</a:t>
                      </a:r>
                    </a:p>
                  </a:txBody>
                  <a:tcPr marL="73152" marR="73152">
                    <a:solidFill>
                      <a:srgbClr val="FFFFFF"/>
                    </a:solidFill>
                  </a:tcPr>
                </a:tc>
                <a:tc>
                  <a:txBody>
                    <a:bodyPr/>
                    <a:lstStyle/>
                    <a:p>
                      <a:r>
                        <a:rPr sz="1500" b="0" i="0">
                          <a:solidFill>
                            <a:srgbClr val="11202B"/>
                          </a:solidFill>
                          <a:latin typeface="Malgun Gothic"/>
                          <a:ea typeface="Malgun Gothic"/>
                          <a:cs typeface="Malgun Gothic"/>
                        </a:rPr>
                        <a:t>플루마제닐</a:t>
                      </a:r>
                    </a:p>
                  </a:txBody>
                  <a:tcPr marL="73152" marR="73152">
                    <a:solidFill>
                      <a:srgbClr val="FFFFFF"/>
                    </a:solidFill>
                  </a:tcPr>
                </a:tc>
                <a:tc>
                  <a:txBody>
                    <a:bodyPr/>
                    <a:lstStyle/>
                    <a:p>
                      <a:r>
                        <a:rPr sz="1500" b="0" i="0">
                          <a:solidFill>
                            <a:srgbClr val="11202B"/>
                          </a:solidFill>
                          <a:latin typeface="Malgun Gothic"/>
                          <a:ea typeface="Malgun Gothic"/>
                          <a:cs typeface="Malgun Gothic"/>
                        </a:rPr>
                        <a:t>GABA-A 경쟁 길항(만성 복용·TCA 동반 시 발작 위험으로 제한적)</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유기인계</a:t>
                      </a:r>
                    </a:p>
                  </a:txBody>
                  <a:tcPr marL="73152" marR="73152">
                    <a:solidFill>
                      <a:srgbClr val="ECF1F5"/>
                    </a:solidFill>
                  </a:tcPr>
                </a:tc>
                <a:tc>
                  <a:txBody>
                    <a:bodyPr/>
                    <a:lstStyle/>
                    <a:p>
                      <a:r>
                        <a:rPr sz="1500" b="1" i="0">
                          <a:solidFill>
                            <a:srgbClr val="11202B"/>
                          </a:solidFill>
                          <a:latin typeface="Malgun Gothic"/>
                          <a:ea typeface="Malgun Gothic"/>
                          <a:cs typeface="Malgun Gothic"/>
                        </a:rPr>
                        <a:t>아트로핀</a:t>
                      </a:r>
                      <a:r>
                        <a:rPr sz="1500" b="0" i="0">
                          <a:solidFill>
                            <a:srgbClr val="11202B"/>
                          </a:solidFill>
                          <a:latin typeface="Malgun Gothic"/>
                          <a:ea typeface="Malgun Gothic"/>
                          <a:cs typeface="Malgun Gothic"/>
                        </a:rPr>
                        <a:t>(무스카린 차단, 기관 분비 조절이 목표) + </a:t>
                      </a:r>
                      <a:r>
                        <a:rPr sz="1500" b="1" i="0">
                          <a:solidFill>
                            <a:srgbClr val="11202B"/>
                          </a:solidFill>
                          <a:latin typeface="Malgun Gothic"/>
                          <a:ea typeface="Malgun Gothic"/>
                          <a:cs typeface="Malgun Gothic"/>
                        </a:rPr>
                        <a:t>프랄리독심</a:t>
                      </a:r>
                      <a:r>
                        <a:rPr sz="1500" b="0" i="0">
                          <a:solidFill>
                            <a:srgbClr val="11202B"/>
                          </a:solidFill>
                          <a:latin typeface="Malgun Gothic"/>
                          <a:ea typeface="Malgun Gothic"/>
                          <a:cs typeface="Malgun Gothic"/>
                        </a:rPr>
                        <a:t>(에스터라아제 재활성화 — 노화 전에)</a:t>
                      </a:r>
                    </a:p>
                  </a:txBody>
                  <a:tcPr marL="73152" marR="73152">
                    <a:solidFill>
                      <a:srgbClr val="ECF1F5"/>
                    </a:solidFill>
                  </a:tcPr>
                </a:tc>
                <a:tc>
                  <a:txBody>
                    <a:bodyPr/>
                    <a:lstStyle/>
                    <a:p>
                      <a:r>
                        <a:rPr sz="1500" b="0" i="0">
                          <a:solidFill>
                            <a:srgbClr val="11202B"/>
                          </a:solidFill>
                          <a:latin typeface="Malgun Gothic"/>
                          <a:ea typeface="Malgun Gothic"/>
                          <a:cs typeface="Malgun Gothic"/>
                        </a:rPr>
                        <a:t>아세틸콜린 축적 해소</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베타차단제</a:t>
                      </a:r>
                    </a:p>
                  </a:txBody>
                  <a:tcPr marL="73152" marR="73152">
                    <a:solidFill>
                      <a:srgbClr val="FFFFFF"/>
                    </a:solidFill>
                  </a:tcPr>
                </a:tc>
                <a:tc>
                  <a:txBody>
                    <a:bodyPr/>
                    <a:lstStyle/>
                    <a:p>
                      <a:r>
                        <a:rPr sz="1500" b="0" i="0">
                          <a:solidFill>
                            <a:srgbClr val="11202B"/>
                          </a:solidFill>
                          <a:latin typeface="Malgun Gothic"/>
                          <a:ea typeface="Malgun Gothic"/>
                          <a:cs typeface="Malgun Gothic"/>
                        </a:rPr>
                        <a:t>글루카곤, 고용량 인슐린-포도당</a:t>
                      </a:r>
                    </a:p>
                  </a:txBody>
                  <a:tcPr marL="73152" marR="73152">
                    <a:solidFill>
                      <a:srgbClr val="FFFFFF"/>
                    </a:solidFill>
                  </a:tcPr>
                </a:tc>
                <a:tc>
                  <a:txBody>
                    <a:bodyPr/>
                    <a:lstStyle/>
                    <a:p>
                      <a:r>
                        <a:rPr sz="1500" b="0" i="0">
                          <a:solidFill>
                            <a:srgbClr val="11202B"/>
                          </a:solidFill>
                          <a:latin typeface="Malgun Gothic"/>
                          <a:ea typeface="Malgun Gothic"/>
                          <a:cs typeface="Malgun Gothic"/>
                        </a:rPr>
                        <a:t>cAMP 우회, 심근 대사 지원</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칼슘통로차단제</a:t>
                      </a:r>
                    </a:p>
                  </a:txBody>
                  <a:tcPr marL="73152" marR="73152">
                    <a:solidFill>
                      <a:srgbClr val="ECF1F5"/>
                    </a:solidFill>
                  </a:tcPr>
                </a:tc>
                <a:tc>
                  <a:txBody>
                    <a:bodyPr/>
                    <a:lstStyle/>
                    <a:p>
                      <a:r>
                        <a:rPr sz="1500" b="0" i="0">
                          <a:solidFill>
                            <a:srgbClr val="11202B"/>
                          </a:solidFill>
                          <a:latin typeface="Malgun Gothic"/>
                          <a:ea typeface="Malgun Gothic"/>
                          <a:cs typeface="Malgun Gothic"/>
                        </a:rPr>
                        <a:t>칼슘, 고용량 인슐린-포도당, 바소프레신</a:t>
                      </a:r>
                    </a:p>
                  </a:txBody>
                  <a:tcPr marL="73152" marR="73152">
                    <a:solidFill>
                      <a:srgbClr val="ECF1F5"/>
                    </a:solidFill>
                  </a:tcPr>
                </a:tc>
                <a:tc>
                  <a:txBody>
                    <a:bodyPr/>
                    <a:lstStyle/>
                    <a:p>
                      <a:r>
                        <a:rPr sz="1500" b="0" i="0">
                          <a:solidFill>
                            <a:srgbClr val="11202B"/>
                          </a:solidFill>
                          <a:latin typeface="Malgun Gothic"/>
                          <a:ea typeface="Malgun Gothic"/>
                          <a:cs typeface="Malgun Gothic"/>
                        </a:rPr>
                        <a:t>수축력·대사 지원</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디곡신</a:t>
                      </a:r>
                    </a:p>
                  </a:txBody>
                  <a:tcPr marL="73152" marR="73152">
                    <a:solidFill>
                      <a:srgbClr val="FFFFFF"/>
                    </a:solidFill>
                  </a:tcPr>
                </a:tc>
                <a:tc>
                  <a:txBody>
                    <a:bodyPr/>
                    <a:lstStyle/>
                    <a:p>
                      <a:r>
                        <a:rPr sz="1500" b="1" i="0">
                          <a:solidFill>
                            <a:srgbClr val="11202B"/>
                          </a:solidFill>
                          <a:latin typeface="Malgun Gothic"/>
                          <a:ea typeface="Malgun Gothic"/>
                          <a:cs typeface="Malgun Gothic"/>
                        </a:rPr>
                        <a:t>디곡신 특이 Fab</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항체 결합 제거(총 디곡신 측정 무의미해짐)</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삼환계 항우울제</a:t>
                      </a:r>
                    </a:p>
                  </a:txBody>
                  <a:tcPr marL="73152" marR="73152">
                    <a:solidFill>
                      <a:srgbClr val="ECF1F5"/>
                    </a:solidFill>
                  </a:tcPr>
                </a:tc>
                <a:tc>
                  <a:txBody>
                    <a:bodyPr/>
                    <a:lstStyle/>
                    <a:p>
                      <a:r>
                        <a:rPr sz="1500" b="1" i="0">
                          <a:solidFill>
                            <a:srgbClr val="11202B"/>
                          </a:solidFill>
                          <a:latin typeface="Malgun Gothic"/>
                          <a:ea typeface="Malgun Gothic"/>
                          <a:cs typeface="Malgun Gothic"/>
                        </a:rPr>
                        <a:t>중탄산나트륨</a:t>
                      </a:r>
                    </a:p>
                  </a:txBody>
                  <a:tcPr marL="73152" marR="73152">
                    <a:solidFill>
                      <a:srgbClr val="ECF1F5"/>
                    </a:solidFill>
                  </a:tcPr>
                </a:tc>
                <a:tc>
                  <a:txBody>
                    <a:bodyPr/>
                    <a:lstStyle/>
                    <a:p>
                      <a:r>
                        <a:rPr sz="1500" b="0" i="0">
                          <a:solidFill>
                            <a:srgbClr val="11202B"/>
                          </a:solidFill>
                          <a:latin typeface="Malgun Gothic"/>
                          <a:ea typeface="Malgun Gothic"/>
                          <a:cs typeface="Malgun Gothic"/>
                        </a:rPr>
                        <a:t>Na⁺ 통로 차단 역전(QRS &gt;100 ms, 알칼리화 + Na 부하)</a:t>
                      </a:r>
                    </a:p>
                  </a:txBody>
                  <a:tcPr marL="73152" marR="73152">
                    <a:solidFill>
                      <a:srgbClr val="ECF1F5"/>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04   </a:t>
            </a:r>
            <a:r>
              <a:rPr sz="2600" b="1" i="0">
                <a:solidFill>
                  <a:srgbClr val="FFFFFF"/>
                </a:solidFill>
                <a:latin typeface="Malgun Gothic"/>
                <a:ea typeface="Malgun Gothic"/>
                <a:cs typeface="Malgun Gothic"/>
              </a:rPr>
              <a:t>주요 해독제와 기전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15</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독성</a:t>
                      </a:r>
                    </a:p>
                  </a:txBody>
                  <a:tcPr marL="73152" marR="73152">
                    <a:solidFill>
                      <a:srgbClr val="003C71"/>
                    </a:solidFill>
                  </a:tcPr>
                </a:tc>
                <a:tc>
                  <a:txBody>
                    <a:bodyPr/>
                    <a:lstStyle/>
                    <a:p>
                      <a:r>
                        <a:rPr sz="1500" b="1" i="0">
                          <a:solidFill>
                            <a:srgbClr val="FFFFFF"/>
                          </a:solidFill>
                          <a:latin typeface="Malgun Gothic"/>
                          <a:ea typeface="Malgun Gothic"/>
                          <a:cs typeface="Malgun Gothic"/>
                        </a:rPr>
                        <a:t>해독제</a:t>
                      </a:r>
                    </a:p>
                  </a:txBody>
                  <a:tcPr marL="73152" marR="73152">
                    <a:solidFill>
                      <a:srgbClr val="003C71"/>
                    </a:solidFill>
                  </a:tcPr>
                </a:tc>
                <a:tc>
                  <a:txBody>
                    <a:bodyPr/>
                    <a:lstStyle/>
                    <a:p>
                      <a:r>
                        <a:rPr sz="1500" b="1" i="0">
                          <a:solidFill>
                            <a:srgbClr val="FFFFFF"/>
                          </a:solidFill>
                          <a:latin typeface="Malgun Gothic"/>
                          <a:ea typeface="Malgun Gothic"/>
                          <a:cs typeface="Malgun Gothic"/>
                        </a:rPr>
                        <a:t>기전</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메탄올·에틸렌글리콜</a:t>
                      </a:r>
                    </a:p>
                  </a:txBody>
                  <a:tcPr marL="73152" marR="73152">
                    <a:solidFill>
                      <a:srgbClr val="FFFFFF"/>
                    </a:solidFill>
                  </a:tcPr>
                </a:tc>
                <a:tc>
                  <a:txBody>
                    <a:bodyPr/>
                    <a:lstStyle/>
                    <a:p>
                      <a:r>
                        <a:rPr sz="1500" b="1" i="0">
                          <a:solidFill>
                            <a:srgbClr val="11202B"/>
                          </a:solidFill>
                          <a:latin typeface="Malgun Gothic"/>
                          <a:ea typeface="Malgun Gothic"/>
                          <a:cs typeface="Malgun Gothic"/>
                        </a:rPr>
                        <a:t>포메피졸</a:t>
                      </a:r>
                      <a:r>
                        <a:rPr sz="1500" b="0" i="0">
                          <a:solidFill>
                            <a:srgbClr val="11202B"/>
                          </a:solidFill>
                          <a:latin typeface="Malgun Gothic"/>
                          <a:ea typeface="Malgun Gothic"/>
                          <a:cs typeface="Malgun Gothic"/>
                        </a:rPr>
                        <a:t> + 투석</a:t>
                      </a:r>
                    </a:p>
                  </a:txBody>
                  <a:tcPr marL="73152" marR="73152">
                    <a:solidFill>
                      <a:srgbClr val="FFFFFF"/>
                    </a:solidFill>
                  </a:tcPr>
                </a:tc>
                <a:tc>
                  <a:txBody>
                    <a:bodyPr/>
                    <a:lstStyle/>
                    <a:p>
                      <a:r>
                        <a:rPr sz="1500" b="0" i="0">
                          <a:solidFill>
                            <a:srgbClr val="11202B"/>
                          </a:solidFill>
                          <a:latin typeface="Malgun Gothic"/>
                          <a:ea typeface="Malgun Gothic"/>
                          <a:cs typeface="Malgun Gothic"/>
                        </a:rPr>
                        <a:t>알코올 탈수소효소 억제</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살리실산</a:t>
                      </a:r>
                    </a:p>
                  </a:txBody>
                  <a:tcPr marL="73152" marR="73152">
                    <a:solidFill>
                      <a:srgbClr val="ECF1F5"/>
                    </a:solidFill>
                  </a:tcPr>
                </a:tc>
                <a:tc>
                  <a:txBody>
                    <a:bodyPr/>
                    <a:lstStyle/>
                    <a:p>
                      <a:r>
                        <a:rPr sz="1500" b="0" i="0">
                          <a:solidFill>
                            <a:srgbClr val="11202B"/>
                          </a:solidFill>
                          <a:latin typeface="Malgun Gothic"/>
                          <a:ea typeface="Malgun Gothic"/>
                          <a:cs typeface="Malgun Gothic"/>
                        </a:rPr>
                        <a:t>중탄산(요 알칼리화 pH 7.5–8) + 투석</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이온 포획으로 뇌 유입 감소·배출 증가</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국소마취제 전신 독성</a:t>
                      </a:r>
                    </a:p>
                  </a:txBody>
                  <a:tcPr marL="73152" marR="73152">
                    <a:solidFill>
                      <a:srgbClr val="FFFFFF"/>
                    </a:solidFill>
                  </a:tcPr>
                </a:tc>
                <a:tc>
                  <a:txBody>
                    <a:bodyPr/>
                    <a:lstStyle/>
                    <a:p>
                      <a:r>
                        <a:rPr sz="1500" b="1" i="0">
                          <a:solidFill>
                            <a:srgbClr val="11202B"/>
                          </a:solidFill>
                          <a:latin typeface="Malgun Gothic"/>
                          <a:ea typeface="Malgun Gothic"/>
                          <a:cs typeface="Malgun Gothic"/>
                        </a:rPr>
                        <a:t>지질 유탁액</a:t>
                      </a:r>
                    </a:p>
                  </a:txBody>
                  <a:tcPr marL="73152" marR="73152">
                    <a:solidFill>
                      <a:srgbClr val="FFFFFF"/>
                    </a:solidFill>
                  </a:tcPr>
                </a:tc>
                <a:tc>
                  <a:txBody>
                    <a:bodyPr/>
                    <a:lstStyle/>
                    <a:p>
                      <a:r>
                        <a:rPr sz="1500" b="0" i="0">
                          <a:solidFill>
                            <a:srgbClr val="11202B"/>
                          </a:solidFill>
                          <a:latin typeface="Malgun Gothic"/>
                          <a:ea typeface="Malgun Gothic"/>
                          <a:cs typeface="Malgun Gothic"/>
                        </a:rPr>
                        <a:t>지질 침강 효과</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메트헤모글로빈</a:t>
                      </a:r>
                    </a:p>
                  </a:txBody>
                  <a:tcPr marL="73152" marR="73152">
                    <a:solidFill>
                      <a:srgbClr val="ECF1F5"/>
                    </a:solidFill>
                  </a:tcPr>
                </a:tc>
                <a:tc>
                  <a:txBody>
                    <a:bodyPr/>
                    <a:lstStyle/>
                    <a:p>
                      <a:r>
                        <a:rPr sz="1500" b="0" i="0">
                          <a:solidFill>
                            <a:srgbClr val="11202B"/>
                          </a:solidFill>
                          <a:latin typeface="Malgun Gothic"/>
                          <a:ea typeface="Malgun Gothic"/>
                          <a:cs typeface="Malgun Gothic"/>
                        </a:rPr>
                        <a:t>메틸렌블루</a:t>
                      </a:r>
                    </a:p>
                  </a:txBody>
                  <a:tcPr marL="73152" marR="73152">
                    <a:solidFill>
                      <a:srgbClr val="ECF1F5"/>
                    </a:solidFill>
                  </a:tcPr>
                </a:tc>
                <a:tc>
                  <a:txBody>
                    <a:bodyPr/>
                    <a:lstStyle/>
                    <a:p>
                      <a:r>
                        <a:rPr sz="1500" b="0" i="0">
                          <a:solidFill>
                            <a:srgbClr val="11202B"/>
                          </a:solidFill>
                          <a:latin typeface="Malgun Gothic"/>
                          <a:ea typeface="Malgun Gothic"/>
                          <a:cs typeface="Malgun Gothic"/>
                        </a:rPr>
                        <a:t>환원효소 보조 전자 운반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와파린·슈퍼와파린</a:t>
                      </a:r>
                    </a:p>
                  </a:txBody>
                  <a:tcPr marL="73152" marR="73152">
                    <a:solidFill>
                      <a:srgbClr val="FFFFFF"/>
                    </a:solidFill>
                  </a:tcPr>
                </a:tc>
                <a:tc>
                  <a:txBody>
                    <a:bodyPr/>
                    <a:lstStyle/>
                    <a:p>
                      <a:r>
                        <a:rPr sz="1500" b="0" i="0">
                          <a:solidFill>
                            <a:srgbClr val="11202B"/>
                          </a:solidFill>
                          <a:latin typeface="Malgun Gothic"/>
                          <a:ea typeface="Malgun Gothic"/>
                          <a:cs typeface="Malgun Gothic"/>
                        </a:rPr>
                        <a:t>비타민 K₁(장기 고용량) + PCC</a:t>
                      </a:r>
                    </a:p>
                  </a:txBody>
                  <a:tcPr marL="73152" marR="73152">
                    <a:solidFill>
                      <a:srgbClr val="FFFFFF"/>
                    </a:solidFill>
                  </a:tcPr>
                </a:tc>
                <a:tc>
                  <a:txBody>
                    <a:bodyPr/>
                    <a:lstStyle/>
                    <a:p>
                      <a:r>
                        <a:rPr sz="1500" b="0" i="0">
                          <a:solidFill>
                            <a:srgbClr val="11202B"/>
                          </a:solidFill>
                          <a:latin typeface="Malgun Gothic"/>
                          <a:ea typeface="Malgun Gothic"/>
                          <a:cs typeface="Malgun Gothic"/>
                        </a:rPr>
                        <a:t>카르복실화 회복</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항응고제 역전</a:t>
                      </a:r>
                    </a:p>
                  </a:txBody>
                  <a:tcPr marL="73152" marR="73152">
                    <a:solidFill>
                      <a:srgbClr val="ECF1F5"/>
                    </a:solidFill>
                  </a:tcPr>
                </a:tc>
                <a:tc>
                  <a:txBody>
                    <a:bodyPr/>
                    <a:lstStyle/>
                    <a:p>
                      <a:r>
                        <a:rPr sz="1500" b="0" i="0">
                          <a:solidFill>
                            <a:srgbClr val="11202B"/>
                          </a:solidFill>
                          <a:latin typeface="Malgun Gothic"/>
                          <a:ea typeface="Malgun Gothic"/>
                          <a:cs typeface="Malgun Gothic"/>
                        </a:rPr>
                        <a:t>이다루시주맙·안덱사네트</a:t>
                      </a:r>
                    </a:p>
                  </a:txBody>
                  <a:tcPr marL="73152" marR="73152">
                    <a:solidFill>
                      <a:srgbClr val="ECF1F5"/>
                    </a:solidFill>
                  </a:tcPr>
                </a:tc>
                <a:tc>
                  <a:txBody>
                    <a:bodyPr/>
                    <a:lstStyle/>
                    <a:p>
                      <a:r>
                        <a:rPr sz="1500" b="0" i="0">
                          <a:solidFill>
                            <a:srgbClr val="11202B"/>
                          </a:solidFill>
                          <a:latin typeface="Malgun Gothic"/>
                          <a:ea typeface="Malgun Gothic"/>
                          <a:cs typeface="Malgun Gothic"/>
                        </a:rPr>
                        <a:t>B10 L04</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보툴리눔·뱀독·전갈독</a:t>
                      </a:r>
                    </a:p>
                  </a:txBody>
                  <a:tcPr marL="73152" marR="73152">
                    <a:solidFill>
                      <a:srgbClr val="FFFFFF"/>
                    </a:solidFill>
                  </a:tcPr>
                </a:tc>
                <a:tc>
                  <a:txBody>
                    <a:bodyPr/>
                    <a:lstStyle/>
                    <a:p>
                      <a:r>
                        <a:rPr sz="1500" b="0" i="0">
                          <a:solidFill>
                            <a:srgbClr val="11202B"/>
                          </a:solidFill>
                          <a:latin typeface="Malgun Gothic"/>
                          <a:ea typeface="Malgun Gothic"/>
                          <a:cs typeface="Malgun Gothic"/>
                        </a:rPr>
                        <a:t>항독소·항사독</a:t>
                      </a:r>
                    </a:p>
                  </a:txBody>
                  <a:tcPr marL="73152" marR="73152">
                    <a:solidFill>
                      <a:srgbClr val="FFFFFF"/>
                    </a:solidFill>
                  </a:tcPr>
                </a:tc>
                <a:tc>
                  <a:txBody>
                    <a:bodyPr/>
                    <a:lstStyle/>
                    <a:p>
                      <a:r>
                        <a:rPr sz="1500" b="0" i="0">
                          <a:solidFill>
                            <a:srgbClr val="11202B"/>
                          </a:solidFill>
                          <a:latin typeface="Malgun Gothic"/>
                          <a:ea typeface="Malgun Gothic"/>
                          <a:cs typeface="Malgun Gothic"/>
                        </a:rPr>
                        <a:t>독소 중화</a:t>
                      </a:r>
                    </a:p>
                  </a:txBody>
                  <a:tcPr marL="73152" marR="73152">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환경·직업 독성과 생체 지표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노출 평가의 세 축: 환경 농도(작업환경 측정), </a:t>
            </a:r>
            <a:r>
              <a:rPr sz="1800" b="1" i="0">
                <a:solidFill>
                  <a:srgbClr val="11202B"/>
                </a:solidFill>
                <a:latin typeface="Malgun Gothic"/>
                <a:ea typeface="Malgun Gothic"/>
                <a:cs typeface="Malgun Gothic"/>
              </a:rPr>
              <a:t>생체 노출 지표</a:t>
            </a:r>
            <a:r>
              <a:rPr sz="1800" b="0" i="0">
                <a:solidFill>
                  <a:srgbClr val="11202B"/>
                </a:solidFill>
                <a:latin typeface="Malgun Gothic"/>
                <a:ea typeface="Malgun Gothic"/>
                <a:cs typeface="Malgun Gothic"/>
              </a:rPr>
              <a:t>(혈중·요중 물질 또는 대사물), </a:t>
            </a:r>
            <a:r>
              <a:rPr sz="1800" b="1" i="0">
                <a:solidFill>
                  <a:srgbClr val="11202B"/>
                </a:solidFill>
                <a:latin typeface="Malgun Gothic"/>
                <a:ea typeface="Malgun Gothic"/>
                <a:cs typeface="Malgun Gothic"/>
              </a:rPr>
              <a:t>생물학적 효과 지표</a:t>
            </a:r>
            <a:r>
              <a:rPr sz="1800" b="0" i="0">
                <a:solidFill>
                  <a:srgbClr val="11202B"/>
                </a:solidFill>
                <a:latin typeface="Malgun Gothic"/>
                <a:ea typeface="Malgun Gothic"/>
                <a:cs typeface="Malgun Gothic"/>
              </a:rPr>
              <a:t>(콜린에스터라아제 활성, 아연 프로토포르피린, DNA 부가물, 염색체 이상).</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발암 기전의 분류: </a:t>
            </a:r>
            <a:r>
              <a:rPr sz="1800" b="1" i="0">
                <a:solidFill>
                  <a:srgbClr val="11202B"/>
                </a:solidFill>
                <a:latin typeface="Malgun Gothic"/>
                <a:ea typeface="Malgun Gothic"/>
                <a:cs typeface="Malgun Gothic"/>
              </a:rPr>
              <a:t>유전독성</a:t>
            </a:r>
            <a:r>
              <a:rPr sz="1800" b="0" i="0">
                <a:solidFill>
                  <a:srgbClr val="11202B"/>
                </a:solidFill>
                <a:latin typeface="Malgun Gothic"/>
                <a:ea typeface="Malgun Gothic"/>
                <a:cs typeface="Malgun Gothic"/>
              </a:rPr>
              <a:t>(DNA 부가물·돌연변이 — 아플라톡신 B1의 TP53 R249S, 벤조피렌의 흡연 서명, 아리스톨로크산의 요로상피암) vs </a:t>
            </a:r>
            <a:r>
              <a:rPr sz="1800" b="1" i="0">
                <a:solidFill>
                  <a:srgbClr val="11202B"/>
                </a:solidFill>
                <a:latin typeface="Malgun Gothic"/>
                <a:ea typeface="Malgun Gothic"/>
                <a:cs typeface="Malgun Gothic"/>
              </a:rPr>
              <a:t>비유전독성</a:t>
            </a:r>
            <a:r>
              <a:rPr sz="1800" b="0" i="0">
                <a:solidFill>
                  <a:srgbClr val="11202B"/>
                </a:solidFill>
                <a:latin typeface="Malgun Gothic"/>
                <a:ea typeface="Malgun Gothic"/>
                <a:cs typeface="Malgun Gothic"/>
              </a:rPr>
              <a:t>(수용체 매개·증식 촉진·만성 염증 — 다이옥신의 AhR, 과산화물체 증식제). IARC 분류는 증거의 강도이지 위험도의 크기가 아니다.</a:t>
            </a:r>
          </a:p>
          <a:p>
            <a:pPr>
              <a:spcAft>
                <a:spcPts val="800"/>
              </a:spcAft>
            </a:pPr>
            <a:r>
              <a:rPr sz="1800" b="1" i="0">
                <a:solidFill>
                  <a:srgbClr val="003C71"/>
                </a:solidFill>
                <a:latin typeface="Malgun Gothic"/>
                <a:ea typeface="Malgun Gothic"/>
                <a:cs typeface="Malgun Gothic"/>
              </a:rPr>
              <a:t>▪ </a:t>
            </a:r>
            <a:r>
              <a:rPr sz="1800" b="0" i="0">
                <a:solidFill>
                  <a:srgbClr val="11202B"/>
                </a:solidFill>
                <a:latin typeface="Malgun Gothic"/>
                <a:ea typeface="Malgun Gothic"/>
                <a:cs typeface="Malgun Gothic"/>
              </a:rPr>
              <a:t>용량-반응의 예외들: 발달기 창(태아 알코올, 메틸수은), 비단조 반응(일부 내분비 교란물질), 유전적 감수성(NAT2 느린 아세틸화와 방광암, GSTM1 결손), 혼합 노출과 상승 작용(석면 + 흡연).</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환경·직업 독성과 생체 지표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17</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500" b="1" i="0">
                          <a:solidFill>
                            <a:srgbClr val="FFFFFF"/>
                          </a:solidFill>
                          <a:latin typeface="Malgun Gothic"/>
                          <a:ea typeface="Malgun Gothic"/>
                          <a:cs typeface="Malgun Gothic"/>
                        </a:rPr>
                        <a:t>노출</a:t>
                      </a:r>
                    </a:p>
                  </a:txBody>
                  <a:tcPr marL="73152" marR="73152">
                    <a:solidFill>
                      <a:srgbClr val="003C71"/>
                    </a:solidFill>
                  </a:tcPr>
                </a:tc>
                <a:tc>
                  <a:txBody>
                    <a:bodyPr/>
                    <a:lstStyle/>
                    <a:p>
                      <a:r>
                        <a:rPr sz="1500" b="1" i="0">
                          <a:solidFill>
                            <a:srgbClr val="FFFFFF"/>
                          </a:solidFill>
                          <a:latin typeface="Malgun Gothic"/>
                          <a:ea typeface="Malgun Gothic"/>
                          <a:cs typeface="Malgun Gothic"/>
                        </a:rPr>
                        <a:t>지표</a:t>
                      </a:r>
                    </a:p>
                  </a:txBody>
                  <a:tcPr marL="73152" marR="73152">
                    <a:solidFill>
                      <a:srgbClr val="003C71"/>
                    </a:solidFill>
                  </a:tcPr>
                </a:tc>
                <a:tc>
                  <a:txBody>
                    <a:bodyPr/>
                    <a:lstStyle/>
                    <a:p>
                      <a:r>
                        <a:rPr sz="1500" b="1" i="0">
                          <a:solidFill>
                            <a:srgbClr val="FFFFFF"/>
                          </a:solidFill>
                          <a:latin typeface="Malgun Gothic"/>
                          <a:ea typeface="Malgun Gothic"/>
                          <a:cs typeface="Malgun Gothic"/>
                        </a:rPr>
                        <a:t>주의</a:t>
                      </a:r>
                    </a:p>
                  </a:txBody>
                  <a:tcPr marL="73152" marR="73152">
                    <a:solidFill>
                      <a:srgbClr val="003C71"/>
                    </a:solidFill>
                  </a:tcPr>
                </a:tc>
              </a:tr>
              <a:tr h="365760">
                <a:tc>
                  <a:txBody>
                    <a:bodyPr/>
                    <a:lstStyle/>
                    <a:p>
                      <a:r>
                        <a:rPr sz="1500" b="0" i="0">
                          <a:solidFill>
                            <a:srgbClr val="11202B"/>
                          </a:solidFill>
                          <a:latin typeface="Malgun Gothic"/>
                          <a:ea typeface="Malgun Gothic"/>
                          <a:cs typeface="Malgun Gothic"/>
                        </a:rPr>
                        <a:t>납</a:t>
                      </a:r>
                    </a:p>
                  </a:txBody>
                  <a:tcPr marL="73152" marR="73152">
                    <a:solidFill>
                      <a:srgbClr val="FFFFFF"/>
                    </a:solidFill>
                  </a:tcPr>
                </a:tc>
                <a:tc>
                  <a:txBody>
                    <a:bodyPr/>
                    <a:lstStyle/>
                    <a:p>
                      <a:r>
                        <a:rPr sz="1500" b="0" i="0">
                          <a:solidFill>
                            <a:srgbClr val="11202B"/>
                          </a:solidFill>
                          <a:latin typeface="Malgun Gothic"/>
                          <a:ea typeface="Malgun Gothic"/>
                          <a:cs typeface="Malgun Gothic"/>
                        </a:rPr>
                        <a:t>혈중 납, 적혈구 ZPP</a:t>
                      </a:r>
                    </a:p>
                  </a:txBody>
                  <a:tcPr marL="73152" marR="73152">
                    <a:solidFill>
                      <a:srgbClr val="FFFFFF"/>
                    </a:solidFill>
                  </a:tcPr>
                </a:tc>
                <a:tc>
                  <a:txBody>
                    <a:bodyPr/>
                    <a:lstStyle/>
                    <a:p>
                      <a:r>
                        <a:rPr sz="1500" b="0" i="0">
                          <a:solidFill>
                            <a:srgbClr val="11202B"/>
                          </a:solidFill>
                          <a:latin typeface="Malgun Gothic"/>
                          <a:ea typeface="Malgun Gothic"/>
                          <a:cs typeface="Malgun Gothic"/>
                        </a:rPr>
                        <a:t>골 반감기 수십 년 — 임신 시 재동원</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유기인계</a:t>
                      </a:r>
                    </a:p>
                  </a:txBody>
                  <a:tcPr marL="73152" marR="73152">
                    <a:solidFill>
                      <a:srgbClr val="ECF1F5"/>
                    </a:solidFill>
                  </a:tcPr>
                </a:tc>
                <a:tc>
                  <a:txBody>
                    <a:bodyPr/>
                    <a:lstStyle/>
                    <a:p>
                      <a:r>
                        <a:rPr sz="1500" b="0" i="0">
                          <a:solidFill>
                            <a:srgbClr val="11202B"/>
                          </a:solidFill>
                          <a:latin typeface="Malgun Gothic"/>
                          <a:ea typeface="Malgun Gothic"/>
                          <a:cs typeface="Malgun Gothic"/>
                        </a:rPr>
                        <a:t>적혈구 아세틸콜린에스터라아제(혈장 가성보다 신뢰)</a:t>
                      </a:r>
                    </a:p>
                  </a:txBody>
                  <a:tcPr marL="73152" marR="73152">
                    <a:solidFill>
                      <a:srgbClr val="ECF1F5"/>
                    </a:solidFill>
                  </a:tcPr>
                </a:tc>
                <a:tc>
                  <a:txBody>
                    <a:bodyPr/>
                    <a:lstStyle/>
                    <a:p>
                      <a:r>
                        <a:rPr sz="1500" b="0" i="0">
                          <a:solidFill>
                            <a:srgbClr val="11202B"/>
                          </a:solidFill>
                          <a:latin typeface="Malgun Gothic"/>
                          <a:ea typeface="Malgun Gothic"/>
                          <a:cs typeface="Malgun Gothic"/>
                        </a:rPr>
                        <a:t>기저치 비교가 중요</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벤젠</a:t>
                      </a:r>
                    </a:p>
                  </a:txBody>
                  <a:tcPr marL="73152" marR="73152">
                    <a:solidFill>
                      <a:srgbClr val="FFFFFF"/>
                    </a:solidFill>
                  </a:tcPr>
                </a:tc>
                <a:tc>
                  <a:txBody>
                    <a:bodyPr/>
                    <a:lstStyle/>
                    <a:p>
                      <a:r>
                        <a:rPr sz="1500" b="0" i="0">
                          <a:solidFill>
                            <a:srgbClr val="11202B"/>
                          </a:solidFill>
                          <a:latin typeface="Malgun Gothic"/>
                          <a:ea typeface="Malgun Gothic"/>
                          <a:cs typeface="Malgun Gothic"/>
                        </a:rPr>
                        <a:t>요중 S-페닐머캅투르산, trans,trans-뮤콘산</a:t>
                      </a:r>
                    </a:p>
                  </a:txBody>
                  <a:tcPr marL="73152" marR="73152">
                    <a:solidFill>
                      <a:srgbClr val="FFFFFF"/>
                    </a:solidFill>
                  </a:tcPr>
                </a:tc>
                <a:tc>
                  <a:txBody>
                    <a:bodyPr/>
                    <a:lstStyle/>
                    <a:p>
                      <a:r>
                        <a:rPr sz="1500" b="1" i="0">
                          <a:solidFill>
                            <a:srgbClr val="11202B"/>
                          </a:solidFill>
                          <a:latin typeface="Malgun Gothic"/>
                          <a:ea typeface="Malgun Gothic"/>
                          <a:cs typeface="Malgun Gothic"/>
                        </a:rPr>
                        <a:t>백혈병</a:t>
                      </a:r>
                      <a:r>
                        <a:rPr sz="1500" b="0" i="0">
                          <a:solidFill>
                            <a:srgbClr val="11202B"/>
                          </a:solidFill>
                          <a:latin typeface="Malgun Gothic"/>
                          <a:ea typeface="Malgun Gothic"/>
                          <a:cs typeface="Malgun Gothic"/>
                        </a:rPr>
                        <a:t> 위험</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트리클로로에틸렌·염화비닐</a:t>
                      </a:r>
                    </a:p>
                  </a:txBody>
                  <a:tcPr marL="73152" marR="73152">
                    <a:solidFill>
                      <a:srgbClr val="ECF1F5"/>
                    </a:solidFill>
                  </a:tcPr>
                </a:tc>
                <a:tc>
                  <a:txBody>
                    <a:bodyPr/>
                    <a:lstStyle/>
                    <a:p>
                      <a:r>
                        <a:rPr sz="1500" b="0" i="0">
                          <a:solidFill>
                            <a:srgbClr val="11202B"/>
                          </a:solidFill>
                          <a:latin typeface="Malgun Gothic"/>
                          <a:ea typeface="Malgun Gothic"/>
                          <a:cs typeface="Malgun Gothic"/>
                        </a:rPr>
                        <a:t>요 대사물</a:t>
                      </a:r>
                    </a:p>
                  </a:txBody>
                  <a:tcPr marL="73152" marR="73152">
                    <a:solidFill>
                      <a:srgbClr val="ECF1F5"/>
                    </a:solidFill>
                  </a:tcPr>
                </a:tc>
                <a:tc>
                  <a:txBody>
                    <a:bodyPr/>
                    <a:lstStyle/>
                    <a:p>
                      <a:r>
                        <a:rPr sz="1500" b="0" i="0">
                          <a:solidFill>
                            <a:srgbClr val="11202B"/>
                          </a:solidFill>
                          <a:latin typeface="Malgun Gothic"/>
                          <a:ea typeface="Malgun Gothic"/>
                          <a:cs typeface="Malgun Gothic"/>
                        </a:rPr>
                        <a:t>간 혈관내피종(염화비닐)</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석면</a:t>
                      </a:r>
                    </a:p>
                  </a:txBody>
                  <a:tcPr marL="73152" marR="73152">
                    <a:solidFill>
                      <a:srgbClr val="FFFFFF"/>
                    </a:solidFill>
                  </a:tcPr>
                </a:tc>
                <a:tc>
                  <a:txBody>
                    <a:bodyPr/>
                    <a:lstStyle/>
                    <a:p>
                      <a:r>
                        <a:rPr sz="1500" b="0" i="0">
                          <a:solidFill>
                            <a:srgbClr val="11202B"/>
                          </a:solidFill>
                          <a:latin typeface="Malgun Gothic"/>
                          <a:ea typeface="Malgun Gothic"/>
                          <a:cs typeface="Malgun Gothic"/>
                        </a:rPr>
                        <a:t>영상·조직 석면체</a:t>
                      </a:r>
                    </a:p>
                  </a:txBody>
                  <a:tcPr marL="73152" marR="73152">
                    <a:solidFill>
                      <a:srgbClr val="FFFFFF"/>
                    </a:solidFill>
                  </a:tcPr>
                </a:tc>
                <a:tc>
                  <a:txBody>
                    <a:bodyPr/>
                    <a:lstStyle/>
                    <a:p>
                      <a:r>
                        <a:rPr sz="1500" b="0" i="0">
                          <a:solidFill>
                            <a:srgbClr val="11202B"/>
                          </a:solidFill>
                          <a:latin typeface="Malgun Gothic"/>
                          <a:ea typeface="Malgun Gothic"/>
                          <a:cs typeface="Malgun Gothic"/>
                        </a:rPr>
                        <a:t>중피종(잠복 20–40년), 흡연과 상승 작용</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실리카</a:t>
                      </a:r>
                    </a:p>
                  </a:txBody>
                  <a:tcPr marL="73152" marR="73152">
                    <a:solidFill>
                      <a:srgbClr val="ECF1F5"/>
                    </a:solidFill>
                  </a:tcPr>
                </a:tc>
                <a:tc>
                  <a:txBody>
                    <a:bodyPr/>
                    <a:lstStyle/>
                    <a:p>
                      <a:r>
                        <a:rPr sz="1500" b="0" i="0">
                          <a:solidFill>
                            <a:srgbClr val="11202B"/>
                          </a:solidFill>
                          <a:latin typeface="Malgun Gothic"/>
                          <a:ea typeface="Malgun Gothic"/>
                          <a:cs typeface="Malgun Gothic"/>
                        </a:rPr>
                        <a:t>영상</a:t>
                      </a:r>
                    </a:p>
                  </a:txBody>
                  <a:tcPr marL="73152" marR="73152">
                    <a:solidFill>
                      <a:srgbClr val="ECF1F5"/>
                    </a:solidFill>
                  </a:tcPr>
                </a:tc>
                <a:tc>
                  <a:txBody>
                    <a:bodyPr/>
                    <a:lstStyle/>
                    <a:p>
                      <a:r>
                        <a:rPr sz="1500" b="0" i="0">
                          <a:solidFill>
                            <a:srgbClr val="11202B"/>
                          </a:solidFill>
                          <a:latin typeface="Malgun Gothic"/>
                          <a:ea typeface="Malgun Gothic"/>
                          <a:cs typeface="Malgun Gothic"/>
                        </a:rPr>
                        <a:t>규폐증, 결핵·자가면역 위험</a:t>
                      </a:r>
                    </a:p>
                  </a:txBody>
                  <a:tcPr marL="73152" marR="73152">
                    <a:solidFill>
                      <a:srgbClr val="ECF1F5"/>
                    </a:solidFill>
                  </a:tcPr>
                </a:tc>
              </a:tr>
              <a:tr h="365760">
                <a:tc>
                  <a:txBody>
                    <a:bodyPr/>
                    <a:lstStyle/>
                    <a:p>
                      <a:r>
                        <a:rPr sz="1500" b="0" i="0">
                          <a:solidFill>
                            <a:srgbClr val="11202B"/>
                          </a:solidFill>
                          <a:latin typeface="Malgun Gothic"/>
                          <a:ea typeface="Malgun Gothic"/>
                          <a:cs typeface="Malgun Gothic"/>
                        </a:rPr>
                        <a:t>다환방향족탄화수소</a:t>
                      </a:r>
                    </a:p>
                  </a:txBody>
                  <a:tcPr marL="73152" marR="73152">
                    <a:solidFill>
                      <a:srgbClr val="FFFFFF"/>
                    </a:solidFill>
                  </a:tcPr>
                </a:tc>
                <a:tc>
                  <a:txBody>
                    <a:bodyPr/>
                    <a:lstStyle/>
                    <a:p>
                      <a:r>
                        <a:rPr sz="1500" b="0" i="0">
                          <a:solidFill>
                            <a:srgbClr val="11202B"/>
                          </a:solidFill>
                          <a:latin typeface="Malgun Gothic"/>
                          <a:ea typeface="Malgun Gothic"/>
                          <a:cs typeface="Malgun Gothic"/>
                        </a:rPr>
                        <a:t>요중 1-하이드록시피렌</a:t>
                      </a:r>
                    </a:p>
                  </a:txBody>
                  <a:tcPr marL="73152" marR="73152">
                    <a:solidFill>
                      <a:srgbClr val="FFFFFF"/>
                    </a:solidFill>
                  </a:tcPr>
                </a:tc>
                <a:tc>
                  <a:txBody>
                    <a:bodyPr/>
                    <a:lstStyle/>
                    <a:p>
                      <a:r>
                        <a:rPr sz="1500" b="0" i="0">
                          <a:solidFill>
                            <a:srgbClr val="11202B"/>
                          </a:solidFill>
                          <a:latin typeface="Malgun Gothic"/>
                          <a:ea typeface="Malgun Gothic"/>
                          <a:cs typeface="Malgun Gothic"/>
                        </a:rPr>
                        <a:t>CYP1A1 유도, 발암</a:t>
                      </a:r>
                    </a:p>
                  </a:txBody>
                  <a:tcPr marL="73152" marR="73152">
                    <a:solidFill>
                      <a:srgbClr val="FFFFFF"/>
                    </a:solidFill>
                  </a:tcPr>
                </a:tc>
              </a:tr>
              <a:tr h="365760">
                <a:tc>
                  <a:txBody>
                    <a:bodyPr/>
                    <a:lstStyle/>
                    <a:p>
                      <a:r>
                        <a:rPr sz="1500" b="0" i="0">
                          <a:solidFill>
                            <a:srgbClr val="11202B"/>
                          </a:solidFill>
                          <a:latin typeface="Malgun Gothic"/>
                          <a:ea typeface="Malgun Gothic"/>
                          <a:cs typeface="Malgun Gothic"/>
                        </a:rPr>
                        <a:t>내분비 교란물질(비스페놀 A, 프탈레이트, PFAS)</a:t>
                      </a:r>
                    </a:p>
                  </a:txBody>
                  <a:tcPr marL="73152" marR="73152">
                    <a:solidFill>
                      <a:srgbClr val="ECF1F5"/>
                    </a:solidFill>
                  </a:tcPr>
                </a:tc>
                <a:tc>
                  <a:txBody>
                    <a:bodyPr/>
                    <a:lstStyle/>
                    <a:p>
                      <a:r>
                        <a:rPr sz="1500" b="0" i="0">
                          <a:solidFill>
                            <a:srgbClr val="11202B"/>
                          </a:solidFill>
                          <a:latin typeface="Malgun Gothic"/>
                          <a:ea typeface="Malgun Gothic"/>
                          <a:cs typeface="Malgun Gothic"/>
                        </a:rPr>
                        <a:t>요·혈중 농도</a:t>
                      </a:r>
                    </a:p>
                  </a:txBody>
                  <a:tcPr marL="73152" marR="73152">
                    <a:solidFill>
                      <a:srgbClr val="ECF1F5"/>
                    </a:solidFill>
                  </a:tcPr>
                </a:tc>
                <a:tc>
                  <a:txBody>
                    <a:bodyPr/>
                    <a:lstStyle/>
                    <a:p>
                      <a:r>
                        <a:rPr sz="1500" b="0" i="0">
                          <a:solidFill>
                            <a:srgbClr val="11202B"/>
                          </a:solidFill>
                          <a:latin typeface="Malgun Gothic"/>
                          <a:ea typeface="Malgun Gothic"/>
                          <a:cs typeface="Malgun Gothic"/>
                        </a:rPr>
                        <a:t>저용량·혼합 노출·발달기 민감성</a:t>
                      </a:r>
                    </a:p>
                  </a:txBody>
                  <a:tcPr marL="73152" marR="73152">
                    <a:solidFill>
                      <a:srgbClr val="ECF1F5"/>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05   </a:t>
            </a:r>
            <a:r>
              <a:rPr sz="2600" b="1" i="0">
                <a:solidFill>
                  <a:srgbClr val="FFFFFF"/>
                </a:solidFill>
                <a:latin typeface="Malgun Gothic"/>
                <a:ea typeface="Malgun Gothic"/>
                <a:cs typeface="Malgun Gothic"/>
              </a:rPr>
              <a:t>환경·직업 독성과 생체 지표</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18</a:t>
            </a:r>
          </a:p>
        </p:txBody>
      </p:sp>
      <p:sp>
        <p:nvSpPr>
          <p:cNvPr id="7" name="Rectangle 6"/>
          <p:cNvSpPr/>
          <p:nvPr/>
        </p:nvSpPr>
        <p:spPr>
          <a:xfrm>
            <a:off x="640080" y="1325880"/>
            <a:ext cx="10881360" cy="2667000"/>
          </a:xfrm>
          <a:prstGeom prst="rect">
            <a:avLst/>
          </a:prstGeom>
          <a:solidFill>
            <a:srgbClr val="E8F1FA"/>
          </a:solidFill>
          <a:ln>
            <a:solidFill>
              <a:srgbClr val="003C71"/>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000" b="1" i="0">
                <a:solidFill>
                  <a:srgbClr val="003C71"/>
                </a:solidFill>
                <a:latin typeface="Malgun Gothic"/>
                <a:ea typeface="Malgun Gothic"/>
                <a:cs typeface="Malgun Gothic"/>
              </a:rPr>
              <a:t>임상 연계  </a:t>
            </a:r>
            <a:r>
              <a:rPr sz="2000" b="0" i="0">
                <a:solidFill>
                  <a:srgbClr val="11202B"/>
                </a:solidFill>
                <a:latin typeface="Malgun Gothic"/>
                <a:ea typeface="Malgun Gothic"/>
                <a:cs typeface="Malgun Gothic"/>
              </a:rPr>
              <a:t>임상 상관: 원인 불명의 말초신경병, 인지 저하, 빈혈, 피부 변화, 신기능 이상에서 </a:t>
            </a:r>
            <a:r>
              <a:rPr sz="2000" b="1" i="0">
                <a:solidFill>
                  <a:srgbClr val="11202B"/>
                </a:solidFill>
                <a:latin typeface="Malgun Gothic"/>
                <a:ea typeface="Malgun Gothic"/>
                <a:cs typeface="Malgun Gothic"/>
              </a:rPr>
              <a:t>직업·취미·거주 환경·보조식품 병력</a:t>
            </a:r>
            <a:r>
              <a:rPr sz="2000" b="0" i="0">
                <a:solidFill>
                  <a:srgbClr val="11202B"/>
                </a:solidFill>
                <a:latin typeface="Malgun Gothic"/>
                <a:ea typeface="Malgun Gothic"/>
                <a:cs typeface="Malgun Gothic"/>
              </a:rPr>
              <a:t>을 구조적으로 묻는 것이 진단의 열쇠가 될 수 있다. "어떤 일을 하십니까, 언제부터, 무엇에 노출됩니까, 같은 작업장에 비슷한 증상을 가진 사람이 있습니까"라는 네 질문이 집단 노출을 찾아내고, 한 환자의 진단이 작업장 전체의 예방으로 이어진다.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FRONTIER   </a:t>
            </a:r>
            <a:r>
              <a:rPr sz="2600" b="1" i="0">
                <a:solidFill>
                  <a:srgbClr val="FFFFFF"/>
                </a:solidFill>
                <a:latin typeface="Malgun Gothic"/>
                <a:ea typeface="Malgun Gothic"/>
                <a:cs typeface="Malgun Gothic"/>
              </a:rPr>
              <a:t>연구 최전선</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고감도 분석화학과 노출체학(exposomics)이 미량 혼합 노출을 정량하며 만성 질환과의 연관을 재평가하고 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PFAS 같은 잔류성 물질의 건강 영향과 저감 전략이 공중보건과 임상 평가의 새 과제로 부상했다.</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해독제 개발에서 효소 치료(세균 유래 코카인 에스터라아제, 유기인 분해 효소)와 항체 기반 격리가 연구되고 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SUMMARY   </a:t>
            </a:r>
            <a:r>
              <a:rPr sz="2600" b="1" i="0">
                <a:solidFill>
                  <a:srgbClr val="FFFFFF"/>
                </a:solidFill>
                <a:latin typeface="Malgun Gothic"/>
                <a:ea typeface="Malgun Gothic"/>
                <a:cs typeface="Malgun Gothic"/>
              </a:rPr>
              <a:t>요약</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1. </a:t>
            </a:r>
            <a:r>
              <a:rPr sz="2000" b="0" i="0">
                <a:solidFill>
                  <a:srgbClr val="11202B"/>
                </a:solidFill>
                <a:latin typeface="Malgun Gothic"/>
                <a:ea typeface="Malgun Gothic"/>
                <a:cs typeface="Malgun Gothic"/>
              </a:rPr>
              <a:t>독성은 효소 결합, 수용체 작용, 반응성 대사물, 산화 스트레스 등 분자 표적으로 분류할 때 가장 명료하다.</a:t>
            </a:r>
          </a:p>
          <a:p>
            <a:pPr>
              <a:spcAft>
                <a:spcPts val="800"/>
              </a:spcAft>
            </a:pPr>
            <a:r>
              <a:rPr sz="2000" b="1" i="0">
                <a:solidFill>
                  <a:srgbClr val="003C71"/>
                </a:solidFill>
                <a:latin typeface="Malgun Gothic"/>
                <a:ea typeface="Malgun Gothic"/>
                <a:cs typeface="Malgun Gothic"/>
              </a:rPr>
              <a:t>2. </a:t>
            </a:r>
            <a:r>
              <a:rPr sz="2000" b="0" i="0">
                <a:solidFill>
                  <a:srgbClr val="11202B"/>
                </a:solidFill>
                <a:latin typeface="Malgun Gothic"/>
                <a:ea typeface="Malgun Gothic"/>
                <a:cs typeface="Malgun Gothic"/>
              </a:rPr>
              <a:t>시안화물과 황화수소는 복합체 IV를 차단해 젖산 산증과 정맥혈 산소 상승을 일으킨다.</a:t>
            </a:r>
          </a:p>
          <a:p>
            <a:pPr>
              <a:spcAft>
                <a:spcPts val="800"/>
              </a:spcAft>
            </a:pPr>
            <a:r>
              <a:rPr sz="2000" b="1" i="0">
                <a:solidFill>
                  <a:srgbClr val="003C71"/>
                </a:solidFill>
                <a:latin typeface="Malgun Gothic"/>
                <a:ea typeface="Malgun Gothic"/>
                <a:cs typeface="Malgun Gothic"/>
              </a:rPr>
              <a:t>3. </a:t>
            </a:r>
            <a:r>
              <a:rPr sz="2000" b="0" i="0">
                <a:solidFill>
                  <a:srgbClr val="11202B"/>
                </a:solidFill>
                <a:latin typeface="Malgun Gothic"/>
                <a:ea typeface="Malgun Gothic"/>
                <a:cs typeface="Malgun Gothic"/>
              </a:rPr>
              <a:t>납은 헴 합성 효소를, 비소는 리포산 의존 효소를 차단하며 각각 특유의 지표와 킬레이트를 갖는다.</a:t>
            </a:r>
          </a:p>
          <a:p>
            <a:pPr>
              <a:spcAft>
                <a:spcPts val="800"/>
              </a:spcAft>
            </a:pPr>
            <a:r>
              <a:rPr sz="2000" b="1" i="0">
                <a:solidFill>
                  <a:srgbClr val="003C71"/>
                </a:solidFill>
                <a:latin typeface="Malgun Gothic"/>
                <a:ea typeface="Malgun Gothic"/>
                <a:cs typeface="Malgun Gothic"/>
              </a:rPr>
              <a:t>4. </a:t>
            </a:r>
            <a:r>
              <a:rPr sz="2000" b="0" i="0">
                <a:solidFill>
                  <a:srgbClr val="11202B"/>
                </a:solidFill>
                <a:latin typeface="Malgun Gothic"/>
                <a:ea typeface="Malgun Gothic"/>
                <a:cs typeface="Malgun Gothic"/>
              </a:rPr>
              <a:t>살리실산 중독은 호흡 알칼리증과 대사 산증의 혼합이며 알칼리화와 투석이 치료의 축이다.</a:t>
            </a:r>
          </a:p>
          <a:p>
            <a:pPr>
              <a:spcAft>
                <a:spcPts val="800"/>
              </a:spcAft>
            </a:pPr>
            <a:r>
              <a:rPr sz="2000" b="1" i="0">
                <a:solidFill>
                  <a:srgbClr val="003C71"/>
                </a:solidFill>
                <a:latin typeface="Malgun Gothic"/>
                <a:ea typeface="Malgun Gothic"/>
                <a:cs typeface="Malgun Gothic"/>
              </a:rPr>
              <a:t>5. </a:t>
            </a:r>
            <a:r>
              <a:rPr sz="2000" b="0" i="0">
                <a:solidFill>
                  <a:srgbClr val="11202B"/>
                </a:solidFill>
                <a:latin typeface="Malgun Gothic"/>
                <a:ea typeface="Malgun Gothic"/>
                <a:cs typeface="Malgun Gothic"/>
              </a:rPr>
              <a:t>직업·환경 노출 병력 청취와 생체 지표가 원인 불명 다장기 증상의 진단 경로를 만든다.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1</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화재 현장에서 구조된 환자가 심한 젖산 산증을 보이고 중심정맥 산소포화도가 매우 높다. 무엇을 의심하고 어떻게 치료하는가?</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시안화물 중독이다. 시토크롬 c 산화효소가 차단되어 조직이 산소를 추출하지 못하므로 정맥혈 산소포화도가 높고 혐기성 대사로 젖산이 급증한다. 하이드록소코발라민을 즉시 투여하고 고농도 산소를 공급한다. 일산화탄소가 동반될 가능성이 높아 메트헤모글로빈을 만드는 아질산염은 산소 운반을 더 악화시킬 수 있으므로 피하고, 티오황산나트륨은 병용할 수 있다.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유기인계 중독에서 프랄리독심을 조기에 투여해야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유기인계는 아세틸콜린에스터라아제를 인산화해 억제하는데, 시간이 지나면 알킬기가 떨어지며 결합이 비가역적으로 안정화된다(노화). 프랄리독심은 노화되지 않은 효소에서 인산기를 떼어 활성을 복원하므로 노화가 진행되기 전에 투여해야 효과가 있다. 아트로핀은 무스카린 증상을 조절하지만 근섬유다발수축과 호흡근 약화 같은 니코틴 증상은 막지 못하므로 두 약을 함께 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3</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살리실산 중독 환자에게 삽관과 과환기 억제를 피해야 하는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환자의 자발적 과환기는 대사 산증에 대한 필수적 보상이다. 진정·마비로 환기가 줄면 pH가 급격히 떨어지고, 산성 환경에서 비이온형 살리실산이 늘어 중추신경계로 더 많이 들어가 발작과 사망 위험이 커진다. 중탄산으로 혈액과 요를 알칼리화해 이온 포획을 유도하고, 중증에서는 조기에 혈액투석을 고려한다.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QUIZ   </a:t>
            </a:r>
            <a:r>
              <a:rPr sz="2600" b="1" i="0">
                <a:solidFill>
                  <a:srgbClr val="FFFFFF"/>
                </a:solidFill>
                <a:latin typeface="Malgun Gothic"/>
                <a:ea typeface="Malgun Gothic"/>
                <a:cs typeface="Malgun Gothic"/>
              </a:rPr>
              <a:t>자가 평가 4</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94560"/>
          </a:xfrm>
          <a:prstGeom prst="rect">
            <a:avLst/>
          </a:prstGeom>
          <a:noFill/>
        </p:spPr>
        <p:txBody>
          <a:bodyPr wrap="square" anchor="t">
            <a:spAutoFit/>
          </a:bodyPr>
          <a:lstStyle/>
          <a:p>
            <a:r>
              <a:rPr sz="2200" b="1" i="0">
                <a:solidFill>
                  <a:srgbClr val="11202B"/>
                </a:solidFill>
                <a:latin typeface="Malgun Gothic"/>
                <a:ea typeface="Malgun Gothic"/>
                <a:cs typeface="Malgun Gothic"/>
              </a:rPr>
              <a:t>혈중 납 농도가 경도로 상승한 무증상 소아에게 킬레이션이 1차 치료가 아닌 이유는?</a:t>
            </a:r>
          </a:p>
        </p:txBody>
      </p:sp>
      <p:sp>
        <p:nvSpPr>
          <p:cNvPr id="8" name="Rectangle 7"/>
          <p:cNvSpPr/>
          <p:nvPr/>
        </p:nvSpPr>
        <p:spPr>
          <a:xfrm>
            <a:off x="640080" y="3749039"/>
            <a:ext cx="10881360" cy="251460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a:lstStyle/>
          <a:p>
            <a:pPr algn="l"/>
            <a:r>
              <a:rPr sz="1600" b="1" i="0">
                <a:solidFill>
                  <a:srgbClr val="003C71"/>
                </a:solidFill>
                <a:latin typeface="Malgun Gothic"/>
                <a:ea typeface="Malgun Gothic"/>
                <a:cs typeface="Malgun Gothic"/>
              </a:rPr>
              <a:t>해설  </a:t>
            </a:r>
            <a:r>
              <a:rPr sz="1600" b="0" i="0">
                <a:solidFill>
                  <a:srgbClr val="2E3F4C"/>
                </a:solidFill>
                <a:latin typeface="Malgun Gothic"/>
                <a:ea typeface="Malgun Gothic"/>
                <a:cs typeface="Malgun Gothic"/>
              </a:rPr>
              <a:t>킬레이션은 혈중 농도를 일시적으로 낮추지만 골에 축적된 납이 재동원되어 다시 오르며, 필수 금속 소모와 신독성 위험이 있다. 무작위 시험에서 경도 상승 소아의 인지 결과를 개선하지 못했다. 따라서 노출원 조사와 제거, 주거 환경 개선, 영양(철·칼슘) 보충, 발달 추적이 핵심 개입이고 킬레이션은 높은 농도나 증상이 있을 때로 제한된다.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(1/2)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Boyle JS, Bechtel LK, Holstege CP. Management of the critically poisoned patient. Scand J Trauma Resusc Emerg Med 2009;17:29.</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Borron SW, Baud FJ. Antidotes for acute cyanide poisoning. Curr Pharm Biotechnol 2012;13:1940–1948.</a:t>
            </a:r>
          </a:p>
          <a:p>
            <a:pPr>
              <a:spcAft>
                <a:spcPts val="800"/>
              </a:spcAft>
            </a:pPr>
            <a:r>
              <a:rPr sz="2000" b="1" i="0">
                <a:solidFill>
                  <a:srgbClr val="003C71"/>
                </a:solidFill>
                <a:latin typeface="Malgun Gothic"/>
                <a:ea typeface="Malgun Gothic"/>
                <a:cs typeface="Malgun Gothic"/>
              </a:rPr>
              <a:t>▪ </a:t>
            </a:r>
            <a:r>
              <a:rPr sz="2000" b="0" i="0">
                <a:solidFill>
                  <a:srgbClr val="11202B"/>
                </a:solidFill>
                <a:latin typeface="Malgun Gothic"/>
                <a:ea typeface="Malgun Gothic"/>
                <a:cs typeface="Malgun Gothic"/>
              </a:rPr>
              <a:t>Flora SJS, Pachauri V. Chelation in metal intoxication. Int J Environ Res Public Health 2010;7:2745–2788.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400" b="1" i="0">
                <a:solidFill>
                  <a:srgbClr val="F2B705"/>
                </a:solidFill>
                <a:latin typeface="Malgun Gothic"/>
                <a:ea typeface="Malgun Gothic"/>
                <a:cs typeface="Malgun Gothic"/>
              </a:rPr>
              <a:t>REFERENCES   </a:t>
            </a:r>
            <a:r>
              <a:rPr sz="2600" b="1" i="0">
                <a:solidFill>
                  <a:srgbClr val="FFFFFF"/>
                </a:solidFill>
                <a:latin typeface="Malgun Gothic"/>
                <a:ea typeface="Malgun Gothic"/>
                <a:cs typeface="Malgun Gothic"/>
              </a:rPr>
              <a:t>참고 문헌 (2/2)</a:t>
            </a:r>
          </a:p>
        </p:txBody>
      </p:sp>
      <p:sp>
        <p:nvSpPr>
          <p:cNvPr id="6" name="TextBox 5"/>
          <p:cNvSpPr txBox="1"/>
          <p:nvPr/>
        </p:nvSpPr>
        <p:spPr>
          <a:xfrm>
            <a:off x="457200" y="6446520"/>
            <a:ext cx="11247120" cy="320040"/>
          </a:xfrm>
          <a:prstGeom prst="rect">
            <a:avLst/>
          </a:prstGeom>
          <a:noFill/>
        </p:spPr>
        <p:txBody>
          <a:bodyPr wrap="square" anchor="ctr">
            <a:spAutoFit/>
          </a:bodyPr>
          <a:lstStyle/>
          <a:p>
            <a:r>
              <a:rPr sz="1000" b="0" i="0">
                <a:solidFill>
                  <a:srgbClr val="66788A"/>
                </a:solidFill>
                <a:latin typeface="Malgun Gothic"/>
                <a:ea typeface="Malgun Gothic"/>
                <a:cs typeface="Malgun Gothic"/>
              </a:rPr>
              <a:t>B10-L10  ·  중독과 환경독성의 생화학</a:t>
            </a:r>
            <a:r>
              <a:rPr sz="10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Rooney AA et al. Systematic review and evidence integration for environmental health. Environ Health Perspect 2014;122:711–718.</a:t>
            </a:r>
          </a:p>
          <a:p>
            <a:pPr>
              <a:spcAft>
                <a:spcPts val="800"/>
              </a:spcAft>
            </a:pPr>
            <a:r>
              <a:rPr sz="2200" b="1" i="0">
                <a:solidFill>
                  <a:srgbClr val="003C71"/>
                </a:solidFill>
                <a:latin typeface="Malgun Gothic"/>
                <a:ea typeface="Malgun Gothic"/>
                <a:cs typeface="Malgun Gothic"/>
              </a:rPr>
              <a:t>▪ </a:t>
            </a:r>
            <a:r>
              <a:rPr sz="2200" b="0" i="0">
                <a:solidFill>
                  <a:srgbClr val="11202B"/>
                </a:solidFill>
                <a:latin typeface="Malgun Gothic"/>
                <a:ea typeface="Malgun Gothic"/>
                <a:cs typeface="Malgun Gothic"/>
              </a:rPr>
              <a:t>Eddleston M et al. Management of acute organophosphorus pesticide poisoning. Lancet 2008;371:597–607.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