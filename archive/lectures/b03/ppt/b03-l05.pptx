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배제할 수 없다. X연관 질환이므로 여성 이형접합자는 X 불활성화 모자이크로 인해 혈중 효소 활성이 정상일 수 있다. GLA 유전자 검사와 lyso-Gb3 측정이 필요하며, 여성도 심장·신장·뇌졸중 등 임상 발현이 흔하다.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재조합 라로니다아제는 혈액뇌장벽을 통과하지 못해 중추신경계 퇴행을 막지 못한다. HSCT 후 공여자 유래 세포가 미세아교세포로 뇌에 정착해 효소를 공급(교차 교정)하므로 인지 기능을 보존할 수 있으며, 효과는 퇴행 이전(대개 2–2.5세 이전) 시행 시 가장 크다. 이식 전후로 ERT를 병용한다.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미갈라스타트는 α-Gal A 활성 부위에 결합해 잘못 접힌 변이 효소의 접힘과 리소좀 수송을 돕는 약물 샤페론이다. 효소가 생성되되 접힘 결함만 있는 '반응성(amenable)' 미스센스 변이에서만 효과가 있고, null 변이나 활성 부위 파괴 변이에서는 효과가 없으므로 시험관 반응성 분석으로 선별한다.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확진(백혈구/섬유모세포 GAA 활성, GAA 유전자 검사)으로 가성결핍 대립유전자(동아시아에 흔한 c.1726G&gt;A 등)를 배제하고, CK·심초음파·심전도로 영아형 여부를 즉시 평가한다. 심근병증이 있으면 영아형으로 즉시 ERT(CRIM 상태 확인)를 시작하고, 없으면 후기 발병형 가능성으로 정기 감시한다.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B03 중개의학과 생화학  ·  유전질환대사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리소좀 축적질환과 치료 플랫폼</a:t>
            </a:r>
          </a:p>
          <a:p>
            <a:r>
              <a:rPr sz="2000" b="0" i="0">
                <a:solidFill>
                  <a:srgbClr val="C2CDD6"/>
                </a:solidFill>
                <a:latin typeface="Malgun Gothic"/>
                <a:ea typeface="Malgun Gothic"/>
                <a:cs typeface="Malgun Gothic"/>
              </a:rPr>
              <a:t>Lysosomal Storage Disorders and Therapeutic Platforms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B03-L05</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리소좀의 생물학(산성화, 효소 표적화, 영양 감지)과 리소좀 축적질환(LSD)의 공통 병태생리를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주요 LSD 군(스핑고지질증, 점액다당류증, 당원병 II, 당단백증, NPC, CLN)의 효소·축적물·임상상을 정리한다.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LSD 진단 흐름(선별 생체표지자 → 효소 활성 → 유전자)과 신생아 선별검사를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효소대체요법·기질감소요법·샤페론·조혈모세포이식·유전자치료의 원리와 한계(혈액뇌장벽)를 비교한다.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증례 기반으로 LSD를 의심하는 임상 단서를 적용한다.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리소좀과 LSD의 공통 병태생리</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주요 리소좀 축적질환</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진단 접근</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치료 플랫폼</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증례 적용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리소좀과 LSD의 공통 병태생리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리소좀: pH 4.5–5.0(v-ATPase), 약 60종 산성 가수분해효소, 막 수송체(NPC1, 시스티노신, 시알린), M6P 경로로 효소 전달(B02 L01).</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LSD: 약 70여 종, 합산 빈도 약 1/5,000 출생. 대부분 상염색체 열성(파브리, 헌터 MPS II, 다논은 X연관).</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병태생리는 단순 '창고 가득 참'을 넘는다:</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축적물에 의한 자가포식 플럭스 차단 → 손상 미토콘드리아 축적, 산화 스트레스.</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리소좀 Ca²⁺ 신호·mTORC1/TFEB 조절 이상.</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2차 축적(GM2/GM3 강글리오사이드, 콜레스테롤)과 염증(미세아교세포 활성, 인플라마좀).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리소좀과 LSD의 공통 병태생리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이차 독성 대사물: 리소-Gb3(파브리), 글루코실스핑고신(고셔), 사이코신(크라베).</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임상 스펙트럼: 영아 신경형(급속 퇴행) ~ 성인 경증형. 잔여 효소 활성이 중증도와 대체로 역상관.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주요 리소좀 축적질환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군</a:t>
                      </a:r>
                    </a:p>
                  </a:txBody>
                  <a:tcPr marL="73152" marR="73152">
                    <a:solidFill>
                      <a:srgbClr val="003C71"/>
                    </a:solidFill>
                  </a:tcPr>
                </a:tc>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효소/단백</a:t>
                      </a:r>
                    </a:p>
                  </a:txBody>
                  <a:tcPr marL="73152" marR="73152">
                    <a:solidFill>
                      <a:srgbClr val="003C71"/>
                    </a:solidFill>
                  </a:tcPr>
                </a:tc>
                <a:tc>
                  <a:txBody>
                    <a:bodyPr/>
                    <a:lstStyle/>
                    <a:p>
                      <a:r>
                        <a:rPr sz="1300" b="1" i="0">
                          <a:solidFill>
                            <a:srgbClr val="FFFFFF"/>
                          </a:solidFill>
                          <a:latin typeface="Malgun Gothic"/>
                          <a:ea typeface="Malgun Gothic"/>
                          <a:cs typeface="Malgun Gothic"/>
                        </a:rPr>
                        <a:t>핵심 소견</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스핑고지질증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고셔 1/2/3형</a:t>
                      </a:r>
                    </a:p>
                  </a:txBody>
                  <a:tcPr marL="73152" marR="73152">
                    <a:solidFill>
                      <a:srgbClr val="FFFFFF"/>
                    </a:solidFill>
                  </a:tcPr>
                </a:tc>
                <a:tc>
                  <a:txBody>
                    <a:bodyPr/>
                    <a:lstStyle/>
                    <a:p>
                      <a:r>
                        <a:rPr sz="1300" b="0" i="0">
                          <a:solidFill>
                            <a:srgbClr val="11202B"/>
                          </a:solidFill>
                          <a:latin typeface="Malgun Gothic"/>
                          <a:ea typeface="Malgun Gothic"/>
                          <a:cs typeface="Malgun Gothic"/>
                        </a:rPr>
                        <a:t>GCase (GBA1)</a:t>
                      </a:r>
                    </a:p>
                  </a:txBody>
                  <a:tcPr marL="73152" marR="73152">
                    <a:solidFill>
                      <a:srgbClr val="FFFFFF"/>
                    </a:solidFill>
                  </a:tcPr>
                </a:tc>
                <a:tc>
                  <a:txBody>
                    <a:bodyPr/>
                    <a:lstStyle/>
                    <a:p>
                      <a:r>
                        <a:rPr sz="1300" b="0" i="0">
                          <a:solidFill>
                            <a:srgbClr val="11202B"/>
                          </a:solidFill>
                          <a:latin typeface="Malgun Gothic"/>
                          <a:ea typeface="Malgun Gothic"/>
                          <a:cs typeface="Malgun Gothic"/>
                        </a:rPr>
                        <a:t>간비장비대, 혈소판감소, 뼈 위기·무혈성 괴사; 2형 급성 신경형, 3형 안구운동 실행증</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파브리</a:t>
                      </a:r>
                    </a:p>
                  </a:txBody>
                  <a:tcPr marL="73152" marR="73152">
                    <a:solidFill>
                      <a:srgbClr val="ECF1F5"/>
                    </a:solidFill>
                  </a:tcPr>
                </a:tc>
                <a:tc>
                  <a:txBody>
                    <a:bodyPr/>
                    <a:lstStyle/>
                    <a:p>
                      <a:r>
                        <a:rPr sz="1300" b="0" i="0">
                          <a:solidFill>
                            <a:srgbClr val="11202B"/>
                          </a:solidFill>
                          <a:latin typeface="Malgun Gothic"/>
                          <a:ea typeface="Malgun Gothic"/>
                          <a:cs typeface="Malgun Gothic"/>
                        </a:rPr>
                        <a:t>α-Gal A (GLA)</a:t>
                      </a:r>
                    </a:p>
                  </a:txBody>
                  <a:tcPr marL="73152" marR="73152">
                    <a:solidFill>
                      <a:srgbClr val="ECF1F5"/>
                    </a:solidFill>
                  </a:tcPr>
                </a:tc>
                <a:tc>
                  <a:txBody>
                    <a:bodyPr/>
                    <a:lstStyle/>
                    <a:p>
                      <a:r>
                        <a:rPr sz="1300" b="0" i="0">
                          <a:solidFill>
                            <a:srgbClr val="11202B"/>
                          </a:solidFill>
                          <a:latin typeface="Malgun Gothic"/>
                          <a:ea typeface="Malgun Gothic"/>
                          <a:cs typeface="Malgun Gothic"/>
                        </a:rPr>
                        <a:t>작열통, 혈관각화종, 각막 소용돌이 혼탁, 단백뇨, 비대 심근병증, 젊은 뇌졸중</a:t>
                      </a:r>
                    </a:p>
                  </a:txBody>
                  <a:tcPr marL="73152" marR="73152">
                    <a:solidFill>
                      <a:srgbClr val="ECF1F5"/>
                    </a:solidFill>
                  </a:tcPr>
                </a:tc>
              </a:tr>
              <a:tr h="365760">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니만-피크 A/B (ASMD)</a:t>
                      </a:r>
                    </a:p>
                  </a:txBody>
                  <a:tcPr marL="73152" marR="73152">
                    <a:solidFill>
                      <a:srgbClr val="FFFFFF"/>
                    </a:solidFill>
                  </a:tcPr>
                </a:tc>
                <a:tc>
                  <a:txBody>
                    <a:bodyPr/>
                    <a:lstStyle/>
                    <a:p>
                      <a:r>
                        <a:rPr sz="1300" b="0" i="0">
                          <a:solidFill>
                            <a:srgbClr val="11202B"/>
                          </a:solidFill>
                          <a:latin typeface="Malgun Gothic"/>
                          <a:ea typeface="Malgun Gothic"/>
                          <a:cs typeface="Malgun Gothic"/>
                        </a:rPr>
                        <a:t>산성 스핑고미엘리나아제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간비장비대, 간질성 폐질환; A형 신경퇴행</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테이-삭스·샌드호프·GM1</a:t>
                      </a:r>
                    </a:p>
                  </a:txBody>
                  <a:tcPr marL="73152" marR="73152">
                    <a:solidFill>
                      <a:srgbClr val="ECF1F5"/>
                    </a:solidFill>
                  </a:tcPr>
                </a:tc>
                <a:tc>
                  <a:txBody>
                    <a:bodyPr/>
                    <a:lstStyle/>
                    <a:p>
                      <a:r>
                        <a:rPr sz="1300" b="0" i="0">
                          <a:solidFill>
                            <a:srgbClr val="11202B"/>
                          </a:solidFill>
                          <a:latin typeface="Malgun Gothic"/>
                          <a:ea typeface="Malgun Gothic"/>
                          <a:cs typeface="Malgun Gothic"/>
                        </a:rPr>
                        <a:t>Hex A/B, β-Gal</a:t>
                      </a:r>
                    </a:p>
                  </a:txBody>
                  <a:tcPr marL="73152" marR="73152">
                    <a:solidFill>
                      <a:srgbClr val="ECF1F5"/>
                    </a:solidFill>
                  </a:tcPr>
                </a:tc>
                <a:tc>
                  <a:txBody>
                    <a:bodyPr/>
                    <a:lstStyle/>
                    <a:p>
                      <a:r>
                        <a:rPr sz="1300" b="0" i="0">
                          <a:solidFill>
                            <a:srgbClr val="11202B"/>
                          </a:solidFill>
                          <a:latin typeface="Malgun Gothic"/>
                          <a:ea typeface="Malgun Gothic"/>
                          <a:cs typeface="Malgun Gothic"/>
                        </a:rPr>
                        <a:t>체리붉은반점, 신경퇴행</a:t>
                      </a:r>
                    </a:p>
                  </a:txBody>
                  <a:tcPr marL="73152" marR="73152">
                    <a:solidFill>
                      <a:srgbClr val="ECF1F5"/>
                    </a:solidFill>
                  </a:tcPr>
                </a:tc>
              </a:tr>
              <a:tr h="365760">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크라베, MLD</a:t>
                      </a:r>
                    </a:p>
                  </a:txBody>
                  <a:tcPr marL="73152" marR="73152">
                    <a:solidFill>
                      <a:srgbClr val="FFFFFF"/>
                    </a:solidFill>
                  </a:tcPr>
                </a:tc>
                <a:tc>
                  <a:txBody>
                    <a:bodyPr/>
                    <a:lstStyle/>
                    <a:p>
                      <a:r>
                        <a:rPr sz="1300" b="0" i="0">
                          <a:solidFill>
                            <a:srgbClr val="11202B"/>
                          </a:solidFill>
                          <a:latin typeface="Malgun Gothic"/>
                          <a:ea typeface="Malgun Gothic"/>
                          <a:cs typeface="Malgun Gothic"/>
                        </a:rPr>
                        <a:t>GALC, ARSA</a:t>
                      </a:r>
                    </a:p>
                  </a:txBody>
                  <a:tcPr marL="73152" marR="73152">
                    <a:solidFill>
                      <a:srgbClr val="FFFFFF"/>
                    </a:solidFill>
                  </a:tcPr>
                </a:tc>
                <a:tc>
                  <a:txBody>
                    <a:bodyPr/>
                    <a:lstStyle/>
                    <a:p>
                      <a:r>
                        <a:rPr sz="1300" b="0" i="0">
                          <a:solidFill>
                            <a:srgbClr val="11202B"/>
                          </a:solidFill>
                          <a:latin typeface="Malgun Gothic"/>
                          <a:ea typeface="Malgun Gothic"/>
                          <a:cs typeface="Malgun Gothic"/>
                        </a:rPr>
                        <a:t>백질이영양증(B05 L13)</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점액다당류증(MPS)</a:t>
                      </a:r>
                    </a:p>
                  </a:txBody>
                  <a:tcPr marL="73152" marR="73152">
                    <a:solidFill>
                      <a:srgbClr val="ECF1F5"/>
                    </a:solidFill>
                  </a:tcPr>
                </a:tc>
                <a:tc>
                  <a:txBody>
                    <a:bodyPr/>
                    <a:lstStyle/>
                    <a:p>
                      <a:r>
                        <a:rPr sz="1300" b="0" i="0">
                          <a:solidFill>
                            <a:srgbClr val="11202B"/>
                          </a:solidFill>
                          <a:latin typeface="Malgun Gothic"/>
                          <a:ea typeface="Malgun Gothic"/>
                          <a:cs typeface="Malgun Gothic"/>
                        </a:rPr>
                        <a:t>I 헐러 (IDUA)</a:t>
                      </a:r>
                    </a:p>
                  </a:txBody>
                  <a:tcPr marL="73152" marR="73152">
                    <a:solidFill>
                      <a:srgbClr val="ECF1F5"/>
                    </a:solidFill>
                  </a:tcPr>
                </a:tc>
                <a:tc>
                  <a:txBody>
                    <a:bodyPr/>
                    <a:lstStyle/>
                    <a:p>
                      <a:r>
                        <a:rPr sz="1300" b="0" i="0">
                          <a:solidFill>
                            <a:srgbClr val="11202B"/>
                          </a:solidFill>
                          <a:latin typeface="Malgun Gothic"/>
                          <a:ea typeface="Malgun Gothic"/>
                          <a:cs typeface="Malgun Gothic"/>
                        </a:rPr>
                        <a:t>α-L-이두로니다아제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거친 얼굴, 각막 혼탁, 다발성 이골증, 심장판막, 지적장애, 상기도 폐쇄</a:t>
                      </a:r>
                    </a:p>
                  </a:txBody>
                  <a:tcPr marL="73152" marR="73152">
                    <a:solidFill>
                      <a:srgbClr val="ECF1F5"/>
                    </a:solidFill>
                  </a:tcPr>
                </a:tc>
              </a:tr>
              <a:tr h="365760">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II 헌터 (IDS, X연관)</a:t>
                      </a:r>
                    </a:p>
                  </a:txBody>
                  <a:tcPr marL="73152" marR="73152">
                    <a:solidFill>
                      <a:srgbClr val="FFFFFF"/>
                    </a:solidFill>
                  </a:tcPr>
                </a:tc>
                <a:tc>
                  <a:txBody>
                    <a:bodyPr/>
                    <a:lstStyle/>
                    <a:p>
                      <a:r>
                        <a:rPr sz="1300" b="0" i="0">
                          <a:solidFill>
                            <a:srgbClr val="11202B"/>
                          </a:solidFill>
                          <a:latin typeface="Malgun Gothic"/>
                          <a:ea typeface="Malgun Gothic"/>
                          <a:cs typeface="Malgun Gothic"/>
                        </a:rPr>
                        <a:t>이두로네이트-2-설파타아제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헐러 유사이나 </a:t>
                      </a:r>
                      <a:r>
                        <a:rPr sz="1300" b="1" i="0">
                          <a:solidFill>
                            <a:srgbClr val="11202B"/>
                          </a:solidFill>
                          <a:latin typeface="Malgun Gothic"/>
                          <a:ea typeface="Malgun Gothic"/>
                          <a:cs typeface="Malgun Gothic"/>
                        </a:rPr>
                        <a:t>각막 혼탁 없음</a:t>
                      </a:r>
                      <a:r>
                        <a:rPr sz="1300" b="0" i="0">
                          <a:solidFill>
                            <a:srgbClr val="11202B"/>
                          </a:solidFill>
                          <a:latin typeface="Malgun Gothic"/>
                          <a:ea typeface="Malgun Gothic"/>
                          <a:cs typeface="Malgun Gothic"/>
                        </a:rPr>
                        <a:t>, 피부 조약돌 병변</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III 산필리포 (A–D)</a:t>
                      </a:r>
                    </a:p>
                  </a:txBody>
                  <a:tcPr marL="73152" marR="73152">
                    <a:solidFill>
                      <a:srgbClr val="ECF1F5"/>
                    </a:solidFill>
                  </a:tcPr>
                </a:tc>
                <a:tc>
                  <a:txBody>
                    <a:bodyPr/>
                    <a:lstStyle/>
                    <a:p>
                      <a:r>
                        <a:rPr sz="1300" b="0" i="0">
                          <a:solidFill>
                            <a:srgbClr val="11202B"/>
                          </a:solidFill>
                          <a:latin typeface="Malgun Gothic"/>
                          <a:ea typeface="Malgun Gothic"/>
                          <a:cs typeface="Malgun Gothic"/>
                        </a:rPr>
                        <a:t>헤파란 황산 분해</a:t>
                      </a:r>
                    </a:p>
                  </a:txBody>
                  <a:tcPr marL="73152" marR="73152">
                    <a:solidFill>
                      <a:srgbClr val="ECF1F5"/>
                    </a:solidFill>
                  </a:tcPr>
                </a:tc>
                <a:tc>
                  <a:txBody>
                    <a:bodyPr/>
                    <a:lstStyle/>
                    <a:p>
                      <a:r>
                        <a:rPr sz="1300" b="0" i="0">
                          <a:solidFill>
                            <a:srgbClr val="11202B"/>
                          </a:solidFill>
                          <a:latin typeface="Malgun Gothic"/>
                          <a:ea typeface="Malgun Gothic"/>
                          <a:cs typeface="Malgun Gothic"/>
                        </a:rPr>
                        <a:t>경도 신체 이상 + 심한 행동장애·신경퇴행</a:t>
                      </a:r>
                    </a:p>
                  </a:txBody>
                  <a:tcPr marL="73152" marR="73152">
                    <a:solidFill>
                      <a:srgbClr val="ECF1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주요 리소좀 축적질환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군</a:t>
                      </a:r>
                    </a:p>
                  </a:txBody>
                  <a:tcPr marL="73152" marR="73152">
                    <a:solidFill>
                      <a:srgbClr val="003C71"/>
                    </a:solidFill>
                  </a:tcPr>
                </a:tc>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효소/단백</a:t>
                      </a:r>
                    </a:p>
                  </a:txBody>
                  <a:tcPr marL="73152" marR="73152">
                    <a:solidFill>
                      <a:srgbClr val="003C71"/>
                    </a:solidFill>
                  </a:tcPr>
                </a:tc>
                <a:tc>
                  <a:txBody>
                    <a:bodyPr/>
                    <a:lstStyle/>
                    <a:p>
                      <a:r>
                        <a:rPr sz="1300" b="1" i="0">
                          <a:solidFill>
                            <a:srgbClr val="FFFFFF"/>
                          </a:solidFill>
                          <a:latin typeface="Malgun Gothic"/>
                          <a:ea typeface="Malgun Gothic"/>
                          <a:cs typeface="Malgun Gothic"/>
                        </a:rPr>
                        <a:t>핵심 소견</a:t>
                      </a:r>
                    </a:p>
                  </a:txBody>
                  <a:tcPr marL="73152" marR="73152">
                    <a:solidFill>
                      <a:srgbClr val="003C71"/>
                    </a:solidFill>
                  </a:tcPr>
                </a:tc>
              </a:tr>
              <a:tr h="365760">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IV 모르키오</a:t>
                      </a:r>
                    </a:p>
                  </a:txBody>
                  <a:tcPr marL="73152" marR="73152">
                    <a:solidFill>
                      <a:srgbClr val="FFFFFF"/>
                    </a:solidFill>
                  </a:tcPr>
                </a:tc>
                <a:tc>
                  <a:txBody>
                    <a:bodyPr/>
                    <a:lstStyle/>
                    <a:p>
                      <a:r>
                        <a:rPr sz="1300" b="0" i="0">
                          <a:solidFill>
                            <a:srgbClr val="11202B"/>
                          </a:solidFill>
                          <a:latin typeface="Malgun Gothic"/>
                          <a:ea typeface="Malgun Gothic"/>
                          <a:cs typeface="Malgun Gothic"/>
                        </a:rPr>
                        <a:t>GALNS / β-Gal</a:t>
                      </a:r>
                    </a:p>
                  </a:txBody>
                  <a:tcPr marL="73152" marR="73152">
                    <a:solidFill>
                      <a:srgbClr val="FFFFFF"/>
                    </a:solidFill>
                  </a:tcPr>
                </a:tc>
                <a:tc>
                  <a:txBody>
                    <a:bodyPr/>
                    <a:lstStyle/>
                    <a:p>
                      <a:r>
                        <a:rPr sz="1300" b="0" i="0">
                          <a:solidFill>
                            <a:srgbClr val="11202B"/>
                          </a:solidFill>
                          <a:latin typeface="Malgun Gothic"/>
                          <a:ea typeface="Malgun Gothic"/>
                          <a:cs typeface="Malgun Gothic"/>
                        </a:rPr>
                        <a:t>지능 정상, 심한 골격 이형성·치돌기 형성부전(경추 불안정)</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VI 마로토-라미</a:t>
                      </a:r>
                    </a:p>
                  </a:txBody>
                  <a:tcPr marL="73152" marR="73152">
                    <a:solidFill>
                      <a:srgbClr val="ECF1F5"/>
                    </a:solidFill>
                  </a:tcPr>
                </a:tc>
                <a:tc>
                  <a:txBody>
                    <a:bodyPr/>
                    <a:lstStyle/>
                    <a:p>
                      <a:r>
                        <a:rPr sz="1300" b="0" i="0">
                          <a:solidFill>
                            <a:srgbClr val="11202B"/>
                          </a:solidFill>
                          <a:latin typeface="Malgun Gothic"/>
                          <a:ea typeface="Malgun Gothic"/>
                          <a:cs typeface="Malgun Gothic"/>
                        </a:rPr>
                        <a:t>ARSB</a:t>
                      </a:r>
                    </a:p>
                  </a:txBody>
                  <a:tcPr marL="73152" marR="73152">
                    <a:solidFill>
                      <a:srgbClr val="ECF1F5"/>
                    </a:solidFill>
                  </a:tcPr>
                </a:tc>
                <a:tc>
                  <a:txBody>
                    <a:bodyPr/>
                    <a:lstStyle/>
                    <a:p>
                      <a:r>
                        <a:rPr sz="1300" b="0" i="0">
                          <a:solidFill>
                            <a:srgbClr val="11202B"/>
                          </a:solidFill>
                          <a:latin typeface="Malgun Gothic"/>
                          <a:ea typeface="Malgun Gothic"/>
                          <a:cs typeface="Malgun Gothic"/>
                        </a:rPr>
                        <a:t>지능 정상, 골격·심장</a:t>
                      </a:r>
                    </a:p>
                  </a:txBody>
                  <a:tcPr marL="73152" marR="73152">
                    <a:solidFill>
                      <a:srgbClr val="ECF1F5"/>
                    </a:solidFill>
                  </a:tcPr>
                </a:tc>
              </a:tr>
              <a:tr h="365760">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VII 슬라이</a:t>
                      </a:r>
                    </a:p>
                  </a:txBody>
                  <a:tcPr marL="73152" marR="73152">
                    <a:solidFill>
                      <a:srgbClr val="FFFFFF"/>
                    </a:solidFill>
                  </a:tcPr>
                </a:tc>
                <a:tc>
                  <a:txBody>
                    <a:bodyPr/>
                    <a:lstStyle/>
                    <a:p>
                      <a:r>
                        <a:rPr sz="1300" b="0" i="0">
                          <a:solidFill>
                            <a:srgbClr val="11202B"/>
                          </a:solidFill>
                          <a:latin typeface="Malgun Gothic"/>
                          <a:ea typeface="Malgun Gothic"/>
                          <a:cs typeface="Malgun Gothic"/>
                        </a:rPr>
                        <a:t>β-글루쿠로니다아제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태아수종</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당원병</a:t>
                      </a:r>
                    </a:p>
                  </a:txBody>
                  <a:tcPr marL="73152" marR="73152">
                    <a:solidFill>
                      <a:srgbClr val="ECF1F5"/>
                    </a:solidFill>
                  </a:tcPr>
                </a:tc>
                <a:tc>
                  <a:txBody>
                    <a:bodyPr/>
                    <a:lstStyle/>
                    <a:p>
                      <a:r>
                        <a:rPr sz="1300" b="0" i="0">
                          <a:solidFill>
                            <a:srgbClr val="11202B"/>
                          </a:solidFill>
                          <a:latin typeface="Malgun Gothic"/>
                          <a:ea typeface="Malgun Gothic"/>
                          <a:cs typeface="Malgun Gothic"/>
                        </a:rPr>
                        <a:t>II 폼페</a:t>
                      </a:r>
                    </a:p>
                  </a:txBody>
                  <a:tcPr marL="73152" marR="73152">
                    <a:solidFill>
                      <a:srgbClr val="ECF1F5"/>
                    </a:solidFill>
                  </a:tcPr>
                </a:tc>
                <a:tc>
                  <a:txBody>
                    <a:bodyPr/>
                    <a:lstStyle/>
                    <a:p>
                      <a:r>
                        <a:rPr sz="1300" b="0" i="0">
                          <a:solidFill>
                            <a:srgbClr val="11202B"/>
                          </a:solidFill>
                          <a:latin typeface="Malgun Gothic"/>
                          <a:ea typeface="Malgun Gothic"/>
                          <a:cs typeface="Malgun Gothic"/>
                        </a:rPr>
                        <a:t>산성 α-글루코시다아제</a:t>
                      </a:r>
                    </a:p>
                  </a:txBody>
                  <a:tcPr marL="73152" marR="73152">
                    <a:solidFill>
                      <a:srgbClr val="ECF1F5"/>
                    </a:solidFill>
                  </a:tcPr>
                </a:tc>
                <a:tc>
                  <a:txBody>
                    <a:bodyPr/>
                    <a:lstStyle/>
                    <a:p>
                      <a:r>
                        <a:rPr sz="1300" b="0" i="0">
                          <a:solidFill>
                            <a:srgbClr val="11202B"/>
                          </a:solidFill>
                          <a:latin typeface="Malgun Gothic"/>
                          <a:ea typeface="Malgun Gothic"/>
                          <a:cs typeface="Malgun Gothic"/>
                        </a:rPr>
                        <a:t>영아 심비대·근긴장저하, 성인 근위부 근약화·호흡부전</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지질 수송</a:t>
                      </a:r>
                    </a:p>
                  </a:txBody>
                  <a:tcPr marL="73152" marR="73152">
                    <a:solidFill>
                      <a:srgbClr val="FFFFFF"/>
                    </a:solidFill>
                  </a:tcPr>
                </a:tc>
                <a:tc>
                  <a:txBody>
                    <a:bodyPr/>
                    <a:lstStyle/>
                    <a:p>
                      <a:r>
                        <a:rPr sz="1300" b="0" i="0">
                          <a:solidFill>
                            <a:srgbClr val="11202B"/>
                          </a:solidFill>
                          <a:latin typeface="Malgun Gothic"/>
                          <a:ea typeface="Malgun Gothic"/>
                          <a:cs typeface="Malgun Gothic"/>
                        </a:rPr>
                        <a:t>니만-피크 C</a:t>
                      </a:r>
                    </a:p>
                  </a:txBody>
                  <a:tcPr marL="73152" marR="73152">
                    <a:solidFill>
                      <a:srgbClr val="FFFFFF"/>
                    </a:solidFill>
                  </a:tcPr>
                </a:tc>
                <a:tc>
                  <a:txBody>
                    <a:bodyPr/>
                    <a:lstStyle/>
                    <a:p>
                      <a:r>
                        <a:rPr sz="1300" b="0" i="0">
                          <a:solidFill>
                            <a:srgbClr val="11202B"/>
                          </a:solidFill>
                          <a:latin typeface="Malgun Gothic"/>
                          <a:ea typeface="Malgun Gothic"/>
                          <a:cs typeface="Malgun Gothic"/>
                        </a:rPr>
                        <a:t>NPC1/NPC2 (콜레스테롤 유출)</a:t>
                      </a:r>
                    </a:p>
                  </a:txBody>
                  <a:tcPr marL="73152" marR="73152">
                    <a:solidFill>
                      <a:srgbClr val="FFFFFF"/>
                    </a:solidFill>
                  </a:tcPr>
                </a:tc>
                <a:tc>
                  <a:txBody>
                    <a:bodyPr/>
                    <a:lstStyle/>
                    <a:p>
                      <a:r>
                        <a:rPr sz="1300" b="0" i="0">
                          <a:solidFill>
                            <a:srgbClr val="11202B"/>
                          </a:solidFill>
                          <a:latin typeface="Malgun Gothic"/>
                          <a:ea typeface="Malgun Gothic"/>
                          <a:cs typeface="Malgun Gothic"/>
                        </a:rPr>
                        <a:t>수직 핵상 주시마비, 탈력발작(cataplexy), 운동실조, 정신증, 신생아 담즙정체</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리소좀 산성 리파아제 결핍</a:t>
                      </a:r>
                    </a:p>
                  </a:txBody>
                  <a:tcPr marL="73152" marR="73152">
                    <a:solidFill>
                      <a:srgbClr val="ECF1F5"/>
                    </a:solidFill>
                  </a:tcPr>
                </a:tc>
                <a:tc>
                  <a:txBody>
                    <a:bodyPr/>
                    <a:lstStyle/>
                    <a:p>
                      <a:r>
                        <a:rPr sz="1300" b="0" i="0">
                          <a:solidFill>
                            <a:srgbClr val="11202B"/>
                          </a:solidFill>
                          <a:latin typeface="Malgun Gothic"/>
                          <a:ea typeface="Malgun Gothic"/>
                          <a:cs typeface="Malgun Gothic"/>
                        </a:rPr>
                        <a:t>LAL (LIPA)</a:t>
                      </a:r>
                    </a:p>
                  </a:txBody>
                  <a:tcPr marL="73152" marR="73152">
                    <a:solidFill>
                      <a:srgbClr val="ECF1F5"/>
                    </a:solidFill>
                  </a:tcPr>
                </a:tc>
                <a:tc>
                  <a:txBody>
                    <a:bodyPr/>
                    <a:lstStyle/>
                    <a:p>
                      <a:r>
                        <a:rPr sz="1300" b="0" i="0">
                          <a:solidFill>
                            <a:srgbClr val="11202B"/>
                          </a:solidFill>
                          <a:latin typeface="Malgun Gothic"/>
                          <a:ea typeface="Malgun Gothic"/>
                          <a:cs typeface="Malgun Gothic"/>
                        </a:rPr>
                        <a:t>영아 울먼병(부신 석회화), 소아-성인 콜레스테릴 에스터 축적병(간비대·이상지질) → 세벨리파아제 알파</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당단백증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α-만노시도시스, 푸코시도시스, 시알리도시스</a:t>
                      </a:r>
                    </a:p>
                  </a:txBody>
                  <a:tcPr marL="73152" marR="73152">
                    <a:solidFill>
                      <a:srgbClr val="FFFFFF"/>
                    </a:solidFill>
                  </a:tcPr>
                </a:tc>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거친 얼굴, 근간대, 체리붉은반점(시알리도시스 I형)</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막 수송</a:t>
                      </a:r>
                    </a:p>
                  </a:txBody>
                  <a:tcPr marL="73152" marR="73152">
                    <a:solidFill>
                      <a:srgbClr val="ECF1F5"/>
                    </a:solidFill>
                  </a:tcPr>
                </a:tc>
                <a:tc>
                  <a:txBody>
                    <a:bodyPr/>
                    <a:lstStyle/>
                    <a:p>
                      <a:r>
                        <a:rPr sz="1300" b="0" i="0">
                          <a:solidFill>
                            <a:srgbClr val="11202B"/>
                          </a:solidFill>
                          <a:latin typeface="Malgun Gothic"/>
                          <a:ea typeface="Malgun Gothic"/>
                          <a:cs typeface="Malgun Gothic"/>
                        </a:rPr>
                        <a:t>시스틴증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시스티노신 (CTNS)</a:t>
                      </a:r>
                    </a:p>
                  </a:txBody>
                  <a:tcPr marL="73152" marR="73152">
                    <a:solidFill>
                      <a:srgbClr val="ECF1F5"/>
                    </a:solidFill>
                  </a:tcPr>
                </a:tc>
                <a:tc>
                  <a:txBody>
                    <a:bodyPr/>
                    <a:lstStyle/>
                    <a:p>
                      <a:r>
                        <a:rPr sz="1300" b="0" i="0">
                          <a:solidFill>
                            <a:srgbClr val="11202B"/>
                          </a:solidFill>
                          <a:latin typeface="Malgun Gothic"/>
                          <a:ea typeface="Malgun Gothic"/>
                          <a:cs typeface="Malgun Gothic"/>
                        </a:rPr>
                        <a:t>판코니 증후군, 각막 시스틴 결정, 신부전 → 시스테아민</a:t>
                      </a:r>
                    </a:p>
                  </a:txBody>
                  <a:tcPr marL="73152" marR="73152">
                    <a:solidFill>
                      <a:srgbClr val="ECF1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주요 리소좀 축적질환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군</a:t>
                      </a:r>
                    </a:p>
                  </a:txBody>
                  <a:tcPr marL="73152" marR="73152">
                    <a:solidFill>
                      <a:srgbClr val="003C71"/>
                    </a:solidFill>
                  </a:tcPr>
                </a:tc>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효소/단백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핵심 소견</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신경 세로이드 리포푸신증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CLN1–14 (바텐병)</a:t>
                      </a:r>
                    </a:p>
                  </a:txBody>
                  <a:tcPr marL="73152" marR="73152">
                    <a:solidFill>
                      <a:srgbClr val="FFFFFF"/>
                    </a:solidFill>
                  </a:tcPr>
                </a:tc>
                <a:tc>
                  <a:txBody>
                    <a:bodyPr/>
                    <a:lstStyle/>
                    <a:p>
                      <a:r>
                        <a:rPr sz="1500" b="0" i="0">
                          <a:solidFill>
                            <a:srgbClr val="11202B"/>
                          </a:solidFill>
                          <a:latin typeface="Malgun Gothic"/>
                          <a:ea typeface="Malgun Gothic"/>
                          <a:cs typeface="Malgun Gothic"/>
                        </a:rPr>
                        <a:t>PPT1, TPP1(CLN2) 등</a:t>
                      </a:r>
                    </a:p>
                  </a:txBody>
                  <a:tcPr marL="73152" marR="73152">
                    <a:solidFill>
                      <a:srgbClr val="FFFFFF"/>
                    </a:solidFill>
                  </a:tcPr>
                </a:tc>
                <a:tc>
                  <a:txBody>
                    <a:bodyPr/>
                    <a:lstStyle/>
                    <a:p>
                      <a:r>
                        <a:rPr sz="1500" b="0" i="0">
                          <a:solidFill>
                            <a:srgbClr val="11202B"/>
                          </a:solidFill>
                          <a:latin typeface="Malgun Gothic"/>
                          <a:ea typeface="Malgun Gothic"/>
                          <a:cs typeface="Malgun Gothic"/>
                        </a:rPr>
                        <a:t>시력 소실, 경련, 퇴행 → CLN2 </a:t>
                      </a:r>
                      <a:r>
                        <a:rPr sz="1500" b="1" i="0">
                          <a:solidFill>
                            <a:srgbClr val="11202B"/>
                          </a:solidFill>
                          <a:latin typeface="Malgun Gothic"/>
                          <a:ea typeface="Malgun Gothic"/>
                          <a:cs typeface="Malgun Gothic"/>
                        </a:rPr>
                        <a:t>세를리포나아제 알파</a:t>
                      </a:r>
                      <a:r>
                        <a:rPr sz="1500" b="0" i="0">
                          <a:solidFill>
                            <a:srgbClr val="11202B"/>
                          </a:solidFill>
                          <a:latin typeface="Malgun Gothic"/>
                          <a:ea typeface="Malgun Gothic"/>
                          <a:cs typeface="Malgun Gothic"/>
                        </a:rPr>
                        <a:t>(뇌실 내 ERT)</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기타</a:t>
                      </a:r>
                    </a:p>
                  </a:txBody>
                  <a:tcPr marL="73152" marR="73152">
                    <a:solidFill>
                      <a:srgbClr val="ECF1F5"/>
                    </a:solidFill>
                  </a:tcPr>
                </a:tc>
                <a:tc>
                  <a:txBody>
                    <a:bodyPr/>
                    <a:lstStyle/>
                    <a:p>
                      <a:r>
                        <a:rPr sz="1500" b="0" i="0">
                          <a:solidFill>
                            <a:srgbClr val="11202B"/>
                          </a:solidFill>
                          <a:latin typeface="Malgun Gothic"/>
                          <a:ea typeface="Malgun Gothic"/>
                          <a:cs typeface="Malgun Gothic"/>
                        </a:rPr>
                        <a:t>다논병, 뮤코리피드증 II (I-세포병)</a:t>
                      </a:r>
                    </a:p>
                  </a:txBody>
                  <a:tcPr marL="73152" marR="73152">
                    <a:solidFill>
                      <a:srgbClr val="ECF1F5"/>
                    </a:solidFill>
                  </a:tcPr>
                </a:tc>
                <a:tc>
                  <a:txBody>
                    <a:bodyPr/>
                    <a:lstStyle/>
                    <a:p>
                      <a:r>
                        <a:rPr sz="1500" b="0" i="0">
                          <a:solidFill>
                            <a:srgbClr val="11202B"/>
                          </a:solidFill>
                          <a:latin typeface="Malgun Gothic"/>
                          <a:ea typeface="Malgun Gothic"/>
                          <a:cs typeface="Malgun Gothic"/>
                        </a:rPr>
                        <a:t>LAMP2, GNPTAB</a:t>
                      </a:r>
                    </a:p>
                  </a:txBody>
                  <a:tcPr marL="73152" marR="73152">
                    <a:solidFill>
                      <a:srgbClr val="ECF1F5"/>
                    </a:solidFill>
                  </a:tcPr>
                </a:tc>
                <a:tc>
                  <a:txBody>
                    <a:bodyPr/>
                    <a:lstStyle/>
                    <a:p>
                      <a:r>
                        <a:rPr sz="1500" b="0" i="0">
                          <a:solidFill>
                            <a:srgbClr val="11202B"/>
                          </a:solidFill>
                          <a:latin typeface="Malgun Gothic"/>
                          <a:ea typeface="Malgun Gothic"/>
                          <a:cs typeface="Malgun Gothic"/>
                        </a:rPr>
                        <a:t>B03 L02, B02 L01</a:t>
                      </a:r>
                    </a:p>
                  </a:txBody>
                  <a:tcPr marL="73152" marR="73152">
                    <a:solidFill>
                      <a:srgbClr val="ECF1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진단 접근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임상 단서: 간비장비대 + 혈구감소(고셔, ASMD), 거친 얼굴·이골증·각막 혼탁(MPS), 체리붉은반점, 비설명성 심비대(폼페, 파브리), 수직 핵상 주시마비(NPC), 반복 탈장·중이염·수근관 증후군(MPS 경증형), 작열통·저발한(파브리), 퇴행.</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단계적 검사:</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선별 생체표지자: 소변 글리코사미노글리칸(GAG) 정량·전기영동(MPS), 키토트리오시다아제·CCL18(고셔), </a:t>
            </a:r>
            <a:r>
              <a:rPr sz="1600" b="1" i="0">
                <a:solidFill>
                  <a:srgbClr val="2E3F4C"/>
                </a:solidFill>
                <a:latin typeface="Malgun Gothic"/>
                <a:ea typeface="Malgun Gothic"/>
                <a:cs typeface="Malgun Gothic"/>
              </a:rPr>
              <a:t>lyso-Gb1</a:t>
            </a:r>
            <a:r>
              <a:rPr sz="1600" b="0" i="0">
                <a:solidFill>
                  <a:srgbClr val="2E3F4C"/>
                </a:solidFill>
                <a:latin typeface="Malgun Gothic"/>
                <a:ea typeface="Malgun Gothic"/>
                <a:cs typeface="Malgun Gothic"/>
              </a:rPr>
              <a:t>(고셔), </a:t>
            </a:r>
            <a:r>
              <a:rPr sz="1600" b="1" i="0">
                <a:solidFill>
                  <a:srgbClr val="2E3F4C"/>
                </a:solidFill>
                <a:latin typeface="Malgun Gothic"/>
                <a:ea typeface="Malgun Gothic"/>
                <a:cs typeface="Malgun Gothic"/>
              </a:rPr>
              <a:t>lyso-Gb3</a:t>
            </a:r>
            <a:r>
              <a:rPr sz="1600" b="0" i="0">
                <a:solidFill>
                  <a:srgbClr val="2E3F4C"/>
                </a:solidFill>
                <a:latin typeface="Malgun Gothic"/>
                <a:ea typeface="Malgun Gothic"/>
                <a:cs typeface="Malgun Gothic"/>
              </a:rPr>
              <a:t>(파브리), 옥시스테롤·담즙산 유사체(NPC), 소변 올리고당.</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효소 활성</a:t>
            </a:r>
            <a:r>
              <a:rPr sz="1600" b="0" i="0">
                <a:solidFill>
                  <a:srgbClr val="2E3F4C"/>
                </a:solidFill>
                <a:latin typeface="Malgun Gothic"/>
                <a:ea typeface="Malgun Gothic"/>
                <a:cs typeface="Malgun Gothic"/>
              </a:rPr>
              <a:t>(건조혈반·백혈구·섬유모세포) — 남성 파브리는 효소로 진단 가능하나 </a:t>
            </a:r>
            <a:r>
              <a:rPr sz="1600" b="1" i="0">
                <a:solidFill>
                  <a:srgbClr val="2E3F4C"/>
                </a:solidFill>
                <a:latin typeface="Malgun Gothic"/>
                <a:ea typeface="Malgun Gothic"/>
                <a:cs typeface="Malgun Gothic"/>
              </a:rPr>
              <a:t>여성 보인자는 효소 정상일 수 있어 유전자 검사 필수</a:t>
            </a:r>
            <a:r>
              <a:rPr sz="1600" b="0" i="0">
                <a:solidFill>
                  <a:srgbClr val="2E3F4C"/>
                </a:solidFill>
                <a:latin typeface="Malgun Gothic"/>
                <a:ea typeface="Malgun Gothic"/>
                <a:cs typeface="Malgun Gothic"/>
              </a:rPr>
              <a:t>.</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유전자 검사(패널·엑솜) — 위유전자(GBA1/GBAP1) 주의.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진단 접근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가성결핍(pseudodeficiency)</a:t>
            </a:r>
            <a:r>
              <a:rPr sz="2200" b="0" i="0">
                <a:solidFill>
                  <a:srgbClr val="11202B"/>
                </a:solidFill>
                <a:latin typeface="Malgun Gothic"/>
                <a:ea typeface="Malgun Gothic"/>
                <a:cs typeface="Malgun Gothic"/>
              </a:rPr>
              <a:t> 대립유전자: 시험관 효소 활성은 낮지만 생체 기능은 정상(ARSA, GLA, GAA, IDUA) → 신생아 선별 위양성 원인.</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신생아 선별: 미국 RUSP에 폼페(2015)·MPS I(2016)·MPS II(2022)·크라베(2024) 추가; 일부 지역 파브리·고셔. 후기 발병형 변이 발견 시 '환자 대기(patient-in-waiting)' 윤리 문제.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치료 플랫폼</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100" b="1" i="0">
                          <a:solidFill>
                            <a:srgbClr val="FFFFFF"/>
                          </a:solidFill>
                          <a:latin typeface="Malgun Gothic"/>
                          <a:ea typeface="Malgun Gothic"/>
                          <a:cs typeface="Malgun Gothic"/>
                        </a:rPr>
                        <a:t>플랫폼</a:t>
                      </a:r>
                    </a:p>
                  </a:txBody>
                  <a:tcPr marL="73152" marR="73152">
                    <a:solidFill>
                      <a:srgbClr val="003C71"/>
                    </a:solidFill>
                  </a:tcPr>
                </a:tc>
                <a:tc>
                  <a:txBody>
                    <a:bodyPr/>
                    <a:lstStyle/>
                    <a:p>
                      <a:r>
                        <a:rPr sz="1100" b="1" i="0">
                          <a:solidFill>
                            <a:srgbClr val="FFFFFF"/>
                          </a:solidFill>
                          <a:latin typeface="Malgun Gothic"/>
                          <a:ea typeface="Malgun Gothic"/>
                          <a:cs typeface="Malgun Gothic"/>
                        </a:rPr>
                        <a:t>원리</a:t>
                      </a:r>
                    </a:p>
                  </a:txBody>
                  <a:tcPr marL="73152" marR="73152">
                    <a:solidFill>
                      <a:srgbClr val="003C71"/>
                    </a:solidFill>
                  </a:tcPr>
                </a:tc>
                <a:tc>
                  <a:txBody>
                    <a:bodyPr/>
                    <a:lstStyle/>
                    <a:p>
                      <a:r>
                        <a:rPr sz="1100" b="1" i="0">
                          <a:solidFill>
                            <a:srgbClr val="FFFFFF"/>
                          </a:solidFill>
                          <a:latin typeface="Malgun Gothic"/>
                          <a:ea typeface="Malgun Gothic"/>
                          <a:cs typeface="Malgun Gothic"/>
                        </a:rPr>
                        <a:t>예</a:t>
                      </a:r>
                    </a:p>
                  </a:txBody>
                  <a:tcPr marL="73152" marR="73152">
                    <a:solidFill>
                      <a:srgbClr val="003C71"/>
                    </a:solidFill>
                  </a:tcPr>
                </a:tc>
                <a:tc>
                  <a:txBody>
                    <a:bodyPr/>
                    <a:lstStyle/>
                    <a:p>
                      <a:r>
                        <a:rPr sz="1100" b="1" i="0">
                          <a:solidFill>
                            <a:srgbClr val="FFFFFF"/>
                          </a:solidFill>
                          <a:latin typeface="Malgun Gothic"/>
                          <a:ea typeface="Malgun Gothic"/>
                          <a:cs typeface="Malgun Gothic"/>
                        </a:rPr>
                        <a:t>한계</a:t>
                      </a:r>
                    </a:p>
                  </a:txBody>
                  <a:tcPr marL="73152" marR="73152">
                    <a:solidFill>
                      <a:srgbClr val="003C71"/>
                    </a:solidFill>
                  </a:tcPr>
                </a:tc>
              </a:tr>
              <a:tr h="365760">
                <a:tc>
                  <a:txBody>
                    <a:bodyPr/>
                    <a:lstStyle/>
                    <a:p>
                      <a:r>
                        <a:rPr sz="1100" b="1" i="0">
                          <a:solidFill>
                            <a:srgbClr val="11202B"/>
                          </a:solidFill>
                          <a:latin typeface="Malgun Gothic"/>
                          <a:ea typeface="Malgun Gothic"/>
                          <a:cs typeface="Malgun Gothic"/>
                        </a:rPr>
                        <a:t>효소대체요법(ERT)</a:t>
                      </a:r>
                    </a:p>
                  </a:txBody>
                  <a:tcPr marL="73152" marR="73152">
                    <a:solidFill>
                      <a:srgbClr val="FFFFFF"/>
                    </a:solidFill>
                  </a:tcPr>
                </a:tc>
                <a:tc>
                  <a:txBody>
                    <a:bodyPr/>
                    <a:lstStyle/>
                    <a:p>
                      <a:r>
                        <a:rPr sz="1100" b="0" i="0">
                          <a:solidFill>
                            <a:srgbClr val="11202B"/>
                          </a:solidFill>
                          <a:latin typeface="Malgun Gothic"/>
                          <a:ea typeface="Malgun Gothic"/>
                          <a:cs typeface="Malgun Gothic"/>
                        </a:rPr>
                        <a:t>재조합 효소 정주 → M6P 수용체·만노스 수용체로 세포 흡수</a:t>
                      </a:r>
                    </a:p>
                  </a:txBody>
                  <a:tcPr marL="73152" marR="73152">
                    <a:solidFill>
                      <a:srgbClr val="FFFFFF"/>
                    </a:solidFill>
                  </a:tcPr>
                </a:tc>
                <a:tc>
                  <a:txBody>
                    <a:bodyPr/>
                    <a:lstStyle/>
                    <a:p>
                      <a:r>
                        <a:rPr sz="1100" b="0" i="0">
                          <a:solidFill>
                            <a:srgbClr val="11202B"/>
                          </a:solidFill>
                          <a:latin typeface="Malgun Gothic"/>
                          <a:ea typeface="Malgun Gothic"/>
                          <a:cs typeface="Malgun Gothic"/>
                        </a:rPr>
                        <a:t>이미글루세라제(고셔), 아갈시다제(파브리), 알글루코시다아제/아발글루코시다아제(폼페), 라로니다아제(MPS I), 이두설파아제(MPS II), 올리푸다아제(ASMD)</a:t>
                      </a:r>
                    </a:p>
                  </a:txBody>
                  <a:tcPr marL="73152" marR="73152">
                    <a:solidFill>
                      <a:srgbClr val="FFFFFF"/>
                    </a:solidFill>
                  </a:tcPr>
                </a:tc>
                <a:tc>
                  <a:txBody>
                    <a:bodyPr/>
                    <a:lstStyle/>
                    <a:p>
                      <a:r>
                        <a:rPr sz="1100" b="1" i="0">
                          <a:solidFill>
                            <a:srgbClr val="11202B"/>
                          </a:solidFill>
                          <a:latin typeface="Malgun Gothic"/>
                          <a:ea typeface="Malgun Gothic"/>
                          <a:cs typeface="Malgun Gothic"/>
                        </a:rPr>
                        <a:t>혈액뇌장벽 미통과</a:t>
                      </a:r>
                      <a:r>
                        <a:rPr sz="1100" b="0" i="0">
                          <a:solidFill>
                            <a:srgbClr val="11202B"/>
                          </a:solidFill>
                          <a:latin typeface="Malgun Gothic"/>
                          <a:ea typeface="Malgun Gothic"/>
                          <a:cs typeface="Malgun Gothic"/>
                        </a:rPr>
                        <a:t>, 뼈·연골·심장판막 침투 제한, 항약물항체(CRIM 음성 폼페 → 면역관용 유도), 2주마다 정주, 고가</a:t>
                      </a:r>
                    </a:p>
                  </a:txBody>
                  <a:tcPr marL="73152" marR="73152">
                    <a:solidFill>
                      <a:srgbClr val="FFFFFF"/>
                    </a:solidFill>
                  </a:tcPr>
                </a:tc>
              </a:tr>
              <a:tr h="365760">
                <a:tc>
                  <a:txBody>
                    <a:bodyPr/>
                    <a:lstStyle/>
                    <a:p>
                      <a:r>
                        <a:rPr sz="1100" b="0" i="0">
                          <a:solidFill>
                            <a:srgbClr val="11202B"/>
                          </a:solidFill>
                          <a:latin typeface="Malgun Gothic"/>
                          <a:ea typeface="Malgun Gothic"/>
                          <a:cs typeface="Malgun Gothic"/>
                        </a:rPr>
                        <a:t>BBB 통과 ERT</a:t>
                      </a:r>
                    </a:p>
                  </a:txBody>
                  <a:tcPr marL="73152" marR="73152">
                    <a:solidFill>
                      <a:srgbClr val="ECF1F5"/>
                    </a:solidFill>
                  </a:tcPr>
                </a:tc>
                <a:tc>
                  <a:txBody>
                    <a:bodyPr/>
                    <a:lstStyle/>
                    <a:p>
                      <a:r>
                        <a:rPr sz="1100" b="0" i="0">
                          <a:solidFill>
                            <a:srgbClr val="11202B"/>
                          </a:solidFill>
                          <a:latin typeface="Malgun Gothic"/>
                          <a:ea typeface="Malgun Gothic"/>
                          <a:cs typeface="Malgun Gothic"/>
                        </a:rPr>
                        <a:t>트랜스페린 수용체 항체–효소 융합</a:t>
                      </a:r>
                    </a:p>
                  </a:txBody>
                  <a:tcPr marL="73152" marR="73152">
                    <a:solidFill>
                      <a:srgbClr val="ECF1F5"/>
                    </a:solidFill>
                  </a:tcPr>
                </a:tc>
                <a:tc>
                  <a:txBody>
                    <a:bodyPr/>
                    <a:lstStyle/>
                    <a:p>
                      <a:r>
                        <a:rPr sz="1100" b="0" i="0">
                          <a:solidFill>
                            <a:srgbClr val="11202B"/>
                          </a:solidFill>
                          <a:latin typeface="Malgun Gothic"/>
                          <a:ea typeface="Malgun Gothic"/>
                          <a:cs typeface="Malgun Gothic"/>
                        </a:rPr>
                        <a:t>파비나페르스프 알파(MPS II, 일본 2021), 뇌실 내 투여(세를리포나아제)</a:t>
                      </a:r>
                    </a:p>
                  </a:txBody>
                  <a:tcPr marL="73152" marR="73152">
                    <a:solidFill>
                      <a:srgbClr val="ECF1F5"/>
                    </a:solidFill>
                  </a:tcPr>
                </a:tc>
                <a:tc>
                  <a:txBody>
                    <a:bodyPr/>
                    <a:lstStyle/>
                    <a:p/>
                  </a:txBody>
                  <a:tcPr marL="73152" marR="73152">
                    <a:solidFill>
                      <a:srgbClr val="ECF1F5"/>
                    </a:solidFill>
                  </a:tcPr>
                </a:tc>
              </a:tr>
              <a:tr h="365760">
                <a:tc>
                  <a:txBody>
                    <a:bodyPr/>
                    <a:lstStyle/>
                    <a:p>
                      <a:r>
                        <a:rPr sz="1100" b="1" i="0">
                          <a:solidFill>
                            <a:srgbClr val="11202B"/>
                          </a:solidFill>
                          <a:latin typeface="Malgun Gothic"/>
                          <a:ea typeface="Malgun Gothic"/>
                          <a:cs typeface="Malgun Gothic"/>
                        </a:rPr>
                        <a:t>기질감소요법(SRT)</a:t>
                      </a:r>
                    </a:p>
                  </a:txBody>
                  <a:tcPr marL="73152" marR="73152">
                    <a:solidFill>
                      <a:srgbClr val="FFFFFF"/>
                    </a:solidFill>
                  </a:tcPr>
                </a:tc>
                <a:tc>
                  <a:txBody>
                    <a:bodyPr/>
                    <a:lstStyle/>
                    <a:p>
                      <a:r>
                        <a:rPr sz="1100" b="0" i="0">
                          <a:solidFill>
                            <a:srgbClr val="11202B"/>
                          </a:solidFill>
                          <a:latin typeface="Malgun Gothic"/>
                          <a:ea typeface="Malgun Gothic"/>
                          <a:cs typeface="Malgun Gothic"/>
                        </a:rPr>
                        <a:t>축적물 합성 억제</a:t>
                      </a:r>
                    </a:p>
                  </a:txBody>
                  <a:tcPr marL="73152" marR="73152">
                    <a:solidFill>
                      <a:srgbClr val="FFFFFF"/>
                    </a:solidFill>
                  </a:tcPr>
                </a:tc>
                <a:tc>
                  <a:txBody>
                    <a:bodyPr/>
                    <a:lstStyle/>
                    <a:p>
                      <a:r>
                        <a:rPr sz="1100" b="1" i="0">
                          <a:solidFill>
                            <a:srgbClr val="11202B"/>
                          </a:solidFill>
                          <a:latin typeface="Malgun Gothic"/>
                          <a:ea typeface="Malgun Gothic"/>
                          <a:cs typeface="Malgun Gothic"/>
                        </a:rPr>
                        <a:t>엘리글루스타트</a:t>
                      </a:r>
                      <a:r>
                        <a:rPr sz="1100" b="0" i="0">
                          <a:solidFill>
                            <a:srgbClr val="11202B"/>
                          </a:solidFill>
                          <a:latin typeface="Malgun Gothic"/>
                          <a:ea typeface="Malgun Gothic"/>
                          <a:cs typeface="Malgun Gothic"/>
                        </a:rPr>
                        <a:t>(글루코실세라마이드 합성효소; CYP2D6 유전형에 따라 용량), 미글루스타트(NPC 신경증상 일부), 벤글루스타트(시험)</a:t>
                      </a:r>
                    </a:p>
                  </a:txBody>
                  <a:tcPr marL="73152" marR="73152">
                    <a:solidFill>
                      <a:srgbClr val="FFFFFF"/>
                    </a:solidFill>
                  </a:tcPr>
                </a:tc>
                <a:tc>
                  <a:txBody>
                    <a:bodyPr/>
                    <a:lstStyle/>
                    <a:p>
                      <a:r>
                        <a:rPr sz="1100" b="0" i="0">
                          <a:solidFill>
                            <a:srgbClr val="11202B"/>
                          </a:solidFill>
                          <a:latin typeface="Malgun Gothic"/>
                          <a:ea typeface="Malgun Gothic"/>
                          <a:cs typeface="Malgun Gothic"/>
                        </a:rPr>
                        <a:t>잔여 효소 필요</a:t>
                      </a:r>
                    </a:p>
                  </a:txBody>
                  <a:tcPr marL="73152" marR="73152">
                    <a:solidFill>
                      <a:srgbClr val="FFFFFF"/>
                    </a:solidFill>
                  </a:tcPr>
                </a:tc>
              </a:tr>
              <a:tr h="365760">
                <a:tc>
                  <a:txBody>
                    <a:bodyPr/>
                    <a:lstStyle/>
                    <a:p>
                      <a:r>
                        <a:rPr sz="1100" b="1" i="0">
                          <a:solidFill>
                            <a:srgbClr val="11202B"/>
                          </a:solidFill>
                          <a:latin typeface="Malgun Gothic"/>
                          <a:ea typeface="Malgun Gothic"/>
                          <a:cs typeface="Malgun Gothic"/>
                        </a:rPr>
                        <a:t>약물 샤페론</a:t>
                      </a:r>
                    </a:p>
                  </a:txBody>
                  <a:tcPr marL="73152" marR="73152">
                    <a:solidFill>
                      <a:srgbClr val="ECF1F5"/>
                    </a:solidFill>
                  </a:tcPr>
                </a:tc>
                <a:tc>
                  <a:txBody>
                    <a:bodyPr/>
                    <a:lstStyle/>
                    <a:p>
                      <a:r>
                        <a:rPr sz="1100" b="0" i="0">
                          <a:solidFill>
                            <a:srgbClr val="11202B"/>
                          </a:solidFill>
                          <a:latin typeface="Malgun Gothic"/>
                          <a:ea typeface="Malgun Gothic"/>
                          <a:cs typeface="Malgun Gothic"/>
                        </a:rPr>
                        <a:t>잘못 접힌 변이 효소의 ER 통과 도움</a:t>
                      </a:r>
                    </a:p>
                  </a:txBody>
                  <a:tcPr marL="73152" marR="73152">
                    <a:solidFill>
                      <a:srgbClr val="ECF1F5"/>
                    </a:solidFill>
                  </a:tcPr>
                </a:tc>
                <a:tc>
                  <a:txBody>
                    <a:bodyPr/>
                    <a:lstStyle/>
                    <a:p>
                      <a:r>
                        <a:rPr sz="1100" b="1" i="0">
                          <a:solidFill>
                            <a:srgbClr val="11202B"/>
                          </a:solidFill>
                          <a:latin typeface="Malgun Gothic"/>
                          <a:ea typeface="Malgun Gothic"/>
                          <a:cs typeface="Malgun Gothic"/>
                        </a:rPr>
                        <a:t>미갈라스타트</a:t>
                      </a:r>
                      <a:r>
                        <a:rPr sz="1100" b="0" i="0">
                          <a:solidFill>
                            <a:srgbClr val="11202B"/>
                          </a:solidFill>
                          <a:latin typeface="Malgun Gothic"/>
                          <a:ea typeface="Malgun Gothic"/>
                          <a:cs typeface="Malgun Gothic"/>
                        </a:rPr>
                        <a:t>(파브리 반응성 변이만 — 시험관 GLP-HEK 분석으로 판정), 암브록솔(GCase 샤페론 시험)</a:t>
                      </a:r>
                    </a:p>
                  </a:txBody>
                  <a:tcPr marL="73152" marR="73152">
                    <a:solidFill>
                      <a:srgbClr val="ECF1F5"/>
                    </a:solidFill>
                  </a:tcPr>
                </a:tc>
                <a:tc>
                  <a:txBody>
                    <a:bodyPr/>
                    <a:lstStyle/>
                    <a:p>
                      <a:r>
                        <a:rPr sz="1100" b="0" i="0">
                          <a:solidFill>
                            <a:srgbClr val="11202B"/>
                          </a:solidFill>
                          <a:latin typeface="Malgun Gothic"/>
                          <a:ea typeface="Malgun Gothic"/>
                          <a:cs typeface="Malgun Gothic"/>
                        </a:rPr>
                        <a:t>변이 특이</a:t>
                      </a:r>
                    </a:p>
                  </a:txBody>
                  <a:tcPr marL="73152" marR="73152">
                    <a:solidFill>
                      <a:srgbClr val="ECF1F5"/>
                    </a:solidFill>
                  </a:tcPr>
                </a:tc>
              </a:tr>
              <a:tr h="365760">
                <a:tc>
                  <a:txBody>
                    <a:bodyPr/>
                    <a:lstStyle/>
                    <a:p>
                      <a:r>
                        <a:rPr sz="1100" b="0" i="0">
                          <a:solidFill>
                            <a:srgbClr val="11202B"/>
                          </a:solidFill>
                          <a:latin typeface="Malgun Gothic"/>
                          <a:ea typeface="Malgun Gothic"/>
                          <a:cs typeface="Malgun Gothic"/>
                        </a:rPr>
                        <a:t>조혈모세포이식(HSCT)</a:t>
                      </a:r>
                    </a:p>
                  </a:txBody>
                  <a:tcPr marL="73152" marR="73152">
                    <a:solidFill>
                      <a:srgbClr val="FFFFFF"/>
                    </a:solidFill>
                  </a:tcPr>
                </a:tc>
                <a:tc>
                  <a:txBody>
                    <a:bodyPr/>
                    <a:lstStyle/>
                    <a:p>
                      <a:r>
                        <a:rPr sz="1100" b="0" i="0">
                          <a:solidFill>
                            <a:srgbClr val="11202B"/>
                          </a:solidFill>
                          <a:latin typeface="Malgun Gothic"/>
                          <a:ea typeface="Malgun Gothic"/>
                          <a:cs typeface="Malgun Gothic"/>
                        </a:rPr>
                        <a:t>공여 세포가 효소 분비, 미세아교세포로 뇌 정착</a:t>
                      </a:r>
                    </a:p>
                  </a:txBody>
                  <a:tcPr marL="73152" marR="73152">
                    <a:solidFill>
                      <a:srgbClr val="FFFFFF"/>
                    </a:solidFill>
                  </a:tcPr>
                </a:tc>
                <a:tc>
                  <a:txBody>
                    <a:bodyPr/>
                    <a:lstStyle/>
                    <a:p>
                      <a:r>
                        <a:rPr sz="1100" b="0" i="0">
                          <a:solidFill>
                            <a:srgbClr val="11202B"/>
                          </a:solidFill>
                          <a:latin typeface="Malgun Gothic"/>
                          <a:ea typeface="Malgun Gothic"/>
                          <a:cs typeface="Malgun Gothic"/>
                        </a:rPr>
                        <a:t>MPS I 헐러(2세 이전 → 인지 보존), 크라베·MLD 증상 전</a:t>
                      </a:r>
                    </a:p>
                  </a:txBody>
                  <a:tcPr marL="73152" marR="73152">
                    <a:solidFill>
                      <a:srgbClr val="FFFFFF"/>
                    </a:solidFill>
                  </a:tcPr>
                </a:tc>
                <a:tc>
                  <a:txBody>
                    <a:bodyPr/>
                    <a:lstStyle/>
                    <a:p>
                      <a:r>
                        <a:rPr sz="1100" b="0" i="0">
                          <a:solidFill>
                            <a:srgbClr val="11202B"/>
                          </a:solidFill>
                          <a:latin typeface="Malgun Gothic"/>
                          <a:ea typeface="Malgun Gothic"/>
                          <a:cs typeface="Malgun Gothic"/>
                        </a:rPr>
                        <a:t>이식 위험, 골격 개선 제한</a:t>
                      </a:r>
                    </a:p>
                  </a:txBody>
                  <a:tcPr marL="73152" marR="73152">
                    <a:solidFill>
                      <a:srgbClr val="FFFFFF"/>
                    </a:solidFill>
                  </a:tcPr>
                </a:tc>
              </a:tr>
              <a:tr h="365760">
                <a:tc>
                  <a:txBody>
                    <a:bodyPr/>
                    <a:lstStyle/>
                    <a:p>
                      <a:r>
                        <a:rPr sz="1100" b="0" i="0">
                          <a:solidFill>
                            <a:srgbClr val="11202B"/>
                          </a:solidFill>
                          <a:latin typeface="Malgun Gothic"/>
                          <a:ea typeface="Malgun Gothic"/>
                          <a:cs typeface="Malgun Gothic"/>
                        </a:rPr>
                        <a:t>렌티바이러스 HSC 유전자치료</a:t>
                      </a:r>
                    </a:p>
                  </a:txBody>
                  <a:tcPr marL="73152" marR="73152">
                    <a:solidFill>
                      <a:srgbClr val="ECF1F5"/>
                    </a:solidFill>
                  </a:tcPr>
                </a:tc>
                <a:tc>
                  <a:txBody>
                    <a:bodyPr/>
                    <a:lstStyle/>
                    <a:p>
                      <a:r>
                        <a:rPr sz="1100" b="0" i="0">
                          <a:solidFill>
                            <a:srgbClr val="11202B"/>
                          </a:solidFill>
                          <a:latin typeface="Malgun Gothic"/>
                          <a:ea typeface="Malgun Gothic"/>
                          <a:cs typeface="Malgun Gothic"/>
                        </a:rPr>
                        <a:t>자가 HSC에 효소 과발현</a:t>
                      </a:r>
                    </a:p>
                  </a:txBody>
                  <a:tcPr marL="73152" marR="73152">
                    <a:solidFill>
                      <a:srgbClr val="ECF1F5"/>
                    </a:solidFill>
                  </a:tcPr>
                </a:tc>
                <a:tc>
                  <a:txBody>
                    <a:bodyPr/>
                    <a:lstStyle/>
                    <a:p>
                      <a:r>
                        <a:rPr sz="1100" b="1" i="0">
                          <a:solidFill>
                            <a:srgbClr val="11202B"/>
                          </a:solidFill>
                          <a:latin typeface="Malgun Gothic"/>
                          <a:ea typeface="Malgun Gothic"/>
                          <a:cs typeface="Malgun Gothic"/>
                        </a:rPr>
                        <a:t>아티다르사진</a:t>
                      </a:r>
                      <a:r>
                        <a:rPr sz="1100" b="0" i="0">
                          <a:solidFill>
                            <a:srgbClr val="11202B"/>
                          </a:solidFill>
                          <a:latin typeface="Malgun Gothic"/>
                          <a:ea typeface="Malgun Gothic"/>
                          <a:cs typeface="Malgun Gothic"/>
                        </a:rPr>
                        <a:t>(MLD, 2022–2024 승인), MPS I·IIIA 시험</a:t>
                      </a:r>
                    </a:p>
                  </a:txBody>
                  <a:tcPr marL="73152" marR="73152">
                    <a:solidFill>
                      <a:srgbClr val="ECF1F5"/>
                    </a:solidFill>
                  </a:tcPr>
                </a:tc>
                <a:tc>
                  <a:txBody>
                    <a:bodyPr/>
                    <a:lstStyle/>
                    <a:p>
                      <a:r>
                        <a:rPr sz="1100" b="0" i="0">
                          <a:solidFill>
                            <a:srgbClr val="11202B"/>
                          </a:solidFill>
                          <a:latin typeface="Malgun Gothic"/>
                          <a:ea typeface="Malgun Gothic"/>
                          <a:cs typeface="Malgun Gothic"/>
                        </a:rPr>
                        <a:t>증상 전 시행 필요</a:t>
                      </a:r>
                    </a:p>
                  </a:txBody>
                  <a:tcPr marL="73152" marR="73152">
                    <a:solidFill>
                      <a:srgbClr val="ECF1F5"/>
                    </a:solidFill>
                  </a:tcPr>
                </a:tc>
              </a:tr>
              <a:tr h="365760">
                <a:tc>
                  <a:txBody>
                    <a:bodyPr/>
                    <a:lstStyle/>
                    <a:p>
                      <a:r>
                        <a:rPr sz="1100" b="0" i="0">
                          <a:solidFill>
                            <a:srgbClr val="11202B"/>
                          </a:solidFill>
                          <a:latin typeface="Malgun Gothic"/>
                          <a:ea typeface="Malgun Gothic"/>
                          <a:cs typeface="Malgun Gothic"/>
                        </a:rPr>
                        <a:t>AAV 유전자치료</a:t>
                      </a:r>
                    </a:p>
                  </a:txBody>
                  <a:tcPr marL="73152" marR="73152">
                    <a:solidFill>
                      <a:srgbClr val="FFFFFF"/>
                    </a:solidFill>
                  </a:tcPr>
                </a:tc>
                <a:tc>
                  <a:txBody>
                    <a:bodyPr/>
                    <a:lstStyle/>
                    <a:p>
                      <a:r>
                        <a:rPr sz="1100" b="0" i="0">
                          <a:solidFill>
                            <a:srgbClr val="11202B"/>
                          </a:solidFill>
                          <a:latin typeface="Malgun Gothic"/>
                          <a:ea typeface="Malgun Gothic"/>
                          <a:cs typeface="Malgun Gothic"/>
                        </a:rPr>
                        <a:t>간·CNS 직접 발현</a:t>
                      </a:r>
                    </a:p>
                  </a:txBody>
                  <a:tcPr marL="73152" marR="73152">
                    <a:solidFill>
                      <a:srgbClr val="FFFFFF"/>
                    </a:solidFill>
                  </a:tcPr>
                </a:tc>
                <a:tc>
                  <a:txBody>
                    <a:bodyPr/>
                    <a:lstStyle/>
                    <a:p>
                      <a:r>
                        <a:rPr sz="1100" b="0" i="0">
                          <a:solidFill>
                            <a:srgbClr val="11202B"/>
                          </a:solidFill>
                          <a:latin typeface="Malgun Gothic"/>
                          <a:ea typeface="Malgun Gothic"/>
                          <a:cs typeface="Malgun Gothic"/>
                        </a:rPr>
                        <a:t>파브리·폼페(간 '공장'), MPS II·IIIA·GM1·CLN 뇌실/척수강 내</a:t>
                      </a:r>
                    </a:p>
                  </a:txBody>
                  <a:tcPr marL="73152" marR="73152">
                    <a:solidFill>
                      <a:srgbClr val="FFFFFF"/>
                    </a:solidFill>
                  </a:tcPr>
                </a:tc>
                <a:tc>
                  <a:txBody>
                    <a:bodyPr/>
                    <a:lstStyle/>
                    <a:p>
                      <a:r>
                        <a:rPr sz="1100" b="0" i="0">
                          <a:solidFill>
                            <a:srgbClr val="11202B"/>
                          </a:solidFill>
                          <a:latin typeface="Malgun Gothic"/>
                          <a:ea typeface="Malgun Gothic"/>
                          <a:cs typeface="Malgun Gothic"/>
                        </a:rPr>
                        <a:t>면역원성, 용량</a:t>
                      </a:r>
                    </a:p>
                  </a:txBody>
                  <a:tcPr marL="73152" marR="73152">
                    <a:solidFill>
                      <a:srgbClr val="FFFFFF"/>
                    </a:solidFill>
                  </a:tcPr>
                </a:tc>
              </a:tr>
              <a:tr h="365760">
                <a:tc>
                  <a:txBody>
                    <a:bodyPr/>
                    <a:lstStyle/>
                    <a:p>
                      <a:r>
                        <a:rPr sz="1100" b="0" i="0">
                          <a:solidFill>
                            <a:srgbClr val="11202B"/>
                          </a:solidFill>
                          <a:latin typeface="Malgun Gothic"/>
                          <a:ea typeface="Malgun Gothic"/>
                          <a:cs typeface="Malgun Gothic"/>
                        </a:rPr>
                        <a:t>기타</a:t>
                      </a:r>
                    </a:p>
                  </a:txBody>
                  <a:tcPr marL="73152" marR="73152">
                    <a:solidFill>
                      <a:srgbClr val="ECF1F5"/>
                    </a:solidFill>
                  </a:tcPr>
                </a:tc>
                <a:tc>
                  <a:txBody>
                    <a:bodyPr/>
                    <a:lstStyle/>
                    <a:p>
                      <a:r>
                        <a:rPr sz="1100" b="0" i="0">
                          <a:solidFill>
                            <a:srgbClr val="11202B"/>
                          </a:solidFill>
                          <a:latin typeface="Malgun Gothic"/>
                          <a:ea typeface="Malgun Gothic"/>
                          <a:cs typeface="Malgun Gothic"/>
                        </a:rPr>
                        <a:t>아릭리모클로몰(NPC; HSP 증폭, 2024 승인), N-아세틸-L-류신(레바세틸류신, NPC 2024 승인), 시스테아민(시스틴증)</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치료 플랫폼</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12</a:t>
            </a:r>
          </a:p>
        </p:txBody>
      </p:sp>
      <p:sp>
        <p:nvSpPr>
          <p:cNvPr id="7" name="Rectangle 6"/>
          <p:cNvSpPr/>
          <p:nvPr/>
        </p:nvSpPr>
        <p:spPr>
          <a:xfrm>
            <a:off x="640080" y="1325880"/>
            <a:ext cx="10881360" cy="22987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신경형 LSD에서 ERT는 말초 증상은 개선하지만 뇌 퇴행은 막지 못한다. 이 '혈액뇌장벽 문제'가 BBB 셔틀 효소, 뇌실 내 투여, HSC 유전자치료, AAV 뇌 직접 투여 개발의 동인이다. 또한 거의 모든 치료가 </a:t>
            </a:r>
            <a:r>
              <a:rPr sz="2000" b="1" i="0">
                <a:solidFill>
                  <a:srgbClr val="11202B"/>
                </a:solidFill>
                <a:latin typeface="Malgun Gothic"/>
                <a:ea typeface="Malgun Gothic"/>
                <a:cs typeface="Malgun Gothic"/>
              </a:rPr>
              <a:t>증상 전</a:t>
            </a:r>
            <a:r>
              <a:rPr sz="2000" b="0" i="0">
                <a:solidFill>
                  <a:srgbClr val="11202B"/>
                </a:solidFill>
                <a:latin typeface="Malgun Gothic"/>
                <a:ea typeface="Malgun Gothic"/>
                <a:cs typeface="Malgun Gothic"/>
              </a:rPr>
              <a:t>에 시작해야 효과가 크므로 신생아 선별이 핵심이 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증례 적용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증례 1</a:t>
            </a:r>
            <a:r>
              <a:rPr sz="1800" b="0" i="0">
                <a:solidFill>
                  <a:srgbClr val="11202B"/>
                </a:solidFill>
                <a:latin typeface="Malgun Gothic"/>
                <a:ea typeface="Malgun Gothic"/>
                <a:cs typeface="Malgun Gothic"/>
              </a:rPr>
              <a:t>: 28세 남성, 손발 작열통(10대부터), 땀이 안 남, 배꼽 주위 적자색 구진, 단백뇨, 심전도 좌심실 비대. → 파브리병(α-Gal A 활성 ↓, lyso-Gb3 ↑, GLA 변이). 가족 연쇄 검사(X연관: 딸 모두 보인자), ERT 또는 반응성 변이면 미갈라스타트. 심장 MRI T1 매핑으로 침범 평가.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증례 2</a:t>
            </a:r>
            <a:r>
              <a:rPr sz="1800" b="0" i="0">
                <a:solidFill>
                  <a:srgbClr val="11202B"/>
                </a:solidFill>
                <a:latin typeface="Malgun Gothic"/>
                <a:ea typeface="Malgun Gothic"/>
                <a:cs typeface="Malgun Gothic"/>
              </a:rPr>
              <a:t>: 3세 남아, 언어 퇴행·과잉행동·수면장애, 경미한 거친 얼굴, 간비대 경도. → MPS III(산필리포; 소변 헤파란 황산↑). 현재 승인 치료 없음 → 임상시험·지지요법·가족 상담. 자폐로 오진되는 경우가 흔하다.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증례 3</a:t>
            </a:r>
            <a:r>
              <a:rPr sz="1800" b="0" i="0">
                <a:solidFill>
                  <a:srgbClr val="11202B"/>
                </a:solidFill>
                <a:latin typeface="Malgun Gothic"/>
                <a:ea typeface="Malgun Gothic"/>
                <a:cs typeface="Malgun Gothic"/>
              </a:rPr>
              <a:t>: 15세, 학업 저하·탈력발작·위로 보기 장애·운동실조, 신생아기 황달 병력. → NPC(옥시스테롤↑, 필리핀 염색, NPC1/2). 미글루스타트·아릭리모클로몰·레바세틸류신.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단일 환자 맞춤 치료(밀라센, CLN7)와 GBA1-파킨슨병(GCase 활성화제 BIA 28-6156, LTI-291; 유전자치료 PR001)이 LSD와 흔한 신경퇴행질환을 잇는 연구 축이다.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리소좀 기능 회복을 위한 TFEB 활성화(트레할로스, mTOR 억제), 리소좀 Ca²⁺ 통로(TRPML1) 작용제 연구가 진행 중이다.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신생아 유전체 선별로 LSD 진단이 더 이르게 가능해지지만, 성인 발병·경증 변이의 해석과 감시 체계 구축이 과제이다.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LSD는 리소좀 효소·수송체·표적화 결함으로 축적물이 쌓이고 자가포식·염증·2차 독성 대사물이 손상을 증폭한다.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고셔·파브리·폼페·MPS·NPC·CLN은 특징적 임상 단서와 생체표지자를 가진다.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진단은 생체표지자 → 효소 활성 → 유전자 검사 순이며, 여성 파브리와 가성결핍 대립유전자에 주의한다.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ERT·SRT·샤페론·HSCT·HSC/AAV 유전자치료가 있으나 혈액뇌장벽과 치료 시기가 핵심 한계이다.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증상 전 진단(신생아 선별)이 신경형 LSD의 결과를 바꾼다.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파브리병 의심 여성 환자의 α-갈락토시다아제 A 활성이 정상 범위였다. 파브리병을 배제할 수 있는가?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배제할 수 없다. X연관 질환이므로 여성 이형접합자는 X 불활성화 모자이크로 인해 혈중 효소 활성이 정상일 수 있다. GLA 유전자 검사와 lyso-Gb3 측정이 필요하며, 여성도 심장·신장·뇌졸중 등 임상 발현이 흔하다.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헐러 증후군(MPS I) 영아에게 ERT만 시행하지 않고 2세 이전 조혈모세포이식을 권하는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재조합 라로니다아제는 혈액뇌장벽을 통과하지 못해 중추신경계 퇴행을 막지 못한다. HSCT 후 공여자 유래 세포가 미세아교세포로 뇌에 정착해 효소를 공급(교차 교정)하므로 인지 기능을 보존할 수 있으며, 효과는 퇴행 이전(대개 2–2.5세 이전) 시행 시 가장 크다. 이식 전후로 ERT를 병용한다.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미갈라스타트가 모든 파브리 환자에게 쓰이지 않는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미갈라스타트는 α-Gal A 활성 부위에 결합해 잘못 접힌 변이 효소의 접힘과 리소좀 수송을 돕는 약물 샤페론이다. 효소가 생성되되 접힘 결함만 있는 '반응성(amenable)' 미스센스 변이에서만 효과가 있고, null 변이나 활성 부위 파괴 변이에서는 효과가 없으므로 시험관 반응성 분석으로 선별한다.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신생아 선별에서 폼페병 효소 활성이 낮게 나왔지만 증상이 없는 영아를 어떻게 평가·관리하는가?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확진(백혈구/섬유모세포 GAA 활성, GAA 유전자 검사)으로 가성결핍 대립유전자(동아시아에 흔한 c.1726G&gt;A 등)를 배제하고, CK·심초음파·심전도로 영아형 여부를 즉시 평가한다. 심근병증이 있으면 영아형으로 즉시 ERT(CRIM 상태 확인)를 시작하고, 없으면 후기 발병형 가능성으로 정기 감시한다.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Platt FM et al. Lysosomal storage diseases. Nat Rev Dis Primers 2018;4:27.</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Parenti G, Medina DL, Ballabio A. The rapidly evolving view of lysosomal storage diseases. EMBO Mol Med 2021;13:e12836.</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Germain DP et al. Treatment of Fabry's disease with the pharmacologic chaperone migalastat. N Engl J Med 2016;375:545–555.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B03-L05  ·  리소좀 축적질환과 치료 플랫폼</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Fumagalli F et al. Lentiviral haematopoietic stem-cell gene therapy for early-onset metachromatic leukodystrophy. Lancet 2022;399:372–383.</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Saudubray JM et al. Inborn Metabolic Diseases, 7th ed. Springer, 2022.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