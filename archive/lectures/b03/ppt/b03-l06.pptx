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6"/>
    <p:sldId id="275" r:id="rId27"/>
    <p:sldId id="276" r:id="rId28"/>
    <p:sldId id="277" r:id="rId29"/>
    <p:sldId id="278" r:id="rId3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notesMaster" Target="notesMasters/notesMaster1.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해설: m.3243A&gt;G는 혈액에서 나이가 들수록 빠르게 분열하는 조혈세포에서 선택적으로 소실되어 실제 조직 부담보다 낮게 측정된다. 소변 상피세포(비율이 높고 비침습적) 또는 근육 조직 검사로 재평가해야 하며, 같은 비율이라도 조직마다 역치가 달라 혈액 수치로 중증도를 판단하기 어렵다.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해설: POLG 관련 알퍼스-후텐로허 증후군에서 발프로산은 미토콘드리아 β-산화·카르니틴 고갈·mtDNA 고갈을 악화시켜 치명적 전격성 간부전을 유발할 수 있다. 원인 미상의 영아 난치성 뇌전증(특히 후두엽 우세, 간기능 이상 동반)에서는 발프로산 투여 전 POLG 검사가 권고된다.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해설: 같은 동형세포질성 변이를 가져도 남성 약 50%, 여성 약 10%만 발병한다. 핵 수정인자(X연관 좌위 가설), 에스트로겐의 미토콘드리아 보호 효과, mtDNA 배경(하플로그룹), 흡연·과음 같은 환경 유발 요인, mtDNA 복사 수가 침투도를 조절한다.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해설: 혈장 VLCFA(C26:0, C26/C22 비 상승), 파이탄산·프리스탄산, 적혈구 플라스말로겐(감소), 혈장 담즙산 중간체(DHCA, THCA 상승), 피페콜산을 측정한다. 이들이 모두 이상이면 퍼옥시좀 형성 장애(젤웨거 스펙트럼)를 시사하며 PEX 유전자 패널로 확진한다.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23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480560"/>
            <a:ext cx="12191695" cy="73152"/>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14400"/>
            <a:ext cx="10698480" cy="548640"/>
          </a:xfrm>
          <a:prstGeom prst="rect">
            <a:avLst/>
          </a:prstGeom>
          <a:noFill/>
        </p:spPr>
        <p:txBody>
          <a:bodyPr wrap="square" anchor="t">
            <a:spAutoFit/>
          </a:bodyPr>
          <a:lstStyle/>
          <a:p>
            <a:r>
              <a:rPr sz="1800" b="1" i="0">
                <a:solidFill>
                  <a:srgbClr val="F2B705"/>
                </a:solidFill>
                <a:latin typeface="Malgun Gothic"/>
                <a:ea typeface="Malgun Gothic"/>
                <a:cs typeface="Malgun Gothic"/>
              </a:rPr>
              <a:t>B03 중개의학과 생화학  ·  유전질환대사</a:t>
            </a:r>
          </a:p>
        </p:txBody>
      </p:sp>
      <p:sp>
        <p:nvSpPr>
          <p:cNvPr id="5" name="TextBox 4"/>
          <p:cNvSpPr txBox="1"/>
          <p:nvPr/>
        </p:nvSpPr>
        <p:spPr>
          <a:xfrm>
            <a:off x="731520" y="1645920"/>
            <a:ext cx="10698480" cy="2011680"/>
          </a:xfrm>
          <a:prstGeom prst="rect">
            <a:avLst/>
          </a:prstGeom>
          <a:noFill/>
        </p:spPr>
        <p:txBody>
          <a:bodyPr wrap="square" anchor="b">
            <a:spAutoFit/>
          </a:bodyPr>
          <a:lstStyle/>
          <a:p>
            <a:r>
              <a:rPr sz="4000" b="1" i="0">
                <a:solidFill>
                  <a:srgbClr val="FFFFFF"/>
                </a:solidFill>
                <a:latin typeface="Malgun Gothic"/>
                <a:ea typeface="Malgun Gothic"/>
                <a:cs typeface="Malgun Gothic"/>
              </a:rPr>
              <a:t>미토콘드리아 질환과 퍼옥시좀 질환</a:t>
            </a:r>
          </a:p>
          <a:p>
            <a:r>
              <a:rPr sz="2000" b="0" i="0">
                <a:solidFill>
                  <a:srgbClr val="C2CDD6"/>
                </a:solidFill>
                <a:latin typeface="Malgun Gothic"/>
                <a:ea typeface="Malgun Gothic"/>
                <a:cs typeface="Malgun Gothic"/>
              </a:rPr>
              <a:t>Mitochondrial and Peroxisomal Disorders</a:t>
            </a:r>
          </a:p>
        </p:txBody>
      </p:sp>
      <p:sp>
        <p:nvSpPr>
          <p:cNvPr id="6" name="TextBox 5"/>
          <p:cNvSpPr txBox="1"/>
          <p:nvPr/>
        </p:nvSpPr>
        <p:spPr>
          <a:xfrm>
            <a:off x="731520" y="4754880"/>
            <a:ext cx="10698480" cy="1097280"/>
          </a:xfrm>
          <a:prstGeom prst="rect">
            <a:avLst/>
          </a:prstGeom>
          <a:noFill/>
        </p:spPr>
        <p:txBody>
          <a:bodyPr wrap="square" anchor="t">
            <a:spAutoFit/>
          </a:bodyPr>
          <a:lstStyle/>
          <a:p>
            <a:r>
              <a:rPr sz="1600" b="1" i="0">
                <a:solidFill>
                  <a:srgbClr val="FFFFFF"/>
                </a:solidFill>
                <a:latin typeface="Malgun Gothic"/>
                <a:ea typeface="Malgun Gothic"/>
                <a:cs typeface="Malgun Gothic"/>
              </a:rPr>
              <a:t>B03-L06</a:t>
            </a:r>
          </a:p>
          <a:p>
            <a:r>
              <a:rPr sz="1400" b="0" i="0">
                <a:solidFill>
                  <a:srgbClr val="C2CDD6"/>
                </a:solidFill>
                <a:latin typeface="Malgun Gothic"/>
                <a:ea typeface="Malgun Gothic"/>
                <a:cs typeface="Malgun Gothic"/>
              </a:rPr>
              <a:t>의학생화학 · 의학분자생물학 · 신경과학 강의록</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GOALS   </a:t>
            </a:r>
            <a:r>
              <a:rPr sz="2600" b="1" i="0">
                <a:solidFill>
                  <a:srgbClr val="FFFFFF"/>
                </a:solidFill>
                <a:latin typeface="Malgun Gothic"/>
                <a:ea typeface="Malgun Gothic"/>
                <a:cs typeface="Malgun Gothic"/>
              </a:rPr>
              <a:t>학습 목표</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B03-L06  ·  미토콘드리아 질환과 퍼옥시좀 질환</a:t>
            </a:r>
            <a:r>
              <a:rPr sz="1000" b="1" i="0">
                <a:solidFill>
                  <a:srgbClr val="003C71"/>
                </a:solidFill>
                <a:latin typeface="Malgun Gothic"/>
                <a:ea typeface="Malgun Gothic"/>
                <a:cs typeface="Malgun Gothic"/>
              </a:rPr>
              <a:t>     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1. </a:t>
            </a:r>
            <a:r>
              <a:rPr sz="2000" b="0" i="0">
                <a:solidFill>
                  <a:srgbClr val="11202B"/>
                </a:solidFill>
                <a:latin typeface="Malgun Gothic"/>
                <a:ea typeface="Malgun Gothic"/>
                <a:cs typeface="Malgun Gothic"/>
              </a:rPr>
              <a:t>미토콘드리아 유전학의 특징(이중 유전체, 이형세포질성, 역치, 병목)을 설명한다.</a:t>
            </a:r>
          </a:p>
          <a:p>
            <a:pPr>
              <a:spcAft>
                <a:spcPts val="800"/>
              </a:spcAft>
            </a:pPr>
            <a:r>
              <a:rPr sz="2000" b="1" i="0">
                <a:solidFill>
                  <a:srgbClr val="003C71"/>
                </a:solidFill>
                <a:latin typeface="Malgun Gothic"/>
                <a:ea typeface="Malgun Gothic"/>
                <a:cs typeface="Malgun Gothic"/>
              </a:rPr>
              <a:t>2. </a:t>
            </a:r>
            <a:r>
              <a:rPr sz="2000" b="0" i="0">
                <a:solidFill>
                  <a:srgbClr val="11202B"/>
                </a:solidFill>
                <a:latin typeface="Malgun Gothic"/>
                <a:ea typeface="Malgun Gothic"/>
                <a:cs typeface="Malgun Gothic"/>
              </a:rPr>
              <a:t>대표 미토콘드리아 증후군(MELAS, MERRF, Leigh, LHON, KSS, POLG 관련 질환)의 임상·분자 특징을 정리한다.</a:t>
            </a:r>
          </a:p>
          <a:p>
            <a:pPr>
              <a:spcAft>
                <a:spcPts val="800"/>
              </a:spcAft>
            </a:pPr>
            <a:r>
              <a:rPr sz="2000" b="1" i="0">
                <a:solidFill>
                  <a:srgbClr val="003C71"/>
                </a:solidFill>
                <a:latin typeface="Malgun Gothic"/>
                <a:ea typeface="Malgun Gothic"/>
                <a:cs typeface="Malgun Gothic"/>
              </a:rPr>
              <a:t>3. </a:t>
            </a:r>
            <a:r>
              <a:rPr sz="2000" b="0" i="0">
                <a:solidFill>
                  <a:srgbClr val="11202B"/>
                </a:solidFill>
                <a:latin typeface="Malgun Gothic"/>
                <a:ea typeface="Malgun Gothic"/>
                <a:cs typeface="Malgun Gothic"/>
              </a:rPr>
              <a:t>미토콘드리아 질환의 진단 흐름(생화학, 영상, 유전체, 조직)과 관리 원칙을 설명한다.</a:t>
            </a:r>
          </a:p>
          <a:p>
            <a:pPr>
              <a:spcAft>
                <a:spcPts val="800"/>
              </a:spcAft>
            </a:pPr>
            <a:r>
              <a:rPr sz="2000" b="1" i="0">
                <a:solidFill>
                  <a:srgbClr val="003C71"/>
                </a:solidFill>
                <a:latin typeface="Malgun Gothic"/>
                <a:ea typeface="Malgun Gothic"/>
                <a:cs typeface="Malgun Gothic"/>
              </a:rPr>
              <a:t>4. </a:t>
            </a:r>
            <a:r>
              <a:rPr sz="2000" b="0" i="0">
                <a:solidFill>
                  <a:srgbClr val="11202B"/>
                </a:solidFill>
                <a:latin typeface="Malgun Gothic"/>
                <a:ea typeface="Malgun Gothic"/>
                <a:cs typeface="Malgun Gothic"/>
              </a:rPr>
              <a:t>퍼옥시좀 기능과 퍼옥시좀 형성 장애·단일 효소 결손의 생화학 지표를 설명한다.</a:t>
            </a:r>
          </a:p>
          <a:p>
            <a:pPr>
              <a:spcAft>
                <a:spcPts val="800"/>
              </a:spcAft>
            </a:pPr>
            <a:r>
              <a:rPr sz="2000" b="1" i="0">
                <a:solidFill>
                  <a:srgbClr val="003C71"/>
                </a:solidFill>
                <a:latin typeface="Malgun Gothic"/>
                <a:ea typeface="Malgun Gothic"/>
                <a:cs typeface="Malgun Gothic"/>
              </a:rPr>
              <a:t>5. </a:t>
            </a:r>
            <a:r>
              <a:rPr sz="2000" b="0" i="0">
                <a:solidFill>
                  <a:srgbClr val="11202B"/>
                </a:solidFill>
                <a:latin typeface="Malgun Gothic"/>
                <a:ea typeface="Malgun Gothic"/>
                <a:cs typeface="Malgun Gothic"/>
              </a:rPr>
              <a:t>미토콘드리아 대체요법과 최신 치료 연구를 이해한다.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OUTLINE   </a:t>
            </a:r>
            <a:r>
              <a:rPr sz="2600" b="1" i="0">
                <a:solidFill>
                  <a:srgbClr val="FFFFFF"/>
                </a:solidFill>
                <a:latin typeface="Malgun Gothic"/>
                <a:ea typeface="Malgun Gothic"/>
                <a:cs typeface="Malgun Gothic"/>
              </a:rPr>
              <a:t>강의 구성</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B03-L06  ·  미토콘드리아 질환과 퍼옥시좀 질환</a:t>
            </a:r>
            <a:r>
              <a:rPr sz="1000" b="1" i="0">
                <a:solidFill>
                  <a:srgbClr val="003C71"/>
                </a:solidFill>
                <a:latin typeface="Malgun Gothic"/>
                <a:ea typeface="Malgun Gothic"/>
                <a:cs typeface="Malgun Gothic"/>
              </a:rPr>
              <a:t>     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1. </a:t>
            </a:r>
            <a:r>
              <a:rPr sz="2200" b="0" i="0">
                <a:solidFill>
                  <a:srgbClr val="11202B"/>
                </a:solidFill>
                <a:latin typeface="Malgun Gothic"/>
                <a:ea typeface="Malgun Gothic"/>
                <a:cs typeface="Malgun Gothic"/>
              </a:rPr>
              <a:t>미토콘드리아 유전학</a:t>
            </a:r>
          </a:p>
          <a:p>
            <a:pPr>
              <a:spcAft>
                <a:spcPts val="800"/>
              </a:spcAft>
            </a:pPr>
            <a:r>
              <a:rPr sz="2200" b="1" i="0">
                <a:solidFill>
                  <a:srgbClr val="003C71"/>
                </a:solidFill>
                <a:latin typeface="Malgun Gothic"/>
                <a:ea typeface="Malgun Gothic"/>
                <a:cs typeface="Malgun Gothic"/>
              </a:rPr>
              <a:t>2. </a:t>
            </a:r>
            <a:r>
              <a:rPr sz="2200" b="0" i="0">
                <a:solidFill>
                  <a:srgbClr val="11202B"/>
                </a:solidFill>
                <a:latin typeface="Malgun Gothic"/>
                <a:ea typeface="Malgun Gothic"/>
                <a:cs typeface="Malgun Gothic"/>
              </a:rPr>
              <a:t>대표 증후군</a:t>
            </a:r>
          </a:p>
          <a:p>
            <a:pPr>
              <a:spcAft>
                <a:spcPts val="800"/>
              </a:spcAft>
            </a:pPr>
            <a:r>
              <a:rPr sz="2200" b="1" i="0">
                <a:solidFill>
                  <a:srgbClr val="003C71"/>
                </a:solidFill>
                <a:latin typeface="Malgun Gothic"/>
                <a:ea typeface="Malgun Gothic"/>
                <a:cs typeface="Malgun Gothic"/>
              </a:rPr>
              <a:t>3. </a:t>
            </a:r>
            <a:r>
              <a:rPr sz="2200" b="0" i="0">
                <a:solidFill>
                  <a:srgbClr val="11202B"/>
                </a:solidFill>
                <a:latin typeface="Malgun Gothic"/>
                <a:ea typeface="Malgun Gothic"/>
                <a:cs typeface="Malgun Gothic"/>
              </a:rPr>
              <a:t>진단 접근</a:t>
            </a:r>
          </a:p>
          <a:p>
            <a:pPr>
              <a:spcAft>
                <a:spcPts val="800"/>
              </a:spcAft>
            </a:pPr>
            <a:r>
              <a:rPr sz="2200" b="1" i="0">
                <a:solidFill>
                  <a:srgbClr val="003C71"/>
                </a:solidFill>
                <a:latin typeface="Malgun Gothic"/>
                <a:ea typeface="Malgun Gothic"/>
                <a:cs typeface="Malgun Gothic"/>
              </a:rPr>
              <a:t>4. </a:t>
            </a:r>
            <a:r>
              <a:rPr sz="2200" b="0" i="0">
                <a:solidFill>
                  <a:srgbClr val="11202B"/>
                </a:solidFill>
                <a:latin typeface="Malgun Gothic"/>
                <a:ea typeface="Malgun Gothic"/>
                <a:cs typeface="Malgun Gothic"/>
              </a:rPr>
              <a:t>관리 원칙</a:t>
            </a:r>
          </a:p>
          <a:p>
            <a:pPr>
              <a:spcAft>
                <a:spcPts val="800"/>
              </a:spcAft>
            </a:pPr>
            <a:r>
              <a:rPr sz="2200" b="1" i="0">
                <a:solidFill>
                  <a:srgbClr val="003C71"/>
                </a:solidFill>
                <a:latin typeface="Malgun Gothic"/>
                <a:ea typeface="Malgun Gothic"/>
                <a:cs typeface="Malgun Gothic"/>
              </a:rPr>
              <a:t>5. </a:t>
            </a:r>
            <a:r>
              <a:rPr sz="2200" b="0" i="0">
                <a:solidFill>
                  <a:srgbClr val="11202B"/>
                </a:solidFill>
                <a:latin typeface="Malgun Gothic"/>
                <a:ea typeface="Malgun Gothic"/>
                <a:cs typeface="Malgun Gothic"/>
              </a:rPr>
              <a:t>미토콘드리아 대체요법(MRT)</a:t>
            </a:r>
          </a:p>
          <a:p>
            <a:pPr>
              <a:spcAft>
                <a:spcPts val="800"/>
              </a:spcAft>
            </a:pPr>
            <a:r>
              <a:rPr sz="2200" b="1" i="0">
                <a:solidFill>
                  <a:srgbClr val="003C71"/>
                </a:solidFill>
                <a:latin typeface="Malgun Gothic"/>
                <a:ea typeface="Malgun Gothic"/>
                <a:cs typeface="Malgun Gothic"/>
              </a:rPr>
              <a:t>6. </a:t>
            </a:r>
            <a:r>
              <a:rPr sz="2200" b="0" i="0">
                <a:solidFill>
                  <a:srgbClr val="11202B"/>
                </a:solidFill>
                <a:latin typeface="Malgun Gothic"/>
                <a:ea typeface="Malgun Gothic"/>
                <a:cs typeface="Malgun Gothic"/>
              </a:rPr>
              <a:t>퍼옥시좀 질환</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01   </a:t>
            </a:r>
            <a:r>
              <a:rPr sz="2600" b="1" i="0">
                <a:solidFill>
                  <a:srgbClr val="FFFFFF"/>
                </a:solidFill>
                <a:latin typeface="Malgun Gothic"/>
                <a:ea typeface="Malgun Gothic"/>
                <a:cs typeface="Malgun Gothic"/>
              </a:rPr>
              <a:t>미토콘드리아 유전학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B03-L06  ·  미토콘드리아 질환과 퍼옥시좀 질환</a:t>
            </a:r>
            <a:r>
              <a:rPr sz="1000" b="1" i="0">
                <a:solidFill>
                  <a:srgbClr val="003C71"/>
                </a:solidFill>
                <a:latin typeface="Malgun Gothic"/>
                <a:ea typeface="Malgun Gothic"/>
                <a:cs typeface="Malgun Gothic"/>
              </a:rPr>
              <a:t>     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미토콘드리아 단백질 약 1,100–1,500개 중 13개만 mtDNA가 부호화(복합체 I 7, III 1, IV 3, V 2) → 미토콘드리아 질환 유전자 약 400개 이상이 </a:t>
            </a:r>
            <a:r>
              <a:rPr sz="1800" b="1" i="0">
                <a:solidFill>
                  <a:srgbClr val="11202B"/>
                </a:solidFill>
                <a:latin typeface="Malgun Gothic"/>
                <a:ea typeface="Malgun Gothic"/>
                <a:cs typeface="Malgun Gothic"/>
              </a:rPr>
              <a:t>핵 유전자</a:t>
            </a:r>
            <a:r>
              <a:rPr sz="1800" b="0" i="0">
                <a:solidFill>
                  <a:srgbClr val="11202B"/>
                </a:solidFill>
                <a:latin typeface="Malgun Gothic"/>
                <a:ea typeface="Malgun Gothic"/>
                <a:cs typeface="Malgun Gothic"/>
              </a:rPr>
              <a:t>(멘델 유전).</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mtDNA 특성: 원형 16.6 kb, 세포당 수백~수천 복사, 모계 유전, 높은 변이율, 수선 제한.</a:t>
            </a:r>
          </a:p>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이형세포질성(heteroplasmy)</a:t>
            </a:r>
            <a:r>
              <a:rPr sz="1800" b="0" i="0">
                <a:solidFill>
                  <a:srgbClr val="11202B"/>
                </a:solidFill>
                <a:latin typeface="Malgun Gothic"/>
                <a:ea typeface="Malgun Gothic"/>
                <a:cs typeface="Malgun Gothic"/>
              </a:rPr>
              <a:t>: 변이·정상 mtDNA 혼재. </a:t>
            </a:r>
            <a:r>
              <a:rPr sz="1800" b="1" i="0">
                <a:solidFill>
                  <a:srgbClr val="11202B"/>
                </a:solidFill>
                <a:latin typeface="Malgun Gothic"/>
                <a:ea typeface="Malgun Gothic"/>
                <a:cs typeface="Malgun Gothic"/>
              </a:rPr>
              <a:t>역치 효과</a:t>
            </a:r>
            <a:r>
              <a:rPr sz="1800" b="0" i="0">
                <a:solidFill>
                  <a:srgbClr val="11202B"/>
                </a:solidFill>
                <a:latin typeface="Malgun Gothic"/>
                <a:ea typeface="Malgun Gothic"/>
                <a:cs typeface="Malgun Gothic"/>
              </a:rPr>
              <a:t>: 변이 비율이 조직별 역치(대개 60–90%) 초과 시 증상. 에너지 요구가 큰 조직(뇌, 망막, 심근, 골격근, 신세뇨관, 내이, 췌장 β세포)이 먼저 침범.</a:t>
            </a:r>
          </a:p>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병목(bottleneck)</a:t>
            </a:r>
            <a:r>
              <a:rPr sz="1800" b="0" i="0">
                <a:solidFill>
                  <a:srgbClr val="11202B"/>
                </a:solidFill>
                <a:latin typeface="Malgun Gothic"/>
                <a:ea typeface="Malgun Gothic"/>
                <a:cs typeface="Malgun Gothic"/>
              </a:rPr>
              <a:t>: 난자 발생 중 mtDNA 수가 급감 후 증폭 → 자녀 간 이형세포질성이 크게 다름 → 재발 위험 예측 어려움.</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01   </a:t>
            </a:r>
            <a:r>
              <a:rPr sz="2600" b="1" i="0">
                <a:solidFill>
                  <a:srgbClr val="FFFFFF"/>
                </a:solidFill>
                <a:latin typeface="Malgun Gothic"/>
                <a:ea typeface="Malgun Gothic"/>
                <a:cs typeface="Malgun Gothic"/>
              </a:rPr>
              <a:t>미토콘드리아 유전학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B03-L06  ·  미토콘드리아 질환과 퍼옥시좀 질환</a:t>
            </a:r>
            <a:r>
              <a:rPr sz="1000" b="1" i="0">
                <a:solidFill>
                  <a:srgbClr val="003C71"/>
                </a:solidFill>
                <a:latin typeface="Malgun Gothic"/>
                <a:ea typeface="Malgun Gothic"/>
                <a:cs typeface="Malgun Gothic"/>
              </a:rPr>
              <a:t>     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조직 간 차이: 혈액에서는 m.3243A&gt;G 비율이 나이에 따라 감소(선택) → </a:t>
            </a:r>
            <a:r>
              <a:rPr sz="2200" b="1" i="0">
                <a:solidFill>
                  <a:srgbClr val="11202B"/>
                </a:solidFill>
                <a:latin typeface="Malgun Gothic"/>
                <a:ea typeface="Malgun Gothic"/>
                <a:cs typeface="Malgun Gothic"/>
              </a:rPr>
              <a:t>소변 상피세포·근육</a:t>
            </a:r>
            <a:r>
              <a:rPr sz="2200" b="0" i="0">
                <a:solidFill>
                  <a:srgbClr val="11202B"/>
                </a:solidFill>
                <a:latin typeface="Malgun Gothic"/>
                <a:ea typeface="Malgun Gothic"/>
                <a:cs typeface="Malgun Gothic"/>
              </a:rPr>
              <a:t> 검사가 더 민감.</a:t>
            </a:r>
          </a:p>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단일 대규모 mtDNA 결실은 대부분 산발성(재발 위험 낮음), 다중 결실·고갈은 핵 유전자(POLG, TWNK, TK2, DGUOK, RRM2B) 결함.</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02   </a:t>
            </a:r>
            <a:r>
              <a:rPr sz="2600" b="1" i="0">
                <a:solidFill>
                  <a:srgbClr val="FFFFFF"/>
                </a:solidFill>
                <a:latin typeface="Malgun Gothic"/>
                <a:ea typeface="Malgun Gothic"/>
                <a:cs typeface="Malgun Gothic"/>
              </a:rPr>
              <a:t>대표 증후군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B03-L06  ·  미토콘드리아 질환과 퍼옥시좀 질환</a:t>
            </a:r>
            <a:r>
              <a:rPr sz="1000" b="1" i="0">
                <a:solidFill>
                  <a:srgbClr val="003C71"/>
                </a:solidFill>
                <a:latin typeface="Malgun Gothic"/>
                <a:ea typeface="Malgun Gothic"/>
                <a:cs typeface="Malgun Gothic"/>
              </a:rPr>
              <a:t>     6</a:t>
            </a:r>
          </a:p>
        </p:txBody>
      </p:sp>
      <p:graphicFrame>
        <p:nvGraphicFramePr>
          <p:cNvPr id="7" name="Table 6"/>
          <p:cNvGraphicFramePr>
            <a:graphicFrameLocks noGrp="1"/>
          </p:cNvGraphicFramePr>
          <p:nvPr/>
        </p:nvGraphicFramePr>
        <p:xfrm>
          <a:off x="548640" y="1280160"/>
          <a:ext cx="11064240" cy="329184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r>
                        <a:rPr sz="1100" b="1" i="0">
                          <a:solidFill>
                            <a:srgbClr val="FFFFFF"/>
                          </a:solidFill>
                          <a:latin typeface="Malgun Gothic"/>
                          <a:ea typeface="Malgun Gothic"/>
                          <a:cs typeface="Malgun Gothic"/>
                        </a:rPr>
                        <a:t>증후군</a:t>
                      </a:r>
                    </a:p>
                  </a:txBody>
                  <a:tcPr marL="73152" marR="73152">
                    <a:solidFill>
                      <a:srgbClr val="003C71"/>
                    </a:solidFill>
                  </a:tcPr>
                </a:tc>
                <a:tc>
                  <a:txBody>
                    <a:bodyPr/>
                    <a:lstStyle/>
                    <a:p>
                      <a:r>
                        <a:rPr sz="1100" b="1" i="0">
                          <a:solidFill>
                            <a:srgbClr val="FFFFFF"/>
                          </a:solidFill>
                          <a:latin typeface="Malgun Gothic"/>
                          <a:ea typeface="Malgun Gothic"/>
                          <a:cs typeface="Malgun Gothic"/>
                        </a:rPr>
                        <a:t>분자</a:t>
                      </a:r>
                    </a:p>
                  </a:txBody>
                  <a:tcPr marL="73152" marR="73152">
                    <a:solidFill>
                      <a:srgbClr val="003C71"/>
                    </a:solidFill>
                  </a:tcPr>
                </a:tc>
                <a:tc>
                  <a:txBody>
                    <a:bodyPr/>
                    <a:lstStyle/>
                    <a:p>
                      <a:r>
                        <a:rPr sz="1100" b="1" i="0">
                          <a:solidFill>
                            <a:srgbClr val="FFFFFF"/>
                          </a:solidFill>
                          <a:latin typeface="Malgun Gothic"/>
                          <a:ea typeface="Malgun Gothic"/>
                          <a:cs typeface="Malgun Gothic"/>
                        </a:rPr>
                        <a:t>임상</a:t>
                      </a:r>
                    </a:p>
                  </a:txBody>
                  <a:tcPr marL="73152" marR="73152">
                    <a:solidFill>
                      <a:srgbClr val="003C71"/>
                    </a:solidFill>
                  </a:tcPr>
                </a:tc>
              </a:tr>
              <a:tr h="365760">
                <a:tc>
                  <a:txBody>
                    <a:bodyPr/>
                    <a:lstStyle/>
                    <a:p>
                      <a:r>
                        <a:rPr sz="1100" b="1" i="0">
                          <a:solidFill>
                            <a:srgbClr val="11202B"/>
                          </a:solidFill>
                          <a:latin typeface="Malgun Gothic"/>
                          <a:ea typeface="Malgun Gothic"/>
                          <a:cs typeface="Malgun Gothic"/>
                        </a:rPr>
                        <a:t>MELAS</a:t>
                      </a:r>
                    </a:p>
                  </a:txBody>
                  <a:tcPr marL="73152" marR="73152">
                    <a:solidFill>
                      <a:srgbClr val="FFFFFF"/>
                    </a:solidFill>
                  </a:tcPr>
                </a:tc>
                <a:tc>
                  <a:txBody>
                    <a:bodyPr/>
                    <a:lstStyle/>
                    <a:p>
                      <a:r>
                        <a:rPr sz="1100" b="0" i="0">
                          <a:solidFill>
                            <a:srgbClr val="11202B"/>
                          </a:solidFill>
                          <a:latin typeface="Malgun Gothic"/>
                          <a:ea typeface="Malgun Gothic"/>
                          <a:cs typeface="Malgun Gothic"/>
                        </a:rPr>
                        <a:t>m.3243A&gt;G MT-TL1 (~80%)</a:t>
                      </a:r>
                    </a:p>
                  </a:txBody>
                  <a:tcPr marL="73152" marR="73152">
                    <a:solidFill>
                      <a:srgbClr val="FFFFFF"/>
                    </a:solidFill>
                  </a:tcPr>
                </a:tc>
                <a:tc>
                  <a:txBody>
                    <a:bodyPr/>
                    <a:lstStyle/>
                    <a:p>
                      <a:r>
                        <a:rPr sz="1100" b="0" i="0">
                          <a:solidFill>
                            <a:srgbClr val="11202B"/>
                          </a:solidFill>
                          <a:latin typeface="Malgun Gothic"/>
                          <a:ea typeface="Malgun Gothic"/>
                          <a:cs typeface="Malgun Gothic"/>
                        </a:rPr>
                        <a:t>뇌졸중 유사 발작(혈관 분포와 불일치, 후두엽 피질), 젖산산증, 경련, 편두통, 저신장, 당뇨·난청(MIDD는 같은 변이의 경증형) → 급성기 </a:t>
                      </a:r>
                      <a:r>
                        <a:rPr sz="1100" b="1" i="0">
                          <a:solidFill>
                            <a:srgbClr val="11202B"/>
                          </a:solidFill>
                          <a:latin typeface="Malgun Gothic"/>
                          <a:ea typeface="Malgun Gothic"/>
                          <a:cs typeface="Malgun Gothic"/>
                        </a:rPr>
                        <a:t>L-아르기닌</a:t>
                      </a:r>
                      <a:r>
                        <a:rPr sz="1100" b="0" i="0">
                          <a:solidFill>
                            <a:srgbClr val="11202B"/>
                          </a:solidFill>
                          <a:latin typeface="Malgun Gothic"/>
                          <a:ea typeface="Malgun Gothic"/>
                          <a:cs typeface="Malgun Gothic"/>
                        </a:rPr>
                        <a:t>·시트룰린</a:t>
                      </a:r>
                    </a:p>
                  </a:txBody>
                  <a:tcPr marL="73152" marR="73152">
                    <a:solidFill>
                      <a:srgbClr val="FFFFFF"/>
                    </a:solidFill>
                  </a:tcPr>
                </a:tc>
              </a:tr>
              <a:tr h="365760">
                <a:tc>
                  <a:txBody>
                    <a:bodyPr/>
                    <a:lstStyle/>
                    <a:p>
                      <a:r>
                        <a:rPr sz="1100" b="1" i="0">
                          <a:solidFill>
                            <a:srgbClr val="11202B"/>
                          </a:solidFill>
                          <a:latin typeface="Malgun Gothic"/>
                          <a:ea typeface="Malgun Gothic"/>
                          <a:cs typeface="Malgun Gothic"/>
                        </a:rPr>
                        <a:t>MERRF</a:t>
                      </a:r>
                    </a:p>
                  </a:txBody>
                  <a:tcPr marL="73152" marR="73152">
                    <a:solidFill>
                      <a:srgbClr val="ECF1F5"/>
                    </a:solidFill>
                  </a:tcPr>
                </a:tc>
                <a:tc>
                  <a:txBody>
                    <a:bodyPr/>
                    <a:lstStyle/>
                    <a:p>
                      <a:r>
                        <a:rPr sz="1100" b="0" i="0">
                          <a:solidFill>
                            <a:srgbClr val="11202B"/>
                          </a:solidFill>
                          <a:latin typeface="Malgun Gothic"/>
                          <a:ea typeface="Malgun Gothic"/>
                          <a:cs typeface="Malgun Gothic"/>
                        </a:rPr>
                        <a:t>m.8344A&gt;G MT-TK</a:t>
                      </a:r>
                    </a:p>
                  </a:txBody>
                  <a:tcPr marL="73152" marR="73152">
                    <a:solidFill>
                      <a:srgbClr val="ECF1F5"/>
                    </a:solidFill>
                  </a:tcPr>
                </a:tc>
                <a:tc>
                  <a:txBody>
                    <a:bodyPr/>
                    <a:lstStyle/>
                    <a:p>
                      <a:r>
                        <a:rPr sz="1100" b="0" i="0">
                          <a:solidFill>
                            <a:srgbClr val="11202B"/>
                          </a:solidFill>
                          <a:latin typeface="Malgun Gothic"/>
                          <a:ea typeface="Malgun Gothic"/>
                          <a:cs typeface="Malgun Gothic"/>
                        </a:rPr>
                        <a:t>근간대 뇌전증, 운동실조, 근병증, </a:t>
                      </a:r>
                      <a:r>
                        <a:rPr sz="1100" b="1" i="0">
                          <a:solidFill>
                            <a:srgbClr val="11202B"/>
                          </a:solidFill>
                          <a:latin typeface="Malgun Gothic"/>
                          <a:ea typeface="Malgun Gothic"/>
                          <a:cs typeface="Malgun Gothic"/>
                        </a:rPr>
                        <a:t>붉은누더기근섬유(RRF)</a:t>
                      </a:r>
                      <a:r>
                        <a:rPr sz="1100" b="0" i="0">
                          <a:solidFill>
                            <a:srgbClr val="11202B"/>
                          </a:solidFill>
                          <a:latin typeface="Malgun Gothic"/>
                          <a:ea typeface="Malgun Gothic"/>
                          <a:cs typeface="Malgun Gothic"/>
                        </a:rPr>
                        <a:t>, 지방종</a:t>
                      </a:r>
                    </a:p>
                  </a:txBody>
                  <a:tcPr marL="73152" marR="73152">
                    <a:solidFill>
                      <a:srgbClr val="ECF1F5"/>
                    </a:solidFill>
                  </a:tcPr>
                </a:tc>
              </a:tr>
              <a:tr h="365760">
                <a:tc>
                  <a:txBody>
                    <a:bodyPr/>
                    <a:lstStyle/>
                    <a:p>
                      <a:r>
                        <a:rPr sz="1100" b="1" i="0">
                          <a:solidFill>
                            <a:srgbClr val="11202B"/>
                          </a:solidFill>
                          <a:latin typeface="Malgun Gothic"/>
                          <a:ea typeface="Malgun Gothic"/>
                          <a:cs typeface="Malgun Gothic"/>
                        </a:rPr>
                        <a:t>Leigh 증후군</a:t>
                      </a:r>
                    </a:p>
                  </a:txBody>
                  <a:tcPr marL="73152" marR="73152">
                    <a:solidFill>
                      <a:srgbClr val="FFFFFF"/>
                    </a:solidFill>
                  </a:tcPr>
                </a:tc>
                <a:tc>
                  <a:txBody>
                    <a:bodyPr/>
                    <a:lstStyle/>
                    <a:p>
                      <a:r>
                        <a:rPr sz="1100" b="0" i="0">
                          <a:solidFill>
                            <a:srgbClr val="11202B"/>
                          </a:solidFill>
                          <a:latin typeface="Malgun Gothic"/>
                          <a:ea typeface="Malgun Gothic"/>
                          <a:cs typeface="Malgun Gothic"/>
                        </a:rPr>
                        <a:t>핵 &gt;100 유전자(SURF1, NDUFS, PDHA1) 또는 mtDNA(m.8993T&gt;G MT-ATP6)</a:t>
                      </a:r>
                    </a:p>
                  </a:txBody>
                  <a:tcPr marL="73152" marR="73152">
                    <a:solidFill>
                      <a:srgbClr val="FFFFFF"/>
                    </a:solidFill>
                  </a:tcPr>
                </a:tc>
                <a:tc>
                  <a:txBody>
                    <a:bodyPr/>
                    <a:lstStyle/>
                    <a:p>
                      <a:r>
                        <a:rPr sz="1100" b="0" i="0">
                          <a:solidFill>
                            <a:srgbClr val="11202B"/>
                          </a:solidFill>
                          <a:latin typeface="Malgun Gothic"/>
                          <a:ea typeface="Malgun Gothic"/>
                          <a:cs typeface="Malgun Gothic"/>
                        </a:rPr>
                        <a:t>영아 퇴행, 호흡 이상, 안구운동 장애; MRI 양측 대칭 기저핵·뇌간 병변; 바이오틴-티아민 반응성 기저핵병(SLC19A3)은 치료 가능</a:t>
                      </a:r>
                    </a:p>
                  </a:txBody>
                  <a:tcPr marL="73152" marR="73152">
                    <a:solidFill>
                      <a:srgbClr val="FFFFFF"/>
                    </a:solidFill>
                  </a:tcPr>
                </a:tc>
              </a:tr>
              <a:tr h="365760">
                <a:tc>
                  <a:txBody>
                    <a:bodyPr/>
                    <a:lstStyle/>
                    <a:p>
                      <a:r>
                        <a:rPr sz="1100" b="1" i="0">
                          <a:solidFill>
                            <a:srgbClr val="11202B"/>
                          </a:solidFill>
                          <a:latin typeface="Malgun Gothic"/>
                          <a:ea typeface="Malgun Gothic"/>
                          <a:cs typeface="Malgun Gothic"/>
                        </a:rPr>
                        <a:t>NARP</a:t>
                      </a:r>
                    </a:p>
                  </a:txBody>
                  <a:tcPr marL="73152" marR="73152">
                    <a:solidFill>
                      <a:srgbClr val="ECF1F5"/>
                    </a:solidFill>
                  </a:tcPr>
                </a:tc>
                <a:tc>
                  <a:txBody>
                    <a:bodyPr/>
                    <a:lstStyle/>
                    <a:p>
                      <a:r>
                        <a:rPr sz="1100" b="0" i="0">
                          <a:solidFill>
                            <a:srgbClr val="11202B"/>
                          </a:solidFill>
                          <a:latin typeface="Malgun Gothic"/>
                          <a:ea typeface="Malgun Gothic"/>
                          <a:cs typeface="Malgun Gothic"/>
                        </a:rPr>
                        <a:t>m.8993T&gt;G (이형세포질성 70–90%)</a:t>
                      </a:r>
                    </a:p>
                  </a:txBody>
                  <a:tcPr marL="73152" marR="73152">
                    <a:solidFill>
                      <a:srgbClr val="ECF1F5"/>
                    </a:solidFill>
                  </a:tcPr>
                </a:tc>
                <a:tc>
                  <a:txBody>
                    <a:bodyPr/>
                    <a:lstStyle/>
                    <a:p>
                      <a:r>
                        <a:rPr sz="1100" b="0" i="0">
                          <a:solidFill>
                            <a:srgbClr val="11202B"/>
                          </a:solidFill>
                          <a:latin typeface="Malgun Gothic"/>
                          <a:ea typeface="Malgun Gothic"/>
                          <a:cs typeface="Malgun Gothic"/>
                        </a:rPr>
                        <a:t>신경병증, 운동실조, 색소성 망막염 (&gt;90%면 Leigh)</a:t>
                      </a:r>
                    </a:p>
                  </a:txBody>
                  <a:tcPr marL="73152" marR="73152">
                    <a:solidFill>
                      <a:srgbClr val="ECF1F5"/>
                    </a:solidFill>
                  </a:tcPr>
                </a:tc>
              </a:tr>
              <a:tr h="365760">
                <a:tc>
                  <a:txBody>
                    <a:bodyPr/>
                    <a:lstStyle/>
                    <a:p>
                      <a:r>
                        <a:rPr sz="1100" b="1" i="0">
                          <a:solidFill>
                            <a:srgbClr val="11202B"/>
                          </a:solidFill>
                          <a:latin typeface="Malgun Gothic"/>
                          <a:ea typeface="Malgun Gothic"/>
                          <a:cs typeface="Malgun Gothic"/>
                        </a:rPr>
                        <a:t>LHON</a:t>
                      </a:r>
                    </a:p>
                  </a:txBody>
                  <a:tcPr marL="73152" marR="73152">
                    <a:solidFill>
                      <a:srgbClr val="FFFFFF"/>
                    </a:solidFill>
                  </a:tcPr>
                </a:tc>
                <a:tc>
                  <a:txBody>
                    <a:bodyPr/>
                    <a:lstStyle/>
                    <a:p>
                      <a:r>
                        <a:rPr sz="1100" b="0" i="0">
                          <a:solidFill>
                            <a:srgbClr val="11202B"/>
                          </a:solidFill>
                          <a:latin typeface="Malgun Gothic"/>
                          <a:ea typeface="Malgun Gothic"/>
                          <a:cs typeface="Malgun Gothic"/>
                        </a:rPr>
                        <a:t>m.11778G&gt;A MT-ND4 (~70%), m.3460, m.14484</a:t>
                      </a:r>
                    </a:p>
                  </a:txBody>
                  <a:tcPr marL="73152" marR="73152">
                    <a:solidFill>
                      <a:srgbClr val="FFFFFF"/>
                    </a:solidFill>
                  </a:tcPr>
                </a:tc>
                <a:tc>
                  <a:txBody>
                    <a:bodyPr/>
                    <a:lstStyle/>
                    <a:p>
                      <a:r>
                        <a:rPr sz="1100" b="0" i="0">
                          <a:solidFill>
                            <a:srgbClr val="11202B"/>
                          </a:solidFill>
                          <a:latin typeface="Malgun Gothic"/>
                          <a:ea typeface="Malgun Gothic"/>
                          <a:cs typeface="Malgun Gothic"/>
                        </a:rPr>
                        <a:t>젊은 남성 무통성 아급성 양안 순차 시력 소실(중심 암점); 불완전 침투(남성 ~50%, 여성 ~10%), 흡연·음주 유발 → </a:t>
                      </a:r>
                      <a:r>
                        <a:rPr sz="1100" b="1" i="0">
                          <a:solidFill>
                            <a:srgbClr val="11202B"/>
                          </a:solidFill>
                          <a:latin typeface="Malgun Gothic"/>
                          <a:ea typeface="Malgun Gothic"/>
                          <a:cs typeface="Malgun Gothic"/>
                        </a:rPr>
                        <a:t>이데베논</a:t>
                      </a:r>
                      <a:r>
                        <a:rPr sz="1100" b="0" i="0">
                          <a:solidFill>
                            <a:srgbClr val="11202B"/>
                          </a:solidFill>
                          <a:latin typeface="Malgun Gothic"/>
                          <a:ea typeface="Malgun Gothic"/>
                          <a:cs typeface="Malgun Gothic"/>
                        </a:rPr>
                        <a:t>, 레니포타진(AAV2-ND4 유리체강 주사)</a:t>
                      </a:r>
                    </a:p>
                  </a:txBody>
                  <a:tcPr marL="73152" marR="73152">
                    <a:solidFill>
                      <a:srgbClr val="FFFFFF"/>
                    </a:solidFill>
                  </a:tcPr>
                </a:tc>
              </a:tr>
              <a:tr h="365760">
                <a:tc>
                  <a:txBody>
                    <a:bodyPr/>
                    <a:lstStyle/>
                    <a:p>
                      <a:r>
                        <a:rPr sz="1100" b="1" i="0">
                          <a:solidFill>
                            <a:srgbClr val="11202B"/>
                          </a:solidFill>
                          <a:latin typeface="Malgun Gothic"/>
                          <a:ea typeface="Malgun Gothic"/>
                          <a:cs typeface="Malgun Gothic"/>
                        </a:rPr>
                        <a:t>KSS / 만성 진행성 외안근마비(CPEO)</a:t>
                      </a:r>
                    </a:p>
                  </a:txBody>
                  <a:tcPr marL="73152" marR="73152">
                    <a:solidFill>
                      <a:srgbClr val="ECF1F5"/>
                    </a:solidFill>
                  </a:tcPr>
                </a:tc>
                <a:tc>
                  <a:txBody>
                    <a:bodyPr/>
                    <a:lstStyle/>
                    <a:p>
                      <a:r>
                        <a:rPr sz="1100" b="0" i="0">
                          <a:solidFill>
                            <a:srgbClr val="11202B"/>
                          </a:solidFill>
                          <a:latin typeface="Malgun Gothic"/>
                          <a:ea typeface="Malgun Gothic"/>
                          <a:cs typeface="Malgun Gothic"/>
                        </a:rPr>
                        <a:t>단일 대규모 mtDNA 결실(산발)</a:t>
                      </a:r>
                    </a:p>
                  </a:txBody>
                  <a:tcPr marL="73152" marR="73152">
                    <a:solidFill>
                      <a:srgbClr val="ECF1F5"/>
                    </a:solidFill>
                  </a:tcPr>
                </a:tc>
                <a:tc>
                  <a:txBody>
                    <a:bodyPr/>
                    <a:lstStyle/>
                    <a:p>
                      <a:r>
                        <a:rPr sz="1100" b="0" i="0">
                          <a:solidFill>
                            <a:srgbClr val="11202B"/>
                          </a:solidFill>
                          <a:latin typeface="Malgun Gothic"/>
                          <a:ea typeface="Malgun Gothic"/>
                          <a:cs typeface="Malgun Gothic"/>
                        </a:rPr>
                        <a:t>20세 전 발병 + 외안근마비 + 색소성 망막병증 + (심장 전도 차단, CSF 단백↑, 소뇌 운동실조) — 심박조율기 필요 가능</a:t>
                      </a:r>
                    </a:p>
                  </a:txBody>
                  <a:tcPr marL="73152" marR="73152">
                    <a:solidFill>
                      <a:srgbClr val="ECF1F5"/>
                    </a:solidFill>
                  </a:tcPr>
                </a:tc>
              </a:tr>
              <a:tr h="365760">
                <a:tc>
                  <a:txBody>
                    <a:bodyPr/>
                    <a:lstStyle/>
                    <a:p>
                      <a:r>
                        <a:rPr sz="1100" b="1" i="0">
                          <a:solidFill>
                            <a:srgbClr val="11202B"/>
                          </a:solidFill>
                          <a:latin typeface="Malgun Gothic"/>
                          <a:ea typeface="Malgun Gothic"/>
                          <a:cs typeface="Malgun Gothic"/>
                        </a:rPr>
                        <a:t>피어슨 증후군</a:t>
                      </a:r>
                    </a:p>
                  </a:txBody>
                  <a:tcPr marL="73152" marR="73152">
                    <a:solidFill>
                      <a:srgbClr val="FFFFFF"/>
                    </a:solidFill>
                  </a:tcPr>
                </a:tc>
                <a:tc>
                  <a:txBody>
                    <a:bodyPr/>
                    <a:lstStyle/>
                    <a:p>
                      <a:r>
                        <a:rPr sz="1100" b="0" i="0">
                          <a:solidFill>
                            <a:srgbClr val="11202B"/>
                          </a:solidFill>
                          <a:latin typeface="Malgun Gothic"/>
                          <a:ea typeface="Malgun Gothic"/>
                          <a:cs typeface="Malgun Gothic"/>
                        </a:rPr>
                        <a:t>같은 결실</a:t>
                      </a:r>
                    </a:p>
                  </a:txBody>
                  <a:tcPr marL="73152" marR="73152">
                    <a:solidFill>
                      <a:srgbClr val="FFFFFF"/>
                    </a:solidFill>
                  </a:tcPr>
                </a:tc>
                <a:tc>
                  <a:txBody>
                    <a:bodyPr/>
                    <a:lstStyle/>
                    <a:p>
                      <a:r>
                        <a:rPr sz="1100" b="0" i="0">
                          <a:solidFill>
                            <a:srgbClr val="11202B"/>
                          </a:solidFill>
                          <a:latin typeface="Malgun Gothic"/>
                          <a:ea typeface="Malgun Gothic"/>
                          <a:cs typeface="Malgun Gothic"/>
                        </a:rPr>
                        <a:t>영아 철모구빈혈 + 췌장 외분비 부전 → 생존 시 KSS로 진행</a:t>
                      </a:r>
                    </a:p>
                  </a:txBody>
                  <a:tcPr marL="73152" marR="73152">
                    <a:solidFill>
                      <a:srgbClr val="FFFFFF"/>
                    </a:solidFill>
                  </a:tcPr>
                </a:tc>
              </a:tr>
              <a:tr h="365760">
                <a:tc>
                  <a:txBody>
                    <a:bodyPr/>
                    <a:lstStyle/>
                    <a:p>
                      <a:r>
                        <a:rPr sz="1100" b="1" i="0">
                          <a:solidFill>
                            <a:srgbClr val="11202B"/>
                          </a:solidFill>
                          <a:latin typeface="Malgun Gothic"/>
                          <a:ea typeface="Malgun Gothic"/>
                          <a:cs typeface="Malgun Gothic"/>
                        </a:rPr>
                        <a:t>POLG 관련 질환</a:t>
                      </a:r>
                    </a:p>
                  </a:txBody>
                  <a:tcPr marL="73152" marR="73152">
                    <a:solidFill>
                      <a:srgbClr val="ECF1F5"/>
                    </a:solidFill>
                  </a:tcPr>
                </a:tc>
                <a:tc>
                  <a:txBody>
                    <a:bodyPr/>
                    <a:lstStyle/>
                    <a:p>
                      <a:r>
                        <a:rPr sz="1100" b="0" i="0">
                          <a:solidFill>
                            <a:srgbClr val="11202B"/>
                          </a:solidFill>
                          <a:latin typeface="Malgun Gothic"/>
                          <a:ea typeface="Malgun Gothic"/>
                          <a:cs typeface="Malgun Gothic"/>
                        </a:rPr>
                        <a:t>POLG (AR/AD)</a:t>
                      </a:r>
                    </a:p>
                  </a:txBody>
                  <a:tcPr marL="73152" marR="73152">
                    <a:solidFill>
                      <a:srgbClr val="ECF1F5"/>
                    </a:solidFill>
                  </a:tcPr>
                </a:tc>
                <a:tc>
                  <a:txBody>
                    <a:bodyPr/>
                    <a:lstStyle/>
                    <a:p>
                      <a:r>
                        <a:rPr sz="1100" b="0" i="0">
                          <a:solidFill>
                            <a:srgbClr val="11202B"/>
                          </a:solidFill>
                          <a:latin typeface="Malgun Gothic"/>
                          <a:ea typeface="Malgun Gothic"/>
                          <a:cs typeface="Malgun Gothic"/>
                        </a:rPr>
                        <a:t>알퍼스-후텐로허(영아 난치성 뇌전증 + 간부전; </a:t>
                      </a:r>
                      <a:r>
                        <a:rPr sz="1100" b="1" i="0">
                          <a:solidFill>
                            <a:srgbClr val="11202B"/>
                          </a:solidFill>
                          <a:latin typeface="Malgun Gothic"/>
                          <a:ea typeface="Malgun Gothic"/>
                          <a:cs typeface="Malgun Gothic"/>
                        </a:rPr>
                        <a:t>발프로산 금기</a:t>
                      </a:r>
                      <a:r>
                        <a:rPr sz="1100" b="0" i="0">
                          <a:solidFill>
                            <a:srgbClr val="11202B"/>
                          </a:solidFill>
                          <a:latin typeface="Malgun Gothic"/>
                          <a:ea typeface="Malgun Gothic"/>
                          <a:cs typeface="Malgun Gothic"/>
                        </a:rPr>
                        <a:t> — 치명적 간부전), MEMSA, SANDO, PEO</a:t>
                      </a:r>
                    </a:p>
                  </a:txBody>
                  <a:tcPr marL="73152" marR="73152">
                    <a:solidFill>
                      <a:srgbClr val="ECF1F5"/>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02   </a:t>
            </a:r>
            <a:r>
              <a:rPr sz="2600" b="1" i="0">
                <a:solidFill>
                  <a:srgbClr val="FFFFFF"/>
                </a:solidFill>
                <a:latin typeface="Malgun Gothic"/>
                <a:ea typeface="Malgun Gothic"/>
                <a:cs typeface="Malgun Gothic"/>
              </a:rPr>
              <a:t>대표 증후군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B03-L06  ·  미토콘드리아 질환과 퍼옥시좀 질환</a:t>
            </a:r>
            <a:r>
              <a:rPr sz="1000" b="1" i="0">
                <a:solidFill>
                  <a:srgbClr val="003C71"/>
                </a:solidFill>
                <a:latin typeface="Malgun Gothic"/>
                <a:ea typeface="Malgun Gothic"/>
                <a:cs typeface="Malgun Gothic"/>
              </a:rPr>
              <a:t>     7</a:t>
            </a:r>
          </a:p>
        </p:txBody>
      </p:sp>
      <p:graphicFrame>
        <p:nvGraphicFramePr>
          <p:cNvPr id="7" name="Table 6"/>
          <p:cNvGraphicFramePr>
            <a:graphicFrameLocks noGrp="1"/>
          </p:cNvGraphicFramePr>
          <p:nvPr/>
        </p:nvGraphicFramePr>
        <p:xfrm>
          <a:off x="548640" y="1280160"/>
          <a:ext cx="11064240" cy="146304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r>
                        <a:rPr sz="1500" b="1" i="0">
                          <a:solidFill>
                            <a:srgbClr val="FFFFFF"/>
                          </a:solidFill>
                          <a:latin typeface="Malgun Gothic"/>
                          <a:ea typeface="Malgun Gothic"/>
                          <a:cs typeface="Malgun Gothic"/>
                        </a:rPr>
                        <a:t>증후군</a:t>
                      </a:r>
                    </a:p>
                  </a:txBody>
                  <a:tcPr marL="73152" marR="73152">
                    <a:solidFill>
                      <a:srgbClr val="003C71"/>
                    </a:solidFill>
                  </a:tcPr>
                </a:tc>
                <a:tc>
                  <a:txBody>
                    <a:bodyPr/>
                    <a:lstStyle/>
                    <a:p>
                      <a:r>
                        <a:rPr sz="1500" b="1" i="0">
                          <a:solidFill>
                            <a:srgbClr val="FFFFFF"/>
                          </a:solidFill>
                          <a:latin typeface="Malgun Gothic"/>
                          <a:ea typeface="Malgun Gothic"/>
                          <a:cs typeface="Malgun Gothic"/>
                        </a:rPr>
                        <a:t>분자</a:t>
                      </a:r>
                    </a:p>
                  </a:txBody>
                  <a:tcPr marL="73152" marR="73152">
                    <a:solidFill>
                      <a:srgbClr val="003C71"/>
                    </a:solidFill>
                  </a:tcPr>
                </a:tc>
                <a:tc>
                  <a:txBody>
                    <a:bodyPr/>
                    <a:lstStyle/>
                    <a:p>
                      <a:r>
                        <a:rPr sz="1500" b="1" i="0">
                          <a:solidFill>
                            <a:srgbClr val="FFFFFF"/>
                          </a:solidFill>
                          <a:latin typeface="Malgun Gothic"/>
                          <a:ea typeface="Malgun Gothic"/>
                          <a:cs typeface="Malgun Gothic"/>
                        </a:rPr>
                        <a:t>임상</a:t>
                      </a:r>
                    </a:p>
                  </a:txBody>
                  <a:tcPr marL="73152" marR="73152">
                    <a:solidFill>
                      <a:srgbClr val="003C71"/>
                    </a:solidFill>
                  </a:tcPr>
                </a:tc>
              </a:tr>
              <a:tr h="365760">
                <a:tc>
                  <a:txBody>
                    <a:bodyPr/>
                    <a:lstStyle/>
                    <a:p>
                      <a:r>
                        <a:rPr sz="1500" b="0" i="0">
                          <a:solidFill>
                            <a:srgbClr val="11202B"/>
                          </a:solidFill>
                          <a:latin typeface="Malgun Gothic"/>
                          <a:ea typeface="Malgun Gothic"/>
                          <a:cs typeface="Malgun Gothic"/>
                        </a:rPr>
                        <a:t>mtDNA 고갈 증후군</a:t>
                      </a:r>
                    </a:p>
                  </a:txBody>
                  <a:tcPr marL="73152" marR="73152">
                    <a:solidFill>
                      <a:srgbClr val="FFFFFF"/>
                    </a:solidFill>
                  </a:tcPr>
                </a:tc>
                <a:tc>
                  <a:txBody>
                    <a:bodyPr/>
                    <a:lstStyle/>
                    <a:p>
                      <a:r>
                        <a:rPr sz="1500" b="0" i="0">
                          <a:solidFill>
                            <a:srgbClr val="11202B"/>
                          </a:solidFill>
                          <a:latin typeface="Malgun Gothic"/>
                          <a:ea typeface="Malgun Gothic"/>
                          <a:cs typeface="Malgun Gothic"/>
                        </a:rPr>
                        <a:t>TK2(근병증형), DGUOK·MPV17(간뇌형)</a:t>
                      </a:r>
                    </a:p>
                  </a:txBody>
                  <a:tcPr marL="73152" marR="73152">
                    <a:solidFill>
                      <a:srgbClr val="FFFFFF"/>
                    </a:solidFill>
                  </a:tcPr>
                </a:tc>
                <a:tc>
                  <a:txBody>
                    <a:bodyPr/>
                    <a:lstStyle/>
                    <a:p>
                      <a:r>
                        <a:rPr sz="1500" b="0" i="0">
                          <a:solidFill>
                            <a:srgbClr val="11202B"/>
                          </a:solidFill>
                          <a:latin typeface="Malgun Gothic"/>
                          <a:ea typeface="Malgun Gothic"/>
                          <a:cs typeface="Malgun Gothic"/>
                        </a:rPr>
                        <a:t>TK2 → 뉴클레오사이드 치료(</a:t>
                      </a:r>
                      <a:r>
                        <a:rPr sz="1500" b="1" i="0">
                          <a:solidFill>
                            <a:srgbClr val="11202B"/>
                          </a:solidFill>
                          <a:latin typeface="Malgun Gothic"/>
                          <a:ea typeface="Malgun Gothic"/>
                          <a:cs typeface="Malgun Gothic"/>
                        </a:rPr>
                        <a:t>독세시틴·독스리브티민</a:t>
                      </a:r>
                      <a:r>
                        <a:rPr sz="1500" b="0" i="0">
                          <a:solidFill>
                            <a:srgbClr val="11202B"/>
                          </a:solidFill>
                          <a:latin typeface="Malgun Gothic"/>
                          <a:ea typeface="Malgun Gothic"/>
                          <a:cs typeface="Malgun Gothic"/>
                        </a:rPr>
                        <a:t>, 2024–2025 개발)</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아미노글리코사이드 난청</a:t>
                      </a:r>
                    </a:p>
                  </a:txBody>
                  <a:tcPr marL="73152" marR="73152">
                    <a:solidFill>
                      <a:srgbClr val="ECF1F5"/>
                    </a:solidFill>
                  </a:tcPr>
                </a:tc>
                <a:tc>
                  <a:txBody>
                    <a:bodyPr/>
                    <a:lstStyle/>
                    <a:p>
                      <a:r>
                        <a:rPr sz="1500" b="0" i="0">
                          <a:solidFill>
                            <a:srgbClr val="11202B"/>
                          </a:solidFill>
                          <a:latin typeface="Malgun Gothic"/>
                          <a:ea typeface="Malgun Gothic"/>
                          <a:cs typeface="Malgun Gothic"/>
                        </a:rPr>
                        <a:t>m.1555A&gt;G MT-RNR1</a:t>
                      </a:r>
                    </a:p>
                  </a:txBody>
                  <a:tcPr marL="73152" marR="73152">
                    <a:solidFill>
                      <a:srgbClr val="ECF1F5"/>
                    </a:solidFill>
                  </a:tcPr>
                </a:tc>
                <a:tc>
                  <a:txBody>
                    <a:bodyPr/>
                    <a:lstStyle/>
                    <a:p>
                      <a:r>
                        <a:rPr sz="1500" b="0" i="0">
                          <a:solidFill>
                            <a:srgbClr val="11202B"/>
                          </a:solidFill>
                          <a:latin typeface="Malgun Gothic"/>
                          <a:ea typeface="Malgun Gothic"/>
                          <a:cs typeface="Malgun Gothic"/>
                        </a:rPr>
                        <a:t>단회 투여로도 비가역 난청 → 신생아 중환자실 신속 유전형 검사(영국 PALOH)</a:t>
                      </a:r>
                    </a:p>
                  </a:txBody>
                  <a:tcPr marL="73152" marR="73152">
                    <a:solidFill>
                      <a:srgbClr val="ECF1F5"/>
                    </a:solidFill>
                  </a:tcPr>
                </a:tc>
              </a:tr>
              <a:tr h="365760">
                <a:tc>
                  <a:txBody>
                    <a:bodyPr/>
                    <a:lstStyle/>
                    <a:p>
                      <a:r>
                        <a:rPr sz="1500" b="0" i="0">
                          <a:solidFill>
                            <a:srgbClr val="11202B"/>
                          </a:solidFill>
                          <a:latin typeface="Malgun Gothic"/>
                          <a:ea typeface="Malgun Gothic"/>
                          <a:cs typeface="Malgun Gothic"/>
                        </a:rPr>
                        <a:t>일차 CoQ10 결핍</a:t>
                      </a:r>
                    </a:p>
                  </a:txBody>
                  <a:tcPr marL="73152" marR="73152">
                    <a:solidFill>
                      <a:srgbClr val="FFFFFF"/>
                    </a:solidFill>
                  </a:tcPr>
                </a:tc>
                <a:tc>
                  <a:txBody>
                    <a:bodyPr/>
                    <a:lstStyle/>
                    <a:p>
                      <a:r>
                        <a:rPr sz="1500" b="0" i="0">
                          <a:solidFill>
                            <a:srgbClr val="11202B"/>
                          </a:solidFill>
                          <a:latin typeface="Malgun Gothic"/>
                          <a:ea typeface="Malgun Gothic"/>
                          <a:cs typeface="Malgun Gothic"/>
                        </a:rPr>
                        <a:t>COQ2, COQ8A 등</a:t>
                      </a:r>
                    </a:p>
                  </a:txBody>
                  <a:tcPr marL="73152" marR="73152">
                    <a:solidFill>
                      <a:srgbClr val="FFFFFF"/>
                    </a:solidFill>
                  </a:tcPr>
                </a:tc>
                <a:tc>
                  <a:txBody>
                    <a:bodyPr/>
                    <a:lstStyle/>
                    <a:p>
                      <a:r>
                        <a:rPr sz="1500" b="0" i="0">
                          <a:solidFill>
                            <a:srgbClr val="11202B"/>
                          </a:solidFill>
                          <a:latin typeface="Malgun Gothic"/>
                          <a:ea typeface="Malgun Gothic"/>
                          <a:cs typeface="Malgun Gothic"/>
                        </a:rPr>
                        <a:t>스테로이드 저항성 신증후군, 운동실조 → </a:t>
                      </a:r>
                      <a:r>
                        <a:rPr sz="1500" b="1" i="0">
                          <a:solidFill>
                            <a:srgbClr val="11202B"/>
                          </a:solidFill>
                          <a:latin typeface="Malgun Gothic"/>
                          <a:ea typeface="Malgun Gothic"/>
                          <a:cs typeface="Malgun Gothic"/>
                        </a:rPr>
                        <a:t>고용량 CoQ10</a:t>
                      </a:r>
                      <a:r>
                        <a:rPr sz="1500" b="0" i="0">
                          <a:solidFill>
                            <a:srgbClr val="11202B"/>
                          </a:solidFill>
                          <a:latin typeface="Malgun Gothic"/>
                          <a:ea typeface="Malgun Gothic"/>
                          <a:cs typeface="Malgun Gothic"/>
                        </a:rPr>
                        <a:t>(치료 가능)</a:t>
                      </a:r>
                    </a:p>
                  </a:txBody>
                  <a:tcPr marL="73152" marR="73152">
                    <a:solidFill>
                      <a:srgbClr val="FFFFFF"/>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03   </a:t>
            </a:r>
            <a:r>
              <a:rPr sz="2600" b="1" i="0">
                <a:solidFill>
                  <a:srgbClr val="FFFFFF"/>
                </a:solidFill>
                <a:latin typeface="Malgun Gothic"/>
                <a:ea typeface="Malgun Gothic"/>
                <a:cs typeface="Malgun Gothic"/>
              </a:rPr>
              <a:t>진단 접근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B03-L06  ·  미토콘드리아 질환과 퍼옥시좀 질환</a:t>
            </a:r>
            <a:r>
              <a:rPr sz="1000" b="1" i="0">
                <a:solidFill>
                  <a:srgbClr val="003C71"/>
                </a:solidFill>
                <a:latin typeface="Malgun Gothic"/>
                <a:ea typeface="Malgun Gothic"/>
                <a:cs typeface="Malgun Gothic"/>
              </a:rPr>
              <a:t>     8</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임상 의심: 서로 무관해 보이는 다장기 침범('2개 이상 장기 + 진행성'), 모계 가족력, 영아 퇴행, 비전형 뇌졸중, 외안근마비, 난청 + 당뇨, 젖산산증.</a:t>
            </a:r>
          </a:p>
          <a:p>
            <a:pPr>
              <a:spcAft>
                <a:spcPts val="800"/>
              </a:spcAft>
            </a:pPr>
            <a:r>
              <a:rPr sz="2000" b="1" i="0">
                <a:solidFill>
                  <a:srgbClr val="003C71"/>
                </a:solidFill>
                <a:latin typeface="Malgun Gothic"/>
                <a:ea typeface="Malgun Gothic"/>
                <a:cs typeface="Malgun Gothic"/>
              </a:rPr>
              <a:t>▪ </a:t>
            </a:r>
            <a:r>
              <a:rPr sz="2000" b="1" i="0">
                <a:solidFill>
                  <a:srgbClr val="11202B"/>
                </a:solidFill>
                <a:latin typeface="Malgun Gothic"/>
                <a:ea typeface="Malgun Gothic"/>
                <a:cs typeface="Malgun Gothic"/>
              </a:rPr>
              <a:t>생화학</a:t>
            </a:r>
            <a:r>
              <a:rPr sz="2000" b="0" i="0">
                <a:solidFill>
                  <a:srgbClr val="11202B"/>
                </a:solidFill>
                <a:latin typeface="Malgun Gothic"/>
                <a:ea typeface="Malgun Gothic"/>
                <a:cs typeface="Malgun Gothic"/>
              </a:rPr>
              <a:t>: 혈장 젖산·피루브산(L/P 비 &gt;25; 채혈 주의), 알라닌↑(&gt;450 µM), 혈장 아미노산·아실카르니틴, 소변 유기산(TCA 중간산물, 3-메틸글루타코닌산), CSF 젖산(뇌 국한 질환에서 민감), </a:t>
            </a:r>
            <a:r>
              <a:rPr sz="2000" b="1" i="0">
                <a:solidFill>
                  <a:srgbClr val="11202B"/>
                </a:solidFill>
                <a:latin typeface="Malgun Gothic"/>
                <a:ea typeface="Malgun Gothic"/>
                <a:cs typeface="Malgun Gothic"/>
              </a:rPr>
              <a:t>GDF-15·FGF21</a:t>
            </a:r>
            <a:r>
              <a:rPr sz="2000" b="0" i="0">
                <a:solidFill>
                  <a:srgbClr val="11202B"/>
                </a:solidFill>
                <a:latin typeface="Malgun Gothic"/>
                <a:ea typeface="Malgun Gothic"/>
                <a:cs typeface="Malgun Gothic"/>
              </a:rPr>
              <a:t>(근육 미토콘드리아 질환 생체표지자; GDF-15가 더 민감).</a:t>
            </a:r>
          </a:p>
          <a:p>
            <a:pPr>
              <a:spcAft>
                <a:spcPts val="800"/>
              </a:spcAft>
            </a:pPr>
            <a:r>
              <a:rPr sz="2000" b="1" i="0">
                <a:solidFill>
                  <a:srgbClr val="003C71"/>
                </a:solidFill>
                <a:latin typeface="Malgun Gothic"/>
                <a:ea typeface="Malgun Gothic"/>
                <a:cs typeface="Malgun Gothic"/>
              </a:rPr>
              <a:t>▪ </a:t>
            </a:r>
            <a:r>
              <a:rPr sz="2000" b="1" i="0">
                <a:solidFill>
                  <a:srgbClr val="11202B"/>
                </a:solidFill>
                <a:latin typeface="Malgun Gothic"/>
                <a:ea typeface="Malgun Gothic"/>
                <a:cs typeface="Malgun Gothic"/>
              </a:rPr>
              <a:t>영상</a:t>
            </a:r>
            <a:r>
              <a:rPr sz="2000" b="0" i="0">
                <a:solidFill>
                  <a:srgbClr val="11202B"/>
                </a:solidFill>
                <a:latin typeface="Malgun Gothic"/>
                <a:ea typeface="Malgun Gothic"/>
                <a:cs typeface="Malgun Gothic"/>
              </a:rPr>
              <a:t>: MRI(대칭 기저핵, 뇌졸중 유사 병변이 혈관 영역 무시), MR 분광 젖산 피크(1.3 ppm 이중선).</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03   </a:t>
            </a:r>
            <a:r>
              <a:rPr sz="2600" b="1" i="0">
                <a:solidFill>
                  <a:srgbClr val="FFFFFF"/>
                </a:solidFill>
                <a:latin typeface="Malgun Gothic"/>
                <a:ea typeface="Malgun Gothic"/>
                <a:cs typeface="Malgun Gothic"/>
              </a:rPr>
              <a:t>진단 접근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B03-L06  ·  미토콘드리아 질환과 퍼옥시좀 질환</a:t>
            </a:r>
            <a:r>
              <a:rPr sz="1000" b="1" i="0">
                <a:solidFill>
                  <a:srgbClr val="003C71"/>
                </a:solidFill>
                <a:latin typeface="Malgun Gothic"/>
                <a:ea typeface="Malgun Gothic"/>
                <a:cs typeface="Malgun Gothic"/>
              </a:rPr>
              <a:t>     9</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 </a:t>
            </a:r>
            <a:r>
              <a:rPr sz="2200" b="1" i="0">
                <a:solidFill>
                  <a:srgbClr val="11202B"/>
                </a:solidFill>
                <a:latin typeface="Malgun Gothic"/>
                <a:ea typeface="Malgun Gothic"/>
                <a:cs typeface="Malgun Gothic"/>
              </a:rPr>
              <a:t>유전체 우선(genomics-first)</a:t>
            </a:r>
            <a:r>
              <a:rPr sz="2200" b="0" i="0">
                <a:solidFill>
                  <a:srgbClr val="11202B"/>
                </a:solidFill>
                <a:latin typeface="Malgun Gothic"/>
                <a:ea typeface="Malgun Gothic"/>
                <a:cs typeface="Malgun Gothic"/>
              </a:rPr>
              <a:t>: 혈액 mtDNA 전장 + 핵 엑솜/유전체 → 진단 못하면 근육·소변 mtDNA, 근생검(RRF, COX 음성 섬유, SDH 강염색 혈관), 호흡사슬 효소 분석, 섬유모세포 산소 소비율(Seahorse).</a:t>
            </a:r>
          </a:p>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감별: 다발성 경화증, 혈관염, 다른 대사질환, 뇌전증 증후군.</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04   </a:t>
            </a:r>
            <a:r>
              <a:rPr sz="2600" b="1" i="0">
                <a:solidFill>
                  <a:srgbClr val="FFFFFF"/>
                </a:solidFill>
                <a:latin typeface="Malgun Gothic"/>
                <a:ea typeface="Malgun Gothic"/>
                <a:cs typeface="Malgun Gothic"/>
              </a:rPr>
              <a:t>관리 원칙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B03-L06  ·  미토콘드리아 질환과 퍼옥시좀 질환</a:t>
            </a:r>
            <a:r>
              <a:rPr sz="1000" b="1" i="0">
                <a:solidFill>
                  <a:srgbClr val="003C71"/>
                </a:solidFill>
                <a:latin typeface="Malgun Gothic"/>
                <a:ea typeface="Malgun Gothic"/>
                <a:cs typeface="Malgun Gothic"/>
              </a:rPr>
              <a:t>     10</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근본 치료가 대부분 없으므로 </a:t>
            </a:r>
            <a:r>
              <a:rPr sz="2000" b="1" i="0">
                <a:solidFill>
                  <a:srgbClr val="11202B"/>
                </a:solidFill>
                <a:latin typeface="Malgun Gothic"/>
                <a:ea typeface="Malgun Gothic"/>
                <a:cs typeface="Malgun Gothic"/>
              </a:rPr>
              <a:t>다학제 감시와 합병증 예방</a:t>
            </a:r>
            <a:r>
              <a:rPr sz="2000" b="0" i="0">
                <a:solidFill>
                  <a:srgbClr val="11202B"/>
                </a:solidFill>
                <a:latin typeface="Malgun Gothic"/>
                <a:ea typeface="Malgun Gothic"/>
                <a:cs typeface="Malgun Gothic"/>
              </a:rPr>
              <a:t>이 핵심:</a:t>
            </a:r>
          </a:p>
          <a:p>
            <a:pPr lvl="1">
              <a:spcAft>
                <a:spcPts val="400"/>
              </a:spcAft>
            </a:pPr>
            <a:r>
              <a:rPr sz="1800" b="0" i="0">
                <a:solidFill>
                  <a:srgbClr val="66788A"/>
                </a:solidFill>
                <a:latin typeface="Malgun Gothic"/>
                <a:ea typeface="Malgun Gothic"/>
                <a:cs typeface="Malgun Gothic"/>
              </a:rPr>
              <a:t>    – </a:t>
            </a:r>
            <a:r>
              <a:rPr sz="1800" b="0" i="0">
                <a:solidFill>
                  <a:srgbClr val="2E3F4C"/>
                </a:solidFill>
                <a:latin typeface="Malgun Gothic"/>
                <a:ea typeface="Malgun Gothic"/>
                <a:cs typeface="Malgun Gothic"/>
              </a:rPr>
              <a:t>심장(전도 차단·심근병증): 심전도·심초음파 정기.</a:t>
            </a:r>
          </a:p>
          <a:p>
            <a:pPr lvl="1">
              <a:spcAft>
                <a:spcPts val="400"/>
              </a:spcAft>
            </a:pPr>
            <a:r>
              <a:rPr sz="1800" b="0" i="0">
                <a:solidFill>
                  <a:srgbClr val="66788A"/>
                </a:solidFill>
                <a:latin typeface="Malgun Gothic"/>
                <a:ea typeface="Malgun Gothic"/>
                <a:cs typeface="Malgun Gothic"/>
              </a:rPr>
              <a:t>    – </a:t>
            </a:r>
            <a:r>
              <a:rPr sz="1800" b="0" i="0">
                <a:solidFill>
                  <a:srgbClr val="2E3F4C"/>
                </a:solidFill>
                <a:latin typeface="Malgun Gothic"/>
                <a:ea typeface="Malgun Gothic"/>
                <a:cs typeface="Malgun Gothic"/>
              </a:rPr>
              <a:t>내분비(당뇨, 갑상선, 부갑상선, 성장).</a:t>
            </a:r>
          </a:p>
          <a:p>
            <a:pPr lvl="1">
              <a:spcAft>
                <a:spcPts val="400"/>
              </a:spcAft>
            </a:pPr>
            <a:r>
              <a:rPr sz="1800" b="0" i="0">
                <a:solidFill>
                  <a:srgbClr val="66788A"/>
                </a:solidFill>
                <a:latin typeface="Malgun Gothic"/>
                <a:ea typeface="Malgun Gothic"/>
                <a:cs typeface="Malgun Gothic"/>
              </a:rPr>
              <a:t>    – </a:t>
            </a:r>
            <a:r>
              <a:rPr sz="1800" b="0" i="0">
                <a:solidFill>
                  <a:srgbClr val="2E3F4C"/>
                </a:solidFill>
                <a:latin typeface="Malgun Gothic"/>
                <a:ea typeface="Malgun Gothic"/>
                <a:cs typeface="Malgun Gothic"/>
              </a:rPr>
              <a:t>청력(인공와우 효과적), 안과(안검하수·백내장 수술), 위장관 운동, 신장.</a:t>
            </a:r>
          </a:p>
          <a:p>
            <a:pPr lvl="1">
              <a:spcAft>
                <a:spcPts val="400"/>
              </a:spcAft>
            </a:pPr>
            <a:r>
              <a:rPr sz="1800" b="0" i="0">
                <a:solidFill>
                  <a:srgbClr val="66788A"/>
                </a:solidFill>
                <a:latin typeface="Malgun Gothic"/>
                <a:ea typeface="Malgun Gothic"/>
                <a:cs typeface="Malgun Gothic"/>
              </a:rPr>
              <a:t>    – </a:t>
            </a:r>
            <a:r>
              <a:rPr sz="1800" b="0" i="0">
                <a:solidFill>
                  <a:srgbClr val="2E3F4C"/>
                </a:solidFill>
                <a:latin typeface="Malgun Gothic"/>
                <a:ea typeface="Malgun Gothic"/>
                <a:cs typeface="Malgun Gothic"/>
              </a:rPr>
              <a:t>경련(발프로산은 *POLG*에서 금기, 다른 미토콘드리아 질환에서도 주의).</a:t>
            </a:r>
          </a:p>
          <a:p>
            <a:pPr>
              <a:spcAft>
                <a:spcPts val="800"/>
              </a:spcAft>
            </a:pPr>
            <a:r>
              <a:rPr sz="2000" b="1" i="0">
                <a:solidFill>
                  <a:srgbClr val="003C71"/>
                </a:solidFill>
                <a:latin typeface="Malgun Gothic"/>
                <a:ea typeface="Malgun Gothic"/>
                <a:cs typeface="Malgun Gothic"/>
              </a:rPr>
              <a:t>▪ </a:t>
            </a:r>
            <a:r>
              <a:rPr sz="2000" b="1" i="0">
                <a:solidFill>
                  <a:srgbClr val="11202B"/>
                </a:solidFill>
                <a:latin typeface="Malgun Gothic"/>
                <a:ea typeface="Malgun Gothic"/>
                <a:cs typeface="Malgun Gothic"/>
              </a:rPr>
              <a:t>피해야 할 약물/상황</a:t>
            </a:r>
            <a:r>
              <a:rPr sz="2000" b="0" i="0">
                <a:solidFill>
                  <a:srgbClr val="11202B"/>
                </a:solidFill>
                <a:latin typeface="Malgun Gothic"/>
                <a:ea typeface="Malgun Gothic"/>
                <a:cs typeface="Malgun Gothic"/>
              </a:rPr>
              <a:t>: 발프로산, 아미노글리코사이드(MT-RNR1), 장기간 프로포폴(주입 증후군), 린졸리드·테트라사이클린 장기, 메트포르민 주의, 고용량 스타틴 주의, </a:t>
            </a:r>
            <a:r>
              <a:rPr sz="2000" b="1" i="0">
                <a:solidFill>
                  <a:srgbClr val="11202B"/>
                </a:solidFill>
                <a:latin typeface="Malgun Gothic"/>
                <a:ea typeface="Malgun Gothic"/>
                <a:cs typeface="Malgun Gothic"/>
              </a:rPr>
              <a:t>공복·탈수·발열</a:t>
            </a:r>
            <a:r>
              <a:rPr sz="2000" b="0" i="0">
                <a:solidFill>
                  <a:srgbClr val="11202B"/>
                </a:solidFill>
                <a:latin typeface="Malgun Gothic"/>
                <a:ea typeface="Malgun Gothic"/>
                <a:cs typeface="Malgun Gothic"/>
              </a:rPr>
              <a:t>(대사 위기 유발) — 아플 때 포도당 포함 수액.</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04   </a:t>
            </a:r>
            <a:r>
              <a:rPr sz="2600" b="1" i="0">
                <a:solidFill>
                  <a:srgbClr val="FFFFFF"/>
                </a:solidFill>
                <a:latin typeface="Malgun Gothic"/>
                <a:ea typeface="Malgun Gothic"/>
                <a:cs typeface="Malgun Gothic"/>
              </a:rPr>
              <a:t>관리 원칙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B03-L06  ·  미토콘드리아 질환과 퍼옥시좀 질환</a:t>
            </a:r>
            <a:r>
              <a:rPr sz="1000" b="1" i="0">
                <a:solidFill>
                  <a:srgbClr val="003C71"/>
                </a:solidFill>
                <a:latin typeface="Malgun Gothic"/>
                <a:ea typeface="Malgun Gothic"/>
                <a:cs typeface="Malgun Gothic"/>
              </a:rPr>
              <a:t>     11</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보충제('미토콘드리아 칵테일': CoQ10, 리보플라빈, 티아민, 카르니틴, 알파리포산, 크레아틴, 비타민 C/E): 일차 CoQ10 결핍·리보플라빈 반응성 MADD·티아민 반응성 질환을 제외하면 근거 약함.</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운동: 유산소·저항 운동이 미토콘드리아 생합성을 촉진해 근력 개선(안전).</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승인 약물: 이데베논(LHON, 유럽), 오마벨록솔렌(프리드라이히 운동실조 — 핵 FXN 결함으로 인한 미토콘드리아 Fe–S 질환, NRF2 활성화), 엘라미프레타이드(바스 증후군, 2025 FDA 가속승인; 카디오리핀 안정화).</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05   </a:t>
            </a:r>
            <a:r>
              <a:rPr sz="2600" b="1" i="0">
                <a:solidFill>
                  <a:srgbClr val="FFFFFF"/>
                </a:solidFill>
                <a:latin typeface="Malgun Gothic"/>
                <a:ea typeface="Malgun Gothic"/>
                <a:cs typeface="Malgun Gothic"/>
              </a:rPr>
              <a:t>미토콘드리아 대체요법(MRT)</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B03-L06  ·  미토콘드리아 질환과 퍼옥시좀 질환</a:t>
            </a:r>
            <a:r>
              <a:rPr sz="1000" b="1" i="0">
                <a:solidFill>
                  <a:srgbClr val="003C71"/>
                </a:solidFill>
                <a:latin typeface="Malgun Gothic"/>
                <a:ea typeface="Malgun Gothic"/>
                <a:cs typeface="Malgun Gothic"/>
              </a:rPr>
              <a:t>     12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핵 이식 기법: 전핵 이식(PNT)·방추체 이식(MST) — 환자 난자의 핵 DNA를 공여자 탈핵 난자에 옮겨 변이 mtDNA 전달을 차단('3부모 아기').</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영국: 2015년 법 개정 허용 → 2025년 뉴캐슬 연구에서 MRT로 8명 출생 보고(NEJM 2025), 일부에서 낮은 수준의 변이 mtDNA 이월·역전(reversion) 관찰.</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대안: 착상 전 유전 검사(PGT-M; 이형세포질성 낮은 배아 선택), 난자 공여.</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윤리: 생식세포 계열 변형, 장기 안전성, 정체성 문제.</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06   </a:t>
            </a:r>
            <a:r>
              <a:rPr sz="2600" b="1" i="0">
                <a:solidFill>
                  <a:srgbClr val="FFFFFF"/>
                </a:solidFill>
                <a:latin typeface="Malgun Gothic"/>
                <a:ea typeface="Malgun Gothic"/>
                <a:cs typeface="Malgun Gothic"/>
              </a:rPr>
              <a:t>퍼옥시좀 질환</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B03-L06  ·  미토콘드리아 질환과 퍼옥시좀 질환</a:t>
            </a:r>
            <a:r>
              <a:rPr sz="1000" b="1" i="0">
                <a:solidFill>
                  <a:srgbClr val="003C71"/>
                </a:solidFill>
                <a:latin typeface="Malgun Gothic"/>
                <a:ea typeface="Malgun Gothic"/>
                <a:cs typeface="Malgun Gothic"/>
              </a:rPr>
              <a:t>     13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퍼옥시좀 기능: 초장쇄 지방산(VLCFA) β-산화, 파이탄산 α-산화, 플라스말로겐 합성(DHAPAT), 담즙산 합성(C27 → C24 측쇄 단축), 글리옥실산 해독(AGT), H₂O₂ 분해(카탈라아제), 피페콜산 분해.</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ZSD 임상: 신생아 근긴장저하·수유곤란, 큰 대천문·높은 이마·평평한 얼굴, 경련, 간비대·담즙정체, 신장 피질 낭종, 슬개골 점상 석회화, 망막병증·감각신경 난청; 경증은 성인까지 생존(치아 법랑질 이상, 부신 기능저하). 치료: 콜산 보충(담즙산 대사), 지지요법.</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06   </a:t>
            </a:r>
            <a:r>
              <a:rPr sz="2600" b="1" i="0">
                <a:solidFill>
                  <a:srgbClr val="FFFFFF"/>
                </a:solidFill>
                <a:latin typeface="Malgun Gothic"/>
                <a:ea typeface="Malgun Gothic"/>
                <a:cs typeface="Malgun Gothic"/>
              </a:rPr>
              <a:t>퍼옥시좀 질환</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B03-L06  ·  미토콘드리아 질환과 퍼옥시좀 질환</a:t>
            </a:r>
            <a:r>
              <a:rPr sz="1000" b="1" i="0">
                <a:solidFill>
                  <a:srgbClr val="003C71"/>
                </a:solidFill>
                <a:latin typeface="Malgun Gothic"/>
                <a:ea typeface="Malgun Gothic"/>
                <a:cs typeface="Malgun Gothic"/>
              </a:rPr>
              <a:t>     14</a:t>
            </a:r>
          </a:p>
        </p:txBody>
      </p:sp>
      <p:graphicFrame>
        <p:nvGraphicFramePr>
          <p:cNvPr id="7" name="Table 6"/>
          <p:cNvGraphicFramePr>
            <a:graphicFrameLocks noGrp="1"/>
          </p:cNvGraphicFramePr>
          <p:nvPr/>
        </p:nvGraphicFramePr>
        <p:xfrm>
          <a:off x="548640" y="1280160"/>
          <a:ext cx="11064240" cy="3291840"/>
        </p:xfrm>
        <a:graphic>
          <a:graphicData uri="http://schemas.openxmlformats.org/drawingml/2006/table">
            <a:tbl>
              <a:tblPr firstRow="1" bandRow="1">
                <a:tableStyleId>{5C22544A-7EE6-4342-B048-85BDC9FD1C3A}</a:tableStyleId>
              </a:tblPr>
              <a:tblGrid>
                <a:gridCol w="2766060"/>
                <a:gridCol w="2766060"/>
                <a:gridCol w="2766060"/>
                <a:gridCol w="2766060"/>
              </a:tblGrid>
              <a:tr h="365760">
                <a:tc>
                  <a:txBody>
                    <a:bodyPr/>
                    <a:lstStyle/>
                    <a:p>
                      <a:r>
                        <a:rPr sz="1300" b="1" i="0">
                          <a:solidFill>
                            <a:srgbClr val="FFFFFF"/>
                          </a:solidFill>
                          <a:latin typeface="Malgun Gothic"/>
                          <a:ea typeface="Malgun Gothic"/>
                          <a:cs typeface="Malgun Gothic"/>
                        </a:rPr>
                        <a:t>분류</a:t>
                      </a:r>
                    </a:p>
                  </a:txBody>
                  <a:tcPr marL="73152" marR="73152">
                    <a:solidFill>
                      <a:srgbClr val="003C71"/>
                    </a:solidFill>
                  </a:tcPr>
                </a:tc>
                <a:tc>
                  <a:txBody>
                    <a:bodyPr/>
                    <a:lstStyle/>
                    <a:p>
                      <a:r>
                        <a:rPr sz="1300" b="1" i="0">
                          <a:solidFill>
                            <a:srgbClr val="FFFFFF"/>
                          </a:solidFill>
                          <a:latin typeface="Malgun Gothic"/>
                          <a:ea typeface="Malgun Gothic"/>
                          <a:cs typeface="Malgun Gothic"/>
                        </a:rPr>
                        <a:t>질환</a:t>
                      </a:r>
                    </a:p>
                  </a:txBody>
                  <a:tcPr marL="73152" marR="73152">
                    <a:solidFill>
                      <a:srgbClr val="003C71"/>
                    </a:solidFill>
                  </a:tcPr>
                </a:tc>
                <a:tc>
                  <a:txBody>
                    <a:bodyPr/>
                    <a:lstStyle/>
                    <a:p>
                      <a:r>
                        <a:rPr sz="1300" b="1" i="0">
                          <a:solidFill>
                            <a:srgbClr val="FFFFFF"/>
                          </a:solidFill>
                          <a:latin typeface="Malgun Gothic"/>
                          <a:ea typeface="Malgun Gothic"/>
                          <a:cs typeface="Malgun Gothic"/>
                        </a:rPr>
                        <a:t>결함</a:t>
                      </a:r>
                    </a:p>
                  </a:txBody>
                  <a:tcPr marL="73152" marR="73152">
                    <a:solidFill>
                      <a:srgbClr val="003C71"/>
                    </a:solidFill>
                  </a:tcPr>
                </a:tc>
                <a:tc>
                  <a:txBody>
                    <a:bodyPr/>
                    <a:lstStyle/>
                    <a:p>
                      <a:r>
                        <a:rPr sz="1300" b="1" i="0">
                          <a:solidFill>
                            <a:srgbClr val="FFFFFF"/>
                          </a:solidFill>
                          <a:latin typeface="Malgun Gothic"/>
                          <a:ea typeface="Malgun Gothic"/>
                          <a:cs typeface="Malgun Gothic"/>
                        </a:rPr>
                        <a:t>생화학 지표</a:t>
                      </a:r>
                    </a:p>
                  </a:txBody>
                  <a:tcPr marL="73152" marR="73152">
                    <a:solidFill>
                      <a:srgbClr val="003C71"/>
                    </a:solidFill>
                  </a:tcPr>
                </a:tc>
              </a:tr>
              <a:tr h="365760">
                <a:tc>
                  <a:txBody>
                    <a:bodyPr/>
                    <a:lstStyle/>
                    <a:p>
                      <a:r>
                        <a:rPr sz="1300" b="0" i="0">
                          <a:solidFill>
                            <a:srgbClr val="11202B"/>
                          </a:solidFill>
                          <a:latin typeface="Malgun Gothic"/>
                          <a:ea typeface="Malgun Gothic"/>
                          <a:cs typeface="Malgun Gothic"/>
                        </a:rPr>
                        <a:t>퍼옥시좀 형성 장애(PBD)</a:t>
                      </a:r>
                    </a:p>
                  </a:txBody>
                  <a:tcPr marL="73152" marR="73152">
                    <a:solidFill>
                      <a:srgbClr val="FFFFFF"/>
                    </a:solidFill>
                  </a:tcPr>
                </a:tc>
                <a:tc>
                  <a:txBody>
                    <a:bodyPr/>
                    <a:lstStyle/>
                    <a:p>
                      <a:r>
                        <a:rPr sz="1300" b="0" i="0">
                          <a:solidFill>
                            <a:srgbClr val="11202B"/>
                          </a:solidFill>
                          <a:latin typeface="Malgun Gothic"/>
                          <a:ea typeface="Malgun Gothic"/>
                          <a:cs typeface="Malgun Gothic"/>
                        </a:rPr>
                        <a:t>젤웨거 스펙트럼(ZSD: 젤웨거, 신생아 부신백질이영양증, 영아 레프섬)</a:t>
                      </a:r>
                    </a:p>
                  </a:txBody>
                  <a:tcPr marL="73152" marR="73152">
                    <a:solidFill>
                      <a:srgbClr val="FFFFFF"/>
                    </a:solidFill>
                  </a:tcPr>
                </a:tc>
                <a:tc>
                  <a:txBody>
                    <a:bodyPr/>
                    <a:lstStyle/>
                    <a:p>
                      <a:r>
                        <a:rPr sz="1300" b="0" i="0">
                          <a:solidFill>
                            <a:srgbClr val="11202B"/>
                          </a:solidFill>
                          <a:latin typeface="Malgun Gothic"/>
                          <a:ea typeface="Malgun Gothic"/>
                          <a:cs typeface="Malgun Gothic"/>
                        </a:rPr>
                        <a:t>PEX1(가장 흔함), PEX6, PEX12 등</a:t>
                      </a:r>
                    </a:p>
                  </a:txBody>
                  <a:tcPr marL="73152" marR="73152">
                    <a:solidFill>
                      <a:srgbClr val="FFFFFF"/>
                    </a:solidFill>
                  </a:tcPr>
                </a:tc>
                <a:tc>
                  <a:txBody>
                    <a:bodyPr/>
                    <a:lstStyle/>
                    <a:p>
                      <a:r>
                        <a:rPr sz="1300" b="0" i="0">
                          <a:solidFill>
                            <a:srgbClr val="11202B"/>
                          </a:solidFill>
                          <a:latin typeface="Malgun Gothic"/>
                          <a:ea typeface="Malgun Gothic"/>
                          <a:cs typeface="Malgun Gothic"/>
                        </a:rPr>
                        <a:t>VLCFA(C26:0, C26/C22)↑, 파이탄산·프리스탄산↑, 플라스말로겐↓, 담즙산 중간체(DHCA, THCA)↑, 피페콜산↑</a:t>
                      </a:r>
                    </a:p>
                  </a:txBody>
                  <a:tcPr marL="73152" marR="73152">
                    <a:solidFill>
                      <a:srgbClr val="FFFFFF"/>
                    </a:solidFill>
                  </a:tcPr>
                </a:tc>
              </a:tr>
              <a:tr h="365760">
                <a:tc>
                  <a:txBody>
                    <a:bodyPr/>
                    <a:lstStyle/>
                    <a:p/>
                  </a:txBody>
                  <a:tcPr marL="73152" marR="73152">
                    <a:solidFill>
                      <a:srgbClr val="ECF1F5"/>
                    </a:solidFill>
                  </a:tcPr>
                </a:tc>
                <a:tc>
                  <a:txBody>
                    <a:bodyPr/>
                    <a:lstStyle/>
                    <a:p>
                      <a:r>
                        <a:rPr sz="1300" b="0" i="0">
                          <a:solidFill>
                            <a:srgbClr val="11202B"/>
                          </a:solidFill>
                          <a:latin typeface="Malgun Gothic"/>
                          <a:ea typeface="Malgun Gothic"/>
                          <a:cs typeface="Malgun Gothic"/>
                        </a:rPr>
                        <a:t>근위지 점상 연골이형성증(RCDP)</a:t>
                      </a:r>
                    </a:p>
                  </a:txBody>
                  <a:tcPr marL="73152" marR="73152">
                    <a:solidFill>
                      <a:srgbClr val="ECF1F5"/>
                    </a:solidFill>
                  </a:tcPr>
                </a:tc>
                <a:tc>
                  <a:txBody>
                    <a:bodyPr/>
                    <a:lstStyle/>
                    <a:p>
                      <a:r>
                        <a:rPr sz="1300" b="0" i="0">
                          <a:solidFill>
                            <a:srgbClr val="11202B"/>
                          </a:solidFill>
                          <a:latin typeface="Malgun Gothic"/>
                          <a:ea typeface="Malgun Gothic"/>
                          <a:cs typeface="Malgun Gothic"/>
                        </a:rPr>
                        <a:t>PEX7, GNPAT, AGPS</a:t>
                      </a:r>
                    </a:p>
                  </a:txBody>
                  <a:tcPr marL="73152" marR="73152">
                    <a:solidFill>
                      <a:srgbClr val="ECF1F5"/>
                    </a:solidFill>
                  </a:tcPr>
                </a:tc>
                <a:tc>
                  <a:txBody>
                    <a:bodyPr/>
                    <a:lstStyle/>
                    <a:p>
                      <a:r>
                        <a:rPr sz="1300" b="0" i="0">
                          <a:solidFill>
                            <a:srgbClr val="11202B"/>
                          </a:solidFill>
                          <a:latin typeface="Malgun Gothic"/>
                          <a:ea typeface="Malgun Gothic"/>
                          <a:cs typeface="Malgun Gothic"/>
                        </a:rPr>
                        <a:t>플라스말로겐↓(단독), 근위부 단지·점상 골단, 백내장</a:t>
                      </a:r>
                    </a:p>
                  </a:txBody>
                  <a:tcPr marL="73152" marR="73152">
                    <a:solidFill>
                      <a:srgbClr val="ECF1F5"/>
                    </a:solidFill>
                  </a:tcPr>
                </a:tc>
              </a:tr>
              <a:tr h="365760">
                <a:tc>
                  <a:txBody>
                    <a:bodyPr/>
                    <a:lstStyle/>
                    <a:p>
                      <a:r>
                        <a:rPr sz="1300" b="0" i="0">
                          <a:solidFill>
                            <a:srgbClr val="11202B"/>
                          </a:solidFill>
                          <a:latin typeface="Malgun Gothic"/>
                          <a:ea typeface="Malgun Gothic"/>
                          <a:cs typeface="Malgun Gothic"/>
                        </a:rPr>
                        <a:t>단일 효소/수송체</a:t>
                      </a:r>
                    </a:p>
                  </a:txBody>
                  <a:tcPr marL="73152" marR="73152">
                    <a:solidFill>
                      <a:srgbClr val="FFFFFF"/>
                    </a:solidFill>
                  </a:tcPr>
                </a:tc>
                <a:tc>
                  <a:txBody>
                    <a:bodyPr/>
                    <a:lstStyle/>
                    <a:p>
                      <a:r>
                        <a:rPr sz="1300" b="0" i="0">
                          <a:solidFill>
                            <a:srgbClr val="11202B"/>
                          </a:solidFill>
                          <a:latin typeface="Malgun Gothic"/>
                          <a:ea typeface="Malgun Gothic"/>
                          <a:cs typeface="Malgun Gothic"/>
                        </a:rPr>
                        <a:t>X-ALD</a:t>
                      </a:r>
                    </a:p>
                  </a:txBody>
                  <a:tcPr marL="73152" marR="73152">
                    <a:solidFill>
                      <a:srgbClr val="FFFFFF"/>
                    </a:solidFill>
                  </a:tcPr>
                </a:tc>
                <a:tc>
                  <a:txBody>
                    <a:bodyPr/>
                    <a:lstStyle/>
                    <a:p>
                      <a:r>
                        <a:rPr sz="1300" b="0" i="0">
                          <a:solidFill>
                            <a:srgbClr val="11202B"/>
                          </a:solidFill>
                          <a:latin typeface="Malgun Gothic"/>
                          <a:ea typeface="Malgun Gothic"/>
                          <a:cs typeface="Malgun Gothic"/>
                        </a:rPr>
                        <a:t>ABCD1</a:t>
                      </a:r>
                    </a:p>
                  </a:txBody>
                  <a:tcPr marL="73152" marR="73152">
                    <a:solidFill>
                      <a:srgbClr val="FFFFFF"/>
                    </a:solidFill>
                  </a:tcPr>
                </a:tc>
                <a:tc>
                  <a:txBody>
                    <a:bodyPr/>
                    <a:lstStyle/>
                    <a:p>
                      <a:r>
                        <a:rPr sz="1300" b="0" i="0">
                          <a:solidFill>
                            <a:srgbClr val="11202B"/>
                          </a:solidFill>
                          <a:latin typeface="Malgun Gothic"/>
                          <a:ea typeface="Malgun Gothic"/>
                          <a:cs typeface="Malgun Gothic"/>
                        </a:rPr>
                        <a:t>VLCFA↑ (B05 L13); 신생아 선별 C26:0-리소PC</a:t>
                      </a:r>
                    </a:p>
                  </a:txBody>
                  <a:tcPr marL="73152" marR="73152">
                    <a:solidFill>
                      <a:srgbClr val="FFFFFF"/>
                    </a:solidFill>
                  </a:tcPr>
                </a:tc>
              </a:tr>
              <a:tr h="365760">
                <a:tc>
                  <a:txBody>
                    <a:bodyPr/>
                    <a:lstStyle/>
                    <a:p/>
                  </a:txBody>
                  <a:tcPr marL="73152" marR="73152">
                    <a:solidFill>
                      <a:srgbClr val="ECF1F5"/>
                    </a:solidFill>
                  </a:tcPr>
                </a:tc>
                <a:tc>
                  <a:txBody>
                    <a:bodyPr/>
                    <a:lstStyle/>
                    <a:p>
                      <a:r>
                        <a:rPr sz="1300" b="0" i="0">
                          <a:solidFill>
                            <a:srgbClr val="11202B"/>
                          </a:solidFill>
                          <a:latin typeface="Malgun Gothic"/>
                          <a:ea typeface="Malgun Gothic"/>
                          <a:cs typeface="Malgun Gothic"/>
                        </a:rPr>
                        <a:t>아실-CoA 산화효소 결핍</a:t>
                      </a:r>
                    </a:p>
                  </a:txBody>
                  <a:tcPr marL="73152" marR="73152">
                    <a:solidFill>
                      <a:srgbClr val="ECF1F5"/>
                    </a:solidFill>
                  </a:tcPr>
                </a:tc>
                <a:tc>
                  <a:txBody>
                    <a:bodyPr/>
                    <a:lstStyle/>
                    <a:p>
                      <a:r>
                        <a:rPr sz="1300" b="0" i="0">
                          <a:solidFill>
                            <a:srgbClr val="11202B"/>
                          </a:solidFill>
                          <a:latin typeface="Malgun Gothic"/>
                          <a:ea typeface="Malgun Gothic"/>
                          <a:cs typeface="Malgun Gothic"/>
                        </a:rPr>
                        <a:t>ACOX1</a:t>
                      </a:r>
                    </a:p>
                  </a:txBody>
                  <a:tcPr marL="73152" marR="73152">
                    <a:solidFill>
                      <a:srgbClr val="ECF1F5"/>
                    </a:solidFill>
                  </a:tcPr>
                </a:tc>
                <a:tc>
                  <a:txBody>
                    <a:bodyPr/>
                    <a:lstStyle/>
                    <a:p>
                      <a:r>
                        <a:rPr sz="1300" b="0" i="0">
                          <a:solidFill>
                            <a:srgbClr val="11202B"/>
                          </a:solidFill>
                          <a:latin typeface="Malgun Gothic"/>
                          <a:ea typeface="Malgun Gothic"/>
                          <a:cs typeface="Malgun Gothic"/>
                        </a:rPr>
                        <a:t>VLCFA↑</a:t>
                      </a:r>
                    </a:p>
                  </a:txBody>
                  <a:tcPr marL="73152" marR="73152">
                    <a:solidFill>
                      <a:srgbClr val="ECF1F5"/>
                    </a:solidFill>
                  </a:tcPr>
                </a:tc>
              </a:tr>
              <a:tr h="365760">
                <a:tc>
                  <a:txBody>
                    <a:bodyPr/>
                    <a:lstStyle/>
                    <a:p/>
                  </a:txBody>
                  <a:tcPr marL="73152" marR="73152">
                    <a:solidFill>
                      <a:srgbClr val="FFFFFF"/>
                    </a:solidFill>
                  </a:tcPr>
                </a:tc>
                <a:tc>
                  <a:txBody>
                    <a:bodyPr/>
                    <a:lstStyle/>
                    <a:p>
                      <a:r>
                        <a:rPr sz="1300" b="0" i="0">
                          <a:solidFill>
                            <a:srgbClr val="11202B"/>
                          </a:solidFill>
                          <a:latin typeface="Malgun Gothic"/>
                          <a:ea typeface="Malgun Gothic"/>
                          <a:cs typeface="Malgun Gothic"/>
                        </a:rPr>
                        <a:t>D-이기능 단백 결핍</a:t>
                      </a:r>
                    </a:p>
                  </a:txBody>
                  <a:tcPr marL="73152" marR="73152">
                    <a:solidFill>
                      <a:srgbClr val="FFFFFF"/>
                    </a:solidFill>
                  </a:tcPr>
                </a:tc>
                <a:tc>
                  <a:txBody>
                    <a:bodyPr/>
                    <a:lstStyle/>
                    <a:p>
                      <a:r>
                        <a:rPr sz="1300" b="0" i="0">
                          <a:solidFill>
                            <a:srgbClr val="11202B"/>
                          </a:solidFill>
                          <a:latin typeface="Malgun Gothic"/>
                          <a:ea typeface="Malgun Gothic"/>
                          <a:cs typeface="Malgun Gothic"/>
                        </a:rPr>
                        <a:t>HSD17B4</a:t>
                      </a:r>
                    </a:p>
                  </a:txBody>
                  <a:tcPr marL="73152" marR="73152">
                    <a:solidFill>
                      <a:srgbClr val="FFFFFF"/>
                    </a:solidFill>
                  </a:tcPr>
                </a:tc>
                <a:tc>
                  <a:txBody>
                    <a:bodyPr/>
                    <a:lstStyle/>
                    <a:p>
                      <a:r>
                        <a:rPr sz="1300" b="0" i="0">
                          <a:solidFill>
                            <a:srgbClr val="11202B"/>
                          </a:solidFill>
                          <a:latin typeface="Malgun Gothic"/>
                          <a:ea typeface="Malgun Gothic"/>
                          <a:cs typeface="Malgun Gothic"/>
                        </a:rPr>
                        <a:t>VLCFA·프리스탄산↑ — ZSD 유사</a:t>
                      </a:r>
                    </a:p>
                  </a:txBody>
                  <a:tcPr marL="73152" marR="73152">
                    <a:solidFill>
                      <a:srgbClr val="FFFFFF"/>
                    </a:solidFill>
                  </a:tcPr>
                </a:tc>
              </a:tr>
              <a:tr h="365760">
                <a:tc>
                  <a:txBody>
                    <a:bodyPr/>
                    <a:lstStyle/>
                    <a:p/>
                  </a:txBody>
                  <a:tcPr marL="73152" marR="73152">
                    <a:solidFill>
                      <a:srgbClr val="ECF1F5"/>
                    </a:solidFill>
                  </a:tcPr>
                </a:tc>
                <a:tc>
                  <a:txBody>
                    <a:bodyPr/>
                    <a:lstStyle/>
                    <a:p>
                      <a:r>
                        <a:rPr sz="1300" b="0" i="0">
                          <a:solidFill>
                            <a:srgbClr val="11202B"/>
                          </a:solidFill>
                          <a:latin typeface="Malgun Gothic"/>
                          <a:ea typeface="Malgun Gothic"/>
                          <a:cs typeface="Malgun Gothic"/>
                        </a:rPr>
                        <a:t>레프섬병</a:t>
                      </a:r>
                    </a:p>
                  </a:txBody>
                  <a:tcPr marL="73152" marR="73152">
                    <a:solidFill>
                      <a:srgbClr val="ECF1F5"/>
                    </a:solidFill>
                  </a:tcPr>
                </a:tc>
                <a:tc>
                  <a:txBody>
                    <a:bodyPr/>
                    <a:lstStyle/>
                    <a:p>
                      <a:r>
                        <a:rPr sz="1300" b="0" i="0">
                          <a:solidFill>
                            <a:srgbClr val="11202B"/>
                          </a:solidFill>
                          <a:latin typeface="Malgun Gothic"/>
                          <a:ea typeface="Malgun Gothic"/>
                          <a:cs typeface="Malgun Gothic"/>
                        </a:rPr>
                        <a:t>PHYH</a:t>
                      </a:r>
                    </a:p>
                  </a:txBody>
                  <a:tcPr marL="73152" marR="73152">
                    <a:solidFill>
                      <a:srgbClr val="ECF1F5"/>
                    </a:solidFill>
                  </a:tcPr>
                </a:tc>
                <a:tc>
                  <a:txBody>
                    <a:bodyPr/>
                    <a:lstStyle/>
                    <a:p>
                      <a:r>
                        <a:rPr sz="1300" b="0" i="0">
                          <a:solidFill>
                            <a:srgbClr val="11202B"/>
                          </a:solidFill>
                          <a:latin typeface="Malgun Gothic"/>
                          <a:ea typeface="Malgun Gothic"/>
                          <a:cs typeface="Malgun Gothic"/>
                        </a:rPr>
                        <a:t>파이탄산 단독↑ → 식이 제한·혈장교환</a:t>
                      </a:r>
                    </a:p>
                  </a:txBody>
                  <a:tcPr marL="73152" marR="73152">
                    <a:solidFill>
                      <a:srgbClr val="ECF1F5"/>
                    </a:solidFill>
                  </a:tcPr>
                </a:tc>
              </a:tr>
              <a:tr h="365760">
                <a:tc>
                  <a:txBody>
                    <a:bodyPr/>
                    <a:lstStyle/>
                    <a:p/>
                  </a:txBody>
                  <a:tcPr marL="73152" marR="73152">
                    <a:solidFill>
                      <a:srgbClr val="FFFFFF"/>
                    </a:solidFill>
                  </a:tcPr>
                </a:tc>
                <a:tc>
                  <a:txBody>
                    <a:bodyPr/>
                    <a:lstStyle/>
                    <a:p>
                      <a:r>
                        <a:rPr sz="1300" b="1" i="0">
                          <a:solidFill>
                            <a:srgbClr val="11202B"/>
                          </a:solidFill>
                          <a:latin typeface="Malgun Gothic"/>
                          <a:ea typeface="Malgun Gothic"/>
                          <a:cs typeface="Malgun Gothic"/>
                        </a:rPr>
                        <a:t>원발성 고옥살산뇨증 1형</a:t>
                      </a:r>
                    </a:p>
                  </a:txBody>
                  <a:tcPr marL="73152" marR="73152">
                    <a:solidFill>
                      <a:srgbClr val="FFFFFF"/>
                    </a:solidFill>
                  </a:tcPr>
                </a:tc>
                <a:tc>
                  <a:txBody>
                    <a:bodyPr/>
                    <a:lstStyle/>
                    <a:p>
                      <a:r>
                        <a:rPr sz="1300" b="0" i="0">
                          <a:solidFill>
                            <a:srgbClr val="11202B"/>
                          </a:solidFill>
                          <a:latin typeface="Malgun Gothic"/>
                          <a:ea typeface="Malgun Gothic"/>
                          <a:cs typeface="Malgun Gothic"/>
                        </a:rPr>
                        <a:t>AGXT (AGT 오표적화 — 미토콘드리아로)</a:t>
                      </a:r>
                    </a:p>
                  </a:txBody>
                  <a:tcPr marL="73152" marR="73152">
                    <a:solidFill>
                      <a:srgbClr val="FFFFFF"/>
                    </a:solidFill>
                  </a:tcPr>
                </a:tc>
                <a:tc>
                  <a:txBody>
                    <a:bodyPr/>
                    <a:lstStyle/>
                    <a:p>
                      <a:r>
                        <a:rPr sz="1300" b="0" i="0">
                          <a:solidFill>
                            <a:srgbClr val="11202B"/>
                          </a:solidFill>
                          <a:latin typeface="Malgun Gothic"/>
                          <a:ea typeface="Malgun Gothic"/>
                          <a:cs typeface="Malgun Gothic"/>
                        </a:rPr>
                        <a:t>옥살산↑ → 신석회증·신부전·전신 옥살산증 → </a:t>
                      </a:r>
                      <a:r>
                        <a:rPr sz="1300" b="1" i="0">
                          <a:solidFill>
                            <a:srgbClr val="11202B"/>
                          </a:solidFill>
                          <a:latin typeface="Malgun Gothic"/>
                          <a:ea typeface="Malgun Gothic"/>
                          <a:cs typeface="Malgun Gothic"/>
                        </a:rPr>
                        <a:t>루마시란, 네도시란</a:t>
                      </a:r>
                      <a:r>
                        <a:rPr sz="1300" b="0" i="0">
                          <a:solidFill>
                            <a:srgbClr val="11202B"/>
                          </a:solidFill>
                          <a:latin typeface="Malgun Gothic"/>
                          <a:ea typeface="Malgun Gothic"/>
                          <a:cs typeface="Malgun Gothic"/>
                        </a:rPr>
                        <a:t>(siRNA, 글리콜산 산화효소·LDHA 억제), 간-신장 이식</a:t>
                      </a:r>
                    </a:p>
                  </a:txBody>
                  <a:tcPr marL="73152" marR="73152">
                    <a:solidFill>
                      <a:srgbClr val="FFFFFF"/>
                    </a:solidFill>
                  </a:tcPr>
                </a:tc>
              </a:tr>
              <a:tr h="365760">
                <a:tc>
                  <a:txBody>
                    <a:bodyPr/>
                    <a:lstStyle/>
                    <a:p/>
                  </a:txBody>
                  <a:tcPr marL="73152" marR="73152">
                    <a:solidFill>
                      <a:srgbClr val="ECF1F5"/>
                    </a:solidFill>
                  </a:tcPr>
                </a:tc>
                <a:tc>
                  <a:txBody>
                    <a:bodyPr/>
                    <a:lstStyle/>
                    <a:p>
                      <a:r>
                        <a:rPr sz="1300" b="0" i="0">
                          <a:solidFill>
                            <a:srgbClr val="11202B"/>
                          </a:solidFill>
                          <a:latin typeface="Malgun Gothic"/>
                          <a:ea typeface="Malgun Gothic"/>
                          <a:cs typeface="Malgun Gothic"/>
                        </a:rPr>
                        <a:t>무카탈라아제혈증</a:t>
                      </a:r>
                    </a:p>
                  </a:txBody>
                  <a:tcPr marL="73152" marR="73152">
                    <a:solidFill>
                      <a:srgbClr val="ECF1F5"/>
                    </a:solidFill>
                  </a:tcPr>
                </a:tc>
                <a:tc>
                  <a:txBody>
                    <a:bodyPr/>
                    <a:lstStyle/>
                    <a:p>
                      <a:r>
                        <a:rPr sz="1300" b="0" i="0">
                          <a:solidFill>
                            <a:srgbClr val="11202B"/>
                          </a:solidFill>
                          <a:latin typeface="Malgun Gothic"/>
                          <a:ea typeface="Malgun Gothic"/>
                          <a:cs typeface="Malgun Gothic"/>
                        </a:rPr>
                        <a:t>CAT</a:t>
                      </a:r>
                    </a:p>
                  </a:txBody>
                  <a:tcPr marL="73152" marR="73152">
                    <a:solidFill>
                      <a:srgbClr val="ECF1F5"/>
                    </a:solidFill>
                  </a:tcPr>
                </a:tc>
                <a:tc>
                  <a:txBody>
                    <a:bodyPr/>
                    <a:lstStyle/>
                    <a:p>
                      <a:r>
                        <a:rPr sz="1300" b="0" i="0">
                          <a:solidFill>
                            <a:srgbClr val="11202B"/>
                          </a:solidFill>
                          <a:latin typeface="Malgun Gothic"/>
                          <a:ea typeface="Malgun Gothic"/>
                          <a:cs typeface="Malgun Gothic"/>
                        </a:rPr>
                        <a:t>구강 궤양(일본형), 대부분 무증상</a:t>
                      </a:r>
                    </a:p>
                  </a:txBody>
                  <a:tcPr marL="73152" marR="73152">
                    <a:solidFill>
                      <a:srgbClr val="ECF1F5"/>
                    </a:solidFill>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06   </a:t>
            </a:r>
            <a:r>
              <a:rPr sz="2600" b="1" i="0">
                <a:solidFill>
                  <a:srgbClr val="FFFFFF"/>
                </a:solidFill>
                <a:latin typeface="Malgun Gothic"/>
                <a:ea typeface="Malgun Gothic"/>
                <a:cs typeface="Malgun Gothic"/>
              </a:rPr>
              <a:t>퍼옥시좀 질환</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B03-L06  ·  미토콘드리아 질환과 퍼옥시좀 질환</a:t>
            </a:r>
            <a:r>
              <a:rPr sz="1000" b="1" i="0">
                <a:solidFill>
                  <a:srgbClr val="003C71"/>
                </a:solidFill>
                <a:latin typeface="Malgun Gothic"/>
                <a:ea typeface="Malgun Gothic"/>
                <a:cs typeface="Malgun Gothic"/>
              </a:rPr>
              <a:t>     15</a:t>
            </a:r>
          </a:p>
        </p:txBody>
      </p:sp>
      <p:sp>
        <p:nvSpPr>
          <p:cNvPr id="7" name="Rectangle 6"/>
          <p:cNvSpPr/>
          <p:nvPr/>
        </p:nvSpPr>
        <p:spPr>
          <a:xfrm>
            <a:off x="640080" y="1325880"/>
            <a:ext cx="10881360" cy="2298700"/>
          </a:xfrm>
          <a:prstGeom prst="rect">
            <a:avLst/>
          </a:prstGeom>
          <a:solidFill>
            <a:srgbClr val="E8F1FA"/>
          </a:solidFill>
          <a:ln>
            <a:solidFill>
              <a:srgbClr val="003C71"/>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000" b="1" i="0">
                <a:solidFill>
                  <a:srgbClr val="003C71"/>
                </a:solidFill>
                <a:latin typeface="Malgun Gothic"/>
                <a:ea typeface="Malgun Gothic"/>
                <a:cs typeface="Malgun Gothic"/>
              </a:rPr>
              <a:t>임상 연계  </a:t>
            </a:r>
            <a:r>
              <a:rPr sz="2000" b="0" i="0">
                <a:solidFill>
                  <a:srgbClr val="11202B"/>
                </a:solidFill>
                <a:latin typeface="Malgun Gothic"/>
                <a:ea typeface="Malgun Gothic"/>
                <a:cs typeface="Malgun Gothic"/>
              </a:rPr>
              <a:t>원발성 고옥살산뇨증 1형은 퍼옥시좀 효소 AGT가 미토콘드리아로 잘못 표적되는 변이(G170R; 피리독신 반응성)를 포함한다. 소아 신결석·신석회증에서 반드시 소변 옥살산을 측정해야 하며, 간 표적 siRNA가 기질(글리옥실산) 생성을 줄여 옥살산을 정상화하는 '기질 감소' 전략의 성공 사례이다.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FRONTIER   </a:t>
            </a:r>
            <a:r>
              <a:rPr sz="2600" b="1" i="0">
                <a:solidFill>
                  <a:srgbClr val="FFFFFF"/>
                </a:solidFill>
                <a:latin typeface="Malgun Gothic"/>
                <a:ea typeface="Malgun Gothic"/>
                <a:cs typeface="Malgun Gothic"/>
              </a:rPr>
              <a:t>연구 최전선</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B03-L06  ·  미토콘드리아 질환과 퍼옥시좀 질환</a:t>
            </a:r>
            <a:r>
              <a:rPr sz="1000" b="1" i="0">
                <a:solidFill>
                  <a:srgbClr val="003C71"/>
                </a:solidFill>
                <a:latin typeface="Malgun Gothic"/>
                <a:ea typeface="Malgun Gothic"/>
                <a:cs typeface="Malgun Gothic"/>
              </a:rPr>
              <a:t>     16</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mtDNA 염기편집(DdCBE: 세균 독소 DddA 기반 시토신 탈아미노효소, TALED: A→G)이 개발되어 동물 모델에서 mtDNA 변이 교정·질환 모델 제작이 가능해졌다. CRISPR는 gRNA의 미토콘드리아 유입이 어려워 적용이 제한적이다.</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이형세포질성 이동(heteroplasmy shifting): 미토콘드리아 표적 뉴클레이스(mitoTALEN, mitoZFN)로 변이 mtDNA를 선택적으로 절단해 정상 비율을 높이는 전략.</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저산소 요법: Leigh 마우스 모델에서 저산소 환경(11% O₂)이 생존을 크게 연장한다는 발견(Jain et al., Science 2016)으로 '산소 독성' 개념과 임상 탐색이 진행 중이다.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SUMMARY   </a:t>
            </a:r>
            <a:r>
              <a:rPr sz="2600" b="1" i="0">
                <a:solidFill>
                  <a:srgbClr val="FFFFFF"/>
                </a:solidFill>
                <a:latin typeface="Malgun Gothic"/>
                <a:ea typeface="Malgun Gothic"/>
                <a:cs typeface="Malgun Gothic"/>
              </a:rPr>
              <a:t>요약</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B03-L06  ·  미토콘드리아 질환과 퍼옥시좀 질환</a:t>
            </a:r>
            <a:r>
              <a:rPr sz="1000" b="1" i="0">
                <a:solidFill>
                  <a:srgbClr val="003C71"/>
                </a:solidFill>
                <a:latin typeface="Malgun Gothic"/>
                <a:ea typeface="Malgun Gothic"/>
                <a:cs typeface="Malgun Gothic"/>
              </a:rPr>
              <a:t>     17</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1. </a:t>
            </a:r>
            <a:r>
              <a:rPr sz="2000" b="0" i="0">
                <a:solidFill>
                  <a:srgbClr val="11202B"/>
                </a:solidFill>
                <a:latin typeface="Malgun Gothic"/>
                <a:ea typeface="Malgun Gothic"/>
                <a:cs typeface="Malgun Gothic"/>
              </a:rPr>
              <a:t>미토콘드리아 질환은 mtDNA(모계, 이형세포질성, 역치, 병목) 또는 핵 유전자(멘델) 결함으로 생긴다.</a:t>
            </a:r>
          </a:p>
          <a:p>
            <a:pPr>
              <a:spcAft>
                <a:spcPts val="800"/>
              </a:spcAft>
            </a:pPr>
            <a:r>
              <a:rPr sz="2000" b="1" i="0">
                <a:solidFill>
                  <a:srgbClr val="003C71"/>
                </a:solidFill>
                <a:latin typeface="Malgun Gothic"/>
                <a:ea typeface="Malgun Gothic"/>
                <a:cs typeface="Malgun Gothic"/>
              </a:rPr>
              <a:t>2. </a:t>
            </a:r>
            <a:r>
              <a:rPr sz="2000" b="0" i="0">
                <a:solidFill>
                  <a:srgbClr val="11202B"/>
                </a:solidFill>
                <a:latin typeface="Malgun Gothic"/>
                <a:ea typeface="Malgun Gothic"/>
                <a:cs typeface="Malgun Gothic"/>
              </a:rPr>
              <a:t>MELAS, MERRF, Leigh, LHON, KSS, POLG 질환은 특징적 임상·분자 표지를 가진다.</a:t>
            </a:r>
          </a:p>
          <a:p>
            <a:pPr>
              <a:spcAft>
                <a:spcPts val="800"/>
              </a:spcAft>
            </a:pPr>
            <a:r>
              <a:rPr sz="2000" b="1" i="0">
                <a:solidFill>
                  <a:srgbClr val="003C71"/>
                </a:solidFill>
                <a:latin typeface="Malgun Gothic"/>
                <a:ea typeface="Malgun Gothic"/>
                <a:cs typeface="Malgun Gothic"/>
              </a:rPr>
              <a:t>3. </a:t>
            </a:r>
            <a:r>
              <a:rPr sz="2000" b="0" i="0">
                <a:solidFill>
                  <a:srgbClr val="11202B"/>
                </a:solidFill>
                <a:latin typeface="Malgun Gothic"/>
                <a:ea typeface="Malgun Gothic"/>
                <a:cs typeface="Malgun Gothic"/>
              </a:rPr>
              <a:t>진단은 젖산·L/P 비·GDF-15 등 생화학과 유전체 우선 전략, 필요 시 근육·소변 검사로 한다.</a:t>
            </a:r>
          </a:p>
          <a:p>
            <a:pPr>
              <a:spcAft>
                <a:spcPts val="800"/>
              </a:spcAft>
            </a:pPr>
            <a:r>
              <a:rPr sz="2000" b="1" i="0">
                <a:solidFill>
                  <a:srgbClr val="003C71"/>
                </a:solidFill>
                <a:latin typeface="Malgun Gothic"/>
                <a:ea typeface="Malgun Gothic"/>
                <a:cs typeface="Malgun Gothic"/>
              </a:rPr>
              <a:t>4. </a:t>
            </a:r>
            <a:r>
              <a:rPr sz="2000" b="0" i="0">
                <a:solidFill>
                  <a:srgbClr val="11202B"/>
                </a:solidFill>
                <a:latin typeface="Malgun Gothic"/>
                <a:ea typeface="Malgun Gothic"/>
                <a:cs typeface="Malgun Gothic"/>
              </a:rPr>
              <a:t>관리의 핵심은 다장기 감시, 대사 위기 예방, 금기 약물(발프로산·아미노글리코사이드) 회피이다.</a:t>
            </a:r>
          </a:p>
          <a:p>
            <a:pPr>
              <a:spcAft>
                <a:spcPts val="800"/>
              </a:spcAft>
            </a:pPr>
            <a:r>
              <a:rPr sz="2000" b="1" i="0">
                <a:solidFill>
                  <a:srgbClr val="003C71"/>
                </a:solidFill>
                <a:latin typeface="Malgun Gothic"/>
                <a:ea typeface="Malgun Gothic"/>
                <a:cs typeface="Malgun Gothic"/>
              </a:rPr>
              <a:t>5. </a:t>
            </a:r>
            <a:r>
              <a:rPr sz="2000" b="0" i="0">
                <a:solidFill>
                  <a:srgbClr val="11202B"/>
                </a:solidFill>
                <a:latin typeface="Malgun Gothic"/>
                <a:ea typeface="Malgun Gothic"/>
                <a:cs typeface="Malgun Gothic"/>
              </a:rPr>
              <a:t>퍼옥시좀 질환은 VLCFA·파이탄산·플라스말로겐·담즙산 중간체 패턴으로 진단하며 PH1은 siRNA 치료가 가능하다.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QUIZ   </a:t>
            </a:r>
            <a:r>
              <a:rPr sz="2600" b="1" i="0">
                <a:solidFill>
                  <a:srgbClr val="FFFFFF"/>
                </a:solidFill>
                <a:latin typeface="Malgun Gothic"/>
                <a:ea typeface="Malgun Gothic"/>
                <a:cs typeface="Malgun Gothic"/>
              </a:rPr>
              <a:t>자가 평가 1</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B03-L06  ·  미토콘드리아 질환과 퍼옥시좀 질환</a:t>
            </a:r>
            <a:r>
              <a:rPr sz="1000" b="1" i="0">
                <a:solidFill>
                  <a:srgbClr val="003C71"/>
                </a:solidFill>
                <a:latin typeface="Malgun Gothic"/>
                <a:ea typeface="Malgun Gothic"/>
                <a:cs typeface="Malgun Gothic"/>
              </a:rPr>
              <a:t>     18</a:t>
            </a:r>
          </a:p>
        </p:txBody>
      </p:sp>
      <p:sp>
        <p:nvSpPr>
          <p:cNvPr id="7" name="TextBox 6"/>
          <p:cNvSpPr txBox="1"/>
          <p:nvPr/>
        </p:nvSpPr>
        <p:spPr>
          <a:xfrm>
            <a:off x="640080" y="1371600"/>
            <a:ext cx="10881360" cy="2194560"/>
          </a:xfrm>
          <a:prstGeom prst="rect">
            <a:avLst/>
          </a:prstGeom>
          <a:noFill/>
        </p:spPr>
        <p:txBody>
          <a:bodyPr wrap="square" anchor="t">
            <a:spAutoFit/>
          </a:bodyPr>
          <a:lstStyle/>
          <a:p>
            <a:r>
              <a:rPr sz="2200" b="1" i="0">
                <a:solidFill>
                  <a:srgbClr val="11202B"/>
                </a:solidFill>
                <a:latin typeface="Malgun Gothic"/>
                <a:ea typeface="Malgun Gothic"/>
                <a:cs typeface="Malgun Gothic"/>
              </a:rPr>
              <a:t>MELAS 환자의 혈액에서 m.3243A&gt;G 이형세포질성이 8%로 낮게 나왔다. 해석과 추가 검사는?</a:t>
            </a:r>
          </a:p>
        </p:txBody>
      </p:sp>
      <p:sp>
        <p:nvSpPr>
          <p:cNvPr id="8" name="Rectangle 7"/>
          <p:cNvSpPr/>
          <p:nvPr/>
        </p:nvSpPr>
        <p:spPr>
          <a:xfrm>
            <a:off x="640080" y="3749039"/>
            <a:ext cx="10881360" cy="251460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a:lstStyle/>
          <a:p>
            <a:pPr algn="l"/>
            <a:r>
              <a:rPr sz="1600" b="1" i="0">
                <a:solidFill>
                  <a:srgbClr val="003C71"/>
                </a:solidFill>
                <a:latin typeface="Malgun Gothic"/>
                <a:ea typeface="Malgun Gothic"/>
                <a:cs typeface="Malgun Gothic"/>
              </a:rPr>
              <a:t>해설  </a:t>
            </a:r>
            <a:r>
              <a:rPr sz="1600" b="0" i="0">
                <a:solidFill>
                  <a:srgbClr val="2E3F4C"/>
                </a:solidFill>
                <a:latin typeface="Malgun Gothic"/>
                <a:ea typeface="Malgun Gothic"/>
                <a:cs typeface="Malgun Gothic"/>
              </a:rPr>
              <a:t>m.3243A&gt;G는 혈액에서 나이가 들수록 빠르게 분열하는 조혈세포에서 선택적으로 소실되어 실제 조직 부담보다 낮게 측정된다. 소변 상피세포(비율이 높고 비침습적) 또는 근육 조직 검사로 재평가해야 하며, 같은 비율이라도 조직마다 역치가 달라 혈액 수치로 중증도를 판단하기 어렵다.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QUIZ   </a:t>
            </a:r>
            <a:r>
              <a:rPr sz="2600" b="1" i="0">
                <a:solidFill>
                  <a:srgbClr val="FFFFFF"/>
                </a:solidFill>
                <a:latin typeface="Malgun Gothic"/>
                <a:ea typeface="Malgun Gothic"/>
                <a:cs typeface="Malgun Gothic"/>
              </a:rPr>
              <a:t>자가 평가 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B03-L06  ·  미토콘드리아 질환과 퍼옥시좀 질환</a:t>
            </a:r>
            <a:r>
              <a:rPr sz="1000" b="1" i="0">
                <a:solidFill>
                  <a:srgbClr val="003C71"/>
                </a:solidFill>
                <a:latin typeface="Malgun Gothic"/>
                <a:ea typeface="Malgun Gothic"/>
                <a:cs typeface="Malgun Gothic"/>
              </a:rPr>
              <a:t>     19</a:t>
            </a:r>
          </a:p>
        </p:txBody>
      </p:sp>
      <p:sp>
        <p:nvSpPr>
          <p:cNvPr id="7" name="TextBox 6"/>
          <p:cNvSpPr txBox="1"/>
          <p:nvPr/>
        </p:nvSpPr>
        <p:spPr>
          <a:xfrm>
            <a:off x="640080" y="1371600"/>
            <a:ext cx="10881360" cy="2194560"/>
          </a:xfrm>
          <a:prstGeom prst="rect">
            <a:avLst/>
          </a:prstGeom>
          <a:noFill/>
        </p:spPr>
        <p:txBody>
          <a:bodyPr wrap="square" anchor="t">
            <a:spAutoFit/>
          </a:bodyPr>
          <a:lstStyle/>
          <a:p>
            <a:r>
              <a:rPr sz="2200" b="1" i="0">
                <a:solidFill>
                  <a:srgbClr val="11202B"/>
                </a:solidFill>
                <a:latin typeface="Malgun Gothic"/>
                <a:ea typeface="Malgun Gothic"/>
                <a:cs typeface="Malgun Gothic"/>
              </a:rPr>
              <a:t>영아 난치성 뇌전증 환자에게 발프로산을 사용하기 전에 POLG 변이를 고려해야 하는 이유는?</a:t>
            </a:r>
          </a:p>
        </p:txBody>
      </p:sp>
      <p:sp>
        <p:nvSpPr>
          <p:cNvPr id="8" name="Rectangle 7"/>
          <p:cNvSpPr/>
          <p:nvPr/>
        </p:nvSpPr>
        <p:spPr>
          <a:xfrm>
            <a:off x="640080" y="3749039"/>
            <a:ext cx="10881360" cy="251460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a:lstStyle/>
          <a:p>
            <a:pPr algn="l"/>
            <a:r>
              <a:rPr sz="1600" b="1" i="0">
                <a:solidFill>
                  <a:srgbClr val="003C71"/>
                </a:solidFill>
                <a:latin typeface="Malgun Gothic"/>
                <a:ea typeface="Malgun Gothic"/>
                <a:cs typeface="Malgun Gothic"/>
              </a:rPr>
              <a:t>해설  </a:t>
            </a:r>
            <a:r>
              <a:rPr sz="1600" b="0" i="0">
                <a:solidFill>
                  <a:srgbClr val="2E3F4C"/>
                </a:solidFill>
                <a:latin typeface="Malgun Gothic"/>
                <a:ea typeface="Malgun Gothic"/>
                <a:cs typeface="Malgun Gothic"/>
              </a:rPr>
              <a:t>POLG 관련 알퍼스-후텐로허 증후군에서 발프로산은 미토콘드리아 β-산화·카르니틴 고갈·mtDNA 고갈을 악화시켜 치명적 전격성 간부전을 유발할 수 있다. 원인 미상의 영아 난치성 뇌전증(특히 후두엽 우세, 간기능 이상 동반)에서는 발프로산 투여 전 POLG 검사가 권고된다.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QUIZ   </a:t>
            </a:r>
            <a:r>
              <a:rPr sz="2600" b="1" i="0">
                <a:solidFill>
                  <a:srgbClr val="FFFFFF"/>
                </a:solidFill>
                <a:latin typeface="Malgun Gothic"/>
                <a:ea typeface="Malgun Gothic"/>
                <a:cs typeface="Malgun Gothic"/>
              </a:rPr>
              <a:t>자가 평가 3</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B03-L06  ·  미토콘드리아 질환과 퍼옥시좀 질환</a:t>
            </a:r>
            <a:r>
              <a:rPr sz="1000" b="1" i="0">
                <a:solidFill>
                  <a:srgbClr val="003C71"/>
                </a:solidFill>
                <a:latin typeface="Malgun Gothic"/>
                <a:ea typeface="Malgun Gothic"/>
                <a:cs typeface="Malgun Gothic"/>
              </a:rPr>
              <a:t>     20</a:t>
            </a:r>
          </a:p>
        </p:txBody>
      </p:sp>
      <p:sp>
        <p:nvSpPr>
          <p:cNvPr id="7" name="TextBox 6"/>
          <p:cNvSpPr txBox="1"/>
          <p:nvPr/>
        </p:nvSpPr>
        <p:spPr>
          <a:xfrm>
            <a:off x="640080" y="1371600"/>
            <a:ext cx="10881360" cy="2194560"/>
          </a:xfrm>
          <a:prstGeom prst="rect">
            <a:avLst/>
          </a:prstGeom>
          <a:noFill/>
        </p:spPr>
        <p:txBody>
          <a:bodyPr wrap="square" anchor="t">
            <a:spAutoFit/>
          </a:bodyPr>
          <a:lstStyle/>
          <a:p>
            <a:r>
              <a:rPr sz="2200" b="1" i="0">
                <a:solidFill>
                  <a:srgbClr val="11202B"/>
                </a:solidFill>
                <a:latin typeface="Malgun Gothic"/>
                <a:ea typeface="Malgun Gothic"/>
                <a:cs typeface="Malgun Gothic"/>
              </a:rPr>
              <a:t>LHON에서 불완전 침투와 남성 우세를 설명하는 요인들은?</a:t>
            </a:r>
          </a:p>
        </p:txBody>
      </p:sp>
      <p:sp>
        <p:nvSpPr>
          <p:cNvPr id="8" name="Rectangle 7"/>
          <p:cNvSpPr/>
          <p:nvPr/>
        </p:nvSpPr>
        <p:spPr>
          <a:xfrm>
            <a:off x="640080" y="3749039"/>
            <a:ext cx="10881360" cy="251460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a:lstStyle/>
          <a:p>
            <a:pPr algn="l"/>
            <a:r>
              <a:rPr sz="1600" b="1" i="0">
                <a:solidFill>
                  <a:srgbClr val="003C71"/>
                </a:solidFill>
                <a:latin typeface="Malgun Gothic"/>
                <a:ea typeface="Malgun Gothic"/>
                <a:cs typeface="Malgun Gothic"/>
              </a:rPr>
              <a:t>해설  </a:t>
            </a:r>
            <a:r>
              <a:rPr sz="1600" b="0" i="0">
                <a:solidFill>
                  <a:srgbClr val="2E3F4C"/>
                </a:solidFill>
                <a:latin typeface="Malgun Gothic"/>
                <a:ea typeface="Malgun Gothic"/>
                <a:cs typeface="Malgun Gothic"/>
              </a:rPr>
              <a:t>같은 동형세포질성 변이를 가져도 남성 약 50%, 여성 약 10%만 발병한다. 핵 수정인자(X연관 좌위 가설), 에스트로겐의 미토콘드리아 보호 효과, mtDNA 배경(하플로그룹), 흡연·과음 같은 환경 유발 요인, mtDNA 복사 수가 침투도를 조절한다.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QUIZ   </a:t>
            </a:r>
            <a:r>
              <a:rPr sz="2600" b="1" i="0">
                <a:solidFill>
                  <a:srgbClr val="FFFFFF"/>
                </a:solidFill>
                <a:latin typeface="Malgun Gothic"/>
                <a:ea typeface="Malgun Gothic"/>
                <a:cs typeface="Malgun Gothic"/>
              </a:rPr>
              <a:t>자가 평가 4</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B03-L06  ·  미토콘드리아 질환과 퍼옥시좀 질환</a:t>
            </a:r>
            <a:r>
              <a:rPr sz="1000" b="1" i="0">
                <a:solidFill>
                  <a:srgbClr val="003C71"/>
                </a:solidFill>
                <a:latin typeface="Malgun Gothic"/>
                <a:ea typeface="Malgun Gothic"/>
                <a:cs typeface="Malgun Gothic"/>
              </a:rPr>
              <a:t>     21</a:t>
            </a:r>
          </a:p>
        </p:txBody>
      </p:sp>
      <p:sp>
        <p:nvSpPr>
          <p:cNvPr id="7" name="TextBox 6"/>
          <p:cNvSpPr txBox="1"/>
          <p:nvPr/>
        </p:nvSpPr>
        <p:spPr>
          <a:xfrm>
            <a:off x="640080" y="1371600"/>
            <a:ext cx="10881360" cy="2194560"/>
          </a:xfrm>
          <a:prstGeom prst="rect">
            <a:avLst/>
          </a:prstGeom>
          <a:noFill/>
        </p:spPr>
        <p:txBody>
          <a:bodyPr wrap="square" anchor="t">
            <a:spAutoFit/>
          </a:bodyPr>
          <a:lstStyle/>
          <a:p>
            <a:r>
              <a:rPr sz="2200" b="1" i="0">
                <a:solidFill>
                  <a:srgbClr val="11202B"/>
                </a:solidFill>
                <a:latin typeface="Malgun Gothic"/>
                <a:ea typeface="Malgun Gothic"/>
                <a:cs typeface="Malgun Gothic"/>
              </a:rPr>
              <a:t>원인 불명 신생아 근긴장저하·경련·간기능 이상에서 퍼옥시좀 질환 선별을 위해 측정할 검사와 예상 소견은?</a:t>
            </a:r>
          </a:p>
        </p:txBody>
      </p:sp>
      <p:sp>
        <p:nvSpPr>
          <p:cNvPr id="8" name="Rectangle 7"/>
          <p:cNvSpPr/>
          <p:nvPr/>
        </p:nvSpPr>
        <p:spPr>
          <a:xfrm>
            <a:off x="640080" y="3749039"/>
            <a:ext cx="10881360" cy="251460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a:lstStyle/>
          <a:p>
            <a:pPr algn="l"/>
            <a:r>
              <a:rPr sz="1600" b="1" i="0">
                <a:solidFill>
                  <a:srgbClr val="003C71"/>
                </a:solidFill>
                <a:latin typeface="Malgun Gothic"/>
                <a:ea typeface="Malgun Gothic"/>
                <a:cs typeface="Malgun Gothic"/>
              </a:rPr>
              <a:t>해설  </a:t>
            </a:r>
            <a:r>
              <a:rPr sz="1600" b="0" i="0">
                <a:solidFill>
                  <a:srgbClr val="2E3F4C"/>
                </a:solidFill>
                <a:latin typeface="Malgun Gothic"/>
                <a:ea typeface="Malgun Gothic"/>
                <a:cs typeface="Malgun Gothic"/>
              </a:rPr>
              <a:t>혈장 VLCFA(C26:0, C26/C22 비 상승), 파이탄산·프리스탄산, 적혈구 플라스말로겐(감소), 혈장 담즙산 중간체(DHCA, THCA 상승), 피페콜산을 측정한다. 이들이 모두 이상이면 퍼옥시좀 형성 장애(젤웨거 스펙트럼)를 시사하며 PEX 유전자 패널로 확진한다.</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REFERENCES   </a:t>
            </a:r>
            <a:r>
              <a:rPr sz="2600" b="1" i="0">
                <a:solidFill>
                  <a:srgbClr val="FFFFFF"/>
                </a:solidFill>
                <a:latin typeface="Malgun Gothic"/>
                <a:ea typeface="Malgun Gothic"/>
                <a:cs typeface="Malgun Gothic"/>
              </a:rPr>
              <a:t>참고 문헌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B03-L06  ·  미토콘드리아 질환과 퍼옥시좀 질환</a:t>
            </a:r>
            <a:r>
              <a:rPr sz="1000" b="1" i="0">
                <a:solidFill>
                  <a:srgbClr val="003C71"/>
                </a:solidFill>
                <a:latin typeface="Malgun Gothic"/>
                <a:ea typeface="Malgun Gothic"/>
                <a:cs typeface="Malgun Gothic"/>
              </a:rPr>
              <a:t>     22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Gorman GS et al. Mitochondrial diseases. Nat Rev Dis Primers 2016;2:16080.</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Parikh S et al. Patient care standards for primary mitochondrial disease: a consensus statement from the Mitochondrial Medicine Society. Genet Med 2017;19:1380.</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McFarland R et al. Mitochondrial donation in a reproductive care pathway for mtDNA disease. N Engl J Med 2025.</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REFERENCES   </a:t>
            </a:r>
            <a:r>
              <a:rPr sz="2600" b="1" i="0">
                <a:solidFill>
                  <a:srgbClr val="FFFFFF"/>
                </a:solidFill>
                <a:latin typeface="Malgun Gothic"/>
                <a:ea typeface="Malgun Gothic"/>
                <a:cs typeface="Malgun Gothic"/>
              </a:rPr>
              <a:t>참고 문헌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B03-L06  ·  미토콘드리아 질환과 퍼옥시좀 질환</a:t>
            </a:r>
            <a:r>
              <a:rPr sz="1000" b="1" i="0">
                <a:solidFill>
                  <a:srgbClr val="003C71"/>
                </a:solidFill>
                <a:latin typeface="Malgun Gothic"/>
                <a:ea typeface="Malgun Gothic"/>
                <a:cs typeface="Malgun Gothic"/>
              </a:rPr>
              <a:t>     23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Wanders RJA, Waterham HR. Peroxisomal disorders: the single peroxisomal enzyme deficiencies. Biochim Biophys Acta 2006;1763:1707–1720.</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Garrelfs SF et al. Lumasiran, an RNAi therapeutic for primary hyperoxaluria type 1. N Engl J Med 2021;384:1216–1226.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