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FDG 흡수는 주로 시냅스 활동(이온 기울기 회복·신경전달물질 재생)에 쓰이는 포도당 소비를 반영하므로, 저대사는 시냅스 기능 저하와 신경 손실(신경퇴행)을 나타낸다. 기본 모드 네트워크 영역이 먼저 침범되는 AD 특유의 패턴은 전두측두치매(전두·전측두 저대사), 레비소체치매(후두엽 저대사, 후대상 보존 — '대상섬 징후')와 감별에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Aβ와 결합해 응집을 촉진하고 혈관 주위·수용체 매개 Aβ 제거를 저하시켜 아밀로이드가 조기 축적된다. (2) 지질화·안정성이 떨어져 신경세포·올리고덴드로사이트로의 콜레스테롤 수송이 저하되고 교세포에 지방구가 쌓이며 미세아교세포 반응이 비정상적이 된다. (3) 주피세포 손상을 통한 혈액뇌장벽 붕괴와 타우 매개 신경퇴행 증가가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뇌는 포도당 저장이 거의 없어 저혈당에 매우 취약하고, 반복적인 중증 저혈당은 해마·피질 신경세포 손상과 인지 저하·치매 위험 증가와 연관된다. 노인은 저혈당 인지 증상(교감 반응)이 둔하고 회복이 느리므로 개별화된 덜 엄격한 HbA1c 목표와 저혈당 위험이 낮은 약제를 선택한다.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PSEN1 E280A 가계에서 APOE3 크라이스트처치(R136S) 동형접합 보인자는 아밀로이드가 매우 많음에도 타우 확산과 인지 저하가 약 30년 지연되었다. 이는 APOE의 헤파란 황산 결합(타우 확산·흡수 관여)을 줄이면 아밀로이드 하류의 타우 병리와 신경퇴행을 막을 수 있음을 시사하며, 이를 모방하는 항체·유전자 치료 개발의 근거가 되었다.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신경퇴행</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알츠하이머병과 뇌 대사</a:t>
            </a:r>
          </a:p>
          <a:p>
            <a:r>
              <a:rPr sz="2000" b="0" i="0">
                <a:solidFill>
                  <a:srgbClr val="C2CDD6"/>
                </a:solidFill>
                <a:latin typeface="Malgun Gothic"/>
                <a:ea typeface="Malgun Gothic"/>
                <a:cs typeface="Malgun Gothic"/>
              </a:rPr>
              <a:t>Alzheimer's Disease and Brain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B05-L01</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뇌 에너지대사의 기본(포도당 의존, 성상세포-신경세포 협력)을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알츠하이머병(AD)에서 포도당 저대사(FDG-PET)와 뇌 인슐린 저항성('3형 당뇨' 가설)을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APOE4가 지질 대사·Aβ 제거·미세아교세포·혈관에 미치는 영향을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미토콘드리아 기능장애, 산화 스트레스, 콜레스테롤·지질 대사와 AD 병리의 연결을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대사 위험인자(당뇨, 비만, 고혈압)와 대사 표적 치료(인크레틴, 케톤, 생활습관)의 근거를 평가한다.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뇌 에너지대사의 기초</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AD의 포도당 저대사와 뇌 인슐린 저항성</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APOE와 지질 대사</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미토콘드리아·산화 스트레스·대사물질</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대사 위험인자와 대사 표적 치료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뇌 에너지대사의 기초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뇌는 체중의 2%지만 안정 시 산소의 20%, 포도당의 약 25%(성인 하루 ~120 g)를 소비한다. 에너지의 대부분은 </a:t>
            </a:r>
            <a:r>
              <a:rPr sz="1800" b="1" i="0">
                <a:solidFill>
                  <a:srgbClr val="11202B"/>
                </a:solidFill>
                <a:latin typeface="Malgun Gothic"/>
                <a:ea typeface="Malgun Gothic"/>
                <a:cs typeface="Malgun Gothic"/>
              </a:rPr>
              <a:t>시냅스 전달(활동전위 후 이온 기울기 회복, 신경전달물질 재흡수·재포장)</a:t>
            </a:r>
            <a:r>
              <a:rPr sz="1800" b="0" i="0">
                <a:solidFill>
                  <a:srgbClr val="11202B"/>
                </a:solidFill>
                <a:latin typeface="Malgun Gothic"/>
                <a:ea typeface="Malgun Gothic"/>
                <a:cs typeface="Malgun Gothic"/>
              </a:rPr>
              <a:t>에 쓰인다.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포도당 운반: BBB 내피 </a:t>
            </a:r>
            <a:r>
              <a:rPr sz="1800" b="1" i="0">
                <a:solidFill>
                  <a:srgbClr val="11202B"/>
                </a:solidFill>
                <a:latin typeface="Malgun Gothic"/>
                <a:ea typeface="Malgun Gothic"/>
                <a:cs typeface="Malgun Gothic"/>
              </a:rPr>
              <a:t>GLUT1</a:t>
            </a:r>
            <a:r>
              <a:rPr sz="1800" b="0" i="0">
                <a:solidFill>
                  <a:srgbClr val="11202B"/>
                </a:solidFill>
                <a:latin typeface="Malgun Gothic"/>
                <a:ea typeface="Malgun Gothic"/>
                <a:cs typeface="Malgun Gothic"/>
              </a:rPr>
              <a:t>(55 kDa) → 성상세포 GLUT1(45 kDa) / 신경세포 </a:t>
            </a:r>
            <a:r>
              <a:rPr sz="1800" b="1" i="0">
                <a:solidFill>
                  <a:srgbClr val="11202B"/>
                </a:solidFill>
                <a:latin typeface="Malgun Gothic"/>
                <a:ea typeface="Malgun Gothic"/>
                <a:cs typeface="Malgun Gothic"/>
              </a:rPr>
              <a:t>GLUT3</a:t>
            </a:r>
            <a:r>
              <a:rPr sz="1800" b="0" i="0">
                <a:solidFill>
                  <a:srgbClr val="11202B"/>
                </a:solidFill>
                <a:latin typeface="Malgun Gothic"/>
                <a:ea typeface="Malgun Gothic"/>
                <a:cs typeface="Malgun Gothic"/>
              </a:rPr>
              <a:t>(고친화). 케톤체는 MCT1/MCT2로 유입(장기 공복 시 연료의 최대 2/3).</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성상세포-신경세포 젖산 셔틀(ANLS)</a:t>
            </a:r>
            <a:r>
              <a:rPr sz="1800" b="0" i="0">
                <a:solidFill>
                  <a:srgbClr val="11202B"/>
                </a:solidFill>
                <a:latin typeface="Malgun Gothic"/>
                <a:ea typeface="Malgun Gothic"/>
                <a:cs typeface="Malgun Gothic"/>
              </a:rPr>
              <a:t>: 시냅스 글루탐산 재흡수(EAAT1/2; Na⁺ 공동수송) → 성상세포 Na⁺/K⁺-ATPase 소비 → 해당 → 젖산 → MCT4 → 신경세포 MCT2 → 피루브산 산화. 신경세포 직접 포도당 산화가 주라는 반론도 있어 논쟁 중(B01 L01).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뇌 에너지대사의 기초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글루탐산-글루타민 회로</a:t>
            </a:r>
            <a:r>
              <a:rPr sz="2000" b="0" i="0">
                <a:solidFill>
                  <a:srgbClr val="11202B"/>
                </a:solidFill>
                <a:latin typeface="Malgun Gothic"/>
                <a:ea typeface="Malgun Gothic"/>
                <a:cs typeface="Malgun Gothic"/>
              </a:rPr>
              <a:t>: 성상세포가 글루탐산을 글루타민(GS)으로 바꿔 신경세포에 돌려줌 → 흥분독성 방지·전달물질 재생.</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신경세포는 산화적 인산화 의존·PPP로 NADPH 확보(PFKFB3 분해로 해당 낮춤), 성상세포는 해당·글리코겐 저장(뇌 유일의 글리코겐 저장소), 올리고덴드로사이트는 젖산으로 축삭 지원(MCT1).</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신경혈관 결합(neurovascular coupling)</a:t>
            </a:r>
            <a:r>
              <a:rPr sz="2000" b="0" i="0">
                <a:solidFill>
                  <a:srgbClr val="11202B"/>
                </a:solidFill>
                <a:latin typeface="Malgun Gothic"/>
                <a:ea typeface="Malgun Gothic"/>
                <a:cs typeface="Malgun Gothic"/>
              </a:rPr>
              <a:t>: 신경 활동 → NO, PGE₂, K⁺, 아데노신 → 국소 혈류 증가 → BOLD fMRI의 원리. 주피세포가 모세혈관 직경 조절.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AD의 포도당 저대사와 뇌 인슐린 저항성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FDG-PET</a:t>
            </a:r>
            <a:r>
              <a:rPr sz="1800" b="0" i="0">
                <a:solidFill>
                  <a:srgbClr val="11202B"/>
                </a:solidFill>
                <a:latin typeface="Malgun Gothic"/>
                <a:ea typeface="Malgun Gothic"/>
                <a:cs typeface="Malgun Gothic"/>
              </a:rPr>
              <a:t>: AD는 증상 수년 전부터 후대상피질·쐐기앞소엽·측두두정 피질의 포도당 대사 감소 → 진단 보조·감별(전두측두치매는 전두·측두엽 앞쪽). 저대사는 신경 손실·시냅스 기능 저하를 반영하는 '신경퇴행(N)' 지표.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 GLUT1·GLUT3 감소, 해당·TCA 효소(PDH, α-KGDH) 활성 저하, O-GlcNAc 감소 → </a:t>
            </a:r>
            <a:r>
              <a:rPr sz="1800" b="1" i="0">
                <a:solidFill>
                  <a:srgbClr val="11202B"/>
                </a:solidFill>
                <a:latin typeface="Malgun Gothic"/>
                <a:ea typeface="Malgun Gothic"/>
                <a:cs typeface="Malgun Gothic"/>
              </a:rPr>
              <a:t>타우 과인산화 촉진</a:t>
            </a:r>
            <a:r>
              <a:rPr sz="1800" b="0" i="0">
                <a:solidFill>
                  <a:srgbClr val="11202B"/>
                </a:solidFill>
                <a:latin typeface="Malgun Gothic"/>
                <a:ea typeface="Malgun Gothic"/>
                <a:cs typeface="Malgun Gothic"/>
              </a:rPr>
              <a:t>(O-GlcNAc와 인산화의 경쟁 부위).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'3형 당뇨' 가설</a:t>
            </a:r>
            <a:r>
              <a:rPr sz="1800" b="0" i="0">
                <a:solidFill>
                  <a:srgbClr val="11202B"/>
                </a:solidFill>
                <a:latin typeface="Malgun Gothic"/>
                <a:ea typeface="Malgun Gothic"/>
                <a:cs typeface="Malgun Gothic"/>
              </a:rPr>
              <a:t>: AD 뇌에서 인슐린/IGF-1 수용체 신호 저하(IRS1 세린 인산화↑, AKT 활성 저하) — 사후 뇌 연구(Talbot 2012).</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2형 당뇨는 AD·혈관성 치매 위험 1.5–2배, 고인슐린혈증은 </a:t>
            </a:r>
            <a:r>
              <a:rPr sz="1600" b="1" i="0">
                <a:solidFill>
                  <a:srgbClr val="2E3F4C"/>
                </a:solidFill>
                <a:latin typeface="Malgun Gothic"/>
                <a:ea typeface="Malgun Gothic"/>
                <a:cs typeface="Malgun Gothic"/>
              </a:rPr>
              <a:t>인슐린 분해효소(IDE)</a:t>
            </a:r>
            <a:r>
              <a:rPr sz="1600" b="0" i="0">
                <a:solidFill>
                  <a:srgbClr val="2E3F4C"/>
                </a:solidFill>
                <a:latin typeface="Malgun Gothic"/>
                <a:ea typeface="Malgun Gothic"/>
                <a:cs typeface="Malgun Gothic"/>
              </a:rPr>
              <a:t>를 인슐린과 Aβ가 경쟁 → Aβ 분해 저하.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AD의 포도당 저대사와 뇌 인슐린 저항성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비강 내 인슐린: 소규모 연구 고무적이었으나 대규모 2/3상(SNIFF) 1차 결과 음성.</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저혈당 반복 노출도 인지 저하 위험 → 노인 당뇨의 과도한 혈당 강하 주의.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APOE와 지질 대사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 대립: ε2(보호), ε3(중립), </a:t>
            </a:r>
            <a:r>
              <a:rPr sz="2000" b="1" i="0">
                <a:solidFill>
                  <a:srgbClr val="11202B"/>
                </a:solidFill>
                <a:latin typeface="Malgun Gothic"/>
                <a:ea typeface="Malgun Gothic"/>
                <a:cs typeface="Malgun Gothic"/>
              </a:rPr>
              <a:t>ε4</a:t>
            </a:r>
            <a:r>
              <a:rPr sz="2000" b="0" i="0">
                <a:solidFill>
                  <a:srgbClr val="11202B"/>
                </a:solidFill>
                <a:latin typeface="Malgun Gothic"/>
                <a:ea typeface="Malgun Gothic"/>
                <a:cs typeface="Malgun Gothic"/>
              </a:rPr>
              <a:t>(위험; 이형접합 OR ~3, 동형접합 ~8–12; 한국인 빈도 ε4 대립 ~10%). 2024년에는 APOE4 동형접합을 AD의 '유전적 형태'로 보자는 제안(Fortea et al., Nat Med 2024 — 거의 100% 병리 발현).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APOE는 </a:t>
            </a:r>
            <a:r>
              <a:rPr sz="2000" b="1" i="0">
                <a:solidFill>
                  <a:srgbClr val="11202B"/>
                </a:solidFill>
                <a:latin typeface="Malgun Gothic"/>
                <a:ea typeface="Malgun Gothic"/>
                <a:cs typeface="Malgun Gothic"/>
              </a:rPr>
              <a:t>뇌의 주된 아포지단백</a:t>
            </a:r>
            <a:r>
              <a:rPr sz="2000" b="0" i="0">
                <a:solidFill>
                  <a:srgbClr val="11202B"/>
                </a:solidFill>
                <a:latin typeface="Malgun Gothic"/>
                <a:ea typeface="Malgun Gothic"/>
                <a:cs typeface="Malgun Gothic"/>
              </a:rPr>
              <a:t>: 성상세포(주)·미세아교세포가 합성 → ABCA1로 지질화 → 신경세포에 콜레스테롤·인지질 공급(시냅스 형성·수리; LRP1/LDLR 흡수).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APOE4의 영향:</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Aβ 제거 저하·응집 촉진</a:t>
            </a:r>
            <a:r>
              <a:rPr sz="1800" b="0" i="0">
                <a:solidFill>
                  <a:srgbClr val="2E3F4C"/>
                </a:solidFill>
                <a:latin typeface="Malgun Gothic"/>
                <a:ea typeface="Malgun Gothic"/>
                <a:cs typeface="Malgun Gothic"/>
              </a:rPr>
              <a:t>(Aβ 결합, 혈관 주위 배출 감소) → 아밀로이드 플라크 조기 축적.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APOE와 지질 대사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지질화 저하·불안정(도메인 상호작용) → 신경세포 콜레스테롤 수송 저하, 성상세포·미세아교세포 </a:t>
            </a:r>
            <a:r>
              <a:rPr sz="1600" b="1" i="0">
                <a:solidFill>
                  <a:srgbClr val="2E3F4C"/>
                </a:solidFill>
                <a:latin typeface="Malgun Gothic"/>
                <a:ea typeface="Malgun Gothic"/>
                <a:cs typeface="Malgun Gothic"/>
              </a:rPr>
              <a:t>지방구 축적</a:t>
            </a:r>
            <a:r>
              <a:rPr sz="1600" b="0" i="0">
                <a:solidFill>
                  <a:srgbClr val="2E3F4C"/>
                </a:solidFill>
                <a:latin typeface="Malgun Gothic"/>
                <a:ea typeface="Malgun Gothic"/>
                <a:cs typeface="Malgun Gothic"/>
              </a:rPr>
              <a:t>(APOE4 iPSC 미세아교세포의 ACSL1⁺ 지방구 — Haney et al., Nature 2024).</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미세아교세포 반응 이상(TREM2–APOE 축), 타우 매개 신경퇴행 증가(Aβ와 독립).</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BBB 붕괴</a:t>
            </a:r>
            <a:r>
              <a:rPr sz="1600" b="0" i="0">
                <a:solidFill>
                  <a:srgbClr val="2E3F4C"/>
                </a:solidFill>
                <a:latin typeface="Malgun Gothic"/>
                <a:ea typeface="Malgun Gothic"/>
                <a:cs typeface="Malgun Gothic"/>
              </a:rPr>
              <a:t>(주피세포 사이클로필린 A–MMP9 경로; 인지 저하 예측).</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올리고덴드로사이트 콜레스테롤 수송 결함 → 수초 이상(Blanchard et al., Nature 2022; 사이클로덱스트린으로 회복).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APOE 보호 변이: </a:t>
            </a:r>
            <a:r>
              <a:rPr sz="1800" b="1" i="0">
                <a:solidFill>
                  <a:srgbClr val="11202B"/>
                </a:solidFill>
                <a:latin typeface="Malgun Gothic"/>
                <a:ea typeface="Malgun Gothic"/>
                <a:cs typeface="Malgun Gothic"/>
              </a:rPr>
              <a:t>크라이스트처치 변이</a:t>
            </a:r>
            <a:r>
              <a:rPr sz="1800" b="0" i="0">
                <a:solidFill>
                  <a:srgbClr val="11202B"/>
                </a:solidFill>
                <a:latin typeface="Malgun Gothic"/>
                <a:ea typeface="Malgun Gothic"/>
                <a:cs typeface="Malgun Gothic"/>
              </a:rPr>
              <a:t>(R136S; PSEN1 E280A 가계에서 동형접합 보인자가 발병 30년 지연 — 헤파란 황산 결합 저하), APOE3 잭슨빌.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APOE와 지질 대사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기타 지질 유전자 GWAS: CLU(아포J), ABCA7, SORL1(엔도솜 APP 분류), TREM2, PLCG2.</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콜레스테롤: 뇌 콜레스테롤은 거의 전부 국소 합성(BBB 통과 못함), CYP46A1이 24S-하이드록시콜레스테롤로 배출. 중년 고콜레스테롤혈증 → AD 위험↑(스타틴 예방 RCT는 음성).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미토콘드리아·산화 스트레스·대사물질</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AD 뇌·말초 세포에서 복합체 IV 활성 저하, mtDNA 결손 증가, 미토파지 결함(PINK1–Parkin 경로; NAD⁺ 보충으로 동물 모델 개선).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미토콘드리아 연쇄 가설</a:t>
            </a:r>
            <a:r>
              <a:rPr sz="1800" b="0" i="0">
                <a:solidFill>
                  <a:srgbClr val="11202B"/>
                </a:solidFill>
                <a:latin typeface="Malgun Gothic"/>
                <a:ea typeface="Malgun Gothic"/>
                <a:cs typeface="Malgun Gothic"/>
              </a:rPr>
              <a:t>: 개인의 미토콘드리아 기능 기저치·노화 속도가 AD 발병을 결정(Swerdlow).</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Aβ 올리고머는 미토콘드리아 단백(ABAD, 사이클로필린 D)과 결합, 시냅스 미토콘드리아 손상.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산화 손상 표지(4-HNE, 8-OHdG, 단백 카보닐) 증가, 철 축적(페로토시스 연관), 구리·아연의 Aβ 응집 촉진.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혈액·CSF 대사체: 아실카르니틴·인지질(PC)·BCAA·담즙산 변화, 단일 표지보다 패턴.</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뇌척수액 젖산·피루브산 변화, 해마 MR 분광 NAA↓·미오이노시톨↑(성상세포 활성).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대사 위험인자와 대사 표적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Lancet 위원회(2024)</a:t>
            </a:r>
            <a:r>
              <a:rPr sz="1800" b="0" i="0">
                <a:solidFill>
                  <a:srgbClr val="11202B"/>
                </a:solidFill>
                <a:latin typeface="Malgun Gothic"/>
                <a:ea typeface="Malgun Gothic"/>
                <a:cs typeface="Malgun Gothic"/>
              </a:rPr>
              <a:t>: 치매의 약 45%가 14개 수정 가능 위험인자와 연관 — 낮은 교육, 청력 손실, </a:t>
            </a:r>
            <a:r>
              <a:rPr sz="1800" b="1" i="0">
                <a:solidFill>
                  <a:srgbClr val="11202B"/>
                </a:solidFill>
                <a:latin typeface="Malgun Gothic"/>
                <a:ea typeface="Malgun Gothic"/>
                <a:cs typeface="Malgun Gothic"/>
              </a:rPr>
              <a:t>고LDL</a:t>
            </a:r>
            <a:r>
              <a:rPr sz="1800" b="0" i="0">
                <a:solidFill>
                  <a:srgbClr val="11202B"/>
                </a:solidFill>
                <a:latin typeface="Malgun Gothic"/>
                <a:ea typeface="Malgun Gothic"/>
                <a:cs typeface="Malgun Gothic"/>
              </a:rPr>
              <a:t>, 우울, 외상성 뇌손상, 신체 비활동, </a:t>
            </a:r>
            <a:r>
              <a:rPr sz="1800" b="1" i="0">
                <a:solidFill>
                  <a:srgbClr val="11202B"/>
                </a:solidFill>
                <a:latin typeface="Malgun Gothic"/>
                <a:ea typeface="Malgun Gothic"/>
                <a:cs typeface="Malgun Gothic"/>
              </a:rPr>
              <a:t>당뇨</a:t>
            </a:r>
            <a:r>
              <a:rPr sz="1800" b="0" i="0">
                <a:solidFill>
                  <a:srgbClr val="11202B"/>
                </a:solidFill>
                <a:latin typeface="Malgun Gothic"/>
                <a:ea typeface="Malgun Gothic"/>
                <a:cs typeface="Malgun Gothic"/>
              </a:rPr>
              <a:t>, 흡연, </a:t>
            </a:r>
            <a:r>
              <a:rPr sz="1800" b="1" i="0">
                <a:solidFill>
                  <a:srgbClr val="11202B"/>
                </a:solidFill>
                <a:latin typeface="Malgun Gothic"/>
                <a:ea typeface="Malgun Gothic"/>
                <a:cs typeface="Malgun Gothic"/>
              </a:rPr>
              <a:t>고혈압</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비만</a:t>
            </a:r>
            <a:r>
              <a:rPr sz="1800" b="0" i="0">
                <a:solidFill>
                  <a:srgbClr val="11202B"/>
                </a:solidFill>
                <a:latin typeface="Malgun Gothic"/>
                <a:ea typeface="Malgun Gothic"/>
                <a:cs typeface="Malgun Gothic"/>
              </a:rPr>
              <a:t>, 과음, 사회적 고립, 대기오염, 시력 손실.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근거 있는 개입: 혈압 조절(SPRINT-MIND: 경도인지장애 감소), 다영역 개입(FINGER — 식이·운동·인지·혈관 위험 관리; 한국 SUPERBRAIN), 청력 보조(ACHIEVE — 고위험군).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질환 수정 치료(항아밀로이드 항체 레카네맙·도나네맙)와 ARIA 위험의 APOE4 의존성은 B08 L07에서 다룬다. </a:t>
            </a:r>
            <a:r>
              <a:rPr sz="1800" b="1" i="0">
                <a:solidFill>
                  <a:srgbClr val="11202B"/>
                </a:solidFill>
                <a:latin typeface="Malgun Gothic"/>
                <a:ea typeface="Malgun Gothic"/>
                <a:cs typeface="Malgun Gothic"/>
              </a:rPr>
              <a:t>APOE4 동형접합 환자는 ARIA 위험이 크게 높아 유전형 확인이 필요하다</a:t>
            </a:r>
            <a:r>
              <a:rPr sz="1800" b="0" i="0">
                <a:solidFill>
                  <a:srgbClr val="11202B"/>
                </a:solidFill>
                <a:latin typeface="Malgun Gothic"/>
                <a:ea typeface="Malgun Gothic"/>
                <a:cs typeface="Malgun Gothic"/>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대사 위험인자와 대사 표적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대사 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근거</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GLP-1 RA(세마글루타이드)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관찰·메타분석에서 치매 감소 신호 → EVOKE/EVOKE+ 3상(초기 AD) </a:t>
                      </a:r>
                      <a:r>
                        <a:rPr sz="1500" b="1" i="0">
                          <a:solidFill>
                            <a:srgbClr val="11202B"/>
                          </a:solidFill>
                          <a:latin typeface="Malgun Gothic"/>
                          <a:ea typeface="Malgun Gothic"/>
                          <a:cs typeface="Malgun Gothic"/>
                        </a:rPr>
                        <a:t>1차 결과 음성(2025)</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메트포르민</a:t>
                      </a:r>
                    </a:p>
                  </a:txBody>
                  <a:tcPr marL="73152" marR="73152">
                    <a:solidFill>
                      <a:srgbClr val="ECF1F5"/>
                    </a:solidFill>
                  </a:tcPr>
                </a:tc>
                <a:tc>
                  <a:txBody>
                    <a:bodyPr/>
                    <a:lstStyle/>
                    <a:p>
                      <a:r>
                        <a:rPr sz="1500" b="0" i="0">
                          <a:solidFill>
                            <a:srgbClr val="11202B"/>
                          </a:solidFill>
                          <a:latin typeface="Malgun Gothic"/>
                          <a:ea typeface="Malgun Gothic"/>
                          <a:cs typeface="Malgun Gothic"/>
                        </a:rPr>
                        <a:t>관찰 근거 혼재; MAP 시험(경도인지장애) 진행</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케톤 공급(MCT 오일, 케톤 에스터, 케톤생성식이)</a:t>
                      </a:r>
                    </a:p>
                  </a:txBody>
                  <a:tcPr marL="73152" marR="73152">
                    <a:solidFill>
                      <a:srgbClr val="FFFFFF"/>
                    </a:solidFill>
                  </a:tcPr>
                </a:tc>
                <a:tc>
                  <a:txBody>
                    <a:bodyPr/>
                    <a:lstStyle/>
                    <a:p>
                      <a:r>
                        <a:rPr sz="1500" b="0" i="0">
                          <a:solidFill>
                            <a:srgbClr val="11202B"/>
                          </a:solidFill>
                          <a:latin typeface="Malgun Gothic"/>
                          <a:ea typeface="Malgun Gothic"/>
                          <a:cs typeface="Malgun Gothic"/>
                        </a:rPr>
                        <a:t>뇌 케톤 이용은 AD에서도 보존 → 소규모 인지 개선 신호, 대규모 근거 부족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비강 내 인슐린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3상 음성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오메가-3(DHA)</a:t>
                      </a:r>
                    </a:p>
                  </a:txBody>
                  <a:tcPr marL="73152" marR="73152">
                    <a:solidFill>
                      <a:srgbClr val="FFFFFF"/>
                    </a:solidFill>
                  </a:tcPr>
                </a:tc>
                <a:tc>
                  <a:txBody>
                    <a:bodyPr/>
                    <a:lstStyle/>
                    <a:p>
                      <a:r>
                        <a:rPr sz="1500" b="0" i="0">
                          <a:solidFill>
                            <a:srgbClr val="11202B"/>
                          </a:solidFill>
                          <a:latin typeface="Malgun Gothic"/>
                          <a:ea typeface="Malgun Gothic"/>
                          <a:cs typeface="Malgun Gothic"/>
                        </a:rPr>
                        <a:t>APOE4 보인자 경로 관심, RCT 대체로 음성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운동</a:t>
                      </a:r>
                    </a:p>
                  </a:txBody>
                  <a:tcPr marL="73152" marR="73152">
                    <a:solidFill>
                      <a:srgbClr val="ECF1F5"/>
                    </a:solidFill>
                  </a:tcPr>
                </a:tc>
                <a:tc>
                  <a:txBody>
                    <a:bodyPr/>
                    <a:lstStyle/>
                    <a:p>
                      <a:r>
                        <a:rPr sz="1500" b="0" i="0">
                          <a:solidFill>
                            <a:srgbClr val="11202B"/>
                          </a:solidFill>
                          <a:latin typeface="Malgun Gothic"/>
                          <a:ea typeface="Malgun Gothic"/>
                          <a:cs typeface="Malgun Gothic"/>
                        </a:rPr>
                        <a:t>해마 부피·BDNF 증가, 다영역 개입의 핵심</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 표적 치료: APOE4를 APOE2/크라이스트처치형으로 바꾸는 유전자 치료(AAV-APOE2 1상), APOE 항체(HAE-4), APOE4 구조 교정 소분자, 성상세포 지질화 촉진(LXR/ABCA1)이 연구 중이다.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미세아교세포 지질 대사(TREM2 작용 항체 — 3상 실패 사례 포함), 뇌 림프 배출과 대사 노폐물 제거(B08 L02)가 연구 축으로 확장되고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혈장 p-tau217 시대에 대사 위험인자를 가진 인지 정상인의 바이오마커 기반 예방 시험(AHEAD 3-45 등)이 진행 중이다.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뇌는 포도당 의존적이고 성상세포-신경세포 대사 협력(젖산·글루탐산-글루타민)으로 시냅스 에너지를 충당한다.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AD는 증상 이전부터 측두두정·후대상 포도당 저대사와 뇌 인슐린 신호 저하를 보이며 2형 당뇨는 위험을 높인다.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APOE4는 Aβ 제거 저하, 지질 수송 결함, 교세포 지방구, BBB 손상으로 AD 위험을 크게 높인다.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미토콘드리아 기능 저하·산화 스트레스·금속 이상이 AD 병리와 상호 증폭한다.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혈관대사 위험인자 관리는 치매 예방의 근거가 있으나, 단일 대사 약물(GLP-1RA, 인슐린)은 아직 질환 수정 효과가 입증되지 않았다.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AD 환자의 FDG-PET에서 후대상피질과 측두두정엽 저대사가 나타나는 생물학적 의미는?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FDG 흡수는 주로 시냅스 활동(이온 기울기 회복·신경전달물질 재생)에 쓰이는 포도당 소비를 반영하므로, 저대사는 시냅스 기능 저하와 신경 손실(신경퇴행)을 나타낸다. 기본 모드 네트워크 영역이 먼저 침범되는 AD 특유의 패턴은 전두측두치매(전두·전측두 저대사), 레비소체치매(후두엽 저대사, 후대상 보존 — '대상섬 징후')와 감별에 쓰인다.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APOE4가 AD 위험을 높이는 기전을 세 가지 서술하라.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Aβ와 결합해 응집을 촉진하고 혈관 주위·수용체 매개 Aβ 제거를 저하시켜 아밀로이드가 조기 축적된다. (2) 지질화·안정성이 떨어져 신경세포·올리고덴드로사이트로의 콜레스테롤 수송이 저하되고 교세포에 지방구가 쌓이며 미세아교세포 반응이 비정상적이 된다. (3) 주피세포 손상을 통한 혈액뇌장벽 붕괴와 타우 매개 신경퇴행 증가가 일어난다.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노인 당뇨 환자에서 지나친 혈당 강하가 인지 기능에 해로울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뇌는 포도당 저장이 거의 없어 저혈당에 매우 취약하고, 반복적인 중증 저혈당은 해마·피질 신경세포 손상과 인지 저하·치매 위험 증가와 연관된다. 노인은 저혈당 인지 증상(교감 반응)이 둔하고 회복이 느리므로 개별화된 덜 엄격한 HbA1c 목표와 저혈당 위험이 낮은 약제를 선택한다.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크라이스트처치 APOE 변이의 발견이 치료 개발에 주는 시사점은?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PSEN1 E280A 가계에서 APOE3 크라이스트처치(R136S) 동형접합 보인자는 아밀로이드가 매우 많음에도 타우 확산과 인지 저하가 약 30년 지연되었다. 이는 APOE의 헤파란 황산 결합(타우 확산·흡수 관여)을 줄이면 아밀로이드 하류의 타우 병리와 신경퇴행을 막을 수 있음을 시사하며, 이를 모방하는 항체·유전자 치료 개발의 근거가 되었다.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Magistretti PJ, Allaman I. A cellular perspective on brain energy metabolism and functional imaging. Neuron 2015;86:883–901.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Yamazaki Y et al. Apolipoprotein E and Alzheimer disease: pathobiology and targeting strategies. Nat Rev Neurol 2019;15:501–518.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Livingston G et al. Dementia prevention, intervention, and care: 2024 report of the Lancet standing Commission. Lancet 2024;404:572–628.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Arboleda-Velasquez JF et al. Resistance to autosomal dominant Alzheimer's disease in an APOE3 Christchurch homozygote. Nat Med 2019;25:1680–1683.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Fortea J et al. APOE4 homozygozity represents a distinct genetic form of Alzheimer's disease. Nat Med 2024;30:1284–1291.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