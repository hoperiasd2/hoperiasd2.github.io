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이화를 멈추고 단백 합성(동화)을 유도하면 혈중 류신이 단백질에 결합되어 감소한다. 그런데 류신을 제외한 BCAA 없는 아미노산을 주면 이소류신·발린이 먼저 고갈되어 단백 합성이 멈추므로 류신이 단백으로 이용되지 못한다. 이소류신·발린을 보충해야 단백 합성이 지속되어 류신이 빠르게 감소한다.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저용량 L-DOPA(카비도파 병용) 시험 투여. 세가와병(GTPCH1 우성 결핍 — 도파 반응성 근긴장이상)은 BH₄ 부족으로 흑질선조체 도파민이 감소해 일중 변동형 근긴장이상을 일으키며, 저용량 L-DOPA에 극적이고 지속적으로 반응하고 장기 합병증도 적다. 모든 원인 불명 소아 근긴장이상에서 진단적 치료로 시도한다.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태반은 아미노산을 능동 수송해 태아 혈중 Phe가 산모보다 1.5–2배 높게 된다. 높은 Phe는 태아 뇌 발생(신경세포 이동·수초화)과 심장 발생을 방해해 소두증, 지적장애, 선천심질환, 성장지연을 일으킨다. 태아의 PAH 활성은 이 부하를 감당하지 못하므로 임신 전부터 산모 Phe를 120–360 µmol/L로 유지해야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크레아틴 수송체 결핍(SLC6A8, X연관). 크레아틴이 뇌로 수송되지 못해 뇌 크레아틴이 결핍되며, 소변으로 크레아틴이 많이 배설된다. GAMT·AGAT 결핍과 달리 크레아틴 보충으로 뇌 크레아틴이 회복되지 않아 효과가 제한적이며, 크레아틴 유도체·유전자 치료가 연구 중이다. 어머니 보인자 검사와 유전 상담이 필요하다.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B05 신경질환과 대사학  ·  유전대사 신경질환</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3200" b="1" i="0">
                <a:solidFill>
                  <a:srgbClr val="FFFFFF"/>
                </a:solidFill>
                <a:latin typeface="Malgun Gothic"/>
                <a:ea typeface="Malgun Gothic"/>
                <a:cs typeface="Malgun Gothic"/>
              </a:rPr>
              <a:t>아미노산 대사 신경질환: PKU, MSUD, 신경전달물질 질환</a:t>
            </a:r>
          </a:p>
          <a:p>
            <a:r>
              <a:rPr sz="2000" b="0" i="0">
                <a:solidFill>
                  <a:srgbClr val="C2CDD6"/>
                </a:solidFill>
                <a:latin typeface="Malgun Gothic"/>
                <a:ea typeface="Malgun Gothic"/>
                <a:cs typeface="Malgun Gothic"/>
              </a:rPr>
              <a:t>Neurological Disorders of Amino Acid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B05-L14</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아미노산 대사 이상이 뇌 발달·기능을 손상하는 공통 기전(혈액뇌장벽 경쟁, 신경전달물질, 수초, 흥분독성)을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PKU의 뇌 손상 기전과 평생 관리, 모성 PKU를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MSUD의 류신 신경독성·뇌부종과 급성 관리를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신경전달물질 질환(BH₄ 결핍, AADC 결핍, TH 결핍, GABA·글리신 대사 이상)의 진단과 치료를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호모시스틴뇨증·크레아틴 결핍·세린 결핍 등 치료 가능한 신경대사 질환을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아미노산 이상과 뇌 손상의 공통 기전</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페닐케톤뇨증(PKU)의 신경학</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단풍당뇨병(MSUD)의 신경학</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신경전달물질 질환</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기타 치료 가능한 아미노산 신경대사 질환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아미노산 이상과 뇌 손상의 공통 기전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혈액뇌장벽 경쟁</a:t>
            </a:r>
            <a:r>
              <a:rPr sz="1800" b="0" i="0">
                <a:solidFill>
                  <a:srgbClr val="11202B"/>
                </a:solidFill>
                <a:latin typeface="Malgun Gothic"/>
                <a:ea typeface="Malgun Gothic"/>
                <a:cs typeface="Malgun Gothic"/>
              </a:rPr>
              <a:t>: 대형 중성아미노산(LNAA: Phe, Tyr, Trp, Leu, Ile, Val, Met, His, Thr)은 </a:t>
            </a:r>
            <a:r>
              <a:rPr sz="1800" b="1" i="0">
                <a:solidFill>
                  <a:srgbClr val="11202B"/>
                </a:solidFill>
                <a:latin typeface="Malgun Gothic"/>
                <a:ea typeface="Malgun Gothic"/>
                <a:cs typeface="Malgun Gothic"/>
              </a:rPr>
              <a:t>LAT1</a:t>
            </a:r>
            <a:r>
              <a:rPr sz="1800" b="0" i="0">
                <a:solidFill>
                  <a:srgbClr val="11202B"/>
                </a:solidFill>
                <a:latin typeface="Malgun Gothic"/>
                <a:ea typeface="Malgun Gothic"/>
                <a:cs typeface="Malgun Gothic"/>
              </a:rPr>
              <a:t>(SLC7A5)을 공유 → 한 아미노산 과잉이 다른 아미노산의 뇌 유입을 차단(PKU에서 Phe↑ → 뇌 Tyr·Trp↓ → 도파민·세로토닌 합성↓; MSUD에서 Leu↑ → 다른 LNAA↓). SLC7A5 결손 자체도 자폐·소두증을 일으킨다.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신경전달물질 합성 장애</a:t>
            </a:r>
            <a:r>
              <a:rPr sz="1800" b="0" i="0">
                <a:solidFill>
                  <a:srgbClr val="11202B"/>
                </a:solidFill>
                <a:latin typeface="Malgun Gothic"/>
                <a:ea typeface="Malgun Gothic"/>
                <a:cs typeface="Malgun Gothic"/>
              </a:rPr>
              <a:t>: Tyr → 도파민·노르에피네프린, Trp → 세로토닌, Glu → GABA, Ser/Gly → NMDA 보조작용제, His → 히스타민.</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수초 형성 장애</a:t>
            </a:r>
            <a:r>
              <a:rPr sz="1800" b="0" i="0">
                <a:solidFill>
                  <a:srgbClr val="11202B"/>
                </a:solidFill>
                <a:latin typeface="Malgun Gothic"/>
                <a:ea typeface="Malgun Gothic"/>
                <a:cs typeface="Malgun Gothic"/>
              </a:rPr>
              <a:t>: 수초 단백·지질 합성에 필요한 아미노산 부족과 독성 대사물 → 백질 이상(PKU MRI 백질 T2 고신호 — Phe 수준과 연동해 가역적).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아미노산 이상과 뇌 손상의 공통 기전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에너지 대사 방해·흥분독성</a:t>
            </a:r>
            <a:r>
              <a:rPr sz="2200" b="0" i="0">
                <a:solidFill>
                  <a:srgbClr val="11202B"/>
                </a:solidFill>
                <a:latin typeface="Malgun Gothic"/>
                <a:ea typeface="Malgun Gothic"/>
                <a:cs typeface="Malgun Gothic"/>
              </a:rPr>
              <a:t>: 유기산·α-케토산 축적(MSUD α-KIC → α-KG 고갈·글루탐산 대사 방해), 고암모니아(B05 L08).</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발달 시기 의존성</a:t>
            </a:r>
            <a:r>
              <a:rPr sz="2200" b="0" i="0">
                <a:solidFill>
                  <a:srgbClr val="11202B"/>
                </a:solidFill>
                <a:latin typeface="Malgun Gothic"/>
                <a:ea typeface="Malgun Gothic"/>
                <a:cs typeface="Malgun Gothic"/>
              </a:rPr>
              <a:t>: 신경 발달(시냅스 형성·수초화)이 활발한 영아기에 손상이 가장 크고 비가역적.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페닐케톤뇨증(PKU)의 신경학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PAH 결손(B01 L10) → 혈중 Phe↑(고전적 PKU &gt;1,200 µmol/L).</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뇌 손상 기전: LAT1 경쟁으로 뇌 Tyr·Trp 결핍 → 도파민·세로토닌 감소(전전두 도파민 의존 </a:t>
            </a:r>
            <a:r>
              <a:rPr sz="1800" b="1" i="0">
                <a:solidFill>
                  <a:srgbClr val="11202B"/>
                </a:solidFill>
                <a:latin typeface="Malgun Gothic"/>
                <a:ea typeface="Malgun Gothic"/>
                <a:cs typeface="Malgun Gothic"/>
              </a:rPr>
              <a:t>집행기능</a:t>
            </a:r>
            <a:r>
              <a:rPr sz="1800" b="0" i="0">
                <a:solidFill>
                  <a:srgbClr val="11202B"/>
                </a:solidFill>
                <a:latin typeface="Malgun Gothic"/>
                <a:ea typeface="Malgun Gothic"/>
                <a:cs typeface="Malgun Gothic"/>
              </a:rPr>
              <a:t> 저하), Phe가 단백 합성·콜레스테롤 합성(HMGCR 억제)·피루브산 키나아제 억제, 수초 형성 장애, 산화 스트레스, Phe 아밀로이드 유사 섬유(가설).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미치료 시: 중증 지적장애, 소두증, 경련, 행동 문제(자해·공격성), 습진, 저색소, 쥐 오줌 냄새.</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치료 목표(유럽 지침): </a:t>
            </a:r>
            <a:r>
              <a:rPr sz="1800" b="1" i="0">
                <a:solidFill>
                  <a:srgbClr val="11202B"/>
                </a:solidFill>
                <a:latin typeface="Malgun Gothic"/>
                <a:ea typeface="Malgun Gothic"/>
                <a:cs typeface="Malgun Gothic"/>
              </a:rPr>
              <a:t>0–12세 120–360 µmol/L</a:t>
            </a:r>
            <a:r>
              <a:rPr sz="1800" b="0" i="0">
                <a:solidFill>
                  <a:srgbClr val="11202B"/>
                </a:solidFill>
                <a:latin typeface="Malgun Gothic"/>
                <a:ea typeface="Malgun Gothic"/>
                <a:cs typeface="Malgun Gothic"/>
              </a:rPr>
              <a:t>, 12세 이후 120–600 µmol/L(미국은 평생 120–360 권장).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페닐케톤뇨증(PKU)의 신경학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평생 치료</a:t>
            </a:r>
            <a:r>
              <a:rPr sz="1800" b="0" i="0">
                <a:solidFill>
                  <a:srgbClr val="11202B"/>
                </a:solidFill>
                <a:latin typeface="Malgun Gothic"/>
                <a:ea typeface="Malgun Gothic"/>
                <a:cs typeface="Malgun Gothic"/>
              </a:rPr>
              <a:t>: 식이 중단 시 성인에서 집행기능·주의력·처리 속도 저하, 우울·불안, 백질 변화(가역적) → 재치료로 개선.</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치료 수단: 저Phe 식이 + Phe 없는 아미노산 의료식(Tyr 보충), </a:t>
            </a:r>
            <a:r>
              <a:rPr sz="1800" b="1" i="0">
                <a:solidFill>
                  <a:srgbClr val="11202B"/>
                </a:solidFill>
                <a:latin typeface="Malgun Gothic"/>
                <a:ea typeface="Malgun Gothic"/>
                <a:cs typeface="Malgun Gothic"/>
              </a:rPr>
              <a:t>사프로프테린</a:t>
            </a:r>
            <a:r>
              <a:rPr sz="1800" b="0" i="0">
                <a:solidFill>
                  <a:srgbClr val="11202B"/>
                </a:solidFill>
                <a:latin typeface="Malgun Gothic"/>
                <a:ea typeface="Malgun Gothic"/>
                <a:cs typeface="Malgun Gothic"/>
              </a:rPr>
              <a:t>(BH₄; 반응형 약 25–50%), </a:t>
            </a:r>
            <a:r>
              <a:rPr sz="1800" b="1" i="0">
                <a:solidFill>
                  <a:srgbClr val="11202B"/>
                </a:solidFill>
                <a:latin typeface="Malgun Gothic"/>
                <a:ea typeface="Malgun Gothic"/>
                <a:cs typeface="Malgun Gothic"/>
              </a:rPr>
              <a:t>페그발리아제</a:t>
            </a:r>
            <a:r>
              <a:rPr sz="1800" b="0" i="0">
                <a:solidFill>
                  <a:srgbClr val="11202B"/>
                </a:solidFill>
                <a:latin typeface="Malgun Gothic"/>
                <a:ea typeface="Malgun Gothic"/>
                <a:cs typeface="Malgun Gothic"/>
              </a:rPr>
              <a:t>(페닐알라닌 암모니아 분해효소 PEG — 성인, 아나필락시스 위험), </a:t>
            </a:r>
            <a:r>
              <a:rPr sz="1800" b="1" i="0">
                <a:solidFill>
                  <a:srgbClr val="11202B"/>
                </a:solidFill>
                <a:latin typeface="Malgun Gothic"/>
                <a:ea typeface="Malgun Gothic"/>
                <a:cs typeface="Malgun Gothic"/>
              </a:rPr>
              <a:t>세피아프테린</a:t>
            </a:r>
            <a:r>
              <a:rPr sz="1800" b="0" i="0">
                <a:solidFill>
                  <a:srgbClr val="11202B"/>
                </a:solidFill>
                <a:latin typeface="Malgun Gothic"/>
                <a:ea typeface="Malgun Gothic"/>
                <a:cs typeface="Malgun Gothic"/>
              </a:rPr>
              <a:t>(BH₄ 전구체, 2025 승인 — 반응률 더 높음), LNAA 보충(뇌 유입 경쟁 역이용 — 청소년·성인 보조), 글리코마크로펩타이드(GMP) 기반 의료식.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모성 PKU 증후군</a:t>
            </a:r>
            <a:r>
              <a:rPr sz="1800" b="0" i="0">
                <a:solidFill>
                  <a:srgbClr val="11202B"/>
                </a:solidFill>
                <a:latin typeface="Malgun Gothic"/>
                <a:ea typeface="Malgun Gothic"/>
                <a:cs typeface="Malgun Gothic"/>
              </a:rPr>
              <a:t>: 임신 중 산모 Phe↑ → 태반 능동 수송으로 태아 Phe가 더 높음 → 소두증, 지적장애, </a:t>
            </a:r>
            <a:r>
              <a:rPr sz="1800" b="1" i="0">
                <a:solidFill>
                  <a:srgbClr val="11202B"/>
                </a:solidFill>
                <a:latin typeface="Malgun Gothic"/>
                <a:ea typeface="Malgun Gothic"/>
                <a:cs typeface="Malgun Gothic"/>
              </a:rPr>
              <a:t>선천심질환</a:t>
            </a:r>
            <a:r>
              <a:rPr sz="1800" b="0" i="0">
                <a:solidFill>
                  <a:srgbClr val="11202B"/>
                </a:solidFill>
                <a:latin typeface="Malgun Gothic"/>
                <a:ea typeface="Malgun Gothic"/>
                <a:cs typeface="Malgun Gothic"/>
              </a:rPr>
              <a:t>, 자궁내 성장지연 — 태아는 PKU가 아니어도 발생 → </a:t>
            </a:r>
            <a:r>
              <a:rPr sz="1800" b="1" i="0">
                <a:solidFill>
                  <a:srgbClr val="11202B"/>
                </a:solidFill>
                <a:latin typeface="Malgun Gothic"/>
                <a:ea typeface="Malgun Gothic"/>
                <a:cs typeface="Malgun Gothic"/>
              </a:rPr>
              <a:t>임신 전부터 Phe 120–360 유지</a:t>
            </a:r>
            <a:r>
              <a:rPr sz="1800" b="0" i="0">
                <a:solidFill>
                  <a:srgbClr val="11202B"/>
                </a:solidFill>
                <a:latin typeface="Malgun Gothic"/>
                <a:ea typeface="Malgun Gothic"/>
                <a:cs typeface="Malgun Gothic"/>
              </a:rPr>
              <a:t>로 예방.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단풍당뇨병(MSUD)의 신경학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BCKDH 결손(B01 L10) → BCAA·α-케토산 축적; </a:t>
            </a:r>
            <a:r>
              <a:rPr sz="1800" b="1" i="0">
                <a:solidFill>
                  <a:srgbClr val="11202B"/>
                </a:solidFill>
                <a:latin typeface="Malgun Gothic"/>
                <a:ea typeface="Malgun Gothic"/>
                <a:cs typeface="Malgun Gothic"/>
              </a:rPr>
              <a:t>류신과 α-케토이소카프로산(α-KIC)이 주된 신경독</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신경독성 기전:</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Leu의 LAT1 경쟁 → 뇌 Tyr·Trp·Val·Ile 등 결핍 → 신경전달물질·단백 합성 장애.</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α-KIC가 뇌에서 BCAT 역반응으로 글루탐산을 소모(α-KG 고갈) → 글루탐산·GABA·글루타민 감소, 에너지 대사 방해.</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뇌부종</a:t>
            </a:r>
            <a:r>
              <a:rPr sz="1600" b="0" i="0">
                <a:solidFill>
                  <a:srgbClr val="2E3F4C"/>
                </a:solidFill>
                <a:latin typeface="Malgun Gothic"/>
                <a:ea typeface="Malgun Gothic"/>
                <a:cs typeface="Malgun Gothic"/>
              </a:rPr>
              <a:t>: 혈중 Leu 급상승 시 삼투 변화·성상세포 부종 → 대사 위기의 주된 사망 원인.</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신생아 급성기: 생후 4–7일 수유 곤란, 기면, '자전거 페달' 운동·후궁반장, 단풍시럽 냄새, 혼수, 뇌부종(MRI 미엘린화 진행 부위 — 소뇌 백질·뇌간·내측 피막·시상의 확산 제한 '</a:t>
            </a:r>
            <a:r>
              <a:rPr sz="1800" b="1" i="0">
                <a:solidFill>
                  <a:srgbClr val="11202B"/>
                </a:solidFill>
                <a:latin typeface="Malgun Gothic"/>
                <a:ea typeface="Malgun Gothic"/>
                <a:cs typeface="Malgun Gothic"/>
              </a:rPr>
              <a:t>MSUD 부종</a:t>
            </a:r>
            <a:r>
              <a:rPr sz="1800" b="0" i="0">
                <a:solidFill>
                  <a:srgbClr val="11202B"/>
                </a:solidFill>
                <a:latin typeface="Malgun Gothic"/>
                <a:ea typeface="Malgun Gothic"/>
                <a:cs typeface="Malgun Gothic"/>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단풍당뇨병(MSUD)의 신경학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급성기 관리</a:t>
            </a:r>
            <a:r>
              <a:rPr sz="1800" b="0" i="0">
                <a:solidFill>
                  <a:srgbClr val="11202B"/>
                </a:solidFill>
                <a:latin typeface="Malgun Gothic"/>
                <a:ea typeface="Malgun Gothic"/>
                <a:cs typeface="Malgun Gothic"/>
              </a:rPr>
              <a:t>: 이화 억제(고칼로리 포도당 + 인슐린 + 지질), </a:t>
            </a:r>
            <a:r>
              <a:rPr sz="1800" b="1" i="0">
                <a:solidFill>
                  <a:srgbClr val="11202B"/>
                </a:solidFill>
                <a:latin typeface="Malgun Gothic"/>
                <a:ea typeface="Malgun Gothic"/>
                <a:cs typeface="Malgun Gothic"/>
              </a:rPr>
              <a:t>BCAA 없는 정맥/경관 아미노산 + 이소류신·발린 보충</a:t>
            </a:r>
            <a:r>
              <a:rPr sz="1800" b="0" i="0">
                <a:solidFill>
                  <a:srgbClr val="11202B"/>
                </a:solidFill>
                <a:latin typeface="Malgun Gothic"/>
                <a:ea typeface="Malgun Gothic"/>
                <a:cs typeface="Malgun Gothic"/>
              </a:rPr>
              <a:t>(이들의 결핍이 Leu 단백 합성 이용을 막으므로 보충해야 Leu가 빨리 떨어짐), 혈중 Leu 하루 750 µmol/L 이상 감소 목표, 고Leu·반응 불량 시 </a:t>
            </a:r>
            <a:r>
              <a:rPr sz="1800" b="1" i="0">
                <a:solidFill>
                  <a:srgbClr val="11202B"/>
                </a:solidFill>
                <a:latin typeface="Malgun Gothic"/>
                <a:ea typeface="Malgun Gothic"/>
                <a:cs typeface="Malgun Gothic"/>
              </a:rPr>
              <a:t>혈액투석/CRRT</a:t>
            </a:r>
            <a:r>
              <a:rPr sz="1800" b="0" i="0">
                <a:solidFill>
                  <a:srgbClr val="11202B"/>
                </a:solidFill>
                <a:latin typeface="Malgun Gothic"/>
                <a:ea typeface="Malgun Gothic"/>
                <a:cs typeface="Malgun Gothic"/>
              </a:rPr>
              <a:t>, 뇌부종 관리(고장성 식염수, 저장성 수액 금지, Na 140–145 유지).</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장기: BCAA 제한 식이(Leu 150–300 µmol/L 목표), 티아민 반응형 확인, </a:t>
            </a:r>
            <a:r>
              <a:rPr sz="1800" b="1" i="0">
                <a:solidFill>
                  <a:srgbClr val="11202B"/>
                </a:solidFill>
                <a:latin typeface="Malgun Gothic"/>
                <a:ea typeface="Malgun Gothic"/>
                <a:cs typeface="Malgun Gothic"/>
              </a:rPr>
              <a:t>간이식</a:t>
            </a:r>
            <a:r>
              <a:rPr sz="1800" b="0" i="0">
                <a:solidFill>
                  <a:srgbClr val="11202B"/>
                </a:solidFill>
                <a:latin typeface="Malgun Gothic"/>
                <a:ea typeface="Malgun Gothic"/>
                <a:cs typeface="Malgun Gothic"/>
              </a:rPr>
              <a:t>(대사 위기 소실; 도미노 이식 — MSUD 간은 다른 환자에게 이식 가능, 말초 조직 BCKDH가 보완), 장기적 ADHD·불안·우울 위험 → 정신건강 관리.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신경전달물질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CSF 신경전달물질 검사: 채취 순서(첫 분획부터 농도 기울기 존재), 즉시 액체질소 동결·암실 보관, 연령별 기준치 — 표준화된 전문 실험실 필요.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신경전달물질 질환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1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1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100" b="1" i="0">
                          <a:solidFill>
                            <a:srgbClr val="FFFFFF"/>
                          </a:solidFill>
                          <a:latin typeface="Malgun Gothic"/>
                          <a:ea typeface="Malgun Gothic"/>
                          <a:cs typeface="Malgun Gothic"/>
                        </a:rPr>
                        <a:t>핵심 소견</a:t>
                      </a:r>
                    </a:p>
                  </a:txBody>
                  <a:tcPr marL="73152" marR="73152">
                    <a:solidFill>
                      <a:srgbClr val="003C71"/>
                    </a:solidFill>
                  </a:tcPr>
                </a:tc>
                <a:tc>
                  <a:txBody>
                    <a:bodyPr/>
                    <a:lstStyle/>
                    <a:p>
                      <a:r>
                        <a:rPr sz="1100" b="1" i="0">
                          <a:solidFill>
                            <a:srgbClr val="FFFFFF"/>
                          </a:solidFill>
                          <a:latin typeface="Malgun Gothic"/>
                          <a:ea typeface="Malgun Gothic"/>
                          <a:cs typeface="Malgun Gothic"/>
                        </a:rPr>
                        <a:t>CSF 신경전달물질 대사물</a:t>
                      </a:r>
                    </a:p>
                  </a:txBody>
                  <a:tcPr marL="73152" marR="73152">
                    <a:solidFill>
                      <a:srgbClr val="003C71"/>
                    </a:solidFill>
                  </a:tcPr>
                </a:tc>
                <a:tc>
                  <a:txBody>
                    <a:bodyPr/>
                    <a:lstStyle/>
                    <a:p>
                      <a:r>
                        <a:rPr sz="1100" b="1" i="0">
                          <a:solidFill>
                            <a:srgbClr val="FFFFFF"/>
                          </a:solidFill>
                          <a:latin typeface="Malgun Gothic"/>
                          <a:ea typeface="Malgun Gothic"/>
                          <a:cs typeface="Malgun Gothic"/>
                        </a:rPr>
                        <a:t>치료</a:t>
                      </a:r>
                    </a:p>
                  </a:txBody>
                  <a:tcPr marL="73152" marR="73152">
                    <a:solidFill>
                      <a:srgbClr val="003C71"/>
                    </a:solidFill>
                  </a:tcPr>
                </a:tc>
              </a:tr>
              <a:tr h="365760">
                <a:tc>
                  <a:txBody>
                    <a:bodyPr/>
                    <a:lstStyle/>
                    <a:p>
                      <a:r>
                        <a:rPr sz="1100" b="1" i="0">
                          <a:solidFill>
                            <a:srgbClr val="11202B"/>
                          </a:solidFill>
                          <a:latin typeface="Malgun Gothic"/>
                          <a:ea typeface="Malgun Gothic"/>
                          <a:cs typeface="Malgun Gothic"/>
                        </a:rPr>
                        <a:t>BH₄ 결핍</a:t>
                      </a:r>
                      <a:r>
                        <a:rPr sz="1100" b="0" i="0">
                          <a:solidFill>
                            <a:srgbClr val="11202B"/>
                          </a:solidFill>
                          <a:latin typeface="Malgun Gothic"/>
                          <a:ea typeface="Malgun Gothic"/>
                          <a:cs typeface="Malgun Gothic"/>
                        </a:rPr>
                        <a:t>(GTPCH, PTPS, DHPR, SR)</a:t>
                      </a:r>
                    </a:p>
                  </a:txBody>
                  <a:tcPr marL="73152" marR="73152">
                    <a:solidFill>
                      <a:srgbClr val="FFFFFF"/>
                    </a:solidFill>
                  </a:tcPr>
                </a:tc>
                <a:tc>
                  <a:txBody>
                    <a:bodyPr/>
                    <a:lstStyle/>
                    <a:p>
                      <a:r>
                        <a:rPr sz="1100" b="0" i="0">
                          <a:solidFill>
                            <a:srgbClr val="11202B"/>
                          </a:solidFill>
                          <a:latin typeface="Malgun Gothic"/>
                          <a:ea typeface="Malgun Gothic"/>
                          <a:cs typeface="Malgun Gothic"/>
                        </a:rPr>
                        <a:t>BH₄ 합성·재생</a:t>
                      </a:r>
                    </a:p>
                  </a:txBody>
                  <a:tcPr marL="73152" marR="73152">
                    <a:solidFill>
                      <a:srgbClr val="FFFFFF"/>
                    </a:solidFill>
                  </a:tcPr>
                </a:tc>
                <a:tc>
                  <a:txBody>
                    <a:bodyPr/>
                    <a:lstStyle/>
                    <a:p>
                      <a:r>
                        <a:rPr sz="1100" b="0" i="0">
                          <a:solidFill>
                            <a:srgbClr val="11202B"/>
                          </a:solidFill>
                          <a:latin typeface="Malgun Gothic"/>
                          <a:ea typeface="Malgun Gothic"/>
                          <a:cs typeface="Malgun Gothic"/>
                        </a:rPr>
                        <a:t>고Phe(SR 결핍 제외) + 도파민·세로토닌 결핍; 근긴장저하·안구운동발작·발달 지연</a:t>
                      </a:r>
                    </a:p>
                  </a:txBody>
                  <a:tcPr marL="73152" marR="73152">
                    <a:solidFill>
                      <a:srgbClr val="FFFFFF"/>
                    </a:solidFill>
                  </a:tcPr>
                </a:tc>
                <a:tc>
                  <a:txBody>
                    <a:bodyPr/>
                    <a:lstStyle/>
                    <a:p>
                      <a:r>
                        <a:rPr sz="1100" b="0" i="0">
                          <a:solidFill>
                            <a:srgbClr val="11202B"/>
                          </a:solidFill>
                          <a:latin typeface="Malgun Gothic"/>
                          <a:ea typeface="Malgun Gothic"/>
                          <a:cs typeface="Malgun Gothic"/>
                        </a:rPr>
                        <a:t>HVA↓, 5-HIAA↓, 프테린 패턴</a:t>
                      </a:r>
                    </a:p>
                  </a:txBody>
                  <a:tcPr marL="73152" marR="73152">
                    <a:solidFill>
                      <a:srgbClr val="FFFFFF"/>
                    </a:solidFill>
                  </a:tcPr>
                </a:tc>
                <a:tc>
                  <a:txBody>
                    <a:bodyPr/>
                    <a:lstStyle/>
                    <a:p>
                      <a:r>
                        <a:rPr sz="1100" b="0" i="0">
                          <a:solidFill>
                            <a:srgbClr val="11202B"/>
                          </a:solidFill>
                          <a:latin typeface="Malgun Gothic"/>
                          <a:ea typeface="Malgun Gothic"/>
                          <a:cs typeface="Malgun Gothic"/>
                        </a:rPr>
                        <a:t>BH₄ + L-DOPA/카비도파 + 5-HTP (+폴린산 DHPR)</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세가와병</a:t>
                      </a:r>
                      <a:r>
                        <a:rPr sz="1100" b="0" i="0">
                          <a:solidFill>
                            <a:srgbClr val="11202B"/>
                          </a:solidFill>
                          <a:latin typeface="Malgun Gothic"/>
                          <a:ea typeface="Malgun Gothic"/>
                          <a:cs typeface="Malgun Gothic"/>
                        </a:rPr>
                        <a:t>(도파 반응성 근긴장이상; GTPCH 우성)</a:t>
                      </a:r>
                    </a:p>
                  </a:txBody>
                  <a:tcPr marL="73152" marR="73152">
                    <a:solidFill>
                      <a:srgbClr val="ECF1F5"/>
                    </a:solidFill>
                  </a:tcPr>
                </a:tc>
                <a:tc>
                  <a:txBody>
                    <a:bodyPr/>
                    <a:lstStyle/>
                    <a:p>
                      <a:r>
                        <a:rPr sz="1100" b="0" i="0">
                          <a:solidFill>
                            <a:srgbClr val="11202B"/>
                          </a:solidFill>
                          <a:latin typeface="Malgun Gothic"/>
                          <a:ea typeface="Malgun Gothic"/>
                          <a:cs typeface="Malgun Gothic"/>
                        </a:rPr>
                        <a:t>경도 BH₄ 저하</a:t>
                      </a:r>
                    </a:p>
                  </a:txBody>
                  <a:tcPr marL="73152" marR="73152">
                    <a:solidFill>
                      <a:srgbClr val="ECF1F5"/>
                    </a:solidFill>
                  </a:tcPr>
                </a:tc>
                <a:tc>
                  <a:txBody>
                    <a:bodyPr/>
                    <a:lstStyle/>
                    <a:p>
                      <a:r>
                        <a:rPr sz="1100" b="0" i="0">
                          <a:solidFill>
                            <a:srgbClr val="11202B"/>
                          </a:solidFill>
                          <a:latin typeface="Malgun Gothic"/>
                          <a:ea typeface="Malgun Gothic"/>
                          <a:cs typeface="Malgun Gothic"/>
                        </a:rPr>
                        <a:t>소아 하지 근긴장이상, </a:t>
                      </a:r>
                      <a:r>
                        <a:rPr sz="1100" b="1" i="0">
                          <a:solidFill>
                            <a:srgbClr val="11202B"/>
                          </a:solidFill>
                          <a:latin typeface="Malgun Gothic"/>
                          <a:ea typeface="Malgun Gothic"/>
                          <a:cs typeface="Malgun Gothic"/>
                        </a:rPr>
                        <a:t>일중 변동</a:t>
                      </a:r>
                      <a:r>
                        <a:rPr sz="1100" b="0" i="0">
                          <a:solidFill>
                            <a:srgbClr val="11202B"/>
                          </a:solidFill>
                          <a:latin typeface="Malgun Gothic"/>
                          <a:ea typeface="Malgun Gothic"/>
                          <a:cs typeface="Malgun Gothic"/>
                        </a:rPr>
                        <a:t>(오후 악화), 고Phe 없음</a:t>
                      </a:r>
                    </a:p>
                  </a:txBody>
                  <a:tcPr marL="73152" marR="73152">
                    <a:solidFill>
                      <a:srgbClr val="ECF1F5"/>
                    </a:solidFill>
                  </a:tcPr>
                </a:tc>
                <a:tc>
                  <a:txBody>
                    <a:bodyPr/>
                    <a:lstStyle/>
                    <a:p>
                      <a:r>
                        <a:rPr sz="1100" b="0" i="0">
                          <a:solidFill>
                            <a:srgbClr val="11202B"/>
                          </a:solidFill>
                          <a:latin typeface="Malgun Gothic"/>
                          <a:ea typeface="Malgun Gothic"/>
                          <a:cs typeface="Malgun Gothic"/>
                        </a:rPr>
                        <a:t>HVA↓, 네오프테린·바이오프테린↓</a:t>
                      </a:r>
                    </a:p>
                  </a:txBody>
                  <a:tcPr marL="73152" marR="73152">
                    <a:solidFill>
                      <a:srgbClr val="ECF1F5"/>
                    </a:solidFill>
                  </a:tcPr>
                </a:tc>
                <a:tc>
                  <a:txBody>
                    <a:bodyPr/>
                    <a:lstStyle/>
                    <a:p>
                      <a:r>
                        <a:rPr sz="1100" b="1" i="0">
                          <a:solidFill>
                            <a:srgbClr val="11202B"/>
                          </a:solidFill>
                          <a:latin typeface="Malgun Gothic"/>
                          <a:ea typeface="Malgun Gothic"/>
                          <a:cs typeface="Malgun Gothic"/>
                        </a:rPr>
                        <a:t>저용량 L-DOPA에 극적·지속 반응</a:t>
                      </a:r>
                      <a:r>
                        <a:rPr sz="1100" b="0" i="0">
                          <a:solidFill>
                            <a:srgbClr val="11202B"/>
                          </a:solidFill>
                          <a:latin typeface="Malgun Gothic"/>
                          <a:ea typeface="Malgun Gothic"/>
                          <a:cs typeface="Malgun Gothic"/>
                        </a:rPr>
                        <a:t> — 모든 소아 근긴장이상에서 시도</a:t>
                      </a:r>
                    </a:p>
                  </a:txBody>
                  <a:tcPr marL="73152" marR="73152">
                    <a:solidFill>
                      <a:srgbClr val="ECF1F5"/>
                    </a:solidFill>
                  </a:tcPr>
                </a:tc>
              </a:tr>
              <a:tr h="365760">
                <a:tc>
                  <a:txBody>
                    <a:bodyPr/>
                    <a:lstStyle/>
                    <a:p>
                      <a:r>
                        <a:rPr sz="1100" b="1" i="0">
                          <a:solidFill>
                            <a:srgbClr val="11202B"/>
                          </a:solidFill>
                          <a:latin typeface="Malgun Gothic"/>
                          <a:ea typeface="Malgun Gothic"/>
                          <a:cs typeface="Malgun Gothic"/>
                        </a:rPr>
                        <a:t>TH 결핍</a:t>
                      </a:r>
                    </a:p>
                  </a:txBody>
                  <a:tcPr marL="73152" marR="73152">
                    <a:solidFill>
                      <a:srgbClr val="FFFFFF"/>
                    </a:solidFill>
                  </a:tcPr>
                </a:tc>
                <a:tc>
                  <a:txBody>
                    <a:bodyPr/>
                    <a:lstStyle/>
                    <a:p>
                      <a:r>
                        <a:rPr sz="1100" b="0" i="0">
                          <a:solidFill>
                            <a:srgbClr val="11202B"/>
                          </a:solidFill>
                          <a:latin typeface="Malgun Gothic"/>
                          <a:ea typeface="Malgun Gothic"/>
                          <a:cs typeface="Malgun Gothic"/>
                        </a:rPr>
                        <a:t>티로신 수산화효소</a:t>
                      </a:r>
                    </a:p>
                  </a:txBody>
                  <a:tcPr marL="73152" marR="73152">
                    <a:solidFill>
                      <a:srgbClr val="FFFFFF"/>
                    </a:solidFill>
                  </a:tcPr>
                </a:tc>
                <a:tc>
                  <a:txBody>
                    <a:bodyPr/>
                    <a:lstStyle/>
                    <a:p>
                      <a:r>
                        <a:rPr sz="1100" b="0" i="0">
                          <a:solidFill>
                            <a:srgbClr val="11202B"/>
                          </a:solidFill>
                          <a:latin typeface="Malgun Gothic"/>
                          <a:ea typeface="Malgun Gothic"/>
                          <a:cs typeface="Malgun Gothic"/>
                        </a:rPr>
                        <a:t>영아 파킨슨증·근긴장이상·안검하수</a:t>
                      </a:r>
                    </a:p>
                  </a:txBody>
                  <a:tcPr marL="73152" marR="73152">
                    <a:solidFill>
                      <a:srgbClr val="FFFFFF"/>
                    </a:solidFill>
                  </a:tcPr>
                </a:tc>
                <a:tc>
                  <a:txBody>
                    <a:bodyPr/>
                    <a:lstStyle/>
                    <a:p>
                      <a:r>
                        <a:rPr sz="1100" b="0" i="0">
                          <a:solidFill>
                            <a:srgbClr val="11202B"/>
                          </a:solidFill>
                          <a:latin typeface="Malgun Gothic"/>
                          <a:ea typeface="Malgun Gothic"/>
                          <a:cs typeface="Malgun Gothic"/>
                        </a:rPr>
                        <a:t>HVA↓, 5-HIAA 정상</a:t>
                      </a:r>
                    </a:p>
                  </a:txBody>
                  <a:tcPr marL="73152" marR="73152">
                    <a:solidFill>
                      <a:srgbClr val="FFFFFF"/>
                    </a:solidFill>
                  </a:tcPr>
                </a:tc>
                <a:tc>
                  <a:txBody>
                    <a:bodyPr/>
                    <a:lstStyle/>
                    <a:p>
                      <a:r>
                        <a:rPr sz="1100" b="0" i="0">
                          <a:solidFill>
                            <a:srgbClr val="11202B"/>
                          </a:solidFill>
                          <a:latin typeface="Malgun Gothic"/>
                          <a:ea typeface="Malgun Gothic"/>
                          <a:cs typeface="Malgun Gothic"/>
                        </a:rPr>
                        <a:t>L-DOPA</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AADC 결핍</a:t>
                      </a:r>
                    </a:p>
                  </a:txBody>
                  <a:tcPr marL="73152" marR="73152">
                    <a:solidFill>
                      <a:srgbClr val="ECF1F5"/>
                    </a:solidFill>
                  </a:tcPr>
                </a:tc>
                <a:tc>
                  <a:txBody>
                    <a:bodyPr/>
                    <a:lstStyle/>
                    <a:p>
                      <a:r>
                        <a:rPr sz="1100" b="0" i="0">
                          <a:solidFill>
                            <a:srgbClr val="11202B"/>
                          </a:solidFill>
                          <a:latin typeface="Malgun Gothic"/>
                          <a:ea typeface="Malgun Gothic"/>
                          <a:cs typeface="Malgun Gothic"/>
                        </a:rPr>
                        <a:t>방향족 아미노산 탈카복실화효소</a:t>
                      </a:r>
                    </a:p>
                  </a:txBody>
                  <a:tcPr marL="73152" marR="73152">
                    <a:solidFill>
                      <a:srgbClr val="ECF1F5"/>
                    </a:solidFill>
                  </a:tcPr>
                </a:tc>
                <a:tc>
                  <a:txBody>
                    <a:bodyPr/>
                    <a:lstStyle/>
                    <a:p>
                      <a:r>
                        <a:rPr sz="1100" b="1" i="0">
                          <a:solidFill>
                            <a:srgbClr val="11202B"/>
                          </a:solidFill>
                          <a:latin typeface="Malgun Gothic"/>
                          <a:ea typeface="Malgun Gothic"/>
                          <a:cs typeface="Malgun Gothic"/>
                        </a:rPr>
                        <a:t>안구운동발작</a:t>
                      </a:r>
                      <a:r>
                        <a:rPr sz="1100" b="0" i="0">
                          <a:solidFill>
                            <a:srgbClr val="11202B"/>
                          </a:solidFill>
                          <a:latin typeface="Malgun Gothic"/>
                          <a:ea typeface="Malgun Gothic"/>
                          <a:cs typeface="Malgun Gothic"/>
                        </a:rPr>
                        <a:t>, 근긴장저하, 자율 증상, 발달 지연</a:t>
                      </a:r>
                    </a:p>
                  </a:txBody>
                  <a:tcPr marL="73152" marR="73152">
                    <a:solidFill>
                      <a:srgbClr val="ECF1F5"/>
                    </a:solidFill>
                  </a:tcPr>
                </a:tc>
                <a:tc>
                  <a:txBody>
                    <a:bodyPr/>
                    <a:lstStyle/>
                    <a:p>
                      <a:r>
                        <a:rPr sz="1100" b="0" i="0">
                          <a:solidFill>
                            <a:srgbClr val="11202B"/>
                          </a:solidFill>
                          <a:latin typeface="Malgun Gothic"/>
                          <a:ea typeface="Malgun Gothic"/>
                          <a:cs typeface="Malgun Gothic"/>
                        </a:rPr>
                        <a:t>HVA·5-HIAA↓, </a:t>
                      </a:r>
                      <a:r>
                        <a:rPr sz="1100" b="1" i="0">
                          <a:solidFill>
                            <a:srgbClr val="11202B"/>
                          </a:solidFill>
                          <a:latin typeface="Malgun Gothic"/>
                          <a:ea typeface="Malgun Gothic"/>
                          <a:cs typeface="Malgun Gothic"/>
                        </a:rPr>
                        <a:t>3-OMD·L-DOPA·5-HTP↑</a:t>
                      </a:r>
                      <a:r>
                        <a:rPr sz="1100" b="0" i="0">
                          <a:solidFill>
                            <a:srgbClr val="11202B"/>
                          </a:solidFill>
                          <a:latin typeface="Malgun Gothic"/>
                          <a:ea typeface="Malgun Gothic"/>
                          <a:cs typeface="Malgun Gothic"/>
                        </a:rPr>
                        <a:t>; 혈장 AADC 활성↓</a:t>
                      </a:r>
                    </a:p>
                  </a:txBody>
                  <a:tcPr marL="73152" marR="73152">
                    <a:solidFill>
                      <a:srgbClr val="ECF1F5"/>
                    </a:solidFill>
                  </a:tcPr>
                </a:tc>
                <a:tc>
                  <a:txBody>
                    <a:bodyPr/>
                    <a:lstStyle/>
                    <a:p>
                      <a:r>
                        <a:rPr sz="1100" b="0" i="0">
                          <a:solidFill>
                            <a:srgbClr val="11202B"/>
                          </a:solidFill>
                          <a:latin typeface="Malgun Gothic"/>
                          <a:ea typeface="Malgun Gothic"/>
                          <a:cs typeface="Malgun Gothic"/>
                        </a:rPr>
                        <a:t>도파민 작용제, MAO 억제제, PLP; </a:t>
                      </a:r>
                      <a:r>
                        <a:rPr sz="1100" b="1" i="0">
                          <a:solidFill>
                            <a:srgbClr val="11202B"/>
                          </a:solidFill>
                          <a:latin typeface="Malgun Gothic"/>
                          <a:ea typeface="Malgun Gothic"/>
                          <a:cs typeface="Malgun Gothic"/>
                        </a:rPr>
                        <a:t>엘라도카겐 엑수파르보벡</a:t>
                      </a:r>
                      <a:r>
                        <a:rPr sz="1100" b="0" i="0">
                          <a:solidFill>
                            <a:srgbClr val="11202B"/>
                          </a:solidFill>
                          <a:latin typeface="Malgun Gothic"/>
                          <a:ea typeface="Malgun Gothic"/>
                          <a:cs typeface="Malgun Gothic"/>
                        </a:rPr>
                        <a:t>(AAV2-DDC 피각 주입; 2022 EU, 2024 FDA)</a:t>
                      </a:r>
                    </a:p>
                  </a:txBody>
                  <a:tcPr marL="73152" marR="73152">
                    <a:solidFill>
                      <a:srgbClr val="ECF1F5"/>
                    </a:solidFill>
                  </a:tcPr>
                </a:tc>
              </a:tr>
              <a:tr h="365760">
                <a:tc>
                  <a:txBody>
                    <a:bodyPr/>
                    <a:lstStyle/>
                    <a:p>
                      <a:r>
                        <a:rPr sz="1100" b="0" i="0">
                          <a:solidFill>
                            <a:srgbClr val="11202B"/>
                          </a:solidFill>
                          <a:latin typeface="Malgun Gothic"/>
                          <a:ea typeface="Malgun Gothic"/>
                          <a:cs typeface="Malgun Gothic"/>
                        </a:rPr>
                        <a:t>도파민 수송체 결핍 증후군</a:t>
                      </a:r>
                    </a:p>
                  </a:txBody>
                  <a:tcPr marL="73152" marR="73152">
                    <a:solidFill>
                      <a:srgbClr val="FFFFFF"/>
                    </a:solidFill>
                  </a:tcPr>
                </a:tc>
                <a:tc>
                  <a:txBody>
                    <a:bodyPr/>
                    <a:lstStyle/>
                    <a:p>
                      <a:r>
                        <a:rPr sz="1100" b="0" i="0">
                          <a:solidFill>
                            <a:srgbClr val="11202B"/>
                          </a:solidFill>
                          <a:latin typeface="Malgun Gothic"/>
                          <a:ea typeface="Malgun Gothic"/>
                          <a:cs typeface="Malgun Gothic"/>
                        </a:rPr>
                        <a:t>SLC6A3 (DAT)</a:t>
                      </a:r>
                    </a:p>
                  </a:txBody>
                  <a:tcPr marL="73152" marR="73152">
                    <a:solidFill>
                      <a:srgbClr val="FFFFFF"/>
                    </a:solidFill>
                  </a:tcPr>
                </a:tc>
                <a:tc>
                  <a:txBody>
                    <a:bodyPr/>
                    <a:lstStyle/>
                    <a:p>
                      <a:r>
                        <a:rPr sz="1100" b="0" i="0">
                          <a:solidFill>
                            <a:srgbClr val="11202B"/>
                          </a:solidFill>
                          <a:latin typeface="Malgun Gothic"/>
                          <a:ea typeface="Malgun Gothic"/>
                          <a:cs typeface="Malgun Gothic"/>
                        </a:rPr>
                        <a:t>영아 파킨슨증-근긴장이상</a:t>
                      </a:r>
                    </a:p>
                  </a:txBody>
                  <a:tcPr marL="73152" marR="73152">
                    <a:solidFill>
                      <a:srgbClr val="FFFFFF"/>
                    </a:solidFill>
                  </a:tcPr>
                </a:tc>
                <a:tc>
                  <a:txBody>
                    <a:bodyPr/>
                    <a:lstStyle/>
                    <a:p>
                      <a:r>
                        <a:rPr sz="1100" b="1" i="0">
                          <a:solidFill>
                            <a:srgbClr val="11202B"/>
                          </a:solidFill>
                          <a:latin typeface="Malgun Gothic"/>
                          <a:ea typeface="Malgun Gothic"/>
                          <a:cs typeface="Malgun Gothic"/>
                        </a:rPr>
                        <a:t>HVA↑</a:t>
                      </a:r>
                      <a:r>
                        <a:rPr sz="1100" b="0" i="0">
                          <a:solidFill>
                            <a:srgbClr val="11202B"/>
                          </a:solidFill>
                          <a:latin typeface="Malgun Gothic"/>
                          <a:ea typeface="Malgun Gothic"/>
                          <a:cs typeface="Malgun Gothic"/>
                        </a:rPr>
                        <a:t>(HVA/5-HIAA 비 상승)</a:t>
                      </a:r>
                    </a:p>
                  </a:txBody>
                  <a:tcPr marL="73152" marR="73152">
                    <a:solidFill>
                      <a:srgbClr val="FFFFFF"/>
                    </a:solidFill>
                  </a:tcPr>
                </a:tc>
                <a:tc>
                  <a:txBody>
                    <a:bodyPr/>
                    <a:lstStyle/>
                    <a:p>
                      <a:r>
                        <a:rPr sz="1100" b="0" i="0">
                          <a:solidFill>
                            <a:srgbClr val="11202B"/>
                          </a:solidFill>
                          <a:latin typeface="Malgun Gothic"/>
                          <a:ea typeface="Malgun Gothic"/>
                          <a:cs typeface="Malgun Gothic"/>
                        </a:rPr>
                        <a:t>제한적</a:t>
                      </a:r>
                    </a:p>
                  </a:txBody>
                  <a:tcPr marL="73152" marR="73152">
                    <a:solidFill>
                      <a:srgbClr val="FFFFFF"/>
                    </a:solidFill>
                  </a:tcPr>
                </a:tc>
              </a:tr>
              <a:tr h="365760">
                <a:tc>
                  <a:txBody>
                    <a:bodyPr/>
                    <a:lstStyle/>
                    <a:p>
                      <a:r>
                        <a:rPr sz="1100" b="0" i="0">
                          <a:solidFill>
                            <a:srgbClr val="11202B"/>
                          </a:solidFill>
                          <a:latin typeface="Malgun Gothic"/>
                          <a:ea typeface="Malgun Gothic"/>
                          <a:cs typeface="Malgun Gothic"/>
                        </a:rPr>
                        <a:t>VMAT2 결핍</a:t>
                      </a:r>
                    </a:p>
                  </a:txBody>
                  <a:tcPr marL="73152" marR="73152">
                    <a:solidFill>
                      <a:srgbClr val="ECF1F5"/>
                    </a:solidFill>
                  </a:tcPr>
                </a:tc>
                <a:tc>
                  <a:txBody>
                    <a:bodyPr/>
                    <a:lstStyle/>
                    <a:p>
                      <a:r>
                        <a:rPr sz="1100" b="0" i="0">
                          <a:solidFill>
                            <a:srgbClr val="11202B"/>
                          </a:solidFill>
                          <a:latin typeface="Malgun Gothic"/>
                          <a:ea typeface="Malgun Gothic"/>
                          <a:cs typeface="Malgun Gothic"/>
                        </a:rPr>
                        <a:t>SLC18A2</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r>
                        <a:rPr sz="1100" b="0" i="0">
                          <a:solidFill>
                            <a:srgbClr val="11202B"/>
                          </a:solidFill>
                          <a:latin typeface="Malgun Gothic"/>
                          <a:ea typeface="Malgun Gothic"/>
                          <a:cs typeface="Malgun Gothic"/>
                        </a:rPr>
                        <a:t>도파민 작용제</a:t>
                      </a:r>
                    </a:p>
                  </a:txBody>
                  <a:tcPr marL="73152" marR="73152">
                    <a:solidFill>
                      <a:srgbClr val="ECF1F5"/>
                    </a:solidFill>
                  </a:tcPr>
                </a:tc>
              </a:tr>
              <a:tr h="365760">
                <a:tc>
                  <a:txBody>
                    <a:bodyPr/>
                    <a:lstStyle/>
                    <a:p>
                      <a:r>
                        <a:rPr sz="1100" b="0" i="0">
                          <a:solidFill>
                            <a:srgbClr val="11202B"/>
                          </a:solidFill>
                          <a:latin typeface="Malgun Gothic"/>
                          <a:ea typeface="Malgun Gothic"/>
                          <a:cs typeface="Malgun Gothic"/>
                        </a:rPr>
                        <a:t>SSADH 결핍</a:t>
                      </a:r>
                    </a:p>
                  </a:txBody>
                  <a:tcPr marL="73152" marR="73152">
                    <a:solidFill>
                      <a:srgbClr val="FFFFFF"/>
                    </a:solidFill>
                  </a:tcPr>
                </a:tc>
                <a:tc>
                  <a:txBody>
                    <a:bodyPr/>
                    <a:lstStyle/>
                    <a:p>
                      <a:r>
                        <a:rPr sz="1100" b="0" i="0">
                          <a:solidFill>
                            <a:srgbClr val="11202B"/>
                          </a:solidFill>
                          <a:latin typeface="Malgun Gothic"/>
                          <a:ea typeface="Malgun Gothic"/>
                          <a:cs typeface="Malgun Gothic"/>
                        </a:rPr>
                        <a:t>ALDH5A1</a:t>
                      </a:r>
                    </a:p>
                  </a:txBody>
                  <a:tcPr marL="73152" marR="73152">
                    <a:solidFill>
                      <a:srgbClr val="FFFFFF"/>
                    </a:solidFill>
                  </a:tcPr>
                </a:tc>
                <a:tc>
                  <a:txBody>
                    <a:bodyPr/>
                    <a:lstStyle/>
                    <a:p>
                      <a:r>
                        <a:rPr sz="1100" b="0" i="0">
                          <a:solidFill>
                            <a:srgbClr val="11202B"/>
                          </a:solidFill>
                          <a:latin typeface="Malgun Gothic"/>
                          <a:ea typeface="Malgun Gothic"/>
                          <a:cs typeface="Malgun Gothic"/>
                        </a:rPr>
                        <a:t>발달 지연, 근긴장저하, 경련, 행동 문제</a:t>
                      </a:r>
                    </a:p>
                  </a:txBody>
                  <a:tcPr marL="73152" marR="73152">
                    <a:solidFill>
                      <a:srgbClr val="FFFFFF"/>
                    </a:solidFill>
                  </a:tcPr>
                </a:tc>
                <a:tc>
                  <a:txBody>
                    <a:bodyPr/>
                    <a:lstStyle/>
                    <a:p>
                      <a:r>
                        <a:rPr sz="1100" b="0" i="0">
                          <a:solidFill>
                            <a:srgbClr val="11202B"/>
                          </a:solidFill>
                          <a:latin typeface="Malgun Gothic"/>
                          <a:ea typeface="Malgun Gothic"/>
                          <a:cs typeface="Malgun Gothic"/>
                        </a:rPr>
                        <a:t>GHB↑(소변 유기산)</a:t>
                      </a:r>
                    </a:p>
                  </a:txBody>
                  <a:tcPr marL="73152" marR="73152">
                    <a:solidFill>
                      <a:srgbClr val="FFFFFF"/>
                    </a:solidFill>
                  </a:tcPr>
                </a:tc>
                <a:tc>
                  <a:txBody>
                    <a:bodyPr/>
                    <a:lstStyle/>
                    <a:p>
                      <a:r>
                        <a:rPr sz="1100" b="0" i="0">
                          <a:solidFill>
                            <a:srgbClr val="11202B"/>
                          </a:solidFill>
                          <a:latin typeface="Malgun Gothic"/>
                          <a:ea typeface="Malgun Gothic"/>
                          <a:cs typeface="Malgun Gothic"/>
                        </a:rPr>
                        <a:t>비가바트린(논쟁), 대증</a:t>
                      </a:r>
                    </a:p>
                  </a:txBody>
                  <a:tcPr marL="73152" marR="73152">
                    <a:solidFill>
                      <a:srgbClr val="FFFFFF"/>
                    </a:solidFill>
                  </a:tcPr>
                </a:tc>
              </a:tr>
              <a:tr h="365760">
                <a:tc>
                  <a:txBody>
                    <a:bodyPr/>
                    <a:lstStyle/>
                    <a:p>
                      <a:r>
                        <a:rPr sz="1100" b="0" i="0">
                          <a:solidFill>
                            <a:srgbClr val="11202B"/>
                          </a:solidFill>
                          <a:latin typeface="Malgun Gothic"/>
                          <a:ea typeface="Malgun Gothic"/>
                          <a:cs typeface="Malgun Gothic"/>
                        </a:rPr>
                        <a:t>GABA-T 결핍</a:t>
                      </a:r>
                    </a:p>
                  </a:txBody>
                  <a:tcPr marL="73152" marR="73152">
                    <a:solidFill>
                      <a:srgbClr val="ECF1F5"/>
                    </a:solidFill>
                  </a:tcPr>
                </a:tc>
                <a:tc>
                  <a:txBody>
                    <a:bodyPr/>
                    <a:lstStyle/>
                    <a:p>
                      <a:r>
                        <a:rPr sz="1100" b="0" i="0">
                          <a:solidFill>
                            <a:srgbClr val="11202B"/>
                          </a:solidFill>
                          <a:latin typeface="Malgun Gothic"/>
                          <a:ea typeface="Malgun Gothic"/>
                          <a:cs typeface="Malgun Gothic"/>
                        </a:rPr>
                        <a:t>ABAT</a:t>
                      </a:r>
                    </a:p>
                  </a:txBody>
                  <a:tcPr marL="73152" marR="73152">
                    <a:solidFill>
                      <a:srgbClr val="ECF1F5"/>
                    </a:solidFill>
                  </a:tcPr>
                </a:tc>
                <a:tc>
                  <a:txBody>
                    <a:bodyPr/>
                    <a:lstStyle/>
                    <a:p>
                      <a:r>
                        <a:rPr sz="1100" b="0" i="0">
                          <a:solidFill>
                            <a:srgbClr val="11202B"/>
                          </a:solidFill>
                          <a:latin typeface="Malgun Gothic"/>
                          <a:ea typeface="Malgun Gothic"/>
                          <a:cs typeface="Malgun Gothic"/>
                        </a:rPr>
                        <a:t>영아 뇌병증·과다 성장</a:t>
                      </a:r>
                    </a:p>
                  </a:txBody>
                  <a:tcPr marL="73152" marR="73152">
                    <a:solidFill>
                      <a:srgbClr val="ECF1F5"/>
                    </a:solidFill>
                  </a:tcPr>
                </a:tc>
                <a:tc>
                  <a:txBody>
                    <a:bodyPr/>
                    <a:lstStyle/>
                    <a:p>
                      <a:r>
                        <a:rPr sz="1100" b="0" i="0">
                          <a:solidFill>
                            <a:srgbClr val="11202B"/>
                          </a:solidFill>
                          <a:latin typeface="Malgun Gothic"/>
                          <a:ea typeface="Malgun Gothic"/>
                          <a:cs typeface="Malgun Gothic"/>
                        </a:rPr>
                        <a:t>GABA↑</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신경전달물질 질환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500" b="1" i="0">
                          <a:solidFill>
                            <a:srgbClr val="FFFFFF"/>
                          </a:solidFill>
                          <a:latin typeface="Malgun Gothic"/>
                          <a:ea typeface="Malgun Gothic"/>
                          <a:cs typeface="Malgun Gothic"/>
                        </a:rPr>
                        <a:t>핵심 소견</a:t>
                      </a:r>
                    </a:p>
                  </a:txBody>
                  <a:tcPr marL="73152" marR="73152">
                    <a:solidFill>
                      <a:srgbClr val="003C71"/>
                    </a:solidFill>
                  </a:tcPr>
                </a:tc>
                <a:tc>
                  <a:txBody>
                    <a:bodyPr/>
                    <a:lstStyle/>
                    <a:p>
                      <a:r>
                        <a:rPr sz="1500" b="1" i="0">
                          <a:solidFill>
                            <a:srgbClr val="FFFFFF"/>
                          </a:solidFill>
                          <a:latin typeface="Malgun Gothic"/>
                          <a:ea typeface="Malgun Gothic"/>
                          <a:cs typeface="Malgun Gothic"/>
                        </a:rPr>
                        <a:t>CSF 신경전달물질 대사물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치료</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비케톤성 고글리신혈증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GCS(GLDC, AMT)</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신생아 무호흡·딸꾹질·버스트-억제 EEG</a:t>
                      </a:r>
                    </a:p>
                  </a:txBody>
                  <a:tcPr marL="73152" marR="73152">
                    <a:solidFill>
                      <a:srgbClr val="FFFFFF"/>
                    </a:solidFill>
                  </a:tcPr>
                </a:tc>
                <a:tc>
                  <a:txBody>
                    <a:bodyPr/>
                    <a:lstStyle/>
                    <a:p>
                      <a:r>
                        <a:rPr sz="1500" b="0" i="0">
                          <a:solidFill>
                            <a:srgbClr val="11202B"/>
                          </a:solidFill>
                          <a:latin typeface="Malgun Gothic"/>
                          <a:ea typeface="Malgun Gothic"/>
                          <a:cs typeface="Malgun Gothic"/>
                        </a:rPr>
                        <a:t>CSF/혈장 글리신 비 &gt;0.08</a:t>
                      </a:r>
                    </a:p>
                  </a:txBody>
                  <a:tcPr marL="73152" marR="73152">
                    <a:solidFill>
                      <a:srgbClr val="FFFFFF"/>
                    </a:solidFill>
                  </a:tcPr>
                </a:tc>
                <a:tc>
                  <a:txBody>
                    <a:bodyPr/>
                    <a:lstStyle/>
                    <a:p>
                      <a:r>
                        <a:rPr sz="1500" b="0" i="0">
                          <a:solidFill>
                            <a:srgbClr val="11202B"/>
                          </a:solidFill>
                          <a:latin typeface="Malgun Gothic"/>
                          <a:ea typeface="Malgun Gothic"/>
                          <a:cs typeface="Malgun Gothic"/>
                        </a:rPr>
                        <a:t>벤조산나트륨 + 덱스트로메토르판(NMDA 차단)</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피리독신·PLP 의존 뇌전증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ALDH7A1, PNPO</a:t>
                      </a:r>
                    </a:p>
                  </a:txBody>
                  <a:tcPr marL="73152" marR="73152">
                    <a:solidFill>
                      <a:srgbClr val="ECF1F5"/>
                    </a:solidFill>
                  </a:tcPr>
                </a:tc>
                <a:tc>
                  <a:txBody>
                    <a:bodyPr/>
                    <a:lstStyle/>
                    <a:p>
                      <a:r>
                        <a:rPr sz="1500" b="0" i="0">
                          <a:solidFill>
                            <a:srgbClr val="11202B"/>
                          </a:solidFill>
                          <a:latin typeface="Malgun Gothic"/>
                          <a:ea typeface="Malgun Gothic"/>
                          <a:cs typeface="Malgun Gothic"/>
                        </a:rPr>
                        <a:t>신생아 난치성 발작</a:t>
                      </a:r>
                    </a:p>
                  </a:txBody>
                  <a:tcPr marL="73152" marR="73152">
                    <a:solidFill>
                      <a:srgbClr val="ECF1F5"/>
                    </a:solidFill>
                  </a:tcPr>
                </a:tc>
                <a:tc>
                  <a:txBody>
                    <a:bodyPr/>
                    <a:lstStyle/>
                    <a:p>
                      <a:r>
                        <a:rPr sz="1500" b="0" i="0">
                          <a:solidFill>
                            <a:srgbClr val="11202B"/>
                          </a:solidFill>
                          <a:latin typeface="Malgun Gothic"/>
                          <a:ea typeface="Malgun Gothic"/>
                          <a:cs typeface="Malgun Gothic"/>
                        </a:rPr>
                        <a:t>다수 PLP 의존 반응 장애</a:t>
                      </a:r>
                    </a:p>
                  </a:txBody>
                  <a:tcPr marL="73152" marR="73152">
                    <a:solidFill>
                      <a:srgbClr val="ECF1F5"/>
                    </a:solidFill>
                  </a:tcPr>
                </a:tc>
                <a:tc>
                  <a:txBody>
                    <a:bodyPr/>
                    <a:lstStyle/>
                    <a:p>
                      <a:r>
                        <a:rPr sz="1500" b="0" i="0">
                          <a:solidFill>
                            <a:srgbClr val="11202B"/>
                          </a:solidFill>
                          <a:latin typeface="Malgun Gothic"/>
                          <a:ea typeface="Malgun Gothic"/>
                          <a:cs typeface="Malgun Gothic"/>
                        </a:rPr>
                        <a:t>피리독신/PLP (B05 L05)</a:t>
                      </a:r>
                    </a:p>
                  </a:txBody>
                  <a:tcPr marL="73152" marR="73152">
                    <a:solidFill>
                      <a:srgbClr val="ECF1F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기타 치료 가능한 아미노산 신경대사 질환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고전적 호모시스틴뇨증(CBS)</a:t>
            </a:r>
            <a:r>
              <a:rPr sz="1800" b="0" i="0">
                <a:solidFill>
                  <a:srgbClr val="11202B"/>
                </a:solidFill>
                <a:latin typeface="Malgun Gothic"/>
                <a:ea typeface="Malgun Gothic"/>
                <a:cs typeface="Malgun Gothic"/>
              </a:rPr>
              <a:t>(B01 L10): 지적장애, 정신 질환, 경련, </a:t>
            </a:r>
            <a:r>
              <a:rPr sz="1800" b="1" i="0">
                <a:solidFill>
                  <a:srgbClr val="11202B"/>
                </a:solidFill>
                <a:latin typeface="Malgun Gothic"/>
                <a:ea typeface="Malgun Gothic"/>
                <a:cs typeface="Malgun Gothic"/>
              </a:rPr>
              <a:t>뇌졸중</a:t>
            </a:r>
            <a:r>
              <a:rPr sz="1800" b="0" i="0">
                <a:solidFill>
                  <a:srgbClr val="11202B"/>
                </a:solidFill>
                <a:latin typeface="Malgun Gothic"/>
                <a:ea typeface="Malgun Gothic"/>
                <a:cs typeface="Malgun Gothic"/>
              </a:rPr>
              <a:t>(혈전 — 정맥동 혈전 포함), 수정체 하방 탈구 → B6 반응성 확인·저Met식·베타인.</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재메틸화 장애</a:t>
            </a:r>
            <a:r>
              <a:rPr sz="1800" b="0" i="0">
                <a:solidFill>
                  <a:srgbClr val="11202B"/>
                </a:solidFill>
                <a:latin typeface="Malgun Gothic"/>
                <a:ea typeface="Malgun Gothic"/>
                <a:cs typeface="Malgun Gothic"/>
              </a:rPr>
              <a:t>(MTHFR 중증, cblC — MMACHC): 영아 소두증·경련·수두증·백질 이상, cblC는 색소성 망막병증·혈전성 미세혈관병증 동반 → 하이드록소코발라민(근주 고용량)·베타인·엽산 유도체; 성인 발병형은 아급성 연합 변성·정신증·혈전.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크레아틴 결핍 증후군</a:t>
            </a:r>
            <a:r>
              <a:rPr sz="1800" b="0" i="0">
                <a:solidFill>
                  <a:srgbClr val="11202B"/>
                </a:solidFill>
                <a:latin typeface="Malgun Gothic"/>
                <a:ea typeface="Malgun Gothic"/>
                <a:cs typeface="Malgun Gothic"/>
              </a:rPr>
              <a:t>(B01 L11): GAMT(뇌 구아니디노아세트산 축적 — 경련·운동장애 → 크레아틴 + 오르니틴 + 아르기닌 제한), AGAT(크레아틴), </a:t>
            </a:r>
            <a:r>
              <a:rPr sz="1800" b="1" i="0">
                <a:solidFill>
                  <a:srgbClr val="11202B"/>
                </a:solidFill>
                <a:latin typeface="Malgun Gothic"/>
                <a:ea typeface="Malgun Gothic"/>
                <a:cs typeface="Malgun Gothic"/>
              </a:rPr>
              <a:t>크레아틴 수송체 결함</a:t>
            </a:r>
            <a:r>
              <a:rPr sz="1800" b="0" i="0">
                <a:solidFill>
                  <a:srgbClr val="11202B"/>
                </a:solidFill>
                <a:latin typeface="Malgun Gothic"/>
                <a:ea typeface="Malgun Gothic"/>
                <a:cs typeface="Malgun Gothic"/>
              </a:rPr>
              <a:t>(SLC6A8, X연관 — 남성 지적장애의 약 1–2%; 크레아틴 보충 무효) — MRS 크레아틴 피크 소실, 소변 크레아틴/크레아티닌 비 상승(수송체 결함).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기타 치료 가능한 아미노산 신경대사 질환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세린 결핍 장애</a:t>
            </a:r>
            <a:r>
              <a:rPr sz="1800" b="0" i="0">
                <a:solidFill>
                  <a:srgbClr val="11202B"/>
                </a:solidFill>
                <a:latin typeface="Malgun Gothic"/>
                <a:ea typeface="Malgun Gothic"/>
                <a:cs typeface="Malgun Gothic"/>
              </a:rPr>
              <a:t>(PHGDH, PSAT1, PSPH): 선천 소두증·난치성 발작·백질 저형성 → </a:t>
            </a:r>
            <a:r>
              <a:rPr sz="1800" b="1" i="0">
                <a:solidFill>
                  <a:srgbClr val="11202B"/>
                </a:solidFill>
                <a:latin typeface="Malgun Gothic"/>
                <a:ea typeface="Malgun Gothic"/>
                <a:cs typeface="Malgun Gothic"/>
              </a:rPr>
              <a:t>L-세린(+글리신)</a:t>
            </a:r>
            <a:r>
              <a:rPr sz="1800" b="0" i="0">
                <a:solidFill>
                  <a:srgbClr val="11202B"/>
                </a:solidFill>
                <a:latin typeface="Malgun Gothic"/>
                <a:ea typeface="Malgun Gothic"/>
                <a:cs typeface="Malgun Gothic"/>
              </a:rPr>
              <a:t> 보충 — 출생 전·직후 시작 시 정상 발달 가능; 성인형 경증은 신경병증; PHGDH 극중증형은 노-라쇼바 증후군(치명적).</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세린–스핑고지질 연결</a:t>
            </a:r>
            <a:r>
              <a:rPr sz="1800" b="0" i="0">
                <a:solidFill>
                  <a:srgbClr val="11202B"/>
                </a:solidFill>
                <a:latin typeface="Malgun Gothic"/>
                <a:ea typeface="Malgun Gothic"/>
                <a:cs typeface="Malgun Gothic"/>
              </a:rPr>
              <a:t>: 저세린 → 독성 데옥시스핑고지질 → 망막(MacTel) 및 신경병증(B01 L08).</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아스파라긴 합성효소 결핍</a:t>
            </a:r>
            <a:r>
              <a:rPr sz="1800" b="0" i="0">
                <a:solidFill>
                  <a:srgbClr val="11202B"/>
                </a:solidFill>
                <a:latin typeface="Malgun Gothic"/>
                <a:ea typeface="Malgun Gothic"/>
                <a:cs typeface="Malgun Gothic"/>
              </a:rPr>
              <a:t>(ASNS): 선천 소두증·난치성 발작.</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글루타민 합성효소 결핍</a:t>
            </a:r>
            <a:r>
              <a:rPr sz="1800" b="0" i="0">
                <a:solidFill>
                  <a:srgbClr val="11202B"/>
                </a:solidFill>
                <a:latin typeface="Malgun Gothic"/>
                <a:ea typeface="Malgun Gothic"/>
                <a:cs typeface="Malgun Gothic"/>
              </a:rPr>
              <a:t>: 뇌 기형·사망.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요소회로 이상·유기산혈증</a:t>
            </a:r>
            <a:r>
              <a:rPr sz="1800" b="0" i="0">
                <a:solidFill>
                  <a:srgbClr val="11202B"/>
                </a:solidFill>
                <a:latin typeface="Malgun Gothic"/>
                <a:ea typeface="Malgun Gothic"/>
                <a:cs typeface="Malgun Gothic"/>
              </a:rPr>
              <a:t>의 신경 손상(B01 L09, B04 L04): 고암모니아·대사 위기 후 기저핵(선조체) 경색 — 메틸말론산혈증 담창구, 글루타르산혈증 1형 선조체 손상 → 응급 프로토콜 준수로 예방.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PKU 유전자 치료(AAV-PAH, 간 염기편집), 장내 공학균, 경구 PAL 효소, LNAA 정밀 조성 등 '식이 없는 PKU 치료'가 경쟁적으로 개발 중이다.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AADC 결핍 유전자 치료의 성공(운동 이정표 획득)은 피각 정위 주입형 AAV 치료의 원형이 되어 파킨슨병 AADC 유전자 치료(VY-AADC 재평가)로 연결되고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CSF 신경전달물질 대사물의 표적 대사체 패널과 신생아 선별 확대(BH₄ 결핍은 이미 고Phe로 선별)로 신경전달물질 질환의 조기 진단이 늘고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아미노산 대사 이상은 LAT1 경쟁, 신경전달물질 합성 장애, 수초 형성 장애, 에너지 대사 방해로 발달 중 뇌를 손상한다.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PKU는 평생 Phe 조절이 필요하며 모성 PKU는 태아 소두증·심장 기형을 일으켜 임신 전 조절이 필수이다.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MSUD의 류신·α-KIC는 뇌부종과 신경독성을 일으키며 이소류신·발린 보충, 이화 억제, 투석, 간이식이 핵심이다.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BH₄·TH·AADC 결핍 등 신경전달물질 질환은 CSF 대사물 패턴으로 진단하며 세가와병은 저용량 L-DOPA에 극적으로 반응한다.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호모시스틴뇨증·재메틸화 장애·크레아틴 결핍·세린 결핍은 치료 가능한 신경대사 질환으로 반드시 감별해야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MSUD 대사 위기 중 류신을 빨리 낮추기 위해 이소류신과 발린을 보충하는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이화를 멈추고 단백 합성(동화)을 유도하면 혈중 류신이 단백질에 결합되어 감소한다. 그런데 류신을 제외한 BCAA 없는 아미노산을 주면 이소류신·발린이 먼저 고갈되어 단백 합성이 멈추므로 류신이 단백으로 이용되지 못한다. 이소류신·발린을 보충해야 단백 합성이 지속되어 류신이 빠르게 감소한다.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8세 여아가 오후에 심해지는 다리 근긴장이상을 보이며 보행 장애가 진행한다. 우선 시도할 치료와 그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저용량 L-DOPA(카비도파 병용) 시험 투여. 세가와병(GTPCH1 우성 결핍 — 도파 반응성 근긴장이상)은 BH₄ 부족으로 흑질선조체 도파민이 감소해 일중 변동형 근긴장이상을 일으키며, 저용량 L-DOPA에 극적이고 지속적으로 반응하고 장기 합병증도 적다. 모든 원인 불명 소아 근긴장이상에서 진단적 치료로 시도한다.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PKU 산모가 임신 중 식이를 지키지 않으면 PKU가 아닌 태아도 손상되는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태반은 아미노산을 능동 수송해 태아 혈중 Phe가 산모보다 1.5–2배 높게 된다. 높은 Phe는 태아 뇌 발생(신경세포 이동·수초화)과 심장 발생을 방해해 소두증, 지적장애, 선천심질환, 성장지연을 일으킨다. 태아의 PAH 활성은 이 부하를 감당하지 못하므로 임신 전부터 산모 Phe를 120–360 µmol/L로 유지해야 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남아의 지적장애·언어 지연·경련에서 뇌 MRS의 크레아틴 피크가 소실되고 소변 크레아틴/크레아티닌 비가 증가했다. 진단과 치료 전망은?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크레아틴 수송체 결핍(SLC6A8, X연관). 크레아틴이 뇌로 수송되지 못해 뇌 크레아틴이 결핍되며, 소변으로 크레아틴이 많이 배설된다. GAMT·AGAT 결핍과 달리 크레아틴 보충으로 뇌 크레아틴이 회복되지 않아 효과가 제한적이며, 크레아틴 유도체·유전자 치료가 연구 중이다. 어머니 보인자 검사와 유전 상담이 필요하다.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van Spronsen FJ et al. Key European guidelines for the diagnosis and management of patients with phenylketonuria. Lancet Diabetes Endocrinol 2017;5:743–756.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Strauss KA et al. Maple syrup urine disease. GeneReviews (updated 2020).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Brennenstuhl H et al. Consensus guideline for the diagnosis and treatment of tetrahydrobiopterin (BH4) deficiencies. J Inherit Metab Dis 2019;42:1101–1117.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B05-L14  ·  아미노산 대사 신경질환: PKU, MSUD, 신경전달물질 질환</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Wassenberg T et al. Consensus guideline for the diagnosis and treatment of aromatic L-amino acid decarboxylase (AADC) deficiency. Orphanet J Rare Dis 2017;12:12.</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Tabatabaie L et al. L-serine synthesis in the central nervous system: a review on serine deficiency disorders. Mol Genet Metab 2010;99:256–262.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