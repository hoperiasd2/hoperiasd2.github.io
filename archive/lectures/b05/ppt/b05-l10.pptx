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notesMaster" Target="notesMasters/notesMaster1.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2형 당뇨 신경병증은 고혈당뿐 아니라 비만, 이상지질(고중성지방·포화지방산), 고혈압, 인슐린 저항성 등 대사증후군 요인이 독립적으로 후근신경절 미토콘드리아·미세혈관 손상에 기여하기 때문이다. 또 진단 시 이미 수년간 대사 이상에 노출되어 있다. 따라서 혈당 외 위험인자 관리와 운동이 중요하다.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비타민 B12 결핍. 메트포르민은 회장의 내인자–B12 흡수(칼슘 의존 큐빌린 결합)를 저해해 장기 복용자에서 B12 결핍을 일으키며, 이는 당뇨병성 신경병증과 비슷한 대칭 신경병증과 후삭 기능 장애를 유발한다. 혈청 B12와 MMA를 측정해 결핍 시 보충한다.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동공 수축(부교감) 섬유는 동안신경 바깥쪽 표면을 따라 주행해 외부 압박(후교통동맥 동맥류)에 먼저 손상되지만, 미세혈관 경색은 신경 중심부를 침범해 표면의 동공 섬유를 보존한다. 따라서 동공 보존 마비는 당뇨성 허혈을 시사하지만, 동공 침범 시에는 동맥류 배제를 위한 응급 혈관 영상이 필요하다.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반복 저혈당으로 시상하부의 포도당 감지와 교감·부신 반조절 반응 역치가 낮아지고, 뇌가 젖산·케톤 등 대체 연료 이용을 늘려 경고 증상(떨림, 발한, 빈맥)이 나타나기 전에 신경당 결핍 증상이 먼저 온다. 2–3주간 저혈당을 엄격히 피하면(목표 완화, CGM·경보, 폐쇄회로) 반조절 반응과 감지가 회복된다.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800" b="1" i="0">
                <a:solidFill>
                  <a:srgbClr val="F2B705"/>
                </a:solidFill>
                <a:latin typeface="Malgun Gothic"/>
                <a:ea typeface="Malgun Gothic"/>
                <a:cs typeface="Malgun Gothic"/>
              </a:rPr>
              <a:t>B05 신경질환과 대사학  ·  대사성 뇌병증</a:t>
            </a:r>
          </a:p>
        </p:txBody>
      </p:sp>
      <p:sp>
        <p:nvSpPr>
          <p:cNvPr id="5" name="TextBox 4"/>
          <p:cNvSpPr txBox="1"/>
          <p:nvPr/>
        </p:nvSpPr>
        <p:spPr>
          <a:xfrm>
            <a:off x="731520" y="1645920"/>
            <a:ext cx="10698480" cy="2011680"/>
          </a:xfrm>
          <a:prstGeom prst="rect">
            <a:avLst/>
          </a:prstGeom>
          <a:noFill/>
        </p:spPr>
        <p:txBody>
          <a:bodyPr wrap="square" anchor="b">
            <a:spAutoFit/>
          </a:bodyPr>
          <a:lstStyle/>
          <a:p>
            <a:r>
              <a:rPr sz="4000" b="1" i="0">
                <a:solidFill>
                  <a:srgbClr val="FFFFFF"/>
                </a:solidFill>
                <a:latin typeface="Malgun Gothic"/>
                <a:ea typeface="Malgun Gothic"/>
                <a:cs typeface="Malgun Gothic"/>
              </a:rPr>
              <a:t>당뇨병성 신경병증과 고혈당 신경손상</a:t>
            </a:r>
          </a:p>
          <a:p>
            <a:r>
              <a:rPr sz="2000" b="0" i="0">
                <a:solidFill>
                  <a:srgbClr val="C2CDD6"/>
                </a:solidFill>
                <a:latin typeface="Malgun Gothic"/>
                <a:ea typeface="Malgun Gothic"/>
                <a:cs typeface="Malgun Gothic"/>
              </a:rPr>
              <a:t>Diabetic Neuropathy and Hyperglycemic Nerve Injury</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600" b="1" i="0">
                <a:solidFill>
                  <a:srgbClr val="FFFFFF"/>
                </a:solidFill>
                <a:latin typeface="Malgun Gothic"/>
                <a:ea typeface="Malgun Gothic"/>
                <a:cs typeface="Malgun Gothic"/>
              </a:rPr>
              <a:t>B05-L10</a:t>
            </a:r>
          </a:p>
          <a:p>
            <a:r>
              <a:rPr sz="1400" b="0" i="0">
                <a:solidFill>
                  <a:srgbClr val="C2CDD6"/>
                </a:solidFill>
                <a:latin typeface="Malgun Gothic"/>
                <a:ea typeface="Malgun Gothic"/>
                <a:cs typeface="Malgun Gothic"/>
              </a:rPr>
              <a:t>의학생화학 · 의학분자생물학 · 신경과학 강의록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GOALS   </a:t>
            </a:r>
            <a:r>
              <a:rPr sz="2600" b="1" i="0">
                <a:solidFill>
                  <a:srgbClr val="FFFFFF"/>
                </a:solidFill>
                <a:latin typeface="Malgun Gothic"/>
                <a:ea typeface="Malgun Gothic"/>
                <a:cs typeface="Malgun Gothic"/>
              </a:rPr>
              <a:t>학습 목표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B05-L10  ·  당뇨병성 신경병증과 고혈당 신경손상</a:t>
            </a:r>
            <a:r>
              <a:rPr sz="10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1. </a:t>
            </a:r>
            <a:r>
              <a:rPr sz="2000" b="0" i="0">
                <a:solidFill>
                  <a:srgbClr val="11202B"/>
                </a:solidFill>
                <a:latin typeface="Malgun Gothic"/>
                <a:ea typeface="Malgun Gothic"/>
                <a:cs typeface="Malgun Gothic"/>
              </a:rPr>
              <a:t>당뇨병성 신경병증의 분류(원위부 대칭 다발신경병증, 자율신경병증, 단신경병증, 근위축증)를 설명한다.</a:t>
            </a:r>
          </a:p>
          <a:p>
            <a:pPr>
              <a:spcAft>
                <a:spcPts val="800"/>
              </a:spcAft>
            </a:pPr>
            <a:r>
              <a:rPr sz="2000" b="1" i="0">
                <a:solidFill>
                  <a:srgbClr val="003C71"/>
                </a:solidFill>
                <a:latin typeface="Malgun Gothic"/>
                <a:ea typeface="Malgun Gothic"/>
                <a:cs typeface="Malgun Gothic"/>
              </a:rPr>
              <a:t>2. </a:t>
            </a:r>
            <a:r>
              <a:rPr sz="2000" b="0" i="0">
                <a:solidFill>
                  <a:srgbClr val="11202B"/>
                </a:solidFill>
                <a:latin typeface="Malgun Gothic"/>
                <a:ea typeface="Malgun Gothic"/>
                <a:cs typeface="Malgun Gothic"/>
              </a:rPr>
              <a:t>고혈당이 신경을 손상하는 대사 기전(폴리올, AGE, PKC, 헥소사민, 미토콘드리아, 이상지질)을 설명한다.</a:t>
            </a:r>
          </a:p>
          <a:p>
            <a:pPr>
              <a:spcAft>
                <a:spcPts val="800"/>
              </a:spcAft>
            </a:pPr>
            <a:r>
              <a:rPr sz="2000" b="1" i="0">
                <a:solidFill>
                  <a:srgbClr val="003C71"/>
                </a:solidFill>
                <a:latin typeface="Malgun Gothic"/>
                <a:ea typeface="Malgun Gothic"/>
                <a:cs typeface="Malgun Gothic"/>
              </a:rPr>
              <a:t>3. </a:t>
            </a:r>
            <a:r>
              <a:rPr sz="2000" b="0" i="0">
                <a:solidFill>
                  <a:srgbClr val="11202B"/>
                </a:solidFill>
                <a:latin typeface="Malgun Gothic"/>
                <a:ea typeface="Malgun Gothic"/>
                <a:cs typeface="Malgun Gothic"/>
              </a:rPr>
              <a:t>1형과 2형 당뇨에서 신경병증 기전의 차이와 대사증후군·전당뇨의 역할을 설명한다.</a:t>
            </a:r>
          </a:p>
          <a:p>
            <a:pPr>
              <a:spcAft>
                <a:spcPts val="800"/>
              </a:spcAft>
            </a:pPr>
            <a:r>
              <a:rPr sz="2000" b="1" i="0">
                <a:solidFill>
                  <a:srgbClr val="003C71"/>
                </a:solidFill>
                <a:latin typeface="Malgun Gothic"/>
                <a:ea typeface="Malgun Gothic"/>
                <a:cs typeface="Malgun Gothic"/>
              </a:rPr>
              <a:t>4. </a:t>
            </a:r>
            <a:r>
              <a:rPr sz="2000" b="0" i="0">
                <a:solidFill>
                  <a:srgbClr val="11202B"/>
                </a:solidFill>
                <a:latin typeface="Malgun Gothic"/>
                <a:ea typeface="Malgun Gothic"/>
                <a:cs typeface="Malgun Gothic"/>
              </a:rPr>
              <a:t>진단(선별 검사, 신경전도, 소섬유 평가)과 통증 관리 약물의 기전을 설명한다.</a:t>
            </a:r>
          </a:p>
          <a:p>
            <a:pPr>
              <a:spcAft>
                <a:spcPts val="800"/>
              </a:spcAft>
            </a:pPr>
            <a:r>
              <a:rPr sz="2000" b="1" i="0">
                <a:solidFill>
                  <a:srgbClr val="003C71"/>
                </a:solidFill>
                <a:latin typeface="Malgun Gothic"/>
                <a:ea typeface="Malgun Gothic"/>
                <a:cs typeface="Malgun Gothic"/>
              </a:rPr>
              <a:t>5. </a:t>
            </a:r>
            <a:r>
              <a:rPr sz="2000" b="0" i="0">
                <a:solidFill>
                  <a:srgbClr val="11202B"/>
                </a:solidFill>
                <a:latin typeface="Malgun Gothic"/>
                <a:ea typeface="Malgun Gothic"/>
                <a:cs typeface="Malgun Gothic"/>
              </a:rPr>
              <a:t>당뇨발·자율신경병증·저혈당·고혈당 응급의 신경학적 결과를 이해한다.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OUTLINE   </a:t>
            </a:r>
            <a:r>
              <a:rPr sz="26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B05-L10  ·  당뇨병성 신경병증과 고혈당 신경손상</a:t>
            </a:r>
            <a:r>
              <a:rPr sz="10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분류와 임상</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고혈당 신경 손상의 대사 기전</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1형과 2형의 차이, 전당뇨</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진단과 통증 관리</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당뇨발과 급성 혈당 응급의 신경학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분류와 임상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B05-L10  ·  당뇨병성 신경병증과 고혈당 신경손상</a:t>
            </a:r>
            <a:r>
              <a:rPr sz="10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당뇨 환자의 약 50%가 평생 신경병증 발생, 가장 흔한 형태는 </a:t>
            </a:r>
            <a:r>
              <a:rPr sz="1800" b="1" i="0">
                <a:solidFill>
                  <a:srgbClr val="11202B"/>
                </a:solidFill>
                <a:latin typeface="Malgun Gothic"/>
                <a:ea typeface="Malgun Gothic"/>
                <a:cs typeface="Malgun Gothic"/>
              </a:rPr>
              <a:t>원위부 대칭 다발신경병증(DSPN)</a:t>
            </a:r>
            <a:r>
              <a:rPr sz="1800" b="0" i="0">
                <a:solidFill>
                  <a:srgbClr val="11202B"/>
                </a:solidFill>
                <a:latin typeface="Malgun Gothic"/>
                <a:ea typeface="Malgun Gothic"/>
                <a:cs typeface="Malgun Gothic"/>
              </a:rPr>
              <a:t>: 길이 의존적 — 발가락에서 시작해 '양말–장갑' 분포; 소섬유(통증·온도 — 작열통, 이질통) + 대섬유(진동·고유감각 — 운동실조, 반사 소실).</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자율신경병증</a:t>
            </a:r>
            <a:r>
              <a:rPr sz="1800" b="0" i="0">
                <a:solidFill>
                  <a:srgbClr val="11202B"/>
                </a:solidFill>
                <a:latin typeface="Malgun Gothic"/>
                <a:ea typeface="Malgun Gothic"/>
                <a:cs typeface="Malgun Gothic"/>
              </a:rPr>
              <a:t>: 심혈관(안정 시 빈맥, 심박 변이 감소, 기립성 저혈압, 무증상 심근허혈), 위장관(</a:t>
            </a:r>
            <a:r>
              <a:rPr sz="1800" b="1" i="0">
                <a:solidFill>
                  <a:srgbClr val="11202B"/>
                </a:solidFill>
                <a:latin typeface="Malgun Gothic"/>
                <a:ea typeface="Malgun Gothic"/>
                <a:cs typeface="Malgun Gothic"/>
              </a:rPr>
              <a:t>위마비</a:t>
            </a:r>
            <a:r>
              <a:rPr sz="1800" b="0" i="0">
                <a:solidFill>
                  <a:srgbClr val="11202B"/>
                </a:solidFill>
                <a:latin typeface="Malgun Gothic"/>
                <a:ea typeface="Malgun Gothic"/>
                <a:cs typeface="Malgun Gothic"/>
              </a:rPr>
              <a:t>, 설사·변비), 비뇨생식(신경인성 방광, 발기부전), 땀 이상, </a:t>
            </a:r>
            <a:r>
              <a:rPr sz="1800" b="1" i="0">
                <a:solidFill>
                  <a:srgbClr val="11202B"/>
                </a:solidFill>
                <a:latin typeface="Malgun Gothic"/>
                <a:ea typeface="Malgun Gothic"/>
                <a:cs typeface="Malgun Gothic"/>
              </a:rPr>
              <a:t>저혈당 무감지</a:t>
            </a:r>
            <a:r>
              <a:rPr sz="1800" b="0" i="0">
                <a:solidFill>
                  <a:srgbClr val="11202B"/>
                </a:solidFill>
                <a:latin typeface="Malgun Gothic"/>
                <a:ea typeface="Malgun Gothic"/>
                <a:cs typeface="Malgun Gothic"/>
              </a:rPr>
              <a:t>(반조절 반응 저하).</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단신경병증: 동안신경 마비(동공 보존 — 미세혈관 경색; 압박성 동공 침범과 구별), 수근관 증후군(위험↑), 흉복부 신경근병증.</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당뇨병성 근위축증</a:t>
            </a:r>
            <a:r>
              <a:rPr sz="1800" b="0" i="0">
                <a:solidFill>
                  <a:srgbClr val="11202B"/>
                </a:solidFill>
                <a:latin typeface="Malgun Gothic"/>
                <a:ea typeface="Malgun Gothic"/>
                <a:cs typeface="Malgun Gothic"/>
              </a:rPr>
              <a:t>(요천추 신경근신경총병증): 급성 비대칭 대퇴 통증·근위약·체중 감소 — 미세혈관염(면역 매개).</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분류와 임상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B05-L10  ·  당뇨병성 신경병증과 고혈당 신경손상</a:t>
            </a:r>
            <a:r>
              <a:rPr sz="10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치료 유발 신경병증(인슐린 신경염): 급격한 혈당 강하 후 급성 통증(HbA1c 급감 시).</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고혈당 신경 손상의 대사 기전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B05-L10  ·  당뇨병성 신경병증과 고혈당 신경손상</a:t>
            </a:r>
            <a:r>
              <a:rPr sz="1000" b="1" i="0">
                <a:solidFill>
                  <a:srgbClr val="003C71"/>
                </a:solidFill>
                <a:latin typeface="Malgun Gothic"/>
                <a:ea typeface="Malgun Gothic"/>
                <a:cs typeface="Malgun Gothic"/>
              </a:rPr>
              <a:t>     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신경·슈반세포·후근신경절·신경 혈관 내피는 </a:t>
            </a:r>
            <a:r>
              <a:rPr sz="1800" b="1" i="0">
                <a:solidFill>
                  <a:srgbClr val="11202B"/>
                </a:solidFill>
                <a:latin typeface="Malgun Gothic"/>
                <a:ea typeface="Malgun Gothic"/>
                <a:cs typeface="Malgun Gothic"/>
              </a:rPr>
              <a:t>인슐린 비의존 포도당 유입</a:t>
            </a:r>
            <a:r>
              <a:rPr sz="1800" b="0" i="0">
                <a:solidFill>
                  <a:srgbClr val="11202B"/>
                </a:solidFill>
                <a:latin typeface="Malgun Gothic"/>
                <a:ea typeface="Malgun Gothic"/>
                <a:cs typeface="Malgun Gothic"/>
              </a:rPr>
              <a:t>(GLUT1, GLUT3) → 고혈당이 그대로 세포 내 고포도당이 된다.</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폴리올 경로</a:t>
            </a:r>
            <a:r>
              <a:rPr sz="1800" b="0" i="0">
                <a:solidFill>
                  <a:srgbClr val="11202B"/>
                </a:solidFill>
                <a:latin typeface="Malgun Gothic"/>
                <a:ea typeface="Malgun Gothic"/>
                <a:cs typeface="Malgun Gothic"/>
              </a:rPr>
              <a:t>: 알도스 환원효소(NADPH 소모) → 소르비톨 축적(삼투) → 소르비톨 탈수소효소(NADH↑ — 가성저산소) → 과당 → AGE 전구체; NADPH 소모 → 글루타티온 재생↓ → 산화 스트레스; 미오이노시톨 감소 → Na⁺/K⁺-ATPase 활성↓ → 신경전도 저하. 알도스 환원효소 억제제(에팔레스타트 — 일본·인도 승인)의 효과는 제한적.</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AGE–RAGE</a:t>
            </a:r>
            <a:r>
              <a:rPr sz="1800" b="0" i="0">
                <a:solidFill>
                  <a:srgbClr val="11202B"/>
                </a:solidFill>
                <a:latin typeface="Malgun Gothic"/>
                <a:ea typeface="Malgun Gothic"/>
                <a:cs typeface="Malgun Gothic"/>
              </a:rPr>
              <a:t>: 축삭 세포골격(튜불린·신경미세섬유)·수초 단백 당화 → 축삭 수송 저하; RAGE → NF-κB 염증.</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PKC 활성</a:t>
            </a:r>
            <a:r>
              <a:rPr sz="1800" b="0" i="0">
                <a:solidFill>
                  <a:srgbClr val="11202B"/>
                </a:solidFill>
                <a:latin typeface="Malgun Gothic"/>
                <a:ea typeface="Malgun Gothic"/>
                <a:cs typeface="Malgun Gothic"/>
              </a:rPr>
              <a:t>(DAG↑): 신경 혈관 수축·혈류 감소(신경 내막 저산소).</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고혈당 신경 손상의 대사 기전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B05-L10  ·  당뇨병성 신경병증과 고혈당 신경손상</a:t>
            </a:r>
            <a:r>
              <a:rPr sz="10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헥소사민 경로</a:t>
            </a:r>
            <a:r>
              <a:rPr sz="1800" b="0" i="0">
                <a:solidFill>
                  <a:srgbClr val="11202B"/>
                </a:solidFill>
                <a:latin typeface="Malgun Gothic"/>
                <a:ea typeface="Malgun Gothic"/>
                <a:cs typeface="Malgun Gothic"/>
              </a:rPr>
              <a:t>: O-GlcNAc 변형 → 유전자 발현 변화.</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미토콘드리아 과부하</a:t>
            </a:r>
            <a:r>
              <a:rPr sz="1800" b="0" i="0">
                <a:solidFill>
                  <a:srgbClr val="11202B"/>
                </a:solidFill>
                <a:latin typeface="Malgun Gothic"/>
                <a:ea typeface="Malgun Gothic"/>
                <a:cs typeface="Malgun Gothic"/>
              </a:rPr>
              <a:t>: 고혈당·고지방산이 후근신경절 축삭 미토콘드리아에 과도한 전자 공급 → ROS·생체에너지 실패; 축삭 말단(원위) 에너지 부족 → 길이 의존 손상('죽어가는 역행').</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미세혈관 질환</a:t>
            </a:r>
            <a:r>
              <a:rPr sz="1800" b="0" i="0">
                <a:solidFill>
                  <a:srgbClr val="11202B"/>
                </a:solidFill>
                <a:latin typeface="Malgun Gothic"/>
                <a:ea typeface="Malgun Gothic"/>
                <a:cs typeface="Malgun Gothic"/>
              </a:rPr>
              <a:t>: 신경 혈관 기저막 비후·주피세포 소실 → 신경 내막 허혈.</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인슐린 신호 결손</a:t>
            </a:r>
            <a:r>
              <a:rPr sz="1800" b="0" i="0">
                <a:solidFill>
                  <a:srgbClr val="11202B"/>
                </a:solidFill>
                <a:latin typeface="Malgun Gothic"/>
                <a:ea typeface="Malgun Gothic"/>
                <a:cs typeface="Malgun Gothic"/>
              </a:rPr>
              <a:t>: 인슐린은 신경 영양 인자 — 신경 인슐린 저항성 → 재생 저하.</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이상지질·지질독성</a:t>
            </a:r>
            <a:r>
              <a:rPr sz="1800" b="0" i="0">
                <a:solidFill>
                  <a:srgbClr val="11202B"/>
                </a:solidFill>
                <a:latin typeface="Malgun Gothic"/>
                <a:ea typeface="Malgun Gothic"/>
                <a:cs typeface="Malgun Gothic"/>
              </a:rPr>
              <a:t>: 고중성지방·oxLDL·포화지방산 → 후근신경절 손상; 중성지방은 DSPN 독립 위험인자.</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메틸글리옥살</a:t>
            </a:r>
            <a:r>
              <a:rPr sz="1800" b="0" i="0">
                <a:solidFill>
                  <a:srgbClr val="11202B"/>
                </a:solidFill>
                <a:latin typeface="Malgun Gothic"/>
                <a:ea typeface="Malgun Gothic"/>
                <a:cs typeface="Malgun Gothic"/>
              </a:rPr>
              <a:t>(해당 부산물) → Nav1.8 통로 변형 → </a:t>
            </a:r>
            <a:r>
              <a:rPr sz="1800" b="1" i="0">
                <a:solidFill>
                  <a:srgbClr val="11202B"/>
                </a:solidFill>
                <a:latin typeface="Malgun Gothic"/>
                <a:ea typeface="Malgun Gothic"/>
                <a:cs typeface="Malgun Gothic"/>
              </a:rPr>
              <a:t>통증 과민</a:t>
            </a:r>
            <a:r>
              <a:rPr sz="1800" b="0" i="0">
                <a:solidFill>
                  <a:srgbClr val="11202B"/>
                </a:solidFill>
                <a:latin typeface="Malgun Gothic"/>
                <a:ea typeface="Malgun Gothic"/>
                <a:cs typeface="Malgun Gothic"/>
              </a:rPr>
              <a:t>(Bierhaus et al., Nat Med 2012).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1형과 2형의 차이, 전당뇨</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B05-L10  ·  당뇨병성 신경병증과 고혈당 신경손상</a:t>
            </a:r>
            <a:r>
              <a:rPr sz="10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1형</a:t>
            </a:r>
            <a:r>
              <a:rPr sz="2000" b="0" i="0">
                <a:solidFill>
                  <a:srgbClr val="11202B"/>
                </a:solidFill>
                <a:latin typeface="Malgun Gothic"/>
                <a:ea typeface="Malgun Gothic"/>
                <a:cs typeface="Malgun Gothic"/>
              </a:rPr>
              <a:t>: 집중 혈당 조절이 신경병증 발생을 </a:t>
            </a:r>
            <a:r>
              <a:rPr sz="2000" b="1" i="0">
                <a:solidFill>
                  <a:srgbClr val="11202B"/>
                </a:solidFill>
                <a:latin typeface="Malgun Gothic"/>
                <a:ea typeface="Malgun Gothic"/>
                <a:cs typeface="Malgun Gothic"/>
              </a:rPr>
              <a:t>약 60–70% 감소</a:t>
            </a:r>
            <a:r>
              <a:rPr sz="2000" b="0" i="0">
                <a:solidFill>
                  <a:srgbClr val="11202B"/>
                </a:solidFill>
                <a:latin typeface="Malgun Gothic"/>
                <a:ea typeface="Malgun Gothic"/>
                <a:cs typeface="Malgun Gothic"/>
              </a:rPr>
              <a:t>(DCCT; 대사 기억 — EDIC 장기 지속).</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2형</a:t>
            </a:r>
            <a:r>
              <a:rPr sz="2000" b="0" i="0">
                <a:solidFill>
                  <a:srgbClr val="11202B"/>
                </a:solidFill>
                <a:latin typeface="Malgun Gothic"/>
                <a:ea typeface="Malgun Gothic"/>
                <a:cs typeface="Malgun Gothic"/>
              </a:rPr>
              <a:t>: 혈당 조절의 신경병증 예방 효과가 </a:t>
            </a:r>
            <a:r>
              <a:rPr sz="2000" b="1" i="0">
                <a:solidFill>
                  <a:srgbClr val="11202B"/>
                </a:solidFill>
                <a:latin typeface="Malgun Gothic"/>
                <a:ea typeface="Malgun Gothic"/>
                <a:cs typeface="Malgun Gothic"/>
              </a:rPr>
              <a:t>작다</a:t>
            </a:r>
            <a:r>
              <a:rPr sz="2000" b="0" i="0">
                <a:solidFill>
                  <a:srgbClr val="11202B"/>
                </a:solidFill>
                <a:latin typeface="Malgun Gothic"/>
                <a:ea typeface="Malgun Gothic"/>
                <a:cs typeface="Malgun Gothic"/>
              </a:rPr>
              <a:t>(5–9% 감소; ACCORD·UKPDS 혼재) → 비만·이상지질·고혈압·인슐린 저항성 등 </a:t>
            </a:r>
            <a:r>
              <a:rPr sz="2000" b="1" i="0">
                <a:solidFill>
                  <a:srgbClr val="11202B"/>
                </a:solidFill>
                <a:latin typeface="Malgun Gothic"/>
                <a:ea typeface="Malgun Gothic"/>
                <a:cs typeface="Malgun Gothic"/>
              </a:rPr>
              <a:t>대사증후군 구성요소</a:t>
            </a:r>
            <a:r>
              <a:rPr sz="2000" b="0" i="0">
                <a:solidFill>
                  <a:srgbClr val="11202B"/>
                </a:solidFill>
                <a:latin typeface="Malgun Gothic"/>
                <a:ea typeface="Malgun Gothic"/>
                <a:cs typeface="Malgun Gothic"/>
              </a:rPr>
              <a:t>가 독립적으로 기여.</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전당뇨·대사증후군 신경병증</a:t>
            </a:r>
            <a:r>
              <a:rPr sz="2000" b="0" i="0">
                <a:solidFill>
                  <a:srgbClr val="11202B"/>
                </a:solidFill>
                <a:latin typeface="Malgun Gothic"/>
                <a:ea typeface="Malgun Gothic"/>
                <a:cs typeface="Malgun Gothic"/>
              </a:rPr>
              <a:t>: 내당능 장애·비만에서도 소섬유 신경병증 — '특발성' 소섬유 신경병증의 상당수가 대사 원인.</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다면적 위험인자 관리(Steno-2: 혈당·혈압·지질·항혈소판 동시 관리 → 자율신경병증 감소), 생활습관(운동 → 표피내 신경섬유 재생; Singleton et 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진단과 통증 관리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B05-L10  ·  당뇨병성 신경병증과 고혈당 신경손상</a:t>
            </a:r>
            <a:r>
              <a:rPr sz="10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선별(ADA): 진단 시(2형)·5년 후(1형) 그 후 매년 — 10 g </a:t>
            </a:r>
            <a:r>
              <a:rPr sz="1800" b="1" i="0">
                <a:solidFill>
                  <a:srgbClr val="11202B"/>
                </a:solidFill>
                <a:latin typeface="Malgun Gothic"/>
                <a:ea typeface="Malgun Gothic"/>
                <a:cs typeface="Malgun Gothic"/>
              </a:rPr>
              <a:t>모노필라멘트</a:t>
            </a:r>
            <a:r>
              <a:rPr sz="1800" b="0" i="0">
                <a:solidFill>
                  <a:srgbClr val="11202B"/>
                </a:solidFill>
                <a:latin typeface="Malgun Gothic"/>
                <a:ea typeface="Malgun Gothic"/>
                <a:cs typeface="Malgun Gothic"/>
              </a:rPr>
              <a:t>(보호감각 소실 → 궤양 위험), 128 Hz 소리굽쇠 진동, 핀 통증, 온도, 발목 반사.</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신경전도 검사: 대섬유(감각 신경 활동전위 진폭 감소, 전도 속도 저하) — </a:t>
            </a:r>
            <a:r>
              <a:rPr sz="1800" b="1" i="0">
                <a:solidFill>
                  <a:srgbClr val="11202B"/>
                </a:solidFill>
                <a:latin typeface="Malgun Gothic"/>
                <a:ea typeface="Malgun Gothic"/>
                <a:cs typeface="Malgun Gothic"/>
              </a:rPr>
              <a:t>소섬유 신경병증은 정상</a:t>
            </a:r>
            <a:r>
              <a:rPr sz="1800" b="0" i="0">
                <a:solidFill>
                  <a:srgbClr val="11202B"/>
                </a:solidFill>
                <a:latin typeface="Malgun Gothic"/>
                <a:ea typeface="Malgun Gothic"/>
                <a:cs typeface="Malgun Gothic"/>
              </a:rPr>
              <a:t>일 수 있음.</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소섬유 평가: </a:t>
            </a:r>
            <a:r>
              <a:rPr sz="1800" b="1" i="0">
                <a:solidFill>
                  <a:srgbClr val="11202B"/>
                </a:solidFill>
                <a:latin typeface="Malgun Gothic"/>
                <a:ea typeface="Malgun Gothic"/>
                <a:cs typeface="Malgun Gothic"/>
              </a:rPr>
              <a:t>피부 생검 표피내 신경섬유 밀도(IENFD)</a:t>
            </a:r>
            <a:r>
              <a:rPr sz="1800" b="0" i="0">
                <a:solidFill>
                  <a:srgbClr val="11202B"/>
                </a:solidFill>
                <a:latin typeface="Malgun Gothic"/>
                <a:ea typeface="Malgun Gothic"/>
                <a:cs typeface="Malgun Gothic"/>
              </a:rPr>
              <a:t>, 각막 공초점 현미경(각막 신경섬유 — 비침습 바이오마커), 정량 감각 검사, 땀 검사(QSART).</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감별(당뇨 환자도 다른 원인 흔함): </a:t>
            </a:r>
            <a:r>
              <a:rPr sz="1800" b="1" i="0">
                <a:solidFill>
                  <a:srgbClr val="11202B"/>
                </a:solidFill>
                <a:latin typeface="Malgun Gothic"/>
                <a:ea typeface="Malgun Gothic"/>
                <a:cs typeface="Malgun Gothic"/>
              </a:rPr>
              <a:t>B12 결핍(메트포르민)</a:t>
            </a:r>
            <a:r>
              <a:rPr sz="1800" b="0" i="0">
                <a:solidFill>
                  <a:srgbClr val="11202B"/>
                </a:solidFill>
                <a:latin typeface="Malgun Gothic"/>
                <a:ea typeface="Malgun Gothic"/>
                <a:cs typeface="Malgun Gothic"/>
              </a:rPr>
              <a:t>, 갑상선기능저하, 신부전, 알코올, 단클론 감마병증, 독성(항암제), CIDP(당뇨에서 위험↑ — 면역치료 반응), 유전성(CMT), 아밀로이드(ATTR).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진단과 통증 관리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B05-L10  ·  당뇨병성 신경병증과 고혈당 신경손상</a:t>
            </a:r>
            <a:r>
              <a:rPr sz="10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OPTION-DM 시험: 1차 약물 간 효과 유사, 병용(둘록세틴 + 프레가발린)이 단독 부분 반응자에게 추가 이득.</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진단과 통증 관리</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B05-L10  ·  당뇨병성 신경병증과 고혈당 신경손상</a:t>
            </a:r>
            <a:r>
              <a:rPr sz="1000" b="1" i="0">
                <a:solidFill>
                  <a:srgbClr val="003C71"/>
                </a:solidFill>
                <a:latin typeface="Malgun Gothic"/>
                <a:ea typeface="Malgun Gothic"/>
                <a:cs typeface="Malgun Gothic"/>
              </a:rPr>
              <a:t>     11</a:t>
            </a:r>
          </a:p>
        </p:txBody>
      </p:sp>
      <p:graphicFrame>
        <p:nvGraphicFramePr>
          <p:cNvPr id="7" name="Table 6"/>
          <p:cNvGraphicFramePr>
            <a:graphicFrameLocks noGrp="1"/>
          </p:cNvGraphicFramePr>
          <p:nvPr/>
        </p:nvGraphicFramePr>
        <p:xfrm>
          <a:off x="548640" y="1280160"/>
          <a:ext cx="11064240" cy="292608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500" b="1" i="0">
                          <a:solidFill>
                            <a:srgbClr val="FFFFFF"/>
                          </a:solidFill>
                          <a:latin typeface="Malgun Gothic"/>
                          <a:ea typeface="Malgun Gothic"/>
                          <a:cs typeface="Malgun Gothic"/>
                        </a:rPr>
                        <a:t>통증 치료</a:t>
                      </a:r>
                    </a:p>
                  </a:txBody>
                  <a:tcPr marL="73152" marR="73152">
                    <a:solidFill>
                      <a:srgbClr val="003C71"/>
                    </a:solidFill>
                  </a:tcPr>
                </a:tc>
                <a:tc>
                  <a:txBody>
                    <a:bodyPr/>
                    <a:lstStyle/>
                    <a:p>
                      <a:r>
                        <a:rPr sz="1500" b="1" i="0">
                          <a:solidFill>
                            <a:srgbClr val="FFFFFF"/>
                          </a:solidFill>
                          <a:latin typeface="Malgun Gothic"/>
                          <a:ea typeface="Malgun Gothic"/>
                          <a:cs typeface="Malgun Gothic"/>
                        </a:rPr>
                        <a:t>기전</a:t>
                      </a:r>
                    </a:p>
                  </a:txBody>
                  <a:tcPr marL="73152" marR="73152">
                    <a:solidFill>
                      <a:srgbClr val="003C71"/>
                    </a:solidFill>
                  </a:tcPr>
                </a:tc>
                <a:tc>
                  <a:txBody>
                    <a:bodyPr/>
                    <a:lstStyle/>
                    <a:p>
                      <a:r>
                        <a:rPr sz="1500" b="1" i="0">
                          <a:solidFill>
                            <a:srgbClr val="FFFFFF"/>
                          </a:solidFill>
                          <a:latin typeface="Malgun Gothic"/>
                          <a:ea typeface="Malgun Gothic"/>
                          <a:cs typeface="Malgun Gothic"/>
                        </a:rPr>
                        <a:t>비고</a:t>
                      </a:r>
                    </a:p>
                  </a:txBody>
                  <a:tcPr marL="73152" marR="73152">
                    <a:solidFill>
                      <a:srgbClr val="003C71"/>
                    </a:solidFill>
                  </a:tcPr>
                </a:tc>
              </a:tr>
              <a:tr h="365760">
                <a:tc>
                  <a:txBody>
                    <a:bodyPr/>
                    <a:lstStyle/>
                    <a:p>
                      <a:r>
                        <a:rPr sz="1500" b="1" i="0">
                          <a:solidFill>
                            <a:srgbClr val="11202B"/>
                          </a:solidFill>
                          <a:latin typeface="Malgun Gothic"/>
                          <a:ea typeface="Malgun Gothic"/>
                          <a:cs typeface="Malgun Gothic"/>
                        </a:rPr>
                        <a:t>프레가발린, 가바펜틴</a:t>
                      </a:r>
                    </a:p>
                  </a:txBody>
                  <a:tcPr marL="73152" marR="73152">
                    <a:solidFill>
                      <a:srgbClr val="FFFFFF"/>
                    </a:solidFill>
                  </a:tcPr>
                </a:tc>
                <a:tc>
                  <a:txBody>
                    <a:bodyPr/>
                    <a:lstStyle/>
                    <a:p>
                      <a:r>
                        <a:rPr sz="1500" b="0" i="0">
                          <a:solidFill>
                            <a:srgbClr val="11202B"/>
                          </a:solidFill>
                          <a:latin typeface="Malgun Gothic"/>
                          <a:ea typeface="Malgun Gothic"/>
                          <a:cs typeface="Malgun Gothic"/>
                        </a:rPr>
                        <a:t>전압개폐 Ca²⁺ 통로 α2δ-1 → 흥분성 신경전달물질 방출↓</a:t>
                      </a:r>
                    </a:p>
                  </a:txBody>
                  <a:tcPr marL="73152" marR="73152">
                    <a:solidFill>
                      <a:srgbClr val="FFFFFF"/>
                    </a:solidFill>
                  </a:tcPr>
                </a:tc>
                <a:tc>
                  <a:txBody>
                    <a:bodyPr/>
                    <a:lstStyle/>
                    <a:p>
                      <a:r>
                        <a:rPr sz="1500" b="0" i="0">
                          <a:solidFill>
                            <a:srgbClr val="11202B"/>
                          </a:solidFill>
                          <a:latin typeface="Malgun Gothic"/>
                          <a:ea typeface="Malgun Gothic"/>
                          <a:cs typeface="Malgun Gothic"/>
                        </a:rPr>
                        <a:t>1차; 어지럼·부종·체중 증가</a:t>
                      </a:r>
                    </a:p>
                  </a:txBody>
                  <a:tcPr marL="73152" marR="73152">
                    <a:solidFill>
                      <a:srgbClr val="FFFFFF"/>
                    </a:solidFill>
                  </a:tcPr>
                </a:tc>
              </a:tr>
              <a:tr h="365760">
                <a:tc>
                  <a:txBody>
                    <a:bodyPr/>
                    <a:lstStyle/>
                    <a:p>
                      <a:r>
                        <a:rPr sz="1500" b="1" i="0">
                          <a:solidFill>
                            <a:srgbClr val="11202B"/>
                          </a:solidFill>
                          <a:latin typeface="Malgun Gothic"/>
                          <a:ea typeface="Malgun Gothic"/>
                          <a:cs typeface="Malgun Gothic"/>
                        </a:rPr>
                        <a:t>둘록세틴</a:t>
                      </a:r>
                      <a:r>
                        <a:rPr sz="1500" b="0" i="0">
                          <a:solidFill>
                            <a:srgbClr val="11202B"/>
                          </a:solidFill>
                          <a:latin typeface="Malgun Gothic"/>
                          <a:ea typeface="Malgun Gothic"/>
                          <a:cs typeface="Malgun Gothic"/>
                        </a:rPr>
                        <a:t>(SNRI)</a:t>
                      </a:r>
                    </a:p>
                  </a:txBody>
                  <a:tcPr marL="73152" marR="73152">
                    <a:solidFill>
                      <a:srgbClr val="ECF1F5"/>
                    </a:solidFill>
                  </a:tcPr>
                </a:tc>
                <a:tc>
                  <a:txBody>
                    <a:bodyPr/>
                    <a:lstStyle/>
                    <a:p>
                      <a:r>
                        <a:rPr sz="1500" b="0" i="0">
                          <a:solidFill>
                            <a:srgbClr val="11202B"/>
                          </a:solidFill>
                          <a:latin typeface="Malgun Gothic"/>
                          <a:ea typeface="Malgun Gothic"/>
                          <a:cs typeface="Malgun Gothic"/>
                        </a:rPr>
                        <a:t>하행 억제 경로(세로토닌·노르에피네프린) 강화</a:t>
                      </a:r>
                    </a:p>
                  </a:txBody>
                  <a:tcPr marL="73152" marR="73152">
                    <a:solidFill>
                      <a:srgbClr val="ECF1F5"/>
                    </a:solidFill>
                  </a:tcPr>
                </a:tc>
                <a:tc>
                  <a:txBody>
                    <a:bodyPr/>
                    <a:lstStyle/>
                    <a:p>
                      <a:r>
                        <a:rPr sz="1500" b="0" i="0">
                          <a:solidFill>
                            <a:srgbClr val="11202B"/>
                          </a:solidFill>
                          <a:latin typeface="Malgun Gothic"/>
                          <a:ea typeface="Malgun Gothic"/>
                          <a:cs typeface="Malgun Gothic"/>
                        </a:rPr>
                        <a:t>1차</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아미트립틸린(TCA)</a:t>
                      </a:r>
                    </a:p>
                  </a:txBody>
                  <a:tcPr marL="73152" marR="73152">
                    <a:solidFill>
                      <a:srgbClr val="FFFFFF"/>
                    </a:solidFill>
                  </a:tcPr>
                </a:tc>
                <a:tc>
                  <a:txBody>
                    <a:bodyPr/>
                    <a:lstStyle/>
                    <a:p>
                      <a:r>
                        <a:rPr sz="1500" b="0" i="0">
                          <a:solidFill>
                            <a:srgbClr val="11202B"/>
                          </a:solidFill>
                          <a:latin typeface="Malgun Gothic"/>
                          <a:ea typeface="Malgun Gothic"/>
                          <a:cs typeface="Malgun Gothic"/>
                        </a:rPr>
                        <a:t>재흡수 억제 + Na⁺ 통로 차단</a:t>
                      </a:r>
                    </a:p>
                  </a:txBody>
                  <a:tcPr marL="73152" marR="73152">
                    <a:solidFill>
                      <a:srgbClr val="FFFFFF"/>
                    </a:solidFill>
                  </a:tcPr>
                </a:tc>
                <a:tc>
                  <a:txBody>
                    <a:bodyPr/>
                    <a:lstStyle/>
                    <a:p>
                      <a:r>
                        <a:rPr sz="1500" b="0" i="0">
                          <a:solidFill>
                            <a:srgbClr val="11202B"/>
                          </a:solidFill>
                          <a:latin typeface="Malgun Gothic"/>
                          <a:ea typeface="Malgun Gothic"/>
                          <a:cs typeface="Malgun Gothic"/>
                        </a:rPr>
                        <a:t>1차(저용량); 항콜린·심장</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캡사이신 8% 패치</a:t>
                      </a:r>
                    </a:p>
                  </a:txBody>
                  <a:tcPr marL="73152" marR="73152">
                    <a:solidFill>
                      <a:srgbClr val="ECF1F5"/>
                    </a:solidFill>
                  </a:tcPr>
                </a:tc>
                <a:tc>
                  <a:txBody>
                    <a:bodyPr/>
                    <a:lstStyle/>
                    <a:p>
                      <a:r>
                        <a:rPr sz="1500" b="0" i="0">
                          <a:solidFill>
                            <a:srgbClr val="11202B"/>
                          </a:solidFill>
                          <a:latin typeface="Malgun Gothic"/>
                          <a:ea typeface="Malgun Gothic"/>
                          <a:cs typeface="Malgun Gothic"/>
                        </a:rPr>
                        <a:t>TRPV1 작용 → 말초 신경 말단 탈감작</a:t>
                      </a:r>
                    </a:p>
                  </a:txBody>
                  <a:tcPr marL="73152" marR="73152">
                    <a:solidFill>
                      <a:srgbClr val="ECF1F5"/>
                    </a:solidFill>
                  </a:tcPr>
                </a:tc>
                <a:tc>
                  <a:txBody>
                    <a:bodyPr/>
                    <a:lstStyle/>
                    <a:p>
                      <a:r>
                        <a:rPr sz="1500" b="0" i="0">
                          <a:solidFill>
                            <a:srgbClr val="11202B"/>
                          </a:solidFill>
                          <a:latin typeface="Malgun Gothic"/>
                          <a:ea typeface="Malgun Gothic"/>
                          <a:cs typeface="Malgun Gothic"/>
                        </a:rPr>
                        <a:t>국소</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타펜타돌, 트라마돌</a:t>
                      </a:r>
                    </a:p>
                  </a:txBody>
                  <a:tcPr marL="73152" marR="73152">
                    <a:solidFill>
                      <a:srgbClr val="FFFFFF"/>
                    </a:solidFill>
                  </a:tcPr>
                </a:tc>
                <a:tc>
                  <a:txBody>
                    <a:bodyPr/>
                    <a:lstStyle/>
                    <a:p>
                      <a:r>
                        <a:rPr sz="1500" b="0" i="0">
                          <a:solidFill>
                            <a:srgbClr val="11202B"/>
                          </a:solidFill>
                          <a:latin typeface="Malgun Gothic"/>
                          <a:ea typeface="Malgun Gothic"/>
                          <a:cs typeface="Malgun Gothic"/>
                        </a:rPr>
                        <a:t>μ-오피오이드 + 노르에피네프린 재흡수</a:t>
                      </a:r>
                    </a:p>
                  </a:txBody>
                  <a:tcPr marL="73152" marR="73152">
                    <a:solidFill>
                      <a:srgbClr val="FFFFFF"/>
                    </a:solidFill>
                  </a:tcPr>
                </a:tc>
                <a:tc>
                  <a:txBody>
                    <a:bodyPr/>
                    <a:lstStyle/>
                    <a:p>
                      <a:r>
                        <a:rPr sz="1500" b="0" i="0">
                          <a:solidFill>
                            <a:srgbClr val="11202B"/>
                          </a:solidFill>
                          <a:latin typeface="Malgun Gothic"/>
                          <a:ea typeface="Malgun Gothic"/>
                          <a:cs typeface="Malgun Gothic"/>
                        </a:rPr>
                        <a:t>2–3차; 의존</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척수 자극술</a:t>
                      </a:r>
                    </a:p>
                  </a:txBody>
                  <a:tcPr marL="73152" marR="73152">
                    <a:solidFill>
                      <a:srgbClr val="ECF1F5"/>
                    </a:solidFill>
                  </a:tcPr>
                </a:tc>
                <a:tc>
                  <a:txBody>
                    <a:bodyPr/>
                    <a:lstStyle/>
                    <a:p>
                      <a:r>
                        <a:rPr sz="1500" b="0" i="0">
                          <a:solidFill>
                            <a:srgbClr val="11202B"/>
                          </a:solidFill>
                          <a:latin typeface="Malgun Gothic"/>
                          <a:ea typeface="Malgun Gothic"/>
                          <a:cs typeface="Malgun Gothic"/>
                        </a:rPr>
                        <a:t>관문 조절</a:t>
                      </a:r>
                    </a:p>
                  </a:txBody>
                  <a:tcPr marL="73152" marR="73152">
                    <a:solidFill>
                      <a:srgbClr val="ECF1F5"/>
                    </a:solidFill>
                  </a:tcPr>
                </a:tc>
                <a:tc>
                  <a:txBody>
                    <a:bodyPr/>
                    <a:lstStyle/>
                    <a:p>
                      <a:r>
                        <a:rPr sz="1500" b="0" i="0">
                          <a:solidFill>
                            <a:srgbClr val="11202B"/>
                          </a:solidFill>
                          <a:latin typeface="Malgun Gothic"/>
                          <a:ea typeface="Malgun Gothic"/>
                          <a:cs typeface="Malgun Gothic"/>
                        </a:rPr>
                        <a:t>난치성(고주파 10 kHz — SENZA-PDN)</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수제트리진</a:t>
                      </a:r>
                    </a:p>
                  </a:txBody>
                  <a:tcPr marL="73152" marR="73152">
                    <a:solidFill>
                      <a:srgbClr val="FFFFFF"/>
                    </a:solidFill>
                  </a:tcPr>
                </a:tc>
                <a:tc>
                  <a:txBody>
                    <a:bodyPr/>
                    <a:lstStyle/>
                    <a:p>
                      <a:r>
                        <a:rPr sz="1500" b="0" i="0">
                          <a:solidFill>
                            <a:srgbClr val="11202B"/>
                          </a:solidFill>
                          <a:latin typeface="Malgun Gothic"/>
                          <a:ea typeface="Malgun Gothic"/>
                          <a:cs typeface="Malgun Gothic"/>
                        </a:rPr>
                        <a:t>Nav1.8 선택 차단</a:t>
                      </a:r>
                    </a:p>
                  </a:txBody>
                  <a:tcPr marL="73152" marR="73152">
                    <a:solidFill>
                      <a:srgbClr val="FFFFFF"/>
                    </a:solidFill>
                  </a:tcPr>
                </a:tc>
                <a:tc>
                  <a:txBody>
                    <a:bodyPr/>
                    <a:lstStyle/>
                    <a:p>
                      <a:r>
                        <a:rPr sz="1500" b="0" i="0">
                          <a:solidFill>
                            <a:srgbClr val="11202B"/>
                          </a:solidFill>
                          <a:latin typeface="Malgun Gothic"/>
                          <a:ea typeface="Malgun Gothic"/>
                          <a:cs typeface="Malgun Gothic"/>
                        </a:rPr>
                        <a:t>급성 통증 승인(2025); 신경병증 통증 연구</a:t>
                      </a:r>
                    </a:p>
                  </a:txBody>
                  <a:tcPr marL="73152" marR="73152">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당뇨발과 급성 혈당 응급의 신경학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B05-L10  ·  당뇨병성 신경병증과 고혈당 신경손상</a:t>
            </a:r>
            <a:r>
              <a:rPr sz="1000" b="1" i="0">
                <a:solidFill>
                  <a:srgbClr val="003C71"/>
                </a:solidFill>
                <a:latin typeface="Malgun Gothic"/>
                <a:ea typeface="Malgun Gothic"/>
                <a:cs typeface="Malgun Gothic"/>
              </a:rPr>
              <a:t>     12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당뇨발</a:t>
            </a:r>
            <a:r>
              <a:rPr sz="1800" b="0" i="0">
                <a:solidFill>
                  <a:srgbClr val="11202B"/>
                </a:solidFill>
                <a:latin typeface="Malgun Gothic"/>
                <a:ea typeface="Malgun Gothic"/>
                <a:cs typeface="Malgun Gothic"/>
              </a:rPr>
              <a:t>: 신경병증(감각 소실 → 반복 외상 인식 못함, 운동 → 발 변형·압력 집중, 자율 → 건조·균열) + 말초동맥질환 + 감염 → 궤양 → 하지 절단(당뇨 환자 비외상 절단의 주원인). </a:t>
            </a:r>
            <a:r>
              <a:rPr sz="1800" b="1" i="0">
                <a:solidFill>
                  <a:srgbClr val="11202B"/>
                </a:solidFill>
                <a:latin typeface="Malgun Gothic"/>
                <a:ea typeface="Malgun Gothic"/>
                <a:cs typeface="Malgun Gothic"/>
              </a:rPr>
              <a:t>샤르코 관절병증</a:t>
            </a:r>
            <a:r>
              <a:rPr sz="1800" b="0" i="0">
                <a:solidFill>
                  <a:srgbClr val="11202B"/>
                </a:solidFill>
                <a:latin typeface="Malgun Gothic"/>
                <a:ea typeface="Malgun Gothic"/>
                <a:cs typeface="Malgun Gothic"/>
              </a:rPr>
              <a:t>(신경병성 골관절 파괴; 급성기 부종·발열 → 비체중 부하 고정).</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예방: 매일 발 관찰, 적절한 신발, 정기 발 검사, 위험 분류.</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저혈당 신경 손상</a:t>
            </a:r>
            <a:r>
              <a:rPr sz="1800" b="0" i="0">
                <a:solidFill>
                  <a:srgbClr val="11202B"/>
                </a:solidFill>
                <a:latin typeface="Malgun Gothic"/>
                <a:ea typeface="Malgun Gothic"/>
                <a:cs typeface="Malgun Gothic"/>
              </a:rPr>
              <a:t>: 대뇌피질·해마·기저핵 선택적(글루탐산·아스파르트산 흥분독성 — 허혈과 다른 패턴; 소뇌·뇌간 비교적 보존); 반복 저혈당 → 인지 저하, 저혈당 무감지(중추 적응 — 젖산·케톤 이용 증가, 시상하부 반응 둔화) → 2–3주 저혈당 엄격 회피로 감지 회복.</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고혈당 응급</a:t>
            </a:r>
            <a:r>
              <a:rPr sz="1800" b="0" i="0">
                <a:solidFill>
                  <a:srgbClr val="11202B"/>
                </a:solidFill>
                <a:latin typeface="Malgun Gothic"/>
                <a:ea typeface="Malgun Gothic"/>
                <a:cs typeface="Malgun Gothic"/>
              </a:rPr>
              <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당뇨발과 급성 혈당 응급의 신경학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B05-L10  ·  당뇨병성 신경병증과 고혈당 신경손상</a:t>
            </a:r>
            <a:r>
              <a:rPr sz="10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lvl="1">
              <a:spcAft>
                <a:spcPts val="400"/>
              </a:spcAft>
            </a:pPr>
            <a:r>
              <a:rPr sz="2000" b="0" i="0">
                <a:solidFill>
                  <a:srgbClr val="66788A"/>
                </a:solidFill>
                <a:latin typeface="Malgun Gothic"/>
                <a:ea typeface="Malgun Gothic"/>
                <a:cs typeface="Malgun Gothic"/>
              </a:rPr>
              <a:t>    – </a:t>
            </a:r>
            <a:r>
              <a:rPr sz="2000" b="0" i="0">
                <a:solidFill>
                  <a:srgbClr val="2E3F4C"/>
                </a:solidFill>
                <a:latin typeface="Malgun Gothic"/>
                <a:ea typeface="Malgun Gothic"/>
                <a:cs typeface="Malgun Gothic"/>
              </a:rPr>
              <a:t>DKA 소아 </a:t>
            </a:r>
            <a:r>
              <a:rPr sz="2000" b="1" i="0">
                <a:solidFill>
                  <a:srgbClr val="2E3F4C"/>
                </a:solidFill>
                <a:latin typeface="Malgun Gothic"/>
                <a:ea typeface="Malgun Gothic"/>
                <a:cs typeface="Malgun Gothic"/>
              </a:rPr>
              <a:t>뇌부종</a:t>
            </a:r>
            <a:r>
              <a:rPr sz="2000" b="0" i="0">
                <a:solidFill>
                  <a:srgbClr val="2E3F4C"/>
                </a:solidFill>
                <a:latin typeface="Malgun Gothic"/>
                <a:ea typeface="Malgun Gothic"/>
                <a:cs typeface="Malgun Gothic"/>
              </a:rPr>
              <a:t>(0.5–1%, 사망률 20–25%) — 혈관성 부종·재관류 손상 가설 &gt; 삼투 교정 가설; 만니톨·고장성 식염수.</a:t>
            </a:r>
          </a:p>
          <a:p>
            <a:pPr lvl="1">
              <a:spcAft>
                <a:spcPts val="400"/>
              </a:spcAft>
            </a:pPr>
            <a:r>
              <a:rPr sz="2000" b="0" i="0">
                <a:solidFill>
                  <a:srgbClr val="66788A"/>
                </a:solidFill>
                <a:latin typeface="Malgun Gothic"/>
                <a:ea typeface="Malgun Gothic"/>
                <a:cs typeface="Malgun Gothic"/>
              </a:rPr>
              <a:t>    – </a:t>
            </a:r>
            <a:r>
              <a:rPr sz="2000" b="0" i="0">
                <a:solidFill>
                  <a:srgbClr val="2E3F4C"/>
                </a:solidFill>
                <a:latin typeface="Malgun Gothic"/>
                <a:ea typeface="Malgun Gothic"/>
                <a:cs typeface="Malgun Gothic"/>
              </a:rPr>
              <a:t>HHS: 고삼투 → 의식 저하, 국소 신경 징후·</a:t>
            </a:r>
            <a:r>
              <a:rPr sz="2000" b="1" i="0">
                <a:solidFill>
                  <a:srgbClr val="2E3F4C"/>
                </a:solidFill>
                <a:latin typeface="Malgun Gothic"/>
                <a:ea typeface="Malgun Gothic"/>
                <a:cs typeface="Malgun Gothic"/>
              </a:rPr>
              <a:t>발작</a:t>
            </a:r>
            <a:r>
              <a:rPr sz="2000" b="0" i="0">
                <a:solidFill>
                  <a:srgbClr val="2E3F4C"/>
                </a:solidFill>
                <a:latin typeface="Malgun Gothic"/>
                <a:ea typeface="Malgun Gothic"/>
                <a:cs typeface="Malgun Gothic"/>
              </a:rPr>
              <a:t>(편측 무도증 — 비케톤성 고혈당 선조체 T1 고신호), 혈전 위험.</a:t>
            </a:r>
          </a:p>
          <a:p>
            <a:pPr lvl="1">
              <a:spcAft>
                <a:spcPts val="400"/>
              </a:spcAft>
            </a:pPr>
            <a:r>
              <a:rPr sz="2000" b="0" i="0">
                <a:solidFill>
                  <a:srgbClr val="66788A"/>
                </a:solidFill>
                <a:latin typeface="Malgun Gothic"/>
                <a:ea typeface="Malgun Gothic"/>
                <a:cs typeface="Malgun Gothic"/>
              </a:rPr>
              <a:t>    – </a:t>
            </a:r>
            <a:r>
              <a:rPr sz="2000" b="0" i="0">
                <a:solidFill>
                  <a:srgbClr val="2E3F4C"/>
                </a:solidFill>
                <a:latin typeface="Malgun Gothic"/>
                <a:ea typeface="Malgun Gothic"/>
                <a:cs typeface="Malgun Gothic"/>
              </a:rPr>
              <a:t>고혈당과 뇌졸중 예후 악화(B05 L06).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FRONTIER   </a:t>
            </a:r>
            <a:r>
              <a:rPr sz="2600" b="1" i="0">
                <a:solidFill>
                  <a:srgbClr val="FFFFFF"/>
                </a:solidFill>
                <a:latin typeface="Malgun Gothic"/>
                <a:ea typeface="Malgun Gothic"/>
                <a:cs typeface="Malgun Gothic"/>
              </a:rPr>
              <a:t>연구 최전선</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B05-L10  ·  당뇨병성 신경병증과 고혈당 신경손상</a:t>
            </a:r>
            <a:r>
              <a:rPr sz="10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미토콘드리아·NAD⁺ 대사 표적(SARM1 억제 — 축삭 퇴행의 집행자), 소듐 통로 Nav1.7/1.8 선택 억제제, GLP-1RA·SGLT2i의 신경병증 예방 효과에 대한 장기 자료가 축적되고 있다.</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각막 공초점 현미경과 AI 분석이 신경병증 조기 진단·재생 평가 대리 지표로 임상시험에 쓰이고 있다.</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단일세포 아틀라스로 사람 후근신경절의 통각 신경세포 아형(종간 차이 — 쥐 연구 번역의 한계)이 밝혀져 통증 표적 선택에 반영되고 있다.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SUMMARY   </a:t>
            </a:r>
            <a:r>
              <a:rPr sz="2600" b="1" i="0">
                <a:solidFill>
                  <a:srgbClr val="FFFFFF"/>
                </a:solidFill>
                <a:latin typeface="Malgun Gothic"/>
                <a:ea typeface="Malgun Gothic"/>
                <a:cs typeface="Malgun Gothic"/>
              </a:rPr>
              <a:t>요약</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B05-L10  ·  당뇨병성 신경병증과 고혈당 신경손상</a:t>
            </a:r>
            <a:r>
              <a:rPr sz="1000" b="1" i="0">
                <a:solidFill>
                  <a:srgbClr val="003C71"/>
                </a:solidFill>
                <a:latin typeface="Malgun Gothic"/>
                <a:ea typeface="Malgun Gothic"/>
                <a:cs typeface="Malgun Gothic"/>
              </a:rPr>
              <a:t>     15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1. </a:t>
            </a:r>
            <a:r>
              <a:rPr sz="2000" b="0" i="0">
                <a:solidFill>
                  <a:srgbClr val="11202B"/>
                </a:solidFill>
                <a:latin typeface="Malgun Gothic"/>
                <a:ea typeface="Malgun Gothic"/>
                <a:cs typeface="Malgun Gothic"/>
              </a:rPr>
              <a:t>당뇨병성 신경병증은 길이 의존 DSPN이 가장 흔하며 자율신경병증·단신경병증·근위축증이 있다.</a:t>
            </a:r>
          </a:p>
          <a:p>
            <a:pPr>
              <a:spcAft>
                <a:spcPts val="800"/>
              </a:spcAft>
            </a:pPr>
            <a:r>
              <a:rPr sz="2000" b="1" i="0">
                <a:solidFill>
                  <a:srgbClr val="003C71"/>
                </a:solidFill>
                <a:latin typeface="Malgun Gothic"/>
                <a:ea typeface="Malgun Gothic"/>
                <a:cs typeface="Malgun Gothic"/>
              </a:rPr>
              <a:t>2. </a:t>
            </a:r>
            <a:r>
              <a:rPr sz="2000" b="0" i="0">
                <a:solidFill>
                  <a:srgbClr val="11202B"/>
                </a:solidFill>
                <a:latin typeface="Malgun Gothic"/>
                <a:ea typeface="Malgun Gothic"/>
                <a:cs typeface="Malgun Gothic"/>
              </a:rPr>
              <a:t>인슐린 비의존 포도당 유입 세포에서 폴리올·AGE·PKC·헥소사민·미토콘드리아 과부하·이상지질이 축삭과 신경 미세혈관을 손상한다.</a:t>
            </a:r>
          </a:p>
          <a:p>
            <a:pPr>
              <a:spcAft>
                <a:spcPts val="800"/>
              </a:spcAft>
            </a:pPr>
            <a:r>
              <a:rPr sz="2000" b="1" i="0">
                <a:solidFill>
                  <a:srgbClr val="003C71"/>
                </a:solidFill>
                <a:latin typeface="Malgun Gothic"/>
                <a:ea typeface="Malgun Gothic"/>
                <a:cs typeface="Malgun Gothic"/>
              </a:rPr>
              <a:t>3. </a:t>
            </a:r>
            <a:r>
              <a:rPr sz="2000" b="0" i="0">
                <a:solidFill>
                  <a:srgbClr val="11202B"/>
                </a:solidFill>
                <a:latin typeface="Malgun Gothic"/>
                <a:ea typeface="Malgun Gothic"/>
                <a:cs typeface="Malgun Gothic"/>
              </a:rPr>
              <a:t>1형은 혈당 조절로 크게 예방되지만 2형은 대사증후군 구성요소 전반의 관리가 필요하며 전당뇨에서도 소섬유 신경병증이 생긴다.</a:t>
            </a:r>
          </a:p>
          <a:p>
            <a:pPr>
              <a:spcAft>
                <a:spcPts val="800"/>
              </a:spcAft>
            </a:pPr>
            <a:r>
              <a:rPr sz="2000" b="1" i="0">
                <a:solidFill>
                  <a:srgbClr val="003C71"/>
                </a:solidFill>
                <a:latin typeface="Malgun Gothic"/>
                <a:ea typeface="Malgun Gothic"/>
                <a:cs typeface="Malgun Gothic"/>
              </a:rPr>
              <a:t>4. </a:t>
            </a:r>
            <a:r>
              <a:rPr sz="2000" b="0" i="0">
                <a:solidFill>
                  <a:srgbClr val="11202B"/>
                </a:solidFill>
                <a:latin typeface="Malgun Gothic"/>
                <a:ea typeface="Malgun Gothic"/>
                <a:cs typeface="Malgun Gothic"/>
              </a:rPr>
              <a:t>모노필라멘트·진동 선별, 신경전도·피부 생검으로 진단하고 B12·갑상선·CIDP 등을 감별하며 α2δ 리간드·SNRI·TCA로 통증을 치료한다.</a:t>
            </a:r>
          </a:p>
          <a:p>
            <a:pPr>
              <a:spcAft>
                <a:spcPts val="800"/>
              </a:spcAft>
            </a:pPr>
            <a:r>
              <a:rPr sz="2000" b="1" i="0">
                <a:solidFill>
                  <a:srgbClr val="003C71"/>
                </a:solidFill>
                <a:latin typeface="Malgun Gothic"/>
                <a:ea typeface="Malgun Gothic"/>
                <a:cs typeface="Malgun Gothic"/>
              </a:rPr>
              <a:t>5. </a:t>
            </a:r>
            <a:r>
              <a:rPr sz="2000" b="0" i="0">
                <a:solidFill>
                  <a:srgbClr val="11202B"/>
                </a:solidFill>
                <a:latin typeface="Malgun Gothic"/>
                <a:ea typeface="Malgun Gothic"/>
                <a:cs typeface="Malgun Gothic"/>
              </a:rPr>
              <a:t>당뇨발 예방, 저혈당 무감지, DKA 뇌부종·HHS 발작은 신경학적 합병증의 중요한 축이다.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1</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B05-L10  ·  당뇨병성 신경병증과 고혈당 신경손상</a:t>
            </a:r>
            <a:r>
              <a:rPr sz="1000" b="1" i="0">
                <a:solidFill>
                  <a:srgbClr val="003C71"/>
                </a:solidFill>
                <a:latin typeface="Malgun Gothic"/>
                <a:ea typeface="Malgun Gothic"/>
                <a:cs typeface="Malgun Gothic"/>
              </a:rPr>
              <a:t>     16</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2형 당뇨 환자에서 집중 혈당 조절의 신경병증 예방 효과가 1형보다 작은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2형 당뇨 신경병증은 고혈당뿐 아니라 비만, 이상지질(고중성지방·포화지방산), 고혈압, 인슐린 저항성 등 대사증후군 요인이 독립적으로 후근신경절 미토콘드리아·미세혈관 손상에 기여하기 때문이다. 또 진단 시 이미 수년간 대사 이상에 노출되어 있다. 따라서 혈당 외 위험인자 관리와 운동이 중요하다.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B05-L10  ·  당뇨병성 신경병증과 고혈당 신경손상</a:t>
            </a:r>
            <a:r>
              <a:rPr sz="1000" b="1" i="0">
                <a:solidFill>
                  <a:srgbClr val="003C71"/>
                </a:solidFill>
                <a:latin typeface="Malgun Gothic"/>
                <a:ea typeface="Malgun Gothic"/>
                <a:cs typeface="Malgun Gothic"/>
              </a:rPr>
              <a:t>     17</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메트포르민을 장기 복용하는 당뇨 환자가 신경병증 악화를 보인다. 반드시 확인할 것은?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비타민 B12 결핍. 메트포르민은 회장의 내인자–B12 흡수(칼슘 의존 큐빌린 결합)를 저해해 장기 복용자에서 B12 결핍을 일으키며, 이는 당뇨병성 신경병증과 비슷한 대칭 신경병증과 후삭 기능 장애를 유발한다. 혈청 B12와 MMA를 측정해 결핍 시 보충한다.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B05-L10  ·  당뇨병성 신경병증과 고혈당 신경손상</a:t>
            </a:r>
            <a:r>
              <a:rPr sz="1000" b="1" i="0">
                <a:solidFill>
                  <a:srgbClr val="003C71"/>
                </a:solidFill>
                <a:latin typeface="Malgun Gothic"/>
                <a:ea typeface="Malgun Gothic"/>
                <a:cs typeface="Malgun Gothic"/>
              </a:rPr>
              <a:t>     18</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동안신경 마비가 생긴 당뇨 환자에서 동공 반응이 정상이면 압박성 원인보다 미세혈관 경색을 시사하는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동공 수축(부교감) 섬유는 동안신경 바깥쪽 표면을 따라 주행해 외부 압박(후교통동맥 동맥류)에 먼저 손상되지만, 미세혈관 경색은 신경 중심부를 침범해 표면의 동공 섬유를 보존한다. 따라서 동공 보존 마비는 당뇨성 허혈을 시사하지만, 동공 침범 시에는 동맥류 배제를 위한 응급 혈관 영상이 필요하다.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4</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B05-L10  ·  당뇨병성 신경병증과 고혈당 신경손상</a:t>
            </a:r>
            <a:r>
              <a:rPr sz="1000" b="1" i="0">
                <a:solidFill>
                  <a:srgbClr val="003C71"/>
                </a:solidFill>
                <a:latin typeface="Malgun Gothic"/>
                <a:ea typeface="Malgun Gothic"/>
                <a:cs typeface="Malgun Gothic"/>
              </a:rPr>
              <a:t>     19</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반복적인 저혈당 후 '저혈당 무감지'가 생기는 기전과 회복 방법은?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반복 저혈당으로 시상하부의 포도당 감지와 교감·부신 반조절 반응 역치가 낮아지고, 뇌가 젖산·케톤 등 대체 연료 이용을 늘려 경고 증상(떨림, 발한, 빈맥)이 나타나기 전에 신경당 결핍 증상이 먼저 온다. 2–3주간 저혈당을 엄격히 피하면(목표 완화, CGM·경보, 폐쇄회로) 반조절 반응과 감지가 회복된다.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B05-L10  ·  당뇨병성 신경병증과 고혈당 신경손상</a:t>
            </a:r>
            <a:r>
              <a:rPr sz="1000" b="1" i="0">
                <a:solidFill>
                  <a:srgbClr val="003C71"/>
                </a:solidFill>
                <a:latin typeface="Malgun Gothic"/>
                <a:ea typeface="Malgun Gothic"/>
                <a:cs typeface="Malgun Gothic"/>
              </a:rPr>
              <a:t>     20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Feldman EL et al. Diabetic neuropathy. Nat Rev Dis Primers 2019;5:41.</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Pop-Busui R et al. Diabetic neuropathy: a position statement by the American Diabetes Association. Diabetes Care 2017;40:136–154.</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Callaghan BC et al. Diabetic neuropathy: one disease or two? Curr Opin Neurol 2012;25:536–541.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B05-L10  ·  당뇨병성 신경병증과 고혈당 신경손상</a:t>
            </a:r>
            <a:r>
              <a:rPr sz="1000" b="1" i="0">
                <a:solidFill>
                  <a:srgbClr val="003C71"/>
                </a:solidFill>
                <a:latin typeface="Malgun Gothic"/>
                <a:ea typeface="Malgun Gothic"/>
                <a:cs typeface="Malgun Gothic"/>
              </a:rPr>
              <a:t>     21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Tesfaye S et al. Comparison of amitriptyline supplemented with pregabalin, pregabalin supplemented with amitriptyline, and duloxetine supplemented with pregabalin for diabetic peripheral neuropathic pain (OPTION-DM). Lancet 2022;400:680–690.</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Bierhaus A et al. Methylglyoxal modification of Nav1.8 facilitates nociceptive neuron firing and causes hyperalgesia in diabetic neuropathy. Nat Med 2012;18:926–933.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