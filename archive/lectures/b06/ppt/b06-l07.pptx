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생후 3개월 이전 발병 SCN2A 뇌전증은 대개 기능획득 변이로 Nav1.2 활성이 증가한 상태이므로 Na⁺ 통로 차단제(고용량 페니토인, 카르바마제핀, 옥스카르바제핀)에 잘 반응한다. 반대로 후기 발병·자폐 동반 기능소실 변이는 Na⁺ 차단제가 무효하거나 악화시킬 수 있어 기능 효과(전기생리·발병 연령)를 확인해야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TSC에서 mTORC1 과활성은 피질 결절과 흥분/억제 불균형을 만들며, 비가바트린은 GABA-T를 비가역 억제해 GABA를 증가시키고 mTOR 신호 억제 효과도 보고되었다. TSC 영아연축에서 다른 약물보다 반응률이 높아 1차로 권고된다. 망막 독성으로 시야 감시가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*PCDH19*는 X 염색체에 있으며, 이형접합 여성은 X 불활성화로 PCDH19 양성·음성 세포가 섞인 모자이크가 되어 세포 간 접착·인식 '코드' 불일치(세포 간섭)가 생겨 회로 이상이 발생한다. 반접합 남성은 모든 세포가 똑같이 PCDH19 음성이라 불일치가 없어 무증상이다. 체세포 모자이크 남성은 이환될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국소 피질 이형성증 II형의 원인으로, 발생 중 일부 신경 전구세포에 생긴 체세포 활성 변이가 mTOR 과활성 이형성 신경세포를 만들어 발작 병소가 된 것이다. 혈액 검사로는 검출되지 않으며, 병소의 완전 절제가 치료 핵심이고 잔존 병소가 있으면 mTOR 억제제가 보조 치료 후보가 된다. 생식세포 변이가 아니므로 가족 재발 위험은 낮다.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B06 신경질환과 유전학  ·  발작·발달 질환 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뇌전증의 유전학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Genetics of Epilepsy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B06-L07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뇌전증의 유전 구조(단일유전자 발달성 뇌전증 뇌병증, 가족성 국소 뇌전증, 다유전자 전신 뇌전증)를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 뇌전증(SCN1A, SCN2A, SCN8A, KCNQ2, KCNT1)의 기능 효과와 정밀 약물 선택을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시냅스·mTOR·크로마틴 등 비통로 뇌전증 유전자(STXBP1, CDKL5, TSC, DEPDC5)를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체세포 모자이크에 의한 뇌 기형 뇌전증(국소 피질 이형성증)을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뇌전증 유전 검사의 적응과 유전자 특이 치료(ASO, 유전자 치료, 재창출 약물)를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뇌전증 유전 구조의 개관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 뇌전증과 정밀 약물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비통로 뇌전증 유전자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체세포 모자이크와 뇌 기형 뇌전증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검사 적응과 유전자 특이 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뇌전증 유전 구조의 개관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뇌전증의 약 70%에 유전 요인 기여 추정; 형태별 구조: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발달성 뇌전증 뇌병증(DEE)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영아·소아 발병 난치성 발작 + 발달 지연/퇴행 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대부분 신생 단일유전자 변이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(진단율 30–50%); 'DEE'는 발작 자체와 유전 원인이 모두 발달 손상에 기여한다는 개념.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가족성 국소 뇌전증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DEPDC5·NPRL2/3(GATOR1 — mTOR 억제자), LGI1(청각 특징 측두엽), CHRNA4(수면 관련 과운동 뇌전증).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유전성(특발성) 전신 뇌전증(GGE)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소아 결신, 청소년 근간대 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다유전자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(흔한 변이 + 희귀 CNV — 15q13.3, 16p13.11), PRS가 DEE·GGE를 구분.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뇌전증 유전 구조의 개관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열성 경련 플러스(GEFS+)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가계: SCN1A, SCN1B, GABRG2 — 같은 가계에서 경증(열성 경련)부터 중증(드라베)까지.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국제 컨소시엄(Epi25) 엑솜 연구: DEE는 신생 LoF가 신경 발달 유전자에 집중, GGE는 GABA_A 수용체 유전자 희귀 변이 부담 증가.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이온통로 뇌전증과 정밀 약물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효과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 시사점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*SCN1A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Nav1.1(억제성 개재뉴런 우세)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기능소실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(반수부족)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드라베 증후군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생후 6개월 전후 발열·목욕 유발 장시간 반측·전신 경련 → 다양한 발작, 발달 정체, SUDEP 높음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Na⁺ 차단제 금기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(악화); 발프로산·클로바잠·스티리펜톨·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펜플루라민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·칸나비디올; ASO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조레베네르센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(TANGO — 생산적 전사체 증가, 3상)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*SCN2A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Nav1.2(흥분성)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GoF(조기, &lt;3개월) / LoF(후기·자폐·지적장애)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신생아·영아 뇌전증 / 자폐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GoF →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Na⁺ 차단제(고용량 페니토인·카르바마제핀) 반응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; LoF → Na⁺ 차단제 무효·악화 —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방향이 약물을 결정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; ASO(엘수너센 — GoF 저하)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*SCN8A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Nav1.6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 GoF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DEE, 운동장애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Na⁺ 차단제 고용량; ASO 시험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*KCNQ2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Kv7.2(M 전류)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LoF(양성 가족성 신생아 경련 / DEE) / GoF(드묾)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첫 주 강직 발작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카르바마제핀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(Na⁺ 차단) 효과적; Kv7 개방제(에조가빈 — 철수, 차세대 XEN1101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아제투칼너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*KCNT1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KNa1.1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 이동성 국소 발작(EIMFS), 수면 과운동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퀴니딘(효과 제한적), ASO 개발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CACNA1A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Cav2.1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LoF/GoF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결신·운동실조·편마비 편두통 (B06 L09)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GABRA1, GABRB3, GABRG2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GABA_A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LoF / GoF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DEE, GEFS+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GoF는 GABA 강화제 피함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GRIN2A, GRIN2B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NMDA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GoF / LoF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실어 뇌전증 스펙트럼(란다우-클레프너 — GRIN2A)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GoF → 메만틴(일부)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이온통로 뇌전증과 정밀 약물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효과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 시사점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HCN1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HCN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이온통로 뇌전증과 정밀 약물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 뇌전증에서 같은 유전자라도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기능획득(GoF)과 기능소실(LoF)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반대 약물 반응을 보일 수 있다. 변이의 기능 효과(전기생리)와 발병 연령이 약물 선택의 핵심 정보이다.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비통로 뇌전증 유전자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시냅스 소포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*STXBP1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*(Munc18-1 — SNARE 조립)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흔한 DEE 원인 중 하나; 영아 연축·발달 지연·진전 — 화학 샤페론(4-페닐부티르산) 시험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SYNGAP1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지적장애·자폐·근간대 결신, 섭식 유발 발작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키나아제·신호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*CDKL5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*(X연관)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생후 수주 발작, 심한 발달 지연, 피질 시각 장애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간락솔론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(2022 승인)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mTOR 경로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*TSC1/2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*DEPDC5, NPRL2/3, MTOR, PIK3CA, AKT3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결절성 경화증(B02 L02) — 영아연축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비가바트린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1차,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에베롤리무스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(난치성 발작 감소), 증상 전 비가바트린 예방(EPISTOP — 발달 개선 혼재)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크로마틴·전사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CHD2(광과민), MEF2C, FOXG1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SLC2A1(GLUT1), ALDH7A1, PNPO, POLG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 가능 대사성 뇌전증(B05 L05)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X연관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PCDH19(여성 이환 — 세포 간섭: 모자이크가 질환, 남성 무증상 보인자), ARX(영아연축·뇌 기형)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프로토카데린·세포 이동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DCX(이중 피질 — 띠 이소증), LIS1/PAFAH1B1(민뇌증 — 밀러-디커 17p13.3), TUBA1A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피질 발생 기형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체세포 모자이크와 뇌 기형 뇌전증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국소 피질 이형성증(FCD) II형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약물 난치성 국소 뇌전증 수술의 가장 흔한 병리; 이형성 신경세포·풍선 세포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mTOR 경로 체세포 변이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(MTOR, PIK3CA, AKT3, TSC1/2, DEPDC5 생식세포 + 체세포 '2-타격') → 뇌 조직 변이 대립 빈도 1–10%대(Lim et al., Nat Med 2015 — 한국 KAIST 연구진).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반측거대뇌증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PIK3CA, AKT3, MTOR 체세포 — 대뇌 반구 과성장, 영아 난치 뇌전증 → 반구 절제.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스터지-웨버 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GNAQ R183Q 체세포 → 얼굴 포트와인 반점·연수막 혈관종·발작·녹내장.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 과오종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(웃음 발작 — GLI3 체세포·생식세포).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체세포 모자이크와 뇌 기형 뇌전증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수술 절제 조직의 심층 시퀀싱, 뇌 유래 cfDNA(CSF·수술 중 사용된 전극의 DNA)로 비침습적 검출 연구.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절제 수술, mTOR 억제제(FCD 2상), 레이저 간질 열치료(LITT).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검사 적응과 유전자 특이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권고(ILAE 2022):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원인 불명 뇌전증 + 발달 지연/지적장애/자폐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2세 미만 발병, DEE, 뇌전증 증후군(드라베 등), 가족력 강함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엑솜/유전체(± CMA)를 1차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결과 영향: 약물 선택(Na⁺ 차단제 금기/선호), 식이(GLUT1, PDH), 보조인자(피리독신·PLP·폴린산·비오틴·세린·크레아틴), 수술 결정(유전성 전반 뇌전증은 절제 효과 낮음; 생식세포 DEPDC5 FCD는 수술 이득), 예후 상담, SUDEP 위험 교육, 유전 상담, 임상시험.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유전자 특이 치료 파이프라인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검사 적응과 유전자 특이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재창출 약물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펜플루라민(드라베 — 세로토닌), 퀴니딘(KCNT1), 메만틴(GRIN GoF), 4-페닐부티르산(STXBP1)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ASO 상향(TANGO — NMD 표적 엑손 회피로 생산적 전사체 증가)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조레베네르센(SCN1A), SYNGAP1·STXBP1 개발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ASO 하향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SCN2A GoF(엘수너센), SCN8A, KCNT1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AAV 유전자 보충·조절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SCN1A 전사 인자 증강(ETX101 — 개재뉴런 특이 조절 요소, 1/2상), CDKL5, STXBP1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신경조절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미주신경 자극, 반응성 신경자극(RNS), 시상 DBS(전핵·중심정중핵)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다중 유전자형 특이 ASO의 임상 진입으로 '유전자형에 따른 질환 수정 뇌전증 치료'가 현실화되고 있으며, 조레베네르센 3상 결과가 이정표가 될 것이다.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 체세포 변이 지도(정상 뇌에도 신경세포당 수백–수천 체세포 SNV)와 뇌전증 병소의 체세포 변이 부담 연구가 확장되고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iPSC 유래 신경세포·뇌 오가노이드 + 다전극 배열로 환자 변이별 약물 반응을 체외에서 예측하는 '접시 위 정밀의학'이 시도되고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뇌전증은 DEE(신생 단일유전자), 가족성 국소(GATOR1 등), GGE(다유전자)로 유전 구조가 다르다.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 뇌전증은 기능 방향(GoF/LoF)에 따라 Na⁺ 차단제 반응이 반대이며 SCN1A 드라베는 Na⁺ 차단제 금기이다.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STXBP1, CDKL5(간락솔론), mTOR 경로(TSC — 비가바트린·에베롤리무스) 등 비통로 유전자가 DEE의 상당 부분을 차지한다.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FCD II형·반측거대뇌증은 mTOR 경로 체세포 모자이크로 생기며 수술·mTOR 억제가 치료이다.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원인 불명 조기·발달 동반 뇌전증은 엑솜/유전체를 1차로 시행하며 유전형 특이 ASO·AAV 치료가 개발 중이다.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생후 2주 신생아의 난치성 발작에서 SCN2A 미스센스 변이가 발견되었다. 약물 선택에 필요한 정보와 예상 반응은?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생후 3개월 이전 발병 SCN2A 뇌전증은 대개 기능획득 변이로 Nav1.2 활성이 증가한 상태이므로 Na⁺ 통로 차단제(고용량 페니토인, 카르바마제핀, 옥스카르바제핀)에 잘 반응한다. 반대로 후기 발병·자폐 동반 기능소실 변이는 Na⁺ 차단제가 무효하거나 악화시킬 수 있어 기능 효과(전기생리·발병 연령)를 확인해야 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결절성 경화증 영아의 영아연축에 비가바트린이 1차 약물인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TSC에서 mTORC1 과활성은 피질 결절과 흥분/억제 불균형을 만들며, 비가바트린은 GABA-T를 비가역 억제해 GABA를 증가시키고 mTOR 신호 억제 효과도 보고되었다. TSC 영아연축에서 다른 약물보다 반응률이 높아 1차로 권고된다. 망막 독성으로 시야 감시가 필요하다.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PCDH19 뇌전증이 이형접합 여성에게만 나타나고 변이를 가진 남성은 무증상인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*PCDH19*는 X 염색체에 있으며, 이형접합 여성은 X 불활성화로 PCDH19 양성·음성 세포가 섞인 모자이크가 되어 세포 간 접착·인식 '코드' 불일치(세포 간섭)가 생겨 회로 이상이 발생한다. 반접합 남성은 모든 세포가 똑같이 PCDH19 음성이라 불일치가 없어 무증상이다. 체세포 모자이크 남성은 이환될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난치성 측두엽 외 국소 뇌전증 환자의 절제 조직에서 MTOR 체세포 변이(VAF 4%)가 발견되었다. 의미는?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국소 피질 이형성증 II형의 원인으로, 발생 중 일부 신경 전구세포에 생긴 체세포 활성 변이가 mTOR 과활성 이형성 신경세포를 만들어 발작 병소가 된 것이다. 혈액 검사로는 검출되지 않으며, 병소의 완전 절제가 치료 핵심이고 잔존 병소가 있으면 mTOR 억제제가 보조 치료 후보가 된다. 생식세포 변이가 아니므로 가족 재발 위험은 낮다.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Scheffer IE et al. ILAE classification of the epilepsies: position paper. Epilepsia 2017;58:512–521.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Krey I et al. Current practice in diagnostic genetic testing of the epilepsies (ILAE Genetics Commission). Epileptic Disord 2022;24:765–786.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Wolff M et al. Genetic and phenotypic heterogeneity suggest therapeutic implications in SCN2A-related disorders. Brain 2017;140:1316–1336.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B06-L07  ·  뇌전증의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Lim JS et al. Brain somatic mutations in MTOR cause focal cortical dysplasia type II leading to intractable epilepsy. Nat Med 2015;21:395–400.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Epi25 Collaborative. Ultra-rare genetic variation in the epilepsies: a whole-exome sequencing study of 17,606 individuals. Am J Hum Genet 2019;105:267–282.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