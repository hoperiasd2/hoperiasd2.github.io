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기능 소실: C9orf72 단백(SMCR8–WDR41 복합체 — 자가포식·리소좀·엔도솜 조절의 Rab GEF) 발현 감소 → 미세아교세포·대식세포 염증 증가(동물), 자가포식 결함. 2. RNA 독성: 센스(G4C2)·안티센스(C4G2) 반복 RNA의 핵 병소 → RNA 결합 단백 격리(hnRNP H 등), G-사중체 구조. 3. RAN 번역 이중펩타이드(DPR): poly-GA(센스; 응집 많음), poly-GP(양방향), poly-GR·poly-PR(아르기닌 함유 — 가장 독성: 핵소체 스트레스, 핵공 복합체·핵-세포질 수송 장애, 리보솜 결합 번역 억제, 응축체 교란), poly-PA.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기능 소실: C9orf72 단백(SMCR8–WDR41 복합체 — 자가포식·리소좀·엔도솜 조절의 Rab GEF) 발현 감소 → 미세아교세포·대식세포 염증 증가(동물), 자가포식 결함. 2. RNA 독성: 센스(G4C2)·안티센스(C4G2) 반복 RNA의 핵 병소 → RNA 결합 단백 격리(hnRNP H 등), G-사중체 구조. 3. RAN 번역 이중펩타이드(DPR): poly-GA(센스; 응집 많음), poly-GP(양방향), poly-GR·poly-PR(아르기닌 함유 — 가장 독성: 핵소체 스트레스, 핵공 복합체·핵-세포질 수송 장애, 리보솜 결합 번역 억제, 응축체 교란), poly-PA.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반복 길이의 체세포 모자이크(조직마다 다름), TMEM106B·ATXN2 등 유전 수정인자, 반복 영역 메틸화 정도, 확장의 세대 간 변화, 환경·노화 요인이 질환 발현 여부와 침범 부위(운동 vs 전두측두)를 결정하는 것으로 생각된다. 불완전 침투와 발병 연령 변이가 크기 때문에 유전 상담에서 이를 설명해야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TDP-43은 정상적으로 UNC13A 인트론의 잠재 엑손 포함을 억제한다. 질환에서 TDP-43이 핵에서 빠지면 잠재 엑손이 포함되어 NMD로 UNC13A(시냅스 소포 프라이밍 단백)가 감소한다. 위험 SNP는 이 잠재 엑손 주변에 있어 TDP-43이 조금만 줄어도 잠재 엑손 포함이 더 쉽게 일어나게 만들어 시냅스 기능 저하와 생존 단축을 일으킨다.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GRN 병원성 변이의 대부분은 null 변이로 NMD에 의해 한 대립의 발현이 소실되는 반수부족이므로 혈장 PGRN이 정상의 절반 이하로 떨어진다. 따라서 저비용 혈액 검사로 GRN 보인자를 선별하고 유전자 검사로 확진할 수 있으며, PGRN 증강 치료의 표적 관여 지표로도 쓰인다.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MAPT 엑손 10의 대체 스플라이싱으로 미세소관 결합 반복이 4개(4R) 또는 3개(3R)인 이소형이 만들어진다. PSP·CBD는 4R 타우가, 피크병은 3R 타우가 선택적으로 응집하며, 크라이오-EM에서 질환별로 서로 다른 섬유 접힘을 보인다. 엑손 10 스플라이싱 변이는 4R/3R 비를 바꿔 유전성 FTD를 일으킨다.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B06 신경질환과 유전학  ·  퇴행성 질환 유전학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ALS·전두측두치매의 유전학과 TDP-43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Genetics of ALS–FTD and TDP-43 Proteinopathy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B06-L06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B06-L06  ·  ALS·전두측두치매의 유전학과 TDP-43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ALS–FTD 스펙트럼의 임상·병리 분류(TDP-43, 타우, FUS)를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C9orf72 반복 확장의 세 가지 병태 기전과 표현형 이질성을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TDP-43의 정상 기능(RNA 결합, 잠재 엑손 억제)과 기능 소실·독성 응집 기전을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FTD의 유전(MAPT, GRN, C9orf72)과 각 단백병증의 특징, 치료 개발을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상분리·응축체, 핵-세포질 수송 결함 등 공통 경로를 이해한다.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B06-L06  ·  ALS·전두측두치매의 유전학과 TDP-43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ALS–FTD 스펙트럼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C9orf72 반복 확장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TDP-43: 정상 기능과 병리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FTD의 유전과 단백병증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공통 경로: 상분리, 핵-세포질 수송, 자가포식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ALS–FTD 스펙트럼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B06-L06  ·  ALS·전두측두치매의 유전학과 TDP-43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ALS 환자의 약 50%가 인지·행동 변화, 약 15%가 FTD 기준 충족; FTD 환자의 약 15%가 운동신경세포 질환 동반 → 하나의 스펙트럼.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FTD 임상 아형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행동 변이 FTD(bvFTD — 탈억제, 무감동, 공감 상실, 과식·단 음식 선호, 강박), 원발 진행성 실어증(비유창형 — 타우 흔함; 의미형 — TDP-43 C형 흔함).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병리 분류(FTLD)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ALS 병리: 약 97% TDP-43(SOD1·FUS형 제외).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ALS–FTD 스펙트럼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B06-L06  ·  ALS·전두측두치매의 유전학과 TDP-43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병리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비율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FTLD-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TDP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(A–E형)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~50%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C9orf72, GRN(A형), TBK1, VCP(D형)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FTLD-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tau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~40%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MAPT; 피크병(3R), PSP·CBD(4R)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FTLD-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FUS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~5–10%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대부분 산발(FET 단백 공동 응집)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C9orf72 반복 확장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B06-L06  ·  ALS·전두측두치매의 유전학과 TDP-43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C9orf72 인트론 1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GGGGCC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반복: 정상 &lt;20–30, 병원성 수백–수천(2011 발견). 유럽계 가족성 ALS ~40%, 가족성 FTD ~25%, 산발 ALS ~5–7%(동아시아 훨씬 드묾 &lt;1–2%).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세 가지 기전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기전들이 상호작용: 기능 소실이 DPR 독성을 증폭(Zhu et al., Nat Neurosci 2020).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표현형 이질성: 같은 가계 내 ALS, FTD, ALS-FTD, 정신증(망상), 무증상 — 반복 길이(체세포 모자이크), TMEM106B 수정인자, 메틸화(과메틸화는 보호?)에 따라 다름.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C9orf72 반복 확장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B06-L06  ·  ALS·전두측두치매의 유전학과 TDP-43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치료: 센스 가닥 ASO(BIIB078 — 1상 악화 경향으로 중단), 반복 특이 저하(WVE-004 — 중단), 안티센스 표적, 소분자 G-사중체 결합, poly-GA 백신(동물), C9orf72 기능 보충.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TDP-43: 정상 기능과 병리 (1/3)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B06-L06  ·  ALS·전두측두치매의 유전학과 TDP-43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TDP-43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(TARDBP): 핵 RNA/DNA 결합 단백, 2개 RRM + C말단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저복잡도(프리온 유사) 도메인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 상분리.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정상 기능: 스플라이싱 조절,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잠재 엑손(cryptic exon) 억제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(UG 반복 결합), mRNA 안정성·수송, miRNA 생합성, 자체 mRNA 자가조절(3'UTR — 과발현 방지).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병리: 핵 TDP-43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소실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(핵 제거) + 세포질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인산화·유비퀴틴화·C말단 단편 응집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기능 소실의 결과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(핵심 발견 2019–2022):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*STMN2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*: 잠재 엑손 포함 → 조기 폴리아데닐화 → 스타스민-2(축삭 재생·유지 단백) 소실 → 축삭 퇴행(Melamed 2019, Klim 2019).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TDP-43: 정상 기능과 병리 (2/3)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B06-L06  ·  ALS·전두측두치매의 유전학과 TDP-43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*UNC13A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*: 잠재 엑손 포함 → NMD → 시냅스 소포 방출 장애;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ALS/FTD 위험 SNP가 잠재 엑손 포함을 증가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시켜 위험 유전자형과 TDP-43 병리가 만나는 지점을 설명(Brown 2022, Ma 2022).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잠재 엑손 유래 신규 펩타이드(HDGFL2 등) → CSF·혈액 생체표지(B05 L04).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독성 응집: 세포질 응집체가 스트레스 과립·mRNA 수송 방해, 미토콘드리아 손상, 프리온 유사 세포 간 전파(동물).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TARDBP 변이(~4% 가족성 ALS): 대부분 C말단 도메인 → 응집 경향↑.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TDP-43: 정상 기능과 병리 (3/3)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B06-L06  ·  ALS·전두측두치매의 유전학과 TDP-43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다른 TDP-43 병리 질환: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LATE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(노인 변연계 우세 TDP-43 뇌병증 — 80세 이상 AD 유사 기억 장애의 상당 부분; 해마 경화), AD 동반 병리(~50%), 만성 외상성 뇌병증, 봉입체 근염.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FTD의 유전과 단백병증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B06-L06  ·  ALS·전두측두치매의 유전학과 TDP-43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FTD는 신경퇴행 중 유전성이 강함(가족력 ~40%, 우성 ~10–20%) → C9orf72,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*GRN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*,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*MAPT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*가 대부분.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타우 생물학: MAPT 대체 스플라이싱으로 6개 이소형(엑손 2/3 — 0N/1N/2N, 엑손 10 — 3R/4R); 성인 뇌 3R:4R ≈ 1:1 → 불균형이 응집 유발; PSP·CBD는 4R, 피크병은 3R, AD는 3R+4R. 크라이오-EM이 질환별 고유 섬유 접힘을 보여줌(B02 L09).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H1/H2 하플로타입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(17q21 역위): H1이 PSP·CBD·PD 위험.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FTD의 유전과 단백병증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B06-L06  ·  ALS·전두측두치매의 유전학과 TDP-43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유전자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특징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치료 개발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*GRN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*(프로그라눌린)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반수부족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(null 변이 → 혈장 PGRN 절반 이하 — 혈액 검사로 선별 가능) → 리소좀 기능(GCase·카텝신 D 조절) 저하·미세아교세포 과활성 → FTLD-TDP A형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비대칭 전두·두정 위축, 실어·실행증, 비유창형 PPA; 양대립 null →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CLN11(신경 세로이드 리포푸신증)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— 리소좀 질환과 연결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PGRN 증강: 소르틸린 차단 항체(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라토졸리맙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— 3상 INFRONT-3 — PGRN은 증가했으나 임상 1차 결과 미달 보고), AAV-GRN(척수강·대수조 — 1/2상), TfR 셔틀 PGRN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*MAPT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*(타우)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엑손 10 스플라이싱 변이(4R/3R 비 증가 — N279K, +16) 또는 미스센스(P301L — 응집)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FTDP-17 — 행동·파킨슨증, 측두엽 위축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타우 ASO(BIIB080 — 1b 타우 PET 감소), 타우 항체(대부분 실패)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C9orf72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 참조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정신증·환청, 시상·소뇌 위축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TBK1, VCP, CHMP2B, SQSTM1, OPTN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자가포식·엔도솜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VCP — 봉입체 근병증 + 골 파제트병 + FTD(다계통 단백병증)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공통 경로: 상분리, 핵-세포질 수송, 자가포식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B06-L06  ·  ALS·전두측두치매의 유전학과 TDP-43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상분리와 응축체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TDP-43·FUS·hnRNPA1의 저복잡도 도메인이 액체 방울(스트레스 과립 등)을 형성 → 질환 변이·DPR(poly-GR/PR)·만성 스트레스가 액체 → 겔 → 고체(섬유) 전이 촉진 → 응집(B02 L01).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핵-세포질 수송 결함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C9orf72 DPR과 TDP-43 응집이 핵공 복합체·Ran 기울기 손상 → 핵 단백 이탈 → TDP-43 핵 소실 악순환. 노화된 핵공(장수명 뉴클레오포린 손상)도 기여.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자가포식·리소좀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C9orf72, TBK1, OPTN, SQSTM1, UBQLN2, VCP, GRN → 단백·소기관 품질 관리의 실패가 공통.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미세아교세포·면역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TBK1·C9orf72·GRN 결손 → 인터페론·cGAS–STING 활성(미토콘드리아 DNA 유출).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공통 경로: 상분리, 핵-세포질 수송, 자가포식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B06-L06  ·  ALS·전두측두치매의 유전학과 TDP-43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수정인자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ATXN2 중간 확장(TDP-43 독성 증폭 — ATXN2 저하 ASO 시험), TMEM106B(리소좀 — GRN·C9 표현형 수정; 2022 크라이오-EM에서 노인 뇌의 TMEM106B C말단 단편 섬유 발견), UNC13A.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B06-L06  ·  ALS·전두측두치매의 유전학과 TDP-43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산발성 ALS/FTD의 혈액 TDP-43 생체표지(잠재 엑손 펩타이드, 세포외소포 TDP-43)가 개발되면서 TDP-43 표적 치료(잠재 엑손 억제 ASO — STMN2, UNC13A)의 임상 진입이 가능해졌다.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GRN FTD의 PGRN 증강 치료 결과(라토졸리맙 실패, AAV 결과 대기)는 '혈장 단백 수준 정상화 ≠ 뇌 표적 관여'의 교훈을 남겼다.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증상 전 유전자 보인자 코호트(GENFI, ALLFTD, ATLAS)에서 NfL·영상 변화로 '전환' 시점을 예측해 예방 시험을 설계하고 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B06-L06  ·  ALS·전두측두치매의 유전학과 TDP-43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ALS와 FTD는 임상·병리·유전적으로 이어진 스펙트럼이며 병리는 TDP-43, 타우, FUS로 나뉜다.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C9orf72 GGGGCC 확장은 기능 소실, RNA 병소, 아르기닌 함유 DPR 독성의 세 기전으로 ALS·FTD·정신증의 이질적 표현형을 만든다.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TDP-43 핵 소실은 STMN2·UNC13A 잠재 엑손 포함을 일으켜 축삭·시냅스 기능을 손상하며 이는 생체표지·치료 표적이 된다.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FTD는 GRN(반수부족·리소좀), MAPT(4R/3R 불균형·응집), *C9orf72*가 주요 유전 원인이다.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상분리 이상, 핵-세포질 수송 결함, 자가포식·리소좀·면역 경로가 ALS–FTD의 공통 기전이다.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B06-L06  ·  ALS·전두측두치매의 유전학과 TDP-43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같은 C9orf72 확장을 가진 형제 중 한 명은 ALS, 다른 한 명은 bvFTD, 아버지는 80세까지 무증상이었다. 이 이질성을 설명하는 요인은?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반복 길이의 체세포 모자이크(조직마다 다름), TMEM106B·ATXN2 등 유전 수정인자, 반복 영역 메틸화 정도, 확장의 세대 간 변화, 환경·노화 요인이 질환 발현 여부와 침범 부위(운동 vs 전두측두)를 결정하는 것으로 생각된다. 불완전 침투와 발병 연령 변이가 크기 때문에 유전 상담에서 이를 설명해야 한다.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B06-L06  ·  ALS·전두측두치매의 유전학과 TDP-43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UNC13A 위험 변이가 ALS/FTD 위험을 높이는 기전은?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TDP-43은 정상적으로 UNC13A 인트론의 잠재 엑손 포함을 억제한다. 질환에서 TDP-43이 핵에서 빠지면 잠재 엑손이 포함되어 NMD로 UNC13A(시냅스 소포 프라이밍 단백)가 감소한다. 위험 SNP는 이 잠재 엑손 주변에 있어 TDP-43이 조금만 줄어도 잠재 엑손 포함이 더 쉽게 일어나게 만들어 시냅스 기능 저하와 생존 단축을 일으킨다.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B06-L06  ·  ALS·전두측두치매의 유전학과 TDP-43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혈장 프로그라눌린 측정이 FTD 유전 선별에 유용한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GRN 병원성 변이의 대부분은 null 변이로 NMD에 의해 한 대립의 발현이 소실되는 반수부족이므로 혈장 PGRN이 정상의 절반 이하로 떨어진다. 따라서 저비용 혈액 검사로 GRN 보인자를 선별하고 유전자 검사로 확진할 수 있으며, PGRN 증강 치료의 표적 관여 지표로도 쓰인다.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B06-L06  ·  ALS·전두측두치매의 유전학과 TDP-43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진행성 핵상마비(PSP)와 피크병이 모두 타우병증인데 다른 이소형이 축적되는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MAPT 엑손 10의 대체 스플라이싱으로 미세소관 결합 반복이 4개(4R) 또는 3개(3R)인 이소형이 만들어진다. PSP·CBD는 4R 타우가, 피크병은 3R 타우가 선택적으로 응집하며, 크라이오-EM에서 질환별로 서로 다른 섬유 접힘을 보인다. 엑손 10 스플라이싱 변이는 4R/3R 비를 바꿔 유전성 FTD를 일으킨다.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B06-L06  ·  ALS·전두측두치매의 유전학과 TDP-43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Hardy J, Rogaeva E. Motor neuron disease and frontotemporal dementia: sometimes related, sometimes not. Exp Neurol 2014;262:75–83.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Balendra R, Isaacs AM. C9orf72-mediated ALS and FTD: multiple pathways to disease. Nat Rev Neurol 2018;14:544–558.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Brown AL et al. TDP-43 loss and ALS-risk SNPs drive mis-splicing and depletion of UNC13A. Nature 2022;603:131–137.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B06-L06  ·  ALS·전두측두치매의 유전학과 TDP-43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Melamed Z et al. Premature polyadenylation-mediated loss of stathmin-2 is a hallmark of TDP-43-dependent neurodegeneration. Nat Neurosci 2019;22:180–190.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Scheres SHW, Zhang W, Falcon B, Goedert M. Cryo-EM structures of tau filaments. Curr Opin Struct Biol 2020;64:17–25.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