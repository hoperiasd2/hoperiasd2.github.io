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악성 말초신경초종(MPNST) 전환 또는 그 전구 병변(비정형 신경섬유종)을 의심한다. FDG-PET/CT로 대사 활성이 가장 높은 부위를 찾아 표적 생검을 하고, MRI로 범위를 평가한다. MPNST는 조기 광범위 절제가 유일한 근치 기회이므로 신속한 평가가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TSC1/TSC2 결손이 공통적으로 Rheb–mTORC1을 과활성화해 SEGA(뇌), 혈관근지방종(신장), 피질 결절의 과흥분성(뇌전증), 림프관평활근종증(폐) 등 여러 장기 병변을 만든다. 에베롤리무스는 mTORC1을 억제해 이 공통 하류 경로를 차단하므로 다장기 표현형에 효과를 보인다(중단 시 재성장 가능).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약 1/3의 신생 NF2는 체세포 모자이크여서 혈액에서 변이가 낮은 비율이거나 검출되지 않는다. 두 개 이상의 종양 조직에서 같은 NF2 변이(또는 22q 소실)를 확인하면 모자이크 NF2로 진단할 수 있다. LZTR1, SMARCB1 등 다른 신경초종증 유전자도 검사한다. 모자이크는 자녀 전달 위험이 50%보다 낮다.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NF1 환자는 방사선 노출 후 이차 악성 종양(MPNST, 고등급 신경교종)과 뇌혈관병증(모야모야)이 발생할 위험이 크게 증가한다. 대부분의 NF1 시신경 교종은 무증상·느린 경과를 보이므로 시력 감시를 기본으로 하고, 진행 시 카보플라틴/빈크리스틴 화학요법이나 MEK 억제제를 우선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B06 신경질환과 유전학  ·  신경피부·정신 유전학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신경피부증후군: NF1, NF2, 결절성 경화증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Neurocutaneous Syndromes: NF1, NF2 and Tuberous Sclerosis Complex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B06-L10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신경피부증후군의 공통 원리(종양억제유전자, 2-타격, 모자이크)를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NF1의 진단 기준, 다장기 표현형, Ras–MAPK 기전과 MEK 억제제 치료를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NF2 관련 신경초종증(멀린)과 진단·치료(베바시주맙, 브리가티닙)를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결절성 경화증의 진단 기준, mTOR 기전, 장기별 감시와 에베롤리무스 치료를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신경피부증후군(폰 히펠-린다우, 스터지-웨버, 색소실조증, 레기우스)을 비교한다.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공통 원리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신경섬유종증 1형(NF1)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NF2 관련 신경초종증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결절성 경화증(TSC)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신경피부증후군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피부와 신경계는 같은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외배엽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(신경능선·신경관) 기원 → 동시 침범.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대부분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종양억제유전자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생식세포 이형접합 LoF + 조직에서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2차 체세포 타격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(Knudson) → 국소 병변(신경섬유종, 결절, 혈관모세포종) → 다발성·국소적 표현형의 이유.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 변이 비율 높음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(NF1 ~50%, TSC ~2/3),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체세포 모자이크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(분절형 NF1, 모자이크 NF2 — 혈액 음성, 종양 조직 2개에서 같은 변이 확인).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가변 표현도가 매우 커 같은 가계에서도 중증도가 다름 → 평생 감시 필요.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경로 수렴: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Ras–MAPK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(NF1, 레기우스, 누난 — 라소병증),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mTOR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(TSC, PTEN),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Hippo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(NF2 멀린),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HIF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(VHL).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신경섬유종증 1형(NF1) (1/4)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NF1(17q11.2; 뉴로피브로민 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Ras GAP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상염색체 우성, 1/2,500–3,000, 침투 ~100%, 표현도 극도로 다양.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 기준(2021 개정)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2개 이상: ≥6개 밀크커피 반점(사춘기 전 &gt;5 mm, 후 &gt;15 mm), 겨드랑이·서혜부 주근깨, ≥2 신경섬유종 또는 1 총상 신경섬유종, 시신경 신경교종, ≥2 리쉬 결절(홍채 과오종) 또는 맥락막 이상, 특징적 골 병변(접형골 이형성, 경골 가관절증), 이형접합 병원성 NF1 변이, 부모 이환(1차 친족). 레기우스 증후군(SPRED1 — 반점·주근깨만, 종양 없음) 감별.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표현형: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신경섬유종증 1형(NF1) (2/4)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피부 신경섬유종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(사춘기 이후 증가, 미용·가려움),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총상 신경섬유종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(PN; 선천성 — 변형·압박·통증,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악성 말초신경초종(MPNST)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전환 평생 위험 8–15% — 통증 증가·급속 성장·단단해짐 → FDG-PET·생검; CDKN2A 결실 '비정형 신경섬유종' 전구 병변).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시신경 신경교종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(소아 15–20%; 대부분 무증상 — 7세까지 매년 안과 검사), 기타 저등급 신경교종(뇌간), 성인 교모세포종 위험↑.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신경인지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학습장애·ADHD(50–70%), ASD(~25%) — 가장 흔한 삶의 질 문제; MRI 'UBO'(미확인 밝은 물체 — 소아 T2 고신호, 나이 들며 소실).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신경섬유종증 1형(NF1) (3/4)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골: 척추측만, 경골 가관절증, 골감소; 혈관병증(모야모야, 신동맥 협착 → 고혈압), 갈색세포종(~1–5%), GIST, 유방암(50세 전 위험 증가 → 30세부터 MRI 선별), 소아 JMML.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기전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뉴로피브로민 결손 → Ras-GTP↑ → RAF–MEK–ERK·PI3K–mTOR 활성 → 슈반세포 증식(+ 비만세포·섬유모세포 미세환경 — Kit 리간드). 학습장애는 해마 GABA 방출 증가(Ras–ERK → 시냅신 인산화 — 로바스타틴 동물 회복, 사람 RCT 음성).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신경섬유종증 1형(NF1) (4/4)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치료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셀루메티닙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(MEK1/2 억제 — 증상 있는 수술 불가 총상 신경섬유종; 2020 소아 승인, 성인 적응 확대 — 부피 20% 이상 감소 ~70%),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미르다메티닙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(2025 승인); 시신경 신경교종·저등급 신경교종 — 카보플라틴/빈크리스틴, MEK 억제제(트라메티닙),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방사선 회피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(2차 종양·모야모야 위험). MPNST — 수술, 항암(예후 불량).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NF2 관련 신경초종증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NF2(22q12;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멀린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ERM 계열, Hippo–YAP 경로·접촉 억제·수용체 신호 조절), 상염색체 우성, 1/25,000–33,000, 약 50% 신생 변이(그중 ~1/3 모자이크).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2022 명명 변경: 'NF2 관련 신경초종증'(NF2-SWN) — LZTR1·SMARCB1 신경초종증과 구분.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표현형: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양측 전정 신경초종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(진단 표지 — 청력 소실·이명·평형 장애, 10–30대), 기타 뇌신경·척수 신경초종,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수막종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(다발), 상의세포종(척수),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청소년 백내장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(후낭하), 피부 신경초종(플라크형).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반점은 드묾(NF1과 구분), 악성 전환 드묾.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NF2 관련 신경초종증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관리: 전문 센터 MRI 감시, 청력 감시, 수술(청력 보존 vs 종양 제어 — 어려운 결정), 정위 방사선(악성 전환·이차 종양 위험으로 젊은 환자 신중), 청성 뇌간 이식.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베바시주맙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(VEGF — 성장 중인 전정 신경초종 청력 개선·종양 축소 ~40%),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브리가티닙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(FAK 등 다중 키나아제 — 다종양 반응, 2024 2상), mTOR 억제(에베롤리무스 — 성장 억제 일부), 크리조티닙.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슈반세포종증(SMARCB1, LZTR1): 통증성 다발 신경초종, 전정 침범 드묾.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결절성 경화증(TSC)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TSC1(하마르틴) /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*TSC2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(튜베린; 더 흔하고 중증 — *TSC2/PKD1 인접 결실은 TSC + 다낭신), 상염색체 우성, 1/6,000–10,000, 약 2/3 신생 변이.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기전: TSC1–TSC2–TBC1D7 복합체 = Rheb GAP → 결손 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mTORC1 과활성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(B02 L02) → 세포 성장·증식·과오종(2-타격; 결절·SEGA·AML의 2차 체세포 LoF 확인).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진단: 2021 개정 임상 기준(주·부 소견) 또는 병원성 TSC1/2 변이(약 10–15%는 일반 검사로 변이 미검출 — 모자이크·심부 인트론).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에베롤리무스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SEGA·AML·뇌전증 3개 적응증 — 한 경로 표적 약물이 다장기 표현형을 치료하는 정밀의학의 교과서적 예.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결절성 경화증(TSC)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피질 결절, 뇌실막하 결절·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뇌실막하 거대세포 성상세포종(SEGA)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(몬로공 부근 → 수두증)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25세까지 1–3년 MRI; 성장 SEGA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에베롤리무스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또는 수술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뇌전증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~85%,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영아연축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흔함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비가바트린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1차, 에베롤리무스(난치 국소), 칸나비디올, 수술(결절 절제), 케톤식; 증상 전 EEG 감시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TAND(TSC 관련 신경정신 장애)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 ~50%, ASD ~40–50%, ADHD, 불안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매년 선별·지원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저색소반('물푸레잎'), 혈관섬유종(안면), 상어가죽 반점, 손발톱 주위 섬유종, 이마 섬유판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국소 시롤리무스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(혈관섬유종)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혈관근지방종(AML)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출혈 위험(&gt;3 cm·동맥류), 낭종, 드물게 신세포암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1–3년 MRI; 성장 AML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에베롤리무스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(EXIST-2), 색전술; 신기능·혈압 감시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림프관평활근종증(LAM)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가임 여성(~30–80%), 낭성 폐, 기흉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시롤리무스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(MILES — 폐기능 안정), 혈청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VEGF-D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생체표지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횡문근종(태아·신생아 — 대개 자연 퇴축, 산전 진단 단서), WPW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심초음파·심전도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망막 과오종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안과 검사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기타 신경피부증후군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증후군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폰 히펠-린다우(VHL)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VHL AD (HIF 분해 실패 — B02 L07)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망막·소뇌·척수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혈관모세포종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투명세포 신세포암, 갈색세포종, 췌장 신경내분비종양·낭종, 내림프낭 종양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벨주티판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(HIF-2α)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스터지-웨버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GNAQ R183Q 체세포 모자이크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삼차신경 V1 포트와인 반점 + 연수막 혈관종(피질 석회화 '철로 징후', 위축) + 녹내장 → 발작·편마비·지적장애; 저용량 아스피린, 항경련, 반구 절제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색소실조증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IKBKG(NEMO) X연관 우성(남아 대개 치사)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 단계(수포 → 사마귀 → 과색소 소용돌이 → 위축), 치아·망막 혈관 이상, 경련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레기우스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SPRED1 AD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NF1 유사 반점·주근깨, 종양 없음, 경도 학습 문제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이토 저색소증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모자이크(다양)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블라슈코선 저색소 + 신경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 기형 증후군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PIK3CA 체세포(CLOVES), KRAS·MAP2K1(동정맥 기형), RASA1(모세혈관 기형-동정맥 기형), ENG/ACVRL1(유전성 출혈성 모세혈관확장증 — 뇌 AVM)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알펠리십(PROS), MEK 억제 연구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PTEN 과오종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PTEN AD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대두, ASD, 렐미트-뒤클로(소뇌 이형성 신경절세포종), 암 위험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신경피부 흑색증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NRAS 체세포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거대 선천성 모반 + 연수막 흑색세포증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NF1 총상 신경섬유종에서 MEK 억제제 장기 사용의 효과·내성·성장기 안전성 자료가 축적되고, 피부 신경섬유종 국소 MEK 억제제(NFX-179 겔)가 개발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TSC 영아의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 전 EEG 감시 + 조기 비가바트린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(EPISTOP, PREVeNT)이 뇌전증 발생·중증도에 미치는 영향과 신경발달 결과가 평가되고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체세포 모자이크 신경피부 질환의 액체생검(병변 유래 cfDNA)과 조직 특이 표적 치료(PIK3CA, GNAQ 억제)가 발전 중이다.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신경피부증후군은 외배엽 기원 장기의 종양억제유전자 2-타격 질환이며 신생 변이·모자이크·가변 표현도가 크다.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NF1은 Ras GAP 결손으로 반점·신경섬유종·시신경 교종·학습장애·MPNST 위험을 보이며 셀루메티닙·미르다메티닙이 총상 신경섬유종을 치료한다.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NF2 관련 신경초종증은 멀린 결손으로 양측 전정 신경초종·수막종·백내장을 일으키며 베바시주맙·브리가티닙이 사용된다.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TSC는 mTORC1 과활성으로 뇌·피부·신장·폐·심장 과오종과 뇌전증·TAND를 보이며 에베롤리무스·시롤리무스·비가바트린이 핵심이다.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VHL(벨주티판), 스터지-웨버(GNAQ 모자이크), 색소실조증(IKBKG) 등은 서로 다른 경로로 피부·신경 병변을 만든다.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NF1 환자의 기존 총상 신경섬유종이 최근 빠르게 커지고 지속적 통증이 생겼다. 의심 진단과 검사는?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악성 말초신경초종(MPNST) 전환 또는 그 전구 병변(비정형 신경섬유종)을 의심한다. FDG-PET/CT로 대사 활성이 가장 높은 부위를 찾아 표적 생검을 하고, MRI로 범위를 평가한다. MPNST는 조기 광범위 절제가 유일한 근치 기회이므로 신속한 평가가 필요하다.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결절성 경화증 환자에서 에베롤리무스 하나로 뇌, 신장, 뇌전증 문제가 모두 개선되는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TSC1/TSC2 결손이 공통적으로 Rheb–mTORC1을 과활성화해 SEGA(뇌), 혈관근지방종(신장), 피질 결절의 과흥분성(뇌전증), 림프관평활근종증(폐) 등 여러 장기 병변을 만든다. 에베롤리무스는 mTORC1을 억제해 이 공통 하류 경로를 차단하므로 다장기 표현형에 효과를 보인다(중단 시 재성장 가능).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NF2 관련 신경초종증이 의심되는 젊은 성인의 혈액에서 NF2 변이가 발견되지 않았다. 다음 단계는?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약 1/3의 신생 NF2는 체세포 모자이크여서 혈액에서 변이가 낮은 비율이거나 검출되지 않는다. 두 개 이상의 종양 조직에서 같은 NF2 변이(또는 22q 소실)를 확인하면 모자이크 NF2로 진단할 수 있다. LZTR1, SMARCB1 등 다른 신경초종증 유전자도 검사한다. 모자이크는 자녀 전달 위험이 50%보다 낮다.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NF1 아동의 시신경 신경교종 치료에서 방사선을 피하는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NF1 환자는 방사선 노출 후 이차 악성 종양(MPNST, 고등급 신경교종)과 뇌혈관병증(모야모야)이 발생할 위험이 크게 증가한다. 대부분의 NF1 시신경 교종은 무증상·느린 경과를 보이므로 시력 감시를 기본으로 하고, 진행 시 카보플라틴/빈크리스틴 화학요법이나 MEK 억제제를 우선 사용한다.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Legius E et al. Revised diagnostic criteria for neurofibromatosis type 1 and Legius syndrome. Genet Med 2021;23:1506–1513.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Gross AM et al. Selumetinib in children with inoperable plexiform neurofibromas. N Engl J Med 2020;382:1430–1442.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Plotkin SR et al. Updated diagnostic criteria and nomenclature for neurofibromatosis type 2 and schwannomatosis. Genet Med 2022;24:1967–1977.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B06-L10  ·  신경피부증후군: NF1, NF2, 결절성 경화증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Northrup H et al. Updated international tuberous sclerosis complex diagnostic criteria and surveillance and management recommendations. Pediatr Neurol 2021;123:50–66.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Shirley MD et al. Sturge–Weber syndrome and port-wine stains caused by somatic mutation in GNAQ. N Engl J Med 2013;368:1971–1979.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