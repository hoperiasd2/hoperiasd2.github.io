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얼굴의 통온각은 삼차신경 척수핵과 그 하행로가 담당하는데, 이들은 연수 외측에 동측으로 위치한다. 몸의 통온각은 척수에서 이미 교차한 척수시상로가 연수 외측을 지나므로 반대측을 담당한다. 따라서 한쪽 연수 외측 병변은 동측 얼굴과 반대측 몸의 통온각을 함께 침범한다.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중심관 주위로 확장된 공동이 척수 전교련을 지나 교차하는 척수시상로 섬유를 먼저 침범한다. 이 섬유들은 통증·온도를 전달하므로 해당 분절(대개 경수·상부 흉수)에 망토 모양 통온각 소실이 생기고, 후삭을 지나는 촉각·진동·고유감각은 보존된다.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리도카인은 손상된 피부 신경 말단의 전압개폐 Na⁺ 통로를 차단해 이소성 발화를 줄인다. 고농도 캡사이신은 TRPV1 작용제로 작용해 일시적 작열 후 침해수용 신경 말단을 '탈감작'시키고 표피 내 신경섬유를 가역적으로 퇴행시켜 수주–수개월 지속되는 진통을 준다.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만성 통증의 상당 부분은 조직 손상이 아니라 중추 감작과 하행 억제 약화, 위협 평가의 변화에서 비롯된다(노시플라스틱 통증). 통증의 의미를 재구성하면 위협 평가가 줄고 하행 억제가 회복되며, 단계적 운동은 회피 행동과 탈조건화를 막고 내인성 진통(운동 유발 통각저하)을 활성화한다.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B07 신경생리학과 신경해부학 기초  ·  감각 체계</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체성감각계와 통증</a:t>
            </a:r>
          </a:p>
          <a:p>
            <a:r>
              <a:rPr sz="2000" b="0" i="0">
                <a:solidFill>
                  <a:srgbClr val="C2CDD6"/>
                </a:solidFill>
                <a:latin typeface="Malgun Gothic"/>
                <a:ea typeface="Malgun Gothic"/>
                <a:cs typeface="Malgun Gothic"/>
              </a:rPr>
              <a:t>The Somatosensory System and Pain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B07-L05</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감각 수용기의 종류와 적응 특성, 수용야 개념을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후삭-내측섬유대 경로와 척수시상로의 주행·교차 부위를 비교하고 병변 국소화에 적용한다.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통증의 말초·척수·상행·하행 기전과 관문 조절 이론을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신경병증성 통증의 말초·중추 감작 기전과 약물 표적을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주요 척수 증후군과 감각 소실 패턴을 해석한다.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감각 수용기와 1차 구심 섬유</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두 개의 상행 경로</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통증의 기전</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신경병증성 통증과 치료</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척수 증후군과 감각 소실 패턴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감각 수용기와 1차 구심 섬유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수용야: 손끝·입술은 작고 밀도 높음 → 2점 식별 역치 작음 → </a:t>
            </a:r>
            <a:r>
              <a:rPr sz="2200" b="1" i="0">
                <a:solidFill>
                  <a:srgbClr val="11202B"/>
                </a:solidFill>
                <a:latin typeface="Malgun Gothic"/>
                <a:ea typeface="Malgun Gothic"/>
                <a:cs typeface="Malgun Gothic"/>
              </a:rPr>
              <a:t>피질 소인(homunculus)</a:t>
            </a:r>
            <a:r>
              <a:rPr sz="2200" b="0" i="0">
                <a:solidFill>
                  <a:srgbClr val="11202B"/>
                </a:solidFill>
                <a:latin typeface="Malgun Gothic"/>
                <a:ea typeface="Malgun Gothic"/>
                <a:cs typeface="Malgun Gothic"/>
              </a:rPr>
              <a:t>의 확대 표현.</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세포체: </a:t>
            </a:r>
            <a:r>
              <a:rPr sz="2200" b="1" i="0">
                <a:solidFill>
                  <a:srgbClr val="11202B"/>
                </a:solidFill>
                <a:latin typeface="Malgun Gothic"/>
                <a:ea typeface="Malgun Gothic"/>
                <a:cs typeface="Malgun Gothic"/>
              </a:rPr>
              <a:t>후근신경절</a:t>
            </a:r>
            <a:r>
              <a:rPr sz="2200" b="0" i="0">
                <a:solidFill>
                  <a:srgbClr val="11202B"/>
                </a:solidFill>
                <a:latin typeface="Malgun Gothic"/>
                <a:ea typeface="Malgun Gothic"/>
                <a:cs typeface="Malgun Gothic"/>
              </a:rPr>
              <a:t>(가성단극세포) — 혈액-신경 장벽이 약해 약물·면역·바이러스(대상포진 잠복) 접근이 쉽다.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감각 수용기와 1차 구심 섬유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수용기</a:t>
                      </a:r>
                    </a:p>
                  </a:txBody>
                  <a:tcPr marL="73152" marR="73152">
                    <a:solidFill>
                      <a:srgbClr val="003C71"/>
                    </a:solidFill>
                  </a:tcPr>
                </a:tc>
                <a:tc>
                  <a:txBody>
                    <a:bodyPr/>
                    <a:lstStyle/>
                    <a:p>
                      <a:r>
                        <a:rPr sz="1500" b="1" i="0">
                          <a:solidFill>
                            <a:srgbClr val="FFFFFF"/>
                          </a:solidFill>
                          <a:latin typeface="Malgun Gothic"/>
                          <a:ea typeface="Malgun Gothic"/>
                          <a:cs typeface="Malgun Gothic"/>
                        </a:rPr>
                        <a:t>자극</a:t>
                      </a:r>
                    </a:p>
                  </a:txBody>
                  <a:tcPr marL="73152" marR="73152">
                    <a:solidFill>
                      <a:srgbClr val="003C71"/>
                    </a:solidFill>
                  </a:tcPr>
                </a:tc>
                <a:tc>
                  <a:txBody>
                    <a:bodyPr/>
                    <a:lstStyle/>
                    <a:p>
                      <a:r>
                        <a:rPr sz="1500" b="1" i="0">
                          <a:solidFill>
                            <a:srgbClr val="FFFFFF"/>
                          </a:solidFill>
                          <a:latin typeface="Malgun Gothic"/>
                          <a:ea typeface="Malgun Gothic"/>
                          <a:cs typeface="Malgun Gothic"/>
                        </a:rPr>
                        <a:t>섬유</a:t>
                      </a:r>
                    </a:p>
                  </a:txBody>
                  <a:tcPr marL="73152" marR="73152">
                    <a:solidFill>
                      <a:srgbClr val="003C71"/>
                    </a:solidFill>
                  </a:tcPr>
                </a:tc>
                <a:tc>
                  <a:txBody>
                    <a:bodyPr/>
                    <a:lstStyle/>
                    <a:p>
                      <a:r>
                        <a:rPr sz="1500" b="1" i="0">
                          <a:solidFill>
                            <a:srgbClr val="FFFFFF"/>
                          </a:solidFill>
                          <a:latin typeface="Malgun Gothic"/>
                          <a:ea typeface="Malgun Gothic"/>
                          <a:cs typeface="Malgun Gothic"/>
                        </a:rPr>
                        <a:t>적응</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마이스너 소체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가벼운 촉각·떨림(30–50 Hz)</a:t>
                      </a:r>
                    </a:p>
                  </a:txBody>
                  <a:tcPr marL="73152" marR="73152">
                    <a:solidFill>
                      <a:srgbClr val="FFFFFF"/>
                    </a:solidFill>
                  </a:tcPr>
                </a:tc>
                <a:tc>
                  <a:txBody>
                    <a:bodyPr/>
                    <a:lstStyle/>
                    <a:p>
                      <a:r>
                        <a:rPr sz="1500" b="0" i="0">
                          <a:solidFill>
                            <a:srgbClr val="11202B"/>
                          </a:solidFill>
                          <a:latin typeface="Malgun Gothic"/>
                          <a:ea typeface="Malgun Gothic"/>
                          <a:cs typeface="Malgun Gothic"/>
                        </a:rPr>
                        <a:t>Aβ</a:t>
                      </a:r>
                    </a:p>
                  </a:txBody>
                  <a:tcPr marL="73152" marR="73152">
                    <a:solidFill>
                      <a:srgbClr val="FFFFFF"/>
                    </a:solidFill>
                  </a:tcPr>
                </a:tc>
                <a:tc>
                  <a:txBody>
                    <a:bodyPr/>
                    <a:lstStyle/>
                    <a:p>
                      <a:r>
                        <a:rPr sz="1500" b="0" i="0">
                          <a:solidFill>
                            <a:srgbClr val="11202B"/>
                          </a:solidFill>
                          <a:latin typeface="Malgun Gothic"/>
                          <a:ea typeface="Malgun Gothic"/>
                          <a:cs typeface="Malgun Gothic"/>
                        </a:rPr>
                        <a:t>빠름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파치니 소체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진동(200–300 Hz)</a:t>
                      </a:r>
                    </a:p>
                  </a:txBody>
                  <a:tcPr marL="73152" marR="73152">
                    <a:solidFill>
                      <a:srgbClr val="ECF1F5"/>
                    </a:solidFill>
                  </a:tcPr>
                </a:tc>
                <a:tc>
                  <a:txBody>
                    <a:bodyPr/>
                    <a:lstStyle/>
                    <a:p>
                      <a:r>
                        <a:rPr sz="1500" b="0" i="0">
                          <a:solidFill>
                            <a:srgbClr val="11202B"/>
                          </a:solidFill>
                          <a:latin typeface="Malgun Gothic"/>
                          <a:ea typeface="Malgun Gothic"/>
                          <a:cs typeface="Malgun Gothic"/>
                        </a:rPr>
                        <a:t>Aβ</a:t>
                      </a:r>
                    </a:p>
                  </a:txBody>
                  <a:tcPr marL="73152" marR="73152">
                    <a:solidFill>
                      <a:srgbClr val="ECF1F5"/>
                    </a:solidFill>
                  </a:tcPr>
                </a:tc>
                <a:tc>
                  <a:txBody>
                    <a:bodyPr/>
                    <a:lstStyle/>
                    <a:p>
                      <a:r>
                        <a:rPr sz="1500" b="0" i="0">
                          <a:solidFill>
                            <a:srgbClr val="11202B"/>
                          </a:solidFill>
                          <a:latin typeface="Malgun Gothic"/>
                          <a:ea typeface="Malgun Gothic"/>
                          <a:cs typeface="Malgun Gothic"/>
                        </a:rPr>
                        <a:t>매우 빠름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메르켈 세포-신경돌기</a:t>
                      </a:r>
                    </a:p>
                  </a:txBody>
                  <a:tcPr marL="73152" marR="73152">
                    <a:solidFill>
                      <a:srgbClr val="FFFFFF"/>
                    </a:solidFill>
                  </a:tcPr>
                </a:tc>
                <a:tc>
                  <a:txBody>
                    <a:bodyPr/>
                    <a:lstStyle/>
                    <a:p>
                      <a:r>
                        <a:rPr sz="1500" b="0" i="0">
                          <a:solidFill>
                            <a:srgbClr val="11202B"/>
                          </a:solidFill>
                          <a:latin typeface="Malgun Gothic"/>
                          <a:ea typeface="Malgun Gothic"/>
                          <a:cs typeface="Malgun Gothic"/>
                        </a:rPr>
                        <a:t>압력·질감·형태</a:t>
                      </a:r>
                    </a:p>
                  </a:txBody>
                  <a:tcPr marL="73152" marR="73152">
                    <a:solidFill>
                      <a:srgbClr val="FFFFFF"/>
                    </a:solidFill>
                  </a:tcPr>
                </a:tc>
                <a:tc>
                  <a:txBody>
                    <a:bodyPr/>
                    <a:lstStyle/>
                    <a:p>
                      <a:r>
                        <a:rPr sz="1500" b="0" i="0">
                          <a:solidFill>
                            <a:srgbClr val="11202B"/>
                          </a:solidFill>
                          <a:latin typeface="Malgun Gothic"/>
                          <a:ea typeface="Malgun Gothic"/>
                          <a:cs typeface="Malgun Gothic"/>
                        </a:rPr>
                        <a:t>Aβ</a:t>
                      </a:r>
                    </a:p>
                  </a:txBody>
                  <a:tcPr marL="73152" marR="73152">
                    <a:solidFill>
                      <a:srgbClr val="FFFFFF"/>
                    </a:solidFill>
                  </a:tcPr>
                </a:tc>
                <a:tc>
                  <a:txBody>
                    <a:bodyPr/>
                    <a:lstStyle/>
                    <a:p>
                      <a:r>
                        <a:rPr sz="1500" b="0" i="0">
                          <a:solidFill>
                            <a:srgbClr val="11202B"/>
                          </a:solidFill>
                          <a:latin typeface="Malgun Gothic"/>
                          <a:ea typeface="Malgun Gothic"/>
                          <a:cs typeface="Malgun Gothic"/>
                        </a:rPr>
                        <a:t>느림</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루피니 종말</a:t>
                      </a:r>
                    </a:p>
                  </a:txBody>
                  <a:tcPr marL="73152" marR="73152">
                    <a:solidFill>
                      <a:srgbClr val="ECF1F5"/>
                    </a:solidFill>
                  </a:tcPr>
                </a:tc>
                <a:tc>
                  <a:txBody>
                    <a:bodyPr/>
                    <a:lstStyle/>
                    <a:p>
                      <a:r>
                        <a:rPr sz="1500" b="0" i="0">
                          <a:solidFill>
                            <a:srgbClr val="11202B"/>
                          </a:solidFill>
                          <a:latin typeface="Malgun Gothic"/>
                          <a:ea typeface="Malgun Gothic"/>
                          <a:cs typeface="Malgun Gothic"/>
                        </a:rPr>
                        <a:t>피부 늘어남</a:t>
                      </a:r>
                    </a:p>
                  </a:txBody>
                  <a:tcPr marL="73152" marR="73152">
                    <a:solidFill>
                      <a:srgbClr val="ECF1F5"/>
                    </a:solidFill>
                  </a:tcPr>
                </a:tc>
                <a:tc>
                  <a:txBody>
                    <a:bodyPr/>
                    <a:lstStyle/>
                    <a:p>
                      <a:r>
                        <a:rPr sz="1500" b="0" i="0">
                          <a:solidFill>
                            <a:srgbClr val="11202B"/>
                          </a:solidFill>
                          <a:latin typeface="Malgun Gothic"/>
                          <a:ea typeface="Malgun Gothic"/>
                          <a:cs typeface="Malgun Gothic"/>
                        </a:rPr>
                        <a:t>Aβ</a:t>
                      </a:r>
                    </a:p>
                  </a:txBody>
                  <a:tcPr marL="73152" marR="73152">
                    <a:solidFill>
                      <a:srgbClr val="ECF1F5"/>
                    </a:solidFill>
                  </a:tcPr>
                </a:tc>
                <a:tc>
                  <a:txBody>
                    <a:bodyPr/>
                    <a:lstStyle/>
                    <a:p>
                      <a:r>
                        <a:rPr sz="1500" b="0" i="0">
                          <a:solidFill>
                            <a:srgbClr val="11202B"/>
                          </a:solidFill>
                          <a:latin typeface="Malgun Gothic"/>
                          <a:ea typeface="Malgun Gothic"/>
                          <a:cs typeface="Malgun Gothic"/>
                        </a:rPr>
                        <a:t>느림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근방추(1차 II·2차)</a:t>
                      </a:r>
                    </a:p>
                  </a:txBody>
                  <a:tcPr marL="73152" marR="73152">
                    <a:solidFill>
                      <a:srgbClr val="FFFFFF"/>
                    </a:solidFill>
                  </a:tcPr>
                </a:tc>
                <a:tc>
                  <a:txBody>
                    <a:bodyPr/>
                    <a:lstStyle/>
                    <a:p>
                      <a:r>
                        <a:rPr sz="1500" b="0" i="0">
                          <a:solidFill>
                            <a:srgbClr val="11202B"/>
                          </a:solidFill>
                          <a:latin typeface="Malgun Gothic"/>
                          <a:ea typeface="Malgun Gothic"/>
                          <a:cs typeface="Malgun Gothic"/>
                        </a:rPr>
                        <a:t>근육 길이·속도</a:t>
                      </a:r>
                    </a:p>
                  </a:txBody>
                  <a:tcPr marL="73152" marR="73152">
                    <a:solidFill>
                      <a:srgbClr val="FFFFFF"/>
                    </a:solidFill>
                  </a:tcPr>
                </a:tc>
                <a:tc>
                  <a:txBody>
                    <a:bodyPr/>
                    <a:lstStyle/>
                    <a:p>
                      <a:r>
                        <a:rPr sz="1500" b="0" i="0">
                          <a:solidFill>
                            <a:srgbClr val="11202B"/>
                          </a:solidFill>
                          <a:latin typeface="Malgun Gothic"/>
                          <a:ea typeface="Malgun Gothic"/>
                          <a:cs typeface="Malgun Gothic"/>
                        </a:rPr>
                        <a:t>Ia, II</a:t>
                      </a:r>
                    </a:p>
                  </a:txBody>
                  <a:tcPr marL="73152" marR="73152">
                    <a:solidFill>
                      <a:srgbClr val="FFFFFF"/>
                    </a:solidFill>
                  </a:tcPr>
                </a:tc>
                <a:tc>
                  <a:txBody>
                    <a:bodyPr/>
                    <a:lstStyle/>
                    <a:p>
                      <a:r>
                        <a:rPr sz="1500" b="0" i="0">
                          <a:solidFill>
                            <a:srgbClr val="11202B"/>
                          </a:solidFill>
                          <a:latin typeface="Malgun Gothic"/>
                          <a:ea typeface="Malgun Gothic"/>
                          <a:cs typeface="Malgun Gothic"/>
                        </a:rPr>
                        <a:t>느림</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골지건기관</a:t>
                      </a:r>
                    </a:p>
                  </a:txBody>
                  <a:tcPr marL="73152" marR="73152">
                    <a:solidFill>
                      <a:srgbClr val="ECF1F5"/>
                    </a:solidFill>
                  </a:tcPr>
                </a:tc>
                <a:tc>
                  <a:txBody>
                    <a:bodyPr/>
                    <a:lstStyle/>
                    <a:p>
                      <a:r>
                        <a:rPr sz="1500" b="0" i="0">
                          <a:solidFill>
                            <a:srgbClr val="11202B"/>
                          </a:solidFill>
                          <a:latin typeface="Malgun Gothic"/>
                          <a:ea typeface="Malgun Gothic"/>
                          <a:cs typeface="Malgun Gothic"/>
                        </a:rPr>
                        <a:t>근육 장력</a:t>
                      </a:r>
                    </a:p>
                  </a:txBody>
                  <a:tcPr marL="73152" marR="73152">
                    <a:solidFill>
                      <a:srgbClr val="ECF1F5"/>
                    </a:solidFill>
                  </a:tcPr>
                </a:tc>
                <a:tc>
                  <a:txBody>
                    <a:bodyPr/>
                    <a:lstStyle/>
                    <a:p>
                      <a:r>
                        <a:rPr sz="1500" b="0" i="0">
                          <a:solidFill>
                            <a:srgbClr val="11202B"/>
                          </a:solidFill>
                          <a:latin typeface="Malgun Gothic"/>
                          <a:ea typeface="Malgun Gothic"/>
                          <a:cs typeface="Malgun Gothic"/>
                        </a:rPr>
                        <a:t>Ib</a:t>
                      </a:r>
                    </a:p>
                  </a:txBody>
                  <a:tcPr marL="73152" marR="73152">
                    <a:solidFill>
                      <a:srgbClr val="ECF1F5"/>
                    </a:solidFill>
                  </a:tcPr>
                </a:tc>
                <a:tc>
                  <a:txBody>
                    <a:bodyPr/>
                    <a:lstStyle/>
                    <a:p>
                      <a:r>
                        <a:rPr sz="1500" b="0" i="0">
                          <a:solidFill>
                            <a:srgbClr val="11202B"/>
                          </a:solidFill>
                          <a:latin typeface="Malgun Gothic"/>
                          <a:ea typeface="Malgun Gothic"/>
                          <a:cs typeface="Malgun Gothic"/>
                        </a:rPr>
                        <a:t>느림</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자유신경종말(침해수용기)</a:t>
                      </a:r>
                    </a:p>
                  </a:txBody>
                  <a:tcPr marL="73152" marR="73152">
                    <a:solidFill>
                      <a:srgbClr val="FFFFFF"/>
                    </a:solidFill>
                  </a:tcPr>
                </a:tc>
                <a:tc>
                  <a:txBody>
                    <a:bodyPr/>
                    <a:lstStyle/>
                    <a:p>
                      <a:r>
                        <a:rPr sz="1500" b="0" i="0">
                          <a:solidFill>
                            <a:srgbClr val="11202B"/>
                          </a:solidFill>
                          <a:latin typeface="Malgun Gothic"/>
                          <a:ea typeface="Malgun Gothic"/>
                          <a:cs typeface="Malgun Gothic"/>
                        </a:rPr>
                        <a:t>유해 기계·열(TRPV1 &gt;43 °C)·화학(산, 브라디키닌)</a:t>
                      </a:r>
                    </a:p>
                  </a:txBody>
                  <a:tcPr marL="73152" marR="73152">
                    <a:solidFill>
                      <a:srgbClr val="FFFFFF"/>
                    </a:solidFill>
                  </a:tcPr>
                </a:tc>
                <a:tc>
                  <a:txBody>
                    <a:bodyPr/>
                    <a:lstStyle/>
                    <a:p>
                      <a:r>
                        <a:rPr sz="1500" b="1" i="0">
                          <a:solidFill>
                            <a:srgbClr val="11202B"/>
                          </a:solidFill>
                          <a:latin typeface="Malgun Gothic"/>
                          <a:ea typeface="Malgun Gothic"/>
                          <a:cs typeface="Malgun Gothic"/>
                        </a:rPr>
                        <a:t>Aδ</a:t>
                      </a:r>
                      <a:r>
                        <a:rPr sz="1500" b="0" i="0">
                          <a:solidFill>
                            <a:srgbClr val="11202B"/>
                          </a:solidFill>
                          <a:latin typeface="Malgun Gothic"/>
                          <a:ea typeface="Malgun Gothic"/>
                          <a:cs typeface="Malgun Gothic"/>
                        </a:rPr>
                        <a:t>(날카로운 1차 통증), </a:t>
                      </a:r>
                      <a:r>
                        <a:rPr sz="1500" b="1" i="0">
                          <a:solidFill>
                            <a:srgbClr val="11202B"/>
                          </a:solidFill>
                          <a:latin typeface="Malgun Gothic"/>
                          <a:ea typeface="Malgun Gothic"/>
                          <a:cs typeface="Malgun Gothic"/>
                        </a:rPr>
                        <a:t>C</a:t>
                      </a:r>
                      <a:r>
                        <a:rPr sz="1500" b="0" i="0">
                          <a:solidFill>
                            <a:srgbClr val="11202B"/>
                          </a:solidFill>
                          <a:latin typeface="Malgun Gothic"/>
                          <a:ea typeface="Malgun Gothic"/>
                          <a:cs typeface="Malgun Gothic"/>
                        </a:rPr>
                        <a:t>(둔한 2차 통증)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느림·감작</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냉 수용기</a:t>
                      </a:r>
                    </a:p>
                  </a:txBody>
                  <a:tcPr marL="73152" marR="73152">
                    <a:solidFill>
                      <a:srgbClr val="ECF1F5"/>
                    </a:solidFill>
                  </a:tcPr>
                </a:tc>
                <a:tc>
                  <a:txBody>
                    <a:bodyPr/>
                    <a:lstStyle/>
                    <a:p>
                      <a:r>
                        <a:rPr sz="1500" b="0" i="0">
                          <a:solidFill>
                            <a:srgbClr val="11202B"/>
                          </a:solidFill>
                          <a:latin typeface="Malgun Gothic"/>
                          <a:ea typeface="Malgun Gothic"/>
                          <a:cs typeface="Malgun Gothic"/>
                        </a:rPr>
                        <a:t>TRPM8(멘톨), 유해 냉 TRPA1</a:t>
                      </a:r>
                    </a:p>
                  </a:txBody>
                  <a:tcPr marL="73152" marR="73152">
                    <a:solidFill>
                      <a:srgbClr val="ECF1F5"/>
                    </a:solidFill>
                  </a:tcPr>
                </a:tc>
                <a:tc>
                  <a:txBody>
                    <a:bodyPr/>
                    <a:lstStyle/>
                    <a:p>
                      <a:r>
                        <a:rPr sz="1500" b="0" i="0">
                          <a:solidFill>
                            <a:srgbClr val="11202B"/>
                          </a:solidFill>
                          <a:latin typeface="Malgun Gothic"/>
                          <a:ea typeface="Malgun Gothic"/>
                          <a:cs typeface="Malgun Gothic"/>
                        </a:rPr>
                        <a:t>Aδ, C</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두 개의 상행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둘 다 시상 </a:t>
            </a:r>
            <a:r>
              <a:rPr sz="2000" b="1" i="0">
                <a:solidFill>
                  <a:srgbClr val="11202B"/>
                </a:solidFill>
                <a:latin typeface="Malgun Gothic"/>
                <a:ea typeface="Malgun Gothic"/>
                <a:cs typeface="Malgun Gothic"/>
              </a:rPr>
              <a:t>VPL</a:t>
            </a:r>
            <a:r>
              <a:rPr sz="2000" b="0" i="0">
                <a:solidFill>
                  <a:srgbClr val="11202B"/>
                </a:solidFill>
                <a:latin typeface="Malgun Gothic"/>
                <a:ea typeface="Malgun Gothic"/>
                <a:cs typeface="Malgun Gothic"/>
              </a:rPr>
              <a:t>(몸)·</a:t>
            </a:r>
            <a:r>
              <a:rPr sz="2000" b="1" i="0">
                <a:solidFill>
                  <a:srgbClr val="11202B"/>
                </a:solidFill>
                <a:latin typeface="Malgun Gothic"/>
                <a:ea typeface="Malgun Gothic"/>
                <a:cs typeface="Malgun Gothic"/>
              </a:rPr>
              <a:t>VPM</a:t>
            </a:r>
            <a:r>
              <a:rPr sz="2000" b="0" i="0">
                <a:solidFill>
                  <a:srgbClr val="11202B"/>
                </a:solidFill>
                <a:latin typeface="Malgun Gothic"/>
                <a:ea typeface="Malgun Gothic"/>
                <a:cs typeface="Malgun Gothic"/>
              </a:rPr>
              <a:t>(얼굴 — 삼차신경) → 일차 체성감각피질(S1, 중심후회 브로드만 3,1,2).</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척수시상로의 다른 표적: 수도관 주위 회백질(하행 억제), 팔곁핵·편도(정서), 시상 내측·대상피질(통증의 불쾌감), 망상체(각성).</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고유감각의 또 다른 경로</a:t>
            </a:r>
            <a:r>
              <a:rPr sz="2000" b="0" i="0">
                <a:solidFill>
                  <a:srgbClr val="11202B"/>
                </a:solidFill>
                <a:latin typeface="Malgun Gothic"/>
                <a:ea typeface="Malgun Gothic"/>
                <a:cs typeface="Malgun Gothic"/>
              </a:rPr>
              <a:t>: 척수소뇌로(무의식적 — 배쪽·등쪽), 근방추 Ia → 단일시냅스 신장 반사.</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얼굴: 삼차신경 — 촉각(주감각핵) vs </a:t>
            </a:r>
            <a:r>
              <a:rPr sz="2000" b="1" i="0">
                <a:solidFill>
                  <a:srgbClr val="11202B"/>
                </a:solidFill>
                <a:latin typeface="Malgun Gothic"/>
                <a:ea typeface="Malgun Gothic"/>
                <a:cs typeface="Malgun Gothic"/>
              </a:rPr>
              <a:t>통증·온도(척수삼차신경핵, 연수~상부 경수까지 하행)</a:t>
            </a:r>
            <a:r>
              <a:rPr sz="2000" b="0" i="0">
                <a:solidFill>
                  <a:srgbClr val="11202B"/>
                </a:solidFill>
                <a:latin typeface="Malgun Gothic"/>
                <a:ea typeface="Malgun Gothic"/>
                <a:cs typeface="Malgun Gothic"/>
              </a:rPr>
              <a:t> → 외측 연수 경색에서 동측 얼굴 + 반대측 몸의 통온각 소실(교차 감각 소실).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두 개의 상행 경로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500" b="1" i="0">
                          <a:solidFill>
                            <a:srgbClr val="FFFFFF"/>
                          </a:solidFill>
                          <a:latin typeface="Malgun Gothic"/>
                          <a:ea typeface="Malgun Gothic"/>
                          <a:cs typeface="Malgun Gothic"/>
                        </a:rPr>
                        <a:t>경로</a:t>
                      </a:r>
                    </a:p>
                  </a:txBody>
                  <a:tcPr marL="73152" marR="73152">
                    <a:solidFill>
                      <a:srgbClr val="003C71"/>
                    </a:solidFill>
                  </a:tcPr>
                </a:tc>
                <a:tc>
                  <a:txBody>
                    <a:bodyPr/>
                    <a:lstStyle/>
                    <a:p>
                      <a:r>
                        <a:rPr sz="1500" b="1" i="0">
                          <a:solidFill>
                            <a:srgbClr val="FFFFFF"/>
                          </a:solidFill>
                          <a:latin typeface="Malgun Gothic"/>
                          <a:ea typeface="Malgun Gothic"/>
                          <a:cs typeface="Malgun Gothic"/>
                        </a:rPr>
                        <a:t>전달 감각</a:t>
                      </a:r>
                    </a:p>
                  </a:txBody>
                  <a:tcPr marL="73152" marR="73152">
                    <a:solidFill>
                      <a:srgbClr val="003C71"/>
                    </a:solidFill>
                  </a:tcPr>
                </a:tc>
                <a:tc>
                  <a:txBody>
                    <a:bodyPr/>
                    <a:lstStyle/>
                    <a:p>
                      <a:r>
                        <a:rPr sz="1500" b="1" i="0">
                          <a:solidFill>
                            <a:srgbClr val="FFFFFF"/>
                          </a:solidFill>
                          <a:latin typeface="Malgun Gothic"/>
                          <a:ea typeface="Malgun Gothic"/>
                          <a:cs typeface="Malgun Gothic"/>
                        </a:rPr>
                        <a:t>1차 → 2차 뉴런</a:t>
                      </a:r>
                    </a:p>
                  </a:txBody>
                  <a:tcPr marL="73152" marR="73152">
                    <a:solidFill>
                      <a:srgbClr val="003C71"/>
                    </a:solidFill>
                  </a:tcPr>
                </a:tc>
                <a:tc>
                  <a:txBody>
                    <a:bodyPr/>
                    <a:lstStyle/>
                    <a:p>
                      <a:r>
                        <a:rPr sz="1500" b="1" i="0">
                          <a:solidFill>
                            <a:srgbClr val="FFFFFF"/>
                          </a:solidFill>
                          <a:latin typeface="Malgun Gothic"/>
                          <a:ea typeface="Malgun Gothic"/>
                          <a:cs typeface="Malgun Gothic"/>
                        </a:rPr>
                        <a:t>교차</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후삭-내측섬유대</a:t>
                      </a:r>
                    </a:p>
                  </a:txBody>
                  <a:tcPr marL="73152" marR="73152">
                    <a:solidFill>
                      <a:srgbClr val="FFFFFF"/>
                    </a:solidFill>
                  </a:tcPr>
                </a:tc>
                <a:tc>
                  <a:txBody>
                    <a:bodyPr/>
                    <a:lstStyle/>
                    <a:p>
                      <a:r>
                        <a:rPr sz="1500" b="0" i="0">
                          <a:solidFill>
                            <a:srgbClr val="11202B"/>
                          </a:solidFill>
                          <a:latin typeface="Malgun Gothic"/>
                          <a:ea typeface="Malgun Gothic"/>
                          <a:cs typeface="Malgun Gothic"/>
                        </a:rPr>
                        <a:t>미세 촉각, </a:t>
                      </a:r>
                      <a:r>
                        <a:rPr sz="1500" b="1" i="0">
                          <a:solidFill>
                            <a:srgbClr val="11202B"/>
                          </a:solidFill>
                          <a:latin typeface="Malgun Gothic"/>
                          <a:ea typeface="Malgun Gothic"/>
                          <a:cs typeface="Malgun Gothic"/>
                        </a:rPr>
                        <a:t>진동</a:t>
                      </a:r>
                      <a:r>
                        <a:rPr sz="1500" b="0" i="0">
                          <a:solidFill>
                            <a:srgbClr val="11202B"/>
                          </a:solidFill>
                          <a:latin typeface="Malgun Gothic"/>
                          <a:ea typeface="Malgun Gothic"/>
                          <a:cs typeface="Malgun Gothic"/>
                        </a:rPr>
                        <a:t>, </a:t>
                      </a:r>
                      <a:r>
                        <a:rPr sz="1500" b="1" i="0">
                          <a:solidFill>
                            <a:srgbClr val="11202B"/>
                          </a:solidFill>
                          <a:latin typeface="Malgun Gothic"/>
                          <a:ea typeface="Malgun Gothic"/>
                          <a:cs typeface="Malgun Gothic"/>
                        </a:rPr>
                        <a:t>고유감각</a:t>
                      </a:r>
                      <a:r>
                        <a:rPr sz="1500" b="0" i="0">
                          <a:solidFill>
                            <a:srgbClr val="11202B"/>
                          </a:solidFill>
                          <a:latin typeface="Malgun Gothic"/>
                          <a:ea typeface="Malgun Gothic"/>
                          <a:cs typeface="Malgun Gothic"/>
                        </a:rPr>
                        <a:t>, 2점 식별</a:t>
                      </a:r>
                    </a:p>
                  </a:txBody>
                  <a:tcPr marL="73152" marR="73152">
                    <a:solidFill>
                      <a:srgbClr val="FFFFFF"/>
                    </a:solidFill>
                  </a:tcPr>
                </a:tc>
                <a:tc>
                  <a:txBody>
                    <a:bodyPr/>
                    <a:lstStyle/>
                    <a:p>
                      <a:r>
                        <a:rPr sz="1500" b="0" i="0">
                          <a:solidFill>
                            <a:srgbClr val="11202B"/>
                          </a:solidFill>
                          <a:latin typeface="Malgun Gothic"/>
                          <a:ea typeface="Malgun Gothic"/>
                          <a:cs typeface="Malgun Gothic"/>
                        </a:rPr>
                        <a:t>후근 → 동측 후삭 상행 → </a:t>
                      </a:r>
                      <a:r>
                        <a:rPr sz="1500" b="1" i="0">
                          <a:solidFill>
                            <a:srgbClr val="11202B"/>
                          </a:solidFill>
                          <a:latin typeface="Malgun Gothic"/>
                          <a:ea typeface="Malgun Gothic"/>
                          <a:cs typeface="Malgun Gothic"/>
                        </a:rPr>
                        <a:t>연수 박속핵·설상핵</a:t>
                      </a:r>
                    </a:p>
                  </a:txBody>
                  <a:tcPr marL="73152" marR="73152">
                    <a:solidFill>
                      <a:srgbClr val="FFFFFF"/>
                    </a:solidFill>
                  </a:tcPr>
                </a:tc>
                <a:tc>
                  <a:txBody>
                    <a:bodyPr/>
                    <a:lstStyle/>
                    <a:p>
                      <a:r>
                        <a:rPr sz="1500" b="1" i="0">
                          <a:solidFill>
                            <a:srgbClr val="11202B"/>
                          </a:solidFill>
                          <a:latin typeface="Malgun Gothic"/>
                          <a:ea typeface="Malgun Gothic"/>
                          <a:cs typeface="Malgun Gothic"/>
                        </a:rPr>
                        <a:t>연수에서 교차</a:t>
                      </a:r>
                      <a:r>
                        <a:rPr sz="1500" b="0" i="0">
                          <a:solidFill>
                            <a:srgbClr val="11202B"/>
                          </a:solidFill>
                          <a:latin typeface="Malgun Gothic"/>
                          <a:ea typeface="Malgun Gothic"/>
                          <a:cs typeface="Malgun Gothic"/>
                        </a:rPr>
                        <a:t>(내측섬유대)</a:t>
                      </a:r>
                    </a:p>
                  </a:txBody>
                  <a:tcPr marL="73152" marR="73152">
                    <a:solidFill>
                      <a:srgbClr val="FFFFFF"/>
                    </a:solidFill>
                  </a:tcPr>
                </a:tc>
                <a:tc>
                  <a:txBody>
                    <a:bodyPr/>
                    <a:lstStyle/>
                    <a:p>
                      <a:r>
                        <a:rPr sz="1500" b="0" i="0">
                          <a:solidFill>
                            <a:srgbClr val="11202B"/>
                          </a:solidFill>
                          <a:latin typeface="Malgun Gothic"/>
                          <a:ea typeface="Malgun Gothic"/>
                          <a:cs typeface="Malgun Gothic"/>
                        </a:rPr>
                        <a:t>동측 소실(병변이 연수 아래), 로멜버그 징후</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척수시상로</a:t>
                      </a:r>
                      <a:r>
                        <a:rPr sz="1500" b="0" i="0">
                          <a:solidFill>
                            <a:srgbClr val="11202B"/>
                          </a:solidFill>
                          <a:latin typeface="Malgun Gothic"/>
                          <a:ea typeface="Malgun Gothic"/>
                          <a:cs typeface="Malgun Gothic"/>
                        </a:rPr>
                        <a:t>(전외측계)</a:t>
                      </a:r>
                    </a:p>
                  </a:txBody>
                  <a:tcPr marL="73152" marR="73152">
                    <a:solidFill>
                      <a:srgbClr val="ECF1F5"/>
                    </a:solidFill>
                  </a:tcPr>
                </a:tc>
                <a:tc>
                  <a:txBody>
                    <a:bodyPr/>
                    <a:lstStyle/>
                    <a:p>
                      <a:r>
                        <a:rPr sz="1500" b="1" i="0">
                          <a:solidFill>
                            <a:srgbClr val="11202B"/>
                          </a:solidFill>
                          <a:latin typeface="Malgun Gothic"/>
                          <a:ea typeface="Malgun Gothic"/>
                          <a:cs typeface="Malgun Gothic"/>
                        </a:rPr>
                        <a:t>통증</a:t>
                      </a:r>
                      <a:r>
                        <a:rPr sz="1500" b="0" i="0">
                          <a:solidFill>
                            <a:srgbClr val="11202B"/>
                          </a:solidFill>
                          <a:latin typeface="Malgun Gothic"/>
                          <a:ea typeface="Malgun Gothic"/>
                          <a:cs typeface="Malgun Gothic"/>
                        </a:rPr>
                        <a:t>, </a:t>
                      </a:r>
                      <a:r>
                        <a:rPr sz="1500" b="1" i="0">
                          <a:solidFill>
                            <a:srgbClr val="11202B"/>
                          </a:solidFill>
                          <a:latin typeface="Malgun Gothic"/>
                          <a:ea typeface="Malgun Gothic"/>
                          <a:cs typeface="Malgun Gothic"/>
                        </a:rPr>
                        <a:t>온도</a:t>
                      </a:r>
                      <a:r>
                        <a:rPr sz="1500" b="0" i="0">
                          <a:solidFill>
                            <a:srgbClr val="11202B"/>
                          </a:solidFill>
                          <a:latin typeface="Malgun Gothic"/>
                          <a:ea typeface="Malgun Gothic"/>
                          <a:cs typeface="Malgun Gothic"/>
                        </a:rPr>
                        <a:t>, 거친 촉각</a:t>
                      </a:r>
                    </a:p>
                  </a:txBody>
                  <a:tcPr marL="73152" marR="73152">
                    <a:solidFill>
                      <a:srgbClr val="ECF1F5"/>
                    </a:solidFill>
                  </a:tcPr>
                </a:tc>
                <a:tc>
                  <a:txBody>
                    <a:bodyPr/>
                    <a:lstStyle/>
                    <a:p>
                      <a:r>
                        <a:rPr sz="1500" b="0" i="0">
                          <a:solidFill>
                            <a:srgbClr val="11202B"/>
                          </a:solidFill>
                          <a:latin typeface="Malgun Gothic"/>
                          <a:ea typeface="Malgun Gothic"/>
                          <a:cs typeface="Malgun Gothic"/>
                        </a:rPr>
                        <a:t>후근 → 후각(교양질 등)에서 시냅스 →</a:t>
                      </a:r>
                    </a:p>
                  </a:txBody>
                  <a:tcPr marL="73152" marR="73152">
                    <a:solidFill>
                      <a:srgbClr val="ECF1F5"/>
                    </a:solidFill>
                  </a:tcPr>
                </a:tc>
                <a:tc>
                  <a:txBody>
                    <a:bodyPr/>
                    <a:lstStyle/>
                    <a:p>
                      <a:r>
                        <a:rPr sz="1500" b="1" i="0">
                          <a:solidFill>
                            <a:srgbClr val="11202B"/>
                          </a:solidFill>
                          <a:latin typeface="Malgun Gothic"/>
                          <a:ea typeface="Malgun Gothic"/>
                          <a:cs typeface="Malgun Gothic"/>
                        </a:rPr>
                        <a:t>척수에서 1–2분절 올라가 교차</a:t>
                      </a:r>
                    </a:p>
                  </a:txBody>
                  <a:tcPr marL="73152" marR="73152">
                    <a:solidFill>
                      <a:srgbClr val="ECF1F5"/>
                    </a:solidFill>
                  </a:tcPr>
                </a:tc>
                <a:tc>
                  <a:txBody>
                    <a:bodyPr/>
                    <a:lstStyle/>
                    <a:p>
                      <a:r>
                        <a:rPr sz="1500" b="0" i="0">
                          <a:solidFill>
                            <a:srgbClr val="11202B"/>
                          </a:solidFill>
                          <a:latin typeface="Malgun Gothic"/>
                          <a:ea typeface="Malgun Gothic"/>
                          <a:cs typeface="Malgun Gothic"/>
                        </a:rPr>
                        <a:t>반대측 소실(병변 1–2분절 아래부터)</a:t>
                      </a:r>
                    </a:p>
                  </a:txBody>
                  <a:tcPr marL="73152" marR="73152">
                    <a:solidFill>
                      <a:srgbClr val="ECF1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통증의 기전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말초 감작</a:t>
            </a:r>
            <a:r>
              <a:rPr sz="1800" b="0" i="0">
                <a:solidFill>
                  <a:srgbClr val="11202B"/>
                </a:solidFill>
                <a:latin typeface="Malgun Gothic"/>
                <a:ea typeface="Malgun Gothic"/>
                <a:cs typeface="Malgun Gothic"/>
              </a:rPr>
              <a:t>: 조직 손상 → '염증 수프'(브라디키닌, 프로스타글란딘, 세로토닌, ATP, H⁺, NGF) → 침해수용기 TRPV1·Nav1.7/1.8 인산화 → 역치 하강(</a:t>
            </a:r>
            <a:r>
              <a:rPr sz="1800" b="1" i="0">
                <a:solidFill>
                  <a:srgbClr val="11202B"/>
                </a:solidFill>
                <a:latin typeface="Malgun Gothic"/>
                <a:ea typeface="Malgun Gothic"/>
                <a:cs typeface="Malgun Gothic"/>
              </a:rPr>
              <a:t>통각과민</a:t>
            </a:r>
            <a:r>
              <a:rPr sz="1800" b="0" i="0">
                <a:solidFill>
                  <a:srgbClr val="11202B"/>
                </a:solidFill>
                <a:latin typeface="Malgun Gothic"/>
                <a:ea typeface="Malgun Gothic"/>
                <a:cs typeface="Malgun Gothic"/>
              </a:rPr>
              <a:t>) + 자발 발화. NGF–TrkA 축 → 항NGF 항체(타네주맙 — 골관절염, 급속 진행 관절병증으로 승인 보류).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척수 후각</a:t>
            </a:r>
            <a:r>
              <a:rPr sz="1800" b="0" i="0">
                <a:solidFill>
                  <a:srgbClr val="11202B"/>
                </a:solidFill>
                <a:latin typeface="Malgun Gothic"/>
                <a:ea typeface="Malgun Gothic"/>
                <a:cs typeface="Malgun Gothic"/>
              </a:rPr>
              <a:t>: 1차 구심(글루탐산 + 물질 P·CGRP) → 2차 뉴런; 반복 C 섬유 입력 → </a:t>
            </a:r>
            <a:r>
              <a:rPr sz="1800" b="1" i="0">
                <a:solidFill>
                  <a:srgbClr val="11202B"/>
                </a:solidFill>
                <a:latin typeface="Malgun Gothic"/>
                <a:ea typeface="Malgun Gothic"/>
                <a:cs typeface="Malgun Gothic"/>
              </a:rPr>
              <a:t>와인드업</a:t>
            </a:r>
            <a:r>
              <a:rPr sz="1800" b="0" i="0">
                <a:solidFill>
                  <a:srgbClr val="11202B"/>
                </a:solidFill>
                <a:latin typeface="Malgun Gothic"/>
                <a:ea typeface="Malgun Gothic"/>
                <a:cs typeface="Malgun Gothic"/>
              </a:rPr>
              <a:t>(NMDA 수용체 의존 증폭) → </a:t>
            </a:r>
            <a:r>
              <a:rPr sz="1800" b="1" i="0">
                <a:solidFill>
                  <a:srgbClr val="11202B"/>
                </a:solidFill>
                <a:latin typeface="Malgun Gothic"/>
                <a:ea typeface="Malgun Gothic"/>
                <a:cs typeface="Malgun Gothic"/>
              </a:rPr>
              <a:t>중추 감작</a:t>
            </a:r>
            <a:r>
              <a:rPr sz="1800" b="0" i="0">
                <a:solidFill>
                  <a:srgbClr val="11202B"/>
                </a:solidFill>
                <a:latin typeface="Malgun Gothic"/>
                <a:ea typeface="Malgun Gothic"/>
                <a:cs typeface="Malgun Gothic"/>
              </a:rPr>
              <a:t>(AMPA 삽입, 미세아교세포 BDNF → KCC2 하향 → 억제 역전).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관문 조절 이론</a:t>
            </a:r>
            <a:r>
              <a:rPr sz="1800" b="0" i="0">
                <a:solidFill>
                  <a:srgbClr val="11202B"/>
                </a:solidFill>
                <a:latin typeface="Malgun Gothic"/>
                <a:ea typeface="Malgun Gothic"/>
                <a:cs typeface="Malgun Gothic"/>
              </a:rPr>
              <a:t>(Melzack &amp; Wall): 굵은 Aβ 섬유 활성이 교양질 억제 개재뉴런을 통해 통증 전달을 억제 → 문지르기·</a:t>
            </a:r>
            <a:r>
              <a:rPr sz="1800" b="1" i="0">
                <a:solidFill>
                  <a:srgbClr val="11202B"/>
                </a:solidFill>
                <a:latin typeface="Malgun Gothic"/>
                <a:ea typeface="Malgun Gothic"/>
                <a:cs typeface="Malgun Gothic"/>
              </a:rPr>
              <a:t>경피 전기신경자극(TENS)</a:t>
            </a:r>
            <a:r>
              <a:rPr sz="1800" b="0" i="0">
                <a:solidFill>
                  <a:srgbClr val="11202B"/>
                </a:solidFill>
                <a:latin typeface="Malgun Gothic"/>
                <a:ea typeface="Malgun Gothic"/>
                <a:cs typeface="Malgun Gothic"/>
              </a:rPr>
              <a:t>·척수 자극술의 근거.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통증의 기전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하행 조절</a:t>
            </a:r>
            <a:r>
              <a:rPr sz="2000" b="0" i="0">
                <a:solidFill>
                  <a:srgbClr val="11202B"/>
                </a:solidFill>
                <a:latin typeface="Malgun Gothic"/>
                <a:ea typeface="Malgun Gothic"/>
                <a:cs typeface="Malgun Gothic"/>
              </a:rPr>
              <a:t>: 수도관 주위 회백질 → 연수 복내측 문측부(세로토닌)·청반(노르에피네프린) → 척수 후각 억제(또는 촉진); 내인성 오피오이드(엔케팔린) → 삼환계·SNRI·오피오이드의 진통 기전.</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통증의 분류</a:t>
            </a:r>
            <a:r>
              <a:rPr sz="2000" b="0" i="0">
                <a:solidFill>
                  <a:srgbClr val="11202B"/>
                </a:solidFill>
                <a:latin typeface="Malgun Gothic"/>
                <a:ea typeface="Malgun Gothic"/>
                <a:cs typeface="Malgun Gothic"/>
              </a:rPr>
              <a:t>: 침해수용성(조직 손상), 신경병증성(체성감각계 병변·질환 — 작열·전격·이질통), </a:t>
            </a:r>
            <a:r>
              <a:rPr sz="2000" b="1" i="0">
                <a:solidFill>
                  <a:srgbClr val="11202B"/>
                </a:solidFill>
                <a:latin typeface="Malgun Gothic"/>
                <a:ea typeface="Malgun Gothic"/>
                <a:cs typeface="Malgun Gothic"/>
              </a:rPr>
              <a:t>노시플라스틱</a:t>
            </a:r>
            <a:r>
              <a:rPr sz="2000" b="0" i="0">
                <a:solidFill>
                  <a:srgbClr val="11202B"/>
                </a:solidFill>
                <a:latin typeface="Malgun Gothic"/>
                <a:ea typeface="Malgun Gothic"/>
                <a:cs typeface="Malgun Gothic"/>
              </a:rPr>
              <a:t>(조직·신경 손상 없이 중추 처리 변화 — 섬유근통, 과민성 대장, 만성 요통 일부).</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심리·사회 요인: 주의·기대(위약·노세보), 파국화, 수면, 우울 — 생물심리사회 모델.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신경병증성 통증과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기전: 이소성 발화(손상 축삭·후근신경절의 Nav 재배치 — Nav1.7/1.8), 교감-감각 결합, 탈억제(GABA·글리신 감소, KCC2 하향), 미세아교·성상세포 활성, 하행 억제 약화, 피질 재구성.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임상 특징: 양성 증상(작열통·전격통·감각이상·</a:t>
            </a:r>
            <a:r>
              <a:rPr sz="1800" b="1" i="0">
                <a:solidFill>
                  <a:srgbClr val="11202B"/>
                </a:solidFill>
                <a:latin typeface="Malgun Gothic"/>
                <a:ea typeface="Malgun Gothic"/>
                <a:cs typeface="Malgun Gothic"/>
              </a:rPr>
              <a:t>이질통</a:t>
            </a:r>
            <a:r>
              <a:rPr sz="1800" b="0" i="0">
                <a:solidFill>
                  <a:srgbClr val="11202B"/>
                </a:solidFill>
                <a:latin typeface="Malgun Gothic"/>
                <a:ea typeface="Malgun Gothic"/>
                <a:cs typeface="Malgun Gothic"/>
              </a:rPr>
              <a:t>)과 음성 증상(감각 저하) 공존, 신경 분포 일치.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비약물: 운동 치료, 인지행동치료·수용전념치료, 통증 신경과학 교육, 단계적 노출 — 만성 통증에서 근거가 강하다.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특수 증후군: </a:t>
            </a:r>
            <a:r>
              <a:rPr sz="1800" b="1" i="0">
                <a:solidFill>
                  <a:srgbClr val="11202B"/>
                </a:solidFill>
                <a:latin typeface="Malgun Gothic"/>
                <a:ea typeface="Malgun Gothic"/>
                <a:cs typeface="Malgun Gothic"/>
              </a:rPr>
              <a:t>복합부위통증증후군(CRPS)</a:t>
            </a:r>
            <a:r>
              <a:rPr sz="1800" b="0" i="0">
                <a:solidFill>
                  <a:srgbClr val="11202B"/>
                </a:solidFill>
                <a:latin typeface="Malgun Gothic"/>
                <a:ea typeface="Malgun Gothic"/>
                <a:cs typeface="Malgun Gothic"/>
              </a:rPr>
              <a:t> — 외상 후 부위 불균형 통증·자율(부종·발한·피부색)·운동 증상, 중추 재구성; </a:t>
            </a:r>
            <a:r>
              <a:rPr sz="1800" b="1" i="0">
                <a:solidFill>
                  <a:srgbClr val="11202B"/>
                </a:solidFill>
                <a:latin typeface="Malgun Gothic"/>
                <a:ea typeface="Malgun Gothic"/>
                <a:cs typeface="Malgun Gothic"/>
              </a:rPr>
              <a:t>대상포진 후 신경통</a:t>
            </a:r>
            <a:r>
              <a:rPr sz="1800" b="0" i="0">
                <a:solidFill>
                  <a:srgbClr val="11202B"/>
                </a:solidFill>
                <a:latin typeface="Malgun Gothic"/>
                <a:ea typeface="Malgun Gothic"/>
                <a:cs typeface="Malgun Gothic"/>
              </a:rPr>
              <a:t> — 백신으로 예방(재조합 대상포진 백신); </a:t>
            </a:r>
            <a:r>
              <a:rPr sz="1800" b="1" i="0">
                <a:solidFill>
                  <a:srgbClr val="11202B"/>
                </a:solidFill>
                <a:latin typeface="Malgun Gothic"/>
                <a:ea typeface="Malgun Gothic"/>
                <a:cs typeface="Malgun Gothic"/>
              </a:rPr>
              <a:t>삼차신경통</a:t>
            </a:r>
            <a:r>
              <a:rPr sz="1800" b="0" i="0">
                <a:solidFill>
                  <a:srgbClr val="11202B"/>
                </a:solidFill>
                <a:latin typeface="Malgun Gothic"/>
                <a:ea typeface="Malgun Gothic"/>
                <a:cs typeface="Malgun Gothic"/>
              </a:rPr>
              <a:t> — 혈관 압박(미세혈관 감압술) 또는 다발성 경화증(젊은·양측).</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신경병증성 통증과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1차 적응</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가바펜틴·프레가발린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Cav α2δ-1</a:t>
                      </a:r>
                    </a:p>
                  </a:txBody>
                  <a:tcPr marL="73152" marR="73152">
                    <a:solidFill>
                      <a:srgbClr val="FFFFFF"/>
                    </a:solidFill>
                  </a:tcPr>
                </a:tc>
                <a:tc>
                  <a:txBody>
                    <a:bodyPr/>
                    <a:lstStyle/>
                    <a:p>
                      <a:r>
                        <a:rPr sz="1500" b="0" i="0">
                          <a:solidFill>
                            <a:srgbClr val="11202B"/>
                          </a:solidFill>
                          <a:latin typeface="Malgun Gothic"/>
                          <a:ea typeface="Malgun Gothic"/>
                          <a:cs typeface="Malgun Gothic"/>
                        </a:rPr>
                        <a:t>당뇨 신경병증, 대상포진 후 신경통</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삼환계(아미트립틸린, 노르트립틸린)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NE·5-HT 재흡수 + Na⁺ 통로</a:t>
                      </a:r>
                    </a:p>
                  </a:txBody>
                  <a:tcPr marL="73152" marR="73152">
                    <a:solidFill>
                      <a:srgbClr val="ECF1F5"/>
                    </a:solidFill>
                  </a:tcPr>
                </a:tc>
                <a:tc>
                  <a:txBody>
                    <a:bodyPr/>
                    <a:lstStyle/>
                    <a:p>
                      <a:r>
                        <a:rPr sz="1500" b="0" i="0">
                          <a:solidFill>
                            <a:srgbClr val="11202B"/>
                          </a:solidFill>
                          <a:latin typeface="Malgun Gothic"/>
                          <a:ea typeface="Malgun Gothic"/>
                          <a:cs typeface="Malgun Gothic"/>
                        </a:rPr>
                        <a:t>1차</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SNRI(둘록세틴, 벤라팍신)</a:t>
                      </a:r>
                    </a:p>
                  </a:txBody>
                  <a:tcPr marL="73152" marR="73152">
                    <a:solidFill>
                      <a:srgbClr val="FFFFFF"/>
                    </a:solidFill>
                  </a:tcPr>
                </a:tc>
                <a:tc>
                  <a:txBody>
                    <a:bodyPr/>
                    <a:lstStyle/>
                    <a:p>
                      <a:r>
                        <a:rPr sz="1500" b="0" i="0">
                          <a:solidFill>
                            <a:srgbClr val="11202B"/>
                          </a:solidFill>
                          <a:latin typeface="Malgun Gothic"/>
                          <a:ea typeface="Malgun Gothic"/>
                          <a:cs typeface="Malgun Gothic"/>
                        </a:rPr>
                        <a:t>하행 억제 강화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1차</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카르바마제핀·옥스카르바제핀</a:t>
                      </a:r>
                    </a:p>
                  </a:txBody>
                  <a:tcPr marL="73152" marR="73152">
                    <a:solidFill>
                      <a:srgbClr val="ECF1F5"/>
                    </a:solidFill>
                  </a:tcPr>
                </a:tc>
                <a:tc>
                  <a:txBody>
                    <a:bodyPr/>
                    <a:lstStyle/>
                    <a:p>
                      <a:r>
                        <a:rPr sz="1500" b="0" i="0">
                          <a:solidFill>
                            <a:srgbClr val="11202B"/>
                          </a:solidFill>
                          <a:latin typeface="Malgun Gothic"/>
                          <a:ea typeface="Malgun Gothic"/>
                          <a:cs typeface="Malgun Gothic"/>
                        </a:rPr>
                        <a:t>Na⁺ 통로</a:t>
                      </a:r>
                    </a:p>
                  </a:txBody>
                  <a:tcPr marL="73152" marR="73152">
                    <a:solidFill>
                      <a:srgbClr val="ECF1F5"/>
                    </a:solidFill>
                  </a:tcPr>
                </a:tc>
                <a:tc>
                  <a:txBody>
                    <a:bodyPr/>
                    <a:lstStyle/>
                    <a:p>
                      <a:r>
                        <a:rPr sz="1500" b="1" i="0">
                          <a:solidFill>
                            <a:srgbClr val="11202B"/>
                          </a:solidFill>
                          <a:latin typeface="Malgun Gothic"/>
                          <a:ea typeface="Malgun Gothic"/>
                          <a:cs typeface="Malgun Gothic"/>
                        </a:rPr>
                        <a:t>삼차신경통 1차</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리도카인 패치·캡사이신 8%</a:t>
                      </a:r>
                    </a:p>
                  </a:txBody>
                  <a:tcPr marL="73152" marR="73152">
                    <a:solidFill>
                      <a:srgbClr val="FFFFFF"/>
                    </a:solidFill>
                  </a:tcPr>
                </a:tc>
                <a:tc>
                  <a:txBody>
                    <a:bodyPr/>
                    <a:lstStyle/>
                    <a:p>
                      <a:r>
                        <a:rPr sz="1500" b="0" i="0">
                          <a:solidFill>
                            <a:srgbClr val="11202B"/>
                          </a:solidFill>
                          <a:latin typeface="Malgun Gothic"/>
                          <a:ea typeface="Malgun Gothic"/>
                          <a:cs typeface="Malgun Gothic"/>
                        </a:rPr>
                        <a:t>국소 Na⁺ / TRPV1 탈감작</a:t>
                      </a:r>
                    </a:p>
                  </a:txBody>
                  <a:tcPr marL="73152" marR="73152">
                    <a:solidFill>
                      <a:srgbClr val="FFFFFF"/>
                    </a:solidFill>
                  </a:tcPr>
                </a:tc>
                <a:tc>
                  <a:txBody>
                    <a:bodyPr/>
                    <a:lstStyle/>
                    <a:p>
                      <a:r>
                        <a:rPr sz="1500" b="0" i="0">
                          <a:solidFill>
                            <a:srgbClr val="11202B"/>
                          </a:solidFill>
                          <a:latin typeface="Malgun Gothic"/>
                          <a:ea typeface="Malgun Gothic"/>
                          <a:cs typeface="Malgun Gothic"/>
                        </a:rPr>
                        <a:t>국소 신경통</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트라마돌·오피오이드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μ 수용체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2–3차(장기 사용 주의 — 내성·통각과민·의존)</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보툴리눔 독소, 척수 자극술, 신경 차단</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난치성</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척수 증후군과 감각 소실 패턴</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감각 수준(dermatome) 기억점: C6 엄지, C8 새끼, T4 젖꼭지, T10 배꼽, L1 서혜부, L4 무릎 내측·내과, S1 발 외측, S4–5 항문 주위.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척수 증후군과 감각 소실 패턴</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증후군</a:t>
                      </a:r>
                    </a:p>
                  </a:txBody>
                  <a:tcPr marL="73152" marR="73152">
                    <a:solidFill>
                      <a:srgbClr val="003C71"/>
                    </a:solidFill>
                  </a:tcPr>
                </a:tc>
                <a:tc>
                  <a:txBody>
                    <a:bodyPr/>
                    <a:lstStyle/>
                    <a:p>
                      <a:r>
                        <a:rPr sz="1300" b="1" i="0">
                          <a:solidFill>
                            <a:srgbClr val="FFFFFF"/>
                          </a:solidFill>
                          <a:latin typeface="Malgun Gothic"/>
                          <a:ea typeface="Malgun Gothic"/>
                          <a:cs typeface="Malgun Gothic"/>
                        </a:rPr>
                        <a:t>병변</a:t>
                      </a:r>
                    </a:p>
                  </a:txBody>
                  <a:tcPr marL="73152" marR="73152">
                    <a:solidFill>
                      <a:srgbClr val="003C71"/>
                    </a:solidFill>
                  </a:tcPr>
                </a:tc>
                <a:tc>
                  <a:txBody>
                    <a:bodyPr/>
                    <a:lstStyle/>
                    <a:p>
                      <a:r>
                        <a:rPr sz="1300" b="1" i="0">
                          <a:solidFill>
                            <a:srgbClr val="FFFFFF"/>
                          </a:solidFill>
                          <a:latin typeface="Malgun Gothic"/>
                          <a:ea typeface="Malgun Gothic"/>
                          <a:cs typeface="Malgun Gothic"/>
                        </a:rPr>
                        <a:t>소견</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완전 척수 절단</a:t>
                      </a:r>
                    </a:p>
                  </a:txBody>
                  <a:tcPr marL="73152" marR="73152">
                    <a:solidFill>
                      <a:srgbClr val="FFFFFF"/>
                    </a:solidFill>
                  </a:tcPr>
                </a:tc>
                <a:tc>
                  <a:txBody>
                    <a:bodyPr/>
                    <a:lstStyle/>
                    <a:p>
                      <a:r>
                        <a:rPr sz="1300" b="0" i="0">
                          <a:solidFill>
                            <a:srgbClr val="11202B"/>
                          </a:solidFill>
                          <a:latin typeface="Malgun Gothic"/>
                          <a:ea typeface="Malgun Gothic"/>
                          <a:cs typeface="Malgun Gothic"/>
                        </a:rPr>
                        <a:t>전체 단면</a:t>
                      </a:r>
                    </a:p>
                  </a:txBody>
                  <a:tcPr marL="73152" marR="73152">
                    <a:solidFill>
                      <a:srgbClr val="FFFFFF"/>
                    </a:solidFill>
                  </a:tcPr>
                </a:tc>
                <a:tc>
                  <a:txBody>
                    <a:bodyPr/>
                    <a:lstStyle/>
                    <a:p>
                      <a:r>
                        <a:rPr sz="1300" b="0" i="0">
                          <a:solidFill>
                            <a:srgbClr val="11202B"/>
                          </a:solidFill>
                          <a:latin typeface="Malgun Gothic"/>
                          <a:ea typeface="Malgun Gothic"/>
                          <a:cs typeface="Malgun Gothic"/>
                        </a:rPr>
                        <a:t>병변 이하 모든 감각·운동 소실, 초기 척수 쇼크(이완·반사 소실) → 이후 경직</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브라운-세카르</a:t>
                      </a:r>
                      <a:r>
                        <a:rPr sz="1300" b="0" i="0">
                          <a:solidFill>
                            <a:srgbClr val="11202B"/>
                          </a:solidFill>
                          <a:latin typeface="Malgun Gothic"/>
                          <a:ea typeface="Malgun Gothic"/>
                          <a:cs typeface="Malgun Gothic"/>
                        </a:rPr>
                        <a:t>(반절단)</a:t>
                      </a:r>
                    </a:p>
                  </a:txBody>
                  <a:tcPr marL="73152" marR="73152">
                    <a:solidFill>
                      <a:srgbClr val="ECF1F5"/>
                    </a:solidFill>
                  </a:tcPr>
                </a:tc>
                <a:tc>
                  <a:txBody>
                    <a:bodyPr/>
                    <a:lstStyle/>
                    <a:p>
                      <a:r>
                        <a:rPr sz="1300" b="0" i="0">
                          <a:solidFill>
                            <a:srgbClr val="11202B"/>
                          </a:solidFill>
                          <a:latin typeface="Malgun Gothic"/>
                          <a:ea typeface="Malgun Gothic"/>
                          <a:cs typeface="Malgun Gothic"/>
                        </a:rPr>
                        <a:t>한쪽 절반</a:t>
                      </a:r>
                    </a:p>
                  </a:txBody>
                  <a:tcPr marL="73152" marR="73152">
                    <a:solidFill>
                      <a:srgbClr val="ECF1F5"/>
                    </a:solidFill>
                  </a:tcPr>
                </a:tc>
                <a:tc>
                  <a:txBody>
                    <a:bodyPr/>
                    <a:lstStyle/>
                    <a:p>
                      <a:r>
                        <a:rPr sz="1300" b="1" i="0">
                          <a:solidFill>
                            <a:srgbClr val="11202B"/>
                          </a:solidFill>
                          <a:latin typeface="Malgun Gothic"/>
                          <a:ea typeface="Malgun Gothic"/>
                          <a:cs typeface="Malgun Gothic"/>
                        </a:rPr>
                        <a:t>동측</a:t>
                      </a:r>
                      <a:r>
                        <a:rPr sz="1300" b="0" i="0">
                          <a:solidFill>
                            <a:srgbClr val="11202B"/>
                          </a:solidFill>
                          <a:latin typeface="Malgun Gothic"/>
                          <a:ea typeface="Malgun Gothic"/>
                          <a:cs typeface="Malgun Gothic"/>
                        </a:rPr>
                        <a:t> 운동마비·진동·고유감각 소실 + </a:t>
                      </a:r>
                      <a:r>
                        <a:rPr sz="1300" b="1" i="0">
                          <a:solidFill>
                            <a:srgbClr val="11202B"/>
                          </a:solidFill>
                          <a:latin typeface="Malgun Gothic"/>
                          <a:ea typeface="Malgun Gothic"/>
                          <a:cs typeface="Malgun Gothic"/>
                        </a:rPr>
                        <a:t>반대측</a:t>
                      </a:r>
                      <a:r>
                        <a:rPr sz="1300" b="0" i="0">
                          <a:solidFill>
                            <a:srgbClr val="11202B"/>
                          </a:solidFill>
                          <a:latin typeface="Malgun Gothic"/>
                          <a:ea typeface="Malgun Gothic"/>
                          <a:cs typeface="Malgun Gothic"/>
                        </a:rPr>
                        <a:t> 통온각 소실(1–2분절 아래부터), 동측 병변 수준 전 감각 소실 띠</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중심 척수 증후군</a:t>
                      </a:r>
                    </a:p>
                  </a:txBody>
                  <a:tcPr marL="73152" marR="73152">
                    <a:solidFill>
                      <a:srgbClr val="FFFFFF"/>
                    </a:solidFill>
                  </a:tcPr>
                </a:tc>
                <a:tc>
                  <a:txBody>
                    <a:bodyPr/>
                    <a:lstStyle/>
                    <a:p>
                      <a:r>
                        <a:rPr sz="1300" b="0" i="0">
                          <a:solidFill>
                            <a:srgbClr val="11202B"/>
                          </a:solidFill>
                          <a:latin typeface="Malgun Gothic"/>
                          <a:ea typeface="Malgun Gothic"/>
                          <a:cs typeface="Malgun Gothic"/>
                        </a:rPr>
                        <a:t>중심관 주위(척수공동증, 과신전 손상)</a:t>
                      </a:r>
                    </a:p>
                  </a:txBody>
                  <a:tcPr marL="73152" marR="73152">
                    <a:solidFill>
                      <a:srgbClr val="FFFFFF"/>
                    </a:solidFill>
                  </a:tcPr>
                </a:tc>
                <a:tc>
                  <a:txBody>
                    <a:bodyPr/>
                    <a:lstStyle/>
                    <a:p>
                      <a:r>
                        <a:rPr sz="1300" b="1" i="0">
                          <a:solidFill>
                            <a:srgbClr val="11202B"/>
                          </a:solidFill>
                          <a:latin typeface="Malgun Gothic"/>
                          <a:ea typeface="Malgun Gothic"/>
                          <a:cs typeface="Malgun Gothic"/>
                        </a:rPr>
                        <a:t>분리 감각 소실</a:t>
                      </a:r>
                      <a:r>
                        <a:rPr sz="1300" b="0" i="0">
                          <a:solidFill>
                            <a:srgbClr val="11202B"/>
                          </a:solidFill>
                          <a:latin typeface="Malgun Gothic"/>
                          <a:ea typeface="Malgun Gothic"/>
                          <a:cs typeface="Malgun Gothic"/>
                        </a:rPr>
                        <a:t>(교차하는 척수시상로 섬유 침범 → 망토형 통온각 소실, 촉각·고유감각 보존), 상지 &gt; 하지 근력저하</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전척수동맥 증후군</a:t>
                      </a:r>
                    </a:p>
                  </a:txBody>
                  <a:tcPr marL="73152" marR="73152">
                    <a:solidFill>
                      <a:srgbClr val="ECF1F5"/>
                    </a:solidFill>
                  </a:tcPr>
                </a:tc>
                <a:tc>
                  <a:txBody>
                    <a:bodyPr/>
                    <a:lstStyle/>
                    <a:p>
                      <a:r>
                        <a:rPr sz="1300" b="0" i="0">
                          <a:solidFill>
                            <a:srgbClr val="11202B"/>
                          </a:solidFill>
                          <a:latin typeface="Malgun Gothic"/>
                          <a:ea typeface="Malgun Gothic"/>
                          <a:cs typeface="Malgun Gothic"/>
                        </a:rPr>
                        <a:t>전방 2/3</a:t>
                      </a:r>
                    </a:p>
                  </a:txBody>
                  <a:tcPr marL="73152" marR="73152">
                    <a:solidFill>
                      <a:srgbClr val="ECF1F5"/>
                    </a:solidFill>
                  </a:tcPr>
                </a:tc>
                <a:tc>
                  <a:txBody>
                    <a:bodyPr/>
                    <a:lstStyle/>
                    <a:p>
                      <a:r>
                        <a:rPr sz="1300" b="0" i="0">
                          <a:solidFill>
                            <a:srgbClr val="11202B"/>
                          </a:solidFill>
                          <a:latin typeface="Malgun Gothic"/>
                          <a:ea typeface="Malgun Gothic"/>
                          <a:cs typeface="Malgun Gothic"/>
                        </a:rPr>
                        <a:t>운동·통온각 소실, </a:t>
                      </a:r>
                      <a:r>
                        <a:rPr sz="1300" b="1" i="0">
                          <a:solidFill>
                            <a:srgbClr val="11202B"/>
                          </a:solidFill>
                          <a:latin typeface="Malgun Gothic"/>
                          <a:ea typeface="Malgun Gothic"/>
                          <a:cs typeface="Malgun Gothic"/>
                        </a:rPr>
                        <a:t>후삭 보존</a:t>
                      </a:r>
                      <a:r>
                        <a:rPr sz="1300" b="0" i="0">
                          <a:solidFill>
                            <a:srgbClr val="11202B"/>
                          </a:solidFill>
                          <a:latin typeface="Malgun Gothic"/>
                          <a:ea typeface="Malgun Gothic"/>
                          <a:cs typeface="Malgun Gothic"/>
                        </a:rPr>
                        <a:t>(진동·고유감각 유지), 자율 장애</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후삭 변성</a:t>
                      </a:r>
                      <a:r>
                        <a:rPr sz="1300" b="0" i="0">
                          <a:solidFill>
                            <a:srgbClr val="11202B"/>
                          </a:solidFill>
                          <a:latin typeface="Malgun Gothic"/>
                          <a:ea typeface="Malgun Gothic"/>
                          <a:cs typeface="Malgun Gothic"/>
                        </a:rPr>
                        <a:t>(아급성 연합 변성 — B12, 매독 척수로, HIV, 아산화질소)</a:t>
                      </a:r>
                    </a:p>
                  </a:txBody>
                  <a:tcPr marL="73152" marR="73152">
                    <a:solidFill>
                      <a:srgbClr val="FFFFFF"/>
                    </a:solidFill>
                  </a:tcPr>
                </a:tc>
                <a:tc>
                  <a:txBody>
                    <a:bodyPr/>
                    <a:lstStyle/>
                    <a:p>
                      <a:r>
                        <a:rPr sz="1300" b="0" i="0">
                          <a:solidFill>
                            <a:srgbClr val="11202B"/>
                          </a:solidFill>
                          <a:latin typeface="Malgun Gothic"/>
                          <a:ea typeface="Malgun Gothic"/>
                          <a:cs typeface="Malgun Gothic"/>
                        </a:rPr>
                        <a:t>후삭 ± 측삭</a:t>
                      </a:r>
                    </a:p>
                  </a:txBody>
                  <a:tcPr marL="73152" marR="73152">
                    <a:solidFill>
                      <a:srgbClr val="FFFFFF"/>
                    </a:solidFill>
                  </a:tcPr>
                </a:tc>
                <a:tc>
                  <a:txBody>
                    <a:bodyPr/>
                    <a:lstStyle/>
                    <a:p>
                      <a:r>
                        <a:rPr sz="1300" b="0" i="0">
                          <a:solidFill>
                            <a:srgbClr val="11202B"/>
                          </a:solidFill>
                          <a:latin typeface="Malgun Gothic"/>
                          <a:ea typeface="Malgun Gothic"/>
                          <a:cs typeface="Malgun Gothic"/>
                        </a:rPr>
                        <a:t>진동·고유감각 소실, 로멜버그 양성, 보행 실조</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원추 vs 마미 증후군</a:t>
                      </a:r>
                    </a:p>
                  </a:txBody>
                  <a:tcPr marL="73152" marR="73152">
                    <a:solidFill>
                      <a:srgbClr val="ECF1F5"/>
                    </a:solidFill>
                  </a:tcPr>
                </a:tc>
                <a:tc>
                  <a:txBody>
                    <a:bodyPr/>
                    <a:lstStyle/>
                    <a:p>
                      <a:r>
                        <a:rPr sz="1300" b="0" i="0">
                          <a:solidFill>
                            <a:srgbClr val="11202B"/>
                          </a:solidFill>
                          <a:latin typeface="Malgun Gothic"/>
                          <a:ea typeface="Malgun Gothic"/>
                          <a:cs typeface="Malgun Gothic"/>
                        </a:rPr>
                        <a:t>S2–S4 척수 원추 / 신경근</a:t>
                      </a:r>
                    </a:p>
                  </a:txBody>
                  <a:tcPr marL="73152" marR="73152">
                    <a:solidFill>
                      <a:srgbClr val="ECF1F5"/>
                    </a:solidFill>
                  </a:tcPr>
                </a:tc>
                <a:tc>
                  <a:txBody>
                    <a:bodyPr/>
                    <a:lstStyle/>
                    <a:p>
                      <a:r>
                        <a:rPr sz="1300" b="0" i="0">
                          <a:solidFill>
                            <a:srgbClr val="11202B"/>
                          </a:solidFill>
                          <a:latin typeface="Malgun Gothic"/>
                          <a:ea typeface="Malgun Gothic"/>
                          <a:cs typeface="Malgun Gothic"/>
                        </a:rPr>
                        <a:t>원추 — 대칭 안장 마비·조기 방광 장애·반사 항진 가능 / 마미 — 비대칭·근본 통증 심함·이완성</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척수공동증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중심관 확장(키아리 I 동반)</a:t>
                      </a:r>
                    </a:p>
                  </a:txBody>
                  <a:tcPr marL="73152" marR="73152">
                    <a:solidFill>
                      <a:srgbClr val="FFFFFF"/>
                    </a:solidFill>
                  </a:tcPr>
                </a:tc>
                <a:tc>
                  <a:txBody>
                    <a:bodyPr/>
                    <a:lstStyle/>
                    <a:p>
                      <a:r>
                        <a:rPr sz="1300" b="0" i="0">
                          <a:solidFill>
                            <a:srgbClr val="11202B"/>
                          </a:solidFill>
                          <a:latin typeface="Malgun Gothic"/>
                          <a:ea typeface="Malgun Gothic"/>
                          <a:cs typeface="Malgun Gothic"/>
                        </a:rPr>
                        <a:t>상지 망토형 통온각 소실, 손 내재근 위축, 무통성 화상</a:t>
                      </a:r>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사람 후근신경절 단일세포 분석으로 설치류와 다른 통각 신경세포 아형이 밝혀져, 전임상 표적의 임상 번역 실패를 설명하고 새로운 표적을 제시하고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Nav1.8 선택 차단제(수제트리진)가 중추 작용 없는 비오피오이드 진통제로 승인되어 통로 선택성 진통의 가능성을 열었다.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만성 통증의 뇌 영상·전기생리 바이오마커(전전두-측좌핵 연결성)와 폐쇄회로 신경조절이 연구되고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촉각·진동·고유감각은 후삭-내측섬유대(연수 교차), 통증·온도는 척수시상로(척수 교차)로 전달된다.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침해수용기는 Aδ·C 섬유이며 염증 매개체가 말초 감작을, NMDA 의존 와인드업이 중추 감작을 일으킨다.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관문 조절과 하행 억제(PAG–RVM, 세로토닌·노르에피네프린·오피오이드)가 통증을 조절한다.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신경병증성 통증은 α2δ 리간드·삼환계·SNRI·국소 치료가 1차이며 비약물 치료가 중요하다.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브라운-세카르·중심 척수·전척수동맥 증후군 등은 경로 해부로 감각 소실 패턴을 설명할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외측 연수 경색(발렌베르그 증후군) 환자에서 '동측 얼굴, 반대측 몸'의 통온각 소실이 생기는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얼굴의 통온각은 삼차신경 척수핵과 그 하행로가 담당하는데, 이들은 연수 외측에 동측으로 위치한다. 몸의 통온각은 척수에서 이미 교차한 척수시상로가 연수 외측을 지나므로 반대측을 담당한다. 따라서 한쪽 연수 외측 병변은 동측 얼굴과 반대측 몸의 통온각을 함께 침범한다.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척수공동증 환자에서 '분리 감각 소실'이 나타나는 해부학적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중심관 주위로 확장된 공동이 척수 전교련을 지나 교차하는 척수시상로 섬유를 먼저 침범한다. 이 섬유들은 통증·온도를 전달하므로 해당 분절(대개 경수·상부 흉수)에 망토 모양 통온각 소실이 생기고, 후삭을 지나는 촉각·진동·고유감각은 보존된다.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대상포진 후 신경통에서 리도카인 패치와 캡사이신 패치의 작용 차이는?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리도카인은 손상된 피부 신경 말단의 전압개폐 Na⁺ 통로를 차단해 이소성 발화를 줄인다. 고농도 캡사이신은 TRPV1 작용제로 작용해 일시적 작열 후 침해수용 신경 말단을 '탈감작'시키고 표피 내 신경섬유를 가역적으로 퇴행시켜 수주–수개월 지속되는 진통을 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만성 통증 환자에게 '통증 신경과학 교육'과 단계적 운동을 권하는 생리학적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만성 통증의 상당 부분은 조직 손상이 아니라 중추 감작과 하행 억제 약화, 위협 평가의 변화에서 비롯된다(노시플라스틱 통증). 통증의 의미를 재구성하면 위협 평가가 줄고 하행 억제가 회복되며, 단계적 운동은 회피 행동과 탈조건화를 막고 내인성 진통(운동 유발 통각저하)을 활성화한다.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Kandel ER et al. Principles of Neural Science, 6th ed. Ch. 19–22.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Basbaum AI et al. Cellular and molecular mechanisms of pain. Cell 2009;139:267–284.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Finnerup NB et al. Neuropathic pain: an updated grading system and treatment. Lancet Neurol 2021 / Pain 2016 series.</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Cohen SP, Vase L, Hooten WM. Chronic pain: an update on burden, best practices, and new advances. Lancet 2021;397:2082–2097.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B07-L05  ·  체성감각계와 통증</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Tavares-Ferreira D et al. Spatial transcriptomics of dorsal root ganglia identifies molecular signatures of human nociceptors. Sci Transl Med 2022;14:eabj8186.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