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유기산혈증(프로피온산혈증 또는 메틸말론산혈증). 단백 섭취를 중단하고 10% 포도당 고속 정주(필요 시 인슐린), L-카르니틴, 카글루민산, 비오틴·하이드록소코발라민을 투여하며, 질소 제거제와 함께 암모니아가 높거나 반응이 없으면 혈액투석을 준비한다. 치료 전 혈장·소변·건조혈반 검체를 확보해 아실카르니틴(C3)·소변 유기산으로 확진한다.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줄이지 않는다. 목표는 혈당 정상화가 아니라 이화 억제와 동화 유도이므로 포도당 공급을 유지하고 인슐린을 추가해 세포 내 포도당 이용과 단백 합성을 촉진한다. 포도당을 줄이면 근육 단백 분해가 다시 증가해 독성 대사물(암모니아, 유기산)이 늘어난다.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장쇄 지방산 산화장애에서는 외부 장쇄 지방산이 산화되지 못하고 독성 장쇄 아실-CoA·아실카르니틴으로 축적되어 심근병증·부정맥·횡문근융해를 악화시킬 수 있다. 대신 충분한 포도당으로 지방분해를 억제하고, 필요 시 중쇄지방(MCT)이나 트라이헵타노인을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피리독신 의존성 뇌전증(ALDH7A1)은 축적된 P6C가 PLP를 불활성화해 GABA 합성 등 PLP 의존 반응이 실패하는 질환으로 피리독신에 극적으로 반응하며 치료하지 않으면 중증 장애가 남는다. 정주 투여 시 무호흡·저혈압이 생길 수 있어 뇌파·호흡 감시 하에 시행하고, 반응이 없으면 PLP(PNPO 결핍)·폴린산도 시험한다.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소아의학과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소아 선천대사이상의 응급 접근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Emergency Approach to Inborn Errors of Metabolism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B04-L04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선천대사이상(IEM)을 의심해야 하는 임상 상황과 '중독형·에너지 결핍형·복합 분자형' 분류를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초기 응급 검사 묶음과 검체 보관 원칙을 제시한다.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고암모니아혈증·대사산증·저혈당·젖산산증의 알고리즘을 적용한다.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위기의 응급 처치(이화 억제, 독성 제거, 보조인자 투여)를 수행한다.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아플 때의 응급 프로토콜(sick-day protocol)과 장기 관리 원칙을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IEM을 언제 의심하는가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IEM의 병태생리적 분류 (Saudubray)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검사 묶음과 검체 보관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알고리즘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위기 응급 처치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아플 때 프로토콜과 장기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IEM을 언제 의심하는가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출산·정상 첫 며칠 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수유 시작 뒤 급격한 악화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(무증상 간격) — 패혈증 유사이나 배양 음성.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감염·금식·수술·고단백 섭취 후 반복 구토, 기면, 운동실조, 정신 상태 변화.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설명되지 않는 대사산증, 고암모니아혈증, 저혈당, 젖산산증, 간부전, 심근병증.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특이한 냄새(단풍시럽 — MSUD, 땀 발 냄새 — 이소발레르산혈증, 쥐 오줌 — PKU, 양배추 — 티로신혈증 1형).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형제 사망·영아돌연사 가족력, 근친혼.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발달 퇴행, 난치성 신생아 경련(피리독신·PLP·비오틴·세린·크레아틴·GLUT1·몰리브덴 보조인자 결핍 — '치료 가능한 뇌전증').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IEM을 언제 의심하는가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56210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패혈증 검사를 하는 모든 중환 신생아에서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함께 측정하라. 고암모니아혈증 신생아는 '패혈증'으로 치료받다 진단이 늦어지는 경우가 흔하며, 진단 지연 시간이 신경학적 결과를 결정한다.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IEM의 병태생리적 분류 (Saudubray)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1군 –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중독형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분자 축적이 독성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요소회로 이상, 유기산혈증, MSUD, 티로신혈증, 갈락토스혈증, HFI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무증상 간격 후 급성 '중독' 증상, 섭취·이화와 연관, 독성 제거로 치료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2군 –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결핍형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생산·이용 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산화장애, GSD, 포도당신생 결손, 미토콘드리아 질환, 크레아틴·GLUT1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저혈당, 젖산산증, 심근병증, 근긴장저하, 돌연사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3군 –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 분자형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 분자 합성·분해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리소좀·퍼옥시좀 질환, CDG, 콜레스테롤 합성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진행성, 섭취 무관, 이형적 얼굴·장기 비대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응급 검사 묶음과 검체 보관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1차(즉시)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혈당, 혈액가스, 전해질(음이온차),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(얼음, 30분 내), 젖산, 간기능·PT, CK, 요산, 크레아티닌, 혈구, 소변 케톤(스트립), 혈중 βHB.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2차(특수, 결과는 늦지만 채취는 즉시)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혈장 아미노산, 혈장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아실카르니틴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·유리/총 카르니틴(건조혈반 가능),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소변 유기산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·오로트산, 소변 아미노산, 인슐린·C-펩타이드·코르티솔·GH(저혈당 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급성기 혈장·혈청(-20 °C 이하) 및 첫 소변 냉동 보관, 건조혈반 카드, DNA 채취(EDTA) — 치료 시작 후 대사물이 정상화되어 진단 기회를 잃기 때문.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사망이 임박하면 '대사 부검': 피부 섬유모세포 배양, 간·근육 생검 냉동, 혈액·소변·담즙·안방수 보관, 유전체 검사 동의.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 알고리즘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고암모니아혈증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(신생아 &gt;150, 이후 &gt;100 µmol/L):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대사산증·케톤증 동반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유기산혈증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(프로피온산·메틸말론산·이소발레르산; 소변 유기산·C3·C5)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호흡 알칼리증, 산증 없음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요소회로 이상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혈장 시트룰린: 없음·낮음 + 오로트산↑ → OTC / 오로트산 정상 → CPS1·NAGS; 시트룰린 ↑↑ → ASS1; 아르기니노숙신산 → ASL; 아르기닌↑ → ARG1 (B01 L09)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저혈당·저케톤 → 지방산 산화장애(장쇄), HI/HA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미숙아 일과성 고암모니아혈증(TTH; 생후 24시간 내 호흡곤란), 간부전, 단락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 알고리즘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대사산증 + 음이온차 증가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젖산(→ 아래), 케톤(→ 유기산혈증, 케톤 분해 결손 SCOT·β-케토티올레이스, GSD), 비케톤·비젖산(→ 유기산혈증, 독성)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젖산산증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(&gt;3 mmol/L 지속): L/P 비 높음(&gt;25) → 호흡사슬·PC 결핍 / L/P 정상 → PDH 결핍; 공복 시 악화 → 포도당신생 결손(FBPase, PC, GSD I) / 식후 악화 → PDH·호흡사슬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저혈당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케톤·유리지방산 패턴(B04 L03)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간부전형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갈락토스혈증, HFI, 티로신혈증 1형(숙시닐아세톤), 미토콘드리아 DNA 고갈(DGUOK, MPV17, POLG), 신생아 혈색소증(동종면역 — IVIG), 시트린 결핍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진단 알고리즘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경련 + 정상 일반검사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피리독신 시험(100 mg 정주 — 뇌파 감시 하), PLP, 폴린산, 비오틴; CSF/혈장 글리신 비(NKH), CSF 포도당/혈당 비 &lt;0.4(GLUT1), 소변 설파이트(몰리브덴 보조인자 결핍 — 포스데노프테린 치료), 혈장 세린.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 위기 응급 처치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섭취 중단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단백질(1군)·과당/갈락토스(해당 시) 중단 — 단, 단백 중단은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24–48시간 이내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제한(장기 중단은 이화 악화) 후 필수아미노산부터 재개.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이화 억제(동화 유도)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10% 포도당 + 전해질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정주 — 연령별 포도당 투여 속도(신생아 8–10, 소아 6–8 mg/kg/min) → 고혈당 시 포도당 줄이지 말고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 추가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(동화 촉진). 지방유제(1–2 g/kg/일; FAOD는 금기).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독성 대사물 제거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고암모니아: 벤조산나트륨·페닐아세트산나트륨 부하 후 유지, 아르기닌(ASS/ASL),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카글루민산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(NAGS·유기산혈증), 암모니아 &gt;250–500 또는 반응 없으면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혈액투석/CRRT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(복막투석보다 효율 높음).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 위기 응급 처치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유기산혈증: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L-카르니틴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(100 mg/kg/일 이상; 유기산을 아실카르니틴으로 배설), 이소발레르산혈증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글리신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MSUD 투석·BCAA 무첨가 정맥 아미노산 + 이소류신·발린 보충(류신 감소 촉진).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보조인자·비타민 칵테일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(진단 전 경험적): 비오틴(다중 카복실화효소), 하이드록소코발라민(cbl 반응성 MMA), 티아민(MSUD·PDH·미토), 리보플라빈(MADD), 피리독신, 카르니틴.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지지 치료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산증 교정(중탄산은 신중히), 뇌부종 감시(MSUD·UCD — 저장성 수액 피함), 감염 치료, 경련 조절(발프로산 피함 — UCD·미토).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대사 위기 응급 처치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금기·주의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요소회로 이상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발프로산, 고용량 단백, 스테로이드(이화), 저장성 수액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산화장애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지방유제(장쇄), 장기 공복, 에피네프린 지속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질환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발프로산(POLG), 프로포폴 장기 주입, 아미노글리코사이드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HFI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과당·소르비톨·자당 수액·약물 시럽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갈락토스혈증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유당 함유 약물 부형제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PDH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고탄수화물 부하 → 케톤생성식이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아플 때 프로토콜과 장기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카드·편지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진단명, 응급 처치(정주 포도당 속도, 약물), 연락처 — 응급실 방문 시 즉시 제시. 한국 희귀질환 산정특례·응급 정보 공유.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가정 내 '아플 때 식이'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발열·구토 시 단백 감량(50%), 포도당 폴리머 음료 고칼로리 공급, 2–4시간마다; 구토 지속·의식 변화 시 즉시 병원.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장기: 질환별 의료식(아미노산 혼합 분유), 정기적 혈장 아미노산·아실카르니틴 모니터링, 성장·영양(필수아미노산·미량원소 결핍 주의), 신경발달 평가, 간이식(UCD, MSUD, MMA/PA — '대사 교정'), 전환기(소아→성인) 진료, 모성 PKU·임신 관리.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수술·마취 시 사전 계획(공복 최소화, 수술 전부터 포도당 정주).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대사 위기의 신속 유전체 진단(rWGS 48시간)이 치료 결정에 직접 쓰이고, 맞춤형 체내 염기편집이 CPS1 결핍 신생아에게 처음 시행되었다(2025).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유기산혈증·UCD의 mRNA-LNP 효소 보충, 간세포 이식, 장내 미생물 조절(프로피온산 생성 감소)이 위기 빈도를 줄이는 장기 전략으로 연구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비표적 대사체학과 기계학습을 결합한 '단일 혈액 검사 대사 선별'로 수백 IEM을 한 번에 감별하려는 시도가 진행 중이다.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IEM은 무증상 간격 후 수유·이화와 연관된 급성 악화, 설명되지 않는 산증·고암모니아·저혈당·젖산산증에서 의심한다.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중독형(1군)·에너지 결핍형(2군)·복합 분자형(3군)으로 분류하며, 1군은 독성 제거로 치료 가능하다.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암모니아를 포함한 1차 검사와 특수 검사 검체(급성기 혈장·첫 소변·건조혈반)를 치료 전에 확보한다.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처치는 섭취 중단(단기), 고칼로리 포도당 ± 인슐린으로 이화 억제, 질소 제거제·카르니틴·투석, 보조인자 칵테일이다.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응급 카드와 아플 때 프로토콜, 금기 약물 교육이 재발 위기의 예방에 핵심이다.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생후 4일 신생아가 기면·구토로 내원했다. pH 7.18, HCO₃⁻ 10, 음이온차 26, 소변 케톤 강양성, 암모니아 320 µmol/L, 호중구 감소. 우선 의심 질환과 응급 처치는?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유기산혈증(프로피온산혈증 또는 메틸말론산혈증). 단백 섭취를 중단하고 10% 포도당 고속 정주(필요 시 인슐린), L-카르니틴, 카글루민산, 비오틴·하이드록소코발라민을 투여하며, 질소 제거제와 함께 암모니아가 높거나 반응이 없으면 혈액투석을 준비한다. 치료 전 혈장·소변·건조혈반 검체를 확보해 아실카르니틴(C3)·소변 유기산으로 확진한다.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위기 중 정주 포도당으로 혈당이 220 mg/dL까지 올랐다. 포도당 속도를 줄여야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줄이지 않는다. 목표는 혈당 정상화가 아니라 이화 억제와 동화 유도이므로 포도당 공급을 유지하고 인슐린을 추가해 세포 내 포도당 이용과 단백 합성을 촉진한다. 포도당을 줄이면 근육 단백 분해가 다시 증가해 독성 대사물(암모니아, 유기산)이 늘어난다.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산화장애 의심 아동에게 정맥 지질유제를 주지 않는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장쇄 지방산 산화장애에서는 외부 장쇄 지방산이 산화되지 못하고 독성 장쇄 아실-CoA·아실카르니틴으로 축적되어 심근병증·부정맥·횡문근융해를 악화시킬 수 있다. 대신 충분한 포도당으로 지방분해를 억제하고, 필요 시 중쇄지방(MCT)이나 트라이헵타노인을 사용한다.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신생아 난치성 경련에서 진단 전에 피리독신을 시험 투여하는 이유와 주의점은?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피리독신 의존성 뇌전증(ALDH7A1)은 축적된 P6C가 PLP를 불활성화해 GABA 합성 등 PLP 의존 반응이 실패하는 질환으로 피리독신에 극적으로 반응하며 치료하지 않으면 중증 장애가 남는다. 정주 투여 시 무호흡·저혈압이 생길 수 있어 뇌파·호흡 감시 하에 시행하고, 반응이 없으면 PLP(PNPO 결핍)·폴린산도 시험한다.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Saudubray JM, Garcia-Cazorla À. Inborn errors of metabolism overview: pathophysiology, manifestations, evaluation, and management. Pediatr Clin North Am 2018;65:179–208.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Häberle J et al. Suggested guidelines for the diagnosis and management of urea cycle disorders: first revision. J Inherit Metab Dis 2019;42:1192–1230.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B04-L04  ·  소아 선천대사이상의 응급 접근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Forny P et al. Guidelines for the diagnosis and management of methylmalonic acidaemia and propionic acidaemia: first revision. J Inherit Metab Dis 2021;44:566–592.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van Karnebeek CDM, Stockler S. Treatable inborn errors of metabolism causing intellectual disability. Mol Genet Metab 2012;105:368–381.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