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만성 고용량 라파마이신은 mTORC1뿐 아니라 mTORC2까지 억제해 인슐린 저항성·고지혈증·면역억제 부작용을 일으킨다. 간헐·저용량 투여는 mTORC1을 우선 억제하면서 mTORC2를 보존해 부작용을 줄이고, 생쥐에서도 늦은 나이·단기·간헐 투여로 수명 연장과 면역노화 개선(노인 백신 반응 향상)이 관찰되었기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(1) 노화·염증으로 면역세포의 CD38(NAD⁺ 가수분해효소) 발현이 증가해 NAD⁺와 NMN을 소비한다. (2) DNA 손상 누적으로 PARP1이 활성화되어 NAD⁺를 대량 소비한다. 그 외 재활용 경로 효소 NAMPT의 발현 감소(일주기·염증 의존)가 기여한다.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성장호르몬 수용체 결손으로 IGF-1이 매우 낮은 사람들이 암과 2형 당뇨를 거의 겪지 않아, 동물에서 관찰된 GH/IGF-1 축 억제의 건강 효과가 사람에서도 나타남을 보였다. 그러나 사고·알코올 등 다른 원인 사망이 많아 수명 연장 자체는 입증되지 않았고, 표본이 작고 특정 집단에 한정된다.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운동 적응(미토콘드리아 생합성, 인슐린 감수성 향상)은 부분적으로 운동 중 생기는 ROS·에너지 스트레스 신호에 의존한다. 메트포르민이 미토콘드리아 호흡을 약하게 억제하고 대사 신호를 바꿔 이 적응 신호를 둔화시킬 수 있어, MASTERS 시험 등에서 근력·미토콘드리아·인슐린 감수성 향상이 줄어든 것으로 보고되었다.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B04 생애주기의학과 생화학  ·  노화의학과 대사학</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3200" b="1" i="0">
                <a:solidFill>
                  <a:srgbClr val="FFFFFF"/>
                </a:solidFill>
                <a:latin typeface="Malgun Gothic"/>
                <a:ea typeface="Malgun Gothic"/>
                <a:cs typeface="Malgun Gothic"/>
              </a:rPr>
              <a:t>영양 감지 경로와 수명: mTOR, AMPK, 서투인, NAD⁺</a:t>
            </a:r>
          </a:p>
          <a:p>
            <a:r>
              <a:rPr sz="2000" b="0" i="0">
                <a:solidFill>
                  <a:srgbClr val="C2CDD6"/>
                </a:solidFill>
                <a:latin typeface="Malgun Gothic"/>
                <a:ea typeface="Malgun Gothic"/>
                <a:cs typeface="Malgun Gothic"/>
              </a:rPr>
              <a:t>Nutrient-Sensing Pathways and Longevity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B04-L10</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칼로리 제한과 간헐적 단식의 수명·건강 효과와 근거 수준을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인슐린/IGF-1 신호와 FOXO, 성장호르몬 축의 수명 조절을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mTORC1·AMPK의 영양·에너지 감지와 라파마이신·메트포르민의 기전을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서투인과 NAD⁺ 대사(합성·소비·감소)와 NAD⁺ 전구체 연구를 비판적으로 평가한다.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노화 표적 개입의 임상시험 현황(TAME 등)을 이해한다.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칼로리 제한과 단식</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인슐린/IGF-1 신호와 FOXO</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mTOR와 라파마이신</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AMPK와 메트포르민</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서투인과 NAD⁺ 대사</a:t>
            </a:r>
          </a:p>
          <a:p>
            <a:pPr>
              <a:spcAft>
                <a:spcPts val="800"/>
              </a:spcAft>
            </a:pPr>
            <a:r>
              <a:rPr sz="2200" b="1" i="0">
                <a:solidFill>
                  <a:srgbClr val="003C71"/>
                </a:solidFill>
                <a:latin typeface="Malgun Gothic"/>
                <a:ea typeface="Malgun Gothic"/>
                <a:cs typeface="Malgun Gothic"/>
              </a:rPr>
              <a:t>6. </a:t>
            </a:r>
            <a:r>
              <a:rPr sz="2200" b="0" i="0">
                <a:solidFill>
                  <a:srgbClr val="11202B"/>
                </a:solidFill>
                <a:latin typeface="Malgun Gothic"/>
                <a:ea typeface="Malgun Gothic"/>
                <a:cs typeface="Malgun Gothic"/>
              </a:rPr>
              <a:t>노화 표적 개입의 현황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칼로리 제한과 단식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칼로리 제한(CR)</a:t>
            </a:r>
            <a:r>
              <a:rPr sz="1800" b="0" i="0">
                <a:solidFill>
                  <a:srgbClr val="11202B"/>
                </a:solidFill>
                <a:latin typeface="Malgun Gothic"/>
                <a:ea typeface="Malgun Gothic"/>
                <a:cs typeface="Malgun Gothic"/>
              </a:rPr>
              <a:t>: 영양 결핍 없이 섭취 20–40% 감소 → 효모·선충·초파리·설치류에서 수명 연장(최초 McCay 1935).</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영장류: 위스콘신(수명·질환 이득) vs NIA(이득 제한적) — 대조군 식이(자유 섭취 vs 부분 제한) 차이로 해석; 통합 분석에서 이득 확인.</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인간: </a:t>
            </a:r>
            <a:r>
              <a:rPr sz="1800" b="1" i="0">
                <a:solidFill>
                  <a:srgbClr val="11202B"/>
                </a:solidFill>
                <a:latin typeface="Malgun Gothic"/>
                <a:ea typeface="Malgun Gothic"/>
                <a:cs typeface="Malgun Gothic"/>
              </a:rPr>
              <a:t>CALERIE 2</a:t>
            </a:r>
            <a:r>
              <a:rPr sz="1800" b="0" i="0">
                <a:solidFill>
                  <a:srgbClr val="11202B"/>
                </a:solidFill>
                <a:latin typeface="Malgun Gothic"/>
                <a:ea typeface="Malgun Gothic"/>
                <a:cs typeface="Malgun Gothic"/>
              </a:rPr>
              <a:t>(2년 약 12% CR): 심혈관대사 위험인자 개선, 갑상선 T3↓·심부 체온↓(대사 적응), DunedinPACE 감속, 흉선 기능 개선 — 수명 자료는 없음.</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간헐적 단식·시간 제한 식사(TRE)</a:t>
            </a:r>
            <a:r>
              <a:rPr sz="1800" b="0" i="0">
                <a:solidFill>
                  <a:srgbClr val="11202B"/>
                </a:solidFill>
                <a:latin typeface="Malgun Gothic"/>
                <a:ea typeface="Malgun Gothic"/>
                <a:cs typeface="Malgun Gothic"/>
              </a:rPr>
              <a:t>: 동물에서 공복 기간 자체(케톤·자가포식·일주기 동기화)가 이득; 인간 RCT에서 체중 감소는 동일 칼로리 제한과 대체로 비슷.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칼로리 제한과 단식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단식 모방 식이(FMD)</a:t>
            </a:r>
            <a:r>
              <a:rPr sz="2200" b="0" i="0">
                <a:solidFill>
                  <a:srgbClr val="11202B"/>
                </a:solidFill>
                <a:latin typeface="Malgun Gothic"/>
                <a:ea typeface="Malgun Gothic"/>
                <a:cs typeface="Malgun Gothic"/>
              </a:rPr>
              <a:t>, </a:t>
            </a:r>
            <a:r>
              <a:rPr sz="2200" b="1" i="0">
                <a:solidFill>
                  <a:srgbClr val="11202B"/>
                </a:solidFill>
                <a:latin typeface="Malgun Gothic"/>
                <a:ea typeface="Malgun Gothic"/>
                <a:cs typeface="Malgun Gothic"/>
              </a:rPr>
              <a:t>단백질/메티오닌 제한</a:t>
            </a:r>
            <a:r>
              <a:rPr sz="2200" b="0" i="0">
                <a:solidFill>
                  <a:srgbClr val="11202B"/>
                </a:solidFill>
                <a:latin typeface="Malgun Gothic"/>
                <a:ea typeface="Malgun Gothic"/>
                <a:cs typeface="Malgun Gothic"/>
              </a:rPr>
              <a:t>: 동물 수명 연장; 중년의 저단백·고령의 충분한 단백이라는 연령 의존 권고(IGF-1 연관).</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공통 기전: 인슐린/IGF-1↓, mTORC1↓, AMPK↑, 서투인·NAD⁺↑, 자가포식↑, 케톤 신호, 일주기 강화, 염증↓.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인슐린/IGF-1 신호와 FOXO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선충 daf-2(인슐린/IGF 수용체) 돌연변이 → 수명 2배(Kenyon 1993) — 전사인자 </a:t>
            </a:r>
            <a:r>
              <a:rPr sz="2000" b="1" i="0">
                <a:solidFill>
                  <a:srgbClr val="11202B"/>
                </a:solidFill>
                <a:latin typeface="Malgun Gothic"/>
                <a:ea typeface="Malgun Gothic"/>
                <a:cs typeface="Malgun Gothic"/>
              </a:rPr>
              <a:t>DAF-16/FOXO</a:t>
            </a:r>
            <a:r>
              <a:rPr sz="2000" b="0" i="0">
                <a:solidFill>
                  <a:srgbClr val="11202B"/>
                </a:solidFill>
                <a:latin typeface="Malgun Gothic"/>
                <a:ea typeface="Malgun Gothic"/>
                <a:cs typeface="Malgun Gothic"/>
              </a:rPr>
              <a:t> 의존(스트레스 저항·자가포식·대사 유전자).</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초파리 InR, chico; 생쥐 Igf1r 이형접합(암컷), 지방 특이 Insr 결손(FIRKO) 수명 연장.</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GH/IGF-1 축</a:t>
            </a:r>
            <a:r>
              <a:rPr sz="2000" b="0" i="0">
                <a:solidFill>
                  <a:srgbClr val="11202B"/>
                </a:solidFill>
                <a:latin typeface="Malgun Gothic"/>
                <a:ea typeface="Malgun Gothic"/>
                <a:cs typeface="Malgun Gothic"/>
              </a:rPr>
              <a:t>: 에임스·스넬 왜소 생쥐(Prop1, Pit1), </a:t>
            </a:r>
            <a:r>
              <a:rPr sz="2000" b="1" i="0">
                <a:solidFill>
                  <a:srgbClr val="11202B"/>
                </a:solidFill>
                <a:latin typeface="Malgun Gothic"/>
                <a:ea typeface="Malgun Gothic"/>
                <a:cs typeface="Malgun Gothic"/>
              </a:rPr>
              <a:t>GH 수용체 결손 생쥐</a:t>
            </a:r>
            <a:r>
              <a:rPr sz="2000" b="0" i="0">
                <a:solidFill>
                  <a:srgbClr val="11202B"/>
                </a:solidFill>
                <a:latin typeface="Malgun Gothic"/>
                <a:ea typeface="Malgun Gothic"/>
                <a:cs typeface="Malgun Gothic"/>
              </a:rPr>
              <a:t>(라론 생쥐) — 수명 최대 40–50% 연장(포유류 최장 기록).</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사람 </a:t>
            </a:r>
            <a:r>
              <a:rPr sz="1800" b="1" i="0">
                <a:solidFill>
                  <a:srgbClr val="2E3F4C"/>
                </a:solidFill>
                <a:latin typeface="Malgun Gothic"/>
                <a:ea typeface="Malgun Gothic"/>
                <a:cs typeface="Malgun Gothic"/>
              </a:rPr>
              <a:t>라론 증후군</a:t>
            </a:r>
            <a:r>
              <a:rPr sz="1800" b="0" i="0">
                <a:solidFill>
                  <a:srgbClr val="2E3F4C"/>
                </a:solidFill>
                <a:latin typeface="Malgun Gothic"/>
                <a:ea typeface="Malgun Gothic"/>
                <a:cs typeface="Malgun Gothic"/>
              </a:rPr>
              <a:t>(GHR 결손; 에콰도르 코호트): 저신장, </a:t>
            </a:r>
            <a:r>
              <a:rPr sz="1800" b="1" i="0">
                <a:solidFill>
                  <a:srgbClr val="2E3F4C"/>
                </a:solidFill>
                <a:latin typeface="Malgun Gothic"/>
                <a:ea typeface="Malgun Gothic"/>
                <a:cs typeface="Malgun Gothic"/>
              </a:rPr>
              <a:t>암과 2형 당뇨가 거의 없음</a:t>
            </a:r>
            <a:r>
              <a:rPr sz="1800" b="0" i="0">
                <a:solidFill>
                  <a:srgbClr val="2E3F4C"/>
                </a:solidFill>
                <a:latin typeface="Malgun Gothic"/>
                <a:ea typeface="Malgun Gothic"/>
                <a:cs typeface="Malgun Gothic"/>
              </a:rPr>
              <a:t>(인슐린 감수성↑, IGF-1 결핍) — 다만 수명 연장은 불분명.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인슐린/IGF-1 신호와 FOXO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백세인과 장수 가족에서 IGF1R 기능 저하 변이, FOXO3 다형성(가장 재현성 높은 장수 연관 유전자좌, *APOE*와 함께) 보고.</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역설: IGF-1 감소는 암 위험은 낮추지만 노인에서 근감소·심혈관·인지에는 불리할 수 있음 — 연령·조직 의존성.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mTOR와 라파마이신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mTORC1</a:t>
            </a:r>
            <a:r>
              <a:rPr sz="2000" b="0" i="0">
                <a:solidFill>
                  <a:srgbClr val="11202B"/>
                </a:solidFill>
                <a:latin typeface="Malgun Gothic"/>
                <a:ea typeface="Malgun Gothic"/>
                <a:cs typeface="Malgun Gothic"/>
              </a:rPr>
              <a:t> = mTOR + Raptor; 리소좀 표면에서 아미노산(Rag GTPase), 성장인자(AKT–TSC–Rheb), 에너지(AMPK), 산소를 통합(B02 L02).</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활성 시: 단백 합성(S6K, 4E-BP1), 지질·뉴클레오타이드 합성, </a:t>
            </a:r>
            <a:r>
              <a:rPr sz="1800" b="1" i="0">
                <a:solidFill>
                  <a:srgbClr val="2E3F4C"/>
                </a:solidFill>
                <a:latin typeface="Malgun Gothic"/>
                <a:ea typeface="Malgun Gothic"/>
                <a:cs typeface="Malgun Gothic"/>
              </a:rPr>
              <a:t>자가포식 억제</a:t>
            </a:r>
            <a:r>
              <a:rPr sz="1800" b="0" i="0">
                <a:solidFill>
                  <a:srgbClr val="2E3F4C"/>
                </a:solidFill>
                <a:latin typeface="Malgun Gothic"/>
                <a:ea typeface="Malgun Gothic"/>
                <a:cs typeface="Malgun Gothic"/>
              </a:rPr>
              <a:t>(ULK1·TFEB 인산화).</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mTORC2</a:t>
            </a:r>
            <a:r>
              <a:rPr sz="2000" b="0" i="0">
                <a:solidFill>
                  <a:srgbClr val="11202B"/>
                </a:solidFill>
                <a:latin typeface="Malgun Gothic"/>
                <a:ea typeface="Malgun Gothic"/>
                <a:cs typeface="Malgun Gothic"/>
              </a:rPr>
              <a:t> = mTOR + Rictor; AKT Ser473 인산화, 세포골격, 인슐린 감수성.</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라파마이신</a:t>
            </a:r>
            <a:r>
              <a:rPr sz="2000" b="0" i="0">
                <a:solidFill>
                  <a:srgbClr val="11202B"/>
                </a:solidFill>
                <a:latin typeface="Malgun Gothic"/>
                <a:ea typeface="Malgun Gothic"/>
                <a:cs typeface="Malgun Gothic"/>
              </a:rPr>
              <a:t>: FKBP12와 결합해 mTORC1을 알로스테릭 억제(만성 고용량은 mTORC2도 억제 → 고혈당·이상지질 부작용).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mTOR와 라파마이신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포유류 수명 연장이 가장 재현성 있게 입증된 약물</a:t>
            </a:r>
            <a:r>
              <a:rPr sz="1600" b="0" i="0">
                <a:solidFill>
                  <a:srgbClr val="2E3F4C"/>
                </a:solidFill>
                <a:latin typeface="Malgun Gothic"/>
                <a:ea typeface="Malgun Gothic"/>
                <a:cs typeface="Malgun Gothic"/>
              </a:rPr>
              <a:t>: NIA 중재 시험 프로그램(ITP)에서 생쥐 생후 20개월(인간 60세 상당)부터 투여해도 수명 9–14% 연장(Harrison et al., Nature 2009); 단기·간헐 투여도 효과.</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노화 관련 효과: 면역노화 개선(노인 백신 반응 개선 — 에베롤리무스 저용량, Mannick et al.), 심장·난소·치주 노화 지연(동물·개 수명 프로젝트 TRIAD).</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사람: 저용량 간헐 투여(PEARL 시험 — 소규모, 일부 지표 개선) 연구 중; 면역억제·구내염·고지혈증 위험.</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mTORC1 과활성 질환: TSC, 일부 암 → 라파로그(B02 L02).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AMPK와 메트포르민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AMPK</a:t>
            </a:r>
            <a:r>
              <a:rPr sz="1800" b="0" i="0">
                <a:solidFill>
                  <a:srgbClr val="11202B"/>
                </a:solidFill>
                <a:latin typeface="Malgun Gothic"/>
                <a:ea typeface="Malgun Gothic"/>
                <a:cs typeface="Malgun Gothic"/>
              </a:rPr>
              <a:t>(αβγ 이종삼량체): AMP/ADP가 γ소단위 결합 → LKB1이 α Thr172 인산화 → 활성. 포도당 결핍은 알돌라아제–리소좀 경로로도 활성화.</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작용: 이화 증가(지방산 산화 — ACC 인산화, 포도당 흡수 — GLUT4, 미토콘드리아 생합성 — PGC-1α, 자가포식 — ULK1 Ser555), 동화 억제(mTORC1 — TSC2·Raptor 인산화, 지방·콜레스테롤 합성 — ACC·HMGCR·SREBP).</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활성화 요인: 운동, CR, 저산소, 메트포르민, AICAR, 레스베라트롤(간접).</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메트포르민</a:t>
            </a:r>
            <a:r>
              <a:rPr sz="1800" b="0" i="0">
                <a:solidFill>
                  <a:srgbClr val="11202B"/>
                </a:solidFill>
                <a:latin typeface="Malgun Gothic"/>
                <a:ea typeface="Malgun Gothic"/>
                <a:cs typeface="Malgun Gothic"/>
              </a:rPr>
              <a:t>(B04 L05): 간 복합체 I 약한 억제 → AMP↑ → AMPK; AMPK 비의존 기전도 있음.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AMPK와 메트포르민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관찰 연구에서 당뇨 환자 메트포르민 사용자의 사망·암·치매 감소(Bannister 2014 — 비당뇨 대조군보다 생존 양호 보고, 이후 편향 논란).</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생쥐 수명: 일부 균주 소폭 연장, ITP에서는 단독 효과 없음.</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TAME 시험</a:t>
            </a:r>
            <a:r>
              <a:rPr sz="1800" b="0" i="0">
                <a:solidFill>
                  <a:srgbClr val="2E3F4C"/>
                </a:solidFill>
                <a:latin typeface="Malgun Gothic"/>
                <a:ea typeface="Malgun Gothic"/>
                <a:cs typeface="Malgun Gothic"/>
              </a:rPr>
              <a:t>(Targeting Aging with Metformin): 비당뇨 노인에서 다질환(심혈관·암·치매·사망) 발생 지연을 1차 결과로 하는 '노화 표적' 시험 — 노화를 적응증으로 하는 규제 경로의 시험대(재원 문제로 지연).</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주의: 운동과 병용 시 일부 노인에서 운동의 인슐린 감수성·미토콘드리아 적응 효과를 둔화(MASTERS 시험).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서투인과 NAD⁺ 대사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서투인(SIRT1–7)</a:t>
            </a:r>
            <a:r>
              <a:rPr sz="2000" b="0" i="0">
                <a:solidFill>
                  <a:srgbClr val="11202B"/>
                </a:solidFill>
                <a:latin typeface="Malgun Gothic"/>
                <a:ea typeface="Malgun Gothic"/>
                <a:cs typeface="Malgun Gothic"/>
              </a:rPr>
              <a:t>: NAD⁺ 의존 탈아세틸화효소(일부 ADP-리보실·탈석시닐화). SIRT1(핵·세포질; PGC-1α·FOXO·p53·NF-κB 탈아세틸화), SIRT3(미토콘드리아; 대사 효소), SIRT6(DNA 수선·텔로미어·당 대사 — 과발현 수컷 생쥐 수명 연장, 결손 시 조로).</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효모 Sir2 수명 연장 발견(Guarente) 이후 후생동물 수명 효과는 재현성 논쟁(선충·초파리 결과 일부 철회); 레스베라트롤의 SIRT1 직접 활성화는 인공 형광 기질 효과 논란, 고지방식 생쥐 건강 개선은 있으나 정상식 수명 연장 없음.</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NAD⁺ 대사</a:t>
            </a:r>
            <a:r>
              <a:rPr sz="2000" b="0" i="0">
                <a:solidFill>
                  <a:srgbClr val="11202B"/>
                </a:solidFill>
                <a:latin typeface="Malgun Gothic"/>
                <a:ea typeface="Malgun Gothic"/>
                <a:cs typeface="Malgun Gothic"/>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서투인과 NAD⁺ 대사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합성: de novo(트립토판–키뉴레닌; B01 L11), 프라이스-핸들러(나이아신 → NAMN), </a:t>
            </a:r>
            <a:r>
              <a:rPr sz="1800" b="1" i="0">
                <a:solidFill>
                  <a:srgbClr val="2E3F4C"/>
                </a:solidFill>
                <a:latin typeface="Malgun Gothic"/>
                <a:ea typeface="Malgun Gothic"/>
                <a:cs typeface="Malgun Gothic"/>
              </a:rPr>
              <a:t>재활용 경로</a:t>
            </a:r>
            <a:r>
              <a:rPr sz="1800" b="0" i="0">
                <a:solidFill>
                  <a:srgbClr val="2E3F4C"/>
                </a:solidFill>
                <a:latin typeface="Malgun Gothic"/>
                <a:ea typeface="Malgun Gothic"/>
                <a:cs typeface="Malgun Gothic"/>
              </a:rPr>
              <a:t>(니코틴아마이드 → (</a:t>
            </a:r>
            <a:r>
              <a:rPr sz="1800" b="1" i="0">
                <a:solidFill>
                  <a:srgbClr val="2E3F4C"/>
                </a:solidFill>
                <a:latin typeface="Malgun Gothic"/>
                <a:ea typeface="Malgun Gothic"/>
                <a:cs typeface="Malgun Gothic"/>
              </a:rPr>
              <a:t>NAMPT</a:t>
            </a:r>
            <a:r>
              <a:rPr sz="1800" b="0" i="0">
                <a:solidFill>
                  <a:srgbClr val="2E3F4C"/>
                </a:solidFill>
                <a:latin typeface="Malgun Gothic"/>
                <a:ea typeface="Malgun Gothic"/>
                <a:cs typeface="Malgun Gothic"/>
              </a:rPr>
              <a:t>, 속도결정) NMN → (NMNAT) NAD⁺), NR → (NRK) NMN.</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소비: 서투인, </a:t>
            </a:r>
            <a:r>
              <a:rPr sz="1800" b="1" i="0">
                <a:solidFill>
                  <a:srgbClr val="2E3F4C"/>
                </a:solidFill>
                <a:latin typeface="Malgun Gothic"/>
                <a:ea typeface="Malgun Gothic"/>
                <a:cs typeface="Malgun Gothic"/>
              </a:rPr>
              <a:t>PARP</a:t>
            </a:r>
            <a:r>
              <a:rPr sz="1800" b="0" i="0">
                <a:solidFill>
                  <a:srgbClr val="2E3F4C"/>
                </a:solidFill>
                <a:latin typeface="Malgun Gothic"/>
                <a:ea typeface="Malgun Gothic"/>
                <a:cs typeface="Malgun Gothic"/>
              </a:rPr>
              <a:t>(DNA 손상 시 대량 소비), </a:t>
            </a:r>
            <a:r>
              <a:rPr sz="1800" b="1" i="0">
                <a:solidFill>
                  <a:srgbClr val="2E3F4C"/>
                </a:solidFill>
                <a:latin typeface="Malgun Gothic"/>
                <a:ea typeface="Malgun Gothic"/>
                <a:cs typeface="Malgun Gothic"/>
              </a:rPr>
              <a:t>CD38</a:t>
            </a:r>
            <a:r>
              <a:rPr sz="1800" b="0" i="0">
                <a:solidFill>
                  <a:srgbClr val="2E3F4C"/>
                </a:solidFill>
                <a:latin typeface="Malgun Gothic"/>
                <a:ea typeface="Malgun Gothic"/>
                <a:cs typeface="Malgun Gothic"/>
              </a:rPr>
              <a:t>(면역세포 NADase; 노화·염증 시 증가 → NAD⁺ 감소의 주원인 후보), SARM1(축삭 퇴행).</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노화에 따라 여러 조직에서 NAD⁺ 감소(측정법에 따라 차이; 감소폭 10–50%).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서투인과 NAD⁺ 대사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NAD⁺ 전구체(NR, NMN)</a:t>
            </a:r>
            <a:r>
              <a:rPr sz="2000" b="0" i="0">
                <a:solidFill>
                  <a:srgbClr val="11202B"/>
                </a:solidFill>
                <a:latin typeface="Malgun Gothic"/>
                <a:ea typeface="Malgun Gothic"/>
                <a:cs typeface="Malgun Gothic"/>
              </a:rPr>
              <a:t>: 생쥐에서 미토콘드리아·근육·혈관·인지 개선 보고. 인간 RCT: 혈중 NAD⁺ 대사물은 크게 증가하지만 근육 NAD⁺ 증가·인슐린 감수성·근기능 개선은 대부분 미미하거나 음성; 일부 소규모 이득(보행, 혈압 등). 장기 안전성(암 성장 가능성 이론적 우려) 미확정.</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질병 모델 근거가 더 강한 영역: 미토콘드리아 근병증(나이아신 고용량 — Pirinen et al., 2020), 급성 신손상, 축삭 손상(SARM1 억제).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서투인과 NAD⁺ 대사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15</a:t>
            </a:r>
          </a:p>
        </p:txBody>
      </p:sp>
      <p:sp>
        <p:nvSpPr>
          <p:cNvPr id="7" name="Rectangle 6"/>
          <p:cNvSpPr/>
          <p:nvPr/>
        </p:nvSpPr>
        <p:spPr>
          <a:xfrm>
            <a:off x="640080" y="1325880"/>
            <a:ext cx="10881360" cy="1930400"/>
          </a:xfrm>
          <a:prstGeom prst="rect">
            <a:avLst/>
          </a:prstGeom>
          <a:solidFill>
            <a:srgbClr val="FFF5D6"/>
          </a:solidFill>
          <a:ln>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9A6B00"/>
                </a:solidFill>
                <a:latin typeface="Malgun Gothic"/>
                <a:ea typeface="Malgun Gothic"/>
                <a:cs typeface="Malgun Gothic"/>
              </a:rPr>
              <a:t>핵심  </a:t>
            </a:r>
            <a:r>
              <a:rPr sz="2000" b="0" i="0">
                <a:solidFill>
                  <a:srgbClr val="11202B"/>
                </a:solidFill>
                <a:latin typeface="Malgun Gothic"/>
                <a:ea typeface="Malgun Gothic"/>
                <a:cs typeface="Malgun Gothic"/>
              </a:rPr>
              <a:t>영양 감지 경로는 서로 얽혀 있다: CR·운동 → AMPK↑·mTORC1↓·NAD⁺/SIRT↑·IIS↓ → 자가포식·미토콘드리아 품질·스트레스 저항 → 건강 수명. 한 경로를 약물로 '해킹'하면 다른 경로의 대가(면역억제, 근육 동화 저하)가 따를 수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노화 표적 개입의 현황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16</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개입</a:t>
                      </a:r>
                    </a:p>
                  </a:txBody>
                  <a:tcPr marL="73152" marR="73152">
                    <a:solidFill>
                      <a:srgbClr val="003C71"/>
                    </a:solidFill>
                  </a:tcPr>
                </a:tc>
                <a:tc>
                  <a:txBody>
                    <a:bodyPr/>
                    <a:lstStyle/>
                    <a:p>
                      <a:r>
                        <a:rPr sz="1500" b="1" i="0">
                          <a:solidFill>
                            <a:srgbClr val="FFFFFF"/>
                          </a:solidFill>
                          <a:latin typeface="Malgun Gothic"/>
                          <a:ea typeface="Malgun Gothic"/>
                          <a:cs typeface="Malgun Gothic"/>
                        </a:rPr>
                        <a:t>동물 근거</a:t>
                      </a:r>
                    </a:p>
                  </a:txBody>
                  <a:tcPr marL="73152" marR="73152">
                    <a:solidFill>
                      <a:srgbClr val="003C71"/>
                    </a:solidFill>
                  </a:tcPr>
                </a:tc>
                <a:tc>
                  <a:txBody>
                    <a:bodyPr/>
                    <a:lstStyle/>
                    <a:p>
                      <a:r>
                        <a:rPr sz="1500" b="1" i="0">
                          <a:solidFill>
                            <a:srgbClr val="FFFFFF"/>
                          </a:solidFill>
                          <a:latin typeface="Malgun Gothic"/>
                          <a:ea typeface="Malgun Gothic"/>
                          <a:cs typeface="Malgun Gothic"/>
                        </a:rPr>
                        <a:t>인간 근거</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칼로리 제한</a:t>
                      </a:r>
                    </a:p>
                  </a:txBody>
                  <a:tcPr marL="73152" marR="73152">
                    <a:solidFill>
                      <a:srgbClr val="FFFFFF"/>
                    </a:solidFill>
                  </a:tcPr>
                </a:tc>
                <a:tc>
                  <a:txBody>
                    <a:bodyPr/>
                    <a:lstStyle/>
                    <a:p>
                      <a:r>
                        <a:rPr sz="1500" b="0" i="0">
                          <a:solidFill>
                            <a:srgbClr val="11202B"/>
                          </a:solidFill>
                          <a:latin typeface="Malgun Gothic"/>
                          <a:ea typeface="Malgun Gothic"/>
                          <a:cs typeface="Malgun Gothic"/>
                        </a:rPr>
                        <a:t>강함</a:t>
                      </a:r>
                    </a:p>
                  </a:txBody>
                  <a:tcPr marL="73152" marR="73152">
                    <a:solidFill>
                      <a:srgbClr val="FFFFFF"/>
                    </a:solidFill>
                  </a:tcPr>
                </a:tc>
                <a:tc>
                  <a:txBody>
                    <a:bodyPr/>
                    <a:lstStyle/>
                    <a:p>
                      <a:r>
                        <a:rPr sz="1500" b="0" i="0">
                          <a:solidFill>
                            <a:srgbClr val="11202B"/>
                          </a:solidFill>
                          <a:latin typeface="Malgun Gothic"/>
                          <a:ea typeface="Malgun Gothic"/>
                          <a:cs typeface="Malgun Gothic"/>
                        </a:rPr>
                        <a:t>위험인자 개선(CALERIE), 수명 미확인</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운동</a:t>
                      </a:r>
                    </a:p>
                  </a:txBody>
                  <a:tcPr marL="73152" marR="73152">
                    <a:solidFill>
                      <a:srgbClr val="ECF1F5"/>
                    </a:solidFill>
                  </a:tcPr>
                </a:tc>
                <a:tc>
                  <a:txBody>
                    <a:bodyPr/>
                    <a:lstStyle/>
                    <a:p>
                      <a:r>
                        <a:rPr sz="1500" b="0" i="0">
                          <a:solidFill>
                            <a:srgbClr val="11202B"/>
                          </a:solidFill>
                          <a:latin typeface="Malgun Gothic"/>
                          <a:ea typeface="Malgun Gothic"/>
                          <a:cs typeface="Malgun Gothic"/>
                        </a:rPr>
                        <a:t>강함</a:t>
                      </a:r>
                    </a:p>
                  </a:txBody>
                  <a:tcPr marL="73152" marR="73152">
                    <a:solidFill>
                      <a:srgbClr val="ECF1F5"/>
                    </a:solidFill>
                  </a:tcPr>
                </a:tc>
                <a:tc>
                  <a:txBody>
                    <a:bodyPr/>
                    <a:lstStyle/>
                    <a:p>
                      <a:r>
                        <a:rPr sz="1500" b="1" i="0">
                          <a:solidFill>
                            <a:srgbClr val="11202B"/>
                          </a:solidFill>
                          <a:latin typeface="Malgun Gothic"/>
                          <a:ea typeface="Malgun Gothic"/>
                          <a:cs typeface="Malgun Gothic"/>
                        </a:rPr>
                        <a:t>가장 강력한 인간 근거</a:t>
                      </a:r>
                      <a:r>
                        <a:rPr sz="1500" b="0" i="0">
                          <a:solidFill>
                            <a:srgbClr val="11202B"/>
                          </a:solidFill>
                          <a:latin typeface="Malgun Gothic"/>
                          <a:ea typeface="Malgun Gothic"/>
                          <a:cs typeface="Malgun Gothic"/>
                        </a:rPr>
                        <a:t>(사망률 30–50% 감소 관찰; VO₂max가 사망 최강 예측인자 중 하나)</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라파마이신/라파로그</a:t>
                      </a:r>
                    </a:p>
                  </a:txBody>
                  <a:tcPr marL="73152" marR="73152">
                    <a:solidFill>
                      <a:srgbClr val="FFFFFF"/>
                    </a:solidFill>
                  </a:tcPr>
                </a:tc>
                <a:tc>
                  <a:txBody>
                    <a:bodyPr/>
                    <a:lstStyle/>
                    <a:p>
                      <a:r>
                        <a:rPr sz="1500" b="0" i="0">
                          <a:solidFill>
                            <a:srgbClr val="11202B"/>
                          </a:solidFill>
                          <a:latin typeface="Malgun Gothic"/>
                          <a:ea typeface="Malgun Gothic"/>
                          <a:cs typeface="Malgun Gothic"/>
                        </a:rPr>
                        <a:t>강함(ITP)</a:t>
                      </a:r>
                    </a:p>
                  </a:txBody>
                  <a:tcPr marL="73152" marR="73152">
                    <a:solidFill>
                      <a:srgbClr val="FFFFFF"/>
                    </a:solidFill>
                  </a:tcPr>
                </a:tc>
                <a:tc>
                  <a:txBody>
                    <a:bodyPr/>
                    <a:lstStyle/>
                    <a:p>
                      <a:r>
                        <a:rPr sz="1500" b="0" i="0">
                          <a:solidFill>
                            <a:srgbClr val="11202B"/>
                          </a:solidFill>
                          <a:latin typeface="Malgun Gothic"/>
                          <a:ea typeface="Malgun Gothic"/>
                          <a:cs typeface="Malgun Gothic"/>
                        </a:rPr>
                        <a:t>면역노화 개선 소규모, 진행 중</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메트포르민</a:t>
                      </a:r>
                    </a:p>
                  </a:txBody>
                  <a:tcPr marL="73152" marR="73152">
                    <a:solidFill>
                      <a:srgbClr val="ECF1F5"/>
                    </a:solidFill>
                  </a:tcPr>
                </a:tc>
                <a:tc>
                  <a:txBody>
                    <a:bodyPr/>
                    <a:lstStyle/>
                    <a:p>
                      <a:r>
                        <a:rPr sz="1500" b="0" i="0">
                          <a:solidFill>
                            <a:srgbClr val="11202B"/>
                          </a:solidFill>
                          <a:latin typeface="Malgun Gothic"/>
                          <a:ea typeface="Malgun Gothic"/>
                          <a:cs typeface="Malgun Gothic"/>
                        </a:rPr>
                        <a:t>혼재</a:t>
                      </a:r>
                    </a:p>
                  </a:txBody>
                  <a:tcPr marL="73152" marR="73152">
                    <a:solidFill>
                      <a:srgbClr val="ECF1F5"/>
                    </a:solidFill>
                  </a:tcPr>
                </a:tc>
                <a:tc>
                  <a:txBody>
                    <a:bodyPr/>
                    <a:lstStyle/>
                    <a:p>
                      <a:r>
                        <a:rPr sz="1500" b="0" i="0">
                          <a:solidFill>
                            <a:srgbClr val="11202B"/>
                          </a:solidFill>
                          <a:latin typeface="Malgun Gothic"/>
                          <a:ea typeface="Malgun Gothic"/>
                          <a:cs typeface="Malgun Gothic"/>
                        </a:rPr>
                        <a:t>관찰 근거, TAME 미시행</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아카보스, 17α-에스트라디올, 카나글리플로진</a:t>
                      </a:r>
                    </a:p>
                  </a:txBody>
                  <a:tcPr marL="73152" marR="73152">
                    <a:solidFill>
                      <a:srgbClr val="FFFFFF"/>
                    </a:solidFill>
                  </a:tcPr>
                </a:tc>
                <a:tc>
                  <a:txBody>
                    <a:bodyPr/>
                    <a:lstStyle/>
                    <a:p>
                      <a:r>
                        <a:rPr sz="1500" b="0" i="0">
                          <a:solidFill>
                            <a:srgbClr val="11202B"/>
                          </a:solidFill>
                          <a:latin typeface="Malgun Gothic"/>
                          <a:ea typeface="Malgun Gothic"/>
                          <a:cs typeface="Malgun Gothic"/>
                        </a:rPr>
                        <a:t>ITP 수컷 수명 연장</a:t>
                      </a:r>
                    </a:p>
                  </a:txBody>
                  <a:tcPr marL="73152" marR="73152">
                    <a:solidFill>
                      <a:srgbClr val="FFFFFF"/>
                    </a:solidFill>
                  </a:tcPr>
                </a:tc>
                <a:tc>
                  <a:txBody>
                    <a:bodyPr/>
                    <a:lstStyle/>
                    <a:p>
                      <a:r>
                        <a:rPr sz="1500" b="0" i="0">
                          <a:solidFill>
                            <a:srgbClr val="11202B"/>
                          </a:solidFill>
                          <a:latin typeface="Malgun Gothic"/>
                          <a:ea typeface="Malgun Gothic"/>
                          <a:cs typeface="Malgun Gothic"/>
                        </a:rPr>
                        <a:t>미검증</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SGLT2i, GLP-1 RA</a:t>
                      </a:r>
                    </a:p>
                  </a:txBody>
                  <a:tcPr marL="73152" marR="73152">
                    <a:solidFill>
                      <a:srgbClr val="ECF1F5"/>
                    </a:solidFill>
                  </a:tcPr>
                </a:tc>
                <a:tc>
                  <a:txBody>
                    <a:bodyPr/>
                    <a:lstStyle/>
                    <a:p>
                      <a:r>
                        <a:rPr sz="1500" b="0" i="0">
                          <a:solidFill>
                            <a:srgbClr val="11202B"/>
                          </a:solidFill>
                          <a:latin typeface="Malgun Gothic"/>
                          <a:ea typeface="Malgun Gothic"/>
                          <a:cs typeface="Malgun Gothic"/>
                        </a:rPr>
                        <a:t>일부</a:t>
                      </a:r>
                    </a:p>
                  </a:txBody>
                  <a:tcPr marL="73152" marR="73152">
                    <a:solidFill>
                      <a:srgbClr val="ECF1F5"/>
                    </a:solidFill>
                  </a:tcPr>
                </a:tc>
                <a:tc>
                  <a:txBody>
                    <a:bodyPr/>
                    <a:lstStyle/>
                    <a:p>
                      <a:r>
                        <a:rPr sz="1500" b="0" i="0">
                          <a:solidFill>
                            <a:srgbClr val="11202B"/>
                          </a:solidFill>
                          <a:latin typeface="Malgun Gothic"/>
                          <a:ea typeface="Malgun Gothic"/>
                          <a:cs typeface="Malgun Gothic"/>
                        </a:rPr>
                        <a:t>다장기 사망 감소(당뇨·비만·심부전·CKD) — '노화 표적 약물' 후보로 논의</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세놀리틱스</a:t>
                      </a:r>
                    </a:p>
                  </a:txBody>
                  <a:tcPr marL="73152" marR="73152">
                    <a:solidFill>
                      <a:srgbClr val="FFFFFF"/>
                    </a:solidFill>
                  </a:tcPr>
                </a:tc>
                <a:tc>
                  <a:txBody>
                    <a:bodyPr/>
                    <a:lstStyle/>
                    <a:p>
                      <a:r>
                        <a:rPr sz="1500" b="0" i="0">
                          <a:solidFill>
                            <a:srgbClr val="11202B"/>
                          </a:solidFill>
                          <a:latin typeface="Malgun Gothic"/>
                          <a:ea typeface="Malgun Gothic"/>
                          <a:cs typeface="Malgun Gothic"/>
                        </a:rPr>
                        <a:t>강함</a:t>
                      </a:r>
                    </a:p>
                  </a:txBody>
                  <a:tcPr marL="73152" marR="73152">
                    <a:solidFill>
                      <a:srgbClr val="FFFFFF"/>
                    </a:solidFill>
                  </a:tcPr>
                </a:tc>
                <a:tc>
                  <a:txBody>
                    <a:bodyPr/>
                    <a:lstStyle/>
                    <a:p>
                      <a:r>
                        <a:rPr sz="1500" b="0" i="0">
                          <a:solidFill>
                            <a:srgbClr val="11202B"/>
                          </a:solidFill>
                          <a:latin typeface="Malgun Gothic"/>
                          <a:ea typeface="Malgun Gothic"/>
                          <a:cs typeface="Malgun Gothic"/>
                        </a:rPr>
                        <a:t>초기</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NAD⁺ 전구체</a:t>
                      </a:r>
                    </a:p>
                  </a:txBody>
                  <a:tcPr marL="73152" marR="73152">
                    <a:solidFill>
                      <a:srgbClr val="ECF1F5"/>
                    </a:solidFill>
                  </a:tcPr>
                </a:tc>
                <a:tc>
                  <a:txBody>
                    <a:bodyPr/>
                    <a:lstStyle/>
                    <a:p>
                      <a:r>
                        <a:rPr sz="1500" b="0" i="0">
                          <a:solidFill>
                            <a:srgbClr val="11202B"/>
                          </a:solidFill>
                          <a:latin typeface="Malgun Gothic"/>
                          <a:ea typeface="Malgun Gothic"/>
                          <a:cs typeface="Malgun Gothic"/>
                        </a:rPr>
                        <a:t>중간</a:t>
                      </a:r>
                    </a:p>
                  </a:txBody>
                  <a:tcPr marL="73152" marR="73152">
                    <a:solidFill>
                      <a:srgbClr val="ECF1F5"/>
                    </a:solidFill>
                  </a:tcPr>
                </a:tc>
                <a:tc>
                  <a:txBody>
                    <a:bodyPr/>
                    <a:lstStyle/>
                    <a:p>
                      <a:r>
                        <a:rPr sz="1500" b="0" i="0">
                          <a:solidFill>
                            <a:srgbClr val="11202B"/>
                          </a:solidFill>
                          <a:latin typeface="Malgun Gothic"/>
                          <a:ea typeface="Malgun Gothic"/>
                          <a:cs typeface="Malgun Gothic"/>
                        </a:rPr>
                        <a:t>대체로 미미</a:t>
                      </a:r>
                    </a:p>
                  </a:txBody>
                  <a:tcPr marL="73152" marR="73152">
                    <a:solidFill>
                      <a:srgbClr val="ECF1F5"/>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노화 표적 개입의 현황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17</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개입</a:t>
                      </a:r>
                    </a:p>
                  </a:txBody>
                  <a:tcPr marL="73152" marR="73152">
                    <a:solidFill>
                      <a:srgbClr val="003C71"/>
                    </a:solidFill>
                  </a:tcPr>
                </a:tc>
                <a:tc>
                  <a:txBody>
                    <a:bodyPr/>
                    <a:lstStyle/>
                    <a:p>
                      <a:r>
                        <a:rPr sz="1500" b="1" i="0">
                          <a:solidFill>
                            <a:srgbClr val="FFFFFF"/>
                          </a:solidFill>
                          <a:latin typeface="Malgun Gothic"/>
                          <a:ea typeface="Malgun Gothic"/>
                          <a:cs typeface="Malgun Gothic"/>
                        </a:rPr>
                        <a:t>동물 근거</a:t>
                      </a:r>
                    </a:p>
                  </a:txBody>
                  <a:tcPr marL="73152" marR="73152">
                    <a:solidFill>
                      <a:srgbClr val="003C71"/>
                    </a:solidFill>
                  </a:tcPr>
                </a:tc>
                <a:tc>
                  <a:txBody>
                    <a:bodyPr/>
                    <a:lstStyle/>
                    <a:p>
                      <a:r>
                        <a:rPr sz="1500" b="1" i="0">
                          <a:solidFill>
                            <a:srgbClr val="FFFFFF"/>
                          </a:solidFill>
                          <a:latin typeface="Malgun Gothic"/>
                          <a:ea typeface="Malgun Gothic"/>
                          <a:cs typeface="Malgun Gothic"/>
                        </a:rPr>
                        <a:t>인간 근거</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타우린 보충</a:t>
                      </a:r>
                    </a:p>
                  </a:txBody>
                  <a:tcPr marL="73152" marR="73152">
                    <a:solidFill>
                      <a:srgbClr val="FFFFFF"/>
                    </a:solidFill>
                  </a:tcPr>
                </a:tc>
                <a:tc>
                  <a:txBody>
                    <a:bodyPr/>
                    <a:lstStyle/>
                    <a:p>
                      <a:r>
                        <a:rPr sz="1500" b="0" i="0">
                          <a:solidFill>
                            <a:srgbClr val="11202B"/>
                          </a:solidFill>
                          <a:latin typeface="Malgun Gothic"/>
                          <a:ea typeface="Malgun Gothic"/>
                          <a:cs typeface="Malgun Gothic"/>
                        </a:rPr>
                        <a:t>생쥐·원숭이(Singh et al., Science 2023)</a:t>
                      </a:r>
                    </a:p>
                  </a:txBody>
                  <a:tcPr marL="73152" marR="73152">
                    <a:solidFill>
                      <a:srgbClr val="FFFFFF"/>
                    </a:solidFill>
                  </a:tcPr>
                </a:tc>
                <a:tc>
                  <a:txBody>
                    <a:bodyPr/>
                    <a:lstStyle/>
                    <a:p>
                      <a:r>
                        <a:rPr sz="1500" b="0" i="0">
                          <a:solidFill>
                            <a:srgbClr val="11202B"/>
                          </a:solidFill>
                          <a:latin typeface="Malgun Gothic"/>
                          <a:ea typeface="Malgun Gothic"/>
                          <a:cs typeface="Malgun Gothic"/>
                        </a:rPr>
                        <a:t>미검증</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젊은 혈장·혈장교환</a:t>
                      </a:r>
                    </a:p>
                  </a:txBody>
                  <a:tcPr marL="73152" marR="73152">
                    <a:solidFill>
                      <a:srgbClr val="ECF1F5"/>
                    </a:solidFill>
                  </a:tcPr>
                </a:tc>
                <a:tc>
                  <a:txBody>
                    <a:bodyPr/>
                    <a:lstStyle/>
                    <a:p>
                      <a:r>
                        <a:rPr sz="1500" b="0" i="0">
                          <a:solidFill>
                            <a:srgbClr val="11202B"/>
                          </a:solidFill>
                          <a:latin typeface="Malgun Gothic"/>
                          <a:ea typeface="Malgun Gothic"/>
                          <a:cs typeface="Malgun Gothic"/>
                        </a:rPr>
                        <a:t>생쥐(혈장 희석 효과)</a:t>
                      </a:r>
                    </a:p>
                  </a:txBody>
                  <a:tcPr marL="73152" marR="73152">
                    <a:solidFill>
                      <a:srgbClr val="ECF1F5"/>
                    </a:solidFill>
                  </a:tcPr>
                </a:tc>
                <a:tc>
                  <a:txBody>
                    <a:bodyPr/>
                    <a:lstStyle/>
                    <a:p>
                      <a:r>
                        <a:rPr sz="1500" b="0" i="0">
                          <a:solidFill>
                            <a:srgbClr val="11202B"/>
                          </a:solidFill>
                          <a:latin typeface="Malgun Gothic"/>
                          <a:ea typeface="Malgun Gothic"/>
                          <a:cs typeface="Malgun Gothic"/>
                        </a:rPr>
                        <a:t>초기·상업적 남용 우려</a:t>
                      </a:r>
                    </a:p>
                  </a:txBody>
                  <a:tcPr marL="73152" marR="73152">
                    <a:solidFill>
                      <a:srgbClr val="ECF1F5"/>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ITP의 성별 특이 결과(아카보스·17α-에스트라디올·카나글리플로진은 수컷에만 효과)는 노화 개입의 성 이형성을 보여준다.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반려견 노화 프로젝트(Dog Aging Project)의 라파마이신 시험, 대형 동물 노화 연구가 사람 전 단계로 진행 중이다.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노화 시계·다중오믹스를 대리 지표로 한 '노화 임상시험' 설계 표준(예: XPRIZE Healthspan)이 논의되고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칼로리 제한은 여러 종에서 수명을 늘리고 인간에서는 위험인자·노화 속도 지표를 개선한다.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IIS 감소(daf-2, GH 수용체 결손)는 FOXO 의존적으로 수명을 늘리며, 라론 증후군은 암·당뇨 보호를 보인다.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mTORC1 억제(라파마이신)는 포유류 수명 연장이 가장 재현성 있게 입증된 약리 개입이다.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AMPK는 에너지 결핍 시 이화·자가포식을 켜며 메트포르민·운동이 활성화한다.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서투인·NAD⁺ 축은 노화와 연관되나 전구체의 인간 효과는 아직 제한적이며, 운동이 가장 강력한 인간 근거를 가진 개입이다.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라파마이신을 노인에게 저용량·간헐적으로 투여하자는 제안의 근거는?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만성 고용량 라파마이신은 mTORC1뿐 아니라 mTORC2까지 억제해 인슐린 저항성·고지혈증·면역억제 부작용을 일으킨다. 간헐·저용량 투여는 mTORC1을 우선 억제하면서 mTORC2를 보존해 부작용을 줄이고, 생쥐에서도 늦은 나이·단기·간헐 투여로 수명 연장과 면역노화 개선(노인 백신 반응 향상)이 관찰되었기 때문이다.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노화에 따라 NAD⁺가 감소하는 기전으로 제시되는 것 두 가지는?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(1) 노화·염증으로 면역세포의 CD38(NAD⁺ 가수분해효소) 발현이 증가해 NAD⁺와 NMN을 소비한다. (2) DNA 손상 누적으로 PARP1이 활성화되어 NAD⁺를 대량 소비한다. 그 외 재활용 경로 효소 NAMPT의 발현 감소(일주기·염증 의존)가 기여한다.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라론 증후군 코호트가 노화 연구에서 주목받는 이유와 해석상 한계는?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성장호르몬 수용체 결손으로 IGF-1이 매우 낮은 사람들이 암과 2형 당뇨를 거의 겪지 않아, 동물에서 관찰된 GH/IGF-1 축 억제의 건강 효과가 사람에서도 나타남을 보였다. 그러나 사고·알코올 등 다른 원인 사망이 많아 수명 연장 자체는 입증되지 않았고, 표본이 작고 특정 집단에 한정된다.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메트포르민과 운동을 함께 하면 노인에서 운동의 일부 이득이 감소할 수 있는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운동 적응(미토콘드리아 생합성, 인슐린 감수성 향상)은 부분적으로 운동 중 생기는 ROS·에너지 스트레스 신호에 의존한다. 메트포르민이 미토콘드리아 호흡을 약하게 억제하고 대사 신호를 바꿔 이 적응 신호를 둔화시킬 수 있어, MASTERS 시험 등에서 근력·미토콘드리아·인슐린 감수성 향상이 줄어든 것으로 보고되었다.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Fontana L, Partridge L. Promoting health and longevity through diet: from model organisms to humans. Cell 2015;161:106–118.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Harrison DE et al. Rapamycin fed late in life extends lifespan in genetically heterogeneous mice. Nature 2009;460:392–395.</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Covarrubias AJ et al. NAD⁺ metabolism and its roles in cellular processes during ageing. Nat Rev Mol Cell Biol 2021;22:119–141.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B04-L10  ·  영양 감지 경로와 수명: mTOR, AMPK, 서투인, NAD⁺</a:t>
            </a:r>
            <a:r>
              <a:rPr sz="10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Kraus WE et al. 2 years of calorie restriction and cardiometabolic risk (CALERIE). Lancet Diabetes Endocrinol 2019;7:673–683.</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Barzilai N et al. Metformin as a tool to target aging. Cell Metab 2016;23:1060–1065.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