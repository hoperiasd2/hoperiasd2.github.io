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33"/>
    <p:sldId id="283" r:id="rId34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8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Cyto/Seq 콘솔 코스 전체 개요. 앞 두 탭은 실험(FACS), 나머지는 계산(scRNA-seq) 파이프라인.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FACS는 저차원·고속·분리 가능, scRNA-seq는 고차원·탐색적. 둘은 상호보완.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실험 파트: 유세포분석기 워크플로우와 게이팅.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7단계 전체 지도. 순서 자체가 데이터 품질의 논리적 의존관계.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1~4는 '전제 조건' 단계. 특히 QC·컴펜세이션을 빼먹으면 이후 모든 해석이 무너진다.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5~7은 왜곡(coincidence)과 오염(carryover) 방지. 이벤트가 진짜 단일 세포라는 전제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FSC=크기, SSC=내부 과립도. 첫 게이트는 debris 제거.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게이팅 순서 = 필터 논리. 계통 마커는 정제된 단일·생존 세포에서만 의미.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Spillover는 채널 스펙트럼 겹침. 단독염색 대조군으로 보정행렬 산출 후 적용.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계산 파트: 브라우저에서 R 없이 도는 Seurat 스타일 파이프라인.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Bulk 평균의 한계 → 세포 해상도의 필요성.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6단계 지도. 오른쪽은 대응하는 Seurat/Scanpy 함수. 이후 슬라이드에서 하나씩.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핵심: 클러스터 정체성은 특정 유전자 하나가 아니라 10차원 factor 공간의 '방향'. 그래서 PCA를 돌려야 그 축이 드러난다.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QC를 스킵하면 debris·죽은 세포가 클러스터로 잡혀 가짜 집단을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정규화는 '깊이 차이'를 제거하고, HVG는 '정보 있는 유전자'만 남겨 다음 PCA를 선명하게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PCA는 선형, 분산 기준으로 축을 발견. 클러스터링은 이 PC 공간에서 수행.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t-SNE 원리와 한계. 거리 해석 금지. UMAP은 알고리즘은 다르나 목적 동일.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클러스터 수는 결과이지 입력이 아니다. resolution↑ → 더 잘게. Louvain/Leiden 계열.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클러스터 = 데이터에서 발견, 마커 = 통계로 검증. Seurat FindAllMarkers 기본 방식과 동일.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클러스터·마커를 생물학적 의미로 확장하는 파트.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annotation은 marker evidence → interpretation → hypothesis. Seurat: FindAllMarkers 후 slice_max로 상위 마커.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Downstream: 질문 → 입력 → 통계 → 시각화 → 해석. 질문마다 도구가 다르다.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Pseudotime ≠ 실제 시간. root 가정에 민감. lineage 확정은 별도 근거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Sort-then-seq: FACS 정렬 + scRNA-seq. 두 렌즈의 결합.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요약: QC·클러스터수·마커검증 원칙 3 + 오해 3(거리/시간/가설).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마무리: 전체 파이프라인 한 줄 요약.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E6C0"/>
          </a:solidFill>
          <a:ln/>
        </p:spPr>
      </p:sp>
      <p:sp>
        <p:nvSpPr>
          <p:cNvPr id="7" name="Shape 5"/>
          <p:cNvSpPr/>
          <p:nvPr/>
        </p:nvSpPr>
        <p:spPr>
          <a:xfrm>
            <a:off x="8597704" y="541407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857911" y="2124384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42101" y="1933049"/>
            <a:ext cx="54864" cy="54864"/>
          </a:xfrm>
          <a:prstGeom prst="ellipse">
            <a:avLst/>
          </a:prstGeom>
          <a:solidFill>
            <a:srgbClr val="8B7CF6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709946" y="2805960"/>
            <a:ext cx="54864" cy="54864"/>
          </a:xfrm>
          <a:prstGeom prst="ellipse">
            <a:avLst/>
          </a:prstGeom>
          <a:solidFill>
            <a:srgbClr val="E0637A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66495" y="2621391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170055" y="2905366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352476" y="1917498"/>
            <a:ext cx="54864" cy="54864"/>
          </a:xfrm>
          <a:prstGeom prst="ellipse">
            <a:avLst/>
          </a:prstGeom>
          <a:solidFill>
            <a:srgbClr val="8B7CF6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767427" y="805489"/>
            <a:ext cx="54864" cy="54864"/>
          </a:xfrm>
          <a:prstGeom prst="ellipse">
            <a:avLst/>
          </a:prstGeom>
          <a:solidFill>
            <a:srgbClr val="E0637A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84001" y="941498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03751" y="788426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630931" y="1725756"/>
            <a:ext cx="54864" cy="54864"/>
          </a:xfrm>
          <a:prstGeom prst="ellipse">
            <a:avLst/>
          </a:prstGeom>
          <a:solidFill>
            <a:srgbClr val="8B7CF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206956" y="1937113"/>
            <a:ext cx="54864" cy="54864"/>
          </a:xfrm>
          <a:prstGeom prst="ellipse">
            <a:avLst/>
          </a:prstGeom>
          <a:solidFill>
            <a:srgbClr val="E0637A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574093" y="826787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881121" y="2520165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911006" y="1718835"/>
            <a:ext cx="54864" cy="54864"/>
          </a:xfrm>
          <a:prstGeom prst="ellipse">
            <a:avLst/>
          </a:prstGeom>
          <a:solidFill>
            <a:srgbClr val="8B7CF6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210264" y="2490397"/>
            <a:ext cx="54864" cy="54864"/>
          </a:xfrm>
          <a:prstGeom prst="ellipse">
            <a:avLst/>
          </a:prstGeom>
          <a:solidFill>
            <a:srgbClr val="E0637A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045327" y="606044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079469" y="2736626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976879" y="1603401"/>
            <a:ext cx="54864" cy="54864"/>
          </a:xfrm>
          <a:prstGeom prst="ellipse">
            <a:avLst/>
          </a:prstGeom>
          <a:solidFill>
            <a:srgbClr val="8B7CF6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456811" y="1804215"/>
            <a:ext cx="54864" cy="54864"/>
          </a:xfrm>
          <a:prstGeom prst="ellipse">
            <a:avLst/>
          </a:prstGeom>
          <a:solidFill>
            <a:srgbClr val="E0637A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750660" y="2230956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729573" y="2663410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405194" y="1177357"/>
            <a:ext cx="54864" cy="54864"/>
          </a:xfrm>
          <a:prstGeom prst="ellipse">
            <a:avLst/>
          </a:prstGeom>
          <a:solidFill>
            <a:srgbClr val="8B7CF6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321958" y="1239783"/>
            <a:ext cx="54864" cy="54864"/>
          </a:xfrm>
          <a:prstGeom prst="ellipse">
            <a:avLst/>
          </a:prstGeom>
          <a:solidFill>
            <a:srgbClr val="E0637A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147639" y="502316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781340" y="1852720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762761" y="2454753"/>
            <a:ext cx="54864" cy="54864"/>
          </a:xfrm>
          <a:prstGeom prst="ellipse">
            <a:avLst/>
          </a:prstGeom>
          <a:solidFill>
            <a:srgbClr val="8B7CF6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514926" y="2770453"/>
            <a:ext cx="54864" cy="54864"/>
          </a:xfrm>
          <a:prstGeom prst="ellipse">
            <a:avLst/>
          </a:prstGeom>
          <a:solidFill>
            <a:srgbClr val="E0637A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760303" y="2215976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813341" y="2908326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239795" y="472118"/>
            <a:ext cx="54864" cy="54864"/>
          </a:xfrm>
          <a:prstGeom prst="ellipse">
            <a:avLst/>
          </a:prstGeom>
          <a:solidFill>
            <a:srgbClr val="8B7CF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1329341" y="2815228"/>
            <a:ext cx="54864" cy="54864"/>
          </a:xfrm>
          <a:prstGeom prst="ellipse">
            <a:avLst/>
          </a:prstGeom>
          <a:solidFill>
            <a:srgbClr val="E0637A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985633" y="831592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073892" y="1035689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691361" y="954866"/>
            <a:ext cx="54864" cy="54864"/>
          </a:xfrm>
          <a:prstGeom prst="ellipse">
            <a:avLst/>
          </a:prstGeom>
          <a:solidFill>
            <a:srgbClr val="8B7CF6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059637" y="1963198"/>
            <a:ext cx="54864" cy="54864"/>
          </a:xfrm>
          <a:prstGeom prst="ellipse">
            <a:avLst/>
          </a:prstGeom>
          <a:solidFill>
            <a:srgbClr val="E0637A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117555" y="558746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892430" y="2443974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994810" y="2257212"/>
            <a:ext cx="54864" cy="54864"/>
          </a:xfrm>
          <a:prstGeom prst="ellipse">
            <a:avLst/>
          </a:prstGeom>
          <a:solidFill>
            <a:srgbClr val="8B7CF6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016196" y="508594"/>
            <a:ext cx="54864" cy="54864"/>
          </a:xfrm>
          <a:prstGeom prst="ellipse">
            <a:avLst/>
          </a:prstGeom>
          <a:solidFill>
            <a:srgbClr val="E0637A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040800" y="2573198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199990" y="2109836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529718" y="1708960"/>
            <a:ext cx="54864" cy="54864"/>
          </a:xfrm>
          <a:prstGeom prst="ellipse">
            <a:avLst/>
          </a:prstGeom>
          <a:solidFill>
            <a:srgbClr val="8B7CF6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777459" y="2081252"/>
            <a:ext cx="54864" cy="54864"/>
          </a:xfrm>
          <a:prstGeom prst="ellipse">
            <a:avLst/>
          </a:prstGeom>
          <a:solidFill>
            <a:srgbClr val="E0637A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1610098" y="2618448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805670" y="1937278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305214" y="659693"/>
            <a:ext cx="54864" cy="54864"/>
          </a:xfrm>
          <a:prstGeom prst="ellipse">
            <a:avLst/>
          </a:prstGeom>
          <a:solidFill>
            <a:srgbClr val="8B7CF6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141685" y="640084"/>
            <a:ext cx="54864" cy="54864"/>
          </a:xfrm>
          <a:prstGeom prst="ellipse">
            <a:avLst/>
          </a:prstGeom>
          <a:solidFill>
            <a:srgbClr val="E0637A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496889" y="1574939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446312" y="2925691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1072822" y="1186344"/>
            <a:ext cx="54864" cy="54864"/>
          </a:xfrm>
          <a:prstGeom prst="ellipse">
            <a:avLst/>
          </a:prstGeom>
          <a:solidFill>
            <a:srgbClr val="8B7CF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316477" y="1095281"/>
            <a:ext cx="54864" cy="54864"/>
          </a:xfrm>
          <a:prstGeom prst="ellipse">
            <a:avLst/>
          </a:prstGeom>
          <a:solidFill>
            <a:srgbClr val="E0637A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170412" y="1085627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056292" y="555008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581268" y="2308003"/>
            <a:ext cx="54864" cy="54864"/>
          </a:xfrm>
          <a:prstGeom prst="ellipse">
            <a:avLst/>
          </a:prstGeom>
          <a:solidFill>
            <a:srgbClr val="8B7CF6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504785" y="2739409"/>
            <a:ext cx="54864" cy="54864"/>
          </a:xfrm>
          <a:prstGeom prst="ellipse">
            <a:avLst/>
          </a:prstGeom>
          <a:solidFill>
            <a:srgbClr val="E0637A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576971" y="2379490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944616" y="1026036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826331" y="1892404"/>
            <a:ext cx="54864" cy="54864"/>
          </a:xfrm>
          <a:prstGeom prst="ellipse">
            <a:avLst/>
          </a:prstGeom>
          <a:solidFill>
            <a:srgbClr val="8B7CF6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544632" y="1808311"/>
            <a:ext cx="54864" cy="54864"/>
          </a:xfrm>
          <a:prstGeom prst="ellipse">
            <a:avLst/>
          </a:prstGeom>
          <a:solidFill>
            <a:srgbClr val="E0637A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0478981" y="1262971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0477618" y="1202433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406667" y="1862489"/>
            <a:ext cx="54864" cy="54864"/>
          </a:xfrm>
          <a:prstGeom prst="ellipse">
            <a:avLst/>
          </a:prstGeom>
          <a:solidFill>
            <a:srgbClr val="8B7CF6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1871885" y="858331"/>
            <a:ext cx="54864" cy="54864"/>
          </a:xfrm>
          <a:prstGeom prst="ellipse">
            <a:avLst/>
          </a:prstGeom>
          <a:solidFill>
            <a:srgbClr val="E0637A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437393" y="2522008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1426577" y="1172958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0260092" y="706818"/>
            <a:ext cx="54864" cy="54864"/>
          </a:xfrm>
          <a:prstGeom prst="ellipse">
            <a:avLst/>
          </a:prstGeom>
          <a:solidFill>
            <a:srgbClr val="8B7CF6">
              <a:alpha val="65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0003227" y="795601"/>
            <a:ext cx="54864" cy="54864"/>
          </a:xfrm>
          <a:prstGeom prst="ellipse">
            <a:avLst/>
          </a:prstGeom>
          <a:solidFill>
            <a:srgbClr val="E0637A">
              <a:alpha val="65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875494" y="2581027"/>
            <a:ext cx="54864" cy="54864"/>
          </a:xfrm>
          <a:prstGeom prst="ellipse">
            <a:avLst/>
          </a:prstGeom>
          <a:solidFill>
            <a:srgbClr val="2CE6C0">
              <a:alpha val="6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1805202" y="1878407"/>
            <a:ext cx="54864" cy="54864"/>
          </a:xfrm>
          <a:prstGeom prst="ellipse">
            <a:avLst/>
          </a:prstGeom>
          <a:solidFill>
            <a:srgbClr val="E8973A">
              <a:alpha val="65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7A9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 ARRAY  |  MODE: COURSE OVERVIEW  |  STATUS: READY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548640" y="22860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Cyto</a:t>
            </a:r>
            <a:pPr algn="l" indent="0" marL="0">
              <a:buNone/>
            </a:pPr>
            <a:r>
              <a:rPr lang="en-US" sz="5200" b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/Seq</a:t>
            </a:r>
            <a:pPr algn="l" indent="0" marL="0">
              <a:buNone/>
            </a:pPr>
            <a:r>
              <a:rPr lang="en-US" sz="52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Console</a:t>
            </a:r>
            <a:endParaRPr lang="en-US" sz="5200" dirty="0"/>
          </a:p>
        </p:txBody>
      </p:sp>
      <p:sp>
        <p:nvSpPr>
          <p:cNvPr id="79" name="Text 77"/>
          <p:cNvSpPr/>
          <p:nvPr/>
        </p:nvSpPr>
        <p:spPr>
          <a:xfrm>
            <a:off x="566928" y="3337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FACS 게이팅 · Seurat 스타일 single-cell RNA-seq 파이프라인 — 개념 완전 정리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566928" y="3794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F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실험(유세포분석)에서 계산(scRNA-seq) 해석까지, 7개 탭 한 눈에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566928" y="4754880"/>
            <a:ext cx="1060704" cy="292608"/>
          </a:xfrm>
          <a:prstGeom prst="roundRect">
            <a:avLst>
              <a:gd name="adj" fmla="val 15625"/>
            </a:avLst>
          </a:prstGeom>
          <a:solidFill>
            <a:srgbClr val="1B2534"/>
          </a:solidFill>
          <a:ln w="12700">
            <a:solidFill>
              <a:srgbClr val="49B6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66928" y="4754880"/>
            <a:ext cx="1060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FACS 기기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1792224" y="4754880"/>
            <a:ext cx="1060704" cy="292608"/>
          </a:xfrm>
          <a:prstGeom prst="roundRect">
            <a:avLst>
              <a:gd name="adj" fmla="val 15625"/>
            </a:avLst>
          </a:prstGeom>
          <a:solidFill>
            <a:srgbClr val="1B2534"/>
          </a:solidFill>
          <a:ln w="12700">
            <a:solidFill>
              <a:srgbClr val="49B6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792224" y="4754880"/>
            <a:ext cx="1060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FACS 해석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3017520" y="4754880"/>
            <a:ext cx="976579" cy="292608"/>
          </a:xfrm>
          <a:prstGeom prst="roundRect">
            <a:avLst>
              <a:gd name="adj" fmla="val 15625"/>
            </a:avLst>
          </a:prstGeom>
          <a:solidFill>
            <a:srgbClr val="1B2534"/>
          </a:solidFill>
          <a:ln w="12700">
            <a:solidFill>
              <a:srgbClr val="2CE6C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017520" y="4754880"/>
            <a:ext cx="9765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싱글셀 기초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158691" y="4754880"/>
            <a:ext cx="1228954" cy="292608"/>
          </a:xfrm>
          <a:prstGeom prst="roundRect">
            <a:avLst>
              <a:gd name="adj" fmla="val 15625"/>
            </a:avLst>
          </a:prstGeom>
          <a:solidFill>
            <a:srgbClr val="1B2534"/>
          </a:solidFill>
          <a:ln w="12700">
            <a:solidFill>
              <a:srgbClr val="2CE6C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158691" y="4754880"/>
            <a:ext cx="12289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scRNA-seq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552237" y="4754880"/>
            <a:ext cx="1313078" cy="292608"/>
          </a:xfrm>
          <a:prstGeom prst="roundRect">
            <a:avLst>
              <a:gd name="adj" fmla="val 15625"/>
            </a:avLst>
          </a:prstGeom>
          <a:solidFill>
            <a:srgbClr val="1B2534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552237" y="4754880"/>
            <a:ext cx="13130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Annotation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029907" y="4754880"/>
            <a:ext cx="1313078" cy="292608"/>
          </a:xfrm>
          <a:prstGeom prst="roundRect">
            <a:avLst>
              <a:gd name="adj" fmla="val 15625"/>
            </a:avLst>
          </a:prstGeom>
          <a:solidFill>
            <a:srgbClr val="1B2534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029907" y="4754880"/>
            <a:ext cx="13130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Downstream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8507578" y="4754880"/>
            <a:ext cx="1313078" cy="292608"/>
          </a:xfrm>
          <a:prstGeom prst="roundRect">
            <a:avLst>
              <a:gd name="adj" fmla="val 15625"/>
            </a:avLst>
          </a:prstGeom>
          <a:solidFill>
            <a:srgbClr val="1B2534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507578" y="4754880"/>
            <a:ext cx="13130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Trajectory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2CE6C0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큰 그림 — 세포 이질성을 보는 두 개의 렌즈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같은 질문(이 집단엔 어떤 세포가 있나?)을 실험과 계산 두 방식으로 답한다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5532120" cy="3566160"/>
          </a:xfrm>
          <a:prstGeom prst="roundRect">
            <a:avLst>
              <a:gd name="adj" fmla="val 2051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실험 렌즈 · FACS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단백질 마커를 형광으로 읽어 세포를 실시간 분류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산점도(FSC/SSC)와 게이팅으로 집단을 눈으로 구분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해상도: 세포당 소수의 마커(수~수십 채널)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강점: 빠르고, 살아있는 세포를 물리적으로 분리 가능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737360"/>
            <a:ext cx="5532120" cy="3566160"/>
          </a:xfrm>
          <a:prstGeom prst="roundRect">
            <a:avLst>
              <a:gd name="adj" fmla="val 2051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계산 렌즈 · scRNA-seq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3774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세포마다 전체 유전자 발현(수천 차원)을 정량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QC→정규화→차원축소→클러스터링으로 집단을 발견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해상도: 세포당 유전자 전체(고차원)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강점: 사전 마커 없이 새로운 세포 상태까지 탐색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5532120"/>
            <a:ext cx="11201400" cy="640080"/>
          </a:xfrm>
          <a:prstGeom prst="roundRect">
            <a:avLst>
              <a:gd name="adj" fmla="val 8571"/>
            </a:avLst>
          </a:prstGeom>
          <a:solidFill>
            <a:srgbClr val="1B2534"/>
          </a:solidFill>
          <a:ln w="12700">
            <a:solidFill>
              <a:srgbClr val="17A9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공통 목표: 이질적인 세포 집단을 정의하고, 각 집단의 정체성과 생물학적 의미를 밝힌다.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9B6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실험 — FACS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96112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기기 조작(탭 01)과 결과 해석·게이팅(탭 02)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9B6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FACS 기기 조작법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FACS 워크플로우 — 7단계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실습실마다 기기는 달라도 전체 흐름은 대부분 동일하다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1459121" cy="2286000"/>
          </a:xfrm>
          <a:prstGeom prst="roundRect">
            <a:avLst>
              <a:gd name="adj" fmla="val 5013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6449" y="2359152"/>
            <a:ext cx="512064" cy="512064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6449" y="2359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1550561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예열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유체 안정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25465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7A9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126633" y="2103120"/>
            <a:ext cx="1459121" cy="2286000"/>
          </a:xfrm>
          <a:prstGeom prst="roundRect">
            <a:avLst>
              <a:gd name="adj" fmla="val 5013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0162" y="2359152"/>
            <a:ext cx="512064" cy="512064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0162" y="2359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80913" y="3154680"/>
            <a:ext cx="1550561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데일리 QC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(표준 비드)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49178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7A9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750346" y="2103120"/>
            <a:ext cx="1459121" cy="2286000"/>
          </a:xfrm>
          <a:prstGeom prst="roundRect">
            <a:avLst>
              <a:gd name="adj" fmla="val 5013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3875" y="2359152"/>
            <a:ext cx="512064" cy="512064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23875" y="2359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04626" y="3154680"/>
            <a:ext cx="1550561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컴펜세이션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(spillover)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72891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7A9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374059" y="2103120"/>
            <a:ext cx="1459121" cy="2286000"/>
          </a:xfrm>
          <a:prstGeom prst="roundRect">
            <a:avLst>
              <a:gd name="adj" fmla="val 5013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47588" y="2359152"/>
            <a:ext cx="512064" cy="512064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47588" y="2359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28339" y="3154680"/>
            <a:ext cx="1550561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시료 염색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여과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96605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7A9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997773" y="2103120"/>
            <a:ext cx="1459121" cy="2286000"/>
          </a:xfrm>
          <a:prstGeom prst="roundRect">
            <a:avLst>
              <a:gd name="adj" fmla="val 5013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71301" y="2359152"/>
            <a:ext cx="512064" cy="512064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1301" y="2359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52053" y="3154680"/>
            <a:ext cx="1550561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로딩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 rate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420318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7A9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8621486" y="2103120"/>
            <a:ext cx="1459121" cy="2286000"/>
          </a:xfrm>
          <a:prstGeom prst="roundRect">
            <a:avLst>
              <a:gd name="adj" fmla="val 5013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95014" y="2359152"/>
            <a:ext cx="512064" cy="512064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95014" y="2359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575766" y="3154680"/>
            <a:ext cx="1550561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실시간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게이팅 획득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44031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7A9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0245199" y="2103120"/>
            <a:ext cx="1459121" cy="2286000"/>
          </a:xfrm>
          <a:prstGeom prst="roundRect">
            <a:avLst>
              <a:gd name="adj" fmla="val 5013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718727" y="2359152"/>
            <a:ext cx="512064" cy="512064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718727" y="2359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199479" y="3154680"/>
            <a:ext cx="1550561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종료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세정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4709160"/>
            <a:ext cx="11201400" cy="1417320"/>
          </a:xfrm>
          <a:prstGeom prst="roundRect">
            <a:avLst>
              <a:gd name="adj" fmla="val 3871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4828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흐름 요약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5800" y="513892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예열 → QC → 컴펜세이션 → 시료 준비 → 로딩 → 획득 → 세정.  각 단계는 뒤 단계 데이터의 신뢰도를 보장하기 위한 전제 조건이다 — 앞을 건너뛰면 뒤 데이터가 흔들린다.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9B6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FACS 기기 조작법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준비 단계 (1–4) — 데이터가 흔들리지 않게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획득 전에 기기·형광·시료를 정렬하는 과정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5463540" cy="2057400"/>
          </a:xfrm>
          <a:prstGeom prst="roundRect">
            <a:avLst>
              <a:gd name="adj" fmla="val 3556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2039112"/>
            <a:ext cx="45034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기기 시동 &amp; 유체 예열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58952" y="2560320"/>
            <a:ext cx="50063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레이저와 유체(fluidics)가 안정화되는 데 15~30분. 예열 없이 바로 획득하면 초반 형광 강도가 흔들린다.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40780" y="1783080"/>
            <a:ext cx="5463540" cy="2057400"/>
          </a:xfrm>
          <a:prstGeom prst="roundRect">
            <a:avLst>
              <a:gd name="adj" fmla="val 3556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9380" y="2011680"/>
            <a:ext cx="457200" cy="457200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93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63740" y="2039112"/>
            <a:ext cx="45034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데일리 QC (표준 비드)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96812" y="2560320"/>
            <a:ext cx="50063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표준 비드로 레이저 정렬·PMT voltage·형광 민감도를 매일 확인. 이 단계를 건너뛰면 그날 데이터를 다른 날과 비교할 수 없다.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114800"/>
            <a:ext cx="5463540" cy="2057400"/>
          </a:xfrm>
          <a:prstGeom prst="roundRect">
            <a:avLst>
              <a:gd name="adj" fmla="val 3556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4370832"/>
            <a:ext cx="45034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컴펜세이션 (spillover 보정)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58952" y="4892040"/>
            <a:ext cx="50063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채널끼리 스펙트럼이 겹치는 spillover를 보정. 무염색 대조군 + 색깔별 단독염색 대조군이 각각 필요하다.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40780" y="4114800"/>
            <a:ext cx="5463540" cy="2057400"/>
          </a:xfrm>
          <a:prstGeom prst="roundRect">
            <a:avLst>
              <a:gd name="adj" fmla="val 3556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9380" y="4343400"/>
            <a:ext cx="457200" cy="457200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93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3740" y="4370832"/>
            <a:ext cx="45034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샘플 염색 &amp; 여과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96812" y="4892040"/>
            <a:ext cx="50063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세포 덩어리(clump)는 노즐 막힘(clog)이나 doublet 오류를 유발. 로딩 직전 40 µm strainer로 반드시 거른다.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9B6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FACS 기기 조작법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획득·마무리 단계 (5–7) — 왜곡과 오염을 막는다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실제 데이터를 얻고, 다음 샘플까지 깨끗하게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5463540" cy="2057400"/>
          </a:xfrm>
          <a:prstGeom prst="roundRect">
            <a:avLst>
              <a:gd name="adj" fmla="val 3556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2039112"/>
            <a:ext cx="45034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샘플 로딩 &amp; flow rate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58952" y="2560320"/>
            <a:ext cx="50063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속도를 너무 높이면 coincidence(두 세포가 겹쳐 지나감)로 데이터가 왜곡. 처음엔 low/medium rate로 시작한다.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40780" y="1783080"/>
            <a:ext cx="5463540" cy="2057400"/>
          </a:xfrm>
          <a:prstGeom prst="roundRect">
            <a:avLst>
              <a:gd name="adj" fmla="val 3556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9380" y="2011680"/>
            <a:ext cx="457200" cy="457200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93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63740" y="2039112"/>
            <a:ext cx="45034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실시간 게이팅하며 획득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96812" y="2560320"/>
            <a:ext cx="50063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FSC/SSC 창을 보며 원하는 집단이 제대로 보이는지 확인하고, 목표 이벤트 수(예: 10,000~50,000)까지 채운다.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114800"/>
            <a:ext cx="5463540" cy="2057400"/>
          </a:xfrm>
          <a:prstGeom prst="roundRect">
            <a:avLst>
              <a:gd name="adj" fmla="val 3556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4370832"/>
            <a:ext cx="45034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종료 &amp; 세정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58952" y="4892040"/>
            <a:ext cx="50063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표백제 → 증류수 순으로 fluidics를 세척하지 않으면 다음 샘플에 이전 세포가 섞이는 carryover가 생긴다.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40780" y="4114800"/>
            <a:ext cx="5463540" cy="2057400"/>
          </a:xfrm>
          <a:prstGeom prst="roundRect">
            <a:avLst>
              <a:gd name="adj" fmla="val 3556"/>
            </a:avLst>
          </a:prstGeom>
          <a:solidFill>
            <a:srgbClr val="1B2534"/>
          </a:solidFill>
          <a:ln w="12700">
            <a:solidFill>
              <a:srgbClr val="17A9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9380" y="4343400"/>
            <a:ext cx="50063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한 줄 원칙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69380" y="4800600"/>
            <a:ext cx="49606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모든 단계는 '이벤트=진짜 단일 세포'라는 가정을 지키기 위한 장치다. 그 가정이 깨지면 어떤 분석도 못 믿는다.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9B6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FACS 결과 해석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첫 화면 — FSC vs SSC로 큰 집단 나누기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크기(FSC)와 과립도(SSC)만으로 debris·림프구·단핵구/과립구를 구분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5852160" cy="4297680"/>
          </a:xfrm>
          <a:prstGeom prst="roundRect">
            <a:avLst>
              <a:gd name="adj" fmla="val 1702"/>
            </a:avLst>
          </a:prstGeom>
          <a:solidFill>
            <a:srgbClr val="0E1622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SSC-A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4920" y="57607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FSC-A →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78356" y="5548471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95566" y="5262030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660907" y="5512806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712024" y="5513703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60974" y="5164216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28370" y="5446846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941395" y="5548824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87268" y="5416159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522204" y="5212226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58887" y="5460482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34822" y="5223293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45490" y="5308443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24861" y="5271160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69382" y="5357439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063281" y="5378457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999973" y="5549530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44114" y="5213238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713517" y="5584992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692548" y="5373219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786254" y="5410854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98538" y="5518128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62097" y="5215780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839496" y="5420035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622807" y="5166930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866270" y="5479440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929273" y="5185834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020310" y="5342188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706138" y="5199579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822477" y="5552945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564026" y="5494890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602324" y="5525841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554966" y="5228050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739109" y="5541530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609969" y="5482605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718322" y="5538038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555811" y="5359448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939296" y="5507039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875227" y="5360165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773887" y="5563258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803572" y="5115812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718526" y="5126860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858484" y="5150010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538369" y="5474541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658235" y="5340897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825915" y="5092594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683903" y="5115529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849088" y="5560336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873166" y="5140728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715828" y="5317902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2083313" y="5408905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718952" y="5418627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883124" y="5280277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550495" y="5428868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946998" y="5448582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846384" y="5479094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659075" y="5368501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534027" y="5512941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792808" y="5603025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728605" y="5537184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929645" y="5360896"/>
            <a:ext cx="45720" cy="45720"/>
          </a:xfrm>
          <a:prstGeom prst="ellipse">
            <a:avLst/>
          </a:prstGeom>
          <a:solidFill>
            <a:srgbClr val="6B7A89">
              <a:alpha val="8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2429059" y="459650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2698947" y="458138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2765214" y="462192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3086921" y="480482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2607173" y="484770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2580175" y="444816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2587394" y="442909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2814056" y="450027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2780984" y="473219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2679377" y="493453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2740180" y="500112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2688471" y="491695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2579723" y="480779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2432363" y="510137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2551053" y="448105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3018223" y="488974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2424522" y="492665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2793478" y="463777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2945665" y="501883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2348547" y="461004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2289556" y="471519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2470002" y="457037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2716073" y="509888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2615518" y="441913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2824789" y="491923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2534929" y="458021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2975992" y="452020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2796650" y="517562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2232100" y="474850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2952569" y="504888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2815828" y="498978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3023942" y="507636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2645494" y="452381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2947672" y="508689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2314275" y="478075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2312635" y="502025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2345224" y="470644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2927968" y="463664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3166449" y="470451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3039909" y="484082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2674293" y="448568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2982288" y="468685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2769630" y="489568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2821695" y="492954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3046036" y="454057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2570869" y="501703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2742588" y="479431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2522146" y="484655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2467151" y="461545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2935243" y="481872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3155970" y="493839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2425640" y="465018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2978538" y="506198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2849670" y="481623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3042816" y="509058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2839120" y="441416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2352350" y="468394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2521546" y="517916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2383916" y="463616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2644327" y="510614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2730752" y="492035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3097538" y="471398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2773206" y="457724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2497080" y="494295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2565098" y="508041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2973599" y="503343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2865325" y="505027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2782905" y="452805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2833561" y="502926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2955132" y="486903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3020136" y="506457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2782714" y="496789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2391543" y="501134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2276441" y="470601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2450406" y="493314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2711335" y="443798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2775853" y="495967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2419593" y="488250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2550587" y="443303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3050588" y="499199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2796527" y="447308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2595165" y="519671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2692465" y="503774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2585751" y="450837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2789332" y="461814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3066222" y="507916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2447589" y="449472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2324182" y="455085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2844361" y="457972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2860031" y="491982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2873154" y="515128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2919158" y="485105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4" name="Shape 162"/>
          <p:cNvSpPr/>
          <p:nvPr/>
        </p:nvSpPr>
        <p:spPr>
          <a:xfrm>
            <a:off x="2602650" y="498149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5" name="Shape 163"/>
          <p:cNvSpPr/>
          <p:nvPr/>
        </p:nvSpPr>
        <p:spPr>
          <a:xfrm>
            <a:off x="2691372" y="499343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6" name="Shape 164"/>
          <p:cNvSpPr/>
          <p:nvPr/>
        </p:nvSpPr>
        <p:spPr>
          <a:xfrm>
            <a:off x="2728728" y="497620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7" name="Shape 165"/>
          <p:cNvSpPr/>
          <p:nvPr/>
        </p:nvSpPr>
        <p:spPr>
          <a:xfrm>
            <a:off x="2467154" y="452739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8" name="Shape 166"/>
          <p:cNvSpPr/>
          <p:nvPr/>
        </p:nvSpPr>
        <p:spPr>
          <a:xfrm>
            <a:off x="2497214" y="509254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9" name="Shape 167"/>
          <p:cNvSpPr/>
          <p:nvPr/>
        </p:nvSpPr>
        <p:spPr>
          <a:xfrm>
            <a:off x="2479070" y="458819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0" name="Shape 168"/>
          <p:cNvSpPr/>
          <p:nvPr/>
        </p:nvSpPr>
        <p:spPr>
          <a:xfrm>
            <a:off x="2862897" y="462466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1" name="Shape 169"/>
          <p:cNvSpPr/>
          <p:nvPr/>
        </p:nvSpPr>
        <p:spPr>
          <a:xfrm>
            <a:off x="2809762" y="455537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2" name="Shape 170"/>
          <p:cNvSpPr/>
          <p:nvPr/>
        </p:nvSpPr>
        <p:spPr>
          <a:xfrm>
            <a:off x="2457879" y="491352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3" name="Shape 171"/>
          <p:cNvSpPr/>
          <p:nvPr/>
        </p:nvSpPr>
        <p:spPr>
          <a:xfrm>
            <a:off x="3097618" y="459163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4" name="Shape 172"/>
          <p:cNvSpPr/>
          <p:nvPr/>
        </p:nvSpPr>
        <p:spPr>
          <a:xfrm>
            <a:off x="3019953" y="462980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5" name="Shape 173"/>
          <p:cNvSpPr/>
          <p:nvPr/>
        </p:nvSpPr>
        <p:spPr>
          <a:xfrm>
            <a:off x="2887005" y="509523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6" name="Shape 174"/>
          <p:cNvSpPr/>
          <p:nvPr/>
        </p:nvSpPr>
        <p:spPr>
          <a:xfrm>
            <a:off x="2875169" y="484639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7" name="Shape 175"/>
          <p:cNvSpPr/>
          <p:nvPr/>
        </p:nvSpPr>
        <p:spPr>
          <a:xfrm>
            <a:off x="2503605" y="458759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8" name="Shape 176"/>
          <p:cNvSpPr/>
          <p:nvPr/>
        </p:nvSpPr>
        <p:spPr>
          <a:xfrm>
            <a:off x="2968289" y="497013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9" name="Shape 177"/>
          <p:cNvSpPr/>
          <p:nvPr/>
        </p:nvSpPr>
        <p:spPr>
          <a:xfrm>
            <a:off x="2518570" y="450178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2236514" y="478007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1" name="Shape 179"/>
          <p:cNvSpPr/>
          <p:nvPr/>
        </p:nvSpPr>
        <p:spPr>
          <a:xfrm>
            <a:off x="2381632" y="507643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2" name="Shape 180"/>
          <p:cNvSpPr/>
          <p:nvPr/>
        </p:nvSpPr>
        <p:spPr>
          <a:xfrm>
            <a:off x="3113786" y="486075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3" name="Shape 181"/>
          <p:cNvSpPr/>
          <p:nvPr/>
        </p:nvSpPr>
        <p:spPr>
          <a:xfrm>
            <a:off x="2723069" y="442246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4" name="Shape 182"/>
          <p:cNvSpPr/>
          <p:nvPr/>
        </p:nvSpPr>
        <p:spPr>
          <a:xfrm>
            <a:off x="2250431" y="482054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5" name="Shape 183"/>
          <p:cNvSpPr/>
          <p:nvPr/>
        </p:nvSpPr>
        <p:spPr>
          <a:xfrm>
            <a:off x="2491767" y="485153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6" name="Shape 184"/>
          <p:cNvSpPr/>
          <p:nvPr/>
        </p:nvSpPr>
        <p:spPr>
          <a:xfrm>
            <a:off x="2899493" y="475874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7" name="Shape 185"/>
          <p:cNvSpPr/>
          <p:nvPr/>
        </p:nvSpPr>
        <p:spPr>
          <a:xfrm>
            <a:off x="2697083" y="484555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8" name="Shape 186"/>
          <p:cNvSpPr/>
          <p:nvPr/>
        </p:nvSpPr>
        <p:spPr>
          <a:xfrm>
            <a:off x="3005767" y="499637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9" name="Shape 187"/>
          <p:cNvSpPr/>
          <p:nvPr/>
        </p:nvSpPr>
        <p:spPr>
          <a:xfrm>
            <a:off x="2563159" y="464157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90" name="Shape 188"/>
          <p:cNvSpPr/>
          <p:nvPr/>
        </p:nvSpPr>
        <p:spPr>
          <a:xfrm>
            <a:off x="2697139" y="518944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91" name="Shape 189"/>
          <p:cNvSpPr/>
          <p:nvPr/>
        </p:nvSpPr>
        <p:spPr>
          <a:xfrm>
            <a:off x="2878123" y="473661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92" name="Shape 190"/>
          <p:cNvSpPr/>
          <p:nvPr/>
        </p:nvSpPr>
        <p:spPr>
          <a:xfrm>
            <a:off x="3875006" y="4343480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93" name="Shape 191"/>
          <p:cNvSpPr/>
          <p:nvPr/>
        </p:nvSpPr>
        <p:spPr>
          <a:xfrm>
            <a:off x="3262014" y="4716532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94" name="Shape 192"/>
          <p:cNvSpPr/>
          <p:nvPr/>
        </p:nvSpPr>
        <p:spPr>
          <a:xfrm>
            <a:off x="3592452" y="4476092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95" name="Shape 193"/>
          <p:cNvSpPr/>
          <p:nvPr/>
        </p:nvSpPr>
        <p:spPr>
          <a:xfrm>
            <a:off x="3386246" y="4513880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96" name="Shape 194"/>
          <p:cNvSpPr/>
          <p:nvPr/>
        </p:nvSpPr>
        <p:spPr>
          <a:xfrm>
            <a:off x="3592054" y="4770103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97" name="Shape 195"/>
          <p:cNvSpPr/>
          <p:nvPr/>
        </p:nvSpPr>
        <p:spPr>
          <a:xfrm>
            <a:off x="3739181" y="4402946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98" name="Shape 196"/>
          <p:cNvSpPr/>
          <p:nvPr/>
        </p:nvSpPr>
        <p:spPr>
          <a:xfrm>
            <a:off x="3633773" y="4232857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99" name="Shape 197"/>
          <p:cNvSpPr/>
          <p:nvPr/>
        </p:nvSpPr>
        <p:spPr>
          <a:xfrm>
            <a:off x="3451990" y="436261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00" name="Shape 198"/>
          <p:cNvSpPr/>
          <p:nvPr/>
        </p:nvSpPr>
        <p:spPr>
          <a:xfrm>
            <a:off x="3361894" y="4582243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01" name="Shape 199"/>
          <p:cNvSpPr/>
          <p:nvPr/>
        </p:nvSpPr>
        <p:spPr>
          <a:xfrm>
            <a:off x="3606424" y="4427194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02" name="Shape 200"/>
          <p:cNvSpPr/>
          <p:nvPr/>
        </p:nvSpPr>
        <p:spPr>
          <a:xfrm>
            <a:off x="3476271" y="4345039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03" name="Shape 201"/>
          <p:cNvSpPr/>
          <p:nvPr/>
        </p:nvSpPr>
        <p:spPr>
          <a:xfrm>
            <a:off x="3373084" y="4649996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04" name="Shape 202"/>
          <p:cNvSpPr/>
          <p:nvPr/>
        </p:nvSpPr>
        <p:spPr>
          <a:xfrm>
            <a:off x="3748077" y="4512340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05" name="Shape 203"/>
          <p:cNvSpPr/>
          <p:nvPr/>
        </p:nvSpPr>
        <p:spPr>
          <a:xfrm>
            <a:off x="3617892" y="4733696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06" name="Shape 204"/>
          <p:cNvSpPr/>
          <p:nvPr/>
        </p:nvSpPr>
        <p:spPr>
          <a:xfrm>
            <a:off x="3775132" y="4243094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07" name="Shape 205"/>
          <p:cNvSpPr/>
          <p:nvPr/>
        </p:nvSpPr>
        <p:spPr>
          <a:xfrm>
            <a:off x="3277879" y="433919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08" name="Shape 206"/>
          <p:cNvSpPr/>
          <p:nvPr/>
        </p:nvSpPr>
        <p:spPr>
          <a:xfrm>
            <a:off x="3742061" y="4416602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09" name="Shape 207"/>
          <p:cNvSpPr/>
          <p:nvPr/>
        </p:nvSpPr>
        <p:spPr>
          <a:xfrm>
            <a:off x="3706606" y="4150333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10" name="Shape 208"/>
          <p:cNvSpPr/>
          <p:nvPr/>
        </p:nvSpPr>
        <p:spPr>
          <a:xfrm>
            <a:off x="3390565" y="4552646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11" name="Shape 209"/>
          <p:cNvSpPr/>
          <p:nvPr/>
        </p:nvSpPr>
        <p:spPr>
          <a:xfrm>
            <a:off x="3511217" y="4223987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12" name="Shape 210"/>
          <p:cNvSpPr/>
          <p:nvPr/>
        </p:nvSpPr>
        <p:spPr>
          <a:xfrm>
            <a:off x="3434414" y="4537863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13" name="Shape 211"/>
          <p:cNvSpPr/>
          <p:nvPr/>
        </p:nvSpPr>
        <p:spPr>
          <a:xfrm>
            <a:off x="3357010" y="4645419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14" name="Shape 212"/>
          <p:cNvSpPr/>
          <p:nvPr/>
        </p:nvSpPr>
        <p:spPr>
          <a:xfrm>
            <a:off x="3695638" y="4574052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15" name="Shape 213"/>
          <p:cNvSpPr/>
          <p:nvPr/>
        </p:nvSpPr>
        <p:spPr>
          <a:xfrm>
            <a:off x="3845433" y="4576519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16" name="Shape 214"/>
          <p:cNvSpPr/>
          <p:nvPr/>
        </p:nvSpPr>
        <p:spPr>
          <a:xfrm>
            <a:off x="3434391" y="4411656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17" name="Shape 215"/>
          <p:cNvSpPr/>
          <p:nvPr/>
        </p:nvSpPr>
        <p:spPr>
          <a:xfrm>
            <a:off x="3197867" y="4316980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18" name="Shape 216"/>
          <p:cNvSpPr/>
          <p:nvPr/>
        </p:nvSpPr>
        <p:spPr>
          <a:xfrm>
            <a:off x="3141861" y="4574430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19" name="Shape 217"/>
          <p:cNvSpPr/>
          <p:nvPr/>
        </p:nvSpPr>
        <p:spPr>
          <a:xfrm>
            <a:off x="3413191" y="4669162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20" name="Shape 218"/>
          <p:cNvSpPr/>
          <p:nvPr/>
        </p:nvSpPr>
        <p:spPr>
          <a:xfrm>
            <a:off x="3193631" y="4533547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21" name="Shape 219"/>
          <p:cNvSpPr/>
          <p:nvPr/>
        </p:nvSpPr>
        <p:spPr>
          <a:xfrm>
            <a:off x="3735050" y="4355243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22" name="Shape 220"/>
          <p:cNvSpPr/>
          <p:nvPr/>
        </p:nvSpPr>
        <p:spPr>
          <a:xfrm>
            <a:off x="3146859" y="4476924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23" name="Shape 221"/>
          <p:cNvSpPr/>
          <p:nvPr/>
        </p:nvSpPr>
        <p:spPr>
          <a:xfrm>
            <a:off x="3196135" y="4498183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24" name="Shape 222"/>
          <p:cNvSpPr/>
          <p:nvPr/>
        </p:nvSpPr>
        <p:spPr>
          <a:xfrm>
            <a:off x="3212799" y="4595039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25" name="Shape 223"/>
          <p:cNvSpPr/>
          <p:nvPr/>
        </p:nvSpPr>
        <p:spPr>
          <a:xfrm>
            <a:off x="3866932" y="4261982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26" name="Shape 224"/>
          <p:cNvSpPr/>
          <p:nvPr/>
        </p:nvSpPr>
        <p:spPr>
          <a:xfrm>
            <a:off x="3153957" y="4461271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27" name="Shape 225"/>
          <p:cNvSpPr/>
          <p:nvPr/>
        </p:nvSpPr>
        <p:spPr>
          <a:xfrm>
            <a:off x="3489898" y="4086489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28" name="Shape 226"/>
          <p:cNvSpPr/>
          <p:nvPr/>
        </p:nvSpPr>
        <p:spPr>
          <a:xfrm>
            <a:off x="3548639" y="4510063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29" name="Shape 227"/>
          <p:cNvSpPr/>
          <p:nvPr/>
        </p:nvSpPr>
        <p:spPr>
          <a:xfrm>
            <a:off x="3658930" y="442984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30" name="Shape 228"/>
          <p:cNvSpPr/>
          <p:nvPr/>
        </p:nvSpPr>
        <p:spPr>
          <a:xfrm>
            <a:off x="3319717" y="4720383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31" name="Shape 229"/>
          <p:cNvSpPr/>
          <p:nvPr/>
        </p:nvSpPr>
        <p:spPr>
          <a:xfrm>
            <a:off x="3544183" y="4562582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32" name="Shape 230"/>
          <p:cNvSpPr/>
          <p:nvPr/>
        </p:nvSpPr>
        <p:spPr>
          <a:xfrm>
            <a:off x="3599488" y="4685767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33" name="Shape 231"/>
          <p:cNvSpPr/>
          <p:nvPr/>
        </p:nvSpPr>
        <p:spPr>
          <a:xfrm>
            <a:off x="3436393" y="4576841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34" name="Shape 232"/>
          <p:cNvSpPr/>
          <p:nvPr/>
        </p:nvSpPr>
        <p:spPr>
          <a:xfrm>
            <a:off x="3898395" y="438978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35" name="Shape 233"/>
          <p:cNvSpPr/>
          <p:nvPr/>
        </p:nvSpPr>
        <p:spPr>
          <a:xfrm>
            <a:off x="3200693" y="4547657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36" name="Shape 234"/>
          <p:cNvSpPr/>
          <p:nvPr/>
        </p:nvSpPr>
        <p:spPr>
          <a:xfrm>
            <a:off x="3252209" y="4350674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37" name="Shape 235"/>
          <p:cNvSpPr/>
          <p:nvPr/>
        </p:nvSpPr>
        <p:spPr>
          <a:xfrm>
            <a:off x="3603465" y="4222483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38" name="Shape 236"/>
          <p:cNvSpPr/>
          <p:nvPr/>
        </p:nvSpPr>
        <p:spPr>
          <a:xfrm>
            <a:off x="3736316" y="4697746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39" name="Shape 237"/>
          <p:cNvSpPr/>
          <p:nvPr/>
        </p:nvSpPr>
        <p:spPr>
          <a:xfrm>
            <a:off x="3636655" y="4409302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40" name="Shape 238"/>
          <p:cNvSpPr/>
          <p:nvPr/>
        </p:nvSpPr>
        <p:spPr>
          <a:xfrm>
            <a:off x="3333495" y="4124388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41" name="Shape 239"/>
          <p:cNvSpPr/>
          <p:nvPr/>
        </p:nvSpPr>
        <p:spPr>
          <a:xfrm>
            <a:off x="3596061" y="4490458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42" name="Shape 240"/>
          <p:cNvSpPr/>
          <p:nvPr/>
        </p:nvSpPr>
        <p:spPr>
          <a:xfrm>
            <a:off x="3667928" y="4332447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43" name="Shape 241"/>
          <p:cNvSpPr/>
          <p:nvPr/>
        </p:nvSpPr>
        <p:spPr>
          <a:xfrm>
            <a:off x="3536132" y="4783449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44" name="Shape 242"/>
          <p:cNvSpPr/>
          <p:nvPr/>
        </p:nvSpPr>
        <p:spPr>
          <a:xfrm>
            <a:off x="3605490" y="4473207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45" name="Shape 243"/>
          <p:cNvSpPr/>
          <p:nvPr/>
        </p:nvSpPr>
        <p:spPr>
          <a:xfrm>
            <a:off x="3320291" y="4358252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46" name="Shape 244"/>
          <p:cNvSpPr/>
          <p:nvPr/>
        </p:nvSpPr>
        <p:spPr>
          <a:xfrm>
            <a:off x="3217359" y="450642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47" name="Shape 245"/>
          <p:cNvSpPr/>
          <p:nvPr/>
        </p:nvSpPr>
        <p:spPr>
          <a:xfrm>
            <a:off x="3496371" y="4514934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48" name="Shape 246"/>
          <p:cNvSpPr/>
          <p:nvPr/>
        </p:nvSpPr>
        <p:spPr>
          <a:xfrm>
            <a:off x="3744299" y="425003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49" name="Shape 247"/>
          <p:cNvSpPr/>
          <p:nvPr/>
        </p:nvSpPr>
        <p:spPr>
          <a:xfrm>
            <a:off x="3660735" y="4577991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50" name="Shape 248"/>
          <p:cNvSpPr/>
          <p:nvPr/>
        </p:nvSpPr>
        <p:spPr>
          <a:xfrm>
            <a:off x="3738486" y="4478427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51" name="Shape 249"/>
          <p:cNvSpPr/>
          <p:nvPr/>
        </p:nvSpPr>
        <p:spPr>
          <a:xfrm>
            <a:off x="3683206" y="4565786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52" name="Shape 250"/>
          <p:cNvSpPr/>
          <p:nvPr/>
        </p:nvSpPr>
        <p:spPr>
          <a:xfrm>
            <a:off x="3478267" y="4602659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53" name="Shape 251"/>
          <p:cNvSpPr/>
          <p:nvPr/>
        </p:nvSpPr>
        <p:spPr>
          <a:xfrm>
            <a:off x="3530183" y="4751083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54" name="Shape 252"/>
          <p:cNvSpPr/>
          <p:nvPr/>
        </p:nvSpPr>
        <p:spPr>
          <a:xfrm>
            <a:off x="3513701" y="4314681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55" name="Shape 253"/>
          <p:cNvSpPr/>
          <p:nvPr/>
        </p:nvSpPr>
        <p:spPr>
          <a:xfrm>
            <a:off x="3646116" y="4653751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56" name="Shape 254"/>
          <p:cNvSpPr/>
          <p:nvPr/>
        </p:nvSpPr>
        <p:spPr>
          <a:xfrm>
            <a:off x="3432003" y="4490524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57" name="Shape 255"/>
          <p:cNvSpPr/>
          <p:nvPr/>
        </p:nvSpPr>
        <p:spPr>
          <a:xfrm>
            <a:off x="3846907" y="4571976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58" name="Shape 256"/>
          <p:cNvSpPr/>
          <p:nvPr/>
        </p:nvSpPr>
        <p:spPr>
          <a:xfrm>
            <a:off x="3324842" y="4512988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59" name="Shape 257"/>
          <p:cNvSpPr/>
          <p:nvPr/>
        </p:nvSpPr>
        <p:spPr>
          <a:xfrm>
            <a:off x="3745908" y="4247416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60" name="Shape 258"/>
          <p:cNvSpPr/>
          <p:nvPr/>
        </p:nvSpPr>
        <p:spPr>
          <a:xfrm>
            <a:off x="3565386" y="420277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61" name="Shape 259"/>
          <p:cNvSpPr/>
          <p:nvPr/>
        </p:nvSpPr>
        <p:spPr>
          <a:xfrm>
            <a:off x="3345971" y="4314864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62" name="Shape 260"/>
          <p:cNvSpPr/>
          <p:nvPr/>
        </p:nvSpPr>
        <p:spPr>
          <a:xfrm>
            <a:off x="3710367" y="4629723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63" name="Shape 261"/>
          <p:cNvSpPr/>
          <p:nvPr/>
        </p:nvSpPr>
        <p:spPr>
          <a:xfrm>
            <a:off x="3735697" y="423319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64" name="Shape 262"/>
          <p:cNvSpPr/>
          <p:nvPr/>
        </p:nvSpPr>
        <p:spPr>
          <a:xfrm>
            <a:off x="3309291" y="4483826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65" name="Shape 263"/>
          <p:cNvSpPr/>
          <p:nvPr/>
        </p:nvSpPr>
        <p:spPr>
          <a:xfrm>
            <a:off x="3672889" y="4158970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66" name="Shape 264"/>
          <p:cNvSpPr/>
          <p:nvPr/>
        </p:nvSpPr>
        <p:spPr>
          <a:xfrm>
            <a:off x="3173578" y="4388353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67" name="Shape 265"/>
          <p:cNvSpPr/>
          <p:nvPr/>
        </p:nvSpPr>
        <p:spPr>
          <a:xfrm>
            <a:off x="3460339" y="4185870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68" name="Shape 266"/>
          <p:cNvSpPr/>
          <p:nvPr/>
        </p:nvSpPr>
        <p:spPr>
          <a:xfrm>
            <a:off x="3442196" y="4282802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69" name="Shape 267"/>
          <p:cNvSpPr/>
          <p:nvPr/>
        </p:nvSpPr>
        <p:spPr>
          <a:xfrm>
            <a:off x="3302567" y="4656142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70" name="Shape 268"/>
          <p:cNvSpPr/>
          <p:nvPr/>
        </p:nvSpPr>
        <p:spPr>
          <a:xfrm>
            <a:off x="3216288" y="4448653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71" name="Shape 269"/>
          <p:cNvSpPr/>
          <p:nvPr/>
        </p:nvSpPr>
        <p:spPr>
          <a:xfrm>
            <a:off x="3247518" y="4347581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72" name="Shape 270"/>
          <p:cNvSpPr/>
          <p:nvPr/>
        </p:nvSpPr>
        <p:spPr>
          <a:xfrm>
            <a:off x="3421742" y="4269061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73" name="Shape 271"/>
          <p:cNvSpPr/>
          <p:nvPr/>
        </p:nvSpPr>
        <p:spPr>
          <a:xfrm>
            <a:off x="3494616" y="4304558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74" name="Shape 272"/>
          <p:cNvSpPr/>
          <p:nvPr/>
        </p:nvSpPr>
        <p:spPr>
          <a:xfrm>
            <a:off x="3286449" y="4424384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75" name="Shape 273"/>
          <p:cNvSpPr/>
          <p:nvPr/>
        </p:nvSpPr>
        <p:spPr>
          <a:xfrm>
            <a:off x="3401223" y="4095811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76" name="Shape 274"/>
          <p:cNvSpPr/>
          <p:nvPr/>
        </p:nvSpPr>
        <p:spPr>
          <a:xfrm>
            <a:off x="3197487" y="4553558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77" name="Shape 275"/>
          <p:cNvSpPr/>
          <p:nvPr/>
        </p:nvSpPr>
        <p:spPr>
          <a:xfrm>
            <a:off x="3491333" y="4714080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78" name="Shape 276"/>
          <p:cNvSpPr/>
          <p:nvPr/>
        </p:nvSpPr>
        <p:spPr>
          <a:xfrm>
            <a:off x="3404574" y="4519534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79" name="Shape 277"/>
          <p:cNvSpPr/>
          <p:nvPr/>
        </p:nvSpPr>
        <p:spPr>
          <a:xfrm>
            <a:off x="3571939" y="435973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80" name="Shape 278"/>
          <p:cNvSpPr/>
          <p:nvPr/>
        </p:nvSpPr>
        <p:spPr>
          <a:xfrm>
            <a:off x="3722192" y="4279498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81" name="Shape 279"/>
          <p:cNvSpPr/>
          <p:nvPr/>
        </p:nvSpPr>
        <p:spPr>
          <a:xfrm>
            <a:off x="3541373" y="4431336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282" name="Shape 280"/>
          <p:cNvSpPr/>
          <p:nvPr/>
        </p:nvSpPr>
        <p:spPr>
          <a:xfrm>
            <a:off x="3593433" y="3727306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283" name="Shape 281"/>
          <p:cNvSpPr/>
          <p:nvPr/>
        </p:nvSpPr>
        <p:spPr>
          <a:xfrm>
            <a:off x="2972387" y="3691247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284" name="Shape 282"/>
          <p:cNvSpPr/>
          <p:nvPr/>
        </p:nvSpPr>
        <p:spPr>
          <a:xfrm>
            <a:off x="3024600" y="3726542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285" name="Shape 283"/>
          <p:cNvSpPr/>
          <p:nvPr/>
        </p:nvSpPr>
        <p:spPr>
          <a:xfrm>
            <a:off x="3401916" y="336647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286" name="Shape 284"/>
          <p:cNvSpPr/>
          <p:nvPr/>
        </p:nvSpPr>
        <p:spPr>
          <a:xfrm>
            <a:off x="3010136" y="3854545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287" name="Shape 285"/>
          <p:cNvSpPr/>
          <p:nvPr/>
        </p:nvSpPr>
        <p:spPr>
          <a:xfrm>
            <a:off x="3381499" y="339032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288" name="Shape 286"/>
          <p:cNvSpPr/>
          <p:nvPr/>
        </p:nvSpPr>
        <p:spPr>
          <a:xfrm>
            <a:off x="3568889" y="3851774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289" name="Shape 287"/>
          <p:cNvSpPr/>
          <p:nvPr/>
        </p:nvSpPr>
        <p:spPr>
          <a:xfrm>
            <a:off x="3291026" y="3392682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290" name="Shape 288"/>
          <p:cNvSpPr/>
          <p:nvPr/>
        </p:nvSpPr>
        <p:spPr>
          <a:xfrm>
            <a:off x="3241328" y="3599575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291" name="Shape 289"/>
          <p:cNvSpPr/>
          <p:nvPr/>
        </p:nvSpPr>
        <p:spPr>
          <a:xfrm>
            <a:off x="3225499" y="3699484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292" name="Shape 290"/>
          <p:cNvSpPr/>
          <p:nvPr/>
        </p:nvSpPr>
        <p:spPr>
          <a:xfrm>
            <a:off x="3214333" y="370716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293" name="Shape 291"/>
          <p:cNvSpPr/>
          <p:nvPr/>
        </p:nvSpPr>
        <p:spPr>
          <a:xfrm>
            <a:off x="3288556" y="358498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294" name="Shape 292"/>
          <p:cNvSpPr/>
          <p:nvPr/>
        </p:nvSpPr>
        <p:spPr>
          <a:xfrm>
            <a:off x="3187377" y="3639326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295" name="Shape 293"/>
          <p:cNvSpPr/>
          <p:nvPr/>
        </p:nvSpPr>
        <p:spPr>
          <a:xfrm>
            <a:off x="3605867" y="3627002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296" name="Shape 294"/>
          <p:cNvSpPr/>
          <p:nvPr/>
        </p:nvSpPr>
        <p:spPr>
          <a:xfrm>
            <a:off x="3080753" y="3661604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297" name="Shape 295"/>
          <p:cNvSpPr/>
          <p:nvPr/>
        </p:nvSpPr>
        <p:spPr>
          <a:xfrm>
            <a:off x="3218525" y="3709566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298" name="Shape 296"/>
          <p:cNvSpPr/>
          <p:nvPr/>
        </p:nvSpPr>
        <p:spPr>
          <a:xfrm>
            <a:off x="3255327" y="3359651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299" name="Shape 297"/>
          <p:cNvSpPr/>
          <p:nvPr/>
        </p:nvSpPr>
        <p:spPr>
          <a:xfrm>
            <a:off x="3413637" y="352493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00" name="Shape 298"/>
          <p:cNvSpPr/>
          <p:nvPr/>
        </p:nvSpPr>
        <p:spPr>
          <a:xfrm>
            <a:off x="3499980" y="361067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01" name="Shape 299"/>
          <p:cNvSpPr/>
          <p:nvPr/>
        </p:nvSpPr>
        <p:spPr>
          <a:xfrm>
            <a:off x="3270671" y="373234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02" name="Shape 300"/>
          <p:cNvSpPr/>
          <p:nvPr/>
        </p:nvSpPr>
        <p:spPr>
          <a:xfrm>
            <a:off x="3245516" y="3859866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03" name="Shape 301"/>
          <p:cNvSpPr/>
          <p:nvPr/>
        </p:nvSpPr>
        <p:spPr>
          <a:xfrm>
            <a:off x="3266003" y="377488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04" name="Shape 302"/>
          <p:cNvSpPr/>
          <p:nvPr/>
        </p:nvSpPr>
        <p:spPr>
          <a:xfrm>
            <a:off x="3479817" y="384173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05" name="Shape 303"/>
          <p:cNvSpPr/>
          <p:nvPr/>
        </p:nvSpPr>
        <p:spPr>
          <a:xfrm>
            <a:off x="3619956" y="3499114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06" name="Shape 304"/>
          <p:cNvSpPr/>
          <p:nvPr/>
        </p:nvSpPr>
        <p:spPr>
          <a:xfrm>
            <a:off x="3294447" y="376831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07" name="Shape 305"/>
          <p:cNvSpPr/>
          <p:nvPr/>
        </p:nvSpPr>
        <p:spPr>
          <a:xfrm>
            <a:off x="3560342" y="348207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08" name="Shape 306"/>
          <p:cNvSpPr/>
          <p:nvPr/>
        </p:nvSpPr>
        <p:spPr>
          <a:xfrm>
            <a:off x="3351379" y="399057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09" name="Shape 307"/>
          <p:cNvSpPr/>
          <p:nvPr/>
        </p:nvSpPr>
        <p:spPr>
          <a:xfrm>
            <a:off x="3298791" y="348477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10" name="Shape 308"/>
          <p:cNvSpPr/>
          <p:nvPr/>
        </p:nvSpPr>
        <p:spPr>
          <a:xfrm>
            <a:off x="3282957" y="4014892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11" name="Shape 309"/>
          <p:cNvSpPr/>
          <p:nvPr/>
        </p:nvSpPr>
        <p:spPr>
          <a:xfrm>
            <a:off x="3127515" y="3466761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12" name="Shape 310"/>
          <p:cNvSpPr/>
          <p:nvPr/>
        </p:nvSpPr>
        <p:spPr>
          <a:xfrm>
            <a:off x="3228622" y="390681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13" name="Shape 311"/>
          <p:cNvSpPr/>
          <p:nvPr/>
        </p:nvSpPr>
        <p:spPr>
          <a:xfrm>
            <a:off x="3386380" y="3865247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14" name="Shape 312"/>
          <p:cNvSpPr/>
          <p:nvPr/>
        </p:nvSpPr>
        <p:spPr>
          <a:xfrm>
            <a:off x="3527531" y="3942016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15" name="Shape 313"/>
          <p:cNvSpPr/>
          <p:nvPr/>
        </p:nvSpPr>
        <p:spPr>
          <a:xfrm>
            <a:off x="3091157" y="3613634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16" name="Shape 314"/>
          <p:cNvSpPr/>
          <p:nvPr/>
        </p:nvSpPr>
        <p:spPr>
          <a:xfrm>
            <a:off x="3227728" y="345524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17" name="Shape 315"/>
          <p:cNvSpPr/>
          <p:nvPr/>
        </p:nvSpPr>
        <p:spPr>
          <a:xfrm>
            <a:off x="3261205" y="3467752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18" name="Shape 316"/>
          <p:cNvSpPr/>
          <p:nvPr/>
        </p:nvSpPr>
        <p:spPr>
          <a:xfrm>
            <a:off x="3026836" y="352879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19" name="Shape 317"/>
          <p:cNvSpPr/>
          <p:nvPr/>
        </p:nvSpPr>
        <p:spPr>
          <a:xfrm>
            <a:off x="3085083" y="3912804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20" name="Shape 318"/>
          <p:cNvSpPr/>
          <p:nvPr/>
        </p:nvSpPr>
        <p:spPr>
          <a:xfrm>
            <a:off x="3662061" y="3753156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21" name="Shape 319"/>
          <p:cNvSpPr/>
          <p:nvPr/>
        </p:nvSpPr>
        <p:spPr>
          <a:xfrm>
            <a:off x="3485777" y="366575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22" name="Shape 320"/>
          <p:cNvSpPr/>
          <p:nvPr/>
        </p:nvSpPr>
        <p:spPr>
          <a:xfrm>
            <a:off x="3480064" y="3770656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23" name="Shape 321"/>
          <p:cNvSpPr/>
          <p:nvPr/>
        </p:nvSpPr>
        <p:spPr>
          <a:xfrm>
            <a:off x="3118297" y="3913175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24" name="Shape 322"/>
          <p:cNvSpPr/>
          <p:nvPr/>
        </p:nvSpPr>
        <p:spPr>
          <a:xfrm>
            <a:off x="3032331" y="3735640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25" name="Shape 323"/>
          <p:cNvSpPr/>
          <p:nvPr/>
        </p:nvSpPr>
        <p:spPr>
          <a:xfrm>
            <a:off x="3407861" y="4014164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26" name="Shape 324"/>
          <p:cNvSpPr/>
          <p:nvPr/>
        </p:nvSpPr>
        <p:spPr>
          <a:xfrm>
            <a:off x="3351824" y="3388141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27" name="Shape 325"/>
          <p:cNvSpPr/>
          <p:nvPr/>
        </p:nvSpPr>
        <p:spPr>
          <a:xfrm>
            <a:off x="3478663" y="386515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28" name="Shape 326"/>
          <p:cNvSpPr/>
          <p:nvPr/>
        </p:nvSpPr>
        <p:spPr>
          <a:xfrm>
            <a:off x="3350708" y="3368307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29" name="Shape 327"/>
          <p:cNvSpPr/>
          <p:nvPr/>
        </p:nvSpPr>
        <p:spPr>
          <a:xfrm>
            <a:off x="3416865" y="3890064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30" name="Shape 328"/>
          <p:cNvSpPr/>
          <p:nvPr/>
        </p:nvSpPr>
        <p:spPr>
          <a:xfrm>
            <a:off x="3020916" y="3839607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31" name="Shape 329"/>
          <p:cNvSpPr/>
          <p:nvPr/>
        </p:nvSpPr>
        <p:spPr>
          <a:xfrm>
            <a:off x="3003977" y="3805957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32" name="Shape 330"/>
          <p:cNvSpPr/>
          <p:nvPr/>
        </p:nvSpPr>
        <p:spPr>
          <a:xfrm>
            <a:off x="3098524" y="3427430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33" name="Shape 331"/>
          <p:cNvSpPr/>
          <p:nvPr/>
        </p:nvSpPr>
        <p:spPr>
          <a:xfrm>
            <a:off x="3378298" y="375794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34" name="Shape 332"/>
          <p:cNvSpPr/>
          <p:nvPr/>
        </p:nvSpPr>
        <p:spPr>
          <a:xfrm>
            <a:off x="3593371" y="3783455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35" name="Shape 333"/>
          <p:cNvSpPr/>
          <p:nvPr/>
        </p:nvSpPr>
        <p:spPr>
          <a:xfrm>
            <a:off x="3105143" y="343533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36" name="Shape 334"/>
          <p:cNvSpPr/>
          <p:nvPr/>
        </p:nvSpPr>
        <p:spPr>
          <a:xfrm>
            <a:off x="3183472" y="3431942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37" name="Shape 335"/>
          <p:cNvSpPr/>
          <p:nvPr/>
        </p:nvSpPr>
        <p:spPr>
          <a:xfrm>
            <a:off x="3298239" y="3880040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38" name="Shape 336"/>
          <p:cNvSpPr/>
          <p:nvPr/>
        </p:nvSpPr>
        <p:spPr>
          <a:xfrm>
            <a:off x="3155567" y="3912705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39" name="Shape 337"/>
          <p:cNvSpPr/>
          <p:nvPr/>
        </p:nvSpPr>
        <p:spPr>
          <a:xfrm>
            <a:off x="3097691" y="353922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40" name="Shape 338"/>
          <p:cNvSpPr/>
          <p:nvPr/>
        </p:nvSpPr>
        <p:spPr>
          <a:xfrm>
            <a:off x="3153531" y="3548340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41" name="Shape 339"/>
          <p:cNvSpPr/>
          <p:nvPr/>
        </p:nvSpPr>
        <p:spPr>
          <a:xfrm>
            <a:off x="3422827" y="377852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42" name="Shape 340"/>
          <p:cNvSpPr/>
          <p:nvPr/>
        </p:nvSpPr>
        <p:spPr>
          <a:xfrm>
            <a:off x="3019094" y="353733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43" name="Shape 341"/>
          <p:cNvSpPr/>
          <p:nvPr/>
        </p:nvSpPr>
        <p:spPr>
          <a:xfrm>
            <a:off x="3386884" y="3440995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44" name="Shape 342"/>
          <p:cNvSpPr/>
          <p:nvPr/>
        </p:nvSpPr>
        <p:spPr>
          <a:xfrm>
            <a:off x="3382438" y="4053934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45" name="Shape 343"/>
          <p:cNvSpPr/>
          <p:nvPr/>
        </p:nvSpPr>
        <p:spPr>
          <a:xfrm>
            <a:off x="3390567" y="346557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46" name="Shape 344"/>
          <p:cNvSpPr/>
          <p:nvPr/>
        </p:nvSpPr>
        <p:spPr>
          <a:xfrm>
            <a:off x="3505427" y="3812741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47" name="Shape 345"/>
          <p:cNvSpPr/>
          <p:nvPr/>
        </p:nvSpPr>
        <p:spPr>
          <a:xfrm>
            <a:off x="3535370" y="3971245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48" name="Shape 346"/>
          <p:cNvSpPr/>
          <p:nvPr/>
        </p:nvSpPr>
        <p:spPr>
          <a:xfrm>
            <a:off x="3385198" y="3919412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49" name="Shape 347"/>
          <p:cNvSpPr/>
          <p:nvPr/>
        </p:nvSpPr>
        <p:spPr>
          <a:xfrm>
            <a:off x="3103480" y="3713666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50" name="Shape 348"/>
          <p:cNvSpPr/>
          <p:nvPr/>
        </p:nvSpPr>
        <p:spPr>
          <a:xfrm>
            <a:off x="3257363" y="379198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51" name="Shape 349"/>
          <p:cNvSpPr/>
          <p:nvPr/>
        </p:nvSpPr>
        <p:spPr>
          <a:xfrm>
            <a:off x="3447602" y="3982062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52" name="Shape 350"/>
          <p:cNvSpPr/>
          <p:nvPr/>
        </p:nvSpPr>
        <p:spPr>
          <a:xfrm>
            <a:off x="3527849" y="3861226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53" name="Shape 351"/>
          <p:cNvSpPr/>
          <p:nvPr/>
        </p:nvSpPr>
        <p:spPr>
          <a:xfrm>
            <a:off x="3288859" y="361944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54" name="Shape 352"/>
          <p:cNvSpPr/>
          <p:nvPr/>
        </p:nvSpPr>
        <p:spPr>
          <a:xfrm>
            <a:off x="3406434" y="3805555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55" name="Shape 353"/>
          <p:cNvSpPr/>
          <p:nvPr/>
        </p:nvSpPr>
        <p:spPr>
          <a:xfrm>
            <a:off x="3248112" y="4031721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56" name="Shape 354"/>
          <p:cNvSpPr/>
          <p:nvPr/>
        </p:nvSpPr>
        <p:spPr>
          <a:xfrm>
            <a:off x="3341403" y="390609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57" name="Shape 355"/>
          <p:cNvSpPr/>
          <p:nvPr/>
        </p:nvSpPr>
        <p:spPr>
          <a:xfrm>
            <a:off x="3237309" y="3425507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58" name="Shape 356"/>
          <p:cNvSpPr/>
          <p:nvPr/>
        </p:nvSpPr>
        <p:spPr>
          <a:xfrm>
            <a:off x="3650689" y="3818427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59" name="Shape 357"/>
          <p:cNvSpPr/>
          <p:nvPr/>
        </p:nvSpPr>
        <p:spPr>
          <a:xfrm>
            <a:off x="3468908" y="378140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60" name="Shape 358"/>
          <p:cNvSpPr/>
          <p:nvPr/>
        </p:nvSpPr>
        <p:spPr>
          <a:xfrm>
            <a:off x="3522632" y="3909270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61" name="Shape 359"/>
          <p:cNvSpPr/>
          <p:nvPr/>
        </p:nvSpPr>
        <p:spPr>
          <a:xfrm>
            <a:off x="3579705" y="350647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62" name="Shape 360"/>
          <p:cNvSpPr/>
          <p:nvPr/>
        </p:nvSpPr>
        <p:spPr>
          <a:xfrm>
            <a:off x="3660057" y="3728771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63" name="Shape 361"/>
          <p:cNvSpPr/>
          <p:nvPr/>
        </p:nvSpPr>
        <p:spPr>
          <a:xfrm>
            <a:off x="3383143" y="4008104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64" name="Shape 362"/>
          <p:cNvSpPr/>
          <p:nvPr/>
        </p:nvSpPr>
        <p:spPr>
          <a:xfrm>
            <a:off x="3216266" y="3390294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65" name="Shape 363"/>
          <p:cNvSpPr/>
          <p:nvPr/>
        </p:nvSpPr>
        <p:spPr>
          <a:xfrm>
            <a:off x="3677957" y="360728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66" name="Shape 364"/>
          <p:cNvSpPr/>
          <p:nvPr/>
        </p:nvSpPr>
        <p:spPr>
          <a:xfrm>
            <a:off x="3277713" y="371897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67" name="Shape 365"/>
          <p:cNvSpPr/>
          <p:nvPr/>
        </p:nvSpPr>
        <p:spPr>
          <a:xfrm>
            <a:off x="3629933" y="358409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68" name="Shape 366"/>
          <p:cNvSpPr/>
          <p:nvPr/>
        </p:nvSpPr>
        <p:spPr>
          <a:xfrm>
            <a:off x="3274290" y="371833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69" name="Shape 367"/>
          <p:cNvSpPr/>
          <p:nvPr/>
        </p:nvSpPr>
        <p:spPr>
          <a:xfrm>
            <a:off x="3493271" y="362269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70" name="Shape 368"/>
          <p:cNvSpPr/>
          <p:nvPr/>
        </p:nvSpPr>
        <p:spPr>
          <a:xfrm>
            <a:off x="3690782" y="3645992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71" name="Shape 369"/>
          <p:cNvSpPr/>
          <p:nvPr/>
        </p:nvSpPr>
        <p:spPr>
          <a:xfrm>
            <a:off x="3399076" y="4029375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372" name="Shape 370"/>
          <p:cNvSpPr/>
          <p:nvPr/>
        </p:nvSpPr>
        <p:spPr>
          <a:xfrm>
            <a:off x="5161672" y="3039187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73" name="Shape 371"/>
          <p:cNvSpPr/>
          <p:nvPr/>
        </p:nvSpPr>
        <p:spPr>
          <a:xfrm>
            <a:off x="4990182" y="2864428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74" name="Shape 372"/>
          <p:cNvSpPr/>
          <p:nvPr/>
        </p:nvSpPr>
        <p:spPr>
          <a:xfrm>
            <a:off x="4826639" y="2677421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75" name="Shape 373"/>
          <p:cNvSpPr/>
          <p:nvPr/>
        </p:nvSpPr>
        <p:spPr>
          <a:xfrm>
            <a:off x="4877614" y="3662902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76" name="Shape 374"/>
          <p:cNvSpPr/>
          <p:nvPr/>
        </p:nvSpPr>
        <p:spPr>
          <a:xfrm>
            <a:off x="4863712" y="3586855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77" name="Shape 375"/>
          <p:cNvSpPr/>
          <p:nvPr/>
        </p:nvSpPr>
        <p:spPr>
          <a:xfrm>
            <a:off x="5139942" y="3302569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78" name="Shape 376"/>
          <p:cNvSpPr/>
          <p:nvPr/>
        </p:nvSpPr>
        <p:spPr>
          <a:xfrm>
            <a:off x="4418783" y="3645666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79" name="Shape 377"/>
          <p:cNvSpPr/>
          <p:nvPr/>
        </p:nvSpPr>
        <p:spPr>
          <a:xfrm>
            <a:off x="4777726" y="2863521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80" name="Shape 378"/>
          <p:cNvSpPr/>
          <p:nvPr/>
        </p:nvSpPr>
        <p:spPr>
          <a:xfrm>
            <a:off x="4871070" y="3753332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81" name="Shape 379"/>
          <p:cNvSpPr/>
          <p:nvPr/>
        </p:nvSpPr>
        <p:spPr>
          <a:xfrm>
            <a:off x="5171328" y="2853938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82" name="Shape 380"/>
          <p:cNvSpPr/>
          <p:nvPr/>
        </p:nvSpPr>
        <p:spPr>
          <a:xfrm>
            <a:off x="4326558" y="3190823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83" name="Shape 381"/>
          <p:cNvSpPr/>
          <p:nvPr/>
        </p:nvSpPr>
        <p:spPr>
          <a:xfrm>
            <a:off x="4617388" y="3494198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84" name="Shape 382"/>
          <p:cNvSpPr/>
          <p:nvPr/>
        </p:nvSpPr>
        <p:spPr>
          <a:xfrm>
            <a:off x="5060027" y="3583367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85" name="Shape 383"/>
          <p:cNvSpPr/>
          <p:nvPr/>
        </p:nvSpPr>
        <p:spPr>
          <a:xfrm>
            <a:off x="5033306" y="3431204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86" name="Shape 384"/>
          <p:cNvSpPr/>
          <p:nvPr/>
        </p:nvSpPr>
        <p:spPr>
          <a:xfrm>
            <a:off x="4252539" y="3286738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87" name="Shape 385"/>
          <p:cNvSpPr/>
          <p:nvPr/>
        </p:nvSpPr>
        <p:spPr>
          <a:xfrm>
            <a:off x="4841006" y="3366099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88" name="Shape 386"/>
          <p:cNvSpPr/>
          <p:nvPr/>
        </p:nvSpPr>
        <p:spPr>
          <a:xfrm>
            <a:off x="4902459" y="3691698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89" name="Shape 387"/>
          <p:cNvSpPr/>
          <p:nvPr/>
        </p:nvSpPr>
        <p:spPr>
          <a:xfrm>
            <a:off x="4898884" y="2940067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90" name="Shape 388"/>
          <p:cNvSpPr/>
          <p:nvPr/>
        </p:nvSpPr>
        <p:spPr>
          <a:xfrm>
            <a:off x="5218853" y="3076095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91" name="Shape 389"/>
          <p:cNvSpPr/>
          <p:nvPr/>
        </p:nvSpPr>
        <p:spPr>
          <a:xfrm>
            <a:off x="5157872" y="3282686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92" name="Shape 390"/>
          <p:cNvSpPr/>
          <p:nvPr/>
        </p:nvSpPr>
        <p:spPr>
          <a:xfrm>
            <a:off x="4341469" y="3143131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93" name="Shape 391"/>
          <p:cNvSpPr/>
          <p:nvPr/>
        </p:nvSpPr>
        <p:spPr>
          <a:xfrm>
            <a:off x="4689013" y="3534574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94" name="Shape 392"/>
          <p:cNvSpPr/>
          <p:nvPr/>
        </p:nvSpPr>
        <p:spPr>
          <a:xfrm>
            <a:off x="4272395" y="2909903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95" name="Shape 393"/>
          <p:cNvSpPr/>
          <p:nvPr/>
        </p:nvSpPr>
        <p:spPr>
          <a:xfrm>
            <a:off x="5078589" y="3623911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96" name="Shape 394"/>
          <p:cNvSpPr/>
          <p:nvPr/>
        </p:nvSpPr>
        <p:spPr>
          <a:xfrm>
            <a:off x="4917268" y="2936633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97" name="Shape 395"/>
          <p:cNvSpPr/>
          <p:nvPr/>
        </p:nvSpPr>
        <p:spPr>
          <a:xfrm>
            <a:off x="5152086" y="2835652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98" name="Shape 396"/>
          <p:cNvSpPr/>
          <p:nvPr/>
        </p:nvSpPr>
        <p:spPr>
          <a:xfrm>
            <a:off x="4701790" y="3592993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399" name="Shape 397"/>
          <p:cNvSpPr/>
          <p:nvPr/>
        </p:nvSpPr>
        <p:spPr>
          <a:xfrm>
            <a:off x="4670022" y="3562467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00" name="Shape 398"/>
          <p:cNvSpPr/>
          <p:nvPr/>
        </p:nvSpPr>
        <p:spPr>
          <a:xfrm>
            <a:off x="4623918" y="2859677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01" name="Shape 399"/>
          <p:cNvSpPr/>
          <p:nvPr/>
        </p:nvSpPr>
        <p:spPr>
          <a:xfrm>
            <a:off x="4840093" y="3191865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02" name="Shape 400"/>
          <p:cNvSpPr/>
          <p:nvPr/>
        </p:nvSpPr>
        <p:spPr>
          <a:xfrm>
            <a:off x="5129449" y="3048413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03" name="Shape 401"/>
          <p:cNvSpPr/>
          <p:nvPr/>
        </p:nvSpPr>
        <p:spPr>
          <a:xfrm>
            <a:off x="4539722" y="2570060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04" name="Shape 402"/>
          <p:cNvSpPr/>
          <p:nvPr/>
        </p:nvSpPr>
        <p:spPr>
          <a:xfrm>
            <a:off x="4541443" y="3045274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05" name="Shape 403"/>
          <p:cNvSpPr/>
          <p:nvPr/>
        </p:nvSpPr>
        <p:spPr>
          <a:xfrm>
            <a:off x="4621297" y="2825263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06" name="Shape 404"/>
          <p:cNvSpPr/>
          <p:nvPr/>
        </p:nvSpPr>
        <p:spPr>
          <a:xfrm>
            <a:off x="4751850" y="2791050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07" name="Shape 405"/>
          <p:cNvSpPr/>
          <p:nvPr/>
        </p:nvSpPr>
        <p:spPr>
          <a:xfrm>
            <a:off x="5127193" y="3357274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08" name="Shape 406"/>
          <p:cNvSpPr/>
          <p:nvPr/>
        </p:nvSpPr>
        <p:spPr>
          <a:xfrm>
            <a:off x="5127415" y="2998936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09" name="Shape 407"/>
          <p:cNvSpPr/>
          <p:nvPr/>
        </p:nvSpPr>
        <p:spPr>
          <a:xfrm>
            <a:off x="4891407" y="3189189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10" name="Shape 408"/>
          <p:cNvSpPr/>
          <p:nvPr/>
        </p:nvSpPr>
        <p:spPr>
          <a:xfrm>
            <a:off x="4988769" y="3113390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11" name="Shape 409"/>
          <p:cNvSpPr/>
          <p:nvPr/>
        </p:nvSpPr>
        <p:spPr>
          <a:xfrm>
            <a:off x="5169361" y="2987617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12" name="Shape 410"/>
          <p:cNvSpPr/>
          <p:nvPr/>
        </p:nvSpPr>
        <p:spPr>
          <a:xfrm>
            <a:off x="4580024" y="3371703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13" name="Shape 411"/>
          <p:cNvSpPr/>
          <p:nvPr/>
        </p:nvSpPr>
        <p:spPr>
          <a:xfrm>
            <a:off x="4990360" y="3316403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14" name="Shape 412"/>
          <p:cNvSpPr/>
          <p:nvPr/>
        </p:nvSpPr>
        <p:spPr>
          <a:xfrm>
            <a:off x="4271061" y="3196381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15" name="Shape 413"/>
          <p:cNvSpPr/>
          <p:nvPr/>
        </p:nvSpPr>
        <p:spPr>
          <a:xfrm>
            <a:off x="4260950" y="2934071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16" name="Shape 414"/>
          <p:cNvSpPr/>
          <p:nvPr/>
        </p:nvSpPr>
        <p:spPr>
          <a:xfrm>
            <a:off x="5112049" y="3505922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17" name="Shape 415"/>
          <p:cNvSpPr/>
          <p:nvPr/>
        </p:nvSpPr>
        <p:spPr>
          <a:xfrm>
            <a:off x="4548642" y="3442554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18" name="Shape 416"/>
          <p:cNvSpPr/>
          <p:nvPr/>
        </p:nvSpPr>
        <p:spPr>
          <a:xfrm>
            <a:off x="4360556" y="2968760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19" name="Shape 417"/>
          <p:cNvSpPr/>
          <p:nvPr/>
        </p:nvSpPr>
        <p:spPr>
          <a:xfrm>
            <a:off x="4958253" y="2831376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20" name="Shape 418"/>
          <p:cNvSpPr/>
          <p:nvPr/>
        </p:nvSpPr>
        <p:spPr>
          <a:xfrm>
            <a:off x="4935036" y="2901579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21" name="Shape 419"/>
          <p:cNvSpPr/>
          <p:nvPr/>
        </p:nvSpPr>
        <p:spPr>
          <a:xfrm>
            <a:off x="4635583" y="3692282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22" name="Shape 420"/>
          <p:cNvSpPr/>
          <p:nvPr/>
        </p:nvSpPr>
        <p:spPr>
          <a:xfrm>
            <a:off x="4680614" y="2625055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23" name="Shape 421"/>
          <p:cNvSpPr/>
          <p:nvPr/>
        </p:nvSpPr>
        <p:spPr>
          <a:xfrm>
            <a:off x="5159680" y="2872150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24" name="Shape 422"/>
          <p:cNvSpPr/>
          <p:nvPr/>
        </p:nvSpPr>
        <p:spPr>
          <a:xfrm>
            <a:off x="5109792" y="3244042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25" name="Shape 423"/>
          <p:cNvSpPr/>
          <p:nvPr/>
        </p:nvSpPr>
        <p:spPr>
          <a:xfrm>
            <a:off x="4362716" y="2800220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26" name="Shape 424"/>
          <p:cNvSpPr/>
          <p:nvPr/>
        </p:nvSpPr>
        <p:spPr>
          <a:xfrm>
            <a:off x="4672106" y="3488014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27" name="Shape 425"/>
          <p:cNvSpPr/>
          <p:nvPr/>
        </p:nvSpPr>
        <p:spPr>
          <a:xfrm>
            <a:off x="5029019" y="2655416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28" name="Shape 426"/>
          <p:cNvSpPr/>
          <p:nvPr/>
        </p:nvSpPr>
        <p:spPr>
          <a:xfrm>
            <a:off x="4707164" y="2985672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29" name="Shape 427"/>
          <p:cNvSpPr/>
          <p:nvPr/>
        </p:nvSpPr>
        <p:spPr>
          <a:xfrm>
            <a:off x="4513642" y="3649961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30" name="Shape 428"/>
          <p:cNvSpPr/>
          <p:nvPr/>
        </p:nvSpPr>
        <p:spPr>
          <a:xfrm>
            <a:off x="4574724" y="3240925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31" name="Shape 429"/>
          <p:cNvSpPr/>
          <p:nvPr/>
        </p:nvSpPr>
        <p:spPr>
          <a:xfrm>
            <a:off x="5105259" y="3294586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32" name="Shape 430"/>
          <p:cNvSpPr/>
          <p:nvPr/>
        </p:nvSpPr>
        <p:spPr>
          <a:xfrm>
            <a:off x="5068182" y="2881857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33" name="Shape 431"/>
          <p:cNvSpPr/>
          <p:nvPr/>
        </p:nvSpPr>
        <p:spPr>
          <a:xfrm>
            <a:off x="4274972" y="3292975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34" name="Shape 432"/>
          <p:cNvSpPr/>
          <p:nvPr/>
        </p:nvSpPr>
        <p:spPr>
          <a:xfrm>
            <a:off x="4903031" y="3519553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35" name="Shape 433"/>
          <p:cNvSpPr/>
          <p:nvPr/>
        </p:nvSpPr>
        <p:spPr>
          <a:xfrm>
            <a:off x="4690287" y="2762979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36" name="Shape 434"/>
          <p:cNvSpPr/>
          <p:nvPr/>
        </p:nvSpPr>
        <p:spPr>
          <a:xfrm>
            <a:off x="4300522" y="3047995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37" name="Shape 435"/>
          <p:cNvSpPr/>
          <p:nvPr/>
        </p:nvSpPr>
        <p:spPr>
          <a:xfrm>
            <a:off x="5162701" y="3374498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38" name="Shape 436"/>
          <p:cNvSpPr/>
          <p:nvPr/>
        </p:nvSpPr>
        <p:spPr>
          <a:xfrm>
            <a:off x="5066381" y="2923142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39" name="Shape 437"/>
          <p:cNvSpPr/>
          <p:nvPr/>
        </p:nvSpPr>
        <p:spPr>
          <a:xfrm>
            <a:off x="4604801" y="3275088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40" name="Shape 438"/>
          <p:cNvSpPr/>
          <p:nvPr/>
        </p:nvSpPr>
        <p:spPr>
          <a:xfrm>
            <a:off x="5178965" y="3290868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41" name="Shape 439"/>
          <p:cNvSpPr/>
          <p:nvPr/>
        </p:nvSpPr>
        <p:spPr>
          <a:xfrm>
            <a:off x="4249468" y="2943542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42" name="Shape 440"/>
          <p:cNvSpPr/>
          <p:nvPr/>
        </p:nvSpPr>
        <p:spPr>
          <a:xfrm>
            <a:off x="4271333" y="3422161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43" name="Shape 441"/>
          <p:cNvSpPr/>
          <p:nvPr/>
        </p:nvSpPr>
        <p:spPr>
          <a:xfrm>
            <a:off x="5218776" y="3059581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44" name="Shape 442"/>
          <p:cNvSpPr/>
          <p:nvPr/>
        </p:nvSpPr>
        <p:spPr>
          <a:xfrm>
            <a:off x="4623166" y="3176281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45" name="Shape 443"/>
          <p:cNvSpPr/>
          <p:nvPr/>
        </p:nvSpPr>
        <p:spPr>
          <a:xfrm>
            <a:off x="5125105" y="3093946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46" name="Shape 444"/>
          <p:cNvSpPr/>
          <p:nvPr/>
        </p:nvSpPr>
        <p:spPr>
          <a:xfrm>
            <a:off x="4455124" y="3030126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47" name="Shape 445"/>
          <p:cNvSpPr/>
          <p:nvPr/>
        </p:nvSpPr>
        <p:spPr>
          <a:xfrm>
            <a:off x="4457879" y="2883682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48" name="Shape 446"/>
          <p:cNvSpPr/>
          <p:nvPr/>
        </p:nvSpPr>
        <p:spPr>
          <a:xfrm>
            <a:off x="4703251" y="2688127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49" name="Shape 447"/>
          <p:cNvSpPr/>
          <p:nvPr/>
        </p:nvSpPr>
        <p:spPr>
          <a:xfrm>
            <a:off x="4738028" y="2690502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50" name="Shape 448"/>
          <p:cNvSpPr/>
          <p:nvPr/>
        </p:nvSpPr>
        <p:spPr>
          <a:xfrm>
            <a:off x="5217559" y="3036327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51" name="Shape 449"/>
          <p:cNvSpPr/>
          <p:nvPr/>
        </p:nvSpPr>
        <p:spPr>
          <a:xfrm>
            <a:off x="4741618" y="3678485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52" name="Shape 450"/>
          <p:cNvSpPr/>
          <p:nvPr/>
        </p:nvSpPr>
        <p:spPr>
          <a:xfrm>
            <a:off x="4739520" y="2544384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53" name="Shape 451"/>
          <p:cNvSpPr/>
          <p:nvPr/>
        </p:nvSpPr>
        <p:spPr>
          <a:xfrm>
            <a:off x="4511005" y="3088325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54" name="Shape 452"/>
          <p:cNvSpPr/>
          <p:nvPr/>
        </p:nvSpPr>
        <p:spPr>
          <a:xfrm>
            <a:off x="4610198" y="3558448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55" name="Shape 453"/>
          <p:cNvSpPr/>
          <p:nvPr/>
        </p:nvSpPr>
        <p:spPr>
          <a:xfrm>
            <a:off x="4585350" y="2770597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56" name="Shape 454"/>
          <p:cNvSpPr/>
          <p:nvPr/>
        </p:nvSpPr>
        <p:spPr>
          <a:xfrm>
            <a:off x="4791437" y="3447427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57" name="Shape 455"/>
          <p:cNvSpPr/>
          <p:nvPr/>
        </p:nvSpPr>
        <p:spPr>
          <a:xfrm>
            <a:off x="5098203" y="3059545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58" name="Shape 456"/>
          <p:cNvSpPr/>
          <p:nvPr/>
        </p:nvSpPr>
        <p:spPr>
          <a:xfrm>
            <a:off x="4335033" y="3427469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59" name="Shape 457"/>
          <p:cNvSpPr/>
          <p:nvPr/>
        </p:nvSpPr>
        <p:spPr>
          <a:xfrm>
            <a:off x="4327331" y="2718056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60" name="Shape 458"/>
          <p:cNvSpPr/>
          <p:nvPr/>
        </p:nvSpPr>
        <p:spPr>
          <a:xfrm>
            <a:off x="5163684" y="3127830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61" name="Shape 459"/>
          <p:cNvSpPr/>
          <p:nvPr/>
        </p:nvSpPr>
        <p:spPr>
          <a:xfrm>
            <a:off x="5173963" y="3119272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62" name="Shape 460"/>
          <p:cNvSpPr/>
          <p:nvPr/>
        </p:nvSpPr>
        <p:spPr>
          <a:xfrm>
            <a:off x="4970816" y="3507179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63" name="Shape 461"/>
          <p:cNvSpPr/>
          <p:nvPr/>
        </p:nvSpPr>
        <p:spPr>
          <a:xfrm>
            <a:off x="4603081" y="2770661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64" name="Shape 462"/>
          <p:cNvSpPr/>
          <p:nvPr/>
        </p:nvSpPr>
        <p:spPr>
          <a:xfrm>
            <a:off x="5017074" y="2651658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65" name="Shape 463"/>
          <p:cNvSpPr/>
          <p:nvPr/>
        </p:nvSpPr>
        <p:spPr>
          <a:xfrm>
            <a:off x="4627001" y="3500293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66" name="Shape 464"/>
          <p:cNvSpPr/>
          <p:nvPr/>
        </p:nvSpPr>
        <p:spPr>
          <a:xfrm>
            <a:off x="4394287" y="3556679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67" name="Shape 465"/>
          <p:cNvSpPr/>
          <p:nvPr/>
        </p:nvSpPr>
        <p:spPr>
          <a:xfrm>
            <a:off x="5136190" y="3072135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68" name="Shape 466"/>
          <p:cNvSpPr/>
          <p:nvPr/>
        </p:nvSpPr>
        <p:spPr>
          <a:xfrm>
            <a:off x="5010772" y="3152028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69" name="Shape 467"/>
          <p:cNvSpPr/>
          <p:nvPr/>
        </p:nvSpPr>
        <p:spPr>
          <a:xfrm>
            <a:off x="4339499" y="2850127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70" name="Shape 468"/>
          <p:cNvSpPr/>
          <p:nvPr/>
        </p:nvSpPr>
        <p:spPr>
          <a:xfrm>
            <a:off x="4718679" y="2673549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71" name="Shape 469"/>
          <p:cNvSpPr/>
          <p:nvPr/>
        </p:nvSpPr>
        <p:spPr>
          <a:xfrm>
            <a:off x="4201707" y="3047105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72" name="Shape 470"/>
          <p:cNvSpPr/>
          <p:nvPr/>
        </p:nvSpPr>
        <p:spPr>
          <a:xfrm>
            <a:off x="4615916" y="3410600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73" name="Shape 471"/>
          <p:cNvSpPr/>
          <p:nvPr/>
        </p:nvSpPr>
        <p:spPr>
          <a:xfrm>
            <a:off x="4441628" y="2843383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74" name="Shape 472"/>
          <p:cNvSpPr/>
          <p:nvPr/>
        </p:nvSpPr>
        <p:spPr>
          <a:xfrm>
            <a:off x="4791224" y="2656758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75" name="Shape 473"/>
          <p:cNvSpPr/>
          <p:nvPr/>
        </p:nvSpPr>
        <p:spPr>
          <a:xfrm>
            <a:off x="4806252" y="2848073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76" name="Shape 474"/>
          <p:cNvSpPr/>
          <p:nvPr/>
        </p:nvSpPr>
        <p:spPr>
          <a:xfrm>
            <a:off x="4494304" y="3117958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77" name="Shape 475"/>
          <p:cNvSpPr/>
          <p:nvPr/>
        </p:nvSpPr>
        <p:spPr>
          <a:xfrm>
            <a:off x="4699528" y="3145535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78" name="Shape 476"/>
          <p:cNvSpPr/>
          <p:nvPr/>
        </p:nvSpPr>
        <p:spPr>
          <a:xfrm>
            <a:off x="4906213" y="2727957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79" name="Shape 477"/>
          <p:cNvSpPr/>
          <p:nvPr/>
        </p:nvSpPr>
        <p:spPr>
          <a:xfrm>
            <a:off x="4252435" y="2852106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80" name="Shape 478"/>
          <p:cNvSpPr/>
          <p:nvPr/>
        </p:nvSpPr>
        <p:spPr>
          <a:xfrm>
            <a:off x="4348298" y="3330843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81" name="Shape 479"/>
          <p:cNvSpPr/>
          <p:nvPr/>
        </p:nvSpPr>
        <p:spPr>
          <a:xfrm>
            <a:off x="4656759" y="2680395"/>
            <a:ext cx="45720" cy="45720"/>
          </a:xfrm>
          <a:prstGeom prst="ellipse">
            <a:avLst/>
          </a:prstGeom>
          <a:solidFill>
            <a:srgbClr val="E0637A">
              <a:alpha val="85000"/>
            </a:srgbClr>
          </a:solidFill>
          <a:ln/>
        </p:spPr>
      </p:sp>
      <p:sp>
        <p:nvSpPr>
          <p:cNvPr id="482" name="Shape 480"/>
          <p:cNvSpPr/>
          <p:nvPr/>
        </p:nvSpPr>
        <p:spPr>
          <a:xfrm>
            <a:off x="6629400" y="2020824"/>
            <a:ext cx="146304" cy="146304"/>
          </a:xfrm>
          <a:prstGeom prst="ellipse">
            <a:avLst/>
          </a:prstGeom>
          <a:solidFill>
            <a:srgbClr val="6B7A89"/>
          </a:solidFill>
          <a:ln/>
        </p:spPr>
      </p:sp>
      <p:sp>
        <p:nvSpPr>
          <p:cNvPr id="483" name="Text 481"/>
          <p:cNvSpPr/>
          <p:nvPr/>
        </p:nvSpPr>
        <p:spPr>
          <a:xfrm>
            <a:off x="6885432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Debris</a:t>
            </a:r>
            <a:endParaRPr lang="en-US" sz="1300" dirty="0"/>
          </a:p>
        </p:txBody>
      </p:sp>
      <p:sp>
        <p:nvSpPr>
          <p:cNvPr id="484" name="Shape 482"/>
          <p:cNvSpPr/>
          <p:nvPr/>
        </p:nvSpPr>
        <p:spPr>
          <a:xfrm>
            <a:off x="6629400" y="2478024"/>
            <a:ext cx="146304" cy="146304"/>
          </a:xfrm>
          <a:prstGeom prst="ellipse">
            <a:avLst/>
          </a:prstGeom>
          <a:solidFill>
            <a:srgbClr val="2CE6C0"/>
          </a:solidFill>
          <a:ln/>
        </p:spPr>
      </p:sp>
      <p:sp>
        <p:nvSpPr>
          <p:cNvPr id="485" name="Text 483"/>
          <p:cNvSpPr/>
          <p:nvPr/>
        </p:nvSpPr>
        <p:spPr>
          <a:xfrm>
            <a:off x="6885432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cells</a:t>
            </a:r>
            <a:endParaRPr lang="en-US" sz="1300" dirty="0"/>
          </a:p>
        </p:txBody>
      </p:sp>
      <p:sp>
        <p:nvSpPr>
          <p:cNvPr id="486" name="Shape 484"/>
          <p:cNvSpPr/>
          <p:nvPr/>
        </p:nvSpPr>
        <p:spPr>
          <a:xfrm>
            <a:off x="6629400" y="2935224"/>
            <a:ext cx="146304" cy="146304"/>
          </a:xfrm>
          <a:prstGeom prst="ellipse">
            <a:avLst/>
          </a:prstGeom>
          <a:solidFill>
            <a:srgbClr val="E8973A"/>
          </a:solidFill>
          <a:ln/>
        </p:spPr>
      </p:sp>
      <p:sp>
        <p:nvSpPr>
          <p:cNvPr id="487" name="Text 485"/>
          <p:cNvSpPr/>
          <p:nvPr/>
        </p:nvSpPr>
        <p:spPr>
          <a:xfrm>
            <a:off x="6885432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cells</a:t>
            </a:r>
            <a:endParaRPr lang="en-US" sz="1300" dirty="0"/>
          </a:p>
        </p:txBody>
      </p:sp>
      <p:sp>
        <p:nvSpPr>
          <p:cNvPr id="488" name="Shape 486"/>
          <p:cNvSpPr/>
          <p:nvPr/>
        </p:nvSpPr>
        <p:spPr>
          <a:xfrm>
            <a:off x="6629400" y="3392424"/>
            <a:ext cx="146304" cy="14630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489" name="Text 487"/>
          <p:cNvSpPr/>
          <p:nvPr/>
        </p:nvSpPr>
        <p:spPr>
          <a:xfrm>
            <a:off x="6885432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Monocytes</a:t>
            </a:r>
            <a:endParaRPr lang="en-US" sz="1300" dirty="0"/>
          </a:p>
        </p:txBody>
      </p:sp>
      <p:sp>
        <p:nvSpPr>
          <p:cNvPr id="490" name="Shape 488"/>
          <p:cNvSpPr/>
          <p:nvPr/>
        </p:nvSpPr>
        <p:spPr>
          <a:xfrm>
            <a:off x="6629400" y="3849624"/>
            <a:ext cx="146304" cy="146304"/>
          </a:xfrm>
          <a:prstGeom prst="ellipse">
            <a:avLst/>
          </a:prstGeom>
          <a:solidFill>
            <a:srgbClr val="E0637A"/>
          </a:solidFill>
          <a:ln/>
        </p:spPr>
      </p:sp>
      <p:sp>
        <p:nvSpPr>
          <p:cNvPr id="491" name="Text 489"/>
          <p:cNvSpPr/>
          <p:nvPr/>
        </p:nvSpPr>
        <p:spPr>
          <a:xfrm>
            <a:off x="6885432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Granulocytes</a:t>
            </a:r>
            <a:endParaRPr lang="en-US" sz="1300" dirty="0"/>
          </a:p>
        </p:txBody>
      </p:sp>
      <p:sp>
        <p:nvSpPr>
          <p:cNvPr id="492" name="Shape 490"/>
          <p:cNvSpPr/>
          <p:nvPr/>
        </p:nvSpPr>
        <p:spPr>
          <a:xfrm>
            <a:off x="6583680" y="4480560"/>
            <a:ext cx="5120640" cy="1600200"/>
          </a:xfrm>
          <a:prstGeom prst="roundRect">
            <a:avLst>
              <a:gd name="adj" fmla="val 3429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493" name="Text 491"/>
          <p:cNvSpPr/>
          <p:nvPr/>
        </p:nvSpPr>
        <p:spPr>
          <a:xfrm>
            <a:off x="6766560" y="45902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읽는 법</a:t>
            </a:r>
            <a:endParaRPr lang="en-US" sz="1300" dirty="0"/>
          </a:p>
        </p:txBody>
      </p:sp>
      <p:sp>
        <p:nvSpPr>
          <p:cNvPr id="494" name="Text 492"/>
          <p:cNvSpPr/>
          <p:nvPr/>
        </p:nvSpPr>
        <p:spPr>
          <a:xfrm>
            <a:off x="6766560" y="4919472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작고 균질 → debris(왼쪽 아래) · 작고 과립 적음 → 림프구 · 크고 과립 많음 → 단핵구/과립구. 여기서 debris를 게이트 아웃하고 다음 단계로.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9B6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FACS 결과 해석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계층적 게이팅 — 순서가 곧 논리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앞 게이트의 하위집단에서 다시 게이팅하며 좁혀 간다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7315200" cy="896112"/>
          </a:xfrm>
          <a:prstGeom prst="roundRect">
            <a:avLst>
              <a:gd name="adj" fmla="val 8163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185416"/>
            <a:ext cx="457200" cy="457200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185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207568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FSC-A vs SSC-A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4231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크기·과립도로 debris 제거, 큰 집단 분류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28437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A9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063240"/>
            <a:ext cx="7315200" cy="896112"/>
          </a:xfrm>
          <a:prstGeom prst="roundRect">
            <a:avLst>
              <a:gd name="adj" fmla="val 8163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282696"/>
            <a:ext cx="457200" cy="457200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17296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FSC-H vs FSC-A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5204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doublet(뭉친 세포) 제외 — 단일 세포만 남김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394106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A9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160520"/>
            <a:ext cx="7315200" cy="896112"/>
          </a:xfrm>
          <a:prstGeom prst="roundRect">
            <a:avLst>
              <a:gd name="adj" fmla="val 8163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379976"/>
            <a:ext cx="457200" cy="457200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427024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Viability dye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46177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죽은 세포 제외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" y="503834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A9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5257800"/>
            <a:ext cx="7315200" cy="896112"/>
          </a:xfrm>
          <a:prstGeom prst="roundRect">
            <a:avLst>
              <a:gd name="adj" fmla="val 8163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5477256"/>
            <a:ext cx="457200" cy="457200"/>
          </a:xfrm>
          <a:prstGeom prst="ellipse">
            <a:avLst/>
          </a:prstGeom>
          <a:solidFill>
            <a:srgbClr val="1B2534"/>
          </a:solidFill>
          <a:ln w="19050">
            <a:solidFill>
              <a:srgbClr val="49B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5477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25880" y="536752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Lineage marker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25880" y="57150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CD3 / CD19 / CD14로 세부 계통 확정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38160" y="1965960"/>
            <a:ext cx="3566160" cy="4187952"/>
          </a:xfrm>
          <a:prstGeom prst="roundRect">
            <a:avLst>
              <a:gd name="adj" fmla="val 2051"/>
            </a:avLst>
          </a:prstGeom>
          <a:solidFill>
            <a:srgbClr val="1B2534"/>
          </a:solidFill>
          <a:ln w="12700">
            <a:solidFill>
              <a:srgbClr val="17A9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왜 순서가 중요한가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2606040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게이트는 '진짜 살아있는 단일 세포'만 남기는 필터. debris·doublet·죽은 세포를 먼저 걷어내야 마커 신호가 오염되지 않는다. 순서를 바꾸면 잘못된 집단에 마커를 해석하게 된다.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49B6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FACS 결과 해석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컴펜세이션 — 형광 겹침(spillover) 보정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마커를 믿기 전에 반드시 확인해야 하는 단계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7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문제: spillover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형광색소의 방출 스펙트럼은 서로 겹친다.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FITC 신호가 PE 채널로 새어 들어가면, 실제로 음성인 세포가 양성처럼 보인다.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보정 전(raw) 값으로 CD3/CD19/CD14를 해석하면 가짜 이중양성이 나온다.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07492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B2534"/>
          </a:solidFill>
          <a:ln w="19050">
            <a:solidFill>
              <a:srgbClr val="6B7A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0749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unstain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03120" y="507492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B2534"/>
          </a:solidFill>
          <a:ln w="19050">
            <a:solidFill>
              <a:srgbClr val="2CE6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50749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507492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B2534"/>
          </a:solidFill>
          <a:ln w="19050">
            <a:solidFill>
              <a:srgbClr val="E89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50749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507492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B2534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50749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7830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해결: 보정 매트릭스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242316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무염색 대조군으로 자가형광 기준을 잡는다.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색깔별 단독염색 대조군을 흘려 각 색소가 다른 채널로 얼마나 새는지 측정.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값으로 보정 매트릭스를 계산해 모든 이벤트에 적용.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보정 후에야 마커 양성/음성을 신뢰할 수 있다.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5212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A9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단독염색 대조군 → 보정 매트릭스 → 전체 적용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E6C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계산 — scRNA-seq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96112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싱글셀 기초(03)와 6단계 파이프라인(04)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2CE6C0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싱글셀 분석 기초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왜 single-cell인가 — 평균에 가려진 이질성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bulk는 조직 전체의 평균, single-cell은 세포 하나하나의 상태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RNA-seq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수천~수백만 세포의 발현을 한 값으로 평균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희귀 집단·세포별 차이가 평균에 묻힌다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'절반은 A, 절반은 B'와 '모두 중간'을 구분 못 함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Single-cell RNA-seq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4688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세포마다 발현 프로파일(고차원 벡터)을 얻는다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집단을 데이터에서 '발견'하고 정체성을 부여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희귀 세포·전이 상태·계통 경로까지 탐색 가능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6035040"/>
            <a:ext cx="11201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질문: 이 조직에 어떤 세포 상태들이, 어떤 비율로, 무엇으로 구분되어 존재하는가?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2CE6C0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scRNA-seq 시뮬레이션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파이프라인 6단계 — 버튼 뒤에서 실제로 도는 것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단계를 Seurat(R)/Scanpy(Python) 함수에 매핑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11201400" cy="603504"/>
          </a:xfrm>
          <a:prstGeom prst="roundRect">
            <a:avLst>
              <a:gd name="adj" fmla="val 12121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112264"/>
            <a:ext cx="402336" cy="402336"/>
          </a:xfrm>
          <a:prstGeom prst="ellipse">
            <a:avLst/>
          </a:prstGeom>
          <a:solidFill>
            <a:srgbClr val="1B2534"/>
          </a:solidFill>
          <a:ln w="19050">
            <a:solidFill>
              <a:srgbClr val="2CE6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122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011680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생성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212080" y="2139696"/>
            <a:ext cx="6309360" cy="347472"/>
          </a:xfrm>
          <a:prstGeom prst="roundRect">
            <a:avLst>
              <a:gd name="adj" fmla="val 13158"/>
            </a:avLst>
          </a:prstGeom>
          <a:solidFill>
            <a:srgbClr val="101722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2139696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CreateSeuratObject()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761488"/>
            <a:ext cx="11201400" cy="603504"/>
          </a:xfrm>
          <a:prstGeom prst="roundRect">
            <a:avLst>
              <a:gd name="adj" fmla="val 12121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862072"/>
            <a:ext cx="402336" cy="402336"/>
          </a:xfrm>
          <a:prstGeom prst="ellipse">
            <a:avLst/>
          </a:prstGeom>
          <a:solidFill>
            <a:srgbClr val="1B2534"/>
          </a:solidFill>
          <a:ln w="19050">
            <a:solidFill>
              <a:srgbClr val="2CE6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862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2761488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 지표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212080" y="2889504"/>
            <a:ext cx="6309360" cy="347472"/>
          </a:xfrm>
          <a:prstGeom prst="roundRect">
            <a:avLst>
              <a:gd name="adj" fmla="val 13158"/>
            </a:avLst>
          </a:prstGeom>
          <a:solidFill>
            <a:srgbClr val="101722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889504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PercentageFeatureSet · subset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511296"/>
            <a:ext cx="11201400" cy="603504"/>
          </a:xfrm>
          <a:prstGeom prst="roundRect">
            <a:avLst>
              <a:gd name="adj" fmla="val 12121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611880"/>
            <a:ext cx="402336" cy="402336"/>
          </a:xfrm>
          <a:prstGeom prst="ellipse">
            <a:avLst/>
          </a:prstGeom>
          <a:solidFill>
            <a:srgbClr val="1B2534"/>
          </a:solidFill>
          <a:ln w="19050">
            <a:solidFill>
              <a:srgbClr val="2CE6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6118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3511296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정규화 + HVG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212080" y="3639312"/>
            <a:ext cx="6309360" cy="347472"/>
          </a:xfrm>
          <a:prstGeom prst="roundRect">
            <a:avLst>
              <a:gd name="adj" fmla="val 13158"/>
            </a:avLst>
          </a:prstGeom>
          <a:solidFill>
            <a:srgbClr val="101722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3639312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NormalizeData · FindVariableFeatures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4261104"/>
            <a:ext cx="11201400" cy="603504"/>
          </a:xfrm>
          <a:prstGeom prst="roundRect">
            <a:avLst>
              <a:gd name="adj" fmla="val 12121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" y="4361688"/>
            <a:ext cx="402336" cy="402336"/>
          </a:xfrm>
          <a:prstGeom prst="ellipse">
            <a:avLst/>
          </a:prstGeom>
          <a:solidFill>
            <a:srgbClr val="1B2534"/>
          </a:solidFill>
          <a:ln w="19050">
            <a:solidFill>
              <a:srgbClr val="2CE6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3616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34440" y="4261104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차원축소 PCA/t-SNE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212080" y="4389120"/>
            <a:ext cx="6309360" cy="347472"/>
          </a:xfrm>
          <a:prstGeom prst="roundRect">
            <a:avLst>
              <a:gd name="adj" fmla="val 13158"/>
            </a:avLst>
          </a:prstGeom>
          <a:solidFill>
            <a:srgbClr val="101722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4389120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RunPCA · RunTSNE/UMAP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5010912"/>
            <a:ext cx="11201400" cy="603504"/>
          </a:xfrm>
          <a:prstGeom prst="roundRect">
            <a:avLst>
              <a:gd name="adj" fmla="val 12121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5111496"/>
            <a:ext cx="402336" cy="402336"/>
          </a:xfrm>
          <a:prstGeom prst="ellipse">
            <a:avLst/>
          </a:prstGeom>
          <a:solidFill>
            <a:srgbClr val="1B2534"/>
          </a:solidFill>
          <a:ln w="19050">
            <a:solidFill>
              <a:srgbClr val="2CE6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5111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234440" y="5010912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클러스터링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5212080" y="5138928"/>
            <a:ext cx="6309360" cy="347472"/>
          </a:xfrm>
          <a:prstGeom prst="roundRect">
            <a:avLst>
              <a:gd name="adj" fmla="val 13158"/>
            </a:avLst>
          </a:prstGeom>
          <a:solidFill>
            <a:srgbClr val="101722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5138928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FindNeighbors · FindClusters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02920" y="5760720"/>
            <a:ext cx="11201400" cy="603504"/>
          </a:xfrm>
          <a:prstGeom prst="roundRect">
            <a:avLst>
              <a:gd name="adj" fmla="val 12121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" y="5861304"/>
            <a:ext cx="402336" cy="402336"/>
          </a:xfrm>
          <a:prstGeom prst="ellipse">
            <a:avLst/>
          </a:prstGeom>
          <a:solidFill>
            <a:srgbClr val="1B2534"/>
          </a:solidFill>
          <a:ln w="19050">
            <a:solidFill>
              <a:srgbClr val="2CE6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58613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234440" y="5760720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마커 유전자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5212080" y="5888736"/>
            <a:ext cx="6309360" cy="347472"/>
          </a:xfrm>
          <a:prstGeom prst="roundRect">
            <a:avLst>
              <a:gd name="adj" fmla="val 13158"/>
            </a:avLst>
          </a:prstGeom>
          <a:solidFill>
            <a:srgbClr val="101722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9240" y="5888736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FindAllMarkers · DotPlot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2CE6C0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scRNA-seq 시뮬레이션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원시 데이터 — 잠재요인 기반 count 생성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0700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101722"/>
          </a:solidFill>
          <a:ln w="12700">
            <a:solidFill>
              <a:srgbClr val="17A9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07008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CreateSeuratObject()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0" y="11887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A9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57400"/>
            <a:ext cx="62636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세포 정체성은 마커 몇 개가 아니라 여러 잠재요인(latent factor)의 조합으로 정해진다.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유전자 120 × 요인 10 로딩 행렬 → 클러스터별 factor 프로필 → 세포별 잡음 추가.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 score의 선형결합으로 유전자별 평균발현을 계산.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샘플링은 Gamma-Poisson(음이항) — 실제처럼 과분산과 드롭아웃(0값)을 재현.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52360" y="182880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0116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왜 중요한가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0" y="2395728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정체성 = 고차원 공간의 방향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(유전자 3개 on/off 아님)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8096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 score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096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 loadings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8096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gene means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NB sampling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0" y="470916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과분산 · 드롭아웃 재현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2CE6C0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scRNA-seq 시뮬레이션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품질관리(QC) 지표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0700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101722"/>
          </a:solidFill>
          <a:ln w="12700">
            <a:solidFill>
              <a:srgbClr val="17A9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07008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PercentageFeatureSet() + subset()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0" y="11887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A9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57400"/>
            <a:ext cx="62636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세포마다 3가지 계산: total count(총 UMI), n_genes(발현 유전자 종류 수), mito%(미토콘드리아 비율).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n_genes = 0이 아닌 칸의 개수. 너무 적으면 빈 방울/깨진 세포.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죽어가는 세포는 세포질 mRNA가 빠지고 미토콘드리아 mRNA만 남아 mito%가 비정상적으로 높다.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슬라이더(min genes / max mito%)로 세포를 통과/제외.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52360" y="182880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0116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세 가지 QC 지표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80960" y="2468880"/>
            <a:ext cx="3794760" cy="822960"/>
          </a:xfrm>
          <a:prstGeom prst="roundRect">
            <a:avLst>
              <a:gd name="adj" fmla="val 6667"/>
            </a:avLst>
          </a:prstGeom>
          <a:solidFill>
            <a:srgbClr val="101722"/>
          </a:solidFill>
          <a:ln w="12700">
            <a:solidFill>
              <a:srgbClr val="2CE6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36408" y="25603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count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36408" y="29077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총 UMI 수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0" y="3429000"/>
            <a:ext cx="3794760" cy="822960"/>
          </a:xfrm>
          <a:prstGeom prst="roundRect">
            <a:avLst>
              <a:gd name="adj" fmla="val 6667"/>
            </a:avLst>
          </a:prstGeom>
          <a:solidFill>
            <a:srgbClr val="101722"/>
          </a:solidFill>
          <a:ln w="12700">
            <a:solidFill>
              <a:srgbClr val="49B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36408" y="35204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n_genes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36408" y="386791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발현 유전자 수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80960" y="4389120"/>
            <a:ext cx="3794760" cy="822960"/>
          </a:xfrm>
          <a:prstGeom prst="roundRect">
            <a:avLst>
              <a:gd name="adj" fmla="val 6667"/>
            </a:avLst>
          </a:prstGeom>
          <a:solidFill>
            <a:srgbClr val="101722"/>
          </a:solidFill>
          <a:ln w="12700">
            <a:solidFill>
              <a:srgbClr val="E89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36408" y="44805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mito 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36408" y="48280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죽은세포 지표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2CE6C0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scRNA-seq 시뮬레이션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정규화 + 고변동유전자(HVG)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0700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101722"/>
          </a:solidFill>
          <a:ln w="12700">
            <a:solidFill>
              <a:srgbClr val="17A9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07008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NormalizeData() + FindVariableFeatures()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0" y="11887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A9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57400"/>
            <a:ext cx="62636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세포마다 총 mRNA 양이 다르다 → 세포별 총합으로 나눠(CPM식) 스케일을 맞추고 log1p 변환.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이후 세포 간 분산이 큰 유전자만 선택(HVG) — 분산 낮은 유전자는 클러스터 구분 정보가 거의 없다.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시뮬레이터: 120개 중 상위 40개만 HVG로 골라 PCA에 투입.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나머지 80개는 여러 클러스터에서 비슷하게 발현 → 신호보다 잡음으로 판단해 제외.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52360" y="182880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0116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120 유전자 → 40 HVG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80960" y="2560320"/>
            <a:ext cx="1264920" cy="457200"/>
          </a:xfrm>
          <a:prstGeom prst="rect">
            <a:avLst/>
          </a:prstGeom>
          <a:solidFill>
            <a:srgbClr val="2CE6C0"/>
          </a:solidFill>
          <a:ln/>
        </p:spPr>
      </p:sp>
      <p:sp>
        <p:nvSpPr>
          <p:cNvPr id="16" name="Shape 14"/>
          <p:cNvSpPr/>
          <p:nvPr/>
        </p:nvSpPr>
        <p:spPr>
          <a:xfrm>
            <a:off x="8945880" y="2560320"/>
            <a:ext cx="2529840" cy="457200"/>
          </a:xfrm>
          <a:prstGeom prst="rect">
            <a:avLst/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사용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0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제외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3703320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F0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 = 깊이 보정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F0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log1p = 분포 안정화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F0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HVG = 정보 선택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2CE6C0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scRNA-seq 시뮬레이션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④ 차원축소 (1) — PCA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분산을 가장 많이 설명하는 방향을 순서대로 찾는 선형 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" y="1207008"/>
            <a:ext cx="4572000" cy="384048"/>
          </a:xfrm>
          <a:prstGeom prst="roundRect">
            <a:avLst>
              <a:gd name="adj" fmla="val 11905"/>
            </a:avLst>
          </a:prstGeom>
          <a:solidFill>
            <a:srgbClr val="101722"/>
          </a:solidFill>
          <a:ln w="12700">
            <a:solidFill>
              <a:srgbClr val="17A9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2070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RunPCA()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57400"/>
            <a:ext cx="626364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HVG 40차원은 여전히 눈으로 보기엔 많다. PCA는 분산 최대 방향(PC1, PC2, …)으로 세포를 투영.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시뮬레이터는 진짜로 40×40 공분산 행렬을 만들고 Jacobi 고유값분해로 주성분을 구한다.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클러스터를 미리 축에 배치한 게 아니라, 데이터 분산 구조에서 축이 '발견'된다.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PC1·PC2 설명분산(예: 43% · 30%)으로 축의 중요도를 가늠.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52360" y="182880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0E1622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 embedding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83836" y="358449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762335" y="338989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834942" y="353782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75720" y="304182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853031" y="329999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33304" y="331229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36167" y="333698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59553" y="277454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08064" y="349023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53984" y="353508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753898" y="316764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725901" y="352540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040444" y="316881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974112" y="330232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042824" y="317219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168339" y="312369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999582" y="327994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555865" y="348731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650747" y="311326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019107" y="287020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511405" y="353066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046232" y="304566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856182" y="287809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796490" y="326655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120577" y="342466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55967" y="352556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421958" y="319695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136414" y="334370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741741" y="282053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366893" y="303359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552774" y="360934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446486" y="290440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715608" y="339000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29791" y="310120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624289" y="294893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613670" y="319662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51003" y="308971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098385" y="343721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35421" y="308977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67063" y="312073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82187" y="336260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131789" y="337382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077083" y="350071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26035" y="335231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305541" y="326144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671023" y="292610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734781" y="316759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682768" y="291887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676474" y="277413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316642" y="332650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985721" y="343388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413586" y="351962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491761" y="341466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648654" y="352031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663554" y="361806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02185" y="359408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69381" y="303937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370530" y="313755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568235" y="352367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462948" y="333286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305060" y="325465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603226" y="347581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8568006" y="311948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8481552" y="358156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8849566" y="293826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8468595" y="290514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8891089" y="296464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8607665" y="326158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8727453" y="317290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8960038" y="287437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8863142" y="321951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9020482" y="307495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8495016" y="316087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8695653" y="309078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8982262" y="319468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8855827" y="280697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9006378" y="356492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8668898" y="332760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8434592" y="328724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8557036" y="279260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8784090" y="286407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8969325" y="326640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8890033" y="277502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8633083" y="278785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8424568" y="310243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8871370" y="300017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8499600" y="341936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8688501" y="360713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8832953" y="326566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8829323" y="350784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10641340" y="512984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10841803" y="457406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10211782" y="437986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10294150" y="467482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10468591" y="481237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10484916" y="478347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9965025" y="475804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10459771" y="471424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10345266" y="500702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10522021" y="457771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9969227" y="445038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10266314" y="449396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10649015" y="472900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10322588" y="448302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10478772" y="504858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9940696" y="499374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10229815" y="507369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10294384" y="493606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10803258" y="495576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10624519" y="480164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10330087" y="498043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10164169" y="513984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10382228" y="467851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10108412" y="508253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9985247" y="484513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10362664" y="465579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10701324" y="505482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10735839" y="481734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10047520" y="445324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10089608" y="474442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10424383" y="494847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10443914" y="471719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10687845" y="499257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10334696" y="484223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10610523" y="498826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10163735" y="475975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9869123" y="481631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10770827" y="490568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10004268" y="493596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10334290" y="497702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9851867" y="485118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10124389" y="517184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10243797" y="446807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10540940" y="467577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10605804" y="444430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10373657" y="446895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10440496" y="433355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10046635" y="481551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10567014" y="465973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10608529" y="480956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10484718" y="442823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10561236" y="504309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10391774" y="489890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10211200" y="487566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10734704" y="500858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10779959" y="472261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10481622" y="452145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10000861" y="495137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10534089" y="438126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4" name="Shape 162"/>
          <p:cNvSpPr/>
          <p:nvPr/>
        </p:nvSpPr>
        <p:spPr>
          <a:xfrm>
            <a:off x="10523615" y="453560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5" name="Shape 163"/>
          <p:cNvSpPr/>
          <p:nvPr/>
        </p:nvSpPr>
        <p:spPr>
          <a:xfrm>
            <a:off x="10805622" y="487765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6" name="Shape 164"/>
          <p:cNvSpPr/>
          <p:nvPr/>
        </p:nvSpPr>
        <p:spPr>
          <a:xfrm>
            <a:off x="10143345" y="516737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7" name="Shape 165"/>
          <p:cNvSpPr/>
          <p:nvPr/>
        </p:nvSpPr>
        <p:spPr>
          <a:xfrm>
            <a:off x="10875732" y="467590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8" name="Shape 166"/>
          <p:cNvSpPr/>
          <p:nvPr/>
        </p:nvSpPr>
        <p:spPr>
          <a:xfrm>
            <a:off x="10642744" y="501581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69" name="Shape 167"/>
          <p:cNvSpPr/>
          <p:nvPr/>
        </p:nvSpPr>
        <p:spPr>
          <a:xfrm>
            <a:off x="10320817" y="439347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0" name="Shape 168"/>
          <p:cNvSpPr/>
          <p:nvPr/>
        </p:nvSpPr>
        <p:spPr>
          <a:xfrm>
            <a:off x="10024468" y="461959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1" name="Shape 169"/>
          <p:cNvSpPr/>
          <p:nvPr/>
        </p:nvSpPr>
        <p:spPr>
          <a:xfrm>
            <a:off x="10261518" y="426356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2" name="Shape 170"/>
          <p:cNvSpPr/>
          <p:nvPr/>
        </p:nvSpPr>
        <p:spPr>
          <a:xfrm>
            <a:off x="9886109" y="476566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3" name="Shape 171"/>
          <p:cNvSpPr/>
          <p:nvPr/>
        </p:nvSpPr>
        <p:spPr>
          <a:xfrm>
            <a:off x="10208295" y="490870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4" name="Shape 172"/>
          <p:cNvSpPr/>
          <p:nvPr/>
        </p:nvSpPr>
        <p:spPr>
          <a:xfrm>
            <a:off x="9857689" y="460913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5" name="Shape 173"/>
          <p:cNvSpPr/>
          <p:nvPr/>
        </p:nvSpPr>
        <p:spPr>
          <a:xfrm>
            <a:off x="10262120" y="429972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6" name="Shape 174"/>
          <p:cNvSpPr/>
          <p:nvPr/>
        </p:nvSpPr>
        <p:spPr>
          <a:xfrm>
            <a:off x="10786585" y="491360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7" name="Shape 175"/>
          <p:cNvSpPr/>
          <p:nvPr/>
        </p:nvSpPr>
        <p:spPr>
          <a:xfrm>
            <a:off x="10844217" y="495869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8" name="Shape 176"/>
          <p:cNvSpPr/>
          <p:nvPr/>
        </p:nvSpPr>
        <p:spPr>
          <a:xfrm>
            <a:off x="10794464" y="498224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79" name="Shape 177"/>
          <p:cNvSpPr/>
          <p:nvPr/>
        </p:nvSpPr>
        <p:spPr>
          <a:xfrm>
            <a:off x="10603554" y="462137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9944211" y="500131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1" name="Shape 179"/>
          <p:cNvSpPr/>
          <p:nvPr/>
        </p:nvSpPr>
        <p:spPr>
          <a:xfrm>
            <a:off x="10680882" y="506756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2" name="Shape 180"/>
          <p:cNvSpPr/>
          <p:nvPr/>
        </p:nvSpPr>
        <p:spPr>
          <a:xfrm>
            <a:off x="10321700" y="508678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3" name="Shape 181"/>
          <p:cNvSpPr/>
          <p:nvPr/>
        </p:nvSpPr>
        <p:spPr>
          <a:xfrm>
            <a:off x="10646917" y="433365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4" name="Shape 182"/>
          <p:cNvSpPr/>
          <p:nvPr/>
        </p:nvSpPr>
        <p:spPr>
          <a:xfrm>
            <a:off x="10479258" y="480442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5" name="Shape 183"/>
          <p:cNvSpPr/>
          <p:nvPr/>
        </p:nvSpPr>
        <p:spPr>
          <a:xfrm>
            <a:off x="10223384" y="480165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6" name="Shape 184"/>
          <p:cNvSpPr/>
          <p:nvPr/>
        </p:nvSpPr>
        <p:spPr>
          <a:xfrm>
            <a:off x="10035504" y="451820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7" name="Shape 185"/>
          <p:cNvSpPr/>
          <p:nvPr/>
        </p:nvSpPr>
        <p:spPr>
          <a:xfrm>
            <a:off x="10181934" y="432601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8" name="Shape 186"/>
          <p:cNvSpPr/>
          <p:nvPr/>
        </p:nvSpPr>
        <p:spPr>
          <a:xfrm>
            <a:off x="10631126" y="440960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89" name="Shape 187"/>
          <p:cNvSpPr/>
          <p:nvPr/>
        </p:nvSpPr>
        <p:spPr>
          <a:xfrm>
            <a:off x="10562079" y="508530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90" name="Shape 188"/>
          <p:cNvSpPr/>
          <p:nvPr/>
        </p:nvSpPr>
        <p:spPr>
          <a:xfrm>
            <a:off x="10699596" y="438066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91" name="Shape 189"/>
          <p:cNvSpPr/>
          <p:nvPr/>
        </p:nvSpPr>
        <p:spPr>
          <a:xfrm>
            <a:off x="10445175" y="498494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92" name="Shape 190"/>
          <p:cNvSpPr/>
          <p:nvPr/>
        </p:nvSpPr>
        <p:spPr>
          <a:xfrm>
            <a:off x="10058996" y="473297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93" name="Shape 191"/>
          <p:cNvSpPr/>
          <p:nvPr/>
        </p:nvSpPr>
        <p:spPr>
          <a:xfrm>
            <a:off x="10783013" y="472744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94" name="Shape 192"/>
          <p:cNvSpPr/>
          <p:nvPr/>
        </p:nvSpPr>
        <p:spPr>
          <a:xfrm>
            <a:off x="9984158" y="463127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95" name="Shape 193"/>
          <p:cNvSpPr/>
          <p:nvPr/>
        </p:nvSpPr>
        <p:spPr>
          <a:xfrm>
            <a:off x="10285950" y="513174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96" name="Shape 194"/>
          <p:cNvSpPr/>
          <p:nvPr/>
        </p:nvSpPr>
        <p:spPr>
          <a:xfrm>
            <a:off x="10020395" y="479683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97" name="Shape 195"/>
          <p:cNvSpPr/>
          <p:nvPr/>
        </p:nvSpPr>
        <p:spPr>
          <a:xfrm>
            <a:off x="10325869" y="447900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98" name="Shape 196"/>
          <p:cNvSpPr/>
          <p:nvPr/>
        </p:nvSpPr>
        <p:spPr>
          <a:xfrm>
            <a:off x="10473494" y="518000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199" name="Shape 197"/>
          <p:cNvSpPr/>
          <p:nvPr/>
        </p:nvSpPr>
        <p:spPr>
          <a:xfrm>
            <a:off x="10821865" y="495509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00" name="Shape 198"/>
          <p:cNvSpPr/>
          <p:nvPr/>
        </p:nvSpPr>
        <p:spPr>
          <a:xfrm>
            <a:off x="10462894" y="454907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01" name="Shape 199"/>
          <p:cNvSpPr/>
          <p:nvPr/>
        </p:nvSpPr>
        <p:spPr>
          <a:xfrm>
            <a:off x="10552133" y="501933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02" name="Shape 200"/>
          <p:cNvSpPr/>
          <p:nvPr/>
        </p:nvSpPr>
        <p:spPr>
          <a:xfrm>
            <a:off x="10662118" y="455989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03" name="Shape 201"/>
          <p:cNvSpPr/>
          <p:nvPr/>
        </p:nvSpPr>
        <p:spPr>
          <a:xfrm>
            <a:off x="10805250" y="483655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04" name="Shape 202"/>
          <p:cNvSpPr/>
          <p:nvPr/>
        </p:nvSpPr>
        <p:spPr>
          <a:xfrm>
            <a:off x="10686706" y="511907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05" name="Shape 203"/>
          <p:cNvSpPr/>
          <p:nvPr/>
        </p:nvSpPr>
        <p:spPr>
          <a:xfrm>
            <a:off x="10036355" y="463484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06" name="Shape 204"/>
          <p:cNvSpPr/>
          <p:nvPr/>
        </p:nvSpPr>
        <p:spPr>
          <a:xfrm>
            <a:off x="10539420" y="484353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07" name="Shape 205"/>
          <p:cNvSpPr/>
          <p:nvPr/>
        </p:nvSpPr>
        <p:spPr>
          <a:xfrm>
            <a:off x="10729742" y="465882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08" name="Shape 206"/>
          <p:cNvSpPr/>
          <p:nvPr/>
        </p:nvSpPr>
        <p:spPr>
          <a:xfrm>
            <a:off x="10296274" y="461477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09" name="Shape 207"/>
          <p:cNvSpPr/>
          <p:nvPr/>
        </p:nvSpPr>
        <p:spPr>
          <a:xfrm>
            <a:off x="10149300" y="504011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10" name="Shape 208"/>
          <p:cNvSpPr/>
          <p:nvPr/>
        </p:nvSpPr>
        <p:spPr>
          <a:xfrm>
            <a:off x="10801144" y="444698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11" name="Shape 209"/>
          <p:cNvSpPr/>
          <p:nvPr/>
        </p:nvSpPr>
        <p:spPr>
          <a:xfrm>
            <a:off x="10721620" y="510559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12" name="Shape 210"/>
          <p:cNvSpPr/>
          <p:nvPr/>
        </p:nvSpPr>
        <p:spPr>
          <a:xfrm>
            <a:off x="10220035" y="477072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13" name="Shape 211"/>
          <p:cNvSpPr/>
          <p:nvPr/>
        </p:nvSpPr>
        <p:spPr>
          <a:xfrm>
            <a:off x="10457910" y="475087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14" name="Shape 212"/>
          <p:cNvSpPr/>
          <p:nvPr/>
        </p:nvSpPr>
        <p:spPr>
          <a:xfrm>
            <a:off x="10436969" y="515150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15" name="Shape 213"/>
          <p:cNvSpPr/>
          <p:nvPr/>
        </p:nvSpPr>
        <p:spPr>
          <a:xfrm>
            <a:off x="9114665" y="494031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16" name="Shape 214"/>
          <p:cNvSpPr/>
          <p:nvPr/>
        </p:nvSpPr>
        <p:spPr>
          <a:xfrm>
            <a:off x="9188492" y="503814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17" name="Shape 215"/>
          <p:cNvSpPr/>
          <p:nvPr/>
        </p:nvSpPr>
        <p:spPr>
          <a:xfrm>
            <a:off x="8683408" y="480625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18" name="Shape 216"/>
          <p:cNvSpPr/>
          <p:nvPr/>
        </p:nvSpPr>
        <p:spPr>
          <a:xfrm>
            <a:off x="9062704" y="475401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19" name="Shape 217"/>
          <p:cNvSpPr/>
          <p:nvPr/>
        </p:nvSpPr>
        <p:spPr>
          <a:xfrm>
            <a:off x="8968225" y="479421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20" name="Shape 218"/>
          <p:cNvSpPr/>
          <p:nvPr/>
        </p:nvSpPr>
        <p:spPr>
          <a:xfrm>
            <a:off x="8513067" y="502901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21" name="Shape 219"/>
          <p:cNvSpPr/>
          <p:nvPr/>
        </p:nvSpPr>
        <p:spPr>
          <a:xfrm>
            <a:off x="8630997" y="481072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22" name="Shape 220"/>
          <p:cNvSpPr/>
          <p:nvPr/>
        </p:nvSpPr>
        <p:spPr>
          <a:xfrm>
            <a:off x="9080696" y="465488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23" name="Shape 221"/>
          <p:cNvSpPr/>
          <p:nvPr/>
        </p:nvSpPr>
        <p:spPr>
          <a:xfrm>
            <a:off x="9032382" y="504898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24" name="Shape 222"/>
          <p:cNvSpPr/>
          <p:nvPr/>
        </p:nvSpPr>
        <p:spPr>
          <a:xfrm>
            <a:off x="8504179" y="503892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25" name="Shape 223"/>
          <p:cNvSpPr/>
          <p:nvPr/>
        </p:nvSpPr>
        <p:spPr>
          <a:xfrm>
            <a:off x="8519593" y="493803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26" name="Shape 224"/>
          <p:cNvSpPr/>
          <p:nvPr/>
        </p:nvSpPr>
        <p:spPr>
          <a:xfrm>
            <a:off x="8766635" y="492461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27" name="Shape 225"/>
          <p:cNvSpPr/>
          <p:nvPr/>
        </p:nvSpPr>
        <p:spPr>
          <a:xfrm>
            <a:off x="8884486" y="478274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28" name="Shape 226"/>
          <p:cNvSpPr/>
          <p:nvPr/>
        </p:nvSpPr>
        <p:spPr>
          <a:xfrm>
            <a:off x="8747305" y="511777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29" name="Shape 227"/>
          <p:cNvSpPr/>
          <p:nvPr/>
        </p:nvSpPr>
        <p:spPr>
          <a:xfrm>
            <a:off x="8608166" y="513684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30" name="Shape 228"/>
          <p:cNvSpPr/>
          <p:nvPr/>
        </p:nvSpPr>
        <p:spPr>
          <a:xfrm>
            <a:off x="8485718" y="495277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31" name="Shape 229"/>
          <p:cNvSpPr/>
          <p:nvPr/>
        </p:nvSpPr>
        <p:spPr>
          <a:xfrm>
            <a:off x="9030123" y="488996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32" name="Shape 230"/>
          <p:cNvSpPr/>
          <p:nvPr/>
        </p:nvSpPr>
        <p:spPr>
          <a:xfrm>
            <a:off x="9035501" y="516513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33" name="Shape 231"/>
          <p:cNvSpPr/>
          <p:nvPr/>
        </p:nvSpPr>
        <p:spPr>
          <a:xfrm>
            <a:off x="8662102" y="462774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34" name="Shape 232"/>
          <p:cNvSpPr/>
          <p:nvPr/>
        </p:nvSpPr>
        <p:spPr>
          <a:xfrm>
            <a:off x="9135718" y="488389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35" name="Shape 233"/>
          <p:cNvSpPr/>
          <p:nvPr/>
        </p:nvSpPr>
        <p:spPr>
          <a:xfrm>
            <a:off x="9122246" y="504228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36" name="Shape 234"/>
          <p:cNvSpPr/>
          <p:nvPr/>
        </p:nvSpPr>
        <p:spPr>
          <a:xfrm>
            <a:off x="8874499" y="491554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37" name="Shape 235"/>
          <p:cNvSpPr/>
          <p:nvPr/>
        </p:nvSpPr>
        <p:spPr>
          <a:xfrm>
            <a:off x="8763389" y="457876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38" name="Shape 236"/>
          <p:cNvSpPr/>
          <p:nvPr/>
        </p:nvSpPr>
        <p:spPr>
          <a:xfrm>
            <a:off x="8912305" y="508075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39" name="Shape 237"/>
          <p:cNvSpPr/>
          <p:nvPr/>
        </p:nvSpPr>
        <p:spPr>
          <a:xfrm>
            <a:off x="9081940" y="515157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40" name="Shape 238"/>
          <p:cNvSpPr/>
          <p:nvPr/>
        </p:nvSpPr>
        <p:spPr>
          <a:xfrm>
            <a:off x="9122560" y="474709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41" name="Shape 239"/>
          <p:cNvSpPr/>
          <p:nvPr/>
        </p:nvSpPr>
        <p:spPr>
          <a:xfrm>
            <a:off x="8471082" y="494966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42" name="Shape 240"/>
          <p:cNvSpPr/>
          <p:nvPr/>
        </p:nvSpPr>
        <p:spPr>
          <a:xfrm>
            <a:off x="8756518" y="480987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43" name="Shape 241"/>
          <p:cNvSpPr/>
          <p:nvPr/>
        </p:nvSpPr>
        <p:spPr>
          <a:xfrm>
            <a:off x="8635703" y="474425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44" name="Shape 242"/>
          <p:cNvSpPr/>
          <p:nvPr/>
        </p:nvSpPr>
        <p:spPr>
          <a:xfrm>
            <a:off x="9175423" y="488402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45" name="Shape 243"/>
          <p:cNvSpPr/>
          <p:nvPr/>
        </p:nvSpPr>
        <p:spPr>
          <a:xfrm>
            <a:off x="8625033" y="524167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46" name="Shape 244"/>
          <p:cNvSpPr/>
          <p:nvPr/>
        </p:nvSpPr>
        <p:spPr>
          <a:xfrm>
            <a:off x="8984107" y="483291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47" name="Shape 245"/>
          <p:cNvSpPr/>
          <p:nvPr/>
        </p:nvSpPr>
        <p:spPr>
          <a:xfrm>
            <a:off x="9087540" y="517321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48" name="Shape 246"/>
          <p:cNvSpPr/>
          <p:nvPr/>
        </p:nvSpPr>
        <p:spPr>
          <a:xfrm>
            <a:off x="8962593" y="526193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49" name="Shape 247"/>
          <p:cNvSpPr/>
          <p:nvPr/>
        </p:nvSpPr>
        <p:spPr>
          <a:xfrm>
            <a:off x="9118197" y="482937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50" name="Shape 248"/>
          <p:cNvSpPr/>
          <p:nvPr/>
        </p:nvSpPr>
        <p:spPr>
          <a:xfrm>
            <a:off x="8682339" y="518099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51" name="Shape 249"/>
          <p:cNvSpPr/>
          <p:nvPr/>
        </p:nvSpPr>
        <p:spPr>
          <a:xfrm>
            <a:off x="8491441" y="513243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52" name="Shape 250"/>
          <p:cNvSpPr/>
          <p:nvPr/>
        </p:nvSpPr>
        <p:spPr>
          <a:xfrm>
            <a:off x="8422731" y="495365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53" name="Shape 251"/>
          <p:cNvSpPr/>
          <p:nvPr/>
        </p:nvSpPr>
        <p:spPr>
          <a:xfrm>
            <a:off x="8764644" y="477838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54" name="Shape 252"/>
          <p:cNvSpPr/>
          <p:nvPr/>
        </p:nvSpPr>
        <p:spPr>
          <a:xfrm>
            <a:off x="9177699" y="495471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55" name="Shape 253"/>
          <p:cNvSpPr/>
          <p:nvPr/>
        </p:nvSpPr>
        <p:spPr>
          <a:xfrm>
            <a:off x="8883358" y="485877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56" name="Shape 254"/>
          <p:cNvSpPr/>
          <p:nvPr/>
        </p:nvSpPr>
        <p:spPr>
          <a:xfrm>
            <a:off x="8651205" y="493891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57" name="Shape 255"/>
          <p:cNvSpPr/>
          <p:nvPr/>
        </p:nvSpPr>
        <p:spPr>
          <a:xfrm>
            <a:off x="8947677" y="526185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58" name="Shape 256"/>
          <p:cNvSpPr/>
          <p:nvPr/>
        </p:nvSpPr>
        <p:spPr>
          <a:xfrm>
            <a:off x="8935340" y="499284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59" name="Shape 257"/>
          <p:cNvSpPr/>
          <p:nvPr/>
        </p:nvSpPr>
        <p:spPr>
          <a:xfrm>
            <a:off x="8730928" y="461522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60" name="Shape 258"/>
          <p:cNvSpPr/>
          <p:nvPr/>
        </p:nvSpPr>
        <p:spPr>
          <a:xfrm>
            <a:off x="9206124" y="495586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61" name="Shape 259"/>
          <p:cNvSpPr/>
          <p:nvPr/>
        </p:nvSpPr>
        <p:spPr>
          <a:xfrm>
            <a:off x="8953722" y="499605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62" name="Shape 260"/>
          <p:cNvSpPr/>
          <p:nvPr/>
        </p:nvSpPr>
        <p:spPr>
          <a:xfrm>
            <a:off x="9182034" y="500566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63" name="Shape 261"/>
          <p:cNvSpPr/>
          <p:nvPr/>
        </p:nvSpPr>
        <p:spPr>
          <a:xfrm>
            <a:off x="8953596" y="459348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64" name="Shape 262"/>
          <p:cNvSpPr/>
          <p:nvPr/>
        </p:nvSpPr>
        <p:spPr>
          <a:xfrm>
            <a:off x="9110883" y="485266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65" name="Shape 263"/>
          <p:cNvSpPr/>
          <p:nvPr/>
        </p:nvSpPr>
        <p:spPr>
          <a:xfrm>
            <a:off x="8706099" y="467448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66" name="Shape 264"/>
          <p:cNvSpPr/>
          <p:nvPr/>
        </p:nvSpPr>
        <p:spPr>
          <a:xfrm>
            <a:off x="8823167" y="505833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67" name="Shape 265"/>
          <p:cNvSpPr/>
          <p:nvPr/>
        </p:nvSpPr>
        <p:spPr>
          <a:xfrm>
            <a:off x="8936219" y="518662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68" name="Shape 266"/>
          <p:cNvSpPr/>
          <p:nvPr/>
        </p:nvSpPr>
        <p:spPr>
          <a:xfrm>
            <a:off x="8667822" y="494171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69" name="Shape 267"/>
          <p:cNvSpPr/>
          <p:nvPr/>
        </p:nvSpPr>
        <p:spPr>
          <a:xfrm>
            <a:off x="8810501" y="504026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70" name="Shape 268"/>
          <p:cNvSpPr/>
          <p:nvPr/>
        </p:nvSpPr>
        <p:spPr>
          <a:xfrm>
            <a:off x="9171922" y="480207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71" name="Shape 269"/>
          <p:cNvSpPr/>
          <p:nvPr/>
        </p:nvSpPr>
        <p:spPr>
          <a:xfrm>
            <a:off x="9038149" y="489553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72" name="Shape 270"/>
          <p:cNvSpPr/>
          <p:nvPr/>
        </p:nvSpPr>
        <p:spPr>
          <a:xfrm>
            <a:off x="8518024" y="479348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73" name="Shape 271"/>
          <p:cNvSpPr/>
          <p:nvPr/>
        </p:nvSpPr>
        <p:spPr>
          <a:xfrm>
            <a:off x="8506957" y="476293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74" name="Shape 272"/>
          <p:cNvSpPr/>
          <p:nvPr/>
        </p:nvSpPr>
        <p:spPr>
          <a:xfrm>
            <a:off x="8801182" y="481630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75" name="Shape 273"/>
          <p:cNvSpPr/>
          <p:nvPr/>
        </p:nvSpPr>
        <p:spPr>
          <a:xfrm>
            <a:off x="8612254" y="468783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76" name="Shape 274"/>
          <p:cNvSpPr/>
          <p:nvPr/>
        </p:nvSpPr>
        <p:spPr>
          <a:xfrm>
            <a:off x="9129708" y="501166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77" name="Shape 275"/>
          <p:cNvSpPr/>
          <p:nvPr/>
        </p:nvSpPr>
        <p:spPr>
          <a:xfrm>
            <a:off x="8573132" y="519076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78" name="Shape 276"/>
          <p:cNvSpPr/>
          <p:nvPr/>
        </p:nvSpPr>
        <p:spPr>
          <a:xfrm>
            <a:off x="9077332" y="498208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79" name="Shape 277"/>
          <p:cNvSpPr/>
          <p:nvPr/>
        </p:nvSpPr>
        <p:spPr>
          <a:xfrm>
            <a:off x="8849868" y="476228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80" name="Shape 278"/>
          <p:cNvSpPr/>
          <p:nvPr/>
        </p:nvSpPr>
        <p:spPr>
          <a:xfrm>
            <a:off x="8514338" y="489626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81" name="Shape 279"/>
          <p:cNvSpPr/>
          <p:nvPr/>
        </p:nvSpPr>
        <p:spPr>
          <a:xfrm>
            <a:off x="9093070" y="505075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82" name="Shape 280"/>
          <p:cNvSpPr/>
          <p:nvPr/>
        </p:nvSpPr>
        <p:spPr>
          <a:xfrm>
            <a:off x="8666687" y="485480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83" name="Shape 281"/>
          <p:cNvSpPr/>
          <p:nvPr/>
        </p:nvSpPr>
        <p:spPr>
          <a:xfrm>
            <a:off x="8723775" y="482311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84" name="Shape 282"/>
          <p:cNvSpPr/>
          <p:nvPr/>
        </p:nvSpPr>
        <p:spPr>
          <a:xfrm>
            <a:off x="8756379" y="490612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85" name="Shape 283"/>
          <p:cNvSpPr/>
          <p:nvPr/>
        </p:nvSpPr>
        <p:spPr>
          <a:xfrm>
            <a:off x="8713985" y="523457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86" name="Shape 284"/>
          <p:cNvSpPr/>
          <p:nvPr/>
        </p:nvSpPr>
        <p:spPr>
          <a:xfrm>
            <a:off x="8619253" y="502965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87" name="Shape 285"/>
          <p:cNvSpPr/>
          <p:nvPr/>
        </p:nvSpPr>
        <p:spPr>
          <a:xfrm>
            <a:off x="8953357" y="493461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88" name="Shape 286"/>
          <p:cNvSpPr/>
          <p:nvPr/>
        </p:nvSpPr>
        <p:spPr>
          <a:xfrm>
            <a:off x="8561275" y="497619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89" name="Shape 287"/>
          <p:cNvSpPr/>
          <p:nvPr/>
        </p:nvSpPr>
        <p:spPr>
          <a:xfrm>
            <a:off x="8640391" y="492001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90" name="Shape 288"/>
          <p:cNvSpPr/>
          <p:nvPr/>
        </p:nvSpPr>
        <p:spPr>
          <a:xfrm>
            <a:off x="8673455" y="526704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91" name="Shape 289"/>
          <p:cNvSpPr/>
          <p:nvPr/>
        </p:nvSpPr>
        <p:spPr>
          <a:xfrm>
            <a:off x="9141852" y="490116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92" name="Shape 290"/>
          <p:cNvSpPr/>
          <p:nvPr/>
        </p:nvSpPr>
        <p:spPr>
          <a:xfrm>
            <a:off x="8719668" y="489071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93" name="Shape 291"/>
          <p:cNvSpPr/>
          <p:nvPr/>
        </p:nvSpPr>
        <p:spPr>
          <a:xfrm>
            <a:off x="8984719" y="492747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94" name="Shape 292"/>
          <p:cNvSpPr/>
          <p:nvPr/>
        </p:nvSpPr>
        <p:spPr>
          <a:xfrm>
            <a:off x="8934060" y="510088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95" name="Text 293"/>
          <p:cNvSpPr/>
          <p:nvPr/>
        </p:nvSpPr>
        <p:spPr>
          <a:xfrm>
            <a:off x="10149840" y="5715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PC1 (43%) →</a:t>
            </a:r>
            <a:endParaRPr lang="en-US" sz="900" dirty="0"/>
          </a:p>
        </p:txBody>
      </p:sp>
      <p:sp>
        <p:nvSpPr>
          <p:cNvPr id="296" name="Text 294"/>
          <p:cNvSpPr/>
          <p:nvPr/>
        </p:nvSpPr>
        <p:spPr>
          <a:xfrm>
            <a:off x="7562088" y="2286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2CE6C0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scRNA-seq 시뮬레이션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④ 차원축소 (2) — t-SNE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고차원 이웃 구조를 2D로 재현하는 비선형 시각화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" y="1207008"/>
            <a:ext cx="5669280" cy="384048"/>
          </a:xfrm>
          <a:prstGeom prst="roundRect">
            <a:avLst>
              <a:gd name="adj" fmla="val 11905"/>
            </a:avLst>
          </a:prstGeom>
          <a:solidFill>
            <a:srgbClr val="101722"/>
          </a:solidFill>
          <a:ln w="12700">
            <a:solidFill>
              <a:srgbClr val="17A9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20700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RunTSNE() / RunUMAP()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11680"/>
            <a:ext cx="6263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8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점에 대해 고차원에서 '이웃 확률분포'(perplexity 기반, 가우시안)를 만든다.</a:t>
            </a:r>
            <a:endParaRPr lang="en-US" sz="128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8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2D에서 꼬리 두꺼운 Student-t 분포로 유사도를 정의하고, 두 분포의 KL divergence를 gradient descent로 최소화.</a:t>
            </a:r>
            <a:endParaRPr lang="en-US" sz="128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8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 exaggeration(초반 P를 4배)으로 군집을 강하게 뭉쳐 국소최적 탈출.</a:t>
            </a:r>
            <a:endParaRPr lang="en-US" sz="128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8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계산량 때문에 세포 600개로 서브샘플링. 클러스터링은 항상 전체 PCA 공간에서 (t-SNE는 시각화 전용).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7452360" y="1828800"/>
            <a:ext cx="4251960" cy="2377440"/>
          </a:xfrm>
          <a:prstGeom prst="roundRect">
            <a:avLst>
              <a:gd name="adj" fmla="val 3077"/>
            </a:avLst>
          </a:prstGeom>
          <a:solidFill>
            <a:srgbClr val="1B2534"/>
          </a:solidFill>
          <a:ln w="12700">
            <a:solidFill>
              <a:srgbClr val="17A9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PCA와의 결정적 차이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0" y="2395728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군집(뭉침)은 의미 있지만, 축의 절대 거리·방향·군집 간 간격은 해석하면 안 된다.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502920" y="5212080"/>
            <a:ext cx="6766560" cy="822960"/>
          </a:xfrm>
          <a:prstGeom prst="roundRect">
            <a:avLst>
              <a:gd name="adj" fmla="val 6667"/>
            </a:avLst>
          </a:prstGeom>
          <a:solidFill>
            <a:srgbClr val="2A1418"/>
          </a:solidFill>
          <a:ln w="12700">
            <a:solidFill>
              <a:srgbClr val="E063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212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주의: '누가 누구와 가까운가'는 보여주지만, 거리 자체는 정량 지표가 아니다.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52360" y="4343400"/>
            <a:ext cx="4251960" cy="1691640"/>
          </a:xfrm>
          <a:prstGeom prst="roundRect">
            <a:avLst>
              <a:gd name="adj" fmla="val 4324"/>
            </a:avLst>
          </a:prstGeom>
          <a:solidFill>
            <a:srgbClr val="0E1622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9810" y="512654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566110" y="501021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49836" y="513879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65226" y="482834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300961" y="473262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502660" y="466178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850254" y="498785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687753" y="480199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426334" y="495686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705729" y="523163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664035" y="462580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488358" y="462726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298502" y="472246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364842" y="494924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878722" y="506757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503995" y="507527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541540" y="517344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719586" y="466627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623027" y="481114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601049" y="514486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789031" y="508647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44603" y="480536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726036" y="508853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72628" y="482969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747375" y="490017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603579" y="521731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705730" y="463494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609422" y="469972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510082" y="463727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588496" y="5151396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56410" y="489067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55090" y="460326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862837" y="494725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36622" y="510373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803897" y="512018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03844" y="467000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566803" y="513482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47411" y="469266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19919" y="506731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95193" y="484309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517323" y="472729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799254" y="513269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589307" y="482783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825957" y="509208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720633" y="509552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799061" y="4931821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593054" y="507869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552086" y="456054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584960" y="478009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906004" y="505200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546366" y="4885614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498770" y="522983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609917" y="468032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499796" y="5085067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643389" y="4565319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329401" y="4770060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719523" y="4928928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794554" y="4619052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8380376" y="4751053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8482386" y="5121725"/>
            <a:ext cx="45720" cy="45720"/>
          </a:xfrm>
          <a:prstGeom prst="ellipse">
            <a:avLst/>
          </a:prstGeom>
          <a:solidFill>
            <a:srgbClr val="2CE6C0">
              <a:alpha val="85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10283097" y="5283936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10306065" y="528293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10415917" y="4627432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10488971" y="4984152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0629275" y="491517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10404284" y="5223544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10202301" y="4848124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0579112" y="5349026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10349091" y="5174051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10548040" y="531267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0360023" y="5146210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10619727" y="4863466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10457972" y="497651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0542626" y="4885941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10733282" y="4817726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10614238" y="533026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10625891" y="4972960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10211474" y="504894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10658928" y="475478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10378617" y="4644852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10693114" y="5042394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10374048" y="505085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10661288" y="4830365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10486593" y="5231075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10569882" y="4695464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38146" y="5232287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10173850" y="5204665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10263214" y="486156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10609546" y="472939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10523039" y="5141350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10146145" y="5310540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10681427" y="5282624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10527255" y="472195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10494505" y="5390461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10144535" y="4987197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10220206" y="501078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10641015" y="501474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10685950" y="4877552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10373363" y="5031187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10781951" y="5170530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10472422" y="5240457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10117899" y="506960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10262683" y="527579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10600310" y="5151453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10288511" y="5324700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10380973" y="5001251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10706619" y="5099092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10362104" y="516515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10580513" y="4836956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10722545" y="4831136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10470283" y="5080899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10466993" y="497418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10517097" y="5044915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10187313" y="4837560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10610397" y="5060148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10415268" y="5038564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10312252" y="4829236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10243589" y="5199636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10524053" y="4867902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10354472" y="5346061"/>
            <a:ext cx="45720" cy="45720"/>
          </a:xfrm>
          <a:prstGeom prst="ellipse">
            <a:avLst/>
          </a:prstGeom>
          <a:solidFill>
            <a:srgbClr val="8B7CF6">
              <a:alpha val="85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9428995" y="5575502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9109209" y="5725647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9455546" y="557962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9192199" y="5547566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9259571" y="5789761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9341494" y="5520876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9531555" y="5463211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9161079" y="5598746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9202327" y="5555490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9132049" y="5669601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9455494" y="5545513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9479402" y="5898552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9311155" y="5814390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9512327" y="551387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9392297" y="564078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9155491" y="5444570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9437380" y="5888489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9281013" y="5773068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9553873" y="552816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9176158" y="5803850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9236923" y="5607761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9292072" y="5445719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9096281" y="551117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9256712" y="5833637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9157555" y="5896738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64" name="Shape 162"/>
          <p:cNvSpPr/>
          <p:nvPr/>
        </p:nvSpPr>
        <p:spPr>
          <a:xfrm>
            <a:off x="9468875" y="562955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65" name="Shape 163"/>
          <p:cNvSpPr/>
          <p:nvPr/>
        </p:nvSpPr>
        <p:spPr>
          <a:xfrm>
            <a:off x="9314809" y="5683067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66" name="Shape 164"/>
          <p:cNvSpPr/>
          <p:nvPr/>
        </p:nvSpPr>
        <p:spPr>
          <a:xfrm>
            <a:off x="9305562" y="5851508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67" name="Shape 165"/>
          <p:cNvSpPr/>
          <p:nvPr/>
        </p:nvSpPr>
        <p:spPr>
          <a:xfrm>
            <a:off x="9476886" y="590088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68" name="Shape 166"/>
          <p:cNvSpPr/>
          <p:nvPr/>
        </p:nvSpPr>
        <p:spPr>
          <a:xfrm>
            <a:off x="9379971" y="5729063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69" name="Shape 167"/>
          <p:cNvSpPr/>
          <p:nvPr/>
        </p:nvSpPr>
        <p:spPr>
          <a:xfrm>
            <a:off x="9394291" y="5682951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70" name="Shape 168"/>
          <p:cNvSpPr/>
          <p:nvPr/>
        </p:nvSpPr>
        <p:spPr>
          <a:xfrm>
            <a:off x="9185003" y="5903207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71" name="Shape 169"/>
          <p:cNvSpPr/>
          <p:nvPr/>
        </p:nvSpPr>
        <p:spPr>
          <a:xfrm>
            <a:off x="9277825" y="5727124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72" name="Shape 170"/>
          <p:cNvSpPr/>
          <p:nvPr/>
        </p:nvSpPr>
        <p:spPr>
          <a:xfrm>
            <a:off x="9405153" y="5455191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73" name="Shape 171"/>
          <p:cNvSpPr/>
          <p:nvPr/>
        </p:nvSpPr>
        <p:spPr>
          <a:xfrm>
            <a:off x="9553280" y="5731560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74" name="Shape 172"/>
          <p:cNvSpPr/>
          <p:nvPr/>
        </p:nvSpPr>
        <p:spPr>
          <a:xfrm>
            <a:off x="9120729" y="5552476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75" name="Shape 173"/>
          <p:cNvSpPr/>
          <p:nvPr/>
        </p:nvSpPr>
        <p:spPr>
          <a:xfrm>
            <a:off x="9462914" y="5710317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76" name="Shape 174"/>
          <p:cNvSpPr/>
          <p:nvPr/>
        </p:nvSpPr>
        <p:spPr>
          <a:xfrm>
            <a:off x="9136468" y="5820663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77" name="Shape 175"/>
          <p:cNvSpPr/>
          <p:nvPr/>
        </p:nvSpPr>
        <p:spPr>
          <a:xfrm>
            <a:off x="9571531" y="5684777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78" name="Shape 176"/>
          <p:cNvSpPr/>
          <p:nvPr/>
        </p:nvSpPr>
        <p:spPr>
          <a:xfrm>
            <a:off x="9558002" y="548948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79" name="Shape 177"/>
          <p:cNvSpPr/>
          <p:nvPr/>
        </p:nvSpPr>
        <p:spPr>
          <a:xfrm>
            <a:off x="9411296" y="5741935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9227501" y="5668070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81" name="Shape 179"/>
          <p:cNvSpPr/>
          <p:nvPr/>
        </p:nvSpPr>
        <p:spPr>
          <a:xfrm>
            <a:off x="9464305" y="5901607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82" name="Shape 180"/>
          <p:cNvSpPr/>
          <p:nvPr/>
        </p:nvSpPr>
        <p:spPr>
          <a:xfrm>
            <a:off x="9473762" y="5759736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83" name="Shape 181"/>
          <p:cNvSpPr/>
          <p:nvPr/>
        </p:nvSpPr>
        <p:spPr>
          <a:xfrm>
            <a:off x="9102153" y="5814727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84" name="Shape 182"/>
          <p:cNvSpPr/>
          <p:nvPr/>
        </p:nvSpPr>
        <p:spPr>
          <a:xfrm>
            <a:off x="9369371" y="5441730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85" name="Shape 183"/>
          <p:cNvSpPr/>
          <p:nvPr/>
        </p:nvSpPr>
        <p:spPr>
          <a:xfrm>
            <a:off x="9539400" y="5641410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86" name="Shape 184"/>
          <p:cNvSpPr/>
          <p:nvPr/>
        </p:nvSpPr>
        <p:spPr>
          <a:xfrm>
            <a:off x="9369468" y="5838804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87" name="Shape 185"/>
          <p:cNvSpPr/>
          <p:nvPr/>
        </p:nvSpPr>
        <p:spPr>
          <a:xfrm>
            <a:off x="9444453" y="5674231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88" name="Shape 186"/>
          <p:cNvSpPr/>
          <p:nvPr/>
        </p:nvSpPr>
        <p:spPr>
          <a:xfrm>
            <a:off x="9643701" y="5636944"/>
            <a:ext cx="45720" cy="45720"/>
          </a:xfrm>
          <a:prstGeom prst="ellipse">
            <a:avLst/>
          </a:prstGeom>
          <a:solidFill>
            <a:srgbClr val="E8973A">
              <a:alpha val="85000"/>
            </a:srgbClr>
          </a:solidFill>
          <a:ln/>
        </p:spPr>
      </p:sp>
      <p:sp>
        <p:nvSpPr>
          <p:cNvPr id="189" name="Text 187"/>
          <p:cNvSpPr/>
          <p:nvPr/>
        </p:nvSpPr>
        <p:spPr>
          <a:xfrm>
            <a:off x="7589520" y="4407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t-SNE view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2CE6C0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scRNA-seq 시뮬레이션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⑤ 클러스터링 — kNN 그래프 + Louvain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0700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101722"/>
          </a:solidFill>
          <a:ln w="12700">
            <a:solidFill>
              <a:srgbClr val="17A9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07008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FindNeighbors() + FindClusters()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0" y="11887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A9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57400"/>
            <a:ext cx="62636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 좌표에서 각 세포를 가장 가까운 이웃 k개와 연결해 그래프를 만든다.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그래프 위에서 모듈성(modularity)이 높아지도록 세포를 그룹화 — 그룹 안 연결이 밖보다 촘촘하게.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k-means와 달리 '몇 개로 나눌지'를 미리 정하지 않는다.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resolution 파라미터로 얼마나 잘게 쪼갤지만 조절 (Seurat FindClusters(resolution=…)와 동일).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52360" y="182880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0116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kNN → 모듈성 최적화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75320" y="2926080"/>
            <a:ext cx="640080" cy="-182880"/>
          </a:xfrm>
          <a:prstGeom prst="line">
            <a:avLst/>
          </a:prstGeom>
          <a:noFill/>
          <a:ln w="19050">
            <a:solidFill>
              <a:srgbClr val="2637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2926080"/>
            <a:ext cx="365760" cy="457200"/>
          </a:xfrm>
          <a:prstGeom prst="line">
            <a:avLst/>
          </a:prstGeom>
          <a:noFill/>
          <a:ln w="19050">
            <a:solidFill>
              <a:srgbClr val="2637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2743200"/>
            <a:ext cx="-274320" cy="640080"/>
          </a:xfrm>
          <a:prstGeom prst="line">
            <a:avLst/>
          </a:prstGeom>
          <a:noFill/>
          <a:ln w="19050">
            <a:solidFill>
              <a:srgbClr val="2637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78440" y="3017520"/>
            <a:ext cx="548640" cy="548640"/>
          </a:xfrm>
          <a:prstGeom prst="line">
            <a:avLst/>
          </a:prstGeom>
          <a:noFill/>
          <a:ln w="19050">
            <a:solidFill>
              <a:srgbClr val="2637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78440" y="3017520"/>
            <a:ext cx="91440" cy="1005840"/>
          </a:xfrm>
          <a:prstGeom prst="line">
            <a:avLst/>
          </a:prstGeom>
          <a:noFill/>
          <a:ln w="19050">
            <a:solidFill>
              <a:srgbClr val="2637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27080" y="3566160"/>
            <a:ext cx="-457200" cy="457200"/>
          </a:xfrm>
          <a:prstGeom prst="line">
            <a:avLst/>
          </a:prstGeom>
          <a:noFill/>
          <a:ln w="19050">
            <a:solidFill>
              <a:srgbClr val="2637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74736" y="2825496"/>
            <a:ext cx="201168" cy="201168"/>
          </a:xfrm>
          <a:prstGeom prst="ellipse">
            <a:avLst/>
          </a:prstGeom>
          <a:solidFill>
            <a:srgbClr val="2CE6C0"/>
          </a:solidFill>
          <a:ln/>
        </p:spPr>
      </p:sp>
      <p:sp>
        <p:nvSpPr>
          <p:cNvPr id="22" name="Shape 20"/>
          <p:cNvSpPr/>
          <p:nvPr/>
        </p:nvSpPr>
        <p:spPr>
          <a:xfrm>
            <a:off x="8814816" y="2642616"/>
            <a:ext cx="201168" cy="201168"/>
          </a:xfrm>
          <a:prstGeom prst="ellipse">
            <a:avLst/>
          </a:prstGeom>
          <a:solidFill>
            <a:srgbClr val="2CE6C0"/>
          </a:solidFill>
          <a:ln/>
        </p:spPr>
      </p:sp>
      <p:sp>
        <p:nvSpPr>
          <p:cNvPr id="23" name="Shape 21"/>
          <p:cNvSpPr/>
          <p:nvPr/>
        </p:nvSpPr>
        <p:spPr>
          <a:xfrm>
            <a:off x="8540496" y="3282696"/>
            <a:ext cx="201168" cy="201168"/>
          </a:xfrm>
          <a:prstGeom prst="ellipse">
            <a:avLst/>
          </a:prstGeom>
          <a:solidFill>
            <a:srgbClr val="2CE6C0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77856" y="2916936"/>
            <a:ext cx="201168" cy="201168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26496" y="3465576"/>
            <a:ext cx="201168" cy="201168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69296" y="3922776"/>
            <a:ext cx="201168" cy="201168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9546336" y="4745736"/>
            <a:ext cx="201168" cy="201168"/>
          </a:xfrm>
          <a:prstGeom prst="ellipse">
            <a:avLst/>
          </a:prstGeom>
          <a:solidFill>
            <a:srgbClr val="E8973A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0" y="52120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resolution ↑  →  더 잘게 분할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2CE6C0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scRNA-seq 시뮬레이션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⑥ 마커 유전자 발견 — 통계 검정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0700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101722"/>
          </a:solidFill>
          <a:ln w="12700">
            <a:solidFill>
              <a:srgbClr val="17A9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07008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FindAllMarkers() · DotPlot/VlnPlot/FeaturePlot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0" y="11887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A9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57400"/>
            <a:ext cx="62636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클러스터를 나눴다고 끝이 아니다 — 클러스터별로 유의하게 높은 유전자를 사후에 찾는다.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단순 평균차가 아니라 Wilcoxon rank-sum(Mann-Whitney U)으로 안/밖 발현분포를 비교해 p-value 산출.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여러 유전자를 동시 검정 → Benjamini-Hochberg FDR로 다중비교 보정.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DotPlot(점 크기=발현세포 %, 색=평균 로그발현) · Violin · FeaturePlot으로 시각화.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52360" y="182880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0116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DotPlot 읽는 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09560" y="2651760"/>
            <a:ext cx="310896" cy="310896"/>
          </a:xfrm>
          <a:prstGeom prst="ellipse">
            <a:avLst/>
          </a:prstGeom>
          <a:solidFill>
            <a:srgbClr val="E0637A"/>
          </a:solidFill>
          <a:ln/>
        </p:spPr>
      </p:sp>
      <p:sp>
        <p:nvSpPr>
          <p:cNvPr id="16" name="Shape 14"/>
          <p:cNvSpPr/>
          <p:nvPr/>
        </p:nvSpPr>
        <p:spPr>
          <a:xfrm>
            <a:off x="8650224" y="2734056"/>
            <a:ext cx="146304" cy="14630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17" name="Shape 15"/>
          <p:cNvSpPr/>
          <p:nvPr/>
        </p:nvSpPr>
        <p:spPr>
          <a:xfrm>
            <a:off x="9308592" y="2734056"/>
            <a:ext cx="146304" cy="146304"/>
          </a:xfrm>
          <a:prstGeom prst="ellipse">
            <a:avLst/>
          </a:prstGeom>
          <a:solidFill>
            <a:srgbClr val="2CE6C0"/>
          </a:solidFill>
          <a:ln/>
        </p:spPr>
      </p:sp>
      <p:sp>
        <p:nvSpPr>
          <p:cNvPr id="18" name="Shape 16"/>
          <p:cNvSpPr/>
          <p:nvPr/>
        </p:nvSpPr>
        <p:spPr>
          <a:xfrm>
            <a:off x="9884664" y="2651760"/>
            <a:ext cx="310896" cy="310896"/>
          </a:xfrm>
          <a:prstGeom prst="ellipse">
            <a:avLst/>
          </a:prstGeom>
          <a:solidFill>
            <a:srgbClr val="E0637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25328" y="2734056"/>
            <a:ext cx="146304" cy="146304"/>
          </a:xfrm>
          <a:prstGeom prst="ellipse">
            <a:avLst/>
          </a:prstGeom>
          <a:solidFill>
            <a:srgbClr val="2CE6C0"/>
          </a:solidFill>
          <a:ln/>
        </p:spPr>
      </p:sp>
      <p:sp>
        <p:nvSpPr>
          <p:cNvPr id="20" name="Shape 18"/>
          <p:cNvSpPr/>
          <p:nvPr/>
        </p:nvSpPr>
        <p:spPr>
          <a:xfrm>
            <a:off x="7991856" y="3374136"/>
            <a:ext cx="146304" cy="146304"/>
          </a:xfrm>
          <a:prstGeom prst="ellipse">
            <a:avLst/>
          </a:prstGeom>
          <a:solidFill>
            <a:srgbClr val="2CE6C0"/>
          </a:solidFill>
          <a:ln/>
        </p:spPr>
      </p:sp>
      <p:sp>
        <p:nvSpPr>
          <p:cNvPr id="21" name="Shape 19"/>
          <p:cNvSpPr/>
          <p:nvPr/>
        </p:nvSpPr>
        <p:spPr>
          <a:xfrm>
            <a:off x="8650224" y="3374136"/>
            <a:ext cx="146304" cy="14630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22" name="Shape 20"/>
          <p:cNvSpPr/>
          <p:nvPr/>
        </p:nvSpPr>
        <p:spPr>
          <a:xfrm>
            <a:off x="9226296" y="3291840"/>
            <a:ext cx="310896" cy="310896"/>
          </a:xfrm>
          <a:prstGeom prst="ellipse">
            <a:avLst/>
          </a:prstGeom>
          <a:solidFill>
            <a:srgbClr val="E0637A"/>
          </a:solidFill>
          <a:ln/>
        </p:spPr>
      </p:sp>
      <p:sp>
        <p:nvSpPr>
          <p:cNvPr id="23" name="Shape 21"/>
          <p:cNvSpPr/>
          <p:nvPr/>
        </p:nvSpPr>
        <p:spPr>
          <a:xfrm>
            <a:off x="9966960" y="3374136"/>
            <a:ext cx="146304" cy="14630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25328" y="3374136"/>
            <a:ext cx="146304" cy="146304"/>
          </a:xfrm>
          <a:prstGeom prst="ellipse">
            <a:avLst/>
          </a:prstGeom>
          <a:solidFill>
            <a:srgbClr val="2CE6C0"/>
          </a:solidFill>
          <a:ln/>
        </p:spPr>
      </p:sp>
      <p:sp>
        <p:nvSpPr>
          <p:cNvPr id="25" name="Shape 23"/>
          <p:cNvSpPr/>
          <p:nvPr/>
        </p:nvSpPr>
        <p:spPr>
          <a:xfrm>
            <a:off x="7991856" y="4014216"/>
            <a:ext cx="146304" cy="146304"/>
          </a:xfrm>
          <a:prstGeom prst="ellipse">
            <a:avLst/>
          </a:prstGeom>
          <a:solidFill>
            <a:srgbClr val="2CE6C0"/>
          </a:solidFill>
          <a:ln/>
        </p:spPr>
      </p:sp>
      <p:sp>
        <p:nvSpPr>
          <p:cNvPr id="26" name="Shape 24"/>
          <p:cNvSpPr/>
          <p:nvPr/>
        </p:nvSpPr>
        <p:spPr>
          <a:xfrm>
            <a:off x="8567928" y="3931920"/>
            <a:ext cx="310896" cy="310896"/>
          </a:xfrm>
          <a:prstGeom prst="ellipse">
            <a:avLst/>
          </a:prstGeom>
          <a:solidFill>
            <a:srgbClr val="E0637A"/>
          </a:solidFill>
          <a:ln/>
        </p:spPr>
      </p:sp>
      <p:sp>
        <p:nvSpPr>
          <p:cNvPr id="27" name="Shape 25"/>
          <p:cNvSpPr/>
          <p:nvPr/>
        </p:nvSpPr>
        <p:spPr>
          <a:xfrm>
            <a:off x="9308592" y="4014216"/>
            <a:ext cx="146304" cy="146304"/>
          </a:xfrm>
          <a:prstGeom prst="ellipse">
            <a:avLst/>
          </a:prstGeom>
          <a:solidFill>
            <a:srgbClr val="2CE6C0"/>
          </a:solidFill>
          <a:ln/>
        </p:spPr>
      </p:sp>
      <p:sp>
        <p:nvSpPr>
          <p:cNvPr id="28" name="Shape 26"/>
          <p:cNvSpPr/>
          <p:nvPr/>
        </p:nvSpPr>
        <p:spPr>
          <a:xfrm>
            <a:off x="9966960" y="4014216"/>
            <a:ext cx="146304" cy="14630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543032" y="3931920"/>
            <a:ext cx="310896" cy="310896"/>
          </a:xfrm>
          <a:prstGeom prst="ellipse">
            <a:avLst/>
          </a:prstGeom>
          <a:solidFill>
            <a:srgbClr val="E0637A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0" y="461772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점 크기 = %expressing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색 = 평균 로그발현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80960" y="53492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A9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Wilcoxon + BH FDR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7C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해석 &amp; Downstream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96112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annotation(05) · downstream(06) · trajectory(07)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8B7CF6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Cell type annotation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세포 유형 주석 — 증거에서 가설로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자동 확정이 아니라 '사고 흐름'을 연습한다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1984248" cy="1371600"/>
          </a:xfrm>
          <a:prstGeom prst="roundRect">
            <a:avLst>
              <a:gd name="adj" fmla="val 5333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1984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505456" y="20116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07208" y="2011680"/>
            <a:ext cx="1984248" cy="1371600"/>
          </a:xfrm>
          <a:prstGeom prst="roundRect">
            <a:avLst>
              <a:gd name="adj" fmla="val 5333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2011680"/>
            <a:ext cx="1984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Marker genes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09744" y="20116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11496" y="2011680"/>
            <a:ext cx="1984248" cy="1371600"/>
          </a:xfrm>
          <a:prstGeom prst="roundRect">
            <a:avLst>
              <a:gd name="adj" fmla="val 5333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11496" y="2011680"/>
            <a:ext cx="1984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Marker set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114032" y="20116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415784" y="2011680"/>
            <a:ext cx="1984248" cy="1371600"/>
          </a:xfrm>
          <a:prstGeom prst="roundRect">
            <a:avLst>
              <a:gd name="adj" fmla="val 5333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15784" y="2011680"/>
            <a:ext cx="1984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Biological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418320" y="20116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720072" y="2011680"/>
            <a:ext cx="1984248" cy="1371600"/>
          </a:xfrm>
          <a:prstGeom prst="roundRect">
            <a:avLst>
              <a:gd name="adj" fmla="val 5333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2011680"/>
            <a:ext cx="1984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B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type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8B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hypothesis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3749040"/>
            <a:ext cx="11201400" cy="2148840"/>
          </a:xfrm>
          <a:prstGeom prst="roundRect">
            <a:avLst>
              <a:gd name="adj" fmla="val 3404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913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태도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" y="429768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마커는 증거이지 정답표가 아니다 — 예: CD3⁺ → T세포 가설, CD19⁺ → B세포 가설.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여러 마커의 조합(marker set)으로 판단하고, 문헌·reference와 대조해 신뢰도를 매긴다.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결론은 '가설(hypothesis)'로 남기고, 필요하면 추가 실험으로 확정한다.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8B7CF6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Downstream graphs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Downstream 분석 — 질문이 방법을 정한다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같은 발현 행렬이라도 '무엇을 묻는가'에 따라 통계·시각화가 달라진다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47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분석 질문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1947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무엇을 묻는가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1947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방법 / 함수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258568"/>
            <a:ext cx="11201400" cy="749808"/>
          </a:xfrm>
          <a:prstGeom prst="roundRect">
            <a:avLst>
              <a:gd name="adj" fmla="val 9756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258568"/>
            <a:ext cx="73152" cy="749808"/>
          </a:xfrm>
          <a:prstGeom prst="rect">
            <a:avLst/>
          </a:prstGeom>
          <a:solidFill>
            <a:srgbClr val="2CE6C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5856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차등발현 (DE)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14800" y="2258568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A와 B를 구분하는 유전자는?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21040" y="225856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FindMarkers(ident.1,ident.2)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18104"/>
            <a:ext cx="11201400" cy="749808"/>
          </a:xfrm>
          <a:prstGeom prst="roundRect">
            <a:avLst>
              <a:gd name="adj" fmla="val 9756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118104"/>
            <a:ext cx="73152" cy="749808"/>
          </a:xfrm>
          <a:prstGeom prst="rect">
            <a:avLst/>
          </a:prstGeom>
          <a:solidFill>
            <a:srgbClr val="49B6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18104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composition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114800" y="3118104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집단의 크기는 어떻게 다른가?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21040" y="3118104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비율 비교 · bar plot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977640"/>
            <a:ext cx="11201400" cy="749808"/>
          </a:xfrm>
          <a:prstGeom prst="roundRect">
            <a:avLst>
              <a:gd name="adj" fmla="val 9756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977640"/>
            <a:ext cx="73152" cy="749808"/>
          </a:xfrm>
          <a:prstGeom prst="rect">
            <a:avLst/>
          </a:prstGeom>
          <a:solidFill>
            <a:srgbClr val="E8973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7764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97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similarity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114800" y="3977640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집단들은 발현공간에서 얼마나 가까운가?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21040" y="397764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거리/상관 · heatmap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837176"/>
            <a:ext cx="11201400" cy="749808"/>
          </a:xfrm>
          <a:prstGeom prst="roundRect">
            <a:avLst>
              <a:gd name="adj" fmla="val 9756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837176"/>
            <a:ext cx="73152" cy="749808"/>
          </a:xfrm>
          <a:prstGeom prst="rect">
            <a:avLst/>
          </a:prstGeom>
          <a:solidFill>
            <a:srgbClr val="8B7CF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837176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 program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114800" y="4837176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유전자 조합 프로그램은 어디서 켜지나?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321040" y="4837176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AddModuleScore(gene_set)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5696712"/>
            <a:ext cx="11201400" cy="749808"/>
          </a:xfrm>
          <a:prstGeom prst="roundRect">
            <a:avLst>
              <a:gd name="adj" fmla="val 9756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5696712"/>
            <a:ext cx="73152" cy="749808"/>
          </a:xfrm>
          <a:prstGeom prst="rect">
            <a:avLst/>
          </a:prstGeom>
          <a:solidFill>
            <a:srgbClr val="49C77F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69671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C7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 visualization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114800" y="5696712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특정 유전자는 어느 집단에서?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321040" y="569671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FeaturePlot · DotPlot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8B7CF6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Developmental / origin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Pseudotime / 발생 경로 — 연속적 상태 연결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세포 상태가 어떤 경로를 따라 이어지는지 추정 (실제 시간 아님)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3489960" cy="1737360"/>
          </a:xfrm>
          <a:prstGeom prst="roundRect">
            <a:avLst>
              <a:gd name="adj" fmla="val 4211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73580" y="2221992"/>
            <a:ext cx="548640" cy="548640"/>
          </a:xfrm>
          <a:prstGeom prst="ellipse">
            <a:avLst/>
          </a:prstGeom>
          <a:solidFill>
            <a:srgbClr val="1B2534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73580" y="2221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348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가설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264408"/>
            <a:ext cx="321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어떤 상태를 초기로 가정?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20312" y="1965960"/>
            <a:ext cx="365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358640" y="1965960"/>
            <a:ext cx="3489960" cy="1737360"/>
          </a:xfrm>
          <a:prstGeom prst="roundRect">
            <a:avLst>
              <a:gd name="adj" fmla="val 4211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29300" y="2221992"/>
            <a:ext cx="548640" cy="548640"/>
          </a:xfrm>
          <a:prstGeom prst="ellipse">
            <a:avLst/>
          </a:prstGeom>
          <a:solidFill>
            <a:srgbClr val="1B2534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29300" y="2221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58640" y="2880360"/>
            <a:ext cx="348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Pseudotime 정렬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95800" y="3264408"/>
            <a:ext cx="321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상대적 진행 순서로 배열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876032" y="1965960"/>
            <a:ext cx="365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214360" y="1965960"/>
            <a:ext cx="3489960" cy="1737360"/>
          </a:xfrm>
          <a:prstGeom prst="roundRect">
            <a:avLst>
              <a:gd name="adj" fmla="val 4211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85020" y="2221992"/>
            <a:ext cx="548640" cy="548640"/>
          </a:xfrm>
          <a:prstGeom prst="ellipse">
            <a:avLst/>
          </a:prstGeom>
          <a:solidFill>
            <a:srgbClr val="1B2534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85020" y="2221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14360" y="2880360"/>
            <a:ext cx="348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 dynamics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51520" y="3264408"/>
            <a:ext cx="321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경로 따라 증가·감소 유전자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3977640"/>
            <a:ext cx="11201400" cy="1920240"/>
          </a:xfrm>
          <a:prstGeom prst="roundRect">
            <a:avLst>
              <a:gd name="adj" fmla="val 2857"/>
            </a:avLst>
          </a:prstGeom>
          <a:solidFill>
            <a:srgbClr val="2A1418"/>
          </a:solidFill>
          <a:ln w="15240">
            <a:solidFill>
              <a:srgbClr val="E063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결정적 주의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" y="452628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Pseudotime은 실제 발생 시간(time)이 아니다 — 상태 간 '상대적 순서'일 뿐.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실제 embryonic origin이나 lineage를 확정하려면 별도의 실험·reference 근거가 필요하다.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04번의 PCA/neighbor/cluster 결과를 trajectory로 확장하는 '개념' 연습이다.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2CE6C0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FACS ↔ scRNA-seq — 해상도 축에서 만난다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저차원 고속 분류와 고차원 탐색적 발견은 서로를 보완한다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11201400" cy="1828800"/>
          </a:xfrm>
          <a:prstGeom prst="roundRect">
            <a:avLst>
              <a:gd name="adj" fmla="val 4000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FACS로 관심 집단을 물리적으로 분리(sort) → 그 세포로 scRNA-seq → 집단 내부의 숨은 이질성까지 해부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3550920" cy="1965960"/>
          </a:xfrm>
          <a:prstGeom prst="roundRect">
            <a:avLst>
              <a:gd name="adj" fmla="val 3721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931920"/>
            <a:ext cx="3550920" cy="91440"/>
          </a:xfrm>
          <a:prstGeom prst="rect">
            <a:avLst/>
          </a:prstGeom>
          <a:solidFill>
            <a:srgbClr val="2CE6C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206240"/>
            <a:ext cx="3093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공통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3093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세포 이질성 정의 · 집단의 정체성 규명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28160" y="3931920"/>
            <a:ext cx="3550920" cy="1965960"/>
          </a:xfrm>
          <a:prstGeom prst="roundRect">
            <a:avLst>
              <a:gd name="adj" fmla="val 3721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8160" y="3931920"/>
            <a:ext cx="3550920" cy="91440"/>
          </a:xfrm>
          <a:prstGeom prst="rect">
            <a:avLst/>
          </a:prstGeom>
          <a:solidFill>
            <a:srgbClr val="49B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56760" y="4206240"/>
            <a:ext cx="3093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FACS 강점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56760" y="4800600"/>
            <a:ext cx="3093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실시간·고속, 살아있는 세포 분리(sorting)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3400" y="3931920"/>
            <a:ext cx="3550920" cy="1965960"/>
          </a:xfrm>
          <a:prstGeom prst="roundRect">
            <a:avLst>
              <a:gd name="adj" fmla="val 3721"/>
            </a:avLst>
          </a:prstGeom>
          <a:solidFill>
            <a:srgbClr val="1B2534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3400" y="3931920"/>
            <a:ext cx="3550920" cy="91440"/>
          </a:xfrm>
          <a:prstGeom prst="rect">
            <a:avLst/>
          </a:prstGeom>
          <a:solidFill>
            <a:srgbClr val="8B7CF6"/>
          </a:solidFill>
          <a:ln/>
        </p:spPr>
      </p:sp>
      <p:sp>
        <p:nvSpPr>
          <p:cNvPr id="21" name="Text 19"/>
          <p:cNvSpPr/>
          <p:nvPr/>
        </p:nvSpPr>
        <p:spPr>
          <a:xfrm>
            <a:off x="8382000" y="4206240"/>
            <a:ext cx="3093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scRNA-seq 강점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0" y="4800600"/>
            <a:ext cx="3093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사전 마커 없이 새 상태·경로 발견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2CE6C0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요약 &amp; 자주 하는 오해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21208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시험·발표에서 꼭 짚어야 할 것들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기억할 원칙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514600"/>
            <a:ext cx="457200" cy="457200"/>
          </a:xfrm>
          <a:prstGeom prst="ellipse">
            <a:avLst/>
          </a:prstGeom>
          <a:solidFill>
            <a:srgbClr val="1B2534"/>
          </a:solidFill>
          <a:ln w="19050">
            <a:solidFill>
              <a:srgbClr val="2CE6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32257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QC를 스킵하지 마라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6974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debris·죽은 세포가 가짜 클러스터를 만든다 (mito%·n_genes 필터)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47472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794760"/>
            <a:ext cx="457200" cy="457200"/>
          </a:xfrm>
          <a:prstGeom prst="ellipse">
            <a:avLst/>
          </a:prstGeom>
          <a:solidFill>
            <a:srgbClr val="1B2534"/>
          </a:solidFill>
          <a:ln w="19050">
            <a:solidFill>
              <a:srgbClr val="2CE6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6027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클러스터 수는 결과다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97764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resolution만 정하고, 개수는 데이터가 정한다 (k-means 아님)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75488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141C28"/>
          </a:solidFill>
          <a:ln w="12700">
            <a:solidFill>
              <a:srgbClr val="2637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5074920"/>
            <a:ext cx="457200" cy="457200"/>
          </a:xfrm>
          <a:prstGeom prst="ellipse">
            <a:avLst/>
          </a:prstGeom>
          <a:solidFill>
            <a:srgbClr val="1B2534"/>
          </a:solidFill>
          <a:ln w="19050">
            <a:solidFill>
              <a:srgbClr val="2CE6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8828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마커는 통계로 검증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525780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Wilcoxon + FDR. 클러스터 발견과 마커 검정은 별개 단계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5508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흔한 오해 (⚠)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17920" y="219456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22141A"/>
          </a:solidFill>
          <a:ln w="12700">
            <a:solidFill>
              <a:srgbClr val="E063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03720" y="23225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t-SNE/UMAP 거리 ≠ 정량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03720" y="26974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군집 존재만 신뢰, 축 거리·간격 해석 금지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347472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22141A"/>
          </a:solidFill>
          <a:ln w="12700">
            <a:solidFill>
              <a:srgbClr val="E063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03720" y="360273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Pseudotime ≠ 실제 시간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3977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상대 순서일 뿐, lineage 확정엔 별도 근거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17920" y="475488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22141A"/>
          </a:solidFill>
          <a:ln w="12700">
            <a:solidFill>
              <a:srgbClr val="E063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03720" y="488289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Annotation = 가설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03720" y="52578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마커 증거 기반 해석, 자동 정답 아님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CE6C0"/>
                </a:solidFill>
                <a:latin typeface="Consolas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E9F0F6"/>
                </a:solidFill>
                <a:latin typeface="Segoe UI"/>
              </a:rPr>
              <a:t>콘솔 어디서 확인하나요 — 7개 탭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3A4B4"/>
                </a:solidFill>
                <a:latin typeface="Segoe UI"/>
              </a:rPr>
              <a:t>슬라이드에서 배운 개념이 실제 콘솔(cyto_seq_console.html)의 어느 탭·버튼·로그에 대응하는지 정리합니다.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2743200" cy="457200"/>
          </a:xfrm>
          <a:prstGeom prst="rect">
            <a:avLst/>
          </a:prstGeom>
          <a:solidFill>
            <a:srgbClr val="1B2534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25237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CE6C0"/>
                </a:solidFill>
                <a:latin typeface="Consolas"/>
              </a:rPr>
              <a:t>개념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783080"/>
            <a:ext cx="2377440" cy="457200"/>
          </a:xfrm>
          <a:prstGeom prst="rect">
            <a:avLst/>
          </a:prstGeom>
          <a:solidFill>
            <a:srgbClr val="1B2534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0128" y="178308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CE6C0"/>
                </a:solidFill>
                <a:latin typeface="Consolas"/>
              </a:rPr>
              <a:t>콘솔 위치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783080"/>
            <a:ext cx="5394960" cy="457200"/>
          </a:xfrm>
          <a:prstGeom prst="rect">
            <a:avLst/>
          </a:prstGeom>
          <a:solidFill>
            <a:srgbClr val="1B2534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87568" y="1783080"/>
            <a:ext cx="51755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CE6C0"/>
                </a:solidFill>
                <a:latin typeface="Consolas"/>
              </a:rPr>
              <a:t>확인할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2743200" cy="457200"/>
          </a:xfrm>
          <a:prstGeom prst="rect">
            <a:avLst/>
          </a:prstGeom>
          <a:solidFill>
            <a:srgbClr val="1017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240280"/>
            <a:ext cx="25237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E9F0F6"/>
                </a:solidFill>
                <a:latin typeface="Consolas"/>
              </a:rPr>
              <a:t>FACS 7단계 조작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240280"/>
            <a:ext cx="2377440" cy="457200"/>
          </a:xfrm>
          <a:prstGeom prst="rect">
            <a:avLst/>
          </a:prstGeom>
          <a:solidFill>
            <a:srgbClr val="1017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24028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Consolas"/>
              </a:rPr>
              <a:t>01 · FACS 기기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240280"/>
            <a:ext cx="5394960" cy="457200"/>
          </a:xfrm>
          <a:prstGeom prst="rect">
            <a:avLst/>
          </a:prstGeom>
          <a:solidFill>
            <a:srgbClr val="1017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87568" y="2240280"/>
            <a:ext cx="51755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Segoe UI"/>
              </a:rPr>
              <a:t>단계별 모식도 + "왜 필요한가" 설명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97480"/>
            <a:ext cx="2743200" cy="457200"/>
          </a:xfrm>
          <a:prstGeom prst="rect">
            <a:avLst/>
          </a:prstGeom>
          <a:solidFill>
            <a:srgbClr val="141C28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697480"/>
            <a:ext cx="25237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E9F0F6"/>
                </a:solidFill>
                <a:latin typeface="Consolas"/>
              </a:rPr>
              <a:t>게이팅 · 컴펜세이션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697480"/>
            <a:ext cx="2377440" cy="457200"/>
          </a:xfrm>
          <a:prstGeom prst="rect">
            <a:avLst/>
          </a:prstGeom>
          <a:solidFill>
            <a:srgbClr val="141C28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0128" y="269748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Consolas"/>
              </a:rPr>
              <a:t>02 · FACS 해석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2697480"/>
            <a:ext cx="5394960" cy="457200"/>
          </a:xfrm>
          <a:prstGeom prst="rect">
            <a:avLst/>
          </a:prstGeom>
          <a:solidFill>
            <a:srgbClr val="141C28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87568" y="2697480"/>
            <a:ext cx="51755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Segoe UI"/>
              </a:rPr>
              <a:t>드래그 게이팅, compensation 토글, interaction terminal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54680"/>
            <a:ext cx="2743200" cy="457200"/>
          </a:xfrm>
          <a:prstGeom prst="rect">
            <a:avLst/>
          </a:prstGeom>
          <a:solidFill>
            <a:srgbClr val="1017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154680"/>
            <a:ext cx="25237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E9F0F6"/>
                </a:solidFill>
                <a:latin typeface="Consolas"/>
              </a:rPr>
              <a:t>QC 지표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154680"/>
            <a:ext cx="2377440" cy="457200"/>
          </a:xfrm>
          <a:prstGeom prst="rect">
            <a:avLst/>
          </a:prstGeom>
          <a:solidFill>
            <a:srgbClr val="1017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315468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Consolas"/>
              </a:rPr>
              <a:t>04 · STEP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3154680"/>
            <a:ext cx="5394960" cy="457200"/>
          </a:xfrm>
          <a:prstGeom prst="rect">
            <a:avLst/>
          </a:prstGeom>
          <a:solidFill>
            <a:srgbClr val="1017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87568" y="3154680"/>
            <a:ext cx="51755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Segoe UI"/>
              </a:rPr>
              <a:t>min genes / max mito% 슬라이더 + 파이프라인 터미널의 통과/제외 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11880"/>
            <a:ext cx="2743200" cy="457200"/>
          </a:xfrm>
          <a:prstGeom prst="rect">
            <a:avLst/>
          </a:prstGeom>
          <a:solidFill>
            <a:srgbClr val="141C28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611880"/>
            <a:ext cx="25237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E9F0F6"/>
                </a:solidFill>
                <a:latin typeface="Consolas"/>
              </a:rPr>
              <a:t>정규화 + PCA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3611880"/>
            <a:ext cx="2377440" cy="457200"/>
          </a:xfrm>
          <a:prstGeom prst="rect">
            <a:avLst/>
          </a:prstGeom>
          <a:solidFill>
            <a:srgbClr val="141C28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0128" y="361188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Consolas"/>
              </a:rPr>
              <a:t>04 · STEP 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3611880"/>
            <a:ext cx="5394960" cy="457200"/>
          </a:xfrm>
          <a:prstGeom prst="rect">
            <a:avLst/>
          </a:prstGeom>
          <a:solidFill>
            <a:srgbClr val="141C28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87568" y="3611880"/>
            <a:ext cx="51755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Segoe UI"/>
              </a:rPr>
              <a:t>Jacobi 회전 수렴 과정이 터미널에 실시간으로 찍힘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069080"/>
            <a:ext cx="2743200" cy="457200"/>
          </a:xfrm>
          <a:prstGeom prst="rect">
            <a:avLst/>
          </a:prstGeom>
          <a:solidFill>
            <a:srgbClr val="1017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4069080"/>
            <a:ext cx="25237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E9F0F6"/>
                </a:solidFill>
                <a:latin typeface="Consolas"/>
              </a:rPr>
              <a:t>클러스터링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4069080"/>
            <a:ext cx="2377440" cy="457200"/>
          </a:xfrm>
          <a:prstGeom prst="rect">
            <a:avLst/>
          </a:prstGeom>
          <a:solidFill>
            <a:srgbClr val="1017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10128" y="406908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Consolas"/>
              </a:rPr>
              <a:t>04 · STEP 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7840" y="4069080"/>
            <a:ext cx="5394960" cy="457200"/>
          </a:xfrm>
          <a:prstGeom prst="rect">
            <a:avLst/>
          </a:prstGeom>
          <a:solidFill>
            <a:srgbClr val="1017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87568" y="4069080"/>
            <a:ext cx="51755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Segoe UI"/>
              </a:rPr>
              <a:t>kNN·resolution 조절 → 터미널의 level별 커뮤니티 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526280"/>
            <a:ext cx="2743200" cy="457200"/>
          </a:xfrm>
          <a:prstGeom prst="rect">
            <a:avLst/>
          </a:prstGeom>
          <a:solidFill>
            <a:srgbClr val="141C28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4526280"/>
            <a:ext cx="25237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E9F0F6"/>
                </a:solidFill>
                <a:latin typeface="Consolas"/>
              </a:rPr>
              <a:t>마커 검정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0" y="4526280"/>
            <a:ext cx="2377440" cy="457200"/>
          </a:xfrm>
          <a:prstGeom prst="rect">
            <a:avLst/>
          </a:prstGeom>
          <a:solidFill>
            <a:srgbClr val="141C28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10128" y="452628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Consolas"/>
              </a:rPr>
              <a:t>04 · STEP 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4526280"/>
            <a:ext cx="5394960" cy="457200"/>
          </a:xfrm>
          <a:prstGeom prst="rect">
            <a:avLst/>
          </a:prstGeom>
          <a:solidFill>
            <a:srgbClr val="141C28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87568" y="4526280"/>
            <a:ext cx="51755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Segoe UI"/>
              </a:rPr>
              <a:t>dot plot의 padj 값, 클러스터별 Wilcoxon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983480"/>
            <a:ext cx="2743200" cy="457200"/>
          </a:xfrm>
          <a:prstGeom prst="rect">
            <a:avLst/>
          </a:prstGeom>
          <a:solidFill>
            <a:srgbClr val="1017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4983480"/>
            <a:ext cx="25237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E9F0F6"/>
                </a:solidFill>
                <a:latin typeface="Consolas"/>
              </a:rPr>
              <a:t>Cell type annotation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983480"/>
            <a:ext cx="2377440" cy="457200"/>
          </a:xfrm>
          <a:prstGeom prst="rect">
            <a:avLst/>
          </a:prstGeom>
          <a:solidFill>
            <a:srgbClr val="1017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10128" y="498348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Consolas"/>
              </a:rPr>
              <a:t>05 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4983480"/>
            <a:ext cx="5394960" cy="457200"/>
          </a:xfrm>
          <a:prstGeom prst="rect">
            <a:avLst/>
          </a:prstGeom>
          <a:solidFill>
            <a:srgbClr val="1017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87568" y="4983480"/>
            <a:ext cx="51755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Segoe UI"/>
              </a:rPr>
              <a:t>마커 증거 카드 + 세포 유형 가설 선택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440680"/>
            <a:ext cx="2743200" cy="457200"/>
          </a:xfrm>
          <a:prstGeom prst="rect">
            <a:avLst/>
          </a:prstGeom>
          <a:solidFill>
            <a:srgbClr val="141C28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5440680"/>
            <a:ext cx="25237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E9F0F6"/>
                </a:solidFill>
                <a:latin typeface="Consolas"/>
              </a:rPr>
              <a:t>Downstream 질문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0" y="5440680"/>
            <a:ext cx="2377440" cy="457200"/>
          </a:xfrm>
          <a:prstGeom prst="rect">
            <a:avLst/>
          </a:prstGeom>
          <a:solidFill>
            <a:srgbClr val="141C28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10128" y="544068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Consolas"/>
              </a:rPr>
              <a:t>06 탭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77840" y="5440680"/>
            <a:ext cx="5394960" cy="457200"/>
          </a:xfrm>
          <a:prstGeom prst="rect">
            <a:avLst/>
          </a:prstGeom>
          <a:solidFill>
            <a:srgbClr val="141C28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87568" y="5440680"/>
            <a:ext cx="51755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Segoe UI"/>
              </a:rPr>
              <a:t>heatmap · composition · similarity 중 선택해 비교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897880"/>
            <a:ext cx="2743200" cy="457200"/>
          </a:xfrm>
          <a:prstGeom prst="rect">
            <a:avLst/>
          </a:prstGeom>
          <a:solidFill>
            <a:srgbClr val="1017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5897880"/>
            <a:ext cx="25237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E9F0F6"/>
                </a:solidFill>
                <a:latin typeface="Consolas"/>
              </a:rPr>
              <a:t>Pseudotime + PAGA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0" y="5897880"/>
            <a:ext cx="2377440" cy="457200"/>
          </a:xfrm>
          <a:prstGeom prst="rect">
            <a:avLst/>
          </a:prstGeom>
          <a:solidFill>
            <a:srgbClr val="1017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10128" y="589788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Consolas"/>
              </a:rPr>
              <a:t>07 탭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77840" y="5897880"/>
            <a:ext cx="5394960" cy="457200"/>
          </a:xfrm>
          <a:prstGeom prst="rect">
            <a:avLst/>
          </a:prstGeom>
          <a:solidFill>
            <a:srgbClr val="1017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87568" y="5897880"/>
            <a:ext cx="51755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4B4"/>
                </a:solidFill>
                <a:latin typeface="Segoe UI"/>
              </a:rPr>
              <a:t>root cluster 선택 → 실제 MST 기반 pseudotime, 연결 그래프, gene trend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9848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F8090"/>
                </a:solidFill>
                <a:latin typeface="Consolas"/>
              </a:rPr>
              <a:t>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F8090"/>
                </a:solidFill>
                <a:latin typeface="Consolas"/>
              </a:rPr>
              <a:t>Cyto/Seq Console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CE6C0"/>
                </a:solidFill>
                <a:latin typeface="Consolas"/>
              </a:rPr>
              <a:t>DIY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E9F0F6"/>
                </a:solidFill>
                <a:latin typeface="Segoe UI"/>
              </a:rPr>
              <a:t>실습 과제 — 토의 / 자기주도 학습용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4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1485900"/>
            <a:ext cx="457200" cy="457200"/>
          </a:xfrm>
          <a:prstGeom prst="ellipse">
            <a:avLst/>
          </a:prstGeom>
          <a:solidFill>
            <a:srgbClr val="1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01722"/>
                </a:solidFill>
                <a:latin typeface="Segoe UI"/>
              </a:rP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99032"/>
            <a:ext cx="10149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9F0F6"/>
                </a:solidFill>
                <a:latin typeface="Segoe UI"/>
              </a:rPr>
              <a:t>resolution을 0.2→2.5로 바꿔가며 클러스터 수를 기록하고, 터미널 로그에서 어느 지점에 "과분할"이 시작되는지 확인해 설명하라.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12264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4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2272284"/>
            <a:ext cx="457200" cy="457200"/>
          </a:xfrm>
          <a:prstGeom prst="ellipse">
            <a:avLst/>
          </a:prstGeom>
          <a:solidFill>
            <a:srgbClr val="1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01722"/>
                </a:solidFill>
                <a:latin typeface="Segoe UI"/>
              </a:rPr>
              <a:t>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85416"/>
            <a:ext cx="10149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9F0F6"/>
                </a:solidFill>
                <a:latin typeface="Segoe UI"/>
              </a:rPr>
              <a:t>min genes/cell을 극단적으로 올려 세포를 절반 이하로 줄인 뒤, 같은 유전자의 padj가 어떻게 변하는지 비교하라 (통계적 검정력 ↔ 표본 크기).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98648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4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3058668"/>
            <a:ext cx="457200" cy="457200"/>
          </a:xfrm>
          <a:prstGeom prst="ellipse">
            <a:avLst/>
          </a:prstGeom>
          <a:solidFill>
            <a:srgbClr val="4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01722"/>
                </a:solidFill>
                <a:latin typeface="Segoe UI"/>
              </a:rPr>
              <a:t>★★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71800"/>
            <a:ext cx="10149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9F0F6"/>
                </a:solidFill>
                <a:latin typeface="Segoe UI"/>
              </a:rPr>
              <a:t>02번 탭에서 compensation을 끄고/켜고 CD3 vs CD19 플롯을 비교하고, 왜 겉보기 이중양성이 사라지는지 설명하라.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5032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4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3845052"/>
            <a:ext cx="457200" cy="457200"/>
          </a:xfrm>
          <a:prstGeom prst="ellipse">
            <a:avLst/>
          </a:prstGeom>
          <a:solidFill>
            <a:srgbClr val="4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01722"/>
                </a:solidFill>
                <a:latin typeface="Segoe UI"/>
              </a:rPr>
              <a:t>★★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58184"/>
            <a:ext cx="10149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9F0F6"/>
                </a:solidFill>
                <a:latin typeface="Segoe UI"/>
              </a:rPr>
              <a:t>05번 탭에서 클러스터별 마커 증거만 보고 세포 유형을 먼저 추측한 뒤, 실제로 어떤 근거가 부족했는지 스스로 평가하라.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71416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4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4631436"/>
            <a:ext cx="457200" cy="457200"/>
          </a:xfrm>
          <a:prstGeom prst="ellipse">
            <a:avLst/>
          </a:prstGeom>
          <a:solidFill>
            <a:srgbClr val="4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01722"/>
                </a:solidFill>
                <a:latin typeface="Segoe UI"/>
              </a:rPr>
              <a:t>★★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44568"/>
            <a:ext cx="10149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9F0F6"/>
                </a:solidFill>
                <a:latin typeface="Segoe UI"/>
              </a:rPr>
              <a:t>07번 탭에서 root cluster를 바꿔가며 pseudotime을 다시 계산하고, gene trend 그래프가 root 선택에 따라 어떻게 달라지는지 비교하라.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25780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4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5417820"/>
            <a:ext cx="457200" cy="457200"/>
          </a:xfrm>
          <a:prstGeom prst="ellipse">
            <a:avLst/>
          </a:prstGeom>
          <a:solidFill>
            <a:srgbClr val="E0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01722"/>
                </a:solidFill>
                <a:latin typeface="Segoe UI"/>
              </a:rPr>
              <a:t>★★★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330952"/>
            <a:ext cx="10149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9F0F6"/>
                </a:solidFill>
                <a:latin typeface="Segoe UI"/>
              </a:rPr>
              <a:t>kNN neighbors를 5·15·30으로 바꿔가며 클러스터링과 PAGA 연결 그래프가 어떻게 달라지는지 관찰하고, 그래프 밀도와 모듈성의 관계를 설명하라.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F8090"/>
                </a:solidFill>
                <a:latin typeface="Consolas"/>
              </a:rPr>
              <a:t>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F8090"/>
                </a:solidFill>
                <a:latin typeface="Consolas"/>
              </a:rPr>
              <a:t>Cyto/Seq Console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A98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E6C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103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17A9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정리하면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실험에서 계산까지, 하나의 질문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41248" y="3566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CE6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"이 집단엔 어떤 세포가, 어떤 상태로, 어떻게 연결되어 존재하는가?"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4297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FACS 게이팅 → QC·정규화 → PCA/t-SNE → 클러스터링 → 마커 → annotation → trajectory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Cyto/Seq Console · 7-tab course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2026-07-31T04:22:22Z</dcterms:created>
  <dcterms:modified xsi:type="dcterms:W3CDTF">2026-07-31T04:22:22Z</dcterms:modified>
</cp:coreProperties>
</file>