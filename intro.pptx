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0672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1: NGS 기본 원리. 6개 섹션.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VCF 구조 개관. 이후 필드별 상세.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VCF 흔한 오해 5가지.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1 종합. 6개 섹션의 핵심 메시지.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4" name="Shape 2"/>
          <p:cNvSpPr/>
          <p:nvPr/>
        </p:nvSpPr>
        <p:spPr>
          <a:xfrm>
            <a:off x="10744200" y="640080"/>
            <a:ext cx="91440" cy="91440"/>
          </a:xfrm>
          <a:prstGeom prst="ellipse">
            <a:avLst/>
          </a:prstGeom>
          <a:solidFill>
            <a:srgbClr val="4C8DFF">
              <a:alpha val="7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744200" y="640080"/>
            <a:ext cx="91440" cy="91440"/>
          </a:xfrm>
          <a:prstGeom prst="ellipse">
            <a:avLst/>
          </a:prstGeom>
          <a:solidFill>
            <a:srgbClr val="34D399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964458" y="863194"/>
            <a:ext cx="91440" cy="91440"/>
          </a:xfrm>
          <a:prstGeom prst="ellipse">
            <a:avLst/>
          </a:prstGeom>
          <a:solidFill>
            <a:srgbClr val="4C8DFF">
              <a:alpha val="7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523942" y="863194"/>
            <a:ext cx="91440" cy="91440"/>
          </a:xfrm>
          <a:prstGeom prst="ellipse">
            <a:avLst/>
          </a:prstGeom>
          <a:solidFill>
            <a:srgbClr val="34D399">
              <a:alpha val="7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130227" y="1086307"/>
            <a:ext cx="91440" cy="91440"/>
          </a:xfrm>
          <a:prstGeom prst="ellipse">
            <a:avLst/>
          </a:prstGeom>
          <a:solidFill>
            <a:srgbClr val="4C8DFF">
              <a:alpha val="7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358173" y="1086307"/>
            <a:ext cx="91440" cy="91440"/>
          </a:xfrm>
          <a:prstGeom prst="ellipse">
            <a:avLst/>
          </a:prstGeom>
          <a:solidFill>
            <a:srgbClr val="34D399">
              <a:alpha val="7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200498" y="1309421"/>
            <a:ext cx="91440" cy="91440"/>
          </a:xfrm>
          <a:prstGeom prst="ellipse">
            <a:avLst/>
          </a:prstGeom>
          <a:solidFill>
            <a:srgbClr val="4C8DFF">
              <a:alpha val="7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287902" y="1309421"/>
            <a:ext cx="91440" cy="91440"/>
          </a:xfrm>
          <a:prstGeom prst="ellipse">
            <a:avLst/>
          </a:prstGeom>
          <a:solidFill>
            <a:srgbClr val="34D399">
              <a:alpha val="7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157887" y="1532534"/>
            <a:ext cx="91440" cy="91440"/>
          </a:xfrm>
          <a:prstGeom prst="ellipse">
            <a:avLst/>
          </a:prstGeom>
          <a:solidFill>
            <a:srgbClr val="4C8DFF">
              <a:alpha val="7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330513" y="1532534"/>
            <a:ext cx="91440" cy="91440"/>
          </a:xfrm>
          <a:prstGeom prst="ellipse">
            <a:avLst/>
          </a:prstGeom>
          <a:solidFill>
            <a:srgbClr val="34D399">
              <a:alpha val="7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012935" y="1755648"/>
            <a:ext cx="91440" cy="91440"/>
          </a:xfrm>
          <a:prstGeom prst="ellipse">
            <a:avLst/>
          </a:prstGeom>
          <a:solidFill>
            <a:srgbClr val="4C8DFF">
              <a:alpha val="7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475465" y="1755648"/>
            <a:ext cx="91440" cy="91440"/>
          </a:xfrm>
          <a:prstGeom prst="ellipse">
            <a:avLst/>
          </a:prstGeom>
          <a:solidFill>
            <a:srgbClr val="34D399">
              <a:alpha val="7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801502" y="1978762"/>
            <a:ext cx="91440" cy="91440"/>
          </a:xfrm>
          <a:prstGeom prst="ellipse">
            <a:avLst/>
          </a:prstGeom>
          <a:solidFill>
            <a:srgbClr val="4C8DFF">
              <a:alpha val="7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686898" y="1978762"/>
            <a:ext cx="91440" cy="91440"/>
          </a:xfrm>
          <a:prstGeom prst="ellipse">
            <a:avLst/>
          </a:prstGeom>
          <a:solidFill>
            <a:srgbClr val="34D399">
              <a:alpha val="7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0575893" y="2201875"/>
            <a:ext cx="91440" cy="91440"/>
          </a:xfrm>
          <a:prstGeom prst="ellipse">
            <a:avLst/>
          </a:prstGeom>
          <a:solidFill>
            <a:srgbClr val="4C8DFF">
              <a:alpha val="7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912507" y="2201875"/>
            <a:ext cx="91440" cy="91440"/>
          </a:xfrm>
          <a:prstGeom prst="ellipse">
            <a:avLst/>
          </a:prstGeom>
          <a:solidFill>
            <a:srgbClr val="34D399">
              <a:alpha val="7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391921" y="2424989"/>
            <a:ext cx="91440" cy="91440"/>
          </a:xfrm>
          <a:prstGeom prst="ellipse">
            <a:avLst/>
          </a:prstGeom>
          <a:solidFill>
            <a:srgbClr val="4C8DFF">
              <a:alpha val="7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096479" y="2424989"/>
            <a:ext cx="91440" cy="91440"/>
          </a:xfrm>
          <a:prstGeom prst="ellipse">
            <a:avLst/>
          </a:prstGeom>
          <a:solidFill>
            <a:srgbClr val="34D399">
              <a:alpha val="7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0295098" y="2648102"/>
            <a:ext cx="91440" cy="91440"/>
          </a:xfrm>
          <a:prstGeom prst="ellipse">
            <a:avLst/>
          </a:prstGeom>
          <a:solidFill>
            <a:srgbClr val="4C8DFF">
              <a:alpha val="7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1193302" y="2648102"/>
            <a:ext cx="91440" cy="91440"/>
          </a:xfrm>
          <a:prstGeom prst="ellipse">
            <a:avLst/>
          </a:prstGeom>
          <a:solidFill>
            <a:srgbClr val="34D399">
              <a:alpha val="7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0309377" y="2871216"/>
            <a:ext cx="91440" cy="91440"/>
          </a:xfrm>
          <a:prstGeom prst="ellipse">
            <a:avLst/>
          </a:prstGeom>
          <a:solidFill>
            <a:srgbClr val="4C8DFF">
              <a:alpha val="7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179023" y="2871216"/>
            <a:ext cx="91440" cy="91440"/>
          </a:xfrm>
          <a:prstGeom prst="ellipse">
            <a:avLst/>
          </a:prstGeom>
          <a:solidFill>
            <a:srgbClr val="34D399">
              <a:alpha val="7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0431225" y="3094330"/>
            <a:ext cx="91440" cy="91440"/>
          </a:xfrm>
          <a:prstGeom prst="ellipse">
            <a:avLst/>
          </a:prstGeom>
          <a:solidFill>
            <a:srgbClr val="4C8DFF">
              <a:alpha val="7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1057175" y="3094330"/>
            <a:ext cx="91440" cy="91440"/>
          </a:xfrm>
          <a:prstGeom prst="ellipse">
            <a:avLst/>
          </a:prstGeom>
          <a:solidFill>
            <a:srgbClr val="34D399">
              <a:alpha val="7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0630499" y="3317443"/>
            <a:ext cx="91440" cy="91440"/>
          </a:xfrm>
          <a:prstGeom prst="ellipse">
            <a:avLst/>
          </a:prstGeom>
          <a:solidFill>
            <a:srgbClr val="4C8DFF">
              <a:alpha val="7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0857901" y="3317443"/>
            <a:ext cx="91440" cy="91440"/>
          </a:xfrm>
          <a:prstGeom prst="ellipse">
            <a:avLst/>
          </a:prstGeom>
          <a:solidFill>
            <a:srgbClr val="34D399">
              <a:alpha val="7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0857901" y="3540557"/>
            <a:ext cx="91440" cy="91440"/>
          </a:xfrm>
          <a:prstGeom prst="ellipse">
            <a:avLst/>
          </a:prstGeom>
          <a:solidFill>
            <a:srgbClr val="4C8DFF">
              <a:alpha val="7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0630499" y="3540557"/>
            <a:ext cx="91440" cy="91440"/>
          </a:xfrm>
          <a:prstGeom prst="ellipse">
            <a:avLst/>
          </a:prstGeom>
          <a:solidFill>
            <a:srgbClr val="34D399">
              <a:alpha val="7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1057175" y="3763670"/>
            <a:ext cx="91440" cy="91440"/>
          </a:xfrm>
          <a:prstGeom prst="ellipse">
            <a:avLst/>
          </a:prstGeom>
          <a:solidFill>
            <a:srgbClr val="4C8DFF">
              <a:alpha val="7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0431225" y="3763670"/>
            <a:ext cx="91440" cy="91440"/>
          </a:xfrm>
          <a:prstGeom prst="ellipse">
            <a:avLst/>
          </a:prstGeom>
          <a:solidFill>
            <a:srgbClr val="34D399">
              <a:alpha val="7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1179023" y="3986784"/>
            <a:ext cx="91440" cy="91440"/>
          </a:xfrm>
          <a:prstGeom prst="ellipse">
            <a:avLst/>
          </a:prstGeom>
          <a:solidFill>
            <a:srgbClr val="4C8DFF">
              <a:alpha val="7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0309377" y="3986784"/>
            <a:ext cx="91440" cy="91440"/>
          </a:xfrm>
          <a:prstGeom prst="ellipse">
            <a:avLst/>
          </a:prstGeom>
          <a:solidFill>
            <a:srgbClr val="34D399">
              <a:alpha val="7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1193302" y="4209898"/>
            <a:ext cx="91440" cy="91440"/>
          </a:xfrm>
          <a:prstGeom prst="ellipse">
            <a:avLst/>
          </a:prstGeom>
          <a:solidFill>
            <a:srgbClr val="4C8DFF">
              <a:alpha val="7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0295098" y="4209898"/>
            <a:ext cx="91440" cy="91440"/>
          </a:xfrm>
          <a:prstGeom prst="ellipse">
            <a:avLst/>
          </a:prstGeom>
          <a:solidFill>
            <a:srgbClr val="34D399">
              <a:alpha val="7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11096479" y="4433011"/>
            <a:ext cx="91440" cy="91440"/>
          </a:xfrm>
          <a:prstGeom prst="ellipse">
            <a:avLst/>
          </a:prstGeom>
          <a:solidFill>
            <a:srgbClr val="4C8DFF">
              <a:alpha val="7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0391921" y="4433011"/>
            <a:ext cx="91440" cy="91440"/>
          </a:xfrm>
          <a:prstGeom prst="ellipse">
            <a:avLst/>
          </a:prstGeom>
          <a:solidFill>
            <a:srgbClr val="34D399">
              <a:alpha val="7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0912507" y="4656125"/>
            <a:ext cx="91440" cy="91440"/>
          </a:xfrm>
          <a:prstGeom prst="ellipse">
            <a:avLst/>
          </a:prstGeom>
          <a:solidFill>
            <a:srgbClr val="4C8DFF">
              <a:alpha val="7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0575893" y="4656125"/>
            <a:ext cx="91440" cy="91440"/>
          </a:xfrm>
          <a:prstGeom prst="ellipse">
            <a:avLst/>
          </a:prstGeom>
          <a:solidFill>
            <a:srgbClr val="34D399">
              <a:alpha val="7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0686898" y="4879238"/>
            <a:ext cx="91440" cy="91440"/>
          </a:xfrm>
          <a:prstGeom prst="ellipse">
            <a:avLst/>
          </a:prstGeom>
          <a:solidFill>
            <a:srgbClr val="4C8DFF">
              <a:alpha val="7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0801502" y="4879238"/>
            <a:ext cx="91440" cy="91440"/>
          </a:xfrm>
          <a:prstGeom prst="ellipse">
            <a:avLst/>
          </a:prstGeom>
          <a:solidFill>
            <a:srgbClr val="34D399">
              <a:alpha val="7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0475465" y="5102352"/>
            <a:ext cx="91440" cy="91440"/>
          </a:xfrm>
          <a:prstGeom prst="ellipse">
            <a:avLst/>
          </a:prstGeom>
          <a:solidFill>
            <a:srgbClr val="4C8DFF">
              <a:alpha val="7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11012935" y="5102352"/>
            <a:ext cx="91440" cy="91440"/>
          </a:xfrm>
          <a:prstGeom prst="ellipse">
            <a:avLst/>
          </a:prstGeom>
          <a:solidFill>
            <a:srgbClr val="34D399">
              <a:alpha val="7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0330513" y="5325466"/>
            <a:ext cx="91440" cy="91440"/>
          </a:xfrm>
          <a:prstGeom prst="ellipse">
            <a:avLst/>
          </a:prstGeom>
          <a:solidFill>
            <a:srgbClr val="4C8DFF">
              <a:alpha val="7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11157887" y="5325466"/>
            <a:ext cx="91440" cy="91440"/>
          </a:xfrm>
          <a:prstGeom prst="ellipse">
            <a:avLst/>
          </a:prstGeom>
          <a:solidFill>
            <a:srgbClr val="34D399">
              <a:alpha val="7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10287902" y="5548579"/>
            <a:ext cx="91440" cy="91440"/>
          </a:xfrm>
          <a:prstGeom prst="ellipse">
            <a:avLst/>
          </a:prstGeom>
          <a:solidFill>
            <a:srgbClr val="4C8DFF">
              <a:alpha val="7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11200498" y="5548579"/>
            <a:ext cx="91440" cy="91440"/>
          </a:xfrm>
          <a:prstGeom prst="ellipse">
            <a:avLst/>
          </a:prstGeom>
          <a:solidFill>
            <a:srgbClr val="34D399">
              <a:alpha val="7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10358173" y="5771693"/>
            <a:ext cx="91440" cy="91440"/>
          </a:xfrm>
          <a:prstGeom prst="ellipse">
            <a:avLst/>
          </a:prstGeom>
          <a:solidFill>
            <a:srgbClr val="4C8DFF">
              <a:alpha val="7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11130227" y="5771693"/>
            <a:ext cx="91440" cy="91440"/>
          </a:xfrm>
          <a:prstGeom prst="ellipse">
            <a:avLst/>
          </a:prstGeom>
          <a:solidFill>
            <a:srgbClr val="34D399">
              <a:alpha val="7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0523942" y="5994806"/>
            <a:ext cx="91440" cy="91440"/>
          </a:xfrm>
          <a:prstGeom prst="ellipse">
            <a:avLst/>
          </a:prstGeom>
          <a:solidFill>
            <a:srgbClr val="4C8DFF">
              <a:alpha val="7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10964458" y="5994806"/>
            <a:ext cx="91440" cy="91440"/>
          </a:xfrm>
          <a:prstGeom prst="ellipse">
            <a:avLst/>
          </a:prstGeom>
          <a:solidFill>
            <a:srgbClr val="34D399">
              <a:alpha val="75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10744200" y="6217920"/>
            <a:ext cx="91440" cy="91440"/>
          </a:xfrm>
          <a:prstGeom prst="ellipse">
            <a:avLst/>
          </a:prstGeom>
          <a:solidFill>
            <a:srgbClr val="4C8DFF">
              <a:alpha val="75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10744200" y="6217920"/>
            <a:ext cx="91440" cy="91440"/>
          </a:xfrm>
          <a:prstGeom prst="ellipse">
            <a:avLst/>
          </a:prstGeom>
          <a:solidFill>
            <a:srgbClr val="34D399">
              <a:alpha val="75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640080" y="233172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NGS의 기본 원리</a:t>
            </a:r>
            <a:endParaRPr lang="en-US" sz="4800" dirty="0"/>
          </a:p>
        </p:txBody>
      </p:sp>
      <p:sp>
        <p:nvSpPr>
          <p:cNvPr id="59" name="Text 57"/>
          <p:cNvSpPr/>
          <p:nvPr/>
        </p:nvSpPr>
        <p:spPr>
          <a:xfrm>
            <a:off x="658368" y="34290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3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Sequencing 원리 · Illumina · GATK Variant Calling · 웹 기반 분석 · Minimap2 · VCF 판독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58368" y="4297680"/>
            <a:ext cx="1554480" cy="310896"/>
          </a:xfrm>
          <a:prstGeom prst="roundRect">
            <a:avLst>
              <a:gd name="adj" fmla="val 14706"/>
            </a:avLst>
          </a:prstGeom>
          <a:solidFill>
            <a:srgbClr val="1B283C"/>
          </a:solidFill>
          <a:ln w="12700">
            <a:solidFill>
              <a:srgbClr val="4C8D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58368" y="4297680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NGS Overview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2359152" y="4297680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1B283C"/>
          </a:solidFill>
          <a:ln w="12700">
            <a:solidFill>
              <a:srgbClr val="4C8D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359152" y="4297680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Illumina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3694176" y="4297680"/>
            <a:ext cx="822960" cy="310896"/>
          </a:xfrm>
          <a:prstGeom prst="roundRect">
            <a:avLst>
              <a:gd name="adj" fmla="val 14706"/>
            </a:avLst>
          </a:prstGeom>
          <a:solidFill>
            <a:srgbClr val="1B283C"/>
          </a:solidFill>
          <a:ln w="12700">
            <a:solidFill>
              <a:srgbClr val="4C8DF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694176" y="429768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GATK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4663439" y="4297680"/>
            <a:ext cx="992293" cy="310896"/>
          </a:xfrm>
          <a:prstGeom prst="roundRect">
            <a:avLst>
              <a:gd name="adj" fmla="val 14706"/>
            </a:avLst>
          </a:prstGeom>
          <a:solidFill>
            <a:srgbClr val="1B283C"/>
          </a:solidFill>
          <a:ln w="12700">
            <a:solidFill>
              <a:srgbClr val="4C8DF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663440" y="429768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웹 플랫폼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5724144" y="4297680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1B283C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724144" y="4297680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Minimap2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7059168" y="4297680"/>
            <a:ext cx="1005840" cy="310896"/>
          </a:xfrm>
          <a:prstGeom prst="roundRect">
            <a:avLst>
              <a:gd name="adj" fmla="val 14706"/>
            </a:avLst>
          </a:prstGeom>
          <a:solidFill>
            <a:srgbClr val="1B283C"/>
          </a:solidFill>
          <a:ln w="12700">
            <a:solidFill>
              <a:srgbClr val="4C8DF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059168" y="4297680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VCF 판독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658368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의료인을 위한 NGS 교육 강의록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0116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1248" y="26974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NGS Overview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68680" y="3794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3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차세대 염기서열 분석의 개념과 임상적 위치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4C8DF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NGS Overview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의료인을 위한 NGS 교육 · Part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1 학습목표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02920" y="1737360"/>
            <a:ext cx="11201400" cy="4297680"/>
          </a:xfrm>
          <a:prstGeom prst="roundRect">
            <a:avLst>
              <a:gd name="adj" fmla="val 1702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20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C8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학습목표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2468880"/>
            <a:ext cx="420624" cy="420624"/>
          </a:xfrm>
          <a:prstGeom prst="ellipse">
            <a:avLst/>
          </a:prstGeom>
          <a:solidFill>
            <a:srgbClr val="1B283C"/>
          </a:solidFill>
          <a:ln w="19050">
            <a:solidFill>
              <a:srgbClr val="4C8D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4688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44144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NGS의 기본 원리를 설명할 수 있다.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22960" y="3044952"/>
            <a:ext cx="420624" cy="420624"/>
          </a:xfrm>
          <a:prstGeom prst="ellipse">
            <a:avLst/>
          </a:prstGeom>
          <a:solidFill>
            <a:srgbClr val="1B283C"/>
          </a:solidFill>
          <a:ln w="19050">
            <a:solidFill>
              <a:srgbClr val="4C8D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0449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017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Sanger sequencing과 NGS의 차이를 임상 관점에서 구분한다.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22960" y="3621024"/>
            <a:ext cx="420624" cy="420624"/>
          </a:xfrm>
          <a:prstGeom prst="ellipse">
            <a:avLst/>
          </a:prstGeom>
          <a:solidFill>
            <a:srgbClr val="1B283C"/>
          </a:solidFill>
          <a:ln w="19050">
            <a:solidFill>
              <a:srgbClr val="4C8D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62102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359359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Read, coverage, mapping, variant calling 개념을 이해한다.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822960" y="4197096"/>
            <a:ext cx="420624" cy="420624"/>
          </a:xfrm>
          <a:prstGeom prst="ellipse">
            <a:avLst/>
          </a:prstGeom>
          <a:solidFill>
            <a:srgbClr val="1B283C"/>
          </a:solidFill>
          <a:ln w="19050">
            <a:solidFill>
              <a:srgbClr val="4C8D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19709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17320" y="4169664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FASTQ, SAM/BAM/CRAM, VCF의 역할과 흐름을 설명한다.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822960" y="4773168"/>
            <a:ext cx="420624" cy="420624"/>
          </a:xfrm>
          <a:prstGeom prst="ellipse">
            <a:avLst/>
          </a:prstGeom>
          <a:solidFill>
            <a:srgbClr val="1B283C"/>
          </a:solidFill>
          <a:ln w="19050">
            <a:solidFill>
              <a:srgbClr val="4C8D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77316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417320" y="4745736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Illumina 및 GATK 표준 workflow의 각 단계를 이해한다.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822960" y="5349240"/>
            <a:ext cx="420624" cy="420624"/>
          </a:xfrm>
          <a:prstGeom prst="ellipse">
            <a:avLst/>
          </a:prstGeom>
          <a:solidFill>
            <a:srgbClr val="1B283C"/>
          </a:solidFill>
          <a:ln w="19050">
            <a:solidFill>
              <a:srgbClr val="4C8D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534924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417320" y="532180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VCF 파일의 주요 필드를 직접 판독할 수 있다.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4C8DF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NGS Overview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의료인을 위한 NGS 교육 · Part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NGS란 무엇인가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02920" y="1737360"/>
            <a:ext cx="7132320" cy="4297680"/>
          </a:xfrm>
          <a:prstGeom prst="roundRect">
            <a:avLst>
              <a:gd name="adj" fmla="val 1702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65960"/>
            <a:ext cx="65836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수백만~수십억 개 DNA 조각을 동시에 병렬로 읽는 기술.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Massively parallel sequencing(MPS)이라고도 부른다.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한 번의 검사로 유전체 전체 또는 다수 유전자를 분석.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검사 단가 하락으로 임상 진단 검사로 정착.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핵심은 장비가 아니라 데이터 해석 과정이다.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818120" y="1737360"/>
            <a:ext cx="3886200" cy="4297680"/>
          </a:xfrm>
          <a:prstGeom prst="roundRect">
            <a:avLst>
              <a:gd name="adj" fmla="val 1882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18120" y="1737360"/>
            <a:ext cx="82296" cy="4297680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12" name="Text 10"/>
          <p:cNvSpPr/>
          <p:nvPr/>
        </p:nvSpPr>
        <p:spPr>
          <a:xfrm>
            <a:off x="8065008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8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핵심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65008" y="2377440"/>
            <a:ext cx="3474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장비보다 '데이터 해석'이 검사의 본질.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4C8DF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NGS Overview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의료인을 위한 NGS 교육 · Part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NGS 검사의 3가지 규모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02920" y="1691640"/>
            <a:ext cx="11201400" cy="1051560"/>
          </a:xfrm>
          <a:prstGeom prst="roundRect">
            <a:avLst>
              <a:gd name="adj" fmla="val 6957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828800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검사 범위가 넓을수록 비용·해석 부담·VUS가 증가.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임상 질문에 맞는 범위 선택이 진단 성공을 좌우한다.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83768" y="3063240"/>
            <a:ext cx="2011680" cy="457200"/>
          </a:xfrm>
          <a:prstGeom prst="rect">
            <a:avLst/>
          </a:prstGeom>
          <a:solidFill>
            <a:srgbClr val="4C8DFF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3496" y="3063240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810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검사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895448" y="3063240"/>
            <a:ext cx="3108960" cy="457200"/>
          </a:xfrm>
          <a:prstGeom prst="rect">
            <a:avLst/>
          </a:prstGeom>
          <a:solidFill>
            <a:srgbClr val="4C8DFF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05176" y="3063240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810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범위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004408" y="3063240"/>
            <a:ext cx="2194560" cy="457200"/>
          </a:xfrm>
          <a:prstGeom prst="rect">
            <a:avLst/>
          </a:prstGeom>
          <a:solidFill>
            <a:srgbClr val="4C8DFF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14136" y="3063240"/>
            <a:ext cx="1975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810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대표 depth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98968" y="3063240"/>
            <a:ext cx="3108960" cy="457200"/>
          </a:xfrm>
          <a:prstGeom prst="rect">
            <a:avLst/>
          </a:prstGeom>
          <a:solidFill>
            <a:srgbClr val="4C8DFF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08696" y="3063240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810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주 적응증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83768" y="3520440"/>
            <a:ext cx="2011680" cy="502920"/>
          </a:xfrm>
          <a:prstGeom prst="rect">
            <a:avLst/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93496" y="3520440"/>
            <a:ext cx="17922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Panel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895448" y="3520440"/>
            <a:ext cx="3108960" cy="502920"/>
          </a:xfrm>
          <a:prstGeom prst="rect">
            <a:avLst/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05176" y="3520440"/>
            <a:ext cx="2889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수십~수백 유전자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004408" y="3520440"/>
            <a:ext cx="2194560" cy="502920"/>
          </a:xfrm>
          <a:prstGeom prst="rect">
            <a:avLst/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14136" y="3520440"/>
            <a:ext cx="19751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500~1000x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198968" y="3520440"/>
            <a:ext cx="3108960" cy="502920"/>
          </a:xfrm>
          <a:prstGeom prst="rect">
            <a:avLst/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08696" y="3520440"/>
            <a:ext cx="2889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고형암, 혈액암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83768" y="4023360"/>
            <a:ext cx="2011680" cy="502920"/>
          </a:xfrm>
          <a:prstGeom prst="rect">
            <a:avLst/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93496" y="4023360"/>
            <a:ext cx="17922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895448" y="4023360"/>
            <a:ext cx="3108960" cy="502920"/>
          </a:xfrm>
          <a:prstGeom prst="rect">
            <a:avLst/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05176" y="4023360"/>
            <a:ext cx="2889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Exon 영역(~1-2%)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004408" y="4023360"/>
            <a:ext cx="2194560" cy="502920"/>
          </a:xfrm>
          <a:prstGeom prst="rect">
            <a:avLst/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14136" y="4023360"/>
            <a:ext cx="19751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100x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198968" y="4023360"/>
            <a:ext cx="3108960" cy="502920"/>
          </a:xfrm>
          <a:prstGeom prst="rect">
            <a:avLst/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08696" y="4023360"/>
            <a:ext cx="2889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희귀질환 진단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83768" y="4526280"/>
            <a:ext cx="2011680" cy="502920"/>
          </a:xfrm>
          <a:prstGeom prst="rect">
            <a:avLst/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93496" y="4526280"/>
            <a:ext cx="17922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WGS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2895448" y="4526280"/>
            <a:ext cx="3108960" cy="502920"/>
          </a:xfrm>
          <a:prstGeom prst="rect">
            <a:avLst/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05176" y="4526280"/>
            <a:ext cx="2889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전체 genome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004408" y="4526280"/>
            <a:ext cx="2194560" cy="502920"/>
          </a:xfrm>
          <a:prstGeom prst="rect">
            <a:avLst/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14136" y="4526280"/>
            <a:ext cx="19751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30~40x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8198968" y="4526280"/>
            <a:ext cx="3108960" cy="502920"/>
          </a:xfrm>
          <a:prstGeom prst="rect">
            <a:avLst/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08696" y="4526280"/>
            <a:ext cx="2889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미진단 희귀질환, SV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4C8DF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NGS Overview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의료인을 위한 NGS 교육 · Part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Sanger sequencing의 원리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02920" y="1737360"/>
            <a:ext cx="7132320" cy="4297680"/>
          </a:xfrm>
          <a:prstGeom prst="roundRect">
            <a:avLst>
              <a:gd name="adj" fmla="val 1702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65960"/>
            <a:ext cx="65836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Dideoxynucleotide(ddNTP)에 의한 chain termination 방식.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한 번에 하나의 DNA 단편, 약 500~1000 bp를 읽는다.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정확도가 매우 높고 결과 해석이 단순하다.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낮은 처리량과 높은 단위 비용이 한계.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현재는 주로 확인검사와 단일 변이 검사에 사용.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818120" y="1737360"/>
            <a:ext cx="3886200" cy="4297680"/>
          </a:xfrm>
          <a:prstGeom prst="roundRect">
            <a:avLst>
              <a:gd name="adj" fmla="val 1882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18120" y="1737360"/>
            <a:ext cx="82296" cy="4297680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12" name="Text 10"/>
          <p:cNvSpPr/>
          <p:nvPr/>
        </p:nvSpPr>
        <p:spPr>
          <a:xfrm>
            <a:off x="8065008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8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핵심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65008" y="2377440"/>
            <a:ext cx="3474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고정확·저처리량 → NGS의 확인검사로 남음.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4C8DF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NGS Overview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의료인을 위한 NGS 교육 · Part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Sanger와 NGS의 차이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02920" y="1691640"/>
            <a:ext cx="11201400" cy="1051560"/>
          </a:xfrm>
          <a:prstGeom prst="roundRect">
            <a:avLst>
              <a:gd name="adj" fmla="val 6957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828800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Sanger는 순차적, NGS는 대규모 병렬.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NGS는 depth가 충분하면 저빈도(1~5%) 변이도 검출.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615288" y="3063240"/>
            <a:ext cx="2743200" cy="457200"/>
          </a:xfrm>
          <a:prstGeom prst="rect">
            <a:avLst/>
          </a:prstGeom>
          <a:solidFill>
            <a:srgbClr val="4C8DFF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25016" y="3063240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810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항목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58488" y="3063240"/>
            <a:ext cx="3108960" cy="457200"/>
          </a:xfrm>
          <a:prstGeom prst="rect">
            <a:avLst/>
          </a:prstGeom>
          <a:solidFill>
            <a:srgbClr val="4C8DFF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68216" y="3063240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810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Sanger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467448" y="3063240"/>
            <a:ext cx="3108960" cy="457200"/>
          </a:xfrm>
          <a:prstGeom prst="rect">
            <a:avLst/>
          </a:prstGeom>
          <a:solidFill>
            <a:srgbClr val="4C8DFF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77176" y="3063240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810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NGS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615288" y="3520440"/>
            <a:ext cx="2743200" cy="502920"/>
          </a:xfrm>
          <a:prstGeom prst="rect">
            <a:avLst/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25016" y="3520440"/>
            <a:ext cx="2523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처리량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358488" y="3520440"/>
            <a:ext cx="3108960" cy="502920"/>
          </a:xfrm>
          <a:prstGeom prst="rect">
            <a:avLst/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68216" y="3520440"/>
            <a:ext cx="2889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낮음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467448" y="3520440"/>
            <a:ext cx="3108960" cy="502920"/>
          </a:xfrm>
          <a:prstGeom prst="rect">
            <a:avLst/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77176" y="3520440"/>
            <a:ext cx="2889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매우 높음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615288" y="4023360"/>
            <a:ext cx="2743200" cy="502920"/>
          </a:xfrm>
          <a:prstGeom prst="rect">
            <a:avLst/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25016" y="4023360"/>
            <a:ext cx="2523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길이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58488" y="4023360"/>
            <a:ext cx="3108960" cy="502920"/>
          </a:xfrm>
          <a:prstGeom prst="rect">
            <a:avLst/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68216" y="4023360"/>
            <a:ext cx="2889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500~1000 bp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467448" y="4023360"/>
            <a:ext cx="3108960" cy="502920"/>
          </a:xfrm>
          <a:prstGeom prst="rect">
            <a:avLst/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77176" y="4023360"/>
            <a:ext cx="2889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50~300 bp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1615288" y="4526280"/>
            <a:ext cx="2743200" cy="502920"/>
          </a:xfrm>
          <a:prstGeom prst="rect">
            <a:avLst/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725016" y="4526280"/>
            <a:ext cx="2523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검출 한계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358488" y="4526280"/>
            <a:ext cx="3108960" cy="502920"/>
          </a:xfrm>
          <a:prstGeom prst="rect">
            <a:avLst/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68216" y="4526280"/>
            <a:ext cx="2889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약 15~20%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467448" y="4526280"/>
            <a:ext cx="3108960" cy="502920"/>
          </a:xfrm>
          <a:prstGeom prst="rect">
            <a:avLst/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77176" y="4526280"/>
            <a:ext cx="2889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1~5% 이하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615288" y="5029200"/>
            <a:ext cx="2743200" cy="502920"/>
          </a:xfrm>
          <a:prstGeom prst="rect">
            <a:avLst/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725016" y="5029200"/>
            <a:ext cx="2523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비용/염기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358488" y="5029200"/>
            <a:ext cx="3108960" cy="502920"/>
          </a:xfrm>
          <a:prstGeom prst="rect">
            <a:avLst/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68216" y="5029200"/>
            <a:ext cx="2889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높음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7467448" y="5029200"/>
            <a:ext cx="3108960" cy="502920"/>
          </a:xfrm>
          <a:prstGeom prst="rect">
            <a:avLst/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77176" y="5029200"/>
            <a:ext cx="2889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낮음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1615288" y="5532120"/>
            <a:ext cx="2743200" cy="502920"/>
          </a:xfrm>
          <a:prstGeom prst="rect">
            <a:avLst/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725016" y="5532120"/>
            <a:ext cx="2523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주 용도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4358488" y="5532120"/>
            <a:ext cx="3108960" cy="502920"/>
          </a:xfrm>
          <a:prstGeom prst="rect">
            <a:avLst/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68216" y="5532120"/>
            <a:ext cx="2889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확인검사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7467448" y="5532120"/>
            <a:ext cx="3108960" cy="502920"/>
          </a:xfrm>
          <a:prstGeom prst="rect">
            <a:avLst/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577176" y="5532120"/>
            <a:ext cx="2889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선별·포괄 진단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4C8DF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NGS Overview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의료인을 위한 NGS 교육 · Part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Read: 분석의 기본 단위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02920" y="1737360"/>
            <a:ext cx="7132320" cy="4297680"/>
          </a:xfrm>
          <a:prstGeom prst="roundRect">
            <a:avLst>
              <a:gd name="adj" fmla="val 1702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65960"/>
            <a:ext cx="65836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Read는 장비가 읽어낸 하나의 짧은 염기서열 조각이다.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Short-read는 보통 100~300 bp 길이를 가진다.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Single-end는 한쪽, paired-end는 양쪽 끝을 읽는다.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Paired-end는 정렬 정확도·구조변이 검출에 유리.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자체는 무작위, 위치 정보는 mapping으로 부여.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818120" y="1737360"/>
            <a:ext cx="3886200" cy="4297680"/>
          </a:xfrm>
          <a:prstGeom prst="roundRect">
            <a:avLst>
              <a:gd name="adj" fmla="val 1882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18120" y="1737360"/>
            <a:ext cx="82296" cy="4297680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12" name="Text 10"/>
          <p:cNvSpPr/>
          <p:nvPr/>
        </p:nvSpPr>
        <p:spPr>
          <a:xfrm>
            <a:off x="8065008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8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핵심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65008" y="2377440"/>
            <a:ext cx="3474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Read엔 위치가 없다 — 정렬이 좌표를 준다.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4C8DF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NGS Overview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의료인을 위한 NGS 교육 · Part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Coverage와 Depth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02920" y="1737360"/>
            <a:ext cx="7132320" cy="4297680"/>
          </a:xfrm>
          <a:prstGeom prst="roundRect">
            <a:avLst>
              <a:gd name="adj" fmla="val 1702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65960"/>
            <a:ext cx="65836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Depth: 특정 위치가 몇 개의 read로 덮였는지.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Coverage: 목표 영역 중 기준 depth 이상인 비율.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예: 'Target의 98%가 100x 이상' 형태로 보고.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Germline 30x↑, 암 패널 500x↑ 권장.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Depth 부족 구간은 위음성의 주요 원인.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818120" y="1737360"/>
            <a:ext cx="3886200" cy="4297680"/>
          </a:xfrm>
          <a:prstGeom prst="roundRect">
            <a:avLst>
              <a:gd name="adj" fmla="val 1882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18120" y="1737360"/>
            <a:ext cx="82296" cy="4297680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12" name="Text 10"/>
          <p:cNvSpPr/>
          <p:nvPr/>
        </p:nvSpPr>
        <p:spPr>
          <a:xfrm>
            <a:off x="8065008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8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핵심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65008" y="2377440"/>
            <a:ext cx="3474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보고서의 coverage 지표는 반드시 확인.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4C8DF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NGS Overview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의료인을 위한 NGS 교육 · Part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Mapping (Alignment)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02920" y="1737360"/>
            <a:ext cx="7132320" cy="4297680"/>
          </a:xfrm>
          <a:prstGeom prst="roundRect">
            <a:avLst>
              <a:gd name="adj" fmla="val 1702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65960"/>
            <a:ext cx="65836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각 read를 reference genome 상의 위치에 맞추는 과정.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표준 reference: GRCh37(hg19), GRCh38(hg38), T2T-CHM13.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Mapping quality(MAPQ)는 위치 배정의 신뢰도.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반복서열·pseudogene 영역은 mapping 오류가 흔하다.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 build가 다르면 좌표(position)가 달라진다.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818120" y="1737360"/>
            <a:ext cx="3886200" cy="4297680"/>
          </a:xfrm>
          <a:prstGeom prst="roundRect">
            <a:avLst>
              <a:gd name="adj" fmla="val 1882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18120" y="1737360"/>
            <a:ext cx="82296" cy="4297680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12" name="Text 10"/>
          <p:cNvSpPr/>
          <p:nvPr/>
        </p:nvSpPr>
        <p:spPr>
          <a:xfrm>
            <a:off x="8065008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8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핵심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65008" y="2377440"/>
            <a:ext cx="3474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Build가 다르면 같은 변이도 좌표가 달라짐.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4C8DF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NGS Overview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의료인을 위한 NGS 교육 · Part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Variant calling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02920" y="1737360"/>
            <a:ext cx="7132320" cy="4297680"/>
          </a:xfrm>
          <a:prstGeom prst="roundRect">
            <a:avLst>
              <a:gd name="adj" fmla="val 1702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65960"/>
            <a:ext cx="65836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정렬된 read를 근거로 reference와 다른 부분을 판정.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검출 대상: SNV, small indel, CNV, structural variant.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Germline은 유전형(0/1, 1/1) 판정을 목표.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Somatic은 변이 분율(VAF) 추정을 목표.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Calling은 통계적 추정이며 100% 확정이 아니다.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818120" y="1737360"/>
            <a:ext cx="3886200" cy="4297680"/>
          </a:xfrm>
          <a:prstGeom prst="roundRect">
            <a:avLst>
              <a:gd name="adj" fmla="val 1882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18120" y="1737360"/>
            <a:ext cx="82296" cy="4297680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12" name="Text 10"/>
          <p:cNvSpPr/>
          <p:nvPr/>
        </p:nvSpPr>
        <p:spPr>
          <a:xfrm>
            <a:off x="8065008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8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핵심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65008" y="2377440"/>
            <a:ext cx="3474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변이호출 = 확정이 아니라 통계적 추정.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4C8DF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NGS Overview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의료인을 위한 NGS 교육 · Part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NGS 데이터 처리 전체 흐름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521208" y="1152144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3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각 단계는 별도 파일 포맷과 QC 지표를 갖는다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874520"/>
            <a:ext cx="2137867" cy="868680"/>
          </a:xfrm>
          <a:prstGeom prst="roundRect">
            <a:avLst>
              <a:gd name="adj" fmla="val 8421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874520"/>
            <a:ext cx="2192731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Sequencing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622499" y="1874520"/>
            <a:ext cx="1645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C8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68803" y="1874520"/>
            <a:ext cx="2137867" cy="868680"/>
          </a:xfrm>
          <a:prstGeom prst="roundRect">
            <a:avLst>
              <a:gd name="adj" fmla="val 8421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1371" y="1874520"/>
            <a:ext cx="2192731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Alignment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888382" y="1874520"/>
            <a:ext cx="1645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C8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34686" y="1874520"/>
            <a:ext cx="2137867" cy="868680"/>
          </a:xfrm>
          <a:prstGeom prst="roundRect">
            <a:avLst>
              <a:gd name="adj" fmla="val 8421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07254" y="1874520"/>
            <a:ext cx="2192731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Variant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calling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154266" y="1874520"/>
            <a:ext cx="1645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C8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00570" y="1874520"/>
            <a:ext cx="2137867" cy="868680"/>
          </a:xfrm>
          <a:prstGeom prst="roundRect">
            <a:avLst>
              <a:gd name="adj" fmla="val 8421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73138" y="1874520"/>
            <a:ext cx="2192731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Annotation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420149" y="1874520"/>
            <a:ext cx="1645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C8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566453" y="1874520"/>
            <a:ext cx="2137867" cy="868680"/>
          </a:xfrm>
          <a:prstGeom prst="roundRect">
            <a:avLst>
              <a:gd name="adj" fmla="val 8421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39021" y="1874520"/>
            <a:ext cx="2192731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Filtering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·해석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02920" y="3063240"/>
            <a:ext cx="11201400" cy="2926080"/>
          </a:xfrm>
          <a:prstGeom prst="roundRect">
            <a:avLst>
              <a:gd name="adj" fmla="val 2500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3291840"/>
            <a:ext cx="106527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① Sequencing → FASTQ 생성 (raw read + quality)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② Alignment → SAM/BAM/CRAM (위치 정보 부여)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③ Variant calling → VCF (변이 목록)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④ Annotation → 유전자·결과 예측·인구 빈도 부착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⑤ Filtering·해석 → 임상 보고서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4C8DF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NGS Overview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의료인을 위한 NGS 교육 · Part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FASTQ 파일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02920" y="1737360"/>
            <a:ext cx="7132320" cy="4297680"/>
          </a:xfrm>
          <a:prstGeom prst="roundRect">
            <a:avLst>
              <a:gd name="adj" fmla="val 1702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65960"/>
            <a:ext cx="65836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Sequencer가 산출하는 raw read 저장 포맷.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하나가 4줄: ID · 서열 · 구분자 · quality.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Quality는 ASCII로 인코딩된 Phred score.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Paired-end는 R1, R2 두 개 파일로 제공.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위치 정보가 없어 그 자체로는 임상 해석 불가.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818120" y="1737360"/>
            <a:ext cx="3886200" cy="4297680"/>
          </a:xfrm>
          <a:prstGeom prst="roundRect">
            <a:avLst>
              <a:gd name="adj" fmla="val 1882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18120" y="1737360"/>
            <a:ext cx="82296" cy="4297680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12" name="Text 10"/>
          <p:cNvSpPr/>
          <p:nvPr/>
        </p:nvSpPr>
        <p:spPr>
          <a:xfrm>
            <a:off x="8065008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8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핵심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65008" y="2377440"/>
            <a:ext cx="3474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원재료. 위치·해석은 다음 단계에서.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4C8DF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NGS Overview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의료인을 위한 NGS 교육 · Part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 / BAM / CRAM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02920" y="1737360"/>
            <a:ext cx="7132320" cy="4297680"/>
          </a:xfrm>
          <a:prstGeom prst="roundRect">
            <a:avLst>
              <a:gd name="adj" fmla="val 1702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65960"/>
            <a:ext cx="65836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SAM: 정렬 결과의 텍스트 포맷.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BAM: SAM의 이진 압축본, 실제 분석의 표준 파일.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CRAM: reference 기반 추가 압축, 저장공간 절감.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BAM은 index(.bai)와 함께 IGV에서 직접 확인.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변이 진위 확인의 최종 근거 = BAM을 눈으로 보기.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818120" y="1737360"/>
            <a:ext cx="3886200" cy="4297680"/>
          </a:xfrm>
          <a:prstGeom prst="roundRect">
            <a:avLst>
              <a:gd name="adj" fmla="val 1882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18120" y="1737360"/>
            <a:ext cx="82296" cy="4297680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12" name="Text 10"/>
          <p:cNvSpPr/>
          <p:nvPr/>
        </p:nvSpPr>
        <p:spPr>
          <a:xfrm>
            <a:off x="8065008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8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핵심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65008" y="2377440"/>
            <a:ext cx="3474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애매하면 BAM을 직접 본다 — 최종 근거.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4C8DF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NGS Overview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의료인을 위한 NGS 교육 · Part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VCF 파일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02920" y="1737360"/>
            <a:ext cx="7132320" cy="4297680"/>
          </a:xfrm>
          <a:prstGeom prst="roundRect">
            <a:avLst>
              <a:gd name="adj" fmla="val 1702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65960"/>
            <a:ext cx="65836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Variant Call Format, 검출된 변이만 기록.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Header(##)와 데이터 행으로 구성.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한 행이 하나의 변이 위치를 의미.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gVCF는 변이 없는 구간 정보까지 포함.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임상의가 실제로 마주하는 핵심 파일.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818120" y="1737360"/>
            <a:ext cx="3886200" cy="4297680"/>
          </a:xfrm>
          <a:prstGeom prst="roundRect">
            <a:avLst>
              <a:gd name="adj" fmla="val 1882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18120" y="1737360"/>
            <a:ext cx="82296" cy="4297680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12" name="Text 10"/>
          <p:cNvSpPr/>
          <p:nvPr/>
        </p:nvSpPr>
        <p:spPr>
          <a:xfrm>
            <a:off x="8065008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8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핵심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65008" y="2377440"/>
            <a:ext cx="3474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임상의가 직접 읽어야 하는 파일.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4C8DF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NGS Overview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의료인을 위한 NGS 교육 · Part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Annotation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02920" y="1737360"/>
            <a:ext cx="7132320" cy="4297680"/>
          </a:xfrm>
          <a:prstGeom prst="roundRect">
            <a:avLst>
              <a:gd name="adj" fmla="val 1702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65960"/>
            <a:ext cx="65836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변이에 생물학적·임상적 정보를 붙이는 과정.</a:t>
            </a:r>
            <a:endParaRPr lang="en-US" sz="12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대표 도구: VEP, ANNOVAR, SnpEff.</a:t>
            </a:r>
            <a:endParaRPr lang="en-US" sz="12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유전자명·transcript·HGVS·결과 예측 부여.</a:t>
            </a:r>
            <a:endParaRPr lang="en-US" sz="12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인구 빈도(gnomAD), 질병 DB(ClinVar, COSMIC) 연결.</a:t>
            </a:r>
            <a:endParaRPr lang="en-US" sz="12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silico 예측(REVEL, CADD, SpliceAI) 포함.</a:t>
            </a:r>
            <a:endParaRPr lang="en-US" sz="12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Transcript 선택에 따라 표기·해석이 달라질 수 있다.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818120" y="1737360"/>
            <a:ext cx="3886200" cy="4297680"/>
          </a:xfrm>
          <a:prstGeom prst="roundRect">
            <a:avLst>
              <a:gd name="adj" fmla="val 1882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18120" y="1737360"/>
            <a:ext cx="82296" cy="4297680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12" name="Text 10"/>
          <p:cNvSpPr/>
          <p:nvPr/>
        </p:nvSpPr>
        <p:spPr>
          <a:xfrm>
            <a:off x="8065008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8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핵심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65008" y="2377440"/>
            <a:ext cx="3474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Transcript가 바뀌면 HGVS 표기도 바뀐다.</a:t>
            </a:r>
            <a:endParaRPr lang="en-US" sz="14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4C8DF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NGS Overview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의료인을 위한 NGS 교육 · Part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Filtering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02920" y="1737360"/>
            <a:ext cx="7132320" cy="4297680"/>
          </a:xfrm>
          <a:prstGeom prst="roundRect">
            <a:avLst>
              <a:gd name="adj" fmla="val 1702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65960"/>
            <a:ext cx="65836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수만 개 변이를 검토 가능한 수로 줄이는 과정.</a:t>
            </a:r>
            <a:endParaRPr lang="en-US" sz="12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1차: 품질 필터(depth, QUAL, FILTER).</a:t>
            </a:r>
            <a:endParaRPr lang="en-US" sz="12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2차: 인구 빈도 필터(gnomAD MAF&gt;1% 제외).</a:t>
            </a:r>
            <a:endParaRPr lang="en-US" sz="12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3차: 결과 예측 필터(nonsense·frameshift·splice 우선).</a:t>
            </a:r>
            <a:endParaRPr lang="en-US" sz="12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4차: 유전자 패널·표현형 기반 필터.</a:t>
            </a:r>
            <a:endParaRPr lang="en-US" sz="12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과도한 필터링은 진단 놓침(false negative)을 유발.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818120" y="1737360"/>
            <a:ext cx="3886200" cy="4297680"/>
          </a:xfrm>
          <a:prstGeom prst="roundRect">
            <a:avLst>
              <a:gd name="adj" fmla="val 1882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18120" y="1737360"/>
            <a:ext cx="82296" cy="4297680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12" name="Text 10"/>
          <p:cNvSpPr/>
          <p:nvPr/>
        </p:nvSpPr>
        <p:spPr>
          <a:xfrm>
            <a:off x="8065008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8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핵심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65008" y="2377440"/>
            <a:ext cx="3474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필터가 강하면 진짜 변이를 놓친다.</a:t>
            </a:r>
            <a:endParaRPr lang="en-US" sz="14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2B24C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2B24C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B2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NGS Overview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의료인을 위한 NGS 교육 · Part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임상 적용 — NGS 결과를 볼 때 확인할 것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21208" y="1170432"/>
            <a:ext cx="1463040" cy="384048"/>
          </a:xfrm>
          <a:prstGeom prst="roundRect">
            <a:avLst>
              <a:gd name="adj" fmla="val 11905"/>
            </a:avLst>
          </a:prstGeom>
          <a:solidFill>
            <a:srgbClr val="2A2213"/>
          </a:solidFill>
          <a:ln w="12700">
            <a:solidFill>
              <a:srgbClr val="F2B2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" y="117043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B2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임상 적용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1783080"/>
            <a:ext cx="7132320" cy="4160520"/>
          </a:xfrm>
          <a:prstGeom prst="roundRect">
            <a:avLst>
              <a:gd name="adj" fmla="val 1758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011680"/>
            <a:ext cx="65836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검사 종류와 대상 유전자 범위를 먼저 확인한다.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평균 depth와 low coverage 영역을 확인한다.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검출 한계(LOD)와 검출되지 않는 변이 유형을 확인한다.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 build와 transcript 번호를 확인한다.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'검출되지 않음'은 '없음'을 의미하지 않는다.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818120" y="1783080"/>
            <a:ext cx="3886200" cy="4160520"/>
          </a:xfrm>
          <a:prstGeom prst="roundRect">
            <a:avLst>
              <a:gd name="adj" fmla="val 1882"/>
            </a:avLst>
          </a:prstGeom>
          <a:solidFill>
            <a:srgbClr val="22190C"/>
          </a:solidFill>
          <a:ln w="12700">
            <a:solidFill>
              <a:srgbClr val="F2B2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65008" y="1965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B2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기억할 점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065008" y="2423160"/>
            <a:ext cx="3474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검출 안 됨 ≠ 없음. 범위·depth·build를 먼저 확인.</a:t>
            </a:r>
            <a:endParaRPr lang="en-US" sz="14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34D399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NGS Overview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의료인을 위한 NGS 교육 · Part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Messages — NGS Overview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21208" y="1170432"/>
            <a:ext cx="1737360" cy="384048"/>
          </a:xfrm>
          <a:prstGeom prst="roundRect">
            <a:avLst>
              <a:gd name="adj" fmla="val 11905"/>
            </a:avLst>
          </a:prstGeom>
          <a:solidFill>
            <a:srgbClr val="122A20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" y="117043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Messages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1874520"/>
            <a:ext cx="11201400" cy="738835"/>
          </a:xfrm>
          <a:prstGeom prst="roundRect">
            <a:avLst>
              <a:gd name="adj" fmla="val 9901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874520"/>
            <a:ext cx="73152" cy="738835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" y="2042770"/>
            <a:ext cx="402336" cy="402336"/>
          </a:xfrm>
          <a:prstGeom prst="ellipse">
            <a:avLst/>
          </a:prstGeom>
          <a:solidFill>
            <a:srgbClr val="1B283C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04277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1874520"/>
            <a:ext cx="10241280" cy="7388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NGS는 대규모 병렬 sequencing으로 다수 유전자를 동시 분석.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2741371"/>
            <a:ext cx="11201400" cy="738835"/>
          </a:xfrm>
          <a:prstGeom prst="roundRect">
            <a:avLst>
              <a:gd name="adj" fmla="val 9901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2741371"/>
            <a:ext cx="73152" cy="738835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7" name="Shape 15"/>
          <p:cNvSpPr/>
          <p:nvPr/>
        </p:nvSpPr>
        <p:spPr>
          <a:xfrm>
            <a:off x="685800" y="2909621"/>
            <a:ext cx="402336" cy="402336"/>
          </a:xfrm>
          <a:prstGeom prst="ellipse">
            <a:avLst/>
          </a:prstGeom>
          <a:solidFill>
            <a:srgbClr val="1B283C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2909621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80160" y="2741371"/>
            <a:ext cx="10241280" cy="7388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Sanger는 확인검사, NGS는 포괄적 선별에 적합.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" y="3608222"/>
            <a:ext cx="11201400" cy="738835"/>
          </a:xfrm>
          <a:prstGeom prst="roundRect">
            <a:avLst>
              <a:gd name="adj" fmla="val 9901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608222"/>
            <a:ext cx="73152" cy="738835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2" name="Shape 20"/>
          <p:cNvSpPr/>
          <p:nvPr/>
        </p:nvSpPr>
        <p:spPr>
          <a:xfrm>
            <a:off x="685800" y="3776472"/>
            <a:ext cx="402336" cy="402336"/>
          </a:xfrm>
          <a:prstGeom prst="ellipse">
            <a:avLst/>
          </a:prstGeom>
          <a:solidFill>
            <a:srgbClr val="1B283C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7764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80160" y="3608222"/>
            <a:ext cx="10241280" cy="7388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Depth와 coverage가 검사 신뢰도를 결정.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02920" y="4475074"/>
            <a:ext cx="11201400" cy="738835"/>
          </a:xfrm>
          <a:prstGeom prst="roundRect">
            <a:avLst>
              <a:gd name="adj" fmla="val 9901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4475074"/>
            <a:ext cx="73152" cy="738835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7" name="Shape 25"/>
          <p:cNvSpPr/>
          <p:nvPr/>
        </p:nvSpPr>
        <p:spPr>
          <a:xfrm>
            <a:off x="685800" y="4643323"/>
            <a:ext cx="402336" cy="402336"/>
          </a:xfrm>
          <a:prstGeom prst="ellipse">
            <a:avLst/>
          </a:prstGeom>
          <a:solidFill>
            <a:srgbClr val="1B283C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643323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280160" y="4475074"/>
            <a:ext cx="10241280" cy="7388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데이터 흐름: FASTQ → BAM → VCF → annotation → 보고서.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02920" y="5341925"/>
            <a:ext cx="11201400" cy="738835"/>
          </a:xfrm>
          <a:prstGeom prst="roundRect">
            <a:avLst>
              <a:gd name="adj" fmla="val 9901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" y="5341925"/>
            <a:ext cx="73152" cy="738835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" y="5510174"/>
            <a:ext cx="402336" cy="402336"/>
          </a:xfrm>
          <a:prstGeom prst="ellipse">
            <a:avLst/>
          </a:prstGeom>
          <a:solidFill>
            <a:srgbClr val="1B283C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551017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280160" y="5341925"/>
            <a:ext cx="10241280" cy="7388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Variant calling은 확정이 아니라 통계적 추정.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E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0116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1248" y="26974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Illumina Sequencing 원리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68680" y="3794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3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Library preparation부터 base calling과 Q30까지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4C8DF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Illumina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의료인을 위한 NGS 교육 · Part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학습목표 — Illumina 원리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02920" y="1737360"/>
            <a:ext cx="11201400" cy="4297680"/>
          </a:xfrm>
          <a:prstGeom prst="roundRect">
            <a:avLst>
              <a:gd name="adj" fmla="val 1702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20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C8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학습목표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2468880"/>
            <a:ext cx="420624" cy="420624"/>
          </a:xfrm>
          <a:prstGeom prst="ellipse">
            <a:avLst/>
          </a:prstGeom>
          <a:solidFill>
            <a:srgbClr val="1B283C"/>
          </a:solidFill>
          <a:ln w="19050">
            <a:solidFill>
              <a:srgbClr val="4C8D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4688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44144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Library preparation의 각 단계를 설명할 수 있다.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22960" y="3044952"/>
            <a:ext cx="420624" cy="420624"/>
          </a:xfrm>
          <a:prstGeom prst="ellipse">
            <a:avLst/>
          </a:prstGeom>
          <a:solidFill>
            <a:srgbClr val="1B283C"/>
          </a:solidFill>
          <a:ln w="19050">
            <a:solidFill>
              <a:srgbClr val="4C8D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0449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017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Adapter와 index의 기능을 이해한다.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22960" y="3621024"/>
            <a:ext cx="420624" cy="420624"/>
          </a:xfrm>
          <a:prstGeom prst="ellipse">
            <a:avLst/>
          </a:prstGeom>
          <a:solidFill>
            <a:srgbClr val="1B283C"/>
          </a:solidFill>
          <a:ln w="19050">
            <a:solidFill>
              <a:srgbClr val="4C8D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62102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359359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Cluster generation과 bridge amplification 원리를 설명한다.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822960" y="4197096"/>
            <a:ext cx="420624" cy="420624"/>
          </a:xfrm>
          <a:prstGeom prst="ellipse">
            <a:avLst/>
          </a:prstGeom>
          <a:solidFill>
            <a:srgbClr val="1B283C"/>
          </a:solidFill>
          <a:ln w="19050">
            <a:solidFill>
              <a:srgbClr val="4C8D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19709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17320" y="4169664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Sequencing by synthesis(SBS) 과정을 이해한다.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822960" y="4773168"/>
            <a:ext cx="420624" cy="420624"/>
          </a:xfrm>
          <a:prstGeom prst="ellipse">
            <a:avLst/>
          </a:prstGeom>
          <a:solidFill>
            <a:srgbClr val="1B283C"/>
          </a:solidFill>
          <a:ln w="19050">
            <a:solidFill>
              <a:srgbClr val="4C8D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77316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417320" y="4745736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 score와 Q30의 임상적 의미를 해석한다.</a:t>
            </a:r>
            <a:endParaRPr lang="en-US" sz="14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4C8DF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Illumina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의료인을 위한 NGS 교육 · Part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Illumina 전체 workflow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521208" y="1152144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3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이미지 신호를 염기와 품질로 변환하는 과정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874520"/>
            <a:ext cx="2137867" cy="868680"/>
          </a:xfrm>
          <a:prstGeom prst="roundRect">
            <a:avLst>
              <a:gd name="adj" fmla="val 8421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874520"/>
            <a:ext cx="2192731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Library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prep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622499" y="1874520"/>
            <a:ext cx="1645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C8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68803" y="1874520"/>
            <a:ext cx="2137867" cy="868680"/>
          </a:xfrm>
          <a:prstGeom prst="roundRect">
            <a:avLst>
              <a:gd name="adj" fmla="val 8421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1371" y="1874520"/>
            <a:ext cx="2192731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Cluster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888382" y="1874520"/>
            <a:ext cx="1645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C8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34686" y="1874520"/>
            <a:ext cx="2137867" cy="868680"/>
          </a:xfrm>
          <a:prstGeom prst="roundRect">
            <a:avLst>
              <a:gd name="adj" fmla="val 8421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07254" y="1874520"/>
            <a:ext cx="2192731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SBS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154266" y="1874520"/>
            <a:ext cx="1645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C8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00570" y="1874520"/>
            <a:ext cx="2137867" cy="868680"/>
          </a:xfrm>
          <a:prstGeom prst="roundRect">
            <a:avLst>
              <a:gd name="adj" fmla="val 8421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73138" y="1874520"/>
            <a:ext cx="2192731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calling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420149" y="1874520"/>
            <a:ext cx="1645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C8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566453" y="1874520"/>
            <a:ext cx="2137867" cy="868680"/>
          </a:xfrm>
          <a:prstGeom prst="roundRect">
            <a:avLst>
              <a:gd name="adj" fmla="val 8421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39021" y="1874520"/>
            <a:ext cx="2192731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Demulti-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plexing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02920" y="3063240"/>
            <a:ext cx="11201400" cy="2926080"/>
          </a:xfrm>
          <a:prstGeom prst="roundRect">
            <a:avLst>
              <a:gd name="adj" fmla="val 2500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3291840"/>
            <a:ext cx="106527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① Library preparation: DNA 단편화 및 adapter 부착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② Cluster generation: flow cell에서 클론 증폭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③ Sequencing by synthesis: 형광 신호로 염기 판독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④ Base calling: 이미지 신호를 염기와 품질로 변환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⑤ Demultiplexing: index로 검체별 FASTQ 분리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4C8DF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Illumina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의료인을 위한 NGS 교육 · Part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Library preparation (1) 단편화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02920" y="1737360"/>
            <a:ext cx="7132320" cy="4297680"/>
          </a:xfrm>
          <a:prstGeom prst="roundRect">
            <a:avLst>
              <a:gd name="adj" fmla="val 1702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65960"/>
            <a:ext cx="65836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DNA를 200~500 bp로 물리적·효소적으로 절단.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Tagmentation은 절단과 adapter 부착을 동시에 수행.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 repair와 A-tailing으로 adapter 연결 준비.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입력 DNA의 양·질(DIN, A260/280)이 성공을 좌우.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FFPE 검체는 손상으로 인공 변이가 증가한다.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818120" y="1737360"/>
            <a:ext cx="3886200" cy="4297680"/>
          </a:xfrm>
          <a:prstGeom prst="roundRect">
            <a:avLst>
              <a:gd name="adj" fmla="val 1882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18120" y="1737360"/>
            <a:ext cx="82296" cy="4297680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12" name="Text 10"/>
          <p:cNvSpPr/>
          <p:nvPr/>
        </p:nvSpPr>
        <p:spPr>
          <a:xfrm>
            <a:off x="8065008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8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핵심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65008" y="2377440"/>
            <a:ext cx="3474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입력 DNA 질이 최종 데이터 질을 좌우.</a:t>
            </a:r>
            <a:endParaRPr lang="en-US" sz="14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4C8DF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Illumina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의료인을 위한 NGS 교육 · Part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Library preparation (2) Adapter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02920" y="1737360"/>
            <a:ext cx="7132320" cy="4297680"/>
          </a:xfrm>
          <a:prstGeom prst="roundRect">
            <a:avLst>
              <a:gd name="adj" fmla="val 1702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65960"/>
            <a:ext cx="65836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Adapter는 sequencing에 필요한 인공 서열.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Flow cell 결합 서열·sequencing primer 결합부 포함.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Index(barcode)로 여러 검체를 한 run에 혼합.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Dual index는 index hopping 교차오염을 줄인다.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UMI는 PCR 중복과 저빈도 변이를 구분한다.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818120" y="1737360"/>
            <a:ext cx="3886200" cy="4297680"/>
          </a:xfrm>
          <a:prstGeom prst="roundRect">
            <a:avLst>
              <a:gd name="adj" fmla="val 1882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18120" y="1737360"/>
            <a:ext cx="82296" cy="4297680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12" name="Text 10"/>
          <p:cNvSpPr/>
          <p:nvPr/>
        </p:nvSpPr>
        <p:spPr>
          <a:xfrm>
            <a:off x="8065008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8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핵심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65008" y="2377440"/>
            <a:ext cx="3474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Index가 다중 검체 동시 분석을 가능케 함.</a:t>
            </a:r>
            <a:endParaRPr lang="en-US" sz="14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4C8DF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Illumina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의료인을 위한 NGS 교육 · Part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Library preparation (3) Target enrichment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02920" y="1737360"/>
            <a:ext cx="7132320" cy="4297680"/>
          </a:xfrm>
          <a:prstGeom prst="roundRect">
            <a:avLst>
              <a:gd name="adj" fmla="val 1702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65960"/>
            <a:ext cx="65836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Hybrid capture: 프로브로 표적 포획, 균일도 우수.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Amplicon: PCR로 표적 증폭, 소량 DNA·빠른 검사 유리.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Capture는 넓은 패널·WES, amplicon은 좁은 패널에 적합.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Amplicon은 CNV·대형 결실 검출에 취약.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Enrichment 방식이 검사 성능의 한계를 결정.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818120" y="1737360"/>
            <a:ext cx="3886200" cy="4297680"/>
          </a:xfrm>
          <a:prstGeom prst="roundRect">
            <a:avLst>
              <a:gd name="adj" fmla="val 1882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18120" y="1737360"/>
            <a:ext cx="82296" cy="4297680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12" name="Text 10"/>
          <p:cNvSpPr/>
          <p:nvPr/>
        </p:nvSpPr>
        <p:spPr>
          <a:xfrm>
            <a:off x="8065008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8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핵심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65008" y="2377440"/>
            <a:ext cx="3474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검사 방식 선택이 성능 한계를 규정.</a:t>
            </a:r>
            <a:endParaRPr lang="en-US" sz="14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4C8DF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Illumina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의료인을 위한 NGS 교육 · Part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Cluster generation &amp; Bridge amplification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02920" y="1737360"/>
            <a:ext cx="7132320" cy="4297680"/>
          </a:xfrm>
          <a:prstGeom prst="roundRect">
            <a:avLst>
              <a:gd name="adj" fmla="val 1702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65960"/>
            <a:ext cx="65836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Flow cell 표면 oligo에 library가 결합한다.</a:t>
            </a:r>
            <a:endParaRPr lang="en-US" sz="12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결합 가닥이 휘어 인접 oligo와 다리(bridge)를 형성.</a:t>
            </a:r>
            <a:endParaRPr lang="en-US" sz="12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증폭·절단 반복으로 동일 서열 cluster를 만든다.</a:t>
            </a:r>
            <a:endParaRPr lang="en-US" sz="12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한 cluster = 수천 개 동일 분자 = 신호 증폭 장치.</a:t>
            </a:r>
            <a:endParaRPr lang="en-US" sz="12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Cluster 밀도 과도 시 신호 중첩으로 품질 저하.</a:t>
            </a:r>
            <a:endParaRPr lang="en-US" sz="12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Patterned flow cell은 cluster를 규칙 배열한다.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818120" y="1737360"/>
            <a:ext cx="3886200" cy="4297680"/>
          </a:xfrm>
          <a:prstGeom prst="roundRect">
            <a:avLst>
              <a:gd name="adj" fmla="val 1882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18120" y="1737360"/>
            <a:ext cx="82296" cy="4297680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12" name="Text 10"/>
          <p:cNvSpPr/>
          <p:nvPr/>
        </p:nvSpPr>
        <p:spPr>
          <a:xfrm>
            <a:off x="8065008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8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핵심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65008" y="2377440"/>
            <a:ext cx="3474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Cluster = 신호 증폭용 클론 증폭.</a:t>
            </a:r>
            <a:endParaRPr lang="en-US" sz="14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4C8DF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Illumina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의료인을 위한 NGS 교육 · Part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Sequencing by synthesis (SBS)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02920" y="1737360"/>
            <a:ext cx="7132320" cy="4297680"/>
          </a:xfrm>
          <a:prstGeom prst="roundRect">
            <a:avLst>
              <a:gd name="adj" fmla="val 1702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65960"/>
            <a:ext cx="65836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형광 표지 reversible terminator 염기를 한 개씩 결합.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결합 후 이미지 촬영으로 어떤 염기인지 판독.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형광·종결기를 제거하고 다음 cycle 진행.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Cycle 수가 곧 read 길이(예: 2×150 bp).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Cycle 진행될수록 위상 불일치로 품질 저하.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818120" y="1737360"/>
            <a:ext cx="3886200" cy="4297680"/>
          </a:xfrm>
          <a:prstGeom prst="roundRect">
            <a:avLst>
              <a:gd name="adj" fmla="val 1882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18120" y="1737360"/>
            <a:ext cx="82296" cy="4297680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12" name="Text 10"/>
          <p:cNvSpPr/>
          <p:nvPr/>
        </p:nvSpPr>
        <p:spPr>
          <a:xfrm>
            <a:off x="8065008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8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핵심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65008" y="2377440"/>
            <a:ext cx="3474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Cycle 후반부일수록 품질이 낮아진다.</a:t>
            </a:r>
            <a:endParaRPr lang="en-US" sz="14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4C8DF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Illumina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의료인을 위한 NGS 교육 · Part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 calling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02920" y="1737360"/>
            <a:ext cx="7132320" cy="4297680"/>
          </a:xfrm>
          <a:prstGeom prst="roundRect">
            <a:avLst>
              <a:gd name="adj" fmla="val 1702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65960"/>
            <a:ext cx="65836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각 cycle 이미지의 형광 강도를 염기로 변환.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Cluster별 신호 강도·배경·위상 보정을 반영.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결과는 염기 서열 + quality score로 산출.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Phasing/pre-phasing은 read 후반부 오류 증가.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Homopolymer 구간은 Illumina에서도 오류가 많다.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818120" y="1737360"/>
            <a:ext cx="3886200" cy="4297680"/>
          </a:xfrm>
          <a:prstGeom prst="roundRect">
            <a:avLst>
              <a:gd name="adj" fmla="val 1882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18120" y="1737360"/>
            <a:ext cx="82296" cy="4297680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12" name="Text 10"/>
          <p:cNvSpPr/>
          <p:nvPr/>
        </p:nvSpPr>
        <p:spPr>
          <a:xfrm>
            <a:off x="8065008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8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핵심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65008" y="2377440"/>
            <a:ext cx="3474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형광 강도 → 염기 + 품질값.</a:t>
            </a:r>
            <a:endParaRPr lang="en-US" sz="14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4C8DF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Illumina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의료인을 위한 NGS 교육 · Part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Quality score(Phred)와 Q30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02920" y="1691640"/>
            <a:ext cx="11201400" cy="1051560"/>
          </a:xfrm>
          <a:prstGeom prst="roundRect">
            <a:avLst>
              <a:gd name="adj" fmla="val 6957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828800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 = −10 × log10(오류확률). Q30 이상 비율은 run 품질 표준 지표.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보통 Q30 80~90%↑를 양호로 본다.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615288" y="3063240"/>
            <a:ext cx="2743200" cy="457200"/>
          </a:xfrm>
          <a:prstGeom prst="rect">
            <a:avLst/>
          </a:prstGeom>
          <a:solidFill>
            <a:srgbClr val="4C8DFF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25016" y="3063240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810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 score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58488" y="3063240"/>
            <a:ext cx="3108960" cy="457200"/>
          </a:xfrm>
          <a:prstGeom prst="rect">
            <a:avLst/>
          </a:prstGeom>
          <a:solidFill>
            <a:srgbClr val="4C8DFF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68216" y="3063240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810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오류 확률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467448" y="3063240"/>
            <a:ext cx="3108960" cy="457200"/>
          </a:xfrm>
          <a:prstGeom prst="rect">
            <a:avLst/>
          </a:prstGeom>
          <a:solidFill>
            <a:srgbClr val="4C8DFF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77176" y="3063240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810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정확도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615288" y="3520440"/>
            <a:ext cx="2743200" cy="502920"/>
          </a:xfrm>
          <a:prstGeom prst="rect">
            <a:avLst/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25016" y="3520440"/>
            <a:ext cx="2523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Q10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358488" y="3520440"/>
            <a:ext cx="3108960" cy="502920"/>
          </a:xfrm>
          <a:prstGeom prst="rect">
            <a:avLst/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68216" y="3520440"/>
            <a:ext cx="2889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1/10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467448" y="3520440"/>
            <a:ext cx="3108960" cy="502920"/>
          </a:xfrm>
          <a:prstGeom prst="rect">
            <a:avLst/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77176" y="3520440"/>
            <a:ext cx="2889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90%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615288" y="4023360"/>
            <a:ext cx="2743200" cy="502920"/>
          </a:xfrm>
          <a:prstGeom prst="rect">
            <a:avLst/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25016" y="4023360"/>
            <a:ext cx="2523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Q20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58488" y="4023360"/>
            <a:ext cx="3108960" cy="502920"/>
          </a:xfrm>
          <a:prstGeom prst="rect">
            <a:avLst/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68216" y="4023360"/>
            <a:ext cx="2889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1/100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467448" y="4023360"/>
            <a:ext cx="3108960" cy="502920"/>
          </a:xfrm>
          <a:prstGeom prst="rect">
            <a:avLst/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77176" y="4023360"/>
            <a:ext cx="2889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99%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1615288" y="4526280"/>
            <a:ext cx="2743200" cy="502920"/>
          </a:xfrm>
          <a:prstGeom prst="rect">
            <a:avLst/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725016" y="4526280"/>
            <a:ext cx="2523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Q30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358488" y="4526280"/>
            <a:ext cx="3108960" cy="502920"/>
          </a:xfrm>
          <a:prstGeom prst="rect">
            <a:avLst/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68216" y="4526280"/>
            <a:ext cx="2889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1/1000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467448" y="4526280"/>
            <a:ext cx="3108960" cy="502920"/>
          </a:xfrm>
          <a:prstGeom prst="rect">
            <a:avLst/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77176" y="4526280"/>
            <a:ext cx="2889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99.9%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615288" y="5029200"/>
            <a:ext cx="2743200" cy="502920"/>
          </a:xfrm>
          <a:prstGeom prst="rect">
            <a:avLst/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725016" y="5029200"/>
            <a:ext cx="2523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Q40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358488" y="5029200"/>
            <a:ext cx="3108960" cy="502920"/>
          </a:xfrm>
          <a:prstGeom prst="rect">
            <a:avLst/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68216" y="5029200"/>
            <a:ext cx="2889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1/10000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7467448" y="5029200"/>
            <a:ext cx="3108960" cy="502920"/>
          </a:xfrm>
          <a:prstGeom prst="rect">
            <a:avLst/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77176" y="5029200"/>
            <a:ext cx="2889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99.99%</a:t>
            </a:r>
            <a:endParaRPr lang="en-US" sz="11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4C8DF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Illumina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의료인을 위한 NGS 교육 · Part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및 검체 QC 지표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02920" y="1737360"/>
            <a:ext cx="7132320" cy="4297680"/>
          </a:xfrm>
          <a:prstGeom prst="roundRect">
            <a:avLst>
              <a:gd name="adj" fmla="val 1702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65960"/>
            <a:ext cx="65836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Cluster density·%passing filter: run 자체 품질.</a:t>
            </a:r>
            <a:endParaRPr lang="en-US" sz="12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%Q30: 염기 판독 정확도.</a:t>
            </a:r>
            <a:endParaRPr lang="en-US" sz="12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Mapping rate: 정렬 성공 비율, 오염 시 감소.</a:t>
            </a:r>
            <a:endParaRPr lang="en-US" sz="12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Duplicate rate: 라이브러리 복잡도 부족 시 상승.</a:t>
            </a:r>
            <a:endParaRPr lang="en-US" sz="12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On-target rate·uniformity: enrichment 품질.</a:t>
            </a:r>
            <a:endParaRPr lang="en-US" sz="12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Contamination 추정·성별 일치 여부도 확인.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818120" y="1737360"/>
            <a:ext cx="3886200" cy="4297680"/>
          </a:xfrm>
          <a:prstGeom prst="roundRect">
            <a:avLst>
              <a:gd name="adj" fmla="val 1882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18120" y="1737360"/>
            <a:ext cx="82296" cy="4297680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12" name="Text 10"/>
          <p:cNvSpPr/>
          <p:nvPr/>
        </p:nvSpPr>
        <p:spPr>
          <a:xfrm>
            <a:off x="8065008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8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핵심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65008" y="2377440"/>
            <a:ext cx="3474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여러 QC 지표를 종합해 run을 판단.</a:t>
            </a:r>
            <a:endParaRPr lang="en-US" sz="14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2B24C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2B24C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B2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Illumina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의료인을 위한 NGS 교육 · Part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임상 적용 — 검사 실패를 의심해야 할 때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21208" y="1170432"/>
            <a:ext cx="1463040" cy="384048"/>
          </a:xfrm>
          <a:prstGeom prst="roundRect">
            <a:avLst>
              <a:gd name="adj" fmla="val 11905"/>
            </a:avLst>
          </a:prstGeom>
          <a:solidFill>
            <a:srgbClr val="2A2213"/>
          </a:solidFill>
          <a:ln w="12700">
            <a:solidFill>
              <a:srgbClr val="F2B2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" y="117043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B2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임상 적용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1783080"/>
            <a:ext cx="7132320" cy="4160520"/>
          </a:xfrm>
          <a:prstGeom prst="roundRect">
            <a:avLst>
              <a:gd name="adj" fmla="val 1758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011680"/>
            <a:ext cx="65836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평균 depth는 충분하나 특정 exon만 0x인 경우.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Duplicate rate가 높아 유효 depth가 낮은 경우.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예상 성별·친자 관계와 유전형이 불일치하는 경우.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예상 변이(가족 내 확인 변이)가 검출되지 않은 경우.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이럴 때는 재검 또는 Sanger 확인검사를 요청.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818120" y="1783080"/>
            <a:ext cx="3886200" cy="4160520"/>
          </a:xfrm>
          <a:prstGeom prst="roundRect">
            <a:avLst>
              <a:gd name="adj" fmla="val 1882"/>
            </a:avLst>
          </a:prstGeom>
          <a:solidFill>
            <a:srgbClr val="22190C"/>
          </a:solidFill>
          <a:ln w="12700">
            <a:solidFill>
              <a:srgbClr val="F2B2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65008" y="1965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B2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기억할 점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065008" y="2423160"/>
            <a:ext cx="3474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평균만 보지 말 것 — 국소 0x·중복률·불일치를 의심.</a:t>
            </a:r>
            <a:endParaRPr lang="en-US" sz="14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34D399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Illumina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의료인을 위한 NGS 교육 · Part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Messages — Illumina 원리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21208" y="1170432"/>
            <a:ext cx="1737360" cy="384048"/>
          </a:xfrm>
          <a:prstGeom prst="roundRect">
            <a:avLst>
              <a:gd name="adj" fmla="val 11905"/>
            </a:avLst>
          </a:prstGeom>
          <a:solidFill>
            <a:srgbClr val="122A20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" y="117043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Messages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1874520"/>
            <a:ext cx="11201400" cy="738835"/>
          </a:xfrm>
          <a:prstGeom prst="roundRect">
            <a:avLst>
              <a:gd name="adj" fmla="val 9901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874520"/>
            <a:ext cx="73152" cy="738835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" y="2042770"/>
            <a:ext cx="402336" cy="402336"/>
          </a:xfrm>
          <a:prstGeom prst="ellipse">
            <a:avLst/>
          </a:prstGeom>
          <a:solidFill>
            <a:srgbClr val="1B283C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04277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1874520"/>
            <a:ext cx="10241280" cy="7388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Library prep의 질이 최종 데이터 품질을 결정.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2741371"/>
            <a:ext cx="11201400" cy="738835"/>
          </a:xfrm>
          <a:prstGeom prst="roundRect">
            <a:avLst>
              <a:gd name="adj" fmla="val 9901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2741371"/>
            <a:ext cx="73152" cy="738835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7" name="Shape 15"/>
          <p:cNvSpPr/>
          <p:nvPr/>
        </p:nvSpPr>
        <p:spPr>
          <a:xfrm>
            <a:off x="685800" y="2909621"/>
            <a:ext cx="402336" cy="402336"/>
          </a:xfrm>
          <a:prstGeom prst="ellipse">
            <a:avLst/>
          </a:prstGeom>
          <a:solidFill>
            <a:srgbClr val="1B283C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2909621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80160" y="2741371"/>
            <a:ext cx="10241280" cy="7388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Adapter와 index가 다중 검체 동시 분석을 가능케 함.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" y="3608222"/>
            <a:ext cx="11201400" cy="738835"/>
          </a:xfrm>
          <a:prstGeom prst="roundRect">
            <a:avLst>
              <a:gd name="adj" fmla="val 9901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608222"/>
            <a:ext cx="73152" cy="738835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2" name="Shape 20"/>
          <p:cNvSpPr/>
          <p:nvPr/>
        </p:nvSpPr>
        <p:spPr>
          <a:xfrm>
            <a:off x="685800" y="3776472"/>
            <a:ext cx="402336" cy="402336"/>
          </a:xfrm>
          <a:prstGeom prst="ellipse">
            <a:avLst/>
          </a:prstGeom>
          <a:solidFill>
            <a:srgbClr val="1B283C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7764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80160" y="3608222"/>
            <a:ext cx="10241280" cy="7388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Cluster 형성은 신호 증폭을 위한 클론 증폭 과정.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02920" y="4475074"/>
            <a:ext cx="11201400" cy="738835"/>
          </a:xfrm>
          <a:prstGeom prst="roundRect">
            <a:avLst>
              <a:gd name="adj" fmla="val 9901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4475074"/>
            <a:ext cx="73152" cy="738835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7" name="Shape 25"/>
          <p:cNvSpPr/>
          <p:nvPr/>
        </p:nvSpPr>
        <p:spPr>
          <a:xfrm>
            <a:off x="685800" y="4643323"/>
            <a:ext cx="402336" cy="402336"/>
          </a:xfrm>
          <a:prstGeom prst="ellipse">
            <a:avLst/>
          </a:prstGeom>
          <a:solidFill>
            <a:srgbClr val="1B283C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643323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280160" y="4475074"/>
            <a:ext cx="10241280" cy="7388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SBS는 cycle 단위 형광 판독, 후반 cycle 품질이 낮음.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02920" y="5341925"/>
            <a:ext cx="11201400" cy="738835"/>
          </a:xfrm>
          <a:prstGeom prst="roundRect">
            <a:avLst>
              <a:gd name="adj" fmla="val 9901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" y="5341925"/>
            <a:ext cx="73152" cy="738835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" y="5510174"/>
            <a:ext cx="402336" cy="402336"/>
          </a:xfrm>
          <a:prstGeom prst="ellipse">
            <a:avLst/>
          </a:prstGeom>
          <a:solidFill>
            <a:srgbClr val="1B283C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551017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280160" y="5341925"/>
            <a:ext cx="10241280" cy="7388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Q30 비율은 run 품질의 핵심 지표.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E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0116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1248" y="26974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GATK 기반 Variant Calling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68680" y="3794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3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BWA · Duplicate marking · BQSR · HaplotypeCaller · Filtering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4C8DF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GATK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의료인을 위한 NGS 교육 · Part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학습목표 — GATK workflow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02920" y="1737360"/>
            <a:ext cx="11201400" cy="4297680"/>
          </a:xfrm>
          <a:prstGeom prst="roundRect">
            <a:avLst>
              <a:gd name="adj" fmla="val 1702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20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C8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학습목표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2468880"/>
            <a:ext cx="420624" cy="420624"/>
          </a:xfrm>
          <a:prstGeom prst="ellipse">
            <a:avLst/>
          </a:prstGeom>
          <a:solidFill>
            <a:srgbClr val="1B283C"/>
          </a:solidFill>
          <a:ln w="19050">
            <a:solidFill>
              <a:srgbClr val="4C8D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4688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44144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GATK Best Practices 각 단계의 목적을 설명한다.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22960" y="3044952"/>
            <a:ext cx="420624" cy="420624"/>
          </a:xfrm>
          <a:prstGeom prst="ellipse">
            <a:avLst/>
          </a:prstGeom>
          <a:solidFill>
            <a:srgbClr val="1B283C"/>
          </a:solidFill>
          <a:ln w="19050">
            <a:solidFill>
              <a:srgbClr val="4C8D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0449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017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BWA mapping과 duplicate marking의 의미를 이해한다.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22960" y="3621024"/>
            <a:ext cx="420624" cy="420624"/>
          </a:xfrm>
          <a:prstGeom prst="ellipse">
            <a:avLst/>
          </a:prstGeom>
          <a:solidFill>
            <a:srgbClr val="1B283C"/>
          </a:solidFill>
          <a:ln w="19050">
            <a:solidFill>
              <a:srgbClr val="4C8D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62102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359359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BQSR이 무엇을 보정하는지 설명할 수 있다.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822960" y="4197096"/>
            <a:ext cx="420624" cy="420624"/>
          </a:xfrm>
          <a:prstGeom prst="ellipse">
            <a:avLst/>
          </a:prstGeom>
          <a:solidFill>
            <a:srgbClr val="1B283C"/>
          </a:solidFill>
          <a:ln w="19050">
            <a:solidFill>
              <a:srgbClr val="4C8D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19709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17320" y="4169664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HaplotypeCaller의 지역 재조립 개념을 이해한다.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822960" y="4773168"/>
            <a:ext cx="420624" cy="420624"/>
          </a:xfrm>
          <a:prstGeom prst="ellipse">
            <a:avLst/>
          </a:prstGeom>
          <a:solidFill>
            <a:srgbClr val="1B283C"/>
          </a:solidFill>
          <a:ln w="19050">
            <a:solidFill>
              <a:srgbClr val="4C8D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77316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417320" y="4745736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Joint genotyping과 variant filtering의 임상 의의를 안다.</a:t>
            </a:r>
            <a:endParaRPr lang="en-US" sz="14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4C8DF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GATK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의료인을 위한 NGS 교육 · Part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GATK Best Practices 개요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02920" y="1737360"/>
            <a:ext cx="7132320" cy="4297680"/>
          </a:xfrm>
          <a:prstGeom prst="roundRect">
            <a:avLst>
              <a:gd name="adj" fmla="val 1702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65960"/>
            <a:ext cx="65836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Broad Institute가 제시한 표준 germline 분석 절차.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전처리 → 변이 검출 → 필터링의 3단계로 구성.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재현성과 검사실 간 비교 가능성 확보가 목적.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임상 검사실 인증에서 자주 요구되는 표준 파이프라인.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Somatic 분석은 Mutect2 기반 별도 절차를 사용.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818120" y="1737360"/>
            <a:ext cx="3886200" cy="4297680"/>
          </a:xfrm>
          <a:prstGeom prst="roundRect">
            <a:avLst>
              <a:gd name="adj" fmla="val 1882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18120" y="1737360"/>
            <a:ext cx="82296" cy="4297680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12" name="Text 10"/>
          <p:cNvSpPr/>
          <p:nvPr/>
        </p:nvSpPr>
        <p:spPr>
          <a:xfrm>
            <a:off x="8065008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8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핵심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65008" y="2377440"/>
            <a:ext cx="3474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재현성·비교가능성을 위한 표준 절차.</a:t>
            </a:r>
            <a:endParaRPr lang="en-US" sz="14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4C8DF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GATK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의료인을 위한 NGS 교육 · Part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① BWA를 이용한 Mapping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02920" y="1737360"/>
            <a:ext cx="7132320" cy="4297680"/>
          </a:xfrm>
          <a:prstGeom prst="roundRect">
            <a:avLst>
              <a:gd name="adj" fmla="val 1702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65960"/>
            <a:ext cx="65836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BWA는 short-read 표준 정렬 도구.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BWA-MEM 알고리즘이 70 bp↑ read에 널리 사용.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Seed 후 확장 방식으로 빠르고 정확한 정렬.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결과는 SAM으로 출력 후 BAM으로 변환.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group(@RG) 정보는 이후 단계에 필수.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818120" y="1737360"/>
            <a:ext cx="3886200" cy="4297680"/>
          </a:xfrm>
          <a:prstGeom prst="roundRect">
            <a:avLst>
              <a:gd name="adj" fmla="val 1882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18120" y="1737360"/>
            <a:ext cx="82296" cy="4297680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12" name="Text 10"/>
          <p:cNvSpPr/>
          <p:nvPr/>
        </p:nvSpPr>
        <p:spPr>
          <a:xfrm>
            <a:off x="8065008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8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핵심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65008" y="2377440"/>
            <a:ext cx="3474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Short-read 정렬의 표준 = BWA-MEM.</a:t>
            </a:r>
            <a:endParaRPr lang="en-US" sz="14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4C8DF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GATK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의료인을 위한 NGS 교육 · Part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② Sorting과 Indexing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02920" y="1737360"/>
            <a:ext cx="7132320" cy="4297680"/>
          </a:xfrm>
          <a:prstGeom prst="roundRect">
            <a:avLst>
              <a:gd name="adj" fmla="val 1702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65960"/>
            <a:ext cx="65836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Read를 염색체 좌표 순서대로 정렬한다.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Samtools sort 또는 GATK SortSam 사용.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Index(.bai) 생성으로 특정 구간 빠른 조회.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IGV로 BAM을 열려면 index가 반드시 필요.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정렬·인덱싱은 이후 모든 단계의 전제 조건.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818120" y="1737360"/>
            <a:ext cx="3886200" cy="4297680"/>
          </a:xfrm>
          <a:prstGeom prst="roundRect">
            <a:avLst>
              <a:gd name="adj" fmla="val 1882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18120" y="1737360"/>
            <a:ext cx="82296" cy="4297680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12" name="Text 10"/>
          <p:cNvSpPr/>
          <p:nvPr/>
        </p:nvSpPr>
        <p:spPr>
          <a:xfrm>
            <a:off x="8065008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8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핵심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65008" y="2377440"/>
            <a:ext cx="3474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이후 모든 단계의 전제 조건.</a:t>
            </a:r>
            <a:endParaRPr lang="en-US" sz="14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4C8DF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GATK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의료인을 위한 NGS 교육 · Part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③ Duplicate marking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02920" y="1737360"/>
            <a:ext cx="7132320" cy="4297680"/>
          </a:xfrm>
          <a:prstGeom prst="roundRect">
            <a:avLst>
              <a:gd name="adj" fmla="val 1702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65960"/>
            <a:ext cx="65836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PCR·optical duplicate를 표시하는 단계.</a:t>
            </a:r>
            <a:endParaRPr lang="en-US" sz="12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동일 시작·종료 위치의 read pair를 중복으로 판정.</a:t>
            </a:r>
            <a:endParaRPr lang="en-US" sz="12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중복 read는 독립 증거가 아니므로 calling에서 제외.</a:t>
            </a:r>
            <a:endParaRPr lang="en-US" sz="12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표시만 하고 삭제하지 않는 것이 표준(MarkDuplicates).</a:t>
            </a:r>
            <a:endParaRPr lang="en-US" sz="12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Amplicon 검사에서는 중복 제거를 적용하지 않는다.</a:t>
            </a:r>
            <a:endParaRPr lang="en-US" sz="12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UMI 사용 시 consensus로 더 정밀하게 처리.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818120" y="1737360"/>
            <a:ext cx="3886200" cy="4297680"/>
          </a:xfrm>
          <a:prstGeom prst="roundRect">
            <a:avLst>
              <a:gd name="adj" fmla="val 1882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18120" y="1737360"/>
            <a:ext cx="82296" cy="4297680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12" name="Text 10"/>
          <p:cNvSpPr/>
          <p:nvPr/>
        </p:nvSpPr>
        <p:spPr>
          <a:xfrm>
            <a:off x="8065008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8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핵심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65008" y="2377440"/>
            <a:ext cx="3474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중복 read는 '독립 증거'가 아니다.</a:t>
            </a:r>
            <a:endParaRPr lang="en-US" sz="14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4C8DF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GATK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의료인을 위한 NGS 교육 · Part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④ BQSR (Base Quality Score Recalibration)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02920" y="1737360"/>
            <a:ext cx="7132320" cy="4297680"/>
          </a:xfrm>
          <a:prstGeom prst="roundRect">
            <a:avLst>
              <a:gd name="adj" fmla="val 1702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65960"/>
            <a:ext cx="65836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장비가 부여한 base quality의 계통 오차를 보정.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Cycle·염기 종류·서열 문맥에 따른 편향을 학습.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알려진 변이(dbSNP 등) 제외한 불일치를 오류로 간주.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보정된 quality는 variant calling 정확도를 높인다.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표적이 좁은 소형 패널에서는 생략하기도 한다.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818120" y="1737360"/>
            <a:ext cx="3886200" cy="4297680"/>
          </a:xfrm>
          <a:prstGeom prst="roundRect">
            <a:avLst>
              <a:gd name="adj" fmla="val 1882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18120" y="1737360"/>
            <a:ext cx="82296" cy="4297680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12" name="Text 10"/>
          <p:cNvSpPr/>
          <p:nvPr/>
        </p:nvSpPr>
        <p:spPr>
          <a:xfrm>
            <a:off x="8065008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8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핵심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65008" y="2377440"/>
            <a:ext cx="3474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장비 품질값의 계통 편향을 교정.</a:t>
            </a:r>
            <a:endParaRPr lang="en-US" sz="14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4C8DF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GATK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의료인을 위한 NGS 교육 · Part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⑤ HaplotypeCaller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02920" y="1737360"/>
            <a:ext cx="7132320" cy="4297680"/>
          </a:xfrm>
          <a:prstGeom prst="roundRect">
            <a:avLst>
              <a:gd name="adj" fmla="val 1702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65960"/>
            <a:ext cx="65836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GATK의 표준 germline 변이 검출 도구.</a:t>
            </a:r>
            <a:endParaRPr lang="en-US" sz="12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활성 영역(active region)을 찾아 read를 국소 재조립.</a:t>
            </a:r>
            <a:endParaRPr lang="en-US" sz="12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가능한 haplotype을 만들고 read 적합도를 평가.</a:t>
            </a:r>
            <a:endParaRPr lang="en-US" sz="12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이 방식으로 indel 주변 정확도가 크게 향상.</a:t>
            </a:r>
            <a:endParaRPr lang="en-US" sz="12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SNV와 small indel을 동시에 검출.</a:t>
            </a:r>
            <a:endParaRPr lang="en-US" sz="12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출력은 VCF 또는 gVCF 형태.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818120" y="1737360"/>
            <a:ext cx="3886200" cy="4297680"/>
          </a:xfrm>
          <a:prstGeom prst="roundRect">
            <a:avLst>
              <a:gd name="adj" fmla="val 1882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18120" y="1737360"/>
            <a:ext cx="82296" cy="4297680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12" name="Text 10"/>
          <p:cNvSpPr/>
          <p:nvPr/>
        </p:nvSpPr>
        <p:spPr>
          <a:xfrm>
            <a:off x="8065008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8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핵심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65008" y="2377440"/>
            <a:ext cx="3474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국소 재조립으로 indel 정확도↑.</a:t>
            </a:r>
            <a:endParaRPr lang="en-US" sz="14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4C8DF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GATK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의료인을 위한 NGS 교육 · Part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⑥ gVCF와 Joint Genotyping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02920" y="1737360"/>
            <a:ext cx="7132320" cy="4297680"/>
          </a:xfrm>
          <a:prstGeom prst="roundRect">
            <a:avLst>
              <a:gd name="adj" fmla="val 1702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65960"/>
            <a:ext cx="65836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gVCF는 변이 없는 구간의 신뢰도까지 기록.</a:t>
            </a:r>
            <a:endParaRPr lang="en-US" sz="12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여러 검체의 gVCF를 합쳐 함께 유전형 판정.</a:t>
            </a:r>
            <a:endParaRPr lang="en-US" sz="12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GenomicsDBImport → GenotypeGVCFs 순 수행.</a:t>
            </a:r>
            <a:endParaRPr lang="en-US" sz="12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가족 3인(trio) 분석에서 de novo 변이 판정에 유용.</a:t>
            </a:r>
            <a:endParaRPr lang="en-US" sz="12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'검출 안 됨'과 '읽지 못함'을 구분 가능케 함.</a:t>
            </a:r>
            <a:endParaRPr lang="en-US" sz="12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코호트가 커질수록 저빈도 판정이 안정.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818120" y="1737360"/>
            <a:ext cx="3886200" cy="4297680"/>
          </a:xfrm>
          <a:prstGeom prst="roundRect">
            <a:avLst>
              <a:gd name="adj" fmla="val 1882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18120" y="1737360"/>
            <a:ext cx="82296" cy="4297680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12" name="Text 10"/>
          <p:cNvSpPr/>
          <p:nvPr/>
        </p:nvSpPr>
        <p:spPr>
          <a:xfrm>
            <a:off x="8065008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8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핵심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65008" y="2377440"/>
            <a:ext cx="3474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'없음'과 '못 읽음'을 구분해줌.</a:t>
            </a:r>
            <a:endParaRPr lang="en-US" sz="14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4C8DF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GATK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의료인을 위한 NGS 교육 · Part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⑦ Variant Filtering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02920" y="1737360"/>
            <a:ext cx="7132320" cy="4297680"/>
          </a:xfrm>
          <a:prstGeom prst="roundRect">
            <a:avLst>
              <a:gd name="adj" fmla="val 1702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65960"/>
            <a:ext cx="65836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VQSR: 기계학습으로 참·거짓 구분(대규모용).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 filtering: QD, FS, MQ 등 임계값(소규모용).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최근엔 딥러닝 기반 CNNScoreVariants도 사용.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FILTER 컬럼에 PASS 또는 실패 사유 기록.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임상 보고 전 저품질 변이를 걸러내는 필수 단계.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818120" y="1737360"/>
            <a:ext cx="3886200" cy="4297680"/>
          </a:xfrm>
          <a:prstGeom prst="roundRect">
            <a:avLst>
              <a:gd name="adj" fmla="val 1882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18120" y="1737360"/>
            <a:ext cx="82296" cy="4297680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12" name="Text 10"/>
          <p:cNvSpPr/>
          <p:nvPr/>
        </p:nvSpPr>
        <p:spPr>
          <a:xfrm>
            <a:off x="8065008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8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핵심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65008" y="2377440"/>
            <a:ext cx="3474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필터 없이는 위양성이 대량 포함.</a:t>
            </a:r>
            <a:endParaRPr lang="en-US" sz="14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4C8DF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GATK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의료인을 위한 NGS 교육 · Part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Germline vs Somatic 파이프라인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02920" y="1737360"/>
            <a:ext cx="7132320" cy="4297680"/>
          </a:xfrm>
          <a:prstGeom prst="roundRect">
            <a:avLst>
              <a:gd name="adj" fmla="val 1702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65960"/>
            <a:ext cx="65836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Germline: HaplotypeCaller, 유전형(0/1, 1/1) 중심.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Somatic: Mutect2, 변이 분율(VAF) 중심.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Somatic은 정상 대조(matched normal)로 germline 제거.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Panel of Normals로 반복되는 인공 변이를 제거.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종양 순도·이질성이 VAF 해석에 영향.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818120" y="1737360"/>
            <a:ext cx="3886200" cy="4297680"/>
          </a:xfrm>
          <a:prstGeom prst="roundRect">
            <a:avLst>
              <a:gd name="adj" fmla="val 1882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18120" y="1737360"/>
            <a:ext cx="82296" cy="4297680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12" name="Text 10"/>
          <p:cNvSpPr/>
          <p:nvPr/>
        </p:nvSpPr>
        <p:spPr>
          <a:xfrm>
            <a:off x="8065008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8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핵심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65008" y="2377440"/>
            <a:ext cx="3474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목적이 다르면 도구도 다르다(HC vs Mutect2).</a:t>
            </a:r>
            <a:endParaRPr lang="en-US" sz="14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2B24C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2B24C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B2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GATK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의료인을 위한 NGS 교육 · Part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임상 적용 — 파이프라인 버전 관리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21208" y="1170432"/>
            <a:ext cx="1463040" cy="384048"/>
          </a:xfrm>
          <a:prstGeom prst="roundRect">
            <a:avLst>
              <a:gd name="adj" fmla="val 11905"/>
            </a:avLst>
          </a:prstGeom>
          <a:solidFill>
            <a:srgbClr val="2A2213"/>
          </a:solidFill>
          <a:ln w="12700">
            <a:solidFill>
              <a:srgbClr val="F2B2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" y="117043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B2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임상 적용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1783080"/>
            <a:ext cx="7132320" cy="4160520"/>
          </a:xfrm>
          <a:prstGeom prst="roundRect">
            <a:avLst>
              <a:gd name="adj" fmla="val 1758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011680"/>
            <a:ext cx="65836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파이프라인 변경은 검사 결과 변화를 초래할 수 있다.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 build·도구 버전·DB 버전을 기록해야 한다.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검사실 인증(CAP/CLIA 등)의 요구사항.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재분석 시 이전 버전과의 차이를 확인한다.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환자 보고서에는 분석 파이프라인 정보를 명시.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818120" y="1783080"/>
            <a:ext cx="3886200" cy="4160520"/>
          </a:xfrm>
          <a:prstGeom prst="roundRect">
            <a:avLst>
              <a:gd name="adj" fmla="val 1882"/>
            </a:avLst>
          </a:prstGeom>
          <a:solidFill>
            <a:srgbClr val="22190C"/>
          </a:solidFill>
          <a:ln w="12700">
            <a:solidFill>
              <a:srgbClr val="F2B2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65008" y="1965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B2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기억할 점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065008" y="2423160"/>
            <a:ext cx="3474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버전이 바뀌면 결과도 바뀔 수 있다 — 기록 필수.</a:t>
            </a:r>
            <a:endParaRPr lang="en-US" sz="14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34D399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GATK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의료인을 위한 NGS 교육 · Part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Messages — GATK Variant Calling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21208" y="1170432"/>
            <a:ext cx="1737360" cy="384048"/>
          </a:xfrm>
          <a:prstGeom prst="roundRect">
            <a:avLst>
              <a:gd name="adj" fmla="val 11905"/>
            </a:avLst>
          </a:prstGeom>
          <a:solidFill>
            <a:srgbClr val="122A20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" y="117043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Messages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1874520"/>
            <a:ext cx="11201400" cy="738835"/>
          </a:xfrm>
          <a:prstGeom prst="roundRect">
            <a:avLst>
              <a:gd name="adj" fmla="val 9901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874520"/>
            <a:ext cx="73152" cy="738835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" y="2042770"/>
            <a:ext cx="402336" cy="402336"/>
          </a:xfrm>
          <a:prstGeom prst="ellipse">
            <a:avLst/>
          </a:prstGeom>
          <a:solidFill>
            <a:srgbClr val="1B283C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04277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1874520"/>
            <a:ext cx="10241280" cy="7388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전처리(mapping·duplicate·BQSR)가 calling 정확도를 좌우.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2741371"/>
            <a:ext cx="11201400" cy="738835"/>
          </a:xfrm>
          <a:prstGeom prst="roundRect">
            <a:avLst>
              <a:gd name="adj" fmla="val 9901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2741371"/>
            <a:ext cx="73152" cy="738835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7" name="Shape 15"/>
          <p:cNvSpPr/>
          <p:nvPr/>
        </p:nvSpPr>
        <p:spPr>
          <a:xfrm>
            <a:off x="685800" y="2909621"/>
            <a:ext cx="402336" cy="402336"/>
          </a:xfrm>
          <a:prstGeom prst="ellipse">
            <a:avLst/>
          </a:prstGeom>
          <a:solidFill>
            <a:srgbClr val="1B283C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2909621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80160" y="2741371"/>
            <a:ext cx="10241280" cy="7388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HaplotypeCaller는 국소 재조립으로 indel 정확도↑.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" y="3608222"/>
            <a:ext cx="11201400" cy="738835"/>
          </a:xfrm>
          <a:prstGeom prst="roundRect">
            <a:avLst>
              <a:gd name="adj" fmla="val 9901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608222"/>
            <a:ext cx="73152" cy="738835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2" name="Shape 20"/>
          <p:cNvSpPr/>
          <p:nvPr/>
        </p:nvSpPr>
        <p:spPr>
          <a:xfrm>
            <a:off x="685800" y="3776472"/>
            <a:ext cx="402336" cy="402336"/>
          </a:xfrm>
          <a:prstGeom prst="ellipse">
            <a:avLst/>
          </a:prstGeom>
          <a:solidFill>
            <a:srgbClr val="1B283C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7764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80160" y="3608222"/>
            <a:ext cx="10241280" cy="7388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Joint genotyping은 가족·코호트 분석에 필수.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02920" y="4475074"/>
            <a:ext cx="11201400" cy="738835"/>
          </a:xfrm>
          <a:prstGeom prst="roundRect">
            <a:avLst>
              <a:gd name="adj" fmla="val 9901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4475074"/>
            <a:ext cx="73152" cy="738835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7" name="Shape 25"/>
          <p:cNvSpPr/>
          <p:nvPr/>
        </p:nvSpPr>
        <p:spPr>
          <a:xfrm>
            <a:off x="685800" y="4643323"/>
            <a:ext cx="402336" cy="402336"/>
          </a:xfrm>
          <a:prstGeom prst="ellipse">
            <a:avLst/>
          </a:prstGeom>
          <a:solidFill>
            <a:srgbClr val="1B283C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643323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280160" y="4475074"/>
            <a:ext cx="10241280" cy="7388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Filtering 없이는 위양성 변이가 대량 포함.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02920" y="5341925"/>
            <a:ext cx="11201400" cy="738835"/>
          </a:xfrm>
          <a:prstGeom prst="roundRect">
            <a:avLst>
              <a:gd name="adj" fmla="val 9901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" y="5341925"/>
            <a:ext cx="73152" cy="738835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" y="5510174"/>
            <a:ext cx="402336" cy="402336"/>
          </a:xfrm>
          <a:prstGeom prst="ellipse">
            <a:avLst/>
          </a:prstGeom>
          <a:solidFill>
            <a:srgbClr val="1B283C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551017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280160" y="5341925"/>
            <a:ext cx="10241280" cy="7388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Germline과 somatic은 목적과 도구가 다르다.</a:t>
            </a:r>
            <a:endParaRPr lang="en-US" sz="14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E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0116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1248" y="26974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웹 기반 NGS 분석 플랫폼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68680" y="3794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3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Galaxy · Terra · GenePattern · Illumina Connected Software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4C8DF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웹 플랫폼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의료인을 위한 NGS 교육 · Part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학습목표 — 웹 기반 분석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02920" y="1737360"/>
            <a:ext cx="11201400" cy="4297680"/>
          </a:xfrm>
          <a:prstGeom prst="roundRect">
            <a:avLst>
              <a:gd name="adj" fmla="val 1702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20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C8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학습목표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2468880"/>
            <a:ext cx="420624" cy="420624"/>
          </a:xfrm>
          <a:prstGeom prst="ellipse">
            <a:avLst/>
          </a:prstGeom>
          <a:solidFill>
            <a:srgbClr val="1B283C"/>
          </a:solidFill>
          <a:ln w="19050">
            <a:solidFill>
              <a:srgbClr val="4C8D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4688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44144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코드 없이 NGS 분석을 수행하는 플랫폼을 안다.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22960" y="3044952"/>
            <a:ext cx="420624" cy="420624"/>
          </a:xfrm>
          <a:prstGeom prst="ellipse">
            <a:avLst/>
          </a:prstGeom>
          <a:solidFill>
            <a:srgbClr val="1B283C"/>
          </a:solidFill>
          <a:ln w="19050">
            <a:solidFill>
              <a:srgbClr val="4C8D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0449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017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각 플랫폼의 특징과 적합한 용도를 비교한다.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22960" y="3621024"/>
            <a:ext cx="420624" cy="420624"/>
          </a:xfrm>
          <a:prstGeom prst="ellipse">
            <a:avLst/>
          </a:prstGeom>
          <a:solidFill>
            <a:srgbClr val="1B283C"/>
          </a:solidFill>
          <a:ln w="19050">
            <a:solidFill>
              <a:srgbClr val="4C8D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62102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359359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클라우드 분석의 보안·규제 이슈를 이해한다.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822960" y="4197096"/>
            <a:ext cx="420624" cy="420624"/>
          </a:xfrm>
          <a:prstGeom prst="ellipse">
            <a:avLst/>
          </a:prstGeom>
          <a:solidFill>
            <a:srgbClr val="1B283C"/>
          </a:solidFill>
          <a:ln w="19050">
            <a:solidFill>
              <a:srgbClr val="4C8D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19709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17320" y="4169664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임상 검사실 도입 시 고려사항을 설명한다.</a:t>
            </a:r>
            <a:endParaRPr lang="en-US" sz="14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4C8DF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웹 플랫폼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의료인을 위한 NGS 교육 · Part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웹 기반 분석이 필요한 이유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02920" y="1737360"/>
            <a:ext cx="7132320" cy="4297680"/>
          </a:xfrm>
          <a:prstGeom prst="roundRect">
            <a:avLst>
              <a:gd name="adj" fmla="val 1702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65960"/>
            <a:ext cx="65836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고성능 서버·리눅스 환경 구축 부담을 줄인다.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표준 workflow를 클릭 기반으로 재현할 수 있다.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분석 이력이 자동 기록되어 재현성 확보.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연구자·임상의 간 협업·데이터 공유가 쉽다.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다만 데이터 전송·개인정보 보호 검토가 필요.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818120" y="1737360"/>
            <a:ext cx="3886200" cy="4297680"/>
          </a:xfrm>
          <a:prstGeom prst="roundRect">
            <a:avLst>
              <a:gd name="adj" fmla="val 1882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18120" y="1737360"/>
            <a:ext cx="82296" cy="4297680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12" name="Text 10"/>
          <p:cNvSpPr/>
          <p:nvPr/>
        </p:nvSpPr>
        <p:spPr>
          <a:xfrm>
            <a:off x="8065008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8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핵심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65008" y="2377440"/>
            <a:ext cx="3474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편의성 ↔ 개인정보·규제 검토의 균형.</a:t>
            </a:r>
            <a:endParaRPr lang="en-US" sz="14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4C8DF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웹 플랫폼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의료인을 위한 NGS 교육 · Part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Galaxy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02920" y="1737360"/>
            <a:ext cx="7132320" cy="4297680"/>
          </a:xfrm>
          <a:prstGeom prst="roundRect">
            <a:avLst>
              <a:gd name="adj" fmla="val 1702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65960"/>
            <a:ext cx="65836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오픈소스 웹 기반 생물정보학 플랫폼.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도구를 끌어놓아 workflow를 구성한다.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교육용으로 널리 사용, 무료 공용 서버 제공.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FASTQ QC부터 variant calling까지 수행 가능.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대용량 임상 데이터엔 자체 서버 구축이 유리.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818120" y="1737360"/>
            <a:ext cx="3886200" cy="4297680"/>
          </a:xfrm>
          <a:prstGeom prst="roundRect">
            <a:avLst>
              <a:gd name="adj" fmla="val 1882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18120" y="1737360"/>
            <a:ext cx="82296" cy="4297680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12" name="Text 10"/>
          <p:cNvSpPr/>
          <p:nvPr/>
        </p:nvSpPr>
        <p:spPr>
          <a:xfrm>
            <a:off x="8065008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8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핵심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65008" y="2377440"/>
            <a:ext cx="3474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교육·연구용 오픈소스, GUI workflow.</a:t>
            </a:r>
            <a:endParaRPr lang="en-US" sz="14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4C8DF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웹 플랫폼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의료인을 위한 NGS 교육 · Part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Terra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02920" y="1737360"/>
            <a:ext cx="7132320" cy="4297680"/>
          </a:xfrm>
          <a:prstGeom prst="roundRect">
            <a:avLst>
              <a:gd name="adj" fmla="val 1702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65960"/>
            <a:ext cx="65836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Broad Institute 기반 클라우드 분석 플랫폼.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GATK Best Practices workflow가 기본 제공.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WDL 언어로 작성된 workflow를 실행.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대규모 코호트 분석·데이터 공유에 강점.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사용량 기반 클라우드 비용이 발생.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818120" y="1737360"/>
            <a:ext cx="3886200" cy="4297680"/>
          </a:xfrm>
          <a:prstGeom prst="roundRect">
            <a:avLst>
              <a:gd name="adj" fmla="val 1882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18120" y="1737360"/>
            <a:ext cx="82296" cy="4297680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12" name="Text 10"/>
          <p:cNvSpPr/>
          <p:nvPr/>
        </p:nvSpPr>
        <p:spPr>
          <a:xfrm>
            <a:off x="8065008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8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핵심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65008" y="2377440"/>
            <a:ext cx="3474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대규모 코호트 + GATK 통합.</a:t>
            </a:r>
            <a:endParaRPr lang="en-US" sz="14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4C8DF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웹 플랫폼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의료인을 위한 NGS 교육 · Part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GenePattern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02920" y="1737360"/>
            <a:ext cx="7132320" cy="4297680"/>
          </a:xfrm>
          <a:prstGeom prst="roundRect">
            <a:avLst>
              <a:gd name="adj" fmla="val 1702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65960"/>
            <a:ext cx="65836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분석 모듈을 조합하는 웹 기반 분석 환경.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유전체·전사체·후성유전체 분석 모듈 제공.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GenePattern Notebook으로 문서와 분석을 결합.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연구·교육 목적 활용도가 높다.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818120" y="1737360"/>
            <a:ext cx="3886200" cy="4297680"/>
          </a:xfrm>
          <a:prstGeom prst="roundRect">
            <a:avLst>
              <a:gd name="adj" fmla="val 1882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18120" y="1737360"/>
            <a:ext cx="82296" cy="4297680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12" name="Text 10"/>
          <p:cNvSpPr/>
          <p:nvPr/>
        </p:nvSpPr>
        <p:spPr>
          <a:xfrm>
            <a:off x="8065008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8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핵심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65008" y="2377440"/>
            <a:ext cx="3474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모듈형 + notebook 결합.</a:t>
            </a:r>
            <a:endParaRPr lang="en-US" sz="14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4C8DF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웹 플랫폼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의료인을 위한 NGS 교육 · Part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Illumina Connected Software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02920" y="1737360"/>
            <a:ext cx="7132320" cy="4297680"/>
          </a:xfrm>
          <a:prstGeom prst="roundRect">
            <a:avLst>
              <a:gd name="adj" fmla="val 1702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65960"/>
            <a:ext cx="65836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Illumina의 통합 클라우드 분석 생태계.</a:t>
            </a:r>
            <a:endParaRPr lang="en-US" sz="12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DRAGEN: FPGA 기반 초고속 정렬·변이 검출 엔진.</a:t>
            </a:r>
            <a:endParaRPr lang="en-US" sz="12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BaseSpace/ICA: 데이터 관리·workflow 실행.</a:t>
            </a:r>
            <a:endParaRPr lang="en-US" sz="12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Connected Insights: 변이 해석·보고서 작성 지원.</a:t>
            </a:r>
            <a:endParaRPr lang="en-US" sz="12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장비-분석-해석 연결로 임상 도입이 용이.</a:t>
            </a:r>
            <a:endParaRPr lang="en-US" sz="12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폐쇄형 생태계라 도구 선택 자유도는 제한적.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818120" y="1737360"/>
            <a:ext cx="3886200" cy="4297680"/>
          </a:xfrm>
          <a:prstGeom prst="roundRect">
            <a:avLst>
              <a:gd name="adj" fmla="val 1882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18120" y="1737360"/>
            <a:ext cx="82296" cy="4297680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12" name="Text 10"/>
          <p:cNvSpPr/>
          <p:nvPr/>
        </p:nvSpPr>
        <p:spPr>
          <a:xfrm>
            <a:off x="8065008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8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핵심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65008" y="2377440"/>
            <a:ext cx="3474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임상 도입 용이하나 폐쇄형 생태계.</a:t>
            </a:r>
            <a:endParaRPr lang="en-US" sz="14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4C8DF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웹 플랫폼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의료인을 위한 NGS 교육 · Part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플랫폼 비교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02920" y="1691640"/>
            <a:ext cx="11201400" cy="1051560"/>
          </a:xfrm>
          <a:prstGeom prst="roundRect">
            <a:avLst>
              <a:gd name="adj" fmla="val 6957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828800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교육·탐색엔 Galaxy, 대규모 연구엔 Terra.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임상 운영엔 검증된 상용 파이프라인이 유리.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158088" y="3063240"/>
            <a:ext cx="3108960" cy="457200"/>
          </a:xfrm>
          <a:prstGeom prst="rect">
            <a:avLst/>
          </a:prstGeom>
          <a:solidFill>
            <a:srgbClr val="4C8DFF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67816" y="3063240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810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플랫폼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267048" y="3063240"/>
            <a:ext cx="4023360" cy="457200"/>
          </a:xfrm>
          <a:prstGeom prst="rect">
            <a:avLst/>
          </a:prstGeom>
          <a:solidFill>
            <a:srgbClr val="4C8DFF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76776" y="3063240"/>
            <a:ext cx="38039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810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특징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90408" y="3063240"/>
            <a:ext cx="2743200" cy="457200"/>
          </a:xfrm>
          <a:prstGeom prst="rect">
            <a:avLst/>
          </a:prstGeom>
          <a:solidFill>
            <a:srgbClr val="4C8DFF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00136" y="3063240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810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주 용도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158088" y="3520440"/>
            <a:ext cx="3108960" cy="502920"/>
          </a:xfrm>
          <a:prstGeom prst="rect">
            <a:avLst/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67816" y="3520440"/>
            <a:ext cx="2889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Galaxy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267048" y="3520440"/>
            <a:ext cx="4023360" cy="502920"/>
          </a:xfrm>
          <a:prstGeom prst="rect">
            <a:avLst/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76776" y="3520440"/>
            <a:ext cx="3803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오픈소스, GUI workflow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290408" y="3520440"/>
            <a:ext cx="2743200" cy="502920"/>
          </a:xfrm>
          <a:prstGeom prst="rect">
            <a:avLst/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00136" y="3520440"/>
            <a:ext cx="2523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교육, 연구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158088" y="4023360"/>
            <a:ext cx="3108960" cy="502920"/>
          </a:xfrm>
          <a:prstGeom prst="rect">
            <a:avLst/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67816" y="4023360"/>
            <a:ext cx="2889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Terra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267048" y="4023360"/>
            <a:ext cx="4023360" cy="502920"/>
          </a:xfrm>
          <a:prstGeom prst="rect">
            <a:avLst/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76776" y="4023360"/>
            <a:ext cx="3803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클라우드, GATK 통합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290408" y="4023360"/>
            <a:ext cx="2743200" cy="502920"/>
          </a:xfrm>
          <a:prstGeom prst="rect">
            <a:avLst/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00136" y="4023360"/>
            <a:ext cx="2523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대규모 코호트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1158088" y="4526280"/>
            <a:ext cx="3108960" cy="502920"/>
          </a:xfrm>
          <a:prstGeom prst="rect">
            <a:avLst/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67816" y="4526280"/>
            <a:ext cx="2889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GenePattern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267048" y="4526280"/>
            <a:ext cx="4023360" cy="502920"/>
          </a:xfrm>
          <a:prstGeom prst="rect">
            <a:avLst/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76776" y="4526280"/>
            <a:ext cx="3803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모듈형, notebook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290408" y="4526280"/>
            <a:ext cx="2743200" cy="502920"/>
          </a:xfrm>
          <a:prstGeom prst="rect">
            <a:avLst/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00136" y="4526280"/>
            <a:ext cx="2523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연구, 교육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158088" y="5029200"/>
            <a:ext cx="3108960" cy="502920"/>
          </a:xfrm>
          <a:prstGeom prst="rect">
            <a:avLst/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267816" y="5029200"/>
            <a:ext cx="2889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Illumina ICA/DRAGEN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267048" y="5029200"/>
            <a:ext cx="4023360" cy="502920"/>
          </a:xfrm>
          <a:prstGeom prst="rect">
            <a:avLst/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76776" y="5029200"/>
            <a:ext cx="3803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고속, 상용 검증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8290408" y="5029200"/>
            <a:ext cx="2743200" cy="502920"/>
          </a:xfrm>
          <a:prstGeom prst="rect">
            <a:avLst/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00136" y="5029200"/>
            <a:ext cx="2523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임상 검사실</a:t>
            </a:r>
            <a:endParaRPr lang="en-US" sz="11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2B24C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2B24C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B2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웹 플랫폼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의료인을 위한 NGS 교육 · Part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임상 적용 — 클라우드 사용 시 고려사항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21208" y="1170432"/>
            <a:ext cx="1463040" cy="384048"/>
          </a:xfrm>
          <a:prstGeom prst="roundRect">
            <a:avLst>
              <a:gd name="adj" fmla="val 11905"/>
            </a:avLst>
          </a:prstGeom>
          <a:solidFill>
            <a:srgbClr val="2A2213"/>
          </a:solidFill>
          <a:ln w="12700">
            <a:solidFill>
              <a:srgbClr val="F2B2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" y="117043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B2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임상 적용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1783080"/>
            <a:ext cx="7132320" cy="4160520"/>
          </a:xfrm>
          <a:prstGeom prst="roundRect">
            <a:avLst>
              <a:gd name="adj" fmla="val 1758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011680"/>
            <a:ext cx="65836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유전정보는 민감정보로 별도 동의·보호가 필요.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국내 개인정보보호법·생명윤리법 준수 여부 확인.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데이터 국외 이전 시 기관 IRB·법무 검토 필요.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가명처리·접근 권한 관리 체계를 갖춘다.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분석 도구의 임상 검증(validation) 여부를 확인.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818120" y="1783080"/>
            <a:ext cx="3886200" cy="4160520"/>
          </a:xfrm>
          <a:prstGeom prst="roundRect">
            <a:avLst>
              <a:gd name="adj" fmla="val 1882"/>
            </a:avLst>
          </a:prstGeom>
          <a:solidFill>
            <a:srgbClr val="22190C"/>
          </a:solidFill>
          <a:ln w="12700">
            <a:solidFill>
              <a:srgbClr val="F2B2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65008" y="1965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B2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기억할 점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065008" y="2423160"/>
            <a:ext cx="3474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편리함보다 규제·개인정보 검토가 선행.</a:t>
            </a:r>
            <a:endParaRPr lang="en-US" sz="14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34D399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웹 플랫폼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의료인을 위한 NGS 교육 · Part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Messages — 웹 기반 분석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21208" y="1170432"/>
            <a:ext cx="1737360" cy="384048"/>
          </a:xfrm>
          <a:prstGeom prst="roundRect">
            <a:avLst>
              <a:gd name="adj" fmla="val 11905"/>
            </a:avLst>
          </a:prstGeom>
          <a:solidFill>
            <a:srgbClr val="122A20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" y="117043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Messages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1874520"/>
            <a:ext cx="11201400" cy="955548"/>
          </a:xfrm>
          <a:prstGeom prst="roundRect">
            <a:avLst>
              <a:gd name="adj" fmla="val 7656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874520"/>
            <a:ext cx="73152" cy="95554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" y="2151126"/>
            <a:ext cx="402336" cy="402336"/>
          </a:xfrm>
          <a:prstGeom prst="ellipse">
            <a:avLst/>
          </a:prstGeom>
          <a:solidFill>
            <a:srgbClr val="1B283C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15112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1874520"/>
            <a:ext cx="10241280" cy="9555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웹 플랫폼은 코드 없이 표준 분석을 재현 가능케 함.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2958084"/>
            <a:ext cx="11201400" cy="955548"/>
          </a:xfrm>
          <a:prstGeom prst="roundRect">
            <a:avLst>
              <a:gd name="adj" fmla="val 7656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2958084"/>
            <a:ext cx="73152" cy="95554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7" name="Shape 15"/>
          <p:cNvSpPr/>
          <p:nvPr/>
        </p:nvSpPr>
        <p:spPr>
          <a:xfrm>
            <a:off x="685800" y="3234690"/>
            <a:ext cx="402336" cy="402336"/>
          </a:xfrm>
          <a:prstGeom prst="ellipse">
            <a:avLst/>
          </a:prstGeom>
          <a:solidFill>
            <a:srgbClr val="1B283C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23469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80160" y="2958084"/>
            <a:ext cx="10241280" cy="9555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Galaxy는 교육, Terra는 대규모 연구, ICA는 임상에 적합.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" y="4041648"/>
            <a:ext cx="11201400" cy="955548"/>
          </a:xfrm>
          <a:prstGeom prst="roundRect">
            <a:avLst>
              <a:gd name="adj" fmla="val 7656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4041648"/>
            <a:ext cx="73152" cy="95554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2" name="Shape 20"/>
          <p:cNvSpPr/>
          <p:nvPr/>
        </p:nvSpPr>
        <p:spPr>
          <a:xfrm>
            <a:off x="685800" y="4318254"/>
            <a:ext cx="402336" cy="402336"/>
          </a:xfrm>
          <a:prstGeom prst="ellipse">
            <a:avLst/>
          </a:prstGeom>
          <a:solidFill>
            <a:srgbClr val="1B283C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31825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80160" y="4041648"/>
            <a:ext cx="10241280" cy="9555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DRAGEN 등 가속 엔진은 분석 시간을 크게 단축.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02920" y="5125212"/>
            <a:ext cx="11201400" cy="955548"/>
          </a:xfrm>
          <a:prstGeom prst="roundRect">
            <a:avLst>
              <a:gd name="adj" fmla="val 7656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5125212"/>
            <a:ext cx="73152" cy="95554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7" name="Shape 25"/>
          <p:cNvSpPr/>
          <p:nvPr/>
        </p:nvSpPr>
        <p:spPr>
          <a:xfrm>
            <a:off x="685800" y="5401818"/>
            <a:ext cx="402336" cy="402336"/>
          </a:xfrm>
          <a:prstGeom prst="ellipse">
            <a:avLst/>
          </a:prstGeom>
          <a:solidFill>
            <a:srgbClr val="1B283C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540181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280160" y="5125212"/>
            <a:ext cx="10241280" cy="9555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클라우드 사용 시 개인정보·규제 검토가 선행되어야 함.</a:t>
            </a:r>
            <a:endParaRPr lang="en-US" sz="14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E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0116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1248" y="26974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Minimap2 기반 분석 Workflow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68680" y="3794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3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Long-read 시대의 정렬 도구와 BWA와의 차이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56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34D399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· Minimap2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의료인을 위한 NGS 교육 · Part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학습목표 — Minimap2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02920" y="1737360"/>
            <a:ext cx="11201400" cy="4297680"/>
          </a:xfrm>
          <a:prstGeom prst="roundRect">
            <a:avLst>
              <a:gd name="adj" fmla="val 1702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20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학습목표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2468880"/>
            <a:ext cx="420624" cy="420624"/>
          </a:xfrm>
          <a:prstGeom prst="ellipse">
            <a:avLst/>
          </a:prstGeom>
          <a:solidFill>
            <a:srgbClr val="1B283C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4688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44144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Minimap2의 설계 목적과 적용 범위를 이해한다.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22960" y="3044952"/>
            <a:ext cx="420624" cy="420624"/>
          </a:xfrm>
          <a:prstGeom prst="ellipse">
            <a:avLst/>
          </a:prstGeom>
          <a:solidFill>
            <a:srgbClr val="1B283C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0449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017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BWA와의 알고리즘적·실용적 차이를 설명한다.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22960" y="3621024"/>
            <a:ext cx="420624" cy="420624"/>
          </a:xfrm>
          <a:prstGeom prst="ellipse">
            <a:avLst/>
          </a:prstGeom>
          <a:solidFill>
            <a:srgbClr val="1B283C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62102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359359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Long-read 분석 workflow에서의 위치를 파악한다.</a:t>
            </a:r>
            <a:endParaRPr lang="en-US" sz="14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34D399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· Minimap2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의료인을 위한 NGS 교육 · Part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Minimap2 개요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02920" y="1737360"/>
            <a:ext cx="7132320" cy="4297680"/>
          </a:xfrm>
          <a:prstGeom prst="roundRect">
            <a:avLst>
              <a:gd name="adj" fmla="val 1702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65960"/>
            <a:ext cx="65836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길고 오류율 높은 read를 빠르게 정렬하는 도구.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PacBio·Oxford Nanopore read 정렬의 사실상 표준.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Short-read·mRNA·genome-to-genome 정렬도 지원.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Minimizer 기반 인덱싱으로 매우 빠르게 후보 탐색.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Spliced alignment 모드로 RNA read 정렬 가능.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818120" y="1737360"/>
            <a:ext cx="3886200" cy="4297680"/>
          </a:xfrm>
          <a:prstGeom prst="roundRect">
            <a:avLst>
              <a:gd name="adj" fmla="val 1882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18120" y="1737360"/>
            <a:ext cx="82296" cy="429768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2" name="Text 10"/>
          <p:cNvSpPr/>
          <p:nvPr/>
        </p:nvSpPr>
        <p:spPr>
          <a:xfrm>
            <a:off x="8065008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핵심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65008" y="2377440"/>
            <a:ext cx="3474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Long-read 정렬의 표준. splice-aware.</a:t>
            </a:r>
            <a:endParaRPr lang="en-US" sz="14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34D399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· Minimap2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의료인을 위한 NGS 교육 · Part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Minimap2와 BWA의 차이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02920" y="1691640"/>
            <a:ext cx="11201400" cy="1051560"/>
          </a:xfrm>
          <a:prstGeom prst="roundRect">
            <a:avLst>
              <a:gd name="adj" fmla="val 6957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828800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BWA는 짧고 정확한 read, Minimap2는 길고 오류 있는 read용.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짧은 read만 다룬다면 BWA-MEM이 여전히 표준.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615288" y="3063240"/>
            <a:ext cx="2560320" cy="457200"/>
          </a:xfrm>
          <a:prstGeom prst="rect">
            <a:avLst/>
          </a:prstGeom>
          <a:solidFill>
            <a:srgbClr val="34D399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25016" y="3063240"/>
            <a:ext cx="23408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810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항목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175608" y="3063240"/>
            <a:ext cx="3108960" cy="457200"/>
          </a:xfrm>
          <a:prstGeom prst="rect">
            <a:avLst/>
          </a:prstGeom>
          <a:solidFill>
            <a:srgbClr val="34D399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85336" y="3063240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810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BWA-MEM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284568" y="3063240"/>
            <a:ext cx="3291840" cy="457200"/>
          </a:xfrm>
          <a:prstGeom prst="rect">
            <a:avLst/>
          </a:prstGeom>
          <a:solidFill>
            <a:srgbClr val="34D399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94296" y="3063240"/>
            <a:ext cx="3072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810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Minimap2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615288" y="3520440"/>
            <a:ext cx="2560320" cy="502920"/>
          </a:xfrm>
          <a:prstGeom prst="rect">
            <a:avLst/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25016" y="3520440"/>
            <a:ext cx="23408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대상 read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175608" y="3520440"/>
            <a:ext cx="3108960" cy="502920"/>
          </a:xfrm>
          <a:prstGeom prst="rect">
            <a:avLst/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85336" y="3520440"/>
            <a:ext cx="2889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50~300 bp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284568" y="3520440"/>
            <a:ext cx="3291840" cy="502920"/>
          </a:xfrm>
          <a:prstGeom prst="rect">
            <a:avLst/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94296" y="3520440"/>
            <a:ext cx="30723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kb ~ 수백 kb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615288" y="4023360"/>
            <a:ext cx="2560320" cy="502920"/>
          </a:xfrm>
          <a:prstGeom prst="rect">
            <a:avLst/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25016" y="4023360"/>
            <a:ext cx="23408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허용 오류율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175608" y="4023360"/>
            <a:ext cx="3108960" cy="502920"/>
          </a:xfrm>
          <a:prstGeom prst="rect">
            <a:avLst/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85336" y="4023360"/>
            <a:ext cx="2889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낮음(&lt;2%)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284568" y="4023360"/>
            <a:ext cx="3291840" cy="502920"/>
          </a:xfrm>
          <a:prstGeom prst="rect">
            <a:avLst/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94296" y="4023360"/>
            <a:ext cx="30723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높음(5~15%)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1615288" y="4526280"/>
            <a:ext cx="2560320" cy="502920"/>
          </a:xfrm>
          <a:prstGeom prst="rect">
            <a:avLst/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725016" y="4526280"/>
            <a:ext cx="23408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Splice 정렬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175608" y="4526280"/>
            <a:ext cx="3108960" cy="502920"/>
          </a:xfrm>
          <a:prstGeom prst="rect">
            <a:avLst/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85336" y="4526280"/>
            <a:ext cx="2889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미지원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284568" y="4526280"/>
            <a:ext cx="3291840" cy="502920"/>
          </a:xfrm>
          <a:prstGeom prst="rect">
            <a:avLst/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94296" y="4526280"/>
            <a:ext cx="30723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지원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615288" y="5029200"/>
            <a:ext cx="2560320" cy="502920"/>
          </a:xfrm>
          <a:prstGeom prst="rect">
            <a:avLst/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725016" y="5029200"/>
            <a:ext cx="23408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속도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175608" y="5029200"/>
            <a:ext cx="3108960" cy="502920"/>
          </a:xfrm>
          <a:prstGeom prst="rect">
            <a:avLst/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85336" y="5029200"/>
            <a:ext cx="2889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보통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7284568" y="5029200"/>
            <a:ext cx="3291840" cy="502920"/>
          </a:xfrm>
          <a:prstGeom prst="rect">
            <a:avLst/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94296" y="5029200"/>
            <a:ext cx="30723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매우 빠름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1615288" y="5532120"/>
            <a:ext cx="2560320" cy="502920"/>
          </a:xfrm>
          <a:prstGeom prst="rect">
            <a:avLst/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725016" y="5532120"/>
            <a:ext cx="23408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주 용도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4175608" y="5532120"/>
            <a:ext cx="3108960" cy="502920"/>
          </a:xfrm>
          <a:prstGeom prst="rect">
            <a:avLst/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285336" y="5532120"/>
            <a:ext cx="2889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Illumina DNA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7284568" y="5532120"/>
            <a:ext cx="3291840" cy="502920"/>
          </a:xfrm>
          <a:prstGeom prst="rect">
            <a:avLst/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94296" y="5532120"/>
            <a:ext cx="30723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PacBio/ONT DNA·RNA</a:t>
            </a:r>
            <a:endParaRPr lang="en-US" sz="11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34D399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· Minimap2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의료인을 위한 NGS 교육 · Part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Minimap2 기반 분석 workflow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521208" y="1152144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3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Long-read 특화 도구들의 조합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874520"/>
            <a:ext cx="1760220" cy="868680"/>
          </a:xfrm>
          <a:prstGeom prst="roundRect">
            <a:avLst>
              <a:gd name="adj" fmla="val 8421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874520"/>
            <a:ext cx="18150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Base-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calling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244852" y="1874520"/>
            <a:ext cx="1645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391156" y="1874520"/>
            <a:ext cx="1760220" cy="868680"/>
          </a:xfrm>
          <a:prstGeom prst="roundRect">
            <a:avLst>
              <a:gd name="adj" fmla="val 8421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63724" y="1874520"/>
            <a:ext cx="18150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QC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133088" y="1874520"/>
            <a:ext cx="1645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279392" y="1874520"/>
            <a:ext cx="1760220" cy="868680"/>
          </a:xfrm>
          <a:prstGeom prst="roundRect">
            <a:avLst>
              <a:gd name="adj" fmla="val 8421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51960" y="1874520"/>
            <a:ext cx="18150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Alignment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021324" y="1874520"/>
            <a:ext cx="1645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67628" y="1874520"/>
            <a:ext cx="1760220" cy="868680"/>
          </a:xfrm>
          <a:prstGeom prst="roundRect">
            <a:avLst>
              <a:gd name="adj" fmla="val 8421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40196" y="1874520"/>
            <a:ext cx="18150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Variant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calling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909560" y="1874520"/>
            <a:ext cx="1645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055864" y="1874520"/>
            <a:ext cx="1760220" cy="868680"/>
          </a:xfrm>
          <a:prstGeom prst="roundRect">
            <a:avLst>
              <a:gd name="adj" fmla="val 8421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28432" y="1874520"/>
            <a:ext cx="18150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SV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calling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797796" y="1874520"/>
            <a:ext cx="1645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944100" y="1874520"/>
            <a:ext cx="1760220" cy="868680"/>
          </a:xfrm>
          <a:prstGeom prst="roundRect">
            <a:avLst>
              <a:gd name="adj" fmla="val 8421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16668" y="1874520"/>
            <a:ext cx="18150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Phasing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·methyl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02920" y="3063240"/>
            <a:ext cx="11201400" cy="2926080"/>
          </a:xfrm>
          <a:prstGeom prst="roundRect">
            <a:avLst>
              <a:gd name="adj" fmla="val 2500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3291840"/>
            <a:ext cx="106527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① Basecalling: 신호 → FASTQ (ONT은 Dorado)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② QC: read 길이 분포·품질 확인 (NanoPlot)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③ Alignment: minimap2로 reference에 정렬 → BAM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④ Variant calling: SNV/indel은 DeepVariant, Clair3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⑤ SV calling: Sniffles2, cuteSV 등 별도 도구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⑥ Phasing 및 methylation 분석 추가 가능</a:t>
            </a:r>
            <a:endParaRPr lang="en-US" sz="13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2B24C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2B24C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B2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· Minimap2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의료인을 위한 NGS 교육 · Part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임상 적용 — 언제 long-read 정렬이 필요한가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21208" y="1170432"/>
            <a:ext cx="1463040" cy="384048"/>
          </a:xfrm>
          <a:prstGeom prst="roundRect">
            <a:avLst>
              <a:gd name="adj" fmla="val 11905"/>
            </a:avLst>
          </a:prstGeom>
          <a:solidFill>
            <a:srgbClr val="2A2213"/>
          </a:solidFill>
          <a:ln w="12700">
            <a:solidFill>
              <a:srgbClr val="F2B2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" y="117043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B2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임상 적용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1783080"/>
            <a:ext cx="7132320" cy="4160520"/>
          </a:xfrm>
          <a:prstGeom prst="roundRect">
            <a:avLst>
              <a:gd name="adj" fmla="val 1758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011680"/>
            <a:ext cx="65836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Short-read로 해결되지 않는 구조변이가 의심될 때.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반복서열 확장 질환(repeat expansion)이 의심될 때.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정확한 haplotype phasing이 필요할 때.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복잡한 유전자좌(HLA, CYP2D6, SMN1/2) 분석 시.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융합 전사체의 전장 구조 확인이 필요할 때.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818120" y="1783080"/>
            <a:ext cx="3886200" cy="4160520"/>
          </a:xfrm>
          <a:prstGeom prst="roundRect">
            <a:avLst>
              <a:gd name="adj" fmla="val 1882"/>
            </a:avLst>
          </a:prstGeom>
          <a:solidFill>
            <a:srgbClr val="22190C"/>
          </a:solidFill>
          <a:ln w="12700">
            <a:solidFill>
              <a:srgbClr val="F2B2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65008" y="1965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B2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기억할 점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065008" y="2423160"/>
            <a:ext cx="3474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구조변이·반복확장·phasing·복잡 유전자좌 → long-read.</a:t>
            </a:r>
            <a:endParaRPr lang="en-US" sz="145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34D399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· Minimap2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의료인을 위한 NGS 교육 · Part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Messages — Minimap2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21208" y="1170432"/>
            <a:ext cx="1737360" cy="384048"/>
          </a:xfrm>
          <a:prstGeom prst="roundRect">
            <a:avLst>
              <a:gd name="adj" fmla="val 11905"/>
            </a:avLst>
          </a:prstGeom>
          <a:solidFill>
            <a:srgbClr val="122A20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" y="117043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Messages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1874520"/>
            <a:ext cx="11201400" cy="955548"/>
          </a:xfrm>
          <a:prstGeom prst="roundRect">
            <a:avLst>
              <a:gd name="adj" fmla="val 7656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874520"/>
            <a:ext cx="73152" cy="95554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" y="2151126"/>
            <a:ext cx="402336" cy="402336"/>
          </a:xfrm>
          <a:prstGeom prst="ellipse">
            <a:avLst/>
          </a:prstGeom>
          <a:solidFill>
            <a:srgbClr val="1B283C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15112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1874520"/>
            <a:ext cx="10241280" cy="9555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Minimap2는 long-read 정렬의 표준 도구.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2958084"/>
            <a:ext cx="11201400" cy="955548"/>
          </a:xfrm>
          <a:prstGeom prst="roundRect">
            <a:avLst>
              <a:gd name="adj" fmla="val 7656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2958084"/>
            <a:ext cx="73152" cy="95554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7" name="Shape 15"/>
          <p:cNvSpPr/>
          <p:nvPr/>
        </p:nvSpPr>
        <p:spPr>
          <a:xfrm>
            <a:off x="685800" y="3234690"/>
            <a:ext cx="402336" cy="402336"/>
          </a:xfrm>
          <a:prstGeom prst="ellipse">
            <a:avLst/>
          </a:prstGeom>
          <a:solidFill>
            <a:srgbClr val="1B283C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23469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80160" y="2958084"/>
            <a:ext cx="10241280" cy="9555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Minimizer + chaining으로 빠르고 오류에 강하다.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" y="4041648"/>
            <a:ext cx="11201400" cy="955548"/>
          </a:xfrm>
          <a:prstGeom prst="roundRect">
            <a:avLst>
              <a:gd name="adj" fmla="val 7656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4041648"/>
            <a:ext cx="73152" cy="95554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2" name="Shape 20"/>
          <p:cNvSpPr/>
          <p:nvPr/>
        </p:nvSpPr>
        <p:spPr>
          <a:xfrm>
            <a:off x="685800" y="4318254"/>
            <a:ext cx="402336" cy="402336"/>
          </a:xfrm>
          <a:prstGeom prst="ellipse">
            <a:avLst/>
          </a:prstGeom>
          <a:solidFill>
            <a:srgbClr val="1B283C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31825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80160" y="4041648"/>
            <a:ext cx="10241280" cy="9555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Splice-aware 정렬로 RNA 분석에도 사용.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02920" y="5125212"/>
            <a:ext cx="11201400" cy="955548"/>
          </a:xfrm>
          <a:prstGeom prst="roundRect">
            <a:avLst>
              <a:gd name="adj" fmla="val 7656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5125212"/>
            <a:ext cx="73152" cy="95554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7" name="Shape 25"/>
          <p:cNvSpPr/>
          <p:nvPr/>
        </p:nvSpPr>
        <p:spPr>
          <a:xfrm>
            <a:off x="685800" y="5401818"/>
            <a:ext cx="402336" cy="402336"/>
          </a:xfrm>
          <a:prstGeom prst="ellipse">
            <a:avLst/>
          </a:prstGeom>
          <a:solidFill>
            <a:srgbClr val="1B283C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540181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280160" y="5125212"/>
            <a:ext cx="10241280" cy="9555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Short-read 정렬은 여전히 BWA-MEM이 표준.</a:t>
            </a:r>
            <a:endParaRPr lang="en-US" sz="14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0E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0116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1248" y="26974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VCF 파일의 이해와 판독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68680" y="3794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3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임상의가 직접 읽는 변이 데이터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63</a:t>
            </a:r>
            <a:endParaRPr lang="en-US" sz="9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4C8DF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· VCF 판독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의료인을 위한 NGS 교육 · Part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학습목표 — VCF 판독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02920" y="1737360"/>
            <a:ext cx="11201400" cy="4297680"/>
          </a:xfrm>
          <a:prstGeom prst="roundRect">
            <a:avLst>
              <a:gd name="adj" fmla="val 1702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20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C8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학습목표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2468880"/>
            <a:ext cx="420624" cy="420624"/>
          </a:xfrm>
          <a:prstGeom prst="ellipse">
            <a:avLst/>
          </a:prstGeom>
          <a:solidFill>
            <a:srgbClr val="1B283C"/>
          </a:solidFill>
          <a:ln w="19050">
            <a:solidFill>
              <a:srgbClr val="4C8D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4688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44144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VCF의 구조와 8개 고정 필드를 설명할 수 있다.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22960" y="3044952"/>
            <a:ext cx="420624" cy="420624"/>
          </a:xfrm>
          <a:prstGeom prst="ellipse">
            <a:avLst/>
          </a:prstGeom>
          <a:solidFill>
            <a:srgbClr val="1B283C"/>
          </a:solidFill>
          <a:ln w="19050">
            <a:solidFill>
              <a:srgbClr val="4C8D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0449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017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INFO와 FORMAT 필드의 차이를 이해한다.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22960" y="3621024"/>
            <a:ext cx="420624" cy="420624"/>
          </a:xfrm>
          <a:prstGeom prst="ellipse">
            <a:avLst/>
          </a:prstGeom>
          <a:solidFill>
            <a:srgbClr val="1B283C"/>
          </a:solidFill>
          <a:ln w="19050">
            <a:solidFill>
              <a:srgbClr val="4C8D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62102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359359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GT, AD, DP, GQ를 직접 해석할 수 있다.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822960" y="4197096"/>
            <a:ext cx="420624" cy="420624"/>
          </a:xfrm>
          <a:prstGeom prst="ellipse">
            <a:avLst/>
          </a:prstGeom>
          <a:solidFill>
            <a:srgbClr val="1B283C"/>
          </a:solidFill>
          <a:ln w="19050">
            <a:solidFill>
              <a:srgbClr val="4C8D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19709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17320" y="4169664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VCF 수치를 근거로 변이 신뢰도를 판단한다.</a:t>
            </a:r>
            <a:endParaRPr lang="en-US" sz="145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4C8DF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· VCF 판독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의료인을 위한 NGS 교육 · Part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VCF 파일의 구조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521208" y="1152144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3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고정 8개 필드 + FORMAT + 검체별 열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783080"/>
            <a:ext cx="11201400" cy="1371600"/>
          </a:xfrm>
          <a:prstGeom prst="roundRect">
            <a:avLst>
              <a:gd name="adj" fmla="val 5333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87452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E809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##</a:t>
            </a:r>
            <a:r>
              <a:rPr lang="en-US" sz="1300" dirty="0">
                <a:solidFill>
                  <a:srgbClr val="93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로 시작 = meta-information header(각 키 정의)   ·   </a:t>
            </a:r>
            <a:r>
              <a:rPr lang="en-US" sz="1300" b="1" dirty="0">
                <a:solidFill>
                  <a:srgbClr val="F2B2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#CHROM</a:t>
            </a:r>
            <a:r>
              <a:rPr lang="en-US" sz="1300" dirty="0">
                <a:solidFill>
                  <a:srgbClr val="93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= 컬럼 이름 행 · 이후 각 행 = 하나의 변이 위치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395728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CHROM  POS  ID  REF  ALT  QUAL  FILTER  INFO   FORMAT  SAMPLE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3383280"/>
            <a:ext cx="5545836" cy="749808"/>
          </a:xfrm>
          <a:prstGeom prst="roundRect">
            <a:avLst>
              <a:gd name="adj" fmla="val 9756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3383280"/>
            <a:ext cx="73152" cy="749808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383280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CHROM · POS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20440" y="3383280"/>
            <a:ext cx="234543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염색체 · 1-based 좌표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58484" y="3383280"/>
            <a:ext cx="5545836" cy="749808"/>
          </a:xfrm>
          <a:prstGeom prst="roundRect">
            <a:avLst>
              <a:gd name="adj" fmla="val 9756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58484" y="3383280"/>
            <a:ext cx="73152" cy="749808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18" name="Text 16"/>
          <p:cNvSpPr/>
          <p:nvPr/>
        </p:nvSpPr>
        <p:spPr>
          <a:xfrm>
            <a:off x="6387084" y="3383280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 · ALT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76004" y="3383280"/>
            <a:ext cx="234543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 · 관찰 대립염기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4242816"/>
            <a:ext cx="5545836" cy="749808"/>
          </a:xfrm>
          <a:prstGeom prst="roundRect">
            <a:avLst>
              <a:gd name="adj" fmla="val 9756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4242816"/>
            <a:ext cx="73152" cy="749808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242816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520440" y="4242816"/>
            <a:ext cx="234543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변이 존재 확신도(Phred)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58484" y="4242816"/>
            <a:ext cx="5545836" cy="749808"/>
          </a:xfrm>
          <a:prstGeom prst="roundRect">
            <a:avLst>
              <a:gd name="adj" fmla="val 9756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58484" y="4242816"/>
            <a:ext cx="73152" cy="749808"/>
          </a:xfrm>
          <a:prstGeom prst="rect">
            <a:avLst/>
          </a:prstGeom>
          <a:solidFill>
            <a:srgbClr val="F2B24C"/>
          </a:solidFill>
          <a:ln/>
        </p:spPr>
      </p:sp>
      <p:sp>
        <p:nvSpPr>
          <p:cNvPr id="26" name="Text 24"/>
          <p:cNvSpPr/>
          <p:nvPr/>
        </p:nvSpPr>
        <p:spPr>
          <a:xfrm>
            <a:off x="6387084" y="4242816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B2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76004" y="4242816"/>
            <a:ext cx="234543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 / 실패 필터명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02920" y="5102352"/>
            <a:ext cx="5545836" cy="749808"/>
          </a:xfrm>
          <a:prstGeom prst="roundRect">
            <a:avLst>
              <a:gd name="adj" fmla="val 9756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5102352"/>
            <a:ext cx="73152" cy="74980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5102352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520440" y="5102352"/>
            <a:ext cx="234543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위치 전체 정보(DP, AF …)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158484" y="5102352"/>
            <a:ext cx="5545836" cy="749808"/>
          </a:xfrm>
          <a:prstGeom prst="roundRect">
            <a:avLst>
              <a:gd name="adj" fmla="val 9756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58484" y="5102352"/>
            <a:ext cx="73152" cy="74980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4" name="Text 32"/>
          <p:cNvSpPr/>
          <p:nvPr/>
        </p:nvSpPr>
        <p:spPr>
          <a:xfrm>
            <a:off x="6387084" y="5102352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FORMAT+SAMPLE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176004" y="5102352"/>
            <a:ext cx="234543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검체별 GT:AD:DP:GQ …</a:t>
            </a:r>
            <a:endParaRPr lang="en-US" sz="115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4C8DF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· VCF 판독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의료인을 위한 NGS 교육 · Part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CHROM과 POS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02920" y="1737360"/>
            <a:ext cx="7132320" cy="4297680"/>
          </a:xfrm>
          <a:prstGeom prst="roundRect">
            <a:avLst>
              <a:gd name="adj" fmla="val 1702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65960"/>
            <a:ext cx="65836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CHROM: 변이가 위치한 염색체 이름.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'chr1'과 '1' 표기는 reference build에 따라 다르다.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POS: 염색체 상의 1-based 좌표.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hg19와 hg38의 좌표는 서로 다르므로 혼동 주의.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보고서에는 build를 반드시 함께 기재.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818120" y="1737360"/>
            <a:ext cx="3886200" cy="4297680"/>
          </a:xfrm>
          <a:prstGeom prst="roundRect">
            <a:avLst>
              <a:gd name="adj" fmla="val 1882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18120" y="1737360"/>
            <a:ext cx="82296" cy="4297680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12" name="Text 10"/>
          <p:cNvSpPr/>
          <p:nvPr/>
        </p:nvSpPr>
        <p:spPr>
          <a:xfrm>
            <a:off x="8065008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8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핵심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65008" y="2377440"/>
            <a:ext cx="3474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좌표는 build에 종속 — 항상 build를 함께 본다.</a:t>
            </a:r>
            <a:endParaRPr lang="en-US" sz="14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4C8DF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· VCF 판독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의료인을 위한 NGS 교육 · Part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REF와 ALT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02920" y="1737360"/>
            <a:ext cx="7132320" cy="4297680"/>
          </a:xfrm>
          <a:prstGeom prst="roundRect">
            <a:avLst>
              <a:gd name="adj" fmla="val 1702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65960"/>
            <a:ext cx="65836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REF: 해당 위치의 reference 염기.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ALT: 검체에서 관찰된 대립 염기.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SNV는 한 염기 치환(A→G)으로 표기.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Indel은 앞 염기를 포함해 표기(REF=AT, ALT=A).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다중 대립유전자는 쉼표로 구분(ALT=G,T).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818120" y="1737360"/>
            <a:ext cx="3886200" cy="4297680"/>
          </a:xfrm>
          <a:prstGeom prst="roundRect">
            <a:avLst>
              <a:gd name="adj" fmla="val 1882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18120" y="1737360"/>
            <a:ext cx="82296" cy="4297680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12" name="Text 10"/>
          <p:cNvSpPr/>
          <p:nvPr/>
        </p:nvSpPr>
        <p:spPr>
          <a:xfrm>
            <a:off x="8065008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8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핵심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65008" y="2377440"/>
            <a:ext cx="3474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Indel은 앞 염기를 포함해 표기함에 주의.</a:t>
            </a:r>
            <a:endParaRPr lang="en-US" sz="145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4C8DF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· VCF 판독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의료인을 위한 NGS 교육 · Part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02920" y="1737360"/>
            <a:ext cx="7132320" cy="4297680"/>
          </a:xfrm>
          <a:prstGeom prst="roundRect">
            <a:avLst>
              <a:gd name="adj" fmla="val 1702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65960"/>
            <a:ext cx="65836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변이가 존재한다는 확신도의 Phred 점수.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 30 = 변이가 아닐 확률 0.1%.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값이 클수록 변이 존재 자체의 신뢰도가 높다.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유전형(GT)의 신뢰도는 GQ로 따로 판단.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도구마다 척도가 달라 절대 비교는 주의.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818120" y="1737360"/>
            <a:ext cx="3886200" cy="4297680"/>
          </a:xfrm>
          <a:prstGeom prst="roundRect">
            <a:avLst>
              <a:gd name="adj" fmla="val 1882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18120" y="1737360"/>
            <a:ext cx="82296" cy="4297680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12" name="Text 10"/>
          <p:cNvSpPr/>
          <p:nvPr/>
        </p:nvSpPr>
        <p:spPr>
          <a:xfrm>
            <a:off x="8065008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8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핵심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65008" y="2377440"/>
            <a:ext cx="3474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QUAL=변이 존재, 유전형 신뢰도는 GQ.</a:t>
            </a:r>
            <a:endParaRPr lang="en-US" sz="145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4C8DF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· VCF 판독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의료인을 위한 NGS 교육 · Part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FILTER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02920" y="1737360"/>
            <a:ext cx="7132320" cy="4297680"/>
          </a:xfrm>
          <a:prstGeom prst="roundRect">
            <a:avLst>
              <a:gd name="adj" fmla="val 1702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65960"/>
            <a:ext cx="65836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필터링 결과를 기록하는 컬럼.</a:t>
            </a:r>
            <a:endParaRPr lang="en-US" sz="12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PASS: 모든 필터를 통과한 변이.</a:t>
            </a:r>
            <a:endParaRPr lang="en-US" sz="12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'.': 필터링이 적용되지 않음.</a:t>
            </a:r>
            <a:endParaRPr lang="en-US" sz="12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그 외 문자열: 실패한 필터 이름(예: LowQual).</a:t>
            </a:r>
            <a:endParaRPr lang="en-US" sz="12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임상 해석은 원칙적으로 PASS 변이부터.</a:t>
            </a:r>
            <a:endParaRPr lang="en-US" sz="12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중요 변이는 PASS가 아니어도 BAM으로 확인.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818120" y="1737360"/>
            <a:ext cx="3886200" cy="4297680"/>
          </a:xfrm>
          <a:prstGeom prst="roundRect">
            <a:avLst>
              <a:gd name="adj" fmla="val 1882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18120" y="1737360"/>
            <a:ext cx="82296" cy="4297680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12" name="Text 10"/>
          <p:cNvSpPr/>
          <p:nvPr/>
        </p:nvSpPr>
        <p:spPr>
          <a:xfrm>
            <a:off x="8065008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8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핵심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65008" y="2377440"/>
            <a:ext cx="3474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PASS부터 보되, 중요 변이는 BAM 확인.</a:t>
            </a:r>
            <a:endParaRPr lang="en-US" sz="145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4C8DF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· VCF 판독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의료인을 위한 NGS 교육 · Part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INFO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02920" y="1737360"/>
            <a:ext cx="7132320" cy="4297680"/>
          </a:xfrm>
          <a:prstGeom prst="roundRect">
            <a:avLst>
              <a:gd name="adj" fmla="val 1702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65960"/>
            <a:ext cx="65836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변이 위치 전체에 대한 정보를 담는 필드.</a:t>
            </a:r>
            <a:endParaRPr lang="en-US" sz="12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key=value를 세미콜론으로 나열.</a:t>
            </a:r>
            <a:endParaRPr lang="en-US" sz="12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DP: 총 depth, AF: 대립유전자 빈도.</a:t>
            </a:r>
            <a:endParaRPr lang="en-US" sz="12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Annotation 도구가 유전자·결과 예측을 추가.</a:t>
            </a:r>
            <a:endParaRPr lang="en-US" sz="12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ANN 또는 CSQ 키에 annotation 저장.</a:t>
            </a:r>
            <a:endParaRPr lang="en-US" sz="12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각 키의 정의는 header에서 확인.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818120" y="1737360"/>
            <a:ext cx="3886200" cy="4297680"/>
          </a:xfrm>
          <a:prstGeom prst="roundRect">
            <a:avLst>
              <a:gd name="adj" fmla="val 1882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18120" y="1737360"/>
            <a:ext cx="82296" cy="4297680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12" name="Text 10"/>
          <p:cNvSpPr/>
          <p:nvPr/>
        </p:nvSpPr>
        <p:spPr>
          <a:xfrm>
            <a:off x="8065008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8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핵심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65008" y="2377440"/>
            <a:ext cx="3474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위치 '전체' 정보(검체별 아님).</a:t>
            </a:r>
            <a:endParaRPr lang="en-US" sz="145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4C8DF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· VCF 판독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의료인을 위한 NGS 교육 · Part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FORMAT과 검체 열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02920" y="1737360"/>
            <a:ext cx="7132320" cy="4297680"/>
          </a:xfrm>
          <a:prstGeom prst="roundRect">
            <a:avLst>
              <a:gd name="adj" fmla="val 1702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65960"/>
            <a:ext cx="65836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FORMAT은 검체별 데이터의 항목 순서를 정의.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예: GT:AD:DP:GQ:PL 형태로 표기.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검체 열 값이 같은 순서로 콜론 구분되어 대응.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다검체 VCF에서는 검체마다 열이 추가된다.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임상 판독의 핵심 정보가 이 부분에 있다.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818120" y="1737360"/>
            <a:ext cx="3886200" cy="4297680"/>
          </a:xfrm>
          <a:prstGeom prst="roundRect">
            <a:avLst>
              <a:gd name="adj" fmla="val 1882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18120" y="1737360"/>
            <a:ext cx="82296" cy="4297680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12" name="Text 10"/>
          <p:cNvSpPr/>
          <p:nvPr/>
        </p:nvSpPr>
        <p:spPr>
          <a:xfrm>
            <a:off x="8065008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8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핵심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65008" y="2377440"/>
            <a:ext cx="3474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임상 판독의 핵심 = FORMAT/검체 열.</a:t>
            </a:r>
            <a:endParaRPr lang="en-US" sz="145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4C8DF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· VCF 판독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의료인을 위한 NGS 교육 · Part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GT (Genotype)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02920" y="1737360"/>
            <a:ext cx="7132320" cy="4297680"/>
          </a:xfrm>
          <a:prstGeom prst="roundRect">
            <a:avLst>
              <a:gd name="adj" fmla="val 1702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65960"/>
            <a:ext cx="65836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0은 REF, 1은 첫 번째 ALT를 의미.</a:t>
            </a:r>
            <a:endParaRPr lang="en-US" sz="12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0/1: 이형접합(heterozygous).</a:t>
            </a:r>
            <a:endParaRPr lang="en-US" sz="12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1/1: 동형접합 변이(homozygous alternate).</a:t>
            </a:r>
            <a:endParaRPr lang="en-US" sz="12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0/0: 변이 없음, ./.: 판정 불가(no call).</a:t>
            </a:r>
            <a:endParaRPr lang="en-US" sz="12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'|'는 phasing된 유전형(예: 0|1).</a:t>
            </a:r>
            <a:endParaRPr lang="en-US" sz="12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열성 질환에선 1/1 또는 복합 이형접합이 중요.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818120" y="1737360"/>
            <a:ext cx="3886200" cy="4297680"/>
          </a:xfrm>
          <a:prstGeom prst="roundRect">
            <a:avLst>
              <a:gd name="adj" fmla="val 1882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18120" y="1737360"/>
            <a:ext cx="82296" cy="4297680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12" name="Text 10"/>
          <p:cNvSpPr/>
          <p:nvPr/>
        </p:nvSpPr>
        <p:spPr>
          <a:xfrm>
            <a:off x="8065008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8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핵심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65008" y="2377440"/>
            <a:ext cx="3474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유전 양식 적합성 판단의 출발점.</a:t>
            </a:r>
            <a:endParaRPr lang="en-US" sz="145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4C8DF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· VCF 판독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의료인을 위한 NGS 교육 · Part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 (Allelic Depth)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02920" y="1737360"/>
            <a:ext cx="7132320" cy="4297680"/>
          </a:xfrm>
          <a:prstGeom prst="roundRect">
            <a:avLst>
              <a:gd name="adj" fmla="val 1702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65960"/>
            <a:ext cx="65836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REF와 ALT를 지지하는 read 수를 각각 표시.</a:t>
            </a:r>
            <a:endParaRPr lang="en-US" sz="12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예: AD=30,28 → REF 30, ALT 28 read.</a:t>
            </a:r>
            <a:endParaRPr lang="en-US" sz="12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VAF = 28/58 ≈ 0.48로 계산.</a:t>
            </a:r>
            <a:endParaRPr lang="en-US" sz="12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Germline 이형접합은 대략 0.4~0.6 기대.</a:t>
            </a:r>
            <a:endParaRPr lang="en-US" sz="12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Somatic은 종양 순도에 따라 낮은 VAF.</a:t>
            </a:r>
            <a:endParaRPr lang="en-US" sz="12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AD가 매우 비대칭이면 인공 변이를 의심.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818120" y="1737360"/>
            <a:ext cx="3886200" cy="4297680"/>
          </a:xfrm>
          <a:prstGeom prst="roundRect">
            <a:avLst>
              <a:gd name="adj" fmla="val 1882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18120" y="1737360"/>
            <a:ext cx="82296" cy="4297680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12" name="Text 10"/>
          <p:cNvSpPr/>
          <p:nvPr/>
        </p:nvSpPr>
        <p:spPr>
          <a:xfrm>
            <a:off x="8065008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8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핵심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65008" y="2377440"/>
            <a:ext cx="3474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AD로 VAF 계산 → germline/somatic 감별.</a:t>
            </a:r>
            <a:endParaRPr lang="en-US" sz="145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4C8DF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· VCF 판독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의료인을 위한 NGS 교육 · Part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DP (Depth)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02920" y="1737360"/>
            <a:ext cx="7132320" cy="4297680"/>
          </a:xfrm>
          <a:prstGeom prst="roundRect">
            <a:avLst>
              <a:gd name="adj" fmla="val 1702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65960"/>
            <a:ext cx="65836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해당 위치를 덮은 read의 수.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DP가 낮으면 위음성 가능성이 높아진다.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Germline 판정엔 최소 10~20x 이상 필요.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암 패널에서는 수백 x depth가 요구.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INFO의 DP와 FORMAT의 DP는 정의가 다를 수 있다.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818120" y="1737360"/>
            <a:ext cx="3886200" cy="4297680"/>
          </a:xfrm>
          <a:prstGeom prst="roundRect">
            <a:avLst>
              <a:gd name="adj" fmla="val 1882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18120" y="1737360"/>
            <a:ext cx="82296" cy="4297680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12" name="Text 10"/>
          <p:cNvSpPr/>
          <p:nvPr/>
        </p:nvSpPr>
        <p:spPr>
          <a:xfrm>
            <a:off x="8065008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8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핵심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65008" y="2377440"/>
            <a:ext cx="3474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낮은 DP = 위음성 위험 신호.</a:t>
            </a:r>
            <a:endParaRPr lang="en-US" sz="145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4C8DF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· VCF 판독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의료인을 위한 NGS 교육 · Part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GQ (Genotype Quality)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02920" y="1737360"/>
            <a:ext cx="7132320" cy="4297680"/>
          </a:xfrm>
          <a:prstGeom prst="roundRect">
            <a:avLst>
              <a:gd name="adj" fmla="val 1702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65960"/>
            <a:ext cx="65836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판정된 유전형이 맞을 확신도의 Phred 점수.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GQ 20 = 유전형 오판 확률 1%.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보통 GQ 20 이상을 신뢰 기준으로 사용.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QUAL은 변이 존재, GQ는 유전형 정확도.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낮은 GQ는 depth 부족·대립유전자 불균형을 시사.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818120" y="1737360"/>
            <a:ext cx="3886200" cy="4297680"/>
          </a:xfrm>
          <a:prstGeom prst="roundRect">
            <a:avLst>
              <a:gd name="adj" fmla="val 1882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18120" y="1737360"/>
            <a:ext cx="82296" cy="4297680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12" name="Text 10"/>
          <p:cNvSpPr/>
          <p:nvPr/>
        </p:nvSpPr>
        <p:spPr>
          <a:xfrm>
            <a:off x="8065008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8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핵심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65008" y="2377440"/>
            <a:ext cx="3474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GQ = 유전형 판정의 신뢰도.</a:t>
            </a:r>
            <a:endParaRPr lang="en-US" sz="145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4C8DF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· VCF 판독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의료인을 위한 NGS 교육 · Part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임상의를 위한 VCF 판독 순서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521208" y="1152144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3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수치를 순서대로 확인해 신뢰도를 판단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874520"/>
            <a:ext cx="1760220" cy="868680"/>
          </a:xfrm>
          <a:prstGeom prst="roundRect">
            <a:avLst>
              <a:gd name="adj" fmla="val 8421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874520"/>
            <a:ext cx="18150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FILTER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244852" y="1874520"/>
            <a:ext cx="1645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C8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391156" y="1874520"/>
            <a:ext cx="1760220" cy="868680"/>
          </a:xfrm>
          <a:prstGeom prst="roundRect">
            <a:avLst>
              <a:gd name="adj" fmla="val 8421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63724" y="1874520"/>
            <a:ext cx="18150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DP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133088" y="1874520"/>
            <a:ext cx="1645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C8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279392" y="1874520"/>
            <a:ext cx="1760220" cy="868680"/>
          </a:xfrm>
          <a:prstGeom prst="roundRect">
            <a:avLst>
              <a:gd name="adj" fmla="val 8421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51960" y="1874520"/>
            <a:ext cx="18150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AD→VAF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021324" y="1874520"/>
            <a:ext cx="1645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C8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67628" y="1874520"/>
            <a:ext cx="1760220" cy="868680"/>
          </a:xfrm>
          <a:prstGeom prst="roundRect">
            <a:avLst>
              <a:gd name="adj" fmla="val 8421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40196" y="1874520"/>
            <a:ext cx="18150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909560" y="1874520"/>
            <a:ext cx="1645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C8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055864" y="1874520"/>
            <a:ext cx="1760220" cy="868680"/>
          </a:xfrm>
          <a:prstGeom prst="roundRect">
            <a:avLst>
              <a:gd name="adj" fmla="val 8421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28432" y="1874520"/>
            <a:ext cx="18150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GQ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797796" y="1874520"/>
            <a:ext cx="1645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C8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944100" y="1874520"/>
            <a:ext cx="1760220" cy="868680"/>
          </a:xfrm>
          <a:prstGeom prst="roundRect">
            <a:avLst>
              <a:gd name="adj" fmla="val 8421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16668" y="1874520"/>
            <a:ext cx="18150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Annot.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02920" y="3063240"/>
            <a:ext cx="11201400" cy="2926080"/>
          </a:xfrm>
          <a:prstGeom prst="roundRect">
            <a:avLst>
              <a:gd name="adj" fmla="val 2500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3291840"/>
            <a:ext cx="106527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① FILTER가 PASS인지 확인한다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② DP가 충분한지 확인한다(위음성 배제)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③ AD로 VAF를 계산해 germline/somatic을 가늠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④ GT로 이형·동형접합과 유전 양식 적합성을 본다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⑤ GQ로 유전형 신뢰도를 확인한다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⑥ Annotation·ClinVar·gnomAD로 임상 의미를 평가</a:t>
            </a:r>
            <a:endParaRPr lang="en-US" sz="135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4C8DF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· VCF 판독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의료인을 위한 NGS 교육 · Part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판독 예시 ① — 신뢰할 수 있는 이형접합 변이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1554480" cy="640080"/>
          </a:xfrm>
          <a:prstGeom prst="roundRect">
            <a:avLst>
              <a:gd name="adj" fmla="val 8571"/>
            </a:avLst>
          </a:prstGeom>
          <a:solidFill>
            <a:srgbClr val="0B1422"/>
          </a:solidFill>
          <a:ln w="1524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4708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10312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9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86000" y="1783080"/>
            <a:ext cx="1554480" cy="640080"/>
          </a:xfrm>
          <a:prstGeom prst="roundRect">
            <a:avLst>
              <a:gd name="adj" fmla="val 8571"/>
            </a:avLst>
          </a:prstGeom>
          <a:solidFill>
            <a:srgbClr val="0B1422"/>
          </a:solidFill>
          <a:ln w="1524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0" y="184708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0" y="210312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9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120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023360" y="1783080"/>
            <a:ext cx="1554480" cy="640080"/>
          </a:xfrm>
          <a:prstGeom prst="roundRect">
            <a:avLst>
              <a:gd name="adj" fmla="val 8571"/>
            </a:avLst>
          </a:prstGeom>
          <a:solidFill>
            <a:srgbClr val="0B1422"/>
          </a:solidFill>
          <a:ln w="15240">
            <a:solidFill>
              <a:srgbClr val="34D3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0" y="184708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023360" y="210312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9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62,58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760720" y="1783080"/>
            <a:ext cx="1554480" cy="640080"/>
          </a:xfrm>
          <a:prstGeom prst="roundRect">
            <a:avLst>
              <a:gd name="adj" fmla="val 8571"/>
            </a:avLst>
          </a:prstGeom>
          <a:solidFill>
            <a:srgbClr val="0B1422"/>
          </a:solidFill>
          <a:ln w="15240">
            <a:solidFill>
              <a:srgbClr val="4C8D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0" y="184708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760720" y="210312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9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0/1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498080" y="1783080"/>
            <a:ext cx="1554480" cy="640080"/>
          </a:xfrm>
          <a:prstGeom prst="roundRect">
            <a:avLst>
              <a:gd name="adj" fmla="val 8571"/>
            </a:avLst>
          </a:prstGeom>
          <a:solidFill>
            <a:srgbClr val="0B1422"/>
          </a:solidFill>
          <a:ln w="15240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0" y="184708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GQ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98080" y="210312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9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99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2920" y="2697480"/>
            <a:ext cx="11201400" cy="685800"/>
          </a:xfrm>
          <a:prstGeom prst="roundRect">
            <a:avLst>
              <a:gd name="adj" fmla="val 8000"/>
            </a:avLst>
          </a:prstGeom>
          <a:solidFill>
            <a:srgbClr val="122A20"/>
          </a:solidFill>
          <a:ln w="15240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269748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VAF ≈ 0.48 · Depth·GQ 충분 → 기술적 신뢰도 높은 전형적 germline 이형접합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502920" y="3611880"/>
            <a:ext cx="11201400" cy="2331720"/>
          </a:xfrm>
          <a:prstGeom prst="roundRect">
            <a:avLst>
              <a:gd name="adj" fmla="val 3137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3840480"/>
            <a:ext cx="106070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VAF 약 0.48로 전형적인 germline 이형접합.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Depth와 GQ가 충분해 기술적 신뢰도가 높다.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다음 단계는 유전자·결과 예측·인구빈도 확인.</a:t>
            </a:r>
            <a:endParaRPr lang="en-US" sz="135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4C8DF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· VCF 판독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의료인을 위한 NGS 교육 · Part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판독 예시 ② — 주의가 필요한 변이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1764792" cy="640080"/>
          </a:xfrm>
          <a:prstGeom prst="roundRect">
            <a:avLst>
              <a:gd name="adj" fmla="val 8571"/>
            </a:avLst>
          </a:prstGeom>
          <a:solidFill>
            <a:srgbClr val="0B1422"/>
          </a:solidFill>
          <a:ln w="15240">
            <a:solidFill>
              <a:srgbClr val="E063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47088"/>
            <a:ext cx="1764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6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103120"/>
            <a:ext cx="1764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9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LowQual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496312" y="1783080"/>
            <a:ext cx="1554480" cy="640080"/>
          </a:xfrm>
          <a:prstGeom prst="roundRect">
            <a:avLst>
              <a:gd name="adj" fmla="val 8571"/>
            </a:avLst>
          </a:prstGeom>
          <a:solidFill>
            <a:srgbClr val="0B1422"/>
          </a:solidFill>
          <a:ln w="15240">
            <a:solidFill>
              <a:srgbClr val="E063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96312" y="184708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6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96312" y="210312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9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233672" y="1783080"/>
            <a:ext cx="1554480" cy="640080"/>
          </a:xfrm>
          <a:prstGeom prst="roundRect">
            <a:avLst>
              <a:gd name="adj" fmla="val 8571"/>
            </a:avLst>
          </a:prstGeom>
          <a:solidFill>
            <a:srgbClr val="0B1422"/>
          </a:solidFill>
          <a:ln w="15240">
            <a:solidFill>
              <a:srgbClr val="F2B2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33672" y="184708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B2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233672" y="210312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9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6,2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71032" y="1783080"/>
            <a:ext cx="1554480" cy="640080"/>
          </a:xfrm>
          <a:prstGeom prst="roundRect">
            <a:avLst>
              <a:gd name="adj" fmla="val 8571"/>
            </a:avLst>
          </a:prstGeom>
          <a:solidFill>
            <a:srgbClr val="0B1422"/>
          </a:solidFill>
          <a:ln w="15240">
            <a:solidFill>
              <a:srgbClr val="4C8D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71032" y="184708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71032" y="210312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9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0/1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708392" y="1783080"/>
            <a:ext cx="1554480" cy="640080"/>
          </a:xfrm>
          <a:prstGeom prst="roundRect">
            <a:avLst>
              <a:gd name="adj" fmla="val 8571"/>
            </a:avLst>
          </a:prstGeom>
          <a:solidFill>
            <a:srgbClr val="0B1422"/>
          </a:solidFill>
          <a:ln w="15240">
            <a:solidFill>
              <a:srgbClr val="E063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08392" y="184708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6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GQ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08392" y="210312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9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2920" y="2697480"/>
            <a:ext cx="11201400" cy="685800"/>
          </a:xfrm>
          <a:prstGeom prst="roundRect">
            <a:avLst>
              <a:gd name="adj" fmla="val 8000"/>
            </a:avLst>
          </a:prstGeom>
          <a:solidFill>
            <a:srgbClr val="2A1418"/>
          </a:solidFill>
          <a:ln w="15240">
            <a:solidFill>
              <a:srgbClr val="E063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269748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063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 Depth 낮음 · ALT read 2개 · GQ 15 → 위양성 가능성, 확인검사 필요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502920" y="3611880"/>
            <a:ext cx="11201400" cy="2331720"/>
          </a:xfrm>
          <a:prstGeom prst="roundRect">
            <a:avLst>
              <a:gd name="adj" fmla="val 3137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3840480"/>
            <a:ext cx="106070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Depth가 낮고 ALT read가 2개로 근거가 약하다.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위양성 가능성이 높아 확인검사가 필요하다.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임상 중요 유전자라면 Sanger로 확인한다.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'검출 안 됨'으로 단정하기 전에 BAM을 확인한다.</a:t>
            </a:r>
            <a:endParaRPr lang="en-US" sz="135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0637A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E0637A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06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· VCF 판독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의료인을 위한 NGS 교육 · Part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VCF 해석 시 흔한 오해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521208" y="1152144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3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자주 빠지는 함정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874520"/>
            <a:ext cx="11201400" cy="749808"/>
          </a:xfrm>
          <a:prstGeom prst="roundRect">
            <a:avLst>
              <a:gd name="adj" fmla="val 7317"/>
            </a:avLst>
          </a:prstGeom>
          <a:solidFill>
            <a:srgbClr val="22141A"/>
          </a:solidFill>
          <a:ln w="12700">
            <a:solidFill>
              <a:srgbClr val="E063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874520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063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234440" y="1874520"/>
            <a:ext cx="10241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QUAL이 높으면 임상적으로 중요하다는 오해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2752344"/>
            <a:ext cx="11201400" cy="749808"/>
          </a:xfrm>
          <a:prstGeom prst="roundRect">
            <a:avLst>
              <a:gd name="adj" fmla="val 7317"/>
            </a:avLst>
          </a:prstGeom>
          <a:solidFill>
            <a:srgbClr val="22141A"/>
          </a:solidFill>
          <a:ln w="12700">
            <a:solidFill>
              <a:srgbClr val="E063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752344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063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234440" y="2752344"/>
            <a:ext cx="10241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VCF에 없으면 그 위치가 정상이라는 오해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3630168"/>
            <a:ext cx="11201400" cy="749808"/>
          </a:xfrm>
          <a:prstGeom prst="roundRect">
            <a:avLst>
              <a:gd name="adj" fmla="val 7317"/>
            </a:avLst>
          </a:prstGeom>
          <a:solidFill>
            <a:srgbClr val="22141A"/>
          </a:solidFill>
          <a:ln w="12700">
            <a:solidFill>
              <a:srgbClr val="E063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630168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063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234440" y="3630168"/>
            <a:ext cx="10241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VAF 0.5는 항상 germline이라는 오해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" y="4507992"/>
            <a:ext cx="11201400" cy="749808"/>
          </a:xfrm>
          <a:prstGeom prst="roundRect">
            <a:avLst>
              <a:gd name="adj" fmla="val 7317"/>
            </a:avLst>
          </a:prstGeom>
          <a:solidFill>
            <a:srgbClr val="22141A"/>
          </a:solidFill>
          <a:ln w="12700">
            <a:solidFill>
              <a:srgbClr val="E063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507992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063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234440" y="4507992"/>
            <a:ext cx="10241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동일 변이라도 표기(normalization)가 다를 수 있음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02920" y="5385816"/>
            <a:ext cx="11201400" cy="749808"/>
          </a:xfrm>
          <a:prstGeom prst="roundRect">
            <a:avLst>
              <a:gd name="adj" fmla="val 7317"/>
            </a:avLst>
          </a:prstGeom>
          <a:solidFill>
            <a:srgbClr val="22141A"/>
          </a:solidFill>
          <a:ln w="12700">
            <a:solidFill>
              <a:srgbClr val="E063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5385816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063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234440" y="5385816"/>
            <a:ext cx="10241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Transcript가 다르면 HGVS 표기가 달라짐</a:t>
            </a:r>
            <a:endParaRPr lang="en-US" sz="14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34D399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· VCF 판독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의료인을 위한 NGS 교육 · Part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Messages — VCF 이해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21208" y="1170432"/>
            <a:ext cx="1737360" cy="384048"/>
          </a:xfrm>
          <a:prstGeom prst="roundRect">
            <a:avLst>
              <a:gd name="adj" fmla="val 11905"/>
            </a:avLst>
          </a:prstGeom>
          <a:solidFill>
            <a:srgbClr val="122A20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" y="117043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Messages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1874520"/>
            <a:ext cx="11201400" cy="738835"/>
          </a:xfrm>
          <a:prstGeom prst="roundRect">
            <a:avLst>
              <a:gd name="adj" fmla="val 9901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874520"/>
            <a:ext cx="73152" cy="738835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" y="2042770"/>
            <a:ext cx="402336" cy="402336"/>
          </a:xfrm>
          <a:prstGeom prst="ellipse">
            <a:avLst/>
          </a:prstGeom>
          <a:solidFill>
            <a:srgbClr val="1B283C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04277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1874520"/>
            <a:ext cx="10241280" cy="7388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VCF는 변이 목록이며 8개 고정 필드로 구성.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2741371"/>
            <a:ext cx="11201400" cy="738835"/>
          </a:xfrm>
          <a:prstGeom prst="roundRect">
            <a:avLst>
              <a:gd name="adj" fmla="val 9901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2741371"/>
            <a:ext cx="73152" cy="738835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7" name="Shape 15"/>
          <p:cNvSpPr/>
          <p:nvPr/>
        </p:nvSpPr>
        <p:spPr>
          <a:xfrm>
            <a:off x="685800" y="2909621"/>
            <a:ext cx="402336" cy="402336"/>
          </a:xfrm>
          <a:prstGeom prst="ellipse">
            <a:avLst/>
          </a:prstGeom>
          <a:solidFill>
            <a:srgbClr val="1B283C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2909621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80160" y="2741371"/>
            <a:ext cx="10241280" cy="7388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FILTER, DP, AD, GT, GQ가 임상 판독의 핵심.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" y="3608222"/>
            <a:ext cx="11201400" cy="738835"/>
          </a:xfrm>
          <a:prstGeom prst="roundRect">
            <a:avLst>
              <a:gd name="adj" fmla="val 9901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608222"/>
            <a:ext cx="73152" cy="738835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2" name="Shape 20"/>
          <p:cNvSpPr/>
          <p:nvPr/>
        </p:nvSpPr>
        <p:spPr>
          <a:xfrm>
            <a:off x="685800" y="3776472"/>
            <a:ext cx="402336" cy="402336"/>
          </a:xfrm>
          <a:prstGeom prst="ellipse">
            <a:avLst/>
          </a:prstGeom>
          <a:solidFill>
            <a:srgbClr val="1B283C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7764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80160" y="3608222"/>
            <a:ext cx="10241280" cy="7388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AD로 VAF를 계산해 변이 성격을 추정.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02920" y="4475074"/>
            <a:ext cx="11201400" cy="738835"/>
          </a:xfrm>
          <a:prstGeom prst="roundRect">
            <a:avLst>
              <a:gd name="adj" fmla="val 9901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4475074"/>
            <a:ext cx="73152" cy="738835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7" name="Shape 25"/>
          <p:cNvSpPr/>
          <p:nvPr/>
        </p:nvSpPr>
        <p:spPr>
          <a:xfrm>
            <a:off x="685800" y="4643323"/>
            <a:ext cx="402336" cy="402336"/>
          </a:xfrm>
          <a:prstGeom prst="ellipse">
            <a:avLst/>
          </a:prstGeom>
          <a:solidFill>
            <a:srgbClr val="1B283C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643323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280160" y="4475074"/>
            <a:ext cx="10241280" cy="7388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QUAL은 변이 존재, GQ는 유전형 신뢰도.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02920" y="5341925"/>
            <a:ext cx="11201400" cy="738835"/>
          </a:xfrm>
          <a:prstGeom prst="roundRect">
            <a:avLst>
              <a:gd name="adj" fmla="val 9901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" y="5341925"/>
            <a:ext cx="73152" cy="738835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" y="5510174"/>
            <a:ext cx="402336" cy="402336"/>
          </a:xfrm>
          <a:prstGeom prst="ellipse">
            <a:avLst/>
          </a:prstGeom>
          <a:solidFill>
            <a:srgbClr val="1B283C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551017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280160" y="5341925"/>
            <a:ext cx="10241280" cy="7388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최종 확인은 BAM 확인 또는 직교 검사로.</a:t>
            </a:r>
            <a:endParaRPr lang="en-US" sz="14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0E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03136"/>
            <a:ext cx="6095848" cy="54864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4" name="Shape 2"/>
          <p:cNvSpPr/>
          <p:nvPr/>
        </p:nvSpPr>
        <p:spPr>
          <a:xfrm>
            <a:off x="6095848" y="6803136"/>
            <a:ext cx="6095848" cy="54864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kern="0" spc="300" dirty="0">
                <a:solidFill>
                  <a:srgbClr val="2C6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1430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1 종합 요약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822960" y="2240280"/>
            <a:ext cx="10515600" cy="566928"/>
          </a:xfrm>
          <a:prstGeom prst="roundRect">
            <a:avLst>
              <a:gd name="adj" fmla="val 12903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240280"/>
            <a:ext cx="73152" cy="566928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9" name="Shape 7"/>
          <p:cNvSpPr/>
          <p:nvPr/>
        </p:nvSpPr>
        <p:spPr>
          <a:xfrm>
            <a:off x="960120" y="2340864"/>
            <a:ext cx="365760" cy="365760"/>
          </a:xfrm>
          <a:prstGeom prst="ellipse">
            <a:avLst/>
          </a:prstGeom>
          <a:solidFill>
            <a:srgbClr val="1B283C"/>
          </a:solidFill>
          <a:ln w="19050">
            <a:solidFill>
              <a:srgbClr val="4C8D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3408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508760" y="2240280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NGS는 병렬 sequencing으로 대규모 변이 정보를 산출한다.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" y="2916936"/>
            <a:ext cx="10515600" cy="566928"/>
          </a:xfrm>
          <a:prstGeom prst="roundRect">
            <a:avLst>
              <a:gd name="adj" fmla="val 12903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2916936"/>
            <a:ext cx="73152" cy="566928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14" name="Shape 12"/>
          <p:cNvSpPr/>
          <p:nvPr/>
        </p:nvSpPr>
        <p:spPr>
          <a:xfrm>
            <a:off x="960120" y="3017520"/>
            <a:ext cx="365760" cy="365760"/>
          </a:xfrm>
          <a:prstGeom prst="ellipse">
            <a:avLst/>
          </a:prstGeom>
          <a:solidFill>
            <a:srgbClr val="1B283C"/>
          </a:solidFill>
          <a:ln w="19050">
            <a:solidFill>
              <a:srgbClr val="4C8D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3017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508760" y="2916936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Illumina SBS의 품질 지표는 Q30과 coverage다.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22960" y="3593592"/>
            <a:ext cx="10515600" cy="566928"/>
          </a:xfrm>
          <a:prstGeom prst="roundRect">
            <a:avLst>
              <a:gd name="adj" fmla="val 12903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3593592"/>
            <a:ext cx="73152" cy="566928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19" name="Shape 17"/>
          <p:cNvSpPr/>
          <p:nvPr/>
        </p:nvSpPr>
        <p:spPr>
          <a:xfrm>
            <a:off x="960120" y="3694176"/>
            <a:ext cx="365760" cy="365760"/>
          </a:xfrm>
          <a:prstGeom prst="ellipse">
            <a:avLst/>
          </a:prstGeom>
          <a:solidFill>
            <a:srgbClr val="1B283C"/>
          </a:solidFill>
          <a:ln w="19050">
            <a:solidFill>
              <a:srgbClr val="4C8D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36941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508760" y="3593592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GATK 표준 절차는 전처리·calling·filtering으로 구성된다.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822960" y="4270248"/>
            <a:ext cx="10515600" cy="566928"/>
          </a:xfrm>
          <a:prstGeom prst="roundRect">
            <a:avLst>
              <a:gd name="adj" fmla="val 12903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" y="4270248"/>
            <a:ext cx="73152" cy="566928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24" name="Shape 22"/>
          <p:cNvSpPr/>
          <p:nvPr/>
        </p:nvSpPr>
        <p:spPr>
          <a:xfrm>
            <a:off x="960120" y="4370832"/>
            <a:ext cx="365760" cy="365760"/>
          </a:xfrm>
          <a:prstGeom prst="ellipse">
            <a:avLst/>
          </a:prstGeom>
          <a:solidFill>
            <a:srgbClr val="1B283C"/>
          </a:solidFill>
          <a:ln w="19050">
            <a:solidFill>
              <a:srgbClr val="4C8D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43708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508760" y="4270248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웹 플랫폼으로 코드 없이 표준 분석이 가능하다.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822960" y="4946904"/>
            <a:ext cx="10515600" cy="566928"/>
          </a:xfrm>
          <a:prstGeom prst="roundRect">
            <a:avLst>
              <a:gd name="adj" fmla="val 12903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2960" y="4946904"/>
            <a:ext cx="73152" cy="56692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9" name="Shape 27"/>
          <p:cNvSpPr/>
          <p:nvPr/>
        </p:nvSpPr>
        <p:spPr>
          <a:xfrm>
            <a:off x="960120" y="5047488"/>
            <a:ext cx="365760" cy="365760"/>
          </a:xfrm>
          <a:prstGeom prst="ellipse">
            <a:avLst/>
          </a:prstGeom>
          <a:solidFill>
            <a:srgbClr val="1B283C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0120" y="50474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508760" y="4946904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Long-read 정렬은 minimap2가 표준이다.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822960" y="5623560"/>
            <a:ext cx="10515600" cy="566928"/>
          </a:xfrm>
          <a:prstGeom prst="roundRect">
            <a:avLst>
              <a:gd name="adj" fmla="val 12903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2960" y="5623560"/>
            <a:ext cx="73152" cy="566928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34" name="Shape 32"/>
          <p:cNvSpPr/>
          <p:nvPr/>
        </p:nvSpPr>
        <p:spPr>
          <a:xfrm>
            <a:off x="960120" y="5724144"/>
            <a:ext cx="365760" cy="365760"/>
          </a:xfrm>
          <a:prstGeom prst="ellipse">
            <a:avLst/>
          </a:prstGeom>
          <a:solidFill>
            <a:srgbClr val="1B283C"/>
          </a:solidFill>
          <a:ln w="19050">
            <a:solidFill>
              <a:srgbClr val="4C8D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60120" y="57241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508760" y="5623560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임상의는 VCF의 GT/AD/DP/GQ를 직접 읽을 수 있어야 한다.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의료인을 위한 NGS 교육 · Part 1 — NGS의 기본 원리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5600</Words>
  <Application>Microsoft Office PowerPoint</Application>
  <PresentationFormat>와이드스크린</PresentationFormat>
  <Paragraphs>1122</Paragraphs>
  <Slides>81</Slides>
  <Notes>81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81</vt:i4>
      </vt:variant>
    </vt:vector>
  </HeadingPairs>
  <TitlesOfParts>
    <vt:vector size="87" baseType="lpstr">
      <vt:lpstr>맑은 고딕</vt:lpstr>
      <vt:lpstr>Arial</vt:lpstr>
      <vt:lpstr>Calibri</vt:lpstr>
      <vt:lpstr>Consolas</vt:lpstr>
      <vt:lpstr>Segoe UI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jt k</cp:lastModifiedBy>
  <cp:revision>2</cp:revision>
  <dcterms:created xsi:type="dcterms:W3CDTF">2026-07-31T04:52:20Z</dcterms:created>
  <dcterms:modified xsi:type="dcterms:W3CDTF">2026-07-31T06:21:48Z</dcterms:modified>
</cp:coreProperties>
</file>